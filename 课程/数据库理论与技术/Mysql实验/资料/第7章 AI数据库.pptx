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319" r:id="rId2"/>
    <p:sldId id="257" r:id="rId3"/>
    <p:sldId id="320" r:id="rId4"/>
    <p:sldId id="344" r:id="rId5"/>
    <p:sldId id="321" r:id="rId6"/>
    <p:sldId id="322" r:id="rId7"/>
    <p:sldId id="329" r:id="rId8"/>
    <p:sldId id="373" r:id="rId9"/>
    <p:sldId id="323" r:id="rId10"/>
    <p:sldId id="352" r:id="rId11"/>
    <p:sldId id="334" r:id="rId12"/>
    <p:sldId id="339" r:id="rId13"/>
    <p:sldId id="338" r:id="rId14"/>
    <p:sldId id="340" r:id="rId15"/>
    <p:sldId id="337" r:id="rId16"/>
    <p:sldId id="341" r:id="rId17"/>
    <p:sldId id="342" r:id="rId18"/>
    <p:sldId id="353" r:id="rId19"/>
    <p:sldId id="345" r:id="rId20"/>
    <p:sldId id="346" r:id="rId21"/>
    <p:sldId id="347" r:id="rId22"/>
    <p:sldId id="349" r:id="rId23"/>
    <p:sldId id="354" r:id="rId24"/>
    <p:sldId id="355" r:id="rId25"/>
    <p:sldId id="356" r:id="rId26"/>
    <p:sldId id="357" r:id="rId27"/>
    <p:sldId id="358" r:id="rId28"/>
    <p:sldId id="359" r:id="rId29"/>
    <p:sldId id="362" r:id="rId30"/>
    <p:sldId id="363" r:id="rId31"/>
    <p:sldId id="360" r:id="rId32"/>
    <p:sldId id="361" r:id="rId33"/>
    <p:sldId id="364" r:id="rId34"/>
    <p:sldId id="365" r:id="rId35"/>
    <p:sldId id="366" r:id="rId36"/>
    <p:sldId id="367" r:id="rId37"/>
    <p:sldId id="368" r:id="rId38"/>
    <p:sldId id="369" r:id="rId39"/>
    <p:sldId id="370" r:id="rId40"/>
    <p:sldId id="371" r:id="rId41"/>
    <p:sldId id="348" r:id="rId42"/>
    <p:sldId id="330" r:id="rId43"/>
    <p:sldId id="331" r:id="rId44"/>
    <p:sldId id="372" r:id="rId45"/>
    <p:sldId id="332" r:id="rId46"/>
    <p:sldId id="374" r:id="rId4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7" d="100"/>
          <a:sy n="77" d="100"/>
        </p:scale>
        <p:origin x="1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A2E1F-BEE5-4C79-964D-2EFFC7C75696}" type="datetimeFigureOut">
              <a:rPr lang="zh-CN" altLang="en-US" smtClean="0"/>
              <a:t>2025-10-27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77F1AE-C5CE-447D-BB73-7ACCC4E3E9CE}" type="slidenum">
              <a:rPr lang="zh-CN" altLang="en-US" smtClean="0"/>
              <a:t>‹#›</a:t>
            </a:fld>
            <a:endParaRPr lang="zh-CN" altLang="en-US"/>
          </a:p>
        </p:txBody>
      </p:sp>
    </p:spTree>
    <p:extLst>
      <p:ext uri="{BB962C8B-B14F-4D97-AF65-F5344CB8AC3E}">
        <p14:creationId xmlns:p14="http://schemas.microsoft.com/office/powerpoint/2010/main" val="138111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base">
              <a:spcBef>
                <a:spcPct val="0"/>
              </a:spcBef>
              <a:spcAft>
                <a:spcPct val="0"/>
              </a:spcAft>
              <a:defRPr/>
            </a:pPr>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t>‹#›</a:t>
            </a:fld>
            <a:endParaRPr lang="en-US" altLang="zh-CN" sz="1400" strike="noStrike" noProof="1"/>
          </a:p>
        </p:txBody>
      </p:sp>
    </p:spTree>
    <p:extLst>
      <p:ext uri="{BB962C8B-B14F-4D97-AF65-F5344CB8AC3E}">
        <p14:creationId xmlns:p14="http://schemas.microsoft.com/office/powerpoint/2010/main" val="956593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fontAlgn="base">
              <a:spcBef>
                <a:spcPct val="0"/>
              </a:spcBef>
              <a:spcAft>
                <a:spcPct val="0"/>
              </a:spcAft>
              <a:defRPr/>
            </a:pPr>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t>‹#›</a:t>
            </a:fld>
            <a:endParaRPr lang="en-US" altLang="zh-CN" sz="1400" strike="noStrike" noProof="1"/>
          </a:p>
        </p:txBody>
      </p:sp>
    </p:spTree>
    <p:extLst>
      <p:ext uri="{BB962C8B-B14F-4D97-AF65-F5344CB8AC3E}">
        <p14:creationId xmlns:p14="http://schemas.microsoft.com/office/powerpoint/2010/main" val="1316045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fontAlgn="base">
              <a:spcBef>
                <a:spcPct val="0"/>
              </a:spcBef>
              <a:spcAft>
                <a:spcPct val="0"/>
              </a:spcAft>
              <a:defRPr/>
            </a:pPr>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t>‹#›</a:t>
            </a:fld>
            <a:endParaRPr lang="en-US" altLang="zh-CN" sz="1400" strike="noStrike" noProof="1"/>
          </a:p>
        </p:txBody>
      </p:sp>
    </p:spTree>
    <p:extLst>
      <p:ext uri="{BB962C8B-B14F-4D97-AF65-F5344CB8AC3E}">
        <p14:creationId xmlns:p14="http://schemas.microsoft.com/office/powerpoint/2010/main" val="351046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812800" y="1600200"/>
            <a:ext cx="53340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350000" y="1600200"/>
            <a:ext cx="53340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fontAlgn="base">
              <a:spcBef>
                <a:spcPct val="0"/>
              </a:spcBef>
              <a:spcAft>
                <a:spcPct val="0"/>
              </a:spcAft>
              <a:defRPr/>
            </a:pPr>
            <a:endParaRPr lang="en-US">
              <a:latin typeface="Arial" panose="020B0604020202020204" pitchFamily="34" charset="0"/>
            </a:endParaRPr>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t>‹#›</a:t>
            </a:fld>
            <a:endParaRPr lang="en-US" altLang="zh-CN" sz="1400" strike="noStrike" noProof="1"/>
          </a:p>
        </p:txBody>
      </p:sp>
    </p:spTree>
    <p:extLst>
      <p:ext uri="{BB962C8B-B14F-4D97-AF65-F5344CB8AC3E}">
        <p14:creationId xmlns:p14="http://schemas.microsoft.com/office/powerpoint/2010/main" val="3980905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fontAlgn="base">
              <a:spcBef>
                <a:spcPct val="0"/>
              </a:spcBef>
              <a:spcAft>
                <a:spcPct val="0"/>
              </a:spcAft>
              <a:defRPr/>
            </a:pPr>
            <a:endParaRPr lang="en-US">
              <a:latin typeface="Arial" panose="020B0604020202020204" pitchFamily="34" charset="0"/>
            </a:endParaRPr>
          </a:p>
        </p:txBody>
      </p:sp>
      <p:sp>
        <p:nvSpPr>
          <p:cNvPr id="8" name="页脚占位符 7"/>
          <p:cNvSpPr>
            <a:spLocks noGrp="1"/>
          </p:cNvSpPr>
          <p:nvPr>
            <p:ph type="ftr" sz="quarter" idx="11"/>
          </p:nvPr>
        </p:nvSpPr>
        <p:spPr/>
        <p:txBody>
          <a:bodyPr/>
          <a:lstStyle/>
          <a:p>
            <a:pPr fontAlgn="base">
              <a:spcBef>
                <a:spcPct val="0"/>
              </a:spcBef>
              <a:spcAft>
                <a:spcPct val="0"/>
              </a:spcAft>
              <a:defRPr/>
            </a:pPr>
            <a:endParaRPr lang="en-US">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t>‹#›</a:t>
            </a:fld>
            <a:endParaRPr lang="en-US" altLang="zh-CN" sz="1400" strike="noStrike" noProof="1"/>
          </a:p>
        </p:txBody>
      </p:sp>
    </p:spTree>
    <p:extLst>
      <p:ext uri="{BB962C8B-B14F-4D97-AF65-F5344CB8AC3E}">
        <p14:creationId xmlns:p14="http://schemas.microsoft.com/office/powerpoint/2010/main" val="2852558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fontAlgn="base">
              <a:spcBef>
                <a:spcPct val="0"/>
              </a:spcBef>
              <a:spcAft>
                <a:spcPct val="0"/>
              </a:spcAft>
              <a:defRPr/>
            </a:pPr>
            <a:endParaRPr lang="en-US">
              <a:latin typeface="Arial" panose="020B0604020202020204" pitchFamily="34" charset="0"/>
            </a:endParaRPr>
          </a:p>
        </p:txBody>
      </p:sp>
      <p:sp>
        <p:nvSpPr>
          <p:cNvPr id="4" name="页脚占位符 3"/>
          <p:cNvSpPr>
            <a:spLocks noGrp="1"/>
          </p:cNvSpPr>
          <p:nvPr>
            <p:ph type="ftr" sz="quarter" idx="11"/>
          </p:nvPr>
        </p:nvSpPr>
        <p:spPr/>
        <p:txBody>
          <a:bodyPr/>
          <a:lstStyle/>
          <a:p>
            <a:pPr fontAlgn="base">
              <a:spcBef>
                <a:spcPct val="0"/>
              </a:spcBef>
              <a:spcAft>
                <a:spcPct val="0"/>
              </a:spcAft>
              <a:defRPr/>
            </a:pPr>
            <a:endParaRPr lang="en-US">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t>‹#›</a:t>
            </a:fld>
            <a:endParaRPr lang="en-US" altLang="zh-CN" sz="1400" strike="noStrike" noProof="1"/>
          </a:p>
        </p:txBody>
      </p:sp>
    </p:spTree>
    <p:extLst>
      <p:ext uri="{BB962C8B-B14F-4D97-AF65-F5344CB8AC3E}">
        <p14:creationId xmlns:p14="http://schemas.microsoft.com/office/powerpoint/2010/main" val="1627017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base">
              <a:spcBef>
                <a:spcPct val="0"/>
              </a:spcBef>
              <a:spcAft>
                <a:spcPct val="0"/>
              </a:spcAft>
              <a:defRPr/>
            </a:pPr>
            <a:endParaRPr lang="en-US">
              <a:latin typeface="Arial" panose="020B0604020202020204" pitchFamily="34" charset="0"/>
            </a:endParaRPr>
          </a:p>
        </p:txBody>
      </p:sp>
      <p:sp>
        <p:nvSpPr>
          <p:cNvPr id="3" name="页脚占位符 2"/>
          <p:cNvSpPr>
            <a:spLocks noGrp="1"/>
          </p:cNvSpPr>
          <p:nvPr>
            <p:ph type="ftr" sz="quarter" idx="11"/>
          </p:nvPr>
        </p:nvSpPr>
        <p:spPr/>
        <p:txBody>
          <a:bodyPr/>
          <a:lstStyle/>
          <a:p>
            <a:pPr fontAlgn="base">
              <a:spcBef>
                <a:spcPct val="0"/>
              </a:spcBef>
              <a:spcAft>
                <a:spcPct val="0"/>
              </a:spcAft>
              <a:defRPr/>
            </a:pPr>
            <a:endParaRPr lang="en-US">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t>‹#›</a:t>
            </a:fld>
            <a:endParaRPr lang="en-US" altLang="zh-CN" sz="1400" strike="noStrike" noProof="1"/>
          </a:p>
        </p:txBody>
      </p:sp>
    </p:spTree>
    <p:extLst>
      <p:ext uri="{BB962C8B-B14F-4D97-AF65-F5344CB8AC3E}">
        <p14:creationId xmlns:p14="http://schemas.microsoft.com/office/powerpoint/2010/main" val="1571357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base">
              <a:spcBef>
                <a:spcPct val="0"/>
              </a:spcBef>
              <a:spcAft>
                <a:spcPct val="0"/>
              </a:spcAft>
              <a:defRPr/>
            </a:pPr>
            <a:endParaRPr lang="en-US">
              <a:latin typeface="Arial" panose="020B0604020202020204" pitchFamily="34" charset="0"/>
            </a:endParaRPr>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t>‹#›</a:t>
            </a:fld>
            <a:endParaRPr lang="en-US" altLang="zh-CN" sz="1400" strike="noStrike" noProof="1"/>
          </a:p>
        </p:txBody>
      </p:sp>
    </p:spTree>
    <p:extLst>
      <p:ext uri="{BB962C8B-B14F-4D97-AF65-F5344CB8AC3E}">
        <p14:creationId xmlns:p14="http://schemas.microsoft.com/office/powerpoint/2010/main" val="3167715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base">
              <a:spcBef>
                <a:spcPct val="0"/>
              </a:spcBef>
              <a:spcAft>
                <a:spcPct val="0"/>
              </a:spcAft>
              <a:defRPr/>
            </a:pPr>
            <a:endParaRPr lang="en-US">
              <a:latin typeface="Arial" panose="020B0604020202020204" pitchFamily="34" charset="0"/>
            </a:endParaRPr>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t>‹#›</a:t>
            </a:fld>
            <a:endParaRPr lang="en-US" altLang="zh-CN" sz="1400" strike="noStrike" noProof="1"/>
          </a:p>
        </p:txBody>
      </p:sp>
    </p:spTree>
    <p:extLst>
      <p:ext uri="{BB962C8B-B14F-4D97-AF65-F5344CB8AC3E}">
        <p14:creationId xmlns:p14="http://schemas.microsoft.com/office/powerpoint/2010/main" val="1540279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fontAlgn="base">
              <a:spcBef>
                <a:spcPct val="0"/>
              </a:spcBef>
              <a:spcAft>
                <a:spcPct val="0"/>
              </a:spcAft>
              <a:defRPr/>
            </a:pPr>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t>‹#›</a:t>
            </a:fld>
            <a:endParaRPr lang="en-US" altLang="zh-CN" sz="1400" strike="noStrike" noProof="1"/>
          </a:p>
        </p:txBody>
      </p:sp>
    </p:spTree>
    <p:extLst>
      <p:ext uri="{BB962C8B-B14F-4D97-AF65-F5344CB8AC3E}">
        <p14:creationId xmlns:p14="http://schemas.microsoft.com/office/powerpoint/2010/main" val="3099306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38685" y="228601"/>
            <a:ext cx="2846916" cy="587057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97934" y="228601"/>
            <a:ext cx="8337551" cy="587057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fontAlgn="base">
              <a:spcBef>
                <a:spcPct val="0"/>
              </a:spcBef>
              <a:spcAft>
                <a:spcPct val="0"/>
              </a:spcAft>
              <a:defRPr/>
            </a:pPr>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t>‹#›</a:t>
            </a:fld>
            <a:endParaRPr lang="en-US" altLang="zh-CN" sz="1400" strike="noStrike" noProof="1"/>
          </a:p>
        </p:txBody>
      </p:sp>
    </p:spTree>
    <p:extLst>
      <p:ext uri="{BB962C8B-B14F-4D97-AF65-F5344CB8AC3E}">
        <p14:creationId xmlns:p14="http://schemas.microsoft.com/office/powerpoint/2010/main" val="1462435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24997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extLst>
      <p:ext uri="{BB962C8B-B14F-4D97-AF65-F5344CB8AC3E}">
        <p14:creationId xmlns:p14="http://schemas.microsoft.com/office/powerpoint/2010/main" val="708868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p:nvPr/>
        </p:nvGrpSpPr>
        <p:grpSpPr>
          <a:xfrm>
            <a:off x="755651" y="0"/>
            <a:ext cx="10521949" cy="6821488"/>
            <a:chOff x="0" y="0"/>
            <a:chExt cx="4971" cy="4297"/>
          </a:xfrm>
        </p:grpSpPr>
        <p:sp>
          <p:nvSpPr>
            <p:cNvPr id="1027" name="Rectangle 3"/>
            <p:cNvSpPr>
              <a:spLocks noChangeArrowheads="1"/>
            </p:cNvSpPr>
            <p:nvPr/>
          </p:nvSpPr>
          <p:spPr bwMode="auto">
            <a:xfrm>
              <a:off x="35" y="0"/>
              <a:ext cx="21" cy="10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Freeform 4"/>
            <p:cNvSpPr>
              <a:spLocks noEditPoints="1"/>
            </p:cNvSpPr>
            <p:nvPr/>
          </p:nvSpPr>
          <p:spPr bwMode="auto">
            <a:xfrm>
              <a:off x="35" y="202"/>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Freeform 5"/>
            <p:cNvSpPr>
              <a:spLocks noEditPoints="1"/>
            </p:cNvSpPr>
            <p:nvPr/>
          </p:nvSpPr>
          <p:spPr bwMode="auto">
            <a:xfrm>
              <a:off x="35" y="607"/>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Freeform 6"/>
            <p:cNvSpPr>
              <a:spLocks noEditPoints="1"/>
            </p:cNvSpPr>
            <p:nvPr/>
          </p:nvSpPr>
          <p:spPr bwMode="auto">
            <a:xfrm>
              <a:off x="35" y="1011"/>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1" name="Freeform 7"/>
            <p:cNvSpPr>
              <a:spLocks noEditPoints="1"/>
            </p:cNvSpPr>
            <p:nvPr/>
          </p:nvSpPr>
          <p:spPr bwMode="auto">
            <a:xfrm>
              <a:off x="35" y="1415"/>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Freeform 8"/>
            <p:cNvSpPr>
              <a:spLocks noEditPoints="1"/>
            </p:cNvSpPr>
            <p:nvPr/>
          </p:nvSpPr>
          <p:spPr bwMode="auto">
            <a:xfrm>
              <a:off x="35" y="1820"/>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3" name="Freeform 9"/>
            <p:cNvSpPr>
              <a:spLocks noEditPoints="1"/>
            </p:cNvSpPr>
            <p:nvPr/>
          </p:nvSpPr>
          <p:spPr bwMode="auto">
            <a:xfrm>
              <a:off x="35" y="2224"/>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4" name="Freeform 10"/>
            <p:cNvSpPr>
              <a:spLocks noEditPoints="1"/>
            </p:cNvSpPr>
            <p:nvPr/>
          </p:nvSpPr>
          <p:spPr bwMode="auto">
            <a:xfrm>
              <a:off x="35" y="2629"/>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5" name="Freeform 11"/>
            <p:cNvSpPr>
              <a:spLocks noEditPoints="1"/>
            </p:cNvSpPr>
            <p:nvPr/>
          </p:nvSpPr>
          <p:spPr bwMode="auto">
            <a:xfrm>
              <a:off x="35" y="3033"/>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6" name="Freeform 12"/>
            <p:cNvSpPr>
              <a:spLocks noEditPoints="1"/>
            </p:cNvSpPr>
            <p:nvPr/>
          </p:nvSpPr>
          <p:spPr bwMode="auto">
            <a:xfrm>
              <a:off x="35" y="3438"/>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7" name="Freeform 13"/>
            <p:cNvSpPr>
              <a:spLocks noEditPoints="1"/>
            </p:cNvSpPr>
            <p:nvPr/>
          </p:nvSpPr>
          <p:spPr bwMode="auto">
            <a:xfrm>
              <a:off x="35" y="3842"/>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8" name="Rectangle 14"/>
            <p:cNvSpPr>
              <a:spLocks noChangeArrowheads="1"/>
            </p:cNvSpPr>
            <p:nvPr/>
          </p:nvSpPr>
          <p:spPr bwMode="auto">
            <a:xfrm>
              <a:off x="35" y="4246"/>
              <a:ext cx="21" cy="5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9" name="Rectangle 15"/>
            <p:cNvSpPr>
              <a:spLocks noChangeArrowheads="1"/>
            </p:cNvSpPr>
            <p:nvPr/>
          </p:nvSpPr>
          <p:spPr bwMode="auto">
            <a:xfrm>
              <a:off x="480" y="0"/>
              <a:ext cx="21" cy="10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0" name="Freeform 16"/>
            <p:cNvSpPr>
              <a:spLocks noEditPoints="1"/>
            </p:cNvSpPr>
            <p:nvPr/>
          </p:nvSpPr>
          <p:spPr bwMode="auto">
            <a:xfrm>
              <a:off x="480" y="202"/>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1" name="Freeform 17"/>
            <p:cNvSpPr>
              <a:spLocks noEditPoints="1"/>
            </p:cNvSpPr>
            <p:nvPr/>
          </p:nvSpPr>
          <p:spPr bwMode="auto">
            <a:xfrm>
              <a:off x="480" y="607"/>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2" name="Freeform 18"/>
            <p:cNvSpPr>
              <a:spLocks noEditPoints="1"/>
            </p:cNvSpPr>
            <p:nvPr/>
          </p:nvSpPr>
          <p:spPr bwMode="auto">
            <a:xfrm>
              <a:off x="480" y="1011"/>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3" name="Freeform 19"/>
            <p:cNvSpPr>
              <a:spLocks noEditPoints="1"/>
            </p:cNvSpPr>
            <p:nvPr/>
          </p:nvSpPr>
          <p:spPr bwMode="auto">
            <a:xfrm>
              <a:off x="480" y="1415"/>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4" name="Freeform 20"/>
            <p:cNvSpPr>
              <a:spLocks noEditPoints="1"/>
            </p:cNvSpPr>
            <p:nvPr/>
          </p:nvSpPr>
          <p:spPr bwMode="auto">
            <a:xfrm>
              <a:off x="480" y="1820"/>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5" name="Freeform 21"/>
            <p:cNvSpPr>
              <a:spLocks noEditPoints="1"/>
            </p:cNvSpPr>
            <p:nvPr/>
          </p:nvSpPr>
          <p:spPr bwMode="auto">
            <a:xfrm>
              <a:off x="480" y="2224"/>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6" name="Freeform 22"/>
            <p:cNvSpPr>
              <a:spLocks noEditPoints="1"/>
            </p:cNvSpPr>
            <p:nvPr/>
          </p:nvSpPr>
          <p:spPr bwMode="auto">
            <a:xfrm>
              <a:off x="480" y="2629"/>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7" name="Freeform 23"/>
            <p:cNvSpPr>
              <a:spLocks noEditPoints="1"/>
            </p:cNvSpPr>
            <p:nvPr/>
          </p:nvSpPr>
          <p:spPr bwMode="auto">
            <a:xfrm>
              <a:off x="480" y="3033"/>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 name="Freeform 24"/>
            <p:cNvSpPr>
              <a:spLocks noEditPoints="1"/>
            </p:cNvSpPr>
            <p:nvPr/>
          </p:nvSpPr>
          <p:spPr bwMode="auto">
            <a:xfrm>
              <a:off x="480" y="3438"/>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 name="Freeform 25"/>
            <p:cNvSpPr>
              <a:spLocks noEditPoints="1"/>
            </p:cNvSpPr>
            <p:nvPr/>
          </p:nvSpPr>
          <p:spPr bwMode="auto">
            <a:xfrm>
              <a:off x="480" y="3842"/>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 name="Rectangle 26"/>
            <p:cNvSpPr>
              <a:spLocks noChangeArrowheads="1"/>
            </p:cNvSpPr>
            <p:nvPr/>
          </p:nvSpPr>
          <p:spPr bwMode="auto">
            <a:xfrm>
              <a:off x="480" y="4246"/>
              <a:ext cx="21" cy="5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 name="Rectangle 27"/>
            <p:cNvSpPr>
              <a:spLocks noChangeArrowheads="1"/>
            </p:cNvSpPr>
            <p:nvPr/>
          </p:nvSpPr>
          <p:spPr bwMode="auto">
            <a:xfrm>
              <a:off x="930" y="0"/>
              <a:ext cx="21" cy="10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 name="Freeform 28"/>
            <p:cNvSpPr>
              <a:spLocks noEditPoints="1"/>
            </p:cNvSpPr>
            <p:nvPr/>
          </p:nvSpPr>
          <p:spPr bwMode="auto">
            <a:xfrm>
              <a:off x="930" y="202"/>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 name="Freeform 29"/>
            <p:cNvSpPr>
              <a:spLocks noEditPoints="1"/>
            </p:cNvSpPr>
            <p:nvPr/>
          </p:nvSpPr>
          <p:spPr bwMode="auto">
            <a:xfrm>
              <a:off x="930" y="607"/>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 name="Freeform 30"/>
            <p:cNvSpPr>
              <a:spLocks noEditPoints="1"/>
            </p:cNvSpPr>
            <p:nvPr/>
          </p:nvSpPr>
          <p:spPr bwMode="auto">
            <a:xfrm>
              <a:off x="930" y="1011"/>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5" name="Freeform 31"/>
            <p:cNvSpPr>
              <a:spLocks noEditPoints="1"/>
            </p:cNvSpPr>
            <p:nvPr/>
          </p:nvSpPr>
          <p:spPr bwMode="auto">
            <a:xfrm>
              <a:off x="930" y="1415"/>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6" name="Freeform 32"/>
            <p:cNvSpPr>
              <a:spLocks noEditPoints="1"/>
            </p:cNvSpPr>
            <p:nvPr/>
          </p:nvSpPr>
          <p:spPr bwMode="auto">
            <a:xfrm>
              <a:off x="930" y="1820"/>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7" name="Freeform 33"/>
            <p:cNvSpPr>
              <a:spLocks noEditPoints="1"/>
            </p:cNvSpPr>
            <p:nvPr/>
          </p:nvSpPr>
          <p:spPr bwMode="auto">
            <a:xfrm>
              <a:off x="930" y="2224"/>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8" name="Freeform 34"/>
            <p:cNvSpPr>
              <a:spLocks noEditPoints="1"/>
            </p:cNvSpPr>
            <p:nvPr/>
          </p:nvSpPr>
          <p:spPr bwMode="auto">
            <a:xfrm>
              <a:off x="930" y="2629"/>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9" name="Freeform 35"/>
            <p:cNvSpPr>
              <a:spLocks noEditPoints="1"/>
            </p:cNvSpPr>
            <p:nvPr/>
          </p:nvSpPr>
          <p:spPr bwMode="auto">
            <a:xfrm>
              <a:off x="930" y="3033"/>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0" name="Freeform 36"/>
            <p:cNvSpPr>
              <a:spLocks noEditPoints="1"/>
            </p:cNvSpPr>
            <p:nvPr/>
          </p:nvSpPr>
          <p:spPr bwMode="auto">
            <a:xfrm>
              <a:off x="930" y="3438"/>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1" name="Freeform 37"/>
            <p:cNvSpPr>
              <a:spLocks noEditPoints="1"/>
            </p:cNvSpPr>
            <p:nvPr/>
          </p:nvSpPr>
          <p:spPr bwMode="auto">
            <a:xfrm>
              <a:off x="930" y="3842"/>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2" name="Rectangle 38"/>
            <p:cNvSpPr>
              <a:spLocks noChangeArrowheads="1"/>
            </p:cNvSpPr>
            <p:nvPr/>
          </p:nvSpPr>
          <p:spPr bwMode="auto">
            <a:xfrm>
              <a:off x="930" y="4246"/>
              <a:ext cx="21" cy="5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3" name="Rectangle 39"/>
            <p:cNvSpPr>
              <a:spLocks noChangeArrowheads="1"/>
            </p:cNvSpPr>
            <p:nvPr/>
          </p:nvSpPr>
          <p:spPr bwMode="auto">
            <a:xfrm>
              <a:off x="1375" y="0"/>
              <a:ext cx="21" cy="10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4" name="Freeform 40"/>
            <p:cNvSpPr>
              <a:spLocks noEditPoints="1"/>
            </p:cNvSpPr>
            <p:nvPr/>
          </p:nvSpPr>
          <p:spPr bwMode="auto">
            <a:xfrm>
              <a:off x="1375" y="202"/>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5" name="Freeform 41"/>
            <p:cNvSpPr>
              <a:spLocks noEditPoints="1"/>
            </p:cNvSpPr>
            <p:nvPr/>
          </p:nvSpPr>
          <p:spPr bwMode="auto">
            <a:xfrm>
              <a:off x="1375" y="607"/>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6" name="Freeform 42"/>
            <p:cNvSpPr>
              <a:spLocks noEditPoints="1"/>
            </p:cNvSpPr>
            <p:nvPr/>
          </p:nvSpPr>
          <p:spPr bwMode="auto">
            <a:xfrm>
              <a:off x="1375" y="1011"/>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7" name="Freeform 43"/>
            <p:cNvSpPr>
              <a:spLocks noEditPoints="1"/>
            </p:cNvSpPr>
            <p:nvPr/>
          </p:nvSpPr>
          <p:spPr bwMode="auto">
            <a:xfrm>
              <a:off x="1375" y="1415"/>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8" name="Freeform 44"/>
            <p:cNvSpPr>
              <a:spLocks noEditPoints="1"/>
            </p:cNvSpPr>
            <p:nvPr/>
          </p:nvSpPr>
          <p:spPr bwMode="auto">
            <a:xfrm>
              <a:off x="1375" y="1820"/>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9" name="Freeform 45"/>
            <p:cNvSpPr>
              <a:spLocks noEditPoints="1"/>
            </p:cNvSpPr>
            <p:nvPr/>
          </p:nvSpPr>
          <p:spPr bwMode="auto">
            <a:xfrm>
              <a:off x="1375" y="2224"/>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0" name="Freeform 46"/>
            <p:cNvSpPr>
              <a:spLocks noEditPoints="1"/>
            </p:cNvSpPr>
            <p:nvPr/>
          </p:nvSpPr>
          <p:spPr bwMode="auto">
            <a:xfrm>
              <a:off x="1375" y="2629"/>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1" name="Freeform 47"/>
            <p:cNvSpPr>
              <a:spLocks noEditPoints="1"/>
            </p:cNvSpPr>
            <p:nvPr/>
          </p:nvSpPr>
          <p:spPr bwMode="auto">
            <a:xfrm>
              <a:off x="1375" y="3033"/>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2" name="Freeform 48"/>
            <p:cNvSpPr>
              <a:spLocks noEditPoints="1"/>
            </p:cNvSpPr>
            <p:nvPr/>
          </p:nvSpPr>
          <p:spPr bwMode="auto">
            <a:xfrm>
              <a:off x="1375" y="3438"/>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3" name="Freeform 49"/>
            <p:cNvSpPr>
              <a:spLocks noEditPoints="1"/>
            </p:cNvSpPr>
            <p:nvPr/>
          </p:nvSpPr>
          <p:spPr bwMode="auto">
            <a:xfrm>
              <a:off x="1375" y="3842"/>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4" name="Rectangle 50"/>
            <p:cNvSpPr>
              <a:spLocks noChangeArrowheads="1"/>
            </p:cNvSpPr>
            <p:nvPr/>
          </p:nvSpPr>
          <p:spPr bwMode="auto">
            <a:xfrm>
              <a:off x="1375" y="4246"/>
              <a:ext cx="21" cy="5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5" name="Rectangle 51"/>
            <p:cNvSpPr>
              <a:spLocks noChangeArrowheads="1"/>
            </p:cNvSpPr>
            <p:nvPr/>
          </p:nvSpPr>
          <p:spPr bwMode="auto">
            <a:xfrm>
              <a:off x="1820" y="0"/>
              <a:ext cx="21" cy="10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6" name="Freeform 52"/>
            <p:cNvSpPr>
              <a:spLocks noEditPoints="1"/>
            </p:cNvSpPr>
            <p:nvPr/>
          </p:nvSpPr>
          <p:spPr bwMode="auto">
            <a:xfrm>
              <a:off x="1820" y="202"/>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7" name="Freeform 53"/>
            <p:cNvSpPr>
              <a:spLocks noEditPoints="1"/>
            </p:cNvSpPr>
            <p:nvPr/>
          </p:nvSpPr>
          <p:spPr bwMode="auto">
            <a:xfrm>
              <a:off x="1820" y="607"/>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8" name="Freeform 54"/>
            <p:cNvSpPr>
              <a:spLocks noEditPoints="1"/>
            </p:cNvSpPr>
            <p:nvPr/>
          </p:nvSpPr>
          <p:spPr bwMode="auto">
            <a:xfrm>
              <a:off x="1820" y="1011"/>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9" name="Freeform 55"/>
            <p:cNvSpPr>
              <a:spLocks noEditPoints="1"/>
            </p:cNvSpPr>
            <p:nvPr/>
          </p:nvSpPr>
          <p:spPr bwMode="auto">
            <a:xfrm>
              <a:off x="1820" y="1415"/>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0" name="Freeform 56"/>
            <p:cNvSpPr>
              <a:spLocks noEditPoints="1"/>
            </p:cNvSpPr>
            <p:nvPr/>
          </p:nvSpPr>
          <p:spPr bwMode="auto">
            <a:xfrm>
              <a:off x="1820" y="1820"/>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1" name="Freeform 57"/>
            <p:cNvSpPr>
              <a:spLocks noEditPoints="1"/>
            </p:cNvSpPr>
            <p:nvPr/>
          </p:nvSpPr>
          <p:spPr bwMode="auto">
            <a:xfrm>
              <a:off x="1820" y="2224"/>
              <a:ext cx="21"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2" name="Freeform 58"/>
            <p:cNvSpPr>
              <a:spLocks noEditPoints="1"/>
            </p:cNvSpPr>
            <p:nvPr/>
          </p:nvSpPr>
          <p:spPr bwMode="auto">
            <a:xfrm>
              <a:off x="1820" y="2629"/>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3" name="Freeform 59"/>
            <p:cNvSpPr>
              <a:spLocks noEditPoints="1"/>
            </p:cNvSpPr>
            <p:nvPr/>
          </p:nvSpPr>
          <p:spPr bwMode="auto">
            <a:xfrm>
              <a:off x="1820" y="3033"/>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4" name="Freeform 60"/>
            <p:cNvSpPr>
              <a:spLocks noEditPoints="1"/>
            </p:cNvSpPr>
            <p:nvPr/>
          </p:nvSpPr>
          <p:spPr bwMode="auto">
            <a:xfrm>
              <a:off x="1820" y="3438"/>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5" name="Freeform 61"/>
            <p:cNvSpPr>
              <a:spLocks noEditPoints="1"/>
            </p:cNvSpPr>
            <p:nvPr/>
          </p:nvSpPr>
          <p:spPr bwMode="auto">
            <a:xfrm>
              <a:off x="1820" y="3842"/>
              <a:ext cx="21"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6" name="Rectangle 62"/>
            <p:cNvSpPr>
              <a:spLocks noChangeArrowheads="1"/>
            </p:cNvSpPr>
            <p:nvPr/>
          </p:nvSpPr>
          <p:spPr bwMode="auto">
            <a:xfrm>
              <a:off x="1820" y="4246"/>
              <a:ext cx="21" cy="5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7" name="Rectangle 63"/>
            <p:cNvSpPr>
              <a:spLocks noChangeArrowheads="1"/>
            </p:cNvSpPr>
            <p:nvPr/>
          </p:nvSpPr>
          <p:spPr bwMode="auto">
            <a:xfrm>
              <a:off x="2271" y="0"/>
              <a:ext cx="20" cy="10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8" name="Freeform 64"/>
            <p:cNvSpPr>
              <a:spLocks noEditPoints="1"/>
            </p:cNvSpPr>
            <p:nvPr/>
          </p:nvSpPr>
          <p:spPr bwMode="auto">
            <a:xfrm>
              <a:off x="2271" y="202"/>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9" name="Freeform 65"/>
            <p:cNvSpPr>
              <a:spLocks noEditPoints="1"/>
            </p:cNvSpPr>
            <p:nvPr/>
          </p:nvSpPr>
          <p:spPr bwMode="auto">
            <a:xfrm>
              <a:off x="2271" y="607"/>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90" name="Freeform 66"/>
            <p:cNvSpPr>
              <a:spLocks noEditPoints="1"/>
            </p:cNvSpPr>
            <p:nvPr/>
          </p:nvSpPr>
          <p:spPr bwMode="auto">
            <a:xfrm>
              <a:off x="2271" y="1011"/>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91" name="Freeform 67"/>
            <p:cNvSpPr>
              <a:spLocks noEditPoints="1"/>
            </p:cNvSpPr>
            <p:nvPr/>
          </p:nvSpPr>
          <p:spPr bwMode="auto">
            <a:xfrm>
              <a:off x="2271" y="1415"/>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92" name="Freeform 68"/>
            <p:cNvSpPr>
              <a:spLocks noEditPoints="1"/>
            </p:cNvSpPr>
            <p:nvPr/>
          </p:nvSpPr>
          <p:spPr bwMode="auto">
            <a:xfrm>
              <a:off x="2271" y="1820"/>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93" name="Freeform 69"/>
            <p:cNvSpPr>
              <a:spLocks noEditPoints="1"/>
            </p:cNvSpPr>
            <p:nvPr/>
          </p:nvSpPr>
          <p:spPr bwMode="auto">
            <a:xfrm>
              <a:off x="2271" y="2224"/>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94" name="Freeform 70"/>
            <p:cNvSpPr>
              <a:spLocks noEditPoints="1"/>
            </p:cNvSpPr>
            <p:nvPr/>
          </p:nvSpPr>
          <p:spPr bwMode="auto">
            <a:xfrm>
              <a:off x="2271" y="2629"/>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95" name="Freeform 71"/>
            <p:cNvSpPr>
              <a:spLocks noEditPoints="1"/>
            </p:cNvSpPr>
            <p:nvPr/>
          </p:nvSpPr>
          <p:spPr bwMode="auto">
            <a:xfrm>
              <a:off x="2271" y="3033"/>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96" name="Freeform 72"/>
            <p:cNvSpPr>
              <a:spLocks noEditPoints="1"/>
            </p:cNvSpPr>
            <p:nvPr/>
          </p:nvSpPr>
          <p:spPr bwMode="auto">
            <a:xfrm>
              <a:off x="2271" y="3438"/>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97" name="Freeform 73"/>
            <p:cNvSpPr>
              <a:spLocks noEditPoints="1"/>
            </p:cNvSpPr>
            <p:nvPr/>
          </p:nvSpPr>
          <p:spPr bwMode="auto">
            <a:xfrm>
              <a:off x="2271" y="3842"/>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98" name="Rectangle 74"/>
            <p:cNvSpPr>
              <a:spLocks noChangeArrowheads="1"/>
            </p:cNvSpPr>
            <p:nvPr/>
          </p:nvSpPr>
          <p:spPr bwMode="auto">
            <a:xfrm>
              <a:off x="2271" y="4246"/>
              <a:ext cx="20" cy="5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99" name="Rectangle 75"/>
            <p:cNvSpPr>
              <a:spLocks noChangeArrowheads="1"/>
            </p:cNvSpPr>
            <p:nvPr/>
          </p:nvSpPr>
          <p:spPr bwMode="auto">
            <a:xfrm>
              <a:off x="2716" y="0"/>
              <a:ext cx="20" cy="10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0" name="Freeform 76"/>
            <p:cNvSpPr>
              <a:spLocks noEditPoints="1"/>
            </p:cNvSpPr>
            <p:nvPr/>
          </p:nvSpPr>
          <p:spPr bwMode="auto">
            <a:xfrm>
              <a:off x="2716" y="202"/>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1" name="Freeform 77"/>
            <p:cNvSpPr>
              <a:spLocks noEditPoints="1"/>
            </p:cNvSpPr>
            <p:nvPr/>
          </p:nvSpPr>
          <p:spPr bwMode="auto">
            <a:xfrm>
              <a:off x="2716" y="607"/>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2" name="Freeform 78"/>
            <p:cNvSpPr>
              <a:spLocks noEditPoints="1"/>
            </p:cNvSpPr>
            <p:nvPr/>
          </p:nvSpPr>
          <p:spPr bwMode="auto">
            <a:xfrm>
              <a:off x="2716" y="1011"/>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3" name="Freeform 79"/>
            <p:cNvSpPr>
              <a:spLocks noEditPoints="1"/>
            </p:cNvSpPr>
            <p:nvPr/>
          </p:nvSpPr>
          <p:spPr bwMode="auto">
            <a:xfrm>
              <a:off x="2716" y="1415"/>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4" name="Freeform 80"/>
            <p:cNvSpPr>
              <a:spLocks noEditPoints="1"/>
            </p:cNvSpPr>
            <p:nvPr/>
          </p:nvSpPr>
          <p:spPr bwMode="auto">
            <a:xfrm>
              <a:off x="2716" y="1820"/>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5" name="Freeform 81"/>
            <p:cNvSpPr>
              <a:spLocks noEditPoints="1"/>
            </p:cNvSpPr>
            <p:nvPr/>
          </p:nvSpPr>
          <p:spPr bwMode="auto">
            <a:xfrm>
              <a:off x="2716" y="2224"/>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6" name="Freeform 82"/>
            <p:cNvSpPr>
              <a:spLocks noEditPoints="1"/>
            </p:cNvSpPr>
            <p:nvPr/>
          </p:nvSpPr>
          <p:spPr bwMode="auto">
            <a:xfrm>
              <a:off x="2716" y="2629"/>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7" name="Freeform 83"/>
            <p:cNvSpPr>
              <a:spLocks noEditPoints="1"/>
            </p:cNvSpPr>
            <p:nvPr/>
          </p:nvSpPr>
          <p:spPr bwMode="auto">
            <a:xfrm>
              <a:off x="2716" y="3033"/>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8" name="Freeform 84"/>
            <p:cNvSpPr>
              <a:spLocks noEditPoints="1"/>
            </p:cNvSpPr>
            <p:nvPr/>
          </p:nvSpPr>
          <p:spPr bwMode="auto">
            <a:xfrm>
              <a:off x="2716" y="3438"/>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9" name="Freeform 85"/>
            <p:cNvSpPr>
              <a:spLocks noEditPoints="1"/>
            </p:cNvSpPr>
            <p:nvPr/>
          </p:nvSpPr>
          <p:spPr bwMode="auto">
            <a:xfrm>
              <a:off x="2716" y="3842"/>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10" name="Rectangle 86"/>
            <p:cNvSpPr>
              <a:spLocks noChangeArrowheads="1"/>
            </p:cNvSpPr>
            <p:nvPr/>
          </p:nvSpPr>
          <p:spPr bwMode="auto">
            <a:xfrm>
              <a:off x="2716" y="4246"/>
              <a:ext cx="20" cy="5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11" name="Rectangle 87"/>
            <p:cNvSpPr>
              <a:spLocks noChangeArrowheads="1"/>
            </p:cNvSpPr>
            <p:nvPr/>
          </p:nvSpPr>
          <p:spPr bwMode="auto">
            <a:xfrm>
              <a:off x="3161" y="0"/>
              <a:ext cx="20" cy="10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12" name="Freeform 88"/>
            <p:cNvSpPr>
              <a:spLocks noEditPoints="1"/>
            </p:cNvSpPr>
            <p:nvPr/>
          </p:nvSpPr>
          <p:spPr bwMode="auto">
            <a:xfrm>
              <a:off x="3161" y="202"/>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13" name="Freeform 89"/>
            <p:cNvSpPr>
              <a:spLocks noEditPoints="1"/>
            </p:cNvSpPr>
            <p:nvPr/>
          </p:nvSpPr>
          <p:spPr bwMode="auto">
            <a:xfrm>
              <a:off x="3161" y="607"/>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14" name="Freeform 90"/>
            <p:cNvSpPr>
              <a:spLocks noEditPoints="1"/>
            </p:cNvSpPr>
            <p:nvPr/>
          </p:nvSpPr>
          <p:spPr bwMode="auto">
            <a:xfrm>
              <a:off x="3161" y="1011"/>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15" name="Freeform 91"/>
            <p:cNvSpPr>
              <a:spLocks noEditPoints="1"/>
            </p:cNvSpPr>
            <p:nvPr/>
          </p:nvSpPr>
          <p:spPr bwMode="auto">
            <a:xfrm>
              <a:off x="3161" y="1415"/>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16" name="Freeform 92"/>
            <p:cNvSpPr>
              <a:spLocks noEditPoints="1"/>
            </p:cNvSpPr>
            <p:nvPr/>
          </p:nvSpPr>
          <p:spPr bwMode="auto">
            <a:xfrm>
              <a:off x="3161" y="1820"/>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17" name="Freeform 93"/>
            <p:cNvSpPr>
              <a:spLocks noEditPoints="1"/>
            </p:cNvSpPr>
            <p:nvPr/>
          </p:nvSpPr>
          <p:spPr bwMode="auto">
            <a:xfrm>
              <a:off x="3161" y="2224"/>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18" name="Freeform 94"/>
            <p:cNvSpPr>
              <a:spLocks noEditPoints="1"/>
            </p:cNvSpPr>
            <p:nvPr/>
          </p:nvSpPr>
          <p:spPr bwMode="auto">
            <a:xfrm>
              <a:off x="3161" y="2629"/>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19" name="Freeform 95"/>
            <p:cNvSpPr>
              <a:spLocks noEditPoints="1"/>
            </p:cNvSpPr>
            <p:nvPr/>
          </p:nvSpPr>
          <p:spPr bwMode="auto">
            <a:xfrm>
              <a:off x="3161" y="3033"/>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0" name="Freeform 96"/>
            <p:cNvSpPr>
              <a:spLocks noEditPoints="1"/>
            </p:cNvSpPr>
            <p:nvPr/>
          </p:nvSpPr>
          <p:spPr bwMode="auto">
            <a:xfrm>
              <a:off x="3161" y="3438"/>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1" name="Freeform 97"/>
            <p:cNvSpPr>
              <a:spLocks noEditPoints="1"/>
            </p:cNvSpPr>
            <p:nvPr/>
          </p:nvSpPr>
          <p:spPr bwMode="auto">
            <a:xfrm>
              <a:off x="3161" y="3842"/>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2" name="Rectangle 98"/>
            <p:cNvSpPr>
              <a:spLocks noChangeArrowheads="1"/>
            </p:cNvSpPr>
            <p:nvPr/>
          </p:nvSpPr>
          <p:spPr bwMode="auto">
            <a:xfrm>
              <a:off x="3161" y="4246"/>
              <a:ext cx="20" cy="5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3" name="Rectangle 99"/>
            <p:cNvSpPr>
              <a:spLocks noChangeArrowheads="1"/>
            </p:cNvSpPr>
            <p:nvPr/>
          </p:nvSpPr>
          <p:spPr bwMode="auto">
            <a:xfrm>
              <a:off x="3611" y="0"/>
              <a:ext cx="20" cy="10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4" name="Freeform 100"/>
            <p:cNvSpPr>
              <a:spLocks noEditPoints="1"/>
            </p:cNvSpPr>
            <p:nvPr/>
          </p:nvSpPr>
          <p:spPr bwMode="auto">
            <a:xfrm>
              <a:off x="3611" y="202"/>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5" name="Freeform 101"/>
            <p:cNvSpPr>
              <a:spLocks noEditPoints="1"/>
            </p:cNvSpPr>
            <p:nvPr/>
          </p:nvSpPr>
          <p:spPr bwMode="auto">
            <a:xfrm>
              <a:off x="3611" y="607"/>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6" name="Freeform 102"/>
            <p:cNvSpPr>
              <a:spLocks noEditPoints="1"/>
            </p:cNvSpPr>
            <p:nvPr/>
          </p:nvSpPr>
          <p:spPr bwMode="auto">
            <a:xfrm>
              <a:off x="3611" y="1011"/>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7" name="Freeform 103"/>
            <p:cNvSpPr>
              <a:spLocks noEditPoints="1"/>
            </p:cNvSpPr>
            <p:nvPr/>
          </p:nvSpPr>
          <p:spPr bwMode="auto">
            <a:xfrm>
              <a:off x="3611" y="1415"/>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8" name="Freeform 104"/>
            <p:cNvSpPr>
              <a:spLocks noEditPoints="1"/>
            </p:cNvSpPr>
            <p:nvPr/>
          </p:nvSpPr>
          <p:spPr bwMode="auto">
            <a:xfrm>
              <a:off x="3611" y="1820"/>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9" name="Freeform 105"/>
            <p:cNvSpPr>
              <a:spLocks noEditPoints="1"/>
            </p:cNvSpPr>
            <p:nvPr/>
          </p:nvSpPr>
          <p:spPr bwMode="auto">
            <a:xfrm>
              <a:off x="3611" y="2224"/>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0" name="Freeform 106"/>
            <p:cNvSpPr>
              <a:spLocks noEditPoints="1"/>
            </p:cNvSpPr>
            <p:nvPr/>
          </p:nvSpPr>
          <p:spPr bwMode="auto">
            <a:xfrm>
              <a:off x="3611" y="2629"/>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1" name="Freeform 107"/>
            <p:cNvSpPr>
              <a:spLocks noEditPoints="1"/>
            </p:cNvSpPr>
            <p:nvPr/>
          </p:nvSpPr>
          <p:spPr bwMode="auto">
            <a:xfrm>
              <a:off x="3611" y="3033"/>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2" name="Freeform 108"/>
            <p:cNvSpPr>
              <a:spLocks noEditPoints="1"/>
            </p:cNvSpPr>
            <p:nvPr/>
          </p:nvSpPr>
          <p:spPr bwMode="auto">
            <a:xfrm>
              <a:off x="3611" y="3438"/>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3" name="Freeform 109"/>
            <p:cNvSpPr>
              <a:spLocks noEditPoints="1"/>
            </p:cNvSpPr>
            <p:nvPr/>
          </p:nvSpPr>
          <p:spPr bwMode="auto">
            <a:xfrm>
              <a:off x="3611" y="3842"/>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4" name="Rectangle 110"/>
            <p:cNvSpPr>
              <a:spLocks noChangeArrowheads="1"/>
            </p:cNvSpPr>
            <p:nvPr/>
          </p:nvSpPr>
          <p:spPr bwMode="auto">
            <a:xfrm>
              <a:off x="3611" y="4246"/>
              <a:ext cx="20" cy="5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5" name="Rectangle 111"/>
            <p:cNvSpPr>
              <a:spLocks noChangeArrowheads="1"/>
            </p:cNvSpPr>
            <p:nvPr/>
          </p:nvSpPr>
          <p:spPr bwMode="auto">
            <a:xfrm>
              <a:off x="4056" y="0"/>
              <a:ext cx="20" cy="10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6" name="Freeform 112"/>
            <p:cNvSpPr>
              <a:spLocks noEditPoints="1"/>
            </p:cNvSpPr>
            <p:nvPr/>
          </p:nvSpPr>
          <p:spPr bwMode="auto">
            <a:xfrm>
              <a:off x="4056" y="202"/>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7" name="Freeform 113"/>
            <p:cNvSpPr>
              <a:spLocks noEditPoints="1"/>
            </p:cNvSpPr>
            <p:nvPr/>
          </p:nvSpPr>
          <p:spPr bwMode="auto">
            <a:xfrm>
              <a:off x="4056" y="607"/>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8" name="Freeform 114"/>
            <p:cNvSpPr>
              <a:spLocks noEditPoints="1"/>
            </p:cNvSpPr>
            <p:nvPr/>
          </p:nvSpPr>
          <p:spPr bwMode="auto">
            <a:xfrm>
              <a:off x="4056" y="1011"/>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9" name="Freeform 115"/>
            <p:cNvSpPr>
              <a:spLocks noEditPoints="1"/>
            </p:cNvSpPr>
            <p:nvPr/>
          </p:nvSpPr>
          <p:spPr bwMode="auto">
            <a:xfrm>
              <a:off x="4056" y="1415"/>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40" name="Freeform 116"/>
            <p:cNvSpPr>
              <a:spLocks noEditPoints="1"/>
            </p:cNvSpPr>
            <p:nvPr/>
          </p:nvSpPr>
          <p:spPr bwMode="auto">
            <a:xfrm>
              <a:off x="4056" y="1820"/>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41" name="Freeform 117"/>
            <p:cNvSpPr>
              <a:spLocks noEditPoints="1"/>
            </p:cNvSpPr>
            <p:nvPr/>
          </p:nvSpPr>
          <p:spPr bwMode="auto">
            <a:xfrm>
              <a:off x="4056" y="2224"/>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42" name="Freeform 118"/>
            <p:cNvSpPr>
              <a:spLocks noEditPoints="1"/>
            </p:cNvSpPr>
            <p:nvPr/>
          </p:nvSpPr>
          <p:spPr bwMode="auto">
            <a:xfrm>
              <a:off x="4056" y="2629"/>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43" name="Freeform 119"/>
            <p:cNvSpPr>
              <a:spLocks noEditPoints="1"/>
            </p:cNvSpPr>
            <p:nvPr/>
          </p:nvSpPr>
          <p:spPr bwMode="auto">
            <a:xfrm>
              <a:off x="4056" y="3033"/>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44" name="Freeform 120"/>
            <p:cNvSpPr>
              <a:spLocks noEditPoints="1"/>
            </p:cNvSpPr>
            <p:nvPr/>
          </p:nvSpPr>
          <p:spPr bwMode="auto">
            <a:xfrm>
              <a:off x="4056" y="3438"/>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45" name="Freeform 121"/>
            <p:cNvSpPr>
              <a:spLocks noEditPoints="1"/>
            </p:cNvSpPr>
            <p:nvPr/>
          </p:nvSpPr>
          <p:spPr bwMode="auto">
            <a:xfrm>
              <a:off x="4056" y="3842"/>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46" name="Rectangle 122"/>
            <p:cNvSpPr>
              <a:spLocks noChangeArrowheads="1"/>
            </p:cNvSpPr>
            <p:nvPr/>
          </p:nvSpPr>
          <p:spPr bwMode="auto">
            <a:xfrm>
              <a:off x="4056" y="4246"/>
              <a:ext cx="20" cy="5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47" name="Rectangle 123"/>
            <p:cNvSpPr>
              <a:spLocks noChangeArrowheads="1"/>
            </p:cNvSpPr>
            <p:nvPr/>
          </p:nvSpPr>
          <p:spPr bwMode="auto">
            <a:xfrm>
              <a:off x="4501" y="0"/>
              <a:ext cx="20" cy="10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48" name="Freeform 124"/>
            <p:cNvSpPr>
              <a:spLocks noEditPoints="1"/>
            </p:cNvSpPr>
            <p:nvPr/>
          </p:nvSpPr>
          <p:spPr bwMode="auto">
            <a:xfrm>
              <a:off x="4501" y="202"/>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49" name="Freeform 125"/>
            <p:cNvSpPr>
              <a:spLocks noEditPoints="1"/>
            </p:cNvSpPr>
            <p:nvPr/>
          </p:nvSpPr>
          <p:spPr bwMode="auto">
            <a:xfrm>
              <a:off x="4501" y="607"/>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50" name="Freeform 126"/>
            <p:cNvSpPr>
              <a:spLocks noEditPoints="1"/>
            </p:cNvSpPr>
            <p:nvPr/>
          </p:nvSpPr>
          <p:spPr bwMode="auto">
            <a:xfrm>
              <a:off x="4501" y="1011"/>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51" name="Freeform 127"/>
            <p:cNvSpPr>
              <a:spLocks noEditPoints="1"/>
            </p:cNvSpPr>
            <p:nvPr/>
          </p:nvSpPr>
          <p:spPr bwMode="auto">
            <a:xfrm>
              <a:off x="4501" y="1415"/>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52" name="Freeform 128"/>
            <p:cNvSpPr>
              <a:spLocks noEditPoints="1"/>
            </p:cNvSpPr>
            <p:nvPr/>
          </p:nvSpPr>
          <p:spPr bwMode="auto">
            <a:xfrm>
              <a:off x="4501" y="1820"/>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53" name="Freeform 129"/>
            <p:cNvSpPr>
              <a:spLocks noEditPoints="1"/>
            </p:cNvSpPr>
            <p:nvPr/>
          </p:nvSpPr>
          <p:spPr bwMode="auto">
            <a:xfrm>
              <a:off x="4501" y="2224"/>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54" name="Freeform 130"/>
            <p:cNvSpPr>
              <a:spLocks noEditPoints="1"/>
            </p:cNvSpPr>
            <p:nvPr/>
          </p:nvSpPr>
          <p:spPr bwMode="auto">
            <a:xfrm>
              <a:off x="4501" y="2629"/>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55" name="Freeform 131"/>
            <p:cNvSpPr>
              <a:spLocks noEditPoints="1"/>
            </p:cNvSpPr>
            <p:nvPr/>
          </p:nvSpPr>
          <p:spPr bwMode="auto">
            <a:xfrm>
              <a:off x="4501" y="3033"/>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56" name="Freeform 132"/>
            <p:cNvSpPr>
              <a:spLocks noEditPoints="1"/>
            </p:cNvSpPr>
            <p:nvPr/>
          </p:nvSpPr>
          <p:spPr bwMode="auto">
            <a:xfrm>
              <a:off x="4501" y="3438"/>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57" name="Freeform 133"/>
            <p:cNvSpPr>
              <a:spLocks noEditPoints="1"/>
            </p:cNvSpPr>
            <p:nvPr/>
          </p:nvSpPr>
          <p:spPr bwMode="auto">
            <a:xfrm>
              <a:off x="4501" y="3842"/>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58" name="Rectangle 134"/>
            <p:cNvSpPr>
              <a:spLocks noChangeArrowheads="1"/>
            </p:cNvSpPr>
            <p:nvPr/>
          </p:nvSpPr>
          <p:spPr bwMode="auto">
            <a:xfrm>
              <a:off x="4501" y="4246"/>
              <a:ext cx="20" cy="5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59" name="Rectangle 135"/>
            <p:cNvSpPr>
              <a:spLocks noChangeArrowheads="1"/>
            </p:cNvSpPr>
            <p:nvPr/>
          </p:nvSpPr>
          <p:spPr bwMode="auto">
            <a:xfrm>
              <a:off x="4951" y="0"/>
              <a:ext cx="20" cy="10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60" name="Freeform 136"/>
            <p:cNvSpPr>
              <a:spLocks noEditPoints="1"/>
            </p:cNvSpPr>
            <p:nvPr/>
          </p:nvSpPr>
          <p:spPr bwMode="auto">
            <a:xfrm>
              <a:off x="4951" y="202"/>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61" name="Freeform 137"/>
            <p:cNvSpPr>
              <a:spLocks noEditPoints="1"/>
            </p:cNvSpPr>
            <p:nvPr/>
          </p:nvSpPr>
          <p:spPr bwMode="auto">
            <a:xfrm>
              <a:off x="4951" y="607"/>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62" name="Freeform 138"/>
            <p:cNvSpPr>
              <a:spLocks noEditPoints="1"/>
            </p:cNvSpPr>
            <p:nvPr/>
          </p:nvSpPr>
          <p:spPr bwMode="auto">
            <a:xfrm>
              <a:off x="4951" y="1011"/>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63" name="Freeform 139"/>
            <p:cNvSpPr>
              <a:spLocks noEditPoints="1"/>
            </p:cNvSpPr>
            <p:nvPr/>
          </p:nvSpPr>
          <p:spPr bwMode="auto">
            <a:xfrm>
              <a:off x="4951" y="1415"/>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64" name="Freeform 140"/>
            <p:cNvSpPr>
              <a:spLocks noEditPoints="1"/>
            </p:cNvSpPr>
            <p:nvPr/>
          </p:nvSpPr>
          <p:spPr bwMode="auto">
            <a:xfrm>
              <a:off x="4951" y="1820"/>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65" name="Freeform 141"/>
            <p:cNvSpPr>
              <a:spLocks noEditPoints="1"/>
            </p:cNvSpPr>
            <p:nvPr/>
          </p:nvSpPr>
          <p:spPr bwMode="auto">
            <a:xfrm>
              <a:off x="4951" y="2224"/>
              <a:ext cx="20" cy="304"/>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66" name="Freeform 142"/>
            <p:cNvSpPr>
              <a:spLocks noEditPoints="1"/>
            </p:cNvSpPr>
            <p:nvPr/>
          </p:nvSpPr>
          <p:spPr bwMode="auto">
            <a:xfrm>
              <a:off x="4951" y="2629"/>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67" name="Freeform 143"/>
            <p:cNvSpPr>
              <a:spLocks noEditPoints="1"/>
            </p:cNvSpPr>
            <p:nvPr/>
          </p:nvSpPr>
          <p:spPr bwMode="auto">
            <a:xfrm>
              <a:off x="4951" y="3033"/>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68" name="Freeform 144"/>
            <p:cNvSpPr>
              <a:spLocks noEditPoints="1"/>
            </p:cNvSpPr>
            <p:nvPr/>
          </p:nvSpPr>
          <p:spPr bwMode="auto">
            <a:xfrm>
              <a:off x="4951" y="3438"/>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69" name="Freeform 145"/>
            <p:cNvSpPr>
              <a:spLocks noEditPoints="1"/>
            </p:cNvSpPr>
            <p:nvPr/>
          </p:nvSpPr>
          <p:spPr bwMode="auto">
            <a:xfrm>
              <a:off x="4951" y="3842"/>
              <a:ext cx="20" cy="303"/>
            </a:xfrm>
            <a:custGeom>
              <a:avLst/>
              <a:gdLst>
                <a:gd name="T0" fmla="*/ 0 w 4"/>
                <a:gd name="T1" fmla="*/ 0 h 60"/>
                <a:gd name="T2" fmla="*/ 4 w 4"/>
                <a:gd name="T3" fmla="*/ 60 h 60"/>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T0" t="T1" r="T2" b="T3"/>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70" name="Rectangle 146"/>
            <p:cNvSpPr>
              <a:spLocks noChangeArrowheads="1"/>
            </p:cNvSpPr>
            <p:nvPr/>
          </p:nvSpPr>
          <p:spPr bwMode="auto">
            <a:xfrm>
              <a:off x="4951" y="4246"/>
              <a:ext cx="20" cy="51"/>
            </a:xfrm>
            <a:prstGeom prst="rect">
              <a:avLst/>
            </a:prstGeom>
            <a:solidFill>
              <a:schemeClr val="bg2">
                <a:alpha val="59999"/>
              </a:schemeClr>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71" name="Freeform 147"/>
            <p:cNvSpPr/>
            <p:nvPr/>
          </p:nvSpPr>
          <p:spPr bwMode="auto">
            <a:xfrm>
              <a:off x="0" y="3281"/>
              <a:ext cx="20" cy="10"/>
            </a:xfrm>
            <a:custGeom>
              <a:avLst/>
              <a:gdLst>
                <a:gd name="T0" fmla="*/ 0 w 4"/>
                <a:gd name="T1" fmla="*/ 0 h 2"/>
                <a:gd name="T2" fmla="*/ 4 w 4"/>
                <a:gd name="T3" fmla="*/ 2 h 2"/>
              </a:gdLst>
              <a:ahLst/>
              <a:cxnLst>
                <a:cxn ang="0">
                  <a:pos x="0" y="1"/>
                </a:cxn>
                <a:cxn ang="0">
                  <a:pos x="0" y="1"/>
                </a:cxn>
              </a:cxnLst>
              <a:rect l="T0" t="T1" r="T2" b="T3"/>
              <a:pathLst>
                <a:path w="4" h="2">
                  <a:moveTo>
                    <a:pt x="0" y="1"/>
                  </a:moveTo>
                  <a:cubicBezTo>
                    <a:pt x="1" y="2"/>
                    <a:pt x="4" y="0"/>
                    <a:pt x="0" y="1"/>
                  </a:cubicBezTo>
                  <a:close/>
                </a:path>
              </a:pathLst>
            </a:custGeom>
            <a:solidFill>
              <a:schemeClr val="bg2">
                <a:alpha val="59999"/>
              </a:schemeClr>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grpSp>
        <p:nvGrpSpPr>
          <p:cNvPr id="1172" name="Group 148"/>
          <p:cNvGrpSpPr/>
          <p:nvPr/>
        </p:nvGrpSpPr>
        <p:grpSpPr>
          <a:xfrm>
            <a:off x="1422400" y="3444876"/>
            <a:ext cx="711200" cy="492125"/>
            <a:chOff x="0" y="0"/>
            <a:chExt cx="1062" cy="981"/>
          </a:xfrm>
        </p:grpSpPr>
        <p:sp>
          <p:nvSpPr>
            <p:cNvPr id="1173" name="Freeform 149"/>
            <p:cNvSpPr/>
            <p:nvPr/>
          </p:nvSpPr>
          <p:spPr bwMode="auto">
            <a:xfrm>
              <a:off x="25" y="0"/>
              <a:ext cx="205" cy="82"/>
            </a:xfrm>
            <a:custGeom>
              <a:avLst/>
              <a:gdLst>
                <a:gd name="T0" fmla="*/ 0 w 41"/>
                <a:gd name="T1" fmla="*/ 0 h 16"/>
                <a:gd name="T2" fmla="*/ 41 w 41"/>
                <a:gd name="T3" fmla="*/ 16 h 16"/>
              </a:gdLst>
              <a:ahLst/>
              <a:cxnLst>
                <a:cxn ang="0">
                  <a:pos x="30" y="12"/>
                </a:cxn>
                <a:cxn ang="0">
                  <a:pos x="37" y="10"/>
                </a:cxn>
                <a:cxn ang="0">
                  <a:pos x="38" y="9"/>
                </a:cxn>
                <a:cxn ang="0">
                  <a:pos x="31" y="1"/>
                </a:cxn>
                <a:cxn ang="0">
                  <a:pos x="8" y="11"/>
                </a:cxn>
                <a:cxn ang="0">
                  <a:pos x="30" y="12"/>
                </a:cxn>
              </a:cxnLst>
              <a:rect l="T0" t="T1" r="T2" b="T3"/>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74" name="Freeform 150"/>
            <p:cNvSpPr>
              <a:spLocks noEditPoints="1"/>
            </p:cNvSpPr>
            <p:nvPr/>
          </p:nvSpPr>
          <p:spPr bwMode="auto">
            <a:xfrm>
              <a:off x="0" y="6"/>
              <a:ext cx="1062" cy="975"/>
            </a:xfrm>
            <a:custGeom>
              <a:avLst/>
              <a:gdLst>
                <a:gd name="T0" fmla="*/ 0 w 210"/>
                <a:gd name="T1" fmla="*/ 0 h 193"/>
                <a:gd name="T2" fmla="*/ 210 w 210"/>
                <a:gd name="T3" fmla="*/ 193 h 193"/>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T0" t="T1" r="T2" b="T3"/>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75" name="Freeform 151"/>
            <p:cNvSpPr/>
            <p:nvPr/>
          </p:nvSpPr>
          <p:spPr bwMode="auto">
            <a:xfrm>
              <a:off x="253" y="472"/>
              <a:ext cx="85" cy="101"/>
            </a:xfrm>
            <a:custGeom>
              <a:avLst/>
              <a:gdLst>
                <a:gd name="T0" fmla="*/ 0 w 17"/>
                <a:gd name="T1" fmla="*/ 0 h 20"/>
                <a:gd name="T2" fmla="*/ 17 w 17"/>
                <a:gd name="T3" fmla="*/ 20 h 20"/>
              </a:gdLst>
              <a:ahLst/>
              <a:cxnLst>
                <a:cxn ang="0">
                  <a:pos x="14" y="5"/>
                </a:cxn>
                <a:cxn ang="0">
                  <a:pos x="9" y="20"/>
                </a:cxn>
                <a:cxn ang="0">
                  <a:pos x="14" y="5"/>
                </a:cxn>
              </a:cxnLst>
              <a:rect l="T0" t="T1" r="T2" b="T3"/>
              <a:pathLst>
                <a:path w="17" h="20">
                  <a:moveTo>
                    <a:pt x="14" y="5"/>
                  </a:moveTo>
                  <a:cubicBezTo>
                    <a:pt x="13" y="0"/>
                    <a:pt x="0" y="8"/>
                    <a:pt x="9" y="20"/>
                  </a:cubicBezTo>
                  <a:cubicBezTo>
                    <a:pt x="9" y="20"/>
                    <a:pt x="17" y="17"/>
                    <a:pt x="14" y="5"/>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76" name="Freeform 152"/>
            <p:cNvSpPr/>
            <p:nvPr/>
          </p:nvSpPr>
          <p:spPr bwMode="auto">
            <a:xfrm>
              <a:off x="171" y="509"/>
              <a:ext cx="76" cy="136"/>
            </a:xfrm>
            <a:custGeom>
              <a:avLst/>
              <a:gdLst>
                <a:gd name="T0" fmla="*/ 0 w 15"/>
                <a:gd name="T1" fmla="*/ 0 h 27"/>
                <a:gd name="T2" fmla="*/ 15 w 15"/>
                <a:gd name="T3" fmla="*/ 27 h 27"/>
              </a:gdLst>
              <a:ahLst/>
              <a:cxnLst>
                <a:cxn ang="0">
                  <a:pos x="7" y="10"/>
                </a:cxn>
                <a:cxn ang="0">
                  <a:pos x="4" y="25"/>
                </a:cxn>
                <a:cxn ang="0">
                  <a:pos x="15" y="16"/>
                </a:cxn>
                <a:cxn ang="0">
                  <a:pos x="13" y="8"/>
                </a:cxn>
                <a:cxn ang="0">
                  <a:pos x="7" y="10"/>
                </a:cxn>
              </a:cxnLst>
              <a:rect l="T0" t="T1" r="T2" b="T3"/>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77" name="Freeform 153"/>
            <p:cNvSpPr/>
            <p:nvPr/>
          </p:nvSpPr>
          <p:spPr bwMode="auto">
            <a:xfrm>
              <a:off x="126" y="237"/>
              <a:ext cx="243" cy="117"/>
            </a:xfrm>
            <a:custGeom>
              <a:avLst/>
              <a:gdLst>
                <a:gd name="T0" fmla="*/ 0 w 48"/>
                <a:gd name="T1" fmla="*/ 0 h 23"/>
                <a:gd name="T2" fmla="*/ 48 w 48"/>
                <a:gd name="T3" fmla="*/ 23 h 23"/>
              </a:gdLst>
              <a:ahLst/>
              <a:cxnLst>
                <a:cxn ang="0">
                  <a:pos x="40" y="2"/>
                </a:cxn>
                <a:cxn ang="0">
                  <a:pos x="9" y="1"/>
                </a:cxn>
                <a:cxn ang="0">
                  <a:pos x="1" y="9"/>
                </a:cxn>
                <a:cxn ang="0">
                  <a:pos x="22" y="21"/>
                </a:cxn>
                <a:cxn ang="0">
                  <a:pos x="34" y="20"/>
                </a:cxn>
                <a:cxn ang="0">
                  <a:pos x="40" y="19"/>
                </a:cxn>
                <a:cxn ang="0">
                  <a:pos x="40" y="2"/>
                </a:cxn>
              </a:cxnLst>
              <a:rect l="T0" t="T1" r="T2" b="T3"/>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78" name="Freeform 154"/>
            <p:cNvSpPr/>
            <p:nvPr/>
          </p:nvSpPr>
          <p:spPr bwMode="auto">
            <a:xfrm>
              <a:off x="405" y="560"/>
              <a:ext cx="177" cy="187"/>
            </a:xfrm>
            <a:custGeom>
              <a:avLst/>
              <a:gdLst>
                <a:gd name="T0" fmla="*/ 0 w 35"/>
                <a:gd name="T1" fmla="*/ 0 h 37"/>
                <a:gd name="T2" fmla="*/ 35 w 35"/>
                <a:gd name="T3" fmla="*/ 37 h 37"/>
              </a:gdLst>
              <a:ahLst/>
              <a:cxnLst>
                <a:cxn ang="0">
                  <a:pos x="24" y="2"/>
                </a:cxn>
                <a:cxn ang="0">
                  <a:pos x="11" y="2"/>
                </a:cxn>
                <a:cxn ang="0">
                  <a:pos x="4" y="20"/>
                </a:cxn>
                <a:cxn ang="0">
                  <a:pos x="28" y="22"/>
                </a:cxn>
                <a:cxn ang="0">
                  <a:pos x="24" y="2"/>
                </a:cxn>
              </a:cxnLst>
              <a:rect l="T0" t="T1" r="T2" b="T3"/>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79" name="Freeform 155"/>
            <p:cNvSpPr/>
            <p:nvPr/>
          </p:nvSpPr>
          <p:spPr bwMode="auto">
            <a:xfrm>
              <a:off x="809" y="373"/>
              <a:ext cx="177" cy="38"/>
            </a:xfrm>
            <a:custGeom>
              <a:avLst/>
              <a:gdLst>
                <a:gd name="T0" fmla="*/ 0 w 35"/>
                <a:gd name="T1" fmla="*/ 0 h 7"/>
                <a:gd name="T2" fmla="*/ 35 w 35"/>
                <a:gd name="T3" fmla="*/ 7 h 7"/>
              </a:gdLst>
              <a:ahLst/>
              <a:cxnLst>
                <a:cxn ang="0">
                  <a:pos x="5" y="0"/>
                </a:cxn>
                <a:cxn ang="0">
                  <a:pos x="14" y="5"/>
                </a:cxn>
                <a:cxn ang="0">
                  <a:pos x="5" y="0"/>
                </a:cxn>
              </a:cxnLst>
              <a:rect l="T0" t="T1" r="T2" b="T3"/>
              <a:pathLst>
                <a:path w="35" h="7">
                  <a:moveTo>
                    <a:pt x="5" y="0"/>
                  </a:moveTo>
                  <a:cubicBezTo>
                    <a:pt x="0" y="0"/>
                    <a:pt x="7" y="7"/>
                    <a:pt x="14" y="5"/>
                  </a:cubicBezTo>
                  <a:cubicBezTo>
                    <a:pt x="35" y="1"/>
                    <a:pt x="5" y="0"/>
                    <a:pt x="5" y="0"/>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80" name="Freeform 156"/>
            <p:cNvSpPr/>
            <p:nvPr/>
          </p:nvSpPr>
          <p:spPr bwMode="auto">
            <a:xfrm>
              <a:off x="869" y="370"/>
              <a:ext cx="136" cy="79"/>
            </a:xfrm>
            <a:custGeom>
              <a:avLst/>
              <a:gdLst>
                <a:gd name="T0" fmla="*/ 0 w 27"/>
                <a:gd name="T1" fmla="*/ 0 h 16"/>
                <a:gd name="T2" fmla="*/ 27 w 27"/>
                <a:gd name="T3" fmla="*/ 16 h 16"/>
              </a:gdLst>
              <a:ahLst/>
              <a:cxnLst>
                <a:cxn ang="0">
                  <a:pos x="7" y="13"/>
                </a:cxn>
                <a:cxn ang="0">
                  <a:pos x="25" y="6"/>
                </a:cxn>
                <a:cxn ang="0">
                  <a:pos x="17" y="1"/>
                </a:cxn>
                <a:cxn ang="0">
                  <a:pos x="7" y="11"/>
                </a:cxn>
                <a:cxn ang="0">
                  <a:pos x="7" y="13"/>
                </a:cxn>
              </a:cxnLst>
              <a:rect l="T0" t="T1" r="T2" b="T3"/>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81" name="Freeform 157"/>
            <p:cNvSpPr/>
            <p:nvPr/>
          </p:nvSpPr>
          <p:spPr bwMode="auto">
            <a:xfrm>
              <a:off x="863" y="421"/>
              <a:ext cx="177" cy="85"/>
            </a:xfrm>
            <a:custGeom>
              <a:avLst/>
              <a:gdLst>
                <a:gd name="T0" fmla="*/ 0 w 35"/>
                <a:gd name="T1" fmla="*/ 0 h 17"/>
                <a:gd name="T2" fmla="*/ 35 w 35"/>
                <a:gd name="T3" fmla="*/ 17 h 17"/>
              </a:gdLst>
              <a:ahLst/>
              <a:cxnLst>
                <a:cxn ang="0">
                  <a:pos x="25" y="6"/>
                </a:cxn>
                <a:cxn ang="0">
                  <a:pos x="8" y="10"/>
                </a:cxn>
                <a:cxn ang="0">
                  <a:pos x="6" y="13"/>
                </a:cxn>
                <a:cxn ang="0">
                  <a:pos x="27" y="12"/>
                </a:cxn>
                <a:cxn ang="0">
                  <a:pos x="25" y="6"/>
                </a:cxn>
              </a:cxnLst>
              <a:rect l="T0" t="T1" r="T2" b="T3"/>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82" name="Freeform 158"/>
            <p:cNvSpPr/>
            <p:nvPr/>
          </p:nvSpPr>
          <p:spPr bwMode="auto">
            <a:xfrm>
              <a:off x="749" y="500"/>
              <a:ext cx="247" cy="60"/>
            </a:xfrm>
            <a:custGeom>
              <a:avLst/>
              <a:gdLst>
                <a:gd name="T0" fmla="*/ 0 w 49"/>
                <a:gd name="T1" fmla="*/ 0 h 12"/>
                <a:gd name="T2" fmla="*/ 49 w 49"/>
                <a:gd name="T3" fmla="*/ 12 h 12"/>
              </a:gdLst>
              <a:ahLst/>
              <a:cxnLst>
                <a:cxn ang="0">
                  <a:pos x="40" y="3"/>
                </a:cxn>
                <a:cxn ang="0">
                  <a:pos x="29" y="1"/>
                </a:cxn>
                <a:cxn ang="0">
                  <a:pos x="7" y="0"/>
                </a:cxn>
                <a:cxn ang="0">
                  <a:pos x="2" y="5"/>
                </a:cxn>
                <a:cxn ang="0">
                  <a:pos x="20" y="8"/>
                </a:cxn>
                <a:cxn ang="0">
                  <a:pos x="41" y="8"/>
                </a:cxn>
                <a:cxn ang="0">
                  <a:pos x="40" y="3"/>
                </a:cxn>
              </a:cxnLst>
              <a:rect l="T0" t="T1" r="T2" b="T3"/>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83" name="Freeform 159"/>
            <p:cNvSpPr/>
            <p:nvPr/>
          </p:nvSpPr>
          <p:spPr bwMode="auto">
            <a:xfrm>
              <a:off x="774" y="557"/>
              <a:ext cx="202" cy="54"/>
            </a:xfrm>
            <a:custGeom>
              <a:avLst/>
              <a:gdLst>
                <a:gd name="T0" fmla="*/ 0 w 40"/>
                <a:gd name="T1" fmla="*/ 0 h 11"/>
                <a:gd name="T2" fmla="*/ 40 w 40"/>
                <a:gd name="T3" fmla="*/ 11 h 11"/>
              </a:gdLst>
              <a:ahLst/>
              <a:cxnLst>
                <a:cxn ang="0">
                  <a:pos x="37" y="2"/>
                </a:cxn>
                <a:cxn ang="0">
                  <a:pos x="26" y="4"/>
                </a:cxn>
                <a:cxn ang="0">
                  <a:pos x="13" y="3"/>
                </a:cxn>
                <a:cxn ang="0">
                  <a:pos x="1" y="2"/>
                </a:cxn>
                <a:cxn ang="0">
                  <a:pos x="35" y="8"/>
                </a:cxn>
                <a:cxn ang="0">
                  <a:pos x="37" y="2"/>
                </a:cxn>
              </a:cxnLst>
              <a:rect l="T0" t="T1" r="T2" b="T3"/>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84" name="Freeform 160"/>
            <p:cNvSpPr/>
            <p:nvPr/>
          </p:nvSpPr>
          <p:spPr bwMode="auto">
            <a:xfrm>
              <a:off x="762" y="601"/>
              <a:ext cx="209" cy="174"/>
            </a:xfrm>
            <a:custGeom>
              <a:avLst/>
              <a:gdLst>
                <a:gd name="T0" fmla="*/ 0 w 41"/>
                <a:gd name="T1" fmla="*/ 0 h 34"/>
                <a:gd name="T2" fmla="*/ 41 w 41"/>
                <a:gd name="T3" fmla="*/ 34 h 34"/>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T0" t="T1" r="T2" b="T3"/>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85" name="Freeform 161"/>
            <p:cNvSpPr/>
            <p:nvPr/>
          </p:nvSpPr>
          <p:spPr bwMode="auto">
            <a:xfrm>
              <a:off x="901" y="522"/>
              <a:ext cx="126" cy="316"/>
            </a:xfrm>
            <a:custGeom>
              <a:avLst/>
              <a:gdLst>
                <a:gd name="T0" fmla="*/ 0 w 25"/>
                <a:gd name="T1" fmla="*/ 0 h 63"/>
                <a:gd name="T2" fmla="*/ 25 w 25"/>
                <a:gd name="T3" fmla="*/ 63 h 63"/>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T0" t="T1" r="T2" b="T3"/>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grpSp>
        <p:nvGrpSpPr>
          <p:cNvPr id="1186" name="Group 162"/>
          <p:cNvGrpSpPr/>
          <p:nvPr/>
        </p:nvGrpSpPr>
        <p:grpSpPr>
          <a:xfrm>
            <a:off x="1422400" y="4552951"/>
            <a:ext cx="711200" cy="492125"/>
            <a:chOff x="0" y="0"/>
            <a:chExt cx="1062" cy="981"/>
          </a:xfrm>
        </p:grpSpPr>
        <p:sp>
          <p:nvSpPr>
            <p:cNvPr id="1187" name="Freeform 163"/>
            <p:cNvSpPr/>
            <p:nvPr/>
          </p:nvSpPr>
          <p:spPr bwMode="auto">
            <a:xfrm>
              <a:off x="25" y="0"/>
              <a:ext cx="205" cy="82"/>
            </a:xfrm>
            <a:custGeom>
              <a:avLst/>
              <a:gdLst>
                <a:gd name="T0" fmla="*/ 0 w 41"/>
                <a:gd name="T1" fmla="*/ 0 h 16"/>
                <a:gd name="T2" fmla="*/ 41 w 41"/>
                <a:gd name="T3" fmla="*/ 16 h 16"/>
              </a:gdLst>
              <a:ahLst/>
              <a:cxnLst>
                <a:cxn ang="0">
                  <a:pos x="30" y="12"/>
                </a:cxn>
                <a:cxn ang="0">
                  <a:pos x="37" y="10"/>
                </a:cxn>
                <a:cxn ang="0">
                  <a:pos x="38" y="9"/>
                </a:cxn>
                <a:cxn ang="0">
                  <a:pos x="31" y="1"/>
                </a:cxn>
                <a:cxn ang="0">
                  <a:pos x="8" y="11"/>
                </a:cxn>
                <a:cxn ang="0">
                  <a:pos x="30" y="12"/>
                </a:cxn>
              </a:cxnLst>
              <a:rect l="T0" t="T1" r="T2" b="T3"/>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88" name="Freeform 164"/>
            <p:cNvSpPr>
              <a:spLocks noEditPoints="1"/>
            </p:cNvSpPr>
            <p:nvPr/>
          </p:nvSpPr>
          <p:spPr bwMode="auto">
            <a:xfrm>
              <a:off x="0" y="6"/>
              <a:ext cx="1062" cy="975"/>
            </a:xfrm>
            <a:custGeom>
              <a:avLst/>
              <a:gdLst>
                <a:gd name="T0" fmla="*/ 0 w 210"/>
                <a:gd name="T1" fmla="*/ 0 h 193"/>
                <a:gd name="T2" fmla="*/ 210 w 210"/>
                <a:gd name="T3" fmla="*/ 193 h 193"/>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T0" t="T1" r="T2" b="T3"/>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89" name="Freeform 165"/>
            <p:cNvSpPr/>
            <p:nvPr/>
          </p:nvSpPr>
          <p:spPr bwMode="auto">
            <a:xfrm>
              <a:off x="253" y="472"/>
              <a:ext cx="85" cy="101"/>
            </a:xfrm>
            <a:custGeom>
              <a:avLst/>
              <a:gdLst>
                <a:gd name="T0" fmla="*/ 0 w 17"/>
                <a:gd name="T1" fmla="*/ 0 h 20"/>
                <a:gd name="T2" fmla="*/ 17 w 17"/>
                <a:gd name="T3" fmla="*/ 20 h 20"/>
              </a:gdLst>
              <a:ahLst/>
              <a:cxnLst>
                <a:cxn ang="0">
                  <a:pos x="14" y="5"/>
                </a:cxn>
                <a:cxn ang="0">
                  <a:pos x="9" y="20"/>
                </a:cxn>
                <a:cxn ang="0">
                  <a:pos x="14" y="5"/>
                </a:cxn>
              </a:cxnLst>
              <a:rect l="T0" t="T1" r="T2" b="T3"/>
              <a:pathLst>
                <a:path w="17" h="20">
                  <a:moveTo>
                    <a:pt x="14" y="5"/>
                  </a:moveTo>
                  <a:cubicBezTo>
                    <a:pt x="13" y="0"/>
                    <a:pt x="0" y="8"/>
                    <a:pt x="9" y="20"/>
                  </a:cubicBezTo>
                  <a:cubicBezTo>
                    <a:pt x="9" y="20"/>
                    <a:pt x="17" y="17"/>
                    <a:pt x="14" y="5"/>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90" name="Freeform 166"/>
            <p:cNvSpPr/>
            <p:nvPr/>
          </p:nvSpPr>
          <p:spPr bwMode="auto">
            <a:xfrm>
              <a:off x="171" y="509"/>
              <a:ext cx="76" cy="136"/>
            </a:xfrm>
            <a:custGeom>
              <a:avLst/>
              <a:gdLst>
                <a:gd name="T0" fmla="*/ 0 w 15"/>
                <a:gd name="T1" fmla="*/ 0 h 27"/>
                <a:gd name="T2" fmla="*/ 15 w 15"/>
                <a:gd name="T3" fmla="*/ 27 h 27"/>
              </a:gdLst>
              <a:ahLst/>
              <a:cxnLst>
                <a:cxn ang="0">
                  <a:pos x="7" y="10"/>
                </a:cxn>
                <a:cxn ang="0">
                  <a:pos x="4" y="25"/>
                </a:cxn>
                <a:cxn ang="0">
                  <a:pos x="15" y="16"/>
                </a:cxn>
                <a:cxn ang="0">
                  <a:pos x="13" y="8"/>
                </a:cxn>
                <a:cxn ang="0">
                  <a:pos x="7" y="10"/>
                </a:cxn>
              </a:cxnLst>
              <a:rect l="T0" t="T1" r="T2" b="T3"/>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91" name="Freeform 167"/>
            <p:cNvSpPr/>
            <p:nvPr/>
          </p:nvSpPr>
          <p:spPr bwMode="auto">
            <a:xfrm>
              <a:off x="126" y="237"/>
              <a:ext cx="243" cy="117"/>
            </a:xfrm>
            <a:custGeom>
              <a:avLst/>
              <a:gdLst>
                <a:gd name="T0" fmla="*/ 0 w 48"/>
                <a:gd name="T1" fmla="*/ 0 h 23"/>
                <a:gd name="T2" fmla="*/ 48 w 48"/>
                <a:gd name="T3" fmla="*/ 23 h 23"/>
              </a:gdLst>
              <a:ahLst/>
              <a:cxnLst>
                <a:cxn ang="0">
                  <a:pos x="40" y="2"/>
                </a:cxn>
                <a:cxn ang="0">
                  <a:pos x="9" y="1"/>
                </a:cxn>
                <a:cxn ang="0">
                  <a:pos x="1" y="9"/>
                </a:cxn>
                <a:cxn ang="0">
                  <a:pos x="22" y="21"/>
                </a:cxn>
                <a:cxn ang="0">
                  <a:pos x="34" y="20"/>
                </a:cxn>
                <a:cxn ang="0">
                  <a:pos x="40" y="19"/>
                </a:cxn>
                <a:cxn ang="0">
                  <a:pos x="40" y="2"/>
                </a:cxn>
              </a:cxnLst>
              <a:rect l="T0" t="T1" r="T2" b="T3"/>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92" name="Freeform 168"/>
            <p:cNvSpPr/>
            <p:nvPr/>
          </p:nvSpPr>
          <p:spPr bwMode="auto">
            <a:xfrm>
              <a:off x="405" y="560"/>
              <a:ext cx="177" cy="187"/>
            </a:xfrm>
            <a:custGeom>
              <a:avLst/>
              <a:gdLst>
                <a:gd name="T0" fmla="*/ 0 w 35"/>
                <a:gd name="T1" fmla="*/ 0 h 37"/>
                <a:gd name="T2" fmla="*/ 35 w 35"/>
                <a:gd name="T3" fmla="*/ 37 h 37"/>
              </a:gdLst>
              <a:ahLst/>
              <a:cxnLst>
                <a:cxn ang="0">
                  <a:pos x="24" y="2"/>
                </a:cxn>
                <a:cxn ang="0">
                  <a:pos x="11" y="2"/>
                </a:cxn>
                <a:cxn ang="0">
                  <a:pos x="4" y="20"/>
                </a:cxn>
                <a:cxn ang="0">
                  <a:pos x="28" y="22"/>
                </a:cxn>
                <a:cxn ang="0">
                  <a:pos x="24" y="2"/>
                </a:cxn>
              </a:cxnLst>
              <a:rect l="T0" t="T1" r="T2" b="T3"/>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93" name="Freeform 169"/>
            <p:cNvSpPr/>
            <p:nvPr/>
          </p:nvSpPr>
          <p:spPr bwMode="auto">
            <a:xfrm>
              <a:off x="809" y="373"/>
              <a:ext cx="177" cy="38"/>
            </a:xfrm>
            <a:custGeom>
              <a:avLst/>
              <a:gdLst>
                <a:gd name="T0" fmla="*/ 0 w 35"/>
                <a:gd name="T1" fmla="*/ 0 h 7"/>
                <a:gd name="T2" fmla="*/ 35 w 35"/>
                <a:gd name="T3" fmla="*/ 7 h 7"/>
              </a:gdLst>
              <a:ahLst/>
              <a:cxnLst>
                <a:cxn ang="0">
                  <a:pos x="5" y="0"/>
                </a:cxn>
                <a:cxn ang="0">
                  <a:pos x="14" y="5"/>
                </a:cxn>
                <a:cxn ang="0">
                  <a:pos x="5" y="0"/>
                </a:cxn>
              </a:cxnLst>
              <a:rect l="T0" t="T1" r="T2" b="T3"/>
              <a:pathLst>
                <a:path w="35" h="7">
                  <a:moveTo>
                    <a:pt x="5" y="0"/>
                  </a:moveTo>
                  <a:cubicBezTo>
                    <a:pt x="0" y="0"/>
                    <a:pt x="7" y="7"/>
                    <a:pt x="14" y="5"/>
                  </a:cubicBezTo>
                  <a:cubicBezTo>
                    <a:pt x="35" y="1"/>
                    <a:pt x="5" y="0"/>
                    <a:pt x="5" y="0"/>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94" name="Freeform 170"/>
            <p:cNvSpPr/>
            <p:nvPr/>
          </p:nvSpPr>
          <p:spPr bwMode="auto">
            <a:xfrm>
              <a:off x="869" y="370"/>
              <a:ext cx="136" cy="79"/>
            </a:xfrm>
            <a:custGeom>
              <a:avLst/>
              <a:gdLst>
                <a:gd name="T0" fmla="*/ 0 w 27"/>
                <a:gd name="T1" fmla="*/ 0 h 16"/>
                <a:gd name="T2" fmla="*/ 27 w 27"/>
                <a:gd name="T3" fmla="*/ 16 h 16"/>
              </a:gdLst>
              <a:ahLst/>
              <a:cxnLst>
                <a:cxn ang="0">
                  <a:pos x="7" y="13"/>
                </a:cxn>
                <a:cxn ang="0">
                  <a:pos x="25" y="6"/>
                </a:cxn>
                <a:cxn ang="0">
                  <a:pos x="17" y="1"/>
                </a:cxn>
                <a:cxn ang="0">
                  <a:pos x="7" y="11"/>
                </a:cxn>
                <a:cxn ang="0">
                  <a:pos x="7" y="13"/>
                </a:cxn>
              </a:cxnLst>
              <a:rect l="T0" t="T1" r="T2" b="T3"/>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95" name="Freeform 171"/>
            <p:cNvSpPr/>
            <p:nvPr/>
          </p:nvSpPr>
          <p:spPr bwMode="auto">
            <a:xfrm>
              <a:off x="863" y="421"/>
              <a:ext cx="177" cy="85"/>
            </a:xfrm>
            <a:custGeom>
              <a:avLst/>
              <a:gdLst>
                <a:gd name="T0" fmla="*/ 0 w 35"/>
                <a:gd name="T1" fmla="*/ 0 h 17"/>
                <a:gd name="T2" fmla="*/ 35 w 35"/>
                <a:gd name="T3" fmla="*/ 17 h 17"/>
              </a:gdLst>
              <a:ahLst/>
              <a:cxnLst>
                <a:cxn ang="0">
                  <a:pos x="25" y="6"/>
                </a:cxn>
                <a:cxn ang="0">
                  <a:pos x="8" y="10"/>
                </a:cxn>
                <a:cxn ang="0">
                  <a:pos x="6" y="13"/>
                </a:cxn>
                <a:cxn ang="0">
                  <a:pos x="27" y="12"/>
                </a:cxn>
                <a:cxn ang="0">
                  <a:pos x="25" y="6"/>
                </a:cxn>
              </a:cxnLst>
              <a:rect l="T0" t="T1" r="T2" b="T3"/>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96" name="Freeform 172"/>
            <p:cNvSpPr/>
            <p:nvPr/>
          </p:nvSpPr>
          <p:spPr bwMode="auto">
            <a:xfrm>
              <a:off x="749" y="500"/>
              <a:ext cx="247" cy="60"/>
            </a:xfrm>
            <a:custGeom>
              <a:avLst/>
              <a:gdLst>
                <a:gd name="T0" fmla="*/ 0 w 49"/>
                <a:gd name="T1" fmla="*/ 0 h 12"/>
                <a:gd name="T2" fmla="*/ 49 w 49"/>
                <a:gd name="T3" fmla="*/ 12 h 12"/>
              </a:gdLst>
              <a:ahLst/>
              <a:cxnLst>
                <a:cxn ang="0">
                  <a:pos x="40" y="3"/>
                </a:cxn>
                <a:cxn ang="0">
                  <a:pos x="29" y="1"/>
                </a:cxn>
                <a:cxn ang="0">
                  <a:pos x="7" y="0"/>
                </a:cxn>
                <a:cxn ang="0">
                  <a:pos x="2" y="5"/>
                </a:cxn>
                <a:cxn ang="0">
                  <a:pos x="20" y="8"/>
                </a:cxn>
                <a:cxn ang="0">
                  <a:pos x="41" y="8"/>
                </a:cxn>
                <a:cxn ang="0">
                  <a:pos x="40" y="3"/>
                </a:cxn>
              </a:cxnLst>
              <a:rect l="T0" t="T1" r="T2" b="T3"/>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97" name="Freeform 173"/>
            <p:cNvSpPr/>
            <p:nvPr/>
          </p:nvSpPr>
          <p:spPr bwMode="auto">
            <a:xfrm>
              <a:off x="774" y="557"/>
              <a:ext cx="202" cy="54"/>
            </a:xfrm>
            <a:custGeom>
              <a:avLst/>
              <a:gdLst>
                <a:gd name="T0" fmla="*/ 0 w 40"/>
                <a:gd name="T1" fmla="*/ 0 h 11"/>
                <a:gd name="T2" fmla="*/ 40 w 40"/>
                <a:gd name="T3" fmla="*/ 11 h 11"/>
              </a:gdLst>
              <a:ahLst/>
              <a:cxnLst>
                <a:cxn ang="0">
                  <a:pos x="37" y="2"/>
                </a:cxn>
                <a:cxn ang="0">
                  <a:pos x="26" y="4"/>
                </a:cxn>
                <a:cxn ang="0">
                  <a:pos x="13" y="3"/>
                </a:cxn>
                <a:cxn ang="0">
                  <a:pos x="1" y="2"/>
                </a:cxn>
                <a:cxn ang="0">
                  <a:pos x="35" y="8"/>
                </a:cxn>
                <a:cxn ang="0">
                  <a:pos x="37" y="2"/>
                </a:cxn>
              </a:cxnLst>
              <a:rect l="T0" t="T1" r="T2" b="T3"/>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98" name="Freeform 174"/>
            <p:cNvSpPr/>
            <p:nvPr/>
          </p:nvSpPr>
          <p:spPr bwMode="auto">
            <a:xfrm>
              <a:off x="762" y="601"/>
              <a:ext cx="209" cy="174"/>
            </a:xfrm>
            <a:custGeom>
              <a:avLst/>
              <a:gdLst>
                <a:gd name="T0" fmla="*/ 0 w 41"/>
                <a:gd name="T1" fmla="*/ 0 h 34"/>
                <a:gd name="T2" fmla="*/ 41 w 41"/>
                <a:gd name="T3" fmla="*/ 34 h 34"/>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T0" t="T1" r="T2" b="T3"/>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99" name="Freeform 175"/>
            <p:cNvSpPr/>
            <p:nvPr/>
          </p:nvSpPr>
          <p:spPr bwMode="auto">
            <a:xfrm>
              <a:off x="901" y="522"/>
              <a:ext cx="126" cy="316"/>
            </a:xfrm>
            <a:custGeom>
              <a:avLst/>
              <a:gdLst>
                <a:gd name="T0" fmla="*/ 0 w 25"/>
                <a:gd name="T1" fmla="*/ 0 h 63"/>
                <a:gd name="T2" fmla="*/ 25 w 25"/>
                <a:gd name="T3" fmla="*/ 63 h 63"/>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T0" t="T1" r="T2" b="T3"/>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grpSp>
        <p:nvGrpSpPr>
          <p:cNvPr id="1200" name="Group 176"/>
          <p:cNvGrpSpPr/>
          <p:nvPr/>
        </p:nvGrpSpPr>
        <p:grpSpPr>
          <a:xfrm>
            <a:off x="1422400" y="5562601"/>
            <a:ext cx="711200" cy="492125"/>
            <a:chOff x="0" y="0"/>
            <a:chExt cx="1062" cy="981"/>
          </a:xfrm>
        </p:grpSpPr>
        <p:sp>
          <p:nvSpPr>
            <p:cNvPr id="1201" name="Freeform 177"/>
            <p:cNvSpPr/>
            <p:nvPr/>
          </p:nvSpPr>
          <p:spPr bwMode="auto">
            <a:xfrm>
              <a:off x="25" y="0"/>
              <a:ext cx="205" cy="82"/>
            </a:xfrm>
            <a:custGeom>
              <a:avLst/>
              <a:gdLst>
                <a:gd name="T0" fmla="*/ 0 w 41"/>
                <a:gd name="T1" fmla="*/ 0 h 16"/>
                <a:gd name="T2" fmla="*/ 41 w 41"/>
                <a:gd name="T3" fmla="*/ 16 h 16"/>
              </a:gdLst>
              <a:ahLst/>
              <a:cxnLst>
                <a:cxn ang="0">
                  <a:pos x="30" y="12"/>
                </a:cxn>
                <a:cxn ang="0">
                  <a:pos x="37" y="10"/>
                </a:cxn>
                <a:cxn ang="0">
                  <a:pos x="38" y="9"/>
                </a:cxn>
                <a:cxn ang="0">
                  <a:pos x="31" y="1"/>
                </a:cxn>
                <a:cxn ang="0">
                  <a:pos x="8" y="11"/>
                </a:cxn>
                <a:cxn ang="0">
                  <a:pos x="30" y="12"/>
                </a:cxn>
              </a:cxnLst>
              <a:rect l="T0" t="T1" r="T2" b="T3"/>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02" name="Freeform 178"/>
            <p:cNvSpPr>
              <a:spLocks noEditPoints="1"/>
            </p:cNvSpPr>
            <p:nvPr/>
          </p:nvSpPr>
          <p:spPr bwMode="auto">
            <a:xfrm>
              <a:off x="0" y="6"/>
              <a:ext cx="1062" cy="975"/>
            </a:xfrm>
            <a:custGeom>
              <a:avLst/>
              <a:gdLst>
                <a:gd name="T0" fmla="*/ 0 w 210"/>
                <a:gd name="T1" fmla="*/ 0 h 193"/>
                <a:gd name="T2" fmla="*/ 210 w 210"/>
                <a:gd name="T3" fmla="*/ 193 h 193"/>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T0" t="T1" r="T2" b="T3"/>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03" name="Freeform 179"/>
            <p:cNvSpPr/>
            <p:nvPr/>
          </p:nvSpPr>
          <p:spPr bwMode="auto">
            <a:xfrm>
              <a:off x="253" y="472"/>
              <a:ext cx="85" cy="101"/>
            </a:xfrm>
            <a:custGeom>
              <a:avLst/>
              <a:gdLst>
                <a:gd name="T0" fmla="*/ 0 w 17"/>
                <a:gd name="T1" fmla="*/ 0 h 20"/>
                <a:gd name="T2" fmla="*/ 17 w 17"/>
                <a:gd name="T3" fmla="*/ 20 h 20"/>
              </a:gdLst>
              <a:ahLst/>
              <a:cxnLst>
                <a:cxn ang="0">
                  <a:pos x="14" y="5"/>
                </a:cxn>
                <a:cxn ang="0">
                  <a:pos x="9" y="20"/>
                </a:cxn>
                <a:cxn ang="0">
                  <a:pos x="14" y="5"/>
                </a:cxn>
              </a:cxnLst>
              <a:rect l="T0" t="T1" r="T2" b="T3"/>
              <a:pathLst>
                <a:path w="17" h="20">
                  <a:moveTo>
                    <a:pt x="14" y="5"/>
                  </a:moveTo>
                  <a:cubicBezTo>
                    <a:pt x="13" y="0"/>
                    <a:pt x="0" y="8"/>
                    <a:pt x="9" y="20"/>
                  </a:cubicBezTo>
                  <a:cubicBezTo>
                    <a:pt x="9" y="20"/>
                    <a:pt x="17" y="17"/>
                    <a:pt x="14" y="5"/>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04" name="Freeform 180"/>
            <p:cNvSpPr/>
            <p:nvPr/>
          </p:nvSpPr>
          <p:spPr bwMode="auto">
            <a:xfrm>
              <a:off x="171" y="509"/>
              <a:ext cx="76" cy="136"/>
            </a:xfrm>
            <a:custGeom>
              <a:avLst/>
              <a:gdLst>
                <a:gd name="T0" fmla="*/ 0 w 15"/>
                <a:gd name="T1" fmla="*/ 0 h 27"/>
                <a:gd name="T2" fmla="*/ 15 w 15"/>
                <a:gd name="T3" fmla="*/ 27 h 27"/>
              </a:gdLst>
              <a:ahLst/>
              <a:cxnLst>
                <a:cxn ang="0">
                  <a:pos x="7" y="10"/>
                </a:cxn>
                <a:cxn ang="0">
                  <a:pos x="4" y="25"/>
                </a:cxn>
                <a:cxn ang="0">
                  <a:pos x="15" y="16"/>
                </a:cxn>
                <a:cxn ang="0">
                  <a:pos x="13" y="8"/>
                </a:cxn>
                <a:cxn ang="0">
                  <a:pos x="7" y="10"/>
                </a:cxn>
              </a:cxnLst>
              <a:rect l="T0" t="T1" r="T2" b="T3"/>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05" name="Freeform 181"/>
            <p:cNvSpPr/>
            <p:nvPr/>
          </p:nvSpPr>
          <p:spPr bwMode="auto">
            <a:xfrm>
              <a:off x="126" y="237"/>
              <a:ext cx="243" cy="117"/>
            </a:xfrm>
            <a:custGeom>
              <a:avLst/>
              <a:gdLst>
                <a:gd name="T0" fmla="*/ 0 w 48"/>
                <a:gd name="T1" fmla="*/ 0 h 23"/>
                <a:gd name="T2" fmla="*/ 48 w 48"/>
                <a:gd name="T3" fmla="*/ 23 h 23"/>
              </a:gdLst>
              <a:ahLst/>
              <a:cxnLst>
                <a:cxn ang="0">
                  <a:pos x="40" y="2"/>
                </a:cxn>
                <a:cxn ang="0">
                  <a:pos x="9" y="1"/>
                </a:cxn>
                <a:cxn ang="0">
                  <a:pos x="1" y="9"/>
                </a:cxn>
                <a:cxn ang="0">
                  <a:pos x="22" y="21"/>
                </a:cxn>
                <a:cxn ang="0">
                  <a:pos x="34" y="20"/>
                </a:cxn>
                <a:cxn ang="0">
                  <a:pos x="40" y="19"/>
                </a:cxn>
                <a:cxn ang="0">
                  <a:pos x="40" y="2"/>
                </a:cxn>
              </a:cxnLst>
              <a:rect l="T0" t="T1" r="T2" b="T3"/>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06" name="Freeform 182"/>
            <p:cNvSpPr/>
            <p:nvPr/>
          </p:nvSpPr>
          <p:spPr bwMode="auto">
            <a:xfrm>
              <a:off x="405" y="560"/>
              <a:ext cx="177" cy="187"/>
            </a:xfrm>
            <a:custGeom>
              <a:avLst/>
              <a:gdLst>
                <a:gd name="T0" fmla="*/ 0 w 35"/>
                <a:gd name="T1" fmla="*/ 0 h 37"/>
                <a:gd name="T2" fmla="*/ 35 w 35"/>
                <a:gd name="T3" fmla="*/ 37 h 37"/>
              </a:gdLst>
              <a:ahLst/>
              <a:cxnLst>
                <a:cxn ang="0">
                  <a:pos x="24" y="2"/>
                </a:cxn>
                <a:cxn ang="0">
                  <a:pos x="11" y="2"/>
                </a:cxn>
                <a:cxn ang="0">
                  <a:pos x="4" y="20"/>
                </a:cxn>
                <a:cxn ang="0">
                  <a:pos x="28" y="22"/>
                </a:cxn>
                <a:cxn ang="0">
                  <a:pos x="24" y="2"/>
                </a:cxn>
              </a:cxnLst>
              <a:rect l="T0" t="T1" r="T2" b="T3"/>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07" name="Freeform 183"/>
            <p:cNvSpPr/>
            <p:nvPr/>
          </p:nvSpPr>
          <p:spPr bwMode="auto">
            <a:xfrm>
              <a:off x="809" y="373"/>
              <a:ext cx="177" cy="38"/>
            </a:xfrm>
            <a:custGeom>
              <a:avLst/>
              <a:gdLst>
                <a:gd name="T0" fmla="*/ 0 w 35"/>
                <a:gd name="T1" fmla="*/ 0 h 7"/>
                <a:gd name="T2" fmla="*/ 35 w 35"/>
                <a:gd name="T3" fmla="*/ 7 h 7"/>
              </a:gdLst>
              <a:ahLst/>
              <a:cxnLst>
                <a:cxn ang="0">
                  <a:pos x="5" y="0"/>
                </a:cxn>
                <a:cxn ang="0">
                  <a:pos x="14" y="5"/>
                </a:cxn>
                <a:cxn ang="0">
                  <a:pos x="5" y="0"/>
                </a:cxn>
              </a:cxnLst>
              <a:rect l="T0" t="T1" r="T2" b="T3"/>
              <a:pathLst>
                <a:path w="35" h="7">
                  <a:moveTo>
                    <a:pt x="5" y="0"/>
                  </a:moveTo>
                  <a:cubicBezTo>
                    <a:pt x="0" y="0"/>
                    <a:pt x="7" y="7"/>
                    <a:pt x="14" y="5"/>
                  </a:cubicBezTo>
                  <a:cubicBezTo>
                    <a:pt x="35" y="1"/>
                    <a:pt x="5" y="0"/>
                    <a:pt x="5" y="0"/>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08" name="Freeform 184"/>
            <p:cNvSpPr/>
            <p:nvPr/>
          </p:nvSpPr>
          <p:spPr bwMode="auto">
            <a:xfrm>
              <a:off x="869" y="370"/>
              <a:ext cx="136" cy="79"/>
            </a:xfrm>
            <a:custGeom>
              <a:avLst/>
              <a:gdLst>
                <a:gd name="T0" fmla="*/ 0 w 27"/>
                <a:gd name="T1" fmla="*/ 0 h 16"/>
                <a:gd name="T2" fmla="*/ 27 w 27"/>
                <a:gd name="T3" fmla="*/ 16 h 16"/>
              </a:gdLst>
              <a:ahLst/>
              <a:cxnLst>
                <a:cxn ang="0">
                  <a:pos x="7" y="13"/>
                </a:cxn>
                <a:cxn ang="0">
                  <a:pos x="25" y="6"/>
                </a:cxn>
                <a:cxn ang="0">
                  <a:pos x="17" y="1"/>
                </a:cxn>
                <a:cxn ang="0">
                  <a:pos x="7" y="11"/>
                </a:cxn>
                <a:cxn ang="0">
                  <a:pos x="7" y="13"/>
                </a:cxn>
              </a:cxnLst>
              <a:rect l="T0" t="T1" r="T2" b="T3"/>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09" name="Freeform 185"/>
            <p:cNvSpPr/>
            <p:nvPr/>
          </p:nvSpPr>
          <p:spPr bwMode="auto">
            <a:xfrm>
              <a:off x="863" y="421"/>
              <a:ext cx="177" cy="85"/>
            </a:xfrm>
            <a:custGeom>
              <a:avLst/>
              <a:gdLst>
                <a:gd name="T0" fmla="*/ 0 w 35"/>
                <a:gd name="T1" fmla="*/ 0 h 17"/>
                <a:gd name="T2" fmla="*/ 35 w 35"/>
                <a:gd name="T3" fmla="*/ 17 h 17"/>
              </a:gdLst>
              <a:ahLst/>
              <a:cxnLst>
                <a:cxn ang="0">
                  <a:pos x="25" y="6"/>
                </a:cxn>
                <a:cxn ang="0">
                  <a:pos x="8" y="10"/>
                </a:cxn>
                <a:cxn ang="0">
                  <a:pos x="6" y="13"/>
                </a:cxn>
                <a:cxn ang="0">
                  <a:pos x="27" y="12"/>
                </a:cxn>
                <a:cxn ang="0">
                  <a:pos x="25" y="6"/>
                </a:cxn>
              </a:cxnLst>
              <a:rect l="T0" t="T1" r="T2" b="T3"/>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10" name="Freeform 186"/>
            <p:cNvSpPr/>
            <p:nvPr/>
          </p:nvSpPr>
          <p:spPr bwMode="auto">
            <a:xfrm>
              <a:off x="749" y="500"/>
              <a:ext cx="247" cy="60"/>
            </a:xfrm>
            <a:custGeom>
              <a:avLst/>
              <a:gdLst>
                <a:gd name="T0" fmla="*/ 0 w 49"/>
                <a:gd name="T1" fmla="*/ 0 h 12"/>
                <a:gd name="T2" fmla="*/ 49 w 49"/>
                <a:gd name="T3" fmla="*/ 12 h 12"/>
              </a:gdLst>
              <a:ahLst/>
              <a:cxnLst>
                <a:cxn ang="0">
                  <a:pos x="40" y="3"/>
                </a:cxn>
                <a:cxn ang="0">
                  <a:pos x="29" y="1"/>
                </a:cxn>
                <a:cxn ang="0">
                  <a:pos x="7" y="0"/>
                </a:cxn>
                <a:cxn ang="0">
                  <a:pos x="2" y="5"/>
                </a:cxn>
                <a:cxn ang="0">
                  <a:pos x="20" y="8"/>
                </a:cxn>
                <a:cxn ang="0">
                  <a:pos x="41" y="8"/>
                </a:cxn>
                <a:cxn ang="0">
                  <a:pos x="40" y="3"/>
                </a:cxn>
              </a:cxnLst>
              <a:rect l="T0" t="T1" r="T2" b="T3"/>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11" name="Freeform 187"/>
            <p:cNvSpPr/>
            <p:nvPr/>
          </p:nvSpPr>
          <p:spPr bwMode="auto">
            <a:xfrm>
              <a:off x="774" y="557"/>
              <a:ext cx="202" cy="54"/>
            </a:xfrm>
            <a:custGeom>
              <a:avLst/>
              <a:gdLst>
                <a:gd name="T0" fmla="*/ 0 w 40"/>
                <a:gd name="T1" fmla="*/ 0 h 11"/>
                <a:gd name="T2" fmla="*/ 40 w 40"/>
                <a:gd name="T3" fmla="*/ 11 h 11"/>
              </a:gdLst>
              <a:ahLst/>
              <a:cxnLst>
                <a:cxn ang="0">
                  <a:pos x="37" y="2"/>
                </a:cxn>
                <a:cxn ang="0">
                  <a:pos x="26" y="4"/>
                </a:cxn>
                <a:cxn ang="0">
                  <a:pos x="13" y="3"/>
                </a:cxn>
                <a:cxn ang="0">
                  <a:pos x="1" y="2"/>
                </a:cxn>
                <a:cxn ang="0">
                  <a:pos x="35" y="8"/>
                </a:cxn>
                <a:cxn ang="0">
                  <a:pos x="37" y="2"/>
                </a:cxn>
              </a:cxnLst>
              <a:rect l="T0" t="T1" r="T2" b="T3"/>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12" name="Freeform 188"/>
            <p:cNvSpPr/>
            <p:nvPr/>
          </p:nvSpPr>
          <p:spPr bwMode="auto">
            <a:xfrm>
              <a:off x="762" y="601"/>
              <a:ext cx="209" cy="174"/>
            </a:xfrm>
            <a:custGeom>
              <a:avLst/>
              <a:gdLst>
                <a:gd name="T0" fmla="*/ 0 w 41"/>
                <a:gd name="T1" fmla="*/ 0 h 34"/>
                <a:gd name="T2" fmla="*/ 41 w 41"/>
                <a:gd name="T3" fmla="*/ 34 h 34"/>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T0" t="T1" r="T2" b="T3"/>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13" name="Freeform 189"/>
            <p:cNvSpPr/>
            <p:nvPr/>
          </p:nvSpPr>
          <p:spPr bwMode="auto">
            <a:xfrm>
              <a:off x="901" y="522"/>
              <a:ext cx="126" cy="316"/>
            </a:xfrm>
            <a:custGeom>
              <a:avLst/>
              <a:gdLst>
                <a:gd name="T0" fmla="*/ 0 w 25"/>
                <a:gd name="T1" fmla="*/ 0 h 63"/>
                <a:gd name="T2" fmla="*/ 25 w 25"/>
                <a:gd name="T3" fmla="*/ 63 h 63"/>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T0" t="T1" r="T2" b="T3"/>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grpSp>
        <p:nvGrpSpPr>
          <p:cNvPr id="1214" name="Group 190"/>
          <p:cNvGrpSpPr/>
          <p:nvPr/>
        </p:nvGrpSpPr>
        <p:grpSpPr>
          <a:xfrm>
            <a:off x="508000" y="3962401"/>
            <a:ext cx="711200" cy="492125"/>
            <a:chOff x="0" y="0"/>
            <a:chExt cx="1062" cy="981"/>
          </a:xfrm>
        </p:grpSpPr>
        <p:sp>
          <p:nvSpPr>
            <p:cNvPr id="1215" name="Freeform 191"/>
            <p:cNvSpPr/>
            <p:nvPr/>
          </p:nvSpPr>
          <p:spPr bwMode="auto">
            <a:xfrm>
              <a:off x="25" y="0"/>
              <a:ext cx="205" cy="82"/>
            </a:xfrm>
            <a:custGeom>
              <a:avLst/>
              <a:gdLst>
                <a:gd name="T0" fmla="*/ 0 w 41"/>
                <a:gd name="T1" fmla="*/ 0 h 16"/>
                <a:gd name="T2" fmla="*/ 41 w 41"/>
                <a:gd name="T3" fmla="*/ 16 h 16"/>
              </a:gdLst>
              <a:ahLst/>
              <a:cxnLst>
                <a:cxn ang="0">
                  <a:pos x="30" y="12"/>
                </a:cxn>
                <a:cxn ang="0">
                  <a:pos x="37" y="10"/>
                </a:cxn>
                <a:cxn ang="0">
                  <a:pos x="38" y="9"/>
                </a:cxn>
                <a:cxn ang="0">
                  <a:pos x="31" y="1"/>
                </a:cxn>
                <a:cxn ang="0">
                  <a:pos x="8" y="11"/>
                </a:cxn>
                <a:cxn ang="0">
                  <a:pos x="30" y="12"/>
                </a:cxn>
              </a:cxnLst>
              <a:rect l="T0" t="T1" r="T2" b="T3"/>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16" name="Freeform 192"/>
            <p:cNvSpPr>
              <a:spLocks noEditPoints="1"/>
            </p:cNvSpPr>
            <p:nvPr/>
          </p:nvSpPr>
          <p:spPr bwMode="auto">
            <a:xfrm>
              <a:off x="0" y="6"/>
              <a:ext cx="1062" cy="975"/>
            </a:xfrm>
            <a:custGeom>
              <a:avLst/>
              <a:gdLst>
                <a:gd name="T0" fmla="*/ 0 w 210"/>
                <a:gd name="T1" fmla="*/ 0 h 193"/>
                <a:gd name="T2" fmla="*/ 210 w 210"/>
                <a:gd name="T3" fmla="*/ 193 h 193"/>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T0" t="T1" r="T2" b="T3"/>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17" name="Freeform 193"/>
            <p:cNvSpPr/>
            <p:nvPr/>
          </p:nvSpPr>
          <p:spPr bwMode="auto">
            <a:xfrm>
              <a:off x="253" y="472"/>
              <a:ext cx="85" cy="101"/>
            </a:xfrm>
            <a:custGeom>
              <a:avLst/>
              <a:gdLst>
                <a:gd name="T0" fmla="*/ 0 w 17"/>
                <a:gd name="T1" fmla="*/ 0 h 20"/>
                <a:gd name="T2" fmla="*/ 17 w 17"/>
                <a:gd name="T3" fmla="*/ 20 h 20"/>
              </a:gdLst>
              <a:ahLst/>
              <a:cxnLst>
                <a:cxn ang="0">
                  <a:pos x="14" y="5"/>
                </a:cxn>
                <a:cxn ang="0">
                  <a:pos x="9" y="20"/>
                </a:cxn>
                <a:cxn ang="0">
                  <a:pos x="14" y="5"/>
                </a:cxn>
              </a:cxnLst>
              <a:rect l="T0" t="T1" r="T2" b="T3"/>
              <a:pathLst>
                <a:path w="17" h="20">
                  <a:moveTo>
                    <a:pt x="14" y="5"/>
                  </a:moveTo>
                  <a:cubicBezTo>
                    <a:pt x="13" y="0"/>
                    <a:pt x="0" y="8"/>
                    <a:pt x="9" y="20"/>
                  </a:cubicBezTo>
                  <a:cubicBezTo>
                    <a:pt x="9" y="20"/>
                    <a:pt x="17" y="17"/>
                    <a:pt x="14" y="5"/>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18" name="Freeform 194"/>
            <p:cNvSpPr/>
            <p:nvPr/>
          </p:nvSpPr>
          <p:spPr bwMode="auto">
            <a:xfrm>
              <a:off x="171" y="509"/>
              <a:ext cx="76" cy="136"/>
            </a:xfrm>
            <a:custGeom>
              <a:avLst/>
              <a:gdLst>
                <a:gd name="T0" fmla="*/ 0 w 15"/>
                <a:gd name="T1" fmla="*/ 0 h 27"/>
                <a:gd name="T2" fmla="*/ 15 w 15"/>
                <a:gd name="T3" fmla="*/ 27 h 27"/>
              </a:gdLst>
              <a:ahLst/>
              <a:cxnLst>
                <a:cxn ang="0">
                  <a:pos x="7" y="10"/>
                </a:cxn>
                <a:cxn ang="0">
                  <a:pos x="4" y="25"/>
                </a:cxn>
                <a:cxn ang="0">
                  <a:pos x="15" y="16"/>
                </a:cxn>
                <a:cxn ang="0">
                  <a:pos x="13" y="8"/>
                </a:cxn>
                <a:cxn ang="0">
                  <a:pos x="7" y="10"/>
                </a:cxn>
              </a:cxnLst>
              <a:rect l="T0" t="T1" r="T2" b="T3"/>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19" name="Freeform 195"/>
            <p:cNvSpPr/>
            <p:nvPr/>
          </p:nvSpPr>
          <p:spPr bwMode="auto">
            <a:xfrm>
              <a:off x="126" y="237"/>
              <a:ext cx="243" cy="117"/>
            </a:xfrm>
            <a:custGeom>
              <a:avLst/>
              <a:gdLst>
                <a:gd name="T0" fmla="*/ 0 w 48"/>
                <a:gd name="T1" fmla="*/ 0 h 23"/>
                <a:gd name="T2" fmla="*/ 48 w 48"/>
                <a:gd name="T3" fmla="*/ 23 h 23"/>
              </a:gdLst>
              <a:ahLst/>
              <a:cxnLst>
                <a:cxn ang="0">
                  <a:pos x="40" y="2"/>
                </a:cxn>
                <a:cxn ang="0">
                  <a:pos x="9" y="1"/>
                </a:cxn>
                <a:cxn ang="0">
                  <a:pos x="1" y="9"/>
                </a:cxn>
                <a:cxn ang="0">
                  <a:pos x="22" y="21"/>
                </a:cxn>
                <a:cxn ang="0">
                  <a:pos x="34" y="20"/>
                </a:cxn>
                <a:cxn ang="0">
                  <a:pos x="40" y="19"/>
                </a:cxn>
                <a:cxn ang="0">
                  <a:pos x="40" y="2"/>
                </a:cxn>
              </a:cxnLst>
              <a:rect l="T0" t="T1" r="T2" b="T3"/>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0" name="Freeform 196"/>
            <p:cNvSpPr/>
            <p:nvPr/>
          </p:nvSpPr>
          <p:spPr bwMode="auto">
            <a:xfrm>
              <a:off x="405" y="560"/>
              <a:ext cx="177" cy="187"/>
            </a:xfrm>
            <a:custGeom>
              <a:avLst/>
              <a:gdLst>
                <a:gd name="T0" fmla="*/ 0 w 35"/>
                <a:gd name="T1" fmla="*/ 0 h 37"/>
                <a:gd name="T2" fmla="*/ 35 w 35"/>
                <a:gd name="T3" fmla="*/ 37 h 37"/>
              </a:gdLst>
              <a:ahLst/>
              <a:cxnLst>
                <a:cxn ang="0">
                  <a:pos x="24" y="2"/>
                </a:cxn>
                <a:cxn ang="0">
                  <a:pos x="11" y="2"/>
                </a:cxn>
                <a:cxn ang="0">
                  <a:pos x="4" y="20"/>
                </a:cxn>
                <a:cxn ang="0">
                  <a:pos x="28" y="22"/>
                </a:cxn>
                <a:cxn ang="0">
                  <a:pos x="24" y="2"/>
                </a:cxn>
              </a:cxnLst>
              <a:rect l="T0" t="T1" r="T2" b="T3"/>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1" name="Freeform 197"/>
            <p:cNvSpPr/>
            <p:nvPr/>
          </p:nvSpPr>
          <p:spPr bwMode="auto">
            <a:xfrm>
              <a:off x="809" y="373"/>
              <a:ext cx="177" cy="38"/>
            </a:xfrm>
            <a:custGeom>
              <a:avLst/>
              <a:gdLst>
                <a:gd name="T0" fmla="*/ 0 w 35"/>
                <a:gd name="T1" fmla="*/ 0 h 7"/>
                <a:gd name="T2" fmla="*/ 35 w 35"/>
                <a:gd name="T3" fmla="*/ 7 h 7"/>
              </a:gdLst>
              <a:ahLst/>
              <a:cxnLst>
                <a:cxn ang="0">
                  <a:pos x="5" y="0"/>
                </a:cxn>
                <a:cxn ang="0">
                  <a:pos x="14" y="5"/>
                </a:cxn>
                <a:cxn ang="0">
                  <a:pos x="5" y="0"/>
                </a:cxn>
              </a:cxnLst>
              <a:rect l="T0" t="T1" r="T2" b="T3"/>
              <a:pathLst>
                <a:path w="35" h="7">
                  <a:moveTo>
                    <a:pt x="5" y="0"/>
                  </a:moveTo>
                  <a:cubicBezTo>
                    <a:pt x="0" y="0"/>
                    <a:pt x="7" y="7"/>
                    <a:pt x="14" y="5"/>
                  </a:cubicBezTo>
                  <a:cubicBezTo>
                    <a:pt x="35" y="1"/>
                    <a:pt x="5" y="0"/>
                    <a:pt x="5" y="0"/>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2" name="Freeform 198"/>
            <p:cNvSpPr/>
            <p:nvPr/>
          </p:nvSpPr>
          <p:spPr bwMode="auto">
            <a:xfrm>
              <a:off x="869" y="370"/>
              <a:ext cx="136" cy="79"/>
            </a:xfrm>
            <a:custGeom>
              <a:avLst/>
              <a:gdLst>
                <a:gd name="T0" fmla="*/ 0 w 27"/>
                <a:gd name="T1" fmla="*/ 0 h 16"/>
                <a:gd name="T2" fmla="*/ 27 w 27"/>
                <a:gd name="T3" fmla="*/ 16 h 16"/>
              </a:gdLst>
              <a:ahLst/>
              <a:cxnLst>
                <a:cxn ang="0">
                  <a:pos x="7" y="13"/>
                </a:cxn>
                <a:cxn ang="0">
                  <a:pos x="25" y="6"/>
                </a:cxn>
                <a:cxn ang="0">
                  <a:pos x="17" y="1"/>
                </a:cxn>
                <a:cxn ang="0">
                  <a:pos x="7" y="11"/>
                </a:cxn>
                <a:cxn ang="0">
                  <a:pos x="7" y="13"/>
                </a:cxn>
              </a:cxnLst>
              <a:rect l="T0" t="T1" r="T2" b="T3"/>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3" name="Freeform 199"/>
            <p:cNvSpPr/>
            <p:nvPr/>
          </p:nvSpPr>
          <p:spPr bwMode="auto">
            <a:xfrm>
              <a:off x="863" y="421"/>
              <a:ext cx="177" cy="85"/>
            </a:xfrm>
            <a:custGeom>
              <a:avLst/>
              <a:gdLst>
                <a:gd name="T0" fmla="*/ 0 w 35"/>
                <a:gd name="T1" fmla="*/ 0 h 17"/>
                <a:gd name="T2" fmla="*/ 35 w 35"/>
                <a:gd name="T3" fmla="*/ 17 h 17"/>
              </a:gdLst>
              <a:ahLst/>
              <a:cxnLst>
                <a:cxn ang="0">
                  <a:pos x="25" y="6"/>
                </a:cxn>
                <a:cxn ang="0">
                  <a:pos x="8" y="10"/>
                </a:cxn>
                <a:cxn ang="0">
                  <a:pos x="6" y="13"/>
                </a:cxn>
                <a:cxn ang="0">
                  <a:pos x="27" y="12"/>
                </a:cxn>
                <a:cxn ang="0">
                  <a:pos x="25" y="6"/>
                </a:cxn>
              </a:cxnLst>
              <a:rect l="T0" t="T1" r="T2" b="T3"/>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4" name="Freeform 200"/>
            <p:cNvSpPr/>
            <p:nvPr/>
          </p:nvSpPr>
          <p:spPr bwMode="auto">
            <a:xfrm>
              <a:off x="749" y="500"/>
              <a:ext cx="247" cy="60"/>
            </a:xfrm>
            <a:custGeom>
              <a:avLst/>
              <a:gdLst>
                <a:gd name="T0" fmla="*/ 0 w 49"/>
                <a:gd name="T1" fmla="*/ 0 h 12"/>
                <a:gd name="T2" fmla="*/ 49 w 49"/>
                <a:gd name="T3" fmla="*/ 12 h 12"/>
              </a:gdLst>
              <a:ahLst/>
              <a:cxnLst>
                <a:cxn ang="0">
                  <a:pos x="40" y="3"/>
                </a:cxn>
                <a:cxn ang="0">
                  <a:pos x="29" y="1"/>
                </a:cxn>
                <a:cxn ang="0">
                  <a:pos x="7" y="0"/>
                </a:cxn>
                <a:cxn ang="0">
                  <a:pos x="2" y="5"/>
                </a:cxn>
                <a:cxn ang="0">
                  <a:pos x="20" y="8"/>
                </a:cxn>
                <a:cxn ang="0">
                  <a:pos x="41" y="8"/>
                </a:cxn>
                <a:cxn ang="0">
                  <a:pos x="40" y="3"/>
                </a:cxn>
              </a:cxnLst>
              <a:rect l="T0" t="T1" r="T2" b="T3"/>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5" name="Freeform 201"/>
            <p:cNvSpPr/>
            <p:nvPr/>
          </p:nvSpPr>
          <p:spPr bwMode="auto">
            <a:xfrm>
              <a:off x="774" y="557"/>
              <a:ext cx="202" cy="54"/>
            </a:xfrm>
            <a:custGeom>
              <a:avLst/>
              <a:gdLst>
                <a:gd name="T0" fmla="*/ 0 w 40"/>
                <a:gd name="T1" fmla="*/ 0 h 11"/>
                <a:gd name="T2" fmla="*/ 40 w 40"/>
                <a:gd name="T3" fmla="*/ 11 h 11"/>
              </a:gdLst>
              <a:ahLst/>
              <a:cxnLst>
                <a:cxn ang="0">
                  <a:pos x="37" y="2"/>
                </a:cxn>
                <a:cxn ang="0">
                  <a:pos x="26" y="4"/>
                </a:cxn>
                <a:cxn ang="0">
                  <a:pos x="13" y="3"/>
                </a:cxn>
                <a:cxn ang="0">
                  <a:pos x="1" y="2"/>
                </a:cxn>
                <a:cxn ang="0">
                  <a:pos x="35" y="8"/>
                </a:cxn>
                <a:cxn ang="0">
                  <a:pos x="37" y="2"/>
                </a:cxn>
              </a:cxnLst>
              <a:rect l="T0" t="T1" r="T2" b="T3"/>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6" name="Freeform 202"/>
            <p:cNvSpPr/>
            <p:nvPr/>
          </p:nvSpPr>
          <p:spPr bwMode="auto">
            <a:xfrm>
              <a:off x="762" y="601"/>
              <a:ext cx="209" cy="174"/>
            </a:xfrm>
            <a:custGeom>
              <a:avLst/>
              <a:gdLst>
                <a:gd name="T0" fmla="*/ 0 w 41"/>
                <a:gd name="T1" fmla="*/ 0 h 34"/>
                <a:gd name="T2" fmla="*/ 41 w 41"/>
                <a:gd name="T3" fmla="*/ 34 h 34"/>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T0" t="T1" r="T2" b="T3"/>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7" name="Freeform 203"/>
            <p:cNvSpPr/>
            <p:nvPr/>
          </p:nvSpPr>
          <p:spPr bwMode="auto">
            <a:xfrm>
              <a:off x="901" y="522"/>
              <a:ext cx="126" cy="316"/>
            </a:xfrm>
            <a:custGeom>
              <a:avLst/>
              <a:gdLst>
                <a:gd name="T0" fmla="*/ 0 w 25"/>
                <a:gd name="T1" fmla="*/ 0 h 63"/>
                <a:gd name="T2" fmla="*/ 25 w 25"/>
                <a:gd name="T3" fmla="*/ 63 h 63"/>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T0" t="T1" r="T2" b="T3"/>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grpSp>
        <p:nvGrpSpPr>
          <p:cNvPr id="1228" name="Group 204"/>
          <p:cNvGrpSpPr/>
          <p:nvPr/>
        </p:nvGrpSpPr>
        <p:grpSpPr>
          <a:xfrm>
            <a:off x="508000" y="5070476"/>
            <a:ext cx="711200" cy="492125"/>
            <a:chOff x="0" y="0"/>
            <a:chExt cx="1062" cy="981"/>
          </a:xfrm>
        </p:grpSpPr>
        <p:sp>
          <p:nvSpPr>
            <p:cNvPr id="1229" name="Freeform 205"/>
            <p:cNvSpPr/>
            <p:nvPr/>
          </p:nvSpPr>
          <p:spPr bwMode="auto">
            <a:xfrm>
              <a:off x="25" y="0"/>
              <a:ext cx="205" cy="82"/>
            </a:xfrm>
            <a:custGeom>
              <a:avLst/>
              <a:gdLst>
                <a:gd name="T0" fmla="*/ 0 w 41"/>
                <a:gd name="T1" fmla="*/ 0 h 16"/>
                <a:gd name="T2" fmla="*/ 41 w 41"/>
                <a:gd name="T3" fmla="*/ 16 h 16"/>
              </a:gdLst>
              <a:ahLst/>
              <a:cxnLst>
                <a:cxn ang="0">
                  <a:pos x="30" y="12"/>
                </a:cxn>
                <a:cxn ang="0">
                  <a:pos x="37" y="10"/>
                </a:cxn>
                <a:cxn ang="0">
                  <a:pos x="38" y="9"/>
                </a:cxn>
                <a:cxn ang="0">
                  <a:pos x="31" y="1"/>
                </a:cxn>
                <a:cxn ang="0">
                  <a:pos x="8" y="11"/>
                </a:cxn>
                <a:cxn ang="0">
                  <a:pos x="30" y="12"/>
                </a:cxn>
              </a:cxnLst>
              <a:rect l="T0" t="T1" r="T2" b="T3"/>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30" name="Freeform 206"/>
            <p:cNvSpPr>
              <a:spLocks noEditPoints="1"/>
            </p:cNvSpPr>
            <p:nvPr/>
          </p:nvSpPr>
          <p:spPr bwMode="auto">
            <a:xfrm>
              <a:off x="0" y="6"/>
              <a:ext cx="1062" cy="975"/>
            </a:xfrm>
            <a:custGeom>
              <a:avLst/>
              <a:gdLst>
                <a:gd name="T0" fmla="*/ 0 w 210"/>
                <a:gd name="T1" fmla="*/ 0 h 193"/>
                <a:gd name="T2" fmla="*/ 210 w 210"/>
                <a:gd name="T3" fmla="*/ 193 h 193"/>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T0" t="T1" r="T2" b="T3"/>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31" name="Freeform 207"/>
            <p:cNvSpPr/>
            <p:nvPr/>
          </p:nvSpPr>
          <p:spPr bwMode="auto">
            <a:xfrm>
              <a:off x="253" y="472"/>
              <a:ext cx="85" cy="101"/>
            </a:xfrm>
            <a:custGeom>
              <a:avLst/>
              <a:gdLst>
                <a:gd name="T0" fmla="*/ 0 w 17"/>
                <a:gd name="T1" fmla="*/ 0 h 20"/>
                <a:gd name="T2" fmla="*/ 17 w 17"/>
                <a:gd name="T3" fmla="*/ 20 h 20"/>
              </a:gdLst>
              <a:ahLst/>
              <a:cxnLst>
                <a:cxn ang="0">
                  <a:pos x="14" y="5"/>
                </a:cxn>
                <a:cxn ang="0">
                  <a:pos x="9" y="20"/>
                </a:cxn>
                <a:cxn ang="0">
                  <a:pos x="14" y="5"/>
                </a:cxn>
              </a:cxnLst>
              <a:rect l="T0" t="T1" r="T2" b="T3"/>
              <a:pathLst>
                <a:path w="17" h="20">
                  <a:moveTo>
                    <a:pt x="14" y="5"/>
                  </a:moveTo>
                  <a:cubicBezTo>
                    <a:pt x="13" y="0"/>
                    <a:pt x="0" y="8"/>
                    <a:pt x="9" y="20"/>
                  </a:cubicBezTo>
                  <a:cubicBezTo>
                    <a:pt x="9" y="20"/>
                    <a:pt x="17" y="17"/>
                    <a:pt x="14" y="5"/>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32" name="Freeform 208"/>
            <p:cNvSpPr/>
            <p:nvPr/>
          </p:nvSpPr>
          <p:spPr bwMode="auto">
            <a:xfrm>
              <a:off x="171" y="509"/>
              <a:ext cx="76" cy="136"/>
            </a:xfrm>
            <a:custGeom>
              <a:avLst/>
              <a:gdLst>
                <a:gd name="T0" fmla="*/ 0 w 15"/>
                <a:gd name="T1" fmla="*/ 0 h 27"/>
                <a:gd name="T2" fmla="*/ 15 w 15"/>
                <a:gd name="T3" fmla="*/ 27 h 27"/>
              </a:gdLst>
              <a:ahLst/>
              <a:cxnLst>
                <a:cxn ang="0">
                  <a:pos x="7" y="10"/>
                </a:cxn>
                <a:cxn ang="0">
                  <a:pos x="4" y="25"/>
                </a:cxn>
                <a:cxn ang="0">
                  <a:pos x="15" y="16"/>
                </a:cxn>
                <a:cxn ang="0">
                  <a:pos x="13" y="8"/>
                </a:cxn>
                <a:cxn ang="0">
                  <a:pos x="7" y="10"/>
                </a:cxn>
              </a:cxnLst>
              <a:rect l="T0" t="T1" r="T2" b="T3"/>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33" name="Freeform 209"/>
            <p:cNvSpPr/>
            <p:nvPr/>
          </p:nvSpPr>
          <p:spPr bwMode="auto">
            <a:xfrm>
              <a:off x="126" y="237"/>
              <a:ext cx="243" cy="117"/>
            </a:xfrm>
            <a:custGeom>
              <a:avLst/>
              <a:gdLst>
                <a:gd name="T0" fmla="*/ 0 w 48"/>
                <a:gd name="T1" fmla="*/ 0 h 23"/>
                <a:gd name="T2" fmla="*/ 48 w 48"/>
                <a:gd name="T3" fmla="*/ 23 h 23"/>
              </a:gdLst>
              <a:ahLst/>
              <a:cxnLst>
                <a:cxn ang="0">
                  <a:pos x="40" y="2"/>
                </a:cxn>
                <a:cxn ang="0">
                  <a:pos x="9" y="1"/>
                </a:cxn>
                <a:cxn ang="0">
                  <a:pos x="1" y="9"/>
                </a:cxn>
                <a:cxn ang="0">
                  <a:pos x="22" y="21"/>
                </a:cxn>
                <a:cxn ang="0">
                  <a:pos x="34" y="20"/>
                </a:cxn>
                <a:cxn ang="0">
                  <a:pos x="40" y="19"/>
                </a:cxn>
                <a:cxn ang="0">
                  <a:pos x="40" y="2"/>
                </a:cxn>
              </a:cxnLst>
              <a:rect l="T0" t="T1" r="T2" b="T3"/>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34" name="Freeform 210"/>
            <p:cNvSpPr/>
            <p:nvPr/>
          </p:nvSpPr>
          <p:spPr bwMode="auto">
            <a:xfrm>
              <a:off x="405" y="560"/>
              <a:ext cx="177" cy="187"/>
            </a:xfrm>
            <a:custGeom>
              <a:avLst/>
              <a:gdLst>
                <a:gd name="T0" fmla="*/ 0 w 35"/>
                <a:gd name="T1" fmla="*/ 0 h 37"/>
                <a:gd name="T2" fmla="*/ 35 w 35"/>
                <a:gd name="T3" fmla="*/ 37 h 37"/>
              </a:gdLst>
              <a:ahLst/>
              <a:cxnLst>
                <a:cxn ang="0">
                  <a:pos x="24" y="2"/>
                </a:cxn>
                <a:cxn ang="0">
                  <a:pos x="11" y="2"/>
                </a:cxn>
                <a:cxn ang="0">
                  <a:pos x="4" y="20"/>
                </a:cxn>
                <a:cxn ang="0">
                  <a:pos x="28" y="22"/>
                </a:cxn>
                <a:cxn ang="0">
                  <a:pos x="24" y="2"/>
                </a:cxn>
              </a:cxnLst>
              <a:rect l="T0" t="T1" r="T2" b="T3"/>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35" name="Freeform 211"/>
            <p:cNvSpPr/>
            <p:nvPr/>
          </p:nvSpPr>
          <p:spPr bwMode="auto">
            <a:xfrm>
              <a:off x="809" y="373"/>
              <a:ext cx="177" cy="38"/>
            </a:xfrm>
            <a:custGeom>
              <a:avLst/>
              <a:gdLst>
                <a:gd name="T0" fmla="*/ 0 w 35"/>
                <a:gd name="T1" fmla="*/ 0 h 7"/>
                <a:gd name="T2" fmla="*/ 35 w 35"/>
                <a:gd name="T3" fmla="*/ 7 h 7"/>
              </a:gdLst>
              <a:ahLst/>
              <a:cxnLst>
                <a:cxn ang="0">
                  <a:pos x="5" y="0"/>
                </a:cxn>
                <a:cxn ang="0">
                  <a:pos x="14" y="5"/>
                </a:cxn>
                <a:cxn ang="0">
                  <a:pos x="5" y="0"/>
                </a:cxn>
              </a:cxnLst>
              <a:rect l="T0" t="T1" r="T2" b="T3"/>
              <a:pathLst>
                <a:path w="35" h="7">
                  <a:moveTo>
                    <a:pt x="5" y="0"/>
                  </a:moveTo>
                  <a:cubicBezTo>
                    <a:pt x="0" y="0"/>
                    <a:pt x="7" y="7"/>
                    <a:pt x="14" y="5"/>
                  </a:cubicBezTo>
                  <a:cubicBezTo>
                    <a:pt x="35" y="1"/>
                    <a:pt x="5" y="0"/>
                    <a:pt x="5" y="0"/>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36" name="Freeform 212"/>
            <p:cNvSpPr/>
            <p:nvPr/>
          </p:nvSpPr>
          <p:spPr bwMode="auto">
            <a:xfrm>
              <a:off x="869" y="370"/>
              <a:ext cx="136" cy="79"/>
            </a:xfrm>
            <a:custGeom>
              <a:avLst/>
              <a:gdLst>
                <a:gd name="T0" fmla="*/ 0 w 27"/>
                <a:gd name="T1" fmla="*/ 0 h 16"/>
                <a:gd name="T2" fmla="*/ 27 w 27"/>
                <a:gd name="T3" fmla="*/ 16 h 16"/>
              </a:gdLst>
              <a:ahLst/>
              <a:cxnLst>
                <a:cxn ang="0">
                  <a:pos x="7" y="13"/>
                </a:cxn>
                <a:cxn ang="0">
                  <a:pos x="25" y="6"/>
                </a:cxn>
                <a:cxn ang="0">
                  <a:pos x="17" y="1"/>
                </a:cxn>
                <a:cxn ang="0">
                  <a:pos x="7" y="11"/>
                </a:cxn>
                <a:cxn ang="0">
                  <a:pos x="7" y="13"/>
                </a:cxn>
              </a:cxnLst>
              <a:rect l="T0" t="T1" r="T2" b="T3"/>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37" name="Freeform 213"/>
            <p:cNvSpPr/>
            <p:nvPr/>
          </p:nvSpPr>
          <p:spPr bwMode="auto">
            <a:xfrm>
              <a:off x="863" y="421"/>
              <a:ext cx="177" cy="85"/>
            </a:xfrm>
            <a:custGeom>
              <a:avLst/>
              <a:gdLst>
                <a:gd name="T0" fmla="*/ 0 w 35"/>
                <a:gd name="T1" fmla="*/ 0 h 17"/>
                <a:gd name="T2" fmla="*/ 35 w 35"/>
                <a:gd name="T3" fmla="*/ 17 h 17"/>
              </a:gdLst>
              <a:ahLst/>
              <a:cxnLst>
                <a:cxn ang="0">
                  <a:pos x="25" y="6"/>
                </a:cxn>
                <a:cxn ang="0">
                  <a:pos x="8" y="10"/>
                </a:cxn>
                <a:cxn ang="0">
                  <a:pos x="6" y="13"/>
                </a:cxn>
                <a:cxn ang="0">
                  <a:pos x="27" y="12"/>
                </a:cxn>
                <a:cxn ang="0">
                  <a:pos x="25" y="6"/>
                </a:cxn>
              </a:cxnLst>
              <a:rect l="T0" t="T1" r="T2" b="T3"/>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38" name="Freeform 214"/>
            <p:cNvSpPr/>
            <p:nvPr/>
          </p:nvSpPr>
          <p:spPr bwMode="auto">
            <a:xfrm>
              <a:off x="749" y="500"/>
              <a:ext cx="247" cy="60"/>
            </a:xfrm>
            <a:custGeom>
              <a:avLst/>
              <a:gdLst>
                <a:gd name="T0" fmla="*/ 0 w 49"/>
                <a:gd name="T1" fmla="*/ 0 h 12"/>
                <a:gd name="T2" fmla="*/ 49 w 49"/>
                <a:gd name="T3" fmla="*/ 12 h 12"/>
              </a:gdLst>
              <a:ahLst/>
              <a:cxnLst>
                <a:cxn ang="0">
                  <a:pos x="40" y="3"/>
                </a:cxn>
                <a:cxn ang="0">
                  <a:pos x="29" y="1"/>
                </a:cxn>
                <a:cxn ang="0">
                  <a:pos x="7" y="0"/>
                </a:cxn>
                <a:cxn ang="0">
                  <a:pos x="2" y="5"/>
                </a:cxn>
                <a:cxn ang="0">
                  <a:pos x="20" y="8"/>
                </a:cxn>
                <a:cxn ang="0">
                  <a:pos x="41" y="8"/>
                </a:cxn>
                <a:cxn ang="0">
                  <a:pos x="40" y="3"/>
                </a:cxn>
              </a:cxnLst>
              <a:rect l="T0" t="T1" r="T2" b="T3"/>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39" name="Freeform 215"/>
            <p:cNvSpPr/>
            <p:nvPr/>
          </p:nvSpPr>
          <p:spPr bwMode="auto">
            <a:xfrm>
              <a:off x="774" y="557"/>
              <a:ext cx="202" cy="54"/>
            </a:xfrm>
            <a:custGeom>
              <a:avLst/>
              <a:gdLst>
                <a:gd name="T0" fmla="*/ 0 w 40"/>
                <a:gd name="T1" fmla="*/ 0 h 11"/>
                <a:gd name="T2" fmla="*/ 40 w 40"/>
                <a:gd name="T3" fmla="*/ 11 h 11"/>
              </a:gdLst>
              <a:ahLst/>
              <a:cxnLst>
                <a:cxn ang="0">
                  <a:pos x="37" y="2"/>
                </a:cxn>
                <a:cxn ang="0">
                  <a:pos x="26" y="4"/>
                </a:cxn>
                <a:cxn ang="0">
                  <a:pos x="13" y="3"/>
                </a:cxn>
                <a:cxn ang="0">
                  <a:pos x="1" y="2"/>
                </a:cxn>
                <a:cxn ang="0">
                  <a:pos x="35" y="8"/>
                </a:cxn>
                <a:cxn ang="0">
                  <a:pos x="37" y="2"/>
                </a:cxn>
              </a:cxnLst>
              <a:rect l="T0" t="T1" r="T2" b="T3"/>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0" name="Freeform 216"/>
            <p:cNvSpPr/>
            <p:nvPr/>
          </p:nvSpPr>
          <p:spPr bwMode="auto">
            <a:xfrm>
              <a:off x="762" y="601"/>
              <a:ext cx="209" cy="174"/>
            </a:xfrm>
            <a:custGeom>
              <a:avLst/>
              <a:gdLst>
                <a:gd name="T0" fmla="*/ 0 w 41"/>
                <a:gd name="T1" fmla="*/ 0 h 34"/>
                <a:gd name="T2" fmla="*/ 41 w 41"/>
                <a:gd name="T3" fmla="*/ 34 h 34"/>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T0" t="T1" r="T2" b="T3"/>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1" name="Freeform 217"/>
            <p:cNvSpPr/>
            <p:nvPr/>
          </p:nvSpPr>
          <p:spPr bwMode="auto">
            <a:xfrm>
              <a:off x="901" y="522"/>
              <a:ext cx="126" cy="316"/>
            </a:xfrm>
            <a:custGeom>
              <a:avLst/>
              <a:gdLst>
                <a:gd name="T0" fmla="*/ 0 w 25"/>
                <a:gd name="T1" fmla="*/ 0 h 63"/>
                <a:gd name="T2" fmla="*/ 25 w 25"/>
                <a:gd name="T3" fmla="*/ 63 h 63"/>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T0" t="T1" r="T2" b="T3"/>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grpSp>
        <p:nvGrpSpPr>
          <p:cNvPr id="1242" name="Group 218"/>
          <p:cNvGrpSpPr/>
          <p:nvPr/>
        </p:nvGrpSpPr>
        <p:grpSpPr>
          <a:xfrm>
            <a:off x="508000" y="6121401"/>
            <a:ext cx="711200" cy="492125"/>
            <a:chOff x="0" y="0"/>
            <a:chExt cx="1062" cy="981"/>
          </a:xfrm>
        </p:grpSpPr>
        <p:sp>
          <p:nvSpPr>
            <p:cNvPr id="1243" name="Freeform 219"/>
            <p:cNvSpPr/>
            <p:nvPr/>
          </p:nvSpPr>
          <p:spPr bwMode="auto">
            <a:xfrm>
              <a:off x="25" y="0"/>
              <a:ext cx="205" cy="82"/>
            </a:xfrm>
            <a:custGeom>
              <a:avLst/>
              <a:gdLst>
                <a:gd name="T0" fmla="*/ 0 w 41"/>
                <a:gd name="T1" fmla="*/ 0 h 16"/>
                <a:gd name="T2" fmla="*/ 41 w 41"/>
                <a:gd name="T3" fmla="*/ 16 h 16"/>
              </a:gdLst>
              <a:ahLst/>
              <a:cxnLst>
                <a:cxn ang="0">
                  <a:pos x="30" y="12"/>
                </a:cxn>
                <a:cxn ang="0">
                  <a:pos x="37" y="10"/>
                </a:cxn>
                <a:cxn ang="0">
                  <a:pos x="38" y="9"/>
                </a:cxn>
                <a:cxn ang="0">
                  <a:pos x="31" y="1"/>
                </a:cxn>
                <a:cxn ang="0">
                  <a:pos x="8" y="11"/>
                </a:cxn>
                <a:cxn ang="0">
                  <a:pos x="30" y="12"/>
                </a:cxn>
              </a:cxnLst>
              <a:rect l="T0" t="T1" r="T2" b="T3"/>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4" name="Freeform 220"/>
            <p:cNvSpPr>
              <a:spLocks noEditPoints="1"/>
            </p:cNvSpPr>
            <p:nvPr/>
          </p:nvSpPr>
          <p:spPr bwMode="auto">
            <a:xfrm>
              <a:off x="0" y="6"/>
              <a:ext cx="1062" cy="975"/>
            </a:xfrm>
            <a:custGeom>
              <a:avLst/>
              <a:gdLst>
                <a:gd name="T0" fmla="*/ 0 w 210"/>
                <a:gd name="T1" fmla="*/ 0 h 193"/>
                <a:gd name="T2" fmla="*/ 210 w 210"/>
                <a:gd name="T3" fmla="*/ 193 h 193"/>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T0" t="T1" r="T2" b="T3"/>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5" name="Freeform 221"/>
            <p:cNvSpPr/>
            <p:nvPr/>
          </p:nvSpPr>
          <p:spPr bwMode="auto">
            <a:xfrm>
              <a:off x="253" y="472"/>
              <a:ext cx="85" cy="101"/>
            </a:xfrm>
            <a:custGeom>
              <a:avLst/>
              <a:gdLst>
                <a:gd name="T0" fmla="*/ 0 w 17"/>
                <a:gd name="T1" fmla="*/ 0 h 20"/>
                <a:gd name="T2" fmla="*/ 17 w 17"/>
                <a:gd name="T3" fmla="*/ 20 h 20"/>
              </a:gdLst>
              <a:ahLst/>
              <a:cxnLst>
                <a:cxn ang="0">
                  <a:pos x="14" y="5"/>
                </a:cxn>
                <a:cxn ang="0">
                  <a:pos x="9" y="20"/>
                </a:cxn>
                <a:cxn ang="0">
                  <a:pos x="14" y="5"/>
                </a:cxn>
              </a:cxnLst>
              <a:rect l="T0" t="T1" r="T2" b="T3"/>
              <a:pathLst>
                <a:path w="17" h="20">
                  <a:moveTo>
                    <a:pt x="14" y="5"/>
                  </a:moveTo>
                  <a:cubicBezTo>
                    <a:pt x="13" y="0"/>
                    <a:pt x="0" y="8"/>
                    <a:pt x="9" y="20"/>
                  </a:cubicBezTo>
                  <a:cubicBezTo>
                    <a:pt x="9" y="20"/>
                    <a:pt x="17" y="17"/>
                    <a:pt x="14" y="5"/>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6" name="Freeform 222"/>
            <p:cNvSpPr/>
            <p:nvPr/>
          </p:nvSpPr>
          <p:spPr bwMode="auto">
            <a:xfrm>
              <a:off x="171" y="509"/>
              <a:ext cx="76" cy="136"/>
            </a:xfrm>
            <a:custGeom>
              <a:avLst/>
              <a:gdLst>
                <a:gd name="T0" fmla="*/ 0 w 15"/>
                <a:gd name="T1" fmla="*/ 0 h 27"/>
                <a:gd name="T2" fmla="*/ 15 w 15"/>
                <a:gd name="T3" fmla="*/ 27 h 27"/>
              </a:gdLst>
              <a:ahLst/>
              <a:cxnLst>
                <a:cxn ang="0">
                  <a:pos x="7" y="10"/>
                </a:cxn>
                <a:cxn ang="0">
                  <a:pos x="4" y="25"/>
                </a:cxn>
                <a:cxn ang="0">
                  <a:pos x="15" y="16"/>
                </a:cxn>
                <a:cxn ang="0">
                  <a:pos x="13" y="8"/>
                </a:cxn>
                <a:cxn ang="0">
                  <a:pos x="7" y="10"/>
                </a:cxn>
              </a:cxnLst>
              <a:rect l="T0" t="T1" r="T2" b="T3"/>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7" name="Freeform 223"/>
            <p:cNvSpPr/>
            <p:nvPr/>
          </p:nvSpPr>
          <p:spPr bwMode="auto">
            <a:xfrm>
              <a:off x="126" y="237"/>
              <a:ext cx="243" cy="117"/>
            </a:xfrm>
            <a:custGeom>
              <a:avLst/>
              <a:gdLst>
                <a:gd name="T0" fmla="*/ 0 w 48"/>
                <a:gd name="T1" fmla="*/ 0 h 23"/>
                <a:gd name="T2" fmla="*/ 48 w 48"/>
                <a:gd name="T3" fmla="*/ 23 h 23"/>
              </a:gdLst>
              <a:ahLst/>
              <a:cxnLst>
                <a:cxn ang="0">
                  <a:pos x="40" y="2"/>
                </a:cxn>
                <a:cxn ang="0">
                  <a:pos x="9" y="1"/>
                </a:cxn>
                <a:cxn ang="0">
                  <a:pos x="1" y="9"/>
                </a:cxn>
                <a:cxn ang="0">
                  <a:pos x="22" y="21"/>
                </a:cxn>
                <a:cxn ang="0">
                  <a:pos x="34" y="20"/>
                </a:cxn>
                <a:cxn ang="0">
                  <a:pos x="40" y="19"/>
                </a:cxn>
                <a:cxn ang="0">
                  <a:pos x="40" y="2"/>
                </a:cxn>
              </a:cxnLst>
              <a:rect l="T0" t="T1" r="T2" b="T3"/>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8" name="Freeform 224"/>
            <p:cNvSpPr/>
            <p:nvPr/>
          </p:nvSpPr>
          <p:spPr bwMode="auto">
            <a:xfrm>
              <a:off x="405" y="560"/>
              <a:ext cx="177" cy="187"/>
            </a:xfrm>
            <a:custGeom>
              <a:avLst/>
              <a:gdLst>
                <a:gd name="T0" fmla="*/ 0 w 35"/>
                <a:gd name="T1" fmla="*/ 0 h 37"/>
                <a:gd name="T2" fmla="*/ 35 w 35"/>
                <a:gd name="T3" fmla="*/ 37 h 37"/>
              </a:gdLst>
              <a:ahLst/>
              <a:cxnLst>
                <a:cxn ang="0">
                  <a:pos x="24" y="2"/>
                </a:cxn>
                <a:cxn ang="0">
                  <a:pos x="11" y="2"/>
                </a:cxn>
                <a:cxn ang="0">
                  <a:pos x="4" y="20"/>
                </a:cxn>
                <a:cxn ang="0">
                  <a:pos x="28" y="22"/>
                </a:cxn>
                <a:cxn ang="0">
                  <a:pos x="24" y="2"/>
                </a:cxn>
              </a:cxnLst>
              <a:rect l="T0" t="T1" r="T2" b="T3"/>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9" name="Freeform 225"/>
            <p:cNvSpPr/>
            <p:nvPr/>
          </p:nvSpPr>
          <p:spPr bwMode="auto">
            <a:xfrm>
              <a:off x="809" y="373"/>
              <a:ext cx="177" cy="38"/>
            </a:xfrm>
            <a:custGeom>
              <a:avLst/>
              <a:gdLst>
                <a:gd name="T0" fmla="*/ 0 w 35"/>
                <a:gd name="T1" fmla="*/ 0 h 7"/>
                <a:gd name="T2" fmla="*/ 35 w 35"/>
                <a:gd name="T3" fmla="*/ 7 h 7"/>
              </a:gdLst>
              <a:ahLst/>
              <a:cxnLst>
                <a:cxn ang="0">
                  <a:pos x="5" y="0"/>
                </a:cxn>
                <a:cxn ang="0">
                  <a:pos x="14" y="5"/>
                </a:cxn>
                <a:cxn ang="0">
                  <a:pos x="5" y="0"/>
                </a:cxn>
              </a:cxnLst>
              <a:rect l="T0" t="T1" r="T2" b="T3"/>
              <a:pathLst>
                <a:path w="35" h="7">
                  <a:moveTo>
                    <a:pt x="5" y="0"/>
                  </a:moveTo>
                  <a:cubicBezTo>
                    <a:pt x="0" y="0"/>
                    <a:pt x="7" y="7"/>
                    <a:pt x="14" y="5"/>
                  </a:cubicBezTo>
                  <a:cubicBezTo>
                    <a:pt x="35" y="1"/>
                    <a:pt x="5" y="0"/>
                    <a:pt x="5" y="0"/>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50" name="Freeform 226"/>
            <p:cNvSpPr/>
            <p:nvPr/>
          </p:nvSpPr>
          <p:spPr bwMode="auto">
            <a:xfrm>
              <a:off x="869" y="370"/>
              <a:ext cx="136" cy="79"/>
            </a:xfrm>
            <a:custGeom>
              <a:avLst/>
              <a:gdLst>
                <a:gd name="T0" fmla="*/ 0 w 27"/>
                <a:gd name="T1" fmla="*/ 0 h 16"/>
                <a:gd name="T2" fmla="*/ 27 w 27"/>
                <a:gd name="T3" fmla="*/ 16 h 16"/>
              </a:gdLst>
              <a:ahLst/>
              <a:cxnLst>
                <a:cxn ang="0">
                  <a:pos x="7" y="13"/>
                </a:cxn>
                <a:cxn ang="0">
                  <a:pos x="25" y="6"/>
                </a:cxn>
                <a:cxn ang="0">
                  <a:pos x="17" y="1"/>
                </a:cxn>
                <a:cxn ang="0">
                  <a:pos x="7" y="11"/>
                </a:cxn>
                <a:cxn ang="0">
                  <a:pos x="7" y="13"/>
                </a:cxn>
              </a:cxnLst>
              <a:rect l="T0" t="T1" r="T2" b="T3"/>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51" name="Freeform 227"/>
            <p:cNvSpPr/>
            <p:nvPr/>
          </p:nvSpPr>
          <p:spPr bwMode="auto">
            <a:xfrm>
              <a:off x="863" y="421"/>
              <a:ext cx="177" cy="85"/>
            </a:xfrm>
            <a:custGeom>
              <a:avLst/>
              <a:gdLst>
                <a:gd name="T0" fmla="*/ 0 w 35"/>
                <a:gd name="T1" fmla="*/ 0 h 17"/>
                <a:gd name="T2" fmla="*/ 35 w 35"/>
                <a:gd name="T3" fmla="*/ 17 h 17"/>
              </a:gdLst>
              <a:ahLst/>
              <a:cxnLst>
                <a:cxn ang="0">
                  <a:pos x="25" y="6"/>
                </a:cxn>
                <a:cxn ang="0">
                  <a:pos x="8" y="10"/>
                </a:cxn>
                <a:cxn ang="0">
                  <a:pos x="6" y="13"/>
                </a:cxn>
                <a:cxn ang="0">
                  <a:pos x="27" y="12"/>
                </a:cxn>
                <a:cxn ang="0">
                  <a:pos x="25" y="6"/>
                </a:cxn>
              </a:cxnLst>
              <a:rect l="T0" t="T1" r="T2" b="T3"/>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52" name="Freeform 228"/>
            <p:cNvSpPr/>
            <p:nvPr/>
          </p:nvSpPr>
          <p:spPr bwMode="auto">
            <a:xfrm>
              <a:off x="749" y="500"/>
              <a:ext cx="247" cy="60"/>
            </a:xfrm>
            <a:custGeom>
              <a:avLst/>
              <a:gdLst>
                <a:gd name="T0" fmla="*/ 0 w 49"/>
                <a:gd name="T1" fmla="*/ 0 h 12"/>
                <a:gd name="T2" fmla="*/ 49 w 49"/>
                <a:gd name="T3" fmla="*/ 12 h 12"/>
              </a:gdLst>
              <a:ahLst/>
              <a:cxnLst>
                <a:cxn ang="0">
                  <a:pos x="40" y="3"/>
                </a:cxn>
                <a:cxn ang="0">
                  <a:pos x="29" y="1"/>
                </a:cxn>
                <a:cxn ang="0">
                  <a:pos x="7" y="0"/>
                </a:cxn>
                <a:cxn ang="0">
                  <a:pos x="2" y="5"/>
                </a:cxn>
                <a:cxn ang="0">
                  <a:pos x="20" y="8"/>
                </a:cxn>
                <a:cxn ang="0">
                  <a:pos x="41" y="8"/>
                </a:cxn>
                <a:cxn ang="0">
                  <a:pos x="40" y="3"/>
                </a:cxn>
              </a:cxnLst>
              <a:rect l="T0" t="T1" r="T2" b="T3"/>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53" name="Freeform 229"/>
            <p:cNvSpPr/>
            <p:nvPr/>
          </p:nvSpPr>
          <p:spPr bwMode="auto">
            <a:xfrm>
              <a:off x="774" y="557"/>
              <a:ext cx="202" cy="54"/>
            </a:xfrm>
            <a:custGeom>
              <a:avLst/>
              <a:gdLst>
                <a:gd name="T0" fmla="*/ 0 w 40"/>
                <a:gd name="T1" fmla="*/ 0 h 11"/>
                <a:gd name="T2" fmla="*/ 40 w 40"/>
                <a:gd name="T3" fmla="*/ 11 h 11"/>
              </a:gdLst>
              <a:ahLst/>
              <a:cxnLst>
                <a:cxn ang="0">
                  <a:pos x="37" y="2"/>
                </a:cxn>
                <a:cxn ang="0">
                  <a:pos x="26" y="4"/>
                </a:cxn>
                <a:cxn ang="0">
                  <a:pos x="13" y="3"/>
                </a:cxn>
                <a:cxn ang="0">
                  <a:pos x="1" y="2"/>
                </a:cxn>
                <a:cxn ang="0">
                  <a:pos x="35" y="8"/>
                </a:cxn>
                <a:cxn ang="0">
                  <a:pos x="37" y="2"/>
                </a:cxn>
              </a:cxnLst>
              <a:rect l="T0" t="T1" r="T2" b="T3"/>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54" name="Freeform 230"/>
            <p:cNvSpPr/>
            <p:nvPr/>
          </p:nvSpPr>
          <p:spPr bwMode="auto">
            <a:xfrm>
              <a:off x="762" y="601"/>
              <a:ext cx="209" cy="174"/>
            </a:xfrm>
            <a:custGeom>
              <a:avLst/>
              <a:gdLst>
                <a:gd name="T0" fmla="*/ 0 w 41"/>
                <a:gd name="T1" fmla="*/ 0 h 34"/>
                <a:gd name="T2" fmla="*/ 41 w 41"/>
                <a:gd name="T3" fmla="*/ 34 h 34"/>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T0" t="T1" r="T2" b="T3"/>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55" name="Freeform 231"/>
            <p:cNvSpPr/>
            <p:nvPr/>
          </p:nvSpPr>
          <p:spPr bwMode="auto">
            <a:xfrm>
              <a:off x="901" y="522"/>
              <a:ext cx="126" cy="316"/>
            </a:xfrm>
            <a:custGeom>
              <a:avLst/>
              <a:gdLst>
                <a:gd name="T0" fmla="*/ 0 w 25"/>
                <a:gd name="T1" fmla="*/ 0 h 63"/>
                <a:gd name="T2" fmla="*/ 25 w 25"/>
                <a:gd name="T3" fmla="*/ 63 h 63"/>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T0" t="T1" r="T2" b="T3"/>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grpSp>
        <p:nvGrpSpPr>
          <p:cNvPr id="1256" name="Group 232"/>
          <p:cNvGrpSpPr/>
          <p:nvPr/>
        </p:nvGrpSpPr>
        <p:grpSpPr>
          <a:xfrm>
            <a:off x="9245600" y="-3175"/>
            <a:ext cx="3090333" cy="2058988"/>
            <a:chOff x="0" y="0"/>
            <a:chExt cx="1748" cy="1556"/>
          </a:xfrm>
        </p:grpSpPr>
        <p:sp>
          <p:nvSpPr>
            <p:cNvPr id="1257" name="Freeform 233"/>
            <p:cNvSpPr/>
            <p:nvPr/>
          </p:nvSpPr>
          <p:spPr bwMode="auto">
            <a:xfrm>
              <a:off x="81" y="0"/>
              <a:ext cx="1585" cy="1443"/>
            </a:xfrm>
            <a:custGeom>
              <a:avLst/>
              <a:gdLst>
                <a:gd name="T0" fmla="*/ 0 w 546"/>
                <a:gd name="T1" fmla="*/ 0 h 497"/>
                <a:gd name="T2" fmla="*/ 546 w 546"/>
                <a:gd name="T3" fmla="*/ 497 h 497"/>
              </a:gdLst>
              <a:ahLst/>
              <a:cxnLst>
                <a:cxn ang="0">
                  <a:pos x="23" y="4"/>
                </a:cxn>
                <a:cxn ang="0">
                  <a:pos x="11" y="71"/>
                </a:cxn>
                <a:cxn ang="0">
                  <a:pos x="25" y="393"/>
                </a:cxn>
                <a:cxn ang="0">
                  <a:pos x="54" y="457"/>
                </a:cxn>
                <a:cxn ang="0">
                  <a:pos x="158" y="482"/>
                </a:cxn>
                <a:cxn ang="0">
                  <a:pos x="204" y="495"/>
                </a:cxn>
                <a:cxn ang="0">
                  <a:pos x="520" y="475"/>
                </a:cxn>
                <a:cxn ang="0">
                  <a:pos x="533" y="167"/>
                </a:cxn>
                <a:cxn ang="0">
                  <a:pos x="369" y="16"/>
                </a:cxn>
                <a:cxn ang="0">
                  <a:pos x="249" y="29"/>
                </a:cxn>
                <a:cxn ang="0">
                  <a:pos x="198" y="11"/>
                </a:cxn>
                <a:cxn ang="0">
                  <a:pos x="151" y="2"/>
                </a:cxn>
                <a:cxn ang="0">
                  <a:pos x="23" y="4"/>
                </a:cxn>
              </a:cxnLst>
              <a:rect l="T0" t="T1" r="T2" b="T3"/>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258" name="Group 234"/>
            <p:cNvGrpSpPr/>
            <p:nvPr userDrawn="1"/>
          </p:nvGrpSpPr>
          <p:grpSpPr>
            <a:xfrm>
              <a:off x="0" y="5"/>
              <a:ext cx="1748" cy="1551"/>
              <a:chOff x="0" y="0"/>
              <a:chExt cx="2958" cy="2699"/>
            </a:xfrm>
          </p:grpSpPr>
          <p:sp>
            <p:nvSpPr>
              <p:cNvPr id="1259" name="Freeform 235"/>
              <p:cNvSpPr/>
              <p:nvPr/>
            </p:nvSpPr>
            <p:spPr bwMode="auto">
              <a:xfrm>
                <a:off x="142" y="0"/>
                <a:ext cx="490" cy="188"/>
              </a:xfrm>
              <a:custGeom>
                <a:avLst/>
                <a:gdLst>
                  <a:gd name="T0" fmla="*/ 0 w 97"/>
                  <a:gd name="T1" fmla="*/ 0 h 37"/>
                  <a:gd name="T2" fmla="*/ 97 w 97"/>
                  <a:gd name="T3" fmla="*/ 37 h 37"/>
                </a:gdLst>
                <a:ahLst/>
                <a:cxnLst>
                  <a:cxn ang="0">
                    <a:pos x="71" y="25"/>
                  </a:cxn>
                  <a:cxn ang="0">
                    <a:pos x="91" y="20"/>
                  </a:cxn>
                  <a:cxn ang="0">
                    <a:pos x="92" y="17"/>
                  </a:cxn>
                  <a:cxn ang="0">
                    <a:pos x="88" y="0"/>
                  </a:cxn>
                  <a:cxn ang="0">
                    <a:pos x="25" y="0"/>
                  </a:cxn>
                  <a:cxn ang="0">
                    <a:pos x="10" y="22"/>
                  </a:cxn>
                  <a:cxn ang="0">
                    <a:pos x="71" y="25"/>
                  </a:cxn>
                </a:cxnLst>
                <a:rect l="T0" t="T1" r="T2" b="T3"/>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60" name="Freeform 236"/>
              <p:cNvSpPr>
                <a:spLocks noEditPoints="1"/>
              </p:cNvSpPr>
              <p:nvPr/>
            </p:nvSpPr>
            <p:spPr bwMode="auto">
              <a:xfrm>
                <a:off x="0" y="0"/>
                <a:ext cx="2958" cy="2699"/>
              </a:xfrm>
              <a:custGeom>
                <a:avLst/>
                <a:gdLst>
                  <a:gd name="T0" fmla="*/ 0 w 585"/>
                  <a:gd name="T1" fmla="*/ 0 h 534"/>
                  <a:gd name="T2" fmla="*/ 585 w 585"/>
                  <a:gd name="T3" fmla="*/ 534 h 534"/>
                </a:gdLst>
                <a:ahLst/>
                <a:cxnLst>
                  <a:cxn ang="0">
                    <a:pos x="504" y="1"/>
                  </a:cxn>
                  <a:cxn ang="0">
                    <a:pos x="157" y="0"/>
                  </a:cxn>
                  <a:cxn ang="0">
                    <a:pos x="225" y="21"/>
                  </a:cxn>
                  <a:cxn ang="0">
                    <a:pos x="174" y="39"/>
                  </a:cxn>
                  <a:cxn ang="0">
                    <a:pos x="207" y="71"/>
                  </a:cxn>
                  <a:cxn ang="0">
                    <a:pos x="74" y="60"/>
                  </a:cxn>
                  <a:cxn ang="0">
                    <a:pos x="26" y="63"/>
                  </a:cxn>
                  <a:cxn ang="0">
                    <a:pos x="199" y="487"/>
                  </a:cxn>
                  <a:cxn ang="0">
                    <a:pos x="144" y="341"/>
                  </a:cxn>
                  <a:cxn ang="0">
                    <a:pos x="105" y="376"/>
                  </a:cxn>
                  <a:cxn ang="0">
                    <a:pos x="94" y="435"/>
                  </a:cxn>
                  <a:cxn ang="0">
                    <a:pos x="124" y="265"/>
                  </a:cxn>
                  <a:cxn ang="0">
                    <a:pos x="153" y="228"/>
                  </a:cxn>
                  <a:cxn ang="0">
                    <a:pos x="209" y="237"/>
                  </a:cxn>
                  <a:cxn ang="0">
                    <a:pos x="188" y="306"/>
                  </a:cxn>
                  <a:cxn ang="0">
                    <a:pos x="192" y="395"/>
                  </a:cxn>
                  <a:cxn ang="0">
                    <a:pos x="515" y="483"/>
                  </a:cxn>
                  <a:cxn ang="0">
                    <a:pos x="454" y="427"/>
                  </a:cxn>
                  <a:cxn ang="0">
                    <a:pos x="425" y="345"/>
                  </a:cxn>
                  <a:cxn ang="0">
                    <a:pos x="396" y="270"/>
                  </a:cxn>
                  <a:cxn ang="0">
                    <a:pos x="460" y="256"/>
                  </a:cxn>
                  <a:cxn ang="0">
                    <a:pos x="407" y="223"/>
                  </a:cxn>
                  <a:cxn ang="0">
                    <a:pos x="439" y="226"/>
                  </a:cxn>
                  <a:cxn ang="0">
                    <a:pos x="438" y="209"/>
                  </a:cxn>
                  <a:cxn ang="0">
                    <a:pos x="376" y="211"/>
                  </a:cxn>
                  <a:cxn ang="0">
                    <a:pos x="357" y="343"/>
                  </a:cxn>
                  <a:cxn ang="0">
                    <a:pos x="347" y="230"/>
                  </a:cxn>
                  <a:cxn ang="0">
                    <a:pos x="331" y="182"/>
                  </a:cxn>
                  <a:cxn ang="0">
                    <a:pos x="347" y="136"/>
                  </a:cxn>
                  <a:cxn ang="0">
                    <a:pos x="339" y="99"/>
                  </a:cxn>
                  <a:cxn ang="0">
                    <a:pos x="331" y="62"/>
                  </a:cxn>
                  <a:cxn ang="0">
                    <a:pos x="369" y="103"/>
                  </a:cxn>
                  <a:cxn ang="0">
                    <a:pos x="415" y="47"/>
                  </a:cxn>
                  <a:cxn ang="0">
                    <a:pos x="409" y="95"/>
                  </a:cxn>
                  <a:cxn ang="0">
                    <a:pos x="401" y="130"/>
                  </a:cxn>
                  <a:cxn ang="0">
                    <a:pos x="401" y="181"/>
                  </a:cxn>
                  <a:cxn ang="0">
                    <a:pos x="558" y="181"/>
                  </a:cxn>
                  <a:cxn ang="0">
                    <a:pos x="554" y="76"/>
                  </a:cxn>
                  <a:cxn ang="0">
                    <a:pos x="249" y="69"/>
                  </a:cxn>
                  <a:cxn ang="0">
                    <a:pos x="293" y="93"/>
                  </a:cxn>
                  <a:cxn ang="0">
                    <a:pos x="171" y="195"/>
                  </a:cxn>
                  <a:cxn ang="0">
                    <a:pos x="69" y="98"/>
                  </a:cxn>
                  <a:cxn ang="0">
                    <a:pos x="191" y="106"/>
                  </a:cxn>
                  <a:cxn ang="0">
                    <a:pos x="220" y="105"/>
                  </a:cxn>
                  <a:cxn ang="0">
                    <a:pos x="302" y="121"/>
                  </a:cxn>
                  <a:cxn ang="0">
                    <a:pos x="276" y="256"/>
                  </a:cxn>
                  <a:cxn ang="0">
                    <a:pos x="260" y="137"/>
                  </a:cxn>
                  <a:cxn ang="0">
                    <a:pos x="171" y="195"/>
                  </a:cxn>
                  <a:cxn ang="0">
                    <a:pos x="223" y="225"/>
                  </a:cxn>
                  <a:cxn ang="0">
                    <a:pos x="247" y="158"/>
                  </a:cxn>
                  <a:cxn ang="0">
                    <a:pos x="326" y="292"/>
                  </a:cxn>
                  <a:cxn ang="0">
                    <a:pos x="215" y="321"/>
                  </a:cxn>
                  <a:cxn ang="0">
                    <a:pos x="309" y="277"/>
                  </a:cxn>
                  <a:cxn ang="0">
                    <a:pos x="318" y="133"/>
                  </a:cxn>
                  <a:cxn ang="0">
                    <a:pos x="313" y="213"/>
                  </a:cxn>
                  <a:cxn ang="0">
                    <a:pos x="299" y="144"/>
                  </a:cxn>
                  <a:cxn ang="0">
                    <a:pos x="507" y="179"/>
                  </a:cxn>
                  <a:cxn ang="0">
                    <a:pos x="461" y="162"/>
                  </a:cxn>
                </a:cxnLst>
                <a:rect l="T0" t="T1" r="T2" b="T3"/>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61" name="Freeform 237"/>
              <p:cNvSpPr/>
              <p:nvPr/>
            </p:nvSpPr>
            <p:spPr bwMode="auto">
              <a:xfrm>
                <a:off x="703" y="1267"/>
                <a:ext cx="237" cy="286"/>
              </a:xfrm>
              <a:custGeom>
                <a:avLst/>
                <a:gdLst>
                  <a:gd name="T0" fmla="*/ 0 w 47"/>
                  <a:gd name="T1" fmla="*/ 0 h 56"/>
                  <a:gd name="T2" fmla="*/ 47 w 47"/>
                  <a:gd name="T3" fmla="*/ 56 h 56"/>
                </a:gdLst>
                <a:ahLst/>
                <a:cxnLst>
                  <a:cxn ang="0">
                    <a:pos x="40" y="15"/>
                  </a:cxn>
                  <a:cxn ang="0">
                    <a:pos x="27" y="56"/>
                  </a:cxn>
                  <a:cxn ang="0">
                    <a:pos x="40" y="15"/>
                  </a:cxn>
                </a:cxnLst>
                <a:rect l="T0" t="T1" r="T2" b="T3"/>
                <a:pathLst>
                  <a:path w="47" h="56">
                    <a:moveTo>
                      <a:pt x="40" y="15"/>
                    </a:moveTo>
                    <a:cubicBezTo>
                      <a:pt x="37" y="0"/>
                      <a:pt x="0" y="23"/>
                      <a:pt x="27" y="56"/>
                    </a:cubicBezTo>
                    <a:cubicBezTo>
                      <a:pt x="27" y="56"/>
                      <a:pt x="47" y="49"/>
                      <a:pt x="40" y="15"/>
                    </a:cubicBezTo>
                    <a:close/>
                  </a:path>
                </a:pathLst>
              </a:custGeom>
              <a:solidFill>
                <a:schemeClr val="bg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62" name="Freeform 238"/>
              <p:cNvSpPr/>
              <p:nvPr/>
            </p:nvSpPr>
            <p:spPr bwMode="auto">
              <a:xfrm>
                <a:off x="484" y="1386"/>
                <a:ext cx="209" cy="380"/>
              </a:xfrm>
              <a:custGeom>
                <a:avLst/>
                <a:gdLst>
                  <a:gd name="T0" fmla="*/ 0 w 41"/>
                  <a:gd name="T1" fmla="*/ 0 h 75"/>
                  <a:gd name="T2" fmla="*/ 41 w 41"/>
                  <a:gd name="T3" fmla="*/ 75 h 75"/>
                </a:gdLst>
                <a:ahLst/>
                <a:cxnLst>
                  <a:cxn ang="0">
                    <a:pos x="19" y="27"/>
                  </a:cxn>
                  <a:cxn ang="0">
                    <a:pos x="12" y="69"/>
                  </a:cxn>
                  <a:cxn ang="0">
                    <a:pos x="40" y="45"/>
                  </a:cxn>
                  <a:cxn ang="0">
                    <a:pos x="37" y="24"/>
                  </a:cxn>
                  <a:cxn ang="0">
                    <a:pos x="19" y="27"/>
                  </a:cxn>
                </a:cxnLst>
                <a:rect l="T0" t="T1" r="T2" b="T3"/>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63" name="Freeform 239"/>
              <p:cNvSpPr/>
              <p:nvPr/>
            </p:nvSpPr>
            <p:spPr bwMode="auto">
              <a:xfrm>
                <a:off x="355" y="628"/>
                <a:ext cx="683" cy="319"/>
              </a:xfrm>
              <a:custGeom>
                <a:avLst/>
                <a:gdLst>
                  <a:gd name="T0" fmla="*/ 0 w 135"/>
                  <a:gd name="T1" fmla="*/ 0 h 63"/>
                  <a:gd name="T2" fmla="*/ 135 w 135"/>
                  <a:gd name="T3" fmla="*/ 63 h 63"/>
                </a:gdLst>
                <a:ahLst/>
                <a:cxnLst>
                  <a:cxn ang="0">
                    <a:pos x="112" y="4"/>
                  </a:cxn>
                  <a:cxn ang="0">
                    <a:pos x="24" y="4"/>
                  </a:cxn>
                  <a:cxn ang="0">
                    <a:pos x="2" y="25"/>
                  </a:cxn>
                  <a:cxn ang="0">
                    <a:pos x="60" y="58"/>
                  </a:cxn>
                  <a:cxn ang="0">
                    <a:pos x="96" y="54"/>
                  </a:cxn>
                  <a:cxn ang="0">
                    <a:pos x="113" y="53"/>
                  </a:cxn>
                  <a:cxn ang="0">
                    <a:pos x="112" y="4"/>
                  </a:cxn>
                </a:cxnLst>
                <a:rect l="T0" t="T1" r="T2" b="T3"/>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64" name="Freeform 240"/>
              <p:cNvSpPr/>
              <p:nvPr/>
            </p:nvSpPr>
            <p:spPr bwMode="auto">
              <a:xfrm>
                <a:off x="1128" y="1528"/>
                <a:ext cx="490" cy="514"/>
              </a:xfrm>
              <a:custGeom>
                <a:avLst/>
                <a:gdLst>
                  <a:gd name="T0" fmla="*/ 0 w 97"/>
                  <a:gd name="T1" fmla="*/ 0 h 102"/>
                  <a:gd name="T2" fmla="*/ 97 w 97"/>
                  <a:gd name="T3" fmla="*/ 102 h 102"/>
                </a:gdLst>
                <a:ahLst/>
                <a:cxnLst>
                  <a:cxn ang="0">
                    <a:pos x="67" y="5"/>
                  </a:cxn>
                  <a:cxn ang="0">
                    <a:pos x="31" y="5"/>
                  </a:cxn>
                  <a:cxn ang="0">
                    <a:pos x="12" y="57"/>
                  </a:cxn>
                  <a:cxn ang="0">
                    <a:pos x="79" y="62"/>
                  </a:cxn>
                  <a:cxn ang="0">
                    <a:pos x="67" y="5"/>
                  </a:cxn>
                </a:cxnLst>
                <a:rect l="T0" t="T1" r="T2" b="T3"/>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65" name="Freeform 241"/>
              <p:cNvSpPr/>
              <p:nvPr/>
            </p:nvSpPr>
            <p:spPr bwMode="auto">
              <a:xfrm>
                <a:off x="2255" y="1004"/>
                <a:ext cx="500" cy="96"/>
              </a:xfrm>
              <a:custGeom>
                <a:avLst/>
                <a:gdLst>
                  <a:gd name="T0" fmla="*/ 0 w 99"/>
                  <a:gd name="T1" fmla="*/ 0 h 19"/>
                  <a:gd name="T2" fmla="*/ 99 w 99"/>
                  <a:gd name="T3" fmla="*/ 19 h 19"/>
                </a:gdLst>
                <a:ahLst/>
                <a:cxnLst>
                  <a:cxn ang="0">
                    <a:pos x="15" y="0"/>
                  </a:cxn>
                  <a:cxn ang="0">
                    <a:pos x="40" y="15"/>
                  </a:cxn>
                  <a:cxn ang="0">
                    <a:pos x="15" y="0"/>
                  </a:cxn>
                </a:cxnLst>
                <a:rect l="T0" t="T1" r="T2" b="T3"/>
                <a:pathLst>
                  <a:path w="99" h="19">
                    <a:moveTo>
                      <a:pt x="15" y="0"/>
                    </a:moveTo>
                    <a:cubicBezTo>
                      <a:pt x="0" y="0"/>
                      <a:pt x="19" y="19"/>
                      <a:pt x="40" y="15"/>
                    </a:cubicBezTo>
                    <a:cubicBezTo>
                      <a:pt x="99" y="1"/>
                      <a:pt x="15" y="0"/>
                      <a:pt x="15" y="0"/>
                    </a:cubicBezTo>
                    <a:close/>
                  </a:path>
                </a:pathLst>
              </a:custGeom>
              <a:solidFill>
                <a:schemeClr val="bg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66" name="Freeform 242"/>
              <p:cNvSpPr/>
              <p:nvPr/>
            </p:nvSpPr>
            <p:spPr bwMode="auto">
              <a:xfrm>
                <a:off x="2421" y="983"/>
                <a:ext cx="385" cy="238"/>
              </a:xfrm>
              <a:custGeom>
                <a:avLst/>
                <a:gdLst>
                  <a:gd name="T0" fmla="*/ 0 w 76"/>
                  <a:gd name="T1" fmla="*/ 0 h 47"/>
                  <a:gd name="T2" fmla="*/ 76 w 76"/>
                  <a:gd name="T3" fmla="*/ 47 h 47"/>
                </a:gdLst>
                <a:ahLst/>
                <a:cxnLst>
                  <a:cxn ang="0">
                    <a:pos x="21" y="37"/>
                  </a:cxn>
                  <a:cxn ang="0">
                    <a:pos x="70" y="17"/>
                  </a:cxn>
                  <a:cxn ang="0">
                    <a:pos x="48" y="3"/>
                  </a:cxn>
                  <a:cxn ang="0">
                    <a:pos x="19" y="32"/>
                  </a:cxn>
                  <a:cxn ang="0">
                    <a:pos x="21" y="37"/>
                  </a:cxn>
                </a:cxnLst>
                <a:rect l="T0" t="T1" r="T2" b="T3"/>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67" name="Freeform 243"/>
              <p:cNvSpPr/>
              <p:nvPr/>
            </p:nvSpPr>
            <p:spPr bwMode="auto">
              <a:xfrm>
                <a:off x="2407" y="1181"/>
                <a:ext cx="415" cy="188"/>
              </a:xfrm>
              <a:custGeom>
                <a:avLst/>
                <a:gdLst>
                  <a:gd name="T0" fmla="*/ 0 w 82"/>
                  <a:gd name="T1" fmla="*/ 0 h 37"/>
                  <a:gd name="T2" fmla="*/ 82 w 82"/>
                  <a:gd name="T3" fmla="*/ 37 h 37"/>
                </a:gdLst>
                <a:ahLst/>
                <a:cxnLst>
                  <a:cxn ang="0">
                    <a:pos x="72" y="6"/>
                  </a:cxn>
                  <a:cxn ang="0">
                    <a:pos x="24" y="17"/>
                  </a:cxn>
                  <a:cxn ang="0">
                    <a:pos x="17" y="26"/>
                  </a:cxn>
                  <a:cxn ang="0">
                    <a:pos x="76" y="23"/>
                  </a:cxn>
                  <a:cxn ang="0">
                    <a:pos x="82" y="20"/>
                  </a:cxn>
                  <a:cxn ang="0">
                    <a:pos x="82" y="0"/>
                  </a:cxn>
                  <a:cxn ang="0">
                    <a:pos x="72" y="6"/>
                  </a:cxn>
                </a:cxnLst>
                <a:rect l="T0" t="T1" r="T2" b="T3"/>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68" name="Freeform 244"/>
              <p:cNvSpPr/>
              <p:nvPr/>
            </p:nvSpPr>
            <p:spPr bwMode="auto">
              <a:xfrm>
                <a:off x="2083" y="1361"/>
                <a:ext cx="699" cy="167"/>
              </a:xfrm>
              <a:custGeom>
                <a:avLst/>
                <a:gdLst>
                  <a:gd name="T0" fmla="*/ 0 w 138"/>
                  <a:gd name="T1" fmla="*/ 0 h 33"/>
                  <a:gd name="T2" fmla="*/ 138 w 138"/>
                  <a:gd name="T3" fmla="*/ 33 h 33"/>
                </a:gdLst>
                <a:ahLst/>
                <a:cxnLst>
                  <a:cxn ang="0">
                    <a:pos x="21" y="1"/>
                  </a:cxn>
                  <a:cxn ang="0">
                    <a:pos x="8" y="14"/>
                  </a:cxn>
                  <a:cxn ang="0">
                    <a:pos x="57" y="22"/>
                  </a:cxn>
                  <a:cxn ang="0">
                    <a:pos x="117" y="23"/>
                  </a:cxn>
                  <a:cxn ang="0">
                    <a:pos x="114" y="8"/>
                  </a:cxn>
                  <a:cxn ang="0">
                    <a:pos x="82" y="3"/>
                  </a:cxn>
                  <a:cxn ang="0">
                    <a:pos x="21" y="1"/>
                  </a:cxn>
                </a:cxnLst>
                <a:rect l="T0" t="T1" r="T2" b="T3"/>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69" name="Freeform 245"/>
              <p:cNvSpPr/>
              <p:nvPr/>
            </p:nvSpPr>
            <p:spPr bwMode="auto">
              <a:xfrm>
                <a:off x="2160" y="1522"/>
                <a:ext cx="565" cy="146"/>
              </a:xfrm>
              <a:custGeom>
                <a:avLst/>
                <a:gdLst>
                  <a:gd name="T0" fmla="*/ 0 w 112"/>
                  <a:gd name="T1" fmla="*/ 0 h 29"/>
                  <a:gd name="T2" fmla="*/ 112 w 112"/>
                  <a:gd name="T3" fmla="*/ 29 h 29"/>
                </a:gdLst>
                <a:ahLst/>
                <a:cxnLst>
                  <a:cxn ang="0">
                    <a:pos x="98" y="19"/>
                  </a:cxn>
                  <a:cxn ang="0">
                    <a:pos x="103" y="4"/>
                  </a:cxn>
                  <a:cxn ang="0">
                    <a:pos x="74" y="10"/>
                  </a:cxn>
                  <a:cxn ang="0">
                    <a:pos x="36" y="6"/>
                  </a:cxn>
                  <a:cxn ang="0">
                    <a:pos x="2" y="4"/>
                  </a:cxn>
                  <a:cxn ang="0">
                    <a:pos x="98" y="19"/>
                  </a:cxn>
                </a:cxnLst>
                <a:rect l="T0" t="T1" r="T2" b="T3"/>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70" name="Freeform 246"/>
              <p:cNvSpPr/>
              <p:nvPr/>
            </p:nvSpPr>
            <p:spPr bwMode="auto">
              <a:xfrm>
                <a:off x="2123" y="1638"/>
                <a:ext cx="581" cy="478"/>
              </a:xfrm>
              <a:custGeom>
                <a:avLst/>
                <a:gdLst>
                  <a:gd name="T0" fmla="*/ 0 w 115"/>
                  <a:gd name="T1" fmla="*/ 0 h 95"/>
                  <a:gd name="T2" fmla="*/ 115 w 115"/>
                  <a:gd name="T3" fmla="*/ 95 h 95"/>
                </a:gdLst>
                <a:ahLst/>
                <a:cxnLst>
                  <a:cxn ang="0">
                    <a:pos x="3" y="53"/>
                  </a:cxn>
                  <a:cxn ang="0">
                    <a:pos x="26" y="54"/>
                  </a:cxn>
                  <a:cxn ang="0">
                    <a:pos x="50" y="77"/>
                  </a:cxn>
                  <a:cxn ang="0">
                    <a:pos x="59" y="84"/>
                  </a:cxn>
                  <a:cxn ang="0">
                    <a:pos x="81" y="52"/>
                  </a:cxn>
                  <a:cxn ang="0">
                    <a:pos x="111" y="52"/>
                  </a:cxn>
                  <a:cxn ang="0">
                    <a:pos x="79" y="27"/>
                  </a:cxn>
                  <a:cxn ang="0">
                    <a:pos x="37" y="16"/>
                  </a:cxn>
                  <a:cxn ang="0">
                    <a:pos x="12" y="41"/>
                  </a:cxn>
                  <a:cxn ang="0">
                    <a:pos x="3" y="53"/>
                  </a:cxn>
                </a:cxnLst>
                <a:rect l="T0" t="T1" r="T2" b="T3"/>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71" name="Freeform 247"/>
              <p:cNvSpPr/>
              <p:nvPr/>
            </p:nvSpPr>
            <p:spPr bwMode="auto">
              <a:xfrm>
                <a:off x="2502" y="1444"/>
                <a:ext cx="330" cy="854"/>
              </a:xfrm>
              <a:custGeom>
                <a:avLst/>
                <a:gdLst>
                  <a:gd name="T0" fmla="*/ 0 w 65"/>
                  <a:gd name="T1" fmla="*/ 0 h 169"/>
                  <a:gd name="T2" fmla="*/ 65 w 65"/>
                  <a:gd name="T3" fmla="*/ 169 h 169"/>
                </a:gdLst>
                <a:ahLst/>
                <a:cxnLst>
                  <a:cxn ang="0">
                    <a:pos x="51" y="40"/>
                  </a:cxn>
                  <a:cxn ang="0">
                    <a:pos x="22" y="49"/>
                  </a:cxn>
                  <a:cxn ang="0">
                    <a:pos x="22" y="59"/>
                  </a:cxn>
                  <a:cxn ang="0">
                    <a:pos x="50" y="90"/>
                  </a:cxn>
                  <a:cxn ang="0">
                    <a:pos x="34" y="118"/>
                  </a:cxn>
                  <a:cxn ang="0">
                    <a:pos x="0" y="148"/>
                  </a:cxn>
                  <a:cxn ang="0">
                    <a:pos x="17" y="155"/>
                  </a:cxn>
                  <a:cxn ang="0">
                    <a:pos x="47" y="166"/>
                  </a:cxn>
                  <a:cxn ang="0">
                    <a:pos x="63" y="162"/>
                  </a:cxn>
                  <a:cxn ang="0">
                    <a:pos x="65" y="0"/>
                  </a:cxn>
                  <a:cxn ang="0">
                    <a:pos x="51" y="40"/>
                  </a:cxn>
                </a:cxnLst>
                <a:rect l="T0" t="T1" r="T2" b="T3"/>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grpSp>
      <p:sp>
        <p:nvSpPr>
          <p:cNvPr id="1272" name="Rectangle 248"/>
          <p:cNvSpPr>
            <a:spLocks noGrp="1" noRot="1"/>
          </p:cNvSpPr>
          <p:nvPr>
            <p:ph type="title"/>
          </p:nvPr>
        </p:nvSpPr>
        <p:spPr>
          <a:xfrm>
            <a:off x="397933" y="228600"/>
            <a:ext cx="11387667" cy="1143000"/>
          </a:xfrm>
          <a:prstGeom prst="rect">
            <a:avLst/>
          </a:prstGeom>
          <a:noFill/>
          <a:ln w="9525">
            <a:noFill/>
          </a:ln>
        </p:spPr>
        <p:txBody>
          <a:bodyPr anchor="ctr"/>
          <a:lstStyle/>
          <a:p>
            <a:pPr lvl="0"/>
            <a:r>
              <a:rPr lang="zh-CN" altLang="en-US" dirty="0"/>
              <a:t>单击此处编辑母版标题样式</a:t>
            </a:r>
          </a:p>
        </p:txBody>
      </p:sp>
      <p:sp>
        <p:nvSpPr>
          <p:cNvPr id="1273" name="Rectangle 249"/>
          <p:cNvSpPr>
            <a:spLocks noGrp="1" noRot="1"/>
          </p:cNvSpPr>
          <p:nvPr>
            <p:ph type="body"/>
          </p:nvPr>
        </p:nvSpPr>
        <p:spPr>
          <a:xfrm>
            <a:off x="812800" y="1600200"/>
            <a:ext cx="10871200" cy="4498975"/>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1274" name="Rectangle 250"/>
          <p:cNvSpPr>
            <a:spLocks noGrp="1" noChangeArrowheads="1"/>
          </p:cNvSpPr>
          <p:nvPr>
            <p:ph type="dt" sz="half" idx="2"/>
          </p:nvPr>
        </p:nvSpPr>
        <p:spPr bwMode="auto">
          <a:xfrm>
            <a:off x="397934" y="6245225"/>
            <a:ext cx="3052233" cy="476250"/>
          </a:xfrm>
          <a:prstGeom prst="rect">
            <a:avLst/>
          </a:prstGeom>
          <a:noFill/>
          <a:ln w="9525">
            <a:noFill/>
            <a:miter lim="800000"/>
          </a:ln>
        </p:spPr>
        <p:txBody>
          <a:bodyPr vert="horz" wrap="square" lIns="91440" tIns="45720" rIns="91440" bIns="45720" numCol="1" anchor="t" anchorCtr="0" compatLnSpc="1"/>
          <a:lstStyle>
            <a:lvl1pPr>
              <a:defRPr sz="1400"/>
            </a:lvl1pPr>
          </a:lstStyle>
          <a:p>
            <a:pPr fontAlgn="base">
              <a:spcBef>
                <a:spcPct val="0"/>
              </a:spcBef>
              <a:spcAft>
                <a:spcPct val="0"/>
              </a:spcAft>
              <a:defRPr/>
            </a:pPr>
            <a:endParaRPr lang="en-US">
              <a:latin typeface="Arial" panose="020B0604020202020204" pitchFamily="34" charset="0"/>
            </a:endParaRPr>
          </a:p>
        </p:txBody>
      </p:sp>
      <p:sp>
        <p:nvSpPr>
          <p:cNvPr id="1275" name="Rectangle 251"/>
          <p:cNvSpPr>
            <a:spLocks noGrp="1" noChangeArrowheads="1"/>
          </p:cNvSpPr>
          <p:nvPr>
            <p:ph type="ftr" sz="quarter" idx="3"/>
          </p:nvPr>
        </p:nvSpPr>
        <p:spPr bwMode="auto">
          <a:xfrm>
            <a:off x="4161367" y="6245225"/>
            <a:ext cx="3860800" cy="476250"/>
          </a:xfrm>
          <a:prstGeom prst="rect">
            <a:avLst/>
          </a:prstGeom>
          <a:noFill/>
          <a:ln w="9525">
            <a:noFill/>
            <a:miter lim="800000"/>
          </a:ln>
        </p:spPr>
        <p:txBody>
          <a:bodyPr vert="horz" wrap="square" lIns="91440" tIns="45720" rIns="91440" bIns="45720" numCol="1" anchor="t" anchorCtr="0" compatLnSpc="1"/>
          <a:lstStyle>
            <a:lvl1pPr algn="ctr">
              <a:defRPr sz="1400"/>
            </a:lvl1pPr>
          </a:lstStyle>
          <a:p>
            <a:pPr fontAlgn="base">
              <a:spcBef>
                <a:spcPct val="0"/>
              </a:spcBef>
              <a:spcAft>
                <a:spcPct val="0"/>
              </a:spcAft>
              <a:defRPr/>
            </a:pPr>
            <a:endParaRPr lang="en-US">
              <a:latin typeface="Arial" panose="020B0604020202020204" pitchFamily="34" charset="0"/>
            </a:endParaRPr>
          </a:p>
        </p:txBody>
      </p:sp>
      <p:sp>
        <p:nvSpPr>
          <p:cNvPr id="1276" name="Rectangle 252"/>
          <p:cNvSpPr>
            <a:spLocks noGrp="1" noChangeArrowheads="1"/>
          </p:cNvSpPr>
          <p:nvPr>
            <p:ph type="sldNum" sz="quarter" idx="4"/>
          </p:nvPr>
        </p:nvSpPr>
        <p:spPr bwMode="auto">
          <a:xfrm>
            <a:off x="8733368" y="6245225"/>
            <a:ext cx="3052233" cy="476250"/>
          </a:xfrm>
          <a:prstGeom prst="rect">
            <a:avLst/>
          </a:prstGeom>
          <a:noFill/>
          <a:ln w="9525">
            <a:noFill/>
            <a:miter lim="800000"/>
          </a:ln>
        </p:spPr>
        <p:txBody>
          <a:bodyPr vert="horz" wrap="square" lIns="91440" tIns="45720" rIns="91440" bIns="45720" numCol="1" anchor="t" anchorCtr="0" compatLnSpc="1"/>
          <a:lstStyle/>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t>‹#›</a:t>
            </a:fld>
            <a:endParaRPr lang="en-US" altLang="zh-CN" sz="1400" strike="noStrike" noProof="1"/>
          </a:p>
        </p:txBody>
      </p:sp>
    </p:spTree>
    <p:extLst>
      <p:ext uri="{BB962C8B-B14F-4D97-AF65-F5344CB8AC3E}">
        <p14:creationId xmlns:p14="http://schemas.microsoft.com/office/powerpoint/2010/main" val="31136816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7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7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7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7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7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3" grpId="0" build="p">
        <p:tmplLst>
          <p:tmpl lvl="1">
            <p:tnLst>
              <p:par>
                <p:cTn presetID="1" presetClass="entr" presetSubtype="0" fill="hold" nodeType="clickEffect">
                  <p:stCondLst>
                    <p:cond delay="0"/>
                  </p:stCondLst>
                  <p:childTnLst>
                    <p:set>
                      <p:cBhvr>
                        <p:cTn dur="1" fill="hold">
                          <p:stCondLst>
                            <p:cond delay="0"/>
                          </p:stCondLst>
                        </p:cTn>
                        <p:tgtEl>
                          <p:spTgt spid="127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127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127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127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1273"/>
                        </p:tgtEl>
                        <p:attrNameLst>
                          <p:attrName>style.visibility</p:attrName>
                        </p:attrNameLst>
                      </p:cBhvr>
                      <p:to>
                        <p:strVal val="visible"/>
                      </p:to>
                    </p:set>
                  </p:childTnLst>
                </p:cTn>
              </p:par>
            </p:tnLst>
          </p:tmpl>
        </p:tmplLst>
      </p:bldP>
    </p:bldLst>
  </p:timing>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黑体" panose="02010609060101010101" pitchFamily="49" charset="-122"/>
        </a:defRPr>
      </a:lvl5pPr>
      <a:lvl6pPr marL="457200" algn="ctr" rtl="0" eaLnBrk="0" fontAlgn="base" hangingPunct="0">
        <a:spcBef>
          <a:spcPct val="0"/>
        </a:spcBef>
        <a:spcAft>
          <a:spcPct val="0"/>
        </a:spcAft>
        <a:defRPr sz="4400">
          <a:solidFill>
            <a:schemeClr val="tx2"/>
          </a:solidFill>
          <a:latin typeface="Arial" panose="020B0604020202020204" pitchFamily="34" charset="0"/>
          <a:ea typeface="黑体" panose="02010609060101010101" pitchFamily="49" charset="-122"/>
        </a:defRPr>
      </a:lvl6pPr>
      <a:lvl7pPr marL="914400" algn="ctr" rtl="0" eaLnBrk="0" fontAlgn="base" hangingPunct="0">
        <a:spcBef>
          <a:spcPct val="0"/>
        </a:spcBef>
        <a:spcAft>
          <a:spcPct val="0"/>
        </a:spcAft>
        <a:defRPr sz="4400">
          <a:solidFill>
            <a:schemeClr val="tx2"/>
          </a:solidFill>
          <a:latin typeface="Arial" panose="020B0604020202020204" pitchFamily="34" charset="0"/>
          <a:ea typeface="黑体" panose="02010609060101010101" pitchFamily="49" charset="-122"/>
        </a:defRPr>
      </a:lvl7pPr>
      <a:lvl8pPr marL="1371600" algn="ctr" rtl="0" eaLnBrk="0" fontAlgn="base" hangingPunct="0">
        <a:spcBef>
          <a:spcPct val="0"/>
        </a:spcBef>
        <a:spcAft>
          <a:spcPct val="0"/>
        </a:spcAft>
        <a:defRPr sz="4400">
          <a:solidFill>
            <a:schemeClr val="tx2"/>
          </a:solidFill>
          <a:latin typeface="Arial" panose="020B0604020202020204" pitchFamily="34" charset="0"/>
          <a:ea typeface="黑体" panose="02010609060101010101" pitchFamily="49" charset="-122"/>
        </a:defRPr>
      </a:lvl8pPr>
      <a:lvl9pPr marL="1828800" algn="ctr" rtl="0" eaLnBrk="0" fontAlgn="base" hangingPunct="0">
        <a:spcBef>
          <a:spcPct val="0"/>
        </a:spcBef>
        <a:spcAft>
          <a:spcPct val="0"/>
        </a:spcAft>
        <a:defRPr sz="4400">
          <a:solidFill>
            <a:schemeClr val="tx2"/>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85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vl6pPr marL="25146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6pPr>
      <a:lvl7pPr marL="29718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7pPr>
      <a:lvl8pPr marL="34290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8pPr>
      <a:lvl9pPr marL="38862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灯片编号占位符 3"/>
          <p:cNvSpPr>
            <a:spLocks noGrp="1"/>
          </p:cNvSpPr>
          <p:nvPr>
            <p:ph type="sldNum" sz="quarter" idx="12"/>
          </p:nvPr>
        </p:nvSpPr>
        <p:spPr/>
        <p:txBody>
          <a:bodyPr vert="horz" wrap="square" lIns="91440" tIns="45720" rIns="91440" bIns="45720" numCol="1" anchor="ctr" anchorCtr="0" compatLnSpc="1"/>
          <a:lstStyle/>
          <a:p>
            <a:pPr algn="ctr" fontAlgn="base">
              <a:spcBef>
                <a:spcPct val="0"/>
              </a:spcBef>
              <a:spcAft>
                <a:spcPct val="0"/>
              </a:spcAft>
            </a:pPr>
            <a:fld id="{9A0DB2DC-4C9A-4742-B13C-FB6460FD3503}" type="slidenum">
              <a:rPr lang="en-US" altLang="zh-CN" sz="1000" b="1" dirty="0">
                <a:solidFill>
                  <a:srgbClr val="E40000"/>
                </a:solidFill>
                <a:latin typeface="Times New Roman" panose="02020603050405020304" charset="0"/>
                <a:ea typeface="隶书" panose="02010509060101010101" pitchFamily="49" charset="-122"/>
              </a:rPr>
              <a:pPr algn="ctr" fontAlgn="base">
                <a:spcBef>
                  <a:spcPct val="0"/>
                </a:spcBef>
                <a:spcAft>
                  <a:spcPct val="0"/>
                </a:spcAft>
              </a:pPr>
              <a:t>1</a:t>
            </a:fld>
            <a:endParaRPr lang="en-US" altLang="zh-CN" sz="1000" b="1" dirty="0">
              <a:solidFill>
                <a:srgbClr val="E40000"/>
              </a:solidFill>
              <a:latin typeface="Times New Roman" panose="02020603050405020304" charset="0"/>
              <a:ea typeface="隶书" panose="02010509060101010101" pitchFamily="49" charset="-122"/>
            </a:endParaRPr>
          </a:p>
        </p:txBody>
      </p:sp>
      <p:sp>
        <p:nvSpPr>
          <p:cNvPr id="290819" name="标题 1"/>
          <p:cNvSpPr>
            <a:spLocks noGrp="1" noRot="1"/>
          </p:cNvSpPr>
          <p:nvPr>
            <p:ph type="title"/>
          </p:nvPr>
        </p:nvSpPr>
        <p:spPr>
          <a:xfrm>
            <a:off x="2209800" y="328613"/>
            <a:ext cx="7772400" cy="1143000"/>
          </a:xfrm>
        </p:spPr>
        <p:txBody>
          <a:bodyPr wrap="square" lIns="91440" tIns="45720" rIns="91440" bIns="45720" anchor="ctr"/>
          <a:lstStyle/>
          <a:p>
            <a:r>
              <a:rPr lang="zh-CN" altLang="en-US" b="1" dirty="0"/>
              <a:t>第</a:t>
            </a:r>
            <a:r>
              <a:rPr lang="en-US" altLang="zh-CN" b="1" dirty="0"/>
              <a:t>7</a:t>
            </a:r>
            <a:r>
              <a:rPr lang="zh-CN" altLang="en-US" b="1" dirty="0"/>
              <a:t>章 </a:t>
            </a:r>
            <a:r>
              <a:rPr lang="en-US" altLang="zh-CN" b="1" dirty="0"/>
              <a:t>AI</a:t>
            </a:r>
            <a:r>
              <a:rPr lang="zh-CN" altLang="en-US" b="1" dirty="0"/>
              <a:t>数据库</a:t>
            </a:r>
          </a:p>
        </p:txBody>
      </p:sp>
      <p:sp>
        <p:nvSpPr>
          <p:cNvPr id="5123" name="Rectangle 3"/>
          <p:cNvSpPr>
            <a:spLocks noGrp="1"/>
          </p:cNvSpPr>
          <p:nvPr>
            <p:ph type="body" idx="4294967295"/>
          </p:nvPr>
        </p:nvSpPr>
        <p:spPr>
          <a:xfrm>
            <a:off x="2209800" y="1774249"/>
            <a:ext cx="7848600" cy="4876800"/>
          </a:xfrm>
        </p:spPr>
        <p:txBody>
          <a:bodyPr vert="horz" wrap="square" lIns="91440" tIns="45720" rIns="91440" bIns="45720" anchor="t" anchorCtr="0"/>
          <a:lstStyle/>
          <a:p>
            <a:pPr algn="l">
              <a:buSzTx/>
            </a:pPr>
            <a:r>
              <a:rPr lang="en-US" altLang="zh-CN" sz="4000" b="1" dirty="0">
                <a:sym typeface="+mn-ea"/>
              </a:rPr>
              <a:t>7-1  </a:t>
            </a:r>
            <a:r>
              <a:rPr lang="zh-CN" altLang="en-US" sz="4000" b="1" u="sng" dirty="0">
                <a:latin typeface="宋体" panose="02010600030101010101" pitchFamily="2" charset="-122"/>
                <a:sym typeface="+mn-ea"/>
              </a:rPr>
              <a:t>概述</a:t>
            </a:r>
          </a:p>
          <a:p>
            <a:r>
              <a:rPr lang="en-US" altLang="zh-CN" sz="4000" b="1" dirty="0">
                <a:sym typeface="+mn-ea"/>
              </a:rPr>
              <a:t>7-2</a:t>
            </a:r>
            <a:r>
              <a:rPr lang="zh-CN" altLang="en-US" sz="4000" b="1" dirty="0">
                <a:latin typeface="宋体" panose="02010600030101010101" pitchFamily="2" charset="-122"/>
                <a:sym typeface="+mn-ea"/>
              </a:rPr>
              <a:t> </a:t>
            </a:r>
            <a:r>
              <a:rPr lang="en-US" altLang="zh-CN" sz="4000" b="1" dirty="0" err="1"/>
              <a:t>AI数据库关键技术体系</a:t>
            </a:r>
            <a:endParaRPr lang="en-US" altLang="zh-CN" sz="4000" b="1" dirty="0">
              <a:latin typeface="Times New Roman" panose="02020603050405020304" charset="0"/>
            </a:endParaRPr>
          </a:p>
          <a:p>
            <a:r>
              <a:rPr lang="en-US" altLang="zh-CN" sz="4000" b="1" dirty="0">
                <a:latin typeface="Times New Roman" panose="02020603050405020304" charset="0"/>
                <a:sym typeface="+mn-ea"/>
              </a:rPr>
              <a:t>7-3  AI</a:t>
            </a:r>
            <a:r>
              <a:rPr lang="zh-CN" altLang="en-US" sz="4000" b="1" dirty="0">
                <a:latin typeface="Times New Roman" panose="02020603050405020304" charset="0"/>
                <a:sym typeface="+mn-ea"/>
              </a:rPr>
              <a:t>大模型与向量数据库</a:t>
            </a:r>
            <a:endParaRPr lang="zh-CN" altLang="en-US" sz="4000" b="1" dirty="0">
              <a:latin typeface="宋体" panose="02010600030101010101" pitchFamily="2" charset="-122"/>
              <a:sym typeface="+mn-ea"/>
            </a:endParaRPr>
          </a:p>
        </p:txBody>
      </p:sp>
    </p:spTree>
    <p:extLst>
      <p:ext uri="{BB962C8B-B14F-4D97-AF65-F5344CB8AC3E}">
        <p14:creationId xmlns:p14="http://schemas.microsoft.com/office/powerpoint/2010/main" val="837425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灯片编号占位符 3"/>
          <p:cNvSpPr>
            <a:spLocks noGrp="1"/>
          </p:cNvSpPr>
          <p:nvPr>
            <p:ph type="sldNum" sz="quarter" idx="12"/>
          </p:nvPr>
        </p:nvSpPr>
        <p:spPr/>
        <p:txBody>
          <a:bodyPr vert="horz" wrap="square" lIns="91440" tIns="45720" rIns="91440" bIns="45720" numCol="1" anchor="ctr" anchorCtr="0" compatLnSpc="1"/>
          <a:lstStyle/>
          <a:p>
            <a:pPr algn="ctr" fontAlgn="base">
              <a:spcBef>
                <a:spcPct val="0"/>
              </a:spcBef>
              <a:spcAft>
                <a:spcPct val="0"/>
              </a:spcAft>
            </a:pPr>
            <a:fld id="{9A0DB2DC-4C9A-4742-B13C-FB6460FD3503}" type="slidenum">
              <a:rPr lang="en-US" altLang="zh-CN" sz="1000" b="1" dirty="0">
                <a:solidFill>
                  <a:srgbClr val="E40000"/>
                </a:solidFill>
                <a:latin typeface="Times New Roman" panose="02020603050405020304" charset="0"/>
                <a:ea typeface="隶书" panose="02010509060101010101" pitchFamily="49" charset="-122"/>
              </a:rPr>
              <a:pPr algn="ctr" fontAlgn="base">
                <a:spcBef>
                  <a:spcPct val="0"/>
                </a:spcBef>
                <a:spcAft>
                  <a:spcPct val="0"/>
                </a:spcAft>
              </a:pPr>
              <a:t>2</a:t>
            </a:fld>
            <a:endParaRPr lang="en-US" altLang="zh-CN" sz="1000" b="1" dirty="0">
              <a:solidFill>
                <a:srgbClr val="E40000"/>
              </a:solidFill>
              <a:latin typeface="Times New Roman" panose="02020603050405020304" charset="0"/>
              <a:ea typeface="隶书" panose="02010509060101010101" pitchFamily="49" charset="-122"/>
            </a:endParaRPr>
          </a:p>
        </p:txBody>
      </p:sp>
      <p:sp>
        <p:nvSpPr>
          <p:cNvPr id="290819" name="标题 1"/>
          <p:cNvSpPr>
            <a:spLocks noGrp="1" noRot="1"/>
          </p:cNvSpPr>
          <p:nvPr>
            <p:ph type="title"/>
          </p:nvPr>
        </p:nvSpPr>
        <p:spPr>
          <a:xfrm>
            <a:off x="2209800" y="328613"/>
            <a:ext cx="7772400" cy="1143000"/>
          </a:xfrm>
        </p:spPr>
        <p:txBody>
          <a:bodyPr wrap="square" lIns="91440" tIns="45720" rIns="91440" bIns="45720" anchor="ctr"/>
          <a:lstStyle/>
          <a:p>
            <a:r>
              <a:rPr lang="zh-CN" altLang="en-US" sz="4000" b="1" dirty="0"/>
              <a:t>引言</a:t>
            </a:r>
          </a:p>
        </p:txBody>
      </p:sp>
      <p:sp>
        <p:nvSpPr>
          <p:cNvPr id="5123" name="Rectangle 3"/>
          <p:cNvSpPr>
            <a:spLocks noGrp="1"/>
          </p:cNvSpPr>
          <p:nvPr>
            <p:ph type="body" idx="4294967295"/>
          </p:nvPr>
        </p:nvSpPr>
        <p:spPr>
          <a:xfrm>
            <a:off x="1004777" y="1488758"/>
            <a:ext cx="10223204" cy="4876800"/>
          </a:xfrm>
        </p:spPr>
        <p:txBody>
          <a:bodyPr vert="horz" wrap="square" lIns="91440" tIns="45720" rIns="91440" bIns="45720" anchor="t" anchorCtr="0"/>
          <a:lstStyle/>
          <a:p>
            <a:r>
              <a:rPr lang="zh-CN" altLang="en-US" b="1" dirty="0">
                <a:sym typeface="+mn-ea"/>
              </a:rPr>
              <a:t>随着人工智能</a:t>
            </a:r>
            <a:r>
              <a:rPr lang="en-US" altLang="zh-CN" b="1" dirty="0">
                <a:sym typeface="+mn-ea"/>
              </a:rPr>
              <a:t>AI</a:t>
            </a:r>
            <a:r>
              <a:rPr lang="zh-CN" altLang="en-US" b="1" dirty="0">
                <a:sym typeface="+mn-ea"/>
              </a:rPr>
              <a:t>应用从实验室走向规模化落地，传统数据库在处理非结构化高维数据、复杂实时特征计算、</a:t>
            </a:r>
            <a:r>
              <a:rPr lang="en-US" altLang="zh-CN" b="1" dirty="0">
                <a:sym typeface="+mn-ea"/>
              </a:rPr>
              <a:t>AI</a:t>
            </a:r>
            <a:r>
              <a:rPr lang="zh-CN" altLang="en-US" b="1" dirty="0">
                <a:sym typeface="+mn-ea"/>
              </a:rPr>
              <a:t>大模型协同和语义理解等方面逐渐显现出瓶颈。</a:t>
            </a:r>
            <a:endParaRPr lang="en-US" altLang="zh-CN" b="1" dirty="0">
              <a:sym typeface="+mn-ea"/>
            </a:endParaRPr>
          </a:p>
          <a:p>
            <a:endParaRPr lang="en-US" altLang="zh-CN" b="1" dirty="0">
              <a:sym typeface="+mn-ea"/>
            </a:endParaRPr>
          </a:p>
          <a:p>
            <a:r>
              <a:rPr lang="zh-CN" altLang="en-US" b="1" dirty="0">
                <a:sym typeface="+mn-ea"/>
              </a:rPr>
              <a:t>为此，</a:t>
            </a:r>
            <a:r>
              <a:rPr lang="en-US" altLang="zh-CN" b="1" dirty="0">
                <a:sym typeface="+mn-ea"/>
              </a:rPr>
              <a:t>AI</a:t>
            </a:r>
            <a:r>
              <a:rPr lang="zh-CN" altLang="en-US" b="1" dirty="0">
                <a:sym typeface="+mn-ea"/>
              </a:rPr>
              <a:t>数据库应运而生</a:t>
            </a:r>
            <a:r>
              <a:rPr lang="en-US" altLang="zh-CN" b="1" dirty="0">
                <a:sym typeface="+mn-ea"/>
              </a:rPr>
              <a:t>——</a:t>
            </a:r>
            <a:r>
              <a:rPr lang="zh-CN" altLang="en-US" b="1" dirty="0">
                <a:sym typeface="+mn-ea"/>
              </a:rPr>
              <a:t>它是一类专为人工智能应用设计的新型数据库系统，旨在高效支持机器学习（</a:t>
            </a:r>
            <a:r>
              <a:rPr lang="en-US" altLang="zh-CN" b="1" dirty="0">
                <a:sym typeface="+mn-ea"/>
              </a:rPr>
              <a:t>ML</a:t>
            </a:r>
            <a:r>
              <a:rPr lang="zh-CN" altLang="en-US" b="1" dirty="0">
                <a:sym typeface="+mn-ea"/>
              </a:rPr>
              <a:t>）、深度学习（</a:t>
            </a:r>
            <a:r>
              <a:rPr lang="en-US" altLang="zh-CN" b="1" dirty="0">
                <a:sym typeface="+mn-ea"/>
              </a:rPr>
              <a:t>DL</a:t>
            </a:r>
            <a:r>
              <a:rPr lang="zh-CN" altLang="en-US" b="1" dirty="0">
                <a:sym typeface="+mn-ea"/>
              </a:rPr>
              <a:t>）及</a:t>
            </a:r>
            <a:r>
              <a:rPr lang="en-US" altLang="zh-CN" b="1" dirty="0">
                <a:sym typeface="+mn-ea"/>
              </a:rPr>
              <a:t>AI</a:t>
            </a:r>
            <a:r>
              <a:rPr lang="zh-CN" altLang="en-US" b="1" dirty="0">
                <a:sym typeface="+mn-ea"/>
              </a:rPr>
              <a:t>大模型时代的全流程数据管理与计算需求。</a:t>
            </a:r>
            <a:endParaRPr lang="zh-CN" altLang="en-US" b="1" dirty="0">
              <a:latin typeface="宋体" panose="02010600030101010101" pitchFamily="2" charset="-122"/>
              <a:sym typeface="+mn-ea"/>
            </a:endParaRPr>
          </a:p>
        </p:txBody>
      </p:sp>
    </p:spTree>
    <p:extLst>
      <p:ext uri="{BB962C8B-B14F-4D97-AF65-F5344CB8AC3E}">
        <p14:creationId xmlns:p14="http://schemas.microsoft.com/office/powerpoint/2010/main" val="4079238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灯片编号占位符 3"/>
          <p:cNvSpPr>
            <a:spLocks noGrp="1"/>
          </p:cNvSpPr>
          <p:nvPr>
            <p:ph type="sldNum" sz="quarter" idx="12"/>
          </p:nvPr>
        </p:nvSpPr>
        <p:spPr/>
        <p:txBody>
          <a:bodyPr vert="horz" wrap="square" lIns="91440" tIns="45720" rIns="91440" bIns="45720" numCol="1" anchor="ctr" anchorCtr="0" compatLnSpc="1"/>
          <a:lstStyle/>
          <a:p>
            <a:pPr algn="ctr" fontAlgn="base">
              <a:spcBef>
                <a:spcPct val="0"/>
              </a:spcBef>
              <a:spcAft>
                <a:spcPct val="0"/>
              </a:spcAft>
            </a:pPr>
            <a:fld id="{9A0DB2DC-4C9A-4742-B13C-FB6460FD3503}" type="slidenum">
              <a:rPr lang="en-US" altLang="zh-CN" sz="1000" b="1" dirty="0">
                <a:solidFill>
                  <a:srgbClr val="E40000"/>
                </a:solidFill>
                <a:latin typeface="Times New Roman" panose="02020603050405020304" charset="0"/>
                <a:ea typeface="隶书" panose="02010509060101010101" pitchFamily="49" charset="-122"/>
              </a:rPr>
              <a:pPr algn="ctr" fontAlgn="base">
                <a:spcBef>
                  <a:spcPct val="0"/>
                </a:spcBef>
                <a:spcAft>
                  <a:spcPct val="0"/>
                </a:spcAft>
              </a:pPr>
              <a:t>3</a:t>
            </a:fld>
            <a:endParaRPr lang="en-US" altLang="zh-CN" sz="1000" b="1" dirty="0">
              <a:solidFill>
                <a:srgbClr val="E40000"/>
              </a:solidFill>
              <a:latin typeface="Times New Roman" panose="02020603050405020304" charset="0"/>
              <a:ea typeface="隶书" panose="02010509060101010101" pitchFamily="49" charset="-122"/>
            </a:endParaRPr>
          </a:p>
        </p:txBody>
      </p:sp>
      <p:sp>
        <p:nvSpPr>
          <p:cNvPr id="290819" name="标题 1"/>
          <p:cNvSpPr>
            <a:spLocks noGrp="1" noRot="1"/>
          </p:cNvSpPr>
          <p:nvPr>
            <p:ph type="title"/>
          </p:nvPr>
        </p:nvSpPr>
        <p:spPr>
          <a:xfrm>
            <a:off x="2209800" y="328613"/>
            <a:ext cx="7772400" cy="1143000"/>
          </a:xfrm>
        </p:spPr>
        <p:txBody>
          <a:bodyPr wrap="square" lIns="91440" tIns="45720" rIns="91440" bIns="45720" anchor="ctr"/>
          <a:lstStyle/>
          <a:p>
            <a:r>
              <a:rPr lang="zh-CN" altLang="en-US" sz="3200" b="1" dirty="0"/>
              <a:t>什么是</a:t>
            </a:r>
            <a:r>
              <a:rPr lang="en-US" altLang="zh-CN" sz="3200" b="1" dirty="0"/>
              <a:t>AI</a:t>
            </a:r>
            <a:r>
              <a:rPr lang="zh-CN" altLang="en-US" sz="3200" b="1" dirty="0"/>
              <a:t>数据库？</a:t>
            </a:r>
          </a:p>
        </p:txBody>
      </p:sp>
      <p:sp>
        <p:nvSpPr>
          <p:cNvPr id="5123" name="Rectangle 3"/>
          <p:cNvSpPr>
            <a:spLocks noGrp="1"/>
          </p:cNvSpPr>
          <p:nvPr>
            <p:ph type="body" idx="4294967295"/>
          </p:nvPr>
        </p:nvSpPr>
        <p:spPr>
          <a:xfrm>
            <a:off x="1127894" y="1488758"/>
            <a:ext cx="9981865" cy="4876800"/>
          </a:xfrm>
        </p:spPr>
        <p:txBody>
          <a:bodyPr vert="horz" wrap="square" lIns="91440" tIns="45720" rIns="91440" bIns="45720" anchor="t" anchorCtr="0"/>
          <a:lstStyle/>
          <a:p>
            <a:r>
              <a:rPr lang="en-US" altLang="zh-CN" sz="2800" b="1" dirty="0">
                <a:latin typeface="宋体" panose="02010600030101010101" pitchFamily="2" charset="-122"/>
                <a:sym typeface="+mn-ea"/>
              </a:rPr>
              <a:t>AI</a:t>
            </a:r>
            <a:r>
              <a:rPr lang="zh-CN" altLang="en-US" sz="2800" b="1" dirty="0">
                <a:latin typeface="宋体" panose="02010600030101010101" pitchFamily="2" charset="-122"/>
                <a:sym typeface="+mn-ea"/>
              </a:rPr>
              <a:t>数据库是为支撑人工智能应用而专门设计的数据库系统，不仅具备传统数据库的数据存储与查询能力，而且深度融合了</a:t>
            </a:r>
            <a:r>
              <a:rPr lang="en-US" altLang="zh-CN" sz="2800" b="1" dirty="0">
                <a:latin typeface="宋体" panose="02010600030101010101" pitchFamily="2" charset="-122"/>
                <a:sym typeface="+mn-ea"/>
              </a:rPr>
              <a:t>AI</a:t>
            </a:r>
            <a:r>
              <a:rPr lang="zh-CN" altLang="en-US" sz="2800" b="1" dirty="0">
                <a:latin typeface="宋体" panose="02010600030101010101" pitchFamily="2" charset="-122"/>
                <a:sym typeface="+mn-ea"/>
              </a:rPr>
              <a:t>工作流中的特征工程、</a:t>
            </a:r>
            <a:r>
              <a:rPr lang="en-US" altLang="zh-CN" sz="2800" b="1" dirty="0">
                <a:latin typeface="宋体" panose="02010600030101010101" pitchFamily="2" charset="-122"/>
                <a:sym typeface="+mn-ea"/>
              </a:rPr>
              <a:t>AI</a:t>
            </a:r>
            <a:r>
              <a:rPr lang="zh-CN" altLang="en-US" sz="2800" b="1" dirty="0">
                <a:latin typeface="宋体" panose="02010600030101010101" pitchFamily="2" charset="-122"/>
                <a:sym typeface="+mn-ea"/>
              </a:rPr>
              <a:t>模型管理、向量检索、实时推理与数据治理等能力。</a:t>
            </a:r>
            <a:endParaRPr lang="en-US" altLang="zh-CN" sz="2800" b="1" dirty="0">
              <a:latin typeface="宋体" panose="02010600030101010101" pitchFamily="2" charset="-122"/>
              <a:sym typeface="+mn-ea"/>
            </a:endParaRPr>
          </a:p>
          <a:p>
            <a:endParaRPr lang="en-US" altLang="zh-CN" sz="2800" b="1" dirty="0">
              <a:latin typeface="宋体" panose="02010600030101010101" pitchFamily="2" charset="-122"/>
              <a:sym typeface="+mn-ea"/>
            </a:endParaRPr>
          </a:p>
          <a:p>
            <a:r>
              <a:rPr lang="en-US" altLang="zh-CN" sz="2800" b="1" dirty="0">
                <a:latin typeface="宋体" panose="02010600030101010101" pitchFamily="2" charset="-122"/>
                <a:sym typeface="+mn-ea"/>
              </a:rPr>
              <a:t>AI</a:t>
            </a:r>
            <a:r>
              <a:rPr lang="zh-CN" altLang="en-US" sz="2800" b="1" dirty="0">
                <a:latin typeface="宋体" panose="02010600030101010101" pitchFamily="2" charset="-122"/>
                <a:sym typeface="+mn-ea"/>
              </a:rPr>
              <a:t>数据库作为专为</a:t>
            </a:r>
            <a:r>
              <a:rPr lang="en-US" altLang="zh-CN" sz="2800" b="1" dirty="0">
                <a:latin typeface="宋体" panose="02010600030101010101" pitchFamily="2" charset="-122"/>
                <a:sym typeface="+mn-ea"/>
              </a:rPr>
              <a:t>AI</a:t>
            </a:r>
            <a:r>
              <a:rPr lang="zh-CN" altLang="en-US" sz="2800" b="1" dirty="0">
                <a:latin typeface="宋体" panose="02010600030101010101" pitchFamily="2" charset="-122"/>
                <a:sym typeface="+mn-ea"/>
              </a:rPr>
              <a:t>工作流设计的新型数据系统，其核心价值不仅在于数据存储、查询，更在于支撑端到端的</a:t>
            </a:r>
            <a:r>
              <a:rPr lang="en-US" altLang="zh-CN" sz="2800" b="1" dirty="0">
                <a:latin typeface="宋体" panose="02010600030101010101" pitchFamily="2" charset="-122"/>
                <a:sym typeface="+mn-ea"/>
              </a:rPr>
              <a:t>AI</a:t>
            </a:r>
            <a:r>
              <a:rPr lang="zh-CN" altLang="en-US" sz="2800" b="1" dirty="0">
                <a:latin typeface="宋体" panose="02010600030101010101" pitchFamily="2" charset="-122"/>
                <a:sym typeface="+mn-ea"/>
              </a:rPr>
              <a:t>工程化流程。</a:t>
            </a:r>
            <a:endParaRPr lang="en-US" altLang="zh-CN" sz="2800" b="1" dirty="0">
              <a:latin typeface="宋体" panose="02010600030101010101" pitchFamily="2" charset="-122"/>
              <a:sym typeface="+mn-ea"/>
            </a:endParaRPr>
          </a:p>
          <a:p>
            <a:endParaRPr lang="en-US" altLang="zh-CN" sz="2800" b="1" dirty="0">
              <a:latin typeface="宋体" panose="02010600030101010101" pitchFamily="2" charset="-122"/>
              <a:sym typeface="+mn-ea"/>
            </a:endParaRPr>
          </a:p>
          <a:p>
            <a:r>
              <a:rPr lang="zh-CN" altLang="en-US" sz="2800" b="1" dirty="0">
                <a:latin typeface="宋体" panose="02010600030101010101" pitchFamily="2" charset="-122"/>
                <a:sym typeface="+mn-ea"/>
              </a:rPr>
              <a:t>其关键技术与架构设计呈现出高度专业化、智能化和系统化的特点。</a:t>
            </a:r>
          </a:p>
          <a:p>
            <a:endParaRPr lang="zh-CN" altLang="en-US" sz="2800" b="1" dirty="0">
              <a:latin typeface="宋体" panose="02010600030101010101" pitchFamily="2" charset="-122"/>
              <a:sym typeface="+mn-ea"/>
            </a:endParaRPr>
          </a:p>
        </p:txBody>
      </p:sp>
    </p:spTree>
    <p:extLst>
      <p:ext uri="{BB962C8B-B14F-4D97-AF65-F5344CB8AC3E}">
        <p14:creationId xmlns:p14="http://schemas.microsoft.com/office/powerpoint/2010/main" val="2934220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3200" b="1" dirty="0" err="1"/>
              <a:t>AI数据库挑战与技术作用</a:t>
            </a:r>
            <a:endParaRPr lang="en-US" sz="3200" b="1" dirty="0"/>
          </a:p>
        </p:txBody>
      </p:sp>
      <p:grpSp>
        <p:nvGrpSpPr>
          <p:cNvPr id="111" name="6f6ea536-f6d2-4ea0-b6cb-6d4a02692622.source.4.zh-Hans.pptx" descr="1f332f0c-32bf-4f71-bc2f-cff7803e91d0">
            <a:extLst>
              <a:ext uri="{FF2B5EF4-FFF2-40B4-BE49-F238E27FC236}">
                <a16:creationId xmlns:a16="http://schemas.microsoft.com/office/drawing/2014/main" id="{EC9F6911-075A-F072-44ED-088D410C6451}"/>
              </a:ext>
            </a:extLst>
          </p:cNvPr>
          <p:cNvGrpSpPr/>
          <p:nvPr/>
        </p:nvGrpSpPr>
        <p:grpSpPr>
          <a:xfrm>
            <a:off x="236825" y="662434"/>
            <a:ext cx="11691872" cy="5495423"/>
            <a:chOff x="236825" y="662434"/>
            <a:chExt cx="11691872" cy="5495423"/>
          </a:xfrm>
        </p:grpSpPr>
        <p:sp>
          <p:nvSpPr>
            <p:cNvPr id="49" name="Title" descr="72eea89f-933b-4750-bca9-dc9cd2ae02ea">
              <a:extLst>
                <a:ext uri="{FF2B5EF4-FFF2-40B4-BE49-F238E27FC236}">
                  <a16:creationId xmlns:a16="http://schemas.microsoft.com/office/drawing/2014/main" id="{DE44F044-FAAA-54E1-042F-4BA16DFA9560}"/>
                </a:ext>
              </a:extLst>
            </p:cNvPr>
            <p:cNvSpPr>
              <a:spLocks noChangeAspect="1"/>
            </p:cNvSpPr>
            <p:nvPr/>
          </p:nvSpPr>
          <p:spPr>
            <a:xfrm>
              <a:off x="660399" y="1130301"/>
              <a:ext cx="10858500" cy="9102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gn="ctr"/>
              <a:r>
                <a:rPr lang="en-US" sz="2400" b="1" i="0" u="none">
                  <a:solidFill>
                    <a:srgbClr val="FFFFFF"/>
                  </a:solidFill>
                  <a:latin typeface="Arial"/>
                </a:rPr>
                <a:t>AI数据库发展困境与技术价值</a:t>
              </a:r>
            </a:p>
          </p:txBody>
        </p:sp>
        <p:grpSp>
          <p:nvGrpSpPr>
            <p:cNvPr id="29" name="图形 24" descr="b3137cab-996b-4dd4-a0ca-77581b201f47">
              <a:extLst>
                <a:ext uri="{FF2B5EF4-FFF2-40B4-BE49-F238E27FC236}">
                  <a16:creationId xmlns:a16="http://schemas.microsoft.com/office/drawing/2014/main" id="{07EE57BC-0CBA-C1B8-B0F3-9C54F3277DD2}"/>
                </a:ext>
              </a:extLst>
            </p:cNvPr>
            <p:cNvGrpSpPr/>
            <p:nvPr/>
          </p:nvGrpSpPr>
          <p:grpSpPr>
            <a:xfrm>
              <a:off x="236825" y="662434"/>
              <a:ext cx="11691872" cy="5495423"/>
              <a:chOff x="4927589" y="3069972"/>
              <a:chExt cx="2333818" cy="713822"/>
            </a:xfrm>
          </p:grpSpPr>
          <p:sp>
            <p:nvSpPr>
              <p:cNvPr id="30" name="任意多边形: 形状 29" descr="edeba0fa-ae91-46fd-811b-a683c9dc04ae">
                <a:extLst>
                  <a:ext uri="{FF2B5EF4-FFF2-40B4-BE49-F238E27FC236}">
                    <a16:creationId xmlns:a16="http://schemas.microsoft.com/office/drawing/2014/main" id="{9C8F8B49-FD3B-5CCC-97BD-080043DF30F5}"/>
                  </a:ext>
                </a:extLst>
              </p:cNvPr>
              <p:cNvSpPr/>
              <p:nvPr/>
            </p:nvSpPr>
            <p:spPr>
              <a:xfrm>
                <a:off x="4933759" y="3075146"/>
                <a:ext cx="2318670" cy="705230"/>
              </a:xfrm>
              <a:custGeom>
                <a:avLst/>
                <a:gdLst>
                  <a:gd name="connsiteX0" fmla="*/ 62389 w 2318670"/>
                  <a:gd name="connsiteY0" fmla="*/ 705231 h 705230"/>
                  <a:gd name="connsiteX1" fmla="*/ 62389 w 2318670"/>
                  <a:gd name="connsiteY1" fmla="*/ 284702 h 705230"/>
                  <a:gd name="connsiteX2" fmla="*/ 0 w 2318670"/>
                  <a:gd name="connsiteY2" fmla="*/ 218218 h 705230"/>
                  <a:gd name="connsiteX3" fmla="*/ 0 w 2318670"/>
                  <a:gd name="connsiteY3" fmla="*/ 0 h 705230"/>
                  <a:gd name="connsiteX4" fmla="*/ 2318671 w 2318670"/>
                  <a:gd name="connsiteY4" fmla="*/ 0 h 705230"/>
                  <a:gd name="connsiteX5" fmla="*/ 2318671 w 2318670"/>
                  <a:gd name="connsiteY5" fmla="*/ 694563 h 705230"/>
                  <a:gd name="connsiteX6" fmla="*/ 1919383 w 2318670"/>
                  <a:gd name="connsiteY6" fmla="*/ 694563 h 705230"/>
                  <a:gd name="connsiteX7" fmla="*/ 1837944 w 2318670"/>
                  <a:gd name="connsiteY7" fmla="*/ 613124 h 705230"/>
                  <a:gd name="connsiteX8" fmla="*/ 1596104 w 2318670"/>
                  <a:gd name="connsiteY8" fmla="*/ 613124 h 705230"/>
                  <a:gd name="connsiteX9" fmla="*/ 1490377 w 2318670"/>
                  <a:gd name="connsiteY9" fmla="*/ 699802 h 705230"/>
                  <a:gd name="connsiteX10" fmla="*/ 425482 w 2318670"/>
                  <a:gd name="connsiteY10" fmla="*/ 699802 h 705230"/>
                  <a:gd name="connsiteX11" fmla="*/ 393764 w 2318670"/>
                  <a:gd name="connsiteY11" fmla="*/ 668084 h 705230"/>
                  <a:gd name="connsiteX12" fmla="*/ 308610 w 2318670"/>
                  <a:gd name="connsiteY12" fmla="*/ 668084 h 705230"/>
                  <a:gd name="connsiteX13" fmla="*/ 271558 w 2318670"/>
                  <a:gd name="connsiteY13" fmla="*/ 705231 h 705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8670" h="705230">
                    <a:moveTo>
                      <a:pt x="62389" y="705231"/>
                    </a:moveTo>
                    <a:lnTo>
                      <a:pt x="62389" y="284702"/>
                    </a:lnTo>
                    <a:lnTo>
                      <a:pt x="0" y="218218"/>
                    </a:lnTo>
                    <a:lnTo>
                      <a:pt x="0" y="0"/>
                    </a:lnTo>
                    <a:lnTo>
                      <a:pt x="2318671" y="0"/>
                    </a:lnTo>
                    <a:lnTo>
                      <a:pt x="2318671" y="694563"/>
                    </a:lnTo>
                    <a:lnTo>
                      <a:pt x="1919383" y="694563"/>
                    </a:lnTo>
                    <a:lnTo>
                      <a:pt x="1837944" y="613124"/>
                    </a:lnTo>
                    <a:lnTo>
                      <a:pt x="1596104" y="613124"/>
                    </a:lnTo>
                    <a:lnTo>
                      <a:pt x="1490377" y="699802"/>
                    </a:lnTo>
                    <a:lnTo>
                      <a:pt x="425482" y="699802"/>
                    </a:lnTo>
                    <a:lnTo>
                      <a:pt x="393764" y="668084"/>
                    </a:lnTo>
                    <a:lnTo>
                      <a:pt x="308610" y="668084"/>
                    </a:lnTo>
                    <a:lnTo>
                      <a:pt x="271558" y="705231"/>
                    </a:lnTo>
                    <a:close/>
                  </a:path>
                </a:pathLst>
              </a:custGeom>
              <a:noFill/>
              <a:ln w="6350" cap="rnd">
                <a:gradFill>
                  <a:gsLst>
                    <a:gs pos="0">
                      <a:schemeClr val="accent1">
                        <a:alpha val="51000"/>
                      </a:schemeClr>
                    </a:gs>
                    <a:gs pos="100000">
                      <a:schemeClr val="accent1">
                        <a:lumMod val="50000"/>
                      </a:schemeClr>
                    </a:gs>
                  </a:gsLst>
                  <a:lin ang="16200000" scaled="1"/>
                </a:gradFill>
                <a:prstDash val="solid"/>
                <a:round/>
              </a:ln>
            </p:spPr>
            <p:txBody>
              <a:bodyPr rtlCol="0" anchor="ctr" anchorCtr="0"/>
              <a:lstStyle/>
              <a:p>
                <a:pPr algn="l"/>
                <a:endParaRPr/>
              </a:p>
            </p:txBody>
          </p:sp>
          <p:grpSp>
            <p:nvGrpSpPr>
              <p:cNvPr id="31" name="图形 24" descr="e7af65f4-f122-4337-8d6f-6fd2fa5fc655">
                <a:extLst>
                  <a:ext uri="{FF2B5EF4-FFF2-40B4-BE49-F238E27FC236}">
                    <a16:creationId xmlns:a16="http://schemas.microsoft.com/office/drawing/2014/main" id="{AFF6CA98-7293-FE84-8B3F-8AD50F66CD93}"/>
                  </a:ext>
                </a:extLst>
              </p:cNvPr>
              <p:cNvGrpSpPr/>
              <p:nvPr/>
            </p:nvGrpSpPr>
            <p:grpSpPr>
              <a:xfrm>
                <a:off x="4927589" y="3069972"/>
                <a:ext cx="2333818" cy="47576"/>
                <a:chOff x="4927589" y="3069972"/>
                <a:chExt cx="2333818" cy="47576"/>
              </a:xfrm>
              <a:solidFill>
                <a:srgbClr val="0C3FFF"/>
              </a:solidFill>
            </p:grpSpPr>
            <p:sp>
              <p:nvSpPr>
                <p:cNvPr id="32" name="任意多边形: 形状 31" descr="49505db4-a5b8-421e-b3a0-b45b5dc4443e">
                  <a:extLst>
                    <a:ext uri="{FF2B5EF4-FFF2-40B4-BE49-F238E27FC236}">
                      <a16:creationId xmlns:a16="http://schemas.microsoft.com/office/drawing/2014/main" id="{FBA07306-3C18-49CA-DCB8-42A4D7985EFC}"/>
                    </a:ext>
                  </a:extLst>
                </p:cNvPr>
                <p:cNvSpPr/>
                <p:nvPr/>
              </p:nvSpPr>
              <p:spPr>
                <a:xfrm>
                  <a:off x="4927589" y="3070671"/>
                  <a:ext cx="55803" cy="35795"/>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sp>
              <p:nvSpPr>
                <p:cNvPr id="33" name="任意多边形: 形状 32" descr="ef98fc23-3536-4665-ab6e-d8add6f741ba">
                  <a:extLst>
                    <a:ext uri="{FF2B5EF4-FFF2-40B4-BE49-F238E27FC236}">
                      <a16:creationId xmlns:a16="http://schemas.microsoft.com/office/drawing/2014/main" id="{4991209A-2D5F-D994-0B76-5A5224108C2B}"/>
                    </a:ext>
                  </a:extLst>
                </p:cNvPr>
                <p:cNvSpPr/>
                <p:nvPr/>
              </p:nvSpPr>
              <p:spPr>
                <a:xfrm>
                  <a:off x="7187239" y="3069972"/>
                  <a:ext cx="74168" cy="47576"/>
                </a:xfrm>
                <a:custGeom>
                  <a:avLst/>
                  <a:gdLst>
                    <a:gd name="connsiteX0" fmla="*/ 0 w 149828"/>
                    <a:gd name="connsiteY0" fmla="*/ 0 h 149828"/>
                    <a:gd name="connsiteX1" fmla="*/ 120777 w 149828"/>
                    <a:gd name="connsiteY1" fmla="*/ 0 h 149828"/>
                    <a:gd name="connsiteX2" fmla="*/ 149828 w 149828"/>
                    <a:gd name="connsiteY2" fmla="*/ 0 h 149828"/>
                    <a:gd name="connsiteX3" fmla="*/ 149828 w 149828"/>
                    <a:gd name="connsiteY3" fmla="*/ 28956 h 149828"/>
                    <a:gd name="connsiteX4" fmla="*/ 149828 w 149828"/>
                    <a:gd name="connsiteY4" fmla="*/ 149828 h 149828"/>
                    <a:gd name="connsiteX5" fmla="*/ 111252 w 149828"/>
                    <a:gd name="connsiteY5" fmla="*/ 149828 h 149828"/>
                    <a:gd name="connsiteX6" fmla="*/ 111252 w 149828"/>
                    <a:gd name="connsiteY6" fmla="*/ 38481 h 149828"/>
                    <a:gd name="connsiteX7" fmla="*/ 0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0"/>
                      </a:moveTo>
                      <a:lnTo>
                        <a:pt x="120777" y="0"/>
                      </a:lnTo>
                      <a:lnTo>
                        <a:pt x="149828" y="0"/>
                      </a:lnTo>
                      <a:lnTo>
                        <a:pt x="149828" y="28956"/>
                      </a:lnTo>
                      <a:lnTo>
                        <a:pt x="149828" y="149828"/>
                      </a:lnTo>
                      <a:lnTo>
                        <a:pt x="111252" y="149828"/>
                      </a:lnTo>
                      <a:lnTo>
                        <a:pt x="111252" y="38481"/>
                      </a:lnTo>
                      <a:lnTo>
                        <a:pt x="0" y="38481"/>
                      </a:lnTo>
                      <a:close/>
                    </a:path>
                  </a:pathLst>
                </a:custGeom>
                <a:solidFill>
                  <a:schemeClr val="accent1"/>
                </a:solidFill>
                <a:ln w="9525" cap="flat">
                  <a:noFill/>
                  <a:prstDash val="solid"/>
                  <a:miter/>
                </a:ln>
              </p:spPr>
              <p:txBody>
                <a:bodyPr rtlCol="0" anchor="ctr" anchorCtr="0"/>
                <a:lstStyle/>
                <a:p>
                  <a:pPr algn="l"/>
                  <a:endParaRPr/>
                </a:p>
              </p:txBody>
            </p:sp>
          </p:grpSp>
          <p:grpSp>
            <p:nvGrpSpPr>
              <p:cNvPr id="34" name="图形 24" descr="53015db2-4998-4b36-a181-56fa7881cc53">
                <a:extLst>
                  <a:ext uri="{FF2B5EF4-FFF2-40B4-BE49-F238E27FC236}">
                    <a16:creationId xmlns:a16="http://schemas.microsoft.com/office/drawing/2014/main" id="{913D47C6-7849-06AE-9DF5-9A69CA6C558C}"/>
                  </a:ext>
                </a:extLst>
              </p:cNvPr>
              <p:cNvGrpSpPr/>
              <p:nvPr/>
            </p:nvGrpSpPr>
            <p:grpSpPr>
              <a:xfrm>
                <a:off x="4989096" y="3732662"/>
                <a:ext cx="2271427" cy="51132"/>
                <a:chOff x="4989096" y="3732662"/>
                <a:chExt cx="2271427" cy="51132"/>
              </a:xfrm>
              <a:solidFill>
                <a:srgbClr val="0C3FFF"/>
              </a:solidFill>
            </p:grpSpPr>
            <p:sp>
              <p:nvSpPr>
                <p:cNvPr id="35" name="任意多边形: 形状 34" descr="69708ec7-8d50-40d3-8232-d889038000cd">
                  <a:extLst>
                    <a:ext uri="{FF2B5EF4-FFF2-40B4-BE49-F238E27FC236}">
                      <a16:creationId xmlns:a16="http://schemas.microsoft.com/office/drawing/2014/main" id="{D4FBC7D5-67EE-E3CE-4DA9-8F05444AEF22}"/>
                    </a:ext>
                  </a:extLst>
                </p:cNvPr>
                <p:cNvSpPr/>
                <p:nvPr/>
              </p:nvSpPr>
              <p:spPr>
                <a:xfrm>
                  <a:off x="4989096" y="3747999"/>
                  <a:ext cx="60801" cy="35795"/>
                </a:xfrm>
                <a:custGeom>
                  <a:avLst/>
                  <a:gdLst>
                    <a:gd name="connsiteX0" fmla="*/ 149828 w 149828"/>
                    <a:gd name="connsiteY0" fmla="*/ 149828 h 149828"/>
                    <a:gd name="connsiteX1" fmla="*/ 29051 w 149828"/>
                    <a:gd name="connsiteY1" fmla="*/ 149828 h 149828"/>
                    <a:gd name="connsiteX2" fmla="*/ 0 w 149828"/>
                    <a:gd name="connsiteY2" fmla="*/ 149828 h 149828"/>
                    <a:gd name="connsiteX3" fmla="*/ 0 w 149828"/>
                    <a:gd name="connsiteY3" fmla="*/ 120777 h 149828"/>
                    <a:gd name="connsiteX4" fmla="*/ 0 w 149828"/>
                    <a:gd name="connsiteY4" fmla="*/ 0 h 149828"/>
                    <a:gd name="connsiteX5" fmla="*/ 38576 w 149828"/>
                    <a:gd name="connsiteY5" fmla="*/ 0 h 149828"/>
                    <a:gd name="connsiteX6" fmla="*/ 38576 w 149828"/>
                    <a:gd name="connsiteY6" fmla="*/ 111252 h 149828"/>
                    <a:gd name="connsiteX7" fmla="*/ 149828 w 149828"/>
                    <a:gd name="connsiteY7" fmla="*/ 11125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149828"/>
                      </a:moveTo>
                      <a:lnTo>
                        <a:pt x="29051" y="149828"/>
                      </a:lnTo>
                      <a:lnTo>
                        <a:pt x="0" y="149828"/>
                      </a:lnTo>
                      <a:lnTo>
                        <a:pt x="0" y="120777"/>
                      </a:lnTo>
                      <a:lnTo>
                        <a:pt x="0" y="0"/>
                      </a:lnTo>
                      <a:lnTo>
                        <a:pt x="38576" y="0"/>
                      </a:lnTo>
                      <a:lnTo>
                        <a:pt x="38576" y="111252"/>
                      </a:lnTo>
                      <a:lnTo>
                        <a:pt x="149828" y="111252"/>
                      </a:lnTo>
                      <a:close/>
                    </a:path>
                  </a:pathLst>
                </a:custGeom>
                <a:solidFill>
                  <a:schemeClr val="accent1"/>
                </a:solidFill>
                <a:ln w="9525" cap="flat">
                  <a:noFill/>
                  <a:prstDash val="solid"/>
                  <a:miter/>
                </a:ln>
              </p:spPr>
              <p:txBody>
                <a:bodyPr rtlCol="0" anchor="ctr" anchorCtr="0"/>
                <a:lstStyle/>
                <a:p>
                  <a:pPr algn="l"/>
                  <a:endParaRPr/>
                </a:p>
              </p:txBody>
            </p:sp>
            <p:sp>
              <p:nvSpPr>
                <p:cNvPr id="36" name="任意多边形: 形状 35" descr="795731a0-a743-491c-a1f7-5ca047cb79dd">
                  <a:extLst>
                    <a:ext uri="{FF2B5EF4-FFF2-40B4-BE49-F238E27FC236}">
                      <a16:creationId xmlns:a16="http://schemas.microsoft.com/office/drawing/2014/main" id="{A76838A9-D803-EE94-6D61-2D1A9CBA6430}"/>
                    </a:ext>
                  </a:extLst>
                </p:cNvPr>
                <p:cNvSpPr/>
                <p:nvPr/>
              </p:nvSpPr>
              <p:spPr>
                <a:xfrm>
                  <a:off x="7187239" y="3732662"/>
                  <a:ext cx="73284" cy="43144"/>
                </a:xfrm>
                <a:custGeom>
                  <a:avLst/>
                  <a:gdLst>
                    <a:gd name="connsiteX0" fmla="*/ 0 w 149828"/>
                    <a:gd name="connsiteY0" fmla="*/ 149828 h 149828"/>
                    <a:gd name="connsiteX1" fmla="*/ 120777 w 149828"/>
                    <a:gd name="connsiteY1" fmla="*/ 149828 h 149828"/>
                    <a:gd name="connsiteX2" fmla="*/ 149828 w 149828"/>
                    <a:gd name="connsiteY2" fmla="*/ 149828 h 149828"/>
                    <a:gd name="connsiteX3" fmla="*/ 149828 w 149828"/>
                    <a:gd name="connsiteY3" fmla="*/ 120872 h 149828"/>
                    <a:gd name="connsiteX4" fmla="*/ 149828 w 149828"/>
                    <a:gd name="connsiteY4" fmla="*/ 0 h 149828"/>
                    <a:gd name="connsiteX5" fmla="*/ 111252 w 149828"/>
                    <a:gd name="connsiteY5" fmla="*/ 0 h 149828"/>
                    <a:gd name="connsiteX6" fmla="*/ 111252 w 149828"/>
                    <a:gd name="connsiteY6" fmla="*/ 111347 h 149828"/>
                    <a:gd name="connsiteX7" fmla="*/ 0 w 149828"/>
                    <a:gd name="connsiteY7" fmla="*/ 111347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149828"/>
                      </a:moveTo>
                      <a:lnTo>
                        <a:pt x="120777" y="149828"/>
                      </a:lnTo>
                      <a:lnTo>
                        <a:pt x="149828" y="149828"/>
                      </a:lnTo>
                      <a:lnTo>
                        <a:pt x="149828" y="120872"/>
                      </a:lnTo>
                      <a:lnTo>
                        <a:pt x="149828" y="0"/>
                      </a:lnTo>
                      <a:lnTo>
                        <a:pt x="111252" y="0"/>
                      </a:lnTo>
                      <a:lnTo>
                        <a:pt x="111252" y="111347"/>
                      </a:lnTo>
                      <a:lnTo>
                        <a:pt x="0" y="111347"/>
                      </a:lnTo>
                      <a:close/>
                    </a:path>
                  </a:pathLst>
                </a:custGeom>
                <a:solidFill>
                  <a:schemeClr val="accent1"/>
                </a:solidFill>
                <a:ln w="9525" cap="flat">
                  <a:noFill/>
                  <a:prstDash val="solid"/>
                  <a:miter/>
                </a:ln>
              </p:spPr>
              <p:txBody>
                <a:bodyPr rtlCol="0" anchor="ctr" anchorCtr="0"/>
                <a:lstStyle/>
                <a:p>
                  <a:pPr algn="l"/>
                  <a:endParaRPr/>
                </a:p>
              </p:txBody>
            </p:sp>
          </p:grpSp>
          <p:sp>
            <p:nvSpPr>
              <p:cNvPr id="37" name="任意多边形: 形状 36" descr="6981b60f-6cc3-4cd6-a058-1800c27364f2">
                <a:extLst>
                  <a:ext uri="{FF2B5EF4-FFF2-40B4-BE49-F238E27FC236}">
                    <a16:creationId xmlns:a16="http://schemas.microsoft.com/office/drawing/2014/main" id="{CDBB5B9D-9E3F-5A40-3487-73A90DCA2876}"/>
                  </a:ext>
                </a:extLst>
              </p:cNvPr>
              <p:cNvSpPr/>
              <p:nvPr/>
            </p:nvSpPr>
            <p:spPr>
              <a:xfrm>
                <a:off x="5956554" y="3772837"/>
                <a:ext cx="373856" cy="5939"/>
              </a:xfrm>
              <a:custGeom>
                <a:avLst/>
                <a:gdLst>
                  <a:gd name="connsiteX0" fmla="*/ 0 w 373856"/>
                  <a:gd name="connsiteY0" fmla="*/ 0 h 46291"/>
                  <a:gd name="connsiteX1" fmla="*/ 373856 w 373856"/>
                  <a:gd name="connsiteY1" fmla="*/ 0 h 46291"/>
                  <a:gd name="connsiteX2" fmla="*/ 373856 w 373856"/>
                  <a:gd name="connsiteY2" fmla="*/ 46291 h 46291"/>
                  <a:gd name="connsiteX3" fmla="*/ 0 w 373856"/>
                  <a:gd name="connsiteY3" fmla="*/ 46291 h 46291"/>
                </a:gdLst>
                <a:ahLst/>
                <a:cxnLst>
                  <a:cxn ang="0">
                    <a:pos x="connsiteX0" y="connsiteY0"/>
                  </a:cxn>
                  <a:cxn ang="0">
                    <a:pos x="connsiteX1" y="connsiteY1"/>
                  </a:cxn>
                  <a:cxn ang="0">
                    <a:pos x="connsiteX2" y="connsiteY2"/>
                  </a:cxn>
                  <a:cxn ang="0">
                    <a:pos x="connsiteX3" y="connsiteY3"/>
                  </a:cxn>
                </a:cxnLst>
                <a:rect l="l" t="t" r="r" b="b"/>
                <a:pathLst>
                  <a:path w="373856" h="46291">
                    <a:moveTo>
                      <a:pt x="0" y="0"/>
                    </a:moveTo>
                    <a:lnTo>
                      <a:pt x="373856" y="0"/>
                    </a:lnTo>
                    <a:lnTo>
                      <a:pt x="373856" y="46291"/>
                    </a:lnTo>
                    <a:lnTo>
                      <a:pt x="0" y="46291"/>
                    </a:lnTo>
                    <a:close/>
                  </a:path>
                </a:pathLst>
              </a:custGeom>
              <a:solidFill>
                <a:schemeClr val="accent1"/>
              </a:solidFill>
              <a:ln w="9525" cap="flat">
                <a:noFill/>
                <a:prstDash val="solid"/>
                <a:miter/>
              </a:ln>
            </p:spPr>
            <p:txBody>
              <a:bodyPr rtlCol="0" anchor="ctr" anchorCtr="0"/>
              <a:lstStyle/>
              <a:p>
                <a:pPr algn="l"/>
                <a:endParaRPr/>
              </a:p>
            </p:txBody>
          </p:sp>
        </p:grpSp>
        <p:grpSp>
          <p:nvGrpSpPr>
            <p:cNvPr id="68" name="组合 67" descr="2c79749c-e03d-4246-89e4-3f72c7e0b6e9">
              <a:extLst>
                <a:ext uri="{FF2B5EF4-FFF2-40B4-BE49-F238E27FC236}">
                  <a16:creationId xmlns:a16="http://schemas.microsoft.com/office/drawing/2014/main" id="{C3A0D284-1C5C-03E0-7F52-F63D1A263B9A}"/>
                </a:ext>
              </a:extLst>
            </p:cNvPr>
            <p:cNvGrpSpPr/>
            <p:nvPr/>
          </p:nvGrpSpPr>
          <p:grpSpPr>
            <a:xfrm>
              <a:off x="715760" y="1625890"/>
              <a:ext cx="2597478" cy="3698202"/>
              <a:chOff x="771119" y="1779894"/>
              <a:chExt cx="2597478" cy="3698202"/>
            </a:xfrm>
          </p:grpSpPr>
          <p:grpSp>
            <p:nvGrpSpPr>
              <p:cNvPr id="8" name="组合 7" descr="4b0dfc2f-6bb0-4ccb-9afb-d217f0f36df0">
                <a:extLst>
                  <a:ext uri="{FF2B5EF4-FFF2-40B4-BE49-F238E27FC236}">
                    <a16:creationId xmlns:a16="http://schemas.microsoft.com/office/drawing/2014/main" id="{FDF2B8DF-F988-5844-D0F5-ADD1A54B503D}"/>
                  </a:ext>
                </a:extLst>
              </p:cNvPr>
              <p:cNvGrpSpPr>
                <a:grpSpLocks noChangeAspect="1"/>
              </p:cNvGrpSpPr>
              <p:nvPr/>
            </p:nvGrpSpPr>
            <p:grpSpPr>
              <a:xfrm>
                <a:off x="771119" y="1779894"/>
                <a:ext cx="2597478" cy="3698202"/>
                <a:chOff x="4389868" y="1134320"/>
                <a:chExt cx="3541315" cy="4345360"/>
              </a:xfrm>
            </p:grpSpPr>
            <p:sp>
              <p:nvSpPr>
                <p:cNvPr id="9" name="矩形: 圆顶角 1" descr="0cb790db-54b5-4995-aa61-7544152817f2">
                  <a:extLst>
                    <a:ext uri="{FF2B5EF4-FFF2-40B4-BE49-F238E27FC236}">
                      <a16:creationId xmlns:a16="http://schemas.microsoft.com/office/drawing/2014/main" id="{58CAFFD5-2E3B-4792-0C85-8B146D263562}"/>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 name="Bullet1" descr="e2ec233f-f988-4be4-98ef-d47ae695682a">
                  <a:extLst>
                    <a:ext uri="{FF2B5EF4-FFF2-40B4-BE49-F238E27FC236}">
                      <a16:creationId xmlns:a16="http://schemas.microsoft.com/office/drawing/2014/main" id="{6D6318CD-58D8-0885-BFD7-DD982DBBB5C9}"/>
                    </a:ext>
                  </a:extLst>
                </p:cNvPr>
                <p:cNvSpPr txBox="1"/>
                <p:nvPr/>
              </p:nvSpPr>
              <p:spPr>
                <a:xfrm>
                  <a:off x="4635676" y="1134320"/>
                  <a:ext cx="3071817" cy="760020"/>
                </a:xfrm>
                <a:prstGeom prst="rect">
                  <a:avLst/>
                </a:prstGeom>
                <a:noFill/>
                <a:ln>
                  <a:noFill/>
                </a:ln>
              </p:spPr>
              <p:txBody>
                <a:bodyPr wrap="square" lIns="91440" tIns="45720" rIns="91440" bIns="45720" anchor="b" anchorCtr="0">
                  <a:noAutofit/>
                </a:bodyPr>
                <a:lstStyle/>
                <a:p>
                  <a:pPr marL="285750" indent="-285750" algn="ctr">
                    <a:spcBef>
                      <a:spcPct val="0"/>
                    </a:spcBef>
                    <a:spcAft>
                      <a:spcPct val="0"/>
                    </a:spcAft>
                    <a:buFont typeface="Arial" panose="020B0604020202020204" pitchFamily="34" charset="0"/>
                    <a:buChar char="•"/>
                  </a:pPr>
                  <a:r>
                    <a:rPr lang="en-US" sz="2000" b="1" i="0" u="none" strike="noStrike" dirty="0" err="1">
                      <a:solidFill>
                        <a:srgbClr val="000000"/>
                      </a:solidFill>
                      <a:ea typeface="微软雅黑"/>
                    </a:rPr>
                    <a:t>技术融合挑战</a:t>
                  </a:r>
                  <a:endParaRPr lang="en-US" sz="2000" b="1" i="0" u="none" strike="noStrike" dirty="0">
                    <a:solidFill>
                      <a:srgbClr val="000000"/>
                    </a:solidFill>
                    <a:ea typeface="微软雅黑"/>
                  </a:endParaRPr>
                </a:p>
              </p:txBody>
            </p:sp>
            <p:sp>
              <p:nvSpPr>
                <p:cNvPr id="11" name="Text1" descr="f8a5c9bb-8496-4627-a7cb-4a1720378ce8">
                  <a:extLst>
                    <a:ext uri="{FF2B5EF4-FFF2-40B4-BE49-F238E27FC236}">
                      <a16:creationId xmlns:a16="http://schemas.microsoft.com/office/drawing/2014/main" id="{792A1BDD-CFEE-DEA4-F2A6-1B1F74C5B993}"/>
                    </a:ext>
                  </a:extLst>
                </p:cNvPr>
                <p:cNvSpPr txBox="1"/>
                <p:nvPr/>
              </p:nvSpPr>
              <p:spPr>
                <a:xfrm>
                  <a:off x="4567898" y="2503159"/>
                  <a:ext cx="3363285" cy="2047356"/>
                </a:xfrm>
                <a:prstGeom prst="rect">
                  <a:avLst/>
                </a:prstGeom>
                <a:noFill/>
                <a:ln>
                  <a:noFill/>
                </a:ln>
              </p:spPr>
              <p:txBody>
                <a:bodyPr wrap="square" lIns="91440" tIns="45720" rIns="91440" bIns="45720" anchor="t" anchorCtr="0">
                  <a:noAutofit/>
                </a:bodyPr>
                <a:lstStyle/>
                <a:p>
                  <a:pPr marL="171450" indent="-171450">
                    <a:lnSpc>
                      <a:spcPct val="110000"/>
                    </a:lnSpc>
                    <a:spcBef>
                      <a:spcPct val="0"/>
                    </a:spcBef>
                    <a:spcAft>
                      <a:spcPct val="0"/>
                    </a:spcAft>
                    <a:buFont typeface="Arial" panose="020B0604020202020204" pitchFamily="34" charset="0"/>
                    <a:buChar char="•"/>
                  </a:pPr>
                  <a:r>
                    <a:rPr lang="en-US" sz="1900" dirty="0" err="1">
                      <a:solidFill>
                        <a:srgbClr val="000000"/>
                      </a:solidFill>
                      <a:ea typeface="微软雅黑"/>
                    </a:rPr>
                    <a:t>AI与大数据深度融合，对AI数据库性能与效率提出更高要求</a:t>
                  </a:r>
                  <a:r>
                    <a:rPr lang="en-US" sz="1900" dirty="0">
                      <a:solidFill>
                        <a:srgbClr val="000000"/>
                      </a:solidFill>
                      <a:ea typeface="微软雅黑"/>
                    </a:rPr>
                    <a:t>。</a:t>
                  </a:r>
                </a:p>
              </p:txBody>
            </p:sp>
          </p:grpSp>
          <p:cxnSp>
            <p:nvCxnSpPr>
              <p:cNvPr id="67" name="直接连接符 66" descr="b11ccfe5-1b7e-483f-8590-8d233e55c657">
                <a:extLst>
                  <a:ext uri="{FF2B5EF4-FFF2-40B4-BE49-F238E27FC236}">
                    <a16:creationId xmlns:a16="http://schemas.microsoft.com/office/drawing/2014/main" id="{7DC6FAFB-5952-9944-7B9B-E2CD99D9A9CF}"/>
                  </a:ext>
                </a:extLst>
              </p:cNvPr>
              <p:cNvCxnSpPr/>
              <p:nvPr/>
            </p:nvCxnSpPr>
            <p:spPr>
              <a:xfrm>
                <a:off x="901700" y="3365500"/>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93" name="组合 92" descr="533400ef-554e-4af8-aa0d-33a75372aa25">
              <a:extLst>
                <a:ext uri="{FF2B5EF4-FFF2-40B4-BE49-F238E27FC236}">
                  <a16:creationId xmlns:a16="http://schemas.microsoft.com/office/drawing/2014/main" id="{2A3FF2D1-0A2F-7DD9-0AC8-D08DF69F3A38}"/>
                </a:ext>
              </a:extLst>
            </p:cNvPr>
            <p:cNvGrpSpPr/>
            <p:nvPr/>
          </p:nvGrpSpPr>
          <p:grpSpPr>
            <a:xfrm>
              <a:off x="3467185" y="1625890"/>
              <a:ext cx="2597478" cy="3698202"/>
              <a:chOff x="771119" y="1779894"/>
              <a:chExt cx="2597478" cy="3698202"/>
            </a:xfrm>
          </p:grpSpPr>
          <p:grpSp>
            <p:nvGrpSpPr>
              <p:cNvPr id="94" name="组合 93" descr="d512d14f-ad82-447d-be02-7227729c9606">
                <a:extLst>
                  <a:ext uri="{FF2B5EF4-FFF2-40B4-BE49-F238E27FC236}">
                    <a16:creationId xmlns:a16="http://schemas.microsoft.com/office/drawing/2014/main" id="{4B0FA8F2-C1A6-E2ED-EC08-689FC072E752}"/>
                  </a:ext>
                </a:extLst>
              </p:cNvPr>
              <p:cNvGrpSpPr>
                <a:grpSpLocks noChangeAspect="1"/>
              </p:cNvGrpSpPr>
              <p:nvPr/>
            </p:nvGrpSpPr>
            <p:grpSpPr>
              <a:xfrm>
                <a:off x="771119" y="1779894"/>
                <a:ext cx="2597478" cy="3698202"/>
                <a:chOff x="4389868" y="1134320"/>
                <a:chExt cx="3541315" cy="4345360"/>
              </a:xfrm>
            </p:grpSpPr>
            <p:sp>
              <p:nvSpPr>
                <p:cNvPr id="96" name="矩形: 圆顶角 1" descr="471e3b91-9cd1-4fbf-a4e2-6d70d1154307">
                  <a:extLst>
                    <a:ext uri="{FF2B5EF4-FFF2-40B4-BE49-F238E27FC236}">
                      <a16:creationId xmlns:a16="http://schemas.microsoft.com/office/drawing/2014/main" id="{1EA046A1-4B9B-D1C6-BEF1-D8CE1499C7A1}"/>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97" name="Bullet2" descr="d83630bc-021e-4804-bc1e-de840d14b63f">
                  <a:extLst>
                    <a:ext uri="{FF2B5EF4-FFF2-40B4-BE49-F238E27FC236}">
                      <a16:creationId xmlns:a16="http://schemas.microsoft.com/office/drawing/2014/main" id="{63D86953-4B87-29FC-7B73-77914BB68F59}"/>
                    </a:ext>
                  </a:extLst>
                </p:cNvPr>
                <p:cNvSpPr txBox="1"/>
                <p:nvPr/>
              </p:nvSpPr>
              <p:spPr>
                <a:xfrm>
                  <a:off x="4635676" y="1134320"/>
                  <a:ext cx="3071817" cy="760020"/>
                </a:xfrm>
                <a:prstGeom prst="rect">
                  <a:avLst/>
                </a:prstGeom>
                <a:noFill/>
                <a:ln>
                  <a:noFill/>
                </a:ln>
              </p:spPr>
              <p:txBody>
                <a:bodyPr wrap="square" lIns="91440" tIns="45720" rIns="91440" bIns="45720" anchor="b" anchorCtr="0">
                  <a:noAutofit/>
                </a:bodyPr>
                <a:lstStyle/>
                <a:p>
                  <a:pPr marL="285750" indent="-285750" algn="ctr">
                    <a:spcBef>
                      <a:spcPct val="0"/>
                    </a:spcBef>
                    <a:spcAft>
                      <a:spcPct val="0"/>
                    </a:spcAft>
                    <a:buFont typeface="Arial" panose="020B0604020202020204" pitchFamily="34" charset="0"/>
                    <a:buChar char="•"/>
                  </a:pPr>
                  <a:r>
                    <a:rPr lang="en-US" sz="2000" b="1" i="0" u="none" strike="noStrike" dirty="0" err="1">
                      <a:solidFill>
                        <a:srgbClr val="000000"/>
                      </a:solidFill>
                      <a:ea typeface="微软雅黑"/>
                    </a:rPr>
                    <a:t>性能关键因素</a:t>
                  </a:r>
                  <a:endParaRPr lang="en-US" sz="2000" b="1" i="0" u="none" strike="noStrike" dirty="0">
                    <a:solidFill>
                      <a:srgbClr val="000000"/>
                    </a:solidFill>
                    <a:ea typeface="微软雅黑"/>
                  </a:endParaRPr>
                </a:p>
              </p:txBody>
            </p:sp>
            <p:sp>
              <p:nvSpPr>
                <p:cNvPr id="98" name="Text2" descr="86fa2200-b7ec-45e6-b31a-f0995e035489">
                  <a:extLst>
                    <a:ext uri="{FF2B5EF4-FFF2-40B4-BE49-F238E27FC236}">
                      <a16:creationId xmlns:a16="http://schemas.microsoft.com/office/drawing/2014/main" id="{AAB78013-28EF-D181-2818-2A0A698EE355}"/>
                    </a:ext>
                  </a:extLst>
                </p:cNvPr>
                <p:cNvSpPr txBox="1"/>
                <p:nvPr/>
              </p:nvSpPr>
              <p:spPr>
                <a:xfrm>
                  <a:off x="4567898" y="2503159"/>
                  <a:ext cx="3363285" cy="2047356"/>
                </a:xfrm>
                <a:prstGeom prst="rect">
                  <a:avLst/>
                </a:prstGeom>
                <a:noFill/>
                <a:ln>
                  <a:noFill/>
                </a:ln>
              </p:spPr>
              <p:txBody>
                <a:bodyPr wrap="square" lIns="91440" tIns="45720" rIns="91440" bIns="45720" anchor="t" anchorCtr="0">
                  <a:normAutofit fontScale="92500" lnSpcReduction="10000"/>
                </a:bodyPr>
                <a:lstStyle/>
                <a:p>
                  <a:pPr marL="171450" indent="-171450">
                    <a:lnSpc>
                      <a:spcPct val="120000"/>
                    </a:lnSpc>
                    <a:spcBef>
                      <a:spcPct val="0"/>
                    </a:spcBef>
                    <a:spcAft>
                      <a:spcPct val="0"/>
                    </a:spcAft>
                    <a:buFont typeface="Arial" panose="020B0604020202020204" pitchFamily="34" charset="0"/>
                    <a:buChar char="•"/>
                  </a:pPr>
                  <a:r>
                    <a:rPr lang="en-US" sz="2000" dirty="0" err="1">
                      <a:solidFill>
                        <a:srgbClr val="000000"/>
                      </a:solidFill>
                      <a:ea typeface="微软雅黑"/>
                    </a:rPr>
                    <a:t>AI数据库性能与效率是制约智能分析、机器学习训练与推理系统整体表现的关键</a:t>
                  </a:r>
                  <a:r>
                    <a:rPr lang="en-US" sz="2000" dirty="0">
                      <a:solidFill>
                        <a:srgbClr val="000000"/>
                      </a:solidFill>
                      <a:ea typeface="微软雅黑"/>
                    </a:rPr>
                    <a:t>。</a:t>
                  </a:r>
                </a:p>
              </p:txBody>
            </p:sp>
          </p:grpSp>
          <p:cxnSp>
            <p:nvCxnSpPr>
              <p:cNvPr id="95" name="直接连接符 94" descr="78f75d4a-732c-4327-a151-c3794dd122e0">
                <a:extLst>
                  <a:ext uri="{FF2B5EF4-FFF2-40B4-BE49-F238E27FC236}">
                    <a16:creationId xmlns:a16="http://schemas.microsoft.com/office/drawing/2014/main" id="{AFD342F2-5EDC-80EE-85C7-060D30AACECF}"/>
                  </a:ext>
                </a:extLst>
              </p:cNvPr>
              <p:cNvCxnSpPr/>
              <p:nvPr/>
            </p:nvCxnSpPr>
            <p:spPr>
              <a:xfrm>
                <a:off x="901700" y="3365500"/>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99" name="组合 98" descr="04324ebc-19cc-4299-9abe-4d49fdee2a94">
              <a:extLst>
                <a:ext uri="{FF2B5EF4-FFF2-40B4-BE49-F238E27FC236}">
                  <a16:creationId xmlns:a16="http://schemas.microsoft.com/office/drawing/2014/main" id="{99AEB1B7-E94D-FBF8-6844-B6FFE6139B43}"/>
                </a:ext>
              </a:extLst>
            </p:cNvPr>
            <p:cNvGrpSpPr/>
            <p:nvPr/>
          </p:nvGrpSpPr>
          <p:grpSpPr>
            <a:xfrm>
              <a:off x="6218610" y="1609661"/>
              <a:ext cx="2668215" cy="3714431"/>
              <a:chOff x="771119" y="1763665"/>
              <a:chExt cx="2668215" cy="3714431"/>
            </a:xfrm>
          </p:grpSpPr>
          <p:grpSp>
            <p:nvGrpSpPr>
              <p:cNvPr id="100" name="组合 99" descr="1a03ab90-9e1a-443b-8485-2ac04c1b9407">
                <a:extLst>
                  <a:ext uri="{FF2B5EF4-FFF2-40B4-BE49-F238E27FC236}">
                    <a16:creationId xmlns:a16="http://schemas.microsoft.com/office/drawing/2014/main" id="{7D902118-49BC-72F2-8335-D146C241E6F9}"/>
                  </a:ext>
                </a:extLst>
              </p:cNvPr>
              <p:cNvGrpSpPr>
                <a:grpSpLocks noChangeAspect="1"/>
              </p:cNvGrpSpPr>
              <p:nvPr/>
            </p:nvGrpSpPr>
            <p:grpSpPr>
              <a:xfrm>
                <a:off x="771119" y="1763665"/>
                <a:ext cx="2668215" cy="3714431"/>
                <a:chOff x="4389868" y="1115251"/>
                <a:chExt cx="3637755" cy="4364429"/>
              </a:xfrm>
            </p:grpSpPr>
            <p:sp>
              <p:nvSpPr>
                <p:cNvPr id="102" name="矩形: 圆顶角 1" descr="a65c83de-f45a-495b-8a32-3db7a9d0a516">
                  <a:extLst>
                    <a:ext uri="{FF2B5EF4-FFF2-40B4-BE49-F238E27FC236}">
                      <a16:creationId xmlns:a16="http://schemas.microsoft.com/office/drawing/2014/main" id="{EA4399BD-C177-27D9-790B-0D864F9E7067}"/>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3" name="Bullet3" descr="d9d64375-e8a9-4da3-8864-69a39aa7d8e2">
                  <a:extLst>
                    <a:ext uri="{FF2B5EF4-FFF2-40B4-BE49-F238E27FC236}">
                      <a16:creationId xmlns:a16="http://schemas.microsoft.com/office/drawing/2014/main" id="{5C9E5A82-5539-A323-02EC-7B2C9A020485}"/>
                    </a:ext>
                  </a:extLst>
                </p:cNvPr>
                <p:cNvSpPr txBox="1"/>
                <p:nvPr/>
              </p:nvSpPr>
              <p:spPr>
                <a:xfrm>
                  <a:off x="4635676" y="1115251"/>
                  <a:ext cx="3071818" cy="760021"/>
                </a:xfrm>
                <a:prstGeom prst="rect">
                  <a:avLst/>
                </a:prstGeom>
                <a:noFill/>
                <a:ln>
                  <a:noFill/>
                </a:ln>
              </p:spPr>
              <p:txBody>
                <a:bodyPr wrap="square" lIns="91440" tIns="45720" rIns="91440" bIns="45720" anchor="b" anchorCtr="0">
                  <a:noAutofit/>
                </a:bodyPr>
                <a:lstStyle/>
                <a:p>
                  <a:pPr marL="285750" indent="-285750" algn="ctr">
                    <a:spcBef>
                      <a:spcPct val="0"/>
                    </a:spcBef>
                    <a:spcAft>
                      <a:spcPct val="0"/>
                    </a:spcAft>
                    <a:buFont typeface="Arial" panose="020B0604020202020204" pitchFamily="34" charset="0"/>
                    <a:buChar char="•"/>
                  </a:pPr>
                  <a:r>
                    <a:rPr lang="en-US" sz="2000" b="1" i="0" u="none" strike="noStrike" dirty="0" err="1">
                      <a:solidFill>
                        <a:srgbClr val="000000"/>
                      </a:solidFill>
                      <a:ea typeface="微软雅黑"/>
                    </a:rPr>
                    <a:t>应对挑战技术</a:t>
                  </a:r>
                  <a:endParaRPr lang="en-US" sz="2000" b="1" i="0" u="none" strike="noStrike" dirty="0">
                    <a:solidFill>
                      <a:srgbClr val="000000"/>
                    </a:solidFill>
                    <a:ea typeface="微软雅黑"/>
                  </a:endParaRPr>
                </a:p>
              </p:txBody>
            </p:sp>
            <p:sp>
              <p:nvSpPr>
                <p:cNvPr id="104" name="Text3" descr="5c78ce96-c41e-4252-b045-4e3b2b4d13aa">
                  <a:extLst>
                    <a:ext uri="{FF2B5EF4-FFF2-40B4-BE49-F238E27FC236}">
                      <a16:creationId xmlns:a16="http://schemas.microsoft.com/office/drawing/2014/main" id="{FDAE0712-ECE9-F2AF-E0D4-BC7F6409DB9E}"/>
                    </a:ext>
                  </a:extLst>
                </p:cNvPr>
                <p:cNvSpPr txBox="1"/>
                <p:nvPr/>
              </p:nvSpPr>
              <p:spPr>
                <a:xfrm>
                  <a:off x="4567898" y="2503159"/>
                  <a:ext cx="3459725" cy="2047356"/>
                </a:xfrm>
                <a:prstGeom prst="rect">
                  <a:avLst/>
                </a:prstGeom>
                <a:noFill/>
                <a:ln>
                  <a:noFill/>
                </a:ln>
              </p:spPr>
              <p:txBody>
                <a:bodyPr wrap="square" lIns="91440" tIns="45720" rIns="91440" bIns="45720" anchor="t" anchorCtr="0">
                  <a:noAutofit/>
                </a:bodyPr>
                <a:lstStyle/>
                <a:p>
                  <a:pPr marL="171450" indent="-171450">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高性能计算与内存优化技术是应对海量数据处理、低延迟响应与高并发访问挑战的关键</a:t>
                  </a:r>
                  <a:r>
                    <a:rPr lang="en-US" sz="2000" b="0" i="0" u="none" strike="noStrike" dirty="0">
                      <a:solidFill>
                        <a:srgbClr val="000000"/>
                      </a:solidFill>
                      <a:ea typeface="微软雅黑"/>
                    </a:rPr>
                    <a:t>。</a:t>
                  </a:r>
                </a:p>
              </p:txBody>
            </p:sp>
          </p:grpSp>
          <p:cxnSp>
            <p:nvCxnSpPr>
              <p:cNvPr id="101" name="直接连接符 100" descr="03c054d6-0694-4ce3-9897-d21e209dcca0">
                <a:extLst>
                  <a:ext uri="{FF2B5EF4-FFF2-40B4-BE49-F238E27FC236}">
                    <a16:creationId xmlns:a16="http://schemas.microsoft.com/office/drawing/2014/main" id="{76A7396F-7F25-767D-3B19-CECF3B71A775}"/>
                  </a:ext>
                </a:extLst>
              </p:cNvPr>
              <p:cNvCxnSpPr/>
              <p:nvPr/>
            </p:nvCxnSpPr>
            <p:spPr>
              <a:xfrm>
                <a:off x="901700" y="3365500"/>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105" name="组合 104" descr="13418aab-fc69-467e-8556-90e1304661ab">
              <a:extLst>
                <a:ext uri="{FF2B5EF4-FFF2-40B4-BE49-F238E27FC236}">
                  <a16:creationId xmlns:a16="http://schemas.microsoft.com/office/drawing/2014/main" id="{0169455A-C85A-6ED6-DA72-80A81D62FA9D}"/>
                </a:ext>
              </a:extLst>
            </p:cNvPr>
            <p:cNvGrpSpPr/>
            <p:nvPr/>
          </p:nvGrpSpPr>
          <p:grpSpPr>
            <a:xfrm>
              <a:off x="8970035" y="1609661"/>
              <a:ext cx="2704261" cy="3714431"/>
              <a:chOff x="771118" y="1763665"/>
              <a:chExt cx="2704261" cy="3714431"/>
            </a:xfrm>
          </p:grpSpPr>
          <p:grpSp>
            <p:nvGrpSpPr>
              <p:cNvPr id="106" name="组合 105" descr="f5f872d0-a364-46e9-af51-ef3e794a5f8b">
                <a:extLst>
                  <a:ext uri="{FF2B5EF4-FFF2-40B4-BE49-F238E27FC236}">
                    <a16:creationId xmlns:a16="http://schemas.microsoft.com/office/drawing/2014/main" id="{A6B4F70A-4551-F760-11BA-4F2695D3C600}"/>
                  </a:ext>
                </a:extLst>
              </p:cNvPr>
              <p:cNvGrpSpPr>
                <a:grpSpLocks noChangeAspect="1"/>
              </p:cNvGrpSpPr>
              <p:nvPr/>
            </p:nvGrpSpPr>
            <p:grpSpPr>
              <a:xfrm>
                <a:off x="771118" y="1763665"/>
                <a:ext cx="2704261" cy="3714431"/>
                <a:chOff x="4389868" y="1115251"/>
                <a:chExt cx="3686900" cy="4364429"/>
              </a:xfrm>
            </p:grpSpPr>
            <p:sp>
              <p:nvSpPr>
                <p:cNvPr id="108" name="矩形: 圆顶角 1" descr="8db501ec-7a82-48c0-bbfb-7f2557b5bb12">
                  <a:extLst>
                    <a:ext uri="{FF2B5EF4-FFF2-40B4-BE49-F238E27FC236}">
                      <a16:creationId xmlns:a16="http://schemas.microsoft.com/office/drawing/2014/main" id="{98C406FE-E211-481B-D363-4B6EBAC0D789}"/>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9" name="Bullet4" descr="505586e1-1a54-4352-afda-4899da450cc2">
                  <a:extLst>
                    <a:ext uri="{FF2B5EF4-FFF2-40B4-BE49-F238E27FC236}">
                      <a16:creationId xmlns:a16="http://schemas.microsoft.com/office/drawing/2014/main" id="{7A9E4534-C944-ED24-97D9-403B58A23BFF}"/>
                    </a:ext>
                  </a:extLst>
                </p:cNvPr>
                <p:cNvSpPr txBox="1"/>
                <p:nvPr/>
              </p:nvSpPr>
              <p:spPr>
                <a:xfrm>
                  <a:off x="4553745" y="1115251"/>
                  <a:ext cx="3071818" cy="760021"/>
                </a:xfrm>
                <a:prstGeom prst="rect">
                  <a:avLst/>
                </a:prstGeom>
                <a:noFill/>
                <a:ln>
                  <a:noFill/>
                </a:ln>
              </p:spPr>
              <p:txBody>
                <a:bodyPr wrap="square" lIns="91440" tIns="45720" rIns="91440" bIns="45720" anchor="b" anchorCtr="0">
                  <a:noAutofit/>
                </a:bodyPr>
                <a:lstStyle/>
                <a:p>
                  <a:pPr marL="285750" indent="-285750" algn="ctr">
                    <a:spcBef>
                      <a:spcPct val="0"/>
                    </a:spcBef>
                    <a:spcAft>
                      <a:spcPct val="0"/>
                    </a:spcAft>
                    <a:buFont typeface="Arial" panose="020B0604020202020204" pitchFamily="34" charset="0"/>
                    <a:buChar char="•"/>
                  </a:pPr>
                  <a:r>
                    <a:rPr lang="en-US" sz="2000" b="1" i="0" u="none" strike="noStrike" dirty="0" err="1">
                      <a:solidFill>
                        <a:srgbClr val="000000"/>
                      </a:solidFill>
                      <a:ea typeface="微软雅黑"/>
                    </a:rPr>
                    <a:t>技术作用体现</a:t>
                  </a:r>
                  <a:endParaRPr lang="en-US" sz="2000" b="1" i="0" u="none" strike="noStrike" dirty="0">
                    <a:solidFill>
                      <a:srgbClr val="000000"/>
                    </a:solidFill>
                    <a:ea typeface="微软雅黑"/>
                  </a:endParaRPr>
                </a:p>
              </p:txBody>
            </p:sp>
            <p:sp>
              <p:nvSpPr>
                <p:cNvPr id="110" name="Text4" descr="1c9753e0-5d16-4e53-ae60-888f8453bc07">
                  <a:extLst>
                    <a:ext uri="{FF2B5EF4-FFF2-40B4-BE49-F238E27FC236}">
                      <a16:creationId xmlns:a16="http://schemas.microsoft.com/office/drawing/2014/main" id="{B7E502F2-091A-CAFE-25E5-2776244EECF3}"/>
                    </a:ext>
                  </a:extLst>
                </p:cNvPr>
                <p:cNvSpPr txBox="1"/>
                <p:nvPr/>
              </p:nvSpPr>
              <p:spPr>
                <a:xfrm>
                  <a:off x="4567898" y="2503159"/>
                  <a:ext cx="3508870" cy="2047356"/>
                </a:xfrm>
                <a:prstGeom prst="rect">
                  <a:avLst/>
                </a:prstGeom>
                <a:noFill/>
                <a:ln>
                  <a:noFill/>
                </a:ln>
              </p:spPr>
              <p:txBody>
                <a:bodyPr wrap="square" lIns="91440" tIns="45720" rIns="91440" bIns="45720" anchor="t" anchorCtr="0">
                  <a:normAutofit/>
                </a:bodyPr>
                <a:lstStyle/>
                <a:p>
                  <a:pPr marL="171450" indent="-171450">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高性能计算提升数据处理与模型计算吞吐量与响应速度，内存优化提升数据库性能</a:t>
                  </a:r>
                  <a:r>
                    <a:rPr lang="en-US" b="0" i="0" u="none" strike="noStrike" dirty="0">
                      <a:solidFill>
                        <a:srgbClr val="000000"/>
                      </a:solidFill>
                      <a:ea typeface="微软雅黑"/>
                    </a:rPr>
                    <a:t>。</a:t>
                  </a:r>
                </a:p>
              </p:txBody>
            </p:sp>
          </p:grpSp>
          <p:cxnSp>
            <p:nvCxnSpPr>
              <p:cNvPr id="107" name="直接连接符 106" descr="048feb98-8cc9-4d23-865a-4893adce891f">
                <a:extLst>
                  <a:ext uri="{FF2B5EF4-FFF2-40B4-BE49-F238E27FC236}">
                    <a16:creationId xmlns:a16="http://schemas.microsoft.com/office/drawing/2014/main" id="{7BEFA3FE-ABE1-A6D9-09D0-81643270A7B3}"/>
                  </a:ext>
                </a:extLst>
              </p:cNvPr>
              <p:cNvCxnSpPr/>
              <p:nvPr/>
            </p:nvCxnSpPr>
            <p:spPr>
              <a:xfrm>
                <a:off x="901700" y="3365500"/>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灯片编号占位符 3"/>
          <p:cNvSpPr>
            <a:spLocks noGrp="1"/>
          </p:cNvSpPr>
          <p:nvPr>
            <p:ph type="sldNum" sz="quarter" idx="12"/>
          </p:nvPr>
        </p:nvSpPr>
        <p:spPr/>
        <p:txBody>
          <a:bodyPr vert="horz" wrap="square" lIns="91440" tIns="45720" rIns="91440" bIns="45720" numCol="1" anchor="ctr" anchorCtr="0" compatLnSpc="1"/>
          <a:lstStyle/>
          <a:p>
            <a:pPr algn="ctr" fontAlgn="base">
              <a:spcBef>
                <a:spcPct val="0"/>
              </a:spcBef>
              <a:spcAft>
                <a:spcPct val="0"/>
              </a:spcAft>
            </a:pPr>
            <a:fld id="{9A0DB2DC-4C9A-4742-B13C-FB6460FD3503}" type="slidenum">
              <a:rPr lang="en-US" altLang="zh-CN" sz="1000" b="1" dirty="0">
                <a:solidFill>
                  <a:srgbClr val="E40000"/>
                </a:solidFill>
                <a:latin typeface="Times New Roman" panose="02020603050405020304" charset="0"/>
                <a:ea typeface="隶书" panose="02010509060101010101" pitchFamily="49" charset="-122"/>
              </a:rPr>
              <a:pPr algn="ctr" fontAlgn="base">
                <a:spcBef>
                  <a:spcPct val="0"/>
                </a:spcBef>
                <a:spcAft>
                  <a:spcPct val="0"/>
                </a:spcAft>
              </a:pPr>
              <a:t>5</a:t>
            </a:fld>
            <a:endParaRPr lang="en-US" altLang="zh-CN" sz="1000" b="1" dirty="0">
              <a:solidFill>
                <a:srgbClr val="E40000"/>
              </a:solidFill>
              <a:latin typeface="Times New Roman" panose="02020603050405020304" charset="0"/>
              <a:ea typeface="隶书" panose="02010509060101010101" pitchFamily="49" charset="-122"/>
            </a:endParaRPr>
          </a:p>
        </p:txBody>
      </p:sp>
      <p:sp>
        <p:nvSpPr>
          <p:cNvPr id="290819" name="标题 1"/>
          <p:cNvSpPr>
            <a:spLocks noGrp="1" noRot="1"/>
          </p:cNvSpPr>
          <p:nvPr>
            <p:ph type="title"/>
          </p:nvPr>
        </p:nvSpPr>
        <p:spPr>
          <a:xfrm>
            <a:off x="2209800" y="328613"/>
            <a:ext cx="7772400" cy="1143000"/>
          </a:xfrm>
        </p:spPr>
        <p:txBody>
          <a:bodyPr wrap="square" lIns="91440" tIns="45720" rIns="91440" bIns="45720" anchor="ctr"/>
          <a:lstStyle/>
          <a:p>
            <a:r>
              <a:rPr lang="en-US" altLang="zh-CN" sz="3200" b="1" dirty="0"/>
              <a:t>AI</a:t>
            </a:r>
            <a:r>
              <a:rPr lang="zh-CN" altLang="en-US" sz="3200" b="1" dirty="0"/>
              <a:t>数据库的核心特征</a:t>
            </a:r>
          </a:p>
        </p:txBody>
      </p:sp>
      <p:graphicFrame>
        <p:nvGraphicFramePr>
          <p:cNvPr id="3" name="表格 2"/>
          <p:cNvGraphicFramePr>
            <a:graphicFrameLocks noGrp="1"/>
          </p:cNvGraphicFramePr>
          <p:nvPr>
            <p:extLst>
              <p:ext uri="{D42A27DB-BD31-4B8C-83A1-F6EECF244321}">
                <p14:modId xmlns:p14="http://schemas.microsoft.com/office/powerpoint/2010/main" val="2953440991"/>
              </p:ext>
            </p:extLst>
          </p:nvPr>
        </p:nvGraphicFramePr>
        <p:xfrm>
          <a:off x="1264854" y="1888932"/>
          <a:ext cx="9800594" cy="4543928"/>
        </p:xfrm>
        <a:graphic>
          <a:graphicData uri="http://schemas.openxmlformats.org/drawingml/2006/table">
            <a:tbl>
              <a:tblPr firstRow="1" firstCol="1" bandRow="1">
                <a:tableStyleId>{5C22544A-7EE6-4342-B048-85BDC9FD1C3A}</a:tableStyleId>
              </a:tblPr>
              <a:tblGrid>
                <a:gridCol w="3646565">
                  <a:extLst>
                    <a:ext uri="{9D8B030D-6E8A-4147-A177-3AD203B41FA5}">
                      <a16:colId xmlns:a16="http://schemas.microsoft.com/office/drawing/2014/main" val="2955851808"/>
                    </a:ext>
                  </a:extLst>
                </a:gridCol>
                <a:gridCol w="6154029">
                  <a:extLst>
                    <a:ext uri="{9D8B030D-6E8A-4147-A177-3AD203B41FA5}">
                      <a16:colId xmlns:a16="http://schemas.microsoft.com/office/drawing/2014/main" val="2074295412"/>
                    </a:ext>
                  </a:extLst>
                </a:gridCol>
              </a:tblGrid>
              <a:tr h="678782">
                <a:tc>
                  <a:txBody>
                    <a:bodyPr/>
                    <a:lstStyle/>
                    <a:p>
                      <a:pPr algn="ctr">
                        <a:spcBef>
                          <a:spcPts val="800"/>
                        </a:spcBef>
                        <a:spcAft>
                          <a:spcPts val="0"/>
                        </a:spcAft>
                      </a:pPr>
                      <a:r>
                        <a:rPr lang="zh-CN" sz="3200" kern="100" baseline="0" dirty="0">
                          <a:solidFill>
                            <a:srgbClr val="FF0000"/>
                          </a:solidFill>
                          <a:effectLst/>
                        </a:rPr>
                        <a:t>特征</a:t>
                      </a:r>
                      <a:endParaRPr lang="zh-CN" sz="2400" kern="100" baseline="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spcBef>
                          <a:spcPts val="800"/>
                        </a:spcBef>
                        <a:spcAft>
                          <a:spcPts val="0"/>
                        </a:spcAft>
                      </a:pPr>
                      <a:r>
                        <a:rPr lang="zh-CN" sz="3200" kern="100" baseline="0" dirty="0">
                          <a:solidFill>
                            <a:srgbClr val="FF0000"/>
                          </a:solidFill>
                          <a:effectLst/>
                        </a:rPr>
                        <a:t>说明</a:t>
                      </a:r>
                      <a:endParaRPr lang="zh-CN" sz="2400" kern="100" baseline="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33353351"/>
                  </a:ext>
                </a:extLst>
              </a:tr>
              <a:tr h="678782">
                <a:tc>
                  <a:txBody>
                    <a:bodyPr/>
                    <a:lstStyle/>
                    <a:p>
                      <a:pPr algn="l">
                        <a:spcBef>
                          <a:spcPts val="800"/>
                        </a:spcBef>
                        <a:spcAft>
                          <a:spcPts val="0"/>
                        </a:spcAft>
                      </a:pPr>
                      <a:r>
                        <a:rPr lang="en-US" sz="2000" kern="100" baseline="0" dirty="0">
                          <a:solidFill>
                            <a:srgbClr val="FF0000"/>
                          </a:solidFill>
                          <a:effectLst/>
                        </a:rPr>
                        <a:t>1. </a:t>
                      </a:r>
                      <a:r>
                        <a:rPr lang="zh-CN" sz="2000" kern="100" baseline="0" dirty="0">
                          <a:solidFill>
                            <a:srgbClr val="FF0000"/>
                          </a:solidFill>
                          <a:effectLst/>
                        </a:rPr>
                        <a:t>大规模数据处理能力</a:t>
                      </a:r>
                      <a:endParaRPr lang="zh-CN" sz="1600" kern="100" baseline="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l">
                        <a:spcBef>
                          <a:spcPts val="800"/>
                        </a:spcBef>
                        <a:spcAft>
                          <a:spcPts val="0"/>
                        </a:spcAft>
                      </a:pPr>
                      <a:r>
                        <a:rPr lang="zh-CN" sz="2000" kern="100" dirty="0">
                          <a:effectLst/>
                        </a:rPr>
                        <a:t>支持结构化、非结构化（文本、图像、音频、视频）和半结构化数据的统一存储与管理，适应</a:t>
                      </a:r>
                      <a:r>
                        <a:rPr lang="en-US" sz="2000" kern="100" dirty="0">
                          <a:effectLst/>
                        </a:rPr>
                        <a:t>AI</a:t>
                      </a:r>
                      <a:r>
                        <a:rPr lang="zh-CN" sz="2000" kern="100" dirty="0">
                          <a:effectLst/>
                        </a:rPr>
                        <a:t>训练所需海量数据</a:t>
                      </a:r>
                      <a:r>
                        <a:rPr lang="zh-CN" altLang="en-US" sz="2000" kern="100" dirty="0">
                          <a:effectLst/>
                        </a:rPr>
                        <a:t>智能化的管理</a:t>
                      </a:r>
                      <a:r>
                        <a:rPr lang="zh-CN" sz="2000" kern="100" dirty="0">
                          <a:effectLst/>
                        </a:rPr>
                        <a:t>。</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290386661"/>
                  </a:ext>
                </a:extLst>
              </a:tr>
              <a:tr h="678782">
                <a:tc>
                  <a:txBody>
                    <a:bodyPr/>
                    <a:lstStyle/>
                    <a:p>
                      <a:pPr algn="l">
                        <a:spcBef>
                          <a:spcPts val="800"/>
                        </a:spcBef>
                        <a:spcAft>
                          <a:spcPts val="0"/>
                        </a:spcAft>
                      </a:pPr>
                      <a:r>
                        <a:rPr lang="en-US" sz="2000" kern="100" baseline="0" dirty="0">
                          <a:solidFill>
                            <a:srgbClr val="FF0000"/>
                          </a:solidFill>
                          <a:effectLst/>
                        </a:rPr>
                        <a:t>2. </a:t>
                      </a:r>
                      <a:r>
                        <a:rPr lang="zh-CN" sz="2000" kern="100" baseline="0" dirty="0">
                          <a:solidFill>
                            <a:srgbClr val="FF0000"/>
                          </a:solidFill>
                          <a:effectLst/>
                        </a:rPr>
                        <a:t>高性能计算与并行处理</a:t>
                      </a:r>
                      <a:endParaRPr lang="zh-CN" sz="1600" kern="100" baseline="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l">
                        <a:spcBef>
                          <a:spcPts val="800"/>
                        </a:spcBef>
                        <a:spcAft>
                          <a:spcPts val="0"/>
                        </a:spcAft>
                      </a:pPr>
                      <a:r>
                        <a:rPr lang="zh-CN" sz="2000" kern="100" dirty="0">
                          <a:effectLst/>
                        </a:rPr>
                        <a:t>采用</a:t>
                      </a:r>
                      <a:r>
                        <a:rPr lang="zh-CN" altLang="en-US" sz="2000" kern="100" dirty="0">
                          <a:effectLst/>
                        </a:rPr>
                        <a:t>新型硬件、</a:t>
                      </a:r>
                      <a:r>
                        <a:rPr lang="zh-CN" sz="2000" kern="100" dirty="0">
                          <a:effectLst/>
                        </a:rPr>
                        <a:t>分布式架构、并行计算与内存优化技术，提升数据处理速度，缩短模型训练与推理延迟。如</a:t>
                      </a:r>
                      <a:r>
                        <a:rPr lang="en-US" sz="2000" kern="100" dirty="0" err="1">
                          <a:effectLst/>
                        </a:rPr>
                        <a:t>OpenMLDB</a:t>
                      </a:r>
                      <a:r>
                        <a:rPr lang="zh-CN" sz="2000" kern="100" dirty="0">
                          <a:effectLst/>
                        </a:rPr>
                        <a:t>通过统一编码优化降低内存占用。</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3453879780"/>
                  </a:ext>
                </a:extLst>
              </a:tr>
              <a:tr h="678782">
                <a:tc>
                  <a:txBody>
                    <a:bodyPr/>
                    <a:lstStyle/>
                    <a:p>
                      <a:pPr algn="l">
                        <a:spcBef>
                          <a:spcPts val="800"/>
                        </a:spcBef>
                        <a:spcAft>
                          <a:spcPts val="0"/>
                        </a:spcAft>
                      </a:pPr>
                      <a:r>
                        <a:rPr lang="en-US" sz="2000" kern="100" baseline="0" dirty="0">
                          <a:solidFill>
                            <a:srgbClr val="FF0000"/>
                          </a:solidFill>
                          <a:effectLst/>
                        </a:rPr>
                        <a:t>3. </a:t>
                      </a:r>
                      <a:r>
                        <a:rPr lang="zh-CN" sz="2000" kern="100" baseline="0" dirty="0">
                          <a:solidFill>
                            <a:srgbClr val="FF0000"/>
                          </a:solidFill>
                          <a:effectLst/>
                        </a:rPr>
                        <a:t>多模型支持与模型管理</a:t>
                      </a:r>
                      <a:endParaRPr lang="zh-CN" sz="1600" kern="100" baseline="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l">
                        <a:spcBef>
                          <a:spcPts val="800"/>
                        </a:spcBef>
                        <a:spcAft>
                          <a:spcPts val="0"/>
                        </a:spcAft>
                      </a:pPr>
                      <a:r>
                        <a:rPr lang="zh-CN" sz="2000" kern="100" dirty="0">
                          <a:effectLst/>
                        </a:rPr>
                        <a:t>可存储和管理多种</a:t>
                      </a:r>
                      <a:r>
                        <a:rPr lang="en-US" sz="2000" kern="100" dirty="0">
                          <a:effectLst/>
                        </a:rPr>
                        <a:t>AI</a:t>
                      </a:r>
                      <a:r>
                        <a:rPr lang="zh-CN" sz="2000" kern="100" dirty="0">
                          <a:effectLst/>
                        </a:rPr>
                        <a:t>模型（如</a:t>
                      </a:r>
                      <a:r>
                        <a:rPr lang="en-US" sz="2000" kern="100" dirty="0">
                          <a:effectLst/>
                        </a:rPr>
                        <a:t>NLP</a:t>
                      </a:r>
                      <a:r>
                        <a:rPr lang="zh-CN" sz="2000" kern="100" dirty="0">
                          <a:effectLst/>
                        </a:rPr>
                        <a:t>、</a:t>
                      </a:r>
                      <a:r>
                        <a:rPr lang="en-US" sz="2000" kern="100" dirty="0">
                          <a:effectLst/>
                        </a:rPr>
                        <a:t>CV</a:t>
                      </a:r>
                      <a:r>
                        <a:rPr lang="zh-CN" sz="2000" kern="100" dirty="0">
                          <a:effectLst/>
                        </a:rPr>
                        <a:t>、推荐模型），支持版本控制、部署调度与在线调用接口。</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4085362350"/>
                  </a:ext>
                </a:extLst>
              </a:tr>
              <a:tr h="678782">
                <a:tc>
                  <a:txBody>
                    <a:bodyPr/>
                    <a:lstStyle/>
                    <a:p>
                      <a:pPr algn="l">
                        <a:spcBef>
                          <a:spcPts val="800"/>
                        </a:spcBef>
                        <a:spcAft>
                          <a:spcPts val="0"/>
                        </a:spcAft>
                      </a:pPr>
                      <a:r>
                        <a:rPr lang="en-US" sz="2000" kern="100" baseline="0" dirty="0">
                          <a:solidFill>
                            <a:srgbClr val="FF0000"/>
                          </a:solidFill>
                          <a:effectLst/>
                        </a:rPr>
                        <a:t>4. </a:t>
                      </a:r>
                      <a:r>
                        <a:rPr lang="zh-CN" sz="2000" kern="100" baseline="0" dirty="0">
                          <a:solidFill>
                            <a:srgbClr val="FF0000"/>
                          </a:solidFill>
                          <a:effectLst/>
                        </a:rPr>
                        <a:t>高可靠性与安全性</a:t>
                      </a:r>
                      <a:endParaRPr lang="zh-CN" sz="1600" kern="100" baseline="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l">
                        <a:spcBef>
                          <a:spcPts val="800"/>
                        </a:spcBef>
                        <a:spcAft>
                          <a:spcPts val="0"/>
                        </a:spcAft>
                      </a:pPr>
                      <a:r>
                        <a:rPr lang="zh-CN" sz="2000" kern="100" dirty="0">
                          <a:effectLst/>
                        </a:rPr>
                        <a:t>提供数据备份、容错机制、加密传输与细粒度权限控制，保障敏感数据安全。</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339884046"/>
                  </a:ext>
                </a:extLst>
              </a:tr>
              <a:tr h="678782">
                <a:tc>
                  <a:txBody>
                    <a:bodyPr/>
                    <a:lstStyle/>
                    <a:p>
                      <a:pPr algn="l">
                        <a:spcBef>
                          <a:spcPts val="800"/>
                        </a:spcBef>
                        <a:spcAft>
                          <a:spcPts val="0"/>
                        </a:spcAft>
                      </a:pPr>
                      <a:r>
                        <a:rPr lang="en-US" sz="2000" kern="100" baseline="0" dirty="0">
                          <a:solidFill>
                            <a:srgbClr val="FF0000"/>
                          </a:solidFill>
                          <a:effectLst/>
                        </a:rPr>
                        <a:t>5. </a:t>
                      </a:r>
                      <a:r>
                        <a:rPr lang="zh-CN" sz="2000" kern="100" baseline="0" dirty="0">
                          <a:solidFill>
                            <a:srgbClr val="FF0000"/>
                          </a:solidFill>
                          <a:effectLst/>
                        </a:rPr>
                        <a:t>灵活查询与智能分析</a:t>
                      </a:r>
                      <a:endParaRPr lang="zh-CN" sz="1600" kern="100" baseline="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l">
                        <a:spcBef>
                          <a:spcPts val="800"/>
                        </a:spcBef>
                        <a:spcAft>
                          <a:spcPts val="0"/>
                        </a:spcAft>
                      </a:pPr>
                      <a:r>
                        <a:rPr lang="zh-CN" sz="2000" kern="100" dirty="0">
                          <a:effectLst/>
                        </a:rPr>
                        <a:t>支持自然语言查询、语义检索、相似性搜索（如</a:t>
                      </a:r>
                      <a:r>
                        <a:rPr lang="en-US" sz="2000" kern="100" dirty="0">
                          <a:effectLst/>
                        </a:rPr>
                        <a:t>ANN</a:t>
                      </a:r>
                      <a:r>
                        <a:rPr lang="zh-CN" sz="2000" kern="100" dirty="0">
                          <a:effectLst/>
                        </a:rPr>
                        <a:t>近似最近邻），提升数据洞察效率。</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86911885"/>
                  </a:ext>
                </a:extLst>
              </a:tr>
            </a:tbl>
          </a:graphicData>
        </a:graphic>
      </p:graphicFrame>
    </p:spTree>
    <p:extLst>
      <p:ext uri="{BB962C8B-B14F-4D97-AF65-F5344CB8AC3E}">
        <p14:creationId xmlns:p14="http://schemas.microsoft.com/office/powerpoint/2010/main" val="3814072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3200" b="1" dirty="0" err="1"/>
              <a:t>AI数据库核心设计理念</a:t>
            </a:r>
            <a:endParaRPr lang="en-US" sz="3200" b="1" dirty="0"/>
          </a:p>
        </p:txBody>
      </p:sp>
      <p:grpSp>
        <p:nvGrpSpPr>
          <p:cNvPr id="5" name="e5bed833-6d36-48e3-b086-44f1bd744d82.source.3.zh-Hans.pptx" descr="d86a7928-090e-4a91-9f97-9113ded5a963">
            <a:extLst>
              <a:ext uri="{FF2B5EF4-FFF2-40B4-BE49-F238E27FC236}">
                <a16:creationId xmlns:a16="http://schemas.microsoft.com/office/drawing/2014/main" id="{DF256E6B-2516-2F1D-BAEC-8C2C7A3F9CC4}"/>
              </a:ext>
            </a:extLst>
          </p:cNvPr>
          <p:cNvGrpSpPr/>
          <p:nvPr/>
        </p:nvGrpSpPr>
        <p:grpSpPr>
          <a:xfrm>
            <a:off x="675279" y="1730368"/>
            <a:ext cx="10834880" cy="4684531"/>
            <a:chOff x="675279" y="2173469"/>
            <a:chExt cx="10834880" cy="4684531"/>
          </a:xfrm>
        </p:grpSpPr>
        <p:cxnSp>
          <p:nvCxnSpPr>
            <p:cNvPr id="9" name="直接连接符 1" descr="8d96d284-e32f-40de-90f5-89aabce34185">
              <a:extLst>
                <a:ext uri="{FF2B5EF4-FFF2-40B4-BE49-F238E27FC236}">
                  <a16:creationId xmlns:a16="http://schemas.microsoft.com/office/drawing/2014/main" id="{C8E0DEA4-E036-5F9A-9BF6-F7DD8476E682}"/>
                </a:ext>
              </a:extLst>
            </p:cNvPr>
            <p:cNvCxnSpPr>
              <a:cxnSpLocks/>
            </p:cNvCxnSpPr>
            <p:nvPr/>
          </p:nvCxnSpPr>
          <p:spPr>
            <a:xfrm>
              <a:off x="778342" y="2676653"/>
              <a:ext cx="6707" cy="4181347"/>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descr="0341a3cf-70ba-43fe-9d08-91076dba23d5">
              <a:extLst>
                <a:ext uri="{FF2B5EF4-FFF2-40B4-BE49-F238E27FC236}">
                  <a16:creationId xmlns:a16="http://schemas.microsoft.com/office/drawing/2014/main" id="{2E4A5556-D61A-357F-34FD-4928E653ECFA}"/>
                </a:ext>
              </a:extLst>
            </p:cNvPr>
            <p:cNvCxnSpPr>
              <a:cxnSpLocks/>
            </p:cNvCxnSpPr>
            <p:nvPr/>
          </p:nvCxnSpPr>
          <p:spPr>
            <a:xfrm>
              <a:off x="778342" y="2676653"/>
              <a:ext cx="6707" cy="4181347"/>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nvGrpSpPr>
            <p:cNvPr id="22" name="组合 21" descr="6461e78f-92ef-45d6-9cb3-8cfac49a3f52">
              <a:extLst>
                <a:ext uri="{FF2B5EF4-FFF2-40B4-BE49-F238E27FC236}">
                  <a16:creationId xmlns:a16="http://schemas.microsoft.com/office/drawing/2014/main" id="{2244184D-B5C8-B8BC-7A90-32ADBAD0B090}"/>
                </a:ext>
              </a:extLst>
            </p:cNvPr>
            <p:cNvGrpSpPr/>
            <p:nvPr/>
          </p:nvGrpSpPr>
          <p:grpSpPr>
            <a:xfrm>
              <a:off x="675279" y="2173469"/>
              <a:ext cx="10830915" cy="1605350"/>
              <a:chOff x="675279" y="2173469"/>
              <a:chExt cx="10830915" cy="1605350"/>
            </a:xfrm>
          </p:grpSpPr>
          <p:sp>
            <p:nvSpPr>
              <p:cNvPr id="6" name="Icon1" descr="bd15fb55-26f0-4f6e-8ac8-761b0599f599">
                <a:extLst>
                  <a:ext uri="{FF2B5EF4-FFF2-40B4-BE49-F238E27FC236}">
                    <a16:creationId xmlns:a16="http://schemas.microsoft.com/office/drawing/2014/main" id="{89112800-D800-AF10-C51A-8AE1D459559E}"/>
                  </a:ext>
                </a:extLst>
              </p:cNvPr>
              <p:cNvSpPr/>
              <p:nvPr/>
            </p:nvSpPr>
            <p:spPr>
              <a:xfrm>
                <a:off x="675279" y="2461940"/>
                <a:ext cx="219540" cy="219155"/>
              </a:xfrm>
              <a:custGeom>
                <a:avLst/>
                <a:gdLst>
                  <a:gd name="T0" fmla="*/ 2200 w 4400"/>
                  <a:gd name="T1" fmla="*/ 0 h 4400"/>
                  <a:gd name="T2" fmla="*/ 0 w 4400"/>
                  <a:gd name="T3" fmla="*/ 2200 h 4400"/>
                  <a:gd name="T4" fmla="*/ 2200 w 4400"/>
                  <a:gd name="T5" fmla="*/ 4400 h 4400"/>
                  <a:gd name="T6" fmla="*/ 4400 w 4400"/>
                  <a:gd name="T7" fmla="*/ 2200 h 4400"/>
                  <a:gd name="T8" fmla="*/ 2200 w 4400"/>
                  <a:gd name="T9" fmla="*/ 0 h 4400"/>
                  <a:gd name="T10" fmla="*/ 3408 w 4400"/>
                  <a:gd name="T11" fmla="*/ 1941 h 4400"/>
                  <a:gd name="T12" fmla="*/ 2341 w 4400"/>
                  <a:gd name="T13" fmla="*/ 3008 h 4400"/>
                  <a:gd name="T14" fmla="*/ 2200 w 4400"/>
                  <a:gd name="T15" fmla="*/ 3067 h 4400"/>
                  <a:gd name="T16" fmla="*/ 2059 w 4400"/>
                  <a:gd name="T17" fmla="*/ 3008 h 4400"/>
                  <a:gd name="T18" fmla="*/ 992 w 4400"/>
                  <a:gd name="T19" fmla="*/ 1941 h 4400"/>
                  <a:gd name="T20" fmla="*/ 992 w 4400"/>
                  <a:gd name="T21" fmla="*/ 1659 h 4400"/>
                  <a:gd name="T22" fmla="*/ 1275 w 4400"/>
                  <a:gd name="T23" fmla="*/ 1659 h 4400"/>
                  <a:gd name="T24" fmla="*/ 2200 w 4400"/>
                  <a:gd name="T25" fmla="*/ 2584 h 4400"/>
                  <a:gd name="T26" fmla="*/ 3125 w 4400"/>
                  <a:gd name="T27" fmla="*/ 1659 h 4400"/>
                  <a:gd name="T28" fmla="*/ 3408 w 4400"/>
                  <a:gd name="T29" fmla="*/ 1659 h 4400"/>
                  <a:gd name="T30" fmla="*/ 3408 w 4400"/>
                  <a:gd name="T31" fmla="*/ 1941 h 4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00" h="4400">
                    <a:moveTo>
                      <a:pt x="2200" y="0"/>
                    </a:moveTo>
                    <a:cubicBezTo>
                      <a:pt x="987" y="0"/>
                      <a:pt x="0" y="987"/>
                      <a:pt x="0" y="2200"/>
                    </a:cubicBezTo>
                    <a:cubicBezTo>
                      <a:pt x="0" y="3413"/>
                      <a:pt x="987" y="4400"/>
                      <a:pt x="2200" y="4400"/>
                    </a:cubicBezTo>
                    <a:cubicBezTo>
                      <a:pt x="3413" y="4400"/>
                      <a:pt x="4400" y="3413"/>
                      <a:pt x="4400" y="2200"/>
                    </a:cubicBezTo>
                    <a:cubicBezTo>
                      <a:pt x="4400" y="987"/>
                      <a:pt x="3413" y="0"/>
                      <a:pt x="2200" y="0"/>
                    </a:cubicBezTo>
                    <a:close/>
                    <a:moveTo>
                      <a:pt x="3408" y="1941"/>
                    </a:moveTo>
                    <a:lnTo>
                      <a:pt x="2341" y="3008"/>
                    </a:lnTo>
                    <a:cubicBezTo>
                      <a:pt x="2304" y="3046"/>
                      <a:pt x="2253" y="3067"/>
                      <a:pt x="2200" y="3067"/>
                    </a:cubicBezTo>
                    <a:cubicBezTo>
                      <a:pt x="2147" y="3067"/>
                      <a:pt x="2096" y="3046"/>
                      <a:pt x="2059" y="3008"/>
                    </a:cubicBezTo>
                    <a:lnTo>
                      <a:pt x="992" y="1941"/>
                    </a:lnTo>
                    <a:cubicBezTo>
                      <a:pt x="914" y="1863"/>
                      <a:pt x="914" y="1737"/>
                      <a:pt x="992" y="1659"/>
                    </a:cubicBezTo>
                    <a:cubicBezTo>
                      <a:pt x="1070" y="1580"/>
                      <a:pt x="1197" y="1580"/>
                      <a:pt x="1275" y="1659"/>
                    </a:cubicBezTo>
                    <a:lnTo>
                      <a:pt x="2200" y="2584"/>
                    </a:lnTo>
                    <a:lnTo>
                      <a:pt x="3125" y="1659"/>
                    </a:lnTo>
                    <a:cubicBezTo>
                      <a:pt x="3203" y="1580"/>
                      <a:pt x="3330" y="1580"/>
                      <a:pt x="3408" y="1659"/>
                    </a:cubicBezTo>
                    <a:cubicBezTo>
                      <a:pt x="3486" y="1737"/>
                      <a:pt x="3486" y="1863"/>
                      <a:pt x="3408" y="194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7" name="Bullet1" descr="b7c92c6e-5558-476e-9c63-34f9d1cb5068">
                <a:extLst>
                  <a:ext uri="{FF2B5EF4-FFF2-40B4-BE49-F238E27FC236}">
                    <a16:creationId xmlns:a16="http://schemas.microsoft.com/office/drawing/2014/main" id="{4C35D30E-9DAF-E6FA-01B3-684816FA00CD}"/>
                  </a:ext>
                </a:extLst>
              </p:cNvPr>
              <p:cNvSpPr>
                <a:spLocks/>
              </p:cNvSpPr>
              <p:nvPr/>
            </p:nvSpPr>
            <p:spPr>
              <a:xfrm flipH="1">
                <a:off x="982804" y="2173469"/>
                <a:ext cx="10523390" cy="398049"/>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2400" b="1" dirty="0" err="1">
                    <a:solidFill>
                      <a:srgbClr val="000000"/>
                    </a:solidFill>
                    <a:ea typeface="微软雅黑"/>
                  </a:rPr>
                  <a:t>以AI工作流为中心</a:t>
                </a:r>
                <a:endParaRPr lang="en-US" sz="2400" b="1" dirty="0">
                  <a:solidFill>
                    <a:srgbClr val="000000"/>
                  </a:solidFill>
                  <a:ea typeface="微软雅黑"/>
                </a:endParaRPr>
              </a:p>
            </p:txBody>
          </p:sp>
          <p:sp>
            <p:nvSpPr>
              <p:cNvPr id="8" name="Text1" descr="f778acbc-8a5a-4da3-978f-de1a70397e3d">
                <a:extLst>
                  <a:ext uri="{FF2B5EF4-FFF2-40B4-BE49-F238E27FC236}">
                    <a16:creationId xmlns:a16="http://schemas.microsoft.com/office/drawing/2014/main" id="{25367C11-2EF9-F344-7A63-9C2F424ABC1F}"/>
                  </a:ext>
                </a:extLst>
              </p:cNvPr>
              <p:cNvSpPr txBox="1">
                <a:spLocks/>
              </p:cNvSpPr>
              <p:nvPr/>
            </p:nvSpPr>
            <p:spPr>
              <a:xfrm flipH="1">
                <a:off x="982804" y="2681095"/>
                <a:ext cx="10509974" cy="1097724"/>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600" b="1" i="0" u="none" dirty="0" err="1">
                    <a:solidFill>
                      <a:srgbClr val="000000"/>
                    </a:solidFill>
                    <a:latin typeface="Arial"/>
                  </a:rPr>
                  <a:t>AI数据库不再仅服务于事务或分析，而是围绕“数据</a:t>
                </a:r>
                <a:r>
                  <a:rPr lang="en-US" sz="1600" b="1" i="0" u="none" dirty="0">
                    <a:solidFill>
                      <a:srgbClr val="000000"/>
                    </a:solidFill>
                    <a:latin typeface="Arial"/>
                  </a:rPr>
                  <a:t> → </a:t>
                </a:r>
                <a:r>
                  <a:rPr lang="en-US" sz="1600" b="1" i="0" u="none" dirty="0" err="1">
                    <a:solidFill>
                      <a:srgbClr val="000000"/>
                    </a:solidFill>
                    <a:latin typeface="Arial"/>
                  </a:rPr>
                  <a:t>特征</a:t>
                </a:r>
                <a:r>
                  <a:rPr lang="en-US" sz="1600" b="1" i="0" u="none" dirty="0">
                    <a:solidFill>
                      <a:srgbClr val="000000"/>
                    </a:solidFill>
                    <a:latin typeface="Arial"/>
                  </a:rPr>
                  <a:t> → </a:t>
                </a:r>
                <a:r>
                  <a:rPr lang="en-US" sz="1600" b="1" i="0" u="none" dirty="0" err="1">
                    <a:solidFill>
                      <a:srgbClr val="000000"/>
                    </a:solidFill>
                    <a:latin typeface="Arial"/>
                  </a:rPr>
                  <a:t>模型</a:t>
                </a:r>
                <a:r>
                  <a:rPr lang="en-US" sz="1600" b="1" i="0" u="none" dirty="0">
                    <a:solidFill>
                      <a:srgbClr val="000000"/>
                    </a:solidFill>
                    <a:latin typeface="Arial"/>
                  </a:rPr>
                  <a:t> → </a:t>
                </a:r>
                <a:r>
                  <a:rPr lang="en-US" sz="1600" b="1" i="0" u="none" dirty="0" err="1">
                    <a:solidFill>
                      <a:srgbClr val="000000"/>
                    </a:solidFill>
                    <a:latin typeface="Arial"/>
                  </a:rPr>
                  <a:t>推理</a:t>
                </a:r>
                <a:r>
                  <a:rPr lang="en-US" sz="1600" b="1" i="0" u="none" dirty="0">
                    <a:solidFill>
                      <a:srgbClr val="000000"/>
                    </a:solidFill>
                    <a:latin typeface="Arial"/>
                  </a:rPr>
                  <a:t> → </a:t>
                </a:r>
                <a:r>
                  <a:rPr lang="en-US" sz="1600" b="1" i="0" u="none" dirty="0" err="1">
                    <a:solidFill>
                      <a:srgbClr val="000000"/>
                    </a:solidFill>
                    <a:latin typeface="Arial"/>
                  </a:rPr>
                  <a:t>反馈”闭环进行优化</a:t>
                </a:r>
                <a:r>
                  <a:rPr lang="en-US" sz="1600" b="1" i="0" u="none" dirty="0">
                    <a:solidFill>
                      <a:srgbClr val="000000"/>
                    </a:solidFill>
                    <a:latin typeface="Arial"/>
                  </a:rPr>
                  <a:t>。</a:t>
                </a:r>
              </a:p>
              <a:p>
                <a:pPr marL="285750" indent="-285750" algn="l">
                  <a:lnSpc>
                    <a:spcPct val="120000"/>
                  </a:lnSpc>
                  <a:buFont typeface="Arial" panose="020B0604020202020204" pitchFamily="34" charset="0"/>
                  <a:buChar char="•"/>
                </a:pPr>
                <a:r>
                  <a:rPr lang="en-US" sz="1600" b="1" i="0" u="none" dirty="0">
                    <a:solidFill>
                      <a:srgbClr val="000000"/>
                    </a:solidFill>
                    <a:latin typeface="Arial"/>
                  </a:rPr>
                  <a:t>这意味着数据库的所有设计和功能都紧密围绕AI工作流的各个环节，确保数据从输入到输出的全过程都能高效、顺畅地进行，为AI应用的开发和部署提供有力支持。</a:t>
                </a:r>
              </a:p>
            </p:txBody>
          </p:sp>
        </p:grpSp>
        <p:grpSp>
          <p:nvGrpSpPr>
            <p:cNvPr id="23" name="组合 22" descr="e63ac6cd-d2fc-4fbe-9ec2-653fd47f86b6">
              <a:extLst>
                <a:ext uri="{FF2B5EF4-FFF2-40B4-BE49-F238E27FC236}">
                  <a16:creationId xmlns:a16="http://schemas.microsoft.com/office/drawing/2014/main" id="{83C1ED74-FEF1-3D70-E618-C3CB0973664D}"/>
                </a:ext>
              </a:extLst>
            </p:cNvPr>
            <p:cNvGrpSpPr/>
            <p:nvPr/>
          </p:nvGrpSpPr>
          <p:grpSpPr>
            <a:xfrm>
              <a:off x="675279" y="3817082"/>
              <a:ext cx="10830919" cy="1630384"/>
              <a:chOff x="675279" y="3817082"/>
              <a:chExt cx="10830919" cy="1630384"/>
            </a:xfrm>
          </p:grpSpPr>
          <p:sp>
            <p:nvSpPr>
              <p:cNvPr id="10" name="Icon2" descr="35c106e3-4b66-4708-bb05-4445dfb9a560">
                <a:extLst>
                  <a:ext uri="{FF2B5EF4-FFF2-40B4-BE49-F238E27FC236}">
                    <a16:creationId xmlns:a16="http://schemas.microsoft.com/office/drawing/2014/main" id="{6388B819-9EA2-8402-D0F7-345B4E0027BA}"/>
                  </a:ext>
                </a:extLst>
              </p:cNvPr>
              <p:cNvSpPr/>
              <p:nvPr/>
            </p:nvSpPr>
            <p:spPr>
              <a:xfrm>
                <a:off x="675279" y="3817082"/>
                <a:ext cx="219540" cy="219155"/>
              </a:xfrm>
              <a:custGeom>
                <a:avLst/>
                <a:gdLst>
                  <a:gd name="T0" fmla="*/ 2200 w 4400"/>
                  <a:gd name="T1" fmla="*/ 0 h 4400"/>
                  <a:gd name="T2" fmla="*/ 0 w 4400"/>
                  <a:gd name="T3" fmla="*/ 2200 h 4400"/>
                  <a:gd name="T4" fmla="*/ 2200 w 4400"/>
                  <a:gd name="T5" fmla="*/ 4400 h 4400"/>
                  <a:gd name="T6" fmla="*/ 4400 w 4400"/>
                  <a:gd name="T7" fmla="*/ 2200 h 4400"/>
                  <a:gd name="T8" fmla="*/ 2200 w 4400"/>
                  <a:gd name="T9" fmla="*/ 0 h 4400"/>
                  <a:gd name="T10" fmla="*/ 3408 w 4400"/>
                  <a:gd name="T11" fmla="*/ 1941 h 4400"/>
                  <a:gd name="T12" fmla="*/ 2341 w 4400"/>
                  <a:gd name="T13" fmla="*/ 3008 h 4400"/>
                  <a:gd name="T14" fmla="*/ 2200 w 4400"/>
                  <a:gd name="T15" fmla="*/ 3067 h 4400"/>
                  <a:gd name="T16" fmla="*/ 2059 w 4400"/>
                  <a:gd name="T17" fmla="*/ 3008 h 4400"/>
                  <a:gd name="T18" fmla="*/ 992 w 4400"/>
                  <a:gd name="T19" fmla="*/ 1941 h 4400"/>
                  <a:gd name="T20" fmla="*/ 992 w 4400"/>
                  <a:gd name="T21" fmla="*/ 1659 h 4400"/>
                  <a:gd name="T22" fmla="*/ 1275 w 4400"/>
                  <a:gd name="T23" fmla="*/ 1659 h 4400"/>
                  <a:gd name="T24" fmla="*/ 2200 w 4400"/>
                  <a:gd name="T25" fmla="*/ 2584 h 4400"/>
                  <a:gd name="T26" fmla="*/ 3125 w 4400"/>
                  <a:gd name="T27" fmla="*/ 1659 h 4400"/>
                  <a:gd name="T28" fmla="*/ 3408 w 4400"/>
                  <a:gd name="T29" fmla="*/ 1659 h 4400"/>
                  <a:gd name="T30" fmla="*/ 3408 w 4400"/>
                  <a:gd name="T31" fmla="*/ 1941 h 4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00" h="4400">
                    <a:moveTo>
                      <a:pt x="2200" y="0"/>
                    </a:moveTo>
                    <a:cubicBezTo>
                      <a:pt x="987" y="0"/>
                      <a:pt x="0" y="987"/>
                      <a:pt x="0" y="2200"/>
                    </a:cubicBezTo>
                    <a:cubicBezTo>
                      <a:pt x="0" y="3413"/>
                      <a:pt x="987" y="4400"/>
                      <a:pt x="2200" y="4400"/>
                    </a:cubicBezTo>
                    <a:cubicBezTo>
                      <a:pt x="3413" y="4400"/>
                      <a:pt x="4400" y="3413"/>
                      <a:pt x="4400" y="2200"/>
                    </a:cubicBezTo>
                    <a:cubicBezTo>
                      <a:pt x="4400" y="987"/>
                      <a:pt x="3413" y="0"/>
                      <a:pt x="2200" y="0"/>
                    </a:cubicBezTo>
                    <a:close/>
                    <a:moveTo>
                      <a:pt x="3408" y="1941"/>
                    </a:moveTo>
                    <a:lnTo>
                      <a:pt x="2341" y="3008"/>
                    </a:lnTo>
                    <a:cubicBezTo>
                      <a:pt x="2304" y="3046"/>
                      <a:pt x="2253" y="3067"/>
                      <a:pt x="2200" y="3067"/>
                    </a:cubicBezTo>
                    <a:cubicBezTo>
                      <a:pt x="2147" y="3067"/>
                      <a:pt x="2096" y="3046"/>
                      <a:pt x="2059" y="3008"/>
                    </a:cubicBezTo>
                    <a:lnTo>
                      <a:pt x="992" y="1941"/>
                    </a:lnTo>
                    <a:cubicBezTo>
                      <a:pt x="914" y="1863"/>
                      <a:pt x="914" y="1737"/>
                      <a:pt x="992" y="1659"/>
                    </a:cubicBezTo>
                    <a:cubicBezTo>
                      <a:pt x="1070" y="1580"/>
                      <a:pt x="1197" y="1580"/>
                      <a:pt x="1275" y="1659"/>
                    </a:cubicBezTo>
                    <a:lnTo>
                      <a:pt x="2200" y="2584"/>
                    </a:lnTo>
                    <a:lnTo>
                      <a:pt x="3125" y="1659"/>
                    </a:lnTo>
                    <a:cubicBezTo>
                      <a:pt x="3203" y="1580"/>
                      <a:pt x="3330" y="1580"/>
                      <a:pt x="3408" y="1659"/>
                    </a:cubicBezTo>
                    <a:cubicBezTo>
                      <a:pt x="3486" y="1737"/>
                      <a:pt x="3486" y="1863"/>
                      <a:pt x="3408" y="194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1" name="Bullet2" descr="fe35763c-1c91-4313-8032-a19a76c19058">
                <a:extLst>
                  <a:ext uri="{FF2B5EF4-FFF2-40B4-BE49-F238E27FC236}">
                    <a16:creationId xmlns:a16="http://schemas.microsoft.com/office/drawing/2014/main" id="{B12594A8-882F-2CFC-2869-2EB18E4DF7C7}"/>
                  </a:ext>
                </a:extLst>
              </p:cNvPr>
              <p:cNvSpPr>
                <a:spLocks/>
              </p:cNvSpPr>
              <p:nvPr/>
            </p:nvSpPr>
            <p:spPr>
              <a:xfrm flipH="1">
                <a:off x="982808" y="3951693"/>
                <a:ext cx="10523390" cy="398049"/>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2400" b="1" i="0" u="none" dirty="0" err="1">
                    <a:solidFill>
                      <a:srgbClr val="000000"/>
                    </a:solidFill>
                    <a:ea typeface="微软雅黑"/>
                  </a:rPr>
                  <a:t>线上-线下一致性（Online</a:t>
                </a:r>
                <a:r>
                  <a:rPr lang="en-US" sz="2400" b="1" i="0" u="none" dirty="0">
                    <a:solidFill>
                      <a:srgbClr val="000000"/>
                    </a:solidFill>
                    <a:ea typeface="微软雅黑"/>
                  </a:rPr>
                  <a:t> - Offline Consistency）</a:t>
                </a:r>
              </a:p>
            </p:txBody>
          </p:sp>
          <p:sp>
            <p:nvSpPr>
              <p:cNvPr id="12" name="Text2" descr="b91e1195-9914-4ec9-80a3-e13d60fb041e">
                <a:extLst>
                  <a:ext uri="{FF2B5EF4-FFF2-40B4-BE49-F238E27FC236}">
                    <a16:creationId xmlns:a16="http://schemas.microsoft.com/office/drawing/2014/main" id="{44DEDA2F-C8F1-C7FE-2D2E-1AE3F325AEA1}"/>
                  </a:ext>
                </a:extLst>
              </p:cNvPr>
              <p:cNvSpPr txBox="1">
                <a:spLocks/>
              </p:cNvSpPr>
              <p:nvPr/>
            </p:nvSpPr>
            <p:spPr>
              <a:xfrm flipH="1">
                <a:off x="982808" y="4504809"/>
                <a:ext cx="10509973" cy="942657"/>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l">
                  <a:lnSpc>
                    <a:spcPct val="120000"/>
                  </a:lnSpc>
                  <a:buFont typeface="Arial" panose="020B0604020202020204" pitchFamily="34" charset="0"/>
                  <a:buChar char="•"/>
                </a:pPr>
                <a:r>
                  <a:rPr lang="en-US" sz="1400" b="0" i="0" u="none" dirty="0" err="1">
                    <a:solidFill>
                      <a:srgbClr val="000000"/>
                    </a:solidFill>
                    <a:ea typeface="微软雅黑"/>
                  </a:rPr>
                  <a:t>确保离线训练与在线推理使用完全一致的特征计算逻辑，避免“训练</a:t>
                </a:r>
                <a:r>
                  <a:rPr lang="en-US" sz="1400" b="0" i="0" u="none" dirty="0">
                    <a:solidFill>
                      <a:srgbClr val="000000"/>
                    </a:solidFill>
                    <a:ea typeface="微软雅黑"/>
                  </a:rPr>
                  <a:t> - </a:t>
                </a:r>
                <a:r>
                  <a:rPr lang="en-US" sz="1400" b="0" i="0" u="none" dirty="0" err="1">
                    <a:solidFill>
                      <a:srgbClr val="000000"/>
                    </a:solidFill>
                    <a:ea typeface="微软雅黑"/>
                  </a:rPr>
                  <a:t>推理不一致”导致模型失效</a:t>
                </a:r>
                <a:r>
                  <a:rPr lang="en-US" sz="1400" b="0" i="0" u="none" dirty="0">
                    <a:solidFill>
                      <a:srgbClr val="000000"/>
                    </a:solidFill>
                    <a:ea typeface="微软雅黑"/>
                  </a:rPr>
                  <a:t>。</a:t>
                </a:r>
              </a:p>
              <a:p>
                <a:pPr marL="171450" indent="-171450" algn="l">
                  <a:lnSpc>
                    <a:spcPct val="120000"/>
                  </a:lnSpc>
                  <a:buFont typeface="Arial" panose="020B0604020202020204" pitchFamily="34" charset="0"/>
                  <a:buChar char="•"/>
                </a:pPr>
                <a:r>
                  <a:rPr lang="en-US" sz="1400" b="0" i="0" u="none" dirty="0">
                    <a:solidFill>
                      <a:srgbClr val="000000"/>
                    </a:solidFill>
                    <a:ea typeface="微软雅黑"/>
                  </a:rPr>
                  <a:t>在传统的数据库和AI系统中，离线训练和在线推理可能由于数据预处理、特征计算等方面的差异，导致模型在部署后出现性能下降甚至失效的情况。AI数据库通过保证线上线下特征计算逻辑的一致性，解决了这一问题，提高了模型的可靠性和稳定性。</a:t>
                </a:r>
              </a:p>
            </p:txBody>
          </p:sp>
        </p:grpSp>
        <p:grpSp>
          <p:nvGrpSpPr>
            <p:cNvPr id="24" name="组合 23" descr="10041e39-e37d-4494-84e4-8c3d1d19be4f">
              <a:extLst>
                <a:ext uri="{FF2B5EF4-FFF2-40B4-BE49-F238E27FC236}">
                  <a16:creationId xmlns:a16="http://schemas.microsoft.com/office/drawing/2014/main" id="{88823EDD-A27B-9D35-7460-8FE53952A2B0}"/>
                </a:ext>
              </a:extLst>
            </p:cNvPr>
            <p:cNvGrpSpPr/>
            <p:nvPr/>
          </p:nvGrpSpPr>
          <p:grpSpPr>
            <a:xfrm>
              <a:off x="675279" y="5172224"/>
              <a:ext cx="10834880" cy="1635166"/>
              <a:chOff x="675279" y="5172224"/>
              <a:chExt cx="10834880" cy="1635166"/>
            </a:xfrm>
          </p:grpSpPr>
          <p:sp>
            <p:nvSpPr>
              <p:cNvPr id="14" name="Icon3" descr="2432057f-9f18-496f-950d-990a6c6c3de7">
                <a:extLst>
                  <a:ext uri="{FF2B5EF4-FFF2-40B4-BE49-F238E27FC236}">
                    <a16:creationId xmlns:a16="http://schemas.microsoft.com/office/drawing/2014/main" id="{40EDFF1D-9EC2-A800-95D6-86C24D69BCC5}"/>
                  </a:ext>
                </a:extLst>
              </p:cNvPr>
              <p:cNvSpPr/>
              <p:nvPr/>
            </p:nvSpPr>
            <p:spPr>
              <a:xfrm>
                <a:off x="675279" y="5172224"/>
                <a:ext cx="219540" cy="219155"/>
              </a:xfrm>
              <a:custGeom>
                <a:avLst/>
                <a:gdLst>
                  <a:gd name="T0" fmla="*/ 2200 w 4400"/>
                  <a:gd name="T1" fmla="*/ 0 h 4400"/>
                  <a:gd name="T2" fmla="*/ 0 w 4400"/>
                  <a:gd name="T3" fmla="*/ 2200 h 4400"/>
                  <a:gd name="T4" fmla="*/ 2200 w 4400"/>
                  <a:gd name="T5" fmla="*/ 4400 h 4400"/>
                  <a:gd name="T6" fmla="*/ 4400 w 4400"/>
                  <a:gd name="T7" fmla="*/ 2200 h 4400"/>
                  <a:gd name="T8" fmla="*/ 2200 w 4400"/>
                  <a:gd name="T9" fmla="*/ 0 h 4400"/>
                  <a:gd name="T10" fmla="*/ 3408 w 4400"/>
                  <a:gd name="T11" fmla="*/ 1941 h 4400"/>
                  <a:gd name="T12" fmla="*/ 2341 w 4400"/>
                  <a:gd name="T13" fmla="*/ 3008 h 4400"/>
                  <a:gd name="T14" fmla="*/ 2200 w 4400"/>
                  <a:gd name="T15" fmla="*/ 3067 h 4400"/>
                  <a:gd name="T16" fmla="*/ 2059 w 4400"/>
                  <a:gd name="T17" fmla="*/ 3008 h 4400"/>
                  <a:gd name="T18" fmla="*/ 992 w 4400"/>
                  <a:gd name="T19" fmla="*/ 1941 h 4400"/>
                  <a:gd name="T20" fmla="*/ 992 w 4400"/>
                  <a:gd name="T21" fmla="*/ 1659 h 4400"/>
                  <a:gd name="T22" fmla="*/ 1275 w 4400"/>
                  <a:gd name="T23" fmla="*/ 1659 h 4400"/>
                  <a:gd name="T24" fmla="*/ 2200 w 4400"/>
                  <a:gd name="T25" fmla="*/ 2584 h 4400"/>
                  <a:gd name="T26" fmla="*/ 3125 w 4400"/>
                  <a:gd name="T27" fmla="*/ 1659 h 4400"/>
                  <a:gd name="T28" fmla="*/ 3408 w 4400"/>
                  <a:gd name="T29" fmla="*/ 1659 h 4400"/>
                  <a:gd name="T30" fmla="*/ 3408 w 4400"/>
                  <a:gd name="T31" fmla="*/ 1941 h 4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00" h="4400">
                    <a:moveTo>
                      <a:pt x="2200" y="0"/>
                    </a:moveTo>
                    <a:cubicBezTo>
                      <a:pt x="987" y="0"/>
                      <a:pt x="0" y="987"/>
                      <a:pt x="0" y="2200"/>
                    </a:cubicBezTo>
                    <a:cubicBezTo>
                      <a:pt x="0" y="3413"/>
                      <a:pt x="987" y="4400"/>
                      <a:pt x="2200" y="4400"/>
                    </a:cubicBezTo>
                    <a:cubicBezTo>
                      <a:pt x="3413" y="4400"/>
                      <a:pt x="4400" y="3413"/>
                      <a:pt x="4400" y="2200"/>
                    </a:cubicBezTo>
                    <a:cubicBezTo>
                      <a:pt x="4400" y="987"/>
                      <a:pt x="3413" y="0"/>
                      <a:pt x="2200" y="0"/>
                    </a:cubicBezTo>
                    <a:close/>
                    <a:moveTo>
                      <a:pt x="3408" y="1941"/>
                    </a:moveTo>
                    <a:lnTo>
                      <a:pt x="2341" y="3008"/>
                    </a:lnTo>
                    <a:cubicBezTo>
                      <a:pt x="2304" y="3046"/>
                      <a:pt x="2253" y="3067"/>
                      <a:pt x="2200" y="3067"/>
                    </a:cubicBezTo>
                    <a:cubicBezTo>
                      <a:pt x="2147" y="3067"/>
                      <a:pt x="2096" y="3046"/>
                      <a:pt x="2059" y="3008"/>
                    </a:cubicBezTo>
                    <a:lnTo>
                      <a:pt x="992" y="1941"/>
                    </a:lnTo>
                    <a:cubicBezTo>
                      <a:pt x="914" y="1863"/>
                      <a:pt x="914" y="1737"/>
                      <a:pt x="992" y="1659"/>
                    </a:cubicBezTo>
                    <a:cubicBezTo>
                      <a:pt x="1070" y="1580"/>
                      <a:pt x="1197" y="1580"/>
                      <a:pt x="1275" y="1659"/>
                    </a:cubicBezTo>
                    <a:lnTo>
                      <a:pt x="2200" y="2584"/>
                    </a:lnTo>
                    <a:lnTo>
                      <a:pt x="3125" y="1659"/>
                    </a:lnTo>
                    <a:cubicBezTo>
                      <a:pt x="3203" y="1580"/>
                      <a:pt x="3330" y="1580"/>
                      <a:pt x="3408" y="1659"/>
                    </a:cubicBezTo>
                    <a:cubicBezTo>
                      <a:pt x="3486" y="1737"/>
                      <a:pt x="3486" y="1863"/>
                      <a:pt x="3408" y="194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5" name="Bullet3" descr="47a2264c-21c5-4a7e-85e3-0547f0d0b759">
                <a:extLst>
                  <a:ext uri="{FF2B5EF4-FFF2-40B4-BE49-F238E27FC236}">
                    <a16:creationId xmlns:a16="http://schemas.microsoft.com/office/drawing/2014/main" id="{5045AB5C-2C4B-5AE6-44D5-7793E3F8CF5E}"/>
                  </a:ext>
                </a:extLst>
              </p:cNvPr>
              <p:cNvSpPr>
                <a:spLocks/>
              </p:cNvSpPr>
              <p:nvPr/>
            </p:nvSpPr>
            <p:spPr>
              <a:xfrm flipH="1">
                <a:off x="986769" y="5557043"/>
                <a:ext cx="10523390" cy="398049"/>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2400" b="1" i="0" u="none" dirty="0" err="1">
                    <a:solidFill>
                      <a:srgbClr val="000000"/>
                    </a:solidFill>
                    <a:ea typeface="微软雅黑"/>
                  </a:rPr>
                  <a:t>性能与可扩展性并重</a:t>
                </a:r>
                <a:endParaRPr lang="en-US" sz="2400" b="1" i="0" u="none" dirty="0">
                  <a:solidFill>
                    <a:srgbClr val="000000"/>
                  </a:solidFill>
                  <a:ea typeface="微软雅黑"/>
                </a:endParaRPr>
              </a:p>
            </p:txBody>
          </p:sp>
          <p:sp>
            <p:nvSpPr>
              <p:cNvPr id="16" name="Text3" descr="228d2d86-81e4-414d-8f56-eee6a386317f">
                <a:extLst>
                  <a:ext uri="{FF2B5EF4-FFF2-40B4-BE49-F238E27FC236}">
                    <a16:creationId xmlns:a16="http://schemas.microsoft.com/office/drawing/2014/main" id="{C66EF000-E162-E67D-AE2D-2BCD5217854E}"/>
                  </a:ext>
                </a:extLst>
              </p:cNvPr>
              <p:cNvSpPr txBox="1">
                <a:spLocks/>
              </p:cNvSpPr>
              <p:nvPr/>
            </p:nvSpPr>
            <p:spPr>
              <a:xfrm flipH="1">
                <a:off x="986769" y="6064669"/>
                <a:ext cx="10523390" cy="742721"/>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l">
                  <a:lnSpc>
                    <a:spcPct val="120000"/>
                  </a:lnSpc>
                  <a:buFont typeface="Arial" panose="020B0604020202020204" pitchFamily="34" charset="0"/>
                  <a:buChar char="•"/>
                </a:pPr>
                <a:r>
                  <a:rPr lang="en-US" sz="1400" b="0" i="0" u="none" dirty="0" err="1">
                    <a:solidFill>
                      <a:srgbClr val="000000"/>
                    </a:solidFill>
                    <a:ea typeface="微软雅黑"/>
                  </a:rPr>
                  <a:t>支持从单机到分布式集群的弹性扩展，满足从千级到亿级数据规模的处理需求</a:t>
                </a:r>
                <a:r>
                  <a:rPr lang="en-US" sz="1400" b="0" i="0" u="none" dirty="0">
                    <a:solidFill>
                      <a:srgbClr val="000000"/>
                    </a:solidFill>
                    <a:ea typeface="微软雅黑"/>
                  </a:rPr>
                  <a:t>。</a:t>
                </a:r>
              </a:p>
              <a:p>
                <a:pPr marL="171450" indent="-171450" algn="l">
                  <a:lnSpc>
                    <a:spcPct val="120000"/>
                  </a:lnSpc>
                  <a:buFont typeface="Arial" panose="020B0604020202020204" pitchFamily="34" charset="0"/>
                  <a:buChar char="•"/>
                </a:pPr>
                <a:r>
                  <a:rPr lang="en-US" sz="1400" b="0" i="0" u="none" dirty="0" err="1">
                    <a:solidFill>
                      <a:srgbClr val="000000"/>
                    </a:solidFill>
                    <a:ea typeface="微软雅黑"/>
                  </a:rPr>
                  <a:t>随着AI应用的发展，数据量不断增大，对数据库的性能和扩展性提出了更高的要求</a:t>
                </a:r>
                <a:r>
                  <a:rPr lang="en-US" sz="1400" b="0" i="0" u="none" dirty="0">
                    <a:solidFill>
                      <a:srgbClr val="000000"/>
                    </a:solidFill>
                    <a:ea typeface="微软雅黑"/>
                  </a:rPr>
                  <a:t>。</a:t>
                </a:r>
              </a:p>
              <a:p>
                <a:pPr marL="171450" indent="-171450" algn="l">
                  <a:lnSpc>
                    <a:spcPct val="120000"/>
                  </a:lnSpc>
                  <a:buFont typeface="Arial" panose="020B0604020202020204" pitchFamily="34" charset="0"/>
                  <a:buChar char="•"/>
                </a:pPr>
                <a:r>
                  <a:rPr lang="en-US" sz="1400" b="0" i="0" u="none" dirty="0">
                    <a:solidFill>
                      <a:srgbClr val="000000"/>
                    </a:solidFill>
                    <a:ea typeface="微软雅黑"/>
                  </a:rPr>
                  <a:t>AI数据库具备良好的扩展性，能够根据数据量的变化和业务需求，灵活地从单机模式扩展到分布式集群模式，保证在大规模数据处理场景下的高效运行。</a:t>
                </a: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3200" b="1" kern="1200" dirty="0" err="1"/>
              <a:t>AI数据库架构优势</a:t>
            </a:r>
            <a:endParaRPr lang="en-US" sz="3200" b="1" kern="1200" dirty="0"/>
          </a:p>
        </p:txBody>
      </p:sp>
      <p:grpSp>
        <p:nvGrpSpPr>
          <p:cNvPr id="3" name="720d478c-9421-4f0f-9cb9-00c560b38fe9.source.3.zh-Hans.pptx" descr="4744ccbf-abe2-4a9e-8255-8ce06f5ac0df">
            <a:extLst>
              <a:ext uri="{FF2B5EF4-FFF2-40B4-BE49-F238E27FC236}">
                <a16:creationId xmlns:a16="http://schemas.microsoft.com/office/drawing/2014/main" id="{65D5A663-851A-4294-BC36-97052E4AA464}"/>
              </a:ext>
            </a:extLst>
          </p:cNvPr>
          <p:cNvGrpSpPr/>
          <p:nvPr/>
        </p:nvGrpSpPr>
        <p:grpSpPr>
          <a:xfrm>
            <a:off x="660400" y="1715073"/>
            <a:ext cx="10858499" cy="4419027"/>
            <a:chOff x="660400" y="1715073"/>
            <a:chExt cx="10858499" cy="4419027"/>
          </a:xfrm>
        </p:grpSpPr>
        <p:grpSp>
          <p:nvGrpSpPr>
            <p:cNvPr id="12" name="组合 11" descr="f811618a-eee1-4a99-acd3-26752110da7f">
              <a:extLst>
                <a:ext uri="{FF2B5EF4-FFF2-40B4-BE49-F238E27FC236}">
                  <a16:creationId xmlns:a16="http://schemas.microsoft.com/office/drawing/2014/main" id="{8D243760-C719-A44D-81CF-AAFF86D86124}"/>
                </a:ext>
              </a:extLst>
            </p:cNvPr>
            <p:cNvGrpSpPr/>
            <p:nvPr/>
          </p:nvGrpSpPr>
          <p:grpSpPr>
            <a:xfrm>
              <a:off x="660400" y="1715073"/>
              <a:ext cx="10858499" cy="1444384"/>
              <a:chOff x="1143981" y="1715073"/>
              <a:chExt cx="10858499" cy="1444384"/>
            </a:xfrm>
          </p:grpSpPr>
          <p:grpSp>
            <p:nvGrpSpPr>
              <p:cNvPr id="10" name="组合 9" descr="7c6ee435-b59a-47c8-b18d-d7b66458b25e">
                <a:extLst>
                  <a:ext uri="{FF2B5EF4-FFF2-40B4-BE49-F238E27FC236}">
                    <a16:creationId xmlns:a16="http://schemas.microsoft.com/office/drawing/2014/main" id="{EF0961EE-3BC7-FE4D-9574-F67441C86B12}"/>
                  </a:ext>
                </a:extLst>
              </p:cNvPr>
              <p:cNvGrpSpPr/>
              <p:nvPr/>
            </p:nvGrpSpPr>
            <p:grpSpPr>
              <a:xfrm>
                <a:off x="1362925" y="1715073"/>
                <a:ext cx="10639555" cy="1444384"/>
                <a:chOff x="660398" y="1715073"/>
                <a:chExt cx="10639555" cy="1444384"/>
              </a:xfrm>
            </p:grpSpPr>
            <p:sp>
              <p:nvSpPr>
                <p:cNvPr id="7" name="ComponentBackground1" descr="95430d2f-d95a-4e48-851d-332c53efd4b4">
                  <a:extLst>
                    <a:ext uri="{FF2B5EF4-FFF2-40B4-BE49-F238E27FC236}">
                      <a16:creationId xmlns:a16="http://schemas.microsoft.com/office/drawing/2014/main" id="{36180813-A760-09B3-D541-17E735E930D0}"/>
                    </a:ext>
                  </a:extLst>
                </p:cNvPr>
                <p:cNvSpPr/>
                <p:nvPr/>
              </p:nvSpPr>
              <p:spPr>
                <a:xfrm>
                  <a:off x="660398" y="1715073"/>
                  <a:ext cx="10639555"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8" name="Text1" descr="0c6cf89d-2c40-4981-9e8b-4105bb8787dc">
                  <a:extLst>
                    <a:ext uri="{FF2B5EF4-FFF2-40B4-BE49-F238E27FC236}">
                      <a16:creationId xmlns:a16="http://schemas.microsoft.com/office/drawing/2014/main" id="{6AE77748-48AC-284C-BA6F-E41150AB3DCC}"/>
                    </a:ext>
                  </a:extLst>
                </p:cNvPr>
                <p:cNvSpPr>
                  <a:spLocks/>
                </p:cNvSpPr>
                <p:nvPr/>
              </p:nvSpPr>
              <p:spPr>
                <a:xfrm>
                  <a:off x="942123" y="2195528"/>
                  <a:ext cx="10256882"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285750" indent="-285750" algn="l">
                    <a:lnSpc>
                      <a:spcPct val="120000"/>
                    </a:lnSpc>
                    <a:buFont typeface="Arial" panose="020B0604020202020204" pitchFamily="34" charset="0"/>
                    <a:buChar char="•"/>
                  </a:pPr>
                  <a:r>
                    <a:rPr lang="en-US" sz="1400" b="0" i="0" u="none" dirty="0">
                      <a:solidFill>
                        <a:srgbClr val="000000"/>
                      </a:solidFill>
                      <a:ea typeface="微软雅黑"/>
                    </a:rPr>
                    <a:t>开发者只需掌握SQL，即可进行特征计算和模型开发。传统的AI开发需要开发者具备多种技能和知识，如编程语言、数据库操作、机器学习算法等。</a:t>
                  </a:r>
                </a:p>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AI数据库的统一SQL接口使得开发者无需深入了解复杂的底层技术，大大降低了开发门槛</a:t>
                  </a:r>
                  <a:r>
                    <a:rPr lang="en-US" sz="1400" b="0" i="0" u="none" dirty="0">
                      <a:solidFill>
                        <a:srgbClr val="000000"/>
                      </a:solidFill>
                      <a:ea typeface="微软雅黑"/>
                    </a:rPr>
                    <a:t>。</a:t>
                  </a:r>
                </a:p>
              </p:txBody>
            </p:sp>
            <p:sp>
              <p:nvSpPr>
                <p:cNvPr id="9" name="Bullet1" descr="d2a7c11e-d235-4827-b432-82c06210634c">
                  <a:extLst>
                    <a:ext uri="{FF2B5EF4-FFF2-40B4-BE49-F238E27FC236}">
                      <a16:creationId xmlns:a16="http://schemas.microsoft.com/office/drawing/2014/main" id="{10B89975-06E8-0E4D-A7E7-01797C90FAE2}"/>
                    </a:ext>
                  </a:extLst>
                </p:cNvPr>
                <p:cNvSpPr>
                  <a:spLocks/>
                </p:cNvSpPr>
                <p:nvPr/>
              </p:nvSpPr>
              <p:spPr>
                <a:xfrm>
                  <a:off x="942123" y="1753484"/>
                  <a:ext cx="1025689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lnSpc>
                      <a:spcPct val="120000"/>
                    </a:lnSpc>
                  </a:pPr>
                  <a:r>
                    <a:rPr lang="en-US" sz="1800" b="1" i="0" u="none">
                      <a:solidFill>
                        <a:srgbClr val="000000"/>
                      </a:solidFill>
                      <a:ea typeface="微软雅黑"/>
                    </a:rPr>
                    <a:t>降低开发门槛</a:t>
                  </a:r>
                </a:p>
              </p:txBody>
            </p:sp>
          </p:grpSp>
          <p:sp>
            <p:nvSpPr>
              <p:cNvPr id="11" name="Number1" descr="02a87498-c48b-4778-ad26-9901cf40abbe">
                <a:extLst>
                  <a:ext uri="{FF2B5EF4-FFF2-40B4-BE49-F238E27FC236}">
                    <a16:creationId xmlns:a16="http://schemas.microsoft.com/office/drawing/2014/main" id="{6299ED16-C8BE-9417-9FDF-CBEE358AA800}"/>
                  </a:ext>
                </a:extLst>
              </p:cNvPr>
              <p:cNvSpPr>
                <a:spLocks/>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a:r>
                  <a:rPr lang="en-US" sz="1600" b="0" i="0" u="none">
                    <a:solidFill>
                      <a:srgbClr val="FFFFFF"/>
                    </a:solidFill>
                    <a:latin typeface="Arial"/>
                  </a:rPr>
                  <a:t>1</a:t>
                </a:r>
              </a:p>
            </p:txBody>
          </p:sp>
        </p:grpSp>
        <p:grpSp>
          <p:nvGrpSpPr>
            <p:cNvPr id="13" name="组合 12" descr="5bf329a3-bb99-4405-9274-71f573cf52ab">
              <a:extLst>
                <a:ext uri="{FF2B5EF4-FFF2-40B4-BE49-F238E27FC236}">
                  <a16:creationId xmlns:a16="http://schemas.microsoft.com/office/drawing/2014/main" id="{D454A36F-E388-BEF8-8EB9-FED3F9BBFB25}"/>
                </a:ext>
              </a:extLst>
            </p:cNvPr>
            <p:cNvGrpSpPr/>
            <p:nvPr/>
          </p:nvGrpSpPr>
          <p:grpSpPr>
            <a:xfrm>
              <a:off x="660400" y="3202395"/>
              <a:ext cx="10858499" cy="1444384"/>
              <a:chOff x="1143981" y="1715073"/>
              <a:chExt cx="10858499" cy="1444384"/>
            </a:xfrm>
          </p:grpSpPr>
          <p:grpSp>
            <p:nvGrpSpPr>
              <p:cNvPr id="14" name="组合 13" descr="5e72edde-1056-41a6-a9b9-0d2f0ca57a2d">
                <a:extLst>
                  <a:ext uri="{FF2B5EF4-FFF2-40B4-BE49-F238E27FC236}">
                    <a16:creationId xmlns:a16="http://schemas.microsoft.com/office/drawing/2014/main" id="{966FC8CB-7D55-0488-8213-0ED32170EB57}"/>
                  </a:ext>
                </a:extLst>
              </p:cNvPr>
              <p:cNvGrpSpPr/>
              <p:nvPr/>
            </p:nvGrpSpPr>
            <p:grpSpPr>
              <a:xfrm>
                <a:off x="1362925" y="1715073"/>
                <a:ext cx="10639555" cy="1444384"/>
                <a:chOff x="660398" y="1715073"/>
                <a:chExt cx="10639555" cy="1444384"/>
              </a:xfrm>
            </p:grpSpPr>
            <p:sp>
              <p:nvSpPr>
                <p:cNvPr id="16" name="ComponentBackground2" descr="265d1a25-e958-4aab-a066-9f84bc07345f">
                  <a:extLst>
                    <a:ext uri="{FF2B5EF4-FFF2-40B4-BE49-F238E27FC236}">
                      <a16:creationId xmlns:a16="http://schemas.microsoft.com/office/drawing/2014/main" id="{C579D0E7-E1E5-7762-F2A7-5CD743B4513A}"/>
                    </a:ext>
                  </a:extLst>
                </p:cNvPr>
                <p:cNvSpPr/>
                <p:nvPr/>
              </p:nvSpPr>
              <p:spPr>
                <a:xfrm>
                  <a:off x="660398" y="1715073"/>
                  <a:ext cx="10639555"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17" name="Text2" descr="fb893e4c-56c1-493c-9348-8297e9303b82">
                  <a:extLst>
                    <a:ext uri="{FF2B5EF4-FFF2-40B4-BE49-F238E27FC236}">
                      <a16:creationId xmlns:a16="http://schemas.microsoft.com/office/drawing/2014/main" id="{D282A85B-68E5-1BF1-C442-06E3247D8357}"/>
                    </a:ext>
                  </a:extLst>
                </p:cNvPr>
                <p:cNvSpPr>
                  <a:spLocks/>
                </p:cNvSpPr>
                <p:nvPr/>
              </p:nvSpPr>
              <p:spPr>
                <a:xfrm>
                  <a:off x="942123" y="2195528"/>
                  <a:ext cx="10256882"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通过特征工程一体化架构和自动化部署流程，加速模型从开发到上线的过程</a:t>
                  </a:r>
                  <a:r>
                    <a:rPr lang="en-US" sz="14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在传统的AI开发流程中，模型上线需要经过多个环节，如数据预处理、特征工程、模型训练、部署等，耗时较长</a:t>
                  </a:r>
                  <a:r>
                    <a:rPr lang="en-US" sz="14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AI数据库通过一体化架构和自动化流程，减少了人工干预和环节间的衔接时间，缩短了模型上线周期</a:t>
                  </a:r>
                  <a:r>
                    <a:rPr lang="en-US" sz="1400" b="0" i="0" u="none" dirty="0">
                      <a:solidFill>
                        <a:srgbClr val="000000"/>
                      </a:solidFill>
                      <a:ea typeface="微软雅黑"/>
                    </a:rPr>
                    <a:t>。</a:t>
                  </a:r>
                </a:p>
              </p:txBody>
            </p:sp>
            <p:sp>
              <p:nvSpPr>
                <p:cNvPr id="18" name="Bullet2" descr="d4b65f1b-6fe6-4886-a344-72b8f5a4d7da">
                  <a:extLst>
                    <a:ext uri="{FF2B5EF4-FFF2-40B4-BE49-F238E27FC236}">
                      <a16:creationId xmlns:a16="http://schemas.microsoft.com/office/drawing/2014/main" id="{0188688C-78A4-D60A-0DCF-7DFAF5F62FA5}"/>
                    </a:ext>
                  </a:extLst>
                </p:cNvPr>
                <p:cNvSpPr>
                  <a:spLocks/>
                </p:cNvSpPr>
                <p:nvPr/>
              </p:nvSpPr>
              <p:spPr>
                <a:xfrm>
                  <a:off x="942123" y="1753484"/>
                  <a:ext cx="1025689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lnSpc>
                      <a:spcPct val="120000"/>
                    </a:lnSpc>
                  </a:pPr>
                  <a:r>
                    <a:rPr lang="en-US" sz="1800" b="1" i="0" u="none">
                      <a:solidFill>
                        <a:srgbClr val="000000"/>
                      </a:solidFill>
                      <a:ea typeface="微软雅黑"/>
                    </a:rPr>
                    <a:t>缩短模型上线周期</a:t>
                  </a:r>
                </a:p>
              </p:txBody>
            </p:sp>
          </p:grpSp>
          <p:sp>
            <p:nvSpPr>
              <p:cNvPr id="15" name="Number2" descr="7e5c18c6-6379-4b25-93bc-460d29f9301e">
                <a:extLst>
                  <a:ext uri="{FF2B5EF4-FFF2-40B4-BE49-F238E27FC236}">
                    <a16:creationId xmlns:a16="http://schemas.microsoft.com/office/drawing/2014/main" id="{3320CFA7-41FC-5C2B-F6AB-30C3C936A517}"/>
                  </a:ext>
                </a:extLst>
              </p:cNvPr>
              <p:cNvSpPr>
                <a:spLocks/>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a:r>
                  <a:rPr lang="en-US" sz="1600" b="0" i="0" u="none">
                    <a:solidFill>
                      <a:srgbClr val="FFFFFF"/>
                    </a:solidFill>
                    <a:latin typeface="Arial"/>
                  </a:rPr>
                  <a:t>2</a:t>
                </a:r>
              </a:p>
            </p:txBody>
          </p:sp>
        </p:grpSp>
        <p:grpSp>
          <p:nvGrpSpPr>
            <p:cNvPr id="19" name="组合 18" descr="b41aa253-3051-4368-8523-e49d344308a8">
              <a:extLst>
                <a:ext uri="{FF2B5EF4-FFF2-40B4-BE49-F238E27FC236}">
                  <a16:creationId xmlns:a16="http://schemas.microsoft.com/office/drawing/2014/main" id="{C18C4321-45BE-38B6-F589-FEAF9442C293}"/>
                </a:ext>
              </a:extLst>
            </p:cNvPr>
            <p:cNvGrpSpPr/>
            <p:nvPr/>
          </p:nvGrpSpPr>
          <p:grpSpPr>
            <a:xfrm>
              <a:off x="660400" y="4689716"/>
              <a:ext cx="10858499" cy="1444384"/>
              <a:chOff x="1143981" y="1715073"/>
              <a:chExt cx="10858499" cy="1444384"/>
            </a:xfrm>
          </p:grpSpPr>
          <p:grpSp>
            <p:nvGrpSpPr>
              <p:cNvPr id="20" name="组合 19" descr="2b549f3e-b53c-4be7-83d0-419459d5512e">
                <a:extLst>
                  <a:ext uri="{FF2B5EF4-FFF2-40B4-BE49-F238E27FC236}">
                    <a16:creationId xmlns:a16="http://schemas.microsoft.com/office/drawing/2014/main" id="{50128178-59AA-B554-A31F-C11426BBC9CD}"/>
                  </a:ext>
                </a:extLst>
              </p:cNvPr>
              <p:cNvGrpSpPr/>
              <p:nvPr/>
            </p:nvGrpSpPr>
            <p:grpSpPr>
              <a:xfrm>
                <a:off x="1362925" y="1715073"/>
                <a:ext cx="10639555" cy="1444384"/>
                <a:chOff x="660398" y="1715073"/>
                <a:chExt cx="10639555" cy="1444384"/>
              </a:xfrm>
            </p:grpSpPr>
            <p:sp>
              <p:nvSpPr>
                <p:cNvPr id="22" name="ComponentBackground3" descr="c4e83793-bfe1-465f-b7d2-6d2daca07457">
                  <a:extLst>
                    <a:ext uri="{FF2B5EF4-FFF2-40B4-BE49-F238E27FC236}">
                      <a16:creationId xmlns:a16="http://schemas.microsoft.com/office/drawing/2014/main" id="{23C04B07-B992-A447-BA6F-EA43BA25DF8A}"/>
                    </a:ext>
                  </a:extLst>
                </p:cNvPr>
                <p:cNvSpPr/>
                <p:nvPr/>
              </p:nvSpPr>
              <p:spPr>
                <a:xfrm>
                  <a:off x="660398" y="1715073"/>
                  <a:ext cx="10639555"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23" name="Text3" descr="9d3a4f22-f874-40e2-8f6c-8e9a69db3808">
                  <a:extLst>
                    <a:ext uri="{FF2B5EF4-FFF2-40B4-BE49-F238E27FC236}">
                      <a16:creationId xmlns:a16="http://schemas.microsoft.com/office/drawing/2014/main" id="{7B4590D2-BC72-A675-89D4-6873F8FF0463}"/>
                    </a:ext>
                  </a:extLst>
                </p:cNvPr>
                <p:cNvSpPr>
                  <a:spLocks/>
                </p:cNvSpPr>
                <p:nvPr/>
              </p:nvSpPr>
              <p:spPr>
                <a:xfrm>
                  <a:off x="942123" y="2195528"/>
                  <a:ext cx="10256882"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保证线上线下特征一致，减少模型漂移，提高模型的预测准确性和可靠性</a:t>
                  </a:r>
                  <a:r>
                    <a:rPr lang="en-US" sz="14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特征不一致是导致模型漂移和性能下降的重要原因之一</a:t>
                  </a:r>
                  <a:r>
                    <a:rPr lang="en-US" sz="14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AI数据库通过确保线上线下特征计算逻辑的一致性，有效减少了模型漂移，提高了模型的预测准确性和可靠性</a:t>
                  </a:r>
                  <a:r>
                    <a:rPr lang="en-US" sz="1400" b="0" i="0" u="none" dirty="0">
                      <a:solidFill>
                        <a:srgbClr val="000000"/>
                      </a:solidFill>
                      <a:ea typeface="微软雅黑"/>
                    </a:rPr>
                    <a:t>。</a:t>
                  </a:r>
                </a:p>
              </p:txBody>
            </p:sp>
            <p:sp>
              <p:nvSpPr>
                <p:cNvPr id="25" name="Bullet3" descr="92de9f5c-8d19-4d2d-a6e9-52a65d0d9786">
                  <a:extLst>
                    <a:ext uri="{FF2B5EF4-FFF2-40B4-BE49-F238E27FC236}">
                      <a16:creationId xmlns:a16="http://schemas.microsoft.com/office/drawing/2014/main" id="{944DFB20-D896-D752-1A48-79137303FC60}"/>
                    </a:ext>
                  </a:extLst>
                </p:cNvPr>
                <p:cNvSpPr>
                  <a:spLocks/>
                </p:cNvSpPr>
                <p:nvPr/>
              </p:nvSpPr>
              <p:spPr>
                <a:xfrm>
                  <a:off x="942123" y="1753484"/>
                  <a:ext cx="1025689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lnSpc>
                      <a:spcPct val="120000"/>
                    </a:lnSpc>
                  </a:pPr>
                  <a:r>
                    <a:rPr lang="en-US" sz="1800" b="1" i="0" u="none">
                      <a:solidFill>
                        <a:srgbClr val="000000"/>
                      </a:solidFill>
                      <a:ea typeface="微软雅黑"/>
                    </a:rPr>
                    <a:t>提升模型可信度与稳定性</a:t>
                  </a:r>
                </a:p>
              </p:txBody>
            </p:sp>
          </p:grpSp>
          <p:sp>
            <p:nvSpPr>
              <p:cNvPr id="21" name="Number3" descr="3eea997f-db81-4caa-b349-776f4ebbe3ac">
                <a:extLst>
                  <a:ext uri="{FF2B5EF4-FFF2-40B4-BE49-F238E27FC236}">
                    <a16:creationId xmlns:a16="http://schemas.microsoft.com/office/drawing/2014/main" id="{F306AD2F-BAAE-D1A7-C27F-81D94FA47520}"/>
                  </a:ext>
                </a:extLst>
              </p:cNvPr>
              <p:cNvSpPr>
                <a:spLocks/>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a:r>
                  <a:rPr lang="en-US" sz="1600" b="0" i="0" u="none">
                    <a:solidFill>
                      <a:srgbClr val="FFFFFF"/>
                    </a:solidFill>
                    <a:latin typeface="Arial"/>
                  </a:rPr>
                  <a:t>3</a:t>
                </a:r>
              </a:p>
            </p:txBody>
          </p:sp>
        </p:grpSp>
      </p:grpSp>
    </p:spTree>
    <p:extLst>
      <p:ext uri="{BB962C8B-B14F-4D97-AF65-F5344CB8AC3E}">
        <p14:creationId xmlns:p14="http://schemas.microsoft.com/office/powerpoint/2010/main" val="1670646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灯片编号占位符 3"/>
          <p:cNvSpPr>
            <a:spLocks noGrp="1"/>
          </p:cNvSpPr>
          <p:nvPr>
            <p:ph type="sldNum" sz="quarter" idx="12"/>
          </p:nvPr>
        </p:nvSpPr>
        <p:spPr/>
        <p:txBody>
          <a:bodyPr vert="horz" wrap="square" lIns="91440" tIns="45720" rIns="91440" bIns="45720" numCol="1" anchor="ctr" anchorCtr="0" compatLnSpc="1"/>
          <a:lstStyle/>
          <a:p>
            <a:pPr algn="ctr" fontAlgn="base">
              <a:spcBef>
                <a:spcPct val="0"/>
              </a:spcBef>
              <a:spcAft>
                <a:spcPct val="0"/>
              </a:spcAft>
            </a:pPr>
            <a:fld id="{9A0DB2DC-4C9A-4742-B13C-FB6460FD3503}" type="slidenum">
              <a:rPr lang="en-US" altLang="zh-CN" sz="1000" b="1" dirty="0">
                <a:solidFill>
                  <a:srgbClr val="E40000"/>
                </a:solidFill>
                <a:latin typeface="Times New Roman" panose="02020603050405020304" charset="0"/>
                <a:ea typeface="隶书" panose="02010509060101010101" pitchFamily="49" charset="-122"/>
              </a:rPr>
              <a:pPr algn="ctr" fontAlgn="base">
                <a:spcBef>
                  <a:spcPct val="0"/>
                </a:spcBef>
                <a:spcAft>
                  <a:spcPct val="0"/>
                </a:spcAft>
              </a:pPr>
              <a:t>8</a:t>
            </a:fld>
            <a:endParaRPr lang="en-US" altLang="zh-CN" sz="1000" b="1" dirty="0">
              <a:solidFill>
                <a:srgbClr val="E40000"/>
              </a:solidFill>
              <a:latin typeface="Times New Roman" panose="02020603050405020304" charset="0"/>
              <a:ea typeface="隶书" panose="02010509060101010101" pitchFamily="49" charset="-122"/>
            </a:endParaRPr>
          </a:p>
        </p:txBody>
      </p:sp>
      <p:sp>
        <p:nvSpPr>
          <p:cNvPr id="290819" name="标题 1"/>
          <p:cNvSpPr>
            <a:spLocks noGrp="1" noRot="1"/>
          </p:cNvSpPr>
          <p:nvPr>
            <p:ph type="title"/>
          </p:nvPr>
        </p:nvSpPr>
        <p:spPr>
          <a:xfrm>
            <a:off x="2209800" y="328613"/>
            <a:ext cx="7772400" cy="1143000"/>
          </a:xfrm>
        </p:spPr>
        <p:txBody>
          <a:bodyPr wrap="square" lIns="91440" tIns="45720" rIns="91440" bIns="45720" anchor="ctr"/>
          <a:lstStyle/>
          <a:p>
            <a:r>
              <a:rPr lang="zh-CN" altLang="en-US" b="1" dirty="0"/>
              <a:t>第</a:t>
            </a:r>
            <a:r>
              <a:rPr lang="en-US" altLang="zh-CN" b="1" dirty="0"/>
              <a:t>7</a:t>
            </a:r>
            <a:r>
              <a:rPr lang="zh-CN" altLang="en-US" b="1" dirty="0"/>
              <a:t>章 </a:t>
            </a:r>
            <a:r>
              <a:rPr lang="en-US" altLang="zh-CN" b="1" dirty="0"/>
              <a:t>AI</a:t>
            </a:r>
            <a:r>
              <a:rPr lang="zh-CN" altLang="en-US" b="1" dirty="0"/>
              <a:t>数据库</a:t>
            </a:r>
          </a:p>
        </p:txBody>
      </p:sp>
      <p:sp>
        <p:nvSpPr>
          <p:cNvPr id="5123" name="Rectangle 3"/>
          <p:cNvSpPr>
            <a:spLocks noGrp="1"/>
          </p:cNvSpPr>
          <p:nvPr>
            <p:ph type="body" idx="4294967295"/>
          </p:nvPr>
        </p:nvSpPr>
        <p:spPr>
          <a:xfrm>
            <a:off x="2209800" y="1774249"/>
            <a:ext cx="7848600" cy="4876800"/>
          </a:xfrm>
        </p:spPr>
        <p:txBody>
          <a:bodyPr vert="horz" wrap="square" lIns="91440" tIns="45720" rIns="91440" bIns="45720" anchor="t" anchorCtr="0"/>
          <a:lstStyle/>
          <a:p>
            <a:pPr algn="l">
              <a:buSzTx/>
            </a:pPr>
            <a:r>
              <a:rPr lang="en-US" altLang="zh-CN" sz="4000" b="1" dirty="0">
                <a:sym typeface="+mn-ea"/>
              </a:rPr>
              <a:t>7-1  </a:t>
            </a:r>
            <a:r>
              <a:rPr lang="zh-CN" altLang="en-US" sz="4000" b="1" dirty="0">
                <a:latin typeface="宋体" panose="02010600030101010101" pitchFamily="2" charset="-122"/>
                <a:sym typeface="+mn-ea"/>
              </a:rPr>
              <a:t>概述</a:t>
            </a:r>
          </a:p>
          <a:p>
            <a:r>
              <a:rPr lang="en-US" altLang="zh-CN" sz="4000" b="1" dirty="0">
                <a:sym typeface="+mn-ea"/>
              </a:rPr>
              <a:t>7-2</a:t>
            </a:r>
            <a:r>
              <a:rPr lang="zh-CN" altLang="en-US" sz="4000" b="1" dirty="0">
                <a:latin typeface="宋体" panose="02010600030101010101" pitchFamily="2" charset="-122"/>
                <a:sym typeface="+mn-ea"/>
              </a:rPr>
              <a:t> </a:t>
            </a:r>
            <a:r>
              <a:rPr lang="en-US" altLang="zh-CN" sz="4000" b="1" u="sng" dirty="0" err="1">
                <a:latin typeface="宋体" panose="02010600030101010101" pitchFamily="2" charset="-122"/>
              </a:rPr>
              <a:t>AI数据库关键技术体系</a:t>
            </a:r>
            <a:endParaRPr lang="en-US" altLang="zh-CN" sz="4000" b="1" u="sng" dirty="0">
              <a:latin typeface="宋体" panose="02010600030101010101" pitchFamily="2" charset="-122"/>
            </a:endParaRPr>
          </a:p>
          <a:p>
            <a:r>
              <a:rPr lang="en-US" altLang="zh-CN" sz="4000" b="1" dirty="0">
                <a:latin typeface="Times New Roman" panose="02020603050405020304" charset="0"/>
                <a:sym typeface="+mn-ea"/>
              </a:rPr>
              <a:t>7-3  AI</a:t>
            </a:r>
            <a:r>
              <a:rPr lang="zh-CN" altLang="en-US" sz="4000" b="1" dirty="0">
                <a:latin typeface="Times New Roman" panose="02020603050405020304" charset="0"/>
                <a:sym typeface="+mn-ea"/>
              </a:rPr>
              <a:t>大模型与向量数据库</a:t>
            </a:r>
            <a:endParaRPr lang="zh-CN" altLang="en-US" sz="4000" b="1" dirty="0">
              <a:latin typeface="宋体" panose="02010600030101010101" pitchFamily="2" charset="-122"/>
              <a:sym typeface="+mn-ea"/>
            </a:endParaRPr>
          </a:p>
        </p:txBody>
      </p:sp>
    </p:spTree>
    <p:extLst>
      <p:ext uri="{BB962C8B-B14F-4D97-AF65-F5344CB8AC3E}">
        <p14:creationId xmlns:p14="http://schemas.microsoft.com/office/powerpoint/2010/main" val="1484865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3600" b="1" dirty="0" err="1"/>
              <a:t>AI数据库关键技术体系</a:t>
            </a:r>
            <a:endParaRPr lang="en-US" sz="3600" b="1" dirty="0"/>
          </a:p>
        </p:txBody>
      </p:sp>
      <p:grpSp>
        <p:nvGrpSpPr>
          <p:cNvPr id="50" name="6d649ebf-74bc-446c-add3-cfd664cd660c.source.5.zh-Hans.pptx" descr="6d7fe80a-d3c0-4f90-8fd3-6f3610870e11">
            <a:extLst>
              <a:ext uri="{FF2B5EF4-FFF2-40B4-BE49-F238E27FC236}">
                <a16:creationId xmlns:a16="http://schemas.microsoft.com/office/drawing/2014/main" id="{496284C5-9049-A9D1-8105-D97C867A2E7A}"/>
              </a:ext>
            </a:extLst>
          </p:cNvPr>
          <p:cNvGrpSpPr/>
          <p:nvPr/>
        </p:nvGrpSpPr>
        <p:grpSpPr>
          <a:xfrm>
            <a:off x="1" y="1824048"/>
            <a:ext cx="12873600" cy="5033952"/>
            <a:chOff x="1" y="1824048"/>
            <a:chExt cx="12873600" cy="5033952"/>
          </a:xfrm>
        </p:grpSpPr>
        <p:sp>
          <p:nvSpPr>
            <p:cNvPr id="13" name="PictureMisc1" descr="aa6ce5fb-21e2-4a7e-aa44-1ed2fcafc31f">
              <a:extLst>
                <a:ext uri="{FF2B5EF4-FFF2-40B4-BE49-F238E27FC236}">
                  <a16:creationId xmlns:a16="http://schemas.microsoft.com/office/drawing/2014/main" id="{D80852F5-4590-DFE2-0893-EC98FDB510F2}"/>
                </a:ext>
              </a:extLst>
            </p:cNvPr>
            <p:cNvSpPr/>
            <p:nvPr/>
          </p:nvSpPr>
          <p:spPr>
            <a:xfrm>
              <a:off x="1" y="4454604"/>
              <a:ext cx="12191999" cy="2403396"/>
            </a:xfrm>
            <a:prstGeom prst="rect">
              <a:avLst/>
            </a:prstGeom>
            <a:blipFill rotWithShape="1">
              <a:blip r:embed="rId2"/>
              <a:srcRect/>
              <a:stretch>
                <a:fillRect t="-5341" b="-18453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4" name="c" descr="c7f043c2-c98b-4e97-9bf2-60f4a7b4ee69">
              <a:extLst>
                <a:ext uri="{FF2B5EF4-FFF2-40B4-BE49-F238E27FC236}">
                  <a16:creationId xmlns:a16="http://schemas.microsoft.com/office/drawing/2014/main" id="{52A49B3F-E524-354D-7F22-84F151D900CF}"/>
                </a:ext>
              </a:extLst>
            </p:cNvPr>
            <p:cNvSpPr/>
            <p:nvPr/>
          </p:nvSpPr>
          <p:spPr>
            <a:xfrm>
              <a:off x="598591" y="1824048"/>
              <a:ext cx="10994819" cy="4310052"/>
            </a:xfrm>
            <a:prstGeom prst="roundRect">
              <a:avLst>
                <a:gd name="adj" fmla="val 3015"/>
              </a:avLst>
            </a:prstGeom>
            <a:gradFill flip="none" rotWithShape="1">
              <a:gsLst>
                <a:gs pos="0">
                  <a:schemeClr val="bg1"/>
                </a:gs>
                <a:gs pos="100000">
                  <a:schemeClr val="bg1">
                    <a:alpha val="90000"/>
                  </a:schemeClr>
                </a:gs>
              </a:gsLst>
              <a:lin ang="5400000" scaled="1"/>
              <a:tileRect/>
            </a:gradFill>
            <a:ln w="6350">
              <a:gradFill flip="none" rotWithShape="1">
                <a:gsLst>
                  <a:gs pos="0">
                    <a:schemeClr val="tx1">
                      <a:alpha val="50000"/>
                    </a:schemeClr>
                  </a:gs>
                  <a:gs pos="100000">
                    <a:schemeClr val="tx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lnSpc>
                  <a:spcPct val="120000"/>
                </a:lnSpc>
              </a:pPr>
              <a:endParaRPr/>
            </a:p>
          </p:txBody>
        </p:sp>
        <p:cxnSp>
          <p:nvCxnSpPr>
            <p:cNvPr id="15" name="直接连接符 14" descr="6aeadf92-db21-4171-905d-0c21c12d87ba">
              <a:extLst>
                <a:ext uri="{FF2B5EF4-FFF2-40B4-BE49-F238E27FC236}">
                  <a16:creationId xmlns:a16="http://schemas.microsoft.com/office/drawing/2014/main" id="{D5E7017A-61FA-DF7D-91E5-7AE76794A276}"/>
                </a:ext>
              </a:extLst>
            </p:cNvPr>
            <p:cNvCxnSpPr>
              <a:cxnSpLocks/>
              <a:stCxn id="29" idx="1"/>
              <a:endCxn id="32" idx="3"/>
            </p:cNvCxnSpPr>
            <p:nvPr/>
          </p:nvCxnSpPr>
          <p:spPr>
            <a:xfrm>
              <a:off x="3379733" y="4176507"/>
              <a:ext cx="5306516"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descr="db641f3d-655e-4566-a22a-98766ffd2fb4">
              <a:extLst>
                <a:ext uri="{FF2B5EF4-FFF2-40B4-BE49-F238E27FC236}">
                  <a16:creationId xmlns:a16="http://schemas.microsoft.com/office/drawing/2014/main" id="{7BC52E70-3086-62D6-253C-AF2D861B7D52}"/>
                </a:ext>
              </a:extLst>
            </p:cNvPr>
            <p:cNvCxnSpPr>
              <a:cxnSpLocks/>
              <a:stCxn id="41" idx="3"/>
            </p:cNvCxnSpPr>
            <p:nvPr/>
          </p:nvCxnSpPr>
          <p:spPr>
            <a:xfrm>
              <a:off x="2868646" y="2158127"/>
              <a:ext cx="6931611"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nvGrpSpPr>
            <p:cNvPr id="45" name="组合 44" descr="d6b04e63-cdc4-485f-b781-a6de7bf41558">
              <a:extLst>
                <a:ext uri="{FF2B5EF4-FFF2-40B4-BE49-F238E27FC236}">
                  <a16:creationId xmlns:a16="http://schemas.microsoft.com/office/drawing/2014/main" id="{97243A23-34C0-C0DB-ED3C-472FDFAE7594}"/>
                </a:ext>
              </a:extLst>
            </p:cNvPr>
            <p:cNvGrpSpPr/>
            <p:nvPr/>
          </p:nvGrpSpPr>
          <p:grpSpPr>
            <a:xfrm>
              <a:off x="1965844" y="2008394"/>
              <a:ext cx="3640717" cy="3217988"/>
              <a:chOff x="1965844" y="2008394"/>
              <a:chExt cx="3640717" cy="3217988"/>
            </a:xfrm>
          </p:grpSpPr>
          <p:sp>
            <p:nvSpPr>
              <p:cNvPr id="39" name="Bullet1" descr="63a985e9-225b-4530-ae46-40972af6aa8b">
                <a:extLst>
                  <a:ext uri="{FF2B5EF4-FFF2-40B4-BE49-F238E27FC236}">
                    <a16:creationId xmlns:a16="http://schemas.microsoft.com/office/drawing/2014/main" id="{E95CA7A1-9125-AD7D-4B78-63742D6BDBDC}"/>
                  </a:ext>
                </a:extLst>
              </p:cNvPr>
              <p:cNvSpPr txBox="1">
                <a:spLocks/>
              </p:cNvSpPr>
              <p:nvPr/>
            </p:nvSpPr>
            <p:spPr>
              <a:xfrm>
                <a:off x="2092870" y="4568415"/>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000" b="1" i="0" u="none" dirty="0" err="1">
                    <a:solidFill>
                      <a:srgbClr val="000000"/>
                    </a:solidFill>
                    <a:ea typeface="微软雅黑"/>
                  </a:rPr>
                  <a:t>向量数据库</a:t>
                </a:r>
                <a:r>
                  <a:rPr lang="zh-CN" altLang="en-US" sz="2000" b="1" i="0" u="none" dirty="0">
                    <a:solidFill>
                      <a:srgbClr val="000000"/>
                    </a:solidFill>
                    <a:ea typeface="微软雅黑"/>
                  </a:rPr>
                  <a:t>与</a:t>
                </a:r>
                <a:r>
                  <a:rPr lang="en-US" altLang="zh-CN" sz="2000" b="1" i="0" u="none" dirty="0">
                    <a:solidFill>
                      <a:srgbClr val="000000"/>
                    </a:solidFill>
                    <a:ea typeface="微软雅黑"/>
                  </a:rPr>
                  <a:t>LLM </a:t>
                </a:r>
                <a:r>
                  <a:rPr lang="en-US" altLang="zh-CN" sz="2000" b="1" i="0" u="none" dirty="0" err="1">
                    <a:solidFill>
                      <a:srgbClr val="000000"/>
                    </a:solidFill>
                    <a:ea typeface="微软雅黑"/>
                  </a:rPr>
                  <a:t>RAG</a:t>
                </a:r>
                <a:r>
                  <a:rPr lang="en-US" sz="2000" b="1" i="0" u="none" dirty="0" err="1">
                    <a:solidFill>
                      <a:srgbClr val="000000"/>
                    </a:solidFill>
                    <a:ea typeface="微软雅黑"/>
                  </a:rPr>
                  <a:t>技术</a:t>
                </a:r>
                <a:endParaRPr lang="en-US" sz="2000" b="1" i="0" u="none" dirty="0">
                  <a:solidFill>
                    <a:srgbClr val="000000"/>
                  </a:solidFill>
                  <a:ea typeface="微软雅黑"/>
                </a:endParaRPr>
              </a:p>
            </p:txBody>
          </p:sp>
          <p:sp>
            <p:nvSpPr>
              <p:cNvPr id="41" name="Number1" descr="cb5a9482-dd7b-48c3-b267-d0acb23dd1ab">
                <a:extLst>
                  <a:ext uri="{FF2B5EF4-FFF2-40B4-BE49-F238E27FC236}">
                    <a16:creationId xmlns:a16="http://schemas.microsoft.com/office/drawing/2014/main" id="{D3AA65A5-4729-21F6-F81F-8A1162DABAC4}"/>
                  </a:ext>
                </a:extLst>
              </p:cNvPr>
              <p:cNvSpPr txBox="1"/>
              <p:nvPr/>
            </p:nvSpPr>
            <p:spPr>
              <a:xfrm>
                <a:off x="1965844"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1</a:t>
                </a:r>
              </a:p>
            </p:txBody>
          </p:sp>
        </p:grpSp>
        <p:grpSp>
          <p:nvGrpSpPr>
            <p:cNvPr id="46" name="组合 45" descr="a8ef9746-64a1-450c-a1d6-2071045d2e7e">
              <a:extLst>
                <a:ext uri="{FF2B5EF4-FFF2-40B4-BE49-F238E27FC236}">
                  <a16:creationId xmlns:a16="http://schemas.microsoft.com/office/drawing/2014/main" id="{A95487B3-04BE-189D-49D3-1793B763E883}"/>
                </a:ext>
              </a:extLst>
            </p:cNvPr>
            <p:cNvGrpSpPr/>
            <p:nvPr/>
          </p:nvGrpSpPr>
          <p:grpSpPr>
            <a:xfrm>
              <a:off x="1284804" y="2008394"/>
              <a:ext cx="5256246" cy="1094740"/>
              <a:chOff x="1284804" y="2008394"/>
              <a:chExt cx="5256246" cy="1094740"/>
            </a:xfrm>
          </p:grpSpPr>
          <p:sp>
            <p:nvSpPr>
              <p:cNvPr id="36" name="Bullet2" descr="b4a03a2d-2661-476e-9f2e-ccba69d31cc2">
                <a:extLst>
                  <a:ext uri="{FF2B5EF4-FFF2-40B4-BE49-F238E27FC236}">
                    <a16:creationId xmlns:a16="http://schemas.microsoft.com/office/drawing/2014/main" id="{673A8015-3DE8-BD7C-B3F9-5ACF8C08A3E2}"/>
                  </a:ext>
                </a:extLst>
              </p:cNvPr>
              <p:cNvSpPr txBox="1">
                <a:spLocks/>
              </p:cNvSpPr>
              <p:nvPr/>
            </p:nvSpPr>
            <p:spPr>
              <a:xfrm>
                <a:off x="1284804" y="2445167"/>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000" b="1" i="0" u="none" dirty="0" err="1">
                    <a:solidFill>
                      <a:srgbClr val="000000"/>
                    </a:solidFill>
                    <a:ea typeface="微软雅黑"/>
                  </a:rPr>
                  <a:t>特征工程一体化架构</a:t>
                </a:r>
                <a:endParaRPr lang="en-US" sz="2000" b="1" i="0" u="none" dirty="0">
                  <a:solidFill>
                    <a:srgbClr val="000000"/>
                  </a:solidFill>
                  <a:ea typeface="微软雅黑"/>
                </a:endParaRPr>
              </a:p>
            </p:txBody>
          </p:sp>
          <p:sp>
            <p:nvSpPr>
              <p:cNvPr id="38" name="Number2" descr="33303b4d-75b8-43fb-9107-811eb522960e">
                <a:extLst>
                  <a:ext uri="{FF2B5EF4-FFF2-40B4-BE49-F238E27FC236}">
                    <a16:creationId xmlns:a16="http://schemas.microsoft.com/office/drawing/2014/main" id="{C5925CBE-12B1-4810-CA91-AF26A77C2D5B}"/>
                  </a:ext>
                </a:extLst>
              </p:cNvPr>
              <p:cNvSpPr txBox="1"/>
              <p:nvPr/>
            </p:nvSpPr>
            <p:spPr>
              <a:xfrm>
                <a:off x="5638248"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2</a:t>
                </a:r>
              </a:p>
            </p:txBody>
          </p:sp>
        </p:grpSp>
        <p:grpSp>
          <p:nvGrpSpPr>
            <p:cNvPr id="47" name="组合 46" descr="c7974719-d37e-466b-8727-f1591792a42c">
              <a:extLst>
                <a:ext uri="{FF2B5EF4-FFF2-40B4-BE49-F238E27FC236}">
                  <a16:creationId xmlns:a16="http://schemas.microsoft.com/office/drawing/2014/main" id="{D2B237F1-FE1A-D583-3DD3-A46E71E5B820}"/>
                </a:ext>
              </a:extLst>
            </p:cNvPr>
            <p:cNvGrpSpPr/>
            <p:nvPr/>
          </p:nvGrpSpPr>
          <p:grpSpPr>
            <a:xfrm>
              <a:off x="4657778" y="2008394"/>
              <a:ext cx="5555677" cy="1077702"/>
              <a:chOff x="4657778" y="2008394"/>
              <a:chExt cx="5555677" cy="1077702"/>
            </a:xfrm>
          </p:grpSpPr>
          <p:sp>
            <p:nvSpPr>
              <p:cNvPr id="33" name="Bullet3" descr="25b8f82b-dca0-4461-980e-c00d40026f51">
                <a:extLst>
                  <a:ext uri="{FF2B5EF4-FFF2-40B4-BE49-F238E27FC236}">
                    <a16:creationId xmlns:a16="http://schemas.microsoft.com/office/drawing/2014/main" id="{DC26826B-E497-3D54-39D5-78277ACC72FD}"/>
                  </a:ext>
                </a:extLst>
              </p:cNvPr>
              <p:cNvSpPr txBox="1">
                <a:spLocks/>
              </p:cNvSpPr>
              <p:nvPr/>
            </p:nvSpPr>
            <p:spPr>
              <a:xfrm>
                <a:off x="4657778" y="2428129"/>
                <a:ext cx="3513691" cy="657967"/>
              </a:xfrm>
              <a:prstGeom prst="rect">
                <a:avLst/>
              </a:prstGeom>
              <a:noFill/>
              <a:ln>
                <a:noFill/>
              </a:ln>
            </p:spPr>
            <p:txBody>
              <a:bodyPr wrap="square" lIns="91440" tIns="45720" rIns="91440" bIns="45720" anchor="t" anchorCtr="0">
                <a:no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000" b="1" i="0" u="none" dirty="0" err="1">
                    <a:solidFill>
                      <a:srgbClr val="000000"/>
                    </a:solidFill>
                    <a:ea typeface="微软雅黑"/>
                  </a:rPr>
                  <a:t>高性能计算与内存优化技术</a:t>
                </a:r>
                <a:endParaRPr lang="en-US" sz="2000" b="1" i="0" u="none" dirty="0">
                  <a:solidFill>
                    <a:srgbClr val="000000"/>
                  </a:solidFill>
                  <a:ea typeface="微软雅黑"/>
                </a:endParaRPr>
              </a:p>
            </p:txBody>
          </p:sp>
          <p:sp>
            <p:nvSpPr>
              <p:cNvPr id="35" name="Number3" descr="c0a49732-a4c3-4d1a-a2f1-796979f425d8">
                <a:extLst>
                  <a:ext uri="{FF2B5EF4-FFF2-40B4-BE49-F238E27FC236}">
                    <a16:creationId xmlns:a16="http://schemas.microsoft.com/office/drawing/2014/main" id="{278459C1-467B-83C8-8DBB-81F7C03E168D}"/>
                  </a:ext>
                </a:extLst>
              </p:cNvPr>
              <p:cNvSpPr txBox="1"/>
              <p:nvPr/>
            </p:nvSpPr>
            <p:spPr>
              <a:xfrm>
                <a:off x="9310653"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3</a:t>
                </a:r>
              </a:p>
            </p:txBody>
          </p:sp>
        </p:grpSp>
        <p:grpSp>
          <p:nvGrpSpPr>
            <p:cNvPr id="48" name="组合 47" descr="2a10a9d3-5c28-46d0-a330-e823e7a52646">
              <a:extLst>
                <a:ext uri="{FF2B5EF4-FFF2-40B4-BE49-F238E27FC236}">
                  <a16:creationId xmlns:a16="http://schemas.microsoft.com/office/drawing/2014/main" id="{4FBF7FE8-77EB-058A-4B5E-B8E8B0652EAD}"/>
                </a:ext>
              </a:extLst>
            </p:cNvPr>
            <p:cNvGrpSpPr/>
            <p:nvPr/>
          </p:nvGrpSpPr>
          <p:grpSpPr>
            <a:xfrm>
              <a:off x="8111101" y="2468666"/>
              <a:ext cx="4762500" cy="1857573"/>
              <a:chOff x="8111101" y="2468666"/>
              <a:chExt cx="4762500" cy="1857573"/>
            </a:xfrm>
          </p:grpSpPr>
          <p:sp>
            <p:nvSpPr>
              <p:cNvPr id="30" name="Bullet4" descr="3cb080ea-7a29-4d7c-8e4c-06310220d618">
                <a:extLst>
                  <a:ext uri="{FF2B5EF4-FFF2-40B4-BE49-F238E27FC236}">
                    <a16:creationId xmlns:a16="http://schemas.microsoft.com/office/drawing/2014/main" id="{C5A0AC27-3B9B-F222-3732-D2FD4B79C7E1}"/>
                  </a:ext>
                </a:extLst>
              </p:cNvPr>
              <p:cNvSpPr txBox="1">
                <a:spLocks/>
              </p:cNvSpPr>
              <p:nvPr/>
            </p:nvSpPr>
            <p:spPr>
              <a:xfrm>
                <a:off x="8111101" y="2468666"/>
                <a:ext cx="4762500"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000" b="1" i="0" u="none" dirty="0" err="1">
                    <a:solidFill>
                      <a:srgbClr val="000000"/>
                    </a:solidFill>
                    <a:ea typeface="微软雅黑"/>
                  </a:rPr>
                  <a:t>多模型支持与模型管理能力</a:t>
                </a:r>
                <a:endParaRPr lang="en-US" sz="2000" b="1" i="0" u="none" dirty="0">
                  <a:solidFill>
                    <a:srgbClr val="000000"/>
                  </a:solidFill>
                  <a:ea typeface="微软雅黑"/>
                </a:endParaRPr>
              </a:p>
            </p:txBody>
          </p:sp>
          <p:sp>
            <p:nvSpPr>
              <p:cNvPr id="32" name="Number4" descr="982ba4fa-0764-486a-a143-c10254addd2a">
                <a:extLst>
                  <a:ext uri="{FF2B5EF4-FFF2-40B4-BE49-F238E27FC236}">
                    <a16:creationId xmlns:a16="http://schemas.microsoft.com/office/drawing/2014/main" id="{C4CC405A-8B96-ED7E-8174-55C4503D0FE0}"/>
                  </a:ext>
                </a:extLst>
              </p:cNvPr>
              <p:cNvSpPr txBox="1"/>
              <p:nvPr/>
            </p:nvSpPr>
            <p:spPr>
              <a:xfrm flipH="1">
                <a:off x="8686249" y="402677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4</a:t>
                </a:r>
              </a:p>
            </p:txBody>
          </p:sp>
        </p:grpSp>
        <p:grpSp>
          <p:nvGrpSpPr>
            <p:cNvPr id="49" name="组合 48" descr="6316730a-dabb-467d-b8a7-8b427d5ad165">
              <a:extLst>
                <a:ext uri="{FF2B5EF4-FFF2-40B4-BE49-F238E27FC236}">
                  <a16:creationId xmlns:a16="http://schemas.microsoft.com/office/drawing/2014/main" id="{D0879E40-40E5-84C5-E224-4A161783763E}"/>
                </a:ext>
              </a:extLst>
            </p:cNvPr>
            <p:cNvGrpSpPr/>
            <p:nvPr/>
          </p:nvGrpSpPr>
          <p:grpSpPr>
            <a:xfrm>
              <a:off x="2590249" y="4026774"/>
              <a:ext cx="8757692" cy="1214358"/>
              <a:chOff x="2590249" y="4026774"/>
              <a:chExt cx="8757692" cy="1214358"/>
            </a:xfrm>
          </p:grpSpPr>
          <p:sp>
            <p:nvSpPr>
              <p:cNvPr id="27" name="Bullet5" descr="64fc552d-72b6-4746-960e-4d2903703d83">
                <a:extLst>
                  <a:ext uri="{FF2B5EF4-FFF2-40B4-BE49-F238E27FC236}">
                    <a16:creationId xmlns:a16="http://schemas.microsoft.com/office/drawing/2014/main" id="{EF5F8A23-E76D-A96D-F812-8BFE8F1552D4}"/>
                  </a:ext>
                </a:extLst>
              </p:cNvPr>
              <p:cNvSpPr txBox="1">
                <a:spLocks/>
              </p:cNvSpPr>
              <p:nvPr/>
            </p:nvSpPr>
            <p:spPr>
              <a:xfrm>
                <a:off x="6585441" y="4583165"/>
                <a:ext cx="4762500"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000" i="0" u="none" dirty="0" err="1">
                    <a:solidFill>
                      <a:srgbClr val="000000"/>
                    </a:solidFill>
                    <a:latin typeface="Arial"/>
                  </a:rPr>
                  <a:t>AI驱动的智能运维（AI</a:t>
                </a:r>
                <a:r>
                  <a:rPr lang="en-US" sz="2000" i="0" u="none" dirty="0">
                    <a:solidFill>
                      <a:srgbClr val="000000"/>
                    </a:solidFill>
                    <a:latin typeface="Arial"/>
                  </a:rPr>
                  <a:t> for DB）</a:t>
                </a:r>
              </a:p>
            </p:txBody>
          </p:sp>
          <p:sp>
            <p:nvSpPr>
              <p:cNvPr id="29" name="Number5" descr="d413707b-19f7-439a-adef-0dfa5e0b9a10">
                <a:extLst>
                  <a:ext uri="{FF2B5EF4-FFF2-40B4-BE49-F238E27FC236}">
                    <a16:creationId xmlns:a16="http://schemas.microsoft.com/office/drawing/2014/main" id="{F5611463-BA56-FEDC-91F0-3B85FAE96974}"/>
                  </a:ext>
                </a:extLst>
              </p:cNvPr>
              <p:cNvSpPr txBox="1"/>
              <p:nvPr/>
            </p:nvSpPr>
            <p:spPr>
              <a:xfrm flipH="1">
                <a:off x="2590249" y="402677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5</a:t>
                </a: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3600" b="1" dirty="0" err="1"/>
              <a:t>AI数据库关键技术体系</a:t>
            </a:r>
            <a:endParaRPr lang="en-US" sz="3600" b="1" dirty="0"/>
          </a:p>
        </p:txBody>
      </p:sp>
      <p:grpSp>
        <p:nvGrpSpPr>
          <p:cNvPr id="50" name="6d649ebf-74bc-446c-add3-cfd664cd660c.source.5.zh-Hans.pptx" descr="6d7fe80a-d3c0-4f90-8fd3-6f3610870e11">
            <a:extLst>
              <a:ext uri="{FF2B5EF4-FFF2-40B4-BE49-F238E27FC236}">
                <a16:creationId xmlns:a16="http://schemas.microsoft.com/office/drawing/2014/main" id="{496284C5-9049-A9D1-8105-D97C867A2E7A}"/>
              </a:ext>
            </a:extLst>
          </p:cNvPr>
          <p:cNvGrpSpPr/>
          <p:nvPr/>
        </p:nvGrpSpPr>
        <p:grpSpPr>
          <a:xfrm>
            <a:off x="0" y="1662833"/>
            <a:ext cx="13412971" cy="5195167"/>
            <a:chOff x="1" y="1662833"/>
            <a:chExt cx="12878212" cy="5195167"/>
          </a:xfrm>
        </p:grpSpPr>
        <p:sp>
          <p:nvSpPr>
            <p:cNvPr id="13" name="PictureMisc1" descr="aa6ce5fb-21e2-4a7e-aa44-1ed2fcafc31f">
              <a:extLst>
                <a:ext uri="{FF2B5EF4-FFF2-40B4-BE49-F238E27FC236}">
                  <a16:creationId xmlns:a16="http://schemas.microsoft.com/office/drawing/2014/main" id="{D80852F5-4590-DFE2-0893-EC98FDB510F2}"/>
                </a:ext>
              </a:extLst>
            </p:cNvPr>
            <p:cNvSpPr/>
            <p:nvPr/>
          </p:nvSpPr>
          <p:spPr>
            <a:xfrm>
              <a:off x="1" y="4454604"/>
              <a:ext cx="12191999" cy="2403396"/>
            </a:xfrm>
            <a:prstGeom prst="rect">
              <a:avLst/>
            </a:prstGeom>
            <a:blipFill rotWithShape="1">
              <a:blip r:embed="rId2"/>
              <a:srcRect/>
              <a:stretch>
                <a:fillRect t="-5341" b="-18453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4" name="c" descr="c7f043c2-c98b-4e97-9bf2-60f4a7b4ee69">
              <a:extLst>
                <a:ext uri="{FF2B5EF4-FFF2-40B4-BE49-F238E27FC236}">
                  <a16:creationId xmlns:a16="http://schemas.microsoft.com/office/drawing/2014/main" id="{52A49B3F-E524-354D-7F22-84F151D900CF}"/>
                </a:ext>
              </a:extLst>
            </p:cNvPr>
            <p:cNvSpPr/>
            <p:nvPr/>
          </p:nvSpPr>
          <p:spPr>
            <a:xfrm>
              <a:off x="598591" y="1824048"/>
              <a:ext cx="10994819" cy="4310052"/>
            </a:xfrm>
            <a:prstGeom prst="roundRect">
              <a:avLst>
                <a:gd name="adj" fmla="val 3015"/>
              </a:avLst>
            </a:prstGeom>
            <a:gradFill flip="none" rotWithShape="1">
              <a:gsLst>
                <a:gs pos="0">
                  <a:schemeClr val="bg1"/>
                </a:gs>
                <a:gs pos="100000">
                  <a:schemeClr val="bg1">
                    <a:alpha val="90000"/>
                  </a:schemeClr>
                </a:gs>
              </a:gsLst>
              <a:lin ang="5400000" scaled="1"/>
              <a:tileRect/>
            </a:gradFill>
            <a:ln w="6350">
              <a:gradFill flip="none" rotWithShape="1">
                <a:gsLst>
                  <a:gs pos="0">
                    <a:schemeClr val="tx1">
                      <a:alpha val="50000"/>
                    </a:schemeClr>
                  </a:gs>
                  <a:gs pos="100000">
                    <a:schemeClr val="tx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lnSpc>
                  <a:spcPct val="120000"/>
                </a:lnSpc>
              </a:pPr>
              <a:endParaRPr/>
            </a:p>
          </p:txBody>
        </p:sp>
        <p:cxnSp>
          <p:nvCxnSpPr>
            <p:cNvPr id="15" name="直接连接符 14" descr="6aeadf92-db21-4171-905d-0c21c12d87ba">
              <a:extLst>
                <a:ext uri="{FF2B5EF4-FFF2-40B4-BE49-F238E27FC236}">
                  <a16:creationId xmlns:a16="http://schemas.microsoft.com/office/drawing/2014/main" id="{D5E7017A-61FA-DF7D-91E5-7AE76794A276}"/>
                </a:ext>
              </a:extLst>
            </p:cNvPr>
            <p:cNvCxnSpPr>
              <a:cxnSpLocks/>
              <a:stCxn id="29" idx="1"/>
              <a:endCxn id="32" idx="3"/>
            </p:cNvCxnSpPr>
            <p:nvPr/>
          </p:nvCxnSpPr>
          <p:spPr>
            <a:xfrm>
              <a:off x="3411420" y="4551019"/>
              <a:ext cx="5306516"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descr="db641f3d-655e-4566-a22a-98766ffd2fb4">
              <a:extLst>
                <a:ext uri="{FF2B5EF4-FFF2-40B4-BE49-F238E27FC236}">
                  <a16:creationId xmlns:a16="http://schemas.microsoft.com/office/drawing/2014/main" id="{7BC52E70-3086-62D6-253C-AF2D861B7D52}"/>
                </a:ext>
              </a:extLst>
            </p:cNvPr>
            <p:cNvCxnSpPr>
              <a:cxnSpLocks/>
              <a:stCxn id="41" idx="3"/>
            </p:cNvCxnSpPr>
            <p:nvPr/>
          </p:nvCxnSpPr>
          <p:spPr>
            <a:xfrm>
              <a:off x="2868646" y="1812566"/>
              <a:ext cx="6931611"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nvGrpSpPr>
            <p:cNvPr id="45" name="组合 44" descr="d6b04e63-cdc4-485f-b781-a6de7bf41558">
              <a:extLst>
                <a:ext uri="{FF2B5EF4-FFF2-40B4-BE49-F238E27FC236}">
                  <a16:creationId xmlns:a16="http://schemas.microsoft.com/office/drawing/2014/main" id="{97243A23-34C0-C0DB-ED3C-472FDFAE7594}"/>
                </a:ext>
              </a:extLst>
            </p:cNvPr>
            <p:cNvGrpSpPr/>
            <p:nvPr/>
          </p:nvGrpSpPr>
          <p:grpSpPr>
            <a:xfrm>
              <a:off x="1965844" y="1662833"/>
              <a:ext cx="3677016" cy="3938061"/>
              <a:chOff x="1965844" y="1662833"/>
              <a:chExt cx="3677016" cy="3938061"/>
            </a:xfrm>
          </p:grpSpPr>
          <p:sp>
            <p:nvSpPr>
              <p:cNvPr id="39" name="Bullet1" descr="63a985e9-225b-4530-ae46-40972af6aa8b">
                <a:extLst>
                  <a:ext uri="{FF2B5EF4-FFF2-40B4-BE49-F238E27FC236}">
                    <a16:creationId xmlns:a16="http://schemas.microsoft.com/office/drawing/2014/main" id="{E95CA7A1-9125-AD7D-4B78-63742D6BDBDC}"/>
                  </a:ext>
                </a:extLst>
              </p:cNvPr>
              <p:cNvSpPr txBox="1">
                <a:spLocks/>
              </p:cNvSpPr>
              <p:nvPr/>
            </p:nvSpPr>
            <p:spPr>
              <a:xfrm>
                <a:off x="2129169" y="4942927"/>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600" b="1" i="0" u="none" dirty="0" err="1">
                    <a:solidFill>
                      <a:srgbClr val="000000"/>
                    </a:solidFill>
                    <a:ea typeface="微软雅黑"/>
                  </a:rPr>
                  <a:t>向量数据库</a:t>
                </a:r>
                <a:r>
                  <a:rPr lang="zh-CN" altLang="en-US" sz="1600" b="1" i="0" u="none" dirty="0">
                    <a:solidFill>
                      <a:srgbClr val="000000"/>
                    </a:solidFill>
                    <a:ea typeface="微软雅黑"/>
                  </a:rPr>
                  <a:t>与</a:t>
                </a:r>
                <a:r>
                  <a:rPr lang="en-US" altLang="zh-CN" sz="1600" b="1" i="0" u="none" dirty="0">
                    <a:solidFill>
                      <a:srgbClr val="000000"/>
                    </a:solidFill>
                    <a:ea typeface="微软雅黑"/>
                  </a:rPr>
                  <a:t>LLM </a:t>
                </a:r>
                <a:r>
                  <a:rPr lang="en-US" altLang="zh-CN" sz="1600" b="1" i="0" u="none" dirty="0" err="1">
                    <a:solidFill>
                      <a:srgbClr val="000000"/>
                    </a:solidFill>
                    <a:ea typeface="微软雅黑"/>
                  </a:rPr>
                  <a:t>RAG</a:t>
                </a:r>
                <a:r>
                  <a:rPr lang="en-US" sz="1600" b="1" i="0" u="none" dirty="0" err="1">
                    <a:solidFill>
                      <a:srgbClr val="000000"/>
                    </a:solidFill>
                    <a:ea typeface="微软雅黑"/>
                  </a:rPr>
                  <a:t>技术</a:t>
                </a:r>
                <a:endParaRPr lang="en-US" sz="1600" b="1" i="0" u="none" dirty="0">
                  <a:solidFill>
                    <a:srgbClr val="000000"/>
                  </a:solidFill>
                  <a:ea typeface="微软雅黑"/>
                </a:endParaRPr>
              </a:p>
            </p:txBody>
          </p:sp>
          <p:sp>
            <p:nvSpPr>
              <p:cNvPr id="41" name="Number1" descr="cb5a9482-dd7b-48c3-b267-d0acb23dd1ab">
                <a:extLst>
                  <a:ext uri="{FF2B5EF4-FFF2-40B4-BE49-F238E27FC236}">
                    <a16:creationId xmlns:a16="http://schemas.microsoft.com/office/drawing/2014/main" id="{D3AA65A5-4729-21F6-F81F-8A1162DABAC4}"/>
                  </a:ext>
                </a:extLst>
              </p:cNvPr>
              <p:cNvSpPr txBox="1"/>
              <p:nvPr/>
            </p:nvSpPr>
            <p:spPr>
              <a:xfrm>
                <a:off x="1965844"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1</a:t>
                </a:r>
              </a:p>
            </p:txBody>
          </p:sp>
        </p:grpSp>
        <p:grpSp>
          <p:nvGrpSpPr>
            <p:cNvPr id="46" name="组合 45" descr="a8ef9746-64a1-450c-a1d6-2071045d2e7e">
              <a:extLst>
                <a:ext uri="{FF2B5EF4-FFF2-40B4-BE49-F238E27FC236}">
                  <a16:creationId xmlns:a16="http://schemas.microsoft.com/office/drawing/2014/main" id="{A95487B3-04BE-189D-49D3-1793B763E883}"/>
                </a:ext>
              </a:extLst>
            </p:cNvPr>
            <p:cNvGrpSpPr/>
            <p:nvPr/>
          </p:nvGrpSpPr>
          <p:grpSpPr>
            <a:xfrm>
              <a:off x="1284804" y="1662833"/>
              <a:ext cx="5256246" cy="977787"/>
              <a:chOff x="1284804" y="1662833"/>
              <a:chExt cx="5256246" cy="977787"/>
            </a:xfrm>
          </p:grpSpPr>
          <p:sp>
            <p:nvSpPr>
              <p:cNvPr id="36" name="Bullet2" descr="b4a03a2d-2661-476e-9f2e-ccba69d31cc2">
                <a:extLst>
                  <a:ext uri="{FF2B5EF4-FFF2-40B4-BE49-F238E27FC236}">
                    <a16:creationId xmlns:a16="http://schemas.microsoft.com/office/drawing/2014/main" id="{673A8015-3DE8-BD7C-B3F9-5ACF8C08A3E2}"/>
                  </a:ext>
                </a:extLst>
              </p:cNvPr>
              <p:cNvSpPr txBox="1">
                <a:spLocks/>
              </p:cNvSpPr>
              <p:nvPr/>
            </p:nvSpPr>
            <p:spPr>
              <a:xfrm>
                <a:off x="1284804" y="1982653"/>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400" dirty="0" err="1">
                    <a:solidFill>
                      <a:schemeClr val="tx2"/>
                    </a:solidFill>
                    <a:latin typeface="+mj-lt"/>
                    <a:ea typeface="+mj-ea"/>
                    <a:cs typeface="+mj-cs"/>
                  </a:rPr>
                  <a:t>特征工程一体化架构</a:t>
                </a:r>
                <a:endParaRPr lang="en-US" sz="2400" dirty="0">
                  <a:solidFill>
                    <a:schemeClr val="tx2"/>
                  </a:solidFill>
                  <a:latin typeface="+mj-lt"/>
                  <a:ea typeface="+mj-ea"/>
                  <a:cs typeface="+mj-cs"/>
                </a:endParaRPr>
              </a:p>
            </p:txBody>
          </p:sp>
          <p:sp>
            <p:nvSpPr>
              <p:cNvPr id="38" name="Number2" descr="33303b4d-75b8-43fb-9107-811eb522960e">
                <a:extLst>
                  <a:ext uri="{FF2B5EF4-FFF2-40B4-BE49-F238E27FC236}">
                    <a16:creationId xmlns:a16="http://schemas.microsoft.com/office/drawing/2014/main" id="{C5925CBE-12B1-4810-CA91-AF26A77C2D5B}"/>
                  </a:ext>
                </a:extLst>
              </p:cNvPr>
              <p:cNvSpPr txBox="1"/>
              <p:nvPr/>
            </p:nvSpPr>
            <p:spPr>
              <a:xfrm>
                <a:off x="5638248"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2</a:t>
                </a:r>
              </a:p>
            </p:txBody>
          </p:sp>
        </p:grpSp>
        <p:grpSp>
          <p:nvGrpSpPr>
            <p:cNvPr id="47" name="组合 46" descr="c7974719-d37e-466b-8727-f1591792a42c">
              <a:extLst>
                <a:ext uri="{FF2B5EF4-FFF2-40B4-BE49-F238E27FC236}">
                  <a16:creationId xmlns:a16="http://schemas.microsoft.com/office/drawing/2014/main" id="{D2B237F1-FE1A-D583-3DD3-A46E71E5B820}"/>
                </a:ext>
              </a:extLst>
            </p:cNvPr>
            <p:cNvGrpSpPr/>
            <p:nvPr/>
          </p:nvGrpSpPr>
          <p:grpSpPr>
            <a:xfrm>
              <a:off x="4662390" y="1662833"/>
              <a:ext cx="5551065" cy="960749"/>
              <a:chOff x="4662390" y="1662833"/>
              <a:chExt cx="5551065" cy="960749"/>
            </a:xfrm>
          </p:grpSpPr>
          <p:sp>
            <p:nvSpPr>
              <p:cNvPr id="33" name="Bullet3" descr="25b8f82b-dca0-4461-980e-c00d40026f51">
                <a:extLst>
                  <a:ext uri="{FF2B5EF4-FFF2-40B4-BE49-F238E27FC236}">
                    <a16:creationId xmlns:a16="http://schemas.microsoft.com/office/drawing/2014/main" id="{DC26826B-E497-3D54-39D5-78277ACC72FD}"/>
                  </a:ext>
                </a:extLst>
              </p:cNvPr>
              <p:cNvSpPr txBox="1">
                <a:spLocks/>
              </p:cNvSpPr>
              <p:nvPr/>
            </p:nvSpPr>
            <p:spPr>
              <a:xfrm>
                <a:off x="4662390" y="1965615"/>
                <a:ext cx="3513691" cy="657967"/>
              </a:xfrm>
              <a:prstGeom prst="rect">
                <a:avLst/>
              </a:prstGeom>
              <a:noFill/>
              <a:ln>
                <a:noFill/>
              </a:ln>
            </p:spPr>
            <p:txBody>
              <a:bodyPr wrap="square" lIns="91440" tIns="45720" rIns="91440" bIns="45720" anchor="t" anchorCtr="0">
                <a:no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600" b="1" i="0" u="none" dirty="0" err="1">
                    <a:solidFill>
                      <a:srgbClr val="000000"/>
                    </a:solidFill>
                    <a:ea typeface="微软雅黑"/>
                  </a:rPr>
                  <a:t>高性能计算与内存优化技术</a:t>
                </a:r>
                <a:endParaRPr lang="en-US" sz="1600" b="1" i="0" u="none" dirty="0">
                  <a:solidFill>
                    <a:srgbClr val="000000"/>
                  </a:solidFill>
                  <a:ea typeface="微软雅黑"/>
                </a:endParaRPr>
              </a:p>
            </p:txBody>
          </p:sp>
          <p:sp>
            <p:nvSpPr>
              <p:cNvPr id="35" name="Number3" descr="c0a49732-a4c3-4d1a-a2f1-796979f425d8">
                <a:extLst>
                  <a:ext uri="{FF2B5EF4-FFF2-40B4-BE49-F238E27FC236}">
                    <a16:creationId xmlns:a16="http://schemas.microsoft.com/office/drawing/2014/main" id="{278459C1-467B-83C8-8DBB-81F7C03E168D}"/>
                  </a:ext>
                </a:extLst>
              </p:cNvPr>
              <p:cNvSpPr txBox="1"/>
              <p:nvPr/>
            </p:nvSpPr>
            <p:spPr>
              <a:xfrm>
                <a:off x="9310653"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3</a:t>
                </a:r>
              </a:p>
            </p:txBody>
          </p:sp>
        </p:grpSp>
        <p:grpSp>
          <p:nvGrpSpPr>
            <p:cNvPr id="48" name="组合 47" descr="2a10a9d3-5c28-46d0-a330-e823e7a52646">
              <a:extLst>
                <a:ext uri="{FF2B5EF4-FFF2-40B4-BE49-F238E27FC236}">
                  <a16:creationId xmlns:a16="http://schemas.microsoft.com/office/drawing/2014/main" id="{4FBF7FE8-77EB-058A-4B5E-B8E8B0652EAD}"/>
                </a:ext>
              </a:extLst>
            </p:cNvPr>
            <p:cNvGrpSpPr/>
            <p:nvPr/>
          </p:nvGrpSpPr>
          <p:grpSpPr>
            <a:xfrm>
              <a:off x="8115713" y="2006152"/>
              <a:ext cx="4762500" cy="2694599"/>
              <a:chOff x="8115713" y="2006152"/>
              <a:chExt cx="4762500" cy="2694599"/>
            </a:xfrm>
          </p:grpSpPr>
          <p:sp>
            <p:nvSpPr>
              <p:cNvPr id="30" name="Bullet4" descr="3cb080ea-7a29-4d7c-8e4c-06310220d618">
                <a:extLst>
                  <a:ext uri="{FF2B5EF4-FFF2-40B4-BE49-F238E27FC236}">
                    <a16:creationId xmlns:a16="http://schemas.microsoft.com/office/drawing/2014/main" id="{C5A0AC27-3B9B-F222-3732-D2FD4B79C7E1}"/>
                  </a:ext>
                </a:extLst>
              </p:cNvPr>
              <p:cNvSpPr txBox="1">
                <a:spLocks/>
              </p:cNvSpPr>
              <p:nvPr/>
            </p:nvSpPr>
            <p:spPr>
              <a:xfrm>
                <a:off x="8115713" y="2006152"/>
                <a:ext cx="4762500"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600" b="1" i="0" u="none" dirty="0" err="1">
                    <a:solidFill>
                      <a:srgbClr val="000000"/>
                    </a:solidFill>
                    <a:ea typeface="微软雅黑"/>
                  </a:rPr>
                  <a:t>多模型支持与模型管理能力</a:t>
                </a:r>
                <a:endParaRPr lang="en-US" sz="1600" b="1" i="0" u="none" dirty="0">
                  <a:solidFill>
                    <a:srgbClr val="000000"/>
                  </a:solidFill>
                  <a:ea typeface="微软雅黑"/>
                </a:endParaRPr>
              </a:p>
            </p:txBody>
          </p:sp>
          <p:sp>
            <p:nvSpPr>
              <p:cNvPr id="32" name="Number4" descr="982ba4fa-0764-486a-a143-c10254addd2a">
                <a:extLst>
                  <a:ext uri="{FF2B5EF4-FFF2-40B4-BE49-F238E27FC236}">
                    <a16:creationId xmlns:a16="http://schemas.microsoft.com/office/drawing/2014/main" id="{C4CC405A-8B96-ED7E-8174-55C4503D0FE0}"/>
                  </a:ext>
                </a:extLst>
              </p:cNvPr>
              <p:cNvSpPr txBox="1"/>
              <p:nvPr/>
            </p:nvSpPr>
            <p:spPr>
              <a:xfrm flipH="1">
                <a:off x="8717936" y="4401286"/>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4</a:t>
                </a:r>
              </a:p>
            </p:txBody>
          </p:sp>
        </p:grpSp>
        <p:grpSp>
          <p:nvGrpSpPr>
            <p:cNvPr id="49" name="组合 48" descr="6316730a-dabb-467d-b8a7-8b427d5ad165">
              <a:extLst>
                <a:ext uri="{FF2B5EF4-FFF2-40B4-BE49-F238E27FC236}">
                  <a16:creationId xmlns:a16="http://schemas.microsoft.com/office/drawing/2014/main" id="{D0879E40-40E5-84C5-E224-4A161783763E}"/>
                </a:ext>
              </a:extLst>
            </p:cNvPr>
            <p:cNvGrpSpPr/>
            <p:nvPr/>
          </p:nvGrpSpPr>
          <p:grpSpPr>
            <a:xfrm>
              <a:off x="2621936" y="4401286"/>
              <a:ext cx="8726005" cy="1214358"/>
              <a:chOff x="2621936" y="4401286"/>
              <a:chExt cx="8726005" cy="1214358"/>
            </a:xfrm>
          </p:grpSpPr>
          <p:sp>
            <p:nvSpPr>
              <p:cNvPr id="27" name="Bullet5" descr="64fc552d-72b6-4746-960e-4d2903703d83">
                <a:extLst>
                  <a:ext uri="{FF2B5EF4-FFF2-40B4-BE49-F238E27FC236}">
                    <a16:creationId xmlns:a16="http://schemas.microsoft.com/office/drawing/2014/main" id="{EF5F8A23-E76D-A96D-F812-8BFE8F1552D4}"/>
                  </a:ext>
                </a:extLst>
              </p:cNvPr>
              <p:cNvSpPr txBox="1">
                <a:spLocks/>
              </p:cNvSpPr>
              <p:nvPr/>
            </p:nvSpPr>
            <p:spPr>
              <a:xfrm>
                <a:off x="6585441" y="4957677"/>
                <a:ext cx="4762500"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600" i="0" u="none" dirty="0" err="1">
                    <a:solidFill>
                      <a:srgbClr val="000000"/>
                    </a:solidFill>
                    <a:latin typeface="Arial"/>
                  </a:rPr>
                  <a:t>AI驱动的智能运维（AI</a:t>
                </a:r>
                <a:r>
                  <a:rPr lang="en-US" sz="1600" i="0" u="none" dirty="0">
                    <a:solidFill>
                      <a:srgbClr val="000000"/>
                    </a:solidFill>
                    <a:latin typeface="Arial"/>
                  </a:rPr>
                  <a:t> for DB）</a:t>
                </a:r>
              </a:p>
            </p:txBody>
          </p:sp>
          <p:sp>
            <p:nvSpPr>
              <p:cNvPr id="29" name="Number5" descr="d413707b-19f7-439a-adef-0dfa5e0b9a10">
                <a:extLst>
                  <a:ext uri="{FF2B5EF4-FFF2-40B4-BE49-F238E27FC236}">
                    <a16:creationId xmlns:a16="http://schemas.microsoft.com/office/drawing/2014/main" id="{F5611463-BA56-FEDC-91F0-3B85FAE96974}"/>
                  </a:ext>
                </a:extLst>
              </p:cNvPr>
              <p:cNvSpPr txBox="1"/>
              <p:nvPr/>
            </p:nvSpPr>
            <p:spPr>
              <a:xfrm flipH="1">
                <a:off x="2621936" y="4401286"/>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5</a:t>
                </a:r>
              </a:p>
            </p:txBody>
          </p:sp>
        </p:grpSp>
      </p:grpSp>
      <p:sp>
        <p:nvSpPr>
          <p:cNvPr id="23" name="Text2" descr="7d698d8d-a788-4c04-8bea-00a9de5dd8dd">
            <a:extLst>
              <a:ext uri="{FF2B5EF4-FFF2-40B4-BE49-F238E27FC236}">
                <a16:creationId xmlns:a16="http://schemas.microsoft.com/office/drawing/2014/main" id="{E345F557-2769-4597-9BA9-72877FB92207}"/>
              </a:ext>
            </a:extLst>
          </p:cNvPr>
          <p:cNvSpPr txBox="1">
            <a:spLocks/>
          </p:cNvSpPr>
          <p:nvPr/>
        </p:nvSpPr>
        <p:spPr>
          <a:xfrm>
            <a:off x="1268476" y="2600869"/>
            <a:ext cx="7449459" cy="1650686"/>
          </a:xfrm>
          <a:prstGeom prst="rect">
            <a:avLst/>
          </a:prstGeom>
          <a:noFill/>
          <a:ln>
            <a:noFill/>
          </a:ln>
        </p:spPr>
        <p:txBody>
          <a:bodyPr wrap="square" lIns="91440" tIns="45720" rIns="91440" bIns="45720" anchor="t" anchorCtr="0">
            <a:normAutofit fontScale="92500" lnSpcReduction="10000"/>
          </a:bodyPr>
          <a:lstStyle/>
          <a:p>
            <a:pPr marL="171450" indent="-171450" algn="l">
              <a:lnSpc>
                <a:spcPct val="120000"/>
              </a:lnSpc>
              <a:spcBef>
                <a:spcPct val="0"/>
              </a:spcBef>
              <a:spcAft>
                <a:spcPct val="0"/>
              </a:spcAft>
              <a:buFont typeface="Arial" panose="020B0604020202020204" pitchFamily="34" charset="0"/>
              <a:buChar char="•"/>
            </a:pPr>
            <a:r>
              <a:rPr lang="en-US" altLang="zh-CN" sz="1600" b="0" i="0" u="none" strike="noStrike" dirty="0" err="1">
                <a:solidFill>
                  <a:srgbClr val="000000"/>
                </a:solidFill>
                <a:ea typeface="微软雅黑"/>
              </a:rPr>
              <a:t>特征工程是AI模型开发的关键环节，离线和在线特征计算的不一致会严重影响模型的性能</a:t>
            </a:r>
            <a:r>
              <a:rPr lang="en-US" altLang="zh-CN" sz="1600" b="0" i="0" u="none" strike="noStrike" dirty="0">
                <a:solidFill>
                  <a:srgbClr val="000000"/>
                </a:solidFill>
                <a:ea typeface="微软雅黑"/>
              </a:rPr>
              <a:t>。 </a:t>
            </a:r>
          </a:p>
          <a:p>
            <a:pPr marL="171450" indent="-1714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传统ML流程中，离线特征计算与在线推理常由不同系统完成，易导致特征不一致。AI数据库通过统一架构解决此问题</a:t>
            </a:r>
            <a:r>
              <a:rPr lang="en-US" sz="1600"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sz="1600" b="0" i="0" u="none" strike="noStrike" dirty="0">
                <a:solidFill>
                  <a:srgbClr val="000000"/>
                </a:solidFill>
                <a:ea typeface="微软雅黑"/>
              </a:rPr>
              <a:t>AI数据库采用特征工程一体化架构，使用统一的SQL接口定义特征计算逻辑，同时具备离线和在线双引擎，确保离线和在线特征计算的一致性。</a:t>
            </a:r>
          </a:p>
        </p:txBody>
      </p:sp>
    </p:spTree>
    <p:extLst>
      <p:ext uri="{BB962C8B-B14F-4D97-AF65-F5344CB8AC3E}">
        <p14:creationId xmlns:p14="http://schemas.microsoft.com/office/powerpoint/2010/main" val="4025292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altLang="zh-CN" sz="3200" b="1" dirty="0" err="1"/>
              <a:t>特征工程一体化架构</a:t>
            </a:r>
            <a:r>
              <a:rPr lang="en-US" sz="3200" b="1" dirty="0" err="1"/>
              <a:t>核心定义与目标</a:t>
            </a:r>
            <a:endParaRPr lang="en-US" sz="3200" b="1" dirty="0"/>
          </a:p>
        </p:txBody>
      </p:sp>
      <p:grpSp>
        <p:nvGrpSpPr>
          <p:cNvPr id="48" name="053b382b-d576-4345-8c22-6d3bb32dc338.source.5.zh-Hans.pptx" descr="b3f1cfa8-fab1-413c-b928-be7fd1522c4f">
            <a:extLst>
              <a:ext uri="{FF2B5EF4-FFF2-40B4-BE49-F238E27FC236}">
                <a16:creationId xmlns:a16="http://schemas.microsoft.com/office/drawing/2014/main" id="{E5A4C5D7-4A03-2A1A-270F-B8CA41C1295A}"/>
              </a:ext>
            </a:extLst>
          </p:cNvPr>
          <p:cNvGrpSpPr/>
          <p:nvPr/>
        </p:nvGrpSpPr>
        <p:grpSpPr>
          <a:xfrm>
            <a:off x="660400" y="1742559"/>
            <a:ext cx="10858500" cy="4673303"/>
            <a:chOff x="660400" y="1742559"/>
            <a:chExt cx="10858500" cy="4673303"/>
          </a:xfrm>
        </p:grpSpPr>
        <p:grpSp>
          <p:nvGrpSpPr>
            <p:cNvPr id="43" name="组合 42" descr="0aaf1a07-f8e3-406c-9fdf-0d5f2751f223">
              <a:extLst>
                <a:ext uri="{FF2B5EF4-FFF2-40B4-BE49-F238E27FC236}">
                  <a16:creationId xmlns:a16="http://schemas.microsoft.com/office/drawing/2014/main" id="{D235AC5B-EA33-23EF-E3BE-9D3C871F4431}"/>
                </a:ext>
              </a:extLst>
            </p:cNvPr>
            <p:cNvGrpSpPr/>
            <p:nvPr/>
          </p:nvGrpSpPr>
          <p:grpSpPr>
            <a:xfrm>
              <a:off x="660400" y="1742559"/>
              <a:ext cx="3289300" cy="1800150"/>
              <a:chOff x="660400" y="1742559"/>
              <a:chExt cx="3289300" cy="1800150"/>
            </a:xfrm>
          </p:grpSpPr>
          <p:sp>
            <p:nvSpPr>
              <p:cNvPr id="3" name="Bullet1" descr="3ee6e2af-f4c7-42d2-9342-b68ab834e1b8">
                <a:extLst>
                  <a:ext uri="{FF2B5EF4-FFF2-40B4-BE49-F238E27FC236}">
                    <a16:creationId xmlns:a16="http://schemas.microsoft.com/office/drawing/2014/main" id="{0C527894-C74E-7474-0B71-514FEF79FB57}"/>
                  </a:ext>
                </a:extLst>
              </p:cNvPr>
              <p:cNvSpPr/>
              <p:nvPr/>
            </p:nvSpPr>
            <p:spPr>
              <a:xfrm>
                <a:off x="1339850" y="1742559"/>
                <a:ext cx="2609850" cy="571500"/>
              </a:xfrm>
              <a:prstGeom prst="snip2Diag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l"/>
                <a:r>
                  <a:rPr lang="en-US" sz="2400" b="1" i="0" u="none" dirty="0" err="1">
                    <a:solidFill>
                      <a:srgbClr val="000000"/>
                    </a:solidFill>
                    <a:ea typeface="微软雅黑"/>
                  </a:rPr>
                  <a:t>核心定义</a:t>
                </a:r>
                <a:endParaRPr lang="en-US" sz="2400" b="1" i="0" u="none" dirty="0">
                  <a:solidFill>
                    <a:srgbClr val="000000"/>
                  </a:solidFill>
                  <a:ea typeface="微软雅黑"/>
                </a:endParaRPr>
              </a:p>
            </p:txBody>
          </p:sp>
          <p:sp>
            <p:nvSpPr>
              <p:cNvPr id="9" name="Number1" descr="7d59cc06-c764-4e9d-a684-399655f1aad0">
                <a:extLst>
                  <a:ext uri="{FF2B5EF4-FFF2-40B4-BE49-F238E27FC236}">
                    <a16:creationId xmlns:a16="http://schemas.microsoft.com/office/drawing/2014/main" id="{C86DA3E7-CF3A-033E-3C64-D1EAB6E011B3}"/>
                  </a:ext>
                </a:extLst>
              </p:cNvPr>
              <p:cNvSpPr/>
              <p:nvPr/>
            </p:nvSpPr>
            <p:spPr>
              <a:xfrm>
                <a:off x="660400" y="1742559"/>
                <a:ext cx="571500" cy="571500"/>
              </a:xfrm>
              <a:prstGeom prst="snip2Diag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4000" b="1" i="0" u="none" dirty="0">
                    <a:solidFill>
                      <a:srgbClr val="000000"/>
                    </a:solidFill>
                    <a:latin typeface="Arial"/>
                  </a:rPr>
                  <a:t>1</a:t>
                </a:r>
              </a:p>
            </p:txBody>
          </p:sp>
          <p:sp>
            <p:nvSpPr>
              <p:cNvPr id="17" name="Text1" descr="31e590e7-713b-418c-b999-bf3d019bf7a4">
                <a:extLst>
                  <a:ext uri="{FF2B5EF4-FFF2-40B4-BE49-F238E27FC236}">
                    <a16:creationId xmlns:a16="http://schemas.microsoft.com/office/drawing/2014/main" id="{42A68ECB-8ECE-213E-D0A4-5693DD8878EF}"/>
                  </a:ext>
                </a:extLst>
              </p:cNvPr>
              <p:cNvSpPr/>
              <p:nvPr/>
            </p:nvSpPr>
            <p:spPr>
              <a:xfrm>
                <a:off x="660400" y="2387009"/>
                <a:ext cx="3289300" cy="1155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a:lnSpc>
                    <a:spcPct val="120000"/>
                  </a:lnSpc>
                  <a:buFont typeface="Arial" panose="020B0604020202020204" pitchFamily="34" charset="0"/>
                  <a:buChar char="•"/>
                </a:pPr>
                <a:r>
                  <a:rPr lang="en-US" sz="1600" b="1" i="0" u="none" dirty="0" err="1">
                    <a:solidFill>
                      <a:srgbClr val="000000"/>
                    </a:solidFill>
                    <a:latin typeface="Arial"/>
                  </a:rPr>
                  <a:t>AI特征工程一体化架构是将特征工程各环节集成于统一平台或系统，结合机器学习算法与自动化技术，实现端到端的特征生命周期管理</a:t>
                </a:r>
                <a:r>
                  <a:rPr lang="en-US" sz="1600" b="1" i="0" u="none" dirty="0">
                    <a:solidFill>
                      <a:srgbClr val="000000"/>
                    </a:solidFill>
                    <a:latin typeface="Arial"/>
                  </a:rPr>
                  <a:t>。</a:t>
                </a:r>
              </a:p>
            </p:txBody>
          </p:sp>
        </p:grpSp>
        <p:grpSp>
          <p:nvGrpSpPr>
            <p:cNvPr id="44" name="组合 43" descr="c2f5b1f9-9545-484e-a939-7fe66234c5af">
              <a:extLst>
                <a:ext uri="{FF2B5EF4-FFF2-40B4-BE49-F238E27FC236}">
                  <a16:creationId xmlns:a16="http://schemas.microsoft.com/office/drawing/2014/main" id="{BDE1AD5F-6A50-3AD1-EA8B-43C941E5F4F9}"/>
                </a:ext>
              </a:extLst>
            </p:cNvPr>
            <p:cNvGrpSpPr/>
            <p:nvPr/>
          </p:nvGrpSpPr>
          <p:grpSpPr>
            <a:xfrm>
              <a:off x="4445000" y="1742559"/>
              <a:ext cx="3401828" cy="2111742"/>
              <a:chOff x="4445000" y="1742559"/>
              <a:chExt cx="3401828" cy="2111742"/>
            </a:xfrm>
          </p:grpSpPr>
          <p:sp>
            <p:nvSpPr>
              <p:cNvPr id="24" name="Bullet2" descr="2559faaa-1924-4e11-9682-a743ebbaba91">
                <a:extLst>
                  <a:ext uri="{FF2B5EF4-FFF2-40B4-BE49-F238E27FC236}">
                    <a16:creationId xmlns:a16="http://schemas.microsoft.com/office/drawing/2014/main" id="{CF1F2E76-5EF0-2EB5-0C73-48E5EBB9E6DE}"/>
                  </a:ext>
                </a:extLst>
              </p:cNvPr>
              <p:cNvSpPr/>
              <p:nvPr/>
            </p:nvSpPr>
            <p:spPr>
              <a:xfrm>
                <a:off x="5124450" y="1742559"/>
                <a:ext cx="2609850" cy="571500"/>
              </a:xfrm>
              <a:prstGeom prst="snip2Diag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l"/>
                <a:r>
                  <a:rPr lang="en-US" sz="2400" b="1" i="0" u="none">
                    <a:solidFill>
                      <a:srgbClr val="000000"/>
                    </a:solidFill>
                    <a:ea typeface="微软雅黑"/>
                  </a:rPr>
                  <a:t>提升建模效率</a:t>
                </a:r>
              </a:p>
            </p:txBody>
          </p:sp>
          <p:sp>
            <p:nvSpPr>
              <p:cNvPr id="25" name="Number2" descr="794aa0d8-f17c-4096-af55-f3ff2e1f742f">
                <a:extLst>
                  <a:ext uri="{FF2B5EF4-FFF2-40B4-BE49-F238E27FC236}">
                    <a16:creationId xmlns:a16="http://schemas.microsoft.com/office/drawing/2014/main" id="{929D1A5F-E9DA-316E-255A-5FEDCDF9F525}"/>
                  </a:ext>
                </a:extLst>
              </p:cNvPr>
              <p:cNvSpPr/>
              <p:nvPr/>
            </p:nvSpPr>
            <p:spPr>
              <a:xfrm>
                <a:off x="4445000" y="1742559"/>
                <a:ext cx="571500" cy="571500"/>
              </a:xfrm>
              <a:prstGeom prst="snip2Diag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4000" b="1" i="0" u="none">
                    <a:solidFill>
                      <a:srgbClr val="000000"/>
                    </a:solidFill>
                    <a:latin typeface="Arial"/>
                  </a:rPr>
                  <a:t>2</a:t>
                </a:r>
              </a:p>
            </p:txBody>
          </p:sp>
          <p:sp>
            <p:nvSpPr>
              <p:cNvPr id="23" name="Text2" descr="e492e974-4faf-48a4-984c-2b06c46e3e45">
                <a:extLst>
                  <a:ext uri="{FF2B5EF4-FFF2-40B4-BE49-F238E27FC236}">
                    <a16:creationId xmlns:a16="http://schemas.microsoft.com/office/drawing/2014/main" id="{1B000DFC-AAD0-81CE-739B-2890C7C1F9DC}"/>
                  </a:ext>
                </a:extLst>
              </p:cNvPr>
              <p:cNvSpPr/>
              <p:nvPr/>
            </p:nvSpPr>
            <p:spPr>
              <a:xfrm>
                <a:off x="4445000" y="2387008"/>
                <a:ext cx="3401828" cy="14672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a:lnSpc>
                    <a:spcPct val="120000"/>
                  </a:lnSpc>
                  <a:buFont typeface="Arial" panose="020B0604020202020204" pitchFamily="34" charset="0"/>
                  <a:buChar char="•"/>
                </a:pPr>
                <a:r>
                  <a:rPr lang="en-US" sz="1600" i="0" u="none" dirty="0" err="1">
                    <a:solidFill>
                      <a:srgbClr val="000000"/>
                    </a:solidFill>
                    <a:ea typeface="微软雅黑"/>
                  </a:rPr>
                  <a:t>减少人工干预，缩短从原始数据到可用特征的时间，提高建模工作的整体效率</a:t>
                </a:r>
                <a:r>
                  <a:rPr lang="en-US" sz="1600" i="0" u="none" dirty="0">
                    <a:solidFill>
                      <a:srgbClr val="000000"/>
                    </a:solidFill>
                    <a:ea typeface="微软雅黑"/>
                  </a:rPr>
                  <a:t>。</a:t>
                </a:r>
              </a:p>
            </p:txBody>
          </p:sp>
        </p:grpSp>
        <p:grpSp>
          <p:nvGrpSpPr>
            <p:cNvPr id="45" name="组合 44" descr="dddf4ae1-57c5-42a4-afe2-bd7d770b2b95">
              <a:extLst>
                <a:ext uri="{FF2B5EF4-FFF2-40B4-BE49-F238E27FC236}">
                  <a16:creationId xmlns:a16="http://schemas.microsoft.com/office/drawing/2014/main" id="{45BF6975-21EF-FAA9-22C8-4B96DB49F0B3}"/>
                </a:ext>
              </a:extLst>
            </p:cNvPr>
            <p:cNvGrpSpPr/>
            <p:nvPr/>
          </p:nvGrpSpPr>
          <p:grpSpPr>
            <a:xfrm>
              <a:off x="8229600" y="1742559"/>
              <a:ext cx="3289300" cy="2111742"/>
              <a:chOff x="8229600" y="1742559"/>
              <a:chExt cx="3289300" cy="2111742"/>
            </a:xfrm>
          </p:grpSpPr>
          <p:sp>
            <p:nvSpPr>
              <p:cNvPr id="29" name="Bullet3" descr="09b6b6b8-1acd-4d16-8d58-eaf0a042347a">
                <a:extLst>
                  <a:ext uri="{FF2B5EF4-FFF2-40B4-BE49-F238E27FC236}">
                    <a16:creationId xmlns:a16="http://schemas.microsoft.com/office/drawing/2014/main" id="{BB5CC54A-6D30-A30B-1FFB-0A92149380B9}"/>
                  </a:ext>
                </a:extLst>
              </p:cNvPr>
              <p:cNvSpPr/>
              <p:nvPr/>
            </p:nvSpPr>
            <p:spPr>
              <a:xfrm>
                <a:off x="8909050" y="1742559"/>
                <a:ext cx="2609850" cy="571500"/>
              </a:xfrm>
              <a:prstGeom prst="snip2Diag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l"/>
                <a:r>
                  <a:rPr lang="en-US" sz="2400" b="1" i="0" u="none">
                    <a:solidFill>
                      <a:srgbClr val="000000"/>
                    </a:solidFill>
                    <a:ea typeface="微软雅黑"/>
                  </a:rPr>
                  <a:t>增强模型性能</a:t>
                </a:r>
              </a:p>
            </p:txBody>
          </p:sp>
          <p:sp>
            <p:nvSpPr>
              <p:cNvPr id="30" name="Number3" descr="526e4b04-8901-4c99-bfea-1bd59a7da09e">
                <a:extLst>
                  <a:ext uri="{FF2B5EF4-FFF2-40B4-BE49-F238E27FC236}">
                    <a16:creationId xmlns:a16="http://schemas.microsoft.com/office/drawing/2014/main" id="{120B0819-2EA2-0C50-7CA1-6396D3DDC14A}"/>
                  </a:ext>
                </a:extLst>
              </p:cNvPr>
              <p:cNvSpPr/>
              <p:nvPr/>
            </p:nvSpPr>
            <p:spPr>
              <a:xfrm>
                <a:off x="8229600" y="1742559"/>
                <a:ext cx="571500" cy="571500"/>
              </a:xfrm>
              <a:prstGeom prst="snip2Diag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4000" b="1" i="0" u="none">
                    <a:solidFill>
                      <a:srgbClr val="000000"/>
                    </a:solidFill>
                    <a:latin typeface="Arial"/>
                  </a:rPr>
                  <a:t>3</a:t>
                </a:r>
              </a:p>
            </p:txBody>
          </p:sp>
          <p:sp>
            <p:nvSpPr>
              <p:cNvPr id="28" name="Text3" descr="bb7b3ff6-17d7-47d9-8a6f-3527a4b285b6">
                <a:extLst>
                  <a:ext uri="{FF2B5EF4-FFF2-40B4-BE49-F238E27FC236}">
                    <a16:creationId xmlns:a16="http://schemas.microsoft.com/office/drawing/2014/main" id="{0E23277D-9FD7-98D1-D00A-F64F1815F528}"/>
                  </a:ext>
                </a:extLst>
              </p:cNvPr>
              <p:cNvSpPr/>
              <p:nvPr/>
            </p:nvSpPr>
            <p:spPr>
              <a:xfrm>
                <a:off x="8229600" y="2387009"/>
                <a:ext cx="3289300" cy="14672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a:lnSpc>
                    <a:spcPct val="120000"/>
                  </a:lnSpc>
                  <a:buFont typeface="Arial" panose="020B0604020202020204" pitchFamily="34" charset="0"/>
                  <a:buChar char="•"/>
                </a:pPr>
                <a:r>
                  <a:rPr lang="en-US" sz="1600" i="0" u="none" dirty="0" err="1">
                    <a:solidFill>
                      <a:srgbClr val="000000"/>
                    </a:solidFill>
                    <a:ea typeface="微软雅黑"/>
                  </a:rPr>
                  <a:t>通过高质量、高相关性特征提升模型泛化能力，使模型在各类场景中表现更优</a:t>
                </a:r>
                <a:r>
                  <a:rPr lang="en-US" sz="1600" i="0" u="none" dirty="0">
                    <a:solidFill>
                      <a:srgbClr val="000000"/>
                    </a:solidFill>
                    <a:ea typeface="微软雅黑"/>
                  </a:rPr>
                  <a:t>。</a:t>
                </a:r>
              </a:p>
            </p:txBody>
          </p:sp>
        </p:grpSp>
        <p:grpSp>
          <p:nvGrpSpPr>
            <p:cNvPr id="46" name="组合 45" descr="e8af809b-2534-4962-bb06-fcb81e8ca6e0">
              <a:extLst>
                <a:ext uri="{FF2B5EF4-FFF2-40B4-BE49-F238E27FC236}">
                  <a16:creationId xmlns:a16="http://schemas.microsoft.com/office/drawing/2014/main" id="{7B26ACD9-517E-58CC-9CBA-3B09F55277EB}"/>
                </a:ext>
              </a:extLst>
            </p:cNvPr>
            <p:cNvGrpSpPr/>
            <p:nvPr/>
          </p:nvGrpSpPr>
          <p:grpSpPr>
            <a:xfrm>
              <a:off x="1776522" y="4567865"/>
              <a:ext cx="3651988" cy="1816100"/>
              <a:chOff x="1776522" y="4567865"/>
              <a:chExt cx="3651988" cy="1816100"/>
            </a:xfrm>
          </p:grpSpPr>
          <p:sp>
            <p:nvSpPr>
              <p:cNvPr id="34" name="Bullet4" descr="13d26fed-fc46-4df5-b52a-924a6d1d0397">
                <a:extLst>
                  <a:ext uri="{FF2B5EF4-FFF2-40B4-BE49-F238E27FC236}">
                    <a16:creationId xmlns:a16="http://schemas.microsoft.com/office/drawing/2014/main" id="{75E99921-6562-28A4-95EE-DE74E9329010}"/>
                  </a:ext>
                </a:extLst>
              </p:cNvPr>
              <p:cNvSpPr/>
              <p:nvPr/>
            </p:nvSpPr>
            <p:spPr>
              <a:xfrm>
                <a:off x="2455972" y="4567865"/>
                <a:ext cx="2609850" cy="571500"/>
              </a:xfrm>
              <a:prstGeom prst="snip2Diag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l"/>
                <a:r>
                  <a:rPr lang="en-US" sz="2400" b="1" i="0" u="none" dirty="0" err="1">
                    <a:solidFill>
                      <a:srgbClr val="000000"/>
                    </a:solidFill>
                    <a:ea typeface="微软雅黑"/>
                  </a:rPr>
                  <a:t>保障特征一致性</a:t>
                </a:r>
                <a:endParaRPr lang="en-US" sz="2400" b="1" i="0" u="none" dirty="0">
                  <a:solidFill>
                    <a:srgbClr val="000000"/>
                  </a:solidFill>
                  <a:ea typeface="微软雅黑"/>
                </a:endParaRPr>
              </a:p>
            </p:txBody>
          </p:sp>
          <p:sp>
            <p:nvSpPr>
              <p:cNvPr id="35" name="Number4" descr="cc24a220-6d22-41ee-ae93-60424dc3f3e5">
                <a:extLst>
                  <a:ext uri="{FF2B5EF4-FFF2-40B4-BE49-F238E27FC236}">
                    <a16:creationId xmlns:a16="http://schemas.microsoft.com/office/drawing/2014/main" id="{F5B41066-9ED0-4726-D8EC-F27168ADEA7A}"/>
                  </a:ext>
                </a:extLst>
              </p:cNvPr>
              <p:cNvSpPr/>
              <p:nvPr/>
            </p:nvSpPr>
            <p:spPr>
              <a:xfrm>
                <a:off x="1776522" y="4567865"/>
                <a:ext cx="571500" cy="571500"/>
              </a:xfrm>
              <a:prstGeom prst="snip2Diag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4000" b="1" i="0" u="none">
                    <a:solidFill>
                      <a:srgbClr val="000000"/>
                    </a:solidFill>
                    <a:latin typeface="Arial"/>
                  </a:rPr>
                  <a:t>4</a:t>
                </a:r>
              </a:p>
            </p:txBody>
          </p:sp>
          <p:sp>
            <p:nvSpPr>
              <p:cNvPr id="33" name="Text4" descr="2723f7b9-5c43-4463-a2f6-a07f3208ea7a">
                <a:extLst>
                  <a:ext uri="{FF2B5EF4-FFF2-40B4-BE49-F238E27FC236}">
                    <a16:creationId xmlns:a16="http://schemas.microsoft.com/office/drawing/2014/main" id="{E4E87F68-920E-F2B9-D091-E1E1D605C261}"/>
                  </a:ext>
                </a:extLst>
              </p:cNvPr>
              <p:cNvSpPr/>
              <p:nvPr/>
            </p:nvSpPr>
            <p:spPr>
              <a:xfrm>
                <a:off x="1776522" y="5228265"/>
                <a:ext cx="3651988" cy="1155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a:lnSpc>
                    <a:spcPct val="120000"/>
                  </a:lnSpc>
                  <a:buFont typeface="Arial" panose="020B0604020202020204" pitchFamily="34" charset="0"/>
                  <a:buChar char="•"/>
                </a:pPr>
                <a:r>
                  <a:rPr lang="en-US" sz="1600" b="0" i="0" u="none" dirty="0" err="1">
                    <a:solidFill>
                      <a:srgbClr val="000000"/>
                    </a:solidFill>
                    <a:ea typeface="微软雅黑"/>
                  </a:rPr>
                  <a:t>确保训练与推理阶段特征逻辑一致，避免“训练</a:t>
                </a:r>
                <a:r>
                  <a:rPr lang="en-US" sz="1600" b="0" i="0" u="none" dirty="0">
                    <a:solidFill>
                      <a:srgbClr val="000000"/>
                    </a:solidFill>
                    <a:ea typeface="微软雅黑"/>
                  </a:rPr>
                  <a:t> - </a:t>
                </a:r>
                <a:r>
                  <a:rPr lang="en-US" sz="1600" b="0" i="0" u="none" dirty="0" err="1">
                    <a:solidFill>
                      <a:srgbClr val="000000"/>
                    </a:solidFill>
                    <a:ea typeface="微软雅黑"/>
                  </a:rPr>
                  <a:t>推理不一致”问题，保障模型的稳定运行</a:t>
                </a:r>
                <a:r>
                  <a:rPr lang="en-US" sz="1600" b="0" i="0" u="none" dirty="0">
                    <a:solidFill>
                      <a:srgbClr val="000000"/>
                    </a:solidFill>
                    <a:ea typeface="微软雅黑"/>
                  </a:rPr>
                  <a:t>。</a:t>
                </a:r>
              </a:p>
            </p:txBody>
          </p:sp>
        </p:grpSp>
        <p:grpSp>
          <p:nvGrpSpPr>
            <p:cNvPr id="47" name="组合 46" descr="2bd81d11-9a9d-400e-a897-914b831d4af1">
              <a:extLst>
                <a:ext uri="{FF2B5EF4-FFF2-40B4-BE49-F238E27FC236}">
                  <a16:creationId xmlns:a16="http://schemas.microsoft.com/office/drawing/2014/main" id="{D63BAAC2-3239-8867-118C-D041F6B6C28A}"/>
                </a:ext>
              </a:extLst>
            </p:cNvPr>
            <p:cNvGrpSpPr/>
            <p:nvPr/>
          </p:nvGrpSpPr>
          <p:grpSpPr>
            <a:xfrm>
              <a:off x="6337300" y="4599762"/>
              <a:ext cx="4162351" cy="1816100"/>
              <a:chOff x="6337300" y="4599762"/>
              <a:chExt cx="4162351" cy="1816100"/>
            </a:xfrm>
          </p:grpSpPr>
          <p:sp>
            <p:nvSpPr>
              <p:cNvPr id="39" name="Bullet5" descr="2a368904-51dd-49aa-b523-9a7e755912ff">
                <a:extLst>
                  <a:ext uri="{FF2B5EF4-FFF2-40B4-BE49-F238E27FC236}">
                    <a16:creationId xmlns:a16="http://schemas.microsoft.com/office/drawing/2014/main" id="{F41294F4-167F-CE6B-8549-DF4253F35353}"/>
                  </a:ext>
                </a:extLst>
              </p:cNvPr>
              <p:cNvSpPr/>
              <p:nvPr/>
            </p:nvSpPr>
            <p:spPr>
              <a:xfrm>
                <a:off x="7016750" y="4599762"/>
                <a:ext cx="3036334" cy="571500"/>
              </a:xfrm>
              <a:prstGeom prst="snip2Diag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l"/>
                <a:r>
                  <a:rPr lang="en-US" sz="2400" b="1" i="0" u="none" dirty="0" err="1">
                    <a:solidFill>
                      <a:srgbClr val="000000"/>
                    </a:solidFill>
                    <a:ea typeface="微软雅黑"/>
                  </a:rPr>
                  <a:t>支持特征复用与治理</a:t>
                </a:r>
                <a:endParaRPr lang="en-US" sz="2400" b="1" i="0" u="none" dirty="0">
                  <a:solidFill>
                    <a:srgbClr val="000000"/>
                  </a:solidFill>
                  <a:ea typeface="微软雅黑"/>
                </a:endParaRPr>
              </a:p>
            </p:txBody>
          </p:sp>
          <p:sp>
            <p:nvSpPr>
              <p:cNvPr id="40" name="Number5" descr="0e967267-dd78-40e9-8535-8e69a909aacc">
                <a:extLst>
                  <a:ext uri="{FF2B5EF4-FFF2-40B4-BE49-F238E27FC236}">
                    <a16:creationId xmlns:a16="http://schemas.microsoft.com/office/drawing/2014/main" id="{C8AF6405-9B1D-EFBF-DE24-5DDEFA02521F}"/>
                  </a:ext>
                </a:extLst>
              </p:cNvPr>
              <p:cNvSpPr/>
              <p:nvPr/>
            </p:nvSpPr>
            <p:spPr>
              <a:xfrm>
                <a:off x="6337300" y="4599762"/>
                <a:ext cx="571500" cy="571500"/>
              </a:xfrm>
              <a:prstGeom prst="snip2Diag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4000" b="1" i="0" u="none">
                    <a:solidFill>
                      <a:srgbClr val="000000"/>
                    </a:solidFill>
                    <a:latin typeface="Arial"/>
                  </a:rPr>
                  <a:t>5</a:t>
                </a:r>
              </a:p>
            </p:txBody>
          </p:sp>
          <p:sp>
            <p:nvSpPr>
              <p:cNvPr id="38" name="Text5" descr="25fdd3ff-07cf-40bc-98ba-4e27f2895ef1">
                <a:extLst>
                  <a:ext uri="{FF2B5EF4-FFF2-40B4-BE49-F238E27FC236}">
                    <a16:creationId xmlns:a16="http://schemas.microsoft.com/office/drawing/2014/main" id="{7C8D5FDD-7C05-CCA3-4269-29BF8941DE82}"/>
                  </a:ext>
                </a:extLst>
              </p:cNvPr>
              <p:cNvSpPr/>
              <p:nvPr/>
            </p:nvSpPr>
            <p:spPr>
              <a:xfrm>
                <a:off x="6847663" y="5260162"/>
                <a:ext cx="3651988" cy="1155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a:lnSpc>
                    <a:spcPct val="120000"/>
                  </a:lnSpc>
                  <a:buFont typeface="Arial" panose="020B0604020202020204" pitchFamily="34" charset="0"/>
                  <a:buChar char="•"/>
                </a:pPr>
                <a:r>
                  <a:rPr lang="en-US" sz="1600" b="0" i="0" u="none" dirty="0" err="1">
                    <a:solidFill>
                      <a:srgbClr val="000000"/>
                    </a:solidFill>
                    <a:ea typeface="微软雅黑"/>
                  </a:rPr>
                  <a:t>实现跨项目、跨团队的特征共享与版本管理，提高特征资源的利用效率</a:t>
                </a:r>
                <a:r>
                  <a:rPr lang="en-US" sz="1600" b="0" i="0" u="none" dirty="0">
                    <a:solidFill>
                      <a:srgbClr val="000000"/>
                    </a:solidFill>
                    <a:ea typeface="微软雅黑"/>
                  </a:rPr>
                  <a:t>。</a:t>
                </a:r>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a:xfrm>
            <a:off x="402166" y="152400"/>
            <a:ext cx="11387667" cy="1143000"/>
          </a:xfrm>
        </p:spPr>
        <p:txBody>
          <a:bodyPr anchorCtr="0"/>
          <a:lstStyle/>
          <a:p>
            <a:pPr>
              <a:lnSpc>
                <a:spcPct val="100000"/>
              </a:lnSpc>
              <a:spcBef>
                <a:spcPct val="0"/>
              </a:spcBef>
            </a:pPr>
            <a:r>
              <a:rPr lang="en-US" altLang="zh-CN" sz="3200" b="1" dirty="0" err="1"/>
              <a:t>特征工程一体化架构</a:t>
            </a:r>
            <a:r>
              <a:rPr lang="en-US" sz="3200" b="1" dirty="0" err="1"/>
              <a:t>基本原理</a:t>
            </a:r>
            <a:endParaRPr lang="en-US" sz="3200" b="1" dirty="0"/>
          </a:p>
        </p:txBody>
      </p:sp>
      <p:grpSp>
        <p:nvGrpSpPr>
          <p:cNvPr id="19" name="98e93784-4100-42d0-86e5-09414daf8fa3.source.8.zh-Hans.pptx" descr="a0571885-95a0-4379-82cf-9cf4164010f1">
            <a:extLst>
              <a:ext uri="{FF2B5EF4-FFF2-40B4-BE49-F238E27FC236}">
                <a16:creationId xmlns:a16="http://schemas.microsoft.com/office/drawing/2014/main" id="{E7A912E6-EACD-3E98-7667-19AF6956839F}"/>
              </a:ext>
            </a:extLst>
          </p:cNvPr>
          <p:cNvGrpSpPr/>
          <p:nvPr/>
        </p:nvGrpSpPr>
        <p:grpSpPr>
          <a:xfrm>
            <a:off x="660400" y="1481174"/>
            <a:ext cx="10695172" cy="5003801"/>
            <a:chOff x="660400" y="1130300"/>
            <a:chExt cx="4742121" cy="5003801"/>
          </a:xfrm>
        </p:grpSpPr>
        <p:grpSp>
          <p:nvGrpSpPr>
            <p:cNvPr id="27" name="组合 26" descr="f62e12a1-fec5-4fa7-a4e3-ed2a222cfd76">
              <a:extLst>
                <a:ext uri="{FF2B5EF4-FFF2-40B4-BE49-F238E27FC236}">
                  <a16:creationId xmlns:a16="http://schemas.microsoft.com/office/drawing/2014/main" id="{18C5F3DC-EA9C-61D0-065D-F162E23B9303}"/>
                </a:ext>
              </a:extLst>
            </p:cNvPr>
            <p:cNvGrpSpPr/>
            <p:nvPr/>
          </p:nvGrpSpPr>
          <p:grpSpPr>
            <a:xfrm>
              <a:off x="660400" y="1130300"/>
              <a:ext cx="4742121" cy="1239386"/>
              <a:chOff x="660400" y="1130300"/>
              <a:chExt cx="4742121" cy="1239386"/>
            </a:xfrm>
          </p:grpSpPr>
          <p:sp>
            <p:nvSpPr>
              <p:cNvPr id="24" name="Number1" descr="cba5b164-2e51-4181-8b1d-83700c6a6358">
                <a:extLst>
                  <a:ext uri="{FF2B5EF4-FFF2-40B4-BE49-F238E27FC236}">
                    <a16:creationId xmlns:a16="http://schemas.microsoft.com/office/drawing/2014/main" id="{0D26C9A6-523A-0B16-47B7-F8C3B7D88930}"/>
                  </a:ext>
                </a:extLst>
              </p:cNvPr>
              <p:cNvSpPr/>
              <p:nvPr/>
            </p:nvSpPr>
            <p:spPr>
              <a:xfrm flipH="1">
                <a:off x="660400" y="1130300"/>
                <a:ext cx="472502" cy="472662"/>
              </a:xfrm>
              <a:prstGeom prst="rect">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2400" b="0" i="0" u="none">
                    <a:solidFill>
                      <a:srgbClr val="454545"/>
                    </a:solidFill>
                    <a:latin typeface="Arial"/>
                  </a:rPr>
                  <a:t>1.</a:t>
                </a:r>
              </a:p>
            </p:txBody>
          </p:sp>
          <p:sp>
            <p:nvSpPr>
              <p:cNvPr id="25" name="Bullet1" descr="384ab28e-aaee-40ad-9af7-6753de400bcb">
                <a:extLst>
                  <a:ext uri="{FF2B5EF4-FFF2-40B4-BE49-F238E27FC236}">
                    <a16:creationId xmlns:a16="http://schemas.microsoft.com/office/drawing/2014/main" id="{07A460A4-917C-A7C6-17AA-7F417700D1EA}"/>
                  </a:ext>
                </a:extLst>
              </p:cNvPr>
              <p:cNvSpPr txBox="1">
                <a:spLocks/>
              </p:cNvSpPr>
              <p:nvPr/>
            </p:nvSpPr>
            <p:spPr>
              <a:xfrm>
                <a:off x="1132903" y="1179464"/>
                <a:ext cx="3642298" cy="472662"/>
              </a:xfrm>
              <a:prstGeom prst="rect">
                <a:avLst/>
              </a:prstGeom>
              <a:noFill/>
              <a:ln>
                <a:noFill/>
              </a:ln>
            </p:spPr>
            <p:txBody>
              <a:bodyPr wrap="square" lIns="91440" tIns="45720" rIns="91440" bIns="45720" anchor="ctr" anchorCtr="0">
                <a:no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400" b="1" i="0" u="none" dirty="0" err="1">
                    <a:solidFill>
                      <a:srgbClr val="000000"/>
                    </a:solidFill>
                    <a:ea typeface="微软雅黑"/>
                  </a:rPr>
                  <a:t>数据抽象与统一接入</a:t>
                </a:r>
                <a:endParaRPr lang="en-US" sz="2400" b="1" i="0" u="none" dirty="0">
                  <a:solidFill>
                    <a:srgbClr val="000000"/>
                  </a:solidFill>
                  <a:ea typeface="微软雅黑"/>
                </a:endParaRPr>
              </a:p>
            </p:txBody>
          </p:sp>
          <p:sp>
            <p:nvSpPr>
              <p:cNvPr id="26" name="Text1" descr="2fd88da4-6dde-4cf6-b292-fc4992094bd4">
                <a:extLst>
                  <a:ext uri="{FF2B5EF4-FFF2-40B4-BE49-F238E27FC236}">
                    <a16:creationId xmlns:a16="http://schemas.microsoft.com/office/drawing/2014/main" id="{2609906D-224D-27C7-F83C-BAF15301A1B2}"/>
                  </a:ext>
                </a:extLst>
              </p:cNvPr>
              <p:cNvSpPr txBox="1">
                <a:spLocks/>
              </p:cNvSpPr>
              <p:nvPr/>
            </p:nvSpPr>
            <p:spPr>
              <a:xfrm>
                <a:off x="1132902" y="1652125"/>
                <a:ext cx="4269619" cy="717561"/>
              </a:xfrm>
              <a:prstGeom prst="rect">
                <a:avLst/>
              </a:prstGeom>
              <a:noFill/>
              <a:ln>
                <a:noFill/>
              </a:ln>
            </p:spPr>
            <p:txBody>
              <a:bodyPr wrap="square" lIns="91440" tIns="45720" rIns="91440" bIns="45720" anchor="t" anchorCtr="0">
                <a:noAutofit/>
              </a:bodyPr>
              <a:lstStyle/>
              <a:p>
                <a:pPr marL="342900" indent="-34290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将异构数据源统一接入系统，通过数据抽象层进行标准化表示，支持ETL</a:t>
                </a:r>
                <a:r>
                  <a:rPr lang="en-US" sz="2000" b="0" i="0" u="none" strike="noStrike" dirty="0">
                    <a:solidFill>
                      <a:srgbClr val="000000"/>
                    </a:solidFill>
                    <a:ea typeface="微软雅黑"/>
                  </a:rPr>
                  <a:t>/</a:t>
                </a:r>
                <a:r>
                  <a:rPr lang="en-US" sz="2000" b="0" i="0" u="none" strike="noStrike" dirty="0" err="1">
                    <a:solidFill>
                      <a:srgbClr val="000000"/>
                    </a:solidFill>
                    <a:ea typeface="微软雅黑"/>
                  </a:rPr>
                  <a:t>ELT流程，利用相关组件实现数据的统一接入与语义对齐</a:t>
                </a:r>
                <a:r>
                  <a:rPr lang="en-US" sz="2000" b="0" i="0" u="none" strike="noStrike" dirty="0">
                    <a:solidFill>
                      <a:srgbClr val="000000"/>
                    </a:solidFill>
                    <a:ea typeface="微软雅黑"/>
                  </a:rPr>
                  <a:t>。</a:t>
                </a:r>
              </a:p>
            </p:txBody>
          </p:sp>
        </p:grpSp>
        <p:grpSp>
          <p:nvGrpSpPr>
            <p:cNvPr id="31" name="组合 30" descr="14915035-231a-43ff-9134-e5b9f7931c19">
              <a:extLst>
                <a:ext uri="{FF2B5EF4-FFF2-40B4-BE49-F238E27FC236}">
                  <a16:creationId xmlns:a16="http://schemas.microsoft.com/office/drawing/2014/main" id="{CDC10248-BB67-700F-BD58-DA72CFC76452}"/>
                </a:ext>
              </a:extLst>
            </p:cNvPr>
            <p:cNvGrpSpPr/>
            <p:nvPr/>
          </p:nvGrpSpPr>
          <p:grpSpPr>
            <a:xfrm>
              <a:off x="660400" y="2401493"/>
              <a:ext cx="4654905" cy="1239386"/>
              <a:chOff x="660400" y="1130300"/>
              <a:chExt cx="4654905" cy="1239386"/>
            </a:xfrm>
          </p:grpSpPr>
          <p:sp>
            <p:nvSpPr>
              <p:cNvPr id="32" name="Number2" descr="f0d92175-c21a-49a9-87c8-920e066a9d03">
                <a:extLst>
                  <a:ext uri="{FF2B5EF4-FFF2-40B4-BE49-F238E27FC236}">
                    <a16:creationId xmlns:a16="http://schemas.microsoft.com/office/drawing/2014/main" id="{B436D636-002B-9E20-4548-D707AFF56A07}"/>
                  </a:ext>
                </a:extLst>
              </p:cNvPr>
              <p:cNvSpPr/>
              <p:nvPr/>
            </p:nvSpPr>
            <p:spPr>
              <a:xfrm flipH="1">
                <a:off x="660400" y="1130300"/>
                <a:ext cx="472502" cy="472662"/>
              </a:xfrm>
              <a:prstGeom prst="rect">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2400" b="0" i="0" u="none">
                    <a:solidFill>
                      <a:srgbClr val="454545"/>
                    </a:solidFill>
                    <a:latin typeface="Arial"/>
                  </a:rPr>
                  <a:t>2.</a:t>
                </a:r>
              </a:p>
            </p:txBody>
          </p:sp>
          <p:sp>
            <p:nvSpPr>
              <p:cNvPr id="33" name="Bullet2" descr="31b56ccf-c4cf-4760-b2dc-e7431ea773b2">
                <a:extLst>
                  <a:ext uri="{FF2B5EF4-FFF2-40B4-BE49-F238E27FC236}">
                    <a16:creationId xmlns:a16="http://schemas.microsoft.com/office/drawing/2014/main" id="{9CF31818-AD15-2708-0F3E-C9833988E97C}"/>
                  </a:ext>
                </a:extLst>
              </p:cNvPr>
              <p:cNvSpPr txBox="1">
                <a:spLocks/>
              </p:cNvSpPr>
              <p:nvPr/>
            </p:nvSpPr>
            <p:spPr>
              <a:xfrm>
                <a:off x="1132903" y="1179464"/>
                <a:ext cx="3642298" cy="472662"/>
              </a:xfrm>
              <a:prstGeom prst="rect">
                <a:avLst/>
              </a:prstGeom>
              <a:noFill/>
              <a:ln>
                <a:noFill/>
              </a:ln>
            </p:spPr>
            <p:txBody>
              <a:bodyPr wrap="square" lIns="91440" tIns="45720" rIns="91440" bIns="45720" anchor="ctr" anchorCtr="0">
                <a:no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400" b="1" i="0" u="none">
                    <a:solidFill>
                      <a:srgbClr val="000000"/>
                    </a:solidFill>
                    <a:ea typeface="微软雅黑"/>
                  </a:rPr>
                  <a:t>自动化特征生成</a:t>
                </a:r>
              </a:p>
            </p:txBody>
          </p:sp>
          <p:sp>
            <p:nvSpPr>
              <p:cNvPr id="34" name="Text2" descr="7b3d86c5-9185-4614-af87-9885b8efaa31">
                <a:extLst>
                  <a:ext uri="{FF2B5EF4-FFF2-40B4-BE49-F238E27FC236}">
                    <a16:creationId xmlns:a16="http://schemas.microsoft.com/office/drawing/2014/main" id="{FA956385-A5B1-EA0E-ABD6-60029FC717B9}"/>
                  </a:ext>
                </a:extLst>
              </p:cNvPr>
              <p:cNvSpPr txBox="1">
                <a:spLocks/>
              </p:cNvSpPr>
              <p:nvPr/>
            </p:nvSpPr>
            <p:spPr>
              <a:xfrm>
                <a:off x="1132903" y="1652125"/>
                <a:ext cx="4182402" cy="717561"/>
              </a:xfrm>
              <a:prstGeom prst="rect">
                <a:avLst/>
              </a:prstGeom>
              <a:noFill/>
              <a:ln>
                <a:noFill/>
              </a:ln>
            </p:spPr>
            <p:txBody>
              <a:bodyPr wrap="square" lIns="91440" tIns="45720" rIns="91440" bIns="45720" anchor="t" anchorCtr="0">
                <a:noAutofit/>
              </a:bodyPr>
              <a:lstStyle/>
              <a:p>
                <a:pPr marL="285750" indent="-285750" algn="l">
                  <a:lnSpc>
                    <a:spcPct val="120000"/>
                  </a:lnSpc>
                  <a:spcBef>
                    <a:spcPct val="0"/>
                  </a:spcBef>
                  <a:spcAft>
                    <a:spcPct val="0"/>
                  </a:spcAft>
                  <a:buFont typeface="Arial" panose="020B0604020202020204" pitchFamily="34" charset="0"/>
                  <a:buChar char="•"/>
                </a:pPr>
                <a:r>
                  <a:rPr lang="en-US" b="0" i="0" u="none" strike="noStrike" dirty="0">
                    <a:solidFill>
                      <a:srgbClr val="000000"/>
                    </a:solidFill>
                    <a:ea typeface="微软雅黑"/>
                  </a:rPr>
                  <a:t>基于领域知识与统计规律，通过预设规则或启发式算法自动生成候选特征，涵盖数值型、类别型、时间型等多种类型，并可结合遗传编程等技术智能扩展。</a:t>
                </a:r>
              </a:p>
            </p:txBody>
          </p:sp>
        </p:grpSp>
        <p:grpSp>
          <p:nvGrpSpPr>
            <p:cNvPr id="36" name="组合 35" descr="e8280d9a-4909-481a-b38b-25fe57a4d25f">
              <a:extLst>
                <a:ext uri="{FF2B5EF4-FFF2-40B4-BE49-F238E27FC236}">
                  <a16:creationId xmlns:a16="http://schemas.microsoft.com/office/drawing/2014/main" id="{EA2050EC-0EAE-0A2B-3674-67F601B268F8}"/>
                </a:ext>
              </a:extLst>
            </p:cNvPr>
            <p:cNvGrpSpPr/>
            <p:nvPr/>
          </p:nvGrpSpPr>
          <p:grpSpPr>
            <a:xfrm>
              <a:off x="660400" y="3672686"/>
              <a:ext cx="4654904" cy="1239386"/>
              <a:chOff x="660400" y="1130300"/>
              <a:chExt cx="4654904" cy="1239386"/>
            </a:xfrm>
          </p:grpSpPr>
          <p:sp>
            <p:nvSpPr>
              <p:cNvPr id="37" name="Number3" descr="fe91e1c5-d88f-45e9-95f6-7577b5bde7ec">
                <a:extLst>
                  <a:ext uri="{FF2B5EF4-FFF2-40B4-BE49-F238E27FC236}">
                    <a16:creationId xmlns:a16="http://schemas.microsoft.com/office/drawing/2014/main" id="{33909D2A-C27F-B352-C310-56137E64CDB2}"/>
                  </a:ext>
                </a:extLst>
              </p:cNvPr>
              <p:cNvSpPr/>
              <p:nvPr/>
            </p:nvSpPr>
            <p:spPr>
              <a:xfrm flipH="1">
                <a:off x="660400" y="1130300"/>
                <a:ext cx="472502" cy="472662"/>
              </a:xfrm>
              <a:prstGeom prst="rect">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2400" b="0" i="0" u="none">
                    <a:solidFill>
                      <a:srgbClr val="454545"/>
                    </a:solidFill>
                    <a:latin typeface="Arial"/>
                  </a:rPr>
                  <a:t>3.</a:t>
                </a:r>
              </a:p>
            </p:txBody>
          </p:sp>
          <p:sp>
            <p:nvSpPr>
              <p:cNvPr id="38" name="Bullet3" descr="07e073d9-3878-4646-83f2-ea6bd9f101d3">
                <a:extLst>
                  <a:ext uri="{FF2B5EF4-FFF2-40B4-BE49-F238E27FC236}">
                    <a16:creationId xmlns:a16="http://schemas.microsoft.com/office/drawing/2014/main" id="{4A00C607-EB1C-E6D7-7C62-45684EA2C5A7}"/>
                  </a:ext>
                </a:extLst>
              </p:cNvPr>
              <p:cNvSpPr txBox="1">
                <a:spLocks/>
              </p:cNvSpPr>
              <p:nvPr/>
            </p:nvSpPr>
            <p:spPr>
              <a:xfrm>
                <a:off x="1132902" y="1179464"/>
                <a:ext cx="3642298" cy="472662"/>
              </a:xfrm>
              <a:prstGeom prst="rect">
                <a:avLst/>
              </a:prstGeom>
              <a:noFill/>
              <a:ln>
                <a:noFill/>
              </a:ln>
            </p:spPr>
            <p:txBody>
              <a:bodyPr wrap="square" lIns="91440" tIns="45720" rIns="91440" bIns="45720" anchor="ctr" anchorCtr="0">
                <a:no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400" b="1" i="0" u="none">
                    <a:solidFill>
                      <a:srgbClr val="000000"/>
                    </a:solidFill>
                    <a:ea typeface="微软雅黑"/>
                  </a:rPr>
                  <a:t>特征转换与编码</a:t>
                </a:r>
              </a:p>
            </p:txBody>
          </p:sp>
          <p:sp>
            <p:nvSpPr>
              <p:cNvPr id="39" name="Text3" descr="2819d252-2ac6-4133-baf4-4f65e791c2ce">
                <a:extLst>
                  <a:ext uri="{FF2B5EF4-FFF2-40B4-BE49-F238E27FC236}">
                    <a16:creationId xmlns:a16="http://schemas.microsoft.com/office/drawing/2014/main" id="{933B1EE0-B974-9A87-6228-731D8B25C6EA}"/>
                  </a:ext>
                </a:extLst>
              </p:cNvPr>
              <p:cNvSpPr txBox="1">
                <a:spLocks/>
              </p:cNvSpPr>
              <p:nvPr/>
            </p:nvSpPr>
            <p:spPr>
              <a:xfrm>
                <a:off x="1158301" y="1652125"/>
                <a:ext cx="4157003" cy="717561"/>
              </a:xfrm>
              <a:prstGeom prst="rect">
                <a:avLst/>
              </a:prstGeom>
              <a:noFill/>
              <a:ln>
                <a:noFill/>
              </a:ln>
            </p:spPr>
            <p:txBody>
              <a:bodyPr wrap="square" lIns="91440" tIns="45720" rIns="91440" bIns="45720" anchor="t" anchorCtr="0">
                <a:noAutofit/>
              </a:bodyPr>
              <a:lstStyle/>
              <a:p>
                <a:pPr marL="285750" indent="-2857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将原始字段映射为模型可学习的数值表示，同时保持语义信息，支持可配置的转换流水线，引入可微分特征转换</a:t>
                </a:r>
                <a:r>
                  <a:rPr lang="en-US" b="0" i="0" u="none" strike="noStrike" dirty="0">
                    <a:solidFill>
                      <a:srgbClr val="000000"/>
                    </a:solidFill>
                    <a:ea typeface="微软雅黑"/>
                  </a:rPr>
                  <a:t>。</a:t>
                </a:r>
              </a:p>
            </p:txBody>
          </p:sp>
        </p:grpSp>
        <p:grpSp>
          <p:nvGrpSpPr>
            <p:cNvPr id="40" name="组合 39" descr="4d5aa27f-48ec-4ff4-aa03-775189878ca8">
              <a:extLst>
                <a:ext uri="{FF2B5EF4-FFF2-40B4-BE49-F238E27FC236}">
                  <a16:creationId xmlns:a16="http://schemas.microsoft.com/office/drawing/2014/main" id="{9424CB75-4350-314A-F9B0-F07CA45AE139}"/>
                </a:ext>
              </a:extLst>
            </p:cNvPr>
            <p:cNvGrpSpPr/>
            <p:nvPr/>
          </p:nvGrpSpPr>
          <p:grpSpPr>
            <a:xfrm>
              <a:off x="660400" y="4943878"/>
              <a:ext cx="4621905" cy="1190223"/>
              <a:chOff x="660400" y="1130300"/>
              <a:chExt cx="4621905" cy="1190223"/>
            </a:xfrm>
          </p:grpSpPr>
          <p:sp>
            <p:nvSpPr>
              <p:cNvPr id="41" name="Number4" descr="1dd42a4a-3969-484b-ac2a-6738519c16d6">
                <a:extLst>
                  <a:ext uri="{FF2B5EF4-FFF2-40B4-BE49-F238E27FC236}">
                    <a16:creationId xmlns:a16="http://schemas.microsoft.com/office/drawing/2014/main" id="{7F072C62-4B88-1879-BD85-4D77C392D49A}"/>
                  </a:ext>
                </a:extLst>
              </p:cNvPr>
              <p:cNvSpPr/>
              <p:nvPr/>
            </p:nvSpPr>
            <p:spPr>
              <a:xfrm flipH="1">
                <a:off x="660400" y="1130300"/>
                <a:ext cx="472502" cy="472662"/>
              </a:xfrm>
              <a:prstGeom prst="rect">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2400" b="0" i="0" u="none">
                    <a:solidFill>
                      <a:srgbClr val="454545"/>
                    </a:solidFill>
                    <a:latin typeface="Arial"/>
                  </a:rPr>
                  <a:t>4.</a:t>
                </a:r>
              </a:p>
            </p:txBody>
          </p:sp>
          <p:sp>
            <p:nvSpPr>
              <p:cNvPr id="42" name="Bullet4" descr="a12c0eb4-f830-435e-8581-158e5a63b9f3">
                <a:extLst>
                  <a:ext uri="{FF2B5EF4-FFF2-40B4-BE49-F238E27FC236}">
                    <a16:creationId xmlns:a16="http://schemas.microsoft.com/office/drawing/2014/main" id="{3394AE7F-3E16-7507-66FA-2EE1BCF580C1}"/>
                  </a:ext>
                </a:extLst>
              </p:cNvPr>
              <p:cNvSpPr txBox="1">
                <a:spLocks/>
              </p:cNvSpPr>
              <p:nvPr/>
            </p:nvSpPr>
            <p:spPr>
              <a:xfrm>
                <a:off x="1158302" y="1130301"/>
                <a:ext cx="3642298" cy="472662"/>
              </a:xfrm>
              <a:prstGeom prst="rect">
                <a:avLst/>
              </a:prstGeom>
              <a:noFill/>
              <a:ln>
                <a:noFill/>
              </a:ln>
            </p:spPr>
            <p:txBody>
              <a:bodyPr wrap="square" lIns="91440" tIns="45720" rIns="91440" bIns="45720" anchor="ctr" anchorCtr="0">
                <a:no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400" b="1" i="0" u="none">
                    <a:solidFill>
                      <a:srgbClr val="000000"/>
                    </a:solidFill>
                    <a:ea typeface="微软雅黑"/>
                  </a:rPr>
                  <a:t>特征选择与降维</a:t>
                </a:r>
              </a:p>
            </p:txBody>
          </p:sp>
          <p:sp>
            <p:nvSpPr>
              <p:cNvPr id="43" name="Text4" descr="0d0cdc19-f3fe-43b6-9172-efee5971289e">
                <a:extLst>
                  <a:ext uri="{FF2B5EF4-FFF2-40B4-BE49-F238E27FC236}">
                    <a16:creationId xmlns:a16="http://schemas.microsoft.com/office/drawing/2014/main" id="{C249C765-6B2A-1985-F5E6-35AA46D3130D}"/>
                  </a:ext>
                </a:extLst>
              </p:cNvPr>
              <p:cNvSpPr txBox="1">
                <a:spLocks/>
              </p:cNvSpPr>
              <p:nvPr/>
            </p:nvSpPr>
            <p:spPr>
              <a:xfrm>
                <a:off x="1158302" y="1602962"/>
                <a:ext cx="4124003" cy="717561"/>
              </a:xfrm>
              <a:prstGeom prst="rect">
                <a:avLst/>
              </a:prstGeom>
              <a:noFill/>
              <a:ln>
                <a:noFill/>
              </a:ln>
            </p:spPr>
            <p:txBody>
              <a:bodyPr wrap="square" lIns="91440" tIns="45720" rIns="91440" bIns="45720" anchor="t" anchorCtr="0">
                <a:noAutofit/>
              </a:bodyPr>
              <a:lstStyle/>
              <a:p>
                <a:pPr marL="285750" indent="-2857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在高维特征空间中筛选出对目标任务最具判别力的子集，降低过拟合风险，有过滤法、包裹法、嵌入法等多种方法，可一体化实现</a:t>
                </a:r>
                <a:r>
                  <a:rPr lang="en-US" b="0" i="0" u="none" strike="noStrike" dirty="0">
                    <a:solidFill>
                      <a:srgbClr val="000000"/>
                    </a:solidFill>
                    <a:ea typeface="微软雅黑"/>
                  </a:rPr>
                  <a:t>。</a:t>
                </a:r>
              </a:p>
            </p:txBody>
          </p:sp>
        </p:grpSp>
      </p:grpSp>
    </p:spTree>
    <p:extLst>
      <p:ext uri="{BB962C8B-B14F-4D97-AF65-F5344CB8AC3E}">
        <p14:creationId xmlns:p14="http://schemas.microsoft.com/office/powerpoint/2010/main" val="3097073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a:xfrm>
            <a:off x="402166" y="152400"/>
            <a:ext cx="11387667" cy="1143000"/>
          </a:xfrm>
        </p:spPr>
        <p:txBody>
          <a:bodyPr anchorCtr="0"/>
          <a:lstStyle/>
          <a:p>
            <a:pPr>
              <a:lnSpc>
                <a:spcPct val="100000"/>
              </a:lnSpc>
              <a:spcBef>
                <a:spcPct val="0"/>
              </a:spcBef>
            </a:pPr>
            <a:r>
              <a:rPr lang="en-US" altLang="zh-CN" sz="3600" b="1" dirty="0" err="1"/>
              <a:t>特征工程一体化架构</a:t>
            </a:r>
            <a:r>
              <a:rPr lang="en-US" sz="3600" b="1" dirty="0" err="1"/>
              <a:t>基本原理</a:t>
            </a:r>
            <a:endParaRPr lang="en-US" sz="3600" b="1" dirty="0"/>
          </a:p>
        </p:txBody>
      </p:sp>
      <p:grpSp>
        <p:nvGrpSpPr>
          <p:cNvPr id="19" name="98e93784-4100-42d0-86e5-09414daf8fa3.source.8.zh-Hans.pptx" descr="a0571885-95a0-4379-82cf-9cf4164010f1">
            <a:extLst>
              <a:ext uri="{FF2B5EF4-FFF2-40B4-BE49-F238E27FC236}">
                <a16:creationId xmlns:a16="http://schemas.microsoft.com/office/drawing/2014/main" id="{E7A912E6-EACD-3E98-7667-19AF6956839F}"/>
              </a:ext>
            </a:extLst>
          </p:cNvPr>
          <p:cNvGrpSpPr/>
          <p:nvPr/>
        </p:nvGrpSpPr>
        <p:grpSpPr>
          <a:xfrm>
            <a:off x="1117820" y="1443771"/>
            <a:ext cx="10386598" cy="3770012"/>
            <a:chOff x="1077160" y="1092897"/>
            <a:chExt cx="9463543" cy="3770012"/>
          </a:xfrm>
        </p:grpSpPr>
        <p:grpSp>
          <p:nvGrpSpPr>
            <p:cNvPr id="3" name="组合 2" descr="f2a15b2b-88b6-4c5c-ad67-9b134eb5eb27">
              <a:extLst>
                <a:ext uri="{FF2B5EF4-FFF2-40B4-BE49-F238E27FC236}">
                  <a16:creationId xmlns:a16="http://schemas.microsoft.com/office/drawing/2014/main" id="{D997A802-BA3B-E3E6-4819-F124C09E3182}"/>
                </a:ext>
              </a:extLst>
            </p:cNvPr>
            <p:cNvGrpSpPr/>
            <p:nvPr/>
          </p:nvGrpSpPr>
          <p:grpSpPr>
            <a:xfrm>
              <a:off x="1077161" y="1092897"/>
              <a:ext cx="9463542" cy="1269104"/>
              <a:chOff x="-5641139" y="1092897"/>
              <a:chExt cx="9463542" cy="1269104"/>
            </a:xfrm>
          </p:grpSpPr>
          <p:sp>
            <p:nvSpPr>
              <p:cNvPr id="4" name="Number5" descr="a59d6439-d37d-43c1-8d12-2309b877d8aa">
                <a:extLst>
                  <a:ext uri="{FF2B5EF4-FFF2-40B4-BE49-F238E27FC236}">
                    <a16:creationId xmlns:a16="http://schemas.microsoft.com/office/drawing/2014/main" id="{3C64F55D-825E-B90D-4023-0E1F9534CA1A}"/>
                  </a:ext>
                </a:extLst>
              </p:cNvPr>
              <p:cNvSpPr/>
              <p:nvPr/>
            </p:nvSpPr>
            <p:spPr>
              <a:xfrm flipH="1">
                <a:off x="-5641139" y="1171778"/>
                <a:ext cx="472502" cy="472662"/>
              </a:xfrm>
              <a:prstGeom prst="rect">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600" b="0" i="0" u="none" dirty="0">
                    <a:solidFill>
                      <a:srgbClr val="454545"/>
                    </a:solidFill>
                    <a:latin typeface="Arial"/>
                  </a:rPr>
                  <a:t>5.</a:t>
                </a:r>
              </a:p>
            </p:txBody>
          </p:sp>
          <p:sp>
            <p:nvSpPr>
              <p:cNvPr id="5" name="Bullet5" descr="ad228a5a-4567-4245-85e1-95e79634bec6">
                <a:extLst>
                  <a:ext uri="{FF2B5EF4-FFF2-40B4-BE49-F238E27FC236}">
                    <a16:creationId xmlns:a16="http://schemas.microsoft.com/office/drawing/2014/main" id="{C277E697-FBD6-128B-0444-0116FD88C78A}"/>
                  </a:ext>
                </a:extLst>
              </p:cNvPr>
              <p:cNvSpPr txBox="1">
                <a:spLocks/>
              </p:cNvSpPr>
              <p:nvPr/>
            </p:nvSpPr>
            <p:spPr>
              <a:xfrm>
                <a:off x="-5114440" y="1092897"/>
                <a:ext cx="8936843" cy="551543"/>
              </a:xfrm>
              <a:prstGeom prst="rect">
                <a:avLst/>
              </a:prstGeom>
              <a:noFill/>
              <a:ln>
                <a:noFill/>
              </a:ln>
            </p:spPr>
            <p:txBody>
              <a:bodyPr wrap="square" lIns="91440" tIns="45720" rIns="91440" bIns="45720" anchor="ctr" anchorCtr="0">
                <a:no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400" b="1" i="0" u="none" dirty="0" err="1">
                    <a:solidFill>
                      <a:srgbClr val="000000"/>
                    </a:solidFill>
                    <a:ea typeface="微软雅黑"/>
                  </a:rPr>
                  <a:t>特征存储与特征商店</a:t>
                </a:r>
                <a:endParaRPr lang="en-US" sz="2400" b="1" i="0" u="none" dirty="0">
                  <a:solidFill>
                    <a:srgbClr val="000000"/>
                  </a:solidFill>
                  <a:ea typeface="微软雅黑"/>
                </a:endParaRPr>
              </a:p>
            </p:txBody>
          </p:sp>
          <p:sp>
            <p:nvSpPr>
              <p:cNvPr id="6" name="Text5" descr="b5fc72ec-5529-41d9-9f2a-a6f42b9c705b">
                <a:extLst>
                  <a:ext uri="{FF2B5EF4-FFF2-40B4-BE49-F238E27FC236}">
                    <a16:creationId xmlns:a16="http://schemas.microsoft.com/office/drawing/2014/main" id="{1F4298DF-E592-41F5-AA56-ADD88146C7A4}"/>
                  </a:ext>
                </a:extLst>
              </p:cNvPr>
              <p:cNvSpPr txBox="1">
                <a:spLocks/>
              </p:cNvSpPr>
              <p:nvPr/>
            </p:nvSpPr>
            <p:spPr>
              <a:xfrm>
                <a:off x="-5114440" y="1524689"/>
                <a:ext cx="8936843" cy="837312"/>
              </a:xfrm>
              <a:prstGeom prst="rect">
                <a:avLst/>
              </a:prstGeom>
              <a:noFill/>
              <a:ln>
                <a:noFill/>
              </a:ln>
            </p:spPr>
            <p:txBody>
              <a:bodyPr wrap="square" lIns="91440" tIns="45720" rIns="91440" bIns="45720" anchor="t" anchorCtr="0">
                <a:noAutofit/>
              </a:bodyPr>
              <a:lstStyle/>
              <a:p>
                <a:pPr marL="342900" indent="-34290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将计算好的特征持久化存储，支持离线训练与在线推理的一致性，包含离线特征库、在线特征服务和元数据管理等核心组件</a:t>
                </a:r>
                <a:r>
                  <a:rPr lang="en-US" sz="2000" b="0" i="0" u="none" strike="noStrike" dirty="0">
                    <a:solidFill>
                      <a:srgbClr val="000000"/>
                    </a:solidFill>
                    <a:ea typeface="微软雅黑"/>
                  </a:rPr>
                  <a:t>。</a:t>
                </a:r>
              </a:p>
            </p:txBody>
          </p:sp>
        </p:grpSp>
        <p:grpSp>
          <p:nvGrpSpPr>
            <p:cNvPr id="7" name="组合 6" descr="d9f06e6c-8e4d-43ad-9c69-3cd375c28448">
              <a:extLst>
                <a:ext uri="{FF2B5EF4-FFF2-40B4-BE49-F238E27FC236}">
                  <a16:creationId xmlns:a16="http://schemas.microsoft.com/office/drawing/2014/main" id="{9A3B4A53-8493-CD71-F09E-B1F4BD431179}"/>
                </a:ext>
              </a:extLst>
            </p:cNvPr>
            <p:cNvGrpSpPr/>
            <p:nvPr/>
          </p:nvGrpSpPr>
          <p:grpSpPr>
            <a:xfrm>
              <a:off x="1077160" y="2364090"/>
              <a:ext cx="9463543" cy="1269104"/>
              <a:chOff x="-5641140" y="1092897"/>
              <a:chExt cx="9463543" cy="1269104"/>
            </a:xfrm>
          </p:grpSpPr>
          <p:sp>
            <p:nvSpPr>
              <p:cNvPr id="8" name="Number6" descr="19bedf67-54d4-440a-ad53-a9eb25a8b183">
                <a:extLst>
                  <a:ext uri="{FF2B5EF4-FFF2-40B4-BE49-F238E27FC236}">
                    <a16:creationId xmlns:a16="http://schemas.microsoft.com/office/drawing/2014/main" id="{3C37031E-0661-A09C-997B-10185E39654D}"/>
                  </a:ext>
                </a:extLst>
              </p:cNvPr>
              <p:cNvSpPr/>
              <p:nvPr/>
            </p:nvSpPr>
            <p:spPr>
              <a:xfrm flipH="1">
                <a:off x="-5641140" y="1171778"/>
                <a:ext cx="472502" cy="472662"/>
              </a:xfrm>
              <a:prstGeom prst="rect">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600" b="0" i="0" u="none">
                    <a:solidFill>
                      <a:srgbClr val="454545"/>
                    </a:solidFill>
                    <a:latin typeface="Arial"/>
                  </a:rPr>
                  <a:t>6.</a:t>
                </a:r>
              </a:p>
            </p:txBody>
          </p:sp>
          <p:sp>
            <p:nvSpPr>
              <p:cNvPr id="9" name="Bullet6" descr="865e7610-0baa-4e2b-99d5-d04beb764ae2">
                <a:extLst>
                  <a:ext uri="{FF2B5EF4-FFF2-40B4-BE49-F238E27FC236}">
                    <a16:creationId xmlns:a16="http://schemas.microsoft.com/office/drawing/2014/main" id="{1771F932-2161-1CC8-1B22-DE5E462F195E}"/>
                  </a:ext>
                </a:extLst>
              </p:cNvPr>
              <p:cNvSpPr txBox="1">
                <a:spLocks/>
              </p:cNvSpPr>
              <p:nvPr/>
            </p:nvSpPr>
            <p:spPr>
              <a:xfrm>
                <a:off x="-5114440" y="1092897"/>
                <a:ext cx="8936843" cy="551543"/>
              </a:xfrm>
              <a:prstGeom prst="rect">
                <a:avLst/>
              </a:prstGeom>
              <a:noFill/>
              <a:ln>
                <a:noFill/>
              </a:ln>
            </p:spPr>
            <p:txBody>
              <a:bodyPr wrap="square" lIns="91440" tIns="45720" rIns="91440" bIns="45720" anchor="ctr" anchorCtr="0">
                <a:no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400" b="1" i="0" u="none" dirty="0" err="1">
                    <a:solidFill>
                      <a:srgbClr val="000000"/>
                    </a:solidFill>
                    <a:ea typeface="微软雅黑"/>
                  </a:rPr>
                  <a:t>特征监控与漂移检测</a:t>
                </a:r>
                <a:endParaRPr lang="en-US" sz="2400" b="1" i="0" u="none" dirty="0">
                  <a:solidFill>
                    <a:srgbClr val="000000"/>
                  </a:solidFill>
                  <a:ea typeface="微软雅黑"/>
                </a:endParaRPr>
              </a:p>
            </p:txBody>
          </p:sp>
          <p:sp>
            <p:nvSpPr>
              <p:cNvPr id="10" name="Text6" descr="1fdb0933-e7e9-4737-b9e1-ce922315a3e9">
                <a:extLst>
                  <a:ext uri="{FF2B5EF4-FFF2-40B4-BE49-F238E27FC236}">
                    <a16:creationId xmlns:a16="http://schemas.microsoft.com/office/drawing/2014/main" id="{47069AAB-C768-E9C6-3EED-BCBB560E8A73}"/>
                  </a:ext>
                </a:extLst>
              </p:cNvPr>
              <p:cNvSpPr txBox="1">
                <a:spLocks/>
              </p:cNvSpPr>
              <p:nvPr/>
            </p:nvSpPr>
            <p:spPr>
              <a:xfrm>
                <a:off x="-5114440" y="1524689"/>
                <a:ext cx="8936843" cy="837312"/>
              </a:xfrm>
              <a:prstGeom prst="rect">
                <a:avLst/>
              </a:prstGeom>
              <a:noFill/>
              <a:ln>
                <a:noFill/>
              </a:ln>
            </p:spPr>
            <p:txBody>
              <a:bodyPr wrap="square" lIns="91440" tIns="45720" rIns="91440" bIns="45720" anchor="t" anchorCtr="0">
                <a:noAutofit/>
              </a:bodyPr>
              <a:lstStyle/>
              <a:p>
                <a:pPr marL="342900" indent="-34290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持续监控特征的统计特性变化，及时发现数据漂移或概念漂移，通过分布对比、异常告警等机制，支持特征生命周期管理</a:t>
                </a:r>
                <a:r>
                  <a:rPr lang="en-US" sz="2000" b="0" i="0" u="none" strike="noStrike" dirty="0">
                    <a:solidFill>
                      <a:srgbClr val="000000"/>
                    </a:solidFill>
                    <a:ea typeface="微软雅黑"/>
                  </a:rPr>
                  <a:t>。</a:t>
                </a:r>
              </a:p>
            </p:txBody>
          </p:sp>
        </p:grpSp>
        <p:grpSp>
          <p:nvGrpSpPr>
            <p:cNvPr id="11" name="组合 10" descr="c8daa823-8800-4114-a74b-b862f1a6aa14">
              <a:extLst>
                <a:ext uri="{FF2B5EF4-FFF2-40B4-BE49-F238E27FC236}">
                  <a16:creationId xmlns:a16="http://schemas.microsoft.com/office/drawing/2014/main" id="{49BD4100-8F22-E8D0-C667-71A1083A75EF}"/>
                </a:ext>
              </a:extLst>
            </p:cNvPr>
            <p:cNvGrpSpPr/>
            <p:nvPr/>
          </p:nvGrpSpPr>
          <p:grpSpPr>
            <a:xfrm>
              <a:off x="1077160" y="3593805"/>
              <a:ext cx="9463543" cy="1269104"/>
              <a:chOff x="-5641140" y="1051419"/>
              <a:chExt cx="9463543" cy="1269104"/>
            </a:xfrm>
          </p:grpSpPr>
          <p:sp>
            <p:nvSpPr>
              <p:cNvPr id="12" name="Number7" descr="4d526ccf-7b99-4136-85d4-a92fb09a42f1">
                <a:extLst>
                  <a:ext uri="{FF2B5EF4-FFF2-40B4-BE49-F238E27FC236}">
                    <a16:creationId xmlns:a16="http://schemas.microsoft.com/office/drawing/2014/main" id="{46C787D4-441C-4F1D-9BAA-DB80232F5438}"/>
                  </a:ext>
                </a:extLst>
              </p:cNvPr>
              <p:cNvSpPr/>
              <p:nvPr/>
            </p:nvSpPr>
            <p:spPr>
              <a:xfrm flipH="1">
                <a:off x="-5641140" y="1171778"/>
                <a:ext cx="472502" cy="472662"/>
              </a:xfrm>
              <a:prstGeom prst="rect">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600" b="0" i="0" u="none">
                    <a:solidFill>
                      <a:srgbClr val="454545"/>
                    </a:solidFill>
                    <a:latin typeface="Arial"/>
                  </a:rPr>
                  <a:t>7.</a:t>
                </a:r>
              </a:p>
            </p:txBody>
          </p:sp>
          <p:sp>
            <p:nvSpPr>
              <p:cNvPr id="13" name="Bullet7" descr="2fad6c4d-8583-4027-ac53-c51a32561941">
                <a:extLst>
                  <a:ext uri="{FF2B5EF4-FFF2-40B4-BE49-F238E27FC236}">
                    <a16:creationId xmlns:a16="http://schemas.microsoft.com/office/drawing/2014/main" id="{3DBD551B-EFC7-B5A2-6C2C-8BB255A44ADD}"/>
                  </a:ext>
                </a:extLst>
              </p:cNvPr>
              <p:cNvSpPr txBox="1">
                <a:spLocks/>
              </p:cNvSpPr>
              <p:nvPr/>
            </p:nvSpPr>
            <p:spPr>
              <a:xfrm>
                <a:off x="-5114440" y="1051419"/>
                <a:ext cx="8936843" cy="551543"/>
              </a:xfrm>
              <a:prstGeom prst="rect">
                <a:avLst/>
              </a:prstGeom>
              <a:noFill/>
              <a:ln>
                <a:noFill/>
              </a:ln>
            </p:spPr>
            <p:txBody>
              <a:bodyPr wrap="square" lIns="91440" tIns="45720" rIns="91440" bIns="45720" anchor="ctr" anchorCtr="0">
                <a:no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400" b="1" i="0" u="none" dirty="0" err="1">
                    <a:solidFill>
                      <a:srgbClr val="000000"/>
                    </a:solidFill>
                    <a:ea typeface="微软雅黑"/>
                  </a:rPr>
                  <a:t>闭环反馈与持续迭代</a:t>
                </a:r>
                <a:endParaRPr lang="en-US" sz="2400" b="1" i="0" u="none" dirty="0">
                  <a:solidFill>
                    <a:srgbClr val="000000"/>
                  </a:solidFill>
                  <a:ea typeface="微软雅黑"/>
                </a:endParaRPr>
              </a:p>
            </p:txBody>
          </p:sp>
          <p:sp>
            <p:nvSpPr>
              <p:cNvPr id="14" name="Text7" descr="5e6dcbe2-0ad6-49a0-aad3-bc61c36551e0">
                <a:extLst>
                  <a:ext uri="{FF2B5EF4-FFF2-40B4-BE49-F238E27FC236}">
                    <a16:creationId xmlns:a16="http://schemas.microsoft.com/office/drawing/2014/main" id="{6E7907B9-E203-4ABC-2CE8-2291CCEE4A26}"/>
                  </a:ext>
                </a:extLst>
              </p:cNvPr>
              <p:cNvSpPr txBox="1">
                <a:spLocks/>
              </p:cNvSpPr>
              <p:nvPr/>
            </p:nvSpPr>
            <p:spPr>
              <a:xfrm>
                <a:off x="-5114440" y="1483211"/>
                <a:ext cx="8936843" cy="837312"/>
              </a:xfrm>
              <a:prstGeom prst="rect">
                <a:avLst/>
              </a:prstGeom>
              <a:noFill/>
              <a:ln>
                <a:noFill/>
              </a:ln>
            </p:spPr>
            <p:txBody>
              <a:bodyPr wrap="square" lIns="91440" tIns="45720" rIns="91440" bIns="45720" anchor="t" anchorCtr="0">
                <a:noAutofit/>
              </a:bodyPr>
              <a:lstStyle/>
              <a:p>
                <a:pPr marL="342900" indent="-34290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将模型预测结果与实际反馈结合，反向优化特征工程策略，通过可解释性工具分析特征贡献，构建“特征</a:t>
                </a:r>
                <a:r>
                  <a:rPr lang="en-US" sz="2000" b="0" i="0" u="none" strike="noStrike" dirty="0">
                    <a:solidFill>
                      <a:srgbClr val="000000"/>
                    </a:solidFill>
                    <a:ea typeface="微软雅黑"/>
                  </a:rPr>
                  <a:t> - </a:t>
                </a:r>
                <a:r>
                  <a:rPr lang="en-US" sz="2000" b="0" i="0" u="none" strike="noStrike" dirty="0" err="1">
                    <a:solidFill>
                      <a:srgbClr val="000000"/>
                    </a:solidFill>
                    <a:ea typeface="微软雅黑"/>
                  </a:rPr>
                  <a:t>模型</a:t>
                </a:r>
                <a:r>
                  <a:rPr lang="en-US" sz="2000" b="0" i="0" u="none" strike="noStrike" dirty="0">
                    <a:solidFill>
                      <a:srgbClr val="000000"/>
                    </a:solidFill>
                    <a:ea typeface="微软雅黑"/>
                  </a:rPr>
                  <a:t> - </a:t>
                </a:r>
                <a:r>
                  <a:rPr lang="en-US" sz="2000" b="0" i="0" u="none" strike="noStrike" dirty="0" err="1">
                    <a:solidFill>
                      <a:srgbClr val="000000"/>
                    </a:solidFill>
                    <a:ea typeface="微软雅黑"/>
                  </a:rPr>
                  <a:t>反馈”闭环</a:t>
                </a:r>
                <a:r>
                  <a:rPr lang="en-US" sz="2000" b="0" i="0" u="none" strike="noStrike" dirty="0">
                    <a:solidFill>
                      <a:srgbClr val="000000"/>
                    </a:solidFill>
                    <a:ea typeface="微软雅黑"/>
                  </a:rPr>
                  <a:t>。</a:t>
                </a:r>
              </a:p>
            </p:txBody>
          </p:sp>
        </p:grpSp>
      </p:grpSp>
    </p:spTree>
    <p:extLst>
      <p:ext uri="{BB962C8B-B14F-4D97-AF65-F5344CB8AC3E}">
        <p14:creationId xmlns:p14="http://schemas.microsoft.com/office/powerpoint/2010/main" val="1380347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a:xfrm>
            <a:off x="402166" y="152400"/>
            <a:ext cx="11387667" cy="1143000"/>
          </a:xfrm>
        </p:spPr>
        <p:txBody>
          <a:bodyPr anchorCtr="0"/>
          <a:lstStyle/>
          <a:p>
            <a:pPr>
              <a:lnSpc>
                <a:spcPct val="100000"/>
              </a:lnSpc>
              <a:spcBef>
                <a:spcPct val="0"/>
              </a:spcBef>
            </a:pPr>
            <a:r>
              <a:rPr lang="en-US" altLang="zh-CN" sz="3600" b="1" dirty="0" err="1"/>
              <a:t>特征工程一体化架构</a:t>
            </a:r>
            <a:r>
              <a:rPr lang="zh-CN" altLang="en-US" sz="3600" b="1" dirty="0"/>
              <a:t>层级模型</a:t>
            </a:r>
            <a:endParaRPr lang="en-US" sz="3600" b="1" dirty="0"/>
          </a:p>
        </p:txBody>
      </p:sp>
      <p:sp>
        <p:nvSpPr>
          <p:cNvPr id="18" name="Text8" descr="3ccebfa0-7447-4f50-9ef7-228d69eae386">
            <a:extLst>
              <a:ext uri="{FF2B5EF4-FFF2-40B4-BE49-F238E27FC236}">
                <a16:creationId xmlns:a16="http://schemas.microsoft.com/office/drawing/2014/main" id="{09F42A57-73C8-02CB-5B1D-40FC69570AEC}"/>
              </a:ext>
            </a:extLst>
          </p:cNvPr>
          <p:cNvSpPr txBox="1">
            <a:spLocks/>
          </p:cNvSpPr>
          <p:nvPr/>
        </p:nvSpPr>
        <p:spPr>
          <a:xfrm>
            <a:off x="1273438" y="1357420"/>
            <a:ext cx="9808525" cy="907310"/>
          </a:xfrm>
          <a:prstGeom prst="rect">
            <a:avLst/>
          </a:prstGeom>
          <a:noFill/>
          <a:ln>
            <a:noFill/>
          </a:ln>
        </p:spPr>
        <p:txBody>
          <a:bodyPr wrap="square" lIns="91440" tIns="45720" rIns="91440" bIns="45720" anchor="t" anchorCtr="0">
            <a:normAutofit fontScale="85000" lnSpcReduction="10000"/>
          </a:bodyPr>
          <a:lstStyle/>
          <a:p>
            <a:pPr marL="285750" indent="-285750" algn="l">
              <a:lnSpc>
                <a:spcPct val="120000"/>
              </a:lnSpc>
              <a:spcBef>
                <a:spcPct val="0"/>
              </a:spcBef>
              <a:spcAft>
                <a:spcPct val="0"/>
              </a:spcAft>
              <a:buFont typeface="Arial" panose="020B0604020202020204" pitchFamily="34" charset="0"/>
              <a:buChar char="•"/>
            </a:pPr>
            <a:r>
              <a:rPr lang="en-US" sz="2400" b="0" i="0" u="none" strike="noStrike" dirty="0">
                <a:solidFill>
                  <a:srgbClr val="000000"/>
                </a:solidFill>
                <a:ea typeface="微软雅黑"/>
              </a:rPr>
              <a:t>一体化架构通常包含数据接入层、特征计算层、特征存储层、特征管理层、应用接口层和智能优化层，各层级分工明确，共同支撑特征工程的有效实施。</a:t>
            </a:r>
          </a:p>
        </p:txBody>
      </p:sp>
      <p:sp>
        <p:nvSpPr>
          <p:cNvPr id="20" name="矩形 19">
            <a:extLst>
              <a:ext uri="{FF2B5EF4-FFF2-40B4-BE49-F238E27FC236}">
                <a16:creationId xmlns:a16="http://schemas.microsoft.com/office/drawing/2014/main" id="{37432775-A064-4EC4-AD27-3E9351AE9B3A}"/>
              </a:ext>
            </a:extLst>
          </p:cNvPr>
          <p:cNvSpPr/>
          <p:nvPr/>
        </p:nvSpPr>
        <p:spPr bwMode="auto">
          <a:xfrm>
            <a:off x="4316814" y="2316123"/>
            <a:ext cx="3258879" cy="462516"/>
          </a:xfrm>
          <a:prstGeom prst="rect">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0" i="0" u="none" strike="noStrike">
                <a:solidFill>
                  <a:srgbClr val="000000"/>
                </a:solidFill>
                <a:ea typeface="微软雅黑"/>
              </a:rPr>
              <a:t>智能优化层</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1" name="矩形 20">
            <a:extLst>
              <a:ext uri="{FF2B5EF4-FFF2-40B4-BE49-F238E27FC236}">
                <a16:creationId xmlns:a16="http://schemas.microsoft.com/office/drawing/2014/main" id="{105E5706-0992-4397-AE80-63C4794EA8EE}"/>
              </a:ext>
            </a:extLst>
          </p:cNvPr>
          <p:cNvSpPr/>
          <p:nvPr/>
        </p:nvSpPr>
        <p:spPr bwMode="auto">
          <a:xfrm>
            <a:off x="4368209" y="3021419"/>
            <a:ext cx="3258879" cy="462516"/>
          </a:xfrm>
          <a:prstGeom prst="rect">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0" i="0" u="none" strike="noStrike" dirty="0" err="1">
                <a:solidFill>
                  <a:srgbClr val="000000"/>
                </a:solidFill>
                <a:ea typeface="微软雅黑"/>
              </a:rPr>
              <a:t>应用接口层</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22" name="矩形 21">
            <a:extLst>
              <a:ext uri="{FF2B5EF4-FFF2-40B4-BE49-F238E27FC236}">
                <a16:creationId xmlns:a16="http://schemas.microsoft.com/office/drawing/2014/main" id="{C1083CAF-B9F9-4F7E-87C7-0B740062FB3E}"/>
              </a:ext>
            </a:extLst>
          </p:cNvPr>
          <p:cNvSpPr/>
          <p:nvPr/>
        </p:nvSpPr>
        <p:spPr bwMode="auto">
          <a:xfrm>
            <a:off x="4345172" y="3737342"/>
            <a:ext cx="3258879" cy="462516"/>
          </a:xfrm>
          <a:prstGeom prst="rect">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0" i="0" u="none" strike="noStrike" dirty="0" err="1">
                <a:solidFill>
                  <a:srgbClr val="000000"/>
                </a:solidFill>
                <a:ea typeface="微软雅黑"/>
              </a:rPr>
              <a:t>特征管理层</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23" name="矩形 22">
            <a:extLst>
              <a:ext uri="{FF2B5EF4-FFF2-40B4-BE49-F238E27FC236}">
                <a16:creationId xmlns:a16="http://schemas.microsoft.com/office/drawing/2014/main" id="{8B005736-E679-4805-ABDD-909FCE2C3B14}"/>
              </a:ext>
            </a:extLst>
          </p:cNvPr>
          <p:cNvSpPr/>
          <p:nvPr/>
        </p:nvSpPr>
        <p:spPr bwMode="auto">
          <a:xfrm>
            <a:off x="4332764" y="4453269"/>
            <a:ext cx="3258879" cy="462516"/>
          </a:xfrm>
          <a:prstGeom prst="rect">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0" i="0" u="none" strike="noStrike" dirty="0" err="1">
                <a:solidFill>
                  <a:srgbClr val="000000"/>
                </a:solidFill>
                <a:ea typeface="微软雅黑"/>
              </a:rPr>
              <a:t>特征计算层</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24" name="矩形 23">
            <a:extLst>
              <a:ext uri="{FF2B5EF4-FFF2-40B4-BE49-F238E27FC236}">
                <a16:creationId xmlns:a16="http://schemas.microsoft.com/office/drawing/2014/main" id="{08D33D64-67C8-48A6-B0EE-36882388C529}"/>
              </a:ext>
            </a:extLst>
          </p:cNvPr>
          <p:cNvSpPr/>
          <p:nvPr/>
        </p:nvSpPr>
        <p:spPr bwMode="auto">
          <a:xfrm>
            <a:off x="4357579" y="5275524"/>
            <a:ext cx="3258879" cy="462516"/>
          </a:xfrm>
          <a:prstGeom prst="rect">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0" i="0" u="none" strike="noStrike" dirty="0" err="1">
                <a:solidFill>
                  <a:srgbClr val="000000"/>
                </a:solidFill>
                <a:ea typeface="微软雅黑"/>
              </a:rPr>
              <a:t>特征存储层</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25" name="矩形 24">
            <a:extLst>
              <a:ext uri="{FF2B5EF4-FFF2-40B4-BE49-F238E27FC236}">
                <a16:creationId xmlns:a16="http://schemas.microsoft.com/office/drawing/2014/main" id="{15F452D0-755F-43A9-8471-6C7033C4F81D}"/>
              </a:ext>
            </a:extLst>
          </p:cNvPr>
          <p:cNvSpPr/>
          <p:nvPr/>
        </p:nvSpPr>
        <p:spPr bwMode="auto">
          <a:xfrm>
            <a:off x="4345173" y="5970187"/>
            <a:ext cx="3258879" cy="462516"/>
          </a:xfrm>
          <a:prstGeom prst="rect">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0" i="0" u="none" strike="noStrike" dirty="0" err="1">
                <a:solidFill>
                  <a:srgbClr val="000000"/>
                </a:solidFill>
                <a:ea typeface="微软雅黑"/>
              </a:rPr>
              <a:t>数据接入层</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29" name="直接箭头连接符 28">
            <a:extLst>
              <a:ext uri="{FF2B5EF4-FFF2-40B4-BE49-F238E27FC236}">
                <a16:creationId xmlns:a16="http://schemas.microsoft.com/office/drawing/2014/main" id="{3BFF9944-769F-4DDC-B5D8-6C78B4469B6E}"/>
              </a:ext>
            </a:extLst>
          </p:cNvPr>
          <p:cNvCxnSpPr>
            <a:cxnSpLocks/>
          </p:cNvCxnSpPr>
          <p:nvPr/>
        </p:nvCxnSpPr>
        <p:spPr bwMode="auto">
          <a:xfrm>
            <a:off x="5167423" y="2778639"/>
            <a:ext cx="0" cy="242780"/>
          </a:xfrm>
          <a:prstGeom prst="straightConnector1">
            <a:avLst/>
          </a:prstGeom>
          <a:solidFill>
            <a:schemeClr val="accent1"/>
          </a:solidFill>
          <a:ln w="9525" cap="flat" cmpd="sng" algn="ctr">
            <a:solidFill>
              <a:schemeClr val="tx1"/>
            </a:solidFill>
            <a:prstDash val="solid"/>
            <a:round/>
            <a:headEnd type="triangle"/>
            <a:tailEnd type="triangle"/>
          </a:ln>
          <a:effectLst>
            <a:outerShdw dist="17961" dir="2700000" algn="ctr" rotWithShape="0">
              <a:schemeClr val="tx1">
                <a:gamma/>
                <a:shade val="60000"/>
                <a:invGamma/>
              </a:schemeClr>
            </a:outerShdw>
          </a:effectLst>
        </p:spPr>
      </p:cxnSp>
      <p:cxnSp>
        <p:nvCxnSpPr>
          <p:cNvPr id="31" name="直接箭头连接符 30">
            <a:extLst>
              <a:ext uri="{FF2B5EF4-FFF2-40B4-BE49-F238E27FC236}">
                <a16:creationId xmlns:a16="http://schemas.microsoft.com/office/drawing/2014/main" id="{25AE29CE-5DED-4888-8E60-56953C03F0DB}"/>
              </a:ext>
            </a:extLst>
          </p:cNvPr>
          <p:cNvCxnSpPr>
            <a:cxnSpLocks/>
          </p:cNvCxnSpPr>
          <p:nvPr/>
        </p:nvCxnSpPr>
        <p:spPr bwMode="auto">
          <a:xfrm>
            <a:off x="6680794" y="2766233"/>
            <a:ext cx="0" cy="242780"/>
          </a:xfrm>
          <a:prstGeom prst="straightConnector1">
            <a:avLst/>
          </a:prstGeom>
          <a:solidFill>
            <a:schemeClr val="accent1"/>
          </a:solidFill>
          <a:ln w="9525" cap="flat" cmpd="sng" algn="ctr">
            <a:solidFill>
              <a:schemeClr val="tx1"/>
            </a:solidFill>
            <a:prstDash val="solid"/>
            <a:round/>
            <a:headEnd type="triangle"/>
            <a:tailEnd type="triangle"/>
          </a:ln>
          <a:effectLst>
            <a:outerShdw dist="17961" dir="2700000" algn="ctr" rotWithShape="0">
              <a:schemeClr val="tx1">
                <a:gamma/>
                <a:shade val="60000"/>
                <a:invGamma/>
              </a:schemeClr>
            </a:outerShdw>
          </a:effectLst>
        </p:spPr>
      </p:cxnSp>
      <p:cxnSp>
        <p:nvCxnSpPr>
          <p:cNvPr id="32" name="直接箭头连接符 31">
            <a:extLst>
              <a:ext uri="{FF2B5EF4-FFF2-40B4-BE49-F238E27FC236}">
                <a16:creationId xmlns:a16="http://schemas.microsoft.com/office/drawing/2014/main" id="{C9996DC9-B77F-4D7D-B376-0C9B5EDB5AE9}"/>
              </a:ext>
            </a:extLst>
          </p:cNvPr>
          <p:cNvCxnSpPr>
            <a:cxnSpLocks/>
          </p:cNvCxnSpPr>
          <p:nvPr/>
        </p:nvCxnSpPr>
        <p:spPr bwMode="auto">
          <a:xfrm>
            <a:off x="5128437" y="3467983"/>
            <a:ext cx="0" cy="242780"/>
          </a:xfrm>
          <a:prstGeom prst="straightConnector1">
            <a:avLst/>
          </a:prstGeom>
          <a:solidFill>
            <a:schemeClr val="accent1"/>
          </a:solidFill>
          <a:ln w="9525" cap="flat" cmpd="sng" algn="ctr">
            <a:solidFill>
              <a:schemeClr val="tx1"/>
            </a:solidFill>
            <a:prstDash val="solid"/>
            <a:round/>
            <a:headEnd type="triangle"/>
            <a:tailEnd type="triangle"/>
          </a:ln>
          <a:effectLst>
            <a:outerShdw dist="17961" dir="2700000" algn="ctr" rotWithShape="0">
              <a:schemeClr val="tx1">
                <a:gamma/>
                <a:shade val="60000"/>
                <a:invGamma/>
              </a:schemeClr>
            </a:outerShdw>
          </a:effectLst>
        </p:spPr>
      </p:cxnSp>
      <p:cxnSp>
        <p:nvCxnSpPr>
          <p:cNvPr id="33" name="直接箭头连接符 32">
            <a:extLst>
              <a:ext uri="{FF2B5EF4-FFF2-40B4-BE49-F238E27FC236}">
                <a16:creationId xmlns:a16="http://schemas.microsoft.com/office/drawing/2014/main" id="{F13C3A74-D19E-447A-8D2A-75B1625E1669}"/>
              </a:ext>
            </a:extLst>
          </p:cNvPr>
          <p:cNvCxnSpPr>
            <a:cxnSpLocks/>
          </p:cNvCxnSpPr>
          <p:nvPr/>
        </p:nvCxnSpPr>
        <p:spPr bwMode="auto">
          <a:xfrm>
            <a:off x="6641808" y="3455577"/>
            <a:ext cx="0" cy="242780"/>
          </a:xfrm>
          <a:prstGeom prst="straightConnector1">
            <a:avLst/>
          </a:prstGeom>
          <a:solidFill>
            <a:schemeClr val="accent1"/>
          </a:solidFill>
          <a:ln w="9525" cap="flat" cmpd="sng" algn="ctr">
            <a:solidFill>
              <a:schemeClr val="tx1"/>
            </a:solidFill>
            <a:prstDash val="solid"/>
            <a:round/>
            <a:headEnd type="triangle"/>
            <a:tailEnd type="triangle"/>
          </a:ln>
          <a:effectLst>
            <a:outerShdw dist="17961" dir="2700000" algn="ctr" rotWithShape="0">
              <a:schemeClr val="tx1">
                <a:gamma/>
                <a:shade val="60000"/>
                <a:invGamma/>
              </a:schemeClr>
            </a:outerShdw>
          </a:effectLst>
        </p:spPr>
      </p:cxnSp>
      <p:cxnSp>
        <p:nvCxnSpPr>
          <p:cNvPr id="34" name="直接箭头连接符 33">
            <a:extLst>
              <a:ext uri="{FF2B5EF4-FFF2-40B4-BE49-F238E27FC236}">
                <a16:creationId xmlns:a16="http://schemas.microsoft.com/office/drawing/2014/main" id="{09A4251E-8A7F-4E84-8811-27AD9AC6B2E0}"/>
              </a:ext>
            </a:extLst>
          </p:cNvPr>
          <p:cNvCxnSpPr>
            <a:cxnSpLocks/>
          </p:cNvCxnSpPr>
          <p:nvPr/>
        </p:nvCxnSpPr>
        <p:spPr bwMode="auto">
          <a:xfrm>
            <a:off x="5153250" y="4178591"/>
            <a:ext cx="0" cy="242780"/>
          </a:xfrm>
          <a:prstGeom prst="straightConnector1">
            <a:avLst/>
          </a:prstGeom>
          <a:solidFill>
            <a:schemeClr val="accent1"/>
          </a:solidFill>
          <a:ln w="9525" cap="flat" cmpd="sng" algn="ctr">
            <a:solidFill>
              <a:schemeClr val="tx1"/>
            </a:solidFill>
            <a:prstDash val="solid"/>
            <a:round/>
            <a:headEnd type="triangle"/>
            <a:tailEnd type="triangle"/>
          </a:ln>
          <a:effectLst>
            <a:outerShdw dist="17961" dir="2700000" algn="ctr" rotWithShape="0">
              <a:schemeClr val="tx1">
                <a:gamma/>
                <a:shade val="60000"/>
                <a:invGamma/>
              </a:schemeClr>
            </a:outerShdw>
          </a:effectLst>
        </p:spPr>
      </p:cxnSp>
      <p:cxnSp>
        <p:nvCxnSpPr>
          <p:cNvPr id="35" name="直接箭头连接符 34">
            <a:extLst>
              <a:ext uri="{FF2B5EF4-FFF2-40B4-BE49-F238E27FC236}">
                <a16:creationId xmlns:a16="http://schemas.microsoft.com/office/drawing/2014/main" id="{8C03D2B0-C619-4DD5-A58B-535104833A1E}"/>
              </a:ext>
            </a:extLst>
          </p:cNvPr>
          <p:cNvCxnSpPr>
            <a:cxnSpLocks/>
          </p:cNvCxnSpPr>
          <p:nvPr/>
        </p:nvCxnSpPr>
        <p:spPr bwMode="auto">
          <a:xfrm>
            <a:off x="6666621" y="4176817"/>
            <a:ext cx="0" cy="242780"/>
          </a:xfrm>
          <a:prstGeom prst="straightConnector1">
            <a:avLst/>
          </a:prstGeom>
          <a:solidFill>
            <a:schemeClr val="accent1"/>
          </a:solidFill>
          <a:ln w="9525" cap="flat" cmpd="sng" algn="ctr">
            <a:solidFill>
              <a:schemeClr val="tx1"/>
            </a:solidFill>
            <a:prstDash val="solid"/>
            <a:round/>
            <a:headEnd type="triangle"/>
            <a:tailEnd type="triangle"/>
          </a:ln>
          <a:effectLst>
            <a:outerShdw dist="17961" dir="2700000" algn="ctr" rotWithShape="0">
              <a:schemeClr val="tx1">
                <a:gamma/>
                <a:shade val="60000"/>
                <a:invGamma/>
              </a:schemeClr>
            </a:outerShdw>
          </a:effectLst>
        </p:spPr>
      </p:cxnSp>
      <p:cxnSp>
        <p:nvCxnSpPr>
          <p:cNvPr id="36" name="直接箭头连接符 35">
            <a:extLst>
              <a:ext uri="{FF2B5EF4-FFF2-40B4-BE49-F238E27FC236}">
                <a16:creationId xmlns:a16="http://schemas.microsoft.com/office/drawing/2014/main" id="{6F1C6D71-712D-4B28-8E55-1A4F11170B97}"/>
              </a:ext>
            </a:extLst>
          </p:cNvPr>
          <p:cNvCxnSpPr>
            <a:cxnSpLocks/>
          </p:cNvCxnSpPr>
          <p:nvPr/>
        </p:nvCxnSpPr>
        <p:spPr bwMode="auto">
          <a:xfrm>
            <a:off x="5153248" y="4981355"/>
            <a:ext cx="0" cy="242780"/>
          </a:xfrm>
          <a:prstGeom prst="straightConnector1">
            <a:avLst/>
          </a:prstGeom>
          <a:solidFill>
            <a:schemeClr val="accent1"/>
          </a:solidFill>
          <a:ln w="9525" cap="flat" cmpd="sng" algn="ctr">
            <a:solidFill>
              <a:schemeClr val="tx1"/>
            </a:solidFill>
            <a:prstDash val="solid"/>
            <a:round/>
            <a:headEnd type="triangle"/>
            <a:tailEnd type="triangle"/>
          </a:ln>
          <a:effectLst>
            <a:outerShdw dist="17961" dir="2700000" algn="ctr" rotWithShape="0">
              <a:schemeClr val="tx1">
                <a:gamma/>
                <a:shade val="60000"/>
                <a:invGamma/>
              </a:schemeClr>
            </a:outerShdw>
          </a:effectLst>
        </p:spPr>
      </p:cxnSp>
      <p:cxnSp>
        <p:nvCxnSpPr>
          <p:cNvPr id="37" name="直接箭头连接符 36">
            <a:extLst>
              <a:ext uri="{FF2B5EF4-FFF2-40B4-BE49-F238E27FC236}">
                <a16:creationId xmlns:a16="http://schemas.microsoft.com/office/drawing/2014/main" id="{5BEE213F-813F-4A2E-8A94-8F982AC64C60}"/>
              </a:ext>
            </a:extLst>
          </p:cNvPr>
          <p:cNvCxnSpPr>
            <a:cxnSpLocks/>
          </p:cNvCxnSpPr>
          <p:nvPr/>
        </p:nvCxnSpPr>
        <p:spPr bwMode="auto">
          <a:xfrm>
            <a:off x="6666619" y="4968949"/>
            <a:ext cx="0" cy="242780"/>
          </a:xfrm>
          <a:prstGeom prst="straightConnector1">
            <a:avLst/>
          </a:prstGeom>
          <a:solidFill>
            <a:schemeClr val="accent1"/>
          </a:solidFill>
          <a:ln w="9525" cap="flat" cmpd="sng" algn="ctr">
            <a:solidFill>
              <a:schemeClr val="tx1"/>
            </a:solidFill>
            <a:prstDash val="solid"/>
            <a:round/>
            <a:headEnd type="triangle"/>
            <a:tailEnd type="triangle"/>
          </a:ln>
          <a:effectLst>
            <a:outerShdw dist="17961" dir="2700000" algn="ctr" rotWithShape="0">
              <a:schemeClr val="tx1">
                <a:gamma/>
                <a:shade val="60000"/>
                <a:invGamma/>
              </a:schemeClr>
            </a:outerShdw>
          </a:effectLst>
        </p:spPr>
      </p:cxnSp>
      <p:cxnSp>
        <p:nvCxnSpPr>
          <p:cNvPr id="38" name="直接箭头连接符 37">
            <a:extLst>
              <a:ext uri="{FF2B5EF4-FFF2-40B4-BE49-F238E27FC236}">
                <a16:creationId xmlns:a16="http://schemas.microsoft.com/office/drawing/2014/main" id="{D5CD0172-B646-47A8-B8A8-E636A8D5B999}"/>
              </a:ext>
            </a:extLst>
          </p:cNvPr>
          <p:cNvCxnSpPr>
            <a:cxnSpLocks/>
          </p:cNvCxnSpPr>
          <p:nvPr/>
        </p:nvCxnSpPr>
        <p:spPr bwMode="auto">
          <a:xfrm>
            <a:off x="5146159" y="5734496"/>
            <a:ext cx="0" cy="242780"/>
          </a:xfrm>
          <a:prstGeom prst="straightConnector1">
            <a:avLst/>
          </a:prstGeom>
          <a:solidFill>
            <a:schemeClr val="accent1"/>
          </a:solidFill>
          <a:ln w="9525" cap="flat" cmpd="sng" algn="ctr">
            <a:solidFill>
              <a:schemeClr val="tx1"/>
            </a:solidFill>
            <a:prstDash val="solid"/>
            <a:round/>
            <a:headEnd type="triangle"/>
            <a:tailEnd type="triangle"/>
          </a:ln>
          <a:effectLst>
            <a:outerShdw dist="17961" dir="2700000" algn="ctr" rotWithShape="0">
              <a:schemeClr val="tx1">
                <a:gamma/>
                <a:shade val="60000"/>
                <a:invGamma/>
              </a:schemeClr>
            </a:outerShdw>
          </a:effectLst>
        </p:spPr>
      </p:cxnSp>
      <p:cxnSp>
        <p:nvCxnSpPr>
          <p:cNvPr id="39" name="直接箭头连接符 38">
            <a:extLst>
              <a:ext uri="{FF2B5EF4-FFF2-40B4-BE49-F238E27FC236}">
                <a16:creationId xmlns:a16="http://schemas.microsoft.com/office/drawing/2014/main" id="{C0D2DF36-BE7B-46E2-B1B1-14E6137831A8}"/>
              </a:ext>
            </a:extLst>
          </p:cNvPr>
          <p:cNvCxnSpPr>
            <a:cxnSpLocks/>
          </p:cNvCxnSpPr>
          <p:nvPr/>
        </p:nvCxnSpPr>
        <p:spPr bwMode="auto">
          <a:xfrm>
            <a:off x="6659530" y="5722090"/>
            <a:ext cx="0" cy="242780"/>
          </a:xfrm>
          <a:prstGeom prst="straightConnector1">
            <a:avLst/>
          </a:prstGeom>
          <a:solidFill>
            <a:schemeClr val="accent1"/>
          </a:solidFill>
          <a:ln w="9525" cap="flat" cmpd="sng" algn="ctr">
            <a:solidFill>
              <a:schemeClr val="tx1"/>
            </a:solidFill>
            <a:prstDash val="solid"/>
            <a:round/>
            <a:headEnd type="triangle"/>
            <a:tailEnd type="triangle"/>
          </a:ln>
          <a:effectLst>
            <a:outerShdw dist="17961" dir="2700000" algn="ctr" rotWithShape="0">
              <a:schemeClr val="tx1">
                <a:gamma/>
                <a:shade val="60000"/>
                <a:invGamma/>
              </a:schemeClr>
            </a:outerShdw>
          </a:effectLst>
        </p:spPr>
      </p:cxnSp>
    </p:spTree>
    <p:extLst>
      <p:ext uri="{BB962C8B-B14F-4D97-AF65-F5344CB8AC3E}">
        <p14:creationId xmlns:p14="http://schemas.microsoft.com/office/powerpoint/2010/main" val="1055218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altLang="zh-CN" sz="3600" b="1" dirty="0" err="1"/>
              <a:t>特征工程一体化架构</a:t>
            </a:r>
            <a:r>
              <a:rPr lang="en-US" altLang="zh-CN" sz="3600" b="1" dirty="0"/>
              <a:t> </a:t>
            </a:r>
            <a:r>
              <a:rPr lang="en-US" sz="3600" b="1" dirty="0" err="1"/>
              <a:t>关键技术支撑</a:t>
            </a:r>
            <a:endParaRPr lang="en-US" sz="3600" b="1" dirty="0"/>
          </a:p>
        </p:txBody>
      </p:sp>
      <p:grpSp>
        <p:nvGrpSpPr>
          <p:cNvPr id="55" name="276172eb-5f6e-4e65-b63e-e6f364bfe70f.source.4.zh-Hans.pptx" descr="5c9b7a79-65f6-4e89-a5d0-48eaaa6378ce">
            <a:extLst>
              <a:ext uri="{FF2B5EF4-FFF2-40B4-BE49-F238E27FC236}">
                <a16:creationId xmlns:a16="http://schemas.microsoft.com/office/drawing/2014/main" id="{CF5D8E3E-CD4E-235C-0B6B-5421C077E6C3}"/>
              </a:ext>
            </a:extLst>
          </p:cNvPr>
          <p:cNvGrpSpPr/>
          <p:nvPr/>
        </p:nvGrpSpPr>
        <p:grpSpPr>
          <a:xfrm>
            <a:off x="630316" y="1396943"/>
            <a:ext cx="10918669" cy="4084307"/>
            <a:chOff x="630316" y="1886039"/>
            <a:chExt cx="10918669" cy="4084307"/>
          </a:xfrm>
        </p:grpSpPr>
        <p:sp>
          <p:nvSpPr>
            <p:cNvPr id="4" name="矩形 3" descr="8baeeb89-9dcf-477f-b33a-832e0b7f7b3d">
              <a:extLst>
                <a:ext uri="{FF2B5EF4-FFF2-40B4-BE49-F238E27FC236}">
                  <a16:creationId xmlns:a16="http://schemas.microsoft.com/office/drawing/2014/main" id="{0AE51D43-A83A-A420-1E42-C6A5A009D5EB}"/>
                </a:ext>
              </a:extLst>
            </p:cNvPr>
            <p:cNvSpPr/>
            <p:nvPr/>
          </p:nvSpPr>
          <p:spPr>
            <a:xfrm>
              <a:off x="4836108" y="1886039"/>
              <a:ext cx="2507085" cy="45719"/>
            </a:xfrm>
            <a:prstGeom prst="rect">
              <a:avLst/>
            </a:prstGeom>
            <a:gradFill flip="none" rotWithShape="1">
              <a:gsLst>
                <a:gs pos="15000">
                  <a:schemeClr val="accent1">
                    <a:alpha val="73000"/>
                  </a:schemeClr>
                </a:gs>
                <a:gs pos="100000">
                  <a:schemeClr val="accent2">
                    <a:alpha val="0"/>
                  </a:schemeClr>
                </a:gs>
              </a:gsLst>
              <a:lin ang="0" scaled="1"/>
              <a:tileRect/>
            </a:gradFill>
            <a:ln w="3030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grpSp>
          <p:nvGrpSpPr>
            <p:cNvPr id="42" name="组合 41" descr="4172ba93-d323-4f7b-b719-806922d1a5de">
              <a:extLst>
                <a:ext uri="{FF2B5EF4-FFF2-40B4-BE49-F238E27FC236}">
                  <a16:creationId xmlns:a16="http://schemas.microsoft.com/office/drawing/2014/main" id="{FA85C7C7-9304-9051-16A3-00C9AC89CC43}"/>
                </a:ext>
              </a:extLst>
            </p:cNvPr>
            <p:cNvGrpSpPr/>
            <p:nvPr/>
          </p:nvGrpSpPr>
          <p:grpSpPr>
            <a:xfrm>
              <a:off x="630316" y="2126893"/>
              <a:ext cx="2609921" cy="3428173"/>
              <a:chOff x="630316" y="2126893"/>
              <a:chExt cx="2609921" cy="3428173"/>
            </a:xfrm>
          </p:grpSpPr>
          <p:sp>
            <p:nvSpPr>
              <p:cNvPr id="10" name="任意多边形: 形状 9" descr="31d4c77a-6742-4e22-9804-6479bb52c612">
                <a:extLst>
                  <a:ext uri="{FF2B5EF4-FFF2-40B4-BE49-F238E27FC236}">
                    <a16:creationId xmlns:a16="http://schemas.microsoft.com/office/drawing/2014/main" id="{F5D336C0-22A3-4CAE-20F7-56AA56C59C03}"/>
                  </a:ext>
                </a:extLst>
              </p:cNvPr>
              <p:cNvSpPr/>
              <p:nvPr/>
            </p:nvSpPr>
            <p:spPr>
              <a:xfrm>
                <a:off x="636320" y="2131611"/>
                <a:ext cx="2597914" cy="2347869"/>
              </a:xfrm>
              <a:custGeom>
                <a:avLst/>
                <a:gdLst>
                  <a:gd name="connsiteX0" fmla="*/ 181130 w 4078981"/>
                  <a:gd name="connsiteY0" fmla="*/ 37996 h 4690964"/>
                  <a:gd name="connsiteX1" fmla="*/ 37995 w 4078981"/>
                  <a:gd name="connsiteY1" fmla="*/ 176199 h 4690964"/>
                  <a:gd name="connsiteX2" fmla="*/ 37995 w 4078981"/>
                  <a:gd name="connsiteY2" fmla="*/ 370671 h 4690964"/>
                  <a:gd name="connsiteX3" fmla="*/ 38140 w 4078981"/>
                  <a:gd name="connsiteY3" fmla="*/ 370671 h 4690964"/>
                  <a:gd name="connsiteX4" fmla="*/ 38140 w 4078981"/>
                  <a:gd name="connsiteY4" fmla="*/ 4308547 h 4690964"/>
                  <a:gd name="connsiteX5" fmla="*/ 37995 w 4078981"/>
                  <a:gd name="connsiteY5" fmla="*/ 4308547 h 4690964"/>
                  <a:gd name="connsiteX6" fmla="*/ 37995 w 4078981"/>
                  <a:gd name="connsiteY6" fmla="*/ 4509690 h 4690964"/>
                  <a:gd name="connsiteX7" fmla="*/ 176199 w 4078981"/>
                  <a:gd name="connsiteY7" fmla="*/ 4652824 h 4690964"/>
                  <a:gd name="connsiteX8" fmla="*/ 351964 w 4078981"/>
                  <a:gd name="connsiteY8" fmla="*/ 4652824 h 4690964"/>
                  <a:gd name="connsiteX9" fmla="*/ 362840 w 4078981"/>
                  <a:gd name="connsiteY9" fmla="*/ 4652824 h 4690964"/>
                  <a:gd name="connsiteX10" fmla="*/ 3753700 w 4078981"/>
                  <a:gd name="connsiteY10" fmla="*/ 4652824 h 4690964"/>
                  <a:gd name="connsiteX11" fmla="*/ 3759211 w 4078981"/>
                  <a:gd name="connsiteY11" fmla="*/ 4652824 h 4690964"/>
                  <a:gd name="connsiteX12" fmla="*/ 3902781 w 4078981"/>
                  <a:gd name="connsiteY12" fmla="*/ 4652824 h 4690964"/>
                  <a:gd name="connsiteX13" fmla="*/ 4040840 w 4078981"/>
                  <a:gd name="connsiteY13" fmla="*/ 4509690 h 4690964"/>
                  <a:gd name="connsiteX14" fmla="*/ 4040840 w 4078981"/>
                  <a:gd name="connsiteY14" fmla="*/ 4346107 h 4690964"/>
                  <a:gd name="connsiteX15" fmla="*/ 4040840 w 4078981"/>
                  <a:gd name="connsiteY15" fmla="*/ 4317248 h 4690964"/>
                  <a:gd name="connsiteX16" fmla="*/ 4040840 w 4078981"/>
                  <a:gd name="connsiteY16" fmla="*/ 633449 h 4690964"/>
                  <a:gd name="connsiteX17" fmla="*/ 4040841 w 4078981"/>
                  <a:gd name="connsiteY17" fmla="*/ 633449 h 4690964"/>
                  <a:gd name="connsiteX18" fmla="*/ 4040841 w 4078981"/>
                  <a:gd name="connsiteY18" fmla="*/ 463920 h 4690964"/>
                  <a:gd name="connsiteX19" fmla="*/ 3897706 w 4078981"/>
                  <a:gd name="connsiteY19" fmla="*/ 325861 h 4690964"/>
                  <a:gd name="connsiteX20" fmla="*/ 3751380 w 4078981"/>
                  <a:gd name="connsiteY20" fmla="*/ 325861 h 4690964"/>
                  <a:gd name="connsiteX21" fmla="*/ 3742824 w 4078981"/>
                  <a:gd name="connsiteY21" fmla="*/ 325861 h 4690964"/>
                  <a:gd name="connsiteX22" fmla="*/ 2411975 w 4078981"/>
                  <a:gd name="connsiteY22" fmla="*/ 325861 h 4690964"/>
                  <a:gd name="connsiteX23" fmla="*/ 2161815 w 4078981"/>
                  <a:gd name="connsiteY23" fmla="*/ 37996 h 4690964"/>
                  <a:gd name="connsiteX24" fmla="*/ 175184 w 4078981"/>
                  <a:gd name="connsiteY24" fmla="*/ 0 h 4690964"/>
                  <a:gd name="connsiteX25" fmla="*/ 2192269 w 4078981"/>
                  <a:gd name="connsiteY25" fmla="*/ 0 h 4690964"/>
                  <a:gd name="connsiteX26" fmla="*/ 2443299 w 4078981"/>
                  <a:gd name="connsiteY26" fmla="*/ 287720 h 4690964"/>
                  <a:gd name="connsiteX27" fmla="*/ 3742824 w 4078981"/>
                  <a:gd name="connsiteY27" fmla="*/ 287720 h 4690964"/>
                  <a:gd name="connsiteX28" fmla="*/ 3751380 w 4078981"/>
                  <a:gd name="connsiteY28" fmla="*/ 287720 h 4690964"/>
                  <a:gd name="connsiteX29" fmla="*/ 3903796 w 4078981"/>
                  <a:gd name="connsiteY29" fmla="*/ 287720 h 4690964"/>
                  <a:gd name="connsiteX30" fmla="*/ 4078981 w 4078981"/>
                  <a:gd name="connsiteY30" fmla="*/ 456668 h 4690964"/>
                  <a:gd name="connsiteX31" fmla="*/ 4078981 w 4078981"/>
                  <a:gd name="connsiteY31" fmla="*/ 469140 h 4690964"/>
                  <a:gd name="connsiteX32" fmla="*/ 4078981 w 4078981"/>
                  <a:gd name="connsiteY32" fmla="*/ 494229 h 4690964"/>
                  <a:gd name="connsiteX33" fmla="*/ 4078981 w 4078981"/>
                  <a:gd name="connsiteY33" fmla="*/ 650706 h 4690964"/>
                  <a:gd name="connsiteX34" fmla="*/ 4078980 w 4078981"/>
                  <a:gd name="connsiteY34" fmla="*/ 650706 h 4690964"/>
                  <a:gd name="connsiteX35" fmla="*/ 4078980 w 4078981"/>
                  <a:gd name="connsiteY35" fmla="*/ 4317248 h 4690964"/>
                  <a:gd name="connsiteX36" fmla="*/ 4078980 w 4078981"/>
                  <a:gd name="connsiteY36" fmla="*/ 4346107 h 4690964"/>
                  <a:gd name="connsiteX37" fmla="*/ 4078980 w 4078981"/>
                  <a:gd name="connsiteY37" fmla="*/ 4515635 h 4690964"/>
                  <a:gd name="connsiteX38" fmla="*/ 3910032 w 4078981"/>
                  <a:gd name="connsiteY38" fmla="*/ 4690819 h 4690964"/>
                  <a:gd name="connsiteX39" fmla="*/ 3897560 w 4078981"/>
                  <a:gd name="connsiteY39" fmla="*/ 4690819 h 4690964"/>
                  <a:gd name="connsiteX40" fmla="*/ 3872472 w 4078981"/>
                  <a:gd name="connsiteY40" fmla="*/ 4690819 h 4690964"/>
                  <a:gd name="connsiteX41" fmla="*/ 3759211 w 4078981"/>
                  <a:gd name="connsiteY41" fmla="*/ 4690819 h 4690964"/>
                  <a:gd name="connsiteX42" fmla="*/ 3759211 w 4078981"/>
                  <a:gd name="connsiteY42" fmla="*/ 4690964 h 4690964"/>
                  <a:gd name="connsiteX43" fmla="*/ 351964 w 4078981"/>
                  <a:gd name="connsiteY43" fmla="*/ 4690964 h 4690964"/>
                  <a:gd name="connsiteX44" fmla="*/ 351964 w 4078981"/>
                  <a:gd name="connsiteY44" fmla="*/ 4690820 h 4690964"/>
                  <a:gd name="connsiteX45" fmla="*/ 206364 w 4078981"/>
                  <a:gd name="connsiteY45" fmla="*/ 4690820 h 4690964"/>
                  <a:gd name="connsiteX46" fmla="*/ 181420 w 4078981"/>
                  <a:gd name="connsiteY46" fmla="*/ 4690820 h 4690964"/>
                  <a:gd name="connsiteX47" fmla="*/ 168948 w 4078981"/>
                  <a:gd name="connsiteY47" fmla="*/ 4690820 h 4690964"/>
                  <a:gd name="connsiteX48" fmla="*/ 0 w 4078981"/>
                  <a:gd name="connsiteY48" fmla="*/ 4515636 h 4690964"/>
                  <a:gd name="connsiteX49" fmla="*/ 0 w 4078981"/>
                  <a:gd name="connsiteY49" fmla="*/ 4308547 h 4690964"/>
                  <a:gd name="connsiteX50" fmla="*/ 0 w 4078981"/>
                  <a:gd name="connsiteY50" fmla="*/ 4279688 h 4690964"/>
                  <a:gd name="connsiteX51" fmla="*/ 0 w 4078981"/>
                  <a:gd name="connsiteY51" fmla="*/ 400401 h 4690964"/>
                  <a:gd name="connsiteX52" fmla="*/ 0 w 4078981"/>
                  <a:gd name="connsiteY52" fmla="*/ 370671 h 4690964"/>
                  <a:gd name="connsiteX53" fmla="*/ 0 w 4078981"/>
                  <a:gd name="connsiteY53" fmla="*/ 206364 h 4690964"/>
                  <a:gd name="connsiteX54" fmla="*/ 0 w 4078981"/>
                  <a:gd name="connsiteY54" fmla="*/ 181420 h 4690964"/>
                  <a:gd name="connsiteX55" fmla="*/ 0 w 4078981"/>
                  <a:gd name="connsiteY55" fmla="*/ 168948 h 469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078981" h="4690964">
                    <a:moveTo>
                      <a:pt x="181130" y="37996"/>
                    </a:moveTo>
                    <a:lnTo>
                      <a:pt x="37995" y="176199"/>
                    </a:lnTo>
                    <a:lnTo>
                      <a:pt x="37995" y="370671"/>
                    </a:lnTo>
                    <a:lnTo>
                      <a:pt x="38140" y="370671"/>
                    </a:lnTo>
                    <a:lnTo>
                      <a:pt x="38140" y="4308547"/>
                    </a:lnTo>
                    <a:lnTo>
                      <a:pt x="37995" y="4308547"/>
                    </a:lnTo>
                    <a:lnTo>
                      <a:pt x="37995" y="4509690"/>
                    </a:lnTo>
                    <a:lnTo>
                      <a:pt x="176199" y="4652824"/>
                    </a:lnTo>
                    <a:lnTo>
                      <a:pt x="351964" y="4652824"/>
                    </a:lnTo>
                    <a:lnTo>
                      <a:pt x="362840" y="4652824"/>
                    </a:lnTo>
                    <a:lnTo>
                      <a:pt x="3753700" y="4652824"/>
                    </a:lnTo>
                    <a:lnTo>
                      <a:pt x="3759211" y="4652824"/>
                    </a:lnTo>
                    <a:lnTo>
                      <a:pt x="3902781" y="4652824"/>
                    </a:lnTo>
                    <a:lnTo>
                      <a:pt x="4040840" y="4509690"/>
                    </a:lnTo>
                    <a:lnTo>
                      <a:pt x="4040840" y="4346107"/>
                    </a:lnTo>
                    <a:lnTo>
                      <a:pt x="4040840" y="4317248"/>
                    </a:lnTo>
                    <a:lnTo>
                      <a:pt x="4040840" y="633449"/>
                    </a:lnTo>
                    <a:lnTo>
                      <a:pt x="4040841" y="633449"/>
                    </a:lnTo>
                    <a:lnTo>
                      <a:pt x="4040841" y="463920"/>
                    </a:lnTo>
                    <a:lnTo>
                      <a:pt x="3897706" y="325861"/>
                    </a:lnTo>
                    <a:lnTo>
                      <a:pt x="3751380" y="325861"/>
                    </a:lnTo>
                    <a:lnTo>
                      <a:pt x="3742824" y="325861"/>
                    </a:lnTo>
                    <a:lnTo>
                      <a:pt x="2411975" y="325861"/>
                    </a:lnTo>
                    <a:lnTo>
                      <a:pt x="2161815" y="37996"/>
                    </a:lnTo>
                    <a:close/>
                    <a:moveTo>
                      <a:pt x="175184" y="0"/>
                    </a:moveTo>
                    <a:lnTo>
                      <a:pt x="2192269" y="0"/>
                    </a:lnTo>
                    <a:lnTo>
                      <a:pt x="2443299" y="287720"/>
                    </a:lnTo>
                    <a:lnTo>
                      <a:pt x="3742824" y="287720"/>
                    </a:lnTo>
                    <a:lnTo>
                      <a:pt x="3751380" y="287720"/>
                    </a:lnTo>
                    <a:lnTo>
                      <a:pt x="3903796" y="287720"/>
                    </a:lnTo>
                    <a:lnTo>
                      <a:pt x="4078981" y="456668"/>
                    </a:lnTo>
                    <a:lnTo>
                      <a:pt x="4078981" y="469140"/>
                    </a:lnTo>
                    <a:lnTo>
                      <a:pt x="4078981" y="494229"/>
                    </a:lnTo>
                    <a:lnTo>
                      <a:pt x="4078981" y="650706"/>
                    </a:lnTo>
                    <a:lnTo>
                      <a:pt x="4078980" y="650706"/>
                    </a:lnTo>
                    <a:lnTo>
                      <a:pt x="4078980" y="4317248"/>
                    </a:lnTo>
                    <a:lnTo>
                      <a:pt x="4078980" y="4346107"/>
                    </a:lnTo>
                    <a:lnTo>
                      <a:pt x="4078980" y="4515635"/>
                    </a:lnTo>
                    <a:lnTo>
                      <a:pt x="3910032" y="4690819"/>
                    </a:lnTo>
                    <a:lnTo>
                      <a:pt x="3897560" y="4690819"/>
                    </a:lnTo>
                    <a:lnTo>
                      <a:pt x="3872472" y="4690819"/>
                    </a:lnTo>
                    <a:lnTo>
                      <a:pt x="3759211" y="4690819"/>
                    </a:lnTo>
                    <a:lnTo>
                      <a:pt x="3759211" y="4690964"/>
                    </a:lnTo>
                    <a:lnTo>
                      <a:pt x="351964" y="4690964"/>
                    </a:lnTo>
                    <a:lnTo>
                      <a:pt x="351964" y="4690820"/>
                    </a:lnTo>
                    <a:lnTo>
                      <a:pt x="206364" y="4690820"/>
                    </a:lnTo>
                    <a:lnTo>
                      <a:pt x="181420" y="4690820"/>
                    </a:lnTo>
                    <a:lnTo>
                      <a:pt x="168948" y="4690820"/>
                    </a:lnTo>
                    <a:lnTo>
                      <a:pt x="0" y="4515636"/>
                    </a:lnTo>
                    <a:lnTo>
                      <a:pt x="0" y="4308547"/>
                    </a:lnTo>
                    <a:lnTo>
                      <a:pt x="0" y="4279688"/>
                    </a:lnTo>
                    <a:lnTo>
                      <a:pt x="0" y="400401"/>
                    </a:lnTo>
                    <a:lnTo>
                      <a:pt x="0" y="370671"/>
                    </a:lnTo>
                    <a:lnTo>
                      <a:pt x="0" y="206364"/>
                    </a:lnTo>
                    <a:lnTo>
                      <a:pt x="0" y="181420"/>
                    </a:lnTo>
                    <a:lnTo>
                      <a:pt x="0" y="168948"/>
                    </a:lnTo>
                    <a:close/>
                  </a:path>
                </a:pathLst>
              </a:custGeom>
              <a:gradFill flip="none" rotWithShape="1">
                <a:gsLst>
                  <a:gs pos="0">
                    <a:schemeClr val="accent1"/>
                  </a:gs>
                  <a:gs pos="100000">
                    <a:schemeClr val="accent2">
                      <a:alpha val="0"/>
                    </a:schemeClr>
                  </a:gs>
                </a:gsLst>
                <a:lin ang="540000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11" name="任意多边形: 形状 10" descr="dae40a69-358e-426f-b97b-3cb9b4168dae">
                <a:extLst>
                  <a:ext uri="{FF2B5EF4-FFF2-40B4-BE49-F238E27FC236}">
                    <a16:creationId xmlns:a16="http://schemas.microsoft.com/office/drawing/2014/main" id="{05A07041-6325-E302-BC6F-8589E73A826D}"/>
                  </a:ext>
                </a:extLst>
              </p:cNvPr>
              <p:cNvSpPr/>
              <p:nvPr/>
            </p:nvSpPr>
            <p:spPr>
              <a:xfrm>
                <a:off x="697372" y="2182782"/>
                <a:ext cx="863693" cy="95157"/>
              </a:xfrm>
              <a:custGeom>
                <a:avLst/>
                <a:gdLst>
                  <a:gd name="connsiteX0" fmla="*/ 221446 w 1356083"/>
                  <a:gd name="connsiteY0" fmla="*/ 0 h 190121"/>
                  <a:gd name="connsiteX1" fmla="*/ 226087 w 1356083"/>
                  <a:gd name="connsiteY1" fmla="*/ 0 h 190121"/>
                  <a:gd name="connsiteX2" fmla="*/ 237833 w 1356083"/>
                  <a:gd name="connsiteY2" fmla="*/ 0 h 190121"/>
                  <a:gd name="connsiteX3" fmla="*/ 1356083 w 1356083"/>
                  <a:gd name="connsiteY3" fmla="*/ 0 h 190121"/>
                  <a:gd name="connsiteX4" fmla="*/ 1356083 w 1356083"/>
                  <a:gd name="connsiteY4" fmla="*/ 20738 h 190121"/>
                  <a:gd name="connsiteX5" fmla="*/ 231307 w 1356083"/>
                  <a:gd name="connsiteY5" fmla="*/ 20738 h 190121"/>
                  <a:gd name="connsiteX6" fmla="*/ 142700 w 1356083"/>
                  <a:gd name="connsiteY6" fmla="*/ 106300 h 190121"/>
                  <a:gd name="connsiteX7" fmla="*/ 142700 w 1356083"/>
                  <a:gd name="connsiteY7" fmla="*/ 75410 h 190121"/>
                  <a:gd name="connsiteX8" fmla="*/ 116741 w 1356083"/>
                  <a:gd name="connsiteY8" fmla="*/ 0 h 190121"/>
                  <a:gd name="connsiteX9" fmla="*/ 197082 w 1356083"/>
                  <a:gd name="connsiteY9" fmla="*/ 0 h 190121"/>
                  <a:gd name="connsiteX10" fmla="*/ 0 w 1356083"/>
                  <a:gd name="connsiteY10" fmla="*/ 190121 h 190121"/>
                  <a:gd name="connsiteX11" fmla="*/ 0 w 1356083"/>
                  <a:gd name="connsiteY11" fmla="*/ 109780 h 190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6083" h="190121">
                    <a:moveTo>
                      <a:pt x="221446" y="0"/>
                    </a:moveTo>
                    <a:lnTo>
                      <a:pt x="226087" y="0"/>
                    </a:lnTo>
                    <a:lnTo>
                      <a:pt x="237833" y="0"/>
                    </a:lnTo>
                    <a:lnTo>
                      <a:pt x="1356083" y="0"/>
                    </a:lnTo>
                    <a:lnTo>
                      <a:pt x="1356083" y="20738"/>
                    </a:lnTo>
                    <a:lnTo>
                      <a:pt x="231307" y="20738"/>
                    </a:lnTo>
                    <a:lnTo>
                      <a:pt x="142700" y="106300"/>
                    </a:lnTo>
                    <a:lnTo>
                      <a:pt x="142700" y="75410"/>
                    </a:lnTo>
                    <a:close/>
                    <a:moveTo>
                      <a:pt x="116741" y="0"/>
                    </a:moveTo>
                    <a:lnTo>
                      <a:pt x="197082" y="0"/>
                    </a:lnTo>
                    <a:lnTo>
                      <a:pt x="0" y="190121"/>
                    </a:lnTo>
                    <a:lnTo>
                      <a:pt x="0" y="109780"/>
                    </a:lnTo>
                    <a:close/>
                  </a:path>
                </a:pathLst>
              </a:custGeom>
              <a:gradFill flip="none" rotWithShape="1">
                <a:gsLst>
                  <a:gs pos="0">
                    <a:schemeClr val="accent1"/>
                  </a:gs>
                  <a:gs pos="100000">
                    <a:schemeClr val="accent2"/>
                  </a:gs>
                </a:gsLst>
                <a:lin ang="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12" name="任意多边形: 形状 11" descr="887fc478-6236-46e0-82eb-41b3a9dcd9ab">
                <a:extLst>
                  <a:ext uri="{FF2B5EF4-FFF2-40B4-BE49-F238E27FC236}">
                    <a16:creationId xmlns:a16="http://schemas.microsoft.com/office/drawing/2014/main" id="{AA0BA574-7468-6C08-C296-AF5AEED444F4}"/>
                  </a:ext>
                </a:extLst>
              </p:cNvPr>
              <p:cNvSpPr/>
              <p:nvPr/>
            </p:nvSpPr>
            <p:spPr>
              <a:xfrm>
                <a:off x="2132797" y="2178137"/>
                <a:ext cx="750178" cy="76358"/>
              </a:xfrm>
              <a:custGeom>
                <a:avLst/>
                <a:gdLst>
                  <a:gd name="connsiteX0" fmla="*/ 964818 w 1177853"/>
                  <a:gd name="connsiteY0" fmla="*/ 0 h 152561"/>
                  <a:gd name="connsiteX1" fmla="*/ 1041099 w 1177853"/>
                  <a:gd name="connsiteY1" fmla="*/ 0 h 152561"/>
                  <a:gd name="connsiteX2" fmla="*/ 1177853 w 1177853"/>
                  <a:gd name="connsiteY2" fmla="*/ 152561 h 152561"/>
                  <a:gd name="connsiteX3" fmla="*/ 1101572 w 1177853"/>
                  <a:gd name="connsiteY3" fmla="*/ 152561 h 152561"/>
                  <a:gd name="connsiteX4" fmla="*/ 827484 w 1177853"/>
                  <a:gd name="connsiteY4" fmla="*/ 0 h 152561"/>
                  <a:gd name="connsiteX5" fmla="*/ 903765 w 1177853"/>
                  <a:gd name="connsiteY5" fmla="*/ 0 h 152561"/>
                  <a:gd name="connsiteX6" fmla="*/ 1040664 w 1177853"/>
                  <a:gd name="connsiteY6" fmla="*/ 152561 h 152561"/>
                  <a:gd name="connsiteX7" fmla="*/ 964383 w 1177853"/>
                  <a:gd name="connsiteY7" fmla="*/ 152561 h 152561"/>
                  <a:gd name="connsiteX8" fmla="*/ 690295 w 1177853"/>
                  <a:gd name="connsiteY8" fmla="*/ 0 h 152561"/>
                  <a:gd name="connsiteX9" fmla="*/ 766576 w 1177853"/>
                  <a:gd name="connsiteY9" fmla="*/ 0 h 152561"/>
                  <a:gd name="connsiteX10" fmla="*/ 903475 w 1177853"/>
                  <a:gd name="connsiteY10" fmla="*/ 152561 h 152561"/>
                  <a:gd name="connsiteX11" fmla="*/ 827049 w 1177853"/>
                  <a:gd name="connsiteY11" fmla="*/ 152561 h 152561"/>
                  <a:gd name="connsiteX12" fmla="*/ 553106 w 1177853"/>
                  <a:gd name="connsiteY12" fmla="*/ 0 h 152561"/>
                  <a:gd name="connsiteX13" fmla="*/ 629387 w 1177853"/>
                  <a:gd name="connsiteY13" fmla="*/ 0 h 152561"/>
                  <a:gd name="connsiteX14" fmla="*/ 766141 w 1177853"/>
                  <a:gd name="connsiteY14" fmla="*/ 152561 h 152561"/>
                  <a:gd name="connsiteX15" fmla="*/ 689860 w 1177853"/>
                  <a:gd name="connsiteY15" fmla="*/ 152561 h 152561"/>
                  <a:gd name="connsiteX16" fmla="*/ 415917 w 1177853"/>
                  <a:gd name="connsiteY16" fmla="*/ 0 h 152561"/>
                  <a:gd name="connsiteX17" fmla="*/ 492198 w 1177853"/>
                  <a:gd name="connsiteY17" fmla="*/ 0 h 152561"/>
                  <a:gd name="connsiteX18" fmla="*/ 628951 w 1177853"/>
                  <a:gd name="connsiteY18" fmla="*/ 152561 h 152561"/>
                  <a:gd name="connsiteX19" fmla="*/ 552671 w 1177853"/>
                  <a:gd name="connsiteY19" fmla="*/ 152561 h 152561"/>
                  <a:gd name="connsiteX20" fmla="*/ 0 w 1177853"/>
                  <a:gd name="connsiteY20" fmla="*/ 0 h 152561"/>
                  <a:gd name="connsiteX21" fmla="*/ 352544 w 1177853"/>
                  <a:gd name="connsiteY21" fmla="*/ 0 h 152561"/>
                  <a:gd name="connsiteX22" fmla="*/ 489298 w 1177853"/>
                  <a:gd name="connsiteY22" fmla="*/ 152561 h 152561"/>
                  <a:gd name="connsiteX23" fmla="*/ 136754 w 1177853"/>
                  <a:gd name="connsiteY23" fmla="*/ 152561 h 152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77853" h="152561">
                    <a:moveTo>
                      <a:pt x="964818" y="0"/>
                    </a:moveTo>
                    <a:lnTo>
                      <a:pt x="1041099" y="0"/>
                    </a:lnTo>
                    <a:lnTo>
                      <a:pt x="1177853" y="152561"/>
                    </a:lnTo>
                    <a:lnTo>
                      <a:pt x="1101572" y="152561"/>
                    </a:lnTo>
                    <a:close/>
                    <a:moveTo>
                      <a:pt x="827484" y="0"/>
                    </a:moveTo>
                    <a:lnTo>
                      <a:pt x="903765" y="0"/>
                    </a:lnTo>
                    <a:lnTo>
                      <a:pt x="1040664" y="152561"/>
                    </a:lnTo>
                    <a:lnTo>
                      <a:pt x="964383" y="152561"/>
                    </a:lnTo>
                    <a:close/>
                    <a:moveTo>
                      <a:pt x="690295" y="0"/>
                    </a:moveTo>
                    <a:lnTo>
                      <a:pt x="766576" y="0"/>
                    </a:lnTo>
                    <a:lnTo>
                      <a:pt x="903475" y="152561"/>
                    </a:lnTo>
                    <a:lnTo>
                      <a:pt x="827049" y="152561"/>
                    </a:lnTo>
                    <a:close/>
                    <a:moveTo>
                      <a:pt x="553106" y="0"/>
                    </a:moveTo>
                    <a:lnTo>
                      <a:pt x="629387" y="0"/>
                    </a:lnTo>
                    <a:lnTo>
                      <a:pt x="766141" y="152561"/>
                    </a:lnTo>
                    <a:lnTo>
                      <a:pt x="689860" y="152561"/>
                    </a:lnTo>
                    <a:close/>
                    <a:moveTo>
                      <a:pt x="415917" y="0"/>
                    </a:moveTo>
                    <a:lnTo>
                      <a:pt x="492198" y="0"/>
                    </a:lnTo>
                    <a:lnTo>
                      <a:pt x="628951" y="152561"/>
                    </a:lnTo>
                    <a:lnTo>
                      <a:pt x="552671" y="152561"/>
                    </a:lnTo>
                    <a:close/>
                    <a:moveTo>
                      <a:pt x="0" y="0"/>
                    </a:moveTo>
                    <a:lnTo>
                      <a:pt x="352544" y="0"/>
                    </a:lnTo>
                    <a:lnTo>
                      <a:pt x="489298" y="152561"/>
                    </a:lnTo>
                    <a:lnTo>
                      <a:pt x="136754" y="152561"/>
                    </a:lnTo>
                    <a:close/>
                  </a:path>
                </a:pathLst>
              </a:custGeom>
              <a:gradFill flip="none" rotWithShape="1">
                <a:gsLst>
                  <a:gs pos="0">
                    <a:schemeClr val="accent1"/>
                  </a:gs>
                  <a:gs pos="100000">
                    <a:schemeClr val="accent2"/>
                  </a:gs>
                </a:gsLst>
                <a:lin ang="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13" name="任意多边形: 形状 12" descr="cb1779ab-3a2b-4929-a2e3-60328028768f">
                <a:extLst>
                  <a:ext uri="{FF2B5EF4-FFF2-40B4-BE49-F238E27FC236}">
                    <a16:creationId xmlns:a16="http://schemas.microsoft.com/office/drawing/2014/main" id="{21EEC360-1B85-781A-A5F7-C3F1852BB473}"/>
                  </a:ext>
                </a:extLst>
              </p:cNvPr>
              <p:cNvSpPr/>
              <p:nvPr/>
            </p:nvSpPr>
            <p:spPr>
              <a:xfrm>
                <a:off x="630316" y="2126893"/>
                <a:ext cx="619760" cy="242793"/>
              </a:xfrm>
              <a:custGeom>
                <a:avLst/>
                <a:gdLst>
                  <a:gd name="connsiteX0" fmla="*/ 973085 w 973084"/>
                  <a:gd name="connsiteY0" fmla="*/ 56848 h 485092"/>
                  <a:gd name="connsiteX1" fmla="*/ 973085 w 973084"/>
                  <a:gd name="connsiteY1" fmla="*/ 0 h 485092"/>
                  <a:gd name="connsiteX2" fmla="*/ 181420 w 973084"/>
                  <a:gd name="connsiteY2" fmla="*/ 0 h 485092"/>
                  <a:gd name="connsiteX3" fmla="*/ 0 w 973084"/>
                  <a:gd name="connsiteY3" fmla="*/ 175184 h 485092"/>
                  <a:gd name="connsiteX4" fmla="*/ 0 w 973084"/>
                  <a:gd name="connsiteY4" fmla="*/ 187656 h 485092"/>
                  <a:gd name="connsiteX5" fmla="*/ 0 w 973084"/>
                  <a:gd name="connsiteY5" fmla="*/ 212744 h 485092"/>
                  <a:gd name="connsiteX6" fmla="*/ 0 w 973084"/>
                  <a:gd name="connsiteY6" fmla="*/ 485092 h 485092"/>
                  <a:gd name="connsiteX7" fmla="*/ 56848 w 973084"/>
                  <a:gd name="connsiteY7" fmla="*/ 485092 h 485092"/>
                  <a:gd name="connsiteX8" fmla="*/ 56848 w 973084"/>
                  <a:gd name="connsiteY8" fmla="*/ 188671 h 485092"/>
                  <a:gd name="connsiteX9" fmla="*/ 193747 w 973084"/>
                  <a:gd name="connsiteY9" fmla="*/ 56848 h 485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084" h="485092">
                    <a:moveTo>
                      <a:pt x="973085" y="56848"/>
                    </a:moveTo>
                    <a:lnTo>
                      <a:pt x="973085" y="0"/>
                    </a:lnTo>
                    <a:lnTo>
                      <a:pt x="181420" y="0"/>
                    </a:lnTo>
                    <a:lnTo>
                      <a:pt x="0" y="175184"/>
                    </a:lnTo>
                    <a:lnTo>
                      <a:pt x="0" y="187656"/>
                    </a:lnTo>
                    <a:lnTo>
                      <a:pt x="0" y="212744"/>
                    </a:lnTo>
                    <a:lnTo>
                      <a:pt x="0" y="485092"/>
                    </a:lnTo>
                    <a:lnTo>
                      <a:pt x="56848" y="485092"/>
                    </a:lnTo>
                    <a:lnTo>
                      <a:pt x="56848" y="188671"/>
                    </a:lnTo>
                    <a:lnTo>
                      <a:pt x="193747" y="56848"/>
                    </a:lnTo>
                    <a:close/>
                  </a:path>
                </a:pathLst>
              </a:custGeom>
              <a:gradFill flip="none" rotWithShape="1">
                <a:gsLst>
                  <a:gs pos="100000">
                    <a:schemeClr val="accent1"/>
                  </a:gs>
                  <a:gs pos="0">
                    <a:schemeClr val="accent2">
                      <a:lumMod val="60000"/>
                      <a:lumOff val="40000"/>
                    </a:schemeClr>
                  </a:gs>
                  <a:gs pos="47000">
                    <a:schemeClr val="accent2"/>
                  </a:gs>
                </a:gsLst>
                <a:lin ang="540000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14" name="任意多边形: 形状 13" descr="0db596b5-a9a8-4059-859e-daf052972498">
                <a:extLst>
                  <a:ext uri="{FF2B5EF4-FFF2-40B4-BE49-F238E27FC236}">
                    <a16:creationId xmlns:a16="http://schemas.microsoft.com/office/drawing/2014/main" id="{29FAE4CC-A876-2308-8351-ADC238436A5A}"/>
                  </a:ext>
                </a:extLst>
              </p:cNvPr>
              <p:cNvSpPr/>
              <p:nvPr/>
            </p:nvSpPr>
            <p:spPr>
              <a:xfrm>
                <a:off x="2986606" y="2270971"/>
                <a:ext cx="253631" cy="147127"/>
              </a:xfrm>
              <a:custGeom>
                <a:avLst/>
                <a:gdLst>
                  <a:gd name="connsiteX0" fmla="*/ 0 w 398225"/>
                  <a:gd name="connsiteY0" fmla="*/ 56848 h 293955"/>
                  <a:gd name="connsiteX1" fmla="*/ 0 w 398225"/>
                  <a:gd name="connsiteY1" fmla="*/ 0 h 293955"/>
                  <a:gd name="connsiteX2" fmla="*/ 216805 w 398225"/>
                  <a:gd name="connsiteY2" fmla="*/ 0 h 293955"/>
                  <a:gd name="connsiteX3" fmla="*/ 398225 w 398225"/>
                  <a:gd name="connsiteY3" fmla="*/ 175184 h 293955"/>
                  <a:gd name="connsiteX4" fmla="*/ 398225 w 398225"/>
                  <a:gd name="connsiteY4" fmla="*/ 187656 h 293955"/>
                  <a:gd name="connsiteX5" fmla="*/ 398225 w 398225"/>
                  <a:gd name="connsiteY5" fmla="*/ 212599 h 293955"/>
                  <a:gd name="connsiteX6" fmla="*/ 398225 w 398225"/>
                  <a:gd name="connsiteY6" fmla="*/ 293956 h 293955"/>
                  <a:gd name="connsiteX7" fmla="*/ 341377 w 398225"/>
                  <a:gd name="connsiteY7" fmla="*/ 293956 h 293955"/>
                  <a:gd name="connsiteX8" fmla="*/ 341377 w 398225"/>
                  <a:gd name="connsiteY8" fmla="*/ 188671 h 293955"/>
                  <a:gd name="connsiteX9" fmla="*/ 204478 w 398225"/>
                  <a:gd name="connsiteY9" fmla="*/ 56848 h 293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225" h="293955">
                    <a:moveTo>
                      <a:pt x="0" y="56848"/>
                    </a:moveTo>
                    <a:lnTo>
                      <a:pt x="0" y="0"/>
                    </a:lnTo>
                    <a:lnTo>
                      <a:pt x="216805" y="0"/>
                    </a:lnTo>
                    <a:lnTo>
                      <a:pt x="398225" y="175184"/>
                    </a:lnTo>
                    <a:lnTo>
                      <a:pt x="398225" y="187656"/>
                    </a:lnTo>
                    <a:lnTo>
                      <a:pt x="398225" y="212599"/>
                    </a:lnTo>
                    <a:lnTo>
                      <a:pt x="398225" y="293956"/>
                    </a:lnTo>
                    <a:lnTo>
                      <a:pt x="341377" y="293956"/>
                    </a:lnTo>
                    <a:lnTo>
                      <a:pt x="341377" y="188671"/>
                    </a:lnTo>
                    <a:lnTo>
                      <a:pt x="204478" y="56848"/>
                    </a:lnTo>
                    <a:close/>
                  </a:path>
                </a:pathLst>
              </a:custGeom>
              <a:gradFill flip="none" rotWithShape="1">
                <a:gsLst>
                  <a:gs pos="0">
                    <a:schemeClr val="accent2">
                      <a:lumMod val="60000"/>
                      <a:lumOff val="40000"/>
                    </a:schemeClr>
                  </a:gs>
                  <a:gs pos="45000">
                    <a:schemeClr val="accent2"/>
                  </a:gs>
                  <a:gs pos="100000">
                    <a:schemeClr val="accent1"/>
                  </a:gs>
                </a:gsLst>
                <a:lin ang="540000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grpSp>
            <p:nvGrpSpPr>
              <p:cNvPr id="39" name="组合 38" descr="5e006d5d-8058-4b15-a13f-2db84399896e">
                <a:extLst>
                  <a:ext uri="{FF2B5EF4-FFF2-40B4-BE49-F238E27FC236}">
                    <a16:creationId xmlns:a16="http://schemas.microsoft.com/office/drawing/2014/main" id="{33FE2CE8-223C-1CE4-343E-8F6E52F5C152}"/>
                  </a:ext>
                </a:extLst>
              </p:cNvPr>
              <p:cNvGrpSpPr/>
              <p:nvPr/>
            </p:nvGrpSpPr>
            <p:grpSpPr>
              <a:xfrm>
                <a:off x="642600" y="2137635"/>
                <a:ext cx="2583875" cy="3417431"/>
                <a:chOff x="642600" y="2137635"/>
                <a:chExt cx="2583875" cy="3417431"/>
              </a:xfrm>
            </p:grpSpPr>
            <p:sp>
              <p:nvSpPr>
                <p:cNvPr id="9" name="ComponentBackground1" descr="a8abb4c9-6360-4c31-8597-142acb6610ce">
                  <a:extLst>
                    <a:ext uri="{FF2B5EF4-FFF2-40B4-BE49-F238E27FC236}">
                      <a16:creationId xmlns:a16="http://schemas.microsoft.com/office/drawing/2014/main" id="{307C7D56-EEC8-850D-03E4-43CC81B7C428}"/>
                    </a:ext>
                  </a:extLst>
                </p:cNvPr>
                <p:cNvSpPr/>
                <p:nvPr/>
              </p:nvSpPr>
              <p:spPr>
                <a:xfrm>
                  <a:off x="642600" y="2137635"/>
                  <a:ext cx="2583875" cy="3284095"/>
                </a:xfrm>
                <a:custGeom>
                  <a:avLst/>
                  <a:gdLst>
                    <a:gd name="connsiteX0" fmla="*/ 113736 w 2653684"/>
                    <a:gd name="connsiteY0" fmla="*/ 0 h 3372822"/>
                    <a:gd name="connsiteX1" fmla="*/ 1415393 w 2653684"/>
                    <a:gd name="connsiteY1" fmla="*/ 0 h 3372822"/>
                    <a:gd name="connsiteX2" fmla="*/ 1585950 w 2653684"/>
                    <a:gd name="connsiteY2" fmla="*/ 153935 h 3372822"/>
                    <a:gd name="connsiteX3" fmla="*/ 2540044 w 2653684"/>
                    <a:gd name="connsiteY3" fmla="*/ 153935 h 3372822"/>
                    <a:gd name="connsiteX4" fmla="*/ 2653684 w 2653684"/>
                    <a:gd name="connsiteY4" fmla="*/ 233400 h 3372822"/>
                    <a:gd name="connsiteX5" fmla="*/ 2653684 w 2653684"/>
                    <a:gd name="connsiteY5" fmla="*/ 1207219 h 3372822"/>
                    <a:gd name="connsiteX6" fmla="*/ 2653684 w 2653684"/>
                    <a:gd name="connsiteY6" fmla="*/ 2319538 h 3372822"/>
                    <a:gd name="connsiteX7" fmla="*/ 2653684 w 2653684"/>
                    <a:gd name="connsiteY7" fmla="*/ 3293357 h 3372822"/>
                    <a:gd name="connsiteX8" fmla="*/ 2552659 w 2653684"/>
                    <a:gd name="connsiteY8" fmla="*/ 3372822 h 3372822"/>
                    <a:gd name="connsiteX9" fmla="*/ 107381 w 2653684"/>
                    <a:gd name="connsiteY9" fmla="*/ 3372822 h 3372822"/>
                    <a:gd name="connsiteX10" fmla="*/ 0 w 2653684"/>
                    <a:gd name="connsiteY10" fmla="*/ 3288362 h 3372822"/>
                    <a:gd name="connsiteX11" fmla="*/ 0 w 2653684"/>
                    <a:gd name="connsiteY11" fmla="*/ 2314543 h 3372822"/>
                    <a:gd name="connsiteX12" fmla="*/ 0 w 2653684"/>
                    <a:gd name="connsiteY12" fmla="*/ 1053284 h 3372822"/>
                    <a:gd name="connsiteX13" fmla="*/ 0 w 2653684"/>
                    <a:gd name="connsiteY13" fmla="*/ 79465 h 337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53684" h="3372822">
                      <a:moveTo>
                        <a:pt x="113736" y="0"/>
                      </a:moveTo>
                      <a:lnTo>
                        <a:pt x="1415393" y="0"/>
                      </a:lnTo>
                      <a:lnTo>
                        <a:pt x="1585950" y="153935"/>
                      </a:lnTo>
                      <a:lnTo>
                        <a:pt x="2540044" y="153935"/>
                      </a:lnTo>
                      <a:lnTo>
                        <a:pt x="2653684" y="233400"/>
                      </a:lnTo>
                      <a:lnTo>
                        <a:pt x="2653684" y="1207219"/>
                      </a:lnTo>
                      <a:lnTo>
                        <a:pt x="2653684" y="2319538"/>
                      </a:lnTo>
                      <a:lnTo>
                        <a:pt x="2653684" y="3293357"/>
                      </a:lnTo>
                      <a:lnTo>
                        <a:pt x="2552659" y="3372822"/>
                      </a:lnTo>
                      <a:lnTo>
                        <a:pt x="107381" y="3372822"/>
                      </a:lnTo>
                      <a:lnTo>
                        <a:pt x="0" y="3288362"/>
                      </a:lnTo>
                      <a:lnTo>
                        <a:pt x="0" y="2314543"/>
                      </a:lnTo>
                      <a:lnTo>
                        <a:pt x="0" y="1053284"/>
                      </a:lnTo>
                      <a:lnTo>
                        <a:pt x="0" y="79465"/>
                      </a:lnTo>
                      <a:close/>
                    </a:path>
                  </a:pathLst>
                </a:custGeom>
                <a:gradFill>
                  <a:gsLst>
                    <a:gs pos="0">
                      <a:schemeClr val="accent1">
                        <a:alpha val="30000"/>
                      </a:schemeClr>
                    </a:gs>
                    <a:gs pos="88000">
                      <a:schemeClr val="accent1">
                        <a:alpha val="0"/>
                      </a:schemeClr>
                    </a:gs>
                  </a:gsLst>
                  <a:lin ang="5400000" scaled="0"/>
                </a:gradFill>
                <a:ln w="3030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8" name="Number1" descr="14a7d527-5797-475c-b13a-e8872794b8ef">
                  <a:extLst>
                    <a:ext uri="{FF2B5EF4-FFF2-40B4-BE49-F238E27FC236}">
                      <a16:creationId xmlns:a16="http://schemas.microsoft.com/office/drawing/2014/main" id="{54AAED88-F677-2974-FFDE-48AE4A46B8CD}"/>
                    </a:ext>
                  </a:extLst>
                </p:cNvPr>
                <p:cNvSpPr/>
                <p:nvPr/>
              </p:nvSpPr>
              <p:spPr>
                <a:xfrm>
                  <a:off x="1447651" y="2439028"/>
                  <a:ext cx="975251" cy="823705"/>
                </a:xfrm>
                <a:prstGeom prst="rect">
                  <a:avLst/>
                </a:prstGeom>
                <a:noFill/>
              </p:spPr>
              <p:txBody>
                <a:bodyPr wrap="none" lIns="91440" tIns="45720" rIns="91440" bIns="45720" rtlCol="0" anchor="b" anchorCtr="0">
                  <a:normAutofit fontScale="92500" lnSpcReduction="20000"/>
                </a:bodyPr>
                <a:lstStyle/>
                <a:p>
                  <a:pPr algn="ctr">
                    <a:lnSpc>
                      <a:spcPct val="108000"/>
                    </a:lnSpc>
                  </a:pPr>
                  <a:r>
                    <a:rPr lang="en-US" sz="5400" b="1" i="1" u="none">
                      <a:solidFill>
                        <a:srgbClr val="000000"/>
                      </a:solidFill>
                      <a:latin typeface="Arial"/>
                    </a:rPr>
                    <a:t>1</a:t>
                  </a:r>
                </a:p>
              </p:txBody>
            </p:sp>
            <p:sp>
              <p:nvSpPr>
                <p:cNvPr id="47" name="Bullet1" descr="117ecbef-c6c8-4e23-9351-ef3a650c8cc7">
                  <a:extLst>
                    <a:ext uri="{FF2B5EF4-FFF2-40B4-BE49-F238E27FC236}">
                      <a16:creationId xmlns:a16="http://schemas.microsoft.com/office/drawing/2014/main" id="{FA48D3D7-3114-5BE1-A899-E92FC8D1D534}"/>
                    </a:ext>
                  </a:extLst>
                </p:cNvPr>
                <p:cNvSpPr txBox="1">
                  <a:spLocks/>
                </p:cNvSpPr>
                <p:nvPr/>
              </p:nvSpPr>
              <p:spPr>
                <a:xfrm>
                  <a:off x="713462" y="3385725"/>
                  <a:ext cx="2449859" cy="778646"/>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2000" b="1" i="0" u="none" strike="noStrike" dirty="0" err="1">
                      <a:solidFill>
                        <a:srgbClr val="000000"/>
                      </a:solidFill>
                      <a:ea typeface="微软雅黑"/>
                    </a:rPr>
                    <a:t>自动化机器学习</a:t>
                  </a:r>
                  <a:endParaRPr lang="en-US" sz="2000" b="1" i="0" u="none" strike="noStrike" dirty="0">
                    <a:solidFill>
                      <a:srgbClr val="000000"/>
                    </a:solidFill>
                    <a:ea typeface="微软雅黑"/>
                  </a:endParaRPr>
                </a:p>
              </p:txBody>
            </p:sp>
            <p:sp>
              <p:nvSpPr>
                <p:cNvPr id="48" name="Text1" descr="775ce90f-edf8-463d-98ef-33b5923b62ef">
                  <a:extLst>
                    <a:ext uri="{FF2B5EF4-FFF2-40B4-BE49-F238E27FC236}">
                      <a16:creationId xmlns:a16="http://schemas.microsoft.com/office/drawing/2014/main" id="{11EDD9A1-63DC-3755-E418-0893A21729A2}"/>
                    </a:ext>
                  </a:extLst>
                </p:cNvPr>
                <p:cNvSpPr txBox="1">
                  <a:spLocks/>
                </p:cNvSpPr>
                <p:nvPr/>
              </p:nvSpPr>
              <p:spPr>
                <a:xfrm>
                  <a:off x="713463" y="4278772"/>
                  <a:ext cx="2449859" cy="1276294"/>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集成特征工程自动化模块，为架构提供自动化处理特征工程的能力，减少人工操作的复杂性</a:t>
                  </a:r>
                  <a:r>
                    <a:rPr lang="en-US" sz="1600" b="0" i="0" u="none" strike="noStrike" dirty="0">
                      <a:solidFill>
                        <a:srgbClr val="000000"/>
                      </a:solidFill>
                      <a:ea typeface="微软雅黑"/>
                    </a:rPr>
                    <a:t>。</a:t>
                  </a:r>
                </a:p>
              </p:txBody>
            </p:sp>
          </p:grpSp>
        </p:grpSp>
        <p:grpSp>
          <p:nvGrpSpPr>
            <p:cNvPr id="43" name="组合 42" descr="c17ba615-4f5b-4bb4-8f13-412e4323e3b2">
              <a:extLst>
                <a:ext uri="{FF2B5EF4-FFF2-40B4-BE49-F238E27FC236}">
                  <a16:creationId xmlns:a16="http://schemas.microsoft.com/office/drawing/2014/main" id="{22C28E26-6FE7-E8C9-F336-EEDF83840F51}"/>
                </a:ext>
              </a:extLst>
            </p:cNvPr>
            <p:cNvGrpSpPr/>
            <p:nvPr/>
          </p:nvGrpSpPr>
          <p:grpSpPr>
            <a:xfrm>
              <a:off x="3399899" y="2596435"/>
              <a:ext cx="2609921" cy="3373911"/>
              <a:chOff x="3399899" y="2596435"/>
              <a:chExt cx="2609921" cy="3373911"/>
            </a:xfrm>
          </p:grpSpPr>
          <p:sp>
            <p:nvSpPr>
              <p:cNvPr id="20" name="任意多边形: 形状 19" descr="c024dcae-80b3-4fa6-95dd-b7d5511593fc">
                <a:extLst>
                  <a:ext uri="{FF2B5EF4-FFF2-40B4-BE49-F238E27FC236}">
                    <a16:creationId xmlns:a16="http://schemas.microsoft.com/office/drawing/2014/main" id="{E5D21E3A-F26F-0583-CBB1-FEF726538260}"/>
                  </a:ext>
                </a:extLst>
              </p:cNvPr>
              <p:cNvSpPr/>
              <p:nvPr/>
            </p:nvSpPr>
            <p:spPr>
              <a:xfrm>
                <a:off x="3405903" y="2601153"/>
                <a:ext cx="2597914" cy="2347869"/>
              </a:xfrm>
              <a:custGeom>
                <a:avLst/>
                <a:gdLst>
                  <a:gd name="connsiteX0" fmla="*/ 181130 w 4078981"/>
                  <a:gd name="connsiteY0" fmla="*/ 37996 h 4690964"/>
                  <a:gd name="connsiteX1" fmla="*/ 37995 w 4078981"/>
                  <a:gd name="connsiteY1" fmla="*/ 176199 h 4690964"/>
                  <a:gd name="connsiteX2" fmla="*/ 37995 w 4078981"/>
                  <a:gd name="connsiteY2" fmla="*/ 370671 h 4690964"/>
                  <a:gd name="connsiteX3" fmla="*/ 38140 w 4078981"/>
                  <a:gd name="connsiteY3" fmla="*/ 370671 h 4690964"/>
                  <a:gd name="connsiteX4" fmla="*/ 38140 w 4078981"/>
                  <a:gd name="connsiteY4" fmla="*/ 4308547 h 4690964"/>
                  <a:gd name="connsiteX5" fmla="*/ 37995 w 4078981"/>
                  <a:gd name="connsiteY5" fmla="*/ 4308547 h 4690964"/>
                  <a:gd name="connsiteX6" fmla="*/ 37995 w 4078981"/>
                  <a:gd name="connsiteY6" fmla="*/ 4509690 h 4690964"/>
                  <a:gd name="connsiteX7" fmla="*/ 176199 w 4078981"/>
                  <a:gd name="connsiteY7" fmla="*/ 4652824 h 4690964"/>
                  <a:gd name="connsiteX8" fmla="*/ 351964 w 4078981"/>
                  <a:gd name="connsiteY8" fmla="*/ 4652824 h 4690964"/>
                  <a:gd name="connsiteX9" fmla="*/ 362840 w 4078981"/>
                  <a:gd name="connsiteY9" fmla="*/ 4652824 h 4690964"/>
                  <a:gd name="connsiteX10" fmla="*/ 3753700 w 4078981"/>
                  <a:gd name="connsiteY10" fmla="*/ 4652824 h 4690964"/>
                  <a:gd name="connsiteX11" fmla="*/ 3759211 w 4078981"/>
                  <a:gd name="connsiteY11" fmla="*/ 4652824 h 4690964"/>
                  <a:gd name="connsiteX12" fmla="*/ 3902781 w 4078981"/>
                  <a:gd name="connsiteY12" fmla="*/ 4652824 h 4690964"/>
                  <a:gd name="connsiteX13" fmla="*/ 4040840 w 4078981"/>
                  <a:gd name="connsiteY13" fmla="*/ 4509690 h 4690964"/>
                  <a:gd name="connsiteX14" fmla="*/ 4040840 w 4078981"/>
                  <a:gd name="connsiteY14" fmla="*/ 4346107 h 4690964"/>
                  <a:gd name="connsiteX15" fmla="*/ 4040840 w 4078981"/>
                  <a:gd name="connsiteY15" fmla="*/ 4317248 h 4690964"/>
                  <a:gd name="connsiteX16" fmla="*/ 4040840 w 4078981"/>
                  <a:gd name="connsiteY16" fmla="*/ 633449 h 4690964"/>
                  <a:gd name="connsiteX17" fmla="*/ 4040841 w 4078981"/>
                  <a:gd name="connsiteY17" fmla="*/ 633449 h 4690964"/>
                  <a:gd name="connsiteX18" fmla="*/ 4040841 w 4078981"/>
                  <a:gd name="connsiteY18" fmla="*/ 463920 h 4690964"/>
                  <a:gd name="connsiteX19" fmla="*/ 3897706 w 4078981"/>
                  <a:gd name="connsiteY19" fmla="*/ 325861 h 4690964"/>
                  <a:gd name="connsiteX20" fmla="*/ 3751380 w 4078981"/>
                  <a:gd name="connsiteY20" fmla="*/ 325861 h 4690964"/>
                  <a:gd name="connsiteX21" fmla="*/ 3742824 w 4078981"/>
                  <a:gd name="connsiteY21" fmla="*/ 325861 h 4690964"/>
                  <a:gd name="connsiteX22" fmla="*/ 2411975 w 4078981"/>
                  <a:gd name="connsiteY22" fmla="*/ 325861 h 4690964"/>
                  <a:gd name="connsiteX23" fmla="*/ 2161815 w 4078981"/>
                  <a:gd name="connsiteY23" fmla="*/ 37996 h 4690964"/>
                  <a:gd name="connsiteX24" fmla="*/ 175184 w 4078981"/>
                  <a:gd name="connsiteY24" fmla="*/ 0 h 4690964"/>
                  <a:gd name="connsiteX25" fmla="*/ 2192269 w 4078981"/>
                  <a:gd name="connsiteY25" fmla="*/ 0 h 4690964"/>
                  <a:gd name="connsiteX26" fmla="*/ 2443299 w 4078981"/>
                  <a:gd name="connsiteY26" fmla="*/ 287720 h 4690964"/>
                  <a:gd name="connsiteX27" fmla="*/ 3742824 w 4078981"/>
                  <a:gd name="connsiteY27" fmla="*/ 287720 h 4690964"/>
                  <a:gd name="connsiteX28" fmla="*/ 3751380 w 4078981"/>
                  <a:gd name="connsiteY28" fmla="*/ 287720 h 4690964"/>
                  <a:gd name="connsiteX29" fmla="*/ 3903796 w 4078981"/>
                  <a:gd name="connsiteY29" fmla="*/ 287720 h 4690964"/>
                  <a:gd name="connsiteX30" fmla="*/ 4078981 w 4078981"/>
                  <a:gd name="connsiteY30" fmla="*/ 456668 h 4690964"/>
                  <a:gd name="connsiteX31" fmla="*/ 4078981 w 4078981"/>
                  <a:gd name="connsiteY31" fmla="*/ 469140 h 4690964"/>
                  <a:gd name="connsiteX32" fmla="*/ 4078981 w 4078981"/>
                  <a:gd name="connsiteY32" fmla="*/ 494229 h 4690964"/>
                  <a:gd name="connsiteX33" fmla="*/ 4078981 w 4078981"/>
                  <a:gd name="connsiteY33" fmla="*/ 650706 h 4690964"/>
                  <a:gd name="connsiteX34" fmla="*/ 4078980 w 4078981"/>
                  <a:gd name="connsiteY34" fmla="*/ 650706 h 4690964"/>
                  <a:gd name="connsiteX35" fmla="*/ 4078980 w 4078981"/>
                  <a:gd name="connsiteY35" fmla="*/ 4317248 h 4690964"/>
                  <a:gd name="connsiteX36" fmla="*/ 4078980 w 4078981"/>
                  <a:gd name="connsiteY36" fmla="*/ 4346107 h 4690964"/>
                  <a:gd name="connsiteX37" fmla="*/ 4078980 w 4078981"/>
                  <a:gd name="connsiteY37" fmla="*/ 4515635 h 4690964"/>
                  <a:gd name="connsiteX38" fmla="*/ 3910032 w 4078981"/>
                  <a:gd name="connsiteY38" fmla="*/ 4690819 h 4690964"/>
                  <a:gd name="connsiteX39" fmla="*/ 3897560 w 4078981"/>
                  <a:gd name="connsiteY39" fmla="*/ 4690819 h 4690964"/>
                  <a:gd name="connsiteX40" fmla="*/ 3872472 w 4078981"/>
                  <a:gd name="connsiteY40" fmla="*/ 4690819 h 4690964"/>
                  <a:gd name="connsiteX41" fmla="*/ 3759211 w 4078981"/>
                  <a:gd name="connsiteY41" fmla="*/ 4690819 h 4690964"/>
                  <a:gd name="connsiteX42" fmla="*/ 3759211 w 4078981"/>
                  <a:gd name="connsiteY42" fmla="*/ 4690964 h 4690964"/>
                  <a:gd name="connsiteX43" fmla="*/ 351964 w 4078981"/>
                  <a:gd name="connsiteY43" fmla="*/ 4690964 h 4690964"/>
                  <a:gd name="connsiteX44" fmla="*/ 351964 w 4078981"/>
                  <a:gd name="connsiteY44" fmla="*/ 4690820 h 4690964"/>
                  <a:gd name="connsiteX45" fmla="*/ 206364 w 4078981"/>
                  <a:gd name="connsiteY45" fmla="*/ 4690820 h 4690964"/>
                  <a:gd name="connsiteX46" fmla="*/ 181420 w 4078981"/>
                  <a:gd name="connsiteY46" fmla="*/ 4690820 h 4690964"/>
                  <a:gd name="connsiteX47" fmla="*/ 168948 w 4078981"/>
                  <a:gd name="connsiteY47" fmla="*/ 4690820 h 4690964"/>
                  <a:gd name="connsiteX48" fmla="*/ 0 w 4078981"/>
                  <a:gd name="connsiteY48" fmla="*/ 4515636 h 4690964"/>
                  <a:gd name="connsiteX49" fmla="*/ 0 w 4078981"/>
                  <a:gd name="connsiteY49" fmla="*/ 4308547 h 4690964"/>
                  <a:gd name="connsiteX50" fmla="*/ 0 w 4078981"/>
                  <a:gd name="connsiteY50" fmla="*/ 4279688 h 4690964"/>
                  <a:gd name="connsiteX51" fmla="*/ 0 w 4078981"/>
                  <a:gd name="connsiteY51" fmla="*/ 400401 h 4690964"/>
                  <a:gd name="connsiteX52" fmla="*/ 0 w 4078981"/>
                  <a:gd name="connsiteY52" fmla="*/ 370671 h 4690964"/>
                  <a:gd name="connsiteX53" fmla="*/ 0 w 4078981"/>
                  <a:gd name="connsiteY53" fmla="*/ 206364 h 4690964"/>
                  <a:gd name="connsiteX54" fmla="*/ 0 w 4078981"/>
                  <a:gd name="connsiteY54" fmla="*/ 181420 h 4690964"/>
                  <a:gd name="connsiteX55" fmla="*/ 0 w 4078981"/>
                  <a:gd name="connsiteY55" fmla="*/ 168948 h 469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078981" h="4690964">
                    <a:moveTo>
                      <a:pt x="181130" y="37996"/>
                    </a:moveTo>
                    <a:lnTo>
                      <a:pt x="37995" y="176199"/>
                    </a:lnTo>
                    <a:lnTo>
                      <a:pt x="37995" y="370671"/>
                    </a:lnTo>
                    <a:lnTo>
                      <a:pt x="38140" y="370671"/>
                    </a:lnTo>
                    <a:lnTo>
                      <a:pt x="38140" y="4308547"/>
                    </a:lnTo>
                    <a:lnTo>
                      <a:pt x="37995" y="4308547"/>
                    </a:lnTo>
                    <a:lnTo>
                      <a:pt x="37995" y="4509690"/>
                    </a:lnTo>
                    <a:lnTo>
                      <a:pt x="176199" y="4652824"/>
                    </a:lnTo>
                    <a:lnTo>
                      <a:pt x="351964" y="4652824"/>
                    </a:lnTo>
                    <a:lnTo>
                      <a:pt x="362840" y="4652824"/>
                    </a:lnTo>
                    <a:lnTo>
                      <a:pt x="3753700" y="4652824"/>
                    </a:lnTo>
                    <a:lnTo>
                      <a:pt x="3759211" y="4652824"/>
                    </a:lnTo>
                    <a:lnTo>
                      <a:pt x="3902781" y="4652824"/>
                    </a:lnTo>
                    <a:lnTo>
                      <a:pt x="4040840" y="4509690"/>
                    </a:lnTo>
                    <a:lnTo>
                      <a:pt x="4040840" y="4346107"/>
                    </a:lnTo>
                    <a:lnTo>
                      <a:pt x="4040840" y="4317248"/>
                    </a:lnTo>
                    <a:lnTo>
                      <a:pt x="4040840" y="633449"/>
                    </a:lnTo>
                    <a:lnTo>
                      <a:pt x="4040841" y="633449"/>
                    </a:lnTo>
                    <a:lnTo>
                      <a:pt x="4040841" y="463920"/>
                    </a:lnTo>
                    <a:lnTo>
                      <a:pt x="3897706" y="325861"/>
                    </a:lnTo>
                    <a:lnTo>
                      <a:pt x="3751380" y="325861"/>
                    </a:lnTo>
                    <a:lnTo>
                      <a:pt x="3742824" y="325861"/>
                    </a:lnTo>
                    <a:lnTo>
                      <a:pt x="2411975" y="325861"/>
                    </a:lnTo>
                    <a:lnTo>
                      <a:pt x="2161815" y="37996"/>
                    </a:lnTo>
                    <a:close/>
                    <a:moveTo>
                      <a:pt x="175184" y="0"/>
                    </a:moveTo>
                    <a:lnTo>
                      <a:pt x="2192269" y="0"/>
                    </a:lnTo>
                    <a:lnTo>
                      <a:pt x="2443299" y="287720"/>
                    </a:lnTo>
                    <a:lnTo>
                      <a:pt x="3742824" y="287720"/>
                    </a:lnTo>
                    <a:lnTo>
                      <a:pt x="3751380" y="287720"/>
                    </a:lnTo>
                    <a:lnTo>
                      <a:pt x="3903796" y="287720"/>
                    </a:lnTo>
                    <a:lnTo>
                      <a:pt x="4078981" y="456668"/>
                    </a:lnTo>
                    <a:lnTo>
                      <a:pt x="4078981" y="469140"/>
                    </a:lnTo>
                    <a:lnTo>
                      <a:pt x="4078981" y="494229"/>
                    </a:lnTo>
                    <a:lnTo>
                      <a:pt x="4078981" y="650706"/>
                    </a:lnTo>
                    <a:lnTo>
                      <a:pt x="4078980" y="650706"/>
                    </a:lnTo>
                    <a:lnTo>
                      <a:pt x="4078980" y="4317248"/>
                    </a:lnTo>
                    <a:lnTo>
                      <a:pt x="4078980" y="4346107"/>
                    </a:lnTo>
                    <a:lnTo>
                      <a:pt x="4078980" y="4515635"/>
                    </a:lnTo>
                    <a:lnTo>
                      <a:pt x="3910032" y="4690819"/>
                    </a:lnTo>
                    <a:lnTo>
                      <a:pt x="3897560" y="4690819"/>
                    </a:lnTo>
                    <a:lnTo>
                      <a:pt x="3872472" y="4690819"/>
                    </a:lnTo>
                    <a:lnTo>
                      <a:pt x="3759211" y="4690819"/>
                    </a:lnTo>
                    <a:lnTo>
                      <a:pt x="3759211" y="4690964"/>
                    </a:lnTo>
                    <a:lnTo>
                      <a:pt x="351964" y="4690964"/>
                    </a:lnTo>
                    <a:lnTo>
                      <a:pt x="351964" y="4690820"/>
                    </a:lnTo>
                    <a:lnTo>
                      <a:pt x="206364" y="4690820"/>
                    </a:lnTo>
                    <a:lnTo>
                      <a:pt x="181420" y="4690820"/>
                    </a:lnTo>
                    <a:lnTo>
                      <a:pt x="168948" y="4690820"/>
                    </a:lnTo>
                    <a:lnTo>
                      <a:pt x="0" y="4515636"/>
                    </a:lnTo>
                    <a:lnTo>
                      <a:pt x="0" y="4308547"/>
                    </a:lnTo>
                    <a:lnTo>
                      <a:pt x="0" y="4279688"/>
                    </a:lnTo>
                    <a:lnTo>
                      <a:pt x="0" y="400401"/>
                    </a:lnTo>
                    <a:lnTo>
                      <a:pt x="0" y="370671"/>
                    </a:lnTo>
                    <a:lnTo>
                      <a:pt x="0" y="206364"/>
                    </a:lnTo>
                    <a:lnTo>
                      <a:pt x="0" y="181420"/>
                    </a:lnTo>
                    <a:lnTo>
                      <a:pt x="0" y="168948"/>
                    </a:lnTo>
                    <a:close/>
                  </a:path>
                </a:pathLst>
              </a:custGeom>
              <a:gradFill flip="none" rotWithShape="1">
                <a:gsLst>
                  <a:gs pos="0">
                    <a:schemeClr val="accent1"/>
                  </a:gs>
                  <a:gs pos="100000">
                    <a:schemeClr val="accent2">
                      <a:alpha val="0"/>
                    </a:schemeClr>
                  </a:gs>
                </a:gsLst>
                <a:lin ang="540000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21" name="任意多边形: 形状 20" descr="7f025bea-5348-4319-b103-9e2852022946">
                <a:extLst>
                  <a:ext uri="{FF2B5EF4-FFF2-40B4-BE49-F238E27FC236}">
                    <a16:creationId xmlns:a16="http://schemas.microsoft.com/office/drawing/2014/main" id="{08D4263D-15CB-EB69-9A61-C1E63B553740}"/>
                  </a:ext>
                </a:extLst>
              </p:cNvPr>
              <p:cNvSpPr/>
              <p:nvPr/>
            </p:nvSpPr>
            <p:spPr>
              <a:xfrm>
                <a:off x="3466955" y="2652324"/>
                <a:ext cx="863693" cy="95157"/>
              </a:xfrm>
              <a:custGeom>
                <a:avLst/>
                <a:gdLst>
                  <a:gd name="connsiteX0" fmla="*/ 221446 w 1356083"/>
                  <a:gd name="connsiteY0" fmla="*/ 0 h 190121"/>
                  <a:gd name="connsiteX1" fmla="*/ 226087 w 1356083"/>
                  <a:gd name="connsiteY1" fmla="*/ 0 h 190121"/>
                  <a:gd name="connsiteX2" fmla="*/ 237833 w 1356083"/>
                  <a:gd name="connsiteY2" fmla="*/ 0 h 190121"/>
                  <a:gd name="connsiteX3" fmla="*/ 1356083 w 1356083"/>
                  <a:gd name="connsiteY3" fmla="*/ 0 h 190121"/>
                  <a:gd name="connsiteX4" fmla="*/ 1356083 w 1356083"/>
                  <a:gd name="connsiteY4" fmla="*/ 20738 h 190121"/>
                  <a:gd name="connsiteX5" fmla="*/ 231307 w 1356083"/>
                  <a:gd name="connsiteY5" fmla="*/ 20738 h 190121"/>
                  <a:gd name="connsiteX6" fmla="*/ 142700 w 1356083"/>
                  <a:gd name="connsiteY6" fmla="*/ 106300 h 190121"/>
                  <a:gd name="connsiteX7" fmla="*/ 142700 w 1356083"/>
                  <a:gd name="connsiteY7" fmla="*/ 75410 h 190121"/>
                  <a:gd name="connsiteX8" fmla="*/ 116741 w 1356083"/>
                  <a:gd name="connsiteY8" fmla="*/ 0 h 190121"/>
                  <a:gd name="connsiteX9" fmla="*/ 197082 w 1356083"/>
                  <a:gd name="connsiteY9" fmla="*/ 0 h 190121"/>
                  <a:gd name="connsiteX10" fmla="*/ 0 w 1356083"/>
                  <a:gd name="connsiteY10" fmla="*/ 190121 h 190121"/>
                  <a:gd name="connsiteX11" fmla="*/ 0 w 1356083"/>
                  <a:gd name="connsiteY11" fmla="*/ 109780 h 190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6083" h="190121">
                    <a:moveTo>
                      <a:pt x="221446" y="0"/>
                    </a:moveTo>
                    <a:lnTo>
                      <a:pt x="226087" y="0"/>
                    </a:lnTo>
                    <a:lnTo>
                      <a:pt x="237833" y="0"/>
                    </a:lnTo>
                    <a:lnTo>
                      <a:pt x="1356083" y="0"/>
                    </a:lnTo>
                    <a:lnTo>
                      <a:pt x="1356083" y="20738"/>
                    </a:lnTo>
                    <a:lnTo>
                      <a:pt x="231307" y="20738"/>
                    </a:lnTo>
                    <a:lnTo>
                      <a:pt x="142700" y="106300"/>
                    </a:lnTo>
                    <a:lnTo>
                      <a:pt x="142700" y="75410"/>
                    </a:lnTo>
                    <a:close/>
                    <a:moveTo>
                      <a:pt x="116741" y="0"/>
                    </a:moveTo>
                    <a:lnTo>
                      <a:pt x="197082" y="0"/>
                    </a:lnTo>
                    <a:lnTo>
                      <a:pt x="0" y="190121"/>
                    </a:lnTo>
                    <a:lnTo>
                      <a:pt x="0" y="109780"/>
                    </a:lnTo>
                    <a:close/>
                  </a:path>
                </a:pathLst>
              </a:custGeom>
              <a:gradFill flip="none" rotWithShape="1">
                <a:gsLst>
                  <a:gs pos="0">
                    <a:schemeClr val="accent1"/>
                  </a:gs>
                  <a:gs pos="100000">
                    <a:schemeClr val="accent2"/>
                  </a:gs>
                </a:gsLst>
                <a:lin ang="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22" name="任意多边形: 形状 21" descr="d3d00ff6-41f3-4c26-9ccc-2672586188e1">
                <a:extLst>
                  <a:ext uri="{FF2B5EF4-FFF2-40B4-BE49-F238E27FC236}">
                    <a16:creationId xmlns:a16="http://schemas.microsoft.com/office/drawing/2014/main" id="{C908DC12-3EB7-3B0D-C318-368829B2EB09}"/>
                  </a:ext>
                </a:extLst>
              </p:cNvPr>
              <p:cNvSpPr/>
              <p:nvPr/>
            </p:nvSpPr>
            <p:spPr>
              <a:xfrm>
                <a:off x="4902380" y="2647679"/>
                <a:ext cx="750178" cy="76358"/>
              </a:xfrm>
              <a:custGeom>
                <a:avLst/>
                <a:gdLst>
                  <a:gd name="connsiteX0" fmla="*/ 964818 w 1177853"/>
                  <a:gd name="connsiteY0" fmla="*/ 0 h 152561"/>
                  <a:gd name="connsiteX1" fmla="*/ 1041099 w 1177853"/>
                  <a:gd name="connsiteY1" fmla="*/ 0 h 152561"/>
                  <a:gd name="connsiteX2" fmla="*/ 1177853 w 1177853"/>
                  <a:gd name="connsiteY2" fmla="*/ 152561 h 152561"/>
                  <a:gd name="connsiteX3" fmla="*/ 1101572 w 1177853"/>
                  <a:gd name="connsiteY3" fmla="*/ 152561 h 152561"/>
                  <a:gd name="connsiteX4" fmla="*/ 827484 w 1177853"/>
                  <a:gd name="connsiteY4" fmla="*/ 0 h 152561"/>
                  <a:gd name="connsiteX5" fmla="*/ 903765 w 1177853"/>
                  <a:gd name="connsiteY5" fmla="*/ 0 h 152561"/>
                  <a:gd name="connsiteX6" fmla="*/ 1040664 w 1177853"/>
                  <a:gd name="connsiteY6" fmla="*/ 152561 h 152561"/>
                  <a:gd name="connsiteX7" fmla="*/ 964383 w 1177853"/>
                  <a:gd name="connsiteY7" fmla="*/ 152561 h 152561"/>
                  <a:gd name="connsiteX8" fmla="*/ 690295 w 1177853"/>
                  <a:gd name="connsiteY8" fmla="*/ 0 h 152561"/>
                  <a:gd name="connsiteX9" fmla="*/ 766576 w 1177853"/>
                  <a:gd name="connsiteY9" fmla="*/ 0 h 152561"/>
                  <a:gd name="connsiteX10" fmla="*/ 903475 w 1177853"/>
                  <a:gd name="connsiteY10" fmla="*/ 152561 h 152561"/>
                  <a:gd name="connsiteX11" fmla="*/ 827049 w 1177853"/>
                  <a:gd name="connsiteY11" fmla="*/ 152561 h 152561"/>
                  <a:gd name="connsiteX12" fmla="*/ 553106 w 1177853"/>
                  <a:gd name="connsiteY12" fmla="*/ 0 h 152561"/>
                  <a:gd name="connsiteX13" fmla="*/ 629387 w 1177853"/>
                  <a:gd name="connsiteY13" fmla="*/ 0 h 152561"/>
                  <a:gd name="connsiteX14" fmla="*/ 766141 w 1177853"/>
                  <a:gd name="connsiteY14" fmla="*/ 152561 h 152561"/>
                  <a:gd name="connsiteX15" fmla="*/ 689860 w 1177853"/>
                  <a:gd name="connsiteY15" fmla="*/ 152561 h 152561"/>
                  <a:gd name="connsiteX16" fmla="*/ 415917 w 1177853"/>
                  <a:gd name="connsiteY16" fmla="*/ 0 h 152561"/>
                  <a:gd name="connsiteX17" fmla="*/ 492198 w 1177853"/>
                  <a:gd name="connsiteY17" fmla="*/ 0 h 152561"/>
                  <a:gd name="connsiteX18" fmla="*/ 628951 w 1177853"/>
                  <a:gd name="connsiteY18" fmla="*/ 152561 h 152561"/>
                  <a:gd name="connsiteX19" fmla="*/ 552671 w 1177853"/>
                  <a:gd name="connsiteY19" fmla="*/ 152561 h 152561"/>
                  <a:gd name="connsiteX20" fmla="*/ 0 w 1177853"/>
                  <a:gd name="connsiteY20" fmla="*/ 0 h 152561"/>
                  <a:gd name="connsiteX21" fmla="*/ 352544 w 1177853"/>
                  <a:gd name="connsiteY21" fmla="*/ 0 h 152561"/>
                  <a:gd name="connsiteX22" fmla="*/ 489298 w 1177853"/>
                  <a:gd name="connsiteY22" fmla="*/ 152561 h 152561"/>
                  <a:gd name="connsiteX23" fmla="*/ 136754 w 1177853"/>
                  <a:gd name="connsiteY23" fmla="*/ 152561 h 152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77853" h="152561">
                    <a:moveTo>
                      <a:pt x="964818" y="0"/>
                    </a:moveTo>
                    <a:lnTo>
                      <a:pt x="1041099" y="0"/>
                    </a:lnTo>
                    <a:lnTo>
                      <a:pt x="1177853" y="152561"/>
                    </a:lnTo>
                    <a:lnTo>
                      <a:pt x="1101572" y="152561"/>
                    </a:lnTo>
                    <a:close/>
                    <a:moveTo>
                      <a:pt x="827484" y="0"/>
                    </a:moveTo>
                    <a:lnTo>
                      <a:pt x="903765" y="0"/>
                    </a:lnTo>
                    <a:lnTo>
                      <a:pt x="1040664" y="152561"/>
                    </a:lnTo>
                    <a:lnTo>
                      <a:pt x="964383" y="152561"/>
                    </a:lnTo>
                    <a:close/>
                    <a:moveTo>
                      <a:pt x="690295" y="0"/>
                    </a:moveTo>
                    <a:lnTo>
                      <a:pt x="766576" y="0"/>
                    </a:lnTo>
                    <a:lnTo>
                      <a:pt x="903475" y="152561"/>
                    </a:lnTo>
                    <a:lnTo>
                      <a:pt x="827049" y="152561"/>
                    </a:lnTo>
                    <a:close/>
                    <a:moveTo>
                      <a:pt x="553106" y="0"/>
                    </a:moveTo>
                    <a:lnTo>
                      <a:pt x="629387" y="0"/>
                    </a:lnTo>
                    <a:lnTo>
                      <a:pt x="766141" y="152561"/>
                    </a:lnTo>
                    <a:lnTo>
                      <a:pt x="689860" y="152561"/>
                    </a:lnTo>
                    <a:close/>
                    <a:moveTo>
                      <a:pt x="415917" y="0"/>
                    </a:moveTo>
                    <a:lnTo>
                      <a:pt x="492198" y="0"/>
                    </a:lnTo>
                    <a:lnTo>
                      <a:pt x="628951" y="152561"/>
                    </a:lnTo>
                    <a:lnTo>
                      <a:pt x="552671" y="152561"/>
                    </a:lnTo>
                    <a:close/>
                    <a:moveTo>
                      <a:pt x="0" y="0"/>
                    </a:moveTo>
                    <a:lnTo>
                      <a:pt x="352544" y="0"/>
                    </a:lnTo>
                    <a:lnTo>
                      <a:pt x="489298" y="152561"/>
                    </a:lnTo>
                    <a:lnTo>
                      <a:pt x="136754" y="152561"/>
                    </a:lnTo>
                    <a:close/>
                  </a:path>
                </a:pathLst>
              </a:custGeom>
              <a:gradFill flip="none" rotWithShape="1">
                <a:gsLst>
                  <a:gs pos="0">
                    <a:schemeClr val="accent1"/>
                  </a:gs>
                  <a:gs pos="100000">
                    <a:schemeClr val="accent2"/>
                  </a:gs>
                </a:gsLst>
                <a:lin ang="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23" name="任意多边形: 形状 22" descr="d46cc425-4fce-4052-b8b9-b33a72d0dc07">
                <a:extLst>
                  <a:ext uri="{FF2B5EF4-FFF2-40B4-BE49-F238E27FC236}">
                    <a16:creationId xmlns:a16="http://schemas.microsoft.com/office/drawing/2014/main" id="{B09DC31F-4B3C-12CB-3E18-FA9D19CD81CD}"/>
                  </a:ext>
                </a:extLst>
              </p:cNvPr>
              <p:cNvSpPr/>
              <p:nvPr/>
            </p:nvSpPr>
            <p:spPr>
              <a:xfrm>
                <a:off x="3399899" y="2596435"/>
                <a:ext cx="619760" cy="242793"/>
              </a:xfrm>
              <a:custGeom>
                <a:avLst/>
                <a:gdLst>
                  <a:gd name="connsiteX0" fmla="*/ 973085 w 973084"/>
                  <a:gd name="connsiteY0" fmla="*/ 56848 h 485092"/>
                  <a:gd name="connsiteX1" fmla="*/ 973085 w 973084"/>
                  <a:gd name="connsiteY1" fmla="*/ 0 h 485092"/>
                  <a:gd name="connsiteX2" fmla="*/ 181420 w 973084"/>
                  <a:gd name="connsiteY2" fmla="*/ 0 h 485092"/>
                  <a:gd name="connsiteX3" fmla="*/ 0 w 973084"/>
                  <a:gd name="connsiteY3" fmla="*/ 175184 h 485092"/>
                  <a:gd name="connsiteX4" fmla="*/ 0 w 973084"/>
                  <a:gd name="connsiteY4" fmla="*/ 187656 h 485092"/>
                  <a:gd name="connsiteX5" fmla="*/ 0 w 973084"/>
                  <a:gd name="connsiteY5" fmla="*/ 212744 h 485092"/>
                  <a:gd name="connsiteX6" fmla="*/ 0 w 973084"/>
                  <a:gd name="connsiteY6" fmla="*/ 485092 h 485092"/>
                  <a:gd name="connsiteX7" fmla="*/ 56848 w 973084"/>
                  <a:gd name="connsiteY7" fmla="*/ 485092 h 485092"/>
                  <a:gd name="connsiteX8" fmla="*/ 56848 w 973084"/>
                  <a:gd name="connsiteY8" fmla="*/ 188671 h 485092"/>
                  <a:gd name="connsiteX9" fmla="*/ 193747 w 973084"/>
                  <a:gd name="connsiteY9" fmla="*/ 56848 h 485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084" h="485092">
                    <a:moveTo>
                      <a:pt x="973085" y="56848"/>
                    </a:moveTo>
                    <a:lnTo>
                      <a:pt x="973085" y="0"/>
                    </a:lnTo>
                    <a:lnTo>
                      <a:pt x="181420" y="0"/>
                    </a:lnTo>
                    <a:lnTo>
                      <a:pt x="0" y="175184"/>
                    </a:lnTo>
                    <a:lnTo>
                      <a:pt x="0" y="187656"/>
                    </a:lnTo>
                    <a:lnTo>
                      <a:pt x="0" y="212744"/>
                    </a:lnTo>
                    <a:lnTo>
                      <a:pt x="0" y="485092"/>
                    </a:lnTo>
                    <a:lnTo>
                      <a:pt x="56848" y="485092"/>
                    </a:lnTo>
                    <a:lnTo>
                      <a:pt x="56848" y="188671"/>
                    </a:lnTo>
                    <a:lnTo>
                      <a:pt x="193747" y="56848"/>
                    </a:lnTo>
                    <a:close/>
                  </a:path>
                </a:pathLst>
              </a:custGeom>
              <a:gradFill flip="none" rotWithShape="1">
                <a:gsLst>
                  <a:gs pos="100000">
                    <a:schemeClr val="accent1"/>
                  </a:gs>
                  <a:gs pos="0">
                    <a:schemeClr val="accent2">
                      <a:lumMod val="60000"/>
                      <a:lumOff val="40000"/>
                    </a:schemeClr>
                  </a:gs>
                  <a:gs pos="47000">
                    <a:schemeClr val="accent2"/>
                  </a:gs>
                </a:gsLst>
                <a:lin ang="540000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24" name="任意多边形: 形状 23" descr="82794117-b966-4b1f-a5a3-c593eb1fd8a3">
                <a:extLst>
                  <a:ext uri="{FF2B5EF4-FFF2-40B4-BE49-F238E27FC236}">
                    <a16:creationId xmlns:a16="http://schemas.microsoft.com/office/drawing/2014/main" id="{5A8B756A-F527-7185-A526-F0D3A2AD4B2B}"/>
                  </a:ext>
                </a:extLst>
              </p:cNvPr>
              <p:cNvSpPr/>
              <p:nvPr/>
            </p:nvSpPr>
            <p:spPr>
              <a:xfrm>
                <a:off x="5756189" y="2740513"/>
                <a:ext cx="253631" cy="147127"/>
              </a:xfrm>
              <a:custGeom>
                <a:avLst/>
                <a:gdLst>
                  <a:gd name="connsiteX0" fmla="*/ 0 w 398225"/>
                  <a:gd name="connsiteY0" fmla="*/ 56848 h 293955"/>
                  <a:gd name="connsiteX1" fmla="*/ 0 w 398225"/>
                  <a:gd name="connsiteY1" fmla="*/ 0 h 293955"/>
                  <a:gd name="connsiteX2" fmla="*/ 216805 w 398225"/>
                  <a:gd name="connsiteY2" fmla="*/ 0 h 293955"/>
                  <a:gd name="connsiteX3" fmla="*/ 398225 w 398225"/>
                  <a:gd name="connsiteY3" fmla="*/ 175184 h 293955"/>
                  <a:gd name="connsiteX4" fmla="*/ 398225 w 398225"/>
                  <a:gd name="connsiteY4" fmla="*/ 187656 h 293955"/>
                  <a:gd name="connsiteX5" fmla="*/ 398225 w 398225"/>
                  <a:gd name="connsiteY5" fmla="*/ 212599 h 293955"/>
                  <a:gd name="connsiteX6" fmla="*/ 398225 w 398225"/>
                  <a:gd name="connsiteY6" fmla="*/ 293956 h 293955"/>
                  <a:gd name="connsiteX7" fmla="*/ 341377 w 398225"/>
                  <a:gd name="connsiteY7" fmla="*/ 293956 h 293955"/>
                  <a:gd name="connsiteX8" fmla="*/ 341377 w 398225"/>
                  <a:gd name="connsiteY8" fmla="*/ 188671 h 293955"/>
                  <a:gd name="connsiteX9" fmla="*/ 204478 w 398225"/>
                  <a:gd name="connsiteY9" fmla="*/ 56848 h 293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225" h="293955">
                    <a:moveTo>
                      <a:pt x="0" y="56848"/>
                    </a:moveTo>
                    <a:lnTo>
                      <a:pt x="0" y="0"/>
                    </a:lnTo>
                    <a:lnTo>
                      <a:pt x="216805" y="0"/>
                    </a:lnTo>
                    <a:lnTo>
                      <a:pt x="398225" y="175184"/>
                    </a:lnTo>
                    <a:lnTo>
                      <a:pt x="398225" y="187656"/>
                    </a:lnTo>
                    <a:lnTo>
                      <a:pt x="398225" y="212599"/>
                    </a:lnTo>
                    <a:lnTo>
                      <a:pt x="398225" y="293956"/>
                    </a:lnTo>
                    <a:lnTo>
                      <a:pt x="341377" y="293956"/>
                    </a:lnTo>
                    <a:lnTo>
                      <a:pt x="341377" y="188671"/>
                    </a:lnTo>
                    <a:lnTo>
                      <a:pt x="204478" y="56848"/>
                    </a:lnTo>
                    <a:close/>
                  </a:path>
                </a:pathLst>
              </a:custGeom>
              <a:gradFill flip="none" rotWithShape="1">
                <a:gsLst>
                  <a:gs pos="0">
                    <a:schemeClr val="accent2">
                      <a:lumMod val="60000"/>
                      <a:lumOff val="40000"/>
                    </a:schemeClr>
                  </a:gs>
                  <a:gs pos="45000">
                    <a:schemeClr val="accent2"/>
                  </a:gs>
                  <a:gs pos="100000">
                    <a:schemeClr val="accent1"/>
                  </a:gs>
                </a:gsLst>
                <a:lin ang="540000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grpSp>
            <p:nvGrpSpPr>
              <p:cNvPr id="40" name="组合 39" descr="78a45605-389a-4a67-9c79-e721eaecb533">
                <a:extLst>
                  <a:ext uri="{FF2B5EF4-FFF2-40B4-BE49-F238E27FC236}">
                    <a16:creationId xmlns:a16="http://schemas.microsoft.com/office/drawing/2014/main" id="{F2F8B13C-A4D6-7C1D-447A-DF6DB803DFCA}"/>
                  </a:ext>
                </a:extLst>
              </p:cNvPr>
              <p:cNvGrpSpPr/>
              <p:nvPr/>
            </p:nvGrpSpPr>
            <p:grpSpPr>
              <a:xfrm>
                <a:off x="3412183" y="2607177"/>
                <a:ext cx="2583875" cy="3363169"/>
                <a:chOff x="3412183" y="2607177"/>
                <a:chExt cx="2583875" cy="3363169"/>
              </a:xfrm>
            </p:grpSpPr>
            <p:sp>
              <p:nvSpPr>
                <p:cNvPr id="19" name="ComponentBackground2" descr="0cb13756-92a5-4ca1-9d1c-b51dbc5992a6">
                  <a:extLst>
                    <a:ext uri="{FF2B5EF4-FFF2-40B4-BE49-F238E27FC236}">
                      <a16:creationId xmlns:a16="http://schemas.microsoft.com/office/drawing/2014/main" id="{C9B2AFB9-1A08-0B2C-A4B2-F0AF176ADA58}"/>
                    </a:ext>
                  </a:extLst>
                </p:cNvPr>
                <p:cNvSpPr/>
                <p:nvPr/>
              </p:nvSpPr>
              <p:spPr>
                <a:xfrm>
                  <a:off x="3412183" y="2607177"/>
                  <a:ext cx="2583875" cy="3284095"/>
                </a:xfrm>
                <a:custGeom>
                  <a:avLst/>
                  <a:gdLst>
                    <a:gd name="connsiteX0" fmla="*/ 113736 w 2653684"/>
                    <a:gd name="connsiteY0" fmla="*/ 0 h 3372822"/>
                    <a:gd name="connsiteX1" fmla="*/ 1415393 w 2653684"/>
                    <a:gd name="connsiteY1" fmla="*/ 0 h 3372822"/>
                    <a:gd name="connsiteX2" fmla="*/ 1585950 w 2653684"/>
                    <a:gd name="connsiteY2" fmla="*/ 153935 h 3372822"/>
                    <a:gd name="connsiteX3" fmla="*/ 2540044 w 2653684"/>
                    <a:gd name="connsiteY3" fmla="*/ 153935 h 3372822"/>
                    <a:gd name="connsiteX4" fmla="*/ 2653684 w 2653684"/>
                    <a:gd name="connsiteY4" fmla="*/ 233400 h 3372822"/>
                    <a:gd name="connsiteX5" fmla="*/ 2653684 w 2653684"/>
                    <a:gd name="connsiteY5" fmla="*/ 1207219 h 3372822"/>
                    <a:gd name="connsiteX6" fmla="*/ 2653684 w 2653684"/>
                    <a:gd name="connsiteY6" fmla="*/ 2319538 h 3372822"/>
                    <a:gd name="connsiteX7" fmla="*/ 2653684 w 2653684"/>
                    <a:gd name="connsiteY7" fmla="*/ 3293357 h 3372822"/>
                    <a:gd name="connsiteX8" fmla="*/ 2552659 w 2653684"/>
                    <a:gd name="connsiteY8" fmla="*/ 3372822 h 3372822"/>
                    <a:gd name="connsiteX9" fmla="*/ 107381 w 2653684"/>
                    <a:gd name="connsiteY9" fmla="*/ 3372822 h 3372822"/>
                    <a:gd name="connsiteX10" fmla="*/ 0 w 2653684"/>
                    <a:gd name="connsiteY10" fmla="*/ 3288362 h 3372822"/>
                    <a:gd name="connsiteX11" fmla="*/ 0 w 2653684"/>
                    <a:gd name="connsiteY11" fmla="*/ 2314543 h 3372822"/>
                    <a:gd name="connsiteX12" fmla="*/ 0 w 2653684"/>
                    <a:gd name="connsiteY12" fmla="*/ 1053284 h 3372822"/>
                    <a:gd name="connsiteX13" fmla="*/ 0 w 2653684"/>
                    <a:gd name="connsiteY13" fmla="*/ 79465 h 337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53684" h="3372822">
                      <a:moveTo>
                        <a:pt x="113736" y="0"/>
                      </a:moveTo>
                      <a:lnTo>
                        <a:pt x="1415393" y="0"/>
                      </a:lnTo>
                      <a:lnTo>
                        <a:pt x="1585950" y="153935"/>
                      </a:lnTo>
                      <a:lnTo>
                        <a:pt x="2540044" y="153935"/>
                      </a:lnTo>
                      <a:lnTo>
                        <a:pt x="2653684" y="233400"/>
                      </a:lnTo>
                      <a:lnTo>
                        <a:pt x="2653684" y="1207219"/>
                      </a:lnTo>
                      <a:lnTo>
                        <a:pt x="2653684" y="2319538"/>
                      </a:lnTo>
                      <a:lnTo>
                        <a:pt x="2653684" y="3293357"/>
                      </a:lnTo>
                      <a:lnTo>
                        <a:pt x="2552659" y="3372822"/>
                      </a:lnTo>
                      <a:lnTo>
                        <a:pt x="107381" y="3372822"/>
                      </a:lnTo>
                      <a:lnTo>
                        <a:pt x="0" y="3288362"/>
                      </a:lnTo>
                      <a:lnTo>
                        <a:pt x="0" y="2314543"/>
                      </a:lnTo>
                      <a:lnTo>
                        <a:pt x="0" y="1053284"/>
                      </a:lnTo>
                      <a:lnTo>
                        <a:pt x="0" y="79465"/>
                      </a:lnTo>
                      <a:close/>
                    </a:path>
                  </a:pathLst>
                </a:custGeom>
                <a:gradFill>
                  <a:gsLst>
                    <a:gs pos="0">
                      <a:schemeClr val="accent1">
                        <a:alpha val="30000"/>
                      </a:schemeClr>
                    </a:gs>
                    <a:gs pos="88000">
                      <a:schemeClr val="accent1">
                        <a:alpha val="0"/>
                      </a:schemeClr>
                    </a:gs>
                  </a:gsLst>
                  <a:lin ang="5400000" scaled="0"/>
                </a:gradFill>
                <a:ln w="3030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18" name="Number2" descr="32b568f4-ce9b-4f6b-b116-7b865c01c48c">
                  <a:extLst>
                    <a:ext uri="{FF2B5EF4-FFF2-40B4-BE49-F238E27FC236}">
                      <a16:creationId xmlns:a16="http://schemas.microsoft.com/office/drawing/2014/main" id="{D1F8BEA5-C55C-152B-8316-BF37475B65D9}"/>
                    </a:ext>
                  </a:extLst>
                </p:cNvPr>
                <p:cNvSpPr/>
                <p:nvPr/>
              </p:nvSpPr>
              <p:spPr>
                <a:xfrm>
                  <a:off x="4217234" y="2908570"/>
                  <a:ext cx="975251" cy="823705"/>
                </a:xfrm>
                <a:prstGeom prst="rect">
                  <a:avLst/>
                </a:prstGeom>
                <a:noFill/>
              </p:spPr>
              <p:txBody>
                <a:bodyPr wrap="none" lIns="91440" tIns="45720" rIns="91440" bIns="45720" rtlCol="0" anchor="b" anchorCtr="0">
                  <a:normAutofit fontScale="92500" lnSpcReduction="20000"/>
                </a:bodyPr>
                <a:lstStyle/>
                <a:p>
                  <a:pPr algn="ctr">
                    <a:lnSpc>
                      <a:spcPct val="108000"/>
                    </a:lnSpc>
                  </a:pPr>
                  <a:r>
                    <a:rPr lang="en-US" sz="5400" b="1" i="1" u="none">
                      <a:solidFill>
                        <a:srgbClr val="000000"/>
                      </a:solidFill>
                      <a:latin typeface="Arial"/>
                    </a:rPr>
                    <a:t>2</a:t>
                  </a:r>
                </a:p>
              </p:txBody>
            </p:sp>
            <p:sp>
              <p:nvSpPr>
                <p:cNvPr id="50" name="Bullet2" descr="38038ff9-18e8-469f-9de3-74a69e64383b">
                  <a:extLst>
                    <a:ext uri="{FF2B5EF4-FFF2-40B4-BE49-F238E27FC236}">
                      <a16:creationId xmlns:a16="http://schemas.microsoft.com/office/drawing/2014/main" id="{779D013B-B2B6-C4A0-1734-347F1708D776}"/>
                    </a:ext>
                  </a:extLst>
                </p:cNvPr>
                <p:cNvSpPr txBox="1">
                  <a:spLocks/>
                </p:cNvSpPr>
                <p:nvPr/>
              </p:nvSpPr>
              <p:spPr>
                <a:xfrm>
                  <a:off x="3484203" y="3801006"/>
                  <a:ext cx="2449859" cy="778648"/>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2000" b="1" i="0" u="none" strike="noStrike">
                      <a:solidFill>
                        <a:srgbClr val="000000"/>
                      </a:solidFill>
                      <a:ea typeface="微软雅黑"/>
                    </a:rPr>
                    <a:t>流批一体计算引擎</a:t>
                  </a:r>
                </a:p>
              </p:txBody>
            </p:sp>
            <p:sp>
              <p:nvSpPr>
                <p:cNvPr id="51" name="Text2" descr="f1b0006a-ce75-4596-9fb9-6e8a893fa51f">
                  <a:extLst>
                    <a:ext uri="{FF2B5EF4-FFF2-40B4-BE49-F238E27FC236}">
                      <a16:creationId xmlns:a16="http://schemas.microsoft.com/office/drawing/2014/main" id="{CB3AAEC1-F3D1-16E3-A097-A71598C37F76}"/>
                    </a:ext>
                  </a:extLst>
                </p:cNvPr>
                <p:cNvSpPr txBox="1">
                  <a:spLocks/>
                </p:cNvSpPr>
                <p:nvPr/>
              </p:nvSpPr>
              <p:spPr>
                <a:xfrm>
                  <a:off x="3484204" y="4694053"/>
                  <a:ext cx="2449859" cy="1276293"/>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如Flink、Spark，支持实时与离线特征计算，满足不同场景下对特征计算时效性的需求</a:t>
                  </a:r>
                  <a:r>
                    <a:rPr lang="en-US" sz="1600" b="0" i="0" u="none" strike="noStrike" dirty="0">
                      <a:solidFill>
                        <a:srgbClr val="000000"/>
                      </a:solidFill>
                      <a:ea typeface="微软雅黑"/>
                    </a:rPr>
                    <a:t>。</a:t>
                  </a:r>
                </a:p>
              </p:txBody>
            </p:sp>
          </p:grpSp>
        </p:grpSp>
        <p:grpSp>
          <p:nvGrpSpPr>
            <p:cNvPr id="44" name="组合 43" descr="5f31a171-cb97-498d-988e-a9d78cb1cc2e">
              <a:extLst>
                <a:ext uri="{FF2B5EF4-FFF2-40B4-BE49-F238E27FC236}">
                  <a16:creationId xmlns:a16="http://schemas.microsoft.com/office/drawing/2014/main" id="{62BEB98F-A937-9DFE-175F-71BC13FAF845}"/>
                </a:ext>
              </a:extLst>
            </p:cNvPr>
            <p:cNvGrpSpPr/>
            <p:nvPr/>
          </p:nvGrpSpPr>
          <p:grpSpPr>
            <a:xfrm>
              <a:off x="6169482" y="2596435"/>
              <a:ext cx="2609921" cy="3373911"/>
              <a:chOff x="6169482" y="2596435"/>
              <a:chExt cx="2609921" cy="3373911"/>
            </a:xfrm>
          </p:grpSpPr>
          <p:sp>
            <p:nvSpPr>
              <p:cNvPr id="100" name="任意多边形: 形状 99" descr="07433e58-15db-4974-904a-809bb8bd8c99">
                <a:extLst>
                  <a:ext uri="{FF2B5EF4-FFF2-40B4-BE49-F238E27FC236}">
                    <a16:creationId xmlns:a16="http://schemas.microsoft.com/office/drawing/2014/main" id="{9891539B-9531-02AB-1E6B-FDEFAA578FB8}"/>
                  </a:ext>
                </a:extLst>
              </p:cNvPr>
              <p:cNvSpPr/>
              <p:nvPr/>
            </p:nvSpPr>
            <p:spPr>
              <a:xfrm flipH="1">
                <a:off x="6175485" y="2601153"/>
                <a:ext cx="2597914" cy="2347869"/>
              </a:xfrm>
              <a:custGeom>
                <a:avLst/>
                <a:gdLst>
                  <a:gd name="connsiteX0" fmla="*/ 181130 w 4078981"/>
                  <a:gd name="connsiteY0" fmla="*/ 37996 h 4690964"/>
                  <a:gd name="connsiteX1" fmla="*/ 37995 w 4078981"/>
                  <a:gd name="connsiteY1" fmla="*/ 176199 h 4690964"/>
                  <a:gd name="connsiteX2" fmla="*/ 37995 w 4078981"/>
                  <a:gd name="connsiteY2" fmla="*/ 370671 h 4690964"/>
                  <a:gd name="connsiteX3" fmla="*/ 38140 w 4078981"/>
                  <a:gd name="connsiteY3" fmla="*/ 370671 h 4690964"/>
                  <a:gd name="connsiteX4" fmla="*/ 38140 w 4078981"/>
                  <a:gd name="connsiteY4" fmla="*/ 4308547 h 4690964"/>
                  <a:gd name="connsiteX5" fmla="*/ 37995 w 4078981"/>
                  <a:gd name="connsiteY5" fmla="*/ 4308547 h 4690964"/>
                  <a:gd name="connsiteX6" fmla="*/ 37995 w 4078981"/>
                  <a:gd name="connsiteY6" fmla="*/ 4509690 h 4690964"/>
                  <a:gd name="connsiteX7" fmla="*/ 176199 w 4078981"/>
                  <a:gd name="connsiteY7" fmla="*/ 4652824 h 4690964"/>
                  <a:gd name="connsiteX8" fmla="*/ 351964 w 4078981"/>
                  <a:gd name="connsiteY8" fmla="*/ 4652824 h 4690964"/>
                  <a:gd name="connsiteX9" fmla="*/ 362840 w 4078981"/>
                  <a:gd name="connsiteY9" fmla="*/ 4652824 h 4690964"/>
                  <a:gd name="connsiteX10" fmla="*/ 3753700 w 4078981"/>
                  <a:gd name="connsiteY10" fmla="*/ 4652824 h 4690964"/>
                  <a:gd name="connsiteX11" fmla="*/ 3759211 w 4078981"/>
                  <a:gd name="connsiteY11" fmla="*/ 4652824 h 4690964"/>
                  <a:gd name="connsiteX12" fmla="*/ 3902781 w 4078981"/>
                  <a:gd name="connsiteY12" fmla="*/ 4652824 h 4690964"/>
                  <a:gd name="connsiteX13" fmla="*/ 4040840 w 4078981"/>
                  <a:gd name="connsiteY13" fmla="*/ 4509690 h 4690964"/>
                  <a:gd name="connsiteX14" fmla="*/ 4040840 w 4078981"/>
                  <a:gd name="connsiteY14" fmla="*/ 4346107 h 4690964"/>
                  <a:gd name="connsiteX15" fmla="*/ 4040840 w 4078981"/>
                  <a:gd name="connsiteY15" fmla="*/ 4317248 h 4690964"/>
                  <a:gd name="connsiteX16" fmla="*/ 4040840 w 4078981"/>
                  <a:gd name="connsiteY16" fmla="*/ 633449 h 4690964"/>
                  <a:gd name="connsiteX17" fmla="*/ 4040841 w 4078981"/>
                  <a:gd name="connsiteY17" fmla="*/ 633449 h 4690964"/>
                  <a:gd name="connsiteX18" fmla="*/ 4040841 w 4078981"/>
                  <a:gd name="connsiteY18" fmla="*/ 463920 h 4690964"/>
                  <a:gd name="connsiteX19" fmla="*/ 3897706 w 4078981"/>
                  <a:gd name="connsiteY19" fmla="*/ 325861 h 4690964"/>
                  <a:gd name="connsiteX20" fmla="*/ 3751380 w 4078981"/>
                  <a:gd name="connsiteY20" fmla="*/ 325861 h 4690964"/>
                  <a:gd name="connsiteX21" fmla="*/ 3742824 w 4078981"/>
                  <a:gd name="connsiteY21" fmla="*/ 325861 h 4690964"/>
                  <a:gd name="connsiteX22" fmla="*/ 2411975 w 4078981"/>
                  <a:gd name="connsiteY22" fmla="*/ 325861 h 4690964"/>
                  <a:gd name="connsiteX23" fmla="*/ 2161815 w 4078981"/>
                  <a:gd name="connsiteY23" fmla="*/ 37996 h 4690964"/>
                  <a:gd name="connsiteX24" fmla="*/ 175184 w 4078981"/>
                  <a:gd name="connsiteY24" fmla="*/ 0 h 4690964"/>
                  <a:gd name="connsiteX25" fmla="*/ 2192269 w 4078981"/>
                  <a:gd name="connsiteY25" fmla="*/ 0 h 4690964"/>
                  <a:gd name="connsiteX26" fmla="*/ 2443299 w 4078981"/>
                  <a:gd name="connsiteY26" fmla="*/ 287720 h 4690964"/>
                  <a:gd name="connsiteX27" fmla="*/ 3742824 w 4078981"/>
                  <a:gd name="connsiteY27" fmla="*/ 287720 h 4690964"/>
                  <a:gd name="connsiteX28" fmla="*/ 3751380 w 4078981"/>
                  <a:gd name="connsiteY28" fmla="*/ 287720 h 4690964"/>
                  <a:gd name="connsiteX29" fmla="*/ 3903796 w 4078981"/>
                  <a:gd name="connsiteY29" fmla="*/ 287720 h 4690964"/>
                  <a:gd name="connsiteX30" fmla="*/ 4078981 w 4078981"/>
                  <a:gd name="connsiteY30" fmla="*/ 456668 h 4690964"/>
                  <a:gd name="connsiteX31" fmla="*/ 4078981 w 4078981"/>
                  <a:gd name="connsiteY31" fmla="*/ 469140 h 4690964"/>
                  <a:gd name="connsiteX32" fmla="*/ 4078981 w 4078981"/>
                  <a:gd name="connsiteY32" fmla="*/ 494229 h 4690964"/>
                  <a:gd name="connsiteX33" fmla="*/ 4078981 w 4078981"/>
                  <a:gd name="connsiteY33" fmla="*/ 650706 h 4690964"/>
                  <a:gd name="connsiteX34" fmla="*/ 4078980 w 4078981"/>
                  <a:gd name="connsiteY34" fmla="*/ 650706 h 4690964"/>
                  <a:gd name="connsiteX35" fmla="*/ 4078980 w 4078981"/>
                  <a:gd name="connsiteY35" fmla="*/ 4317248 h 4690964"/>
                  <a:gd name="connsiteX36" fmla="*/ 4078980 w 4078981"/>
                  <a:gd name="connsiteY36" fmla="*/ 4346107 h 4690964"/>
                  <a:gd name="connsiteX37" fmla="*/ 4078980 w 4078981"/>
                  <a:gd name="connsiteY37" fmla="*/ 4515635 h 4690964"/>
                  <a:gd name="connsiteX38" fmla="*/ 3910032 w 4078981"/>
                  <a:gd name="connsiteY38" fmla="*/ 4690819 h 4690964"/>
                  <a:gd name="connsiteX39" fmla="*/ 3897560 w 4078981"/>
                  <a:gd name="connsiteY39" fmla="*/ 4690819 h 4690964"/>
                  <a:gd name="connsiteX40" fmla="*/ 3872472 w 4078981"/>
                  <a:gd name="connsiteY40" fmla="*/ 4690819 h 4690964"/>
                  <a:gd name="connsiteX41" fmla="*/ 3759211 w 4078981"/>
                  <a:gd name="connsiteY41" fmla="*/ 4690819 h 4690964"/>
                  <a:gd name="connsiteX42" fmla="*/ 3759211 w 4078981"/>
                  <a:gd name="connsiteY42" fmla="*/ 4690964 h 4690964"/>
                  <a:gd name="connsiteX43" fmla="*/ 351964 w 4078981"/>
                  <a:gd name="connsiteY43" fmla="*/ 4690964 h 4690964"/>
                  <a:gd name="connsiteX44" fmla="*/ 351964 w 4078981"/>
                  <a:gd name="connsiteY44" fmla="*/ 4690820 h 4690964"/>
                  <a:gd name="connsiteX45" fmla="*/ 206364 w 4078981"/>
                  <a:gd name="connsiteY45" fmla="*/ 4690820 h 4690964"/>
                  <a:gd name="connsiteX46" fmla="*/ 181420 w 4078981"/>
                  <a:gd name="connsiteY46" fmla="*/ 4690820 h 4690964"/>
                  <a:gd name="connsiteX47" fmla="*/ 168948 w 4078981"/>
                  <a:gd name="connsiteY47" fmla="*/ 4690820 h 4690964"/>
                  <a:gd name="connsiteX48" fmla="*/ 0 w 4078981"/>
                  <a:gd name="connsiteY48" fmla="*/ 4515636 h 4690964"/>
                  <a:gd name="connsiteX49" fmla="*/ 0 w 4078981"/>
                  <a:gd name="connsiteY49" fmla="*/ 4308547 h 4690964"/>
                  <a:gd name="connsiteX50" fmla="*/ 0 w 4078981"/>
                  <a:gd name="connsiteY50" fmla="*/ 4279688 h 4690964"/>
                  <a:gd name="connsiteX51" fmla="*/ 0 w 4078981"/>
                  <a:gd name="connsiteY51" fmla="*/ 400401 h 4690964"/>
                  <a:gd name="connsiteX52" fmla="*/ 0 w 4078981"/>
                  <a:gd name="connsiteY52" fmla="*/ 370671 h 4690964"/>
                  <a:gd name="connsiteX53" fmla="*/ 0 w 4078981"/>
                  <a:gd name="connsiteY53" fmla="*/ 206364 h 4690964"/>
                  <a:gd name="connsiteX54" fmla="*/ 0 w 4078981"/>
                  <a:gd name="connsiteY54" fmla="*/ 181420 h 4690964"/>
                  <a:gd name="connsiteX55" fmla="*/ 0 w 4078981"/>
                  <a:gd name="connsiteY55" fmla="*/ 168948 h 469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078981" h="4690964">
                    <a:moveTo>
                      <a:pt x="181130" y="37996"/>
                    </a:moveTo>
                    <a:lnTo>
                      <a:pt x="37995" y="176199"/>
                    </a:lnTo>
                    <a:lnTo>
                      <a:pt x="37995" y="370671"/>
                    </a:lnTo>
                    <a:lnTo>
                      <a:pt x="38140" y="370671"/>
                    </a:lnTo>
                    <a:lnTo>
                      <a:pt x="38140" y="4308547"/>
                    </a:lnTo>
                    <a:lnTo>
                      <a:pt x="37995" y="4308547"/>
                    </a:lnTo>
                    <a:lnTo>
                      <a:pt x="37995" y="4509690"/>
                    </a:lnTo>
                    <a:lnTo>
                      <a:pt x="176199" y="4652824"/>
                    </a:lnTo>
                    <a:lnTo>
                      <a:pt x="351964" y="4652824"/>
                    </a:lnTo>
                    <a:lnTo>
                      <a:pt x="362840" y="4652824"/>
                    </a:lnTo>
                    <a:lnTo>
                      <a:pt x="3753700" y="4652824"/>
                    </a:lnTo>
                    <a:lnTo>
                      <a:pt x="3759211" y="4652824"/>
                    </a:lnTo>
                    <a:lnTo>
                      <a:pt x="3902781" y="4652824"/>
                    </a:lnTo>
                    <a:lnTo>
                      <a:pt x="4040840" y="4509690"/>
                    </a:lnTo>
                    <a:lnTo>
                      <a:pt x="4040840" y="4346107"/>
                    </a:lnTo>
                    <a:lnTo>
                      <a:pt x="4040840" y="4317248"/>
                    </a:lnTo>
                    <a:lnTo>
                      <a:pt x="4040840" y="633449"/>
                    </a:lnTo>
                    <a:lnTo>
                      <a:pt x="4040841" y="633449"/>
                    </a:lnTo>
                    <a:lnTo>
                      <a:pt x="4040841" y="463920"/>
                    </a:lnTo>
                    <a:lnTo>
                      <a:pt x="3897706" y="325861"/>
                    </a:lnTo>
                    <a:lnTo>
                      <a:pt x="3751380" y="325861"/>
                    </a:lnTo>
                    <a:lnTo>
                      <a:pt x="3742824" y="325861"/>
                    </a:lnTo>
                    <a:lnTo>
                      <a:pt x="2411975" y="325861"/>
                    </a:lnTo>
                    <a:lnTo>
                      <a:pt x="2161815" y="37996"/>
                    </a:lnTo>
                    <a:close/>
                    <a:moveTo>
                      <a:pt x="175184" y="0"/>
                    </a:moveTo>
                    <a:lnTo>
                      <a:pt x="2192269" y="0"/>
                    </a:lnTo>
                    <a:lnTo>
                      <a:pt x="2443299" y="287720"/>
                    </a:lnTo>
                    <a:lnTo>
                      <a:pt x="3742824" y="287720"/>
                    </a:lnTo>
                    <a:lnTo>
                      <a:pt x="3751380" y="287720"/>
                    </a:lnTo>
                    <a:lnTo>
                      <a:pt x="3903796" y="287720"/>
                    </a:lnTo>
                    <a:lnTo>
                      <a:pt x="4078981" y="456668"/>
                    </a:lnTo>
                    <a:lnTo>
                      <a:pt x="4078981" y="469140"/>
                    </a:lnTo>
                    <a:lnTo>
                      <a:pt x="4078981" y="494229"/>
                    </a:lnTo>
                    <a:lnTo>
                      <a:pt x="4078981" y="650706"/>
                    </a:lnTo>
                    <a:lnTo>
                      <a:pt x="4078980" y="650706"/>
                    </a:lnTo>
                    <a:lnTo>
                      <a:pt x="4078980" y="4317248"/>
                    </a:lnTo>
                    <a:lnTo>
                      <a:pt x="4078980" y="4346107"/>
                    </a:lnTo>
                    <a:lnTo>
                      <a:pt x="4078980" y="4515635"/>
                    </a:lnTo>
                    <a:lnTo>
                      <a:pt x="3910032" y="4690819"/>
                    </a:lnTo>
                    <a:lnTo>
                      <a:pt x="3897560" y="4690819"/>
                    </a:lnTo>
                    <a:lnTo>
                      <a:pt x="3872472" y="4690819"/>
                    </a:lnTo>
                    <a:lnTo>
                      <a:pt x="3759211" y="4690819"/>
                    </a:lnTo>
                    <a:lnTo>
                      <a:pt x="3759211" y="4690964"/>
                    </a:lnTo>
                    <a:lnTo>
                      <a:pt x="351964" y="4690964"/>
                    </a:lnTo>
                    <a:lnTo>
                      <a:pt x="351964" y="4690820"/>
                    </a:lnTo>
                    <a:lnTo>
                      <a:pt x="206364" y="4690820"/>
                    </a:lnTo>
                    <a:lnTo>
                      <a:pt x="181420" y="4690820"/>
                    </a:lnTo>
                    <a:lnTo>
                      <a:pt x="168948" y="4690820"/>
                    </a:lnTo>
                    <a:lnTo>
                      <a:pt x="0" y="4515636"/>
                    </a:lnTo>
                    <a:lnTo>
                      <a:pt x="0" y="4308547"/>
                    </a:lnTo>
                    <a:lnTo>
                      <a:pt x="0" y="4279688"/>
                    </a:lnTo>
                    <a:lnTo>
                      <a:pt x="0" y="400401"/>
                    </a:lnTo>
                    <a:lnTo>
                      <a:pt x="0" y="370671"/>
                    </a:lnTo>
                    <a:lnTo>
                      <a:pt x="0" y="206364"/>
                    </a:lnTo>
                    <a:lnTo>
                      <a:pt x="0" y="181420"/>
                    </a:lnTo>
                    <a:lnTo>
                      <a:pt x="0" y="168948"/>
                    </a:lnTo>
                    <a:close/>
                  </a:path>
                </a:pathLst>
              </a:custGeom>
              <a:gradFill flip="none" rotWithShape="1">
                <a:gsLst>
                  <a:gs pos="0">
                    <a:schemeClr val="accent1"/>
                  </a:gs>
                  <a:gs pos="100000">
                    <a:schemeClr val="accent2">
                      <a:alpha val="0"/>
                    </a:schemeClr>
                  </a:gs>
                </a:gsLst>
                <a:lin ang="540000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101" name="任意多边形: 形状 100" descr="c5b93f00-cdb6-4b2a-a18e-d650649a9e0c">
                <a:extLst>
                  <a:ext uri="{FF2B5EF4-FFF2-40B4-BE49-F238E27FC236}">
                    <a16:creationId xmlns:a16="http://schemas.microsoft.com/office/drawing/2014/main" id="{7C34AF40-5E97-8E52-75F6-7D23FBBD4D87}"/>
                  </a:ext>
                </a:extLst>
              </p:cNvPr>
              <p:cNvSpPr/>
              <p:nvPr/>
            </p:nvSpPr>
            <p:spPr>
              <a:xfrm flipH="1">
                <a:off x="7848653" y="2652324"/>
                <a:ext cx="863693" cy="95157"/>
              </a:xfrm>
              <a:custGeom>
                <a:avLst/>
                <a:gdLst>
                  <a:gd name="connsiteX0" fmla="*/ 221446 w 1356083"/>
                  <a:gd name="connsiteY0" fmla="*/ 0 h 190121"/>
                  <a:gd name="connsiteX1" fmla="*/ 226087 w 1356083"/>
                  <a:gd name="connsiteY1" fmla="*/ 0 h 190121"/>
                  <a:gd name="connsiteX2" fmla="*/ 237833 w 1356083"/>
                  <a:gd name="connsiteY2" fmla="*/ 0 h 190121"/>
                  <a:gd name="connsiteX3" fmla="*/ 1356083 w 1356083"/>
                  <a:gd name="connsiteY3" fmla="*/ 0 h 190121"/>
                  <a:gd name="connsiteX4" fmla="*/ 1356083 w 1356083"/>
                  <a:gd name="connsiteY4" fmla="*/ 20738 h 190121"/>
                  <a:gd name="connsiteX5" fmla="*/ 231307 w 1356083"/>
                  <a:gd name="connsiteY5" fmla="*/ 20738 h 190121"/>
                  <a:gd name="connsiteX6" fmla="*/ 142700 w 1356083"/>
                  <a:gd name="connsiteY6" fmla="*/ 106300 h 190121"/>
                  <a:gd name="connsiteX7" fmla="*/ 142700 w 1356083"/>
                  <a:gd name="connsiteY7" fmla="*/ 75410 h 190121"/>
                  <a:gd name="connsiteX8" fmla="*/ 116741 w 1356083"/>
                  <a:gd name="connsiteY8" fmla="*/ 0 h 190121"/>
                  <a:gd name="connsiteX9" fmla="*/ 197082 w 1356083"/>
                  <a:gd name="connsiteY9" fmla="*/ 0 h 190121"/>
                  <a:gd name="connsiteX10" fmla="*/ 0 w 1356083"/>
                  <a:gd name="connsiteY10" fmla="*/ 190121 h 190121"/>
                  <a:gd name="connsiteX11" fmla="*/ 0 w 1356083"/>
                  <a:gd name="connsiteY11" fmla="*/ 109780 h 190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6083" h="190121">
                    <a:moveTo>
                      <a:pt x="221446" y="0"/>
                    </a:moveTo>
                    <a:lnTo>
                      <a:pt x="226087" y="0"/>
                    </a:lnTo>
                    <a:lnTo>
                      <a:pt x="237833" y="0"/>
                    </a:lnTo>
                    <a:lnTo>
                      <a:pt x="1356083" y="0"/>
                    </a:lnTo>
                    <a:lnTo>
                      <a:pt x="1356083" y="20738"/>
                    </a:lnTo>
                    <a:lnTo>
                      <a:pt x="231307" y="20738"/>
                    </a:lnTo>
                    <a:lnTo>
                      <a:pt x="142700" y="106300"/>
                    </a:lnTo>
                    <a:lnTo>
                      <a:pt x="142700" y="75410"/>
                    </a:lnTo>
                    <a:close/>
                    <a:moveTo>
                      <a:pt x="116741" y="0"/>
                    </a:moveTo>
                    <a:lnTo>
                      <a:pt x="197082" y="0"/>
                    </a:lnTo>
                    <a:lnTo>
                      <a:pt x="0" y="190121"/>
                    </a:lnTo>
                    <a:lnTo>
                      <a:pt x="0" y="109780"/>
                    </a:lnTo>
                    <a:close/>
                  </a:path>
                </a:pathLst>
              </a:custGeom>
              <a:gradFill flip="none" rotWithShape="1">
                <a:gsLst>
                  <a:gs pos="0">
                    <a:schemeClr val="accent1"/>
                  </a:gs>
                  <a:gs pos="100000">
                    <a:schemeClr val="accent2"/>
                  </a:gs>
                </a:gsLst>
                <a:lin ang="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102" name="任意多边形: 形状 101" descr="5f8bab08-2732-4b76-8474-34ea2080d409">
                <a:extLst>
                  <a:ext uri="{FF2B5EF4-FFF2-40B4-BE49-F238E27FC236}">
                    <a16:creationId xmlns:a16="http://schemas.microsoft.com/office/drawing/2014/main" id="{38F3AB42-2C9B-EE8F-9A35-4E85FA407A55}"/>
                  </a:ext>
                </a:extLst>
              </p:cNvPr>
              <p:cNvSpPr/>
              <p:nvPr/>
            </p:nvSpPr>
            <p:spPr>
              <a:xfrm flipH="1">
                <a:off x="6526744" y="2647679"/>
                <a:ext cx="750178" cy="76358"/>
              </a:xfrm>
              <a:custGeom>
                <a:avLst/>
                <a:gdLst>
                  <a:gd name="connsiteX0" fmla="*/ 964818 w 1177853"/>
                  <a:gd name="connsiteY0" fmla="*/ 0 h 152561"/>
                  <a:gd name="connsiteX1" fmla="*/ 1041099 w 1177853"/>
                  <a:gd name="connsiteY1" fmla="*/ 0 h 152561"/>
                  <a:gd name="connsiteX2" fmla="*/ 1177853 w 1177853"/>
                  <a:gd name="connsiteY2" fmla="*/ 152561 h 152561"/>
                  <a:gd name="connsiteX3" fmla="*/ 1101572 w 1177853"/>
                  <a:gd name="connsiteY3" fmla="*/ 152561 h 152561"/>
                  <a:gd name="connsiteX4" fmla="*/ 827484 w 1177853"/>
                  <a:gd name="connsiteY4" fmla="*/ 0 h 152561"/>
                  <a:gd name="connsiteX5" fmla="*/ 903765 w 1177853"/>
                  <a:gd name="connsiteY5" fmla="*/ 0 h 152561"/>
                  <a:gd name="connsiteX6" fmla="*/ 1040664 w 1177853"/>
                  <a:gd name="connsiteY6" fmla="*/ 152561 h 152561"/>
                  <a:gd name="connsiteX7" fmla="*/ 964383 w 1177853"/>
                  <a:gd name="connsiteY7" fmla="*/ 152561 h 152561"/>
                  <a:gd name="connsiteX8" fmla="*/ 690295 w 1177853"/>
                  <a:gd name="connsiteY8" fmla="*/ 0 h 152561"/>
                  <a:gd name="connsiteX9" fmla="*/ 766576 w 1177853"/>
                  <a:gd name="connsiteY9" fmla="*/ 0 h 152561"/>
                  <a:gd name="connsiteX10" fmla="*/ 903475 w 1177853"/>
                  <a:gd name="connsiteY10" fmla="*/ 152561 h 152561"/>
                  <a:gd name="connsiteX11" fmla="*/ 827049 w 1177853"/>
                  <a:gd name="connsiteY11" fmla="*/ 152561 h 152561"/>
                  <a:gd name="connsiteX12" fmla="*/ 553106 w 1177853"/>
                  <a:gd name="connsiteY12" fmla="*/ 0 h 152561"/>
                  <a:gd name="connsiteX13" fmla="*/ 629387 w 1177853"/>
                  <a:gd name="connsiteY13" fmla="*/ 0 h 152561"/>
                  <a:gd name="connsiteX14" fmla="*/ 766141 w 1177853"/>
                  <a:gd name="connsiteY14" fmla="*/ 152561 h 152561"/>
                  <a:gd name="connsiteX15" fmla="*/ 689860 w 1177853"/>
                  <a:gd name="connsiteY15" fmla="*/ 152561 h 152561"/>
                  <a:gd name="connsiteX16" fmla="*/ 415917 w 1177853"/>
                  <a:gd name="connsiteY16" fmla="*/ 0 h 152561"/>
                  <a:gd name="connsiteX17" fmla="*/ 492198 w 1177853"/>
                  <a:gd name="connsiteY17" fmla="*/ 0 h 152561"/>
                  <a:gd name="connsiteX18" fmla="*/ 628951 w 1177853"/>
                  <a:gd name="connsiteY18" fmla="*/ 152561 h 152561"/>
                  <a:gd name="connsiteX19" fmla="*/ 552671 w 1177853"/>
                  <a:gd name="connsiteY19" fmla="*/ 152561 h 152561"/>
                  <a:gd name="connsiteX20" fmla="*/ 0 w 1177853"/>
                  <a:gd name="connsiteY20" fmla="*/ 0 h 152561"/>
                  <a:gd name="connsiteX21" fmla="*/ 352544 w 1177853"/>
                  <a:gd name="connsiteY21" fmla="*/ 0 h 152561"/>
                  <a:gd name="connsiteX22" fmla="*/ 489298 w 1177853"/>
                  <a:gd name="connsiteY22" fmla="*/ 152561 h 152561"/>
                  <a:gd name="connsiteX23" fmla="*/ 136754 w 1177853"/>
                  <a:gd name="connsiteY23" fmla="*/ 152561 h 152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77853" h="152561">
                    <a:moveTo>
                      <a:pt x="964818" y="0"/>
                    </a:moveTo>
                    <a:lnTo>
                      <a:pt x="1041099" y="0"/>
                    </a:lnTo>
                    <a:lnTo>
                      <a:pt x="1177853" y="152561"/>
                    </a:lnTo>
                    <a:lnTo>
                      <a:pt x="1101572" y="152561"/>
                    </a:lnTo>
                    <a:close/>
                    <a:moveTo>
                      <a:pt x="827484" y="0"/>
                    </a:moveTo>
                    <a:lnTo>
                      <a:pt x="903765" y="0"/>
                    </a:lnTo>
                    <a:lnTo>
                      <a:pt x="1040664" y="152561"/>
                    </a:lnTo>
                    <a:lnTo>
                      <a:pt x="964383" y="152561"/>
                    </a:lnTo>
                    <a:close/>
                    <a:moveTo>
                      <a:pt x="690295" y="0"/>
                    </a:moveTo>
                    <a:lnTo>
                      <a:pt x="766576" y="0"/>
                    </a:lnTo>
                    <a:lnTo>
                      <a:pt x="903475" y="152561"/>
                    </a:lnTo>
                    <a:lnTo>
                      <a:pt x="827049" y="152561"/>
                    </a:lnTo>
                    <a:close/>
                    <a:moveTo>
                      <a:pt x="553106" y="0"/>
                    </a:moveTo>
                    <a:lnTo>
                      <a:pt x="629387" y="0"/>
                    </a:lnTo>
                    <a:lnTo>
                      <a:pt x="766141" y="152561"/>
                    </a:lnTo>
                    <a:lnTo>
                      <a:pt x="689860" y="152561"/>
                    </a:lnTo>
                    <a:close/>
                    <a:moveTo>
                      <a:pt x="415917" y="0"/>
                    </a:moveTo>
                    <a:lnTo>
                      <a:pt x="492198" y="0"/>
                    </a:lnTo>
                    <a:lnTo>
                      <a:pt x="628951" y="152561"/>
                    </a:lnTo>
                    <a:lnTo>
                      <a:pt x="552671" y="152561"/>
                    </a:lnTo>
                    <a:close/>
                    <a:moveTo>
                      <a:pt x="0" y="0"/>
                    </a:moveTo>
                    <a:lnTo>
                      <a:pt x="352544" y="0"/>
                    </a:lnTo>
                    <a:lnTo>
                      <a:pt x="489298" y="152561"/>
                    </a:lnTo>
                    <a:lnTo>
                      <a:pt x="136754" y="152561"/>
                    </a:lnTo>
                    <a:close/>
                  </a:path>
                </a:pathLst>
              </a:custGeom>
              <a:gradFill flip="none" rotWithShape="1">
                <a:gsLst>
                  <a:gs pos="0">
                    <a:schemeClr val="accent1"/>
                  </a:gs>
                  <a:gs pos="100000">
                    <a:schemeClr val="accent2"/>
                  </a:gs>
                </a:gsLst>
                <a:lin ang="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103" name="任意多边形: 形状 102" descr="a5a3d915-7f39-4bc3-b8ee-48db116c4b3e">
                <a:extLst>
                  <a:ext uri="{FF2B5EF4-FFF2-40B4-BE49-F238E27FC236}">
                    <a16:creationId xmlns:a16="http://schemas.microsoft.com/office/drawing/2014/main" id="{15D8C8B0-00B2-38E1-E5F4-9A41D8BB3793}"/>
                  </a:ext>
                </a:extLst>
              </p:cNvPr>
              <p:cNvSpPr/>
              <p:nvPr/>
            </p:nvSpPr>
            <p:spPr>
              <a:xfrm flipH="1">
                <a:off x="8159643" y="2596435"/>
                <a:ext cx="619760" cy="242793"/>
              </a:xfrm>
              <a:custGeom>
                <a:avLst/>
                <a:gdLst>
                  <a:gd name="connsiteX0" fmla="*/ 973085 w 973084"/>
                  <a:gd name="connsiteY0" fmla="*/ 56848 h 485092"/>
                  <a:gd name="connsiteX1" fmla="*/ 973085 w 973084"/>
                  <a:gd name="connsiteY1" fmla="*/ 0 h 485092"/>
                  <a:gd name="connsiteX2" fmla="*/ 181420 w 973084"/>
                  <a:gd name="connsiteY2" fmla="*/ 0 h 485092"/>
                  <a:gd name="connsiteX3" fmla="*/ 0 w 973084"/>
                  <a:gd name="connsiteY3" fmla="*/ 175184 h 485092"/>
                  <a:gd name="connsiteX4" fmla="*/ 0 w 973084"/>
                  <a:gd name="connsiteY4" fmla="*/ 187656 h 485092"/>
                  <a:gd name="connsiteX5" fmla="*/ 0 w 973084"/>
                  <a:gd name="connsiteY5" fmla="*/ 212744 h 485092"/>
                  <a:gd name="connsiteX6" fmla="*/ 0 w 973084"/>
                  <a:gd name="connsiteY6" fmla="*/ 485092 h 485092"/>
                  <a:gd name="connsiteX7" fmla="*/ 56848 w 973084"/>
                  <a:gd name="connsiteY7" fmla="*/ 485092 h 485092"/>
                  <a:gd name="connsiteX8" fmla="*/ 56848 w 973084"/>
                  <a:gd name="connsiteY8" fmla="*/ 188671 h 485092"/>
                  <a:gd name="connsiteX9" fmla="*/ 193747 w 973084"/>
                  <a:gd name="connsiteY9" fmla="*/ 56848 h 485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084" h="485092">
                    <a:moveTo>
                      <a:pt x="973085" y="56848"/>
                    </a:moveTo>
                    <a:lnTo>
                      <a:pt x="973085" y="0"/>
                    </a:lnTo>
                    <a:lnTo>
                      <a:pt x="181420" y="0"/>
                    </a:lnTo>
                    <a:lnTo>
                      <a:pt x="0" y="175184"/>
                    </a:lnTo>
                    <a:lnTo>
                      <a:pt x="0" y="187656"/>
                    </a:lnTo>
                    <a:lnTo>
                      <a:pt x="0" y="212744"/>
                    </a:lnTo>
                    <a:lnTo>
                      <a:pt x="0" y="485092"/>
                    </a:lnTo>
                    <a:lnTo>
                      <a:pt x="56848" y="485092"/>
                    </a:lnTo>
                    <a:lnTo>
                      <a:pt x="56848" y="188671"/>
                    </a:lnTo>
                    <a:lnTo>
                      <a:pt x="193747" y="56848"/>
                    </a:lnTo>
                    <a:close/>
                  </a:path>
                </a:pathLst>
              </a:custGeom>
              <a:gradFill flip="none" rotWithShape="1">
                <a:gsLst>
                  <a:gs pos="100000">
                    <a:schemeClr val="accent1"/>
                  </a:gs>
                  <a:gs pos="0">
                    <a:schemeClr val="accent2">
                      <a:lumMod val="60000"/>
                      <a:lumOff val="40000"/>
                    </a:schemeClr>
                  </a:gs>
                  <a:gs pos="47000">
                    <a:schemeClr val="accent2"/>
                  </a:gs>
                </a:gsLst>
                <a:lin ang="540000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104" name="任意多边形: 形状 103" descr="e5f61a33-4086-43cd-8a8f-d2b42c8ffdfd">
                <a:extLst>
                  <a:ext uri="{FF2B5EF4-FFF2-40B4-BE49-F238E27FC236}">
                    <a16:creationId xmlns:a16="http://schemas.microsoft.com/office/drawing/2014/main" id="{A245948D-BF88-E679-B6E8-D1A5F2F68EBC}"/>
                  </a:ext>
                </a:extLst>
              </p:cNvPr>
              <p:cNvSpPr/>
              <p:nvPr/>
            </p:nvSpPr>
            <p:spPr>
              <a:xfrm flipH="1">
                <a:off x="6169482" y="2740513"/>
                <a:ext cx="253631" cy="147127"/>
              </a:xfrm>
              <a:custGeom>
                <a:avLst/>
                <a:gdLst>
                  <a:gd name="connsiteX0" fmla="*/ 0 w 398225"/>
                  <a:gd name="connsiteY0" fmla="*/ 56848 h 293955"/>
                  <a:gd name="connsiteX1" fmla="*/ 0 w 398225"/>
                  <a:gd name="connsiteY1" fmla="*/ 0 h 293955"/>
                  <a:gd name="connsiteX2" fmla="*/ 216805 w 398225"/>
                  <a:gd name="connsiteY2" fmla="*/ 0 h 293955"/>
                  <a:gd name="connsiteX3" fmla="*/ 398225 w 398225"/>
                  <a:gd name="connsiteY3" fmla="*/ 175184 h 293955"/>
                  <a:gd name="connsiteX4" fmla="*/ 398225 w 398225"/>
                  <a:gd name="connsiteY4" fmla="*/ 187656 h 293955"/>
                  <a:gd name="connsiteX5" fmla="*/ 398225 w 398225"/>
                  <a:gd name="connsiteY5" fmla="*/ 212599 h 293955"/>
                  <a:gd name="connsiteX6" fmla="*/ 398225 w 398225"/>
                  <a:gd name="connsiteY6" fmla="*/ 293956 h 293955"/>
                  <a:gd name="connsiteX7" fmla="*/ 341377 w 398225"/>
                  <a:gd name="connsiteY7" fmla="*/ 293956 h 293955"/>
                  <a:gd name="connsiteX8" fmla="*/ 341377 w 398225"/>
                  <a:gd name="connsiteY8" fmla="*/ 188671 h 293955"/>
                  <a:gd name="connsiteX9" fmla="*/ 204478 w 398225"/>
                  <a:gd name="connsiteY9" fmla="*/ 56848 h 293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225" h="293955">
                    <a:moveTo>
                      <a:pt x="0" y="56848"/>
                    </a:moveTo>
                    <a:lnTo>
                      <a:pt x="0" y="0"/>
                    </a:lnTo>
                    <a:lnTo>
                      <a:pt x="216805" y="0"/>
                    </a:lnTo>
                    <a:lnTo>
                      <a:pt x="398225" y="175184"/>
                    </a:lnTo>
                    <a:lnTo>
                      <a:pt x="398225" y="187656"/>
                    </a:lnTo>
                    <a:lnTo>
                      <a:pt x="398225" y="212599"/>
                    </a:lnTo>
                    <a:lnTo>
                      <a:pt x="398225" y="293956"/>
                    </a:lnTo>
                    <a:lnTo>
                      <a:pt x="341377" y="293956"/>
                    </a:lnTo>
                    <a:lnTo>
                      <a:pt x="341377" y="188671"/>
                    </a:lnTo>
                    <a:lnTo>
                      <a:pt x="204478" y="56848"/>
                    </a:lnTo>
                    <a:close/>
                  </a:path>
                </a:pathLst>
              </a:custGeom>
              <a:gradFill flip="none" rotWithShape="1">
                <a:gsLst>
                  <a:gs pos="0">
                    <a:schemeClr val="accent2">
                      <a:lumMod val="60000"/>
                      <a:lumOff val="40000"/>
                    </a:schemeClr>
                  </a:gs>
                  <a:gs pos="45000">
                    <a:schemeClr val="accent2"/>
                  </a:gs>
                  <a:gs pos="100000">
                    <a:schemeClr val="accent1"/>
                  </a:gs>
                </a:gsLst>
                <a:lin ang="540000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grpSp>
            <p:nvGrpSpPr>
              <p:cNvPr id="41" name="组合 40" descr="c4f30dae-2bb6-41f9-960d-691dc2733ed6">
                <a:extLst>
                  <a:ext uri="{FF2B5EF4-FFF2-40B4-BE49-F238E27FC236}">
                    <a16:creationId xmlns:a16="http://schemas.microsoft.com/office/drawing/2014/main" id="{CAE0D825-4CD2-18B2-8C6D-1016B9DF1200}"/>
                  </a:ext>
                </a:extLst>
              </p:cNvPr>
              <p:cNvGrpSpPr/>
              <p:nvPr/>
            </p:nvGrpSpPr>
            <p:grpSpPr>
              <a:xfrm>
                <a:off x="6183244" y="2607177"/>
                <a:ext cx="2583875" cy="3363169"/>
                <a:chOff x="6183244" y="2607177"/>
                <a:chExt cx="2583875" cy="3363169"/>
              </a:xfrm>
            </p:grpSpPr>
            <p:sp>
              <p:nvSpPr>
                <p:cNvPr id="99" name="ComponentBackground3" descr="8b55b414-e558-4218-9609-8fdffa0c0a9c">
                  <a:extLst>
                    <a:ext uri="{FF2B5EF4-FFF2-40B4-BE49-F238E27FC236}">
                      <a16:creationId xmlns:a16="http://schemas.microsoft.com/office/drawing/2014/main" id="{E4B29284-845F-09C4-6DBD-17EB273D7C78}"/>
                    </a:ext>
                  </a:extLst>
                </p:cNvPr>
                <p:cNvSpPr/>
                <p:nvPr/>
              </p:nvSpPr>
              <p:spPr>
                <a:xfrm flipH="1">
                  <a:off x="6183244" y="2607177"/>
                  <a:ext cx="2583875" cy="3284095"/>
                </a:xfrm>
                <a:custGeom>
                  <a:avLst/>
                  <a:gdLst>
                    <a:gd name="connsiteX0" fmla="*/ 113736 w 2653684"/>
                    <a:gd name="connsiteY0" fmla="*/ 0 h 3372822"/>
                    <a:gd name="connsiteX1" fmla="*/ 1415393 w 2653684"/>
                    <a:gd name="connsiteY1" fmla="*/ 0 h 3372822"/>
                    <a:gd name="connsiteX2" fmla="*/ 1585950 w 2653684"/>
                    <a:gd name="connsiteY2" fmla="*/ 153935 h 3372822"/>
                    <a:gd name="connsiteX3" fmla="*/ 2540044 w 2653684"/>
                    <a:gd name="connsiteY3" fmla="*/ 153935 h 3372822"/>
                    <a:gd name="connsiteX4" fmla="*/ 2653684 w 2653684"/>
                    <a:gd name="connsiteY4" fmla="*/ 233400 h 3372822"/>
                    <a:gd name="connsiteX5" fmla="*/ 2653684 w 2653684"/>
                    <a:gd name="connsiteY5" fmla="*/ 1207219 h 3372822"/>
                    <a:gd name="connsiteX6" fmla="*/ 2653684 w 2653684"/>
                    <a:gd name="connsiteY6" fmla="*/ 2319538 h 3372822"/>
                    <a:gd name="connsiteX7" fmla="*/ 2653684 w 2653684"/>
                    <a:gd name="connsiteY7" fmla="*/ 3293357 h 3372822"/>
                    <a:gd name="connsiteX8" fmla="*/ 2552659 w 2653684"/>
                    <a:gd name="connsiteY8" fmla="*/ 3372822 h 3372822"/>
                    <a:gd name="connsiteX9" fmla="*/ 107381 w 2653684"/>
                    <a:gd name="connsiteY9" fmla="*/ 3372822 h 3372822"/>
                    <a:gd name="connsiteX10" fmla="*/ 0 w 2653684"/>
                    <a:gd name="connsiteY10" fmla="*/ 3288362 h 3372822"/>
                    <a:gd name="connsiteX11" fmla="*/ 0 w 2653684"/>
                    <a:gd name="connsiteY11" fmla="*/ 2314543 h 3372822"/>
                    <a:gd name="connsiteX12" fmla="*/ 0 w 2653684"/>
                    <a:gd name="connsiteY12" fmla="*/ 1053284 h 3372822"/>
                    <a:gd name="connsiteX13" fmla="*/ 0 w 2653684"/>
                    <a:gd name="connsiteY13" fmla="*/ 79465 h 337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53684" h="3372822">
                      <a:moveTo>
                        <a:pt x="113736" y="0"/>
                      </a:moveTo>
                      <a:lnTo>
                        <a:pt x="1415393" y="0"/>
                      </a:lnTo>
                      <a:lnTo>
                        <a:pt x="1585950" y="153935"/>
                      </a:lnTo>
                      <a:lnTo>
                        <a:pt x="2540044" y="153935"/>
                      </a:lnTo>
                      <a:lnTo>
                        <a:pt x="2653684" y="233400"/>
                      </a:lnTo>
                      <a:lnTo>
                        <a:pt x="2653684" y="1207219"/>
                      </a:lnTo>
                      <a:lnTo>
                        <a:pt x="2653684" y="2319538"/>
                      </a:lnTo>
                      <a:lnTo>
                        <a:pt x="2653684" y="3293357"/>
                      </a:lnTo>
                      <a:lnTo>
                        <a:pt x="2552659" y="3372822"/>
                      </a:lnTo>
                      <a:lnTo>
                        <a:pt x="107381" y="3372822"/>
                      </a:lnTo>
                      <a:lnTo>
                        <a:pt x="0" y="3288362"/>
                      </a:lnTo>
                      <a:lnTo>
                        <a:pt x="0" y="2314543"/>
                      </a:lnTo>
                      <a:lnTo>
                        <a:pt x="0" y="1053284"/>
                      </a:lnTo>
                      <a:lnTo>
                        <a:pt x="0" y="79465"/>
                      </a:lnTo>
                      <a:close/>
                    </a:path>
                  </a:pathLst>
                </a:custGeom>
                <a:gradFill>
                  <a:gsLst>
                    <a:gs pos="0">
                      <a:schemeClr val="accent1">
                        <a:alpha val="30000"/>
                      </a:schemeClr>
                    </a:gs>
                    <a:gs pos="88000">
                      <a:schemeClr val="accent1">
                        <a:alpha val="0"/>
                      </a:schemeClr>
                    </a:gs>
                  </a:gsLst>
                  <a:lin ang="5400000" scaled="0"/>
                </a:gradFill>
                <a:ln w="3030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98" name="Number3" descr="253f5652-903e-4c40-8e8a-a5de530d6ea4">
                  <a:extLst>
                    <a:ext uri="{FF2B5EF4-FFF2-40B4-BE49-F238E27FC236}">
                      <a16:creationId xmlns:a16="http://schemas.microsoft.com/office/drawing/2014/main" id="{C122B220-C33A-B520-92CB-12AEA6A9C4AE}"/>
                    </a:ext>
                  </a:extLst>
                </p:cNvPr>
                <p:cNvSpPr/>
                <p:nvPr/>
              </p:nvSpPr>
              <p:spPr>
                <a:xfrm flipH="1">
                  <a:off x="6986816" y="2908570"/>
                  <a:ext cx="975251" cy="823705"/>
                </a:xfrm>
                <a:prstGeom prst="rect">
                  <a:avLst/>
                </a:prstGeom>
                <a:noFill/>
              </p:spPr>
              <p:txBody>
                <a:bodyPr wrap="none" lIns="91440" tIns="45720" rIns="91440" bIns="45720" rtlCol="0" anchor="b" anchorCtr="0">
                  <a:normAutofit fontScale="92500" lnSpcReduction="20000"/>
                </a:bodyPr>
                <a:lstStyle/>
                <a:p>
                  <a:pPr algn="ctr">
                    <a:lnSpc>
                      <a:spcPct val="108000"/>
                    </a:lnSpc>
                  </a:pPr>
                  <a:r>
                    <a:rPr lang="en-US" sz="5400" b="1" i="1" u="none">
                      <a:solidFill>
                        <a:srgbClr val="000000"/>
                      </a:solidFill>
                      <a:latin typeface="Arial"/>
                    </a:rPr>
                    <a:t>3</a:t>
                  </a:r>
                </a:p>
              </p:txBody>
            </p:sp>
            <p:sp>
              <p:nvSpPr>
                <p:cNvPr id="95" name="Bullet3" descr="3dc91f8c-992b-4fd5-9f69-be6d34719c19">
                  <a:extLst>
                    <a:ext uri="{FF2B5EF4-FFF2-40B4-BE49-F238E27FC236}">
                      <a16:creationId xmlns:a16="http://schemas.microsoft.com/office/drawing/2014/main" id="{C73C81E4-FBB9-1BEF-1CD4-03733F9757F0}"/>
                    </a:ext>
                  </a:extLst>
                </p:cNvPr>
                <p:cNvSpPr txBox="1">
                  <a:spLocks/>
                </p:cNvSpPr>
                <p:nvPr/>
              </p:nvSpPr>
              <p:spPr>
                <a:xfrm flipH="1">
                  <a:off x="6266761" y="3801006"/>
                  <a:ext cx="2449859" cy="778648"/>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2000" b="1" i="0" u="none" strike="noStrike">
                      <a:solidFill>
                        <a:srgbClr val="000000"/>
                      </a:solidFill>
                      <a:ea typeface="微软雅黑"/>
                    </a:rPr>
                    <a:t>元数据驱动架构</a:t>
                  </a:r>
                </a:p>
              </p:txBody>
            </p:sp>
            <p:sp>
              <p:nvSpPr>
                <p:cNvPr id="96" name="Text3" descr="473e7251-cbf2-46d6-91f4-24109cd2b782">
                  <a:extLst>
                    <a:ext uri="{FF2B5EF4-FFF2-40B4-BE49-F238E27FC236}">
                      <a16:creationId xmlns:a16="http://schemas.microsoft.com/office/drawing/2014/main" id="{A1FD9480-298D-455F-FE7C-0EC793640DAF}"/>
                    </a:ext>
                  </a:extLst>
                </p:cNvPr>
                <p:cNvSpPr txBox="1">
                  <a:spLocks/>
                </p:cNvSpPr>
                <p:nvPr/>
              </p:nvSpPr>
              <p:spPr>
                <a:xfrm flipH="1">
                  <a:off x="6266759" y="4694053"/>
                  <a:ext cx="2449859" cy="1276293"/>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以元数据为中心，实现配置化与可追溯性，方便对特征工程相关过程进行管理和追踪</a:t>
                  </a:r>
                  <a:r>
                    <a:rPr lang="en-US" sz="1600" b="0" i="0" u="none" strike="noStrike" dirty="0">
                      <a:solidFill>
                        <a:srgbClr val="000000"/>
                      </a:solidFill>
                      <a:ea typeface="微软雅黑"/>
                    </a:rPr>
                    <a:t>。</a:t>
                  </a:r>
                </a:p>
              </p:txBody>
            </p:sp>
          </p:grpSp>
        </p:grpSp>
        <p:grpSp>
          <p:nvGrpSpPr>
            <p:cNvPr id="46" name="组合 45" descr="3cf21c46-bccd-43ba-a502-4903e07d9ddc">
              <a:extLst>
                <a:ext uri="{FF2B5EF4-FFF2-40B4-BE49-F238E27FC236}">
                  <a16:creationId xmlns:a16="http://schemas.microsoft.com/office/drawing/2014/main" id="{087097AC-5D83-66FA-9A5A-51C1B646C6A6}"/>
                </a:ext>
              </a:extLst>
            </p:cNvPr>
            <p:cNvGrpSpPr/>
            <p:nvPr/>
          </p:nvGrpSpPr>
          <p:grpSpPr>
            <a:xfrm>
              <a:off x="8939064" y="2126893"/>
              <a:ext cx="2609921" cy="3526517"/>
              <a:chOff x="8939064" y="2126893"/>
              <a:chExt cx="2609921" cy="3526517"/>
            </a:xfrm>
          </p:grpSpPr>
          <p:sp>
            <p:nvSpPr>
              <p:cNvPr id="87" name="任意多边形: 形状 86" descr="6df443a4-413b-45dd-86f4-a4bf56bb4bf9">
                <a:extLst>
                  <a:ext uri="{FF2B5EF4-FFF2-40B4-BE49-F238E27FC236}">
                    <a16:creationId xmlns:a16="http://schemas.microsoft.com/office/drawing/2014/main" id="{CB386212-6830-E8F5-3989-3CDE275931DE}"/>
                  </a:ext>
                </a:extLst>
              </p:cNvPr>
              <p:cNvSpPr/>
              <p:nvPr/>
            </p:nvSpPr>
            <p:spPr>
              <a:xfrm flipH="1">
                <a:off x="8945067" y="2131611"/>
                <a:ext cx="2597914" cy="2347869"/>
              </a:xfrm>
              <a:custGeom>
                <a:avLst/>
                <a:gdLst>
                  <a:gd name="connsiteX0" fmla="*/ 181130 w 4078981"/>
                  <a:gd name="connsiteY0" fmla="*/ 37996 h 4690964"/>
                  <a:gd name="connsiteX1" fmla="*/ 37995 w 4078981"/>
                  <a:gd name="connsiteY1" fmla="*/ 176199 h 4690964"/>
                  <a:gd name="connsiteX2" fmla="*/ 37995 w 4078981"/>
                  <a:gd name="connsiteY2" fmla="*/ 370671 h 4690964"/>
                  <a:gd name="connsiteX3" fmla="*/ 38140 w 4078981"/>
                  <a:gd name="connsiteY3" fmla="*/ 370671 h 4690964"/>
                  <a:gd name="connsiteX4" fmla="*/ 38140 w 4078981"/>
                  <a:gd name="connsiteY4" fmla="*/ 4308547 h 4690964"/>
                  <a:gd name="connsiteX5" fmla="*/ 37995 w 4078981"/>
                  <a:gd name="connsiteY5" fmla="*/ 4308547 h 4690964"/>
                  <a:gd name="connsiteX6" fmla="*/ 37995 w 4078981"/>
                  <a:gd name="connsiteY6" fmla="*/ 4509690 h 4690964"/>
                  <a:gd name="connsiteX7" fmla="*/ 176199 w 4078981"/>
                  <a:gd name="connsiteY7" fmla="*/ 4652824 h 4690964"/>
                  <a:gd name="connsiteX8" fmla="*/ 351964 w 4078981"/>
                  <a:gd name="connsiteY8" fmla="*/ 4652824 h 4690964"/>
                  <a:gd name="connsiteX9" fmla="*/ 362840 w 4078981"/>
                  <a:gd name="connsiteY9" fmla="*/ 4652824 h 4690964"/>
                  <a:gd name="connsiteX10" fmla="*/ 3753700 w 4078981"/>
                  <a:gd name="connsiteY10" fmla="*/ 4652824 h 4690964"/>
                  <a:gd name="connsiteX11" fmla="*/ 3759211 w 4078981"/>
                  <a:gd name="connsiteY11" fmla="*/ 4652824 h 4690964"/>
                  <a:gd name="connsiteX12" fmla="*/ 3902781 w 4078981"/>
                  <a:gd name="connsiteY12" fmla="*/ 4652824 h 4690964"/>
                  <a:gd name="connsiteX13" fmla="*/ 4040840 w 4078981"/>
                  <a:gd name="connsiteY13" fmla="*/ 4509690 h 4690964"/>
                  <a:gd name="connsiteX14" fmla="*/ 4040840 w 4078981"/>
                  <a:gd name="connsiteY14" fmla="*/ 4346107 h 4690964"/>
                  <a:gd name="connsiteX15" fmla="*/ 4040840 w 4078981"/>
                  <a:gd name="connsiteY15" fmla="*/ 4317248 h 4690964"/>
                  <a:gd name="connsiteX16" fmla="*/ 4040840 w 4078981"/>
                  <a:gd name="connsiteY16" fmla="*/ 633449 h 4690964"/>
                  <a:gd name="connsiteX17" fmla="*/ 4040841 w 4078981"/>
                  <a:gd name="connsiteY17" fmla="*/ 633449 h 4690964"/>
                  <a:gd name="connsiteX18" fmla="*/ 4040841 w 4078981"/>
                  <a:gd name="connsiteY18" fmla="*/ 463920 h 4690964"/>
                  <a:gd name="connsiteX19" fmla="*/ 3897706 w 4078981"/>
                  <a:gd name="connsiteY19" fmla="*/ 325861 h 4690964"/>
                  <a:gd name="connsiteX20" fmla="*/ 3751380 w 4078981"/>
                  <a:gd name="connsiteY20" fmla="*/ 325861 h 4690964"/>
                  <a:gd name="connsiteX21" fmla="*/ 3742824 w 4078981"/>
                  <a:gd name="connsiteY21" fmla="*/ 325861 h 4690964"/>
                  <a:gd name="connsiteX22" fmla="*/ 2411975 w 4078981"/>
                  <a:gd name="connsiteY22" fmla="*/ 325861 h 4690964"/>
                  <a:gd name="connsiteX23" fmla="*/ 2161815 w 4078981"/>
                  <a:gd name="connsiteY23" fmla="*/ 37996 h 4690964"/>
                  <a:gd name="connsiteX24" fmla="*/ 175184 w 4078981"/>
                  <a:gd name="connsiteY24" fmla="*/ 0 h 4690964"/>
                  <a:gd name="connsiteX25" fmla="*/ 2192269 w 4078981"/>
                  <a:gd name="connsiteY25" fmla="*/ 0 h 4690964"/>
                  <a:gd name="connsiteX26" fmla="*/ 2443299 w 4078981"/>
                  <a:gd name="connsiteY26" fmla="*/ 287720 h 4690964"/>
                  <a:gd name="connsiteX27" fmla="*/ 3742824 w 4078981"/>
                  <a:gd name="connsiteY27" fmla="*/ 287720 h 4690964"/>
                  <a:gd name="connsiteX28" fmla="*/ 3751380 w 4078981"/>
                  <a:gd name="connsiteY28" fmla="*/ 287720 h 4690964"/>
                  <a:gd name="connsiteX29" fmla="*/ 3903796 w 4078981"/>
                  <a:gd name="connsiteY29" fmla="*/ 287720 h 4690964"/>
                  <a:gd name="connsiteX30" fmla="*/ 4078981 w 4078981"/>
                  <a:gd name="connsiteY30" fmla="*/ 456668 h 4690964"/>
                  <a:gd name="connsiteX31" fmla="*/ 4078981 w 4078981"/>
                  <a:gd name="connsiteY31" fmla="*/ 469140 h 4690964"/>
                  <a:gd name="connsiteX32" fmla="*/ 4078981 w 4078981"/>
                  <a:gd name="connsiteY32" fmla="*/ 494229 h 4690964"/>
                  <a:gd name="connsiteX33" fmla="*/ 4078981 w 4078981"/>
                  <a:gd name="connsiteY33" fmla="*/ 650706 h 4690964"/>
                  <a:gd name="connsiteX34" fmla="*/ 4078980 w 4078981"/>
                  <a:gd name="connsiteY34" fmla="*/ 650706 h 4690964"/>
                  <a:gd name="connsiteX35" fmla="*/ 4078980 w 4078981"/>
                  <a:gd name="connsiteY35" fmla="*/ 4317248 h 4690964"/>
                  <a:gd name="connsiteX36" fmla="*/ 4078980 w 4078981"/>
                  <a:gd name="connsiteY36" fmla="*/ 4346107 h 4690964"/>
                  <a:gd name="connsiteX37" fmla="*/ 4078980 w 4078981"/>
                  <a:gd name="connsiteY37" fmla="*/ 4515635 h 4690964"/>
                  <a:gd name="connsiteX38" fmla="*/ 3910032 w 4078981"/>
                  <a:gd name="connsiteY38" fmla="*/ 4690819 h 4690964"/>
                  <a:gd name="connsiteX39" fmla="*/ 3897560 w 4078981"/>
                  <a:gd name="connsiteY39" fmla="*/ 4690819 h 4690964"/>
                  <a:gd name="connsiteX40" fmla="*/ 3872472 w 4078981"/>
                  <a:gd name="connsiteY40" fmla="*/ 4690819 h 4690964"/>
                  <a:gd name="connsiteX41" fmla="*/ 3759211 w 4078981"/>
                  <a:gd name="connsiteY41" fmla="*/ 4690819 h 4690964"/>
                  <a:gd name="connsiteX42" fmla="*/ 3759211 w 4078981"/>
                  <a:gd name="connsiteY42" fmla="*/ 4690964 h 4690964"/>
                  <a:gd name="connsiteX43" fmla="*/ 351964 w 4078981"/>
                  <a:gd name="connsiteY43" fmla="*/ 4690964 h 4690964"/>
                  <a:gd name="connsiteX44" fmla="*/ 351964 w 4078981"/>
                  <a:gd name="connsiteY44" fmla="*/ 4690820 h 4690964"/>
                  <a:gd name="connsiteX45" fmla="*/ 206364 w 4078981"/>
                  <a:gd name="connsiteY45" fmla="*/ 4690820 h 4690964"/>
                  <a:gd name="connsiteX46" fmla="*/ 181420 w 4078981"/>
                  <a:gd name="connsiteY46" fmla="*/ 4690820 h 4690964"/>
                  <a:gd name="connsiteX47" fmla="*/ 168948 w 4078981"/>
                  <a:gd name="connsiteY47" fmla="*/ 4690820 h 4690964"/>
                  <a:gd name="connsiteX48" fmla="*/ 0 w 4078981"/>
                  <a:gd name="connsiteY48" fmla="*/ 4515636 h 4690964"/>
                  <a:gd name="connsiteX49" fmla="*/ 0 w 4078981"/>
                  <a:gd name="connsiteY49" fmla="*/ 4308547 h 4690964"/>
                  <a:gd name="connsiteX50" fmla="*/ 0 w 4078981"/>
                  <a:gd name="connsiteY50" fmla="*/ 4279688 h 4690964"/>
                  <a:gd name="connsiteX51" fmla="*/ 0 w 4078981"/>
                  <a:gd name="connsiteY51" fmla="*/ 400401 h 4690964"/>
                  <a:gd name="connsiteX52" fmla="*/ 0 w 4078981"/>
                  <a:gd name="connsiteY52" fmla="*/ 370671 h 4690964"/>
                  <a:gd name="connsiteX53" fmla="*/ 0 w 4078981"/>
                  <a:gd name="connsiteY53" fmla="*/ 206364 h 4690964"/>
                  <a:gd name="connsiteX54" fmla="*/ 0 w 4078981"/>
                  <a:gd name="connsiteY54" fmla="*/ 181420 h 4690964"/>
                  <a:gd name="connsiteX55" fmla="*/ 0 w 4078981"/>
                  <a:gd name="connsiteY55" fmla="*/ 168948 h 469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078981" h="4690964">
                    <a:moveTo>
                      <a:pt x="181130" y="37996"/>
                    </a:moveTo>
                    <a:lnTo>
                      <a:pt x="37995" y="176199"/>
                    </a:lnTo>
                    <a:lnTo>
                      <a:pt x="37995" y="370671"/>
                    </a:lnTo>
                    <a:lnTo>
                      <a:pt x="38140" y="370671"/>
                    </a:lnTo>
                    <a:lnTo>
                      <a:pt x="38140" y="4308547"/>
                    </a:lnTo>
                    <a:lnTo>
                      <a:pt x="37995" y="4308547"/>
                    </a:lnTo>
                    <a:lnTo>
                      <a:pt x="37995" y="4509690"/>
                    </a:lnTo>
                    <a:lnTo>
                      <a:pt x="176199" y="4652824"/>
                    </a:lnTo>
                    <a:lnTo>
                      <a:pt x="351964" y="4652824"/>
                    </a:lnTo>
                    <a:lnTo>
                      <a:pt x="362840" y="4652824"/>
                    </a:lnTo>
                    <a:lnTo>
                      <a:pt x="3753700" y="4652824"/>
                    </a:lnTo>
                    <a:lnTo>
                      <a:pt x="3759211" y="4652824"/>
                    </a:lnTo>
                    <a:lnTo>
                      <a:pt x="3902781" y="4652824"/>
                    </a:lnTo>
                    <a:lnTo>
                      <a:pt x="4040840" y="4509690"/>
                    </a:lnTo>
                    <a:lnTo>
                      <a:pt x="4040840" y="4346107"/>
                    </a:lnTo>
                    <a:lnTo>
                      <a:pt x="4040840" y="4317248"/>
                    </a:lnTo>
                    <a:lnTo>
                      <a:pt x="4040840" y="633449"/>
                    </a:lnTo>
                    <a:lnTo>
                      <a:pt x="4040841" y="633449"/>
                    </a:lnTo>
                    <a:lnTo>
                      <a:pt x="4040841" y="463920"/>
                    </a:lnTo>
                    <a:lnTo>
                      <a:pt x="3897706" y="325861"/>
                    </a:lnTo>
                    <a:lnTo>
                      <a:pt x="3751380" y="325861"/>
                    </a:lnTo>
                    <a:lnTo>
                      <a:pt x="3742824" y="325861"/>
                    </a:lnTo>
                    <a:lnTo>
                      <a:pt x="2411975" y="325861"/>
                    </a:lnTo>
                    <a:lnTo>
                      <a:pt x="2161815" y="37996"/>
                    </a:lnTo>
                    <a:close/>
                    <a:moveTo>
                      <a:pt x="175184" y="0"/>
                    </a:moveTo>
                    <a:lnTo>
                      <a:pt x="2192269" y="0"/>
                    </a:lnTo>
                    <a:lnTo>
                      <a:pt x="2443299" y="287720"/>
                    </a:lnTo>
                    <a:lnTo>
                      <a:pt x="3742824" y="287720"/>
                    </a:lnTo>
                    <a:lnTo>
                      <a:pt x="3751380" y="287720"/>
                    </a:lnTo>
                    <a:lnTo>
                      <a:pt x="3903796" y="287720"/>
                    </a:lnTo>
                    <a:lnTo>
                      <a:pt x="4078981" y="456668"/>
                    </a:lnTo>
                    <a:lnTo>
                      <a:pt x="4078981" y="469140"/>
                    </a:lnTo>
                    <a:lnTo>
                      <a:pt x="4078981" y="494229"/>
                    </a:lnTo>
                    <a:lnTo>
                      <a:pt x="4078981" y="650706"/>
                    </a:lnTo>
                    <a:lnTo>
                      <a:pt x="4078980" y="650706"/>
                    </a:lnTo>
                    <a:lnTo>
                      <a:pt x="4078980" y="4317248"/>
                    </a:lnTo>
                    <a:lnTo>
                      <a:pt x="4078980" y="4346107"/>
                    </a:lnTo>
                    <a:lnTo>
                      <a:pt x="4078980" y="4515635"/>
                    </a:lnTo>
                    <a:lnTo>
                      <a:pt x="3910032" y="4690819"/>
                    </a:lnTo>
                    <a:lnTo>
                      <a:pt x="3897560" y="4690819"/>
                    </a:lnTo>
                    <a:lnTo>
                      <a:pt x="3872472" y="4690819"/>
                    </a:lnTo>
                    <a:lnTo>
                      <a:pt x="3759211" y="4690819"/>
                    </a:lnTo>
                    <a:lnTo>
                      <a:pt x="3759211" y="4690964"/>
                    </a:lnTo>
                    <a:lnTo>
                      <a:pt x="351964" y="4690964"/>
                    </a:lnTo>
                    <a:lnTo>
                      <a:pt x="351964" y="4690820"/>
                    </a:lnTo>
                    <a:lnTo>
                      <a:pt x="206364" y="4690820"/>
                    </a:lnTo>
                    <a:lnTo>
                      <a:pt x="181420" y="4690820"/>
                    </a:lnTo>
                    <a:lnTo>
                      <a:pt x="168948" y="4690820"/>
                    </a:lnTo>
                    <a:lnTo>
                      <a:pt x="0" y="4515636"/>
                    </a:lnTo>
                    <a:lnTo>
                      <a:pt x="0" y="4308547"/>
                    </a:lnTo>
                    <a:lnTo>
                      <a:pt x="0" y="4279688"/>
                    </a:lnTo>
                    <a:lnTo>
                      <a:pt x="0" y="400401"/>
                    </a:lnTo>
                    <a:lnTo>
                      <a:pt x="0" y="370671"/>
                    </a:lnTo>
                    <a:lnTo>
                      <a:pt x="0" y="206364"/>
                    </a:lnTo>
                    <a:lnTo>
                      <a:pt x="0" y="181420"/>
                    </a:lnTo>
                    <a:lnTo>
                      <a:pt x="0" y="168948"/>
                    </a:lnTo>
                    <a:close/>
                  </a:path>
                </a:pathLst>
              </a:custGeom>
              <a:gradFill flip="none" rotWithShape="1">
                <a:gsLst>
                  <a:gs pos="0">
                    <a:schemeClr val="accent1"/>
                  </a:gs>
                  <a:gs pos="100000">
                    <a:schemeClr val="accent2">
                      <a:alpha val="0"/>
                    </a:schemeClr>
                  </a:gs>
                </a:gsLst>
                <a:lin ang="540000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88" name="任意多边形: 形状 87" descr="8bedcbca-dc97-4cd6-858b-5cbc5a5b539e">
                <a:extLst>
                  <a:ext uri="{FF2B5EF4-FFF2-40B4-BE49-F238E27FC236}">
                    <a16:creationId xmlns:a16="http://schemas.microsoft.com/office/drawing/2014/main" id="{C328B63C-CAAF-1D1B-449F-D2AADE28C8A4}"/>
                  </a:ext>
                </a:extLst>
              </p:cNvPr>
              <p:cNvSpPr/>
              <p:nvPr/>
            </p:nvSpPr>
            <p:spPr>
              <a:xfrm flipH="1">
                <a:off x="10618235" y="2182782"/>
                <a:ext cx="863693" cy="95157"/>
              </a:xfrm>
              <a:custGeom>
                <a:avLst/>
                <a:gdLst>
                  <a:gd name="connsiteX0" fmla="*/ 221446 w 1356083"/>
                  <a:gd name="connsiteY0" fmla="*/ 0 h 190121"/>
                  <a:gd name="connsiteX1" fmla="*/ 226087 w 1356083"/>
                  <a:gd name="connsiteY1" fmla="*/ 0 h 190121"/>
                  <a:gd name="connsiteX2" fmla="*/ 237833 w 1356083"/>
                  <a:gd name="connsiteY2" fmla="*/ 0 h 190121"/>
                  <a:gd name="connsiteX3" fmla="*/ 1356083 w 1356083"/>
                  <a:gd name="connsiteY3" fmla="*/ 0 h 190121"/>
                  <a:gd name="connsiteX4" fmla="*/ 1356083 w 1356083"/>
                  <a:gd name="connsiteY4" fmla="*/ 20738 h 190121"/>
                  <a:gd name="connsiteX5" fmla="*/ 231307 w 1356083"/>
                  <a:gd name="connsiteY5" fmla="*/ 20738 h 190121"/>
                  <a:gd name="connsiteX6" fmla="*/ 142700 w 1356083"/>
                  <a:gd name="connsiteY6" fmla="*/ 106300 h 190121"/>
                  <a:gd name="connsiteX7" fmla="*/ 142700 w 1356083"/>
                  <a:gd name="connsiteY7" fmla="*/ 75410 h 190121"/>
                  <a:gd name="connsiteX8" fmla="*/ 116741 w 1356083"/>
                  <a:gd name="connsiteY8" fmla="*/ 0 h 190121"/>
                  <a:gd name="connsiteX9" fmla="*/ 197082 w 1356083"/>
                  <a:gd name="connsiteY9" fmla="*/ 0 h 190121"/>
                  <a:gd name="connsiteX10" fmla="*/ 0 w 1356083"/>
                  <a:gd name="connsiteY10" fmla="*/ 190121 h 190121"/>
                  <a:gd name="connsiteX11" fmla="*/ 0 w 1356083"/>
                  <a:gd name="connsiteY11" fmla="*/ 109780 h 190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6083" h="190121">
                    <a:moveTo>
                      <a:pt x="221446" y="0"/>
                    </a:moveTo>
                    <a:lnTo>
                      <a:pt x="226087" y="0"/>
                    </a:lnTo>
                    <a:lnTo>
                      <a:pt x="237833" y="0"/>
                    </a:lnTo>
                    <a:lnTo>
                      <a:pt x="1356083" y="0"/>
                    </a:lnTo>
                    <a:lnTo>
                      <a:pt x="1356083" y="20738"/>
                    </a:lnTo>
                    <a:lnTo>
                      <a:pt x="231307" y="20738"/>
                    </a:lnTo>
                    <a:lnTo>
                      <a:pt x="142700" y="106300"/>
                    </a:lnTo>
                    <a:lnTo>
                      <a:pt x="142700" y="75410"/>
                    </a:lnTo>
                    <a:close/>
                    <a:moveTo>
                      <a:pt x="116741" y="0"/>
                    </a:moveTo>
                    <a:lnTo>
                      <a:pt x="197082" y="0"/>
                    </a:lnTo>
                    <a:lnTo>
                      <a:pt x="0" y="190121"/>
                    </a:lnTo>
                    <a:lnTo>
                      <a:pt x="0" y="109780"/>
                    </a:lnTo>
                    <a:close/>
                  </a:path>
                </a:pathLst>
              </a:custGeom>
              <a:gradFill flip="none" rotWithShape="1">
                <a:gsLst>
                  <a:gs pos="0">
                    <a:schemeClr val="accent1"/>
                  </a:gs>
                  <a:gs pos="100000">
                    <a:schemeClr val="accent2"/>
                  </a:gs>
                </a:gsLst>
                <a:lin ang="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89" name="任意多边形: 形状 88" descr="a1762142-8084-4fc0-8e95-438e4749ac0b">
                <a:extLst>
                  <a:ext uri="{FF2B5EF4-FFF2-40B4-BE49-F238E27FC236}">
                    <a16:creationId xmlns:a16="http://schemas.microsoft.com/office/drawing/2014/main" id="{E02EF742-7A0A-25A9-09F0-291F3D973B30}"/>
                  </a:ext>
                </a:extLst>
              </p:cNvPr>
              <p:cNvSpPr/>
              <p:nvPr/>
            </p:nvSpPr>
            <p:spPr>
              <a:xfrm flipH="1">
                <a:off x="9296326" y="2178137"/>
                <a:ext cx="750178" cy="76358"/>
              </a:xfrm>
              <a:custGeom>
                <a:avLst/>
                <a:gdLst>
                  <a:gd name="connsiteX0" fmla="*/ 964818 w 1177853"/>
                  <a:gd name="connsiteY0" fmla="*/ 0 h 152561"/>
                  <a:gd name="connsiteX1" fmla="*/ 1041099 w 1177853"/>
                  <a:gd name="connsiteY1" fmla="*/ 0 h 152561"/>
                  <a:gd name="connsiteX2" fmla="*/ 1177853 w 1177853"/>
                  <a:gd name="connsiteY2" fmla="*/ 152561 h 152561"/>
                  <a:gd name="connsiteX3" fmla="*/ 1101572 w 1177853"/>
                  <a:gd name="connsiteY3" fmla="*/ 152561 h 152561"/>
                  <a:gd name="connsiteX4" fmla="*/ 827484 w 1177853"/>
                  <a:gd name="connsiteY4" fmla="*/ 0 h 152561"/>
                  <a:gd name="connsiteX5" fmla="*/ 903765 w 1177853"/>
                  <a:gd name="connsiteY5" fmla="*/ 0 h 152561"/>
                  <a:gd name="connsiteX6" fmla="*/ 1040664 w 1177853"/>
                  <a:gd name="connsiteY6" fmla="*/ 152561 h 152561"/>
                  <a:gd name="connsiteX7" fmla="*/ 964383 w 1177853"/>
                  <a:gd name="connsiteY7" fmla="*/ 152561 h 152561"/>
                  <a:gd name="connsiteX8" fmla="*/ 690295 w 1177853"/>
                  <a:gd name="connsiteY8" fmla="*/ 0 h 152561"/>
                  <a:gd name="connsiteX9" fmla="*/ 766576 w 1177853"/>
                  <a:gd name="connsiteY9" fmla="*/ 0 h 152561"/>
                  <a:gd name="connsiteX10" fmla="*/ 903475 w 1177853"/>
                  <a:gd name="connsiteY10" fmla="*/ 152561 h 152561"/>
                  <a:gd name="connsiteX11" fmla="*/ 827049 w 1177853"/>
                  <a:gd name="connsiteY11" fmla="*/ 152561 h 152561"/>
                  <a:gd name="connsiteX12" fmla="*/ 553106 w 1177853"/>
                  <a:gd name="connsiteY12" fmla="*/ 0 h 152561"/>
                  <a:gd name="connsiteX13" fmla="*/ 629387 w 1177853"/>
                  <a:gd name="connsiteY13" fmla="*/ 0 h 152561"/>
                  <a:gd name="connsiteX14" fmla="*/ 766141 w 1177853"/>
                  <a:gd name="connsiteY14" fmla="*/ 152561 h 152561"/>
                  <a:gd name="connsiteX15" fmla="*/ 689860 w 1177853"/>
                  <a:gd name="connsiteY15" fmla="*/ 152561 h 152561"/>
                  <a:gd name="connsiteX16" fmla="*/ 415917 w 1177853"/>
                  <a:gd name="connsiteY16" fmla="*/ 0 h 152561"/>
                  <a:gd name="connsiteX17" fmla="*/ 492198 w 1177853"/>
                  <a:gd name="connsiteY17" fmla="*/ 0 h 152561"/>
                  <a:gd name="connsiteX18" fmla="*/ 628951 w 1177853"/>
                  <a:gd name="connsiteY18" fmla="*/ 152561 h 152561"/>
                  <a:gd name="connsiteX19" fmla="*/ 552671 w 1177853"/>
                  <a:gd name="connsiteY19" fmla="*/ 152561 h 152561"/>
                  <a:gd name="connsiteX20" fmla="*/ 0 w 1177853"/>
                  <a:gd name="connsiteY20" fmla="*/ 0 h 152561"/>
                  <a:gd name="connsiteX21" fmla="*/ 352544 w 1177853"/>
                  <a:gd name="connsiteY21" fmla="*/ 0 h 152561"/>
                  <a:gd name="connsiteX22" fmla="*/ 489298 w 1177853"/>
                  <a:gd name="connsiteY22" fmla="*/ 152561 h 152561"/>
                  <a:gd name="connsiteX23" fmla="*/ 136754 w 1177853"/>
                  <a:gd name="connsiteY23" fmla="*/ 152561 h 152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77853" h="152561">
                    <a:moveTo>
                      <a:pt x="964818" y="0"/>
                    </a:moveTo>
                    <a:lnTo>
                      <a:pt x="1041099" y="0"/>
                    </a:lnTo>
                    <a:lnTo>
                      <a:pt x="1177853" y="152561"/>
                    </a:lnTo>
                    <a:lnTo>
                      <a:pt x="1101572" y="152561"/>
                    </a:lnTo>
                    <a:close/>
                    <a:moveTo>
                      <a:pt x="827484" y="0"/>
                    </a:moveTo>
                    <a:lnTo>
                      <a:pt x="903765" y="0"/>
                    </a:lnTo>
                    <a:lnTo>
                      <a:pt x="1040664" y="152561"/>
                    </a:lnTo>
                    <a:lnTo>
                      <a:pt x="964383" y="152561"/>
                    </a:lnTo>
                    <a:close/>
                    <a:moveTo>
                      <a:pt x="690295" y="0"/>
                    </a:moveTo>
                    <a:lnTo>
                      <a:pt x="766576" y="0"/>
                    </a:lnTo>
                    <a:lnTo>
                      <a:pt x="903475" y="152561"/>
                    </a:lnTo>
                    <a:lnTo>
                      <a:pt x="827049" y="152561"/>
                    </a:lnTo>
                    <a:close/>
                    <a:moveTo>
                      <a:pt x="553106" y="0"/>
                    </a:moveTo>
                    <a:lnTo>
                      <a:pt x="629387" y="0"/>
                    </a:lnTo>
                    <a:lnTo>
                      <a:pt x="766141" y="152561"/>
                    </a:lnTo>
                    <a:lnTo>
                      <a:pt x="689860" y="152561"/>
                    </a:lnTo>
                    <a:close/>
                    <a:moveTo>
                      <a:pt x="415917" y="0"/>
                    </a:moveTo>
                    <a:lnTo>
                      <a:pt x="492198" y="0"/>
                    </a:lnTo>
                    <a:lnTo>
                      <a:pt x="628951" y="152561"/>
                    </a:lnTo>
                    <a:lnTo>
                      <a:pt x="552671" y="152561"/>
                    </a:lnTo>
                    <a:close/>
                    <a:moveTo>
                      <a:pt x="0" y="0"/>
                    </a:moveTo>
                    <a:lnTo>
                      <a:pt x="352544" y="0"/>
                    </a:lnTo>
                    <a:lnTo>
                      <a:pt x="489298" y="152561"/>
                    </a:lnTo>
                    <a:lnTo>
                      <a:pt x="136754" y="152561"/>
                    </a:lnTo>
                    <a:close/>
                  </a:path>
                </a:pathLst>
              </a:custGeom>
              <a:gradFill flip="none" rotWithShape="1">
                <a:gsLst>
                  <a:gs pos="0">
                    <a:schemeClr val="accent1"/>
                  </a:gs>
                  <a:gs pos="100000">
                    <a:schemeClr val="accent2"/>
                  </a:gs>
                </a:gsLst>
                <a:lin ang="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90" name="任意多边形: 形状 89" descr="ea2c7455-6955-43fa-843a-25199fa89c4f">
                <a:extLst>
                  <a:ext uri="{FF2B5EF4-FFF2-40B4-BE49-F238E27FC236}">
                    <a16:creationId xmlns:a16="http://schemas.microsoft.com/office/drawing/2014/main" id="{A7BEA954-2745-8D91-6413-30CCB388102B}"/>
                  </a:ext>
                </a:extLst>
              </p:cNvPr>
              <p:cNvSpPr/>
              <p:nvPr/>
            </p:nvSpPr>
            <p:spPr>
              <a:xfrm flipH="1">
                <a:off x="10929225" y="2126893"/>
                <a:ext cx="619760" cy="242793"/>
              </a:xfrm>
              <a:custGeom>
                <a:avLst/>
                <a:gdLst>
                  <a:gd name="connsiteX0" fmla="*/ 973085 w 973084"/>
                  <a:gd name="connsiteY0" fmla="*/ 56848 h 485092"/>
                  <a:gd name="connsiteX1" fmla="*/ 973085 w 973084"/>
                  <a:gd name="connsiteY1" fmla="*/ 0 h 485092"/>
                  <a:gd name="connsiteX2" fmla="*/ 181420 w 973084"/>
                  <a:gd name="connsiteY2" fmla="*/ 0 h 485092"/>
                  <a:gd name="connsiteX3" fmla="*/ 0 w 973084"/>
                  <a:gd name="connsiteY3" fmla="*/ 175184 h 485092"/>
                  <a:gd name="connsiteX4" fmla="*/ 0 w 973084"/>
                  <a:gd name="connsiteY4" fmla="*/ 187656 h 485092"/>
                  <a:gd name="connsiteX5" fmla="*/ 0 w 973084"/>
                  <a:gd name="connsiteY5" fmla="*/ 212744 h 485092"/>
                  <a:gd name="connsiteX6" fmla="*/ 0 w 973084"/>
                  <a:gd name="connsiteY6" fmla="*/ 485092 h 485092"/>
                  <a:gd name="connsiteX7" fmla="*/ 56848 w 973084"/>
                  <a:gd name="connsiteY7" fmla="*/ 485092 h 485092"/>
                  <a:gd name="connsiteX8" fmla="*/ 56848 w 973084"/>
                  <a:gd name="connsiteY8" fmla="*/ 188671 h 485092"/>
                  <a:gd name="connsiteX9" fmla="*/ 193747 w 973084"/>
                  <a:gd name="connsiteY9" fmla="*/ 56848 h 485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084" h="485092">
                    <a:moveTo>
                      <a:pt x="973085" y="56848"/>
                    </a:moveTo>
                    <a:lnTo>
                      <a:pt x="973085" y="0"/>
                    </a:lnTo>
                    <a:lnTo>
                      <a:pt x="181420" y="0"/>
                    </a:lnTo>
                    <a:lnTo>
                      <a:pt x="0" y="175184"/>
                    </a:lnTo>
                    <a:lnTo>
                      <a:pt x="0" y="187656"/>
                    </a:lnTo>
                    <a:lnTo>
                      <a:pt x="0" y="212744"/>
                    </a:lnTo>
                    <a:lnTo>
                      <a:pt x="0" y="485092"/>
                    </a:lnTo>
                    <a:lnTo>
                      <a:pt x="56848" y="485092"/>
                    </a:lnTo>
                    <a:lnTo>
                      <a:pt x="56848" y="188671"/>
                    </a:lnTo>
                    <a:lnTo>
                      <a:pt x="193747" y="56848"/>
                    </a:lnTo>
                    <a:close/>
                  </a:path>
                </a:pathLst>
              </a:custGeom>
              <a:gradFill flip="none" rotWithShape="1">
                <a:gsLst>
                  <a:gs pos="100000">
                    <a:schemeClr val="accent1"/>
                  </a:gs>
                  <a:gs pos="0">
                    <a:schemeClr val="accent2">
                      <a:lumMod val="60000"/>
                      <a:lumOff val="40000"/>
                    </a:schemeClr>
                  </a:gs>
                  <a:gs pos="47000">
                    <a:schemeClr val="accent2"/>
                  </a:gs>
                </a:gsLst>
                <a:lin ang="540000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91" name="任意多边形: 形状 90" descr="0b816224-0fae-4973-8653-ec1f18a105cb">
                <a:extLst>
                  <a:ext uri="{FF2B5EF4-FFF2-40B4-BE49-F238E27FC236}">
                    <a16:creationId xmlns:a16="http://schemas.microsoft.com/office/drawing/2014/main" id="{76F90E43-13DF-8A36-396A-1B21AE20E974}"/>
                  </a:ext>
                </a:extLst>
              </p:cNvPr>
              <p:cNvSpPr/>
              <p:nvPr/>
            </p:nvSpPr>
            <p:spPr>
              <a:xfrm flipH="1">
                <a:off x="8939064" y="2270971"/>
                <a:ext cx="253631" cy="147127"/>
              </a:xfrm>
              <a:custGeom>
                <a:avLst/>
                <a:gdLst>
                  <a:gd name="connsiteX0" fmla="*/ 0 w 398225"/>
                  <a:gd name="connsiteY0" fmla="*/ 56848 h 293955"/>
                  <a:gd name="connsiteX1" fmla="*/ 0 w 398225"/>
                  <a:gd name="connsiteY1" fmla="*/ 0 h 293955"/>
                  <a:gd name="connsiteX2" fmla="*/ 216805 w 398225"/>
                  <a:gd name="connsiteY2" fmla="*/ 0 h 293955"/>
                  <a:gd name="connsiteX3" fmla="*/ 398225 w 398225"/>
                  <a:gd name="connsiteY3" fmla="*/ 175184 h 293955"/>
                  <a:gd name="connsiteX4" fmla="*/ 398225 w 398225"/>
                  <a:gd name="connsiteY4" fmla="*/ 187656 h 293955"/>
                  <a:gd name="connsiteX5" fmla="*/ 398225 w 398225"/>
                  <a:gd name="connsiteY5" fmla="*/ 212599 h 293955"/>
                  <a:gd name="connsiteX6" fmla="*/ 398225 w 398225"/>
                  <a:gd name="connsiteY6" fmla="*/ 293956 h 293955"/>
                  <a:gd name="connsiteX7" fmla="*/ 341377 w 398225"/>
                  <a:gd name="connsiteY7" fmla="*/ 293956 h 293955"/>
                  <a:gd name="connsiteX8" fmla="*/ 341377 w 398225"/>
                  <a:gd name="connsiteY8" fmla="*/ 188671 h 293955"/>
                  <a:gd name="connsiteX9" fmla="*/ 204478 w 398225"/>
                  <a:gd name="connsiteY9" fmla="*/ 56848 h 293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225" h="293955">
                    <a:moveTo>
                      <a:pt x="0" y="56848"/>
                    </a:moveTo>
                    <a:lnTo>
                      <a:pt x="0" y="0"/>
                    </a:lnTo>
                    <a:lnTo>
                      <a:pt x="216805" y="0"/>
                    </a:lnTo>
                    <a:lnTo>
                      <a:pt x="398225" y="175184"/>
                    </a:lnTo>
                    <a:lnTo>
                      <a:pt x="398225" y="187656"/>
                    </a:lnTo>
                    <a:lnTo>
                      <a:pt x="398225" y="212599"/>
                    </a:lnTo>
                    <a:lnTo>
                      <a:pt x="398225" y="293956"/>
                    </a:lnTo>
                    <a:lnTo>
                      <a:pt x="341377" y="293956"/>
                    </a:lnTo>
                    <a:lnTo>
                      <a:pt x="341377" y="188671"/>
                    </a:lnTo>
                    <a:lnTo>
                      <a:pt x="204478" y="56848"/>
                    </a:lnTo>
                    <a:close/>
                  </a:path>
                </a:pathLst>
              </a:custGeom>
              <a:gradFill flip="none" rotWithShape="1">
                <a:gsLst>
                  <a:gs pos="0">
                    <a:schemeClr val="accent2">
                      <a:lumMod val="60000"/>
                      <a:lumOff val="40000"/>
                    </a:schemeClr>
                  </a:gs>
                  <a:gs pos="45000">
                    <a:schemeClr val="accent2"/>
                  </a:gs>
                  <a:gs pos="100000">
                    <a:schemeClr val="accent1"/>
                  </a:gs>
                </a:gsLst>
                <a:lin ang="5400000" scaled="1"/>
                <a:tileRect/>
              </a:gradFill>
              <a:ln w="870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grpSp>
            <p:nvGrpSpPr>
              <p:cNvPr id="38" name="组合 37" descr="eefd96ca-d6bf-4e56-8b61-1dbce156b4e9">
                <a:extLst>
                  <a:ext uri="{FF2B5EF4-FFF2-40B4-BE49-F238E27FC236}">
                    <a16:creationId xmlns:a16="http://schemas.microsoft.com/office/drawing/2014/main" id="{C3DDE94A-AE6A-7322-2FEE-B8EF7FB7F955}"/>
                  </a:ext>
                </a:extLst>
              </p:cNvPr>
              <p:cNvGrpSpPr/>
              <p:nvPr/>
            </p:nvGrpSpPr>
            <p:grpSpPr>
              <a:xfrm>
                <a:off x="8952826" y="2137635"/>
                <a:ext cx="2583875" cy="3515775"/>
                <a:chOff x="8952826" y="2137635"/>
                <a:chExt cx="2583875" cy="3515775"/>
              </a:xfrm>
            </p:grpSpPr>
            <p:sp>
              <p:nvSpPr>
                <p:cNvPr id="86" name="ComponentBackground4" descr="5b9cd8fe-0a16-45e4-a355-f05cd6ecfd50">
                  <a:extLst>
                    <a:ext uri="{FF2B5EF4-FFF2-40B4-BE49-F238E27FC236}">
                      <a16:creationId xmlns:a16="http://schemas.microsoft.com/office/drawing/2014/main" id="{31ADA9E3-9779-2558-EC12-B6609D6737E0}"/>
                    </a:ext>
                  </a:extLst>
                </p:cNvPr>
                <p:cNvSpPr/>
                <p:nvPr/>
              </p:nvSpPr>
              <p:spPr>
                <a:xfrm flipH="1">
                  <a:off x="8952826" y="2137635"/>
                  <a:ext cx="2583875" cy="3284095"/>
                </a:xfrm>
                <a:custGeom>
                  <a:avLst/>
                  <a:gdLst>
                    <a:gd name="connsiteX0" fmla="*/ 113736 w 2653684"/>
                    <a:gd name="connsiteY0" fmla="*/ 0 h 3372822"/>
                    <a:gd name="connsiteX1" fmla="*/ 1415393 w 2653684"/>
                    <a:gd name="connsiteY1" fmla="*/ 0 h 3372822"/>
                    <a:gd name="connsiteX2" fmla="*/ 1585950 w 2653684"/>
                    <a:gd name="connsiteY2" fmla="*/ 153935 h 3372822"/>
                    <a:gd name="connsiteX3" fmla="*/ 2540044 w 2653684"/>
                    <a:gd name="connsiteY3" fmla="*/ 153935 h 3372822"/>
                    <a:gd name="connsiteX4" fmla="*/ 2653684 w 2653684"/>
                    <a:gd name="connsiteY4" fmla="*/ 233400 h 3372822"/>
                    <a:gd name="connsiteX5" fmla="*/ 2653684 w 2653684"/>
                    <a:gd name="connsiteY5" fmla="*/ 1207219 h 3372822"/>
                    <a:gd name="connsiteX6" fmla="*/ 2653684 w 2653684"/>
                    <a:gd name="connsiteY6" fmla="*/ 2319538 h 3372822"/>
                    <a:gd name="connsiteX7" fmla="*/ 2653684 w 2653684"/>
                    <a:gd name="connsiteY7" fmla="*/ 3293357 h 3372822"/>
                    <a:gd name="connsiteX8" fmla="*/ 2552659 w 2653684"/>
                    <a:gd name="connsiteY8" fmla="*/ 3372822 h 3372822"/>
                    <a:gd name="connsiteX9" fmla="*/ 107381 w 2653684"/>
                    <a:gd name="connsiteY9" fmla="*/ 3372822 h 3372822"/>
                    <a:gd name="connsiteX10" fmla="*/ 0 w 2653684"/>
                    <a:gd name="connsiteY10" fmla="*/ 3288362 h 3372822"/>
                    <a:gd name="connsiteX11" fmla="*/ 0 w 2653684"/>
                    <a:gd name="connsiteY11" fmla="*/ 2314543 h 3372822"/>
                    <a:gd name="connsiteX12" fmla="*/ 0 w 2653684"/>
                    <a:gd name="connsiteY12" fmla="*/ 1053284 h 3372822"/>
                    <a:gd name="connsiteX13" fmla="*/ 0 w 2653684"/>
                    <a:gd name="connsiteY13" fmla="*/ 79465 h 337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53684" h="3372822">
                      <a:moveTo>
                        <a:pt x="113736" y="0"/>
                      </a:moveTo>
                      <a:lnTo>
                        <a:pt x="1415393" y="0"/>
                      </a:lnTo>
                      <a:lnTo>
                        <a:pt x="1585950" y="153935"/>
                      </a:lnTo>
                      <a:lnTo>
                        <a:pt x="2540044" y="153935"/>
                      </a:lnTo>
                      <a:lnTo>
                        <a:pt x="2653684" y="233400"/>
                      </a:lnTo>
                      <a:lnTo>
                        <a:pt x="2653684" y="1207219"/>
                      </a:lnTo>
                      <a:lnTo>
                        <a:pt x="2653684" y="2319538"/>
                      </a:lnTo>
                      <a:lnTo>
                        <a:pt x="2653684" y="3293357"/>
                      </a:lnTo>
                      <a:lnTo>
                        <a:pt x="2552659" y="3372822"/>
                      </a:lnTo>
                      <a:lnTo>
                        <a:pt x="107381" y="3372822"/>
                      </a:lnTo>
                      <a:lnTo>
                        <a:pt x="0" y="3288362"/>
                      </a:lnTo>
                      <a:lnTo>
                        <a:pt x="0" y="2314543"/>
                      </a:lnTo>
                      <a:lnTo>
                        <a:pt x="0" y="1053284"/>
                      </a:lnTo>
                      <a:lnTo>
                        <a:pt x="0" y="79465"/>
                      </a:lnTo>
                      <a:close/>
                    </a:path>
                  </a:pathLst>
                </a:custGeom>
                <a:gradFill>
                  <a:gsLst>
                    <a:gs pos="0">
                      <a:schemeClr val="accent1">
                        <a:alpha val="30000"/>
                      </a:schemeClr>
                    </a:gs>
                    <a:gs pos="88000">
                      <a:schemeClr val="accent1">
                        <a:alpha val="0"/>
                      </a:schemeClr>
                    </a:gs>
                  </a:gsLst>
                  <a:lin ang="5400000" scaled="0"/>
                </a:gradFill>
                <a:ln w="3030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a:p>
              </p:txBody>
            </p:sp>
            <p:sp>
              <p:nvSpPr>
                <p:cNvPr id="82" name="Bullet4" descr="e0eab535-91ec-4c40-8c59-83daba73d4cf">
                  <a:extLst>
                    <a:ext uri="{FF2B5EF4-FFF2-40B4-BE49-F238E27FC236}">
                      <a16:creationId xmlns:a16="http://schemas.microsoft.com/office/drawing/2014/main" id="{792E1B7D-DAA8-CF58-821C-6552B54CE5DD}"/>
                    </a:ext>
                  </a:extLst>
                </p:cNvPr>
                <p:cNvSpPr txBox="1">
                  <a:spLocks/>
                </p:cNvSpPr>
                <p:nvPr/>
              </p:nvSpPr>
              <p:spPr>
                <a:xfrm flipH="1">
                  <a:off x="9037501" y="3385725"/>
                  <a:ext cx="2449860" cy="778646"/>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2000" b="1" i="0" u="none" strike="noStrike">
                      <a:solidFill>
                        <a:srgbClr val="000000"/>
                      </a:solidFill>
                      <a:latin typeface="Arial"/>
                    </a:rPr>
                    <a:t>MLOps集成</a:t>
                  </a:r>
                </a:p>
              </p:txBody>
            </p:sp>
            <p:sp>
              <p:nvSpPr>
                <p:cNvPr id="83" name="Text4" descr="82037393-5dce-436e-bd7a-db0c86fd0c5d">
                  <a:extLst>
                    <a:ext uri="{FF2B5EF4-FFF2-40B4-BE49-F238E27FC236}">
                      <a16:creationId xmlns:a16="http://schemas.microsoft.com/office/drawing/2014/main" id="{A312C238-470B-9F33-4E99-D60CE1085C9A}"/>
                    </a:ext>
                  </a:extLst>
                </p:cNvPr>
                <p:cNvSpPr txBox="1">
                  <a:spLocks/>
                </p:cNvSpPr>
                <p:nvPr/>
              </p:nvSpPr>
              <p:spPr>
                <a:xfrm flipH="1">
                  <a:off x="9020250" y="4278772"/>
                  <a:ext cx="2449860" cy="1374638"/>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与模型训练、部署、监控系统无缝衔接，确保特征工程与整个AI系统的协同工作</a:t>
                  </a:r>
                  <a:r>
                    <a:rPr lang="en-US" sz="1600" b="0" i="0" u="none" strike="noStrike" dirty="0">
                      <a:solidFill>
                        <a:srgbClr val="000000"/>
                      </a:solidFill>
                      <a:ea typeface="微软雅黑"/>
                    </a:rPr>
                    <a:t>。</a:t>
                  </a:r>
                </a:p>
              </p:txBody>
            </p:sp>
            <p:sp>
              <p:nvSpPr>
                <p:cNvPr id="85" name="Number4" descr="09e9e85d-c731-464e-b60f-d78bfd0f3d1e">
                  <a:extLst>
                    <a:ext uri="{FF2B5EF4-FFF2-40B4-BE49-F238E27FC236}">
                      <a16:creationId xmlns:a16="http://schemas.microsoft.com/office/drawing/2014/main" id="{3D7CFA5B-A563-60CC-0CC3-B31759F57A37}"/>
                    </a:ext>
                  </a:extLst>
                </p:cNvPr>
                <p:cNvSpPr/>
                <p:nvPr/>
              </p:nvSpPr>
              <p:spPr>
                <a:xfrm flipH="1">
                  <a:off x="9756398" y="2439028"/>
                  <a:ext cx="975251" cy="823705"/>
                </a:xfrm>
                <a:prstGeom prst="rect">
                  <a:avLst/>
                </a:prstGeom>
                <a:noFill/>
              </p:spPr>
              <p:txBody>
                <a:bodyPr wrap="none" lIns="91440" tIns="45720" rIns="91440" bIns="45720" rtlCol="0" anchor="b" anchorCtr="0">
                  <a:normAutofit fontScale="92500" lnSpcReduction="20000"/>
                </a:bodyPr>
                <a:lstStyle/>
                <a:p>
                  <a:pPr algn="ctr">
                    <a:lnSpc>
                      <a:spcPct val="108000"/>
                    </a:lnSpc>
                  </a:pPr>
                  <a:r>
                    <a:rPr lang="en-US" sz="5400" b="1" i="1" u="none">
                      <a:solidFill>
                        <a:srgbClr val="000000"/>
                      </a:solidFill>
                      <a:latin typeface="Arial"/>
                    </a:rPr>
                    <a:t>4</a:t>
                  </a:r>
                </a:p>
              </p:txBody>
            </p:sp>
          </p:gr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altLang="zh-CN" sz="3200" b="1" dirty="0" err="1"/>
              <a:t>特征工程一体化架构</a:t>
            </a:r>
            <a:r>
              <a:rPr lang="en-US" altLang="zh-CN" sz="3200" b="1" dirty="0"/>
              <a:t> </a:t>
            </a:r>
            <a:r>
              <a:rPr lang="en-US" sz="3200" b="1" dirty="0" err="1"/>
              <a:t>优势与挑战</a:t>
            </a:r>
            <a:endParaRPr lang="en-US" sz="3200" b="1" dirty="0"/>
          </a:p>
        </p:txBody>
      </p:sp>
      <p:grpSp>
        <p:nvGrpSpPr>
          <p:cNvPr id="20" name="209b288e-08fb-4dd4-aa76-a4b68b900cab.source.6.zh-Hans.pptx" descr="610361b9-c193-454d-9838-e9d0036117ea">
            <a:extLst>
              <a:ext uri="{FF2B5EF4-FFF2-40B4-BE49-F238E27FC236}">
                <a16:creationId xmlns:a16="http://schemas.microsoft.com/office/drawing/2014/main" id="{1CC5096E-D423-6F99-663F-611CEE1767F8}"/>
              </a:ext>
            </a:extLst>
          </p:cNvPr>
          <p:cNvGrpSpPr/>
          <p:nvPr/>
        </p:nvGrpSpPr>
        <p:grpSpPr>
          <a:xfrm>
            <a:off x="660400" y="1655179"/>
            <a:ext cx="10858500" cy="4478921"/>
            <a:chOff x="660400" y="1655179"/>
            <a:chExt cx="10858500" cy="4478921"/>
          </a:xfrm>
        </p:grpSpPr>
        <p:grpSp>
          <p:nvGrpSpPr>
            <p:cNvPr id="7" name="组合 6" descr="50efabfc-e571-42fa-b7dc-73292162890c">
              <a:extLst>
                <a:ext uri="{FF2B5EF4-FFF2-40B4-BE49-F238E27FC236}">
                  <a16:creationId xmlns:a16="http://schemas.microsoft.com/office/drawing/2014/main" id="{20FC069C-BD57-A738-99B8-96E17CC73900}"/>
                </a:ext>
              </a:extLst>
            </p:cNvPr>
            <p:cNvGrpSpPr/>
            <p:nvPr/>
          </p:nvGrpSpPr>
          <p:grpSpPr>
            <a:xfrm>
              <a:off x="660400" y="1655179"/>
              <a:ext cx="5298964" cy="1331051"/>
              <a:chOff x="660400" y="1655179"/>
              <a:chExt cx="5298964" cy="1331051"/>
            </a:xfrm>
          </p:grpSpPr>
          <p:sp>
            <p:nvSpPr>
              <p:cNvPr id="6" name="ComponentBackground1" descr="d8847070-2757-4fe5-8f58-06ae9ea1e04d">
                <a:extLst>
                  <a:ext uri="{FF2B5EF4-FFF2-40B4-BE49-F238E27FC236}">
                    <a16:creationId xmlns:a16="http://schemas.microsoft.com/office/drawing/2014/main" id="{45F5BDA1-076D-0AB0-F85D-B323CE43A507}"/>
                  </a:ext>
                </a:extLst>
              </p:cNvPr>
              <p:cNvSpPr/>
              <p:nvPr/>
            </p:nvSpPr>
            <p:spPr>
              <a:xfrm>
                <a:off x="663464" y="1655179"/>
                <a:ext cx="5295900" cy="1331051"/>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sz="2400"/>
              </a:p>
            </p:txBody>
          </p:sp>
          <p:sp>
            <p:nvSpPr>
              <p:cNvPr id="3" name="Text1" descr="8d05f4e5-618d-42e7-975d-10ed0e90d88a">
                <a:extLst>
                  <a:ext uri="{FF2B5EF4-FFF2-40B4-BE49-F238E27FC236}">
                    <a16:creationId xmlns:a16="http://schemas.microsoft.com/office/drawing/2014/main" id="{86C8F872-3557-1A0F-FDB3-D2803E227528}"/>
                  </a:ext>
                </a:extLst>
              </p:cNvPr>
              <p:cNvSpPr txBox="1">
                <a:spLocks/>
              </p:cNvSpPr>
              <p:nvPr/>
            </p:nvSpPr>
            <p:spPr>
              <a:xfrm>
                <a:off x="1232157" y="2088336"/>
                <a:ext cx="4679693" cy="845363"/>
              </a:xfrm>
              <a:prstGeom prst="rect">
                <a:avLst/>
              </a:prstGeom>
              <a:noFill/>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b="0" i="0" u="none" dirty="0" err="1">
                    <a:solidFill>
                      <a:srgbClr val="000000"/>
                    </a:solidFill>
                    <a:ea typeface="微软雅黑"/>
                  </a:rPr>
                  <a:t>通过自动化和集成化的特征处理流程，减少人工操作，从而显著提升开发效率，降低开发门槛</a:t>
                </a:r>
                <a:r>
                  <a:rPr lang="en-US" b="0" i="0" u="none" dirty="0">
                    <a:solidFill>
                      <a:srgbClr val="000000"/>
                    </a:solidFill>
                    <a:ea typeface="微软雅黑"/>
                  </a:rPr>
                  <a:t>。</a:t>
                </a:r>
              </a:p>
            </p:txBody>
          </p:sp>
          <p:sp>
            <p:nvSpPr>
              <p:cNvPr id="4" name="Bullet1" descr="1d847ba8-722a-4c53-9819-98edc7905da5">
                <a:extLst>
                  <a:ext uri="{FF2B5EF4-FFF2-40B4-BE49-F238E27FC236}">
                    <a16:creationId xmlns:a16="http://schemas.microsoft.com/office/drawing/2014/main" id="{4A371605-2677-2740-AF85-E2AB44027F3F}"/>
                  </a:ext>
                </a:extLst>
              </p:cNvPr>
              <p:cNvSpPr txBox="1">
                <a:spLocks/>
              </p:cNvSpPr>
              <p:nvPr/>
            </p:nvSpPr>
            <p:spPr>
              <a:xfrm>
                <a:off x="1232157" y="1697384"/>
                <a:ext cx="4679693" cy="390954"/>
              </a:xfrm>
              <a:prstGeom prst="rect">
                <a:avLst/>
              </a:prstGeom>
              <a:noFill/>
            </p:spPr>
            <p:txBody>
              <a:bodyPr wrap="square"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2000" b="1" i="0" u="none" strike="noStrike" dirty="0" err="1">
                    <a:solidFill>
                      <a:srgbClr val="000000"/>
                    </a:solidFill>
                    <a:ea typeface="微软雅黑"/>
                  </a:rPr>
                  <a:t>提升开发效率</a:t>
                </a:r>
                <a:endParaRPr lang="en-US" sz="2000" b="1" i="0" u="none" strike="noStrike" dirty="0">
                  <a:solidFill>
                    <a:srgbClr val="000000"/>
                  </a:solidFill>
                  <a:ea typeface="微软雅黑"/>
                </a:endParaRPr>
              </a:p>
            </p:txBody>
          </p:sp>
          <p:sp>
            <p:nvSpPr>
              <p:cNvPr id="26" name="Number1" descr="0913473b-aceb-46b8-9dc2-4604a7efa840">
                <a:extLst>
                  <a:ext uri="{FF2B5EF4-FFF2-40B4-BE49-F238E27FC236}">
                    <a16:creationId xmlns:a16="http://schemas.microsoft.com/office/drawing/2014/main" id="{49173707-01E9-6556-6D5F-5AAC3621D9EA}"/>
                  </a:ext>
                </a:extLst>
              </p:cNvPr>
              <p:cNvSpPr>
                <a:spLocks/>
              </p:cNvSpPr>
              <p:nvPr/>
            </p:nvSpPr>
            <p:spPr>
              <a:xfrm>
                <a:off x="660400" y="1657350"/>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2000" b="0" i="0" u="none">
                    <a:solidFill>
                      <a:srgbClr val="FFFFFF"/>
                    </a:solidFill>
                    <a:latin typeface="Arial"/>
                  </a:rPr>
                  <a:t>1</a:t>
                </a:r>
              </a:p>
            </p:txBody>
          </p:sp>
        </p:grpSp>
        <p:grpSp>
          <p:nvGrpSpPr>
            <p:cNvPr id="9" name="组合 8" descr="875f47d1-06d5-4f17-a0f3-61dca6fcb9f4">
              <a:extLst>
                <a:ext uri="{FF2B5EF4-FFF2-40B4-BE49-F238E27FC236}">
                  <a16:creationId xmlns:a16="http://schemas.microsoft.com/office/drawing/2014/main" id="{5F5BE342-CA3E-5D66-43FC-573274645B99}"/>
                </a:ext>
              </a:extLst>
            </p:cNvPr>
            <p:cNvGrpSpPr/>
            <p:nvPr/>
          </p:nvGrpSpPr>
          <p:grpSpPr>
            <a:xfrm>
              <a:off x="660400" y="3229114"/>
              <a:ext cx="5298964" cy="1331051"/>
              <a:chOff x="660400" y="2791234"/>
              <a:chExt cx="5298964" cy="1331051"/>
            </a:xfrm>
          </p:grpSpPr>
          <p:sp>
            <p:nvSpPr>
              <p:cNvPr id="146" name="ComponentBackground2" descr="9942b1e8-13b0-4c08-8ee6-b2196060e4cc">
                <a:extLst>
                  <a:ext uri="{FF2B5EF4-FFF2-40B4-BE49-F238E27FC236}">
                    <a16:creationId xmlns:a16="http://schemas.microsoft.com/office/drawing/2014/main" id="{F8144EDC-445C-75BF-D31A-AFDF0243A422}"/>
                  </a:ext>
                </a:extLst>
              </p:cNvPr>
              <p:cNvSpPr/>
              <p:nvPr/>
            </p:nvSpPr>
            <p:spPr>
              <a:xfrm>
                <a:off x="663464" y="2791234"/>
                <a:ext cx="5295900" cy="1331051"/>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sz="2400"/>
              </a:p>
            </p:txBody>
          </p:sp>
          <p:sp>
            <p:nvSpPr>
              <p:cNvPr id="148" name="Text2" descr="892e95b6-b77b-4026-b6f5-b456a3387e58">
                <a:extLst>
                  <a:ext uri="{FF2B5EF4-FFF2-40B4-BE49-F238E27FC236}">
                    <a16:creationId xmlns:a16="http://schemas.microsoft.com/office/drawing/2014/main" id="{4ABDADAE-FAB7-0A6F-729A-9D2629900B7B}"/>
                  </a:ext>
                </a:extLst>
              </p:cNvPr>
              <p:cNvSpPr txBox="1">
                <a:spLocks/>
              </p:cNvSpPr>
              <p:nvPr/>
            </p:nvSpPr>
            <p:spPr>
              <a:xfrm>
                <a:off x="1232157" y="3224391"/>
                <a:ext cx="4679693" cy="845363"/>
              </a:xfrm>
              <a:prstGeom prst="rect">
                <a:avLst/>
              </a:prstGeom>
              <a:noFill/>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b="0" i="0" u="none" dirty="0" err="1">
                    <a:solidFill>
                      <a:srgbClr val="000000"/>
                    </a:solidFill>
                    <a:ea typeface="微软雅黑"/>
                  </a:rPr>
                  <a:t>标准化的特征处理流程和统一的存储方式，使得模型在不同环境和时间下具有更好的可复现性</a:t>
                </a:r>
                <a:r>
                  <a:rPr lang="en-US" b="0" i="0" u="none" dirty="0">
                    <a:solidFill>
                      <a:srgbClr val="000000"/>
                    </a:solidFill>
                    <a:ea typeface="微软雅黑"/>
                  </a:rPr>
                  <a:t>。</a:t>
                </a:r>
              </a:p>
            </p:txBody>
          </p:sp>
          <p:sp>
            <p:nvSpPr>
              <p:cNvPr id="149" name="Bullet2" descr="17cbaaed-2bdb-404f-8880-4e1b03296505">
                <a:extLst>
                  <a:ext uri="{FF2B5EF4-FFF2-40B4-BE49-F238E27FC236}">
                    <a16:creationId xmlns:a16="http://schemas.microsoft.com/office/drawing/2014/main" id="{3D7448CC-8BF9-72E2-EA5F-1D2C85CA7763}"/>
                  </a:ext>
                </a:extLst>
              </p:cNvPr>
              <p:cNvSpPr txBox="1">
                <a:spLocks/>
              </p:cNvSpPr>
              <p:nvPr/>
            </p:nvSpPr>
            <p:spPr>
              <a:xfrm>
                <a:off x="1232157" y="2833439"/>
                <a:ext cx="4679693" cy="390954"/>
              </a:xfrm>
              <a:prstGeom prst="rect">
                <a:avLst/>
              </a:prstGeom>
              <a:noFill/>
            </p:spPr>
            <p:txBody>
              <a:bodyPr wrap="square"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2000" b="1" i="0" u="none" strike="noStrike">
                    <a:solidFill>
                      <a:srgbClr val="000000"/>
                    </a:solidFill>
                    <a:ea typeface="微软雅黑"/>
                  </a:rPr>
                  <a:t>增强模型可复现性</a:t>
                </a:r>
              </a:p>
            </p:txBody>
          </p:sp>
          <p:sp>
            <p:nvSpPr>
              <p:cNvPr id="145" name="Number2" descr="4bda5119-c18d-4b28-818c-6ac9d23959b1">
                <a:extLst>
                  <a:ext uri="{FF2B5EF4-FFF2-40B4-BE49-F238E27FC236}">
                    <a16:creationId xmlns:a16="http://schemas.microsoft.com/office/drawing/2014/main" id="{3E804EB5-513E-997A-F8F8-4E7433CBE770}"/>
                  </a:ext>
                </a:extLst>
              </p:cNvPr>
              <p:cNvSpPr>
                <a:spLocks/>
              </p:cNvSpPr>
              <p:nvPr/>
            </p:nvSpPr>
            <p:spPr>
              <a:xfrm>
                <a:off x="660400" y="2793405"/>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2000" b="0" i="0" u="none">
                    <a:solidFill>
                      <a:srgbClr val="FFFFFF"/>
                    </a:solidFill>
                    <a:latin typeface="Arial"/>
                  </a:rPr>
                  <a:t>2</a:t>
                </a:r>
              </a:p>
            </p:txBody>
          </p:sp>
        </p:grpSp>
        <p:grpSp>
          <p:nvGrpSpPr>
            <p:cNvPr id="10" name="组合 9" descr="ac922ab3-3dc4-4af4-af3e-c1e4904f5d9b">
              <a:extLst>
                <a:ext uri="{FF2B5EF4-FFF2-40B4-BE49-F238E27FC236}">
                  <a16:creationId xmlns:a16="http://schemas.microsoft.com/office/drawing/2014/main" id="{D11F3AB1-C653-4285-BF5C-2388F7782563}"/>
                </a:ext>
              </a:extLst>
            </p:cNvPr>
            <p:cNvGrpSpPr/>
            <p:nvPr/>
          </p:nvGrpSpPr>
          <p:grpSpPr>
            <a:xfrm>
              <a:off x="660400" y="4803049"/>
              <a:ext cx="5298964" cy="1331051"/>
              <a:chOff x="660400" y="3927289"/>
              <a:chExt cx="5298964" cy="1331051"/>
            </a:xfrm>
          </p:grpSpPr>
          <p:sp>
            <p:nvSpPr>
              <p:cNvPr id="153" name="ComponentBackground3" descr="6ac36b09-7248-4ea9-a8c6-91d3c1967b26">
                <a:extLst>
                  <a:ext uri="{FF2B5EF4-FFF2-40B4-BE49-F238E27FC236}">
                    <a16:creationId xmlns:a16="http://schemas.microsoft.com/office/drawing/2014/main" id="{D106C333-3BB7-1317-B021-0965CAB4A083}"/>
                  </a:ext>
                </a:extLst>
              </p:cNvPr>
              <p:cNvSpPr/>
              <p:nvPr/>
            </p:nvSpPr>
            <p:spPr>
              <a:xfrm>
                <a:off x="663464" y="3927289"/>
                <a:ext cx="5295900" cy="1331051"/>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sz="2400"/>
              </a:p>
            </p:txBody>
          </p:sp>
          <p:sp>
            <p:nvSpPr>
              <p:cNvPr id="155" name="Text3" descr="228b7dc2-9c8d-4fe0-876f-10cdccd83a78">
                <a:extLst>
                  <a:ext uri="{FF2B5EF4-FFF2-40B4-BE49-F238E27FC236}">
                    <a16:creationId xmlns:a16="http://schemas.microsoft.com/office/drawing/2014/main" id="{029AF123-ADF0-9B53-A822-4DDAFE55934A}"/>
                  </a:ext>
                </a:extLst>
              </p:cNvPr>
              <p:cNvSpPr txBox="1">
                <a:spLocks/>
              </p:cNvSpPr>
              <p:nvPr/>
            </p:nvSpPr>
            <p:spPr>
              <a:xfrm>
                <a:off x="1232157" y="4360446"/>
                <a:ext cx="4679693" cy="845363"/>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600" b="0" i="0" u="none" dirty="0" err="1">
                    <a:solidFill>
                      <a:srgbClr val="000000"/>
                    </a:solidFill>
                    <a:ea typeface="微软雅黑"/>
                  </a:rPr>
                  <a:t>实现跨项目、跨团队的特征共享与版本管理，支持大规模特征复用，降低重复开发成本</a:t>
                </a:r>
                <a:r>
                  <a:rPr lang="en-US" sz="1600" b="0" i="0" u="none" dirty="0">
                    <a:solidFill>
                      <a:srgbClr val="000000"/>
                    </a:solidFill>
                    <a:ea typeface="微软雅黑"/>
                  </a:rPr>
                  <a:t>。</a:t>
                </a:r>
              </a:p>
            </p:txBody>
          </p:sp>
          <p:sp>
            <p:nvSpPr>
              <p:cNvPr id="156" name="Bullet3" descr="cb6f4501-2e22-4269-8e9e-647b99daf518">
                <a:extLst>
                  <a:ext uri="{FF2B5EF4-FFF2-40B4-BE49-F238E27FC236}">
                    <a16:creationId xmlns:a16="http://schemas.microsoft.com/office/drawing/2014/main" id="{8FC947B6-E24A-BAB4-55E3-61C3D7709988}"/>
                  </a:ext>
                </a:extLst>
              </p:cNvPr>
              <p:cNvSpPr txBox="1">
                <a:spLocks/>
              </p:cNvSpPr>
              <p:nvPr/>
            </p:nvSpPr>
            <p:spPr>
              <a:xfrm>
                <a:off x="1232157" y="3969494"/>
                <a:ext cx="4679693" cy="390954"/>
              </a:xfrm>
              <a:prstGeom prst="rect">
                <a:avLst/>
              </a:prstGeom>
              <a:noFill/>
            </p:spPr>
            <p:txBody>
              <a:bodyPr wrap="square"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2000" b="1" i="0" u="none" strike="noStrike">
                    <a:solidFill>
                      <a:srgbClr val="000000"/>
                    </a:solidFill>
                    <a:ea typeface="微软雅黑"/>
                  </a:rPr>
                  <a:t>支持大规模特征复用</a:t>
                </a:r>
              </a:p>
            </p:txBody>
          </p:sp>
          <p:sp>
            <p:nvSpPr>
              <p:cNvPr id="152" name="Number3" descr="dac8ea8d-bbba-4ce4-a71e-8cbe44c0c37d">
                <a:extLst>
                  <a:ext uri="{FF2B5EF4-FFF2-40B4-BE49-F238E27FC236}">
                    <a16:creationId xmlns:a16="http://schemas.microsoft.com/office/drawing/2014/main" id="{13777429-56F2-6943-4B26-B020CBC90957}"/>
                  </a:ext>
                </a:extLst>
              </p:cNvPr>
              <p:cNvSpPr>
                <a:spLocks/>
              </p:cNvSpPr>
              <p:nvPr/>
            </p:nvSpPr>
            <p:spPr>
              <a:xfrm>
                <a:off x="660400" y="3929460"/>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2000" b="0" i="0" u="none">
                    <a:solidFill>
                      <a:srgbClr val="FFFFFF"/>
                    </a:solidFill>
                    <a:latin typeface="Arial"/>
                  </a:rPr>
                  <a:t>3</a:t>
                </a:r>
              </a:p>
            </p:txBody>
          </p:sp>
        </p:grpSp>
        <p:grpSp>
          <p:nvGrpSpPr>
            <p:cNvPr id="11" name="组合 10" descr="8f415f42-dbdd-462f-8647-9b1ec406e0ad">
              <a:extLst>
                <a:ext uri="{FF2B5EF4-FFF2-40B4-BE49-F238E27FC236}">
                  <a16:creationId xmlns:a16="http://schemas.microsoft.com/office/drawing/2014/main" id="{5622374E-F68D-A33E-BE4B-1259B4F1EBB0}"/>
                </a:ext>
              </a:extLst>
            </p:cNvPr>
            <p:cNvGrpSpPr/>
            <p:nvPr/>
          </p:nvGrpSpPr>
          <p:grpSpPr>
            <a:xfrm>
              <a:off x="6219936" y="1655179"/>
              <a:ext cx="5298964" cy="1331051"/>
              <a:chOff x="660400" y="5063345"/>
              <a:chExt cx="5298964" cy="1331051"/>
            </a:xfrm>
          </p:grpSpPr>
          <p:sp>
            <p:nvSpPr>
              <p:cNvPr id="174" name="ComponentBackground4" descr="0845663c-8368-4d43-bf27-53598437761c">
                <a:extLst>
                  <a:ext uri="{FF2B5EF4-FFF2-40B4-BE49-F238E27FC236}">
                    <a16:creationId xmlns:a16="http://schemas.microsoft.com/office/drawing/2014/main" id="{50EDA5AC-8B84-CCC1-EB86-4486DF1974B2}"/>
                  </a:ext>
                </a:extLst>
              </p:cNvPr>
              <p:cNvSpPr/>
              <p:nvPr/>
            </p:nvSpPr>
            <p:spPr>
              <a:xfrm>
                <a:off x="663464" y="5063345"/>
                <a:ext cx="5295900" cy="1331051"/>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sz="2400"/>
              </a:p>
            </p:txBody>
          </p:sp>
          <p:sp>
            <p:nvSpPr>
              <p:cNvPr id="176" name="Text4" descr="722fc235-29ba-42b1-9dcd-9fe3ba13fd63">
                <a:extLst>
                  <a:ext uri="{FF2B5EF4-FFF2-40B4-BE49-F238E27FC236}">
                    <a16:creationId xmlns:a16="http://schemas.microsoft.com/office/drawing/2014/main" id="{B5C0BBB7-436B-5A94-F5DC-6F049BB3670F}"/>
                  </a:ext>
                </a:extLst>
              </p:cNvPr>
              <p:cNvSpPr txBox="1">
                <a:spLocks/>
              </p:cNvSpPr>
              <p:nvPr/>
            </p:nvSpPr>
            <p:spPr>
              <a:xfrm>
                <a:off x="1232157" y="5496502"/>
                <a:ext cx="4679693" cy="845363"/>
              </a:xfrm>
              <a:prstGeom prst="rect">
                <a:avLst/>
              </a:prstGeom>
              <a:noFill/>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b="0" i="0" u="none" dirty="0" err="1">
                    <a:solidFill>
                      <a:srgbClr val="000000"/>
                    </a:solidFill>
                    <a:ea typeface="微软雅黑"/>
                  </a:rPr>
                  <a:t>在特征生成和选择过程中，可能存在特征冗余的情况，增加了过拟合的风险，需要有效控制</a:t>
                </a:r>
                <a:r>
                  <a:rPr lang="en-US" b="0" i="0" u="none" dirty="0">
                    <a:solidFill>
                      <a:srgbClr val="000000"/>
                    </a:solidFill>
                    <a:ea typeface="微软雅黑"/>
                  </a:rPr>
                  <a:t>。</a:t>
                </a:r>
              </a:p>
            </p:txBody>
          </p:sp>
          <p:sp>
            <p:nvSpPr>
              <p:cNvPr id="177" name="Bullet4" descr="f78cdf3c-ab0a-4b24-9cf2-6939cd811d75">
                <a:extLst>
                  <a:ext uri="{FF2B5EF4-FFF2-40B4-BE49-F238E27FC236}">
                    <a16:creationId xmlns:a16="http://schemas.microsoft.com/office/drawing/2014/main" id="{C39713CF-D3C3-745E-B3CE-5B5D4BBE50B0}"/>
                  </a:ext>
                </a:extLst>
              </p:cNvPr>
              <p:cNvSpPr txBox="1">
                <a:spLocks/>
              </p:cNvSpPr>
              <p:nvPr/>
            </p:nvSpPr>
            <p:spPr>
              <a:xfrm>
                <a:off x="1232157" y="5105550"/>
                <a:ext cx="4679693" cy="390954"/>
              </a:xfrm>
              <a:prstGeom prst="rect">
                <a:avLst/>
              </a:prstGeom>
              <a:noFill/>
            </p:spPr>
            <p:txBody>
              <a:bodyPr wrap="square"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2000" b="1" i="0" u="none" strike="noStrike" dirty="0">
                    <a:solidFill>
                      <a:srgbClr val="000000"/>
                    </a:solidFill>
                    <a:ea typeface="微软雅黑"/>
                  </a:rPr>
                  <a:t>降低</a:t>
                </a:r>
                <a:r>
                  <a:rPr lang="en-US" sz="2000" b="1" i="0" u="none" strike="noStrike" dirty="0" err="1">
                    <a:solidFill>
                      <a:srgbClr val="000000"/>
                    </a:solidFill>
                    <a:ea typeface="微软雅黑"/>
                  </a:rPr>
                  <a:t>特征冗余与过拟合风险</a:t>
                </a:r>
                <a:endParaRPr lang="en-US" sz="2000" b="1" i="0" u="none" strike="noStrike" dirty="0">
                  <a:solidFill>
                    <a:srgbClr val="000000"/>
                  </a:solidFill>
                  <a:ea typeface="微软雅黑"/>
                </a:endParaRPr>
              </a:p>
            </p:txBody>
          </p:sp>
          <p:sp>
            <p:nvSpPr>
              <p:cNvPr id="173" name="Number4" descr="e7fc263e-119f-4572-a9e2-7cfbcd89e715">
                <a:extLst>
                  <a:ext uri="{FF2B5EF4-FFF2-40B4-BE49-F238E27FC236}">
                    <a16:creationId xmlns:a16="http://schemas.microsoft.com/office/drawing/2014/main" id="{1BC09EAB-3C45-68FD-4A52-A12B7F7AA55D}"/>
                  </a:ext>
                </a:extLst>
              </p:cNvPr>
              <p:cNvSpPr>
                <a:spLocks/>
              </p:cNvSpPr>
              <p:nvPr/>
            </p:nvSpPr>
            <p:spPr>
              <a:xfrm>
                <a:off x="660400" y="5065516"/>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2000" b="0" i="0" u="none">
                    <a:solidFill>
                      <a:srgbClr val="FFFFFF"/>
                    </a:solidFill>
                    <a:latin typeface="Arial"/>
                  </a:rPr>
                  <a:t>4</a:t>
                </a:r>
              </a:p>
            </p:txBody>
          </p:sp>
        </p:grpSp>
        <p:grpSp>
          <p:nvGrpSpPr>
            <p:cNvPr id="12" name="组合 11" descr="e7b31aaf-f973-4e19-9f44-c74d809ce496">
              <a:extLst>
                <a:ext uri="{FF2B5EF4-FFF2-40B4-BE49-F238E27FC236}">
                  <a16:creationId xmlns:a16="http://schemas.microsoft.com/office/drawing/2014/main" id="{A8BCE831-5716-E931-BBBD-9E4D4F05B477}"/>
                </a:ext>
              </a:extLst>
            </p:cNvPr>
            <p:cNvGrpSpPr/>
            <p:nvPr/>
          </p:nvGrpSpPr>
          <p:grpSpPr>
            <a:xfrm>
              <a:off x="6219936" y="3229114"/>
              <a:ext cx="5298964" cy="1331051"/>
              <a:chOff x="6219936" y="1655179"/>
              <a:chExt cx="5298964" cy="1331051"/>
            </a:xfrm>
          </p:grpSpPr>
          <p:sp>
            <p:nvSpPr>
              <p:cNvPr id="181" name="ComponentBackground5" descr="a3bf025e-f9fb-454e-bb8f-de39731988cb">
                <a:extLst>
                  <a:ext uri="{FF2B5EF4-FFF2-40B4-BE49-F238E27FC236}">
                    <a16:creationId xmlns:a16="http://schemas.microsoft.com/office/drawing/2014/main" id="{2F8BEDF8-C65D-F5BC-F55D-4E1AB41D7849}"/>
                  </a:ext>
                </a:extLst>
              </p:cNvPr>
              <p:cNvSpPr/>
              <p:nvPr/>
            </p:nvSpPr>
            <p:spPr>
              <a:xfrm>
                <a:off x="6223000" y="1655179"/>
                <a:ext cx="5295900" cy="1331051"/>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sz="2400"/>
              </a:p>
            </p:txBody>
          </p:sp>
          <p:sp>
            <p:nvSpPr>
              <p:cNvPr id="183" name="Text5" descr="c1a67250-03a9-4d9a-99fd-273c222772f8">
                <a:extLst>
                  <a:ext uri="{FF2B5EF4-FFF2-40B4-BE49-F238E27FC236}">
                    <a16:creationId xmlns:a16="http://schemas.microsoft.com/office/drawing/2014/main" id="{2B7A170B-C87E-6359-1CF6-B2235B56908B}"/>
                  </a:ext>
                </a:extLst>
              </p:cNvPr>
              <p:cNvSpPr txBox="1">
                <a:spLocks/>
              </p:cNvSpPr>
              <p:nvPr/>
            </p:nvSpPr>
            <p:spPr>
              <a:xfrm>
                <a:off x="6791693" y="2088336"/>
                <a:ext cx="4679693" cy="845363"/>
              </a:xfrm>
              <a:prstGeom prst="rect">
                <a:avLst/>
              </a:prstGeom>
              <a:noFill/>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b="0" i="0" u="none" dirty="0" err="1">
                    <a:solidFill>
                      <a:srgbClr val="000000"/>
                    </a:solidFill>
                    <a:ea typeface="微软雅黑"/>
                  </a:rPr>
                  <a:t>高性能在线服务对延迟要求严苛，需要架构具备高效的在线特征服务能力，以满足实时推理的需求</a:t>
                </a:r>
                <a:r>
                  <a:rPr lang="en-US" b="0" i="0" u="none" dirty="0">
                    <a:solidFill>
                      <a:srgbClr val="000000"/>
                    </a:solidFill>
                    <a:ea typeface="微软雅黑"/>
                  </a:rPr>
                  <a:t>。</a:t>
                </a:r>
              </a:p>
            </p:txBody>
          </p:sp>
          <p:sp>
            <p:nvSpPr>
              <p:cNvPr id="184" name="Bullet5" descr="602b1ca5-abb5-4879-86ca-9bfa99d27dba">
                <a:extLst>
                  <a:ext uri="{FF2B5EF4-FFF2-40B4-BE49-F238E27FC236}">
                    <a16:creationId xmlns:a16="http://schemas.microsoft.com/office/drawing/2014/main" id="{A18628FF-6F5C-7E39-4545-DE84EEF32442}"/>
                  </a:ext>
                </a:extLst>
              </p:cNvPr>
              <p:cNvSpPr txBox="1">
                <a:spLocks/>
              </p:cNvSpPr>
              <p:nvPr/>
            </p:nvSpPr>
            <p:spPr>
              <a:xfrm>
                <a:off x="6791693" y="1697384"/>
                <a:ext cx="4679693" cy="390954"/>
              </a:xfrm>
              <a:prstGeom prst="rect">
                <a:avLst/>
              </a:prstGeom>
              <a:noFill/>
            </p:spPr>
            <p:txBody>
              <a:bodyPr wrap="square"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2000" b="1" i="0" u="none" strike="noStrike" dirty="0" err="1">
                    <a:solidFill>
                      <a:srgbClr val="000000"/>
                    </a:solidFill>
                    <a:ea typeface="微软雅黑"/>
                  </a:rPr>
                  <a:t>高性能在线服务延迟要求</a:t>
                </a:r>
                <a:endParaRPr lang="en-US" sz="2000" b="1" i="0" u="none" strike="noStrike" dirty="0">
                  <a:solidFill>
                    <a:srgbClr val="000000"/>
                  </a:solidFill>
                  <a:ea typeface="微软雅黑"/>
                </a:endParaRPr>
              </a:p>
            </p:txBody>
          </p:sp>
          <p:sp>
            <p:nvSpPr>
              <p:cNvPr id="180" name="Number5" descr="861b9bfd-9e0a-40fa-8646-6500e39a8d9f">
                <a:extLst>
                  <a:ext uri="{FF2B5EF4-FFF2-40B4-BE49-F238E27FC236}">
                    <a16:creationId xmlns:a16="http://schemas.microsoft.com/office/drawing/2014/main" id="{22DD1C0B-F07F-BA3B-81E6-15D5ACB0D0D7}"/>
                  </a:ext>
                </a:extLst>
              </p:cNvPr>
              <p:cNvSpPr>
                <a:spLocks/>
              </p:cNvSpPr>
              <p:nvPr/>
            </p:nvSpPr>
            <p:spPr>
              <a:xfrm>
                <a:off x="6219936" y="1657350"/>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2000" b="0" i="0" u="none">
                    <a:solidFill>
                      <a:srgbClr val="FFFFFF"/>
                    </a:solidFill>
                    <a:latin typeface="Arial"/>
                  </a:rPr>
                  <a:t>5</a:t>
                </a:r>
              </a:p>
            </p:txBody>
          </p:sp>
        </p:grpSp>
        <p:grpSp>
          <p:nvGrpSpPr>
            <p:cNvPr id="13" name="组合 12" descr="0ad5d6e4-e9f9-455a-9425-9bf249aa4a86">
              <a:extLst>
                <a:ext uri="{FF2B5EF4-FFF2-40B4-BE49-F238E27FC236}">
                  <a16:creationId xmlns:a16="http://schemas.microsoft.com/office/drawing/2014/main" id="{73CCE830-635F-C6FF-8755-73021CC56239}"/>
                </a:ext>
              </a:extLst>
            </p:cNvPr>
            <p:cNvGrpSpPr/>
            <p:nvPr/>
          </p:nvGrpSpPr>
          <p:grpSpPr>
            <a:xfrm>
              <a:off x="6219936" y="4803049"/>
              <a:ext cx="5298964" cy="1331051"/>
              <a:chOff x="6219936" y="2791234"/>
              <a:chExt cx="5298964" cy="1331051"/>
            </a:xfrm>
          </p:grpSpPr>
          <p:sp>
            <p:nvSpPr>
              <p:cNvPr id="188" name="ComponentBackground6" descr="a92d3e0e-f98c-4d79-9d18-c27b77e69730">
                <a:extLst>
                  <a:ext uri="{FF2B5EF4-FFF2-40B4-BE49-F238E27FC236}">
                    <a16:creationId xmlns:a16="http://schemas.microsoft.com/office/drawing/2014/main" id="{DB807766-216F-6CC0-E189-72B8025A0D94}"/>
                  </a:ext>
                </a:extLst>
              </p:cNvPr>
              <p:cNvSpPr/>
              <p:nvPr/>
            </p:nvSpPr>
            <p:spPr>
              <a:xfrm>
                <a:off x="6223000" y="2791234"/>
                <a:ext cx="5295900" cy="1331051"/>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sz="2400"/>
              </a:p>
            </p:txBody>
          </p:sp>
          <p:sp>
            <p:nvSpPr>
              <p:cNvPr id="190" name="Text6" descr="917b7671-8fee-412b-9770-d478594194dc">
                <a:extLst>
                  <a:ext uri="{FF2B5EF4-FFF2-40B4-BE49-F238E27FC236}">
                    <a16:creationId xmlns:a16="http://schemas.microsoft.com/office/drawing/2014/main" id="{67951E3F-A76E-427D-1E85-85120E19E977}"/>
                  </a:ext>
                </a:extLst>
              </p:cNvPr>
              <p:cNvSpPr txBox="1">
                <a:spLocks/>
              </p:cNvSpPr>
              <p:nvPr/>
            </p:nvSpPr>
            <p:spPr>
              <a:xfrm>
                <a:off x="6791693" y="3224391"/>
                <a:ext cx="4679693" cy="845363"/>
              </a:xfrm>
              <a:prstGeom prst="rect">
                <a:avLst/>
              </a:prstGeom>
              <a:noFill/>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b="0" i="0" u="none" dirty="0" err="1">
                    <a:solidFill>
                      <a:srgbClr val="000000"/>
                    </a:solidFill>
                    <a:ea typeface="微软雅黑"/>
                  </a:rPr>
                  <a:t>随着特征数量的增加，元数据治理与权限管理变得复杂，需要建立完善的元数据管理和权限控制机制</a:t>
                </a:r>
                <a:r>
                  <a:rPr lang="en-US" b="0" i="0" u="none" dirty="0">
                    <a:solidFill>
                      <a:srgbClr val="000000"/>
                    </a:solidFill>
                    <a:ea typeface="微软雅黑"/>
                  </a:rPr>
                  <a:t>。</a:t>
                </a:r>
              </a:p>
            </p:txBody>
          </p:sp>
          <p:sp>
            <p:nvSpPr>
              <p:cNvPr id="191" name="Bullet6" descr="21ad339a-bf59-494f-bf62-6b33315bd2d7">
                <a:extLst>
                  <a:ext uri="{FF2B5EF4-FFF2-40B4-BE49-F238E27FC236}">
                    <a16:creationId xmlns:a16="http://schemas.microsoft.com/office/drawing/2014/main" id="{9F0B63AA-AAB5-8152-AA80-12784B6059FD}"/>
                  </a:ext>
                </a:extLst>
              </p:cNvPr>
              <p:cNvSpPr txBox="1">
                <a:spLocks/>
              </p:cNvSpPr>
              <p:nvPr/>
            </p:nvSpPr>
            <p:spPr>
              <a:xfrm>
                <a:off x="6791693" y="2833439"/>
                <a:ext cx="4679693" cy="390954"/>
              </a:xfrm>
              <a:prstGeom prst="rect">
                <a:avLst/>
              </a:prstGeom>
              <a:noFill/>
            </p:spPr>
            <p:txBody>
              <a:bodyPr wrap="square"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2000" b="1" i="0" u="none" strike="noStrike" dirty="0" err="1">
                    <a:solidFill>
                      <a:srgbClr val="000000"/>
                    </a:solidFill>
                    <a:ea typeface="微软雅黑"/>
                  </a:rPr>
                  <a:t>元数据治理与权限管理</a:t>
                </a:r>
                <a:endParaRPr lang="en-US" sz="2000" b="1" i="0" u="none" strike="noStrike" dirty="0">
                  <a:solidFill>
                    <a:srgbClr val="000000"/>
                  </a:solidFill>
                  <a:ea typeface="微软雅黑"/>
                </a:endParaRPr>
              </a:p>
            </p:txBody>
          </p:sp>
          <p:sp>
            <p:nvSpPr>
              <p:cNvPr id="187" name="Number6" descr="56bf24ed-5272-4e53-b6a6-1d4545eb50eb">
                <a:extLst>
                  <a:ext uri="{FF2B5EF4-FFF2-40B4-BE49-F238E27FC236}">
                    <a16:creationId xmlns:a16="http://schemas.microsoft.com/office/drawing/2014/main" id="{576BEC93-5B5D-01EA-0BC7-006C32B971FA}"/>
                  </a:ext>
                </a:extLst>
              </p:cNvPr>
              <p:cNvSpPr>
                <a:spLocks/>
              </p:cNvSpPr>
              <p:nvPr/>
            </p:nvSpPr>
            <p:spPr>
              <a:xfrm>
                <a:off x="6219936" y="2793405"/>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2000" b="0" i="0" u="none">
                    <a:solidFill>
                      <a:srgbClr val="FFFFFF"/>
                    </a:solidFill>
                    <a:latin typeface="Arial"/>
                  </a:rPr>
                  <a:t>6</a:t>
                </a:r>
              </a:p>
            </p:txBody>
          </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altLang="zh-CN" sz="3200" b="1" dirty="0" err="1"/>
              <a:t>特征工程一体化</a:t>
            </a:r>
            <a:r>
              <a:rPr lang="en-US" sz="3200" b="1" dirty="0" err="1"/>
              <a:t>架构本质与未来演进方向</a:t>
            </a:r>
            <a:endParaRPr lang="en-US" sz="3200" b="1" dirty="0"/>
          </a:p>
        </p:txBody>
      </p:sp>
      <p:grpSp>
        <p:nvGrpSpPr>
          <p:cNvPr id="112" name="6f6ea536-f6d2-4ea0-b6cb-6d4a02692622.source.3.zh-Hans.pptx" descr="3268b62b-3688-49da-b30d-bd3c33c95392">
            <a:extLst>
              <a:ext uri="{FF2B5EF4-FFF2-40B4-BE49-F238E27FC236}">
                <a16:creationId xmlns:a16="http://schemas.microsoft.com/office/drawing/2014/main" id="{8E30C8BF-3767-3667-B531-9729B0C10EF3}"/>
              </a:ext>
            </a:extLst>
          </p:cNvPr>
          <p:cNvGrpSpPr/>
          <p:nvPr/>
        </p:nvGrpSpPr>
        <p:grpSpPr>
          <a:xfrm>
            <a:off x="236825" y="662434"/>
            <a:ext cx="11691872" cy="5495423"/>
            <a:chOff x="236825" y="662434"/>
            <a:chExt cx="11691872" cy="5495423"/>
          </a:xfrm>
        </p:grpSpPr>
        <p:grpSp>
          <p:nvGrpSpPr>
            <p:cNvPr id="29" name="图形 24" descr="11953e90-6978-4322-a09d-6e9dd155cdf0">
              <a:extLst>
                <a:ext uri="{FF2B5EF4-FFF2-40B4-BE49-F238E27FC236}">
                  <a16:creationId xmlns:a16="http://schemas.microsoft.com/office/drawing/2014/main" id="{07EE57BC-0CBA-C1B8-B0F3-9C54F3277DD2}"/>
                </a:ext>
              </a:extLst>
            </p:cNvPr>
            <p:cNvGrpSpPr/>
            <p:nvPr/>
          </p:nvGrpSpPr>
          <p:grpSpPr>
            <a:xfrm>
              <a:off x="236825" y="662434"/>
              <a:ext cx="11691872" cy="5495423"/>
              <a:chOff x="4927589" y="3069972"/>
              <a:chExt cx="2333818" cy="713822"/>
            </a:xfrm>
          </p:grpSpPr>
          <p:sp>
            <p:nvSpPr>
              <p:cNvPr id="30" name="任意多边形: 形状 29" descr="e61d1a35-aa0f-4052-a1f5-3b89d3d73949">
                <a:extLst>
                  <a:ext uri="{FF2B5EF4-FFF2-40B4-BE49-F238E27FC236}">
                    <a16:creationId xmlns:a16="http://schemas.microsoft.com/office/drawing/2014/main" id="{9C8F8B49-FD3B-5CCC-97BD-080043DF30F5}"/>
                  </a:ext>
                </a:extLst>
              </p:cNvPr>
              <p:cNvSpPr/>
              <p:nvPr/>
            </p:nvSpPr>
            <p:spPr>
              <a:xfrm>
                <a:off x="4933759" y="3075146"/>
                <a:ext cx="2318670" cy="705230"/>
              </a:xfrm>
              <a:custGeom>
                <a:avLst/>
                <a:gdLst>
                  <a:gd name="connsiteX0" fmla="*/ 62389 w 2318670"/>
                  <a:gd name="connsiteY0" fmla="*/ 705231 h 705230"/>
                  <a:gd name="connsiteX1" fmla="*/ 62389 w 2318670"/>
                  <a:gd name="connsiteY1" fmla="*/ 284702 h 705230"/>
                  <a:gd name="connsiteX2" fmla="*/ 0 w 2318670"/>
                  <a:gd name="connsiteY2" fmla="*/ 218218 h 705230"/>
                  <a:gd name="connsiteX3" fmla="*/ 0 w 2318670"/>
                  <a:gd name="connsiteY3" fmla="*/ 0 h 705230"/>
                  <a:gd name="connsiteX4" fmla="*/ 2318671 w 2318670"/>
                  <a:gd name="connsiteY4" fmla="*/ 0 h 705230"/>
                  <a:gd name="connsiteX5" fmla="*/ 2318671 w 2318670"/>
                  <a:gd name="connsiteY5" fmla="*/ 694563 h 705230"/>
                  <a:gd name="connsiteX6" fmla="*/ 1919383 w 2318670"/>
                  <a:gd name="connsiteY6" fmla="*/ 694563 h 705230"/>
                  <a:gd name="connsiteX7" fmla="*/ 1837944 w 2318670"/>
                  <a:gd name="connsiteY7" fmla="*/ 613124 h 705230"/>
                  <a:gd name="connsiteX8" fmla="*/ 1596104 w 2318670"/>
                  <a:gd name="connsiteY8" fmla="*/ 613124 h 705230"/>
                  <a:gd name="connsiteX9" fmla="*/ 1490377 w 2318670"/>
                  <a:gd name="connsiteY9" fmla="*/ 699802 h 705230"/>
                  <a:gd name="connsiteX10" fmla="*/ 425482 w 2318670"/>
                  <a:gd name="connsiteY10" fmla="*/ 699802 h 705230"/>
                  <a:gd name="connsiteX11" fmla="*/ 393764 w 2318670"/>
                  <a:gd name="connsiteY11" fmla="*/ 668084 h 705230"/>
                  <a:gd name="connsiteX12" fmla="*/ 308610 w 2318670"/>
                  <a:gd name="connsiteY12" fmla="*/ 668084 h 705230"/>
                  <a:gd name="connsiteX13" fmla="*/ 271558 w 2318670"/>
                  <a:gd name="connsiteY13" fmla="*/ 705231 h 705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8670" h="705230">
                    <a:moveTo>
                      <a:pt x="62389" y="705231"/>
                    </a:moveTo>
                    <a:lnTo>
                      <a:pt x="62389" y="284702"/>
                    </a:lnTo>
                    <a:lnTo>
                      <a:pt x="0" y="218218"/>
                    </a:lnTo>
                    <a:lnTo>
                      <a:pt x="0" y="0"/>
                    </a:lnTo>
                    <a:lnTo>
                      <a:pt x="2318671" y="0"/>
                    </a:lnTo>
                    <a:lnTo>
                      <a:pt x="2318671" y="694563"/>
                    </a:lnTo>
                    <a:lnTo>
                      <a:pt x="1919383" y="694563"/>
                    </a:lnTo>
                    <a:lnTo>
                      <a:pt x="1837944" y="613124"/>
                    </a:lnTo>
                    <a:lnTo>
                      <a:pt x="1596104" y="613124"/>
                    </a:lnTo>
                    <a:lnTo>
                      <a:pt x="1490377" y="699802"/>
                    </a:lnTo>
                    <a:lnTo>
                      <a:pt x="425482" y="699802"/>
                    </a:lnTo>
                    <a:lnTo>
                      <a:pt x="393764" y="668084"/>
                    </a:lnTo>
                    <a:lnTo>
                      <a:pt x="308610" y="668084"/>
                    </a:lnTo>
                    <a:lnTo>
                      <a:pt x="271558" y="705231"/>
                    </a:lnTo>
                    <a:close/>
                  </a:path>
                </a:pathLst>
              </a:custGeom>
              <a:noFill/>
              <a:ln w="6350" cap="rnd">
                <a:gradFill>
                  <a:gsLst>
                    <a:gs pos="0">
                      <a:schemeClr val="accent1">
                        <a:alpha val="51000"/>
                      </a:schemeClr>
                    </a:gs>
                    <a:gs pos="100000">
                      <a:schemeClr val="accent1">
                        <a:lumMod val="50000"/>
                      </a:schemeClr>
                    </a:gs>
                  </a:gsLst>
                  <a:lin ang="16200000" scaled="1"/>
                </a:gradFill>
                <a:prstDash val="solid"/>
                <a:round/>
              </a:ln>
            </p:spPr>
            <p:txBody>
              <a:bodyPr rtlCol="0" anchor="ctr" anchorCtr="0"/>
              <a:lstStyle/>
              <a:p>
                <a:pPr algn="l"/>
                <a:endParaRPr/>
              </a:p>
            </p:txBody>
          </p:sp>
          <p:grpSp>
            <p:nvGrpSpPr>
              <p:cNvPr id="31" name="图形 24" descr="5d89f264-8176-49b9-b0a5-a840f6f3d70f">
                <a:extLst>
                  <a:ext uri="{FF2B5EF4-FFF2-40B4-BE49-F238E27FC236}">
                    <a16:creationId xmlns:a16="http://schemas.microsoft.com/office/drawing/2014/main" id="{AFF6CA98-7293-FE84-8B3F-8AD50F66CD93}"/>
                  </a:ext>
                </a:extLst>
              </p:cNvPr>
              <p:cNvGrpSpPr/>
              <p:nvPr/>
            </p:nvGrpSpPr>
            <p:grpSpPr>
              <a:xfrm>
                <a:off x="4927589" y="3069972"/>
                <a:ext cx="2333818" cy="47576"/>
                <a:chOff x="4927589" y="3069972"/>
                <a:chExt cx="2333818" cy="47576"/>
              </a:xfrm>
              <a:solidFill>
                <a:srgbClr val="0C3FFF"/>
              </a:solidFill>
            </p:grpSpPr>
            <p:sp>
              <p:nvSpPr>
                <p:cNvPr id="32" name="任意多边形: 形状 31" descr="c3864b24-0149-40c6-ac33-8b60a3ea479e">
                  <a:extLst>
                    <a:ext uri="{FF2B5EF4-FFF2-40B4-BE49-F238E27FC236}">
                      <a16:creationId xmlns:a16="http://schemas.microsoft.com/office/drawing/2014/main" id="{FBA07306-3C18-49CA-DCB8-42A4D7985EFC}"/>
                    </a:ext>
                  </a:extLst>
                </p:cNvPr>
                <p:cNvSpPr/>
                <p:nvPr/>
              </p:nvSpPr>
              <p:spPr>
                <a:xfrm>
                  <a:off x="4927589" y="3070671"/>
                  <a:ext cx="55803" cy="35795"/>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sp>
              <p:nvSpPr>
                <p:cNvPr id="33" name="任意多边形: 形状 32" descr="9e1e7f4c-eb69-461e-b303-5b5fcb610bfa">
                  <a:extLst>
                    <a:ext uri="{FF2B5EF4-FFF2-40B4-BE49-F238E27FC236}">
                      <a16:creationId xmlns:a16="http://schemas.microsoft.com/office/drawing/2014/main" id="{4991209A-2D5F-D994-0B76-5A5224108C2B}"/>
                    </a:ext>
                  </a:extLst>
                </p:cNvPr>
                <p:cNvSpPr/>
                <p:nvPr/>
              </p:nvSpPr>
              <p:spPr>
                <a:xfrm>
                  <a:off x="7187239" y="3069972"/>
                  <a:ext cx="74168" cy="47576"/>
                </a:xfrm>
                <a:custGeom>
                  <a:avLst/>
                  <a:gdLst>
                    <a:gd name="connsiteX0" fmla="*/ 0 w 149828"/>
                    <a:gd name="connsiteY0" fmla="*/ 0 h 149828"/>
                    <a:gd name="connsiteX1" fmla="*/ 120777 w 149828"/>
                    <a:gd name="connsiteY1" fmla="*/ 0 h 149828"/>
                    <a:gd name="connsiteX2" fmla="*/ 149828 w 149828"/>
                    <a:gd name="connsiteY2" fmla="*/ 0 h 149828"/>
                    <a:gd name="connsiteX3" fmla="*/ 149828 w 149828"/>
                    <a:gd name="connsiteY3" fmla="*/ 28956 h 149828"/>
                    <a:gd name="connsiteX4" fmla="*/ 149828 w 149828"/>
                    <a:gd name="connsiteY4" fmla="*/ 149828 h 149828"/>
                    <a:gd name="connsiteX5" fmla="*/ 111252 w 149828"/>
                    <a:gd name="connsiteY5" fmla="*/ 149828 h 149828"/>
                    <a:gd name="connsiteX6" fmla="*/ 111252 w 149828"/>
                    <a:gd name="connsiteY6" fmla="*/ 38481 h 149828"/>
                    <a:gd name="connsiteX7" fmla="*/ 0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0"/>
                      </a:moveTo>
                      <a:lnTo>
                        <a:pt x="120777" y="0"/>
                      </a:lnTo>
                      <a:lnTo>
                        <a:pt x="149828" y="0"/>
                      </a:lnTo>
                      <a:lnTo>
                        <a:pt x="149828" y="28956"/>
                      </a:lnTo>
                      <a:lnTo>
                        <a:pt x="149828" y="149828"/>
                      </a:lnTo>
                      <a:lnTo>
                        <a:pt x="111252" y="149828"/>
                      </a:lnTo>
                      <a:lnTo>
                        <a:pt x="111252" y="38481"/>
                      </a:lnTo>
                      <a:lnTo>
                        <a:pt x="0" y="38481"/>
                      </a:lnTo>
                      <a:close/>
                    </a:path>
                  </a:pathLst>
                </a:custGeom>
                <a:solidFill>
                  <a:schemeClr val="accent1"/>
                </a:solidFill>
                <a:ln w="9525" cap="flat">
                  <a:noFill/>
                  <a:prstDash val="solid"/>
                  <a:miter/>
                </a:ln>
              </p:spPr>
              <p:txBody>
                <a:bodyPr rtlCol="0" anchor="ctr" anchorCtr="0"/>
                <a:lstStyle/>
                <a:p>
                  <a:pPr algn="l"/>
                  <a:endParaRPr/>
                </a:p>
              </p:txBody>
            </p:sp>
          </p:grpSp>
          <p:grpSp>
            <p:nvGrpSpPr>
              <p:cNvPr id="34" name="图形 24" descr="828cd228-07e7-418c-89cb-8dc986e40056">
                <a:extLst>
                  <a:ext uri="{FF2B5EF4-FFF2-40B4-BE49-F238E27FC236}">
                    <a16:creationId xmlns:a16="http://schemas.microsoft.com/office/drawing/2014/main" id="{913D47C6-7849-06AE-9DF5-9A69CA6C558C}"/>
                  </a:ext>
                </a:extLst>
              </p:cNvPr>
              <p:cNvGrpSpPr/>
              <p:nvPr/>
            </p:nvGrpSpPr>
            <p:grpSpPr>
              <a:xfrm>
                <a:off x="4989096" y="3732662"/>
                <a:ext cx="2271427" cy="51132"/>
                <a:chOff x="4989096" y="3732662"/>
                <a:chExt cx="2271427" cy="51132"/>
              </a:xfrm>
              <a:solidFill>
                <a:srgbClr val="0C3FFF"/>
              </a:solidFill>
            </p:grpSpPr>
            <p:sp>
              <p:nvSpPr>
                <p:cNvPr id="35" name="任意多边形: 形状 34" descr="0d324b2e-c663-4ca7-914b-0bb2b40fa833">
                  <a:extLst>
                    <a:ext uri="{FF2B5EF4-FFF2-40B4-BE49-F238E27FC236}">
                      <a16:creationId xmlns:a16="http://schemas.microsoft.com/office/drawing/2014/main" id="{D4FBC7D5-67EE-E3CE-4DA9-8F05444AEF22}"/>
                    </a:ext>
                  </a:extLst>
                </p:cNvPr>
                <p:cNvSpPr/>
                <p:nvPr/>
              </p:nvSpPr>
              <p:spPr>
                <a:xfrm>
                  <a:off x="4989096" y="3747999"/>
                  <a:ext cx="60801" cy="35795"/>
                </a:xfrm>
                <a:custGeom>
                  <a:avLst/>
                  <a:gdLst>
                    <a:gd name="connsiteX0" fmla="*/ 149828 w 149828"/>
                    <a:gd name="connsiteY0" fmla="*/ 149828 h 149828"/>
                    <a:gd name="connsiteX1" fmla="*/ 29051 w 149828"/>
                    <a:gd name="connsiteY1" fmla="*/ 149828 h 149828"/>
                    <a:gd name="connsiteX2" fmla="*/ 0 w 149828"/>
                    <a:gd name="connsiteY2" fmla="*/ 149828 h 149828"/>
                    <a:gd name="connsiteX3" fmla="*/ 0 w 149828"/>
                    <a:gd name="connsiteY3" fmla="*/ 120777 h 149828"/>
                    <a:gd name="connsiteX4" fmla="*/ 0 w 149828"/>
                    <a:gd name="connsiteY4" fmla="*/ 0 h 149828"/>
                    <a:gd name="connsiteX5" fmla="*/ 38576 w 149828"/>
                    <a:gd name="connsiteY5" fmla="*/ 0 h 149828"/>
                    <a:gd name="connsiteX6" fmla="*/ 38576 w 149828"/>
                    <a:gd name="connsiteY6" fmla="*/ 111252 h 149828"/>
                    <a:gd name="connsiteX7" fmla="*/ 149828 w 149828"/>
                    <a:gd name="connsiteY7" fmla="*/ 11125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149828"/>
                      </a:moveTo>
                      <a:lnTo>
                        <a:pt x="29051" y="149828"/>
                      </a:lnTo>
                      <a:lnTo>
                        <a:pt x="0" y="149828"/>
                      </a:lnTo>
                      <a:lnTo>
                        <a:pt x="0" y="120777"/>
                      </a:lnTo>
                      <a:lnTo>
                        <a:pt x="0" y="0"/>
                      </a:lnTo>
                      <a:lnTo>
                        <a:pt x="38576" y="0"/>
                      </a:lnTo>
                      <a:lnTo>
                        <a:pt x="38576" y="111252"/>
                      </a:lnTo>
                      <a:lnTo>
                        <a:pt x="149828" y="111252"/>
                      </a:lnTo>
                      <a:close/>
                    </a:path>
                  </a:pathLst>
                </a:custGeom>
                <a:solidFill>
                  <a:schemeClr val="accent1"/>
                </a:solidFill>
                <a:ln w="9525" cap="flat">
                  <a:noFill/>
                  <a:prstDash val="solid"/>
                  <a:miter/>
                </a:ln>
              </p:spPr>
              <p:txBody>
                <a:bodyPr rtlCol="0" anchor="ctr" anchorCtr="0"/>
                <a:lstStyle/>
                <a:p>
                  <a:pPr algn="l"/>
                  <a:endParaRPr/>
                </a:p>
              </p:txBody>
            </p:sp>
            <p:sp>
              <p:nvSpPr>
                <p:cNvPr id="36" name="任意多边形: 形状 35" descr="4214fc93-1add-44d3-bf16-7137ad37cbfc">
                  <a:extLst>
                    <a:ext uri="{FF2B5EF4-FFF2-40B4-BE49-F238E27FC236}">
                      <a16:creationId xmlns:a16="http://schemas.microsoft.com/office/drawing/2014/main" id="{A76838A9-D803-EE94-6D61-2D1A9CBA6430}"/>
                    </a:ext>
                  </a:extLst>
                </p:cNvPr>
                <p:cNvSpPr/>
                <p:nvPr/>
              </p:nvSpPr>
              <p:spPr>
                <a:xfrm>
                  <a:off x="7187239" y="3732662"/>
                  <a:ext cx="73284" cy="43144"/>
                </a:xfrm>
                <a:custGeom>
                  <a:avLst/>
                  <a:gdLst>
                    <a:gd name="connsiteX0" fmla="*/ 0 w 149828"/>
                    <a:gd name="connsiteY0" fmla="*/ 149828 h 149828"/>
                    <a:gd name="connsiteX1" fmla="*/ 120777 w 149828"/>
                    <a:gd name="connsiteY1" fmla="*/ 149828 h 149828"/>
                    <a:gd name="connsiteX2" fmla="*/ 149828 w 149828"/>
                    <a:gd name="connsiteY2" fmla="*/ 149828 h 149828"/>
                    <a:gd name="connsiteX3" fmla="*/ 149828 w 149828"/>
                    <a:gd name="connsiteY3" fmla="*/ 120872 h 149828"/>
                    <a:gd name="connsiteX4" fmla="*/ 149828 w 149828"/>
                    <a:gd name="connsiteY4" fmla="*/ 0 h 149828"/>
                    <a:gd name="connsiteX5" fmla="*/ 111252 w 149828"/>
                    <a:gd name="connsiteY5" fmla="*/ 0 h 149828"/>
                    <a:gd name="connsiteX6" fmla="*/ 111252 w 149828"/>
                    <a:gd name="connsiteY6" fmla="*/ 111347 h 149828"/>
                    <a:gd name="connsiteX7" fmla="*/ 0 w 149828"/>
                    <a:gd name="connsiteY7" fmla="*/ 111347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149828"/>
                      </a:moveTo>
                      <a:lnTo>
                        <a:pt x="120777" y="149828"/>
                      </a:lnTo>
                      <a:lnTo>
                        <a:pt x="149828" y="149828"/>
                      </a:lnTo>
                      <a:lnTo>
                        <a:pt x="149828" y="120872"/>
                      </a:lnTo>
                      <a:lnTo>
                        <a:pt x="149828" y="0"/>
                      </a:lnTo>
                      <a:lnTo>
                        <a:pt x="111252" y="0"/>
                      </a:lnTo>
                      <a:lnTo>
                        <a:pt x="111252" y="111347"/>
                      </a:lnTo>
                      <a:lnTo>
                        <a:pt x="0" y="111347"/>
                      </a:lnTo>
                      <a:close/>
                    </a:path>
                  </a:pathLst>
                </a:custGeom>
                <a:solidFill>
                  <a:schemeClr val="accent1"/>
                </a:solidFill>
                <a:ln w="9525" cap="flat">
                  <a:noFill/>
                  <a:prstDash val="solid"/>
                  <a:miter/>
                </a:ln>
              </p:spPr>
              <p:txBody>
                <a:bodyPr rtlCol="0" anchor="ctr" anchorCtr="0"/>
                <a:lstStyle/>
                <a:p>
                  <a:pPr algn="l"/>
                  <a:endParaRPr/>
                </a:p>
              </p:txBody>
            </p:sp>
          </p:grpSp>
          <p:sp>
            <p:nvSpPr>
              <p:cNvPr id="37" name="任意多边形: 形状 36" descr="1745b2fe-4f88-45cf-856d-dcb6314fdd71">
                <a:extLst>
                  <a:ext uri="{FF2B5EF4-FFF2-40B4-BE49-F238E27FC236}">
                    <a16:creationId xmlns:a16="http://schemas.microsoft.com/office/drawing/2014/main" id="{CDBB5B9D-9E3F-5A40-3487-73A90DCA2876}"/>
                  </a:ext>
                </a:extLst>
              </p:cNvPr>
              <p:cNvSpPr/>
              <p:nvPr/>
            </p:nvSpPr>
            <p:spPr>
              <a:xfrm>
                <a:off x="5956554" y="3772837"/>
                <a:ext cx="373856" cy="5939"/>
              </a:xfrm>
              <a:custGeom>
                <a:avLst/>
                <a:gdLst>
                  <a:gd name="connsiteX0" fmla="*/ 0 w 373856"/>
                  <a:gd name="connsiteY0" fmla="*/ 0 h 46291"/>
                  <a:gd name="connsiteX1" fmla="*/ 373856 w 373856"/>
                  <a:gd name="connsiteY1" fmla="*/ 0 h 46291"/>
                  <a:gd name="connsiteX2" fmla="*/ 373856 w 373856"/>
                  <a:gd name="connsiteY2" fmla="*/ 46291 h 46291"/>
                  <a:gd name="connsiteX3" fmla="*/ 0 w 373856"/>
                  <a:gd name="connsiteY3" fmla="*/ 46291 h 46291"/>
                </a:gdLst>
                <a:ahLst/>
                <a:cxnLst>
                  <a:cxn ang="0">
                    <a:pos x="connsiteX0" y="connsiteY0"/>
                  </a:cxn>
                  <a:cxn ang="0">
                    <a:pos x="connsiteX1" y="connsiteY1"/>
                  </a:cxn>
                  <a:cxn ang="0">
                    <a:pos x="connsiteX2" y="connsiteY2"/>
                  </a:cxn>
                  <a:cxn ang="0">
                    <a:pos x="connsiteX3" y="connsiteY3"/>
                  </a:cxn>
                </a:cxnLst>
                <a:rect l="l" t="t" r="r" b="b"/>
                <a:pathLst>
                  <a:path w="373856" h="46291">
                    <a:moveTo>
                      <a:pt x="0" y="0"/>
                    </a:moveTo>
                    <a:lnTo>
                      <a:pt x="373856" y="0"/>
                    </a:lnTo>
                    <a:lnTo>
                      <a:pt x="373856" y="46291"/>
                    </a:lnTo>
                    <a:lnTo>
                      <a:pt x="0" y="46291"/>
                    </a:lnTo>
                    <a:close/>
                  </a:path>
                </a:pathLst>
              </a:custGeom>
              <a:solidFill>
                <a:schemeClr val="accent1"/>
              </a:solidFill>
              <a:ln w="9525" cap="flat">
                <a:noFill/>
                <a:prstDash val="solid"/>
                <a:miter/>
              </a:ln>
            </p:spPr>
            <p:txBody>
              <a:bodyPr rtlCol="0" anchor="ctr" anchorCtr="0"/>
              <a:lstStyle/>
              <a:p>
                <a:pPr algn="l"/>
                <a:endParaRPr/>
              </a:p>
            </p:txBody>
          </p:sp>
        </p:grpSp>
        <p:grpSp>
          <p:nvGrpSpPr>
            <p:cNvPr id="68" name="组合 67" descr="12c12158-a019-470e-a02a-12aba8afed52">
              <a:extLst>
                <a:ext uri="{FF2B5EF4-FFF2-40B4-BE49-F238E27FC236}">
                  <a16:creationId xmlns:a16="http://schemas.microsoft.com/office/drawing/2014/main" id="{C3A0D284-1C5C-03E0-7F52-F63D1A263B9A}"/>
                </a:ext>
              </a:extLst>
            </p:cNvPr>
            <p:cNvGrpSpPr/>
            <p:nvPr/>
          </p:nvGrpSpPr>
          <p:grpSpPr>
            <a:xfrm>
              <a:off x="1105787" y="1992432"/>
              <a:ext cx="3461829" cy="3695987"/>
              <a:chOff x="727094" y="2146436"/>
              <a:chExt cx="2875069" cy="3695987"/>
            </a:xfrm>
          </p:grpSpPr>
          <p:grpSp>
            <p:nvGrpSpPr>
              <p:cNvPr id="8" name="组合 7" descr="b6fe90c9-1aa5-4b7c-87a9-a15146c46574">
                <a:extLst>
                  <a:ext uri="{FF2B5EF4-FFF2-40B4-BE49-F238E27FC236}">
                    <a16:creationId xmlns:a16="http://schemas.microsoft.com/office/drawing/2014/main" id="{FDF2B8DF-F988-5844-D0F5-ADD1A54B503D}"/>
                  </a:ext>
                </a:extLst>
              </p:cNvPr>
              <p:cNvGrpSpPr>
                <a:grpSpLocks noChangeAspect="1"/>
              </p:cNvGrpSpPr>
              <p:nvPr/>
            </p:nvGrpSpPr>
            <p:grpSpPr>
              <a:xfrm>
                <a:off x="727094" y="2146436"/>
                <a:ext cx="2875069" cy="3695987"/>
                <a:chOff x="4329846" y="1565007"/>
                <a:chExt cx="3919773" cy="4342760"/>
              </a:xfrm>
            </p:grpSpPr>
            <p:sp>
              <p:nvSpPr>
                <p:cNvPr id="9" name="矩形: 圆顶角 1" descr="c75217ce-17aa-4463-9cc6-38cffd596050">
                  <a:extLst>
                    <a:ext uri="{FF2B5EF4-FFF2-40B4-BE49-F238E27FC236}">
                      <a16:creationId xmlns:a16="http://schemas.microsoft.com/office/drawing/2014/main" id="{58CAFFD5-2E3B-4792-0C85-8B146D263562}"/>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 name="Bullet1" descr="830cefe4-e7e6-45a1-bfe1-596c28d18dc5">
                  <a:extLst>
                    <a:ext uri="{FF2B5EF4-FFF2-40B4-BE49-F238E27FC236}">
                      <a16:creationId xmlns:a16="http://schemas.microsoft.com/office/drawing/2014/main" id="{6D6318CD-58D8-0885-BFD7-DD982DBBB5C9}"/>
                    </a:ext>
                  </a:extLst>
                </p:cNvPr>
                <p:cNvSpPr txBox="1"/>
                <p:nvPr/>
              </p:nvSpPr>
              <p:spPr>
                <a:xfrm>
                  <a:off x="4553743" y="1565007"/>
                  <a:ext cx="3071819" cy="623855"/>
                </a:xfrm>
                <a:prstGeom prst="rect">
                  <a:avLst/>
                </a:prstGeom>
                <a:noFill/>
                <a:ln>
                  <a:noFill/>
                </a:ln>
              </p:spPr>
              <p:txBody>
                <a:bodyPr wrap="square" lIns="91440" tIns="45720" rIns="91440" bIns="45720" anchor="b" anchorCtr="0">
                  <a:normAutofit/>
                </a:bodyPr>
                <a:lstStyle/>
                <a:p>
                  <a:pPr marL="342900" indent="-342900" algn="l">
                    <a:spcBef>
                      <a:spcPct val="0"/>
                    </a:spcBef>
                    <a:spcAft>
                      <a:spcPct val="0"/>
                    </a:spcAft>
                    <a:buFont typeface="Arial" panose="020B0604020202020204" pitchFamily="34" charset="0"/>
                    <a:buChar char="•"/>
                  </a:pPr>
                  <a:r>
                    <a:rPr lang="en-US" sz="2400" b="1" i="0" u="none" strike="noStrike" dirty="0" err="1">
                      <a:solidFill>
                        <a:srgbClr val="000000"/>
                      </a:solidFill>
                      <a:ea typeface="微软雅黑"/>
                    </a:rPr>
                    <a:t>架构本质</a:t>
                  </a:r>
                  <a:endParaRPr lang="en-US" sz="2400" b="1" i="0" u="none" strike="noStrike" dirty="0">
                    <a:solidFill>
                      <a:srgbClr val="000000"/>
                    </a:solidFill>
                    <a:ea typeface="微软雅黑"/>
                  </a:endParaRPr>
                </a:p>
              </p:txBody>
            </p:sp>
            <p:sp>
              <p:nvSpPr>
                <p:cNvPr id="11" name="Text1" descr="bfb93366-d649-4a85-8265-e5fe2a709b8a">
                  <a:extLst>
                    <a:ext uri="{FF2B5EF4-FFF2-40B4-BE49-F238E27FC236}">
                      <a16:creationId xmlns:a16="http://schemas.microsoft.com/office/drawing/2014/main" id="{792A1BDD-CFEE-DEA4-F2A6-1B1F74C5B993}"/>
                    </a:ext>
                  </a:extLst>
                </p:cNvPr>
                <p:cNvSpPr txBox="1"/>
                <p:nvPr/>
              </p:nvSpPr>
              <p:spPr>
                <a:xfrm>
                  <a:off x="4329846" y="2446937"/>
                  <a:ext cx="3919773" cy="3460830"/>
                </a:xfrm>
                <a:prstGeom prst="rect">
                  <a:avLst/>
                </a:prstGeom>
                <a:noFill/>
                <a:ln>
                  <a:noFill/>
                </a:ln>
              </p:spPr>
              <p:txBody>
                <a:bodyPr wrap="square" lIns="91440" tIns="45720" rIns="91440" bIns="45720" anchor="t" anchorCtr="0">
                  <a:normAutofit lnSpcReduction="10000"/>
                </a:bodyPr>
                <a:lstStyle/>
                <a:p>
                  <a:pPr marL="285750" indent="-285750" algn="l">
                    <a:lnSpc>
                      <a:spcPct val="120000"/>
                    </a:lnSpc>
                    <a:spcBef>
                      <a:spcPct val="0"/>
                    </a:spcBef>
                    <a:spcAft>
                      <a:spcPct val="0"/>
                    </a:spcAft>
                    <a:buFont typeface="Arial" panose="020B0604020202020204" pitchFamily="34" charset="0"/>
                    <a:buChar char="•"/>
                  </a:pPr>
                  <a:r>
                    <a:rPr lang="en-US" sz="2000" b="1" i="0" u="none" strike="noStrike" dirty="0" err="1">
                      <a:solidFill>
                        <a:srgbClr val="000000"/>
                      </a:solidFill>
                      <a:latin typeface="Arial"/>
                    </a:rPr>
                    <a:t>AI特征工程一体化架构的本质是将特征工程从“手工艺术”转变为“系统工程</a:t>
                  </a:r>
                  <a:r>
                    <a:rPr lang="en-US" sz="2000" b="1" i="0" u="none" strike="noStrike" dirty="0">
                      <a:solidFill>
                        <a:srgbClr val="000000"/>
                      </a:solidFill>
                      <a:latin typeface="Arial"/>
                    </a:rPr>
                    <a:t>”，</a:t>
                  </a:r>
                </a:p>
                <a:p>
                  <a:pPr marL="285750" indent="-285750" algn="l">
                    <a:lnSpc>
                      <a:spcPct val="120000"/>
                    </a:lnSpc>
                    <a:spcBef>
                      <a:spcPct val="0"/>
                    </a:spcBef>
                    <a:spcAft>
                      <a:spcPct val="0"/>
                    </a:spcAft>
                    <a:buFont typeface="Arial" panose="020B0604020202020204" pitchFamily="34" charset="0"/>
                    <a:buChar char="•"/>
                  </a:pPr>
                  <a:r>
                    <a:rPr lang="en-US" sz="2000" b="1" i="0" u="none" strike="noStrike" dirty="0" err="1">
                      <a:solidFill>
                        <a:srgbClr val="000000"/>
                      </a:solidFill>
                      <a:latin typeface="Arial"/>
                    </a:rPr>
                    <a:t>其基本原理建立在数据抽象、自动化生成、统一存储、智能选择、持续监控与闭环迭代六大支柱之上</a:t>
                  </a:r>
                  <a:r>
                    <a:rPr lang="en-US" sz="2000" b="0" i="0" u="none" strike="noStrike" dirty="0">
                      <a:solidFill>
                        <a:srgbClr val="000000"/>
                      </a:solidFill>
                      <a:latin typeface="Arial"/>
                    </a:rPr>
                    <a:t>。</a:t>
                  </a:r>
                </a:p>
              </p:txBody>
            </p:sp>
          </p:grpSp>
          <p:cxnSp>
            <p:nvCxnSpPr>
              <p:cNvPr id="67" name="直接连接符 66" descr="f1d389cd-9629-4565-bca9-74c6f2a63b40">
                <a:extLst>
                  <a:ext uri="{FF2B5EF4-FFF2-40B4-BE49-F238E27FC236}">
                    <a16:creationId xmlns:a16="http://schemas.microsoft.com/office/drawing/2014/main" id="{7DC6FAFB-5952-9944-7B9B-E2CD99D9A9CF}"/>
                  </a:ext>
                </a:extLst>
              </p:cNvPr>
              <p:cNvCxnSpPr/>
              <p:nvPr/>
            </p:nvCxnSpPr>
            <p:spPr>
              <a:xfrm>
                <a:off x="901700" y="3365500"/>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93" name="组合 92" descr="f561c5ab-75aa-4af9-8fad-fc3806edaa48">
              <a:extLst>
                <a:ext uri="{FF2B5EF4-FFF2-40B4-BE49-F238E27FC236}">
                  <a16:creationId xmlns:a16="http://schemas.microsoft.com/office/drawing/2014/main" id="{2A3FF2D1-0A2F-7DD9-0AC8-D08DF69F3A38}"/>
                </a:ext>
              </a:extLst>
            </p:cNvPr>
            <p:cNvGrpSpPr/>
            <p:nvPr/>
          </p:nvGrpSpPr>
          <p:grpSpPr>
            <a:xfrm>
              <a:off x="4575694" y="1992432"/>
              <a:ext cx="3394375" cy="3331655"/>
              <a:chOff x="760522" y="2146436"/>
              <a:chExt cx="2819048" cy="3331655"/>
            </a:xfrm>
          </p:grpSpPr>
          <p:grpSp>
            <p:nvGrpSpPr>
              <p:cNvPr id="94" name="组合 93" descr="0eb2bb29-55ed-4736-aa6c-9e3569ccda9a">
                <a:extLst>
                  <a:ext uri="{FF2B5EF4-FFF2-40B4-BE49-F238E27FC236}">
                    <a16:creationId xmlns:a16="http://schemas.microsoft.com/office/drawing/2014/main" id="{4B0FA8F2-C1A6-E2ED-EC08-689FC072E752}"/>
                  </a:ext>
                </a:extLst>
              </p:cNvPr>
              <p:cNvGrpSpPr>
                <a:grpSpLocks noChangeAspect="1"/>
              </p:cNvGrpSpPr>
              <p:nvPr/>
            </p:nvGrpSpPr>
            <p:grpSpPr>
              <a:xfrm>
                <a:off x="771119" y="2146436"/>
                <a:ext cx="2808451" cy="3331655"/>
                <a:chOff x="4389868" y="1565007"/>
                <a:chExt cx="3828948" cy="3914673"/>
              </a:xfrm>
            </p:grpSpPr>
            <p:sp>
              <p:nvSpPr>
                <p:cNvPr id="96" name="矩形: 圆顶角 1" descr="0311b60a-9795-4f8a-99ef-db8ae2b0917a">
                  <a:extLst>
                    <a:ext uri="{FF2B5EF4-FFF2-40B4-BE49-F238E27FC236}">
                      <a16:creationId xmlns:a16="http://schemas.microsoft.com/office/drawing/2014/main" id="{1EA046A1-4B9B-D1C6-BEF1-D8CE1499C7A1}"/>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97" name="Bullet2" descr="67ead345-9b00-4e6f-8350-e014c55c62b0">
                  <a:extLst>
                    <a:ext uri="{FF2B5EF4-FFF2-40B4-BE49-F238E27FC236}">
                      <a16:creationId xmlns:a16="http://schemas.microsoft.com/office/drawing/2014/main" id="{63D86953-4B87-29FC-7B73-77914BB68F59}"/>
                    </a:ext>
                  </a:extLst>
                </p:cNvPr>
                <p:cNvSpPr txBox="1"/>
                <p:nvPr/>
              </p:nvSpPr>
              <p:spPr>
                <a:xfrm>
                  <a:off x="4553743" y="1565007"/>
                  <a:ext cx="3071819" cy="623854"/>
                </a:xfrm>
                <a:prstGeom prst="rect">
                  <a:avLst/>
                </a:prstGeom>
                <a:noFill/>
                <a:ln>
                  <a:noFill/>
                </a:ln>
              </p:spPr>
              <p:txBody>
                <a:bodyPr wrap="square" lIns="91440" tIns="45720" rIns="91440" bIns="45720" anchor="b" anchorCtr="0">
                  <a:normAutofit/>
                </a:bodyPr>
                <a:lstStyle/>
                <a:p>
                  <a:pPr marL="342900" indent="-342900" algn="l">
                    <a:spcBef>
                      <a:spcPct val="0"/>
                    </a:spcBef>
                    <a:spcAft>
                      <a:spcPct val="0"/>
                    </a:spcAft>
                    <a:buFont typeface="Arial" panose="020B0604020202020204" pitchFamily="34" charset="0"/>
                    <a:buChar char="•"/>
                  </a:pPr>
                  <a:r>
                    <a:rPr lang="en-US" sz="2400" b="1" i="0" u="none" strike="noStrike">
                      <a:solidFill>
                        <a:srgbClr val="000000"/>
                      </a:solidFill>
                      <a:ea typeface="微软雅黑"/>
                    </a:rPr>
                    <a:t>支撑作用</a:t>
                  </a:r>
                </a:p>
              </p:txBody>
            </p:sp>
            <p:sp>
              <p:nvSpPr>
                <p:cNvPr id="98" name="Text2" descr="1fcd0453-338f-40bd-9d11-6762ddb7b597">
                  <a:extLst>
                    <a:ext uri="{FF2B5EF4-FFF2-40B4-BE49-F238E27FC236}">
                      <a16:creationId xmlns:a16="http://schemas.microsoft.com/office/drawing/2014/main" id="{AAB78013-28EF-D181-2818-2A0A698EE355}"/>
                    </a:ext>
                  </a:extLst>
                </p:cNvPr>
                <p:cNvSpPr txBox="1"/>
                <p:nvPr/>
              </p:nvSpPr>
              <p:spPr>
                <a:xfrm>
                  <a:off x="4436753" y="2446938"/>
                  <a:ext cx="3782063" cy="3029812"/>
                </a:xfrm>
                <a:prstGeom prst="rect">
                  <a:avLst/>
                </a:prstGeom>
                <a:noFill/>
                <a:ln>
                  <a:noFill/>
                </a:ln>
              </p:spPr>
              <p:txBody>
                <a:bodyPr wrap="square" lIns="91440" tIns="45720" rIns="91440" bIns="45720" anchor="t" anchorCtr="0">
                  <a:noAutofit/>
                </a:bodyPr>
                <a:lstStyle/>
                <a:p>
                  <a:pPr marL="285750" indent="-285750" algn="l">
                    <a:lnSpc>
                      <a:spcPct val="120000"/>
                    </a:lnSpc>
                    <a:spcBef>
                      <a:spcPct val="0"/>
                    </a:spcBef>
                    <a:spcAft>
                      <a:spcPct val="0"/>
                    </a:spcAft>
                    <a:buFont typeface="Arial" panose="020B0604020202020204" pitchFamily="34" charset="0"/>
                    <a:buChar char="•"/>
                  </a:pPr>
                  <a:r>
                    <a:rPr lang="en-US" sz="2000" b="0" i="0" u="none" strike="noStrike" dirty="0">
                      <a:solidFill>
                        <a:srgbClr val="000000"/>
                      </a:solidFill>
                      <a:ea typeface="微软雅黑"/>
                    </a:rPr>
                    <a:t>通过构建标准化、平台化、智能化的特征处理流水线，该架构有效支撑了现代AI系统的高效迭代与规模化落地，是MLOps体系中的核心组成部分</a:t>
                  </a:r>
                  <a:r>
                    <a:rPr lang="en-US" b="0" i="0" u="none" strike="noStrike" dirty="0">
                      <a:solidFill>
                        <a:srgbClr val="000000"/>
                      </a:solidFill>
                      <a:ea typeface="微软雅黑"/>
                    </a:rPr>
                    <a:t>。</a:t>
                  </a:r>
                </a:p>
              </p:txBody>
            </p:sp>
          </p:grpSp>
          <p:cxnSp>
            <p:nvCxnSpPr>
              <p:cNvPr id="95" name="直接连接符 94" descr="a40f3e03-802f-49cc-a5cd-3361e991d956">
                <a:extLst>
                  <a:ext uri="{FF2B5EF4-FFF2-40B4-BE49-F238E27FC236}">
                    <a16:creationId xmlns:a16="http://schemas.microsoft.com/office/drawing/2014/main" id="{AFD342F2-5EDC-80EE-85C7-060D30AACECF}"/>
                  </a:ext>
                </a:extLst>
              </p:cNvPr>
              <p:cNvCxnSpPr>
                <a:cxnSpLocks/>
              </p:cNvCxnSpPr>
              <p:nvPr/>
            </p:nvCxnSpPr>
            <p:spPr>
              <a:xfrm>
                <a:off x="760522" y="3120952"/>
                <a:ext cx="2553236"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99" name="组合 98" descr="066cf95f-89ac-49c7-9b26-a25619781312">
              <a:extLst>
                <a:ext uri="{FF2B5EF4-FFF2-40B4-BE49-F238E27FC236}">
                  <a16:creationId xmlns:a16="http://schemas.microsoft.com/office/drawing/2014/main" id="{99AEB1B7-E94D-FBF8-6844-B6FFE6139B43}"/>
                </a:ext>
              </a:extLst>
            </p:cNvPr>
            <p:cNvGrpSpPr/>
            <p:nvPr/>
          </p:nvGrpSpPr>
          <p:grpSpPr>
            <a:xfrm>
              <a:off x="8018110" y="1992432"/>
              <a:ext cx="3520993" cy="3527231"/>
              <a:chOff x="771118" y="2146436"/>
              <a:chExt cx="2924206" cy="3527231"/>
            </a:xfrm>
          </p:grpSpPr>
          <p:grpSp>
            <p:nvGrpSpPr>
              <p:cNvPr id="100" name="组合 99" descr="f5d69329-78c6-4d39-8a6f-19b440a6d44c">
                <a:extLst>
                  <a:ext uri="{FF2B5EF4-FFF2-40B4-BE49-F238E27FC236}">
                    <a16:creationId xmlns:a16="http://schemas.microsoft.com/office/drawing/2014/main" id="{7D902118-49BC-72F2-8335-D146C241E6F9}"/>
                  </a:ext>
                </a:extLst>
              </p:cNvPr>
              <p:cNvGrpSpPr>
                <a:grpSpLocks noChangeAspect="1"/>
              </p:cNvGrpSpPr>
              <p:nvPr/>
            </p:nvGrpSpPr>
            <p:grpSpPr>
              <a:xfrm>
                <a:off x="771118" y="2146436"/>
                <a:ext cx="2924206" cy="3527231"/>
                <a:chOff x="4389868" y="1565007"/>
                <a:chExt cx="3986766" cy="4144472"/>
              </a:xfrm>
            </p:grpSpPr>
            <p:sp>
              <p:nvSpPr>
                <p:cNvPr id="102" name="矩形: 圆顶角 1" descr="395c6154-f0ba-4fc8-b44d-7e0798061ec8">
                  <a:extLst>
                    <a:ext uri="{FF2B5EF4-FFF2-40B4-BE49-F238E27FC236}">
                      <a16:creationId xmlns:a16="http://schemas.microsoft.com/office/drawing/2014/main" id="{EA4399BD-C177-27D9-790B-0D864F9E7067}"/>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3" name="Bullet3" descr="a5b750aa-4c4f-485e-817d-d28986479efc">
                  <a:extLst>
                    <a:ext uri="{FF2B5EF4-FFF2-40B4-BE49-F238E27FC236}">
                      <a16:creationId xmlns:a16="http://schemas.microsoft.com/office/drawing/2014/main" id="{5C9E5A82-5539-A323-02EC-7B2C9A020485}"/>
                    </a:ext>
                  </a:extLst>
                </p:cNvPr>
                <p:cNvSpPr txBox="1"/>
                <p:nvPr/>
              </p:nvSpPr>
              <p:spPr>
                <a:xfrm>
                  <a:off x="4553745" y="1565007"/>
                  <a:ext cx="3071818" cy="623854"/>
                </a:xfrm>
                <a:prstGeom prst="rect">
                  <a:avLst/>
                </a:prstGeom>
                <a:noFill/>
                <a:ln>
                  <a:noFill/>
                </a:ln>
              </p:spPr>
              <p:txBody>
                <a:bodyPr wrap="square" lIns="91440" tIns="45720" rIns="91440" bIns="45720" anchor="b" anchorCtr="0">
                  <a:normAutofit/>
                </a:bodyPr>
                <a:lstStyle/>
                <a:p>
                  <a:pPr marL="342900" indent="-342900" algn="l">
                    <a:spcBef>
                      <a:spcPct val="0"/>
                    </a:spcBef>
                    <a:spcAft>
                      <a:spcPct val="0"/>
                    </a:spcAft>
                    <a:buFont typeface="Arial" panose="020B0604020202020204" pitchFamily="34" charset="0"/>
                    <a:buChar char="•"/>
                  </a:pPr>
                  <a:r>
                    <a:rPr lang="en-US" sz="2400" b="1" i="0" u="none" strike="noStrike">
                      <a:solidFill>
                        <a:srgbClr val="000000"/>
                      </a:solidFill>
                      <a:ea typeface="微软雅黑"/>
                    </a:rPr>
                    <a:t>未来演进方向</a:t>
                  </a:r>
                </a:p>
              </p:txBody>
            </p:sp>
            <p:sp>
              <p:nvSpPr>
                <p:cNvPr id="104" name="Text3" descr="55363c7f-0eb7-4fd7-bbb2-55c29b2d8c6b">
                  <a:extLst>
                    <a:ext uri="{FF2B5EF4-FFF2-40B4-BE49-F238E27FC236}">
                      <a16:creationId xmlns:a16="http://schemas.microsoft.com/office/drawing/2014/main" id="{FDAE0712-ECE9-F2AF-E0D4-BC7F6409DB9E}"/>
                    </a:ext>
                  </a:extLst>
                </p:cNvPr>
                <p:cNvSpPr txBox="1"/>
                <p:nvPr/>
              </p:nvSpPr>
              <p:spPr>
                <a:xfrm>
                  <a:off x="4456858" y="2446937"/>
                  <a:ext cx="3919776" cy="3262542"/>
                </a:xfrm>
                <a:prstGeom prst="rect">
                  <a:avLst/>
                </a:prstGeom>
                <a:noFill/>
                <a:ln>
                  <a:noFill/>
                </a:ln>
              </p:spPr>
              <p:txBody>
                <a:bodyPr wrap="square" lIns="91440" tIns="45720" rIns="91440" bIns="45720" anchor="t" anchorCtr="0">
                  <a:noAutofit/>
                </a:bodyPr>
                <a:lstStyle/>
                <a:p>
                  <a:pPr marL="285750" indent="-2857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随着AI大模型与提示工程的发展，特征工程将向“语义化特征”与“多模态特征融合”方向进一步演进，以适应更复杂的AI应用场景</a:t>
                  </a:r>
                  <a:r>
                    <a:rPr lang="en-US" sz="2000" b="0" i="0" u="none" strike="noStrike" dirty="0">
                      <a:solidFill>
                        <a:srgbClr val="000000"/>
                      </a:solidFill>
                      <a:ea typeface="微软雅黑"/>
                    </a:rPr>
                    <a:t>。</a:t>
                  </a:r>
                </a:p>
              </p:txBody>
            </p:sp>
          </p:grpSp>
          <p:cxnSp>
            <p:nvCxnSpPr>
              <p:cNvPr id="101" name="直接连接符 100" descr="69801325-bb58-4b84-9c25-8e6d28527c8c">
                <a:extLst>
                  <a:ext uri="{FF2B5EF4-FFF2-40B4-BE49-F238E27FC236}">
                    <a16:creationId xmlns:a16="http://schemas.microsoft.com/office/drawing/2014/main" id="{76A7396F-7F25-767D-3B19-CECF3B71A775}"/>
                  </a:ext>
                </a:extLst>
              </p:cNvPr>
              <p:cNvCxnSpPr/>
              <p:nvPr/>
            </p:nvCxnSpPr>
            <p:spPr>
              <a:xfrm>
                <a:off x="901700" y="3365500"/>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3600" b="1" dirty="0" err="1"/>
              <a:t>AI数据库关键技术体系</a:t>
            </a:r>
            <a:endParaRPr lang="en-US" sz="3600" b="1" dirty="0"/>
          </a:p>
        </p:txBody>
      </p:sp>
      <p:grpSp>
        <p:nvGrpSpPr>
          <p:cNvPr id="50" name="6d649ebf-74bc-446c-add3-cfd664cd660c.source.5.zh-Hans.pptx" descr="6d7fe80a-d3c0-4f90-8fd3-6f3610870e11">
            <a:extLst>
              <a:ext uri="{FF2B5EF4-FFF2-40B4-BE49-F238E27FC236}">
                <a16:creationId xmlns:a16="http://schemas.microsoft.com/office/drawing/2014/main" id="{496284C5-9049-A9D1-8105-D97C867A2E7A}"/>
              </a:ext>
            </a:extLst>
          </p:cNvPr>
          <p:cNvGrpSpPr/>
          <p:nvPr/>
        </p:nvGrpSpPr>
        <p:grpSpPr>
          <a:xfrm>
            <a:off x="0" y="1662833"/>
            <a:ext cx="12698264" cy="5195167"/>
            <a:chOff x="1" y="1662833"/>
            <a:chExt cx="12191999" cy="5195167"/>
          </a:xfrm>
        </p:grpSpPr>
        <p:sp>
          <p:nvSpPr>
            <p:cNvPr id="13" name="PictureMisc1" descr="aa6ce5fb-21e2-4a7e-aa44-1ed2fcafc31f">
              <a:extLst>
                <a:ext uri="{FF2B5EF4-FFF2-40B4-BE49-F238E27FC236}">
                  <a16:creationId xmlns:a16="http://schemas.microsoft.com/office/drawing/2014/main" id="{D80852F5-4590-DFE2-0893-EC98FDB510F2}"/>
                </a:ext>
              </a:extLst>
            </p:cNvPr>
            <p:cNvSpPr/>
            <p:nvPr/>
          </p:nvSpPr>
          <p:spPr>
            <a:xfrm>
              <a:off x="1" y="4454604"/>
              <a:ext cx="12191999" cy="2403396"/>
            </a:xfrm>
            <a:prstGeom prst="rect">
              <a:avLst/>
            </a:prstGeom>
            <a:blipFill rotWithShape="1">
              <a:blip r:embed="rId2"/>
              <a:srcRect/>
              <a:stretch>
                <a:fillRect t="-5341" b="-18453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4" name="c" descr="c7f043c2-c98b-4e97-9bf2-60f4a7b4ee69">
              <a:extLst>
                <a:ext uri="{FF2B5EF4-FFF2-40B4-BE49-F238E27FC236}">
                  <a16:creationId xmlns:a16="http://schemas.microsoft.com/office/drawing/2014/main" id="{52A49B3F-E524-354D-7F22-84F151D900CF}"/>
                </a:ext>
              </a:extLst>
            </p:cNvPr>
            <p:cNvSpPr/>
            <p:nvPr/>
          </p:nvSpPr>
          <p:spPr>
            <a:xfrm>
              <a:off x="598591" y="1824048"/>
              <a:ext cx="10994819" cy="4310052"/>
            </a:xfrm>
            <a:prstGeom prst="roundRect">
              <a:avLst>
                <a:gd name="adj" fmla="val 3015"/>
              </a:avLst>
            </a:prstGeom>
            <a:gradFill flip="none" rotWithShape="1">
              <a:gsLst>
                <a:gs pos="0">
                  <a:schemeClr val="bg1"/>
                </a:gs>
                <a:gs pos="100000">
                  <a:schemeClr val="bg1">
                    <a:alpha val="90000"/>
                  </a:schemeClr>
                </a:gs>
              </a:gsLst>
              <a:lin ang="5400000" scaled="1"/>
              <a:tileRect/>
            </a:gradFill>
            <a:ln w="6350">
              <a:gradFill flip="none" rotWithShape="1">
                <a:gsLst>
                  <a:gs pos="0">
                    <a:schemeClr val="tx1">
                      <a:alpha val="50000"/>
                    </a:schemeClr>
                  </a:gs>
                  <a:gs pos="100000">
                    <a:schemeClr val="tx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lnSpc>
                  <a:spcPct val="120000"/>
                </a:lnSpc>
              </a:pPr>
              <a:endParaRPr/>
            </a:p>
          </p:txBody>
        </p:sp>
        <p:cxnSp>
          <p:nvCxnSpPr>
            <p:cNvPr id="15" name="直接连接符 14" descr="6aeadf92-db21-4171-905d-0c21c12d87ba">
              <a:extLst>
                <a:ext uri="{FF2B5EF4-FFF2-40B4-BE49-F238E27FC236}">
                  <a16:creationId xmlns:a16="http://schemas.microsoft.com/office/drawing/2014/main" id="{D5E7017A-61FA-DF7D-91E5-7AE76794A276}"/>
                </a:ext>
              </a:extLst>
            </p:cNvPr>
            <p:cNvCxnSpPr>
              <a:cxnSpLocks/>
              <a:stCxn id="29" idx="1"/>
              <a:endCxn id="32" idx="3"/>
            </p:cNvCxnSpPr>
            <p:nvPr/>
          </p:nvCxnSpPr>
          <p:spPr>
            <a:xfrm>
              <a:off x="3411420" y="4944422"/>
              <a:ext cx="5306516"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descr="db641f3d-655e-4566-a22a-98766ffd2fb4">
              <a:extLst>
                <a:ext uri="{FF2B5EF4-FFF2-40B4-BE49-F238E27FC236}">
                  <a16:creationId xmlns:a16="http://schemas.microsoft.com/office/drawing/2014/main" id="{7BC52E70-3086-62D6-253C-AF2D861B7D52}"/>
                </a:ext>
              </a:extLst>
            </p:cNvPr>
            <p:cNvCxnSpPr>
              <a:cxnSpLocks/>
              <a:stCxn id="41" idx="3"/>
            </p:cNvCxnSpPr>
            <p:nvPr/>
          </p:nvCxnSpPr>
          <p:spPr>
            <a:xfrm>
              <a:off x="2868646" y="1812566"/>
              <a:ext cx="6931611"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nvGrpSpPr>
            <p:cNvPr id="45" name="组合 44" descr="d6b04e63-cdc4-485f-b781-a6de7bf41558">
              <a:extLst>
                <a:ext uri="{FF2B5EF4-FFF2-40B4-BE49-F238E27FC236}">
                  <a16:creationId xmlns:a16="http://schemas.microsoft.com/office/drawing/2014/main" id="{97243A23-34C0-C0DB-ED3C-472FDFAE7594}"/>
                </a:ext>
              </a:extLst>
            </p:cNvPr>
            <p:cNvGrpSpPr/>
            <p:nvPr/>
          </p:nvGrpSpPr>
          <p:grpSpPr>
            <a:xfrm>
              <a:off x="1965844" y="1662833"/>
              <a:ext cx="3677016" cy="4161344"/>
              <a:chOff x="1965844" y="1662833"/>
              <a:chExt cx="3677016" cy="4161344"/>
            </a:xfrm>
          </p:grpSpPr>
          <p:sp>
            <p:nvSpPr>
              <p:cNvPr id="39" name="Bullet1" descr="63a985e9-225b-4530-ae46-40972af6aa8b">
                <a:extLst>
                  <a:ext uri="{FF2B5EF4-FFF2-40B4-BE49-F238E27FC236}">
                    <a16:creationId xmlns:a16="http://schemas.microsoft.com/office/drawing/2014/main" id="{E95CA7A1-9125-AD7D-4B78-63742D6BDBDC}"/>
                  </a:ext>
                </a:extLst>
              </p:cNvPr>
              <p:cNvSpPr txBox="1">
                <a:spLocks/>
              </p:cNvSpPr>
              <p:nvPr/>
            </p:nvSpPr>
            <p:spPr>
              <a:xfrm>
                <a:off x="2129169" y="5166210"/>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600" b="1" i="0" u="none" dirty="0" err="1">
                    <a:solidFill>
                      <a:srgbClr val="000000"/>
                    </a:solidFill>
                    <a:ea typeface="微软雅黑"/>
                  </a:rPr>
                  <a:t>向量数据库</a:t>
                </a:r>
                <a:r>
                  <a:rPr lang="zh-CN" altLang="en-US" sz="1600" b="1" i="0" u="none" dirty="0">
                    <a:solidFill>
                      <a:srgbClr val="000000"/>
                    </a:solidFill>
                    <a:ea typeface="微软雅黑"/>
                  </a:rPr>
                  <a:t>与</a:t>
                </a:r>
                <a:r>
                  <a:rPr lang="en-US" altLang="zh-CN" sz="1600" b="1" i="0" u="none" dirty="0">
                    <a:solidFill>
                      <a:srgbClr val="000000"/>
                    </a:solidFill>
                    <a:ea typeface="微软雅黑"/>
                  </a:rPr>
                  <a:t>LLM </a:t>
                </a:r>
                <a:r>
                  <a:rPr lang="en-US" altLang="zh-CN" sz="1600" b="1" i="0" u="none" dirty="0" err="1">
                    <a:solidFill>
                      <a:srgbClr val="000000"/>
                    </a:solidFill>
                    <a:ea typeface="微软雅黑"/>
                  </a:rPr>
                  <a:t>RAG</a:t>
                </a:r>
                <a:r>
                  <a:rPr lang="en-US" sz="1600" b="1" i="0" u="none" dirty="0" err="1">
                    <a:solidFill>
                      <a:srgbClr val="000000"/>
                    </a:solidFill>
                    <a:ea typeface="微软雅黑"/>
                  </a:rPr>
                  <a:t>技术</a:t>
                </a:r>
                <a:endParaRPr lang="en-US" sz="1600" b="1" i="0" u="none" dirty="0">
                  <a:solidFill>
                    <a:srgbClr val="000000"/>
                  </a:solidFill>
                  <a:ea typeface="微软雅黑"/>
                </a:endParaRPr>
              </a:p>
            </p:txBody>
          </p:sp>
          <p:sp>
            <p:nvSpPr>
              <p:cNvPr id="41" name="Number1" descr="cb5a9482-dd7b-48c3-b267-d0acb23dd1ab">
                <a:extLst>
                  <a:ext uri="{FF2B5EF4-FFF2-40B4-BE49-F238E27FC236}">
                    <a16:creationId xmlns:a16="http://schemas.microsoft.com/office/drawing/2014/main" id="{D3AA65A5-4729-21F6-F81F-8A1162DABAC4}"/>
                  </a:ext>
                </a:extLst>
              </p:cNvPr>
              <p:cNvSpPr txBox="1"/>
              <p:nvPr/>
            </p:nvSpPr>
            <p:spPr>
              <a:xfrm>
                <a:off x="1965844"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1</a:t>
                </a:r>
              </a:p>
            </p:txBody>
          </p:sp>
        </p:grpSp>
        <p:grpSp>
          <p:nvGrpSpPr>
            <p:cNvPr id="46" name="组合 45" descr="a8ef9746-64a1-450c-a1d6-2071045d2e7e">
              <a:extLst>
                <a:ext uri="{FF2B5EF4-FFF2-40B4-BE49-F238E27FC236}">
                  <a16:creationId xmlns:a16="http://schemas.microsoft.com/office/drawing/2014/main" id="{A95487B3-04BE-189D-49D3-1793B763E883}"/>
                </a:ext>
              </a:extLst>
            </p:cNvPr>
            <p:cNvGrpSpPr/>
            <p:nvPr/>
          </p:nvGrpSpPr>
          <p:grpSpPr>
            <a:xfrm>
              <a:off x="1284804" y="1662833"/>
              <a:ext cx="5256246" cy="977787"/>
              <a:chOff x="1284804" y="1662833"/>
              <a:chExt cx="5256246" cy="977787"/>
            </a:xfrm>
          </p:grpSpPr>
          <p:sp>
            <p:nvSpPr>
              <p:cNvPr id="36" name="Bullet2" descr="b4a03a2d-2661-476e-9f2e-ccba69d31cc2">
                <a:extLst>
                  <a:ext uri="{FF2B5EF4-FFF2-40B4-BE49-F238E27FC236}">
                    <a16:creationId xmlns:a16="http://schemas.microsoft.com/office/drawing/2014/main" id="{673A8015-3DE8-BD7C-B3F9-5ACF8C08A3E2}"/>
                  </a:ext>
                </a:extLst>
              </p:cNvPr>
              <p:cNvSpPr txBox="1">
                <a:spLocks/>
              </p:cNvSpPr>
              <p:nvPr/>
            </p:nvSpPr>
            <p:spPr>
              <a:xfrm>
                <a:off x="1284804" y="1982653"/>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600" dirty="0" err="1">
                    <a:solidFill>
                      <a:srgbClr val="000000"/>
                    </a:solidFill>
                    <a:ea typeface="微软雅黑"/>
                  </a:rPr>
                  <a:t>特征工程一体化架构</a:t>
                </a:r>
                <a:endParaRPr lang="en-US" sz="1600" dirty="0">
                  <a:solidFill>
                    <a:srgbClr val="000000"/>
                  </a:solidFill>
                  <a:ea typeface="微软雅黑"/>
                </a:endParaRPr>
              </a:p>
            </p:txBody>
          </p:sp>
          <p:sp>
            <p:nvSpPr>
              <p:cNvPr id="38" name="Number2" descr="33303b4d-75b8-43fb-9107-811eb522960e">
                <a:extLst>
                  <a:ext uri="{FF2B5EF4-FFF2-40B4-BE49-F238E27FC236}">
                    <a16:creationId xmlns:a16="http://schemas.microsoft.com/office/drawing/2014/main" id="{C5925CBE-12B1-4810-CA91-AF26A77C2D5B}"/>
                  </a:ext>
                </a:extLst>
              </p:cNvPr>
              <p:cNvSpPr txBox="1"/>
              <p:nvPr/>
            </p:nvSpPr>
            <p:spPr>
              <a:xfrm>
                <a:off x="5638248"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2</a:t>
                </a:r>
              </a:p>
            </p:txBody>
          </p:sp>
        </p:grpSp>
        <p:grpSp>
          <p:nvGrpSpPr>
            <p:cNvPr id="47" name="组合 46" descr="c7974719-d37e-466b-8727-f1591792a42c">
              <a:extLst>
                <a:ext uri="{FF2B5EF4-FFF2-40B4-BE49-F238E27FC236}">
                  <a16:creationId xmlns:a16="http://schemas.microsoft.com/office/drawing/2014/main" id="{D2B237F1-FE1A-D583-3DD3-A46E71E5B820}"/>
                </a:ext>
              </a:extLst>
            </p:cNvPr>
            <p:cNvGrpSpPr/>
            <p:nvPr/>
          </p:nvGrpSpPr>
          <p:grpSpPr>
            <a:xfrm>
              <a:off x="4462705" y="1662833"/>
              <a:ext cx="5750750" cy="988100"/>
              <a:chOff x="4462705" y="1662833"/>
              <a:chExt cx="5750750" cy="988100"/>
            </a:xfrm>
          </p:grpSpPr>
          <p:sp>
            <p:nvSpPr>
              <p:cNvPr id="33" name="Bullet3" descr="25b8f82b-dca0-4461-980e-c00d40026f51">
                <a:extLst>
                  <a:ext uri="{FF2B5EF4-FFF2-40B4-BE49-F238E27FC236}">
                    <a16:creationId xmlns:a16="http://schemas.microsoft.com/office/drawing/2014/main" id="{DC26826B-E497-3D54-39D5-78277ACC72FD}"/>
                  </a:ext>
                </a:extLst>
              </p:cNvPr>
              <p:cNvSpPr txBox="1">
                <a:spLocks/>
              </p:cNvSpPr>
              <p:nvPr/>
            </p:nvSpPr>
            <p:spPr>
              <a:xfrm>
                <a:off x="4462705" y="1992966"/>
                <a:ext cx="3710844" cy="657967"/>
              </a:xfrm>
              <a:prstGeom prst="rect">
                <a:avLst/>
              </a:prstGeom>
              <a:noFill/>
              <a:ln>
                <a:noFill/>
              </a:ln>
            </p:spPr>
            <p:txBody>
              <a:bodyPr wrap="square" lIns="91440" tIns="45720" rIns="91440" bIns="45720" anchor="t" anchorCtr="0">
                <a:no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400" dirty="0" err="1">
                    <a:solidFill>
                      <a:schemeClr val="tx2"/>
                    </a:solidFill>
                    <a:latin typeface="+mj-lt"/>
                    <a:ea typeface="+mj-ea"/>
                    <a:cs typeface="+mj-cs"/>
                  </a:rPr>
                  <a:t>高性能计算与内存优化技术</a:t>
                </a:r>
                <a:endParaRPr lang="en-US" sz="2400" dirty="0">
                  <a:solidFill>
                    <a:schemeClr val="tx2"/>
                  </a:solidFill>
                  <a:latin typeface="+mj-lt"/>
                  <a:ea typeface="+mj-ea"/>
                  <a:cs typeface="+mj-cs"/>
                </a:endParaRPr>
              </a:p>
            </p:txBody>
          </p:sp>
          <p:sp>
            <p:nvSpPr>
              <p:cNvPr id="35" name="Number3" descr="c0a49732-a4c3-4d1a-a2f1-796979f425d8">
                <a:extLst>
                  <a:ext uri="{FF2B5EF4-FFF2-40B4-BE49-F238E27FC236}">
                    <a16:creationId xmlns:a16="http://schemas.microsoft.com/office/drawing/2014/main" id="{278459C1-467B-83C8-8DBB-81F7C03E168D}"/>
                  </a:ext>
                </a:extLst>
              </p:cNvPr>
              <p:cNvSpPr txBox="1"/>
              <p:nvPr/>
            </p:nvSpPr>
            <p:spPr>
              <a:xfrm>
                <a:off x="9310653"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3</a:t>
                </a:r>
              </a:p>
            </p:txBody>
          </p:sp>
        </p:grpSp>
        <p:grpSp>
          <p:nvGrpSpPr>
            <p:cNvPr id="48" name="组合 47" descr="2a10a9d3-5c28-46d0-a330-e823e7a52646">
              <a:extLst>
                <a:ext uri="{FF2B5EF4-FFF2-40B4-BE49-F238E27FC236}">
                  <a16:creationId xmlns:a16="http://schemas.microsoft.com/office/drawing/2014/main" id="{4FBF7FE8-77EB-058A-4B5E-B8E8B0652EAD}"/>
                </a:ext>
              </a:extLst>
            </p:cNvPr>
            <p:cNvGrpSpPr/>
            <p:nvPr/>
          </p:nvGrpSpPr>
          <p:grpSpPr>
            <a:xfrm>
              <a:off x="8565058" y="2006152"/>
              <a:ext cx="3050105" cy="3088002"/>
              <a:chOff x="8565058" y="2006152"/>
              <a:chExt cx="3050105" cy="3088002"/>
            </a:xfrm>
          </p:grpSpPr>
          <p:sp>
            <p:nvSpPr>
              <p:cNvPr id="30" name="Bullet4" descr="3cb080ea-7a29-4d7c-8e4c-06310220d618">
                <a:extLst>
                  <a:ext uri="{FF2B5EF4-FFF2-40B4-BE49-F238E27FC236}">
                    <a16:creationId xmlns:a16="http://schemas.microsoft.com/office/drawing/2014/main" id="{C5A0AC27-3B9B-F222-3732-D2FD4B79C7E1}"/>
                  </a:ext>
                </a:extLst>
              </p:cNvPr>
              <p:cNvSpPr txBox="1">
                <a:spLocks/>
              </p:cNvSpPr>
              <p:nvPr/>
            </p:nvSpPr>
            <p:spPr>
              <a:xfrm>
                <a:off x="8565058" y="2006152"/>
                <a:ext cx="3050105"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600" b="1" i="0" u="none" dirty="0" err="1">
                    <a:solidFill>
                      <a:srgbClr val="000000"/>
                    </a:solidFill>
                    <a:ea typeface="微软雅黑"/>
                  </a:rPr>
                  <a:t>多模型支持与模型管理能力</a:t>
                </a:r>
                <a:endParaRPr lang="en-US" sz="1600" b="1" i="0" u="none" dirty="0">
                  <a:solidFill>
                    <a:srgbClr val="000000"/>
                  </a:solidFill>
                  <a:ea typeface="微软雅黑"/>
                </a:endParaRPr>
              </a:p>
            </p:txBody>
          </p:sp>
          <p:sp>
            <p:nvSpPr>
              <p:cNvPr id="32" name="Number4" descr="982ba4fa-0764-486a-a143-c10254addd2a">
                <a:extLst>
                  <a:ext uri="{FF2B5EF4-FFF2-40B4-BE49-F238E27FC236}">
                    <a16:creationId xmlns:a16="http://schemas.microsoft.com/office/drawing/2014/main" id="{C4CC405A-8B96-ED7E-8174-55C4503D0FE0}"/>
                  </a:ext>
                </a:extLst>
              </p:cNvPr>
              <p:cNvSpPr txBox="1"/>
              <p:nvPr/>
            </p:nvSpPr>
            <p:spPr>
              <a:xfrm flipH="1">
                <a:off x="8717936" y="4794689"/>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4</a:t>
                </a:r>
              </a:p>
            </p:txBody>
          </p:sp>
        </p:grpSp>
        <p:grpSp>
          <p:nvGrpSpPr>
            <p:cNvPr id="49" name="组合 48" descr="6316730a-dabb-467d-b8a7-8b427d5ad165">
              <a:extLst>
                <a:ext uri="{FF2B5EF4-FFF2-40B4-BE49-F238E27FC236}">
                  <a16:creationId xmlns:a16="http://schemas.microsoft.com/office/drawing/2014/main" id="{D0879E40-40E5-84C5-E224-4A161783763E}"/>
                </a:ext>
              </a:extLst>
            </p:cNvPr>
            <p:cNvGrpSpPr/>
            <p:nvPr/>
          </p:nvGrpSpPr>
          <p:grpSpPr>
            <a:xfrm>
              <a:off x="2621936" y="4794689"/>
              <a:ext cx="8971474" cy="1052252"/>
              <a:chOff x="2621936" y="4794689"/>
              <a:chExt cx="8971474" cy="1052252"/>
            </a:xfrm>
          </p:grpSpPr>
          <p:sp>
            <p:nvSpPr>
              <p:cNvPr id="27" name="Bullet5" descr="64fc552d-72b6-4746-960e-4d2903703d83">
                <a:extLst>
                  <a:ext uri="{FF2B5EF4-FFF2-40B4-BE49-F238E27FC236}">
                    <a16:creationId xmlns:a16="http://schemas.microsoft.com/office/drawing/2014/main" id="{EF5F8A23-E76D-A96D-F812-8BFE8F1552D4}"/>
                  </a:ext>
                </a:extLst>
              </p:cNvPr>
              <p:cNvSpPr txBox="1">
                <a:spLocks/>
              </p:cNvSpPr>
              <p:nvPr/>
            </p:nvSpPr>
            <p:spPr>
              <a:xfrm>
                <a:off x="6830910" y="5188974"/>
                <a:ext cx="4762500"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600" i="0" u="none" dirty="0" err="1">
                    <a:solidFill>
                      <a:srgbClr val="000000"/>
                    </a:solidFill>
                    <a:latin typeface="Arial"/>
                  </a:rPr>
                  <a:t>AI驱动的智能运维（AI</a:t>
                </a:r>
                <a:r>
                  <a:rPr lang="en-US" sz="1600" i="0" u="none" dirty="0">
                    <a:solidFill>
                      <a:srgbClr val="000000"/>
                    </a:solidFill>
                    <a:latin typeface="Arial"/>
                  </a:rPr>
                  <a:t> for DB）</a:t>
                </a:r>
              </a:p>
            </p:txBody>
          </p:sp>
          <p:sp>
            <p:nvSpPr>
              <p:cNvPr id="29" name="Number5" descr="d413707b-19f7-439a-adef-0dfa5e0b9a10">
                <a:extLst>
                  <a:ext uri="{FF2B5EF4-FFF2-40B4-BE49-F238E27FC236}">
                    <a16:creationId xmlns:a16="http://schemas.microsoft.com/office/drawing/2014/main" id="{F5611463-BA56-FEDC-91F0-3B85FAE96974}"/>
                  </a:ext>
                </a:extLst>
              </p:cNvPr>
              <p:cNvSpPr txBox="1"/>
              <p:nvPr/>
            </p:nvSpPr>
            <p:spPr>
              <a:xfrm flipH="1">
                <a:off x="2621936" y="4794689"/>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5</a:t>
                </a:r>
              </a:p>
            </p:txBody>
          </p:sp>
        </p:grpSp>
      </p:grpSp>
      <p:sp>
        <p:nvSpPr>
          <p:cNvPr id="23" name="Text2" descr="7d698d8d-a788-4c04-8bea-00a9de5dd8dd">
            <a:extLst>
              <a:ext uri="{FF2B5EF4-FFF2-40B4-BE49-F238E27FC236}">
                <a16:creationId xmlns:a16="http://schemas.microsoft.com/office/drawing/2014/main" id="{E345F557-2769-4597-9BA9-72877FB92207}"/>
              </a:ext>
            </a:extLst>
          </p:cNvPr>
          <p:cNvSpPr txBox="1">
            <a:spLocks/>
          </p:cNvSpPr>
          <p:nvPr/>
        </p:nvSpPr>
        <p:spPr>
          <a:xfrm>
            <a:off x="3400309" y="2600868"/>
            <a:ext cx="7599072" cy="2044087"/>
          </a:xfrm>
          <a:prstGeom prst="rect">
            <a:avLst/>
          </a:prstGeom>
          <a:noFill/>
          <a:ln>
            <a:noFill/>
          </a:ln>
        </p:spPr>
        <p:txBody>
          <a:bodyPr wrap="square" lIns="91440" tIns="45720" rIns="91440" bIns="45720" anchor="t" anchorCtr="0">
            <a:normAutofit fontScale="92500"/>
          </a:bodyPr>
          <a:lstStyle/>
          <a:p>
            <a:pPr marL="342900" indent="-342900" algn="l">
              <a:lnSpc>
                <a:spcPct val="120000"/>
              </a:lnSpc>
              <a:spcBef>
                <a:spcPct val="0"/>
              </a:spcBef>
              <a:spcAft>
                <a:spcPct val="0"/>
              </a:spcAft>
              <a:buFont typeface="Arial" panose="020B0604020202020204" pitchFamily="34" charset="0"/>
              <a:buChar char="•"/>
            </a:pPr>
            <a:r>
              <a:rPr lang="en-US" altLang="zh-CN" sz="1600" b="1" i="0" u="none" strike="noStrike" dirty="0" err="1">
                <a:solidFill>
                  <a:srgbClr val="000000"/>
                </a:solidFill>
                <a:latin typeface="Arial"/>
              </a:rPr>
              <a:t>AI任务对计算速度和延迟极为敏感，AI数据库在底层进行了多项性能优化。包括</a:t>
            </a:r>
            <a:r>
              <a:rPr lang="zh-CN" altLang="en-US" sz="1600" b="1" i="0" u="none" strike="noStrike" dirty="0">
                <a:solidFill>
                  <a:srgbClr val="000000"/>
                </a:solidFill>
                <a:latin typeface="Arial"/>
              </a:rPr>
              <a:t>：</a:t>
            </a:r>
            <a:r>
              <a:rPr lang="en-US" altLang="zh-CN" sz="1600" b="1" i="0" u="none" strike="noStrike" dirty="0" err="1">
                <a:solidFill>
                  <a:srgbClr val="000000"/>
                </a:solidFill>
                <a:latin typeface="Arial"/>
              </a:rPr>
              <a:t>内存优化策略、分布式与并行计算以及索引与缓存机制</a:t>
            </a:r>
            <a:r>
              <a:rPr lang="en-US" altLang="zh-CN" sz="1600" b="1" i="0" u="none" strike="noStrike" dirty="0">
                <a:solidFill>
                  <a:srgbClr val="000000"/>
                </a:solidFill>
                <a:latin typeface="Arial"/>
              </a:rPr>
              <a:t>。</a:t>
            </a:r>
          </a:p>
          <a:p>
            <a:pPr marL="342900" indent="-342900" algn="l">
              <a:lnSpc>
                <a:spcPct val="120000"/>
              </a:lnSpc>
              <a:spcBef>
                <a:spcPct val="0"/>
              </a:spcBef>
              <a:spcAft>
                <a:spcPct val="0"/>
              </a:spcAft>
              <a:buFont typeface="Arial" panose="020B0604020202020204" pitchFamily="34" charset="0"/>
              <a:buChar char="•"/>
            </a:pPr>
            <a:r>
              <a:rPr lang="en-US" altLang="zh-CN" sz="1600" b="1" i="0" u="none" strike="noStrike" dirty="0" err="1">
                <a:solidFill>
                  <a:srgbClr val="000000"/>
                </a:solidFill>
                <a:latin typeface="Arial"/>
              </a:rPr>
              <a:t>内存优化策略通过对特征数据进行紧凑编码和提升缓存命中率，减少内存占用并加快访问速度</a:t>
            </a:r>
            <a:r>
              <a:rPr lang="en-US" altLang="zh-CN" sz="1600" b="1" i="0" u="none" strike="noStrike" dirty="0">
                <a:solidFill>
                  <a:srgbClr val="000000"/>
                </a:solidFill>
                <a:latin typeface="Arial"/>
              </a:rPr>
              <a:t>；</a:t>
            </a:r>
          </a:p>
          <a:p>
            <a:pPr marL="342900" indent="-342900" algn="l">
              <a:lnSpc>
                <a:spcPct val="120000"/>
              </a:lnSpc>
              <a:spcBef>
                <a:spcPct val="0"/>
              </a:spcBef>
              <a:spcAft>
                <a:spcPct val="0"/>
              </a:spcAft>
              <a:buFont typeface="Arial" panose="020B0604020202020204" pitchFamily="34" charset="0"/>
              <a:buChar char="•"/>
            </a:pPr>
            <a:r>
              <a:rPr lang="en-US" altLang="zh-CN" sz="1600" b="1" i="0" u="none" strike="noStrike" dirty="0" err="1">
                <a:solidFill>
                  <a:srgbClr val="000000"/>
                </a:solidFill>
                <a:latin typeface="Arial"/>
              </a:rPr>
              <a:t>分布式与并行计算通过集成分布式计算框架和实现特征计算任务的并行化调度，提升计算性能</a:t>
            </a:r>
            <a:r>
              <a:rPr lang="en-US" altLang="zh-CN" sz="1600" b="1" i="0" u="none" strike="noStrike" dirty="0">
                <a:solidFill>
                  <a:srgbClr val="000000"/>
                </a:solidFill>
                <a:latin typeface="Arial"/>
              </a:rPr>
              <a:t>；</a:t>
            </a:r>
          </a:p>
          <a:p>
            <a:pPr marL="342900" indent="-342900" algn="l">
              <a:lnSpc>
                <a:spcPct val="120000"/>
              </a:lnSpc>
              <a:spcBef>
                <a:spcPct val="0"/>
              </a:spcBef>
              <a:spcAft>
                <a:spcPct val="0"/>
              </a:spcAft>
              <a:buFont typeface="Arial" panose="020B0604020202020204" pitchFamily="34" charset="0"/>
              <a:buChar char="•"/>
            </a:pPr>
            <a:r>
              <a:rPr lang="en-US" altLang="zh-CN" sz="1600" b="1" i="0" u="none" strike="noStrike" dirty="0" err="1">
                <a:solidFill>
                  <a:srgbClr val="000000"/>
                </a:solidFill>
                <a:latin typeface="Arial"/>
              </a:rPr>
              <a:t>索引与缓存机制通过支持多种索引结构和引入缓存策略，提高热点数据访问效率</a:t>
            </a:r>
            <a:r>
              <a:rPr lang="en-US" altLang="zh-CN" sz="1600" b="1" i="0" u="none" strike="noStrike" dirty="0">
                <a:solidFill>
                  <a:srgbClr val="000000"/>
                </a:solidFill>
                <a:latin typeface="Arial"/>
              </a:rPr>
              <a:t>。</a:t>
            </a:r>
          </a:p>
        </p:txBody>
      </p:sp>
    </p:spTree>
    <p:extLst>
      <p:ext uri="{BB962C8B-B14F-4D97-AF65-F5344CB8AC3E}">
        <p14:creationId xmlns:p14="http://schemas.microsoft.com/office/powerpoint/2010/main" val="3679692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a:xfrm>
            <a:off x="382861" y="350711"/>
            <a:ext cx="11387667" cy="1143000"/>
          </a:xfrm>
        </p:spPr>
        <p:txBody>
          <a:bodyPr anchorCtr="0"/>
          <a:lstStyle/>
          <a:p>
            <a:pPr>
              <a:lnSpc>
                <a:spcPct val="100000"/>
              </a:lnSpc>
              <a:spcBef>
                <a:spcPct val="0"/>
              </a:spcBef>
            </a:pPr>
            <a:r>
              <a:rPr lang="en-US" altLang="zh-CN" sz="3200" b="1" dirty="0"/>
              <a:t>AI</a:t>
            </a:r>
            <a:r>
              <a:rPr lang="zh-CN" altLang="en-US" sz="3200" b="1" dirty="0"/>
              <a:t>数据库</a:t>
            </a:r>
            <a:r>
              <a:rPr lang="en-US" sz="3200" b="1" dirty="0" err="1"/>
              <a:t>高性能计算核心原理</a:t>
            </a:r>
            <a:endParaRPr lang="en-US" sz="3200" b="1" dirty="0"/>
          </a:p>
        </p:txBody>
      </p:sp>
      <p:grpSp>
        <p:nvGrpSpPr>
          <p:cNvPr id="15" name="5ef7b1c6-1952-4708-ba26-766f61762773.source.4.zh-Hans.pptx" descr="a930daeb-0eeb-44cf-9058-1f1bdc4f1580">
            <a:extLst>
              <a:ext uri="{FF2B5EF4-FFF2-40B4-BE49-F238E27FC236}">
                <a16:creationId xmlns:a16="http://schemas.microsoft.com/office/drawing/2014/main" id="{9F96F435-7D1C-42A2-4385-303C4FEAD2A9}"/>
              </a:ext>
            </a:extLst>
          </p:cNvPr>
          <p:cNvGrpSpPr/>
          <p:nvPr/>
        </p:nvGrpSpPr>
        <p:grpSpPr>
          <a:xfrm>
            <a:off x="660400" y="1969310"/>
            <a:ext cx="10858500" cy="4164323"/>
            <a:chOff x="660400" y="2112850"/>
            <a:chExt cx="10858500" cy="4164323"/>
          </a:xfrm>
        </p:grpSpPr>
        <p:grpSp>
          <p:nvGrpSpPr>
            <p:cNvPr id="9" name="组合 8" descr="d5d7d802-a280-4668-9f1d-43949da1e3a7">
              <a:extLst>
                <a:ext uri="{FF2B5EF4-FFF2-40B4-BE49-F238E27FC236}">
                  <a16:creationId xmlns:a16="http://schemas.microsoft.com/office/drawing/2014/main" id="{BC1B7775-6D37-6FE9-DB89-63BD40E91888}"/>
                </a:ext>
              </a:extLst>
            </p:cNvPr>
            <p:cNvGrpSpPr/>
            <p:nvPr/>
          </p:nvGrpSpPr>
          <p:grpSpPr>
            <a:xfrm>
              <a:off x="660400" y="2185312"/>
              <a:ext cx="4693426" cy="1777088"/>
              <a:chOff x="660400" y="2185312"/>
              <a:chExt cx="4693426" cy="1777088"/>
            </a:xfrm>
          </p:grpSpPr>
          <p:sp>
            <p:nvSpPr>
              <p:cNvPr id="38" name="任意多边形: 形状 37" descr="d2faab2f-72b0-4434-a100-342a2d3e03c9">
                <a:extLst>
                  <a:ext uri="{FF2B5EF4-FFF2-40B4-BE49-F238E27FC236}">
                    <a16:creationId xmlns:a16="http://schemas.microsoft.com/office/drawing/2014/main" id="{2471564C-3BA0-6236-30E3-A79EA49F943F}"/>
                  </a:ext>
                </a:extLst>
              </p:cNvPr>
              <p:cNvSpPr/>
              <p:nvPr/>
            </p:nvSpPr>
            <p:spPr>
              <a:xfrm>
                <a:off x="682855" y="2209016"/>
                <a:ext cx="4647266" cy="1728774"/>
              </a:xfrm>
              <a:custGeom>
                <a:avLst/>
                <a:gdLst>
                  <a:gd name="connsiteX0" fmla="*/ 62389 w 3902963"/>
                  <a:gd name="connsiteY0" fmla="*/ 1451896 h 1451895"/>
                  <a:gd name="connsiteX1" fmla="*/ 62389 w 3902963"/>
                  <a:gd name="connsiteY1" fmla="*/ 1031367 h 1451895"/>
                  <a:gd name="connsiteX2" fmla="*/ 139160 w 3902963"/>
                  <a:gd name="connsiteY2" fmla="*/ 954596 h 1451895"/>
                  <a:gd name="connsiteX3" fmla="*/ 139160 w 3902963"/>
                  <a:gd name="connsiteY3" fmla="*/ 357378 h 1451895"/>
                  <a:gd name="connsiteX4" fmla="*/ 0 w 3902963"/>
                  <a:gd name="connsiteY4" fmla="*/ 218218 h 1451895"/>
                  <a:gd name="connsiteX5" fmla="*/ 0 w 3902963"/>
                  <a:gd name="connsiteY5" fmla="*/ 0 h 1451895"/>
                  <a:gd name="connsiteX6" fmla="*/ 3902964 w 3902963"/>
                  <a:gd name="connsiteY6" fmla="*/ 0 h 1451895"/>
                  <a:gd name="connsiteX7" fmla="*/ 3902964 w 3902963"/>
                  <a:gd name="connsiteY7" fmla="*/ 1441228 h 1451895"/>
                  <a:gd name="connsiteX8" fmla="*/ 3503676 w 3902963"/>
                  <a:gd name="connsiteY8" fmla="*/ 1441228 h 1451895"/>
                  <a:gd name="connsiteX9" fmla="*/ 3422237 w 3902963"/>
                  <a:gd name="connsiteY9" fmla="*/ 1359789 h 1451895"/>
                  <a:gd name="connsiteX10" fmla="*/ 3180493 w 3902963"/>
                  <a:gd name="connsiteY10" fmla="*/ 1359789 h 1451895"/>
                  <a:gd name="connsiteX11" fmla="*/ 3074765 w 3902963"/>
                  <a:gd name="connsiteY11" fmla="*/ 1446467 h 1451895"/>
                  <a:gd name="connsiteX12" fmla="*/ 425482 w 3902963"/>
                  <a:gd name="connsiteY12" fmla="*/ 1446467 h 1451895"/>
                  <a:gd name="connsiteX13" fmla="*/ 393764 w 3902963"/>
                  <a:gd name="connsiteY13" fmla="*/ 1414748 h 1451895"/>
                  <a:gd name="connsiteX14" fmla="*/ 308610 w 3902963"/>
                  <a:gd name="connsiteY14" fmla="*/ 1414748 h 1451895"/>
                  <a:gd name="connsiteX15" fmla="*/ 271558 w 3902963"/>
                  <a:gd name="connsiteY15" fmla="*/ 1451896 h 145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02963" h="1451895">
                    <a:moveTo>
                      <a:pt x="62389" y="1451896"/>
                    </a:moveTo>
                    <a:lnTo>
                      <a:pt x="62389" y="1031367"/>
                    </a:lnTo>
                    <a:lnTo>
                      <a:pt x="139160" y="954596"/>
                    </a:lnTo>
                    <a:lnTo>
                      <a:pt x="139160" y="357378"/>
                    </a:lnTo>
                    <a:lnTo>
                      <a:pt x="0" y="218218"/>
                    </a:lnTo>
                    <a:lnTo>
                      <a:pt x="0" y="0"/>
                    </a:lnTo>
                    <a:lnTo>
                      <a:pt x="3902964" y="0"/>
                    </a:lnTo>
                    <a:lnTo>
                      <a:pt x="3902964" y="1441228"/>
                    </a:lnTo>
                    <a:lnTo>
                      <a:pt x="3503676" y="1441228"/>
                    </a:lnTo>
                    <a:lnTo>
                      <a:pt x="3422237" y="1359789"/>
                    </a:lnTo>
                    <a:lnTo>
                      <a:pt x="3180493" y="1359789"/>
                    </a:lnTo>
                    <a:lnTo>
                      <a:pt x="3074765" y="1446467"/>
                    </a:lnTo>
                    <a:lnTo>
                      <a:pt x="425482" y="1446467"/>
                    </a:lnTo>
                    <a:lnTo>
                      <a:pt x="393764" y="1414748"/>
                    </a:lnTo>
                    <a:lnTo>
                      <a:pt x="308610" y="1414748"/>
                    </a:lnTo>
                    <a:lnTo>
                      <a:pt x="271558" y="1451896"/>
                    </a:lnTo>
                    <a:close/>
                  </a:path>
                </a:pathLst>
              </a:custGeom>
              <a:noFill/>
              <a:ln w="9525" cap="rnd">
                <a:gradFill>
                  <a:gsLst>
                    <a:gs pos="0">
                      <a:schemeClr val="accent1">
                        <a:alpha val="35000"/>
                        <a:lumMod val="95000"/>
                        <a:lumOff val="5000"/>
                      </a:schemeClr>
                    </a:gs>
                    <a:gs pos="54940">
                      <a:schemeClr val="accent1">
                        <a:lumMod val="75000"/>
                      </a:schemeClr>
                    </a:gs>
                    <a:gs pos="84920">
                      <a:schemeClr val="accent1">
                        <a:lumMod val="50000"/>
                      </a:schemeClr>
                    </a:gs>
                    <a:gs pos="100000">
                      <a:schemeClr val="accent1">
                        <a:lumMod val="50000"/>
                      </a:schemeClr>
                    </a:gs>
                  </a:gsLst>
                  <a:lin ang="16200000" scaled="1"/>
                </a:gradFill>
                <a:prstDash val="solid"/>
                <a:round/>
              </a:ln>
            </p:spPr>
            <p:txBody>
              <a:bodyPr rtlCol="0" anchor="ctr" anchorCtr="0"/>
              <a:lstStyle/>
              <a:p>
                <a:pPr algn="l"/>
                <a:endParaRPr/>
              </a:p>
            </p:txBody>
          </p:sp>
          <p:sp>
            <p:nvSpPr>
              <p:cNvPr id="45" name="任意多边形: 形状 44" descr="4d309a31-943e-45ca-b4be-53d4c032bd5e">
                <a:extLst>
                  <a:ext uri="{FF2B5EF4-FFF2-40B4-BE49-F238E27FC236}">
                    <a16:creationId xmlns:a16="http://schemas.microsoft.com/office/drawing/2014/main" id="{6B79BF39-E2EA-E4B5-A820-BEBBAC3D4E27}"/>
                  </a:ext>
                </a:extLst>
              </p:cNvPr>
              <p:cNvSpPr/>
              <p:nvPr/>
            </p:nvSpPr>
            <p:spPr>
              <a:xfrm>
                <a:off x="660400" y="2188033"/>
                <a:ext cx="178401" cy="17840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sp>
            <p:nvSpPr>
              <p:cNvPr id="46" name="任意多边形: 形状 45" descr="8ebbd874-d31c-4703-ad31-1f3d1ef9971a">
                <a:extLst>
                  <a:ext uri="{FF2B5EF4-FFF2-40B4-BE49-F238E27FC236}">
                    <a16:creationId xmlns:a16="http://schemas.microsoft.com/office/drawing/2014/main" id="{F817C6E7-29C3-C8C6-A757-A13AB55B69DE}"/>
                  </a:ext>
                </a:extLst>
              </p:cNvPr>
              <p:cNvSpPr/>
              <p:nvPr/>
            </p:nvSpPr>
            <p:spPr>
              <a:xfrm>
                <a:off x="5175425" y="2188033"/>
                <a:ext cx="178401" cy="178401"/>
              </a:xfrm>
              <a:custGeom>
                <a:avLst/>
                <a:gdLst>
                  <a:gd name="connsiteX0" fmla="*/ 0 w 149828"/>
                  <a:gd name="connsiteY0" fmla="*/ 0 h 149828"/>
                  <a:gd name="connsiteX1" fmla="*/ 120872 w 149828"/>
                  <a:gd name="connsiteY1" fmla="*/ 0 h 149828"/>
                  <a:gd name="connsiteX2" fmla="*/ 149828 w 149828"/>
                  <a:gd name="connsiteY2" fmla="*/ 0 h 149828"/>
                  <a:gd name="connsiteX3" fmla="*/ 149828 w 149828"/>
                  <a:gd name="connsiteY3" fmla="*/ 28956 h 149828"/>
                  <a:gd name="connsiteX4" fmla="*/ 149828 w 149828"/>
                  <a:gd name="connsiteY4" fmla="*/ 149828 h 149828"/>
                  <a:gd name="connsiteX5" fmla="*/ 111347 w 149828"/>
                  <a:gd name="connsiteY5" fmla="*/ 149828 h 149828"/>
                  <a:gd name="connsiteX6" fmla="*/ 111347 w 149828"/>
                  <a:gd name="connsiteY6" fmla="*/ 38481 h 149828"/>
                  <a:gd name="connsiteX7" fmla="*/ 0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0"/>
                    </a:moveTo>
                    <a:lnTo>
                      <a:pt x="120872" y="0"/>
                    </a:lnTo>
                    <a:lnTo>
                      <a:pt x="149828" y="0"/>
                    </a:lnTo>
                    <a:lnTo>
                      <a:pt x="149828" y="28956"/>
                    </a:lnTo>
                    <a:lnTo>
                      <a:pt x="149828" y="149828"/>
                    </a:lnTo>
                    <a:lnTo>
                      <a:pt x="111347" y="149828"/>
                    </a:lnTo>
                    <a:lnTo>
                      <a:pt x="111347" y="38481"/>
                    </a:lnTo>
                    <a:lnTo>
                      <a:pt x="0" y="38481"/>
                    </a:lnTo>
                    <a:close/>
                  </a:path>
                </a:pathLst>
              </a:custGeom>
              <a:solidFill>
                <a:schemeClr val="accent1"/>
              </a:solidFill>
              <a:ln w="9525" cap="flat">
                <a:noFill/>
                <a:prstDash val="solid"/>
                <a:miter/>
              </a:ln>
            </p:spPr>
            <p:txBody>
              <a:bodyPr rtlCol="0" anchor="ctr" anchorCtr="0"/>
              <a:lstStyle/>
              <a:p>
                <a:pPr algn="l"/>
                <a:endParaRPr/>
              </a:p>
            </p:txBody>
          </p:sp>
          <p:sp>
            <p:nvSpPr>
              <p:cNvPr id="53" name="任意多边形: 形状 52" descr="fb7ec839-d381-4836-a002-31d286fe6a67">
                <a:extLst>
                  <a:ext uri="{FF2B5EF4-FFF2-40B4-BE49-F238E27FC236}">
                    <a16:creationId xmlns:a16="http://schemas.microsoft.com/office/drawing/2014/main" id="{3A634831-4297-0FB2-FDE2-BF54F2831CE6}"/>
                  </a:ext>
                </a:extLst>
              </p:cNvPr>
              <p:cNvSpPr/>
              <p:nvPr/>
            </p:nvSpPr>
            <p:spPr>
              <a:xfrm>
                <a:off x="5306533" y="2449113"/>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54" name="任意多边形: 形状 53" descr="4fcb35f4-1df6-4509-9986-e3e4b508bb7e">
                <a:extLst>
                  <a:ext uri="{FF2B5EF4-FFF2-40B4-BE49-F238E27FC236}">
                    <a16:creationId xmlns:a16="http://schemas.microsoft.com/office/drawing/2014/main" id="{6502EEA8-DE6F-B380-24D9-BCDAC3846D93}"/>
                  </a:ext>
                </a:extLst>
              </p:cNvPr>
              <p:cNvSpPr/>
              <p:nvPr/>
            </p:nvSpPr>
            <p:spPr>
              <a:xfrm>
                <a:off x="5019595" y="21853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60" name="任意多边形: 形状 59" descr="3f1dd365-1987-4975-ad0a-5aa76dd022a3">
                <a:extLst>
                  <a:ext uri="{FF2B5EF4-FFF2-40B4-BE49-F238E27FC236}">
                    <a16:creationId xmlns:a16="http://schemas.microsoft.com/office/drawing/2014/main" id="{2B2EC9B2-00AF-BAE6-34F3-06C06177D774}"/>
                  </a:ext>
                </a:extLst>
              </p:cNvPr>
              <p:cNvSpPr/>
              <p:nvPr/>
            </p:nvSpPr>
            <p:spPr>
              <a:xfrm>
                <a:off x="4879868" y="21853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61" name="任意多边形: 形状 60" descr="a2260759-187c-42e1-a6c0-476bc386ee32">
                <a:extLst>
                  <a:ext uri="{FF2B5EF4-FFF2-40B4-BE49-F238E27FC236}">
                    <a16:creationId xmlns:a16="http://schemas.microsoft.com/office/drawing/2014/main" id="{B88E8AC9-B0EA-602A-CAB9-8CF7A57A7304}"/>
                  </a:ext>
                </a:extLst>
              </p:cNvPr>
              <p:cNvSpPr/>
              <p:nvPr/>
            </p:nvSpPr>
            <p:spPr>
              <a:xfrm>
                <a:off x="5306533" y="2555610"/>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62" name="任意多边形: 形状 61" descr="4c8c67ba-30f7-4ae0-b0c6-5caa521eb296">
                <a:extLst>
                  <a:ext uri="{FF2B5EF4-FFF2-40B4-BE49-F238E27FC236}">
                    <a16:creationId xmlns:a16="http://schemas.microsoft.com/office/drawing/2014/main" id="{FF562E75-AEC4-B2DA-2B9C-4386FABFB865}"/>
                  </a:ext>
                </a:extLst>
              </p:cNvPr>
              <p:cNvSpPr/>
              <p:nvPr/>
            </p:nvSpPr>
            <p:spPr>
              <a:xfrm>
                <a:off x="5306533" y="266210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63" name="任意多边形: 形状 62" descr="83c95ab9-de5e-473f-9404-2b600d9b2b4f">
                <a:extLst>
                  <a:ext uri="{FF2B5EF4-FFF2-40B4-BE49-F238E27FC236}">
                    <a16:creationId xmlns:a16="http://schemas.microsoft.com/office/drawing/2014/main" id="{E10D3565-C36B-39F9-5391-1814AE56D9B0}"/>
                  </a:ext>
                </a:extLst>
              </p:cNvPr>
              <p:cNvSpPr/>
              <p:nvPr/>
            </p:nvSpPr>
            <p:spPr>
              <a:xfrm>
                <a:off x="5306533" y="276871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65" name="任意多边形: 形状 64" descr="34285be1-70e8-4fda-92d6-9200285a8939">
                <a:extLst>
                  <a:ext uri="{FF2B5EF4-FFF2-40B4-BE49-F238E27FC236}">
                    <a16:creationId xmlns:a16="http://schemas.microsoft.com/office/drawing/2014/main" id="{EF5EC199-2038-4E3F-8FA4-37A07CCF9E36}"/>
                  </a:ext>
                </a:extLst>
              </p:cNvPr>
              <p:cNvSpPr/>
              <p:nvPr/>
            </p:nvSpPr>
            <p:spPr>
              <a:xfrm>
                <a:off x="739790" y="3783433"/>
                <a:ext cx="178401" cy="178400"/>
              </a:xfrm>
              <a:custGeom>
                <a:avLst/>
                <a:gdLst>
                  <a:gd name="connsiteX0" fmla="*/ 149828 w 149828"/>
                  <a:gd name="connsiteY0" fmla="*/ 149828 h 149828"/>
                  <a:gd name="connsiteX1" fmla="*/ 29051 w 149828"/>
                  <a:gd name="connsiteY1" fmla="*/ 149828 h 149828"/>
                  <a:gd name="connsiteX2" fmla="*/ 0 w 149828"/>
                  <a:gd name="connsiteY2" fmla="*/ 149828 h 149828"/>
                  <a:gd name="connsiteX3" fmla="*/ 0 w 149828"/>
                  <a:gd name="connsiteY3" fmla="*/ 120777 h 149828"/>
                  <a:gd name="connsiteX4" fmla="*/ 0 w 149828"/>
                  <a:gd name="connsiteY4" fmla="*/ 0 h 149828"/>
                  <a:gd name="connsiteX5" fmla="*/ 38576 w 149828"/>
                  <a:gd name="connsiteY5" fmla="*/ 0 h 149828"/>
                  <a:gd name="connsiteX6" fmla="*/ 38576 w 149828"/>
                  <a:gd name="connsiteY6" fmla="*/ 111252 h 149828"/>
                  <a:gd name="connsiteX7" fmla="*/ 149828 w 149828"/>
                  <a:gd name="connsiteY7" fmla="*/ 11125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149828"/>
                    </a:moveTo>
                    <a:lnTo>
                      <a:pt x="29051" y="149828"/>
                    </a:lnTo>
                    <a:lnTo>
                      <a:pt x="0" y="149828"/>
                    </a:lnTo>
                    <a:lnTo>
                      <a:pt x="0" y="120777"/>
                    </a:lnTo>
                    <a:lnTo>
                      <a:pt x="0" y="0"/>
                    </a:lnTo>
                    <a:lnTo>
                      <a:pt x="38576" y="0"/>
                    </a:lnTo>
                    <a:lnTo>
                      <a:pt x="38576" y="111252"/>
                    </a:lnTo>
                    <a:lnTo>
                      <a:pt x="149828" y="111252"/>
                    </a:lnTo>
                    <a:close/>
                  </a:path>
                </a:pathLst>
              </a:custGeom>
              <a:solidFill>
                <a:schemeClr val="accent1"/>
              </a:solidFill>
              <a:ln w="9525" cap="flat">
                <a:noFill/>
                <a:prstDash val="solid"/>
                <a:miter/>
              </a:ln>
            </p:spPr>
            <p:txBody>
              <a:bodyPr rtlCol="0" anchor="ctr" anchorCtr="0"/>
              <a:lstStyle/>
              <a:p>
                <a:pPr algn="l"/>
                <a:endParaRPr/>
              </a:p>
            </p:txBody>
          </p:sp>
          <p:sp>
            <p:nvSpPr>
              <p:cNvPr id="66" name="任意多边形: 形状 65" descr="3e724fb5-84d9-4aad-839c-8cb5c22aa9d7">
                <a:extLst>
                  <a:ext uri="{FF2B5EF4-FFF2-40B4-BE49-F238E27FC236}">
                    <a16:creationId xmlns:a16="http://schemas.microsoft.com/office/drawing/2014/main" id="{51B130E7-9412-0845-F8B6-35BB174357E1}"/>
                  </a:ext>
                </a:extLst>
              </p:cNvPr>
              <p:cNvSpPr/>
              <p:nvPr/>
            </p:nvSpPr>
            <p:spPr>
              <a:xfrm>
                <a:off x="5175425" y="3770164"/>
                <a:ext cx="178401" cy="178400"/>
              </a:xfrm>
              <a:custGeom>
                <a:avLst/>
                <a:gdLst>
                  <a:gd name="connsiteX0" fmla="*/ 0 w 149828"/>
                  <a:gd name="connsiteY0" fmla="*/ 149828 h 149828"/>
                  <a:gd name="connsiteX1" fmla="*/ 120872 w 149828"/>
                  <a:gd name="connsiteY1" fmla="*/ 149828 h 149828"/>
                  <a:gd name="connsiteX2" fmla="*/ 149828 w 149828"/>
                  <a:gd name="connsiteY2" fmla="*/ 149828 h 149828"/>
                  <a:gd name="connsiteX3" fmla="*/ 149828 w 149828"/>
                  <a:gd name="connsiteY3" fmla="*/ 120872 h 149828"/>
                  <a:gd name="connsiteX4" fmla="*/ 149828 w 149828"/>
                  <a:gd name="connsiteY4" fmla="*/ 0 h 149828"/>
                  <a:gd name="connsiteX5" fmla="*/ 111347 w 149828"/>
                  <a:gd name="connsiteY5" fmla="*/ 0 h 149828"/>
                  <a:gd name="connsiteX6" fmla="*/ 111347 w 149828"/>
                  <a:gd name="connsiteY6" fmla="*/ 111347 h 149828"/>
                  <a:gd name="connsiteX7" fmla="*/ 0 w 149828"/>
                  <a:gd name="connsiteY7" fmla="*/ 111347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149828"/>
                    </a:moveTo>
                    <a:lnTo>
                      <a:pt x="120872" y="149828"/>
                    </a:lnTo>
                    <a:lnTo>
                      <a:pt x="149828" y="149828"/>
                    </a:lnTo>
                    <a:lnTo>
                      <a:pt x="149828" y="120872"/>
                    </a:lnTo>
                    <a:lnTo>
                      <a:pt x="149828" y="0"/>
                    </a:lnTo>
                    <a:lnTo>
                      <a:pt x="111347" y="0"/>
                    </a:lnTo>
                    <a:lnTo>
                      <a:pt x="111347" y="111347"/>
                    </a:lnTo>
                    <a:lnTo>
                      <a:pt x="0" y="111347"/>
                    </a:lnTo>
                    <a:close/>
                  </a:path>
                </a:pathLst>
              </a:custGeom>
              <a:solidFill>
                <a:schemeClr val="accent1"/>
              </a:solidFill>
              <a:ln w="9525" cap="flat">
                <a:noFill/>
                <a:prstDash val="solid"/>
                <a:miter/>
              </a:ln>
            </p:spPr>
            <p:txBody>
              <a:bodyPr rtlCol="0" anchor="ctr" anchorCtr="0"/>
              <a:lstStyle/>
              <a:p>
                <a:pPr algn="l"/>
                <a:endParaRPr/>
              </a:p>
            </p:txBody>
          </p:sp>
          <p:sp>
            <p:nvSpPr>
              <p:cNvPr id="67" name="任意多边形: 形状 66" descr="996b39c3-bee4-4307-809e-d317bc820a8e">
                <a:extLst>
                  <a:ext uri="{FF2B5EF4-FFF2-40B4-BE49-F238E27FC236}">
                    <a16:creationId xmlns:a16="http://schemas.microsoft.com/office/drawing/2014/main" id="{E0EBED7F-D0DE-5DE9-C96F-58128B72C396}"/>
                  </a:ext>
                </a:extLst>
              </p:cNvPr>
              <p:cNvSpPr/>
              <p:nvPr/>
            </p:nvSpPr>
            <p:spPr>
              <a:xfrm>
                <a:off x="1936311" y="3907282"/>
                <a:ext cx="581248" cy="55118"/>
              </a:xfrm>
              <a:custGeom>
                <a:avLst/>
                <a:gdLst>
                  <a:gd name="connsiteX0" fmla="*/ 0 w 488156"/>
                  <a:gd name="connsiteY0" fmla="*/ 0 h 46291"/>
                  <a:gd name="connsiteX1" fmla="*/ 488156 w 488156"/>
                  <a:gd name="connsiteY1" fmla="*/ 0 h 46291"/>
                  <a:gd name="connsiteX2" fmla="*/ 488156 w 488156"/>
                  <a:gd name="connsiteY2" fmla="*/ 46292 h 46291"/>
                  <a:gd name="connsiteX3" fmla="*/ 0 w 488156"/>
                  <a:gd name="connsiteY3" fmla="*/ 46292 h 46291"/>
                </a:gdLst>
                <a:ahLst/>
                <a:cxnLst>
                  <a:cxn ang="0">
                    <a:pos x="connsiteX0" y="connsiteY0"/>
                  </a:cxn>
                  <a:cxn ang="0">
                    <a:pos x="connsiteX1" y="connsiteY1"/>
                  </a:cxn>
                  <a:cxn ang="0">
                    <a:pos x="connsiteX2" y="connsiteY2"/>
                  </a:cxn>
                  <a:cxn ang="0">
                    <a:pos x="connsiteX3" y="connsiteY3"/>
                  </a:cxn>
                </a:cxnLst>
                <a:rect l="l" t="t" r="r" b="b"/>
                <a:pathLst>
                  <a:path w="488156" h="46291">
                    <a:moveTo>
                      <a:pt x="0" y="0"/>
                    </a:moveTo>
                    <a:lnTo>
                      <a:pt x="488156" y="0"/>
                    </a:lnTo>
                    <a:lnTo>
                      <a:pt x="488156" y="46292"/>
                    </a:lnTo>
                    <a:lnTo>
                      <a:pt x="0" y="46292"/>
                    </a:lnTo>
                    <a:close/>
                  </a:path>
                </a:pathLst>
              </a:custGeom>
              <a:solidFill>
                <a:schemeClr val="accent1"/>
              </a:solidFill>
              <a:ln w="9525" cap="flat">
                <a:noFill/>
                <a:prstDash val="solid"/>
                <a:miter/>
              </a:ln>
            </p:spPr>
            <p:txBody>
              <a:bodyPr rtlCol="0" anchor="ctr" anchorCtr="0"/>
              <a:lstStyle/>
              <a:p>
                <a:pPr algn="l"/>
                <a:endParaRPr/>
              </a:p>
            </p:txBody>
          </p:sp>
          <p:sp>
            <p:nvSpPr>
              <p:cNvPr id="68" name="任意多边形: 形状 67" descr="eee147b2-31a2-4f0a-b9ce-afba28c9c8b9">
                <a:extLst>
                  <a:ext uri="{FF2B5EF4-FFF2-40B4-BE49-F238E27FC236}">
                    <a16:creationId xmlns:a16="http://schemas.microsoft.com/office/drawing/2014/main" id="{9D084A1F-E76B-77CE-AD89-30D3FDE21E99}"/>
                  </a:ext>
                </a:extLst>
              </p:cNvPr>
              <p:cNvSpPr/>
              <p:nvPr/>
            </p:nvSpPr>
            <p:spPr>
              <a:xfrm>
                <a:off x="822128" y="2915473"/>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69" name="任意多边形: 形状 68" descr="5ff3ba93-5000-4f12-acdc-80661ae68cb9">
                <a:extLst>
                  <a:ext uri="{FF2B5EF4-FFF2-40B4-BE49-F238E27FC236}">
                    <a16:creationId xmlns:a16="http://schemas.microsoft.com/office/drawing/2014/main" id="{9427BBF7-381E-6511-5FFA-2A106960238A}"/>
                  </a:ext>
                </a:extLst>
              </p:cNvPr>
              <p:cNvSpPr/>
              <p:nvPr/>
            </p:nvSpPr>
            <p:spPr>
              <a:xfrm>
                <a:off x="822128" y="3013917"/>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70" name="任意多边形: 形状 69" descr="ce91960d-0fff-4c89-9f8b-03aab2ea13d4">
                <a:extLst>
                  <a:ext uri="{FF2B5EF4-FFF2-40B4-BE49-F238E27FC236}">
                    <a16:creationId xmlns:a16="http://schemas.microsoft.com/office/drawing/2014/main" id="{9ED47350-B270-9783-BA4E-C96B3674512B}"/>
                  </a:ext>
                </a:extLst>
              </p:cNvPr>
              <p:cNvSpPr/>
              <p:nvPr/>
            </p:nvSpPr>
            <p:spPr>
              <a:xfrm>
                <a:off x="681281" y="2632842"/>
                <a:ext cx="132238" cy="626802"/>
              </a:xfrm>
              <a:custGeom>
                <a:avLst/>
                <a:gdLst>
                  <a:gd name="connsiteX0" fmla="*/ 0 w 75819"/>
                  <a:gd name="connsiteY0" fmla="*/ 33242 h 359378"/>
                  <a:gd name="connsiteX1" fmla="*/ 37910 w 75819"/>
                  <a:gd name="connsiteY1" fmla="*/ 14288 h 359378"/>
                  <a:gd name="connsiteX2" fmla="*/ 75819 w 75819"/>
                  <a:gd name="connsiteY2" fmla="*/ 33242 h 359378"/>
                  <a:gd name="connsiteX3" fmla="*/ 75819 w 75819"/>
                  <a:gd name="connsiteY3" fmla="*/ 18955 h 359378"/>
                  <a:gd name="connsiteX4" fmla="*/ 37910 w 75819"/>
                  <a:gd name="connsiteY4" fmla="*/ 0 h 359378"/>
                  <a:gd name="connsiteX5" fmla="*/ 0 w 75819"/>
                  <a:gd name="connsiteY5" fmla="*/ 18955 h 359378"/>
                  <a:gd name="connsiteX6" fmla="*/ 0 w 75819"/>
                  <a:gd name="connsiteY6" fmla="*/ 33242 h 359378"/>
                  <a:gd name="connsiteX7" fmla="*/ 0 w 75819"/>
                  <a:gd name="connsiteY7" fmla="*/ 155543 h 359378"/>
                  <a:gd name="connsiteX8" fmla="*/ 37910 w 75819"/>
                  <a:gd name="connsiteY8" fmla="*/ 136589 h 359378"/>
                  <a:gd name="connsiteX9" fmla="*/ 75819 w 75819"/>
                  <a:gd name="connsiteY9" fmla="*/ 155543 h 359378"/>
                  <a:gd name="connsiteX10" fmla="*/ 75819 w 75819"/>
                  <a:gd name="connsiteY10" fmla="*/ 141256 h 359378"/>
                  <a:gd name="connsiteX11" fmla="*/ 37910 w 75819"/>
                  <a:gd name="connsiteY11" fmla="*/ 122301 h 359378"/>
                  <a:gd name="connsiteX12" fmla="*/ 0 w 75819"/>
                  <a:gd name="connsiteY12" fmla="*/ 141256 h 359378"/>
                  <a:gd name="connsiteX13" fmla="*/ 0 w 75819"/>
                  <a:gd name="connsiteY13" fmla="*/ 155543 h 359378"/>
                  <a:gd name="connsiteX14" fmla="*/ 0 w 75819"/>
                  <a:gd name="connsiteY14" fmla="*/ 114776 h 359378"/>
                  <a:gd name="connsiteX15" fmla="*/ 37910 w 75819"/>
                  <a:gd name="connsiteY15" fmla="*/ 95822 h 359378"/>
                  <a:gd name="connsiteX16" fmla="*/ 75819 w 75819"/>
                  <a:gd name="connsiteY16" fmla="*/ 114776 h 359378"/>
                  <a:gd name="connsiteX17" fmla="*/ 75819 w 75819"/>
                  <a:gd name="connsiteY17" fmla="*/ 100489 h 359378"/>
                  <a:gd name="connsiteX18" fmla="*/ 37910 w 75819"/>
                  <a:gd name="connsiteY18" fmla="*/ 81534 h 359378"/>
                  <a:gd name="connsiteX19" fmla="*/ 0 w 75819"/>
                  <a:gd name="connsiteY19" fmla="*/ 100489 h 359378"/>
                  <a:gd name="connsiteX20" fmla="*/ 0 w 75819"/>
                  <a:gd name="connsiteY20" fmla="*/ 114776 h 359378"/>
                  <a:gd name="connsiteX21" fmla="*/ 0 w 75819"/>
                  <a:gd name="connsiteY21" fmla="*/ 74009 h 359378"/>
                  <a:gd name="connsiteX22" fmla="*/ 37910 w 75819"/>
                  <a:gd name="connsiteY22" fmla="*/ 55055 h 359378"/>
                  <a:gd name="connsiteX23" fmla="*/ 75819 w 75819"/>
                  <a:gd name="connsiteY23" fmla="*/ 74009 h 359378"/>
                  <a:gd name="connsiteX24" fmla="*/ 75819 w 75819"/>
                  <a:gd name="connsiteY24" fmla="*/ 59722 h 359378"/>
                  <a:gd name="connsiteX25" fmla="*/ 37910 w 75819"/>
                  <a:gd name="connsiteY25" fmla="*/ 40767 h 359378"/>
                  <a:gd name="connsiteX26" fmla="*/ 0 w 75819"/>
                  <a:gd name="connsiteY26" fmla="*/ 59722 h 359378"/>
                  <a:gd name="connsiteX27" fmla="*/ 0 w 75819"/>
                  <a:gd name="connsiteY27" fmla="*/ 74009 h 359378"/>
                  <a:gd name="connsiteX28" fmla="*/ 0 w 75819"/>
                  <a:gd name="connsiteY28" fmla="*/ 277844 h 359378"/>
                  <a:gd name="connsiteX29" fmla="*/ 37910 w 75819"/>
                  <a:gd name="connsiteY29" fmla="*/ 258890 h 359378"/>
                  <a:gd name="connsiteX30" fmla="*/ 75819 w 75819"/>
                  <a:gd name="connsiteY30" fmla="*/ 277844 h 359378"/>
                  <a:gd name="connsiteX31" fmla="*/ 75819 w 75819"/>
                  <a:gd name="connsiteY31" fmla="*/ 263557 h 359378"/>
                  <a:gd name="connsiteX32" fmla="*/ 37910 w 75819"/>
                  <a:gd name="connsiteY32" fmla="*/ 244602 h 359378"/>
                  <a:gd name="connsiteX33" fmla="*/ 0 w 75819"/>
                  <a:gd name="connsiteY33" fmla="*/ 263557 h 359378"/>
                  <a:gd name="connsiteX34" fmla="*/ 0 w 75819"/>
                  <a:gd name="connsiteY34" fmla="*/ 277844 h 359378"/>
                  <a:gd name="connsiteX35" fmla="*/ 37910 w 75819"/>
                  <a:gd name="connsiteY35" fmla="*/ 340424 h 359378"/>
                  <a:gd name="connsiteX36" fmla="*/ 75819 w 75819"/>
                  <a:gd name="connsiteY36" fmla="*/ 359378 h 359378"/>
                  <a:gd name="connsiteX37" fmla="*/ 75819 w 75819"/>
                  <a:gd name="connsiteY37" fmla="*/ 345091 h 359378"/>
                  <a:gd name="connsiteX38" fmla="*/ 37910 w 75819"/>
                  <a:gd name="connsiteY38" fmla="*/ 326136 h 359378"/>
                  <a:gd name="connsiteX39" fmla="*/ 0 w 75819"/>
                  <a:gd name="connsiteY39" fmla="*/ 345091 h 359378"/>
                  <a:gd name="connsiteX40" fmla="*/ 0 w 75819"/>
                  <a:gd name="connsiteY40" fmla="*/ 359378 h 359378"/>
                  <a:gd name="connsiteX41" fmla="*/ 37910 w 75819"/>
                  <a:gd name="connsiteY41" fmla="*/ 340424 h 359378"/>
                  <a:gd name="connsiteX42" fmla="*/ 0 w 75819"/>
                  <a:gd name="connsiteY42" fmla="*/ 196310 h 359378"/>
                  <a:gd name="connsiteX43" fmla="*/ 37910 w 75819"/>
                  <a:gd name="connsiteY43" fmla="*/ 177356 h 359378"/>
                  <a:gd name="connsiteX44" fmla="*/ 75819 w 75819"/>
                  <a:gd name="connsiteY44" fmla="*/ 196310 h 359378"/>
                  <a:gd name="connsiteX45" fmla="*/ 75819 w 75819"/>
                  <a:gd name="connsiteY45" fmla="*/ 182023 h 359378"/>
                  <a:gd name="connsiteX46" fmla="*/ 37910 w 75819"/>
                  <a:gd name="connsiteY46" fmla="*/ 163068 h 359378"/>
                  <a:gd name="connsiteX47" fmla="*/ 0 w 75819"/>
                  <a:gd name="connsiteY47" fmla="*/ 182023 h 359378"/>
                  <a:gd name="connsiteX48" fmla="*/ 0 w 75819"/>
                  <a:gd name="connsiteY48" fmla="*/ 196310 h 359378"/>
                  <a:gd name="connsiteX49" fmla="*/ 0 w 75819"/>
                  <a:gd name="connsiteY49" fmla="*/ 318611 h 359378"/>
                  <a:gd name="connsiteX50" fmla="*/ 37910 w 75819"/>
                  <a:gd name="connsiteY50" fmla="*/ 299657 h 359378"/>
                  <a:gd name="connsiteX51" fmla="*/ 75819 w 75819"/>
                  <a:gd name="connsiteY51" fmla="*/ 318611 h 359378"/>
                  <a:gd name="connsiteX52" fmla="*/ 75819 w 75819"/>
                  <a:gd name="connsiteY52" fmla="*/ 304324 h 359378"/>
                  <a:gd name="connsiteX53" fmla="*/ 37910 w 75819"/>
                  <a:gd name="connsiteY53" fmla="*/ 285369 h 359378"/>
                  <a:gd name="connsiteX54" fmla="*/ 0 w 75819"/>
                  <a:gd name="connsiteY54" fmla="*/ 304324 h 359378"/>
                  <a:gd name="connsiteX55" fmla="*/ 0 w 75819"/>
                  <a:gd name="connsiteY55" fmla="*/ 318611 h 359378"/>
                  <a:gd name="connsiteX56" fmla="*/ 0 w 75819"/>
                  <a:gd name="connsiteY56" fmla="*/ 237077 h 359378"/>
                  <a:gd name="connsiteX57" fmla="*/ 37910 w 75819"/>
                  <a:gd name="connsiteY57" fmla="*/ 218123 h 359378"/>
                  <a:gd name="connsiteX58" fmla="*/ 75819 w 75819"/>
                  <a:gd name="connsiteY58" fmla="*/ 237077 h 359378"/>
                  <a:gd name="connsiteX59" fmla="*/ 75819 w 75819"/>
                  <a:gd name="connsiteY59" fmla="*/ 222790 h 359378"/>
                  <a:gd name="connsiteX60" fmla="*/ 37910 w 75819"/>
                  <a:gd name="connsiteY60" fmla="*/ 203835 h 359378"/>
                  <a:gd name="connsiteX61" fmla="*/ 0 w 75819"/>
                  <a:gd name="connsiteY61" fmla="*/ 222790 h 359378"/>
                  <a:gd name="connsiteX62" fmla="*/ 0 w 75819"/>
                  <a:gd name="connsiteY62" fmla="*/ 237077 h 359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75819" h="359378">
                    <a:moveTo>
                      <a:pt x="0" y="33242"/>
                    </a:moveTo>
                    <a:lnTo>
                      <a:pt x="37910" y="14288"/>
                    </a:lnTo>
                    <a:lnTo>
                      <a:pt x="75819" y="33242"/>
                    </a:lnTo>
                    <a:lnTo>
                      <a:pt x="75819" y="18955"/>
                    </a:lnTo>
                    <a:lnTo>
                      <a:pt x="37910" y="0"/>
                    </a:lnTo>
                    <a:lnTo>
                      <a:pt x="0" y="18955"/>
                    </a:lnTo>
                    <a:lnTo>
                      <a:pt x="0" y="33242"/>
                    </a:lnTo>
                    <a:close/>
                    <a:moveTo>
                      <a:pt x="0" y="155543"/>
                    </a:moveTo>
                    <a:lnTo>
                      <a:pt x="37910" y="136589"/>
                    </a:lnTo>
                    <a:lnTo>
                      <a:pt x="75819" y="155543"/>
                    </a:lnTo>
                    <a:lnTo>
                      <a:pt x="75819" y="141256"/>
                    </a:lnTo>
                    <a:lnTo>
                      <a:pt x="37910" y="122301"/>
                    </a:lnTo>
                    <a:lnTo>
                      <a:pt x="0" y="141256"/>
                    </a:lnTo>
                    <a:lnTo>
                      <a:pt x="0" y="155543"/>
                    </a:lnTo>
                    <a:close/>
                    <a:moveTo>
                      <a:pt x="0" y="114776"/>
                    </a:moveTo>
                    <a:lnTo>
                      <a:pt x="37910" y="95822"/>
                    </a:lnTo>
                    <a:lnTo>
                      <a:pt x="75819" y="114776"/>
                    </a:lnTo>
                    <a:lnTo>
                      <a:pt x="75819" y="100489"/>
                    </a:lnTo>
                    <a:lnTo>
                      <a:pt x="37910" y="81534"/>
                    </a:lnTo>
                    <a:lnTo>
                      <a:pt x="0" y="100489"/>
                    </a:lnTo>
                    <a:lnTo>
                      <a:pt x="0" y="114776"/>
                    </a:lnTo>
                    <a:close/>
                    <a:moveTo>
                      <a:pt x="0" y="74009"/>
                    </a:moveTo>
                    <a:lnTo>
                      <a:pt x="37910" y="55055"/>
                    </a:lnTo>
                    <a:lnTo>
                      <a:pt x="75819" y="74009"/>
                    </a:lnTo>
                    <a:lnTo>
                      <a:pt x="75819" y="59722"/>
                    </a:lnTo>
                    <a:lnTo>
                      <a:pt x="37910" y="40767"/>
                    </a:lnTo>
                    <a:lnTo>
                      <a:pt x="0" y="59722"/>
                    </a:lnTo>
                    <a:lnTo>
                      <a:pt x="0" y="74009"/>
                    </a:lnTo>
                    <a:close/>
                    <a:moveTo>
                      <a:pt x="0" y="277844"/>
                    </a:moveTo>
                    <a:lnTo>
                      <a:pt x="37910" y="258890"/>
                    </a:lnTo>
                    <a:lnTo>
                      <a:pt x="75819" y="277844"/>
                    </a:lnTo>
                    <a:lnTo>
                      <a:pt x="75819" y="263557"/>
                    </a:lnTo>
                    <a:lnTo>
                      <a:pt x="37910" y="244602"/>
                    </a:lnTo>
                    <a:lnTo>
                      <a:pt x="0" y="263557"/>
                    </a:lnTo>
                    <a:lnTo>
                      <a:pt x="0" y="277844"/>
                    </a:lnTo>
                    <a:close/>
                    <a:moveTo>
                      <a:pt x="37910" y="340424"/>
                    </a:moveTo>
                    <a:lnTo>
                      <a:pt x="75819" y="359378"/>
                    </a:lnTo>
                    <a:lnTo>
                      <a:pt x="75819" y="345091"/>
                    </a:lnTo>
                    <a:lnTo>
                      <a:pt x="37910" y="326136"/>
                    </a:lnTo>
                    <a:lnTo>
                      <a:pt x="0" y="345091"/>
                    </a:lnTo>
                    <a:lnTo>
                      <a:pt x="0" y="359378"/>
                    </a:lnTo>
                    <a:lnTo>
                      <a:pt x="37910" y="340424"/>
                    </a:lnTo>
                    <a:close/>
                    <a:moveTo>
                      <a:pt x="0" y="196310"/>
                    </a:moveTo>
                    <a:lnTo>
                      <a:pt x="37910" y="177356"/>
                    </a:lnTo>
                    <a:lnTo>
                      <a:pt x="75819" y="196310"/>
                    </a:lnTo>
                    <a:lnTo>
                      <a:pt x="75819" y="182023"/>
                    </a:lnTo>
                    <a:lnTo>
                      <a:pt x="37910" y="163068"/>
                    </a:lnTo>
                    <a:lnTo>
                      <a:pt x="0" y="182023"/>
                    </a:lnTo>
                    <a:lnTo>
                      <a:pt x="0" y="196310"/>
                    </a:lnTo>
                    <a:close/>
                    <a:moveTo>
                      <a:pt x="0" y="318611"/>
                    </a:moveTo>
                    <a:lnTo>
                      <a:pt x="37910" y="299657"/>
                    </a:lnTo>
                    <a:lnTo>
                      <a:pt x="75819" y="318611"/>
                    </a:lnTo>
                    <a:lnTo>
                      <a:pt x="75819" y="304324"/>
                    </a:lnTo>
                    <a:lnTo>
                      <a:pt x="37910" y="285369"/>
                    </a:lnTo>
                    <a:lnTo>
                      <a:pt x="0" y="304324"/>
                    </a:lnTo>
                    <a:lnTo>
                      <a:pt x="0" y="318611"/>
                    </a:lnTo>
                    <a:close/>
                    <a:moveTo>
                      <a:pt x="0" y="237077"/>
                    </a:moveTo>
                    <a:lnTo>
                      <a:pt x="37910" y="218123"/>
                    </a:lnTo>
                    <a:lnTo>
                      <a:pt x="75819" y="237077"/>
                    </a:lnTo>
                    <a:lnTo>
                      <a:pt x="75819" y="222790"/>
                    </a:lnTo>
                    <a:lnTo>
                      <a:pt x="37910" y="203835"/>
                    </a:lnTo>
                    <a:lnTo>
                      <a:pt x="0" y="222790"/>
                    </a:lnTo>
                    <a:lnTo>
                      <a:pt x="0" y="237077"/>
                    </a:lnTo>
                    <a:close/>
                  </a:path>
                </a:pathLst>
              </a:custGeom>
              <a:gradFill flip="none" rotWithShape="1">
                <a:gsLst>
                  <a:gs pos="0">
                    <a:schemeClr val="accent1"/>
                  </a:gs>
                  <a:gs pos="100000">
                    <a:schemeClr val="accent1">
                      <a:alpha val="0"/>
                    </a:schemeClr>
                  </a:gs>
                </a:gsLst>
                <a:lin ang="5400000" scaled="1"/>
                <a:tileRect/>
              </a:gradFill>
              <a:ln w="9525" cap="flat">
                <a:noFill/>
                <a:prstDash val="solid"/>
                <a:miter/>
              </a:ln>
            </p:spPr>
            <p:txBody>
              <a:bodyPr rtlCol="0" anchor="ctr" anchorCtr="0"/>
              <a:lstStyle/>
              <a:p>
                <a:pPr algn="l"/>
                <a:endParaRPr/>
              </a:p>
            </p:txBody>
          </p:sp>
        </p:grpSp>
        <p:grpSp>
          <p:nvGrpSpPr>
            <p:cNvPr id="12" name="组合 11" descr="b382ce7d-a28e-4dbc-b370-be23c074ec5d">
              <a:extLst>
                <a:ext uri="{FF2B5EF4-FFF2-40B4-BE49-F238E27FC236}">
                  <a16:creationId xmlns:a16="http://schemas.microsoft.com/office/drawing/2014/main" id="{34477013-0C39-3CB2-9511-D303D5419D5F}"/>
                </a:ext>
              </a:extLst>
            </p:cNvPr>
            <p:cNvGrpSpPr/>
            <p:nvPr/>
          </p:nvGrpSpPr>
          <p:grpSpPr>
            <a:xfrm>
              <a:off x="5791200" y="2185312"/>
              <a:ext cx="4693426" cy="1777088"/>
              <a:chOff x="5791200" y="2185312"/>
              <a:chExt cx="4693426" cy="1777088"/>
            </a:xfrm>
          </p:grpSpPr>
          <p:sp>
            <p:nvSpPr>
              <p:cNvPr id="79" name="任意多边形: 形状 78" descr="49bc5ae6-6cea-4701-b8bb-46ed0490f3a5">
                <a:extLst>
                  <a:ext uri="{FF2B5EF4-FFF2-40B4-BE49-F238E27FC236}">
                    <a16:creationId xmlns:a16="http://schemas.microsoft.com/office/drawing/2014/main" id="{2F0C4862-34F3-FA1C-9B7D-3D4B6045832E}"/>
                  </a:ext>
                </a:extLst>
              </p:cNvPr>
              <p:cNvSpPr/>
              <p:nvPr/>
            </p:nvSpPr>
            <p:spPr>
              <a:xfrm>
                <a:off x="5813655" y="2209016"/>
                <a:ext cx="4647266" cy="1728774"/>
              </a:xfrm>
              <a:custGeom>
                <a:avLst/>
                <a:gdLst>
                  <a:gd name="connsiteX0" fmla="*/ 62389 w 3902963"/>
                  <a:gd name="connsiteY0" fmla="*/ 1451896 h 1451895"/>
                  <a:gd name="connsiteX1" fmla="*/ 62389 w 3902963"/>
                  <a:gd name="connsiteY1" fmla="*/ 1031367 h 1451895"/>
                  <a:gd name="connsiteX2" fmla="*/ 139160 w 3902963"/>
                  <a:gd name="connsiteY2" fmla="*/ 954596 h 1451895"/>
                  <a:gd name="connsiteX3" fmla="*/ 139160 w 3902963"/>
                  <a:gd name="connsiteY3" fmla="*/ 357378 h 1451895"/>
                  <a:gd name="connsiteX4" fmla="*/ 0 w 3902963"/>
                  <a:gd name="connsiteY4" fmla="*/ 218218 h 1451895"/>
                  <a:gd name="connsiteX5" fmla="*/ 0 w 3902963"/>
                  <a:gd name="connsiteY5" fmla="*/ 0 h 1451895"/>
                  <a:gd name="connsiteX6" fmla="*/ 3902964 w 3902963"/>
                  <a:gd name="connsiteY6" fmla="*/ 0 h 1451895"/>
                  <a:gd name="connsiteX7" fmla="*/ 3902964 w 3902963"/>
                  <a:gd name="connsiteY7" fmla="*/ 1441228 h 1451895"/>
                  <a:gd name="connsiteX8" fmla="*/ 3503676 w 3902963"/>
                  <a:gd name="connsiteY8" fmla="*/ 1441228 h 1451895"/>
                  <a:gd name="connsiteX9" fmla="*/ 3422237 w 3902963"/>
                  <a:gd name="connsiteY9" fmla="*/ 1359789 h 1451895"/>
                  <a:gd name="connsiteX10" fmla="*/ 3180493 w 3902963"/>
                  <a:gd name="connsiteY10" fmla="*/ 1359789 h 1451895"/>
                  <a:gd name="connsiteX11" fmla="*/ 3074765 w 3902963"/>
                  <a:gd name="connsiteY11" fmla="*/ 1446467 h 1451895"/>
                  <a:gd name="connsiteX12" fmla="*/ 425482 w 3902963"/>
                  <a:gd name="connsiteY12" fmla="*/ 1446467 h 1451895"/>
                  <a:gd name="connsiteX13" fmla="*/ 393764 w 3902963"/>
                  <a:gd name="connsiteY13" fmla="*/ 1414748 h 1451895"/>
                  <a:gd name="connsiteX14" fmla="*/ 308610 w 3902963"/>
                  <a:gd name="connsiteY14" fmla="*/ 1414748 h 1451895"/>
                  <a:gd name="connsiteX15" fmla="*/ 271558 w 3902963"/>
                  <a:gd name="connsiteY15" fmla="*/ 1451896 h 145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02963" h="1451895">
                    <a:moveTo>
                      <a:pt x="62389" y="1451896"/>
                    </a:moveTo>
                    <a:lnTo>
                      <a:pt x="62389" y="1031367"/>
                    </a:lnTo>
                    <a:lnTo>
                      <a:pt x="139160" y="954596"/>
                    </a:lnTo>
                    <a:lnTo>
                      <a:pt x="139160" y="357378"/>
                    </a:lnTo>
                    <a:lnTo>
                      <a:pt x="0" y="218218"/>
                    </a:lnTo>
                    <a:lnTo>
                      <a:pt x="0" y="0"/>
                    </a:lnTo>
                    <a:lnTo>
                      <a:pt x="3902964" y="0"/>
                    </a:lnTo>
                    <a:lnTo>
                      <a:pt x="3902964" y="1441228"/>
                    </a:lnTo>
                    <a:lnTo>
                      <a:pt x="3503676" y="1441228"/>
                    </a:lnTo>
                    <a:lnTo>
                      <a:pt x="3422237" y="1359789"/>
                    </a:lnTo>
                    <a:lnTo>
                      <a:pt x="3180493" y="1359789"/>
                    </a:lnTo>
                    <a:lnTo>
                      <a:pt x="3074765" y="1446467"/>
                    </a:lnTo>
                    <a:lnTo>
                      <a:pt x="425482" y="1446467"/>
                    </a:lnTo>
                    <a:lnTo>
                      <a:pt x="393764" y="1414748"/>
                    </a:lnTo>
                    <a:lnTo>
                      <a:pt x="308610" y="1414748"/>
                    </a:lnTo>
                    <a:lnTo>
                      <a:pt x="271558" y="1451896"/>
                    </a:lnTo>
                    <a:close/>
                  </a:path>
                </a:pathLst>
              </a:custGeom>
              <a:noFill/>
              <a:ln w="9525" cap="rnd">
                <a:gradFill>
                  <a:gsLst>
                    <a:gs pos="0">
                      <a:schemeClr val="accent1">
                        <a:alpha val="35000"/>
                        <a:lumMod val="95000"/>
                        <a:lumOff val="5000"/>
                      </a:schemeClr>
                    </a:gs>
                    <a:gs pos="54940">
                      <a:schemeClr val="accent1">
                        <a:lumMod val="75000"/>
                      </a:schemeClr>
                    </a:gs>
                    <a:gs pos="84920">
                      <a:schemeClr val="accent1">
                        <a:lumMod val="50000"/>
                      </a:schemeClr>
                    </a:gs>
                    <a:gs pos="100000">
                      <a:schemeClr val="accent1">
                        <a:lumMod val="50000"/>
                      </a:schemeClr>
                    </a:gs>
                  </a:gsLst>
                  <a:lin ang="16200000" scaled="1"/>
                </a:gradFill>
                <a:prstDash val="solid"/>
                <a:round/>
              </a:ln>
            </p:spPr>
            <p:txBody>
              <a:bodyPr rtlCol="0" anchor="ctr" anchorCtr="0"/>
              <a:lstStyle/>
              <a:p>
                <a:pPr algn="l"/>
                <a:endParaRPr/>
              </a:p>
            </p:txBody>
          </p:sp>
          <p:sp>
            <p:nvSpPr>
              <p:cNvPr id="88" name="任意多边形: 形状 87" descr="94dd4e90-1bfa-430a-be6a-dcb79f32a48e">
                <a:extLst>
                  <a:ext uri="{FF2B5EF4-FFF2-40B4-BE49-F238E27FC236}">
                    <a16:creationId xmlns:a16="http://schemas.microsoft.com/office/drawing/2014/main" id="{811029E5-5349-1E7F-E7AF-CBBC62574FC9}"/>
                  </a:ext>
                </a:extLst>
              </p:cNvPr>
              <p:cNvSpPr/>
              <p:nvPr/>
            </p:nvSpPr>
            <p:spPr>
              <a:xfrm>
                <a:off x="5791200" y="2188033"/>
                <a:ext cx="178401" cy="17840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sp>
            <p:nvSpPr>
              <p:cNvPr id="89" name="任意多边形: 形状 88" descr="580bcc47-665f-494d-94d4-cb43ff435b6a">
                <a:extLst>
                  <a:ext uri="{FF2B5EF4-FFF2-40B4-BE49-F238E27FC236}">
                    <a16:creationId xmlns:a16="http://schemas.microsoft.com/office/drawing/2014/main" id="{115605A8-85C5-0C2F-380A-727874B88C42}"/>
                  </a:ext>
                </a:extLst>
              </p:cNvPr>
              <p:cNvSpPr/>
              <p:nvPr/>
            </p:nvSpPr>
            <p:spPr>
              <a:xfrm>
                <a:off x="10306225" y="2188033"/>
                <a:ext cx="178401" cy="178401"/>
              </a:xfrm>
              <a:custGeom>
                <a:avLst/>
                <a:gdLst>
                  <a:gd name="connsiteX0" fmla="*/ 0 w 149828"/>
                  <a:gd name="connsiteY0" fmla="*/ 0 h 149828"/>
                  <a:gd name="connsiteX1" fmla="*/ 120872 w 149828"/>
                  <a:gd name="connsiteY1" fmla="*/ 0 h 149828"/>
                  <a:gd name="connsiteX2" fmla="*/ 149828 w 149828"/>
                  <a:gd name="connsiteY2" fmla="*/ 0 h 149828"/>
                  <a:gd name="connsiteX3" fmla="*/ 149828 w 149828"/>
                  <a:gd name="connsiteY3" fmla="*/ 28956 h 149828"/>
                  <a:gd name="connsiteX4" fmla="*/ 149828 w 149828"/>
                  <a:gd name="connsiteY4" fmla="*/ 149828 h 149828"/>
                  <a:gd name="connsiteX5" fmla="*/ 111347 w 149828"/>
                  <a:gd name="connsiteY5" fmla="*/ 149828 h 149828"/>
                  <a:gd name="connsiteX6" fmla="*/ 111347 w 149828"/>
                  <a:gd name="connsiteY6" fmla="*/ 38481 h 149828"/>
                  <a:gd name="connsiteX7" fmla="*/ 0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0"/>
                    </a:moveTo>
                    <a:lnTo>
                      <a:pt x="120872" y="0"/>
                    </a:lnTo>
                    <a:lnTo>
                      <a:pt x="149828" y="0"/>
                    </a:lnTo>
                    <a:lnTo>
                      <a:pt x="149828" y="28956"/>
                    </a:lnTo>
                    <a:lnTo>
                      <a:pt x="149828" y="149828"/>
                    </a:lnTo>
                    <a:lnTo>
                      <a:pt x="111347" y="149828"/>
                    </a:lnTo>
                    <a:lnTo>
                      <a:pt x="111347" y="38481"/>
                    </a:lnTo>
                    <a:lnTo>
                      <a:pt x="0" y="38481"/>
                    </a:lnTo>
                    <a:close/>
                  </a:path>
                </a:pathLst>
              </a:custGeom>
              <a:solidFill>
                <a:schemeClr val="accent1"/>
              </a:solidFill>
              <a:ln w="9525" cap="flat">
                <a:noFill/>
                <a:prstDash val="solid"/>
                <a:miter/>
              </a:ln>
            </p:spPr>
            <p:txBody>
              <a:bodyPr rtlCol="0" anchor="ctr" anchorCtr="0"/>
              <a:lstStyle/>
              <a:p>
                <a:pPr algn="l"/>
                <a:endParaRPr/>
              </a:p>
            </p:txBody>
          </p:sp>
          <p:sp>
            <p:nvSpPr>
              <p:cNvPr id="90" name="任意多边形: 形状 89" descr="9f993bb8-39a8-48a6-8b4d-d40664faec55">
                <a:extLst>
                  <a:ext uri="{FF2B5EF4-FFF2-40B4-BE49-F238E27FC236}">
                    <a16:creationId xmlns:a16="http://schemas.microsoft.com/office/drawing/2014/main" id="{6028008A-4134-AAF4-EDD4-F667F0066B7C}"/>
                  </a:ext>
                </a:extLst>
              </p:cNvPr>
              <p:cNvSpPr/>
              <p:nvPr/>
            </p:nvSpPr>
            <p:spPr>
              <a:xfrm>
                <a:off x="10437333" y="2449113"/>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91" name="任意多边形: 形状 90" descr="158f4c54-fb9c-443f-8bc8-0582ae8b3352">
                <a:extLst>
                  <a:ext uri="{FF2B5EF4-FFF2-40B4-BE49-F238E27FC236}">
                    <a16:creationId xmlns:a16="http://schemas.microsoft.com/office/drawing/2014/main" id="{2BCC9D67-82F8-E589-3C62-025AA81B7A8E}"/>
                  </a:ext>
                </a:extLst>
              </p:cNvPr>
              <p:cNvSpPr/>
              <p:nvPr/>
            </p:nvSpPr>
            <p:spPr>
              <a:xfrm>
                <a:off x="10150395" y="21853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92" name="任意多边形: 形状 91" descr="3fb8cc44-ff4e-4a6a-83e0-19f7e6bcbca5">
                <a:extLst>
                  <a:ext uri="{FF2B5EF4-FFF2-40B4-BE49-F238E27FC236}">
                    <a16:creationId xmlns:a16="http://schemas.microsoft.com/office/drawing/2014/main" id="{930B80CF-BF81-C4AC-72A6-786E39F7C2E4}"/>
                  </a:ext>
                </a:extLst>
              </p:cNvPr>
              <p:cNvSpPr/>
              <p:nvPr/>
            </p:nvSpPr>
            <p:spPr>
              <a:xfrm>
                <a:off x="10010668" y="21853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93" name="任意多边形: 形状 92" descr="15855a5d-0a5d-448c-99d1-bd6d79f81097">
                <a:extLst>
                  <a:ext uri="{FF2B5EF4-FFF2-40B4-BE49-F238E27FC236}">
                    <a16:creationId xmlns:a16="http://schemas.microsoft.com/office/drawing/2014/main" id="{F50AE916-1758-B19A-A0F5-1D07BF5C2385}"/>
                  </a:ext>
                </a:extLst>
              </p:cNvPr>
              <p:cNvSpPr/>
              <p:nvPr/>
            </p:nvSpPr>
            <p:spPr>
              <a:xfrm>
                <a:off x="10437333" y="2555610"/>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94" name="任意多边形: 形状 93" descr="56862d21-cf47-41e2-bd8c-a7dfb0ad33c8">
                <a:extLst>
                  <a:ext uri="{FF2B5EF4-FFF2-40B4-BE49-F238E27FC236}">
                    <a16:creationId xmlns:a16="http://schemas.microsoft.com/office/drawing/2014/main" id="{86B81058-DCAE-F823-4087-108B463467A0}"/>
                  </a:ext>
                </a:extLst>
              </p:cNvPr>
              <p:cNvSpPr/>
              <p:nvPr/>
            </p:nvSpPr>
            <p:spPr>
              <a:xfrm>
                <a:off x="10437333" y="266210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95" name="任意多边形: 形状 94" descr="205d8b4c-0379-4f87-bf37-8b301b95e92d">
                <a:extLst>
                  <a:ext uri="{FF2B5EF4-FFF2-40B4-BE49-F238E27FC236}">
                    <a16:creationId xmlns:a16="http://schemas.microsoft.com/office/drawing/2014/main" id="{75165A96-F58F-0D35-C330-991B864D7B0B}"/>
                  </a:ext>
                </a:extLst>
              </p:cNvPr>
              <p:cNvSpPr/>
              <p:nvPr/>
            </p:nvSpPr>
            <p:spPr>
              <a:xfrm>
                <a:off x="10437333" y="276871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86" name="任意多边形: 形状 85" descr="bcd4909e-d3b6-4554-a9c1-bc5952e31c97">
                <a:extLst>
                  <a:ext uri="{FF2B5EF4-FFF2-40B4-BE49-F238E27FC236}">
                    <a16:creationId xmlns:a16="http://schemas.microsoft.com/office/drawing/2014/main" id="{18A7B64B-F59F-EEA8-897A-2902DF2ABE44}"/>
                  </a:ext>
                </a:extLst>
              </p:cNvPr>
              <p:cNvSpPr/>
              <p:nvPr/>
            </p:nvSpPr>
            <p:spPr>
              <a:xfrm>
                <a:off x="5870590" y="3783433"/>
                <a:ext cx="178401" cy="178400"/>
              </a:xfrm>
              <a:custGeom>
                <a:avLst/>
                <a:gdLst>
                  <a:gd name="connsiteX0" fmla="*/ 149828 w 149828"/>
                  <a:gd name="connsiteY0" fmla="*/ 149828 h 149828"/>
                  <a:gd name="connsiteX1" fmla="*/ 29051 w 149828"/>
                  <a:gd name="connsiteY1" fmla="*/ 149828 h 149828"/>
                  <a:gd name="connsiteX2" fmla="*/ 0 w 149828"/>
                  <a:gd name="connsiteY2" fmla="*/ 149828 h 149828"/>
                  <a:gd name="connsiteX3" fmla="*/ 0 w 149828"/>
                  <a:gd name="connsiteY3" fmla="*/ 120777 h 149828"/>
                  <a:gd name="connsiteX4" fmla="*/ 0 w 149828"/>
                  <a:gd name="connsiteY4" fmla="*/ 0 h 149828"/>
                  <a:gd name="connsiteX5" fmla="*/ 38576 w 149828"/>
                  <a:gd name="connsiteY5" fmla="*/ 0 h 149828"/>
                  <a:gd name="connsiteX6" fmla="*/ 38576 w 149828"/>
                  <a:gd name="connsiteY6" fmla="*/ 111252 h 149828"/>
                  <a:gd name="connsiteX7" fmla="*/ 149828 w 149828"/>
                  <a:gd name="connsiteY7" fmla="*/ 11125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149828"/>
                    </a:moveTo>
                    <a:lnTo>
                      <a:pt x="29051" y="149828"/>
                    </a:lnTo>
                    <a:lnTo>
                      <a:pt x="0" y="149828"/>
                    </a:lnTo>
                    <a:lnTo>
                      <a:pt x="0" y="120777"/>
                    </a:lnTo>
                    <a:lnTo>
                      <a:pt x="0" y="0"/>
                    </a:lnTo>
                    <a:lnTo>
                      <a:pt x="38576" y="0"/>
                    </a:lnTo>
                    <a:lnTo>
                      <a:pt x="38576" y="111252"/>
                    </a:lnTo>
                    <a:lnTo>
                      <a:pt x="149828" y="111252"/>
                    </a:lnTo>
                    <a:close/>
                  </a:path>
                </a:pathLst>
              </a:custGeom>
              <a:solidFill>
                <a:schemeClr val="accent1"/>
              </a:solidFill>
              <a:ln w="9525" cap="flat">
                <a:noFill/>
                <a:prstDash val="solid"/>
                <a:miter/>
              </a:ln>
            </p:spPr>
            <p:txBody>
              <a:bodyPr rtlCol="0" anchor="ctr" anchorCtr="0"/>
              <a:lstStyle/>
              <a:p>
                <a:pPr algn="l"/>
                <a:endParaRPr/>
              </a:p>
            </p:txBody>
          </p:sp>
          <p:sp>
            <p:nvSpPr>
              <p:cNvPr id="87" name="任意多边形: 形状 86" descr="bfa125fb-5c16-4d02-a707-b0bc73114fa8">
                <a:extLst>
                  <a:ext uri="{FF2B5EF4-FFF2-40B4-BE49-F238E27FC236}">
                    <a16:creationId xmlns:a16="http://schemas.microsoft.com/office/drawing/2014/main" id="{9EBFB682-0482-5CD7-8E79-E74C054DE2A4}"/>
                  </a:ext>
                </a:extLst>
              </p:cNvPr>
              <p:cNvSpPr/>
              <p:nvPr/>
            </p:nvSpPr>
            <p:spPr>
              <a:xfrm>
                <a:off x="10306225" y="3770164"/>
                <a:ext cx="178401" cy="178400"/>
              </a:xfrm>
              <a:custGeom>
                <a:avLst/>
                <a:gdLst>
                  <a:gd name="connsiteX0" fmla="*/ 0 w 149828"/>
                  <a:gd name="connsiteY0" fmla="*/ 149828 h 149828"/>
                  <a:gd name="connsiteX1" fmla="*/ 120872 w 149828"/>
                  <a:gd name="connsiteY1" fmla="*/ 149828 h 149828"/>
                  <a:gd name="connsiteX2" fmla="*/ 149828 w 149828"/>
                  <a:gd name="connsiteY2" fmla="*/ 149828 h 149828"/>
                  <a:gd name="connsiteX3" fmla="*/ 149828 w 149828"/>
                  <a:gd name="connsiteY3" fmla="*/ 120872 h 149828"/>
                  <a:gd name="connsiteX4" fmla="*/ 149828 w 149828"/>
                  <a:gd name="connsiteY4" fmla="*/ 0 h 149828"/>
                  <a:gd name="connsiteX5" fmla="*/ 111347 w 149828"/>
                  <a:gd name="connsiteY5" fmla="*/ 0 h 149828"/>
                  <a:gd name="connsiteX6" fmla="*/ 111347 w 149828"/>
                  <a:gd name="connsiteY6" fmla="*/ 111347 h 149828"/>
                  <a:gd name="connsiteX7" fmla="*/ 0 w 149828"/>
                  <a:gd name="connsiteY7" fmla="*/ 111347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149828"/>
                    </a:moveTo>
                    <a:lnTo>
                      <a:pt x="120872" y="149828"/>
                    </a:lnTo>
                    <a:lnTo>
                      <a:pt x="149828" y="149828"/>
                    </a:lnTo>
                    <a:lnTo>
                      <a:pt x="149828" y="120872"/>
                    </a:lnTo>
                    <a:lnTo>
                      <a:pt x="149828" y="0"/>
                    </a:lnTo>
                    <a:lnTo>
                      <a:pt x="111347" y="0"/>
                    </a:lnTo>
                    <a:lnTo>
                      <a:pt x="111347" y="111347"/>
                    </a:lnTo>
                    <a:lnTo>
                      <a:pt x="0" y="111347"/>
                    </a:lnTo>
                    <a:close/>
                  </a:path>
                </a:pathLst>
              </a:custGeom>
              <a:solidFill>
                <a:schemeClr val="accent1"/>
              </a:solidFill>
              <a:ln w="9525" cap="flat">
                <a:noFill/>
                <a:prstDash val="solid"/>
                <a:miter/>
              </a:ln>
            </p:spPr>
            <p:txBody>
              <a:bodyPr rtlCol="0" anchor="ctr" anchorCtr="0"/>
              <a:lstStyle/>
              <a:p>
                <a:pPr algn="l"/>
                <a:endParaRPr/>
              </a:p>
            </p:txBody>
          </p:sp>
          <p:sp>
            <p:nvSpPr>
              <p:cNvPr id="82" name="任意多边形: 形状 81" descr="352d274c-bcd9-4a50-975a-439e2fd14fdf">
                <a:extLst>
                  <a:ext uri="{FF2B5EF4-FFF2-40B4-BE49-F238E27FC236}">
                    <a16:creationId xmlns:a16="http://schemas.microsoft.com/office/drawing/2014/main" id="{BBB6F865-CB00-6C18-1E4F-251F4381642D}"/>
                  </a:ext>
                </a:extLst>
              </p:cNvPr>
              <p:cNvSpPr/>
              <p:nvPr/>
            </p:nvSpPr>
            <p:spPr>
              <a:xfrm>
                <a:off x="7067111" y="3907282"/>
                <a:ext cx="581248" cy="55118"/>
              </a:xfrm>
              <a:custGeom>
                <a:avLst/>
                <a:gdLst>
                  <a:gd name="connsiteX0" fmla="*/ 0 w 488156"/>
                  <a:gd name="connsiteY0" fmla="*/ 0 h 46291"/>
                  <a:gd name="connsiteX1" fmla="*/ 488156 w 488156"/>
                  <a:gd name="connsiteY1" fmla="*/ 0 h 46291"/>
                  <a:gd name="connsiteX2" fmla="*/ 488156 w 488156"/>
                  <a:gd name="connsiteY2" fmla="*/ 46292 h 46291"/>
                  <a:gd name="connsiteX3" fmla="*/ 0 w 488156"/>
                  <a:gd name="connsiteY3" fmla="*/ 46292 h 46291"/>
                </a:gdLst>
                <a:ahLst/>
                <a:cxnLst>
                  <a:cxn ang="0">
                    <a:pos x="connsiteX0" y="connsiteY0"/>
                  </a:cxn>
                  <a:cxn ang="0">
                    <a:pos x="connsiteX1" y="connsiteY1"/>
                  </a:cxn>
                  <a:cxn ang="0">
                    <a:pos x="connsiteX2" y="connsiteY2"/>
                  </a:cxn>
                  <a:cxn ang="0">
                    <a:pos x="connsiteX3" y="connsiteY3"/>
                  </a:cxn>
                </a:cxnLst>
                <a:rect l="l" t="t" r="r" b="b"/>
                <a:pathLst>
                  <a:path w="488156" h="46291">
                    <a:moveTo>
                      <a:pt x="0" y="0"/>
                    </a:moveTo>
                    <a:lnTo>
                      <a:pt x="488156" y="0"/>
                    </a:lnTo>
                    <a:lnTo>
                      <a:pt x="488156" y="46292"/>
                    </a:lnTo>
                    <a:lnTo>
                      <a:pt x="0" y="46292"/>
                    </a:lnTo>
                    <a:close/>
                  </a:path>
                </a:pathLst>
              </a:custGeom>
              <a:solidFill>
                <a:schemeClr val="accent1"/>
              </a:solidFill>
              <a:ln w="9525" cap="flat">
                <a:noFill/>
                <a:prstDash val="solid"/>
                <a:miter/>
              </a:ln>
            </p:spPr>
            <p:txBody>
              <a:bodyPr rtlCol="0" anchor="ctr" anchorCtr="0"/>
              <a:lstStyle/>
              <a:p>
                <a:pPr algn="l"/>
                <a:endParaRPr/>
              </a:p>
            </p:txBody>
          </p:sp>
          <p:sp>
            <p:nvSpPr>
              <p:cNvPr id="83" name="任意多边形: 形状 82" descr="6d7f65f6-ae0c-49f6-9412-6d657208668e">
                <a:extLst>
                  <a:ext uri="{FF2B5EF4-FFF2-40B4-BE49-F238E27FC236}">
                    <a16:creationId xmlns:a16="http://schemas.microsoft.com/office/drawing/2014/main" id="{46528A57-9016-9670-826C-2D0644FE5B4A}"/>
                  </a:ext>
                </a:extLst>
              </p:cNvPr>
              <p:cNvSpPr/>
              <p:nvPr/>
            </p:nvSpPr>
            <p:spPr>
              <a:xfrm>
                <a:off x="5952928" y="2915473"/>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84" name="任意多边形: 形状 83" descr="7c6a527e-fdd0-47bd-82c3-92932421abfc">
                <a:extLst>
                  <a:ext uri="{FF2B5EF4-FFF2-40B4-BE49-F238E27FC236}">
                    <a16:creationId xmlns:a16="http://schemas.microsoft.com/office/drawing/2014/main" id="{49501B7B-D4A1-D29D-0001-A3B41DF7023E}"/>
                  </a:ext>
                </a:extLst>
              </p:cNvPr>
              <p:cNvSpPr/>
              <p:nvPr/>
            </p:nvSpPr>
            <p:spPr>
              <a:xfrm>
                <a:off x="5952928" y="3013917"/>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85" name="任意多边形: 形状 84" descr="b902f74d-c337-4f36-bd69-9c12a3225c72">
                <a:extLst>
                  <a:ext uri="{FF2B5EF4-FFF2-40B4-BE49-F238E27FC236}">
                    <a16:creationId xmlns:a16="http://schemas.microsoft.com/office/drawing/2014/main" id="{48731988-B311-A694-6A02-E7176889BA81}"/>
                  </a:ext>
                </a:extLst>
              </p:cNvPr>
              <p:cNvSpPr/>
              <p:nvPr/>
            </p:nvSpPr>
            <p:spPr>
              <a:xfrm>
                <a:off x="5812081" y="2632842"/>
                <a:ext cx="132238" cy="626802"/>
              </a:xfrm>
              <a:custGeom>
                <a:avLst/>
                <a:gdLst>
                  <a:gd name="connsiteX0" fmla="*/ 0 w 75819"/>
                  <a:gd name="connsiteY0" fmla="*/ 33242 h 359378"/>
                  <a:gd name="connsiteX1" fmla="*/ 37910 w 75819"/>
                  <a:gd name="connsiteY1" fmla="*/ 14288 h 359378"/>
                  <a:gd name="connsiteX2" fmla="*/ 75819 w 75819"/>
                  <a:gd name="connsiteY2" fmla="*/ 33242 h 359378"/>
                  <a:gd name="connsiteX3" fmla="*/ 75819 w 75819"/>
                  <a:gd name="connsiteY3" fmla="*/ 18955 h 359378"/>
                  <a:gd name="connsiteX4" fmla="*/ 37910 w 75819"/>
                  <a:gd name="connsiteY4" fmla="*/ 0 h 359378"/>
                  <a:gd name="connsiteX5" fmla="*/ 0 w 75819"/>
                  <a:gd name="connsiteY5" fmla="*/ 18955 h 359378"/>
                  <a:gd name="connsiteX6" fmla="*/ 0 w 75819"/>
                  <a:gd name="connsiteY6" fmla="*/ 33242 h 359378"/>
                  <a:gd name="connsiteX7" fmla="*/ 0 w 75819"/>
                  <a:gd name="connsiteY7" fmla="*/ 155543 h 359378"/>
                  <a:gd name="connsiteX8" fmla="*/ 37910 w 75819"/>
                  <a:gd name="connsiteY8" fmla="*/ 136589 h 359378"/>
                  <a:gd name="connsiteX9" fmla="*/ 75819 w 75819"/>
                  <a:gd name="connsiteY9" fmla="*/ 155543 h 359378"/>
                  <a:gd name="connsiteX10" fmla="*/ 75819 w 75819"/>
                  <a:gd name="connsiteY10" fmla="*/ 141256 h 359378"/>
                  <a:gd name="connsiteX11" fmla="*/ 37910 w 75819"/>
                  <a:gd name="connsiteY11" fmla="*/ 122301 h 359378"/>
                  <a:gd name="connsiteX12" fmla="*/ 0 w 75819"/>
                  <a:gd name="connsiteY12" fmla="*/ 141256 h 359378"/>
                  <a:gd name="connsiteX13" fmla="*/ 0 w 75819"/>
                  <a:gd name="connsiteY13" fmla="*/ 155543 h 359378"/>
                  <a:gd name="connsiteX14" fmla="*/ 0 w 75819"/>
                  <a:gd name="connsiteY14" fmla="*/ 114776 h 359378"/>
                  <a:gd name="connsiteX15" fmla="*/ 37910 w 75819"/>
                  <a:gd name="connsiteY15" fmla="*/ 95822 h 359378"/>
                  <a:gd name="connsiteX16" fmla="*/ 75819 w 75819"/>
                  <a:gd name="connsiteY16" fmla="*/ 114776 h 359378"/>
                  <a:gd name="connsiteX17" fmla="*/ 75819 w 75819"/>
                  <a:gd name="connsiteY17" fmla="*/ 100489 h 359378"/>
                  <a:gd name="connsiteX18" fmla="*/ 37910 w 75819"/>
                  <a:gd name="connsiteY18" fmla="*/ 81534 h 359378"/>
                  <a:gd name="connsiteX19" fmla="*/ 0 w 75819"/>
                  <a:gd name="connsiteY19" fmla="*/ 100489 h 359378"/>
                  <a:gd name="connsiteX20" fmla="*/ 0 w 75819"/>
                  <a:gd name="connsiteY20" fmla="*/ 114776 h 359378"/>
                  <a:gd name="connsiteX21" fmla="*/ 0 w 75819"/>
                  <a:gd name="connsiteY21" fmla="*/ 74009 h 359378"/>
                  <a:gd name="connsiteX22" fmla="*/ 37910 w 75819"/>
                  <a:gd name="connsiteY22" fmla="*/ 55055 h 359378"/>
                  <a:gd name="connsiteX23" fmla="*/ 75819 w 75819"/>
                  <a:gd name="connsiteY23" fmla="*/ 74009 h 359378"/>
                  <a:gd name="connsiteX24" fmla="*/ 75819 w 75819"/>
                  <a:gd name="connsiteY24" fmla="*/ 59722 h 359378"/>
                  <a:gd name="connsiteX25" fmla="*/ 37910 w 75819"/>
                  <a:gd name="connsiteY25" fmla="*/ 40767 h 359378"/>
                  <a:gd name="connsiteX26" fmla="*/ 0 w 75819"/>
                  <a:gd name="connsiteY26" fmla="*/ 59722 h 359378"/>
                  <a:gd name="connsiteX27" fmla="*/ 0 w 75819"/>
                  <a:gd name="connsiteY27" fmla="*/ 74009 h 359378"/>
                  <a:gd name="connsiteX28" fmla="*/ 0 w 75819"/>
                  <a:gd name="connsiteY28" fmla="*/ 277844 h 359378"/>
                  <a:gd name="connsiteX29" fmla="*/ 37910 w 75819"/>
                  <a:gd name="connsiteY29" fmla="*/ 258890 h 359378"/>
                  <a:gd name="connsiteX30" fmla="*/ 75819 w 75819"/>
                  <a:gd name="connsiteY30" fmla="*/ 277844 h 359378"/>
                  <a:gd name="connsiteX31" fmla="*/ 75819 w 75819"/>
                  <a:gd name="connsiteY31" fmla="*/ 263557 h 359378"/>
                  <a:gd name="connsiteX32" fmla="*/ 37910 w 75819"/>
                  <a:gd name="connsiteY32" fmla="*/ 244602 h 359378"/>
                  <a:gd name="connsiteX33" fmla="*/ 0 w 75819"/>
                  <a:gd name="connsiteY33" fmla="*/ 263557 h 359378"/>
                  <a:gd name="connsiteX34" fmla="*/ 0 w 75819"/>
                  <a:gd name="connsiteY34" fmla="*/ 277844 h 359378"/>
                  <a:gd name="connsiteX35" fmla="*/ 37910 w 75819"/>
                  <a:gd name="connsiteY35" fmla="*/ 340424 h 359378"/>
                  <a:gd name="connsiteX36" fmla="*/ 75819 w 75819"/>
                  <a:gd name="connsiteY36" fmla="*/ 359378 h 359378"/>
                  <a:gd name="connsiteX37" fmla="*/ 75819 w 75819"/>
                  <a:gd name="connsiteY37" fmla="*/ 345091 h 359378"/>
                  <a:gd name="connsiteX38" fmla="*/ 37910 w 75819"/>
                  <a:gd name="connsiteY38" fmla="*/ 326136 h 359378"/>
                  <a:gd name="connsiteX39" fmla="*/ 0 w 75819"/>
                  <a:gd name="connsiteY39" fmla="*/ 345091 h 359378"/>
                  <a:gd name="connsiteX40" fmla="*/ 0 w 75819"/>
                  <a:gd name="connsiteY40" fmla="*/ 359378 h 359378"/>
                  <a:gd name="connsiteX41" fmla="*/ 37910 w 75819"/>
                  <a:gd name="connsiteY41" fmla="*/ 340424 h 359378"/>
                  <a:gd name="connsiteX42" fmla="*/ 0 w 75819"/>
                  <a:gd name="connsiteY42" fmla="*/ 196310 h 359378"/>
                  <a:gd name="connsiteX43" fmla="*/ 37910 w 75819"/>
                  <a:gd name="connsiteY43" fmla="*/ 177356 h 359378"/>
                  <a:gd name="connsiteX44" fmla="*/ 75819 w 75819"/>
                  <a:gd name="connsiteY44" fmla="*/ 196310 h 359378"/>
                  <a:gd name="connsiteX45" fmla="*/ 75819 w 75819"/>
                  <a:gd name="connsiteY45" fmla="*/ 182023 h 359378"/>
                  <a:gd name="connsiteX46" fmla="*/ 37910 w 75819"/>
                  <a:gd name="connsiteY46" fmla="*/ 163068 h 359378"/>
                  <a:gd name="connsiteX47" fmla="*/ 0 w 75819"/>
                  <a:gd name="connsiteY47" fmla="*/ 182023 h 359378"/>
                  <a:gd name="connsiteX48" fmla="*/ 0 w 75819"/>
                  <a:gd name="connsiteY48" fmla="*/ 196310 h 359378"/>
                  <a:gd name="connsiteX49" fmla="*/ 0 w 75819"/>
                  <a:gd name="connsiteY49" fmla="*/ 318611 h 359378"/>
                  <a:gd name="connsiteX50" fmla="*/ 37910 w 75819"/>
                  <a:gd name="connsiteY50" fmla="*/ 299657 h 359378"/>
                  <a:gd name="connsiteX51" fmla="*/ 75819 w 75819"/>
                  <a:gd name="connsiteY51" fmla="*/ 318611 h 359378"/>
                  <a:gd name="connsiteX52" fmla="*/ 75819 w 75819"/>
                  <a:gd name="connsiteY52" fmla="*/ 304324 h 359378"/>
                  <a:gd name="connsiteX53" fmla="*/ 37910 w 75819"/>
                  <a:gd name="connsiteY53" fmla="*/ 285369 h 359378"/>
                  <a:gd name="connsiteX54" fmla="*/ 0 w 75819"/>
                  <a:gd name="connsiteY54" fmla="*/ 304324 h 359378"/>
                  <a:gd name="connsiteX55" fmla="*/ 0 w 75819"/>
                  <a:gd name="connsiteY55" fmla="*/ 318611 h 359378"/>
                  <a:gd name="connsiteX56" fmla="*/ 0 w 75819"/>
                  <a:gd name="connsiteY56" fmla="*/ 237077 h 359378"/>
                  <a:gd name="connsiteX57" fmla="*/ 37910 w 75819"/>
                  <a:gd name="connsiteY57" fmla="*/ 218123 h 359378"/>
                  <a:gd name="connsiteX58" fmla="*/ 75819 w 75819"/>
                  <a:gd name="connsiteY58" fmla="*/ 237077 h 359378"/>
                  <a:gd name="connsiteX59" fmla="*/ 75819 w 75819"/>
                  <a:gd name="connsiteY59" fmla="*/ 222790 h 359378"/>
                  <a:gd name="connsiteX60" fmla="*/ 37910 w 75819"/>
                  <a:gd name="connsiteY60" fmla="*/ 203835 h 359378"/>
                  <a:gd name="connsiteX61" fmla="*/ 0 w 75819"/>
                  <a:gd name="connsiteY61" fmla="*/ 222790 h 359378"/>
                  <a:gd name="connsiteX62" fmla="*/ 0 w 75819"/>
                  <a:gd name="connsiteY62" fmla="*/ 237077 h 359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75819" h="359378">
                    <a:moveTo>
                      <a:pt x="0" y="33242"/>
                    </a:moveTo>
                    <a:lnTo>
                      <a:pt x="37910" y="14288"/>
                    </a:lnTo>
                    <a:lnTo>
                      <a:pt x="75819" y="33242"/>
                    </a:lnTo>
                    <a:lnTo>
                      <a:pt x="75819" y="18955"/>
                    </a:lnTo>
                    <a:lnTo>
                      <a:pt x="37910" y="0"/>
                    </a:lnTo>
                    <a:lnTo>
                      <a:pt x="0" y="18955"/>
                    </a:lnTo>
                    <a:lnTo>
                      <a:pt x="0" y="33242"/>
                    </a:lnTo>
                    <a:close/>
                    <a:moveTo>
                      <a:pt x="0" y="155543"/>
                    </a:moveTo>
                    <a:lnTo>
                      <a:pt x="37910" y="136589"/>
                    </a:lnTo>
                    <a:lnTo>
                      <a:pt x="75819" y="155543"/>
                    </a:lnTo>
                    <a:lnTo>
                      <a:pt x="75819" y="141256"/>
                    </a:lnTo>
                    <a:lnTo>
                      <a:pt x="37910" y="122301"/>
                    </a:lnTo>
                    <a:lnTo>
                      <a:pt x="0" y="141256"/>
                    </a:lnTo>
                    <a:lnTo>
                      <a:pt x="0" y="155543"/>
                    </a:lnTo>
                    <a:close/>
                    <a:moveTo>
                      <a:pt x="0" y="114776"/>
                    </a:moveTo>
                    <a:lnTo>
                      <a:pt x="37910" y="95822"/>
                    </a:lnTo>
                    <a:lnTo>
                      <a:pt x="75819" y="114776"/>
                    </a:lnTo>
                    <a:lnTo>
                      <a:pt x="75819" y="100489"/>
                    </a:lnTo>
                    <a:lnTo>
                      <a:pt x="37910" y="81534"/>
                    </a:lnTo>
                    <a:lnTo>
                      <a:pt x="0" y="100489"/>
                    </a:lnTo>
                    <a:lnTo>
                      <a:pt x="0" y="114776"/>
                    </a:lnTo>
                    <a:close/>
                    <a:moveTo>
                      <a:pt x="0" y="74009"/>
                    </a:moveTo>
                    <a:lnTo>
                      <a:pt x="37910" y="55055"/>
                    </a:lnTo>
                    <a:lnTo>
                      <a:pt x="75819" y="74009"/>
                    </a:lnTo>
                    <a:lnTo>
                      <a:pt x="75819" y="59722"/>
                    </a:lnTo>
                    <a:lnTo>
                      <a:pt x="37910" y="40767"/>
                    </a:lnTo>
                    <a:lnTo>
                      <a:pt x="0" y="59722"/>
                    </a:lnTo>
                    <a:lnTo>
                      <a:pt x="0" y="74009"/>
                    </a:lnTo>
                    <a:close/>
                    <a:moveTo>
                      <a:pt x="0" y="277844"/>
                    </a:moveTo>
                    <a:lnTo>
                      <a:pt x="37910" y="258890"/>
                    </a:lnTo>
                    <a:lnTo>
                      <a:pt x="75819" y="277844"/>
                    </a:lnTo>
                    <a:lnTo>
                      <a:pt x="75819" y="263557"/>
                    </a:lnTo>
                    <a:lnTo>
                      <a:pt x="37910" y="244602"/>
                    </a:lnTo>
                    <a:lnTo>
                      <a:pt x="0" y="263557"/>
                    </a:lnTo>
                    <a:lnTo>
                      <a:pt x="0" y="277844"/>
                    </a:lnTo>
                    <a:close/>
                    <a:moveTo>
                      <a:pt x="37910" y="340424"/>
                    </a:moveTo>
                    <a:lnTo>
                      <a:pt x="75819" y="359378"/>
                    </a:lnTo>
                    <a:lnTo>
                      <a:pt x="75819" y="345091"/>
                    </a:lnTo>
                    <a:lnTo>
                      <a:pt x="37910" y="326136"/>
                    </a:lnTo>
                    <a:lnTo>
                      <a:pt x="0" y="345091"/>
                    </a:lnTo>
                    <a:lnTo>
                      <a:pt x="0" y="359378"/>
                    </a:lnTo>
                    <a:lnTo>
                      <a:pt x="37910" y="340424"/>
                    </a:lnTo>
                    <a:close/>
                    <a:moveTo>
                      <a:pt x="0" y="196310"/>
                    </a:moveTo>
                    <a:lnTo>
                      <a:pt x="37910" y="177356"/>
                    </a:lnTo>
                    <a:lnTo>
                      <a:pt x="75819" y="196310"/>
                    </a:lnTo>
                    <a:lnTo>
                      <a:pt x="75819" y="182023"/>
                    </a:lnTo>
                    <a:lnTo>
                      <a:pt x="37910" y="163068"/>
                    </a:lnTo>
                    <a:lnTo>
                      <a:pt x="0" y="182023"/>
                    </a:lnTo>
                    <a:lnTo>
                      <a:pt x="0" y="196310"/>
                    </a:lnTo>
                    <a:close/>
                    <a:moveTo>
                      <a:pt x="0" y="318611"/>
                    </a:moveTo>
                    <a:lnTo>
                      <a:pt x="37910" y="299657"/>
                    </a:lnTo>
                    <a:lnTo>
                      <a:pt x="75819" y="318611"/>
                    </a:lnTo>
                    <a:lnTo>
                      <a:pt x="75819" y="304324"/>
                    </a:lnTo>
                    <a:lnTo>
                      <a:pt x="37910" y="285369"/>
                    </a:lnTo>
                    <a:lnTo>
                      <a:pt x="0" y="304324"/>
                    </a:lnTo>
                    <a:lnTo>
                      <a:pt x="0" y="318611"/>
                    </a:lnTo>
                    <a:close/>
                    <a:moveTo>
                      <a:pt x="0" y="237077"/>
                    </a:moveTo>
                    <a:lnTo>
                      <a:pt x="37910" y="218123"/>
                    </a:lnTo>
                    <a:lnTo>
                      <a:pt x="75819" y="237077"/>
                    </a:lnTo>
                    <a:lnTo>
                      <a:pt x="75819" y="222790"/>
                    </a:lnTo>
                    <a:lnTo>
                      <a:pt x="37910" y="203835"/>
                    </a:lnTo>
                    <a:lnTo>
                      <a:pt x="0" y="222790"/>
                    </a:lnTo>
                    <a:lnTo>
                      <a:pt x="0" y="237077"/>
                    </a:lnTo>
                    <a:close/>
                  </a:path>
                </a:pathLst>
              </a:custGeom>
              <a:gradFill flip="none" rotWithShape="1">
                <a:gsLst>
                  <a:gs pos="0">
                    <a:schemeClr val="accent1"/>
                  </a:gs>
                  <a:gs pos="100000">
                    <a:schemeClr val="accent1">
                      <a:alpha val="0"/>
                    </a:schemeClr>
                  </a:gs>
                </a:gsLst>
                <a:lin ang="5400000" scaled="1"/>
                <a:tileRect/>
              </a:gradFill>
              <a:ln w="9525" cap="flat">
                <a:noFill/>
                <a:prstDash val="solid"/>
                <a:miter/>
              </a:ln>
            </p:spPr>
            <p:txBody>
              <a:bodyPr rtlCol="0" anchor="ctr" anchorCtr="0"/>
              <a:lstStyle/>
              <a:p>
                <a:pPr algn="l"/>
                <a:endParaRPr/>
              </a:p>
            </p:txBody>
          </p:sp>
        </p:grpSp>
        <p:grpSp>
          <p:nvGrpSpPr>
            <p:cNvPr id="14" name="组合 13" descr="02d0561a-69c0-487c-9c18-34a7c7167970">
              <a:extLst>
                <a:ext uri="{FF2B5EF4-FFF2-40B4-BE49-F238E27FC236}">
                  <a16:creationId xmlns:a16="http://schemas.microsoft.com/office/drawing/2014/main" id="{4E34F2DA-17BD-09C1-A4BA-3194E5AEECC0}"/>
                </a:ext>
              </a:extLst>
            </p:cNvPr>
            <p:cNvGrpSpPr/>
            <p:nvPr/>
          </p:nvGrpSpPr>
          <p:grpSpPr>
            <a:xfrm>
              <a:off x="1694674" y="4268112"/>
              <a:ext cx="4693426" cy="1777088"/>
              <a:chOff x="1694674" y="4268112"/>
              <a:chExt cx="4693426" cy="1777088"/>
            </a:xfrm>
          </p:grpSpPr>
          <p:sp>
            <p:nvSpPr>
              <p:cNvPr id="101" name="任意多边形: 形状 100" descr="21002dec-2096-41ab-8735-aa46f8207570">
                <a:extLst>
                  <a:ext uri="{FF2B5EF4-FFF2-40B4-BE49-F238E27FC236}">
                    <a16:creationId xmlns:a16="http://schemas.microsoft.com/office/drawing/2014/main" id="{9B35987A-FAAF-C410-E1B2-65D18B3FDE76}"/>
                  </a:ext>
                </a:extLst>
              </p:cNvPr>
              <p:cNvSpPr/>
              <p:nvPr/>
            </p:nvSpPr>
            <p:spPr>
              <a:xfrm>
                <a:off x="1717129" y="4291816"/>
                <a:ext cx="4647266" cy="1728774"/>
              </a:xfrm>
              <a:custGeom>
                <a:avLst/>
                <a:gdLst>
                  <a:gd name="connsiteX0" fmla="*/ 62389 w 3902963"/>
                  <a:gd name="connsiteY0" fmla="*/ 1451896 h 1451895"/>
                  <a:gd name="connsiteX1" fmla="*/ 62389 w 3902963"/>
                  <a:gd name="connsiteY1" fmla="*/ 1031367 h 1451895"/>
                  <a:gd name="connsiteX2" fmla="*/ 139160 w 3902963"/>
                  <a:gd name="connsiteY2" fmla="*/ 954596 h 1451895"/>
                  <a:gd name="connsiteX3" fmla="*/ 139160 w 3902963"/>
                  <a:gd name="connsiteY3" fmla="*/ 357378 h 1451895"/>
                  <a:gd name="connsiteX4" fmla="*/ 0 w 3902963"/>
                  <a:gd name="connsiteY4" fmla="*/ 218218 h 1451895"/>
                  <a:gd name="connsiteX5" fmla="*/ 0 w 3902963"/>
                  <a:gd name="connsiteY5" fmla="*/ 0 h 1451895"/>
                  <a:gd name="connsiteX6" fmla="*/ 3902964 w 3902963"/>
                  <a:gd name="connsiteY6" fmla="*/ 0 h 1451895"/>
                  <a:gd name="connsiteX7" fmla="*/ 3902964 w 3902963"/>
                  <a:gd name="connsiteY7" fmla="*/ 1441228 h 1451895"/>
                  <a:gd name="connsiteX8" fmla="*/ 3503676 w 3902963"/>
                  <a:gd name="connsiteY8" fmla="*/ 1441228 h 1451895"/>
                  <a:gd name="connsiteX9" fmla="*/ 3422237 w 3902963"/>
                  <a:gd name="connsiteY9" fmla="*/ 1359789 h 1451895"/>
                  <a:gd name="connsiteX10" fmla="*/ 3180493 w 3902963"/>
                  <a:gd name="connsiteY10" fmla="*/ 1359789 h 1451895"/>
                  <a:gd name="connsiteX11" fmla="*/ 3074765 w 3902963"/>
                  <a:gd name="connsiteY11" fmla="*/ 1446467 h 1451895"/>
                  <a:gd name="connsiteX12" fmla="*/ 425482 w 3902963"/>
                  <a:gd name="connsiteY12" fmla="*/ 1446467 h 1451895"/>
                  <a:gd name="connsiteX13" fmla="*/ 393764 w 3902963"/>
                  <a:gd name="connsiteY13" fmla="*/ 1414748 h 1451895"/>
                  <a:gd name="connsiteX14" fmla="*/ 308610 w 3902963"/>
                  <a:gd name="connsiteY14" fmla="*/ 1414748 h 1451895"/>
                  <a:gd name="connsiteX15" fmla="*/ 271558 w 3902963"/>
                  <a:gd name="connsiteY15" fmla="*/ 1451896 h 145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02963" h="1451895">
                    <a:moveTo>
                      <a:pt x="62389" y="1451896"/>
                    </a:moveTo>
                    <a:lnTo>
                      <a:pt x="62389" y="1031367"/>
                    </a:lnTo>
                    <a:lnTo>
                      <a:pt x="139160" y="954596"/>
                    </a:lnTo>
                    <a:lnTo>
                      <a:pt x="139160" y="357378"/>
                    </a:lnTo>
                    <a:lnTo>
                      <a:pt x="0" y="218218"/>
                    </a:lnTo>
                    <a:lnTo>
                      <a:pt x="0" y="0"/>
                    </a:lnTo>
                    <a:lnTo>
                      <a:pt x="3902964" y="0"/>
                    </a:lnTo>
                    <a:lnTo>
                      <a:pt x="3902964" y="1441228"/>
                    </a:lnTo>
                    <a:lnTo>
                      <a:pt x="3503676" y="1441228"/>
                    </a:lnTo>
                    <a:lnTo>
                      <a:pt x="3422237" y="1359789"/>
                    </a:lnTo>
                    <a:lnTo>
                      <a:pt x="3180493" y="1359789"/>
                    </a:lnTo>
                    <a:lnTo>
                      <a:pt x="3074765" y="1446467"/>
                    </a:lnTo>
                    <a:lnTo>
                      <a:pt x="425482" y="1446467"/>
                    </a:lnTo>
                    <a:lnTo>
                      <a:pt x="393764" y="1414748"/>
                    </a:lnTo>
                    <a:lnTo>
                      <a:pt x="308610" y="1414748"/>
                    </a:lnTo>
                    <a:lnTo>
                      <a:pt x="271558" y="1451896"/>
                    </a:lnTo>
                    <a:close/>
                  </a:path>
                </a:pathLst>
              </a:custGeom>
              <a:noFill/>
              <a:ln w="9525" cap="rnd">
                <a:gradFill>
                  <a:gsLst>
                    <a:gs pos="0">
                      <a:schemeClr val="accent1">
                        <a:alpha val="35000"/>
                        <a:lumMod val="95000"/>
                        <a:lumOff val="5000"/>
                      </a:schemeClr>
                    </a:gs>
                    <a:gs pos="54940">
                      <a:schemeClr val="accent1">
                        <a:lumMod val="75000"/>
                      </a:schemeClr>
                    </a:gs>
                    <a:gs pos="84920">
                      <a:schemeClr val="accent1">
                        <a:lumMod val="50000"/>
                      </a:schemeClr>
                    </a:gs>
                    <a:gs pos="100000">
                      <a:schemeClr val="accent1">
                        <a:lumMod val="50000"/>
                      </a:schemeClr>
                    </a:gs>
                  </a:gsLst>
                  <a:lin ang="16200000" scaled="1"/>
                </a:gradFill>
                <a:prstDash val="solid"/>
                <a:round/>
              </a:ln>
            </p:spPr>
            <p:txBody>
              <a:bodyPr rtlCol="0" anchor="ctr" anchorCtr="0"/>
              <a:lstStyle/>
              <a:p>
                <a:pPr algn="l"/>
                <a:endParaRPr/>
              </a:p>
            </p:txBody>
          </p:sp>
          <p:sp>
            <p:nvSpPr>
              <p:cNvPr id="110" name="任意多边形: 形状 109" descr="55782407-7e55-4021-9e68-bec2778b75af">
                <a:extLst>
                  <a:ext uri="{FF2B5EF4-FFF2-40B4-BE49-F238E27FC236}">
                    <a16:creationId xmlns:a16="http://schemas.microsoft.com/office/drawing/2014/main" id="{F3A2425D-B8CB-496B-7F01-C1147B1857C7}"/>
                  </a:ext>
                </a:extLst>
              </p:cNvPr>
              <p:cNvSpPr/>
              <p:nvPr/>
            </p:nvSpPr>
            <p:spPr>
              <a:xfrm>
                <a:off x="1694674" y="4270833"/>
                <a:ext cx="178401" cy="17840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sp>
            <p:nvSpPr>
              <p:cNvPr id="111" name="任意多边形: 形状 110" descr="b380225a-69a9-4027-8467-cdd79965005c">
                <a:extLst>
                  <a:ext uri="{FF2B5EF4-FFF2-40B4-BE49-F238E27FC236}">
                    <a16:creationId xmlns:a16="http://schemas.microsoft.com/office/drawing/2014/main" id="{2CFA31D7-6EDD-4F95-5E50-E2568C0ACA78}"/>
                  </a:ext>
                </a:extLst>
              </p:cNvPr>
              <p:cNvSpPr/>
              <p:nvPr/>
            </p:nvSpPr>
            <p:spPr>
              <a:xfrm>
                <a:off x="6209699" y="4270833"/>
                <a:ext cx="178401" cy="178401"/>
              </a:xfrm>
              <a:custGeom>
                <a:avLst/>
                <a:gdLst>
                  <a:gd name="connsiteX0" fmla="*/ 0 w 149828"/>
                  <a:gd name="connsiteY0" fmla="*/ 0 h 149828"/>
                  <a:gd name="connsiteX1" fmla="*/ 120872 w 149828"/>
                  <a:gd name="connsiteY1" fmla="*/ 0 h 149828"/>
                  <a:gd name="connsiteX2" fmla="*/ 149828 w 149828"/>
                  <a:gd name="connsiteY2" fmla="*/ 0 h 149828"/>
                  <a:gd name="connsiteX3" fmla="*/ 149828 w 149828"/>
                  <a:gd name="connsiteY3" fmla="*/ 28956 h 149828"/>
                  <a:gd name="connsiteX4" fmla="*/ 149828 w 149828"/>
                  <a:gd name="connsiteY4" fmla="*/ 149828 h 149828"/>
                  <a:gd name="connsiteX5" fmla="*/ 111347 w 149828"/>
                  <a:gd name="connsiteY5" fmla="*/ 149828 h 149828"/>
                  <a:gd name="connsiteX6" fmla="*/ 111347 w 149828"/>
                  <a:gd name="connsiteY6" fmla="*/ 38481 h 149828"/>
                  <a:gd name="connsiteX7" fmla="*/ 0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0"/>
                    </a:moveTo>
                    <a:lnTo>
                      <a:pt x="120872" y="0"/>
                    </a:lnTo>
                    <a:lnTo>
                      <a:pt x="149828" y="0"/>
                    </a:lnTo>
                    <a:lnTo>
                      <a:pt x="149828" y="28956"/>
                    </a:lnTo>
                    <a:lnTo>
                      <a:pt x="149828" y="149828"/>
                    </a:lnTo>
                    <a:lnTo>
                      <a:pt x="111347" y="149828"/>
                    </a:lnTo>
                    <a:lnTo>
                      <a:pt x="111347" y="38481"/>
                    </a:lnTo>
                    <a:lnTo>
                      <a:pt x="0" y="38481"/>
                    </a:lnTo>
                    <a:close/>
                  </a:path>
                </a:pathLst>
              </a:custGeom>
              <a:solidFill>
                <a:schemeClr val="accent1"/>
              </a:solidFill>
              <a:ln w="9525" cap="flat">
                <a:noFill/>
                <a:prstDash val="solid"/>
                <a:miter/>
              </a:ln>
            </p:spPr>
            <p:txBody>
              <a:bodyPr rtlCol="0" anchor="ctr" anchorCtr="0"/>
              <a:lstStyle/>
              <a:p>
                <a:pPr algn="l"/>
                <a:endParaRPr/>
              </a:p>
            </p:txBody>
          </p:sp>
          <p:sp>
            <p:nvSpPr>
              <p:cNvPr id="112" name="任意多边形: 形状 111" descr="fc2548d2-7ef8-48b2-a987-fa8f8fe181f7">
                <a:extLst>
                  <a:ext uri="{FF2B5EF4-FFF2-40B4-BE49-F238E27FC236}">
                    <a16:creationId xmlns:a16="http://schemas.microsoft.com/office/drawing/2014/main" id="{C980B99A-AA37-8B85-90C7-432B51A256DD}"/>
                  </a:ext>
                </a:extLst>
              </p:cNvPr>
              <p:cNvSpPr/>
              <p:nvPr/>
            </p:nvSpPr>
            <p:spPr>
              <a:xfrm>
                <a:off x="6340807" y="4531913"/>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13" name="任意多边形: 形状 112" descr="1424265b-262e-4faf-9247-287ff5006f25">
                <a:extLst>
                  <a:ext uri="{FF2B5EF4-FFF2-40B4-BE49-F238E27FC236}">
                    <a16:creationId xmlns:a16="http://schemas.microsoft.com/office/drawing/2014/main" id="{8ABBD795-0530-A72D-41D9-2D3FDBC58E88}"/>
                  </a:ext>
                </a:extLst>
              </p:cNvPr>
              <p:cNvSpPr/>
              <p:nvPr/>
            </p:nvSpPr>
            <p:spPr>
              <a:xfrm>
                <a:off x="6053869" y="42681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14" name="任意多边形: 形状 113" descr="334d0377-4e19-4a70-9ece-08706f4e8e6f">
                <a:extLst>
                  <a:ext uri="{FF2B5EF4-FFF2-40B4-BE49-F238E27FC236}">
                    <a16:creationId xmlns:a16="http://schemas.microsoft.com/office/drawing/2014/main" id="{1BAE3EB0-F83C-AC6A-81CC-1C1E202A6198}"/>
                  </a:ext>
                </a:extLst>
              </p:cNvPr>
              <p:cNvSpPr/>
              <p:nvPr/>
            </p:nvSpPr>
            <p:spPr>
              <a:xfrm>
                <a:off x="5914142" y="42681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15" name="任意多边形: 形状 114" descr="48c8eefc-abdc-46a3-9c30-8ae18bfddd3e">
                <a:extLst>
                  <a:ext uri="{FF2B5EF4-FFF2-40B4-BE49-F238E27FC236}">
                    <a16:creationId xmlns:a16="http://schemas.microsoft.com/office/drawing/2014/main" id="{82758EDF-7E5E-99F9-0059-F2293C7E8041}"/>
                  </a:ext>
                </a:extLst>
              </p:cNvPr>
              <p:cNvSpPr/>
              <p:nvPr/>
            </p:nvSpPr>
            <p:spPr>
              <a:xfrm>
                <a:off x="6340807" y="4638410"/>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16" name="任意多边形: 形状 115" descr="9685b6a0-a3d1-4b92-b298-c27f37c9993f">
                <a:extLst>
                  <a:ext uri="{FF2B5EF4-FFF2-40B4-BE49-F238E27FC236}">
                    <a16:creationId xmlns:a16="http://schemas.microsoft.com/office/drawing/2014/main" id="{4A71C72D-7113-B875-9EDD-37911F9E2F60}"/>
                  </a:ext>
                </a:extLst>
              </p:cNvPr>
              <p:cNvSpPr/>
              <p:nvPr/>
            </p:nvSpPr>
            <p:spPr>
              <a:xfrm>
                <a:off x="6340807" y="474490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17" name="任意多边形: 形状 116" descr="fe5f3ac0-16a4-4069-afca-612a0c4ffd5d">
                <a:extLst>
                  <a:ext uri="{FF2B5EF4-FFF2-40B4-BE49-F238E27FC236}">
                    <a16:creationId xmlns:a16="http://schemas.microsoft.com/office/drawing/2014/main" id="{70E8BB29-C2B3-B127-CFD0-EC7E3B0DD8F8}"/>
                  </a:ext>
                </a:extLst>
              </p:cNvPr>
              <p:cNvSpPr/>
              <p:nvPr/>
            </p:nvSpPr>
            <p:spPr>
              <a:xfrm>
                <a:off x="6340807" y="485151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08" name="任意多边形: 形状 107" descr="054e596f-472a-4ce3-b07d-0f32009ca9fe">
                <a:extLst>
                  <a:ext uri="{FF2B5EF4-FFF2-40B4-BE49-F238E27FC236}">
                    <a16:creationId xmlns:a16="http://schemas.microsoft.com/office/drawing/2014/main" id="{F38980FF-AFA3-F0B8-4BDC-5BD2F2006473}"/>
                  </a:ext>
                </a:extLst>
              </p:cNvPr>
              <p:cNvSpPr/>
              <p:nvPr/>
            </p:nvSpPr>
            <p:spPr>
              <a:xfrm>
                <a:off x="1774064" y="5866233"/>
                <a:ext cx="178401" cy="178400"/>
              </a:xfrm>
              <a:custGeom>
                <a:avLst/>
                <a:gdLst>
                  <a:gd name="connsiteX0" fmla="*/ 149828 w 149828"/>
                  <a:gd name="connsiteY0" fmla="*/ 149828 h 149828"/>
                  <a:gd name="connsiteX1" fmla="*/ 29051 w 149828"/>
                  <a:gd name="connsiteY1" fmla="*/ 149828 h 149828"/>
                  <a:gd name="connsiteX2" fmla="*/ 0 w 149828"/>
                  <a:gd name="connsiteY2" fmla="*/ 149828 h 149828"/>
                  <a:gd name="connsiteX3" fmla="*/ 0 w 149828"/>
                  <a:gd name="connsiteY3" fmla="*/ 120777 h 149828"/>
                  <a:gd name="connsiteX4" fmla="*/ 0 w 149828"/>
                  <a:gd name="connsiteY4" fmla="*/ 0 h 149828"/>
                  <a:gd name="connsiteX5" fmla="*/ 38576 w 149828"/>
                  <a:gd name="connsiteY5" fmla="*/ 0 h 149828"/>
                  <a:gd name="connsiteX6" fmla="*/ 38576 w 149828"/>
                  <a:gd name="connsiteY6" fmla="*/ 111252 h 149828"/>
                  <a:gd name="connsiteX7" fmla="*/ 149828 w 149828"/>
                  <a:gd name="connsiteY7" fmla="*/ 11125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149828"/>
                    </a:moveTo>
                    <a:lnTo>
                      <a:pt x="29051" y="149828"/>
                    </a:lnTo>
                    <a:lnTo>
                      <a:pt x="0" y="149828"/>
                    </a:lnTo>
                    <a:lnTo>
                      <a:pt x="0" y="120777"/>
                    </a:lnTo>
                    <a:lnTo>
                      <a:pt x="0" y="0"/>
                    </a:lnTo>
                    <a:lnTo>
                      <a:pt x="38576" y="0"/>
                    </a:lnTo>
                    <a:lnTo>
                      <a:pt x="38576" y="111252"/>
                    </a:lnTo>
                    <a:lnTo>
                      <a:pt x="149828" y="111252"/>
                    </a:lnTo>
                    <a:close/>
                  </a:path>
                </a:pathLst>
              </a:custGeom>
              <a:solidFill>
                <a:schemeClr val="accent1"/>
              </a:solidFill>
              <a:ln w="9525" cap="flat">
                <a:noFill/>
                <a:prstDash val="solid"/>
                <a:miter/>
              </a:ln>
            </p:spPr>
            <p:txBody>
              <a:bodyPr rtlCol="0" anchor="ctr" anchorCtr="0"/>
              <a:lstStyle/>
              <a:p>
                <a:pPr algn="l"/>
                <a:endParaRPr/>
              </a:p>
            </p:txBody>
          </p:sp>
          <p:sp>
            <p:nvSpPr>
              <p:cNvPr id="109" name="任意多边形: 形状 108" descr="af9a0206-c7b7-4e06-9125-7f5a521947df">
                <a:extLst>
                  <a:ext uri="{FF2B5EF4-FFF2-40B4-BE49-F238E27FC236}">
                    <a16:creationId xmlns:a16="http://schemas.microsoft.com/office/drawing/2014/main" id="{4E3F1A72-B72E-CA8C-BF13-ADFA658FF468}"/>
                  </a:ext>
                </a:extLst>
              </p:cNvPr>
              <p:cNvSpPr/>
              <p:nvPr/>
            </p:nvSpPr>
            <p:spPr>
              <a:xfrm>
                <a:off x="6209699" y="5852964"/>
                <a:ext cx="178401" cy="178400"/>
              </a:xfrm>
              <a:custGeom>
                <a:avLst/>
                <a:gdLst>
                  <a:gd name="connsiteX0" fmla="*/ 0 w 149828"/>
                  <a:gd name="connsiteY0" fmla="*/ 149828 h 149828"/>
                  <a:gd name="connsiteX1" fmla="*/ 120872 w 149828"/>
                  <a:gd name="connsiteY1" fmla="*/ 149828 h 149828"/>
                  <a:gd name="connsiteX2" fmla="*/ 149828 w 149828"/>
                  <a:gd name="connsiteY2" fmla="*/ 149828 h 149828"/>
                  <a:gd name="connsiteX3" fmla="*/ 149828 w 149828"/>
                  <a:gd name="connsiteY3" fmla="*/ 120872 h 149828"/>
                  <a:gd name="connsiteX4" fmla="*/ 149828 w 149828"/>
                  <a:gd name="connsiteY4" fmla="*/ 0 h 149828"/>
                  <a:gd name="connsiteX5" fmla="*/ 111347 w 149828"/>
                  <a:gd name="connsiteY5" fmla="*/ 0 h 149828"/>
                  <a:gd name="connsiteX6" fmla="*/ 111347 w 149828"/>
                  <a:gd name="connsiteY6" fmla="*/ 111347 h 149828"/>
                  <a:gd name="connsiteX7" fmla="*/ 0 w 149828"/>
                  <a:gd name="connsiteY7" fmla="*/ 111347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149828"/>
                    </a:moveTo>
                    <a:lnTo>
                      <a:pt x="120872" y="149828"/>
                    </a:lnTo>
                    <a:lnTo>
                      <a:pt x="149828" y="149828"/>
                    </a:lnTo>
                    <a:lnTo>
                      <a:pt x="149828" y="120872"/>
                    </a:lnTo>
                    <a:lnTo>
                      <a:pt x="149828" y="0"/>
                    </a:lnTo>
                    <a:lnTo>
                      <a:pt x="111347" y="0"/>
                    </a:lnTo>
                    <a:lnTo>
                      <a:pt x="111347" y="111347"/>
                    </a:lnTo>
                    <a:lnTo>
                      <a:pt x="0" y="111347"/>
                    </a:lnTo>
                    <a:close/>
                  </a:path>
                </a:pathLst>
              </a:custGeom>
              <a:solidFill>
                <a:schemeClr val="accent1"/>
              </a:solidFill>
              <a:ln w="9525" cap="flat">
                <a:noFill/>
                <a:prstDash val="solid"/>
                <a:miter/>
              </a:ln>
            </p:spPr>
            <p:txBody>
              <a:bodyPr rtlCol="0" anchor="ctr" anchorCtr="0"/>
              <a:lstStyle/>
              <a:p>
                <a:pPr algn="l"/>
                <a:endParaRPr/>
              </a:p>
            </p:txBody>
          </p:sp>
          <p:sp>
            <p:nvSpPr>
              <p:cNvPr id="104" name="任意多边形: 形状 103" descr="08261d39-9325-41e6-b41b-222eb56e88c6">
                <a:extLst>
                  <a:ext uri="{FF2B5EF4-FFF2-40B4-BE49-F238E27FC236}">
                    <a16:creationId xmlns:a16="http://schemas.microsoft.com/office/drawing/2014/main" id="{DCF62532-94C5-B46B-3BF7-D2A66D474F26}"/>
                  </a:ext>
                </a:extLst>
              </p:cNvPr>
              <p:cNvSpPr/>
              <p:nvPr/>
            </p:nvSpPr>
            <p:spPr>
              <a:xfrm>
                <a:off x="2970585" y="5990082"/>
                <a:ext cx="581248" cy="55118"/>
              </a:xfrm>
              <a:custGeom>
                <a:avLst/>
                <a:gdLst>
                  <a:gd name="connsiteX0" fmla="*/ 0 w 488156"/>
                  <a:gd name="connsiteY0" fmla="*/ 0 h 46291"/>
                  <a:gd name="connsiteX1" fmla="*/ 488156 w 488156"/>
                  <a:gd name="connsiteY1" fmla="*/ 0 h 46291"/>
                  <a:gd name="connsiteX2" fmla="*/ 488156 w 488156"/>
                  <a:gd name="connsiteY2" fmla="*/ 46292 h 46291"/>
                  <a:gd name="connsiteX3" fmla="*/ 0 w 488156"/>
                  <a:gd name="connsiteY3" fmla="*/ 46292 h 46291"/>
                </a:gdLst>
                <a:ahLst/>
                <a:cxnLst>
                  <a:cxn ang="0">
                    <a:pos x="connsiteX0" y="connsiteY0"/>
                  </a:cxn>
                  <a:cxn ang="0">
                    <a:pos x="connsiteX1" y="connsiteY1"/>
                  </a:cxn>
                  <a:cxn ang="0">
                    <a:pos x="connsiteX2" y="connsiteY2"/>
                  </a:cxn>
                  <a:cxn ang="0">
                    <a:pos x="connsiteX3" y="connsiteY3"/>
                  </a:cxn>
                </a:cxnLst>
                <a:rect l="l" t="t" r="r" b="b"/>
                <a:pathLst>
                  <a:path w="488156" h="46291">
                    <a:moveTo>
                      <a:pt x="0" y="0"/>
                    </a:moveTo>
                    <a:lnTo>
                      <a:pt x="488156" y="0"/>
                    </a:lnTo>
                    <a:lnTo>
                      <a:pt x="488156" y="46292"/>
                    </a:lnTo>
                    <a:lnTo>
                      <a:pt x="0" y="46292"/>
                    </a:lnTo>
                    <a:close/>
                  </a:path>
                </a:pathLst>
              </a:custGeom>
              <a:solidFill>
                <a:schemeClr val="accent1"/>
              </a:solidFill>
              <a:ln w="9525" cap="flat">
                <a:noFill/>
                <a:prstDash val="solid"/>
                <a:miter/>
              </a:ln>
            </p:spPr>
            <p:txBody>
              <a:bodyPr rtlCol="0" anchor="ctr" anchorCtr="0"/>
              <a:lstStyle/>
              <a:p>
                <a:pPr algn="l"/>
                <a:endParaRPr/>
              </a:p>
            </p:txBody>
          </p:sp>
          <p:sp>
            <p:nvSpPr>
              <p:cNvPr id="105" name="任意多边形: 形状 104" descr="7d6f2fac-6d40-4d4e-8c6e-8713f8593bd5">
                <a:extLst>
                  <a:ext uri="{FF2B5EF4-FFF2-40B4-BE49-F238E27FC236}">
                    <a16:creationId xmlns:a16="http://schemas.microsoft.com/office/drawing/2014/main" id="{A92437EC-85C5-BACA-F64C-646819DA9BA5}"/>
                  </a:ext>
                </a:extLst>
              </p:cNvPr>
              <p:cNvSpPr/>
              <p:nvPr/>
            </p:nvSpPr>
            <p:spPr>
              <a:xfrm>
                <a:off x="1856402" y="4998273"/>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06" name="任意多边形: 形状 105" descr="d89a5a77-c849-4741-9fd3-6728593251ba">
                <a:extLst>
                  <a:ext uri="{FF2B5EF4-FFF2-40B4-BE49-F238E27FC236}">
                    <a16:creationId xmlns:a16="http://schemas.microsoft.com/office/drawing/2014/main" id="{2208F389-FD9C-A1D4-4763-C78D5F6CDE87}"/>
                  </a:ext>
                </a:extLst>
              </p:cNvPr>
              <p:cNvSpPr/>
              <p:nvPr/>
            </p:nvSpPr>
            <p:spPr>
              <a:xfrm>
                <a:off x="1856402" y="5096717"/>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07" name="任意多边形: 形状 106" descr="cd8bf320-288b-4c3f-ba8e-4e13261f9128">
                <a:extLst>
                  <a:ext uri="{FF2B5EF4-FFF2-40B4-BE49-F238E27FC236}">
                    <a16:creationId xmlns:a16="http://schemas.microsoft.com/office/drawing/2014/main" id="{8E61D269-ABF5-188E-C4D0-C1F05E1C81FA}"/>
                  </a:ext>
                </a:extLst>
              </p:cNvPr>
              <p:cNvSpPr/>
              <p:nvPr/>
            </p:nvSpPr>
            <p:spPr>
              <a:xfrm>
                <a:off x="1715555" y="4715642"/>
                <a:ext cx="132238" cy="626802"/>
              </a:xfrm>
              <a:custGeom>
                <a:avLst/>
                <a:gdLst>
                  <a:gd name="connsiteX0" fmla="*/ 0 w 75819"/>
                  <a:gd name="connsiteY0" fmla="*/ 33242 h 359378"/>
                  <a:gd name="connsiteX1" fmla="*/ 37910 w 75819"/>
                  <a:gd name="connsiteY1" fmla="*/ 14288 h 359378"/>
                  <a:gd name="connsiteX2" fmla="*/ 75819 w 75819"/>
                  <a:gd name="connsiteY2" fmla="*/ 33242 h 359378"/>
                  <a:gd name="connsiteX3" fmla="*/ 75819 w 75819"/>
                  <a:gd name="connsiteY3" fmla="*/ 18955 h 359378"/>
                  <a:gd name="connsiteX4" fmla="*/ 37910 w 75819"/>
                  <a:gd name="connsiteY4" fmla="*/ 0 h 359378"/>
                  <a:gd name="connsiteX5" fmla="*/ 0 w 75819"/>
                  <a:gd name="connsiteY5" fmla="*/ 18955 h 359378"/>
                  <a:gd name="connsiteX6" fmla="*/ 0 w 75819"/>
                  <a:gd name="connsiteY6" fmla="*/ 33242 h 359378"/>
                  <a:gd name="connsiteX7" fmla="*/ 0 w 75819"/>
                  <a:gd name="connsiteY7" fmla="*/ 155543 h 359378"/>
                  <a:gd name="connsiteX8" fmla="*/ 37910 w 75819"/>
                  <a:gd name="connsiteY8" fmla="*/ 136589 h 359378"/>
                  <a:gd name="connsiteX9" fmla="*/ 75819 w 75819"/>
                  <a:gd name="connsiteY9" fmla="*/ 155543 h 359378"/>
                  <a:gd name="connsiteX10" fmla="*/ 75819 w 75819"/>
                  <a:gd name="connsiteY10" fmla="*/ 141256 h 359378"/>
                  <a:gd name="connsiteX11" fmla="*/ 37910 w 75819"/>
                  <a:gd name="connsiteY11" fmla="*/ 122301 h 359378"/>
                  <a:gd name="connsiteX12" fmla="*/ 0 w 75819"/>
                  <a:gd name="connsiteY12" fmla="*/ 141256 h 359378"/>
                  <a:gd name="connsiteX13" fmla="*/ 0 w 75819"/>
                  <a:gd name="connsiteY13" fmla="*/ 155543 h 359378"/>
                  <a:gd name="connsiteX14" fmla="*/ 0 w 75819"/>
                  <a:gd name="connsiteY14" fmla="*/ 114776 h 359378"/>
                  <a:gd name="connsiteX15" fmla="*/ 37910 w 75819"/>
                  <a:gd name="connsiteY15" fmla="*/ 95822 h 359378"/>
                  <a:gd name="connsiteX16" fmla="*/ 75819 w 75819"/>
                  <a:gd name="connsiteY16" fmla="*/ 114776 h 359378"/>
                  <a:gd name="connsiteX17" fmla="*/ 75819 w 75819"/>
                  <a:gd name="connsiteY17" fmla="*/ 100489 h 359378"/>
                  <a:gd name="connsiteX18" fmla="*/ 37910 w 75819"/>
                  <a:gd name="connsiteY18" fmla="*/ 81534 h 359378"/>
                  <a:gd name="connsiteX19" fmla="*/ 0 w 75819"/>
                  <a:gd name="connsiteY19" fmla="*/ 100489 h 359378"/>
                  <a:gd name="connsiteX20" fmla="*/ 0 w 75819"/>
                  <a:gd name="connsiteY20" fmla="*/ 114776 h 359378"/>
                  <a:gd name="connsiteX21" fmla="*/ 0 w 75819"/>
                  <a:gd name="connsiteY21" fmla="*/ 74009 h 359378"/>
                  <a:gd name="connsiteX22" fmla="*/ 37910 w 75819"/>
                  <a:gd name="connsiteY22" fmla="*/ 55055 h 359378"/>
                  <a:gd name="connsiteX23" fmla="*/ 75819 w 75819"/>
                  <a:gd name="connsiteY23" fmla="*/ 74009 h 359378"/>
                  <a:gd name="connsiteX24" fmla="*/ 75819 w 75819"/>
                  <a:gd name="connsiteY24" fmla="*/ 59722 h 359378"/>
                  <a:gd name="connsiteX25" fmla="*/ 37910 w 75819"/>
                  <a:gd name="connsiteY25" fmla="*/ 40767 h 359378"/>
                  <a:gd name="connsiteX26" fmla="*/ 0 w 75819"/>
                  <a:gd name="connsiteY26" fmla="*/ 59722 h 359378"/>
                  <a:gd name="connsiteX27" fmla="*/ 0 w 75819"/>
                  <a:gd name="connsiteY27" fmla="*/ 74009 h 359378"/>
                  <a:gd name="connsiteX28" fmla="*/ 0 w 75819"/>
                  <a:gd name="connsiteY28" fmla="*/ 277844 h 359378"/>
                  <a:gd name="connsiteX29" fmla="*/ 37910 w 75819"/>
                  <a:gd name="connsiteY29" fmla="*/ 258890 h 359378"/>
                  <a:gd name="connsiteX30" fmla="*/ 75819 w 75819"/>
                  <a:gd name="connsiteY30" fmla="*/ 277844 h 359378"/>
                  <a:gd name="connsiteX31" fmla="*/ 75819 w 75819"/>
                  <a:gd name="connsiteY31" fmla="*/ 263557 h 359378"/>
                  <a:gd name="connsiteX32" fmla="*/ 37910 w 75819"/>
                  <a:gd name="connsiteY32" fmla="*/ 244602 h 359378"/>
                  <a:gd name="connsiteX33" fmla="*/ 0 w 75819"/>
                  <a:gd name="connsiteY33" fmla="*/ 263557 h 359378"/>
                  <a:gd name="connsiteX34" fmla="*/ 0 w 75819"/>
                  <a:gd name="connsiteY34" fmla="*/ 277844 h 359378"/>
                  <a:gd name="connsiteX35" fmla="*/ 37910 w 75819"/>
                  <a:gd name="connsiteY35" fmla="*/ 340424 h 359378"/>
                  <a:gd name="connsiteX36" fmla="*/ 75819 w 75819"/>
                  <a:gd name="connsiteY36" fmla="*/ 359378 h 359378"/>
                  <a:gd name="connsiteX37" fmla="*/ 75819 w 75819"/>
                  <a:gd name="connsiteY37" fmla="*/ 345091 h 359378"/>
                  <a:gd name="connsiteX38" fmla="*/ 37910 w 75819"/>
                  <a:gd name="connsiteY38" fmla="*/ 326136 h 359378"/>
                  <a:gd name="connsiteX39" fmla="*/ 0 w 75819"/>
                  <a:gd name="connsiteY39" fmla="*/ 345091 h 359378"/>
                  <a:gd name="connsiteX40" fmla="*/ 0 w 75819"/>
                  <a:gd name="connsiteY40" fmla="*/ 359378 h 359378"/>
                  <a:gd name="connsiteX41" fmla="*/ 37910 w 75819"/>
                  <a:gd name="connsiteY41" fmla="*/ 340424 h 359378"/>
                  <a:gd name="connsiteX42" fmla="*/ 0 w 75819"/>
                  <a:gd name="connsiteY42" fmla="*/ 196310 h 359378"/>
                  <a:gd name="connsiteX43" fmla="*/ 37910 w 75819"/>
                  <a:gd name="connsiteY43" fmla="*/ 177356 h 359378"/>
                  <a:gd name="connsiteX44" fmla="*/ 75819 w 75819"/>
                  <a:gd name="connsiteY44" fmla="*/ 196310 h 359378"/>
                  <a:gd name="connsiteX45" fmla="*/ 75819 w 75819"/>
                  <a:gd name="connsiteY45" fmla="*/ 182023 h 359378"/>
                  <a:gd name="connsiteX46" fmla="*/ 37910 w 75819"/>
                  <a:gd name="connsiteY46" fmla="*/ 163068 h 359378"/>
                  <a:gd name="connsiteX47" fmla="*/ 0 w 75819"/>
                  <a:gd name="connsiteY47" fmla="*/ 182023 h 359378"/>
                  <a:gd name="connsiteX48" fmla="*/ 0 w 75819"/>
                  <a:gd name="connsiteY48" fmla="*/ 196310 h 359378"/>
                  <a:gd name="connsiteX49" fmla="*/ 0 w 75819"/>
                  <a:gd name="connsiteY49" fmla="*/ 318611 h 359378"/>
                  <a:gd name="connsiteX50" fmla="*/ 37910 w 75819"/>
                  <a:gd name="connsiteY50" fmla="*/ 299657 h 359378"/>
                  <a:gd name="connsiteX51" fmla="*/ 75819 w 75819"/>
                  <a:gd name="connsiteY51" fmla="*/ 318611 h 359378"/>
                  <a:gd name="connsiteX52" fmla="*/ 75819 w 75819"/>
                  <a:gd name="connsiteY52" fmla="*/ 304324 h 359378"/>
                  <a:gd name="connsiteX53" fmla="*/ 37910 w 75819"/>
                  <a:gd name="connsiteY53" fmla="*/ 285369 h 359378"/>
                  <a:gd name="connsiteX54" fmla="*/ 0 w 75819"/>
                  <a:gd name="connsiteY54" fmla="*/ 304324 h 359378"/>
                  <a:gd name="connsiteX55" fmla="*/ 0 w 75819"/>
                  <a:gd name="connsiteY55" fmla="*/ 318611 h 359378"/>
                  <a:gd name="connsiteX56" fmla="*/ 0 w 75819"/>
                  <a:gd name="connsiteY56" fmla="*/ 237077 h 359378"/>
                  <a:gd name="connsiteX57" fmla="*/ 37910 w 75819"/>
                  <a:gd name="connsiteY57" fmla="*/ 218123 h 359378"/>
                  <a:gd name="connsiteX58" fmla="*/ 75819 w 75819"/>
                  <a:gd name="connsiteY58" fmla="*/ 237077 h 359378"/>
                  <a:gd name="connsiteX59" fmla="*/ 75819 w 75819"/>
                  <a:gd name="connsiteY59" fmla="*/ 222790 h 359378"/>
                  <a:gd name="connsiteX60" fmla="*/ 37910 w 75819"/>
                  <a:gd name="connsiteY60" fmla="*/ 203835 h 359378"/>
                  <a:gd name="connsiteX61" fmla="*/ 0 w 75819"/>
                  <a:gd name="connsiteY61" fmla="*/ 222790 h 359378"/>
                  <a:gd name="connsiteX62" fmla="*/ 0 w 75819"/>
                  <a:gd name="connsiteY62" fmla="*/ 237077 h 359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75819" h="359378">
                    <a:moveTo>
                      <a:pt x="0" y="33242"/>
                    </a:moveTo>
                    <a:lnTo>
                      <a:pt x="37910" y="14288"/>
                    </a:lnTo>
                    <a:lnTo>
                      <a:pt x="75819" y="33242"/>
                    </a:lnTo>
                    <a:lnTo>
                      <a:pt x="75819" y="18955"/>
                    </a:lnTo>
                    <a:lnTo>
                      <a:pt x="37910" y="0"/>
                    </a:lnTo>
                    <a:lnTo>
                      <a:pt x="0" y="18955"/>
                    </a:lnTo>
                    <a:lnTo>
                      <a:pt x="0" y="33242"/>
                    </a:lnTo>
                    <a:close/>
                    <a:moveTo>
                      <a:pt x="0" y="155543"/>
                    </a:moveTo>
                    <a:lnTo>
                      <a:pt x="37910" y="136589"/>
                    </a:lnTo>
                    <a:lnTo>
                      <a:pt x="75819" y="155543"/>
                    </a:lnTo>
                    <a:lnTo>
                      <a:pt x="75819" y="141256"/>
                    </a:lnTo>
                    <a:lnTo>
                      <a:pt x="37910" y="122301"/>
                    </a:lnTo>
                    <a:lnTo>
                      <a:pt x="0" y="141256"/>
                    </a:lnTo>
                    <a:lnTo>
                      <a:pt x="0" y="155543"/>
                    </a:lnTo>
                    <a:close/>
                    <a:moveTo>
                      <a:pt x="0" y="114776"/>
                    </a:moveTo>
                    <a:lnTo>
                      <a:pt x="37910" y="95822"/>
                    </a:lnTo>
                    <a:lnTo>
                      <a:pt x="75819" y="114776"/>
                    </a:lnTo>
                    <a:lnTo>
                      <a:pt x="75819" y="100489"/>
                    </a:lnTo>
                    <a:lnTo>
                      <a:pt x="37910" y="81534"/>
                    </a:lnTo>
                    <a:lnTo>
                      <a:pt x="0" y="100489"/>
                    </a:lnTo>
                    <a:lnTo>
                      <a:pt x="0" y="114776"/>
                    </a:lnTo>
                    <a:close/>
                    <a:moveTo>
                      <a:pt x="0" y="74009"/>
                    </a:moveTo>
                    <a:lnTo>
                      <a:pt x="37910" y="55055"/>
                    </a:lnTo>
                    <a:lnTo>
                      <a:pt x="75819" y="74009"/>
                    </a:lnTo>
                    <a:lnTo>
                      <a:pt x="75819" y="59722"/>
                    </a:lnTo>
                    <a:lnTo>
                      <a:pt x="37910" y="40767"/>
                    </a:lnTo>
                    <a:lnTo>
                      <a:pt x="0" y="59722"/>
                    </a:lnTo>
                    <a:lnTo>
                      <a:pt x="0" y="74009"/>
                    </a:lnTo>
                    <a:close/>
                    <a:moveTo>
                      <a:pt x="0" y="277844"/>
                    </a:moveTo>
                    <a:lnTo>
                      <a:pt x="37910" y="258890"/>
                    </a:lnTo>
                    <a:lnTo>
                      <a:pt x="75819" y="277844"/>
                    </a:lnTo>
                    <a:lnTo>
                      <a:pt x="75819" y="263557"/>
                    </a:lnTo>
                    <a:lnTo>
                      <a:pt x="37910" y="244602"/>
                    </a:lnTo>
                    <a:lnTo>
                      <a:pt x="0" y="263557"/>
                    </a:lnTo>
                    <a:lnTo>
                      <a:pt x="0" y="277844"/>
                    </a:lnTo>
                    <a:close/>
                    <a:moveTo>
                      <a:pt x="37910" y="340424"/>
                    </a:moveTo>
                    <a:lnTo>
                      <a:pt x="75819" y="359378"/>
                    </a:lnTo>
                    <a:lnTo>
                      <a:pt x="75819" y="345091"/>
                    </a:lnTo>
                    <a:lnTo>
                      <a:pt x="37910" y="326136"/>
                    </a:lnTo>
                    <a:lnTo>
                      <a:pt x="0" y="345091"/>
                    </a:lnTo>
                    <a:lnTo>
                      <a:pt x="0" y="359378"/>
                    </a:lnTo>
                    <a:lnTo>
                      <a:pt x="37910" y="340424"/>
                    </a:lnTo>
                    <a:close/>
                    <a:moveTo>
                      <a:pt x="0" y="196310"/>
                    </a:moveTo>
                    <a:lnTo>
                      <a:pt x="37910" y="177356"/>
                    </a:lnTo>
                    <a:lnTo>
                      <a:pt x="75819" y="196310"/>
                    </a:lnTo>
                    <a:lnTo>
                      <a:pt x="75819" y="182023"/>
                    </a:lnTo>
                    <a:lnTo>
                      <a:pt x="37910" y="163068"/>
                    </a:lnTo>
                    <a:lnTo>
                      <a:pt x="0" y="182023"/>
                    </a:lnTo>
                    <a:lnTo>
                      <a:pt x="0" y="196310"/>
                    </a:lnTo>
                    <a:close/>
                    <a:moveTo>
                      <a:pt x="0" y="318611"/>
                    </a:moveTo>
                    <a:lnTo>
                      <a:pt x="37910" y="299657"/>
                    </a:lnTo>
                    <a:lnTo>
                      <a:pt x="75819" y="318611"/>
                    </a:lnTo>
                    <a:lnTo>
                      <a:pt x="75819" y="304324"/>
                    </a:lnTo>
                    <a:lnTo>
                      <a:pt x="37910" y="285369"/>
                    </a:lnTo>
                    <a:lnTo>
                      <a:pt x="0" y="304324"/>
                    </a:lnTo>
                    <a:lnTo>
                      <a:pt x="0" y="318611"/>
                    </a:lnTo>
                    <a:close/>
                    <a:moveTo>
                      <a:pt x="0" y="237077"/>
                    </a:moveTo>
                    <a:lnTo>
                      <a:pt x="37910" y="218123"/>
                    </a:lnTo>
                    <a:lnTo>
                      <a:pt x="75819" y="237077"/>
                    </a:lnTo>
                    <a:lnTo>
                      <a:pt x="75819" y="222790"/>
                    </a:lnTo>
                    <a:lnTo>
                      <a:pt x="37910" y="203835"/>
                    </a:lnTo>
                    <a:lnTo>
                      <a:pt x="0" y="222790"/>
                    </a:lnTo>
                    <a:lnTo>
                      <a:pt x="0" y="237077"/>
                    </a:lnTo>
                    <a:close/>
                  </a:path>
                </a:pathLst>
              </a:custGeom>
              <a:gradFill flip="none" rotWithShape="1">
                <a:gsLst>
                  <a:gs pos="0">
                    <a:schemeClr val="accent1"/>
                  </a:gs>
                  <a:gs pos="100000">
                    <a:schemeClr val="accent1">
                      <a:alpha val="0"/>
                    </a:schemeClr>
                  </a:gs>
                </a:gsLst>
                <a:lin ang="5400000" scaled="1"/>
                <a:tileRect/>
              </a:gradFill>
              <a:ln w="9525" cap="flat">
                <a:noFill/>
                <a:prstDash val="solid"/>
                <a:miter/>
              </a:ln>
            </p:spPr>
            <p:txBody>
              <a:bodyPr rtlCol="0" anchor="ctr" anchorCtr="0"/>
              <a:lstStyle/>
              <a:p>
                <a:pPr algn="l"/>
                <a:endParaRPr/>
              </a:p>
            </p:txBody>
          </p:sp>
        </p:grpSp>
        <p:grpSp>
          <p:nvGrpSpPr>
            <p:cNvPr id="13" name="组合 12" descr="52ad2f54-0e3e-4a54-a631-af9177abcd58">
              <a:extLst>
                <a:ext uri="{FF2B5EF4-FFF2-40B4-BE49-F238E27FC236}">
                  <a16:creationId xmlns:a16="http://schemas.microsoft.com/office/drawing/2014/main" id="{AD57FBAE-3186-30DD-8FCB-E6CA89E598AE}"/>
                </a:ext>
              </a:extLst>
            </p:cNvPr>
            <p:cNvGrpSpPr/>
            <p:nvPr/>
          </p:nvGrpSpPr>
          <p:grpSpPr>
            <a:xfrm>
              <a:off x="6825474" y="4268112"/>
              <a:ext cx="4693426" cy="1777088"/>
              <a:chOff x="6825474" y="4268112"/>
              <a:chExt cx="4693426" cy="1777088"/>
            </a:xfrm>
          </p:grpSpPr>
          <p:sp>
            <p:nvSpPr>
              <p:cNvPr id="123" name="任意多边形: 形状 122" descr="1a9cf971-41a2-41f2-85f0-cbcbe93cf2bc">
                <a:extLst>
                  <a:ext uri="{FF2B5EF4-FFF2-40B4-BE49-F238E27FC236}">
                    <a16:creationId xmlns:a16="http://schemas.microsoft.com/office/drawing/2014/main" id="{1033F367-D0D9-6E69-1B1B-A2BD182F9C91}"/>
                  </a:ext>
                </a:extLst>
              </p:cNvPr>
              <p:cNvSpPr/>
              <p:nvPr/>
            </p:nvSpPr>
            <p:spPr>
              <a:xfrm>
                <a:off x="6847929" y="4291816"/>
                <a:ext cx="4647266" cy="1728774"/>
              </a:xfrm>
              <a:custGeom>
                <a:avLst/>
                <a:gdLst>
                  <a:gd name="connsiteX0" fmla="*/ 62389 w 3902963"/>
                  <a:gd name="connsiteY0" fmla="*/ 1451896 h 1451895"/>
                  <a:gd name="connsiteX1" fmla="*/ 62389 w 3902963"/>
                  <a:gd name="connsiteY1" fmla="*/ 1031367 h 1451895"/>
                  <a:gd name="connsiteX2" fmla="*/ 139160 w 3902963"/>
                  <a:gd name="connsiteY2" fmla="*/ 954596 h 1451895"/>
                  <a:gd name="connsiteX3" fmla="*/ 139160 w 3902963"/>
                  <a:gd name="connsiteY3" fmla="*/ 357378 h 1451895"/>
                  <a:gd name="connsiteX4" fmla="*/ 0 w 3902963"/>
                  <a:gd name="connsiteY4" fmla="*/ 218218 h 1451895"/>
                  <a:gd name="connsiteX5" fmla="*/ 0 w 3902963"/>
                  <a:gd name="connsiteY5" fmla="*/ 0 h 1451895"/>
                  <a:gd name="connsiteX6" fmla="*/ 3902964 w 3902963"/>
                  <a:gd name="connsiteY6" fmla="*/ 0 h 1451895"/>
                  <a:gd name="connsiteX7" fmla="*/ 3902964 w 3902963"/>
                  <a:gd name="connsiteY7" fmla="*/ 1441228 h 1451895"/>
                  <a:gd name="connsiteX8" fmla="*/ 3503676 w 3902963"/>
                  <a:gd name="connsiteY8" fmla="*/ 1441228 h 1451895"/>
                  <a:gd name="connsiteX9" fmla="*/ 3422237 w 3902963"/>
                  <a:gd name="connsiteY9" fmla="*/ 1359789 h 1451895"/>
                  <a:gd name="connsiteX10" fmla="*/ 3180493 w 3902963"/>
                  <a:gd name="connsiteY10" fmla="*/ 1359789 h 1451895"/>
                  <a:gd name="connsiteX11" fmla="*/ 3074765 w 3902963"/>
                  <a:gd name="connsiteY11" fmla="*/ 1446467 h 1451895"/>
                  <a:gd name="connsiteX12" fmla="*/ 425482 w 3902963"/>
                  <a:gd name="connsiteY12" fmla="*/ 1446467 h 1451895"/>
                  <a:gd name="connsiteX13" fmla="*/ 393764 w 3902963"/>
                  <a:gd name="connsiteY13" fmla="*/ 1414748 h 1451895"/>
                  <a:gd name="connsiteX14" fmla="*/ 308610 w 3902963"/>
                  <a:gd name="connsiteY14" fmla="*/ 1414748 h 1451895"/>
                  <a:gd name="connsiteX15" fmla="*/ 271558 w 3902963"/>
                  <a:gd name="connsiteY15" fmla="*/ 1451896 h 145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02963" h="1451895">
                    <a:moveTo>
                      <a:pt x="62389" y="1451896"/>
                    </a:moveTo>
                    <a:lnTo>
                      <a:pt x="62389" y="1031367"/>
                    </a:lnTo>
                    <a:lnTo>
                      <a:pt x="139160" y="954596"/>
                    </a:lnTo>
                    <a:lnTo>
                      <a:pt x="139160" y="357378"/>
                    </a:lnTo>
                    <a:lnTo>
                      <a:pt x="0" y="218218"/>
                    </a:lnTo>
                    <a:lnTo>
                      <a:pt x="0" y="0"/>
                    </a:lnTo>
                    <a:lnTo>
                      <a:pt x="3902964" y="0"/>
                    </a:lnTo>
                    <a:lnTo>
                      <a:pt x="3902964" y="1441228"/>
                    </a:lnTo>
                    <a:lnTo>
                      <a:pt x="3503676" y="1441228"/>
                    </a:lnTo>
                    <a:lnTo>
                      <a:pt x="3422237" y="1359789"/>
                    </a:lnTo>
                    <a:lnTo>
                      <a:pt x="3180493" y="1359789"/>
                    </a:lnTo>
                    <a:lnTo>
                      <a:pt x="3074765" y="1446467"/>
                    </a:lnTo>
                    <a:lnTo>
                      <a:pt x="425482" y="1446467"/>
                    </a:lnTo>
                    <a:lnTo>
                      <a:pt x="393764" y="1414748"/>
                    </a:lnTo>
                    <a:lnTo>
                      <a:pt x="308610" y="1414748"/>
                    </a:lnTo>
                    <a:lnTo>
                      <a:pt x="271558" y="1451896"/>
                    </a:lnTo>
                    <a:close/>
                  </a:path>
                </a:pathLst>
              </a:custGeom>
              <a:noFill/>
              <a:ln w="9525" cap="rnd">
                <a:gradFill>
                  <a:gsLst>
                    <a:gs pos="0">
                      <a:schemeClr val="accent1">
                        <a:alpha val="35000"/>
                        <a:lumMod val="95000"/>
                        <a:lumOff val="5000"/>
                      </a:schemeClr>
                    </a:gs>
                    <a:gs pos="54940">
                      <a:schemeClr val="accent1">
                        <a:lumMod val="75000"/>
                      </a:schemeClr>
                    </a:gs>
                    <a:gs pos="84920">
                      <a:schemeClr val="accent1">
                        <a:lumMod val="50000"/>
                      </a:schemeClr>
                    </a:gs>
                    <a:gs pos="100000">
                      <a:schemeClr val="accent1">
                        <a:lumMod val="50000"/>
                      </a:schemeClr>
                    </a:gs>
                  </a:gsLst>
                  <a:lin ang="16200000" scaled="1"/>
                </a:gradFill>
                <a:prstDash val="solid"/>
                <a:round/>
              </a:ln>
            </p:spPr>
            <p:txBody>
              <a:bodyPr rtlCol="0" anchor="ctr" anchorCtr="0"/>
              <a:lstStyle/>
              <a:p>
                <a:pPr algn="l"/>
                <a:endParaRPr/>
              </a:p>
            </p:txBody>
          </p:sp>
          <p:sp>
            <p:nvSpPr>
              <p:cNvPr id="132" name="任意多边形: 形状 131" descr="111fe804-cc25-4301-84d3-71e0b6767058">
                <a:extLst>
                  <a:ext uri="{FF2B5EF4-FFF2-40B4-BE49-F238E27FC236}">
                    <a16:creationId xmlns:a16="http://schemas.microsoft.com/office/drawing/2014/main" id="{BB9C6B86-CAD5-5CA6-55F8-671720BE36F9}"/>
                  </a:ext>
                </a:extLst>
              </p:cNvPr>
              <p:cNvSpPr/>
              <p:nvPr/>
            </p:nvSpPr>
            <p:spPr>
              <a:xfrm>
                <a:off x="6825474" y="4270833"/>
                <a:ext cx="178401" cy="17840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sp>
            <p:nvSpPr>
              <p:cNvPr id="133" name="任意多边形: 形状 132" descr="c0b5d865-dae4-422f-b3d8-7071d92fa273">
                <a:extLst>
                  <a:ext uri="{FF2B5EF4-FFF2-40B4-BE49-F238E27FC236}">
                    <a16:creationId xmlns:a16="http://schemas.microsoft.com/office/drawing/2014/main" id="{C524393B-BF9D-5B25-93D9-F7492B5F41B9}"/>
                  </a:ext>
                </a:extLst>
              </p:cNvPr>
              <p:cNvSpPr/>
              <p:nvPr/>
            </p:nvSpPr>
            <p:spPr>
              <a:xfrm>
                <a:off x="11340499" y="4270833"/>
                <a:ext cx="178401" cy="178401"/>
              </a:xfrm>
              <a:custGeom>
                <a:avLst/>
                <a:gdLst>
                  <a:gd name="connsiteX0" fmla="*/ 0 w 149828"/>
                  <a:gd name="connsiteY0" fmla="*/ 0 h 149828"/>
                  <a:gd name="connsiteX1" fmla="*/ 120872 w 149828"/>
                  <a:gd name="connsiteY1" fmla="*/ 0 h 149828"/>
                  <a:gd name="connsiteX2" fmla="*/ 149828 w 149828"/>
                  <a:gd name="connsiteY2" fmla="*/ 0 h 149828"/>
                  <a:gd name="connsiteX3" fmla="*/ 149828 w 149828"/>
                  <a:gd name="connsiteY3" fmla="*/ 28956 h 149828"/>
                  <a:gd name="connsiteX4" fmla="*/ 149828 w 149828"/>
                  <a:gd name="connsiteY4" fmla="*/ 149828 h 149828"/>
                  <a:gd name="connsiteX5" fmla="*/ 111347 w 149828"/>
                  <a:gd name="connsiteY5" fmla="*/ 149828 h 149828"/>
                  <a:gd name="connsiteX6" fmla="*/ 111347 w 149828"/>
                  <a:gd name="connsiteY6" fmla="*/ 38481 h 149828"/>
                  <a:gd name="connsiteX7" fmla="*/ 0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0"/>
                    </a:moveTo>
                    <a:lnTo>
                      <a:pt x="120872" y="0"/>
                    </a:lnTo>
                    <a:lnTo>
                      <a:pt x="149828" y="0"/>
                    </a:lnTo>
                    <a:lnTo>
                      <a:pt x="149828" y="28956"/>
                    </a:lnTo>
                    <a:lnTo>
                      <a:pt x="149828" y="149828"/>
                    </a:lnTo>
                    <a:lnTo>
                      <a:pt x="111347" y="149828"/>
                    </a:lnTo>
                    <a:lnTo>
                      <a:pt x="111347" y="38481"/>
                    </a:lnTo>
                    <a:lnTo>
                      <a:pt x="0" y="38481"/>
                    </a:lnTo>
                    <a:close/>
                  </a:path>
                </a:pathLst>
              </a:custGeom>
              <a:solidFill>
                <a:schemeClr val="accent1"/>
              </a:solidFill>
              <a:ln w="9525" cap="flat">
                <a:noFill/>
                <a:prstDash val="solid"/>
                <a:miter/>
              </a:ln>
            </p:spPr>
            <p:txBody>
              <a:bodyPr rtlCol="0" anchor="ctr" anchorCtr="0"/>
              <a:lstStyle/>
              <a:p>
                <a:pPr algn="l"/>
                <a:endParaRPr/>
              </a:p>
            </p:txBody>
          </p:sp>
          <p:sp>
            <p:nvSpPr>
              <p:cNvPr id="134" name="任意多边形: 形状 133" descr="0f32094f-b282-4fa3-b84c-f442380f10e2">
                <a:extLst>
                  <a:ext uri="{FF2B5EF4-FFF2-40B4-BE49-F238E27FC236}">
                    <a16:creationId xmlns:a16="http://schemas.microsoft.com/office/drawing/2014/main" id="{0697C80A-A8B4-45D4-8B54-5410A2DD0112}"/>
                  </a:ext>
                </a:extLst>
              </p:cNvPr>
              <p:cNvSpPr/>
              <p:nvPr/>
            </p:nvSpPr>
            <p:spPr>
              <a:xfrm>
                <a:off x="11471607" y="4531913"/>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35" name="任意多边形: 形状 134" descr="2ccd646b-3e1f-46d8-b357-89f02c845b0c">
                <a:extLst>
                  <a:ext uri="{FF2B5EF4-FFF2-40B4-BE49-F238E27FC236}">
                    <a16:creationId xmlns:a16="http://schemas.microsoft.com/office/drawing/2014/main" id="{EA609190-338D-A855-CF08-029469236230}"/>
                  </a:ext>
                </a:extLst>
              </p:cNvPr>
              <p:cNvSpPr/>
              <p:nvPr/>
            </p:nvSpPr>
            <p:spPr>
              <a:xfrm>
                <a:off x="11184669" y="42681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36" name="任意多边形: 形状 135" descr="044f126e-d762-4a32-99a1-b38270eb36e1">
                <a:extLst>
                  <a:ext uri="{FF2B5EF4-FFF2-40B4-BE49-F238E27FC236}">
                    <a16:creationId xmlns:a16="http://schemas.microsoft.com/office/drawing/2014/main" id="{0E90C5FF-0B1D-9677-314C-2A9D5CF53356}"/>
                  </a:ext>
                </a:extLst>
              </p:cNvPr>
              <p:cNvSpPr/>
              <p:nvPr/>
            </p:nvSpPr>
            <p:spPr>
              <a:xfrm>
                <a:off x="11044942" y="42681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37" name="任意多边形: 形状 136" descr="bb796f12-6489-425c-b07a-2bd92ccb285e">
                <a:extLst>
                  <a:ext uri="{FF2B5EF4-FFF2-40B4-BE49-F238E27FC236}">
                    <a16:creationId xmlns:a16="http://schemas.microsoft.com/office/drawing/2014/main" id="{C94E9EBF-6FA7-3939-E685-BE745D4D16BE}"/>
                  </a:ext>
                </a:extLst>
              </p:cNvPr>
              <p:cNvSpPr/>
              <p:nvPr/>
            </p:nvSpPr>
            <p:spPr>
              <a:xfrm>
                <a:off x="11471607" y="4638410"/>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38" name="任意多边形: 形状 137" descr="e2a07683-fcc0-406f-b525-303c87cfc595">
                <a:extLst>
                  <a:ext uri="{FF2B5EF4-FFF2-40B4-BE49-F238E27FC236}">
                    <a16:creationId xmlns:a16="http://schemas.microsoft.com/office/drawing/2014/main" id="{5397E515-60A2-83DC-72A6-C41748D8E24F}"/>
                  </a:ext>
                </a:extLst>
              </p:cNvPr>
              <p:cNvSpPr/>
              <p:nvPr/>
            </p:nvSpPr>
            <p:spPr>
              <a:xfrm>
                <a:off x="11471607" y="474490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39" name="任意多边形: 形状 138" descr="7a73f5dd-d2f9-4068-9c2d-4f456a5f6e75">
                <a:extLst>
                  <a:ext uri="{FF2B5EF4-FFF2-40B4-BE49-F238E27FC236}">
                    <a16:creationId xmlns:a16="http://schemas.microsoft.com/office/drawing/2014/main" id="{B46CB78B-A716-0297-39D7-1B4C1C7C83E4}"/>
                  </a:ext>
                </a:extLst>
              </p:cNvPr>
              <p:cNvSpPr/>
              <p:nvPr/>
            </p:nvSpPr>
            <p:spPr>
              <a:xfrm>
                <a:off x="11471607" y="485151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30" name="任意多边形: 形状 129" descr="1855e106-e6bb-4b32-b135-47b924afce0f">
                <a:extLst>
                  <a:ext uri="{FF2B5EF4-FFF2-40B4-BE49-F238E27FC236}">
                    <a16:creationId xmlns:a16="http://schemas.microsoft.com/office/drawing/2014/main" id="{E76F5CF3-A392-87D9-9148-A4C0EBCB043D}"/>
                  </a:ext>
                </a:extLst>
              </p:cNvPr>
              <p:cNvSpPr/>
              <p:nvPr/>
            </p:nvSpPr>
            <p:spPr>
              <a:xfrm>
                <a:off x="6904864" y="5866233"/>
                <a:ext cx="178401" cy="178400"/>
              </a:xfrm>
              <a:custGeom>
                <a:avLst/>
                <a:gdLst>
                  <a:gd name="connsiteX0" fmla="*/ 149828 w 149828"/>
                  <a:gd name="connsiteY0" fmla="*/ 149828 h 149828"/>
                  <a:gd name="connsiteX1" fmla="*/ 29051 w 149828"/>
                  <a:gd name="connsiteY1" fmla="*/ 149828 h 149828"/>
                  <a:gd name="connsiteX2" fmla="*/ 0 w 149828"/>
                  <a:gd name="connsiteY2" fmla="*/ 149828 h 149828"/>
                  <a:gd name="connsiteX3" fmla="*/ 0 w 149828"/>
                  <a:gd name="connsiteY3" fmla="*/ 120777 h 149828"/>
                  <a:gd name="connsiteX4" fmla="*/ 0 w 149828"/>
                  <a:gd name="connsiteY4" fmla="*/ 0 h 149828"/>
                  <a:gd name="connsiteX5" fmla="*/ 38576 w 149828"/>
                  <a:gd name="connsiteY5" fmla="*/ 0 h 149828"/>
                  <a:gd name="connsiteX6" fmla="*/ 38576 w 149828"/>
                  <a:gd name="connsiteY6" fmla="*/ 111252 h 149828"/>
                  <a:gd name="connsiteX7" fmla="*/ 149828 w 149828"/>
                  <a:gd name="connsiteY7" fmla="*/ 11125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149828"/>
                    </a:moveTo>
                    <a:lnTo>
                      <a:pt x="29051" y="149828"/>
                    </a:lnTo>
                    <a:lnTo>
                      <a:pt x="0" y="149828"/>
                    </a:lnTo>
                    <a:lnTo>
                      <a:pt x="0" y="120777"/>
                    </a:lnTo>
                    <a:lnTo>
                      <a:pt x="0" y="0"/>
                    </a:lnTo>
                    <a:lnTo>
                      <a:pt x="38576" y="0"/>
                    </a:lnTo>
                    <a:lnTo>
                      <a:pt x="38576" y="111252"/>
                    </a:lnTo>
                    <a:lnTo>
                      <a:pt x="149828" y="111252"/>
                    </a:lnTo>
                    <a:close/>
                  </a:path>
                </a:pathLst>
              </a:custGeom>
              <a:solidFill>
                <a:schemeClr val="accent1"/>
              </a:solidFill>
              <a:ln w="9525" cap="flat">
                <a:noFill/>
                <a:prstDash val="solid"/>
                <a:miter/>
              </a:ln>
            </p:spPr>
            <p:txBody>
              <a:bodyPr rtlCol="0" anchor="ctr" anchorCtr="0"/>
              <a:lstStyle/>
              <a:p>
                <a:pPr algn="l"/>
                <a:endParaRPr/>
              </a:p>
            </p:txBody>
          </p:sp>
          <p:sp>
            <p:nvSpPr>
              <p:cNvPr id="131" name="任意多边形: 形状 130" descr="a738610f-76a4-487b-83ff-44c9dec17e0e">
                <a:extLst>
                  <a:ext uri="{FF2B5EF4-FFF2-40B4-BE49-F238E27FC236}">
                    <a16:creationId xmlns:a16="http://schemas.microsoft.com/office/drawing/2014/main" id="{365D7271-A0E7-4EE7-08BC-B5E449418355}"/>
                  </a:ext>
                </a:extLst>
              </p:cNvPr>
              <p:cNvSpPr/>
              <p:nvPr/>
            </p:nvSpPr>
            <p:spPr>
              <a:xfrm>
                <a:off x="11340499" y="5852964"/>
                <a:ext cx="178401" cy="178400"/>
              </a:xfrm>
              <a:custGeom>
                <a:avLst/>
                <a:gdLst>
                  <a:gd name="connsiteX0" fmla="*/ 0 w 149828"/>
                  <a:gd name="connsiteY0" fmla="*/ 149828 h 149828"/>
                  <a:gd name="connsiteX1" fmla="*/ 120872 w 149828"/>
                  <a:gd name="connsiteY1" fmla="*/ 149828 h 149828"/>
                  <a:gd name="connsiteX2" fmla="*/ 149828 w 149828"/>
                  <a:gd name="connsiteY2" fmla="*/ 149828 h 149828"/>
                  <a:gd name="connsiteX3" fmla="*/ 149828 w 149828"/>
                  <a:gd name="connsiteY3" fmla="*/ 120872 h 149828"/>
                  <a:gd name="connsiteX4" fmla="*/ 149828 w 149828"/>
                  <a:gd name="connsiteY4" fmla="*/ 0 h 149828"/>
                  <a:gd name="connsiteX5" fmla="*/ 111347 w 149828"/>
                  <a:gd name="connsiteY5" fmla="*/ 0 h 149828"/>
                  <a:gd name="connsiteX6" fmla="*/ 111347 w 149828"/>
                  <a:gd name="connsiteY6" fmla="*/ 111347 h 149828"/>
                  <a:gd name="connsiteX7" fmla="*/ 0 w 149828"/>
                  <a:gd name="connsiteY7" fmla="*/ 111347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149828"/>
                    </a:moveTo>
                    <a:lnTo>
                      <a:pt x="120872" y="149828"/>
                    </a:lnTo>
                    <a:lnTo>
                      <a:pt x="149828" y="149828"/>
                    </a:lnTo>
                    <a:lnTo>
                      <a:pt x="149828" y="120872"/>
                    </a:lnTo>
                    <a:lnTo>
                      <a:pt x="149828" y="0"/>
                    </a:lnTo>
                    <a:lnTo>
                      <a:pt x="111347" y="0"/>
                    </a:lnTo>
                    <a:lnTo>
                      <a:pt x="111347" y="111347"/>
                    </a:lnTo>
                    <a:lnTo>
                      <a:pt x="0" y="111347"/>
                    </a:lnTo>
                    <a:close/>
                  </a:path>
                </a:pathLst>
              </a:custGeom>
              <a:solidFill>
                <a:schemeClr val="accent1"/>
              </a:solidFill>
              <a:ln w="9525" cap="flat">
                <a:noFill/>
                <a:prstDash val="solid"/>
                <a:miter/>
              </a:ln>
            </p:spPr>
            <p:txBody>
              <a:bodyPr rtlCol="0" anchor="ctr" anchorCtr="0"/>
              <a:lstStyle/>
              <a:p>
                <a:pPr algn="l"/>
                <a:endParaRPr/>
              </a:p>
            </p:txBody>
          </p:sp>
          <p:sp>
            <p:nvSpPr>
              <p:cNvPr id="126" name="任意多边形: 形状 125" descr="ae5a5046-6780-421d-af91-5b1ab06b0037">
                <a:extLst>
                  <a:ext uri="{FF2B5EF4-FFF2-40B4-BE49-F238E27FC236}">
                    <a16:creationId xmlns:a16="http://schemas.microsoft.com/office/drawing/2014/main" id="{C88D2BAB-E14D-141A-AFC1-63D9403371DF}"/>
                  </a:ext>
                </a:extLst>
              </p:cNvPr>
              <p:cNvSpPr/>
              <p:nvPr/>
            </p:nvSpPr>
            <p:spPr>
              <a:xfrm>
                <a:off x="8101385" y="5990082"/>
                <a:ext cx="581248" cy="55118"/>
              </a:xfrm>
              <a:custGeom>
                <a:avLst/>
                <a:gdLst>
                  <a:gd name="connsiteX0" fmla="*/ 0 w 488156"/>
                  <a:gd name="connsiteY0" fmla="*/ 0 h 46291"/>
                  <a:gd name="connsiteX1" fmla="*/ 488156 w 488156"/>
                  <a:gd name="connsiteY1" fmla="*/ 0 h 46291"/>
                  <a:gd name="connsiteX2" fmla="*/ 488156 w 488156"/>
                  <a:gd name="connsiteY2" fmla="*/ 46292 h 46291"/>
                  <a:gd name="connsiteX3" fmla="*/ 0 w 488156"/>
                  <a:gd name="connsiteY3" fmla="*/ 46292 h 46291"/>
                </a:gdLst>
                <a:ahLst/>
                <a:cxnLst>
                  <a:cxn ang="0">
                    <a:pos x="connsiteX0" y="connsiteY0"/>
                  </a:cxn>
                  <a:cxn ang="0">
                    <a:pos x="connsiteX1" y="connsiteY1"/>
                  </a:cxn>
                  <a:cxn ang="0">
                    <a:pos x="connsiteX2" y="connsiteY2"/>
                  </a:cxn>
                  <a:cxn ang="0">
                    <a:pos x="connsiteX3" y="connsiteY3"/>
                  </a:cxn>
                </a:cxnLst>
                <a:rect l="l" t="t" r="r" b="b"/>
                <a:pathLst>
                  <a:path w="488156" h="46291">
                    <a:moveTo>
                      <a:pt x="0" y="0"/>
                    </a:moveTo>
                    <a:lnTo>
                      <a:pt x="488156" y="0"/>
                    </a:lnTo>
                    <a:lnTo>
                      <a:pt x="488156" y="46292"/>
                    </a:lnTo>
                    <a:lnTo>
                      <a:pt x="0" y="46292"/>
                    </a:lnTo>
                    <a:close/>
                  </a:path>
                </a:pathLst>
              </a:custGeom>
              <a:solidFill>
                <a:schemeClr val="accent1"/>
              </a:solidFill>
              <a:ln w="9525" cap="flat">
                <a:noFill/>
                <a:prstDash val="solid"/>
                <a:miter/>
              </a:ln>
            </p:spPr>
            <p:txBody>
              <a:bodyPr rtlCol="0" anchor="ctr" anchorCtr="0"/>
              <a:lstStyle/>
              <a:p>
                <a:pPr algn="l"/>
                <a:endParaRPr/>
              </a:p>
            </p:txBody>
          </p:sp>
          <p:sp>
            <p:nvSpPr>
              <p:cNvPr id="127" name="任意多边形: 形状 126" descr="bfa961e0-dfc3-4c97-81bb-69018de72f65">
                <a:extLst>
                  <a:ext uri="{FF2B5EF4-FFF2-40B4-BE49-F238E27FC236}">
                    <a16:creationId xmlns:a16="http://schemas.microsoft.com/office/drawing/2014/main" id="{8FEB757F-D0C0-C08D-BDE7-E5251D179F6F}"/>
                  </a:ext>
                </a:extLst>
              </p:cNvPr>
              <p:cNvSpPr/>
              <p:nvPr/>
            </p:nvSpPr>
            <p:spPr>
              <a:xfrm>
                <a:off x="6987202" y="4998273"/>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28" name="任意多边形: 形状 127" descr="fa4c9b68-d972-47a7-96e1-0825f5c0e865">
                <a:extLst>
                  <a:ext uri="{FF2B5EF4-FFF2-40B4-BE49-F238E27FC236}">
                    <a16:creationId xmlns:a16="http://schemas.microsoft.com/office/drawing/2014/main" id="{CE801DB2-2A66-8A63-9CD1-50C4886686DE}"/>
                  </a:ext>
                </a:extLst>
              </p:cNvPr>
              <p:cNvSpPr/>
              <p:nvPr/>
            </p:nvSpPr>
            <p:spPr>
              <a:xfrm>
                <a:off x="6987202" y="5096717"/>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29" name="任意多边形: 形状 128" descr="2f309539-0766-4832-9b08-e79b5a5d119a">
                <a:extLst>
                  <a:ext uri="{FF2B5EF4-FFF2-40B4-BE49-F238E27FC236}">
                    <a16:creationId xmlns:a16="http://schemas.microsoft.com/office/drawing/2014/main" id="{ADFCF4CD-4F74-7E45-2005-8868FB906FE2}"/>
                  </a:ext>
                </a:extLst>
              </p:cNvPr>
              <p:cNvSpPr/>
              <p:nvPr/>
            </p:nvSpPr>
            <p:spPr>
              <a:xfrm>
                <a:off x="6846355" y="4715642"/>
                <a:ext cx="132238" cy="626802"/>
              </a:xfrm>
              <a:custGeom>
                <a:avLst/>
                <a:gdLst>
                  <a:gd name="connsiteX0" fmla="*/ 0 w 75819"/>
                  <a:gd name="connsiteY0" fmla="*/ 33242 h 359378"/>
                  <a:gd name="connsiteX1" fmla="*/ 37910 w 75819"/>
                  <a:gd name="connsiteY1" fmla="*/ 14288 h 359378"/>
                  <a:gd name="connsiteX2" fmla="*/ 75819 w 75819"/>
                  <a:gd name="connsiteY2" fmla="*/ 33242 h 359378"/>
                  <a:gd name="connsiteX3" fmla="*/ 75819 w 75819"/>
                  <a:gd name="connsiteY3" fmla="*/ 18955 h 359378"/>
                  <a:gd name="connsiteX4" fmla="*/ 37910 w 75819"/>
                  <a:gd name="connsiteY4" fmla="*/ 0 h 359378"/>
                  <a:gd name="connsiteX5" fmla="*/ 0 w 75819"/>
                  <a:gd name="connsiteY5" fmla="*/ 18955 h 359378"/>
                  <a:gd name="connsiteX6" fmla="*/ 0 w 75819"/>
                  <a:gd name="connsiteY6" fmla="*/ 33242 h 359378"/>
                  <a:gd name="connsiteX7" fmla="*/ 0 w 75819"/>
                  <a:gd name="connsiteY7" fmla="*/ 155543 h 359378"/>
                  <a:gd name="connsiteX8" fmla="*/ 37910 w 75819"/>
                  <a:gd name="connsiteY8" fmla="*/ 136589 h 359378"/>
                  <a:gd name="connsiteX9" fmla="*/ 75819 w 75819"/>
                  <a:gd name="connsiteY9" fmla="*/ 155543 h 359378"/>
                  <a:gd name="connsiteX10" fmla="*/ 75819 w 75819"/>
                  <a:gd name="connsiteY10" fmla="*/ 141256 h 359378"/>
                  <a:gd name="connsiteX11" fmla="*/ 37910 w 75819"/>
                  <a:gd name="connsiteY11" fmla="*/ 122301 h 359378"/>
                  <a:gd name="connsiteX12" fmla="*/ 0 w 75819"/>
                  <a:gd name="connsiteY12" fmla="*/ 141256 h 359378"/>
                  <a:gd name="connsiteX13" fmla="*/ 0 w 75819"/>
                  <a:gd name="connsiteY13" fmla="*/ 155543 h 359378"/>
                  <a:gd name="connsiteX14" fmla="*/ 0 w 75819"/>
                  <a:gd name="connsiteY14" fmla="*/ 114776 h 359378"/>
                  <a:gd name="connsiteX15" fmla="*/ 37910 w 75819"/>
                  <a:gd name="connsiteY15" fmla="*/ 95822 h 359378"/>
                  <a:gd name="connsiteX16" fmla="*/ 75819 w 75819"/>
                  <a:gd name="connsiteY16" fmla="*/ 114776 h 359378"/>
                  <a:gd name="connsiteX17" fmla="*/ 75819 w 75819"/>
                  <a:gd name="connsiteY17" fmla="*/ 100489 h 359378"/>
                  <a:gd name="connsiteX18" fmla="*/ 37910 w 75819"/>
                  <a:gd name="connsiteY18" fmla="*/ 81534 h 359378"/>
                  <a:gd name="connsiteX19" fmla="*/ 0 w 75819"/>
                  <a:gd name="connsiteY19" fmla="*/ 100489 h 359378"/>
                  <a:gd name="connsiteX20" fmla="*/ 0 w 75819"/>
                  <a:gd name="connsiteY20" fmla="*/ 114776 h 359378"/>
                  <a:gd name="connsiteX21" fmla="*/ 0 w 75819"/>
                  <a:gd name="connsiteY21" fmla="*/ 74009 h 359378"/>
                  <a:gd name="connsiteX22" fmla="*/ 37910 w 75819"/>
                  <a:gd name="connsiteY22" fmla="*/ 55055 h 359378"/>
                  <a:gd name="connsiteX23" fmla="*/ 75819 w 75819"/>
                  <a:gd name="connsiteY23" fmla="*/ 74009 h 359378"/>
                  <a:gd name="connsiteX24" fmla="*/ 75819 w 75819"/>
                  <a:gd name="connsiteY24" fmla="*/ 59722 h 359378"/>
                  <a:gd name="connsiteX25" fmla="*/ 37910 w 75819"/>
                  <a:gd name="connsiteY25" fmla="*/ 40767 h 359378"/>
                  <a:gd name="connsiteX26" fmla="*/ 0 w 75819"/>
                  <a:gd name="connsiteY26" fmla="*/ 59722 h 359378"/>
                  <a:gd name="connsiteX27" fmla="*/ 0 w 75819"/>
                  <a:gd name="connsiteY27" fmla="*/ 74009 h 359378"/>
                  <a:gd name="connsiteX28" fmla="*/ 0 w 75819"/>
                  <a:gd name="connsiteY28" fmla="*/ 277844 h 359378"/>
                  <a:gd name="connsiteX29" fmla="*/ 37910 w 75819"/>
                  <a:gd name="connsiteY29" fmla="*/ 258890 h 359378"/>
                  <a:gd name="connsiteX30" fmla="*/ 75819 w 75819"/>
                  <a:gd name="connsiteY30" fmla="*/ 277844 h 359378"/>
                  <a:gd name="connsiteX31" fmla="*/ 75819 w 75819"/>
                  <a:gd name="connsiteY31" fmla="*/ 263557 h 359378"/>
                  <a:gd name="connsiteX32" fmla="*/ 37910 w 75819"/>
                  <a:gd name="connsiteY32" fmla="*/ 244602 h 359378"/>
                  <a:gd name="connsiteX33" fmla="*/ 0 w 75819"/>
                  <a:gd name="connsiteY33" fmla="*/ 263557 h 359378"/>
                  <a:gd name="connsiteX34" fmla="*/ 0 w 75819"/>
                  <a:gd name="connsiteY34" fmla="*/ 277844 h 359378"/>
                  <a:gd name="connsiteX35" fmla="*/ 37910 w 75819"/>
                  <a:gd name="connsiteY35" fmla="*/ 340424 h 359378"/>
                  <a:gd name="connsiteX36" fmla="*/ 75819 w 75819"/>
                  <a:gd name="connsiteY36" fmla="*/ 359378 h 359378"/>
                  <a:gd name="connsiteX37" fmla="*/ 75819 w 75819"/>
                  <a:gd name="connsiteY37" fmla="*/ 345091 h 359378"/>
                  <a:gd name="connsiteX38" fmla="*/ 37910 w 75819"/>
                  <a:gd name="connsiteY38" fmla="*/ 326136 h 359378"/>
                  <a:gd name="connsiteX39" fmla="*/ 0 w 75819"/>
                  <a:gd name="connsiteY39" fmla="*/ 345091 h 359378"/>
                  <a:gd name="connsiteX40" fmla="*/ 0 w 75819"/>
                  <a:gd name="connsiteY40" fmla="*/ 359378 h 359378"/>
                  <a:gd name="connsiteX41" fmla="*/ 37910 w 75819"/>
                  <a:gd name="connsiteY41" fmla="*/ 340424 h 359378"/>
                  <a:gd name="connsiteX42" fmla="*/ 0 w 75819"/>
                  <a:gd name="connsiteY42" fmla="*/ 196310 h 359378"/>
                  <a:gd name="connsiteX43" fmla="*/ 37910 w 75819"/>
                  <a:gd name="connsiteY43" fmla="*/ 177356 h 359378"/>
                  <a:gd name="connsiteX44" fmla="*/ 75819 w 75819"/>
                  <a:gd name="connsiteY44" fmla="*/ 196310 h 359378"/>
                  <a:gd name="connsiteX45" fmla="*/ 75819 w 75819"/>
                  <a:gd name="connsiteY45" fmla="*/ 182023 h 359378"/>
                  <a:gd name="connsiteX46" fmla="*/ 37910 w 75819"/>
                  <a:gd name="connsiteY46" fmla="*/ 163068 h 359378"/>
                  <a:gd name="connsiteX47" fmla="*/ 0 w 75819"/>
                  <a:gd name="connsiteY47" fmla="*/ 182023 h 359378"/>
                  <a:gd name="connsiteX48" fmla="*/ 0 w 75819"/>
                  <a:gd name="connsiteY48" fmla="*/ 196310 h 359378"/>
                  <a:gd name="connsiteX49" fmla="*/ 0 w 75819"/>
                  <a:gd name="connsiteY49" fmla="*/ 318611 h 359378"/>
                  <a:gd name="connsiteX50" fmla="*/ 37910 w 75819"/>
                  <a:gd name="connsiteY50" fmla="*/ 299657 h 359378"/>
                  <a:gd name="connsiteX51" fmla="*/ 75819 w 75819"/>
                  <a:gd name="connsiteY51" fmla="*/ 318611 h 359378"/>
                  <a:gd name="connsiteX52" fmla="*/ 75819 w 75819"/>
                  <a:gd name="connsiteY52" fmla="*/ 304324 h 359378"/>
                  <a:gd name="connsiteX53" fmla="*/ 37910 w 75819"/>
                  <a:gd name="connsiteY53" fmla="*/ 285369 h 359378"/>
                  <a:gd name="connsiteX54" fmla="*/ 0 w 75819"/>
                  <a:gd name="connsiteY54" fmla="*/ 304324 h 359378"/>
                  <a:gd name="connsiteX55" fmla="*/ 0 w 75819"/>
                  <a:gd name="connsiteY55" fmla="*/ 318611 h 359378"/>
                  <a:gd name="connsiteX56" fmla="*/ 0 w 75819"/>
                  <a:gd name="connsiteY56" fmla="*/ 237077 h 359378"/>
                  <a:gd name="connsiteX57" fmla="*/ 37910 w 75819"/>
                  <a:gd name="connsiteY57" fmla="*/ 218123 h 359378"/>
                  <a:gd name="connsiteX58" fmla="*/ 75819 w 75819"/>
                  <a:gd name="connsiteY58" fmla="*/ 237077 h 359378"/>
                  <a:gd name="connsiteX59" fmla="*/ 75819 w 75819"/>
                  <a:gd name="connsiteY59" fmla="*/ 222790 h 359378"/>
                  <a:gd name="connsiteX60" fmla="*/ 37910 w 75819"/>
                  <a:gd name="connsiteY60" fmla="*/ 203835 h 359378"/>
                  <a:gd name="connsiteX61" fmla="*/ 0 w 75819"/>
                  <a:gd name="connsiteY61" fmla="*/ 222790 h 359378"/>
                  <a:gd name="connsiteX62" fmla="*/ 0 w 75819"/>
                  <a:gd name="connsiteY62" fmla="*/ 237077 h 359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75819" h="359378">
                    <a:moveTo>
                      <a:pt x="0" y="33242"/>
                    </a:moveTo>
                    <a:lnTo>
                      <a:pt x="37910" y="14288"/>
                    </a:lnTo>
                    <a:lnTo>
                      <a:pt x="75819" y="33242"/>
                    </a:lnTo>
                    <a:lnTo>
                      <a:pt x="75819" y="18955"/>
                    </a:lnTo>
                    <a:lnTo>
                      <a:pt x="37910" y="0"/>
                    </a:lnTo>
                    <a:lnTo>
                      <a:pt x="0" y="18955"/>
                    </a:lnTo>
                    <a:lnTo>
                      <a:pt x="0" y="33242"/>
                    </a:lnTo>
                    <a:close/>
                    <a:moveTo>
                      <a:pt x="0" y="155543"/>
                    </a:moveTo>
                    <a:lnTo>
                      <a:pt x="37910" y="136589"/>
                    </a:lnTo>
                    <a:lnTo>
                      <a:pt x="75819" y="155543"/>
                    </a:lnTo>
                    <a:lnTo>
                      <a:pt x="75819" y="141256"/>
                    </a:lnTo>
                    <a:lnTo>
                      <a:pt x="37910" y="122301"/>
                    </a:lnTo>
                    <a:lnTo>
                      <a:pt x="0" y="141256"/>
                    </a:lnTo>
                    <a:lnTo>
                      <a:pt x="0" y="155543"/>
                    </a:lnTo>
                    <a:close/>
                    <a:moveTo>
                      <a:pt x="0" y="114776"/>
                    </a:moveTo>
                    <a:lnTo>
                      <a:pt x="37910" y="95822"/>
                    </a:lnTo>
                    <a:lnTo>
                      <a:pt x="75819" y="114776"/>
                    </a:lnTo>
                    <a:lnTo>
                      <a:pt x="75819" y="100489"/>
                    </a:lnTo>
                    <a:lnTo>
                      <a:pt x="37910" y="81534"/>
                    </a:lnTo>
                    <a:lnTo>
                      <a:pt x="0" y="100489"/>
                    </a:lnTo>
                    <a:lnTo>
                      <a:pt x="0" y="114776"/>
                    </a:lnTo>
                    <a:close/>
                    <a:moveTo>
                      <a:pt x="0" y="74009"/>
                    </a:moveTo>
                    <a:lnTo>
                      <a:pt x="37910" y="55055"/>
                    </a:lnTo>
                    <a:lnTo>
                      <a:pt x="75819" y="74009"/>
                    </a:lnTo>
                    <a:lnTo>
                      <a:pt x="75819" y="59722"/>
                    </a:lnTo>
                    <a:lnTo>
                      <a:pt x="37910" y="40767"/>
                    </a:lnTo>
                    <a:lnTo>
                      <a:pt x="0" y="59722"/>
                    </a:lnTo>
                    <a:lnTo>
                      <a:pt x="0" y="74009"/>
                    </a:lnTo>
                    <a:close/>
                    <a:moveTo>
                      <a:pt x="0" y="277844"/>
                    </a:moveTo>
                    <a:lnTo>
                      <a:pt x="37910" y="258890"/>
                    </a:lnTo>
                    <a:lnTo>
                      <a:pt x="75819" y="277844"/>
                    </a:lnTo>
                    <a:lnTo>
                      <a:pt x="75819" y="263557"/>
                    </a:lnTo>
                    <a:lnTo>
                      <a:pt x="37910" y="244602"/>
                    </a:lnTo>
                    <a:lnTo>
                      <a:pt x="0" y="263557"/>
                    </a:lnTo>
                    <a:lnTo>
                      <a:pt x="0" y="277844"/>
                    </a:lnTo>
                    <a:close/>
                    <a:moveTo>
                      <a:pt x="37910" y="340424"/>
                    </a:moveTo>
                    <a:lnTo>
                      <a:pt x="75819" y="359378"/>
                    </a:lnTo>
                    <a:lnTo>
                      <a:pt x="75819" y="345091"/>
                    </a:lnTo>
                    <a:lnTo>
                      <a:pt x="37910" y="326136"/>
                    </a:lnTo>
                    <a:lnTo>
                      <a:pt x="0" y="345091"/>
                    </a:lnTo>
                    <a:lnTo>
                      <a:pt x="0" y="359378"/>
                    </a:lnTo>
                    <a:lnTo>
                      <a:pt x="37910" y="340424"/>
                    </a:lnTo>
                    <a:close/>
                    <a:moveTo>
                      <a:pt x="0" y="196310"/>
                    </a:moveTo>
                    <a:lnTo>
                      <a:pt x="37910" y="177356"/>
                    </a:lnTo>
                    <a:lnTo>
                      <a:pt x="75819" y="196310"/>
                    </a:lnTo>
                    <a:lnTo>
                      <a:pt x="75819" y="182023"/>
                    </a:lnTo>
                    <a:lnTo>
                      <a:pt x="37910" y="163068"/>
                    </a:lnTo>
                    <a:lnTo>
                      <a:pt x="0" y="182023"/>
                    </a:lnTo>
                    <a:lnTo>
                      <a:pt x="0" y="196310"/>
                    </a:lnTo>
                    <a:close/>
                    <a:moveTo>
                      <a:pt x="0" y="318611"/>
                    </a:moveTo>
                    <a:lnTo>
                      <a:pt x="37910" y="299657"/>
                    </a:lnTo>
                    <a:lnTo>
                      <a:pt x="75819" y="318611"/>
                    </a:lnTo>
                    <a:lnTo>
                      <a:pt x="75819" y="304324"/>
                    </a:lnTo>
                    <a:lnTo>
                      <a:pt x="37910" y="285369"/>
                    </a:lnTo>
                    <a:lnTo>
                      <a:pt x="0" y="304324"/>
                    </a:lnTo>
                    <a:lnTo>
                      <a:pt x="0" y="318611"/>
                    </a:lnTo>
                    <a:close/>
                    <a:moveTo>
                      <a:pt x="0" y="237077"/>
                    </a:moveTo>
                    <a:lnTo>
                      <a:pt x="37910" y="218123"/>
                    </a:lnTo>
                    <a:lnTo>
                      <a:pt x="75819" y="237077"/>
                    </a:lnTo>
                    <a:lnTo>
                      <a:pt x="75819" y="222790"/>
                    </a:lnTo>
                    <a:lnTo>
                      <a:pt x="37910" y="203835"/>
                    </a:lnTo>
                    <a:lnTo>
                      <a:pt x="0" y="222790"/>
                    </a:lnTo>
                    <a:lnTo>
                      <a:pt x="0" y="237077"/>
                    </a:lnTo>
                    <a:close/>
                  </a:path>
                </a:pathLst>
              </a:custGeom>
              <a:gradFill flip="none" rotWithShape="1">
                <a:gsLst>
                  <a:gs pos="0">
                    <a:schemeClr val="accent1"/>
                  </a:gs>
                  <a:gs pos="100000">
                    <a:schemeClr val="accent1">
                      <a:alpha val="0"/>
                    </a:schemeClr>
                  </a:gs>
                </a:gsLst>
                <a:lin ang="5400000" scaled="1"/>
                <a:tileRect/>
              </a:gradFill>
              <a:ln w="9525" cap="flat">
                <a:noFill/>
                <a:prstDash val="solid"/>
                <a:miter/>
              </a:ln>
            </p:spPr>
            <p:txBody>
              <a:bodyPr rtlCol="0" anchor="ctr" anchorCtr="0"/>
              <a:lstStyle/>
              <a:p>
                <a:pPr algn="l"/>
                <a:endParaRPr/>
              </a:p>
            </p:txBody>
          </p:sp>
        </p:grpSp>
        <p:grpSp>
          <p:nvGrpSpPr>
            <p:cNvPr id="3" name="组合 2" descr="7f349d63-4373-4687-a747-b1556e9daf0e">
              <a:extLst>
                <a:ext uri="{FF2B5EF4-FFF2-40B4-BE49-F238E27FC236}">
                  <a16:creationId xmlns:a16="http://schemas.microsoft.com/office/drawing/2014/main" id="{9FACA3BD-5ED0-BA2E-004D-4E1645A0B78F}"/>
                </a:ext>
              </a:extLst>
            </p:cNvPr>
            <p:cNvGrpSpPr/>
            <p:nvPr/>
          </p:nvGrpSpPr>
          <p:grpSpPr>
            <a:xfrm>
              <a:off x="945895" y="2112850"/>
              <a:ext cx="5035775" cy="1440368"/>
              <a:chOff x="945895" y="2112850"/>
              <a:chExt cx="5035775" cy="1440368"/>
            </a:xfrm>
          </p:grpSpPr>
          <p:sp>
            <p:nvSpPr>
              <p:cNvPr id="10" name="Text1" descr="6a02aa2c-3dfd-4db1-8809-ad4358b7923c">
                <a:extLst>
                  <a:ext uri="{FF2B5EF4-FFF2-40B4-BE49-F238E27FC236}">
                    <a16:creationId xmlns:a16="http://schemas.microsoft.com/office/drawing/2014/main" id="{0C0892CB-7C02-4587-372D-A66F297A3550}"/>
                  </a:ext>
                </a:extLst>
              </p:cNvPr>
              <p:cNvSpPr txBox="1">
                <a:spLocks/>
              </p:cNvSpPr>
              <p:nvPr/>
            </p:nvSpPr>
            <p:spPr>
              <a:xfrm>
                <a:off x="1013425" y="2803282"/>
                <a:ext cx="4968245" cy="749936"/>
              </a:xfrm>
              <a:prstGeom prst="rect">
                <a:avLst/>
              </a:prstGeom>
              <a:noFill/>
            </p:spPr>
            <p:txBody>
              <a:bodyPr wrap="square" rtlCol="0" anchor="t" anchorCtr="0">
                <a:no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800" b="0" i="0" u="none" dirty="0" err="1">
                    <a:solidFill>
                      <a:srgbClr val="000000"/>
                    </a:solidFill>
                    <a:ea typeface="微软雅黑"/>
                  </a:rPr>
                  <a:t>数据并行将大规模数据集切分并行处理</a:t>
                </a:r>
                <a:r>
                  <a:rPr lang="en-US" sz="18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800" b="0" i="0" u="none" dirty="0" err="1">
                    <a:solidFill>
                      <a:srgbClr val="000000"/>
                    </a:solidFill>
                    <a:ea typeface="微软雅黑"/>
                  </a:rPr>
                  <a:t>模型并行拆分大型AI模型至多设备计算</a:t>
                </a:r>
                <a:r>
                  <a:rPr lang="en-US" sz="18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800" b="0" i="0" u="none" dirty="0" err="1">
                    <a:solidFill>
                      <a:srgbClr val="000000"/>
                    </a:solidFill>
                    <a:ea typeface="微软雅黑"/>
                  </a:rPr>
                  <a:t>流水线并行按层划分模型形成流水线</a:t>
                </a:r>
                <a:r>
                  <a:rPr lang="en-US" sz="1800" b="0" i="0" u="none" dirty="0">
                    <a:solidFill>
                      <a:srgbClr val="000000"/>
                    </a:solidFill>
                    <a:ea typeface="微软雅黑"/>
                  </a:rPr>
                  <a:t>。</a:t>
                </a:r>
              </a:p>
            </p:txBody>
          </p:sp>
          <p:sp>
            <p:nvSpPr>
              <p:cNvPr id="11" name="Bullet1" descr="85f6f730-7b5d-4c2f-b5a5-b3a9733d1d3f">
                <a:extLst>
                  <a:ext uri="{FF2B5EF4-FFF2-40B4-BE49-F238E27FC236}">
                    <a16:creationId xmlns:a16="http://schemas.microsoft.com/office/drawing/2014/main" id="{B9BFBF60-83B9-BEF8-C6E3-057BF67FE2C0}"/>
                  </a:ext>
                </a:extLst>
              </p:cNvPr>
              <p:cNvSpPr txBox="1"/>
              <p:nvPr/>
            </p:nvSpPr>
            <p:spPr>
              <a:xfrm>
                <a:off x="945895" y="2112850"/>
                <a:ext cx="4276981" cy="520307"/>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US" sz="1800" b="1" i="0" u="none" dirty="0" err="1">
                    <a:solidFill>
                      <a:srgbClr val="000000"/>
                    </a:solidFill>
                    <a:ea typeface="微软雅黑"/>
                  </a:rPr>
                  <a:t>并行计算架构</a:t>
                </a:r>
                <a:endParaRPr lang="en-US" sz="1800" b="1" i="0" u="none" dirty="0">
                  <a:solidFill>
                    <a:srgbClr val="000000"/>
                  </a:solidFill>
                  <a:ea typeface="微软雅黑"/>
                </a:endParaRPr>
              </a:p>
            </p:txBody>
          </p:sp>
        </p:grpSp>
        <p:grpSp>
          <p:nvGrpSpPr>
            <p:cNvPr id="4" name="组合 3" descr="b7b804a2-ec61-4e79-b9cd-06fa4f873797">
              <a:extLst>
                <a:ext uri="{FF2B5EF4-FFF2-40B4-BE49-F238E27FC236}">
                  <a16:creationId xmlns:a16="http://schemas.microsoft.com/office/drawing/2014/main" id="{4E88C296-80CD-2E72-E5BA-8344F1B6B94F}"/>
                </a:ext>
              </a:extLst>
            </p:cNvPr>
            <p:cNvGrpSpPr/>
            <p:nvPr/>
          </p:nvGrpSpPr>
          <p:grpSpPr>
            <a:xfrm>
              <a:off x="6076695" y="2112850"/>
              <a:ext cx="5035775" cy="1371253"/>
              <a:chOff x="6076695" y="2112850"/>
              <a:chExt cx="5035775" cy="1371253"/>
            </a:xfrm>
          </p:grpSpPr>
          <p:sp>
            <p:nvSpPr>
              <p:cNvPr id="96" name="Text2" descr="57a8ce73-ef37-45bf-bc75-67ea84fe1fd6">
                <a:extLst>
                  <a:ext uri="{FF2B5EF4-FFF2-40B4-BE49-F238E27FC236}">
                    <a16:creationId xmlns:a16="http://schemas.microsoft.com/office/drawing/2014/main" id="{BBBFF3A1-8689-891A-C0A6-961D9E2359E3}"/>
                  </a:ext>
                </a:extLst>
              </p:cNvPr>
              <p:cNvSpPr txBox="1">
                <a:spLocks/>
              </p:cNvSpPr>
              <p:nvPr/>
            </p:nvSpPr>
            <p:spPr>
              <a:xfrm>
                <a:off x="6144225" y="2734167"/>
                <a:ext cx="4968245" cy="749936"/>
              </a:xfrm>
              <a:prstGeom prst="rect">
                <a:avLst/>
              </a:prstGeom>
              <a:noFill/>
            </p:spPr>
            <p:txBody>
              <a:bodyPr wrap="square" rtlCol="0" anchor="t" anchorCtr="0">
                <a:no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800" b="0" i="0" u="none" dirty="0" err="1">
                    <a:solidFill>
                      <a:srgbClr val="000000"/>
                    </a:solidFill>
                    <a:ea typeface="微软雅黑"/>
                  </a:rPr>
                  <a:t>基于分布式框架实现跨节点任务调度与数据分片；用一致性哈希、负载均衡算法优化资源分配</a:t>
                </a:r>
                <a:r>
                  <a:rPr lang="en-US" sz="18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800" b="0" i="0" u="none" dirty="0" err="1">
                    <a:solidFill>
                      <a:srgbClr val="000000"/>
                    </a:solidFill>
                    <a:ea typeface="微软雅黑"/>
                  </a:rPr>
                  <a:t>支持容错机制保障长时间训练任务稳定性</a:t>
                </a:r>
                <a:r>
                  <a:rPr lang="en-US" sz="1800" b="0" i="0" u="none" dirty="0">
                    <a:solidFill>
                      <a:srgbClr val="000000"/>
                    </a:solidFill>
                    <a:ea typeface="微软雅黑"/>
                  </a:rPr>
                  <a:t>。</a:t>
                </a:r>
              </a:p>
            </p:txBody>
          </p:sp>
          <p:sp>
            <p:nvSpPr>
              <p:cNvPr id="97" name="Bullet2" descr="75b79357-77e7-4292-8448-cdb429369050">
                <a:extLst>
                  <a:ext uri="{FF2B5EF4-FFF2-40B4-BE49-F238E27FC236}">
                    <a16:creationId xmlns:a16="http://schemas.microsoft.com/office/drawing/2014/main" id="{2F8BF95A-B11E-5CAD-CB91-CDE4B094BA17}"/>
                  </a:ext>
                </a:extLst>
              </p:cNvPr>
              <p:cNvSpPr txBox="1"/>
              <p:nvPr/>
            </p:nvSpPr>
            <p:spPr>
              <a:xfrm>
                <a:off x="6076695" y="2112850"/>
                <a:ext cx="4276981" cy="520307"/>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US" sz="1800" b="1" i="0" u="none" dirty="0" err="1">
                    <a:solidFill>
                      <a:srgbClr val="000000"/>
                    </a:solidFill>
                    <a:ea typeface="微软雅黑"/>
                  </a:rPr>
                  <a:t>分布式计算与协同调度</a:t>
                </a:r>
                <a:endParaRPr lang="en-US" sz="1800" b="1" i="0" u="none" dirty="0">
                  <a:solidFill>
                    <a:srgbClr val="000000"/>
                  </a:solidFill>
                  <a:ea typeface="微软雅黑"/>
                </a:endParaRPr>
              </a:p>
            </p:txBody>
          </p:sp>
        </p:grpSp>
        <p:grpSp>
          <p:nvGrpSpPr>
            <p:cNvPr id="5" name="组合 4" descr="2b7c6a37-c410-4a2b-abab-21eb1ab0ecbc">
              <a:extLst>
                <a:ext uri="{FF2B5EF4-FFF2-40B4-BE49-F238E27FC236}">
                  <a16:creationId xmlns:a16="http://schemas.microsoft.com/office/drawing/2014/main" id="{A9DFDFBC-96D5-1F31-B512-B479F405DB49}"/>
                </a:ext>
              </a:extLst>
            </p:cNvPr>
            <p:cNvGrpSpPr/>
            <p:nvPr/>
          </p:nvGrpSpPr>
          <p:grpSpPr>
            <a:xfrm>
              <a:off x="1937639" y="4206281"/>
              <a:ext cx="4599210" cy="1392520"/>
              <a:chOff x="1937639" y="4206281"/>
              <a:chExt cx="4599210" cy="1392520"/>
            </a:xfrm>
          </p:grpSpPr>
          <p:sp>
            <p:nvSpPr>
              <p:cNvPr id="118" name="Text3" descr="ac33f919-6ae0-469b-85a2-3d991df57f02">
                <a:extLst>
                  <a:ext uri="{FF2B5EF4-FFF2-40B4-BE49-F238E27FC236}">
                    <a16:creationId xmlns:a16="http://schemas.microsoft.com/office/drawing/2014/main" id="{9076BF87-2CCF-48D6-C8CB-B7E892E1265A}"/>
                  </a:ext>
                </a:extLst>
              </p:cNvPr>
              <p:cNvSpPr txBox="1">
                <a:spLocks/>
              </p:cNvSpPr>
              <p:nvPr/>
            </p:nvSpPr>
            <p:spPr>
              <a:xfrm>
                <a:off x="2047699" y="4848865"/>
                <a:ext cx="4489150" cy="749936"/>
              </a:xfrm>
              <a:prstGeom prst="rect">
                <a:avLst/>
              </a:prstGeom>
              <a:noFill/>
            </p:spPr>
            <p:txBody>
              <a:bodyPr wrap="square" rtlCol="0" anchor="t" anchorCtr="0">
                <a:no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800" b="0" i="0" u="none" dirty="0" err="1">
                    <a:solidFill>
                      <a:srgbClr val="000000"/>
                    </a:solidFill>
                    <a:ea typeface="微软雅黑"/>
                  </a:rPr>
                  <a:t>利用GPU等专用硬件加速矩阵运算</a:t>
                </a:r>
                <a:r>
                  <a:rPr lang="en-US" sz="18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800" b="0" i="0" u="none" dirty="0" err="1">
                    <a:solidFill>
                      <a:srgbClr val="000000"/>
                    </a:solidFill>
                    <a:ea typeface="微软雅黑"/>
                  </a:rPr>
                  <a:t>通过CUDA等编程模型控制加速器</a:t>
                </a:r>
                <a:r>
                  <a:rPr lang="en-US" sz="18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800" b="0" i="0" u="none" dirty="0" err="1">
                    <a:solidFill>
                      <a:srgbClr val="000000"/>
                    </a:solidFill>
                    <a:ea typeface="微软雅黑"/>
                  </a:rPr>
                  <a:t>结合高速互连技术降低节点间通信延迟</a:t>
                </a:r>
                <a:r>
                  <a:rPr lang="en-US" sz="1800" b="0" i="0" u="none" dirty="0">
                    <a:solidFill>
                      <a:srgbClr val="000000"/>
                    </a:solidFill>
                    <a:ea typeface="微软雅黑"/>
                  </a:rPr>
                  <a:t>。</a:t>
                </a:r>
              </a:p>
            </p:txBody>
          </p:sp>
          <p:sp>
            <p:nvSpPr>
              <p:cNvPr id="119" name="Bullet3" descr="d829143d-431c-447a-bebf-752cf3329f6e">
                <a:extLst>
                  <a:ext uri="{FF2B5EF4-FFF2-40B4-BE49-F238E27FC236}">
                    <a16:creationId xmlns:a16="http://schemas.microsoft.com/office/drawing/2014/main" id="{9CFD2602-2A0A-40EF-D3CD-C661CF94634F}"/>
                  </a:ext>
                </a:extLst>
              </p:cNvPr>
              <p:cNvSpPr txBox="1"/>
              <p:nvPr/>
            </p:nvSpPr>
            <p:spPr>
              <a:xfrm>
                <a:off x="1937639" y="4206281"/>
                <a:ext cx="4276981" cy="520307"/>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US" sz="1800" b="1" i="0" u="none" dirty="0" err="1">
                    <a:solidFill>
                      <a:srgbClr val="000000"/>
                    </a:solidFill>
                    <a:ea typeface="微软雅黑"/>
                  </a:rPr>
                  <a:t>硬件加速与异构计算</a:t>
                </a:r>
                <a:endParaRPr lang="en-US" sz="1800" b="1" i="0" u="none" dirty="0">
                  <a:solidFill>
                    <a:srgbClr val="000000"/>
                  </a:solidFill>
                  <a:ea typeface="微软雅黑"/>
                </a:endParaRPr>
              </a:p>
            </p:txBody>
          </p:sp>
        </p:grpSp>
        <p:grpSp>
          <p:nvGrpSpPr>
            <p:cNvPr id="6" name="组合 5" descr="2e479b62-995d-42bd-9c69-ae067114f933">
              <a:extLst>
                <a:ext uri="{FF2B5EF4-FFF2-40B4-BE49-F238E27FC236}">
                  <a16:creationId xmlns:a16="http://schemas.microsoft.com/office/drawing/2014/main" id="{6485D773-033D-B3B3-6179-B64D32897536}"/>
                </a:ext>
              </a:extLst>
            </p:cNvPr>
            <p:cNvGrpSpPr/>
            <p:nvPr/>
          </p:nvGrpSpPr>
          <p:grpSpPr>
            <a:xfrm>
              <a:off x="7006045" y="4249225"/>
              <a:ext cx="4489150" cy="2027948"/>
              <a:chOff x="7006045" y="4249225"/>
              <a:chExt cx="4489150" cy="2027948"/>
            </a:xfrm>
          </p:grpSpPr>
          <p:sp>
            <p:nvSpPr>
              <p:cNvPr id="140" name="Text4" descr="a3a02a39-c0e0-4776-accf-8d0b4a513347">
                <a:extLst>
                  <a:ext uri="{FF2B5EF4-FFF2-40B4-BE49-F238E27FC236}">
                    <a16:creationId xmlns:a16="http://schemas.microsoft.com/office/drawing/2014/main" id="{8445B2B2-E9CF-3384-92D9-ED1BE8F992FF}"/>
                  </a:ext>
                </a:extLst>
              </p:cNvPr>
              <p:cNvSpPr txBox="1">
                <a:spLocks/>
              </p:cNvSpPr>
              <p:nvPr/>
            </p:nvSpPr>
            <p:spPr>
              <a:xfrm>
                <a:off x="7006045" y="4972734"/>
                <a:ext cx="4489150" cy="1304439"/>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800" b="0" i="0" u="none" dirty="0" err="1">
                    <a:solidFill>
                      <a:srgbClr val="000000"/>
                    </a:solidFill>
                    <a:ea typeface="微软雅黑"/>
                  </a:rPr>
                  <a:t>采用“近数据计算</a:t>
                </a:r>
                <a:r>
                  <a:rPr lang="en-US" sz="1800" b="0" i="0" u="none" dirty="0">
                    <a:solidFill>
                      <a:srgbClr val="000000"/>
                    </a:solidFill>
                    <a:ea typeface="微软雅黑"/>
                  </a:rPr>
                  <a:t>”</a:t>
                </a:r>
                <a:r>
                  <a:rPr lang="zh-CN" altLang="zh-CN" sz="1800" dirty="0">
                    <a:effectLst/>
                    <a:ea typeface="宋体" panose="02010600030101010101" pitchFamily="2" charset="-122"/>
                    <a:cs typeface="宋体" panose="02010600030101010101" pitchFamily="2" charset="-122"/>
                  </a:rPr>
                  <a:t> </a:t>
                </a:r>
                <a:r>
                  <a:rPr lang="zh-CN" altLang="zh-CN" sz="1800" dirty="0">
                    <a:solidFill>
                      <a:srgbClr val="000000"/>
                    </a:solidFill>
                    <a:ea typeface="微软雅黑"/>
                  </a:rPr>
                  <a:t>（</a:t>
                </a:r>
                <a:r>
                  <a:rPr lang="en-US" altLang="zh-CN" sz="1800" dirty="0">
                    <a:solidFill>
                      <a:srgbClr val="000000"/>
                    </a:solidFill>
                    <a:ea typeface="微软雅黑"/>
                  </a:rPr>
                  <a:t>Near-Data Processing</a:t>
                </a:r>
                <a:r>
                  <a:rPr lang="zh-CN" altLang="zh-CN" sz="1800" dirty="0">
                    <a:solidFill>
                      <a:srgbClr val="000000"/>
                    </a:solidFill>
                    <a:ea typeface="微软雅黑"/>
                  </a:rPr>
                  <a:t>）</a:t>
                </a:r>
                <a:r>
                  <a:rPr lang="en-US" sz="1800" dirty="0" err="1">
                    <a:solidFill>
                      <a:srgbClr val="000000"/>
                    </a:solidFill>
                    <a:ea typeface="微软雅黑"/>
                  </a:rPr>
                  <a:t>架构减少数据移动开销</a:t>
                </a:r>
                <a:r>
                  <a:rPr lang="en-US" sz="18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800" b="0" i="0" u="none" dirty="0" err="1">
                    <a:solidFill>
                      <a:srgbClr val="000000"/>
                    </a:solidFill>
                    <a:ea typeface="微软雅黑"/>
                  </a:rPr>
                  <a:t>在存储层集成计算能力实现计算下推</a:t>
                </a:r>
                <a:r>
                  <a:rPr lang="en-US" sz="1800" b="0" i="0" u="none" dirty="0">
                    <a:solidFill>
                      <a:srgbClr val="000000"/>
                    </a:solidFill>
                    <a:ea typeface="微软雅黑"/>
                  </a:rPr>
                  <a:t>。</a:t>
                </a:r>
              </a:p>
            </p:txBody>
          </p:sp>
          <p:sp>
            <p:nvSpPr>
              <p:cNvPr id="141" name="Bullet4" descr="433e425f-aee3-4b88-9952-238646a20d86">
                <a:extLst>
                  <a:ext uri="{FF2B5EF4-FFF2-40B4-BE49-F238E27FC236}">
                    <a16:creationId xmlns:a16="http://schemas.microsoft.com/office/drawing/2014/main" id="{B14BD3EF-55C4-E044-B693-64565188ECBF}"/>
                  </a:ext>
                </a:extLst>
              </p:cNvPr>
              <p:cNvSpPr txBox="1"/>
              <p:nvPr/>
            </p:nvSpPr>
            <p:spPr>
              <a:xfrm>
                <a:off x="7063518" y="4249225"/>
                <a:ext cx="4276981" cy="520307"/>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US" sz="1800" b="1" i="0" u="none" dirty="0" err="1">
                    <a:solidFill>
                      <a:srgbClr val="000000"/>
                    </a:solidFill>
                    <a:ea typeface="微软雅黑"/>
                  </a:rPr>
                  <a:t>计算与存储协同优化</a:t>
                </a:r>
                <a:endParaRPr lang="en-US" sz="1800" b="1" i="0" u="none" dirty="0">
                  <a:solidFill>
                    <a:srgbClr val="000000"/>
                  </a:solidFill>
                  <a:ea typeface="微软雅黑"/>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a:xfrm>
            <a:off x="397933" y="228600"/>
            <a:ext cx="11387667" cy="791920"/>
          </a:xfrm>
        </p:spPr>
        <p:txBody>
          <a:bodyPr anchorCtr="0"/>
          <a:lstStyle/>
          <a:p>
            <a:pPr>
              <a:lnSpc>
                <a:spcPct val="100000"/>
              </a:lnSpc>
              <a:spcBef>
                <a:spcPct val="0"/>
              </a:spcBef>
            </a:pPr>
            <a:r>
              <a:rPr lang="en-US" altLang="zh-CN" sz="2800" b="1" dirty="0"/>
              <a:t>AI</a:t>
            </a:r>
            <a:r>
              <a:rPr lang="zh-CN" altLang="en-US" sz="2800" b="1" dirty="0"/>
              <a:t>数据库</a:t>
            </a:r>
            <a:r>
              <a:rPr lang="en-US" sz="2800" b="1" dirty="0" err="1"/>
              <a:t>内存优化技术原理</a:t>
            </a:r>
            <a:endParaRPr lang="en-US" sz="2800" b="1" dirty="0"/>
          </a:p>
        </p:txBody>
      </p:sp>
      <p:grpSp>
        <p:nvGrpSpPr>
          <p:cNvPr id="8" name="c5b11aee-5fff-4364-a600-2d2e3e6794e5.source.5.zh-Hans.pptx" descr="0cef20f4-85d9-444d-b21e-21daa257f350">
            <a:extLst>
              <a:ext uri="{FF2B5EF4-FFF2-40B4-BE49-F238E27FC236}">
                <a16:creationId xmlns:a16="http://schemas.microsoft.com/office/drawing/2014/main" id="{963A8D04-F5D4-9427-EB70-A85C485B5733}"/>
              </a:ext>
            </a:extLst>
          </p:cNvPr>
          <p:cNvGrpSpPr/>
          <p:nvPr/>
        </p:nvGrpSpPr>
        <p:grpSpPr>
          <a:xfrm>
            <a:off x="660399" y="1084163"/>
            <a:ext cx="11338443" cy="5073958"/>
            <a:chOff x="660399" y="1084163"/>
            <a:chExt cx="11338443" cy="5073958"/>
          </a:xfrm>
        </p:grpSpPr>
        <p:sp>
          <p:nvSpPr>
            <p:cNvPr id="14" name="íşľîḍè" descr="7a8e5f8b-168f-45e7-b222-1c420a3775df">
              <a:extLst>
                <a:ext uri="{FF2B5EF4-FFF2-40B4-BE49-F238E27FC236}">
                  <a16:creationId xmlns:a16="http://schemas.microsoft.com/office/drawing/2014/main" id="{8F7C6163-DAB2-0EA4-FD60-F31A15471517}"/>
                </a:ext>
              </a:extLst>
            </p:cNvPr>
            <p:cNvSpPr/>
            <p:nvPr/>
          </p:nvSpPr>
          <p:spPr>
            <a:xfrm>
              <a:off x="1004596" y="2829436"/>
              <a:ext cx="10182808" cy="1550336"/>
            </a:xfrm>
            <a:prstGeom prst="roundRect">
              <a:avLst>
                <a:gd name="adj" fmla="val 50000"/>
              </a:avLst>
            </a:prstGeom>
            <a:no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lnSpc>
                  <a:spcPct val="120000"/>
                </a:lnSpc>
              </a:pPr>
              <a:endParaRPr/>
            </a:p>
          </p:txBody>
        </p:sp>
        <p:sp>
          <p:nvSpPr>
            <p:cNvPr id="15" name="任意多边形: 形状 14" descr="d6e478fb-ef89-4c32-9cfd-281cafd436d8">
              <a:extLst>
                <a:ext uri="{FF2B5EF4-FFF2-40B4-BE49-F238E27FC236}">
                  <a16:creationId xmlns:a16="http://schemas.microsoft.com/office/drawing/2014/main" id="{8CCB8D67-BC22-33C5-C7E1-C6585A2FE288}"/>
                </a:ext>
              </a:extLst>
            </p:cNvPr>
            <p:cNvSpPr/>
            <p:nvPr/>
          </p:nvSpPr>
          <p:spPr>
            <a:xfrm>
              <a:off x="4151248" y="2777730"/>
              <a:ext cx="94491" cy="108730"/>
            </a:xfrm>
            <a:custGeom>
              <a:avLst/>
              <a:gdLst>
                <a:gd name="connsiteX0" fmla="*/ 0 w 185158"/>
                <a:gd name="connsiteY0" fmla="*/ 213059 h 213059"/>
                <a:gd name="connsiteX1" fmla="*/ 185159 w 185158"/>
                <a:gd name="connsiteY1" fmla="*/ 106530 h 213059"/>
                <a:gd name="connsiteX2" fmla="*/ 0 w 185158"/>
                <a:gd name="connsiteY2" fmla="*/ 0 h 213059"/>
                <a:gd name="connsiteX3" fmla="*/ 0 w 185158"/>
                <a:gd name="connsiteY3" fmla="*/ 213059 h 213059"/>
                <a:gd name="connsiteX4" fmla="*/ 0 w 185158"/>
                <a:gd name="connsiteY4" fmla="*/ 213059 h 2130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58" h="213059">
                  <a:moveTo>
                    <a:pt x="0" y="213059"/>
                  </a:moveTo>
                  <a:lnTo>
                    <a:pt x="185159" y="106530"/>
                  </a:lnTo>
                  <a:lnTo>
                    <a:pt x="0" y="0"/>
                  </a:lnTo>
                  <a:lnTo>
                    <a:pt x="0" y="213059"/>
                  </a:lnTo>
                  <a:lnTo>
                    <a:pt x="0" y="213059"/>
                  </a:lnTo>
                  <a:close/>
                </a:path>
              </a:pathLst>
            </a:custGeom>
            <a:solidFill>
              <a:schemeClr val="tx1">
                <a:alpha val="50000"/>
              </a:schemeClr>
            </a:solidFill>
            <a:ln w="9525" cap="flat">
              <a:noFill/>
              <a:prstDash val="solid"/>
              <a:miter/>
            </a:ln>
          </p:spPr>
          <p:txBody>
            <a:bodyPr rtlCol="0" anchor="ctr" anchorCtr="0"/>
            <a:lstStyle/>
            <a:p>
              <a:pPr algn="l">
                <a:lnSpc>
                  <a:spcPct val="120000"/>
                </a:lnSpc>
              </a:pPr>
              <a:endParaRPr/>
            </a:p>
          </p:txBody>
        </p:sp>
        <p:sp>
          <p:nvSpPr>
            <p:cNvPr id="16" name="任意多边形: 形状 15" descr="1e95c4e9-94f3-4d6c-b937-1186d63c4636">
              <a:extLst>
                <a:ext uri="{FF2B5EF4-FFF2-40B4-BE49-F238E27FC236}">
                  <a16:creationId xmlns:a16="http://schemas.microsoft.com/office/drawing/2014/main" id="{B52A4808-A1D8-A46B-F406-181F3A2DD3EF}"/>
                </a:ext>
              </a:extLst>
            </p:cNvPr>
            <p:cNvSpPr/>
            <p:nvPr/>
          </p:nvSpPr>
          <p:spPr>
            <a:xfrm>
              <a:off x="7939912" y="2777730"/>
              <a:ext cx="94491" cy="108730"/>
            </a:xfrm>
            <a:custGeom>
              <a:avLst/>
              <a:gdLst>
                <a:gd name="connsiteX0" fmla="*/ 0 w 185158"/>
                <a:gd name="connsiteY0" fmla="*/ 213059 h 213059"/>
                <a:gd name="connsiteX1" fmla="*/ 185159 w 185158"/>
                <a:gd name="connsiteY1" fmla="*/ 106530 h 213059"/>
                <a:gd name="connsiteX2" fmla="*/ 0 w 185158"/>
                <a:gd name="connsiteY2" fmla="*/ 0 h 213059"/>
                <a:gd name="connsiteX3" fmla="*/ 0 w 185158"/>
                <a:gd name="connsiteY3" fmla="*/ 213059 h 213059"/>
                <a:gd name="connsiteX4" fmla="*/ 0 w 185158"/>
                <a:gd name="connsiteY4" fmla="*/ 213059 h 2130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58" h="213059">
                  <a:moveTo>
                    <a:pt x="0" y="213059"/>
                  </a:moveTo>
                  <a:lnTo>
                    <a:pt x="185159" y="106530"/>
                  </a:lnTo>
                  <a:lnTo>
                    <a:pt x="0" y="0"/>
                  </a:lnTo>
                  <a:lnTo>
                    <a:pt x="0" y="213059"/>
                  </a:lnTo>
                  <a:lnTo>
                    <a:pt x="0" y="213059"/>
                  </a:lnTo>
                  <a:close/>
                </a:path>
              </a:pathLst>
            </a:custGeom>
            <a:solidFill>
              <a:schemeClr val="tx1">
                <a:alpha val="50000"/>
              </a:schemeClr>
            </a:solidFill>
            <a:ln w="9525" cap="flat">
              <a:noFill/>
              <a:prstDash val="solid"/>
              <a:miter/>
            </a:ln>
          </p:spPr>
          <p:txBody>
            <a:bodyPr rtlCol="0" anchor="ctr" anchorCtr="0"/>
            <a:lstStyle/>
            <a:p>
              <a:pPr algn="l">
                <a:lnSpc>
                  <a:spcPct val="120000"/>
                </a:lnSpc>
              </a:pPr>
              <a:endParaRPr/>
            </a:p>
          </p:txBody>
        </p:sp>
        <p:sp>
          <p:nvSpPr>
            <p:cNvPr id="17" name="任意多边形: 形状 16" descr="ca07da32-78f2-46a0-8570-5b2c0b9213cc">
              <a:extLst>
                <a:ext uri="{FF2B5EF4-FFF2-40B4-BE49-F238E27FC236}">
                  <a16:creationId xmlns:a16="http://schemas.microsoft.com/office/drawing/2014/main" id="{13D0824C-0631-3E7D-7DBE-D4297D8F4C3D}"/>
                </a:ext>
              </a:extLst>
            </p:cNvPr>
            <p:cNvSpPr/>
            <p:nvPr/>
          </p:nvSpPr>
          <p:spPr>
            <a:xfrm flipH="1">
              <a:off x="6042404" y="4328361"/>
              <a:ext cx="94491" cy="108730"/>
            </a:xfrm>
            <a:custGeom>
              <a:avLst/>
              <a:gdLst>
                <a:gd name="connsiteX0" fmla="*/ 0 w 185158"/>
                <a:gd name="connsiteY0" fmla="*/ 213059 h 213059"/>
                <a:gd name="connsiteX1" fmla="*/ 185159 w 185158"/>
                <a:gd name="connsiteY1" fmla="*/ 106530 h 213059"/>
                <a:gd name="connsiteX2" fmla="*/ 0 w 185158"/>
                <a:gd name="connsiteY2" fmla="*/ 0 h 213059"/>
                <a:gd name="connsiteX3" fmla="*/ 0 w 185158"/>
                <a:gd name="connsiteY3" fmla="*/ 213059 h 213059"/>
                <a:gd name="connsiteX4" fmla="*/ 0 w 185158"/>
                <a:gd name="connsiteY4" fmla="*/ 213059 h 2130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58" h="213059">
                  <a:moveTo>
                    <a:pt x="0" y="213059"/>
                  </a:moveTo>
                  <a:lnTo>
                    <a:pt x="185159" y="106530"/>
                  </a:lnTo>
                  <a:lnTo>
                    <a:pt x="0" y="0"/>
                  </a:lnTo>
                  <a:lnTo>
                    <a:pt x="0" y="213059"/>
                  </a:lnTo>
                  <a:lnTo>
                    <a:pt x="0" y="213059"/>
                  </a:lnTo>
                  <a:close/>
                </a:path>
              </a:pathLst>
            </a:custGeom>
            <a:solidFill>
              <a:schemeClr val="tx1">
                <a:alpha val="50000"/>
              </a:schemeClr>
            </a:solidFill>
            <a:ln w="9525" cap="flat">
              <a:noFill/>
              <a:prstDash val="solid"/>
              <a:miter/>
            </a:ln>
          </p:spPr>
          <p:txBody>
            <a:bodyPr rtlCol="0" anchor="ctr" anchorCtr="0"/>
            <a:lstStyle/>
            <a:p>
              <a:pPr algn="l">
                <a:lnSpc>
                  <a:spcPct val="120000"/>
                </a:lnSpc>
              </a:pPr>
              <a:endParaRPr/>
            </a:p>
          </p:txBody>
        </p:sp>
        <p:sp>
          <p:nvSpPr>
            <p:cNvPr id="19" name="Title" descr="fb37b36d-b855-4229-a638-1fe0e75fd9d4">
              <a:extLst>
                <a:ext uri="{FF2B5EF4-FFF2-40B4-BE49-F238E27FC236}">
                  <a16:creationId xmlns:a16="http://schemas.microsoft.com/office/drawing/2014/main" id="{14048E2A-8793-358D-F3A0-67D9603182E7}"/>
                </a:ext>
              </a:extLst>
            </p:cNvPr>
            <p:cNvSpPr>
              <a:spLocks/>
            </p:cNvSpPr>
            <p:nvPr/>
          </p:nvSpPr>
          <p:spPr>
            <a:xfrm>
              <a:off x="1362614" y="3178175"/>
              <a:ext cx="9466772" cy="772297"/>
            </a:xfrm>
            <a:prstGeom prst="rect">
              <a:avLst/>
            </a:prstGeom>
            <a:no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p>
              <a:pPr algn="ctr"/>
              <a:r>
                <a:rPr lang="en-US" sz="2400" b="1" i="0" u="none" dirty="0" err="1">
                  <a:solidFill>
                    <a:srgbClr val="000000"/>
                  </a:solidFill>
                  <a:ea typeface="微软雅黑"/>
                </a:rPr>
                <a:t>内存优化提升数据库性能的方法</a:t>
              </a:r>
              <a:endParaRPr lang="en-US" sz="2400" b="1" i="0" u="none" dirty="0">
                <a:solidFill>
                  <a:srgbClr val="000000"/>
                </a:solidFill>
                <a:ea typeface="微软雅黑"/>
              </a:endParaRPr>
            </a:p>
          </p:txBody>
        </p:sp>
        <p:grpSp>
          <p:nvGrpSpPr>
            <p:cNvPr id="3" name="组合 1" descr="19843e6b-2e42-4be6-a7fa-27ae1e397ba1">
              <a:extLst>
                <a:ext uri="{FF2B5EF4-FFF2-40B4-BE49-F238E27FC236}">
                  <a16:creationId xmlns:a16="http://schemas.microsoft.com/office/drawing/2014/main" id="{B9897963-D317-1346-CD98-936CBFC73894}"/>
                </a:ext>
              </a:extLst>
            </p:cNvPr>
            <p:cNvGrpSpPr/>
            <p:nvPr/>
          </p:nvGrpSpPr>
          <p:grpSpPr>
            <a:xfrm>
              <a:off x="660401" y="1110744"/>
              <a:ext cx="3698948" cy="1957651"/>
              <a:chOff x="660401" y="1110744"/>
              <a:chExt cx="3698948" cy="1957651"/>
            </a:xfrm>
          </p:grpSpPr>
          <p:sp>
            <p:nvSpPr>
              <p:cNvPr id="57" name="Number1" descr="cab6375b-2a74-4ea3-a959-690450fdf008">
                <a:extLst>
                  <a:ext uri="{FF2B5EF4-FFF2-40B4-BE49-F238E27FC236}">
                    <a16:creationId xmlns:a16="http://schemas.microsoft.com/office/drawing/2014/main" id="{DFF218C3-1B71-A986-CD8C-E263F84CF93B}"/>
                  </a:ext>
                </a:extLst>
              </p:cNvPr>
              <p:cNvSpPr/>
              <p:nvPr/>
            </p:nvSpPr>
            <p:spPr>
              <a:xfrm flipH="1">
                <a:off x="1733634" y="2614795"/>
                <a:ext cx="461602" cy="453600"/>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1" i="0" u="none">
                    <a:solidFill>
                      <a:srgbClr val="454545"/>
                    </a:solidFill>
                    <a:latin typeface="Arial"/>
                  </a:rPr>
                  <a:t>1</a:t>
                </a:r>
              </a:p>
            </p:txBody>
          </p:sp>
          <p:sp>
            <p:nvSpPr>
              <p:cNvPr id="58" name="Bullet1" descr="596ef519-1f5f-43f9-984c-d6fc1fa0d07e">
                <a:extLst>
                  <a:ext uri="{FF2B5EF4-FFF2-40B4-BE49-F238E27FC236}">
                    <a16:creationId xmlns:a16="http://schemas.microsoft.com/office/drawing/2014/main" id="{C9237AB0-C3A4-10B7-DFBB-4B909B89768E}"/>
                  </a:ext>
                </a:extLst>
              </p:cNvPr>
              <p:cNvSpPr txBox="1">
                <a:spLocks/>
              </p:cNvSpPr>
              <p:nvPr/>
            </p:nvSpPr>
            <p:spPr>
              <a:xfrm>
                <a:off x="660401" y="1110744"/>
                <a:ext cx="3281169" cy="670315"/>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a:rPr>
                  <a:t>内存管理机制</a:t>
                </a:r>
                <a:endParaRPr lang="en-US" sz="1800" b="1" i="0" u="none" dirty="0">
                  <a:solidFill>
                    <a:srgbClr val="000000"/>
                  </a:solidFill>
                  <a:ea typeface="微软雅黑"/>
                </a:endParaRPr>
              </a:p>
            </p:txBody>
          </p:sp>
          <p:sp>
            <p:nvSpPr>
              <p:cNvPr id="59" name="Text1" descr="c285b649-137f-40dd-81b0-5bdf49b763bc">
                <a:extLst>
                  <a:ext uri="{FF2B5EF4-FFF2-40B4-BE49-F238E27FC236}">
                    <a16:creationId xmlns:a16="http://schemas.microsoft.com/office/drawing/2014/main" id="{845E67A1-2208-8C61-CBC3-39B08AFE170B}"/>
                  </a:ext>
                </a:extLst>
              </p:cNvPr>
              <p:cNvSpPr txBox="1">
                <a:spLocks/>
              </p:cNvSpPr>
              <p:nvPr/>
            </p:nvSpPr>
            <p:spPr>
              <a:xfrm>
                <a:off x="660401" y="1649201"/>
                <a:ext cx="3698948" cy="814894"/>
              </a:xfrm>
              <a:prstGeom prst="rect">
                <a:avLst/>
              </a:prstGeom>
              <a:noFill/>
              <a:ln>
                <a:noFill/>
              </a:ln>
            </p:spPr>
            <p:txBody>
              <a:bodyPr wrap="square" lIns="91440" tIns="45720" rIns="91440" bIns="45720" anchor="t" anchorCtr="0">
                <a:noAutofit/>
              </a:bodyPr>
              <a:lstStyle/>
              <a:p>
                <a:pPr marL="171450" indent="-171450" algn="l">
                  <a:lnSpc>
                    <a:spcPct val="120000"/>
                  </a:lnSpc>
                  <a:buFont typeface="Arial" panose="020B0604020202020204" pitchFamily="34" charset="0"/>
                  <a:buChar char="•"/>
                </a:pPr>
                <a:r>
                  <a:rPr lang="en-US" sz="1400" b="0" i="0" u="none" strike="noStrike" dirty="0" err="1">
                    <a:solidFill>
                      <a:srgbClr val="000000"/>
                    </a:solidFill>
                    <a:ea typeface="微软雅黑"/>
                  </a:rPr>
                  <a:t>内存池预分配内存块避免频繁调用</a:t>
                </a:r>
                <a:r>
                  <a:rPr lang="en-US" sz="1400" b="0" i="0" u="none" strike="noStrike" dirty="0">
                    <a:solidFill>
                      <a:srgbClr val="000000"/>
                    </a:solidFill>
                    <a:ea typeface="微软雅黑"/>
                  </a:rPr>
                  <a:t>；</a:t>
                </a:r>
              </a:p>
              <a:p>
                <a:pPr marL="171450" indent="-171450" algn="l">
                  <a:lnSpc>
                    <a:spcPct val="120000"/>
                  </a:lnSpc>
                  <a:buFont typeface="Arial" panose="020B0604020202020204" pitchFamily="34" charset="0"/>
                  <a:buChar char="•"/>
                </a:pPr>
                <a:r>
                  <a:rPr lang="en-US" sz="1400" b="0" i="0" u="none" strike="noStrike" dirty="0" err="1">
                    <a:solidFill>
                      <a:srgbClr val="000000"/>
                    </a:solidFill>
                    <a:ea typeface="微软雅黑"/>
                  </a:rPr>
                  <a:t>对象池复用数据结构降低构造</a:t>
                </a:r>
                <a:r>
                  <a:rPr lang="en-US" sz="1400" b="0" i="0" u="none" strike="noStrike" dirty="0">
                    <a:solidFill>
                      <a:srgbClr val="000000"/>
                    </a:solidFill>
                    <a:ea typeface="微软雅黑"/>
                  </a:rPr>
                  <a:t>/</a:t>
                </a:r>
                <a:r>
                  <a:rPr lang="en-US" sz="1400" b="0" i="0" u="none" strike="noStrike" dirty="0" err="1">
                    <a:solidFill>
                      <a:srgbClr val="000000"/>
                    </a:solidFill>
                    <a:ea typeface="微软雅黑"/>
                  </a:rPr>
                  <a:t>析构开销</a:t>
                </a:r>
                <a:r>
                  <a:rPr lang="en-US" sz="1400" b="0" i="0" u="none" strike="noStrike" dirty="0">
                    <a:solidFill>
                      <a:srgbClr val="000000"/>
                    </a:solidFill>
                    <a:ea typeface="微软雅黑"/>
                  </a:rPr>
                  <a:t>；</a:t>
                </a:r>
              </a:p>
              <a:p>
                <a:pPr marL="171450" indent="-171450" algn="l">
                  <a:lnSpc>
                    <a:spcPct val="120000"/>
                  </a:lnSpc>
                  <a:buFont typeface="Arial" panose="020B0604020202020204" pitchFamily="34" charset="0"/>
                  <a:buChar char="•"/>
                </a:pPr>
                <a:r>
                  <a:rPr lang="en-US" sz="1400" b="0" i="0" u="none" strike="noStrike" dirty="0" err="1">
                    <a:solidFill>
                      <a:srgbClr val="000000"/>
                    </a:solidFill>
                    <a:ea typeface="微软雅黑"/>
                  </a:rPr>
                  <a:t>分代内存管理借鉴JVM思想优化垃圾回收效率</a:t>
                </a:r>
                <a:r>
                  <a:rPr lang="en-US" sz="1400" b="0" i="0" u="none" strike="noStrike" dirty="0">
                    <a:solidFill>
                      <a:srgbClr val="000000"/>
                    </a:solidFill>
                    <a:ea typeface="微软雅黑"/>
                  </a:rPr>
                  <a:t>。</a:t>
                </a:r>
              </a:p>
            </p:txBody>
          </p:sp>
        </p:grpSp>
        <p:grpSp>
          <p:nvGrpSpPr>
            <p:cNvPr id="4" name="组合 3" descr="b8ec3967-c7c5-4f3c-bf4b-dc56f873a64f">
              <a:extLst>
                <a:ext uri="{FF2B5EF4-FFF2-40B4-BE49-F238E27FC236}">
                  <a16:creationId xmlns:a16="http://schemas.microsoft.com/office/drawing/2014/main" id="{DFA056B0-21C2-1F57-244F-8B986C3597FF}"/>
                </a:ext>
              </a:extLst>
            </p:cNvPr>
            <p:cNvGrpSpPr/>
            <p:nvPr/>
          </p:nvGrpSpPr>
          <p:grpSpPr>
            <a:xfrm>
              <a:off x="4455416" y="1153274"/>
              <a:ext cx="3484496" cy="1915121"/>
              <a:chOff x="4455416" y="1153274"/>
              <a:chExt cx="3484496" cy="1915121"/>
            </a:xfrm>
          </p:grpSpPr>
          <p:sp>
            <p:nvSpPr>
              <p:cNvPr id="54" name="Number2" descr="947837cf-f43d-42a2-9c21-954eaa8c8ad1">
                <a:extLst>
                  <a:ext uri="{FF2B5EF4-FFF2-40B4-BE49-F238E27FC236}">
                    <a16:creationId xmlns:a16="http://schemas.microsoft.com/office/drawing/2014/main" id="{0355911B-3091-B5ED-23D6-5AF38FBEAC20}"/>
                  </a:ext>
                </a:extLst>
              </p:cNvPr>
              <p:cNvSpPr/>
              <p:nvPr/>
            </p:nvSpPr>
            <p:spPr>
              <a:xfrm flipH="1">
                <a:off x="5865199" y="2614795"/>
                <a:ext cx="461602" cy="453600"/>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1" i="0" u="none">
                    <a:solidFill>
                      <a:srgbClr val="454545"/>
                    </a:solidFill>
                    <a:latin typeface="Arial"/>
                  </a:rPr>
                  <a:t>2</a:t>
                </a:r>
              </a:p>
            </p:txBody>
          </p:sp>
          <p:sp>
            <p:nvSpPr>
              <p:cNvPr id="55" name="Bullet2" descr="2346f308-04b0-4e58-8d85-765a3efd866d">
                <a:extLst>
                  <a:ext uri="{FF2B5EF4-FFF2-40B4-BE49-F238E27FC236}">
                    <a16:creationId xmlns:a16="http://schemas.microsoft.com/office/drawing/2014/main" id="{C62E41BD-6311-FAD1-4897-8190ACDE6D3A}"/>
                  </a:ext>
                </a:extLst>
              </p:cNvPr>
              <p:cNvSpPr txBox="1">
                <a:spLocks/>
              </p:cNvSpPr>
              <p:nvPr/>
            </p:nvSpPr>
            <p:spPr>
              <a:xfrm>
                <a:off x="4455416" y="1153274"/>
                <a:ext cx="3281169" cy="670315"/>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a:rPr>
                  <a:t>数据布局优化</a:t>
                </a:r>
                <a:endParaRPr lang="en-US" sz="1800" b="1" i="0" u="none" dirty="0">
                  <a:solidFill>
                    <a:srgbClr val="000000"/>
                  </a:solidFill>
                  <a:ea typeface="微软雅黑"/>
                </a:endParaRPr>
              </a:p>
            </p:txBody>
          </p:sp>
          <p:sp>
            <p:nvSpPr>
              <p:cNvPr id="56" name="Text2" descr="333e1db7-89ae-477c-bbc2-0c59a7dad2cd">
                <a:extLst>
                  <a:ext uri="{FF2B5EF4-FFF2-40B4-BE49-F238E27FC236}">
                    <a16:creationId xmlns:a16="http://schemas.microsoft.com/office/drawing/2014/main" id="{EA95E98F-C7DA-57B3-4E77-38A3178FA65D}"/>
                  </a:ext>
                </a:extLst>
              </p:cNvPr>
              <p:cNvSpPr txBox="1">
                <a:spLocks/>
              </p:cNvSpPr>
              <p:nvPr/>
            </p:nvSpPr>
            <p:spPr>
              <a:xfrm>
                <a:off x="4455416" y="1590723"/>
                <a:ext cx="3484496" cy="814894"/>
              </a:xfrm>
              <a:prstGeom prst="rect">
                <a:avLst/>
              </a:prstGeom>
              <a:noFill/>
              <a:ln>
                <a:noFill/>
              </a:ln>
            </p:spPr>
            <p:txBody>
              <a:bodyPr wrap="square" lIns="91440" tIns="45720" rIns="91440" bIns="45720" anchor="t" anchorCtr="0">
                <a:noAutofit/>
              </a:bodyPr>
              <a:lstStyle/>
              <a:p>
                <a:pPr marL="171450" indent="-171450" algn="l">
                  <a:lnSpc>
                    <a:spcPct val="120000"/>
                  </a:lnSpc>
                  <a:buFont typeface="Arial" panose="020B0604020202020204" pitchFamily="34" charset="0"/>
                  <a:buChar char="•"/>
                </a:pPr>
                <a:r>
                  <a:rPr lang="en-US" sz="1400" b="0" i="0" u="none" strike="noStrike" dirty="0" err="1">
                    <a:solidFill>
                      <a:srgbClr val="000000"/>
                    </a:solidFill>
                    <a:ea typeface="微软雅黑"/>
                  </a:rPr>
                  <a:t>列式存储针对分析型查询减少内存带宽占用；数据压缩采用轻量级算法降低内存占用与I</a:t>
                </a:r>
                <a:r>
                  <a:rPr lang="en-US" sz="1400" b="0" i="0" u="none" strike="noStrike" dirty="0">
                    <a:solidFill>
                      <a:srgbClr val="000000"/>
                    </a:solidFill>
                    <a:ea typeface="微软雅黑"/>
                  </a:rPr>
                  <a:t>/</a:t>
                </a:r>
                <a:r>
                  <a:rPr lang="en-US" sz="1400" b="0" i="0" u="none" strike="noStrike" dirty="0" err="1">
                    <a:solidFill>
                      <a:srgbClr val="000000"/>
                    </a:solidFill>
                    <a:ea typeface="微软雅黑"/>
                  </a:rPr>
                  <a:t>O压力；缓存友好设计避免伪共享</a:t>
                </a:r>
                <a:r>
                  <a:rPr lang="en-US" sz="1400" b="0" i="0" u="none" strike="noStrike" dirty="0">
                    <a:solidFill>
                      <a:srgbClr val="000000"/>
                    </a:solidFill>
                    <a:ea typeface="微软雅黑"/>
                  </a:rPr>
                  <a:t>。</a:t>
                </a:r>
              </a:p>
            </p:txBody>
          </p:sp>
        </p:grpSp>
        <p:grpSp>
          <p:nvGrpSpPr>
            <p:cNvPr id="5" name="组合 4" descr="29382d9e-e3e9-4b52-8543-d80672e27ce9">
              <a:extLst>
                <a:ext uri="{FF2B5EF4-FFF2-40B4-BE49-F238E27FC236}">
                  <a16:creationId xmlns:a16="http://schemas.microsoft.com/office/drawing/2014/main" id="{08F3F838-3D27-EFDF-E3D0-1C3982EE42E3}"/>
                </a:ext>
              </a:extLst>
            </p:cNvPr>
            <p:cNvGrpSpPr/>
            <p:nvPr/>
          </p:nvGrpSpPr>
          <p:grpSpPr>
            <a:xfrm>
              <a:off x="8086060" y="1084163"/>
              <a:ext cx="3912782" cy="1984232"/>
              <a:chOff x="8086060" y="1084163"/>
              <a:chExt cx="3912782" cy="1984232"/>
            </a:xfrm>
          </p:grpSpPr>
          <p:sp>
            <p:nvSpPr>
              <p:cNvPr id="48" name="Number3" descr="c43c6d1a-9025-42b1-aef1-3de8c5f28dde">
                <a:extLst>
                  <a:ext uri="{FF2B5EF4-FFF2-40B4-BE49-F238E27FC236}">
                    <a16:creationId xmlns:a16="http://schemas.microsoft.com/office/drawing/2014/main" id="{CBF41758-3303-D857-D519-B635E698C732}"/>
                  </a:ext>
                </a:extLst>
              </p:cNvPr>
              <p:cNvSpPr/>
              <p:nvPr/>
            </p:nvSpPr>
            <p:spPr>
              <a:xfrm flipH="1">
                <a:off x="9647514" y="2614795"/>
                <a:ext cx="461602" cy="453600"/>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1" i="0" u="none">
                    <a:solidFill>
                      <a:srgbClr val="454545"/>
                    </a:solidFill>
                    <a:latin typeface="Arial"/>
                  </a:rPr>
                  <a:t>3</a:t>
                </a:r>
              </a:p>
            </p:txBody>
          </p:sp>
          <p:sp>
            <p:nvSpPr>
              <p:cNvPr id="49" name="Bullet3" descr="86040803-4c1b-4a5e-9044-ba291cf5406c">
                <a:extLst>
                  <a:ext uri="{FF2B5EF4-FFF2-40B4-BE49-F238E27FC236}">
                    <a16:creationId xmlns:a16="http://schemas.microsoft.com/office/drawing/2014/main" id="{95696526-DCA3-D4FD-9703-AADA7315A891}"/>
                  </a:ext>
                </a:extLst>
              </p:cNvPr>
              <p:cNvSpPr txBox="1">
                <a:spLocks/>
              </p:cNvSpPr>
              <p:nvPr/>
            </p:nvSpPr>
            <p:spPr>
              <a:xfrm>
                <a:off x="8237731" y="1084163"/>
                <a:ext cx="3281169" cy="670315"/>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a:rPr>
                  <a:t>缓存机制与预取策略</a:t>
                </a:r>
                <a:endParaRPr lang="en-US" sz="1800" b="1" i="0" u="none" dirty="0">
                  <a:solidFill>
                    <a:srgbClr val="000000"/>
                  </a:solidFill>
                  <a:ea typeface="微软雅黑"/>
                </a:endParaRPr>
              </a:p>
            </p:txBody>
          </p:sp>
          <p:sp>
            <p:nvSpPr>
              <p:cNvPr id="51" name="Text3" descr="eec4185a-6aba-4b41-a28c-ab39b9df3a0e">
                <a:extLst>
                  <a:ext uri="{FF2B5EF4-FFF2-40B4-BE49-F238E27FC236}">
                    <a16:creationId xmlns:a16="http://schemas.microsoft.com/office/drawing/2014/main" id="{EBE69E37-51A1-0B1C-2B1C-C1BA31AE0637}"/>
                  </a:ext>
                </a:extLst>
              </p:cNvPr>
              <p:cNvSpPr txBox="1">
                <a:spLocks/>
              </p:cNvSpPr>
              <p:nvPr/>
            </p:nvSpPr>
            <p:spPr>
              <a:xfrm>
                <a:off x="8086060" y="1675780"/>
                <a:ext cx="3912782" cy="814894"/>
              </a:xfrm>
              <a:prstGeom prst="rect">
                <a:avLst/>
              </a:prstGeom>
              <a:noFill/>
              <a:ln>
                <a:noFill/>
              </a:ln>
            </p:spPr>
            <p:txBody>
              <a:bodyPr wrap="square" lIns="91440" tIns="45720" rIns="91440" bIns="45720" anchor="t" anchorCtr="0">
                <a:noAutofit/>
              </a:bodyPr>
              <a:lstStyle/>
              <a:p>
                <a:pPr marL="171450" indent="-171450" algn="l">
                  <a:lnSpc>
                    <a:spcPct val="120000"/>
                  </a:lnSpc>
                  <a:buFont typeface="Arial" panose="020B0604020202020204" pitchFamily="34" charset="0"/>
                  <a:buChar char="•"/>
                </a:pPr>
                <a:r>
                  <a:rPr lang="en-US" sz="1400" b="0" i="0" u="none" strike="noStrike" dirty="0" err="1">
                    <a:solidFill>
                      <a:srgbClr val="000000"/>
                    </a:solidFill>
                    <a:ea typeface="微软雅黑"/>
                  </a:rPr>
                  <a:t>多级缓存体系包括各级缓存与查询结果缓存</a:t>
                </a:r>
                <a:r>
                  <a:rPr lang="en-US" sz="1400" b="0" i="0" u="none" strike="noStrike" dirty="0">
                    <a:solidFill>
                      <a:srgbClr val="000000"/>
                    </a:solidFill>
                    <a:ea typeface="微软雅黑"/>
                  </a:rPr>
                  <a:t>；</a:t>
                </a:r>
              </a:p>
              <a:p>
                <a:pPr marL="171450" indent="-171450" algn="l">
                  <a:lnSpc>
                    <a:spcPct val="120000"/>
                  </a:lnSpc>
                  <a:buFont typeface="Arial" panose="020B0604020202020204" pitchFamily="34" charset="0"/>
                  <a:buChar char="•"/>
                </a:pPr>
                <a:r>
                  <a:rPr lang="en-US" sz="1400" b="0" i="0" u="none" strike="noStrike" dirty="0" err="1">
                    <a:solidFill>
                      <a:srgbClr val="000000"/>
                    </a:solidFill>
                    <a:ea typeface="微软雅黑"/>
                  </a:rPr>
                  <a:t>智能预取基于访问模式预测提前加载数据</a:t>
                </a:r>
                <a:r>
                  <a:rPr lang="en-US" sz="1400" b="0" i="0" u="none" strike="noStrike" dirty="0">
                    <a:solidFill>
                      <a:srgbClr val="000000"/>
                    </a:solidFill>
                    <a:ea typeface="微软雅黑"/>
                  </a:rPr>
                  <a:t>；</a:t>
                </a:r>
              </a:p>
              <a:p>
                <a:pPr marL="171450" indent="-171450" algn="l">
                  <a:lnSpc>
                    <a:spcPct val="120000"/>
                  </a:lnSpc>
                  <a:buFont typeface="Arial" panose="020B0604020202020204" pitchFamily="34" charset="0"/>
                  <a:buChar char="•"/>
                </a:pPr>
                <a:r>
                  <a:rPr lang="en-US" sz="1400" b="0" i="0" u="none" strike="noStrike" dirty="0" err="1">
                    <a:solidFill>
                      <a:srgbClr val="000000"/>
                    </a:solidFill>
                    <a:ea typeface="微软雅黑"/>
                  </a:rPr>
                  <a:t>LRU等算法优化缓存命中率</a:t>
                </a:r>
                <a:r>
                  <a:rPr lang="en-US" sz="1400" b="0" i="0" u="none" strike="noStrike" dirty="0">
                    <a:solidFill>
                      <a:srgbClr val="000000"/>
                    </a:solidFill>
                    <a:ea typeface="微软雅黑"/>
                  </a:rPr>
                  <a:t>。</a:t>
                </a:r>
              </a:p>
            </p:txBody>
          </p:sp>
        </p:grpSp>
        <p:grpSp>
          <p:nvGrpSpPr>
            <p:cNvPr id="6" name="组合 5" descr="d8ed0c5d-1356-4870-aba6-175943fac72a">
              <a:extLst>
                <a:ext uri="{FF2B5EF4-FFF2-40B4-BE49-F238E27FC236}">
                  <a16:creationId xmlns:a16="http://schemas.microsoft.com/office/drawing/2014/main" id="{680D0F39-CCC9-926B-464A-CDCC35A2CC30}"/>
                </a:ext>
              </a:extLst>
            </p:cNvPr>
            <p:cNvGrpSpPr/>
            <p:nvPr/>
          </p:nvGrpSpPr>
          <p:grpSpPr>
            <a:xfrm>
              <a:off x="6516121" y="4177110"/>
              <a:ext cx="5204799" cy="1981011"/>
              <a:chOff x="6516121" y="4177110"/>
              <a:chExt cx="5204799" cy="1981011"/>
            </a:xfrm>
          </p:grpSpPr>
          <p:sp>
            <p:nvSpPr>
              <p:cNvPr id="40" name="Number4" descr="275f3f7b-b4f5-4426-8a6d-793e760ec15d">
                <a:extLst>
                  <a:ext uri="{FF2B5EF4-FFF2-40B4-BE49-F238E27FC236}">
                    <a16:creationId xmlns:a16="http://schemas.microsoft.com/office/drawing/2014/main" id="{3A5CDC1F-66AA-3116-FD27-BE0F0B22BBDE}"/>
                  </a:ext>
                </a:extLst>
              </p:cNvPr>
              <p:cNvSpPr/>
              <p:nvPr/>
            </p:nvSpPr>
            <p:spPr>
              <a:xfrm flipH="1">
                <a:off x="8786710" y="4177110"/>
                <a:ext cx="461602" cy="453600"/>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1" i="0" u="none">
                    <a:solidFill>
                      <a:srgbClr val="454545"/>
                    </a:solidFill>
                    <a:latin typeface="Arial"/>
                  </a:rPr>
                  <a:t>4</a:t>
                </a:r>
              </a:p>
            </p:txBody>
          </p:sp>
          <p:sp>
            <p:nvSpPr>
              <p:cNvPr id="43" name="Bullet4" descr="33ebcc49-9230-4553-87c3-2c1249b391cb">
                <a:extLst>
                  <a:ext uri="{FF2B5EF4-FFF2-40B4-BE49-F238E27FC236}">
                    <a16:creationId xmlns:a16="http://schemas.microsoft.com/office/drawing/2014/main" id="{66C67FC5-29E0-0206-C1A3-632CC1AD4708}"/>
                  </a:ext>
                </a:extLst>
              </p:cNvPr>
              <p:cNvSpPr txBox="1">
                <a:spLocks/>
              </p:cNvSpPr>
              <p:nvPr/>
            </p:nvSpPr>
            <p:spPr>
              <a:xfrm>
                <a:off x="6516122" y="4815404"/>
                <a:ext cx="5002778" cy="670315"/>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a:rPr>
                  <a:t>零拷贝与内存映射</a:t>
                </a:r>
              </a:p>
            </p:txBody>
          </p:sp>
          <p:sp>
            <p:nvSpPr>
              <p:cNvPr id="47" name="Text4" descr="c49cf031-be2c-47dd-b394-1a97099e3f89">
                <a:extLst>
                  <a:ext uri="{FF2B5EF4-FFF2-40B4-BE49-F238E27FC236}">
                    <a16:creationId xmlns:a16="http://schemas.microsoft.com/office/drawing/2014/main" id="{4C8AD06B-1CD6-209F-1B39-BAA54355E497}"/>
                  </a:ext>
                </a:extLst>
              </p:cNvPr>
              <p:cNvSpPr txBox="1">
                <a:spLocks/>
              </p:cNvSpPr>
              <p:nvPr/>
            </p:nvSpPr>
            <p:spPr>
              <a:xfrm>
                <a:off x="6516121" y="5343227"/>
                <a:ext cx="5204799" cy="814894"/>
              </a:xfrm>
              <a:prstGeom prst="rect">
                <a:avLst/>
              </a:prstGeom>
              <a:noFill/>
              <a:ln>
                <a:noFill/>
              </a:ln>
            </p:spPr>
            <p:txBody>
              <a:bodyPr wrap="square" lIns="91440" tIns="45720" rIns="91440" bIns="45720" anchor="t" anchorCtr="0">
                <a:normAutofit/>
              </a:bodyPr>
              <a:lstStyle/>
              <a:p>
                <a:pPr marL="171450" indent="-171450" algn="l">
                  <a:lnSpc>
                    <a:spcPct val="120000"/>
                  </a:lnSpc>
                  <a:buFont typeface="Arial" panose="020B0604020202020204" pitchFamily="34" charset="0"/>
                  <a:buChar char="•"/>
                </a:pPr>
                <a:r>
                  <a:rPr lang="en-US" sz="1600" b="0" i="0" u="none" strike="noStrike" dirty="0" err="1">
                    <a:solidFill>
                      <a:srgbClr val="000000"/>
                    </a:solidFill>
                    <a:ea typeface="微软雅黑"/>
                  </a:rPr>
                  <a:t>通过mmap等技术实现数据直接映射至用户空间</a:t>
                </a:r>
                <a:r>
                  <a:rPr lang="en-US" sz="1600" b="0" i="0" u="none" strike="noStrike" dirty="0">
                    <a:solidFill>
                      <a:srgbClr val="000000"/>
                    </a:solidFill>
                    <a:ea typeface="微软雅黑"/>
                  </a:rPr>
                  <a:t>；</a:t>
                </a:r>
              </a:p>
              <a:p>
                <a:pPr marL="171450" indent="-171450" algn="l">
                  <a:lnSpc>
                    <a:spcPct val="120000"/>
                  </a:lnSpc>
                  <a:buFont typeface="Arial" panose="020B0604020202020204" pitchFamily="34" charset="0"/>
                  <a:buChar char="•"/>
                </a:pPr>
                <a:r>
                  <a:rPr lang="en-US" sz="1600" b="0" i="0" u="none" strike="noStrike" dirty="0" err="1">
                    <a:solidFill>
                      <a:srgbClr val="000000"/>
                    </a:solidFill>
                    <a:ea typeface="微软雅黑"/>
                  </a:rPr>
                  <a:t>AI推理中采用共享内存传递张量减少序列化开销</a:t>
                </a:r>
                <a:r>
                  <a:rPr lang="en-US" sz="1600" b="0" i="0" u="none" strike="noStrike" dirty="0">
                    <a:solidFill>
                      <a:srgbClr val="000000"/>
                    </a:solidFill>
                    <a:ea typeface="微软雅黑"/>
                  </a:rPr>
                  <a:t>。</a:t>
                </a:r>
              </a:p>
            </p:txBody>
          </p:sp>
        </p:grpSp>
        <p:grpSp>
          <p:nvGrpSpPr>
            <p:cNvPr id="7" name="组合 6" descr="828e1a2f-40ba-4791-a233-6caecc3ef4e8">
              <a:extLst>
                <a:ext uri="{FF2B5EF4-FFF2-40B4-BE49-F238E27FC236}">
                  <a16:creationId xmlns:a16="http://schemas.microsoft.com/office/drawing/2014/main" id="{C6E4A1D3-E029-0F50-F0B4-6303593CFE4F}"/>
                </a:ext>
              </a:extLst>
            </p:cNvPr>
            <p:cNvGrpSpPr/>
            <p:nvPr/>
          </p:nvGrpSpPr>
          <p:grpSpPr>
            <a:xfrm>
              <a:off x="660399" y="4177110"/>
              <a:ext cx="5204799" cy="1981011"/>
              <a:chOff x="660399" y="4177110"/>
              <a:chExt cx="5204799" cy="1981011"/>
            </a:xfrm>
          </p:grpSpPr>
          <p:sp>
            <p:nvSpPr>
              <p:cNvPr id="33" name="Number5" descr="ef50b9ea-3891-427c-b2d9-234803ac5369">
                <a:extLst>
                  <a:ext uri="{FF2B5EF4-FFF2-40B4-BE49-F238E27FC236}">
                    <a16:creationId xmlns:a16="http://schemas.microsoft.com/office/drawing/2014/main" id="{7278DE3D-0176-55DF-B097-C939295DEF7B}"/>
                  </a:ext>
                </a:extLst>
              </p:cNvPr>
              <p:cNvSpPr/>
              <p:nvPr/>
            </p:nvSpPr>
            <p:spPr>
              <a:xfrm flipH="1">
                <a:off x="2930988" y="4177110"/>
                <a:ext cx="461602" cy="453600"/>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1" i="0" u="none">
                    <a:solidFill>
                      <a:srgbClr val="454545"/>
                    </a:solidFill>
                    <a:latin typeface="Arial"/>
                  </a:rPr>
                  <a:t>5</a:t>
                </a:r>
              </a:p>
            </p:txBody>
          </p:sp>
          <p:sp>
            <p:nvSpPr>
              <p:cNvPr id="35" name="Bullet5" descr="e20132b7-85ea-4a8d-b37b-93f270114c34">
                <a:extLst>
                  <a:ext uri="{FF2B5EF4-FFF2-40B4-BE49-F238E27FC236}">
                    <a16:creationId xmlns:a16="http://schemas.microsoft.com/office/drawing/2014/main" id="{B4E28702-D977-7D1A-754D-A767944FCA44}"/>
                  </a:ext>
                </a:extLst>
              </p:cNvPr>
              <p:cNvSpPr txBox="1">
                <a:spLocks/>
              </p:cNvSpPr>
              <p:nvPr/>
            </p:nvSpPr>
            <p:spPr>
              <a:xfrm>
                <a:off x="660400" y="4815404"/>
                <a:ext cx="5002778" cy="670315"/>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a:rPr>
                  <a:t>向量化与SIMD优化</a:t>
                </a:r>
                <a:endParaRPr lang="en-US" sz="1800" b="1" i="0" u="none" dirty="0">
                  <a:solidFill>
                    <a:srgbClr val="000000"/>
                  </a:solidFill>
                  <a:ea typeface="微软雅黑"/>
                </a:endParaRPr>
              </a:p>
            </p:txBody>
          </p:sp>
          <p:sp>
            <p:nvSpPr>
              <p:cNvPr id="38" name="Text5" descr="0cb0be39-d8c0-4fc6-8bf5-4b36329558eb">
                <a:extLst>
                  <a:ext uri="{FF2B5EF4-FFF2-40B4-BE49-F238E27FC236}">
                    <a16:creationId xmlns:a16="http://schemas.microsoft.com/office/drawing/2014/main" id="{C06D7E89-8B55-E283-07D8-B79E43CCBAA5}"/>
                  </a:ext>
                </a:extLst>
              </p:cNvPr>
              <p:cNvSpPr txBox="1">
                <a:spLocks/>
              </p:cNvSpPr>
              <p:nvPr/>
            </p:nvSpPr>
            <p:spPr>
              <a:xfrm>
                <a:off x="660399" y="5343227"/>
                <a:ext cx="5204799" cy="814894"/>
              </a:xfrm>
              <a:prstGeom prst="rect">
                <a:avLst/>
              </a:prstGeom>
              <a:noFill/>
              <a:ln>
                <a:noFill/>
              </a:ln>
            </p:spPr>
            <p:txBody>
              <a:bodyPr wrap="square" lIns="91440" tIns="45720" rIns="91440" bIns="45720" anchor="t" anchorCtr="0">
                <a:noAutofit/>
              </a:bodyPr>
              <a:lstStyle/>
              <a:p>
                <a:pPr marL="171450" indent="-171450" algn="l">
                  <a:lnSpc>
                    <a:spcPct val="120000"/>
                  </a:lnSpc>
                  <a:buFont typeface="Arial" panose="020B0604020202020204" pitchFamily="34" charset="0"/>
                  <a:buChar char="•"/>
                </a:pPr>
                <a:r>
                  <a:rPr lang="en-US" sz="1600" b="0" i="0" u="none" strike="noStrike" dirty="0" err="1">
                    <a:solidFill>
                      <a:srgbClr val="000000"/>
                    </a:solidFill>
                    <a:ea typeface="微软雅黑"/>
                  </a:rPr>
                  <a:t>利用CPU的SIMD指令集实现单指令多数据并行处理</a:t>
                </a:r>
                <a:r>
                  <a:rPr lang="en-US" sz="1600" b="0" i="0" u="none" strike="noStrike" dirty="0">
                    <a:solidFill>
                      <a:srgbClr val="000000"/>
                    </a:solidFill>
                    <a:ea typeface="微软雅黑"/>
                  </a:rPr>
                  <a:t>；</a:t>
                </a:r>
              </a:p>
              <a:p>
                <a:pPr marL="171450" indent="-171450" algn="l">
                  <a:lnSpc>
                    <a:spcPct val="120000"/>
                  </a:lnSpc>
                  <a:buFont typeface="Arial" panose="020B0604020202020204" pitchFamily="34" charset="0"/>
                  <a:buChar char="•"/>
                </a:pPr>
                <a:r>
                  <a:rPr lang="en-US" sz="1600" b="0" i="0" u="none" strike="noStrike" dirty="0" err="1">
                    <a:solidFill>
                      <a:srgbClr val="000000"/>
                    </a:solidFill>
                    <a:ea typeface="微软雅黑"/>
                  </a:rPr>
                  <a:t>数据库引擎中实现向量化执行引擎提升算子处理效率</a:t>
                </a:r>
                <a:r>
                  <a:rPr lang="en-US" sz="1600" b="0" i="0" u="none" strike="noStrike" dirty="0">
                    <a:solidFill>
                      <a:srgbClr val="000000"/>
                    </a:solidFill>
                    <a:ea typeface="微软雅黑"/>
                  </a:rPr>
                  <a:t>。</a:t>
                </a: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altLang="zh-CN" sz="2800" b="1" dirty="0"/>
              <a:t>AI</a:t>
            </a:r>
            <a:r>
              <a:rPr lang="zh-CN" altLang="en-US" sz="2800" b="1" dirty="0"/>
              <a:t>数据库</a:t>
            </a:r>
            <a:r>
              <a:rPr lang="en-US" altLang="zh-CN" sz="2800" b="1" dirty="0" err="1"/>
              <a:t>高性能计算</a:t>
            </a:r>
            <a:r>
              <a:rPr lang="zh-CN" altLang="en-US" sz="2800" b="1" dirty="0"/>
              <a:t>与</a:t>
            </a:r>
            <a:r>
              <a:rPr lang="en-US" altLang="zh-CN" sz="2800" b="1" dirty="0" err="1"/>
              <a:t>内存优化</a:t>
            </a:r>
            <a:r>
              <a:rPr lang="en-US" sz="2800" b="1" dirty="0" err="1"/>
              <a:t>协同机制</a:t>
            </a:r>
            <a:endParaRPr lang="en-US" sz="2800" b="1" dirty="0"/>
          </a:p>
        </p:txBody>
      </p:sp>
      <p:grpSp>
        <p:nvGrpSpPr>
          <p:cNvPr id="13" name="4fd913c7-11fd-4171-a2aa-ea6658a24207.source.4.zh-Hans.pptx" descr="c26f9b26-30e6-4e56-9967-70c99bff9edc">
            <a:extLst>
              <a:ext uri="{FF2B5EF4-FFF2-40B4-BE49-F238E27FC236}">
                <a16:creationId xmlns:a16="http://schemas.microsoft.com/office/drawing/2014/main" id="{88964AF0-F38F-DAAF-EF5D-B2BB38E4C12F}"/>
              </a:ext>
            </a:extLst>
          </p:cNvPr>
          <p:cNvGrpSpPr/>
          <p:nvPr/>
        </p:nvGrpSpPr>
        <p:grpSpPr>
          <a:xfrm>
            <a:off x="660400" y="2039008"/>
            <a:ext cx="10998200" cy="4714127"/>
            <a:chOff x="660400" y="2039008"/>
            <a:chExt cx="10998200" cy="4714127"/>
          </a:xfrm>
        </p:grpSpPr>
        <p:sp>
          <p:nvSpPr>
            <p:cNvPr id="17" name="Title" descr="50c71ba0-5c4e-49e1-8690-b618f32edef3">
              <a:extLst>
                <a:ext uri="{FF2B5EF4-FFF2-40B4-BE49-F238E27FC236}">
                  <a16:creationId xmlns:a16="http://schemas.microsoft.com/office/drawing/2014/main" id="{BB9F2C41-28AB-DC99-51CD-5745006A2409}"/>
                </a:ext>
              </a:extLst>
            </p:cNvPr>
            <p:cNvSpPr txBox="1">
              <a:spLocks/>
            </p:cNvSpPr>
            <p:nvPr/>
          </p:nvSpPr>
          <p:spPr>
            <a:xfrm>
              <a:off x="2090216" y="5991134"/>
              <a:ext cx="7270191" cy="762001"/>
            </a:xfrm>
            <a:prstGeom prst="rect">
              <a:avLst/>
            </a:prstGeom>
            <a:noFill/>
            <a:ln>
              <a:noFill/>
            </a:ln>
          </p:spPr>
          <p:txBody>
            <a:bodyPr wrap="square" lIns="91440" tIns="45720" rIns="91440" bIns="45720" anchor="t" anchorCtr="0">
              <a:normAutofit/>
            </a:bodyPr>
            <a:lstStyle/>
            <a:p>
              <a:pPr algn="ctr">
                <a:spcBef>
                  <a:spcPct val="0"/>
                </a:spcBef>
                <a:spcAft>
                  <a:spcPct val="0"/>
                </a:spcAft>
              </a:pPr>
              <a:r>
                <a:rPr lang="en-US" sz="2400" b="1" i="0" u="none" strike="noStrike" dirty="0" err="1">
                  <a:solidFill>
                    <a:srgbClr val="000000"/>
                  </a:solidFill>
                  <a:ea typeface="微软雅黑"/>
                </a:rPr>
                <a:t>高性能与内存优化协同增效的途径</a:t>
              </a:r>
              <a:endParaRPr lang="en-US" sz="2400" b="1" i="0" u="none" strike="noStrike" dirty="0">
                <a:solidFill>
                  <a:srgbClr val="000000"/>
                </a:solidFill>
                <a:ea typeface="微软雅黑"/>
              </a:endParaRPr>
            </a:p>
          </p:txBody>
        </p:sp>
        <p:grpSp>
          <p:nvGrpSpPr>
            <p:cNvPr id="9" name="组合 8" descr="9cd51503-6bbe-47d5-850a-8ee859621199">
              <a:extLst>
                <a:ext uri="{FF2B5EF4-FFF2-40B4-BE49-F238E27FC236}">
                  <a16:creationId xmlns:a16="http://schemas.microsoft.com/office/drawing/2014/main" id="{8647F283-6953-67A1-E815-44E8000F91A6}"/>
                </a:ext>
              </a:extLst>
            </p:cNvPr>
            <p:cNvGrpSpPr/>
            <p:nvPr/>
          </p:nvGrpSpPr>
          <p:grpSpPr>
            <a:xfrm>
              <a:off x="660400" y="2039008"/>
              <a:ext cx="2706656" cy="3688693"/>
              <a:chOff x="660400" y="2039008"/>
              <a:chExt cx="2706656" cy="3688693"/>
            </a:xfrm>
          </p:grpSpPr>
          <p:sp>
            <p:nvSpPr>
              <p:cNvPr id="5" name="矩形 4" descr="e7c5d522-c374-4d34-892b-42d9e9e93045">
                <a:extLst>
                  <a:ext uri="{FF2B5EF4-FFF2-40B4-BE49-F238E27FC236}">
                    <a16:creationId xmlns:a16="http://schemas.microsoft.com/office/drawing/2014/main" id="{862C93B7-E693-D55A-20A7-3F4B851949B6}"/>
                  </a:ext>
                </a:extLst>
              </p:cNvPr>
              <p:cNvSpPr/>
              <p:nvPr/>
            </p:nvSpPr>
            <p:spPr>
              <a:xfrm>
                <a:off x="687981" y="2069066"/>
                <a:ext cx="2460523" cy="3358476"/>
              </a:xfrm>
              <a:prstGeom prst="rect">
                <a:avLst/>
              </a:prstGeom>
              <a:gradFill flip="none" rotWithShape="1">
                <a:gsLst>
                  <a:gs pos="0">
                    <a:schemeClr val="accent1">
                      <a:alpha val="39000"/>
                    </a:schemeClr>
                  </a:gs>
                  <a:gs pos="100000">
                    <a:schemeClr val="accent1">
                      <a:alpha val="32000"/>
                    </a:schemeClr>
                  </a:gs>
                  <a:gs pos="55000">
                    <a:schemeClr val="accent1">
                      <a:alpha val="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1" name="任意多边形: 形状 20" descr="1d86166f-56e8-4ec7-961c-18c4ef8ecfb9">
                <a:extLst>
                  <a:ext uri="{FF2B5EF4-FFF2-40B4-BE49-F238E27FC236}">
                    <a16:creationId xmlns:a16="http://schemas.microsoft.com/office/drawing/2014/main" id="{AB73A1F7-16C6-7790-0D99-A3E170ECE4C2}"/>
                  </a:ext>
                </a:extLst>
              </p:cNvPr>
              <p:cNvSpPr/>
              <p:nvPr/>
            </p:nvSpPr>
            <p:spPr>
              <a:xfrm>
                <a:off x="1054019"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22" name="任意多边形: 形状 21" descr="b3ff46a8-f0e5-4f04-9d39-78eb2475f31c">
                <a:extLst>
                  <a:ext uri="{FF2B5EF4-FFF2-40B4-BE49-F238E27FC236}">
                    <a16:creationId xmlns:a16="http://schemas.microsoft.com/office/drawing/2014/main" id="{24A3E9E4-3E82-0073-1064-3933AA6C9232}"/>
                  </a:ext>
                </a:extLst>
              </p:cNvPr>
              <p:cNvSpPr/>
              <p:nvPr/>
            </p:nvSpPr>
            <p:spPr>
              <a:xfrm>
                <a:off x="1199119"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23" name="任意多边形: 形状 22" descr="caa637eb-4066-4e43-98b4-a91fa40c4a27">
                <a:extLst>
                  <a:ext uri="{FF2B5EF4-FFF2-40B4-BE49-F238E27FC236}">
                    <a16:creationId xmlns:a16="http://schemas.microsoft.com/office/drawing/2014/main" id="{1A6483A2-2C00-EC5D-90CB-00E3E5AB79DB}"/>
                  </a:ext>
                </a:extLst>
              </p:cNvPr>
              <p:cNvSpPr/>
              <p:nvPr/>
            </p:nvSpPr>
            <p:spPr>
              <a:xfrm>
                <a:off x="1344398"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24" name="任意多边形: 形状 23" descr="635f5530-43c2-4aea-8573-2096cf5741eb">
                <a:extLst>
                  <a:ext uri="{FF2B5EF4-FFF2-40B4-BE49-F238E27FC236}">
                    <a16:creationId xmlns:a16="http://schemas.microsoft.com/office/drawing/2014/main" id="{31218991-7D2D-938D-BD01-C362FB3872F8}"/>
                  </a:ext>
                </a:extLst>
              </p:cNvPr>
              <p:cNvSpPr/>
              <p:nvPr/>
            </p:nvSpPr>
            <p:spPr>
              <a:xfrm>
                <a:off x="1489496"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25" name="任意多边形: 形状 24" descr="9f070700-f368-4796-a62c-1779d2f4cfdd">
                <a:extLst>
                  <a:ext uri="{FF2B5EF4-FFF2-40B4-BE49-F238E27FC236}">
                    <a16:creationId xmlns:a16="http://schemas.microsoft.com/office/drawing/2014/main" id="{708F40D3-BFE9-A81D-588D-FD1C6EF013F8}"/>
                  </a:ext>
                </a:extLst>
              </p:cNvPr>
              <p:cNvSpPr/>
              <p:nvPr/>
            </p:nvSpPr>
            <p:spPr>
              <a:xfrm>
                <a:off x="1634775"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26" name="任意多边形: 形状 25" descr="d0489e95-8fed-4c9d-9a84-2a43dc731f48">
                <a:extLst>
                  <a:ext uri="{FF2B5EF4-FFF2-40B4-BE49-F238E27FC236}">
                    <a16:creationId xmlns:a16="http://schemas.microsoft.com/office/drawing/2014/main" id="{586F949E-307F-56DB-ED2F-A784FD46664F}"/>
                  </a:ext>
                </a:extLst>
              </p:cNvPr>
              <p:cNvSpPr/>
              <p:nvPr/>
            </p:nvSpPr>
            <p:spPr>
              <a:xfrm>
                <a:off x="2752254" y="5394722"/>
                <a:ext cx="375760" cy="75401"/>
              </a:xfrm>
              <a:custGeom>
                <a:avLst/>
                <a:gdLst>
                  <a:gd name="connsiteX0" fmla="*/ 160401 w 200786"/>
                  <a:gd name="connsiteY0" fmla="*/ 40291 h 40290"/>
                  <a:gd name="connsiteX1" fmla="*/ 0 w 200786"/>
                  <a:gd name="connsiteY1" fmla="*/ 40291 h 40290"/>
                  <a:gd name="connsiteX2" fmla="*/ 40386 w 200786"/>
                  <a:gd name="connsiteY2" fmla="*/ 0 h 40290"/>
                  <a:gd name="connsiteX3" fmla="*/ 200787 w 200786"/>
                  <a:gd name="connsiteY3" fmla="*/ 0 h 40290"/>
                </a:gdLst>
                <a:ahLst/>
                <a:cxnLst>
                  <a:cxn ang="0">
                    <a:pos x="connsiteX0" y="connsiteY0"/>
                  </a:cxn>
                  <a:cxn ang="0">
                    <a:pos x="connsiteX1" y="connsiteY1"/>
                  </a:cxn>
                  <a:cxn ang="0">
                    <a:pos x="connsiteX2" y="connsiteY2"/>
                  </a:cxn>
                  <a:cxn ang="0">
                    <a:pos x="connsiteX3" y="connsiteY3"/>
                  </a:cxn>
                </a:cxnLst>
                <a:rect l="l" t="t" r="r" b="b"/>
                <a:pathLst>
                  <a:path w="200786" h="40290">
                    <a:moveTo>
                      <a:pt x="160401" y="40291"/>
                    </a:moveTo>
                    <a:lnTo>
                      <a:pt x="0" y="40291"/>
                    </a:lnTo>
                    <a:lnTo>
                      <a:pt x="40386" y="0"/>
                    </a:lnTo>
                    <a:lnTo>
                      <a:pt x="200787" y="0"/>
                    </a:lnTo>
                    <a:close/>
                  </a:path>
                </a:pathLst>
              </a:custGeom>
              <a:solidFill>
                <a:schemeClr val="accent1"/>
              </a:solidFill>
              <a:ln w="9525" cap="flat">
                <a:noFill/>
                <a:prstDash val="solid"/>
                <a:miter/>
              </a:ln>
            </p:spPr>
            <p:txBody>
              <a:bodyPr rtlCol="0" anchor="ctr" anchorCtr="0"/>
              <a:lstStyle/>
              <a:p>
                <a:pPr algn="l"/>
                <a:endParaRPr/>
              </a:p>
            </p:txBody>
          </p:sp>
          <p:sp>
            <p:nvSpPr>
              <p:cNvPr id="20" name="任意多边形: 形状 19" descr="26e87c12-dbcf-42d1-90df-3ea962e45464">
                <a:extLst>
                  <a:ext uri="{FF2B5EF4-FFF2-40B4-BE49-F238E27FC236}">
                    <a16:creationId xmlns:a16="http://schemas.microsoft.com/office/drawing/2014/main" id="{F980A5B9-0735-E22B-6861-E8370AB64D07}"/>
                  </a:ext>
                </a:extLst>
              </p:cNvPr>
              <p:cNvSpPr/>
              <p:nvPr/>
            </p:nvSpPr>
            <p:spPr>
              <a:xfrm>
                <a:off x="813376" y="5221636"/>
                <a:ext cx="2553680" cy="506065"/>
              </a:xfrm>
              <a:custGeom>
                <a:avLst/>
                <a:gdLst>
                  <a:gd name="connsiteX0" fmla="*/ 837819 w 1364551"/>
                  <a:gd name="connsiteY0" fmla="*/ 190691 h 270414"/>
                  <a:gd name="connsiteX1" fmla="*/ 758190 w 1364551"/>
                  <a:gd name="connsiteY1" fmla="*/ 270415 h 270414"/>
                  <a:gd name="connsiteX2" fmla="*/ 0 w 1364551"/>
                  <a:gd name="connsiteY2" fmla="*/ 270415 h 270414"/>
                  <a:gd name="connsiteX3" fmla="*/ 159353 w 1364551"/>
                  <a:gd name="connsiteY3" fmla="*/ 111062 h 270414"/>
                  <a:gd name="connsiteX4" fmla="*/ 1253585 w 1364551"/>
                  <a:gd name="connsiteY4" fmla="*/ 111062 h 270414"/>
                  <a:gd name="connsiteX5" fmla="*/ 1364552 w 1364551"/>
                  <a:gd name="connsiteY5" fmla="*/ 0 h 27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4551" h="270414">
                    <a:moveTo>
                      <a:pt x="837819" y="190691"/>
                    </a:moveTo>
                    <a:lnTo>
                      <a:pt x="758190" y="270415"/>
                    </a:lnTo>
                    <a:lnTo>
                      <a:pt x="0" y="270415"/>
                    </a:lnTo>
                    <a:lnTo>
                      <a:pt x="159353" y="111062"/>
                    </a:lnTo>
                    <a:lnTo>
                      <a:pt x="1253585" y="111062"/>
                    </a:lnTo>
                    <a:lnTo>
                      <a:pt x="1364552" y="0"/>
                    </a:lnTo>
                  </a:path>
                </a:pathLst>
              </a:custGeom>
              <a:noFill/>
              <a:ln w="9525" cap="flat">
                <a:solidFill>
                  <a:schemeClr val="accent1"/>
                </a:solidFill>
                <a:prstDash val="solid"/>
                <a:miter/>
              </a:ln>
            </p:spPr>
            <p:txBody>
              <a:bodyPr rtlCol="0" anchor="ctr" anchorCtr="0"/>
              <a:lstStyle/>
              <a:p>
                <a:pPr algn="l"/>
                <a:endParaRPr/>
              </a:p>
            </p:txBody>
          </p:sp>
          <p:sp>
            <p:nvSpPr>
              <p:cNvPr id="28" name="任意多边形: 形状 27" descr="84ac8c34-4bf7-4f38-a0fb-fb9685baedf4">
                <a:extLst>
                  <a:ext uri="{FF2B5EF4-FFF2-40B4-BE49-F238E27FC236}">
                    <a16:creationId xmlns:a16="http://schemas.microsoft.com/office/drawing/2014/main" id="{29BCC43C-2E22-F7D2-88B2-9308BE0962AB}"/>
                  </a:ext>
                </a:extLst>
              </p:cNvPr>
              <p:cNvSpPr/>
              <p:nvPr/>
            </p:nvSpPr>
            <p:spPr>
              <a:xfrm>
                <a:off x="660400" y="2039008"/>
                <a:ext cx="223824" cy="22063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grpSp>
            <p:nvGrpSpPr>
              <p:cNvPr id="7" name="组合 1" descr="898b99c1-9e6b-46bd-8302-973f3f123381">
                <a:extLst>
                  <a:ext uri="{FF2B5EF4-FFF2-40B4-BE49-F238E27FC236}">
                    <a16:creationId xmlns:a16="http://schemas.microsoft.com/office/drawing/2014/main" id="{2433AF18-5D15-56A7-B6F3-55076CB663D1}"/>
                  </a:ext>
                </a:extLst>
              </p:cNvPr>
              <p:cNvGrpSpPr/>
              <p:nvPr/>
            </p:nvGrpSpPr>
            <p:grpSpPr>
              <a:xfrm>
                <a:off x="751249" y="2106346"/>
                <a:ext cx="2325967" cy="2722376"/>
                <a:chOff x="751249" y="2106346"/>
                <a:chExt cx="2325967" cy="2722376"/>
              </a:xfrm>
            </p:grpSpPr>
            <p:sp>
              <p:nvSpPr>
                <p:cNvPr id="30" name="Bullet1" descr="b014b111-1439-4357-9bd3-f9d0851c25b6">
                  <a:extLst>
                    <a:ext uri="{FF2B5EF4-FFF2-40B4-BE49-F238E27FC236}">
                      <a16:creationId xmlns:a16="http://schemas.microsoft.com/office/drawing/2014/main" id="{93AE95D1-D2B9-BEC2-64F7-6008E25E6450}"/>
                    </a:ext>
                  </a:extLst>
                </p:cNvPr>
                <p:cNvSpPr txBox="1">
                  <a:spLocks/>
                </p:cNvSpPr>
                <p:nvPr/>
              </p:nvSpPr>
              <p:spPr>
                <a:xfrm>
                  <a:off x="751249" y="2106346"/>
                  <a:ext cx="2325967" cy="717113"/>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b="1" i="1" u="none" strike="noStrike" dirty="0" err="1">
                      <a:solidFill>
                        <a:srgbClr val="000000"/>
                      </a:solidFill>
                      <a:ea typeface="微软雅黑"/>
                    </a:rPr>
                    <a:t>计算</a:t>
                  </a:r>
                  <a:r>
                    <a:rPr lang="en-US" b="1" i="1" u="none" strike="noStrike" dirty="0">
                      <a:solidFill>
                        <a:srgbClr val="000000"/>
                      </a:solidFill>
                      <a:ea typeface="微软雅黑"/>
                    </a:rPr>
                    <a:t> - </a:t>
                  </a:r>
                  <a:r>
                    <a:rPr lang="en-US" b="1" i="1" u="none" strike="noStrike" dirty="0" err="1">
                      <a:solidFill>
                        <a:srgbClr val="000000"/>
                      </a:solidFill>
                      <a:ea typeface="微软雅黑"/>
                    </a:rPr>
                    <a:t>内存协同调度</a:t>
                  </a:r>
                  <a:endParaRPr lang="en-US" b="1" i="1" u="none" strike="noStrike" dirty="0">
                    <a:solidFill>
                      <a:srgbClr val="000000"/>
                    </a:solidFill>
                    <a:ea typeface="微软雅黑"/>
                  </a:endParaRPr>
                </a:p>
              </p:txBody>
            </p:sp>
            <p:sp>
              <p:nvSpPr>
                <p:cNvPr id="31" name="Text1" descr="d807909a-0032-4678-a597-face70bb07dd">
                  <a:extLst>
                    <a:ext uri="{FF2B5EF4-FFF2-40B4-BE49-F238E27FC236}">
                      <a16:creationId xmlns:a16="http://schemas.microsoft.com/office/drawing/2014/main" id="{F558CEE7-8E38-F562-2C3A-350CF1B4AB06}"/>
                    </a:ext>
                  </a:extLst>
                </p:cNvPr>
                <p:cNvSpPr txBox="1">
                  <a:spLocks/>
                </p:cNvSpPr>
                <p:nvPr/>
              </p:nvSpPr>
              <p:spPr>
                <a:xfrm>
                  <a:off x="751249" y="3373125"/>
                  <a:ext cx="2325967" cy="1455597"/>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2000" u="none" strike="noStrike" dirty="0" err="1">
                      <a:solidFill>
                        <a:srgbClr val="000000"/>
                      </a:solidFill>
                      <a:ea typeface="微软雅黑"/>
                    </a:rPr>
                    <a:t>调度器根据内存负载动态分配计算任务，避免内存溢出或资源争用</a:t>
                  </a:r>
                  <a:r>
                    <a:rPr lang="en-US" sz="2000" u="none" strike="noStrike" dirty="0">
                      <a:solidFill>
                        <a:srgbClr val="000000"/>
                      </a:solidFill>
                      <a:ea typeface="微软雅黑"/>
                    </a:rPr>
                    <a:t>。</a:t>
                  </a:r>
                </a:p>
              </p:txBody>
            </p:sp>
          </p:grpSp>
        </p:grpSp>
        <p:grpSp>
          <p:nvGrpSpPr>
            <p:cNvPr id="10" name="组合 9" descr="cc71bc2a-7df5-46f3-a987-20976acf4e89">
              <a:extLst>
                <a:ext uri="{FF2B5EF4-FFF2-40B4-BE49-F238E27FC236}">
                  <a16:creationId xmlns:a16="http://schemas.microsoft.com/office/drawing/2014/main" id="{617970AC-FE22-9C8B-1CE5-02B4245A3DCF}"/>
                </a:ext>
              </a:extLst>
            </p:cNvPr>
            <p:cNvGrpSpPr/>
            <p:nvPr/>
          </p:nvGrpSpPr>
          <p:grpSpPr>
            <a:xfrm>
              <a:off x="3424248" y="2039008"/>
              <a:ext cx="2706656" cy="3688693"/>
              <a:chOff x="3424248" y="2039008"/>
              <a:chExt cx="2706656" cy="3688693"/>
            </a:xfrm>
          </p:grpSpPr>
          <p:sp>
            <p:nvSpPr>
              <p:cNvPr id="37" name="矩形 36" descr="e58a9bba-a246-48c0-b846-c0622c97676c">
                <a:extLst>
                  <a:ext uri="{FF2B5EF4-FFF2-40B4-BE49-F238E27FC236}">
                    <a16:creationId xmlns:a16="http://schemas.microsoft.com/office/drawing/2014/main" id="{0A08A11B-7C9B-BEB0-F96E-BD80325D7183}"/>
                  </a:ext>
                </a:extLst>
              </p:cNvPr>
              <p:cNvSpPr/>
              <p:nvPr/>
            </p:nvSpPr>
            <p:spPr>
              <a:xfrm>
                <a:off x="3451829" y="2069066"/>
                <a:ext cx="2460523" cy="3358476"/>
              </a:xfrm>
              <a:prstGeom prst="rect">
                <a:avLst/>
              </a:prstGeom>
              <a:gradFill flip="none" rotWithShape="1">
                <a:gsLst>
                  <a:gs pos="0">
                    <a:schemeClr val="accent1">
                      <a:alpha val="39000"/>
                    </a:schemeClr>
                  </a:gs>
                  <a:gs pos="100000">
                    <a:schemeClr val="accent1">
                      <a:alpha val="32000"/>
                    </a:schemeClr>
                  </a:gs>
                  <a:gs pos="55000">
                    <a:schemeClr val="accent1">
                      <a:alpha val="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42" name="任意多边形: 形状 41" descr="fe67df6a-f621-49b4-949f-294050711e38">
                <a:extLst>
                  <a:ext uri="{FF2B5EF4-FFF2-40B4-BE49-F238E27FC236}">
                    <a16:creationId xmlns:a16="http://schemas.microsoft.com/office/drawing/2014/main" id="{A065092A-71CF-14EA-5B95-EE2EF3A406E9}"/>
                  </a:ext>
                </a:extLst>
              </p:cNvPr>
              <p:cNvSpPr/>
              <p:nvPr/>
            </p:nvSpPr>
            <p:spPr>
              <a:xfrm>
                <a:off x="3817867"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43" name="任意多边形: 形状 42" descr="065a3351-4b68-4f68-a1e7-0aebfe16e5fe">
                <a:extLst>
                  <a:ext uri="{FF2B5EF4-FFF2-40B4-BE49-F238E27FC236}">
                    <a16:creationId xmlns:a16="http://schemas.microsoft.com/office/drawing/2014/main" id="{FAF5805B-4390-82FB-DE9A-E704BB0EE821}"/>
                  </a:ext>
                </a:extLst>
              </p:cNvPr>
              <p:cNvSpPr/>
              <p:nvPr/>
            </p:nvSpPr>
            <p:spPr>
              <a:xfrm>
                <a:off x="3962967"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44" name="任意多边形: 形状 43" descr="ed8add11-ebac-4db2-807c-4a7de159c6a1">
                <a:extLst>
                  <a:ext uri="{FF2B5EF4-FFF2-40B4-BE49-F238E27FC236}">
                    <a16:creationId xmlns:a16="http://schemas.microsoft.com/office/drawing/2014/main" id="{C7DE2F8A-28E6-4DC1-E5D7-342CFAB30E47}"/>
                  </a:ext>
                </a:extLst>
              </p:cNvPr>
              <p:cNvSpPr/>
              <p:nvPr/>
            </p:nvSpPr>
            <p:spPr>
              <a:xfrm>
                <a:off x="4108246"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45" name="任意多边形: 形状 44" descr="2d12b520-14fa-45d8-a5cb-466c4679b476">
                <a:extLst>
                  <a:ext uri="{FF2B5EF4-FFF2-40B4-BE49-F238E27FC236}">
                    <a16:creationId xmlns:a16="http://schemas.microsoft.com/office/drawing/2014/main" id="{7E1C5F86-12A1-50AD-BB9D-6D4B29A35F66}"/>
                  </a:ext>
                </a:extLst>
              </p:cNvPr>
              <p:cNvSpPr/>
              <p:nvPr/>
            </p:nvSpPr>
            <p:spPr>
              <a:xfrm>
                <a:off x="4253344"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46" name="任意多边形: 形状 45" descr="e610bc52-ab44-4445-85b2-1e1a0cb56d5a">
                <a:extLst>
                  <a:ext uri="{FF2B5EF4-FFF2-40B4-BE49-F238E27FC236}">
                    <a16:creationId xmlns:a16="http://schemas.microsoft.com/office/drawing/2014/main" id="{3C6B3C08-EDCC-4C7D-1326-E4E2B69E7378}"/>
                  </a:ext>
                </a:extLst>
              </p:cNvPr>
              <p:cNvSpPr/>
              <p:nvPr/>
            </p:nvSpPr>
            <p:spPr>
              <a:xfrm>
                <a:off x="4398623"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47" name="任意多边形: 形状 46" descr="4dae5413-3c29-4c43-800f-fbd30654fb27">
                <a:extLst>
                  <a:ext uri="{FF2B5EF4-FFF2-40B4-BE49-F238E27FC236}">
                    <a16:creationId xmlns:a16="http://schemas.microsoft.com/office/drawing/2014/main" id="{1729F206-D9A2-8C89-2087-67B284356A3E}"/>
                  </a:ext>
                </a:extLst>
              </p:cNvPr>
              <p:cNvSpPr/>
              <p:nvPr/>
            </p:nvSpPr>
            <p:spPr>
              <a:xfrm>
                <a:off x="5516102" y="5394722"/>
                <a:ext cx="375760" cy="75401"/>
              </a:xfrm>
              <a:custGeom>
                <a:avLst/>
                <a:gdLst>
                  <a:gd name="connsiteX0" fmla="*/ 160401 w 200786"/>
                  <a:gd name="connsiteY0" fmla="*/ 40291 h 40290"/>
                  <a:gd name="connsiteX1" fmla="*/ 0 w 200786"/>
                  <a:gd name="connsiteY1" fmla="*/ 40291 h 40290"/>
                  <a:gd name="connsiteX2" fmla="*/ 40386 w 200786"/>
                  <a:gd name="connsiteY2" fmla="*/ 0 h 40290"/>
                  <a:gd name="connsiteX3" fmla="*/ 200787 w 200786"/>
                  <a:gd name="connsiteY3" fmla="*/ 0 h 40290"/>
                </a:gdLst>
                <a:ahLst/>
                <a:cxnLst>
                  <a:cxn ang="0">
                    <a:pos x="connsiteX0" y="connsiteY0"/>
                  </a:cxn>
                  <a:cxn ang="0">
                    <a:pos x="connsiteX1" y="connsiteY1"/>
                  </a:cxn>
                  <a:cxn ang="0">
                    <a:pos x="connsiteX2" y="connsiteY2"/>
                  </a:cxn>
                  <a:cxn ang="0">
                    <a:pos x="connsiteX3" y="connsiteY3"/>
                  </a:cxn>
                </a:cxnLst>
                <a:rect l="l" t="t" r="r" b="b"/>
                <a:pathLst>
                  <a:path w="200786" h="40290">
                    <a:moveTo>
                      <a:pt x="160401" y="40291"/>
                    </a:moveTo>
                    <a:lnTo>
                      <a:pt x="0" y="40291"/>
                    </a:lnTo>
                    <a:lnTo>
                      <a:pt x="40386" y="0"/>
                    </a:lnTo>
                    <a:lnTo>
                      <a:pt x="200787" y="0"/>
                    </a:lnTo>
                    <a:close/>
                  </a:path>
                </a:pathLst>
              </a:custGeom>
              <a:solidFill>
                <a:schemeClr val="accent1"/>
              </a:solidFill>
              <a:ln w="9525" cap="flat">
                <a:noFill/>
                <a:prstDash val="solid"/>
                <a:miter/>
              </a:ln>
            </p:spPr>
            <p:txBody>
              <a:bodyPr rtlCol="0" anchor="ctr" anchorCtr="0"/>
              <a:lstStyle/>
              <a:p>
                <a:pPr algn="l"/>
                <a:endParaRPr/>
              </a:p>
            </p:txBody>
          </p:sp>
          <p:sp>
            <p:nvSpPr>
              <p:cNvPr id="41" name="任意多边形: 形状 40" descr="19471494-42d0-44aa-9cb8-f43764da08bf">
                <a:extLst>
                  <a:ext uri="{FF2B5EF4-FFF2-40B4-BE49-F238E27FC236}">
                    <a16:creationId xmlns:a16="http://schemas.microsoft.com/office/drawing/2014/main" id="{2F0D500D-F833-AC61-7AF0-BA31E8C07BC5}"/>
                  </a:ext>
                </a:extLst>
              </p:cNvPr>
              <p:cNvSpPr/>
              <p:nvPr/>
            </p:nvSpPr>
            <p:spPr>
              <a:xfrm>
                <a:off x="3577224" y="5221636"/>
                <a:ext cx="2553680" cy="506065"/>
              </a:xfrm>
              <a:custGeom>
                <a:avLst/>
                <a:gdLst>
                  <a:gd name="connsiteX0" fmla="*/ 837819 w 1364551"/>
                  <a:gd name="connsiteY0" fmla="*/ 190691 h 270414"/>
                  <a:gd name="connsiteX1" fmla="*/ 758190 w 1364551"/>
                  <a:gd name="connsiteY1" fmla="*/ 270415 h 270414"/>
                  <a:gd name="connsiteX2" fmla="*/ 0 w 1364551"/>
                  <a:gd name="connsiteY2" fmla="*/ 270415 h 270414"/>
                  <a:gd name="connsiteX3" fmla="*/ 159353 w 1364551"/>
                  <a:gd name="connsiteY3" fmla="*/ 111062 h 270414"/>
                  <a:gd name="connsiteX4" fmla="*/ 1253585 w 1364551"/>
                  <a:gd name="connsiteY4" fmla="*/ 111062 h 270414"/>
                  <a:gd name="connsiteX5" fmla="*/ 1364552 w 1364551"/>
                  <a:gd name="connsiteY5" fmla="*/ 0 h 27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4551" h="270414">
                    <a:moveTo>
                      <a:pt x="837819" y="190691"/>
                    </a:moveTo>
                    <a:lnTo>
                      <a:pt x="758190" y="270415"/>
                    </a:lnTo>
                    <a:lnTo>
                      <a:pt x="0" y="270415"/>
                    </a:lnTo>
                    <a:lnTo>
                      <a:pt x="159353" y="111062"/>
                    </a:lnTo>
                    <a:lnTo>
                      <a:pt x="1253585" y="111062"/>
                    </a:lnTo>
                    <a:lnTo>
                      <a:pt x="1364552" y="0"/>
                    </a:lnTo>
                  </a:path>
                </a:pathLst>
              </a:custGeom>
              <a:noFill/>
              <a:ln w="9525" cap="flat">
                <a:solidFill>
                  <a:schemeClr val="accent1"/>
                </a:solidFill>
                <a:prstDash val="solid"/>
                <a:miter/>
              </a:ln>
            </p:spPr>
            <p:txBody>
              <a:bodyPr rtlCol="0" anchor="ctr" anchorCtr="0"/>
              <a:lstStyle/>
              <a:p>
                <a:pPr algn="l"/>
                <a:endParaRPr/>
              </a:p>
            </p:txBody>
          </p:sp>
          <p:sp>
            <p:nvSpPr>
              <p:cNvPr id="39" name="任意多边形: 形状 38" descr="bcc47a57-f92d-48a8-b964-5b72b97610be">
                <a:extLst>
                  <a:ext uri="{FF2B5EF4-FFF2-40B4-BE49-F238E27FC236}">
                    <a16:creationId xmlns:a16="http://schemas.microsoft.com/office/drawing/2014/main" id="{1584EC34-4C5D-2A7E-3742-386A8CD79B30}"/>
                  </a:ext>
                </a:extLst>
              </p:cNvPr>
              <p:cNvSpPr/>
              <p:nvPr/>
            </p:nvSpPr>
            <p:spPr>
              <a:xfrm>
                <a:off x="3424248" y="2039008"/>
                <a:ext cx="223824" cy="22063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grpSp>
            <p:nvGrpSpPr>
              <p:cNvPr id="3" name="组合 2" descr="557036d1-f287-4b0e-915e-880e7e64e008">
                <a:extLst>
                  <a:ext uri="{FF2B5EF4-FFF2-40B4-BE49-F238E27FC236}">
                    <a16:creationId xmlns:a16="http://schemas.microsoft.com/office/drawing/2014/main" id="{7219AA24-0F9D-AE55-0806-028457ABD33F}"/>
                  </a:ext>
                </a:extLst>
              </p:cNvPr>
              <p:cNvGrpSpPr/>
              <p:nvPr/>
            </p:nvGrpSpPr>
            <p:grpSpPr>
              <a:xfrm>
                <a:off x="3515097" y="2106346"/>
                <a:ext cx="2325967" cy="2722376"/>
                <a:chOff x="3515097" y="2106346"/>
                <a:chExt cx="2325967" cy="2722376"/>
              </a:xfrm>
            </p:grpSpPr>
            <p:sp>
              <p:nvSpPr>
                <p:cNvPr id="35" name="Bullet2" descr="183661b4-feff-4d0a-ae93-0f0d98005e63">
                  <a:extLst>
                    <a:ext uri="{FF2B5EF4-FFF2-40B4-BE49-F238E27FC236}">
                      <a16:creationId xmlns:a16="http://schemas.microsoft.com/office/drawing/2014/main" id="{1A3E4061-F3B1-5131-250D-138741A96B7C}"/>
                    </a:ext>
                  </a:extLst>
                </p:cNvPr>
                <p:cNvSpPr txBox="1">
                  <a:spLocks/>
                </p:cNvSpPr>
                <p:nvPr/>
              </p:nvSpPr>
              <p:spPr>
                <a:xfrm>
                  <a:off x="3515097" y="2106346"/>
                  <a:ext cx="2325967" cy="717113"/>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b="1" i="1" u="none" strike="noStrike">
                      <a:solidFill>
                        <a:srgbClr val="000000"/>
                      </a:solidFill>
                      <a:ea typeface="微软雅黑"/>
                    </a:rPr>
                    <a:t>内存感知的查询优化</a:t>
                  </a:r>
                </a:p>
              </p:txBody>
            </p:sp>
            <p:sp>
              <p:nvSpPr>
                <p:cNvPr id="36" name="Text2" descr="f1a3dd83-5b55-4f71-8e01-51b62d64df8f">
                  <a:extLst>
                    <a:ext uri="{FF2B5EF4-FFF2-40B4-BE49-F238E27FC236}">
                      <a16:creationId xmlns:a16="http://schemas.microsoft.com/office/drawing/2014/main" id="{8D38D89E-4A49-1ED7-D0E5-6204632CD415}"/>
                    </a:ext>
                  </a:extLst>
                </p:cNvPr>
                <p:cNvSpPr txBox="1">
                  <a:spLocks/>
                </p:cNvSpPr>
                <p:nvPr/>
              </p:nvSpPr>
              <p:spPr>
                <a:xfrm>
                  <a:off x="3515097" y="3373125"/>
                  <a:ext cx="2325967" cy="1455597"/>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2000" u="none" strike="noStrike" dirty="0" err="1">
                      <a:solidFill>
                        <a:srgbClr val="000000"/>
                      </a:solidFill>
                      <a:ea typeface="微软雅黑"/>
                    </a:rPr>
                    <a:t>查询优化器评估内存成本，优先选择内存友好型执行计划</a:t>
                  </a:r>
                  <a:r>
                    <a:rPr lang="en-US" sz="2000" u="none" strike="noStrike" dirty="0">
                      <a:solidFill>
                        <a:srgbClr val="000000"/>
                      </a:solidFill>
                      <a:ea typeface="微软雅黑"/>
                    </a:rPr>
                    <a:t>。</a:t>
                  </a:r>
                </a:p>
              </p:txBody>
            </p:sp>
          </p:grpSp>
        </p:grpSp>
        <p:grpSp>
          <p:nvGrpSpPr>
            <p:cNvPr id="11" name="组合 10" descr="2f626642-ef72-4701-9a26-a345cdf8630a">
              <a:extLst>
                <a:ext uri="{FF2B5EF4-FFF2-40B4-BE49-F238E27FC236}">
                  <a16:creationId xmlns:a16="http://schemas.microsoft.com/office/drawing/2014/main" id="{0D8CC0F4-5F5D-DD9F-BF64-8AB273004269}"/>
                </a:ext>
              </a:extLst>
            </p:cNvPr>
            <p:cNvGrpSpPr/>
            <p:nvPr/>
          </p:nvGrpSpPr>
          <p:grpSpPr>
            <a:xfrm>
              <a:off x="6188096" y="2039008"/>
              <a:ext cx="2706656" cy="3688693"/>
              <a:chOff x="6188096" y="2039008"/>
              <a:chExt cx="2706656" cy="3688693"/>
            </a:xfrm>
          </p:grpSpPr>
          <p:sp>
            <p:nvSpPr>
              <p:cNvPr id="52" name="矩形 51" descr="525efa5f-0628-4630-8b3e-71d3da64701a">
                <a:extLst>
                  <a:ext uri="{FF2B5EF4-FFF2-40B4-BE49-F238E27FC236}">
                    <a16:creationId xmlns:a16="http://schemas.microsoft.com/office/drawing/2014/main" id="{CB62FEDF-DF83-1D7F-1FB4-3649F4016339}"/>
                  </a:ext>
                </a:extLst>
              </p:cNvPr>
              <p:cNvSpPr/>
              <p:nvPr/>
            </p:nvSpPr>
            <p:spPr>
              <a:xfrm>
                <a:off x="6215677" y="2069066"/>
                <a:ext cx="2460523" cy="3358476"/>
              </a:xfrm>
              <a:prstGeom prst="rect">
                <a:avLst/>
              </a:prstGeom>
              <a:gradFill flip="none" rotWithShape="1">
                <a:gsLst>
                  <a:gs pos="0">
                    <a:schemeClr val="accent1">
                      <a:alpha val="39000"/>
                    </a:schemeClr>
                  </a:gs>
                  <a:gs pos="100000">
                    <a:schemeClr val="accent1">
                      <a:alpha val="32000"/>
                    </a:schemeClr>
                  </a:gs>
                  <a:gs pos="55000">
                    <a:schemeClr val="accent1">
                      <a:alpha val="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57" name="任意多边形: 形状 56" descr="2b912393-ef97-43c1-a1a3-f28d13e3b492">
                <a:extLst>
                  <a:ext uri="{FF2B5EF4-FFF2-40B4-BE49-F238E27FC236}">
                    <a16:creationId xmlns:a16="http://schemas.microsoft.com/office/drawing/2014/main" id="{DEC68181-51D0-F5BE-7AA7-2A7158E2DA0A}"/>
                  </a:ext>
                </a:extLst>
              </p:cNvPr>
              <p:cNvSpPr/>
              <p:nvPr/>
            </p:nvSpPr>
            <p:spPr>
              <a:xfrm>
                <a:off x="6581715"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58" name="任意多边形: 形状 57" descr="69275e55-ddd4-476e-8351-910c0d16b5e6">
                <a:extLst>
                  <a:ext uri="{FF2B5EF4-FFF2-40B4-BE49-F238E27FC236}">
                    <a16:creationId xmlns:a16="http://schemas.microsoft.com/office/drawing/2014/main" id="{77399209-9283-CB90-F463-9A7C3BD5FA49}"/>
                  </a:ext>
                </a:extLst>
              </p:cNvPr>
              <p:cNvSpPr/>
              <p:nvPr/>
            </p:nvSpPr>
            <p:spPr>
              <a:xfrm>
                <a:off x="6726815"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59" name="任意多边形: 形状 58" descr="30cb6289-ce64-423f-95b0-cfb8f684358d">
                <a:extLst>
                  <a:ext uri="{FF2B5EF4-FFF2-40B4-BE49-F238E27FC236}">
                    <a16:creationId xmlns:a16="http://schemas.microsoft.com/office/drawing/2014/main" id="{C9D6694F-C361-C221-8668-97844831F359}"/>
                  </a:ext>
                </a:extLst>
              </p:cNvPr>
              <p:cNvSpPr/>
              <p:nvPr/>
            </p:nvSpPr>
            <p:spPr>
              <a:xfrm>
                <a:off x="6872094"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60" name="任意多边形: 形状 59" descr="0c4fb582-bc71-42cd-b783-fc126a3a0747">
                <a:extLst>
                  <a:ext uri="{FF2B5EF4-FFF2-40B4-BE49-F238E27FC236}">
                    <a16:creationId xmlns:a16="http://schemas.microsoft.com/office/drawing/2014/main" id="{B3459C07-2F94-1E74-B59D-BA3E8CF5B952}"/>
                  </a:ext>
                </a:extLst>
              </p:cNvPr>
              <p:cNvSpPr/>
              <p:nvPr/>
            </p:nvSpPr>
            <p:spPr>
              <a:xfrm>
                <a:off x="7017192"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61" name="任意多边形: 形状 60" descr="234b6881-9d2d-45cc-b33a-a5d0f08b6b11">
                <a:extLst>
                  <a:ext uri="{FF2B5EF4-FFF2-40B4-BE49-F238E27FC236}">
                    <a16:creationId xmlns:a16="http://schemas.microsoft.com/office/drawing/2014/main" id="{86DED3FE-89C1-7B8C-6CD6-3976FDC7E190}"/>
                  </a:ext>
                </a:extLst>
              </p:cNvPr>
              <p:cNvSpPr/>
              <p:nvPr/>
            </p:nvSpPr>
            <p:spPr>
              <a:xfrm>
                <a:off x="7162471"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62" name="任意多边形: 形状 61" descr="c0d52909-a0cb-4fd1-8273-e3933b12c48e">
                <a:extLst>
                  <a:ext uri="{FF2B5EF4-FFF2-40B4-BE49-F238E27FC236}">
                    <a16:creationId xmlns:a16="http://schemas.microsoft.com/office/drawing/2014/main" id="{AC066E04-289F-3923-F1FB-23C397186F8B}"/>
                  </a:ext>
                </a:extLst>
              </p:cNvPr>
              <p:cNvSpPr/>
              <p:nvPr/>
            </p:nvSpPr>
            <p:spPr>
              <a:xfrm>
                <a:off x="8279950" y="5394722"/>
                <a:ext cx="375760" cy="75401"/>
              </a:xfrm>
              <a:custGeom>
                <a:avLst/>
                <a:gdLst>
                  <a:gd name="connsiteX0" fmla="*/ 160401 w 200786"/>
                  <a:gd name="connsiteY0" fmla="*/ 40291 h 40290"/>
                  <a:gd name="connsiteX1" fmla="*/ 0 w 200786"/>
                  <a:gd name="connsiteY1" fmla="*/ 40291 h 40290"/>
                  <a:gd name="connsiteX2" fmla="*/ 40386 w 200786"/>
                  <a:gd name="connsiteY2" fmla="*/ 0 h 40290"/>
                  <a:gd name="connsiteX3" fmla="*/ 200787 w 200786"/>
                  <a:gd name="connsiteY3" fmla="*/ 0 h 40290"/>
                </a:gdLst>
                <a:ahLst/>
                <a:cxnLst>
                  <a:cxn ang="0">
                    <a:pos x="connsiteX0" y="connsiteY0"/>
                  </a:cxn>
                  <a:cxn ang="0">
                    <a:pos x="connsiteX1" y="connsiteY1"/>
                  </a:cxn>
                  <a:cxn ang="0">
                    <a:pos x="connsiteX2" y="connsiteY2"/>
                  </a:cxn>
                  <a:cxn ang="0">
                    <a:pos x="connsiteX3" y="connsiteY3"/>
                  </a:cxn>
                </a:cxnLst>
                <a:rect l="l" t="t" r="r" b="b"/>
                <a:pathLst>
                  <a:path w="200786" h="40290">
                    <a:moveTo>
                      <a:pt x="160401" y="40291"/>
                    </a:moveTo>
                    <a:lnTo>
                      <a:pt x="0" y="40291"/>
                    </a:lnTo>
                    <a:lnTo>
                      <a:pt x="40386" y="0"/>
                    </a:lnTo>
                    <a:lnTo>
                      <a:pt x="200787" y="0"/>
                    </a:lnTo>
                    <a:close/>
                  </a:path>
                </a:pathLst>
              </a:custGeom>
              <a:solidFill>
                <a:schemeClr val="accent1"/>
              </a:solidFill>
              <a:ln w="9525" cap="flat">
                <a:noFill/>
                <a:prstDash val="solid"/>
                <a:miter/>
              </a:ln>
            </p:spPr>
            <p:txBody>
              <a:bodyPr rtlCol="0" anchor="ctr" anchorCtr="0"/>
              <a:lstStyle/>
              <a:p>
                <a:pPr algn="l"/>
                <a:endParaRPr/>
              </a:p>
            </p:txBody>
          </p:sp>
          <p:sp>
            <p:nvSpPr>
              <p:cNvPr id="56" name="任意多边形: 形状 55" descr="23bfddb9-cdf4-4763-bf90-4864af9195bd">
                <a:extLst>
                  <a:ext uri="{FF2B5EF4-FFF2-40B4-BE49-F238E27FC236}">
                    <a16:creationId xmlns:a16="http://schemas.microsoft.com/office/drawing/2014/main" id="{ED449B20-82EC-DD4C-6792-507FF17D41C3}"/>
                  </a:ext>
                </a:extLst>
              </p:cNvPr>
              <p:cNvSpPr/>
              <p:nvPr/>
            </p:nvSpPr>
            <p:spPr>
              <a:xfrm>
                <a:off x="6341072" y="5221636"/>
                <a:ext cx="2553680" cy="506065"/>
              </a:xfrm>
              <a:custGeom>
                <a:avLst/>
                <a:gdLst>
                  <a:gd name="connsiteX0" fmla="*/ 837819 w 1364551"/>
                  <a:gd name="connsiteY0" fmla="*/ 190691 h 270414"/>
                  <a:gd name="connsiteX1" fmla="*/ 758190 w 1364551"/>
                  <a:gd name="connsiteY1" fmla="*/ 270415 h 270414"/>
                  <a:gd name="connsiteX2" fmla="*/ 0 w 1364551"/>
                  <a:gd name="connsiteY2" fmla="*/ 270415 h 270414"/>
                  <a:gd name="connsiteX3" fmla="*/ 159353 w 1364551"/>
                  <a:gd name="connsiteY3" fmla="*/ 111062 h 270414"/>
                  <a:gd name="connsiteX4" fmla="*/ 1253585 w 1364551"/>
                  <a:gd name="connsiteY4" fmla="*/ 111062 h 270414"/>
                  <a:gd name="connsiteX5" fmla="*/ 1364552 w 1364551"/>
                  <a:gd name="connsiteY5" fmla="*/ 0 h 27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4551" h="270414">
                    <a:moveTo>
                      <a:pt x="837819" y="190691"/>
                    </a:moveTo>
                    <a:lnTo>
                      <a:pt x="758190" y="270415"/>
                    </a:lnTo>
                    <a:lnTo>
                      <a:pt x="0" y="270415"/>
                    </a:lnTo>
                    <a:lnTo>
                      <a:pt x="159353" y="111062"/>
                    </a:lnTo>
                    <a:lnTo>
                      <a:pt x="1253585" y="111062"/>
                    </a:lnTo>
                    <a:lnTo>
                      <a:pt x="1364552" y="0"/>
                    </a:lnTo>
                  </a:path>
                </a:pathLst>
              </a:custGeom>
              <a:noFill/>
              <a:ln w="9525" cap="flat">
                <a:solidFill>
                  <a:schemeClr val="accent1"/>
                </a:solidFill>
                <a:prstDash val="solid"/>
                <a:miter/>
              </a:ln>
            </p:spPr>
            <p:txBody>
              <a:bodyPr rtlCol="0" anchor="ctr" anchorCtr="0"/>
              <a:lstStyle/>
              <a:p>
                <a:pPr algn="l"/>
                <a:endParaRPr/>
              </a:p>
            </p:txBody>
          </p:sp>
          <p:sp>
            <p:nvSpPr>
              <p:cNvPr id="54" name="任意多边形: 形状 53" descr="e615e948-0b0a-447e-87fa-8d12dae02282">
                <a:extLst>
                  <a:ext uri="{FF2B5EF4-FFF2-40B4-BE49-F238E27FC236}">
                    <a16:creationId xmlns:a16="http://schemas.microsoft.com/office/drawing/2014/main" id="{CA7049B2-3C49-C7E6-7C23-840CCB6129B0}"/>
                  </a:ext>
                </a:extLst>
              </p:cNvPr>
              <p:cNvSpPr/>
              <p:nvPr/>
            </p:nvSpPr>
            <p:spPr>
              <a:xfrm>
                <a:off x="6188096" y="2039008"/>
                <a:ext cx="223824" cy="22063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grpSp>
            <p:nvGrpSpPr>
              <p:cNvPr id="4" name="组合 3" descr="91f3c687-21b3-46ee-9958-b29d292b87c3">
                <a:extLst>
                  <a:ext uri="{FF2B5EF4-FFF2-40B4-BE49-F238E27FC236}">
                    <a16:creationId xmlns:a16="http://schemas.microsoft.com/office/drawing/2014/main" id="{F5D40DE7-95C1-7701-6812-993FE01139F1}"/>
                  </a:ext>
                </a:extLst>
              </p:cNvPr>
              <p:cNvGrpSpPr/>
              <p:nvPr/>
            </p:nvGrpSpPr>
            <p:grpSpPr>
              <a:xfrm>
                <a:off x="6278945" y="2106346"/>
                <a:ext cx="2325967" cy="3072709"/>
                <a:chOff x="6278945" y="2106346"/>
                <a:chExt cx="2325967" cy="3072709"/>
              </a:xfrm>
            </p:grpSpPr>
            <p:sp>
              <p:nvSpPr>
                <p:cNvPr id="50" name="Bullet3" descr="f5af7e5e-1200-467e-8cdb-6113bd184457">
                  <a:extLst>
                    <a:ext uri="{FF2B5EF4-FFF2-40B4-BE49-F238E27FC236}">
                      <a16:creationId xmlns:a16="http://schemas.microsoft.com/office/drawing/2014/main" id="{D348F0B2-7743-DD05-A7A1-D411DB82FF6F}"/>
                    </a:ext>
                  </a:extLst>
                </p:cNvPr>
                <p:cNvSpPr txBox="1">
                  <a:spLocks/>
                </p:cNvSpPr>
                <p:nvPr/>
              </p:nvSpPr>
              <p:spPr>
                <a:xfrm>
                  <a:off x="6278945" y="2106346"/>
                  <a:ext cx="2325967" cy="717113"/>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b="1" i="1" u="none" strike="noStrike">
                      <a:solidFill>
                        <a:srgbClr val="000000"/>
                      </a:solidFill>
                      <a:ea typeface="微软雅黑"/>
                    </a:rPr>
                    <a:t>异步I/O与重叠计算</a:t>
                  </a:r>
                </a:p>
              </p:txBody>
            </p:sp>
            <p:sp>
              <p:nvSpPr>
                <p:cNvPr id="51" name="Text3" descr="445cdc0a-3afc-4e0e-a074-5fff8b78ad18">
                  <a:extLst>
                    <a:ext uri="{FF2B5EF4-FFF2-40B4-BE49-F238E27FC236}">
                      <a16:creationId xmlns:a16="http://schemas.microsoft.com/office/drawing/2014/main" id="{434D6D71-02C3-603F-50BE-F0AE86FB657B}"/>
                    </a:ext>
                  </a:extLst>
                </p:cNvPr>
                <p:cNvSpPr txBox="1">
                  <a:spLocks/>
                </p:cNvSpPr>
                <p:nvPr/>
              </p:nvSpPr>
              <p:spPr>
                <a:xfrm>
                  <a:off x="6278945" y="3373125"/>
                  <a:ext cx="2325967" cy="1805930"/>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2000" u="none" strike="noStrike" dirty="0" err="1">
                      <a:solidFill>
                        <a:srgbClr val="000000"/>
                      </a:solidFill>
                      <a:ea typeface="微软雅黑"/>
                    </a:rPr>
                    <a:t>在数据加载的同时执行计算任务，隐藏I</a:t>
                  </a:r>
                  <a:r>
                    <a:rPr lang="en-US" sz="2000" u="none" strike="noStrike" dirty="0">
                      <a:solidFill>
                        <a:srgbClr val="000000"/>
                      </a:solidFill>
                      <a:ea typeface="微软雅黑"/>
                    </a:rPr>
                    <a:t>/</a:t>
                  </a:r>
                  <a:r>
                    <a:rPr lang="en-US" sz="2000" u="none" strike="noStrike" dirty="0" err="1">
                      <a:solidFill>
                        <a:srgbClr val="000000"/>
                      </a:solidFill>
                      <a:ea typeface="微软雅黑"/>
                    </a:rPr>
                    <a:t>O延迟</a:t>
                  </a:r>
                  <a:r>
                    <a:rPr lang="en-US" sz="2000" u="none" strike="noStrike" dirty="0">
                      <a:solidFill>
                        <a:srgbClr val="000000"/>
                      </a:solidFill>
                      <a:ea typeface="微软雅黑"/>
                    </a:rPr>
                    <a:t>。</a:t>
                  </a:r>
                </a:p>
              </p:txBody>
            </p:sp>
          </p:grpSp>
        </p:grpSp>
        <p:grpSp>
          <p:nvGrpSpPr>
            <p:cNvPr id="12" name="组合 11" descr="23eb50ee-cf72-4ff1-a68e-d33b632206a6">
              <a:extLst>
                <a:ext uri="{FF2B5EF4-FFF2-40B4-BE49-F238E27FC236}">
                  <a16:creationId xmlns:a16="http://schemas.microsoft.com/office/drawing/2014/main" id="{90645493-C245-9329-0256-CA2AD153FD09}"/>
                </a:ext>
              </a:extLst>
            </p:cNvPr>
            <p:cNvGrpSpPr/>
            <p:nvPr/>
          </p:nvGrpSpPr>
          <p:grpSpPr>
            <a:xfrm>
              <a:off x="8951944" y="2039008"/>
              <a:ext cx="2706656" cy="3688693"/>
              <a:chOff x="8951944" y="2039008"/>
              <a:chExt cx="2706656" cy="3688693"/>
            </a:xfrm>
          </p:grpSpPr>
          <p:sp>
            <p:nvSpPr>
              <p:cNvPr id="67" name="矩形 66" descr="130661ec-eb96-4e03-9505-58aa2a41de80">
                <a:extLst>
                  <a:ext uri="{FF2B5EF4-FFF2-40B4-BE49-F238E27FC236}">
                    <a16:creationId xmlns:a16="http://schemas.microsoft.com/office/drawing/2014/main" id="{339D1E78-0D2C-98F4-EC97-13795B2977DD}"/>
                  </a:ext>
                </a:extLst>
              </p:cNvPr>
              <p:cNvSpPr/>
              <p:nvPr/>
            </p:nvSpPr>
            <p:spPr>
              <a:xfrm>
                <a:off x="8979525" y="2069066"/>
                <a:ext cx="2460523" cy="3358476"/>
              </a:xfrm>
              <a:prstGeom prst="rect">
                <a:avLst/>
              </a:prstGeom>
              <a:gradFill flip="none" rotWithShape="1">
                <a:gsLst>
                  <a:gs pos="0">
                    <a:schemeClr val="accent1">
                      <a:alpha val="39000"/>
                    </a:schemeClr>
                  </a:gs>
                  <a:gs pos="100000">
                    <a:schemeClr val="accent1">
                      <a:alpha val="32000"/>
                    </a:schemeClr>
                  </a:gs>
                  <a:gs pos="55000">
                    <a:schemeClr val="accent1">
                      <a:alpha val="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72" name="任意多边形: 形状 71" descr="e85fab4e-c1f6-4629-b9f0-41fae92a71e3">
                <a:extLst>
                  <a:ext uri="{FF2B5EF4-FFF2-40B4-BE49-F238E27FC236}">
                    <a16:creationId xmlns:a16="http://schemas.microsoft.com/office/drawing/2014/main" id="{DCCB1F5E-6CD2-05A9-97F0-B1BD594FCD9B}"/>
                  </a:ext>
                </a:extLst>
              </p:cNvPr>
              <p:cNvSpPr/>
              <p:nvPr/>
            </p:nvSpPr>
            <p:spPr>
              <a:xfrm>
                <a:off x="9345563"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73" name="任意多边形: 形状 72" descr="27815c85-186e-402d-aa4f-2399a39d7b49">
                <a:extLst>
                  <a:ext uri="{FF2B5EF4-FFF2-40B4-BE49-F238E27FC236}">
                    <a16:creationId xmlns:a16="http://schemas.microsoft.com/office/drawing/2014/main" id="{F8952065-1F53-8359-83E9-BCD496849115}"/>
                  </a:ext>
                </a:extLst>
              </p:cNvPr>
              <p:cNvSpPr/>
              <p:nvPr/>
            </p:nvSpPr>
            <p:spPr>
              <a:xfrm>
                <a:off x="9490663"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74" name="任意多边形: 形状 73" descr="eb39784e-4fab-407c-9061-477cbc6607ca">
                <a:extLst>
                  <a:ext uri="{FF2B5EF4-FFF2-40B4-BE49-F238E27FC236}">
                    <a16:creationId xmlns:a16="http://schemas.microsoft.com/office/drawing/2014/main" id="{4064D678-0479-C50C-20F9-7CA56BED2125}"/>
                  </a:ext>
                </a:extLst>
              </p:cNvPr>
              <p:cNvSpPr/>
              <p:nvPr/>
            </p:nvSpPr>
            <p:spPr>
              <a:xfrm>
                <a:off x="9635942"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75" name="任意多边形: 形状 74" descr="fa43821d-17c3-4300-9d72-efc385290ae1">
                <a:extLst>
                  <a:ext uri="{FF2B5EF4-FFF2-40B4-BE49-F238E27FC236}">
                    <a16:creationId xmlns:a16="http://schemas.microsoft.com/office/drawing/2014/main" id="{5C1C31FB-9CE7-A3AE-5971-9FBF412B2215}"/>
                  </a:ext>
                </a:extLst>
              </p:cNvPr>
              <p:cNvSpPr/>
              <p:nvPr/>
            </p:nvSpPr>
            <p:spPr>
              <a:xfrm>
                <a:off x="9781040"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76" name="任意多边形: 形状 75" descr="00d4ef11-a371-4d66-babd-06f6b26f68fa">
                <a:extLst>
                  <a:ext uri="{FF2B5EF4-FFF2-40B4-BE49-F238E27FC236}">
                    <a16:creationId xmlns:a16="http://schemas.microsoft.com/office/drawing/2014/main" id="{2F27E30A-926C-097C-7B97-5E8CD9E353A7}"/>
                  </a:ext>
                </a:extLst>
              </p:cNvPr>
              <p:cNvSpPr/>
              <p:nvPr/>
            </p:nvSpPr>
            <p:spPr>
              <a:xfrm>
                <a:off x="9926319"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77" name="任意多边形: 形状 76" descr="f4492bdc-4d9b-4b89-aa0d-49d5570fb7a8">
                <a:extLst>
                  <a:ext uri="{FF2B5EF4-FFF2-40B4-BE49-F238E27FC236}">
                    <a16:creationId xmlns:a16="http://schemas.microsoft.com/office/drawing/2014/main" id="{C4CEC474-7569-8B2C-911B-3C6D0EC33FE9}"/>
                  </a:ext>
                </a:extLst>
              </p:cNvPr>
              <p:cNvSpPr/>
              <p:nvPr/>
            </p:nvSpPr>
            <p:spPr>
              <a:xfrm>
                <a:off x="11043798" y="5394722"/>
                <a:ext cx="375760" cy="75401"/>
              </a:xfrm>
              <a:custGeom>
                <a:avLst/>
                <a:gdLst>
                  <a:gd name="connsiteX0" fmla="*/ 160401 w 200786"/>
                  <a:gd name="connsiteY0" fmla="*/ 40291 h 40290"/>
                  <a:gd name="connsiteX1" fmla="*/ 0 w 200786"/>
                  <a:gd name="connsiteY1" fmla="*/ 40291 h 40290"/>
                  <a:gd name="connsiteX2" fmla="*/ 40386 w 200786"/>
                  <a:gd name="connsiteY2" fmla="*/ 0 h 40290"/>
                  <a:gd name="connsiteX3" fmla="*/ 200787 w 200786"/>
                  <a:gd name="connsiteY3" fmla="*/ 0 h 40290"/>
                </a:gdLst>
                <a:ahLst/>
                <a:cxnLst>
                  <a:cxn ang="0">
                    <a:pos x="connsiteX0" y="connsiteY0"/>
                  </a:cxn>
                  <a:cxn ang="0">
                    <a:pos x="connsiteX1" y="connsiteY1"/>
                  </a:cxn>
                  <a:cxn ang="0">
                    <a:pos x="connsiteX2" y="connsiteY2"/>
                  </a:cxn>
                  <a:cxn ang="0">
                    <a:pos x="connsiteX3" y="connsiteY3"/>
                  </a:cxn>
                </a:cxnLst>
                <a:rect l="l" t="t" r="r" b="b"/>
                <a:pathLst>
                  <a:path w="200786" h="40290">
                    <a:moveTo>
                      <a:pt x="160401" y="40291"/>
                    </a:moveTo>
                    <a:lnTo>
                      <a:pt x="0" y="40291"/>
                    </a:lnTo>
                    <a:lnTo>
                      <a:pt x="40386" y="0"/>
                    </a:lnTo>
                    <a:lnTo>
                      <a:pt x="200787" y="0"/>
                    </a:lnTo>
                    <a:close/>
                  </a:path>
                </a:pathLst>
              </a:custGeom>
              <a:solidFill>
                <a:schemeClr val="accent1"/>
              </a:solidFill>
              <a:ln w="9525" cap="flat">
                <a:noFill/>
                <a:prstDash val="solid"/>
                <a:miter/>
              </a:ln>
            </p:spPr>
            <p:txBody>
              <a:bodyPr rtlCol="0" anchor="ctr" anchorCtr="0"/>
              <a:lstStyle/>
              <a:p>
                <a:pPr algn="l"/>
                <a:endParaRPr/>
              </a:p>
            </p:txBody>
          </p:sp>
          <p:sp>
            <p:nvSpPr>
              <p:cNvPr id="71" name="任意多边形: 形状 70" descr="d1115460-9583-4ef3-8a8a-36292cf97106">
                <a:extLst>
                  <a:ext uri="{FF2B5EF4-FFF2-40B4-BE49-F238E27FC236}">
                    <a16:creationId xmlns:a16="http://schemas.microsoft.com/office/drawing/2014/main" id="{76AD88FF-F23A-A011-3E40-45A8A967BE4E}"/>
                  </a:ext>
                </a:extLst>
              </p:cNvPr>
              <p:cNvSpPr/>
              <p:nvPr/>
            </p:nvSpPr>
            <p:spPr>
              <a:xfrm>
                <a:off x="9104920" y="5221636"/>
                <a:ext cx="2553680" cy="506065"/>
              </a:xfrm>
              <a:custGeom>
                <a:avLst/>
                <a:gdLst>
                  <a:gd name="connsiteX0" fmla="*/ 837819 w 1364551"/>
                  <a:gd name="connsiteY0" fmla="*/ 190691 h 270414"/>
                  <a:gd name="connsiteX1" fmla="*/ 758190 w 1364551"/>
                  <a:gd name="connsiteY1" fmla="*/ 270415 h 270414"/>
                  <a:gd name="connsiteX2" fmla="*/ 0 w 1364551"/>
                  <a:gd name="connsiteY2" fmla="*/ 270415 h 270414"/>
                  <a:gd name="connsiteX3" fmla="*/ 159353 w 1364551"/>
                  <a:gd name="connsiteY3" fmla="*/ 111062 h 270414"/>
                  <a:gd name="connsiteX4" fmla="*/ 1253585 w 1364551"/>
                  <a:gd name="connsiteY4" fmla="*/ 111062 h 270414"/>
                  <a:gd name="connsiteX5" fmla="*/ 1364552 w 1364551"/>
                  <a:gd name="connsiteY5" fmla="*/ 0 h 27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4551" h="270414">
                    <a:moveTo>
                      <a:pt x="837819" y="190691"/>
                    </a:moveTo>
                    <a:lnTo>
                      <a:pt x="758190" y="270415"/>
                    </a:lnTo>
                    <a:lnTo>
                      <a:pt x="0" y="270415"/>
                    </a:lnTo>
                    <a:lnTo>
                      <a:pt x="159353" y="111062"/>
                    </a:lnTo>
                    <a:lnTo>
                      <a:pt x="1253585" y="111062"/>
                    </a:lnTo>
                    <a:lnTo>
                      <a:pt x="1364552" y="0"/>
                    </a:lnTo>
                  </a:path>
                </a:pathLst>
              </a:custGeom>
              <a:noFill/>
              <a:ln w="9525" cap="flat">
                <a:solidFill>
                  <a:schemeClr val="accent1"/>
                </a:solidFill>
                <a:prstDash val="solid"/>
                <a:miter/>
              </a:ln>
            </p:spPr>
            <p:txBody>
              <a:bodyPr rtlCol="0" anchor="ctr" anchorCtr="0"/>
              <a:lstStyle/>
              <a:p>
                <a:pPr algn="l"/>
                <a:endParaRPr/>
              </a:p>
            </p:txBody>
          </p:sp>
          <p:sp>
            <p:nvSpPr>
              <p:cNvPr id="69" name="任意多边形: 形状 68" descr="fb9d74a3-4a7c-41c3-acc2-081d68dad962">
                <a:extLst>
                  <a:ext uri="{FF2B5EF4-FFF2-40B4-BE49-F238E27FC236}">
                    <a16:creationId xmlns:a16="http://schemas.microsoft.com/office/drawing/2014/main" id="{D40AFF23-ED60-C197-D23F-F2F7ED4E117B}"/>
                  </a:ext>
                </a:extLst>
              </p:cNvPr>
              <p:cNvSpPr/>
              <p:nvPr/>
            </p:nvSpPr>
            <p:spPr>
              <a:xfrm>
                <a:off x="8951944" y="2039008"/>
                <a:ext cx="223824" cy="22063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grpSp>
            <p:nvGrpSpPr>
              <p:cNvPr id="6" name="组合 5" descr="067d14c8-8ba1-4630-b47b-2b6c8bb2fbcd">
                <a:extLst>
                  <a:ext uri="{FF2B5EF4-FFF2-40B4-BE49-F238E27FC236}">
                    <a16:creationId xmlns:a16="http://schemas.microsoft.com/office/drawing/2014/main" id="{B19F4ED3-1D4A-F34B-602F-9FE78DD83C82}"/>
                  </a:ext>
                </a:extLst>
              </p:cNvPr>
              <p:cNvGrpSpPr/>
              <p:nvPr/>
            </p:nvGrpSpPr>
            <p:grpSpPr>
              <a:xfrm>
                <a:off x="9042793" y="2106346"/>
                <a:ext cx="2325967" cy="3072709"/>
                <a:chOff x="9042793" y="2106346"/>
                <a:chExt cx="2325967" cy="3072709"/>
              </a:xfrm>
            </p:grpSpPr>
            <p:sp>
              <p:nvSpPr>
                <p:cNvPr id="65" name="Bullet4" descr="cec4e6d1-14cf-4463-b74a-143aafa3a820">
                  <a:extLst>
                    <a:ext uri="{FF2B5EF4-FFF2-40B4-BE49-F238E27FC236}">
                      <a16:creationId xmlns:a16="http://schemas.microsoft.com/office/drawing/2014/main" id="{03A47710-7A5A-34BA-57A0-748D5CAC3084}"/>
                    </a:ext>
                  </a:extLst>
                </p:cNvPr>
                <p:cNvSpPr txBox="1">
                  <a:spLocks/>
                </p:cNvSpPr>
                <p:nvPr/>
              </p:nvSpPr>
              <p:spPr>
                <a:xfrm>
                  <a:off x="9042793" y="2106346"/>
                  <a:ext cx="2325967" cy="717113"/>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b="1" i="1" u="none" strike="noStrike">
                      <a:solidFill>
                        <a:srgbClr val="000000"/>
                      </a:solidFill>
                      <a:ea typeface="微软雅黑"/>
                    </a:rPr>
                    <a:t>内存压缩与计算加速联动</a:t>
                  </a:r>
                </a:p>
              </p:txBody>
            </p:sp>
            <p:sp>
              <p:nvSpPr>
                <p:cNvPr id="66" name="Text4" descr="e88dddf7-3ac2-4a88-84c2-3581d16afcec">
                  <a:extLst>
                    <a:ext uri="{FF2B5EF4-FFF2-40B4-BE49-F238E27FC236}">
                      <a16:creationId xmlns:a16="http://schemas.microsoft.com/office/drawing/2014/main" id="{FE95B60C-44D0-9939-2767-84AC3DCF074F}"/>
                    </a:ext>
                  </a:extLst>
                </p:cNvPr>
                <p:cNvSpPr txBox="1">
                  <a:spLocks/>
                </p:cNvSpPr>
                <p:nvPr/>
              </p:nvSpPr>
              <p:spPr>
                <a:xfrm>
                  <a:off x="9042793" y="3373125"/>
                  <a:ext cx="2325967" cy="1805930"/>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2000" u="none" strike="noStrike" dirty="0" err="1">
                      <a:solidFill>
                        <a:srgbClr val="000000"/>
                      </a:solidFill>
                      <a:ea typeface="微软雅黑"/>
                    </a:rPr>
                    <a:t>压缩减少内存占用，同时利用硬件解压加速保持性能</a:t>
                  </a:r>
                  <a:r>
                    <a:rPr lang="en-US" sz="2000" u="none" strike="noStrike" dirty="0">
                      <a:solidFill>
                        <a:srgbClr val="000000"/>
                      </a:solidFill>
                      <a:ea typeface="微软雅黑"/>
                    </a:rPr>
                    <a:t>。</a:t>
                  </a:r>
                </a:p>
              </p:txBody>
            </p:sp>
          </p:gr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24ebb528-3919-43e3-8209-8d8e234fc1ea.source.4.zh-Hans.pptx" descr="cb60a47b-dd65-4b4c-8faa-5783f85bddc2">
            <a:extLst>
              <a:ext uri="{FF2B5EF4-FFF2-40B4-BE49-F238E27FC236}">
                <a16:creationId xmlns:a16="http://schemas.microsoft.com/office/drawing/2014/main" id="{2ED26358-9EC0-13A0-C871-DA5B382653D9}"/>
              </a:ext>
            </a:extLst>
          </p:cNvPr>
          <p:cNvGrpSpPr/>
          <p:nvPr/>
        </p:nvGrpSpPr>
        <p:grpSpPr>
          <a:xfrm>
            <a:off x="73955" y="652628"/>
            <a:ext cx="11967700" cy="5727701"/>
            <a:chOff x="105800" y="1130300"/>
            <a:chExt cx="11967700" cy="5727701"/>
          </a:xfrm>
        </p:grpSpPr>
        <p:sp>
          <p:nvSpPr>
            <p:cNvPr id="53" name="任意多边形: 形状 52" descr="6b281cb9-431d-4d3f-a533-379710d8a897">
              <a:extLst>
                <a:ext uri="{FF2B5EF4-FFF2-40B4-BE49-F238E27FC236}">
                  <a16:creationId xmlns:a16="http://schemas.microsoft.com/office/drawing/2014/main" id="{5B48FC04-2293-58E7-C39E-DE787B062E91}"/>
                </a:ext>
              </a:extLst>
            </p:cNvPr>
            <p:cNvSpPr/>
            <p:nvPr/>
          </p:nvSpPr>
          <p:spPr>
            <a:xfrm>
              <a:off x="105800" y="6076950"/>
              <a:ext cx="11967700" cy="781051"/>
            </a:xfrm>
            <a:custGeom>
              <a:avLst/>
              <a:gdLst>
                <a:gd name="connsiteX0" fmla="*/ 5983850 w 11967700"/>
                <a:gd name="connsiteY0" fmla="*/ 0 h 781051"/>
                <a:gd name="connsiteX1" fmla="*/ 11956001 w 11967700"/>
                <a:gd name="connsiteY1" fmla="*/ 770679 h 781051"/>
                <a:gd name="connsiteX2" fmla="*/ 11967700 w 11967700"/>
                <a:gd name="connsiteY2" fmla="*/ 781051 h 781051"/>
                <a:gd name="connsiteX3" fmla="*/ 0 w 11967700"/>
                <a:gd name="connsiteY3" fmla="*/ 781051 h 781051"/>
                <a:gd name="connsiteX4" fmla="*/ 11699 w 11967700"/>
                <a:gd name="connsiteY4" fmla="*/ 770679 h 781051"/>
                <a:gd name="connsiteX5" fmla="*/ 5983850 w 11967700"/>
                <a:gd name="connsiteY5" fmla="*/ 0 h 78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67700" h="781051">
                  <a:moveTo>
                    <a:pt x="5983850" y="0"/>
                  </a:moveTo>
                  <a:cubicBezTo>
                    <a:pt x="8929737" y="0"/>
                    <a:pt x="11387572" y="330854"/>
                    <a:pt x="11956001" y="770679"/>
                  </a:cubicBezTo>
                  <a:lnTo>
                    <a:pt x="11967700" y="781051"/>
                  </a:lnTo>
                  <a:lnTo>
                    <a:pt x="0" y="781051"/>
                  </a:lnTo>
                  <a:lnTo>
                    <a:pt x="11699" y="770679"/>
                  </a:lnTo>
                  <a:cubicBezTo>
                    <a:pt x="580128" y="330854"/>
                    <a:pt x="3037963" y="0"/>
                    <a:pt x="5983850" y="0"/>
                  </a:cubicBezTo>
                  <a:close/>
                </a:path>
              </a:pathLst>
            </a:custGeom>
            <a:gradFill>
              <a:gsLst>
                <a:gs pos="100000">
                  <a:schemeClr val="accent1">
                    <a:alpha val="0"/>
                  </a:schemeClr>
                </a:gs>
                <a:gs pos="0">
                  <a:schemeClr val="accent1">
                    <a:alpha val="15000"/>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a:p>
          </p:txBody>
        </p:sp>
        <p:sp>
          <p:nvSpPr>
            <p:cNvPr id="50" name="任意多边形: 形状 49" descr="4bd6c0ae-b569-48d5-a09f-e750fb9288a9">
              <a:extLst>
                <a:ext uri="{FF2B5EF4-FFF2-40B4-BE49-F238E27FC236}">
                  <a16:creationId xmlns:a16="http://schemas.microsoft.com/office/drawing/2014/main" id="{1F683F27-7814-1927-DA3F-ACBD92F14A2E}"/>
                </a:ext>
              </a:extLst>
            </p:cNvPr>
            <p:cNvSpPr/>
            <p:nvPr/>
          </p:nvSpPr>
          <p:spPr>
            <a:xfrm>
              <a:off x="1259391" y="6235700"/>
              <a:ext cx="9660518" cy="622300"/>
            </a:xfrm>
            <a:custGeom>
              <a:avLst/>
              <a:gdLst>
                <a:gd name="connsiteX0" fmla="*/ 4830259 w 9660518"/>
                <a:gd name="connsiteY0" fmla="*/ 0 h 622300"/>
                <a:gd name="connsiteX1" fmla="*/ 9627292 w 9660518"/>
                <a:gd name="connsiteY1" fmla="*/ 602330 h 622300"/>
                <a:gd name="connsiteX2" fmla="*/ 9660518 w 9660518"/>
                <a:gd name="connsiteY2" fmla="*/ 622300 h 622300"/>
                <a:gd name="connsiteX3" fmla="*/ 0 w 9660518"/>
                <a:gd name="connsiteY3" fmla="*/ 622300 h 622300"/>
                <a:gd name="connsiteX4" fmla="*/ 33227 w 9660518"/>
                <a:gd name="connsiteY4" fmla="*/ 602330 h 622300"/>
                <a:gd name="connsiteX5" fmla="*/ 4830259 w 9660518"/>
                <a:gd name="connsiteY5" fmla="*/ 0 h 622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0518" h="622300">
                  <a:moveTo>
                    <a:pt x="4830259" y="0"/>
                  </a:moveTo>
                  <a:cubicBezTo>
                    <a:pt x="7084169" y="0"/>
                    <a:pt x="8991341" y="253371"/>
                    <a:pt x="9627292" y="602330"/>
                  </a:cubicBezTo>
                  <a:lnTo>
                    <a:pt x="9660518" y="622300"/>
                  </a:lnTo>
                  <a:lnTo>
                    <a:pt x="0" y="622300"/>
                  </a:lnTo>
                  <a:lnTo>
                    <a:pt x="33227" y="602330"/>
                  </a:lnTo>
                  <a:cubicBezTo>
                    <a:pt x="669177" y="253371"/>
                    <a:pt x="2576349" y="0"/>
                    <a:pt x="4830259" y="0"/>
                  </a:cubicBezTo>
                  <a:close/>
                </a:path>
              </a:pathLst>
            </a:custGeom>
            <a:gradFill>
              <a:gsLst>
                <a:gs pos="100000">
                  <a:schemeClr val="accent1">
                    <a:alpha val="0"/>
                  </a:schemeClr>
                </a:gs>
                <a:gs pos="0">
                  <a:schemeClr val="accent1">
                    <a:alpha val="15000"/>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a:p>
          </p:txBody>
        </p:sp>
        <p:sp>
          <p:nvSpPr>
            <p:cNvPr id="47" name="任意多边形: 形状 46" descr="44d315dd-8b98-48b4-adef-7dcb6fc763fa">
              <a:extLst>
                <a:ext uri="{FF2B5EF4-FFF2-40B4-BE49-F238E27FC236}">
                  <a16:creationId xmlns:a16="http://schemas.microsoft.com/office/drawing/2014/main" id="{01519730-9993-D2EF-D6FB-821AE0B368EA}"/>
                </a:ext>
              </a:extLst>
            </p:cNvPr>
            <p:cNvSpPr/>
            <p:nvPr/>
          </p:nvSpPr>
          <p:spPr>
            <a:xfrm>
              <a:off x="4159250" y="6502400"/>
              <a:ext cx="3860800" cy="355600"/>
            </a:xfrm>
            <a:custGeom>
              <a:avLst/>
              <a:gdLst>
                <a:gd name="connsiteX0" fmla="*/ 1930400 w 3860800"/>
                <a:gd name="connsiteY0" fmla="*/ 0 h 355600"/>
                <a:gd name="connsiteX1" fmla="*/ 3860800 w 3860800"/>
                <a:gd name="connsiteY1" fmla="*/ 266700 h 355600"/>
                <a:gd name="connsiteX2" fmla="*/ 3774013 w 3860800"/>
                <a:gd name="connsiteY2" fmla="*/ 346009 h 355600"/>
                <a:gd name="connsiteX3" fmla="*/ 3748603 w 3860800"/>
                <a:gd name="connsiteY3" fmla="*/ 355600 h 355600"/>
                <a:gd name="connsiteX4" fmla="*/ 112197 w 3860800"/>
                <a:gd name="connsiteY4" fmla="*/ 355600 h 355600"/>
                <a:gd name="connsiteX5" fmla="*/ 86787 w 3860800"/>
                <a:gd name="connsiteY5" fmla="*/ 346009 h 355600"/>
                <a:gd name="connsiteX6" fmla="*/ 0 w 3860800"/>
                <a:gd name="connsiteY6" fmla="*/ 266700 h 355600"/>
                <a:gd name="connsiteX7" fmla="*/ 1930400 w 3860800"/>
                <a:gd name="connsiteY7" fmla="*/ 0 h 35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0800" h="355600">
                  <a:moveTo>
                    <a:pt x="1930400" y="0"/>
                  </a:moveTo>
                  <a:cubicBezTo>
                    <a:pt x="2996530" y="0"/>
                    <a:pt x="3860800" y="119406"/>
                    <a:pt x="3860800" y="266700"/>
                  </a:cubicBezTo>
                  <a:cubicBezTo>
                    <a:pt x="3860800" y="294318"/>
                    <a:pt x="3830416" y="320955"/>
                    <a:pt x="3774013" y="346009"/>
                  </a:cubicBezTo>
                  <a:lnTo>
                    <a:pt x="3748603" y="355600"/>
                  </a:lnTo>
                  <a:lnTo>
                    <a:pt x="112197" y="355600"/>
                  </a:lnTo>
                  <a:lnTo>
                    <a:pt x="86787" y="346009"/>
                  </a:lnTo>
                  <a:cubicBezTo>
                    <a:pt x="30385" y="320955"/>
                    <a:pt x="0" y="294318"/>
                    <a:pt x="0" y="266700"/>
                  </a:cubicBezTo>
                  <a:cubicBezTo>
                    <a:pt x="0" y="119406"/>
                    <a:pt x="864270" y="0"/>
                    <a:pt x="1930400" y="0"/>
                  </a:cubicBezTo>
                  <a:close/>
                </a:path>
              </a:pathLst>
            </a:custGeom>
            <a:gradFill flip="none" rotWithShape="1">
              <a:gsLst>
                <a:gs pos="100000">
                  <a:schemeClr val="accent1">
                    <a:alpha val="0"/>
                  </a:schemeClr>
                </a:gs>
                <a:gs pos="0">
                  <a:schemeClr val="accent1">
                    <a:alpha val="5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a:p>
          </p:txBody>
        </p:sp>
        <p:sp>
          <p:nvSpPr>
            <p:cNvPr id="3" name="Title" descr="abbdd164-6c06-42c2-9960-b59567375323">
              <a:extLst>
                <a:ext uri="{FF2B5EF4-FFF2-40B4-BE49-F238E27FC236}">
                  <a16:creationId xmlns:a16="http://schemas.microsoft.com/office/drawing/2014/main" id="{85BF2160-ACEA-9DCA-C10D-05CF2C19D53F}"/>
                </a:ext>
              </a:extLst>
            </p:cNvPr>
            <p:cNvSpPr txBox="1"/>
            <p:nvPr/>
          </p:nvSpPr>
          <p:spPr>
            <a:xfrm>
              <a:off x="660400" y="1130300"/>
              <a:ext cx="10858500" cy="461665"/>
            </a:xfrm>
            <a:prstGeom prst="rect">
              <a:avLst/>
            </a:prstGeom>
            <a:noFill/>
          </p:spPr>
          <p:txBody>
            <a:bodyPr vert="horz" wrap="square" rtlCol="0" anchor="ctr" anchorCtr="0">
              <a:normAutofit fontScale="92500" lnSpcReduction="10000"/>
            </a:bodyPr>
            <a:lstStyle/>
            <a:p>
              <a:pPr algn="ctr"/>
              <a:r>
                <a:rPr lang="en-US" sz="2800" b="1" dirty="0" err="1">
                  <a:solidFill>
                    <a:schemeClr val="tx2"/>
                  </a:solidFill>
                  <a:latin typeface="+mj-lt"/>
                  <a:ea typeface="+mj-ea"/>
                  <a:cs typeface="+mj-cs"/>
                </a:rPr>
                <a:t>AI数据库</a:t>
              </a:r>
              <a:r>
                <a:rPr lang="en-US" altLang="zh-CN" sz="2800" b="1" dirty="0" err="1">
                  <a:solidFill>
                    <a:schemeClr val="tx2"/>
                  </a:solidFill>
                  <a:latin typeface="+mj-lt"/>
                  <a:ea typeface="+mj-ea"/>
                  <a:cs typeface="+mj-cs"/>
                </a:rPr>
                <a:t>高性能计算</a:t>
              </a:r>
              <a:r>
                <a:rPr lang="zh-CN" altLang="en-US" sz="2800" b="1" dirty="0">
                  <a:solidFill>
                    <a:schemeClr val="tx2"/>
                  </a:solidFill>
                  <a:latin typeface="+mj-lt"/>
                  <a:ea typeface="+mj-ea"/>
                  <a:cs typeface="+mj-cs"/>
                </a:rPr>
                <a:t>与</a:t>
              </a:r>
              <a:r>
                <a:rPr lang="en-US" altLang="zh-CN" sz="2800" b="1" dirty="0" err="1">
                  <a:solidFill>
                    <a:schemeClr val="tx2"/>
                  </a:solidFill>
                  <a:latin typeface="+mj-lt"/>
                  <a:ea typeface="+mj-ea"/>
                  <a:cs typeface="+mj-cs"/>
                </a:rPr>
                <a:t>内存优化</a:t>
              </a:r>
              <a:r>
                <a:rPr lang="en-US" sz="2800" b="1" dirty="0" err="1">
                  <a:solidFill>
                    <a:schemeClr val="tx2"/>
                  </a:solidFill>
                  <a:latin typeface="+mj-lt"/>
                  <a:ea typeface="+mj-ea"/>
                  <a:cs typeface="+mj-cs"/>
                </a:rPr>
                <a:t>技术未来演进方向</a:t>
              </a:r>
              <a:endParaRPr lang="en-US" sz="2800" b="1" dirty="0">
                <a:solidFill>
                  <a:schemeClr val="tx2"/>
                </a:solidFill>
                <a:latin typeface="+mj-lt"/>
                <a:ea typeface="+mj-ea"/>
                <a:cs typeface="+mj-cs"/>
              </a:endParaRPr>
            </a:p>
          </p:txBody>
        </p:sp>
        <p:cxnSp>
          <p:nvCxnSpPr>
            <p:cNvPr id="31" name="连接符: 肘形 30" descr="cbfd898b-726f-4bd3-bce9-3a84cb6cce18">
              <a:extLst>
                <a:ext uri="{FF2B5EF4-FFF2-40B4-BE49-F238E27FC236}">
                  <a16:creationId xmlns:a16="http://schemas.microsoft.com/office/drawing/2014/main" id="{54998938-599F-0496-57A2-A76FBEC48B5E}"/>
                </a:ext>
              </a:extLst>
            </p:cNvPr>
            <p:cNvCxnSpPr>
              <a:stCxn id="22" idx="4"/>
            </p:cNvCxnSpPr>
            <p:nvPr/>
          </p:nvCxnSpPr>
          <p:spPr>
            <a:xfrm rot="16200000" flipH="1">
              <a:off x="3571875" y="3984625"/>
              <a:ext cx="850900" cy="4184650"/>
            </a:xfrm>
            <a:prstGeom prst="bentConnector3">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连接符: 肘形 32" descr="fbe2f21e-91a3-44c0-af9f-0d4c3e8bebbd">
              <a:extLst>
                <a:ext uri="{FF2B5EF4-FFF2-40B4-BE49-F238E27FC236}">
                  <a16:creationId xmlns:a16="http://schemas.microsoft.com/office/drawing/2014/main" id="{824AF592-37CC-8C57-B2F4-F43F78321FD4}"/>
                </a:ext>
              </a:extLst>
            </p:cNvPr>
            <p:cNvCxnSpPr>
              <a:stCxn id="23" idx="4"/>
            </p:cNvCxnSpPr>
            <p:nvPr/>
          </p:nvCxnSpPr>
          <p:spPr>
            <a:xfrm rot="16200000" flipH="1">
              <a:off x="4966758" y="5379508"/>
              <a:ext cx="850900" cy="1394883"/>
            </a:xfrm>
            <a:prstGeom prst="bentConnector3">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连接符: 肘形 34" descr="f442c4c0-8a24-40a8-bddc-07ed284d2c26">
              <a:extLst>
                <a:ext uri="{FF2B5EF4-FFF2-40B4-BE49-F238E27FC236}">
                  <a16:creationId xmlns:a16="http://schemas.microsoft.com/office/drawing/2014/main" id="{EFC5CFA9-3A84-89A0-C904-6DDCDE5F7467}"/>
                </a:ext>
              </a:extLst>
            </p:cNvPr>
            <p:cNvCxnSpPr>
              <a:stCxn id="24" idx="4"/>
            </p:cNvCxnSpPr>
            <p:nvPr/>
          </p:nvCxnSpPr>
          <p:spPr>
            <a:xfrm rot="5400000">
              <a:off x="6361642" y="5379508"/>
              <a:ext cx="850900" cy="1394884"/>
            </a:xfrm>
            <a:prstGeom prst="bentConnector3">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连接符: 肘形 36" descr="c39393be-7e27-49e9-8ba8-2611a3a345a2">
              <a:extLst>
                <a:ext uri="{FF2B5EF4-FFF2-40B4-BE49-F238E27FC236}">
                  <a16:creationId xmlns:a16="http://schemas.microsoft.com/office/drawing/2014/main" id="{6A367896-6532-3472-88F2-93B4771E5F6C}"/>
                </a:ext>
              </a:extLst>
            </p:cNvPr>
            <p:cNvCxnSpPr>
              <a:stCxn id="25" idx="4"/>
            </p:cNvCxnSpPr>
            <p:nvPr/>
          </p:nvCxnSpPr>
          <p:spPr>
            <a:xfrm rot="5400000">
              <a:off x="7756526" y="3984625"/>
              <a:ext cx="850900" cy="4184651"/>
            </a:xfrm>
            <a:prstGeom prst="bentConnector3">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5" name="组合 54" descr="9bba026f-7c89-40ef-b742-92e76e7ba5e6">
              <a:extLst>
                <a:ext uri="{FF2B5EF4-FFF2-40B4-BE49-F238E27FC236}">
                  <a16:creationId xmlns:a16="http://schemas.microsoft.com/office/drawing/2014/main" id="{15F535F7-DB2E-6926-FA35-6B8C32043111}"/>
                </a:ext>
              </a:extLst>
            </p:cNvPr>
            <p:cNvGrpSpPr/>
            <p:nvPr/>
          </p:nvGrpSpPr>
          <p:grpSpPr>
            <a:xfrm>
              <a:off x="660400" y="1955800"/>
              <a:ext cx="2489200" cy="3695700"/>
              <a:chOff x="660400" y="1955800"/>
              <a:chExt cx="2489200" cy="3695700"/>
            </a:xfrm>
          </p:grpSpPr>
          <p:sp>
            <p:nvSpPr>
              <p:cNvPr id="6" name="ComponentBackground1" descr="71252937-3fed-455a-a9a8-5a08293ca747">
                <a:extLst>
                  <a:ext uri="{FF2B5EF4-FFF2-40B4-BE49-F238E27FC236}">
                    <a16:creationId xmlns:a16="http://schemas.microsoft.com/office/drawing/2014/main" id="{23BCA240-A60D-E2D0-764D-ACB3FF8B0024}"/>
                  </a:ext>
                </a:extLst>
              </p:cNvPr>
              <p:cNvSpPr/>
              <p:nvPr/>
            </p:nvSpPr>
            <p:spPr>
              <a:xfrm>
                <a:off x="660400" y="1955800"/>
                <a:ext cx="2489200" cy="34036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 name="Bullet1" descr="fed7e349-ebf0-4be5-b543-b8a002fe1466">
                <a:extLst>
                  <a:ext uri="{FF2B5EF4-FFF2-40B4-BE49-F238E27FC236}">
                    <a16:creationId xmlns:a16="http://schemas.microsoft.com/office/drawing/2014/main" id="{5CC5A6A8-EF32-00E5-ED08-B347CF390A4C}"/>
                  </a:ext>
                </a:extLst>
              </p:cNvPr>
              <p:cNvSpPr>
                <a:spLocks/>
              </p:cNvSpPr>
              <p:nvPr/>
            </p:nvSpPr>
            <p:spPr>
              <a:xfrm>
                <a:off x="861410" y="2149270"/>
                <a:ext cx="2286000" cy="901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1800" b="1" i="0" u="none" dirty="0" err="1">
                    <a:solidFill>
                      <a:srgbClr val="000000"/>
                    </a:solidFill>
                    <a:ea typeface="微软雅黑"/>
                  </a:rPr>
                  <a:t>存算一体架构</a:t>
                </a:r>
                <a:endParaRPr lang="en-US" sz="1800" b="1" i="0" u="none" dirty="0">
                  <a:solidFill>
                    <a:srgbClr val="000000"/>
                  </a:solidFill>
                  <a:ea typeface="微软雅黑"/>
                </a:endParaRPr>
              </a:p>
            </p:txBody>
          </p:sp>
          <p:sp>
            <p:nvSpPr>
              <p:cNvPr id="11" name="Text1" descr="7eea5617-051b-4d75-819f-e2a6ab7af24a">
                <a:extLst>
                  <a:ext uri="{FF2B5EF4-FFF2-40B4-BE49-F238E27FC236}">
                    <a16:creationId xmlns:a16="http://schemas.microsoft.com/office/drawing/2014/main" id="{B20827C6-E513-7E99-3A7B-9270ADD44FB0}"/>
                  </a:ext>
                </a:extLst>
              </p:cNvPr>
              <p:cNvSpPr/>
              <p:nvPr/>
            </p:nvSpPr>
            <p:spPr>
              <a:xfrm>
                <a:off x="762002" y="3485202"/>
                <a:ext cx="2285996"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gn="l">
                  <a:lnSpc>
                    <a:spcPct val="120000"/>
                  </a:lnSpc>
                  <a:buFont typeface="Arial" panose="020B0604020202020204" pitchFamily="34" charset="0"/>
                  <a:buChar char="•"/>
                </a:pPr>
                <a:r>
                  <a:rPr lang="en-US" sz="2000" b="0" i="0" u="none" dirty="0" err="1">
                    <a:solidFill>
                      <a:srgbClr val="000000"/>
                    </a:solidFill>
                    <a:ea typeface="微软雅黑"/>
                  </a:rPr>
                  <a:t>突破“内存墙”瓶颈，实现计算与存储在物理层面的融合</a:t>
                </a:r>
                <a:r>
                  <a:rPr lang="en-US" sz="2000" b="0" i="0" u="none" dirty="0">
                    <a:solidFill>
                      <a:srgbClr val="000000"/>
                    </a:solidFill>
                    <a:ea typeface="微软雅黑"/>
                  </a:rPr>
                  <a:t>。</a:t>
                </a:r>
              </a:p>
            </p:txBody>
          </p:sp>
          <p:sp>
            <p:nvSpPr>
              <p:cNvPr id="22" name="IconBackground1" descr="8754bf4e-e5cd-44eb-9861-c6a3a6e65267">
                <a:extLst>
                  <a:ext uri="{FF2B5EF4-FFF2-40B4-BE49-F238E27FC236}">
                    <a16:creationId xmlns:a16="http://schemas.microsoft.com/office/drawing/2014/main" id="{51935D4E-DF3B-CD66-C09C-CF2256F23A70}"/>
                  </a:ext>
                </a:extLst>
              </p:cNvPr>
              <p:cNvSpPr/>
              <p:nvPr/>
            </p:nvSpPr>
            <p:spPr>
              <a:xfrm>
                <a:off x="1612900" y="5067300"/>
                <a:ext cx="584200" cy="584200"/>
              </a:xfrm>
              <a:prstGeom prst="ellipse">
                <a:avLst/>
              </a:prstGeom>
              <a:gradFill flip="none" rotWithShape="1">
                <a:gsLst>
                  <a:gs pos="50000">
                    <a:schemeClr val="accent1"/>
                  </a:gs>
                  <a:gs pos="100000">
                    <a:schemeClr val="accent1">
                      <a:lumMod val="60000"/>
                      <a:lumOff val="4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6" name="Icon1" descr="00688f88-19e4-4e48-9f9b-76f4f2a56c13">
                <a:extLst>
                  <a:ext uri="{FF2B5EF4-FFF2-40B4-BE49-F238E27FC236}">
                    <a16:creationId xmlns:a16="http://schemas.microsoft.com/office/drawing/2014/main" id="{C09976EF-2EFF-142E-D08C-BB350FB48D21}"/>
                  </a:ext>
                </a:extLst>
              </p:cNvPr>
              <p:cNvSpPr/>
              <p:nvPr/>
            </p:nvSpPr>
            <p:spPr>
              <a:xfrm>
                <a:off x="1755890" y="5239230"/>
                <a:ext cx="298220" cy="240340"/>
              </a:xfrm>
              <a:custGeom>
                <a:avLst/>
                <a:gdLst>
                  <a:gd name="connsiteX0" fmla="*/ 205376 w 586505"/>
                  <a:gd name="connsiteY0" fmla="*/ 414381 h 472676"/>
                  <a:gd name="connsiteX1" fmla="*/ 381205 w 586505"/>
                  <a:gd name="connsiteY1" fmla="*/ 414381 h 472676"/>
                  <a:gd name="connsiteX2" fmla="*/ 440224 w 586505"/>
                  <a:gd name="connsiteY2" fmla="*/ 472676 h 472676"/>
                  <a:gd name="connsiteX3" fmla="*/ 146971 w 586505"/>
                  <a:gd name="connsiteY3" fmla="*/ 472676 h 472676"/>
                  <a:gd name="connsiteX4" fmla="*/ 360870 w 586505"/>
                  <a:gd name="connsiteY4" fmla="*/ 179226 h 472676"/>
                  <a:gd name="connsiteX5" fmla="*/ 397120 w 586505"/>
                  <a:gd name="connsiteY5" fmla="*/ 215427 h 472676"/>
                  <a:gd name="connsiteX6" fmla="*/ 360870 w 586505"/>
                  <a:gd name="connsiteY6" fmla="*/ 251628 h 472676"/>
                  <a:gd name="connsiteX7" fmla="*/ 324620 w 586505"/>
                  <a:gd name="connsiteY7" fmla="*/ 215427 h 472676"/>
                  <a:gd name="connsiteX8" fmla="*/ 360870 w 586505"/>
                  <a:gd name="connsiteY8" fmla="*/ 179226 h 472676"/>
                  <a:gd name="connsiteX9" fmla="*/ 344895 w 586505"/>
                  <a:gd name="connsiteY9" fmla="*/ 111709 h 472676"/>
                  <a:gd name="connsiteX10" fmla="*/ 338132 w 586505"/>
                  <a:gd name="connsiteY10" fmla="*/ 147309 h 472676"/>
                  <a:gd name="connsiteX11" fmla="*/ 328295 w 586505"/>
                  <a:gd name="connsiteY11" fmla="*/ 150992 h 472676"/>
                  <a:gd name="connsiteX12" fmla="*/ 298171 w 586505"/>
                  <a:gd name="connsiteY12" fmla="*/ 131350 h 472676"/>
                  <a:gd name="connsiteX13" fmla="*/ 276654 w 586505"/>
                  <a:gd name="connsiteY13" fmla="*/ 152833 h 472676"/>
                  <a:gd name="connsiteX14" fmla="*/ 296327 w 586505"/>
                  <a:gd name="connsiteY14" fmla="*/ 182909 h 472676"/>
                  <a:gd name="connsiteX15" fmla="*/ 292023 w 586505"/>
                  <a:gd name="connsiteY15" fmla="*/ 192729 h 472676"/>
                  <a:gd name="connsiteX16" fmla="*/ 256980 w 586505"/>
                  <a:gd name="connsiteY16" fmla="*/ 200095 h 472676"/>
                  <a:gd name="connsiteX17" fmla="*/ 256980 w 586505"/>
                  <a:gd name="connsiteY17" fmla="*/ 230784 h 472676"/>
                  <a:gd name="connsiteX18" fmla="*/ 292023 w 586505"/>
                  <a:gd name="connsiteY18" fmla="*/ 238149 h 472676"/>
                  <a:gd name="connsiteX19" fmla="*/ 296327 w 586505"/>
                  <a:gd name="connsiteY19" fmla="*/ 247970 h 472676"/>
                  <a:gd name="connsiteX20" fmla="*/ 276654 w 586505"/>
                  <a:gd name="connsiteY20" fmla="*/ 277432 h 472676"/>
                  <a:gd name="connsiteX21" fmla="*/ 298171 w 586505"/>
                  <a:gd name="connsiteY21" fmla="*/ 299528 h 472676"/>
                  <a:gd name="connsiteX22" fmla="*/ 328295 w 586505"/>
                  <a:gd name="connsiteY22" fmla="*/ 279887 h 472676"/>
                  <a:gd name="connsiteX23" fmla="*/ 338132 w 586505"/>
                  <a:gd name="connsiteY23" fmla="*/ 283570 h 472676"/>
                  <a:gd name="connsiteX24" fmla="*/ 344895 w 586505"/>
                  <a:gd name="connsiteY24" fmla="*/ 318556 h 472676"/>
                  <a:gd name="connsiteX25" fmla="*/ 376249 w 586505"/>
                  <a:gd name="connsiteY25" fmla="*/ 318556 h 472676"/>
                  <a:gd name="connsiteX26" fmla="*/ 383011 w 586505"/>
                  <a:gd name="connsiteY26" fmla="*/ 283570 h 472676"/>
                  <a:gd name="connsiteX27" fmla="*/ 393463 w 586505"/>
                  <a:gd name="connsiteY27" fmla="*/ 279887 h 472676"/>
                  <a:gd name="connsiteX28" fmla="*/ 422972 w 586505"/>
                  <a:gd name="connsiteY28" fmla="*/ 299528 h 472676"/>
                  <a:gd name="connsiteX29" fmla="*/ 445105 w 586505"/>
                  <a:gd name="connsiteY29" fmla="*/ 277432 h 472676"/>
                  <a:gd name="connsiteX30" fmla="*/ 425432 w 586505"/>
                  <a:gd name="connsiteY30" fmla="*/ 247970 h 472676"/>
                  <a:gd name="connsiteX31" fmla="*/ 429120 w 586505"/>
                  <a:gd name="connsiteY31" fmla="*/ 237536 h 472676"/>
                  <a:gd name="connsiteX32" fmla="*/ 464163 w 586505"/>
                  <a:gd name="connsiteY32" fmla="*/ 230784 h 472676"/>
                  <a:gd name="connsiteX33" fmla="*/ 464163 w 586505"/>
                  <a:gd name="connsiteY33" fmla="*/ 199481 h 472676"/>
                  <a:gd name="connsiteX34" fmla="*/ 429120 w 586505"/>
                  <a:gd name="connsiteY34" fmla="*/ 192729 h 472676"/>
                  <a:gd name="connsiteX35" fmla="*/ 425432 w 586505"/>
                  <a:gd name="connsiteY35" fmla="*/ 182909 h 472676"/>
                  <a:gd name="connsiteX36" fmla="*/ 445105 w 586505"/>
                  <a:gd name="connsiteY36" fmla="*/ 152833 h 472676"/>
                  <a:gd name="connsiteX37" fmla="*/ 422972 w 586505"/>
                  <a:gd name="connsiteY37" fmla="*/ 131350 h 472676"/>
                  <a:gd name="connsiteX38" fmla="*/ 393463 w 586505"/>
                  <a:gd name="connsiteY38" fmla="*/ 150992 h 472676"/>
                  <a:gd name="connsiteX39" fmla="*/ 383626 w 586505"/>
                  <a:gd name="connsiteY39" fmla="*/ 147309 h 472676"/>
                  <a:gd name="connsiteX40" fmla="*/ 376249 w 586505"/>
                  <a:gd name="connsiteY40" fmla="*/ 111709 h 472676"/>
                  <a:gd name="connsiteX41" fmla="*/ 195847 w 586505"/>
                  <a:gd name="connsiteY41" fmla="*/ 109193 h 472676"/>
                  <a:gd name="connsiteX42" fmla="*/ 221345 w 586505"/>
                  <a:gd name="connsiteY42" fmla="*/ 134691 h 472676"/>
                  <a:gd name="connsiteX43" fmla="*/ 195847 w 586505"/>
                  <a:gd name="connsiteY43" fmla="*/ 160189 h 472676"/>
                  <a:gd name="connsiteX44" fmla="*/ 170349 w 586505"/>
                  <a:gd name="connsiteY44" fmla="*/ 134691 h 472676"/>
                  <a:gd name="connsiteX45" fmla="*/ 195847 w 586505"/>
                  <a:gd name="connsiteY45" fmla="*/ 109193 h 472676"/>
                  <a:gd name="connsiteX46" fmla="*/ 187510 w 586505"/>
                  <a:gd name="connsiteY46" fmla="*/ 61993 h 472676"/>
                  <a:gd name="connsiteX47" fmla="*/ 165992 w 586505"/>
                  <a:gd name="connsiteY47" fmla="*/ 67517 h 472676"/>
                  <a:gd name="connsiteX48" fmla="*/ 167837 w 586505"/>
                  <a:gd name="connsiteY48" fmla="*/ 92682 h 472676"/>
                  <a:gd name="connsiteX49" fmla="*/ 161689 w 586505"/>
                  <a:gd name="connsiteY49" fmla="*/ 96978 h 472676"/>
                  <a:gd name="connsiteX50" fmla="*/ 137712 w 586505"/>
                  <a:gd name="connsiteY50" fmla="*/ 88999 h 472676"/>
                  <a:gd name="connsiteX51" fmla="*/ 127261 w 586505"/>
                  <a:gd name="connsiteY51" fmla="*/ 108027 h 472676"/>
                  <a:gd name="connsiteX52" fmla="*/ 145704 w 586505"/>
                  <a:gd name="connsiteY52" fmla="*/ 124599 h 472676"/>
                  <a:gd name="connsiteX53" fmla="*/ 145090 w 586505"/>
                  <a:gd name="connsiteY53" fmla="*/ 131964 h 472676"/>
                  <a:gd name="connsiteX54" fmla="*/ 122342 w 586505"/>
                  <a:gd name="connsiteY54" fmla="*/ 143012 h 472676"/>
                  <a:gd name="connsiteX55" fmla="*/ 127876 w 586505"/>
                  <a:gd name="connsiteY55" fmla="*/ 164495 h 472676"/>
                  <a:gd name="connsiteX56" fmla="*/ 153082 w 586505"/>
                  <a:gd name="connsiteY56" fmla="*/ 162654 h 472676"/>
                  <a:gd name="connsiteX57" fmla="*/ 158000 w 586505"/>
                  <a:gd name="connsiteY57" fmla="*/ 168791 h 472676"/>
                  <a:gd name="connsiteX58" fmla="*/ 150008 w 586505"/>
                  <a:gd name="connsiteY58" fmla="*/ 192729 h 472676"/>
                  <a:gd name="connsiteX59" fmla="*/ 168451 w 586505"/>
                  <a:gd name="connsiteY59" fmla="*/ 203164 h 472676"/>
                  <a:gd name="connsiteX60" fmla="*/ 185051 w 586505"/>
                  <a:gd name="connsiteY60" fmla="*/ 184750 h 472676"/>
                  <a:gd name="connsiteX61" fmla="*/ 192428 w 586505"/>
                  <a:gd name="connsiteY61" fmla="*/ 185364 h 472676"/>
                  <a:gd name="connsiteX62" fmla="*/ 204109 w 586505"/>
                  <a:gd name="connsiteY62" fmla="*/ 208074 h 472676"/>
                  <a:gd name="connsiteX63" fmla="*/ 225012 w 586505"/>
                  <a:gd name="connsiteY63" fmla="*/ 202550 h 472676"/>
                  <a:gd name="connsiteX64" fmla="*/ 223167 w 586505"/>
                  <a:gd name="connsiteY64" fmla="*/ 177385 h 472676"/>
                  <a:gd name="connsiteX65" fmla="*/ 229315 w 586505"/>
                  <a:gd name="connsiteY65" fmla="*/ 172474 h 472676"/>
                  <a:gd name="connsiteX66" fmla="*/ 253292 w 586505"/>
                  <a:gd name="connsiteY66" fmla="*/ 181067 h 472676"/>
                  <a:gd name="connsiteX67" fmla="*/ 264358 w 586505"/>
                  <a:gd name="connsiteY67" fmla="*/ 162040 h 472676"/>
                  <a:gd name="connsiteX68" fmla="*/ 245300 w 586505"/>
                  <a:gd name="connsiteY68" fmla="*/ 145468 h 472676"/>
                  <a:gd name="connsiteX69" fmla="*/ 246529 w 586505"/>
                  <a:gd name="connsiteY69" fmla="*/ 137488 h 472676"/>
                  <a:gd name="connsiteX70" fmla="*/ 268661 w 586505"/>
                  <a:gd name="connsiteY70" fmla="*/ 126440 h 472676"/>
                  <a:gd name="connsiteX71" fmla="*/ 263128 w 586505"/>
                  <a:gd name="connsiteY71" fmla="*/ 105571 h 472676"/>
                  <a:gd name="connsiteX72" fmla="*/ 237922 w 586505"/>
                  <a:gd name="connsiteY72" fmla="*/ 107413 h 472676"/>
                  <a:gd name="connsiteX73" fmla="*/ 233619 w 586505"/>
                  <a:gd name="connsiteY73" fmla="*/ 101275 h 472676"/>
                  <a:gd name="connsiteX74" fmla="*/ 241611 w 586505"/>
                  <a:gd name="connsiteY74" fmla="*/ 77337 h 472676"/>
                  <a:gd name="connsiteX75" fmla="*/ 222552 w 586505"/>
                  <a:gd name="connsiteY75" fmla="*/ 66289 h 472676"/>
                  <a:gd name="connsiteX76" fmla="*/ 205953 w 586505"/>
                  <a:gd name="connsiteY76" fmla="*/ 85316 h 472676"/>
                  <a:gd name="connsiteX77" fmla="*/ 198576 w 586505"/>
                  <a:gd name="connsiteY77" fmla="*/ 84703 h 472676"/>
                  <a:gd name="connsiteX78" fmla="*/ 0 w 586505"/>
                  <a:gd name="connsiteY78" fmla="*/ 0 h 472676"/>
                  <a:gd name="connsiteX79" fmla="*/ 586505 w 586505"/>
                  <a:gd name="connsiteY79" fmla="*/ 0 h 472676"/>
                  <a:gd name="connsiteX80" fmla="*/ 586505 w 586505"/>
                  <a:gd name="connsiteY80" fmla="*/ 380548 h 472676"/>
                  <a:gd name="connsiteX81" fmla="*/ 0 w 586505"/>
                  <a:gd name="connsiteY81" fmla="*/ 380548 h 472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86505" h="472676">
                    <a:moveTo>
                      <a:pt x="205376" y="414381"/>
                    </a:moveTo>
                    <a:lnTo>
                      <a:pt x="381205" y="414381"/>
                    </a:lnTo>
                    <a:lnTo>
                      <a:pt x="440224" y="472676"/>
                    </a:lnTo>
                    <a:lnTo>
                      <a:pt x="146971" y="472676"/>
                    </a:lnTo>
                    <a:close/>
                    <a:moveTo>
                      <a:pt x="360870" y="179226"/>
                    </a:moveTo>
                    <a:cubicBezTo>
                      <a:pt x="380890" y="179226"/>
                      <a:pt x="397120" y="195434"/>
                      <a:pt x="397120" y="215427"/>
                    </a:cubicBezTo>
                    <a:cubicBezTo>
                      <a:pt x="397120" y="235420"/>
                      <a:pt x="380890" y="251628"/>
                      <a:pt x="360870" y="251628"/>
                    </a:cubicBezTo>
                    <a:cubicBezTo>
                      <a:pt x="340850" y="251628"/>
                      <a:pt x="324620" y="235420"/>
                      <a:pt x="324620" y="215427"/>
                    </a:cubicBezTo>
                    <a:cubicBezTo>
                      <a:pt x="324620" y="195434"/>
                      <a:pt x="340850" y="179226"/>
                      <a:pt x="360870" y="179226"/>
                    </a:cubicBezTo>
                    <a:close/>
                    <a:moveTo>
                      <a:pt x="344895" y="111709"/>
                    </a:moveTo>
                    <a:lnTo>
                      <a:pt x="338132" y="147309"/>
                    </a:lnTo>
                    <a:cubicBezTo>
                      <a:pt x="334443" y="148536"/>
                      <a:pt x="331369" y="149150"/>
                      <a:pt x="328295" y="150992"/>
                    </a:cubicBezTo>
                    <a:lnTo>
                      <a:pt x="298171" y="131350"/>
                    </a:lnTo>
                    <a:lnTo>
                      <a:pt x="276654" y="152833"/>
                    </a:lnTo>
                    <a:lnTo>
                      <a:pt x="296327" y="182909"/>
                    </a:lnTo>
                    <a:cubicBezTo>
                      <a:pt x="294482" y="185978"/>
                      <a:pt x="293253" y="189046"/>
                      <a:pt x="292023" y="192729"/>
                    </a:cubicBezTo>
                    <a:lnTo>
                      <a:pt x="256980" y="200095"/>
                    </a:lnTo>
                    <a:lnTo>
                      <a:pt x="256980" y="230784"/>
                    </a:lnTo>
                    <a:lnTo>
                      <a:pt x="292023" y="238149"/>
                    </a:lnTo>
                    <a:cubicBezTo>
                      <a:pt x="293253" y="241218"/>
                      <a:pt x="294482" y="244901"/>
                      <a:pt x="296327" y="247970"/>
                    </a:cubicBezTo>
                    <a:lnTo>
                      <a:pt x="276654" y="277432"/>
                    </a:lnTo>
                    <a:lnTo>
                      <a:pt x="298171" y="299528"/>
                    </a:lnTo>
                    <a:lnTo>
                      <a:pt x="328295" y="279887"/>
                    </a:lnTo>
                    <a:cubicBezTo>
                      <a:pt x="331369" y="281115"/>
                      <a:pt x="334443" y="282342"/>
                      <a:pt x="338132" y="283570"/>
                    </a:cubicBezTo>
                    <a:lnTo>
                      <a:pt x="344895" y="318556"/>
                    </a:lnTo>
                    <a:lnTo>
                      <a:pt x="376249" y="318556"/>
                    </a:lnTo>
                    <a:lnTo>
                      <a:pt x="383011" y="283570"/>
                    </a:lnTo>
                    <a:cubicBezTo>
                      <a:pt x="386700" y="282342"/>
                      <a:pt x="390389" y="281115"/>
                      <a:pt x="393463" y="279887"/>
                    </a:cubicBezTo>
                    <a:lnTo>
                      <a:pt x="422972" y="299528"/>
                    </a:lnTo>
                    <a:lnTo>
                      <a:pt x="445105" y="277432"/>
                    </a:lnTo>
                    <a:lnTo>
                      <a:pt x="425432" y="247970"/>
                    </a:lnTo>
                    <a:cubicBezTo>
                      <a:pt x="426661" y="244901"/>
                      <a:pt x="427891" y="241218"/>
                      <a:pt x="429120" y="237536"/>
                    </a:cubicBezTo>
                    <a:lnTo>
                      <a:pt x="464163" y="230784"/>
                    </a:lnTo>
                    <a:lnTo>
                      <a:pt x="464163" y="199481"/>
                    </a:lnTo>
                    <a:lnTo>
                      <a:pt x="429120" y="192729"/>
                    </a:lnTo>
                    <a:cubicBezTo>
                      <a:pt x="428505" y="189046"/>
                      <a:pt x="426661" y="185978"/>
                      <a:pt x="425432" y="182909"/>
                    </a:cubicBezTo>
                    <a:lnTo>
                      <a:pt x="445105" y="152833"/>
                    </a:lnTo>
                    <a:lnTo>
                      <a:pt x="422972" y="131350"/>
                    </a:lnTo>
                    <a:lnTo>
                      <a:pt x="393463" y="150992"/>
                    </a:lnTo>
                    <a:cubicBezTo>
                      <a:pt x="390389" y="149150"/>
                      <a:pt x="386700" y="148536"/>
                      <a:pt x="383626" y="147309"/>
                    </a:cubicBezTo>
                    <a:lnTo>
                      <a:pt x="376249" y="111709"/>
                    </a:lnTo>
                    <a:close/>
                    <a:moveTo>
                      <a:pt x="195847" y="109193"/>
                    </a:moveTo>
                    <a:cubicBezTo>
                      <a:pt x="209929" y="109193"/>
                      <a:pt x="221345" y="120609"/>
                      <a:pt x="221345" y="134691"/>
                    </a:cubicBezTo>
                    <a:cubicBezTo>
                      <a:pt x="221345" y="148773"/>
                      <a:pt x="209929" y="160189"/>
                      <a:pt x="195847" y="160189"/>
                    </a:cubicBezTo>
                    <a:cubicBezTo>
                      <a:pt x="181765" y="160189"/>
                      <a:pt x="170349" y="148773"/>
                      <a:pt x="170349" y="134691"/>
                    </a:cubicBezTo>
                    <a:cubicBezTo>
                      <a:pt x="170349" y="120609"/>
                      <a:pt x="181765" y="109193"/>
                      <a:pt x="195847" y="109193"/>
                    </a:cubicBezTo>
                    <a:close/>
                    <a:moveTo>
                      <a:pt x="187510" y="61993"/>
                    </a:moveTo>
                    <a:lnTo>
                      <a:pt x="165992" y="67517"/>
                    </a:lnTo>
                    <a:lnTo>
                      <a:pt x="167837" y="92682"/>
                    </a:lnTo>
                    <a:cubicBezTo>
                      <a:pt x="165992" y="93909"/>
                      <a:pt x="163533" y="95751"/>
                      <a:pt x="161689" y="96978"/>
                    </a:cubicBezTo>
                    <a:lnTo>
                      <a:pt x="137712" y="88999"/>
                    </a:lnTo>
                    <a:lnTo>
                      <a:pt x="127261" y="108027"/>
                    </a:lnTo>
                    <a:lnTo>
                      <a:pt x="145704" y="124599"/>
                    </a:lnTo>
                    <a:cubicBezTo>
                      <a:pt x="145090" y="127054"/>
                      <a:pt x="145090" y="129509"/>
                      <a:pt x="145090" y="131964"/>
                    </a:cubicBezTo>
                    <a:lnTo>
                      <a:pt x="122342" y="143012"/>
                    </a:lnTo>
                    <a:lnTo>
                      <a:pt x="127876" y="164495"/>
                    </a:lnTo>
                    <a:lnTo>
                      <a:pt x="153082" y="162654"/>
                    </a:lnTo>
                    <a:cubicBezTo>
                      <a:pt x="154311" y="165109"/>
                      <a:pt x="156156" y="166950"/>
                      <a:pt x="158000" y="168791"/>
                    </a:cubicBezTo>
                    <a:lnTo>
                      <a:pt x="150008" y="192729"/>
                    </a:lnTo>
                    <a:lnTo>
                      <a:pt x="168451" y="203164"/>
                    </a:lnTo>
                    <a:lnTo>
                      <a:pt x="185051" y="184750"/>
                    </a:lnTo>
                    <a:cubicBezTo>
                      <a:pt x="187510" y="185364"/>
                      <a:pt x="189969" y="185364"/>
                      <a:pt x="192428" y="185364"/>
                    </a:cubicBezTo>
                    <a:lnTo>
                      <a:pt x="204109" y="208074"/>
                    </a:lnTo>
                    <a:lnTo>
                      <a:pt x="225012" y="202550"/>
                    </a:lnTo>
                    <a:lnTo>
                      <a:pt x="223167" y="177385"/>
                    </a:lnTo>
                    <a:cubicBezTo>
                      <a:pt x="225626" y="175543"/>
                      <a:pt x="227471" y="174316"/>
                      <a:pt x="229315" y="172474"/>
                    </a:cubicBezTo>
                    <a:lnTo>
                      <a:pt x="253292" y="181067"/>
                    </a:lnTo>
                    <a:lnTo>
                      <a:pt x="264358" y="162040"/>
                    </a:lnTo>
                    <a:lnTo>
                      <a:pt x="245300" y="145468"/>
                    </a:lnTo>
                    <a:cubicBezTo>
                      <a:pt x="245914" y="143012"/>
                      <a:pt x="245914" y="140557"/>
                      <a:pt x="246529" y="137488"/>
                    </a:cubicBezTo>
                    <a:lnTo>
                      <a:pt x="268661" y="126440"/>
                    </a:lnTo>
                    <a:lnTo>
                      <a:pt x="263128" y="105571"/>
                    </a:lnTo>
                    <a:lnTo>
                      <a:pt x="237922" y="107413"/>
                    </a:lnTo>
                    <a:cubicBezTo>
                      <a:pt x="236693" y="104958"/>
                      <a:pt x="235463" y="103116"/>
                      <a:pt x="233619" y="101275"/>
                    </a:cubicBezTo>
                    <a:lnTo>
                      <a:pt x="241611" y="77337"/>
                    </a:lnTo>
                    <a:lnTo>
                      <a:pt x="222552" y="66289"/>
                    </a:lnTo>
                    <a:lnTo>
                      <a:pt x="205953" y="85316"/>
                    </a:lnTo>
                    <a:cubicBezTo>
                      <a:pt x="203494" y="84703"/>
                      <a:pt x="201035" y="84703"/>
                      <a:pt x="198576" y="84703"/>
                    </a:cubicBezTo>
                    <a:close/>
                    <a:moveTo>
                      <a:pt x="0" y="0"/>
                    </a:moveTo>
                    <a:lnTo>
                      <a:pt x="586505" y="0"/>
                    </a:lnTo>
                    <a:lnTo>
                      <a:pt x="586505" y="380548"/>
                    </a:lnTo>
                    <a:lnTo>
                      <a:pt x="0" y="380548"/>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38" name="Number1" descr="3732660c-f637-4e01-a75f-5de69795b621">
                <a:extLst>
                  <a:ext uri="{FF2B5EF4-FFF2-40B4-BE49-F238E27FC236}">
                    <a16:creationId xmlns:a16="http://schemas.microsoft.com/office/drawing/2014/main" id="{27769B48-33FE-9DDF-8FEA-8950971C73D5}"/>
                  </a:ext>
                </a:extLst>
              </p:cNvPr>
              <p:cNvSpPr txBox="1"/>
              <p:nvPr/>
            </p:nvSpPr>
            <p:spPr>
              <a:xfrm>
                <a:off x="1684395" y="1955800"/>
                <a:ext cx="441210" cy="707886"/>
              </a:xfrm>
              <a:prstGeom prst="rect">
                <a:avLst/>
              </a:prstGeom>
              <a:noFill/>
            </p:spPr>
            <p:txBody>
              <a:bodyPr wrap="square" rtlCol="0" anchor="ctr" anchorCtr="0">
                <a:spAutoFit/>
              </a:bodyPr>
              <a:lstStyle/>
              <a:p>
                <a:pPr algn="ctr"/>
                <a:r>
                  <a:rPr lang="en-US" sz="4000" b="1" i="0" u="none">
                    <a:solidFill>
                      <a:srgbClr val="454545"/>
                    </a:solidFill>
                    <a:latin typeface="Arial"/>
                  </a:rPr>
                  <a:t>1</a:t>
                </a:r>
              </a:p>
            </p:txBody>
          </p:sp>
        </p:grpSp>
        <p:grpSp>
          <p:nvGrpSpPr>
            <p:cNvPr id="56" name="组合 55" descr="48b100b6-fa8f-4358-99ac-a47671d30b0d">
              <a:extLst>
                <a:ext uri="{FF2B5EF4-FFF2-40B4-BE49-F238E27FC236}">
                  <a16:creationId xmlns:a16="http://schemas.microsoft.com/office/drawing/2014/main" id="{CDD00388-3D00-E4AC-8191-AD4BCBC47312}"/>
                </a:ext>
              </a:extLst>
            </p:cNvPr>
            <p:cNvGrpSpPr/>
            <p:nvPr/>
          </p:nvGrpSpPr>
          <p:grpSpPr>
            <a:xfrm>
              <a:off x="3450167" y="1955800"/>
              <a:ext cx="2556914" cy="3695700"/>
              <a:chOff x="3450167" y="1955800"/>
              <a:chExt cx="2556914" cy="3695700"/>
            </a:xfrm>
          </p:grpSpPr>
          <p:sp>
            <p:nvSpPr>
              <p:cNvPr id="7" name="ComponentBackground2" descr="11862fb8-6d53-4721-8fca-0e899a1fc5ca">
                <a:extLst>
                  <a:ext uri="{FF2B5EF4-FFF2-40B4-BE49-F238E27FC236}">
                    <a16:creationId xmlns:a16="http://schemas.microsoft.com/office/drawing/2014/main" id="{BC8B3418-167E-3920-40B7-8F5ED8A09F43}"/>
                  </a:ext>
                </a:extLst>
              </p:cNvPr>
              <p:cNvSpPr/>
              <p:nvPr/>
            </p:nvSpPr>
            <p:spPr>
              <a:xfrm>
                <a:off x="3450167" y="1955800"/>
                <a:ext cx="2489200" cy="34036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4" name="Bullet2" descr="f1835f36-2b6f-442d-a0e5-a2023d8e0863">
                <a:extLst>
                  <a:ext uri="{FF2B5EF4-FFF2-40B4-BE49-F238E27FC236}">
                    <a16:creationId xmlns:a16="http://schemas.microsoft.com/office/drawing/2014/main" id="{34C31A51-C49F-8FBB-94EF-DE7CE6A67F03}"/>
                  </a:ext>
                </a:extLst>
              </p:cNvPr>
              <p:cNvSpPr>
                <a:spLocks/>
              </p:cNvSpPr>
              <p:nvPr/>
            </p:nvSpPr>
            <p:spPr>
              <a:xfrm>
                <a:off x="3562085" y="2422524"/>
                <a:ext cx="2444996" cy="901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1800" b="1" i="0" u="none" dirty="0" err="1">
                    <a:solidFill>
                      <a:srgbClr val="000000"/>
                    </a:solidFill>
                    <a:ea typeface="微软雅黑"/>
                  </a:rPr>
                  <a:t>持久内存（PMEM）应用</a:t>
                </a:r>
                <a:endParaRPr lang="en-US" sz="1800" b="1" i="0" u="none" dirty="0">
                  <a:solidFill>
                    <a:srgbClr val="000000"/>
                  </a:solidFill>
                  <a:ea typeface="微软雅黑"/>
                </a:endParaRPr>
              </a:p>
            </p:txBody>
          </p:sp>
          <p:sp>
            <p:nvSpPr>
              <p:cNvPr id="15" name="Text2" descr="29dff657-92b9-412b-9155-a59b7120d5c6">
                <a:extLst>
                  <a:ext uri="{FF2B5EF4-FFF2-40B4-BE49-F238E27FC236}">
                    <a16:creationId xmlns:a16="http://schemas.microsoft.com/office/drawing/2014/main" id="{2534EFF4-9F9F-A3F8-EDA3-2F4761BA3679}"/>
                  </a:ext>
                </a:extLst>
              </p:cNvPr>
              <p:cNvSpPr/>
              <p:nvPr/>
            </p:nvSpPr>
            <p:spPr>
              <a:xfrm>
                <a:off x="3551769" y="3485202"/>
                <a:ext cx="2285996"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gn="l">
                  <a:lnSpc>
                    <a:spcPct val="120000"/>
                  </a:lnSpc>
                  <a:buFont typeface="Arial" panose="020B0604020202020204" pitchFamily="34" charset="0"/>
                  <a:buChar char="•"/>
                </a:pPr>
                <a:r>
                  <a:rPr lang="en-US" sz="2000" b="0" i="0" u="none" dirty="0" err="1">
                    <a:solidFill>
                      <a:srgbClr val="000000"/>
                    </a:solidFill>
                    <a:ea typeface="微软雅黑"/>
                  </a:rPr>
                  <a:t>利用非易失性内存实现“内存级速度</a:t>
                </a:r>
                <a:r>
                  <a:rPr lang="en-US" sz="2000" b="0" i="0" u="none" dirty="0">
                    <a:solidFill>
                      <a:srgbClr val="000000"/>
                    </a:solidFill>
                    <a:ea typeface="微软雅黑"/>
                  </a:rPr>
                  <a:t> + </a:t>
                </a:r>
                <a:r>
                  <a:rPr lang="en-US" sz="2000" b="0" i="0" u="none" dirty="0" err="1">
                    <a:solidFill>
                      <a:srgbClr val="000000"/>
                    </a:solidFill>
                    <a:ea typeface="微软雅黑"/>
                  </a:rPr>
                  <a:t>磁盘级持久化</a:t>
                </a:r>
                <a:r>
                  <a:rPr lang="en-US" sz="2000" b="0" i="0" u="none" dirty="0">
                    <a:solidFill>
                      <a:srgbClr val="000000"/>
                    </a:solidFill>
                    <a:ea typeface="微软雅黑"/>
                  </a:rPr>
                  <a:t>”。</a:t>
                </a:r>
              </a:p>
            </p:txBody>
          </p:sp>
          <p:sp>
            <p:nvSpPr>
              <p:cNvPr id="23" name="IconBackground2" descr="1b731ac2-2da9-4033-bdbf-942bec14f4ab">
                <a:extLst>
                  <a:ext uri="{FF2B5EF4-FFF2-40B4-BE49-F238E27FC236}">
                    <a16:creationId xmlns:a16="http://schemas.microsoft.com/office/drawing/2014/main" id="{CC41CC73-C101-8D4C-17E1-2E67A0FD40F8}"/>
                  </a:ext>
                </a:extLst>
              </p:cNvPr>
              <p:cNvSpPr/>
              <p:nvPr/>
            </p:nvSpPr>
            <p:spPr>
              <a:xfrm>
                <a:off x="4402667" y="5067300"/>
                <a:ext cx="584200" cy="584200"/>
              </a:xfrm>
              <a:prstGeom prst="ellipse">
                <a:avLst/>
              </a:prstGeom>
              <a:gradFill flip="none" rotWithShape="1">
                <a:gsLst>
                  <a:gs pos="50000">
                    <a:schemeClr val="accent2"/>
                  </a:gs>
                  <a:gs pos="100000">
                    <a:schemeClr val="accent2">
                      <a:lumMod val="60000"/>
                      <a:lumOff val="4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7" name="Icon2" descr="e271435a-228d-4977-acb1-772ca75e420c">
                <a:extLst>
                  <a:ext uri="{FF2B5EF4-FFF2-40B4-BE49-F238E27FC236}">
                    <a16:creationId xmlns:a16="http://schemas.microsoft.com/office/drawing/2014/main" id="{DE99BCAC-5C71-001B-6475-9D85737BF084}"/>
                  </a:ext>
                </a:extLst>
              </p:cNvPr>
              <p:cNvSpPr/>
              <p:nvPr/>
            </p:nvSpPr>
            <p:spPr>
              <a:xfrm>
                <a:off x="4545657" y="5244335"/>
                <a:ext cx="298220" cy="230130"/>
              </a:xfrm>
              <a:custGeom>
                <a:avLst/>
                <a:gdLst>
                  <a:gd name="connsiteX0" fmla="*/ 0 w 375288"/>
                  <a:gd name="connsiteY0" fmla="*/ 16184 h 289603"/>
                  <a:gd name="connsiteX1" fmla="*/ 189565 w 375288"/>
                  <a:gd name="connsiteY1" fmla="*/ 172448 h 289603"/>
                  <a:gd name="connsiteX2" fmla="*/ 375288 w 375288"/>
                  <a:gd name="connsiteY2" fmla="*/ 17134 h 289603"/>
                  <a:gd name="connsiteX3" fmla="*/ 375288 w 375288"/>
                  <a:gd name="connsiteY3" fmla="*/ 289603 h 289603"/>
                  <a:gd name="connsiteX4" fmla="*/ 0 w 375288"/>
                  <a:gd name="connsiteY4" fmla="*/ 289603 h 289603"/>
                  <a:gd name="connsiteX5" fmla="*/ 20050 w 375288"/>
                  <a:gd name="connsiteY5" fmla="*/ 0 h 289603"/>
                  <a:gd name="connsiteX6" fmla="*/ 355328 w 375288"/>
                  <a:gd name="connsiteY6" fmla="*/ 0 h 289603"/>
                  <a:gd name="connsiteX7" fmla="*/ 189588 w 375288"/>
                  <a:gd name="connsiteY7" fmla="*/ 139092 h 28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288" h="289603">
                    <a:moveTo>
                      <a:pt x="0" y="16184"/>
                    </a:moveTo>
                    <a:lnTo>
                      <a:pt x="189565" y="172448"/>
                    </a:lnTo>
                    <a:lnTo>
                      <a:pt x="375288" y="17134"/>
                    </a:lnTo>
                    <a:lnTo>
                      <a:pt x="375288" y="289603"/>
                    </a:lnTo>
                    <a:lnTo>
                      <a:pt x="0" y="289603"/>
                    </a:lnTo>
                    <a:close/>
                    <a:moveTo>
                      <a:pt x="20050" y="0"/>
                    </a:moveTo>
                    <a:lnTo>
                      <a:pt x="355328" y="0"/>
                    </a:lnTo>
                    <a:lnTo>
                      <a:pt x="189588" y="139092"/>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39" name="Number2" descr="01228408-8025-42b0-b867-ad3b15aeb61f">
                <a:extLst>
                  <a:ext uri="{FF2B5EF4-FFF2-40B4-BE49-F238E27FC236}">
                    <a16:creationId xmlns:a16="http://schemas.microsoft.com/office/drawing/2014/main" id="{89179D89-C65A-022A-A2D2-DDC41D6F5607}"/>
                  </a:ext>
                </a:extLst>
              </p:cNvPr>
              <p:cNvSpPr txBox="1"/>
              <p:nvPr/>
            </p:nvSpPr>
            <p:spPr>
              <a:xfrm>
                <a:off x="4474161" y="1955800"/>
                <a:ext cx="441210" cy="707886"/>
              </a:xfrm>
              <a:prstGeom prst="rect">
                <a:avLst/>
              </a:prstGeom>
              <a:noFill/>
            </p:spPr>
            <p:txBody>
              <a:bodyPr wrap="square" rtlCol="0" anchor="ctr" anchorCtr="0">
                <a:spAutoFit/>
              </a:bodyPr>
              <a:lstStyle/>
              <a:p>
                <a:pPr algn="ctr"/>
                <a:r>
                  <a:rPr lang="en-US" sz="4000" b="1" i="0" u="none">
                    <a:solidFill>
                      <a:srgbClr val="000000"/>
                    </a:solidFill>
                    <a:latin typeface="Arial"/>
                  </a:rPr>
                  <a:t>2</a:t>
                </a:r>
              </a:p>
            </p:txBody>
          </p:sp>
        </p:grpSp>
        <p:grpSp>
          <p:nvGrpSpPr>
            <p:cNvPr id="57" name="组合 56" descr="414ed798-60d5-445c-bd49-d90836dcf2d5">
              <a:extLst>
                <a:ext uri="{FF2B5EF4-FFF2-40B4-BE49-F238E27FC236}">
                  <a16:creationId xmlns:a16="http://schemas.microsoft.com/office/drawing/2014/main" id="{38C2758B-3269-EFA2-2CCE-02C6AFE3C9E6}"/>
                </a:ext>
              </a:extLst>
            </p:cNvPr>
            <p:cNvGrpSpPr/>
            <p:nvPr/>
          </p:nvGrpSpPr>
          <p:grpSpPr>
            <a:xfrm>
              <a:off x="6239934" y="1955800"/>
              <a:ext cx="2489200" cy="3695700"/>
              <a:chOff x="6239934" y="1955800"/>
              <a:chExt cx="2489200" cy="3695700"/>
            </a:xfrm>
          </p:grpSpPr>
          <p:sp>
            <p:nvSpPr>
              <p:cNvPr id="8" name="ComponentBackground3" descr="ccb920ff-b5a5-4ffd-aa23-be449352aef1">
                <a:extLst>
                  <a:ext uri="{FF2B5EF4-FFF2-40B4-BE49-F238E27FC236}">
                    <a16:creationId xmlns:a16="http://schemas.microsoft.com/office/drawing/2014/main" id="{A62AED75-F2E3-2A68-4E07-A7484FF28AB5}"/>
                  </a:ext>
                </a:extLst>
              </p:cNvPr>
              <p:cNvSpPr/>
              <p:nvPr/>
            </p:nvSpPr>
            <p:spPr>
              <a:xfrm>
                <a:off x="6239934" y="1955800"/>
                <a:ext cx="2489200" cy="3403600"/>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7" name="Bullet3" descr="44d53cdf-25ca-4872-9fb2-7d3ddce286c7">
                <a:extLst>
                  <a:ext uri="{FF2B5EF4-FFF2-40B4-BE49-F238E27FC236}">
                    <a16:creationId xmlns:a16="http://schemas.microsoft.com/office/drawing/2014/main" id="{E19F0134-3357-06EB-5FEC-B94A5DE8926F}"/>
                  </a:ext>
                </a:extLst>
              </p:cNvPr>
              <p:cNvSpPr>
                <a:spLocks/>
              </p:cNvSpPr>
              <p:nvPr/>
            </p:nvSpPr>
            <p:spPr>
              <a:xfrm>
                <a:off x="6341536" y="2387461"/>
                <a:ext cx="2286000" cy="901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b="1" dirty="0" err="1">
                    <a:solidFill>
                      <a:srgbClr val="000000"/>
                    </a:solidFill>
                    <a:ea typeface="微软雅黑"/>
                  </a:rPr>
                  <a:t>AI驱动的内存管理</a:t>
                </a:r>
                <a:endParaRPr lang="en-US" b="1" dirty="0">
                  <a:solidFill>
                    <a:srgbClr val="000000"/>
                  </a:solidFill>
                  <a:ea typeface="微软雅黑"/>
                </a:endParaRPr>
              </a:p>
            </p:txBody>
          </p:sp>
          <p:sp>
            <p:nvSpPr>
              <p:cNvPr id="18" name="Text3" descr="1f13e3cd-4b96-493e-9179-d4dd9574574f">
                <a:extLst>
                  <a:ext uri="{FF2B5EF4-FFF2-40B4-BE49-F238E27FC236}">
                    <a16:creationId xmlns:a16="http://schemas.microsoft.com/office/drawing/2014/main" id="{50FCCE8A-B86E-073A-B580-C15DD2FA6F23}"/>
                  </a:ext>
                </a:extLst>
              </p:cNvPr>
              <p:cNvSpPr/>
              <p:nvPr/>
            </p:nvSpPr>
            <p:spPr>
              <a:xfrm>
                <a:off x="6341536" y="3485202"/>
                <a:ext cx="2285996"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gn="l">
                  <a:lnSpc>
                    <a:spcPct val="120000"/>
                  </a:lnSpc>
                  <a:buFont typeface="Arial" panose="020B0604020202020204" pitchFamily="34" charset="0"/>
                  <a:buChar char="•"/>
                </a:pPr>
                <a:r>
                  <a:rPr lang="en-US" sz="2000" b="0" i="0" u="none" dirty="0" err="1">
                    <a:solidFill>
                      <a:srgbClr val="000000"/>
                    </a:solidFill>
                    <a:ea typeface="微软雅黑"/>
                  </a:rPr>
                  <a:t>使用强化学习动态调优内存分配与缓存策略</a:t>
                </a:r>
                <a:r>
                  <a:rPr lang="en-US" sz="2000" b="0" i="0" u="none" dirty="0">
                    <a:solidFill>
                      <a:srgbClr val="000000"/>
                    </a:solidFill>
                    <a:ea typeface="微软雅黑"/>
                  </a:rPr>
                  <a:t>。</a:t>
                </a:r>
              </a:p>
            </p:txBody>
          </p:sp>
          <p:sp>
            <p:nvSpPr>
              <p:cNvPr id="24" name="IconBackground3" descr="0b7d47fe-e371-4e28-a682-8f8e979627e7">
                <a:extLst>
                  <a:ext uri="{FF2B5EF4-FFF2-40B4-BE49-F238E27FC236}">
                    <a16:creationId xmlns:a16="http://schemas.microsoft.com/office/drawing/2014/main" id="{76AB53FD-B568-976A-136E-E745173D7E54}"/>
                  </a:ext>
                </a:extLst>
              </p:cNvPr>
              <p:cNvSpPr/>
              <p:nvPr/>
            </p:nvSpPr>
            <p:spPr>
              <a:xfrm>
                <a:off x="7192434" y="5067300"/>
                <a:ext cx="584200" cy="584200"/>
              </a:xfrm>
              <a:prstGeom prst="ellipse">
                <a:avLst/>
              </a:prstGeom>
              <a:gradFill flip="none" rotWithShape="1">
                <a:gsLst>
                  <a:gs pos="50000">
                    <a:schemeClr val="accent3"/>
                  </a:gs>
                  <a:gs pos="100000">
                    <a:schemeClr val="accent3">
                      <a:lumMod val="60000"/>
                      <a:lumOff val="4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8" name="Icon3" descr="5eccc16b-18a3-4688-a16d-bd91b00e140c">
                <a:extLst>
                  <a:ext uri="{FF2B5EF4-FFF2-40B4-BE49-F238E27FC236}">
                    <a16:creationId xmlns:a16="http://schemas.microsoft.com/office/drawing/2014/main" id="{8DEA5556-0CFA-551B-AEE9-9368A9F25157}"/>
                  </a:ext>
                </a:extLst>
              </p:cNvPr>
              <p:cNvSpPr/>
              <p:nvPr/>
            </p:nvSpPr>
            <p:spPr>
              <a:xfrm>
                <a:off x="7395694" y="5210290"/>
                <a:ext cx="177680" cy="298220"/>
              </a:xfrm>
              <a:custGeom>
                <a:avLst/>
                <a:gdLst>
                  <a:gd name="T0" fmla="*/ 819 w 1639"/>
                  <a:gd name="T1" fmla="*/ 0 h 2755"/>
                  <a:gd name="T2" fmla="*/ 819 w 1639"/>
                  <a:gd name="T3" fmla="*/ 0 h 2755"/>
                  <a:gd name="T4" fmla="*/ 0 w 1639"/>
                  <a:gd name="T5" fmla="*/ 819 h 2755"/>
                  <a:gd name="T6" fmla="*/ 0 w 1639"/>
                  <a:gd name="T7" fmla="*/ 1935 h 2755"/>
                  <a:gd name="T8" fmla="*/ 819 w 1639"/>
                  <a:gd name="T9" fmla="*/ 2755 h 2755"/>
                  <a:gd name="T10" fmla="*/ 819 w 1639"/>
                  <a:gd name="T11" fmla="*/ 2755 h 2755"/>
                  <a:gd name="T12" fmla="*/ 1639 w 1639"/>
                  <a:gd name="T13" fmla="*/ 1935 h 2755"/>
                  <a:gd name="T14" fmla="*/ 1639 w 1639"/>
                  <a:gd name="T15" fmla="*/ 819 h 2755"/>
                  <a:gd name="T16" fmla="*/ 819 w 1639"/>
                  <a:gd name="T17" fmla="*/ 0 h 2755"/>
                  <a:gd name="T18" fmla="*/ 927 w 1639"/>
                  <a:gd name="T19" fmla="*/ 867 h 2755"/>
                  <a:gd name="T20" fmla="*/ 819 w 1639"/>
                  <a:gd name="T21" fmla="*/ 975 h 2755"/>
                  <a:gd name="T22" fmla="*/ 819 w 1639"/>
                  <a:gd name="T23" fmla="*/ 975 h 2755"/>
                  <a:gd name="T24" fmla="*/ 712 w 1639"/>
                  <a:gd name="T25" fmla="*/ 867 h 2755"/>
                  <a:gd name="T26" fmla="*/ 712 w 1639"/>
                  <a:gd name="T27" fmla="*/ 495 h 2755"/>
                  <a:gd name="T28" fmla="*/ 819 w 1639"/>
                  <a:gd name="T29" fmla="*/ 388 h 2755"/>
                  <a:gd name="T30" fmla="*/ 819 w 1639"/>
                  <a:gd name="T31" fmla="*/ 388 h 2755"/>
                  <a:gd name="T32" fmla="*/ 927 w 1639"/>
                  <a:gd name="T33" fmla="*/ 495 h 2755"/>
                  <a:gd name="T34" fmla="*/ 927 w 1639"/>
                  <a:gd name="T35" fmla="*/ 867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39" h="2755">
                    <a:moveTo>
                      <a:pt x="819" y="0"/>
                    </a:moveTo>
                    <a:lnTo>
                      <a:pt x="819" y="0"/>
                    </a:lnTo>
                    <a:cubicBezTo>
                      <a:pt x="367" y="0"/>
                      <a:pt x="0" y="367"/>
                      <a:pt x="0" y="819"/>
                    </a:cubicBezTo>
                    <a:lnTo>
                      <a:pt x="0" y="1935"/>
                    </a:lnTo>
                    <a:cubicBezTo>
                      <a:pt x="0" y="2388"/>
                      <a:pt x="367" y="2755"/>
                      <a:pt x="819" y="2755"/>
                    </a:cubicBezTo>
                    <a:lnTo>
                      <a:pt x="819" y="2755"/>
                    </a:lnTo>
                    <a:cubicBezTo>
                      <a:pt x="1272" y="2755"/>
                      <a:pt x="1639" y="2388"/>
                      <a:pt x="1639" y="1935"/>
                    </a:cubicBezTo>
                    <a:lnTo>
                      <a:pt x="1639" y="819"/>
                    </a:lnTo>
                    <a:cubicBezTo>
                      <a:pt x="1639" y="367"/>
                      <a:pt x="1272" y="0"/>
                      <a:pt x="819" y="0"/>
                    </a:cubicBezTo>
                    <a:close/>
                    <a:moveTo>
                      <a:pt x="927" y="867"/>
                    </a:moveTo>
                    <a:cubicBezTo>
                      <a:pt x="927" y="927"/>
                      <a:pt x="879" y="975"/>
                      <a:pt x="819" y="975"/>
                    </a:cubicBezTo>
                    <a:lnTo>
                      <a:pt x="819" y="975"/>
                    </a:lnTo>
                    <a:cubicBezTo>
                      <a:pt x="760" y="975"/>
                      <a:pt x="712" y="927"/>
                      <a:pt x="712" y="867"/>
                    </a:cubicBezTo>
                    <a:lnTo>
                      <a:pt x="712" y="495"/>
                    </a:lnTo>
                    <a:cubicBezTo>
                      <a:pt x="712" y="436"/>
                      <a:pt x="760" y="388"/>
                      <a:pt x="819" y="388"/>
                    </a:cubicBezTo>
                    <a:lnTo>
                      <a:pt x="819" y="388"/>
                    </a:lnTo>
                    <a:cubicBezTo>
                      <a:pt x="879" y="388"/>
                      <a:pt x="927" y="436"/>
                      <a:pt x="927" y="495"/>
                    </a:cubicBezTo>
                    <a:lnTo>
                      <a:pt x="927" y="86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40" name="Number3" descr="5004e32f-c8c3-4302-b76b-2b0fdd964e57">
                <a:extLst>
                  <a:ext uri="{FF2B5EF4-FFF2-40B4-BE49-F238E27FC236}">
                    <a16:creationId xmlns:a16="http://schemas.microsoft.com/office/drawing/2014/main" id="{5A0684D9-384C-23A8-A94F-13A13DA930AF}"/>
                  </a:ext>
                </a:extLst>
              </p:cNvPr>
              <p:cNvSpPr txBox="1"/>
              <p:nvPr/>
            </p:nvSpPr>
            <p:spPr>
              <a:xfrm>
                <a:off x="7263927" y="1955800"/>
                <a:ext cx="441210" cy="707886"/>
              </a:xfrm>
              <a:prstGeom prst="rect">
                <a:avLst/>
              </a:prstGeom>
              <a:noFill/>
            </p:spPr>
            <p:txBody>
              <a:bodyPr wrap="square" rtlCol="0" anchor="ctr" anchorCtr="0">
                <a:spAutoFit/>
              </a:bodyPr>
              <a:lstStyle/>
              <a:p>
                <a:pPr algn="ctr"/>
                <a:r>
                  <a:rPr lang="en-US" sz="4000" b="1" i="0" u="none">
                    <a:solidFill>
                      <a:srgbClr val="5D5D5D"/>
                    </a:solidFill>
                    <a:latin typeface="Arial"/>
                  </a:rPr>
                  <a:t>3</a:t>
                </a:r>
              </a:p>
            </p:txBody>
          </p:sp>
        </p:grpSp>
        <p:grpSp>
          <p:nvGrpSpPr>
            <p:cNvPr id="58" name="组合 57" descr="9105cda6-ad6a-4935-87cb-a9dd9a017e69">
              <a:extLst>
                <a:ext uri="{FF2B5EF4-FFF2-40B4-BE49-F238E27FC236}">
                  <a16:creationId xmlns:a16="http://schemas.microsoft.com/office/drawing/2014/main" id="{929877EE-BF6C-52EB-2696-F764AF788D55}"/>
                </a:ext>
              </a:extLst>
            </p:cNvPr>
            <p:cNvGrpSpPr/>
            <p:nvPr/>
          </p:nvGrpSpPr>
          <p:grpSpPr>
            <a:xfrm>
              <a:off x="9029700" y="1955800"/>
              <a:ext cx="2489200" cy="3695700"/>
              <a:chOff x="9029700" y="1955800"/>
              <a:chExt cx="2489200" cy="3695700"/>
            </a:xfrm>
          </p:grpSpPr>
          <p:sp>
            <p:nvSpPr>
              <p:cNvPr id="9" name="ComponentBackground4" descr="4213d5d3-9443-403d-9004-ac592f541032">
                <a:extLst>
                  <a:ext uri="{FF2B5EF4-FFF2-40B4-BE49-F238E27FC236}">
                    <a16:creationId xmlns:a16="http://schemas.microsoft.com/office/drawing/2014/main" id="{957785F9-CA63-0A53-8EDA-8A0DFABD7E69}"/>
                  </a:ext>
                </a:extLst>
              </p:cNvPr>
              <p:cNvSpPr/>
              <p:nvPr/>
            </p:nvSpPr>
            <p:spPr>
              <a:xfrm>
                <a:off x="9029700" y="1955800"/>
                <a:ext cx="2489200" cy="3403600"/>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0" name="Bullet4" descr="c6d01795-b8a7-4cbd-a990-df6a9af79e44">
                <a:extLst>
                  <a:ext uri="{FF2B5EF4-FFF2-40B4-BE49-F238E27FC236}">
                    <a16:creationId xmlns:a16="http://schemas.microsoft.com/office/drawing/2014/main" id="{D252589C-9394-0668-A10C-B83409AC39CC}"/>
                  </a:ext>
                </a:extLst>
              </p:cNvPr>
              <p:cNvSpPr>
                <a:spLocks/>
              </p:cNvSpPr>
              <p:nvPr/>
            </p:nvSpPr>
            <p:spPr>
              <a:xfrm>
                <a:off x="9131298" y="2525550"/>
                <a:ext cx="2286000" cy="901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1800" b="1" i="0" u="none" dirty="0" err="1">
                    <a:solidFill>
                      <a:srgbClr val="000000"/>
                    </a:solidFill>
                    <a:ea typeface="微软雅黑"/>
                  </a:rPr>
                  <a:t>量子内存与光子计算探索</a:t>
                </a:r>
                <a:endParaRPr lang="en-US" sz="1800" b="1" i="0" u="none" dirty="0">
                  <a:solidFill>
                    <a:srgbClr val="000000"/>
                  </a:solidFill>
                  <a:ea typeface="微软雅黑"/>
                </a:endParaRPr>
              </a:p>
            </p:txBody>
          </p:sp>
          <p:sp>
            <p:nvSpPr>
              <p:cNvPr id="21" name="Text4" descr="1f996d4d-ac32-454d-98cd-c7431a9340df">
                <a:extLst>
                  <a:ext uri="{FF2B5EF4-FFF2-40B4-BE49-F238E27FC236}">
                    <a16:creationId xmlns:a16="http://schemas.microsoft.com/office/drawing/2014/main" id="{F4B553B4-DF08-74F2-9D1A-FB09239BC3FF}"/>
                  </a:ext>
                </a:extLst>
              </p:cNvPr>
              <p:cNvSpPr/>
              <p:nvPr/>
            </p:nvSpPr>
            <p:spPr>
              <a:xfrm>
                <a:off x="9131302" y="3485202"/>
                <a:ext cx="2285996"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fontScale="925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gn="l">
                  <a:lnSpc>
                    <a:spcPct val="120000"/>
                  </a:lnSpc>
                  <a:buFont typeface="Arial" panose="020B0604020202020204" pitchFamily="34" charset="0"/>
                  <a:buChar char="•"/>
                </a:pPr>
                <a:r>
                  <a:rPr lang="en-US" sz="2000" b="0" i="0" u="none" dirty="0" err="1">
                    <a:solidFill>
                      <a:srgbClr val="000000"/>
                    </a:solidFill>
                    <a:ea typeface="微软雅黑"/>
                  </a:rPr>
                  <a:t>长期看，新型物理架构可能重构内存与计算范式</a:t>
                </a:r>
                <a:r>
                  <a:rPr lang="en-US" sz="2000" b="0" i="0" u="none" dirty="0">
                    <a:solidFill>
                      <a:srgbClr val="000000"/>
                    </a:solidFill>
                    <a:ea typeface="微软雅黑"/>
                  </a:rPr>
                  <a:t>。</a:t>
                </a:r>
              </a:p>
            </p:txBody>
          </p:sp>
          <p:sp>
            <p:nvSpPr>
              <p:cNvPr id="25" name="IconBackground4" descr="bfdaea2f-647b-4d11-bbc7-53e1a3606323">
                <a:extLst>
                  <a:ext uri="{FF2B5EF4-FFF2-40B4-BE49-F238E27FC236}">
                    <a16:creationId xmlns:a16="http://schemas.microsoft.com/office/drawing/2014/main" id="{923FA84E-9523-DB86-633E-2898431D0419}"/>
                  </a:ext>
                </a:extLst>
              </p:cNvPr>
              <p:cNvSpPr/>
              <p:nvPr/>
            </p:nvSpPr>
            <p:spPr>
              <a:xfrm>
                <a:off x="9982201" y="5067300"/>
                <a:ext cx="584200" cy="584200"/>
              </a:xfrm>
              <a:prstGeom prst="ellipse">
                <a:avLst/>
              </a:prstGeom>
              <a:gradFill flip="none" rotWithShape="1">
                <a:gsLst>
                  <a:gs pos="50000">
                    <a:schemeClr val="accent4"/>
                  </a:gs>
                  <a:gs pos="100000">
                    <a:schemeClr val="accent4">
                      <a:lumMod val="60000"/>
                      <a:lumOff val="4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9" name="Icon4" descr="21596472-7ad8-43a3-a92b-0e909a658281">
                <a:extLst>
                  <a:ext uri="{FF2B5EF4-FFF2-40B4-BE49-F238E27FC236}">
                    <a16:creationId xmlns:a16="http://schemas.microsoft.com/office/drawing/2014/main" id="{7B380D73-D53C-EDC4-4000-5A8DEDF15433}"/>
                  </a:ext>
                </a:extLst>
              </p:cNvPr>
              <p:cNvSpPr/>
              <p:nvPr/>
            </p:nvSpPr>
            <p:spPr>
              <a:xfrm>
                <a:off x="10125191" y="5210498"/>
                <a:ext cx="298220" cy="297804"/>
              </a:xfrm>
              <a:custGeom>
                <a:avLst/>
                <a:gdLst>
                  <a:gd name="connsiteX0" fmla="*/ 171723 w 608697"/>
                  <a:gd name="connsiteY0" fmla="*/ 489435 h 607851"/>
                  <a:gd name="connsiteX1" fmla="*/ 154566 w 608697"/>
                  <a:gd name="connsiteY1" fmla="*/ 495651 h 607851"/>
                  <a:gd name="connsiteX2" fmla="*/ 183414 w 608697"/>
                  <a:gd name="connsiteY2" fmla="*/ 515059 h 607851"/>
                  <a:gd name="connsiteX3" fmla="*/ 171723 w 608697"/>
                  <a:gd name="connsiteY3" fmla="*/ 489435 h 607851"/>
                  <a:gd name="connsiteX4" fmla="*/ 273906 w 608697"/>
                  <a:gd name="connsiteY4" fmla="*/ 468359 h 607851"/>
                  <a:gd name="connsiteX5" fmla="*/ 231089 w 608697"/>
                  <a:gd name="connsiteY5" fmla="*/ 473969 h 607851"/>
                  <a:gd name="connsiteX6" fmla="*/ 273906 w 608697"/>
                  <a:gd name="connsiteY6" fmla="*/ 535679 h 607851"/>
                  <a:gd name="connsiteX7" fmla="*/ 494986 w 608697"/>
                  <a:gd name="connsiteY7" fmla="*/ 467158 h 607851"/>
                  <a:gd name="connsiteX8" fmla="*/ 469328 w 608697"/>
                  <a:gd name="connsiteY8" fmla="*/ 492781 h 607851"/>
                  <a:gd name="connsiteX9" fmla="*/ 479197 w 608697"/>
                  <a:gd name="connsiteY9" fmla="*/ 512794 h 607851"/>
                  <a:gd name="connsiteX10" fmla="*/ 479197 w 608697"/>
                  <a:gd name="connsiteY10" fmla="*/ 539478 h 607851"/>
                  <a:gd name="connsiteX11" fmla="*/ 494986 w 608697"/>
                  <a:gd name="connsiteY11" fmla="*/ 555246 h 607851"/>
                  <a:gd name="connsiteX12" fmla="*/ 510776 w 608697"/>
                  <a:gd name="connsiteY12" fmla="*/ 539478 h 607851"/>
                  <a:gd name="connsiteX13" fmla="*/ 510776 w 608697"/>
                  <a:gd name="connsiteY13" fmla="*/ 512794 h 607851"/>
                  <a:gd name="connsiteX14" fmla="*/ 520493 w 608697"/>
                  <a:gd name="connsiteY14" fmla="*/ 492781 h 607851"/>
                  <a:gd name="connsiteX15" fmla="*/ 494986 w 608697"/>
                  <a:gd name="connsiteY15" fmla="*/ 467158 h 607851"/>
                  <a:gd name="connsiteX16" fmla="*/ 494986 w 608697"/>
                  <a:gd name="connsiteY16" fmla="*/ 361332 h 607851"/>
                  <a:gd name="connsiteX17" fmla="*/ 460674 w 608697"/>
                  <a:gd name="connsiteY17" fmla="*/ 395596 h 607851"/>
                  <a:gd name="connsiteX18" fmla="*/ 460674 w 608697"/>
                  <a:gd name="connsiteY18" fmla="*/ 426374 h 607851"/>
                  <a:gd name="connsiteX19" fmla="*/ 529147 w 608697"/>
                  <a:gd name="connsiteY19" fmla="*/ 426374 h 607851"/>
                  <a:gd name="connsiteX20" fmla="*/ 529147 w 608697"/>
                  <a:gd name="connsiteY20" fmla="*/ 395596 h 607851"/>
                  <a:gd name="connsiteX21" fmla="*/ 494986 w 608697"/>
                  <a:gd name="connsiteY21" fmla="*/ 361332 h 607851"/>
                  <a:gd name="connsiteX22" fmla="*/ 200571 w 608697"/>
                  <a:gd name="connsiteY22" fmla="*/ 334174 h 607851"/>
                  <a:gd name="connsiteX23" fmla="*/ 212110 w 608697"/>
                  <a:gd name="connsiteY23" fmla="*/ 416050 h 607851"/>
                  <a:gd name="connsiteX24" fmla="*/ 273906 w 608697"/>
                  <a:gd name="connsiteY24" fmla="*/ 407862 h 607851"/>
                  <a:gd name="connsiteX25" fmla="*/ 273906 w 608697"/>
                  <a:gd name="connsiteY25" fmla="*/ 334174 h 607851"/>
                  <a:gd name="connsiteX26" fmla="*/ 62555 w 608697"/>
                  <a:gd name="connsiteY26" fmla="*/ 334174 h 607851"/>
                  <a:gd name="connsiteX27" fmla="*/ 109016 w 608697"/>
                  <a:gd name="connsiteY27" fmla="*/ 449103 h 607851"/>
                  <a:gd name="connsiteX28" fmla="*/ 153503 w 608697"/>
                  <a:gd name="connsiteY28" fmla="*/ 431667 h 607851"/>
                  <a:gd name="connsiteX29" fmla="*/ 139838 w 608697"/>
                  <a:gd name="connsiteY29" fmla="*/ 334174 h 607851"/>
                  <a:gd name="connsiteX30" fmla="*/ 494986 w 608697"/>
                  <a:gd name="connsiteY30" fmla="*/ 321002 h 607851"/>
                  <a:gd name="connsiteX31" fmla="*/ 569533 w 608697"/>
                  <a:gd name="connsiteY31" fmla="*/ 395596 h 607851"/>
                  <a:gd name="connsiteX32" fmla="*/ 569533 w 608697"/>
                  <a:gd name="connsiteY32" fmla="*/ 427890 h 607851"/>
                  <a:gd name="connsiteX33" fmla="*/ 578339 w 608697"/>
                  <a:gd name="connsiteY33" fmla="*/ 427890 h 607851"/>
                  <a:gd name="connsiteX34" fmla="*/ 594584 w 608697"/>
                  <a:gd name="connsiteY34" fmla="*/ 444113 h 607851"/>
                  <a:gd name="connsiteX35" fmla="*/ 594584 w 608697"/>
                  <a:gd name="connsiteY35" fmla="*/ 578291 h 607851"/>
                  <a:gd name="connsiteX36" fmla="*/ 578339 w 608697"/>
                  <a:gd name="connsiteY36" fmla="*/ 594514 h 607851"/>
                  <a:gd name="connsiteX37" fmla="*/ 411482 w 608697"/>
                  <a:gd name="connsiteY37" fmla="*/ 594514 h 607851"/>
                  <a:gd name="connsiteX38" fmla="*/ 395237 w 608697"/>
                  <a:gd name="connsiteY38" fmla="*/ 578291 h 607851"/>
                  <a:gd name="connsiteX39" fmla="*/ 395237 w 608697"/>
                  <a:gd name="connsiteY39" fmla="*/ 444113 h 607851"/>
                  <a:gd name="connsiteX40" fmla="*/ 411482 w 608697"/>
                  <a:gd name="connsiteY40" fmla="*/ 427890 h 607851"/>
                  <a:gd name="connsiteX41" fmla="*/ 420440 w 608697"/>
                  <a:gd name="connsiteY41" fmla="*/ 427890 h 607851"/>
                  <a:gd name="connsiteX42" fmla="*/ 420440 w 608697"/>
                  <a:gd name="connsiteY42" fmla="*/ 395596 h 607851"/>
                  <a:gd name="connsiteX43" fmla="*/ 494986 w 608697"/>
                  <a:gd name="connsiteY43" fmla="*/ 321002 h 607851"/>
                  <a:gd name="connsiteX44" fmla="*/ 393854 w 608697"/>
                  <a:gd name="connsiteY44" fmla="*/ 192256 h 607851"/>
                  <a:gd name="connsiteX45" fmla="*/ 334639 w 608697"/>
                  <a:gd name="connsiteY45" fmla="*/ 199989 h 607851"/>
                  <a:gd name="connsiteX46" fmla="*/ 334639 w 608697"/>
                  <a:gd name="connsiteY46" fmla="*/ 273525 h 607851"/>
                  <a:gd name="connsiteX47" fmla="*/ 405393 w 608697"/>
                  <a:gd name="connsiteY47" fmla="*/ 273525 h 607851"/>
                  <a:gd name="connsiteX48" fmla="*/ 393854 w 608697"/>
                  <a:gd name="connsiteY48" fmla="*/ 192256 h 607851"/>
                  <a:gd name="connsiteX49" fmla="*/ 212110 w 608697"/>
                  <a:gd name="connsiteY49" fmla="*/ 191801 h 607851"/>
                  <a:gd name="connsiteX50" fmla="*/ 200571 w 608697"/>
                  <a:gd name="connsiteY50" fmla="*/ 273525 h 607851"/>
                  <a:gd name="connsiteX51" fmla="*/ 273906 w 608697"/>
                  <a:gd name="connsiteY51" fmla="*/ 273525 h 607851"/>
                  <a:gd name="connsiteX52" fmla="*/ 273906 w 608697"/>
                  <a:gd name="connsiteY52" fmla="*/ 199989 h 607851"/>
                  <a:gd name="connsiteX53" fmla="*/ 212110 w 608697"/>
                  <a:gd name="connsiteY53" fmla="*/ 191801 h 607851"/>
                  <a:gd name="connsiteX54" fmla="*/ 499681 w 608697"/>
                  <a:gd name="connsiteY54" fmla="*/ 158748 h 607851"/>
                  <a:gd name="connsiteX55" fmla="*/ 452613 w 608697"/>
                  <a:gd name="connsiteY55" fmla="*/ 177094 h 607851"/>
                  <a:gd name="connsiteX56" fmla="*/ 466126 w 608697"/>
                  <a:gd name="connsiteY56" fmla="*/ 273525 h 607851"/>
                  <a:gd name="connsiteX57" fmla="*/ 545990 w 608697"/>
                  <a:gd name="connsiteY57" fmla="*/ 273525 h 607851"/>
                  <a:gd name="connsiteX58" fmla="*/ 499681 w 608697"/>
                  <a:gd name="connsiteY58" fmla="*/ 158748 h 607851"/>
                  <a:gd name="connsiteX59" fmla="*/ 109016 w 608697"/>
                  <a:gd name="connsiteY59" fmla="*/ 158748 h 607851"/>
                  <a:gd name="connsiteX60" fmla="*/ 62555 w 608697"/>
                  <a:gd name="connsiteY60" fmla="*/ 273525 h 607851"/>
                  <a:gd name="connsiteX61" fmla="*/ 139838 w 608697"/>
                  <a:gd name="connsiteY61" fmla="*/ 273525 h 607851"/>
                  <a:gd name="connsiteX62" fmla="*/ 153503 w 608697"/>
                  <a:gd name="connsiteY62" fmla="*/ 176184 h 607851"/>
                  <a:gd name="connsiteX63" fmla="*/ 109016 w 608697"/>
                  <a:gd name="connsiteY63" fmla="*/ 158748 h 607851"/>
                  <a:gd name="connsiteX64" fmla="*/ 183414 w 608697"/>
                  <a:gd name="connsiteY64" fmla="*/ 92792 h 607851"/>
                  <a:gd name="connsiteX65" fmla="*/ 154566 w 608697"/>
                  <a:gd name="connsiteY65" fmla="*/ 112200 h 607851"/>
                  <a:gd name="connsiteX66" fmla="*/ 171723 w 608697"/>
                  <a:gd name="connsiteY66" fmla="*/ 118416 h 607851"/>
                  <a:gd name="connsiteX67" fmla="*/ 183414 w 608697"/>
                  <a:gd name="connsiteY67" fmla="*/ 92792 h 607851"/>
                  <a:gd name="connsiteX68" fmla="*/ 421487 w 608697"/>
                  <a:gd name="connsiteY68" fmla="*/ 90670 h 607851"/>
                  <a:gd name="connsiteX69" fmla="*/ 434545 w 608697"/>
                  <a:gd name="connsiteY69" fmla="*/ 119326 h 607851"/>
                  <a:gd name="connsiteX70" fmla="*/ 454131 w 608697"/>
                  <a:gd name="connsiteY70" fmla="*/ 112200 h 607851"/>
                  <a:gd name="connsiteX71" fmla="*/ 421487 w 608697"/>
                  <a:gd name="connsiteY71" fmla="*/ 90670 h 607851"/>
                  <a:gd name="connsiteX72" fmla="*/ 334639 w 608697"/>
                  <a:gd name="connsiteY72" fmla="*/ 74294 h 607851"/>
                  <a:gd name="connsiteX73" fmla="*/ 334639 w 608697"/>
                  <a:gd name="connsiteY73" fmla="*/ 139492 h 607851"/>
                  <a:gd name="connsiteX74" fmla="*/ 375027 w 608697"/>
                  <a:gd name="connsiteY74" fmla="*/ 134337 h 607851"/>
                  <a:gd name="connsiteX75" fmla="*/ 334639 w 608697"/>
                  <a:gd name="connsiteY75" fmla="*/ 74294 h 607851"/>
                  <a:gd name="connsiteX76" fmla="*/ 273906 w 608697"/>
                  <a:gd name="connsiteY76" fmla="*/ 72172 h 607851"/>
                  <a:gd name="connsiteX77" fmla="*/ 231089 w 608697"/>
                  <a:gd name="connsiteY77" fmla="*/ 133882 h 607851"/>
                  <a:gd name="connsiteX78" fmla="*/ 273906 w 608697"/>
                  <a:gd name="connsiteY78" fmla="*/ 139492 h 607851"/>
                  <a:gd name="connsiteX79" fmla="*/ 303058 w 608697"/>
                  <a:gd name="connsiteY79" fmla="*/ 0 h 607851"/>
                  <a:gd name="connsiteX80" fmla="*/ 304273 w 608697"/>
                  <a:gd name="connsiteY80" fmla="*/ 0 h 607851"/>
                  <a:gd name="connsiteX81" fmla="*/ 608697 w 608697"/>
                  <a:gd name="connsiteY81" fmla="*/ 303850 h 607851"/>
                  <a:gd name="connsiteX82" fmla="*/ 603838 w 608697"/>
                  <a:gd name="connsiteY82" fmla="*/ 358282 h 607851"/>
                  <a:gd name="connsiteX83" fmla="*/ 567550 w 608697"/>
                  <a:gd name="connsiteY83" fmla="*/ 306427 h 607851"/>
                  <a:gd name="connsiteX84" fmla="*/ 494974 w 608697"/>
                  <a:gd name="connsiteY84" fmla="*/ 280651 h 607851"/>
                  <a:gd name="connsiteX85" fmla="*/ 397650 w 608697"/>
                  <a:gd name="connsiteY85" fmla="*/ 334174 h 607851"/>
                  <a:gd name="connsiteX86" fmla="*/ 334639 w 608697"/>
                  <a:gd name="connsiteY86" fmla="*/ 334174 h 607851"/>
                  <a:gd name="connsiteX87" fmla="*/ 334639 w 608697"/>
                  <a:gd name="connsiteY87" fmla="*/ 407862 h 607851"/>
                  <a:gd name="connsiteX88" fmla="*/ 365613 w 608697"/>
                  <a:gd name="connsiteY88" fmla="*/ 410895 h 607851"/>
                  <a:gd name="connsiteX89" fmla="*/ 354833 w 608697"/>
                  <a:gd name="connsiteY89" fmla="*/ 444100 h 607851"/>
                  <a:gd name="connsiteX90" fmla="*/ 354833 w 608697"/>
                  <a:gd name="connsiteY90" fmla="*/ 470330 h 607851"/>
                  <a:gd name="connsiteX91" fmla="*/ 334639 w 608697"/>
                  <a:gd name="connsiteY91" fmla="*/ 468359 h 607851"/>
                  <a:gd name="connsiteX92" fmla="*/ 334639 w 608697"/>
                  <a:gd name="connsiteY92" fmla="*/ 533557 h 607851"/>
                  <a:gd name="connsiteX93" fmla="*/ 354833 w 608697"/>
                  <a:gd name="connsiteY93" fmla="*/ 510662 h 607851"/>
                  <a:gd name="connsiteX94" fmla="*/ 354833 w 608697"/>
                  <a:gd name="connsiteY94" fmla="*/ 578285 h 607851"/>
                  <a:gd name="connsiteX95" fmla="*/ 356503 w 608697"/>
                  <a:gd name="connsiteY95" fmla="*/ 592386 h 607851"/>
                  <a:gd name="connsiteX96" fmla="*/ 360299 w 608697"/>
                  <a:gd name="connsiteY96" fmla="*/ 602696 h 607851"/>
                  <a:gd name="connsiteX97" fmla="*/ 303058 w 608697"/>
                  <a:gd name="connsiteY97" fmla="*/ 607851 h 607851"/>
                  <a:gd name="connsiteX98" fmla="*/ 0 w 608697"/>
                  <a:gd name="connsiteY98" fmla="*/ 303850 h 607851"/>
                  <a:gd name="connsiteX99" fmla="*/ 303058 w 608697"/>
                  <a:gd name="connsiteY99"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608697" h="607851">
                    <a:moveTo>
                      <a:pt x="171723" y="489435"/>
                    </a:moveTo>
                    <a:cubicBezTo>
                      <a:pt x="165953" y="491406"/>
                      <a:pt x="160335" y="493377"/>
                      <a:pt x="154566" y="495651"/>
                    </a:cubicBezTo>
                    <a:cubicBezTo>
                      <a:pt x="163676" y="502777"/>
                      <a:pt x="173393" y="509297"/>
                      <a:pt x="183414" y="515059"/>
                    </a:cubicBezTo>
                    <a:cubicBezTo>
                      <a:pt x="179466" y="507174"/>
                      <a:pt x="175670" y="499138"/>
                      <a:pt x="171723" y="489435"/>
                    </a:cubicBezTo>
                    <a:close/>
                    <a:moveTo>
                      <a:pt x="273906" y="468359"/>
                    </a:moveTo>
                    <a:cubicBezTo>
                      <a:pt x="259634" y="469421"/>
                      <a:pt x="245362" y="471240"/>
                      <a:pt x="231089" y="473969"/>
                    </a:cubicBezTo>
                    <a:cubicBezTo>
                      <a:pt x="240807" y="495954"/>
                      <a:pt x="255079" y="520972"/>
                      <a:pt x="273906" y="535679"/>
                    </a:cubicBezTo>
                    <a:close/>
                    <a:moveTo>
                      <a:pt x="494986" y="467158"/>
                    </a:moveTo>
                    <a:cubicBezTo>
                      <a:pt x="480867" y="467158"/>
                      <a:pt x="469328" y="478681"/>
                      <a:pt x="469328" y="492781"/>
                    </a:cubicBezTo>
                    <a:cubicBezTo>
                      <a:pt x="469328" y="500968"/>
                      <a:pt x="473275" y="508094"/>
                      <a:pt x="479197" y="512794"/>
                    </a:cubicBezTo>
                    <a:lnTo>
                      <a:pt x="479197" y="539478"/>
                    </a:lnTo>
                    <a:cubicBezTo>
                      <a:pt x="479197" y="548272"/>
                      <a:pt x="486181" y="555246"/>
                      <a:pt x="494986" y="555246"/>
                    </a:cubicBezTo>
                    <a:cubicBezTo>
                      <a:pt x="503640" y="555246"/>
                      <a:pt x="510776" y="548272"/>
                      <a:pt x="510776" y="539478"/>
                    </a:cubicBezTo>
                    <a:lnTo>
                      <a:pt x="510776" y="512794"/>
                    </a:lnTo>
                    <a:cubicBezTo>
                      <a:pt x="516697" y="508094"/>
                      <a:pt x="520493" y="500968"/>
                      <a:pt x="520493" y="492781"/>
                    </a:cubicBezTo>
                    <a:cubicBezTo>
                      <a:pt x="520493" y="478681"/>
                      <a:pt x="509106" y="467158"/>
                      <a:pt x="494986" y="467158"/>
                    </a:cubicBezTo>
                    <a:close/>
                    <a:moveTo>
                      <a:pt x="494986" y="361332"/>
                    </a:moveTo>
                    <a:cubicBezTo>
                      <a:pt x="476160" y="361332"/>
                      <a:pt x="460674" y="376645"/>
                      <a:pt x="460674" y="395596"/>
                    </a:cubicBezTo>
                    <a:lnTo>
                      <a:pt x="460674" y="426374"/>
                    </a:lnTo>
                    <a:lnTo>
                      <a:pt x="529147" y="426374"/>
                    </a:lnTo>
                    <a:lnTo>
                      <a:pt x="529147" y="395596"/>
                    </a:lnTo>
                    <a:cubicBezTo>
                      <a:pt x="529147" y="376645"/>
                      <a:pt x="513813" y="361332"/>
                      <a:pt x="494986" y="361332"/>
                    </a:cubicBezTo>
                    <a:close/>
                    <a:moveTo>
                      <a:pt x="200571" y="334174"/>
                    </a:moveTo>
                    <a:cubicBezTo>
                      <a:pt x="202241" y="362982"/>
                      <a:pt x="206189" y="390577"/>
                      <a:pt x="212110" y="416050"/>
                    </a:cubicBezTo>
                    <a:cubicBezTo>
                      <a:pt x="232608" y="411956"/>
                      <a:pt x="253257" y="409227"/>
                      <a:pt x="273906" y="407862"/>
                    </a:cubicBezTo>
                    <a:lnTo>
                      <a:pt x="273906" y="334174"/>
                    </a:lnTo>
                    <a:close/>
                    <a:moveTo>
                      <a:pt x="62555" y="334174"/>
                    </a:moveTo>
                    <a:cubicBezTo>
                      <a:pt x="68021" y="376931"/>
                      <a:pt x="84419" y="416201"/>
                      <a:pt x="109016" y="449103"/>
                    </a:cubicBezTo>
                    <a:cubicBezTo>
                      <a:pt x="123440" y="442584"/>
                      <a:pt x="138320" y="436670"/>
                      <a:pt x="153503" y="431667"/>
                    </a:cubicBezTo>
                    <a:cubicBezTo>
                      <a:pt x="146215" y="401191"/>
                      <a:pt x="141508" y="368289"/>
                      <a:pt x="139838" y="334174"/>
                    </a:cubicBezTo>
                    <a:close/>
                    <a:moveTo>
                      <a:pt x="494986" y="321002"/>
                    </a:moveTo>
                    <a:cubicBezTo>
                      <a:pt x="536131" y="321002"/>
                      <a:pt x="569533" y="354509"/>
                      <a:pt x="569533" y="395596"/>
                    </a:cubicBezTo>
                    <a:lnTo>
                      <a:pt x="569533" y="427890"/>
                    </a:lnTo>
                    <a:lnTo>
                      <a:pt x="578339" y="427890"/>
                    </a:lnTo>
                    <a:cubicBezTo>
                      <a:pt x="587296" y="427890"/>
                      <a:pt x="594584" y="435168"/>
                      <a:pt x="594584" y="444113"/>
                    </a:cubicBezTo>
                    <a:lnTo>
                      <a:pt x="594584" y="578291"/>
                    </a:lnTo>
                    <a:cubicBezTo>
                      <a:pt x="594584" y="587388"/>
                      <a:pt x="587296" y="594514"/>
                      <a:pt x="578339" y="594514"/>
                    </a:cubicBezTo>
                    <a:lnTo>
                      <a:pt x="411482" y="594514"/>
                    </a:lnTo>
                    <a:cubicBezTo>
                      <a:pt x="402525" y="594514"/>
                      <a:pt x="395237" y="587388"/>
                      <a:pt x="395237" y="578291"/>
                    </a:cubicBezTo>
                    <a:lnTo>
                      <a:pt x="395237" y="444113"/>
                    </a:lnTo>
                    <a:cubicBezTo>
                      <a:pt x="395237" y="435168"/>
                      <a:pt x="402525" y="427890"/>
                      <a:pt x="411482" y="427890"/>
                    </a:cubicBezTo>
                    <a:lnTo>
                      <a:pt x="420440" y="427890"/>
                    </a:lnTo>
                    <a:lnTo>
                      <a:pt x="420440" y="395596"/>
                    </a:lnTo>
                    <a:cubicBezTo>
                      <a:pt x="420440" y="354357"/>
                      <a:pt x="453842" y="321002"/>
                      <a:pt x="494986" y="321002"/>
                    </a:cubicBezTo>
                    <a:close/>
                    <a:moveTo>
                      <a:pt x="393854" y="192256"/>
                    </a:moveTo>
                    <a:cubicBezTo>
                      <a:pt x="374419" y="196047"/>
                      <a:pt x="354529" y="198624"/>
                      <a:pt x="334639" y="199989"/>
                    </a:cubicBezTo>
                    <a:lnTo>
                      <a:pt x="334639" y="273525"/>
                    </a:lnTo>
                    <a:lnTo>
                      <a:pt x="405393" y="273525"/>
                    </a:lnTo>
                    <a:cubicBezTo>
                      <a:pt x="403723" y="245020"/>
                      <a:pt x="399927" y="217577"/>
                      <a:pt x="393854" y="192256"/>
                    </a:cubicBezTo>
                    <a:close/>
                    <a:moveTo>
                      <a:pt x="212110" y="191801"/>
                    </a:moveTo>
                    <a:cubicBezTo>
                      <a:pt x="206189" y="217274"/>
                      <a:pt x="202241" y="244869"/>
                      <a:pt x="200571" y="273525"/>
                    </a:cubicBezTo>
                    <a:lnTo>
                      <a:pt x="273906" y="273525"/>
                    </a:lnTo>
                    <a:lnTo>
                      <a:pt x="273906" y="199989"/>
                    </a:lnTo>
                    <a:cubicBezTo>
                      <a:pt x="253257" y="198624"/>
                      <a:pt x="232608" y="195895"/>
                      <a:pt x="212110" y="191801"/>
                    </a:cubicBezTo>
                    <a:close/>
                    <a:moveTo>
                      <a:pt x="499681" y="158748"/>
                    </a:moveTo>
                    <a:cubicBezTo>
                      <a:pt x="484346" y="165722"/>
                      <a:pt x="468707" y="171787"/>
                      <a:pt x="452613" y="177094"/>
                    </a:cubicBezTo>
                    <a:cubicBezTo>
                      <a:pt x="459901" y="207267"/>
                      <a:pt x="464456" y="239865"/>
                      <a:pt x="466126" y="273525"/>
                    </a:cubicBezTo>
                    <a:lnTo>
                      <a:pt x="545990" y="273525"/>
                    </a:lnTo>
                    <a:cubicBezTo>
                      <a:pt x="540676" y="230920"/>
                      <a:pt x="524278" y="191650"/>
                      <a:pt x="499681" y="158748"/>
                    </a:cubicBezTo>
                    <a:close/>
                    <a:moveTo>
                      <a:pt x="109016" y="158748"/>
                    </a:moveTo>
                    <a:cubicBezTo>
                      <a:pt x="84419" y="191650"/>
                      <a:pt x="68021" y="230920"/>
                      <a:pt x="62555" y="273525"/>
                    </a:cubicBezTo>
                    <a:lnTo>
                      <a:pt x="139838" y="273525"/>
                    </a:lnTo>
                    <a:cubicBezTo>
                      <a:pt x="141508" y="239562"/>
                      <a:pt x="146215" y="206660"/>
                      <a:pt x="153503" y="176184"/>
                    </a:cubicBezTo>
                    <a:cubicBezTo>
                      <a:pt x="138320" y="171181"/>
                      <a:pt x="123440" y="165267"/>
                      <a:pt x="109016" y="158748"/>
                    </a:cubicBezTo>
                    <a:close/>
                    <a:moveTo>
                      <a:pt x="183414" y="92792"/>
                    </a:moveTo>
                    <a:cubicBezTo>
                      <a:pt x="173393" y="98554"/>
                      <a:pt x="163676" y="105074"/>
                      <a:pt x="154566" y="112200"/>
                    </a:cubicBezTo>
                    <a:cubicBezTo>
                      <a:pt x="160335" y="114474"/>
                      <a:pt x="165953" y="116445"/>
                      <a:pt x="171723" y="118416"/>
                    </a:cubicBezTo>
                    <a:cubicBezTo>
                      <a:pt x="175670" y="108561"/>
                      <a:pt x="179466" y="100525"/>
                      <a:pt x="183414" y="92792"/>
                    </a:cubicBezTo>
                    <a:close/>
                    <a:moveTo>
                      <a:pt x="421487" y="90670"/>
                    </a:moveTo>
                    <a:cubicBezTo>
                      <a:pt x="425891" y="99160"/>
                      <a:pt x="430142" y="108409"/>
                      <a:pt x="434545" y="119326"/>
                    </a:cubicBezTo>
                    <a:cubicBezTo>
                      <a:pt x="441074" y="117052"/>
                      <a:pt x="447603" y="114777"/>
                      <a:pt x="454131" y="112200"/>
                    </a:cubicBezTo>
                    <a:cubicBezTo>
                      <a:pt x="443807" y="104164"/>
                      <a:pt x="433027" y="97038"/>
                      <a:pt x="421487" y="90670"/>
                    </a:cubicBezTo>
                    <a:close/>
                    <a:moveTo>
                      <a:pt x="334639" y="74294"/>
                    </a:moveTo>
                    <a:lnTo>
                      <a:pt x="334639" y="139492"/>
                    </a:lnTo>
                    <a:cubicBezTo>
                      <a:pt x="348152" y="138430"/>
                      <a:pt x="361665" y="136763"/>
                      <a:pt x="375027" y="134337"/>
                    </a:cubicBezTo>
                    <a:cubicBezTo>
                      <a:pt x="361210" y="102344"/>
                      <a:pt x="346482" y="84301"/>
                      <a:pt x="334639" y="74294"/>
                    </a:cubicBezTo>
                    <a:close/>
                    <a:moveTo>
                      <a:pt x="273906" y="72172"/>
                    </a:moveTo>
                    <a:cubicBezTo>
                      <a:pt x="255079" y="86727"/>
                      <a:pt x="240807" y="111897"/>
                      <a:pt x="231089" y="133882"/>
                    </a:cubicBezTo>
                    <a:cubicBezTo>
                      <a:pt x="245362" y="136459"/>
                      <a:pt x="259634" y="138430"/>
                      <a:pt x="273906" y="139492"/>
                    </a:cubicBezTo>
                    <a:close/>
                    <a:moveTo>
                      <a:pt x="303058" y="0"/>
                    </a:moveTo>
                    <a:lnTo>
                      <a:pt x="304273" y="0"/>
                    </a:lnTo>
                    <a:cubicBezTo>
                      <a:pt x="472199" y="0"/>
                      <a:pt x="608697" y="136308"/>
                      <a:pt x="608697" y="303850"/>
                    </a:cubicBezTo>
                    <a:cubicBezTo>
                      <a:pt x="608697" y="322499"/>
                      <a:pt x="607027" y="340694"/>
                      <a:pt x="603838" y="358282"/>
                    </a:cubicBezTo>
                    <a:cubicBezTo>
                      <a:pt x="596702" y="337813"/>
                      <a:pt x="584100" y="319921"/>
                      <a:pt x="567550" y="306427"/>
                    </a:cubicBezTo>
                    <a:cubicBezTo>
                      <a:pt x="547660" y="290355"/>
                      <a:pt x="522456" y="280651"/>
                      <a:pt x="494974" y="280651"/>
                    </a:cubicBezTo>
                    <a:cubicBezTo>
                      <a:pt x="453980" y="280651"/>
                      <a:pt x="418147" y="302030"/>
                      <a:pt x="397650" y="334174"/>
                    </a:cubicBezTo>
                    <a:lnTo>
                      <a:pt x="334639" y="334174"/>
                    </a:lnTo>
                    <a:lnTo>
                      <a:pt x="334639" y="407862"/>
                    </a:lnTo>
                    <a:cubicBezTo>
                      <a:pt x="344964" y="408620"/>
                      <a:pt x="355288" y="409682"/>
                      <a:pt x="365613" y="410895"/>
                    </a:cubicBezTo>
                    <a:cubicBezTo>
                      <a:pt x="358780" y="420295"/>
                      <a:pt x="354833" y="431818"/>
                      <a:pt x="354833" y="444100"/>
                    </a:cubicBezTo>
                    <a:lnTo>
                      <a:pt x="354833" y="470330"/>
                    </a:lnTo>
                    <a:cubicBezTo>
                      <a:pt x="348152" y="469572"/>
                      <a:pt x="341472" y="468966"/>
                      <a:pt x="334639" y="468359"/>
                    </a:cubicBezTo>
                    <a:lnTo>
                      <a:pt x="334639" y="533557"/>
                    </a:lnTo>
                    <a:cubicBezTo>
                      <a:pt x="341623" y="527643"/>
                      <a:pt x="348304" y="520062"/>
                      <a:pt x="354833" y="510662"/>
                    </a:cubicBezTo>
                    <a:lnTo>
                      <a:pt x="354833" y="578285"/>
                    </a:lnTo>
                    <a:cubicBezTo>
                      <a:pt x="354833" y="583137"/>
                      <a:pt x="355440" y="587837"/>
                      <a:pt x="356503" y="592386"/>
                    </a:cubicBezTo>
                    <a:cubicBezTo>
                      <a:pt x="357414" y="596025"/>
                      <a:pt x="358780" y="599360"/>
                      <a:pt x="360299" y="602696"/>
                    </a:cubicBezTo>
                    <a:cubicBezTo>
                      <a:pt x="340561" y="606335"/>
                      <a:pt x="322189" y="607851"/>
                      <a:pt x="303058" y="607851"/>
                    </a:cubicBezTo>
                    <a:cubicBezTo>
                      <a:pt x="138016" y="607851"/>
                      <a:pt x="0" y="472453"/>
                      <a:pt x="0" y="303850"/>
                    </a:cubicBezTo>
                    <a:cubicBezTo>
                      <a:pt x="0" y="134943"/>
                      <a:pt x="138471" y="0"/>
                      <a:pt x="303058"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41" name="Number4" descr="4ba1956e-3731-456a-8d45-0e13abda473d">
                <a:extLst>
                  <a:ext uri="{FF2B5EF4-FFF2-40B4-BE49-F238E27FC236}">
                    <a16:creationId xmlns:a16="http://schemas.microsoft.com/office/drawing/2014/main" id="{C088F78B-3379-13A2-107A-21EEDCB41410}"/>
                  </a:ext>
                </a:extLst>
              </p:cNvPr>
              <p:cNvSpPr txBox="1"/>
              <p:nvPr/>
            </p:nvSpPr>
            <p:spPr>
              <a:xfrm>
                <a:off x="10053693" y="1955800"/>
                <a:ext cx="441210" cy="707886"/>
              </a:xfrm>
              <a:prstGeom prst="rect">
                <a:avLst/>
              </a:prstGeom>
              <a:noFill/>
            </p:spPr>
            <p:txBody>
              <a:bodyPr wrap="square" rtlCol="0" anchor="ctr" anchorCtr="0">
                <a:spAutoFit/>
              </a:bodyPr>
              <a:lstStyle/>
              <a:p>
                <a:pPr algn="ctr"/>
                <a:r>
                  <a:rPr lang="en-US" sz="4000" b="1" i="0" u="none">
                    <a:solidFill>
                      <a:srgbClr val="3B3334"/>
                    </a:solidFill>
                    <a:latin typeface="Arial"/>
                  </a:rPr>
                  <a:t>4</a:t>
                </a:r>
              </a:p>
            </p:txBody>
          </p:sp>
        </p:grpSp>
      </p:grpSp>
    </p:spTree>
    <p:extLst>
      <p:ext uri="{BB962C8B-B14F-4D97-AF65-F5344CB8AC3E}">
        <p14:creationId xmlns:p14="http://schemas.microsoft.com/office/powerpoint/2010/main" val="691414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3600" b="1" dirty="0" err="1"/>
              <a:t>AI数据库关键技术体系</a:t>
            </a:r>
            <a:endParaRPr lang="en-US" sz="3600" b="1" dirty="0"/>
          </a:p>
        </p:txBody>
      </p:sp>
      <p:grpSp>
        <p:nvGrpSpPr>
          <p:cNvPr id="50" name="6d649ebf-74bc-446c-add3-cfd664cd660c.source.5.zh-Hans.pptx" descr="6d7fe80a-d3c0-4f90-8fd3-6f3610870e11">
            <a:extLst>
              <a:ext uri="{FF2B5EF4-FFF2-40B4-BE49-F238E27FC236}">
                <a16:creationId xmlns:a16="http://schemas.microsoft.com/office/drawing/2014/main" id="{496284C5-9049-A9D1-8105-D97C867A2E7A}"/>
              </a:ext>
            </a:extLst>
          </p:cNvPr>
          <p:cNvGrpSpPr/>
          <p:nvPr/>
        </p:nvGrpSpPr>
        <p:grpSpPr>
          <a:xfrm>
            <a:off x="0" y="1662833"/>
            <a:ext cx="12698264" cy="5195167"/>
            <a:chOff x="1" y="1662833"/>
            <a:chExt cx="12191999" cy="5195167"/>
          </a:xfrm>
        </p:grpSpPr>
        <p:sp>
          <p:nvSpPr>
            <p:cNvPr id="13" name="PictureMisc1" descr="aa6ce5fb-21e2-4a7e-aa44-1ed2fcafc31f">
              <a:extLst>
                <a:ext uri="{FF2B5EF4-FFF2-40B4-BE49-F238E27FC236}">
                  <a16:creationId xmlns:a16="http://schemas.microsoft.com/office/drawing/2014/main" id="{D80852F5-4590-DFE2-0893-EC98FDB510F2}"/>
                </a:ext>
              </a:extLst>
            </p:cNvPr>
            <p:cNvSpPr/>
            <p:nvPr/>
          </p:nvSpPr>
          <p:spPr>
            <a:xfrm>
              <a:off x="1" y="4454604"/>
              <a:ext cx="12191999" cy="2403396"/>
            </a:xfrm>
            <a:prstGeom prst="rect">
              <a:avLst/>
            </a:prstGeom>
            <a:blipFill rotWithShape="1">
              <a:blip r:embed="rId2"/>
              <a:srcRect/>
              <a:stretch>
                <a:fillRect t="-5341" b="-18453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4" name="c" descr="c7f043c2-c98b-4e97-9bf2-60f4a7b4ee69">
              <a:extLst>
                <a:ext uri="{FF2B5EF4-FFF2-40B4-BE49-F238E27FC236}">
                  <a16:creationId xmlns:a16="http://schemas.microsoft.com/office/drawing/2014/main" id="{52A49B3F-E524-354D-7F22-84F151D900CF}"/>
                </a:ext>
              </a:extLst>
            </p:cNvPr>
            <p:cNvSpPr/>
            <p:nvPr/>
          </p:nvSpPr>
          <p:spPr>
            <a:xfrm>
              <a:off x="598591" y="1824048"/>
              <a:ext cx="10994819" cy="4310052"/>
            </a:xfrm>
            <a:prstGeom prst="roundRect">
              <a:avLst>
                <a:gd name="adj" fmla="val 3015"/>
              </a:avLst>
            </a:prstGeom>
            <a:gradFill flip="none" rotWithShape="1">
              <a:gsLst>
                <a:gs pos="0">
                  <a:schemeClr val="bg1"/>
                </a:gs>
                <a:gs pos="100000">
                  <a:schemeClr val="bg1">
                    <a:alpha val="90000"/>
                  </a:schemeClr>
                </a:gs>
              </a:gsLst>
              <a:lin ang="5400000" scaled="1"/>
              <a:tileRect/>
            </a:gradFill>
            <a:ln w="6350">
              <a:gradFill flip="none" rotWithShape="1">
                <a:gsLst>
                  <a:gs pos="0">
                    <a:schemeClr val="tx1">
                      <a:alpha val="50000"/>
                    </a:schemeClr>
                  </a:gs>
                  <a:gs pos="100000">
                    <a:schemeClr val="tx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lnSpc>
                  <a:spcPct val="120000"/>
                </a:lnSpc>
              </a:pPr>
              <a:endParaRPr/>
            </a:p>
          </p:txBody>
        </p:sp>
        <p:cxnSp>
          <p:nvCxnSpPr>
            <p:cNvPr id="15" name="直接连接符 14" descr="6aeadf92-db21-4171-905d-0c21c12d87ba">
              <a:extLst>
                <a:ext uri="{FF2B5EF4-FFF2-40B4-BE49-F238E27FC236}">
                  <a16:creationId xmlns:a16="http://schemas.microsoft.com/office/drawing/2014/main" id="{D5E7017A-61FA-DF7D-91E5-7AE76794A276}"/>
                </a:ext>
              </a:extLst>
            </p:cNvPr>
            <p:cNvCxnSpPr>
              <a:cxnSpLocks/>
              <a:stCxn id="29" idx="1"/>
              <a:endCxn id="32" idx="3"/>
            </p:cNvCxnSpPr>
            <p:nvPr/>
          </p:nvCxnSpPr>
          <p:spPr>
            <a:xfrm>
              <a:off x="3411420" y="4944422"/>
              <a:ext cx="5306516"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descr="db641f3d-655e-4566-a22a-98766ffd2fb4">
              <a:extLst>
                <a:ext uri="{FF2B5EF4-FFF2-40B4-BE49-F238E27FC236}">
                  <a16:creationId xmlns:a16="http://schemas.microsoft.com/office/drawing/2014/main" id="{7BC52E70-3086-62D6-253C-AF2D861B7D52}"/>
                </a:ext>
              </a:extLst>
            </p:cNvPr>
            <p:cNvCxnSpPr>
              <a:cxnSpLocks/>
              <a:stCxn id="41" idx="3"/>
            </p:cNvCxnSpPr>
            <p:nvPr/>
          </p:nvCxnSpPr>
          <p:spPr>
            <a:xfrm>
              <a:off x="2868646" y="1812566"/>
              <a:ext cx="6931611"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nvGrpSpPr>
            <p:cNvPr id="45" name="组合 44" descr="d6b04e63-cdc4-485f-b781-a6de7bf41558">
              <a:extLst>
                <a:ext uri="{FF2B5EF4-FFF2-40B4-BE49-F238E27FC236}">
                  <a16:creationId xmlns:a16="http://schemas.microsoft.com/office/drawing/2014/main" id="{97243A23-34C0-C0DB-ED3C-472FDFAE7594}"/>
                </a:ext>
              </a:extLst>
            </p:cNvPr>
            <p:cNvGrpSpPr/>
            <p:nvPr/>
          </p:nvGrpSpPr>
          <p:grpSpPr>
            <a:xfrm>
              <a:off x="1965844" y="1662833"/>
              <a:ext cx="3677016" cy="4161344"/>
              <a:chOff x="1965844" y="1662833"/>
              <a:chExt cx="3677016" cy="4161344"/>
            </a:xfrm>
          </p:grpSpPr>
          <p:sp>
            <p:nvSpPr>
              <p:cNvPr id="39" name="Bullet1" descr="63a985e9-225b-4530-ae46-40972af6aa8b">
                <a:extLst>
                  <a:ext uri="{FF2B5EF4-FFF2-40B4-BE49-F238E27FC236}">
                    <a16:creationId xmlns:a16="http://schemas.microsoft.com/office/drawing/2014/main" id="{E95CA7A1-9125-AD7D-4B78-63742D6BDBDC}"/>
                  </a:ext>
                </a:extLst>
              </p:cNvPr>
              <p:cNvSpPr txBox="1">
                <a:spLocks/>
              </p:cNvSpPr>
              <p:nvPr/>
            </p:nvSpPr>
            <p:spPr>
              <a:xfrm>
                <a:off x="2129169" y="5166210"/>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600" b="1" i="0" u="none" dirty="0" err="1">
                    <a:solidFill>
                      <a:srgbClr val="000000"/>
                    </a:solidFill>
                    <a:ea typeface="微软雅黑"/>
                  </a:rPr>
                  <a:t>向量数据库</a:t>
                </a:r>
                <a:r>
                  <a:rPr lang="zh-CN" altLang="en-US" sz="1600" b="1" i="0" u="none" dirty="0">
                    <a:solidFill>
                      <a:srgbClr val="000000"/>
                    </a:solidFill>
                    <a:ea typeface="微软雅黑"/>
                  </a:rPr>
                  <a:t>与</a:t>
                </a:r>
                <a:r>
                  <a:rPr lang="en-US" altLang="zh-CN" sz="1600" b="1" i="0" u="none" dirty="0">
                    <a:solidFill>
                      <a:srgbClr val="000000"/>
                    </a:solidFill>
                    <a:ea typeface="微软雅黑"/>
                  </a:rPr>
                  <a:t>LLM </a:t>
                </a:r>
                <a:r>
                  <a:rPr lang="en-US" altLang="zh-CN" sz="1600" b="1" i="0" u="none" dirty="0" err="1">
                    <a:solidFill>
                      <a:srgbClr val="000000"/>
                    </a:solidFill>
                    <a:ea typeface="微软雅黑"/>
                  </a:rPr>
                  <a:t>RAG</a:t>
                </a:r>
                <a:r>
                  <a:rPr lang="en-US" sz="1600" b="1" i="0" u="none" dirty="0" err="1">
                    <a:solidFill>
                      <a:srgbClr val="000000"/>
                    </a:solidFill>
                    <a:ea typeface="微软雅黑"/>
                  </a:rPr>
                  <a:t>技术</a:t>
                </a:r>
                <a:endParaRPr lang="en-US" sz="1600" b="1" i="0" u="none" dirty="0">
                  <a:solidFill>
                    <a:srgbClr val="000000"/>
                  </a:solidFill>
                  <a:ea typeface="微软雅黑"/>
                </a:endParaRPr>
              </a:p>
            </p:txBody>
          </p:sp>
          <p:sp>
            <p:nvSpPr>
              <p:cNvPr id="41" name="Number1" descr="cb5a9482-dd7b-48c3-b267-d0acb23dd1ab">
                <a:extLst>
                  <a:ext uri="{FF2B5EF4-FFF2-40B4-BE49-F238E27FC236}">
                    <a16:creationId xmlns:a16="http://schemas.microsoft.com/office/drawing/2014/main" id="{D3AA65A5-4729-21F6-F81F-8A1162DABAC4}"/>
                  </a:ext>
                </a:extLst>
              </p:cNvPr>
              <p:cNvSpPr txBox="1"/>
              <p:nvPr/>
            </p:nvSpPr>
            <p:spPr>
              <a:xfrm>
                <a:off x="1965844"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1</a:t>
                </a:r>
              </a:p>
            </p:txBody>
          </p:sp>
        </p:grpSp>
        <p:grpSp>
          <p:nvGrpSpPr>
            <p:cNvPr id="46" name="组合 45" descr="a8ef9746-64a1-450c-a1d6-2071045d2e7e">
              <a:extLst>
                <a:ext uri="{FF2B5EF4-FFF2-40B4-BE49-F238E27FC236}">
                  <a16:creationId xmlns:a16="http://schemas.microsoft.com/office/drawing/2014/main" id="{A95487B3-04BE-189D-49D3-1793B763E883}"/>
                </a:ext>
              </a:extLst>
            </p:cNvPr>
            <p:cNvGrpSpPr/>
            <p:nvPr/>
          </p:nvGrpSpPr>
          <p:grpSpPr>
            <a:xfrm>
              <a:off x="1284804" y="1662833"/>
              <a:ext cx="5256246" cy="977787"/>
              <a:chOff x="1284804" y="1662833"/>
              <a:chExt cx="5256246" cy="977787"/>
            </a:xfrm>
          </p:grpSpPr>
          <p:sp>
            <p:nvSpPr>
              <p:cNvPr id="36" name="Bullet2" descr="b4a03a2d-2661-476e-9f2e-ccba69d31cc2">
                <a:extLst>
                  <a:ext uri="{FF2B5EF4-FFF2-40B4-BE49-F238E27FC236}">
                    <a16:creationId xmlns:a16="http://schemas.microsoft.com/office/drawing/2014/main" id="{673A8015-3DE8-BD7C-B3F9-5ACF8C08A3E2}"/>
                  </a:ext>
                </a:extLst>
              </p:cNvPr>
              <p:cNvSpPr txBox="1">
                <a:spLocks/>
              </p:cNvSpPr>
              <p:nvPr/>
            </p:nvSpPr>
            <p:spPr>
              <a:xfrm>
                <a:off x="1284804" y="1982653"/>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600" dirty="0" err="1">
                    <a:solidFill>
                      <a:srgbClr val="000000"/>
                    </a:solidFill>
                    <a:ea typeface="微软雅黑"/>
                  </a:rPr>
                  <a:t>特征工程一体化架构</a:t>
                </a:r>
                <a:endParaRPr lang="en-US" sz="1600" dirty="0">
                  <a:solidFill>
                    <a:srgbClr val="000000"/>
                  </a:solidFill>
                  <a:ea typeface="微软雅黑"/>
                </a:endParaRPr>
              </a:p>
            </p:txBody>
          </p:sp>
          <p:sp>
            <p:nvSpPr>
              <p:cNvPr id="38" name="Number2" descr="33303b4d-75b8-43fb-9107-811eb522960e">
                <a:extLst>
                  <a:ext uri="{FF2B5EF4-FFF2-40B4-BE49-F238E27FC236}">
                    <a16:creationId xmlns:a16="http://schemas.microsoft.com/office/drawing/2014/main" id="{C5925CBE-12B1-4810-CA91-AF26A77C2D5B}"/>
                  </a:ext>
                </a:extLst>
              </p:cNvPr>
              <p:cNvSpPr txBox="1"/>
              <p:nvPr/>
            </p:nvSpPr>
            <p:spPr>
              <a:xfrm>
                <a:off x="5638248"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2</a:t>
                </a:r>
              </a:p>
            </p:txBody>
          </p:sp>
        </p:grpSp>
        <p:grpSp>
          <p:nvGrpSpPr>
            <p:cNvPr id="47" name="组合 46" descr="c7974719-d37e-466b-8727-f1591792a42c">
              <a:extLst>
                <a:ext uri="{FF2B5EF4-FFF2-40B4-BE49-F238E27FC236}">
                  <a16:creationId xmlns:a16="http://schemas.microsoft.com/office/drawing/2014/main" id="{D2B237F1-FE1A-D583-3DD3-A46E71E5B820}"/>
                </a:ext>
              </a:extLst>
            </p:cNvPr>
            <p:cNvGrpSpPr/>
            <p:nvPr/>
          </p:nvGrpSpPr>
          <p:grpSpPr>
            <a:xfrm>
              <a:off x="4462705" y="1662833"/>
              <a:ext cx="5750750" cy="988100"/>
              <a:chOff x="4462705" y="1662833"/>
              <a:chExt cx="5750750" cy="988100"/>
            </a:xfrm>
          </p:grpSpPr>
          <p:sp>
            <p:nvSpPr>
              <p:cNvPr id="33" name="Bullet3" descr="25b8f82b-dca0-4461-980e-c00d40026f51">
                <a:extLst>
                  <a:ext uri="{FF2B5EF4-FFF2-40B4-BE49-F238E27FC236}">
                    <a16:creationId xmlns:a16="http://schemas.microsoft.com/office/drawing/2014/main" id="{DC26826B-E497-3D54-39D5-78277ACC72FD}"/>
                  </a:ext>
                </a:extLst>
              </p:cNvPr>
              <p:cNvSpPr txBox="1">
                <a:spLocks/>
              </p:cNvSpPr>
              <p:nvPr/>
            </p:nvSpPr>
            <p:spPr>
              <a:xfrm>
                <a:off x="4462705" y="1992966"/>
                <a:ext cx="3710844" cy="657967"/>
              </a:xfrm>
              <a:prstGeom prst="rect">
                <a:avLst/>
              </a:prstGeom>
              <a:noFill/>
              <a:ln>
                <a:noFill/>
              </a:ln>
            </p:spPr>
            <p:txBody>
              <a:bodyPr wrap="square" lIns="91440" tIns="45720" rIns="91440" bIns="45720" anchor="t" anchorCtr="0">
                <a:no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600" dirty="0" err="1">
                    <a:solidFill>
                      <a:srgbClr val="000000"/>
                    </a:solidFill>
                    <a:ea typeface="微软雅黑"/>
                  </a:rPr>
                  <a:t>高性能计算与内存优化技术</a:t>
                </a:r>
                <a:endParaRPr lang="en-US" sz="1600" dirty="0">
                  <a:solidFill>
                    <a:srgbClr val="000000"/>
                  </a:solidFill>
                  <a:ea typeface="微软雅黑"/>
                </a:endParaRPr>
              </a:p>
            </p:txBody>
          </p:sp>
          <p:sp>
            <p:nvSpPr>
              <p:cNvPr id="35" name="Number3" descr="c0a49732-a4c3-4d1a-a2f1-796979f425d8">
                <a:extLst>
                  <a:ext uri="{FF2B5EF4-FFF2-40B4-BE49-F238E27FC236}">
                    <a16:creationId xmlns:a16="http://schemas.microsoft.com/office/drawing/2014/main" id="{278459C1-467B-83C8-8DBB-81F7C03E168D}"/>
                  </a:ext>
                </a:extLst>
              </p:cNvPr>
              <p:cNvSpPr txBox="1"/>
              <p:nvPr/>
            </p:nvSpPr>
            <p:spPr>
              <a:xfrm>
                <a:off x="9310653"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3</a:t>
                </a:r>
              </a:p>
            </p:txBody>
          </p:sp>
        </p:grpSp>
        <p:grpSp>
          <p:nvGrpSpPr>
            <p:cNvPr id="48" name="组合 47" descr="2a10a9d3-5c28-46d0-a330-e823e7a52646">
              <a:extLst>
                <a:ext uri="{FF2B5EF4-FFF2-40B4-BE49-F238E27FC236}">
                  <a16:creationId xmlns:a16="http://schemas.microsoft.com/office/drawing/2014/main" id="{4FBF7FE8-77EB-058A-4B5E-B8E8B0652EAD}"/>
                </a:ext>
              </a:extLst>
            </p:cNvPr>
            <p:cNvGrpSpPr/>
            <p:nvPr/>
          </p:nvGrpSpPr>
          <p:grpSpPr>
            <a:xfrm>
              <a:off x="7611325" y="2018346"/>
              <a:ext cx="3486571" cy="3075808"/>
              <a:chOff x="7611325" y="2018346"/>
              <a:chExt cx="3486571" cy="3075808"/>
            </a:xfrm>
          </p:grpSpPr>
          <p:sp>
            <p:nvSpPr>
              <p:cNvPr id="30" name="Bullet4" descr="3cb080ea-7a29-4d7c-8e4c-06310220d618">
                <a:extLst>
                  <a:ext uri="{FF2B5EF4-FFF2-40B4-BE49-F238E27FC236}">
                    <a16:creationId xmlns:a16="http://schemas.microsoft.com/office/drawing/2014/main" id="{C5A0AC27-3B9B-F222-3732-D2FD4B79C7E1}"/>
                  </a:ext>
                </a:extLst>
              </p:cNvPr>
              <p:cNvSpPr txBox="1">
                <a:spLocks/>
              </p:cNvSpPr>
              <p:nvPr/>
            </p:nvSpPr>
            <p:spPr>
              <a:xfrm>
                <a:off x="7611325" y="2018346"/>
                <a:ext cx="3486571" cy="657967"/>
              </a:xfrm>
              <a:prstGeom prst="rect">
                <a:avLst/>
              </a:prstGeom>
              <a:noFill/>
              <a:ln>
                <a:noFill/>
              </a:ln>
            </p:spPr>
            <p:txBody>
              <a:bodyPr wrap="square" lIns="91440" tIns="45720" rIns="91440" bIns="45720" anchor="t" anchorCtr="0">
                <a:normAutofit fontScale="92500"/>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2400" u="sng" dirty="0" err="1">
                    <a:solidFill>
                      <a:schemeClr val="tx2"/>
                    </a:solidFill>
                    <a:latin typeface="+mj-lt"/>
                    <a:ea typeface="+mj-ea"/>
                    <a:cs typeface="+mj-cs"/>
                  </a:rPr>
                  <a:t>多模型支持与模型管理能力</a:t>
                </a:r>
                <a:endParaRPr lang="en-US" sz="2400" u="sng" dirty="0">
                  <a:solidFill>
                    <a:schemeClr val="tx2"/>
                  </a:solidFill>
                  <a:latin typeface="+mj-lt"/>
                  <a:ea typeface="+mj-ea"/>
                  <a:cs typeface="+mj-cs"/>
                </a:endParaRPr>
              </a:p>
            </p:txBody>
          </p:sp>
          <p:sp>
            <p:nvSpPr>
              <p:cNvPr id="32" name="Number4" descr="982ba4fa-0764-486a-a143-c10254addd2a">
                <a:extLst>
                  <a:ext uri="{FF2B5EF4-FFF2-40B4-BE49-F238E27FC236}">
                    <a16:creationId xmlns:a16="http://schemas.microsoft.com/office/drawing/2014/main" id="{C4CC405A-8B96-ED7E-8174-55C4503D0FE0}"/>
                  </a:ext>
                </a:extLst>
              </p:cNvPr>
              <p:cNvSpPr txBox="1"/>
              <p:nvPr/>
            </p:nvSpPr>
            <p:spPr>
              <a:xfrm flipH="1">
                <a:off x="8717936" y="4794689"/>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4</a:t>
                </a:r>
              </a:p>
            </p:txBody>
          </p:sp>
        </p:grpSp>
        <p:grpSp>
          <p:nvGrpSpPr>
            <p:cNvPr id="49" name="组合 48" descr="6316730a-dabb-467d-b8a7-8b427d5ad165">
              <a:extLst>
                <a:ext uri="{FF2B5EF4-FFF2-40B4-BE49-F238E27FC236}">
                  <a16:creationId xmlns:a16="http://schemas.microsoft.com/office/drawing/2014/main" id="{D0879E40-40E5-84C5-E224-4A161783763E}"/>
                </a:ext>
              </a:extLst>
            </p:cNvPr>
            <p:cNvGrpSpPr/>
            <p:nvPr/>
          </p:nvGrpSpPr>
          <p:grpSpPr>
            <a:xfrm>
              <a:off x="2621936" y="4794689"/>
              <a:ext cx="8971474" cy="1052252"/>
              <a:chOff x="2621936" y="4794689"/>
              <a:chExt cx="8971474" cy="1052252"/>
            </a:xfrm>
          </p:grpSpPr>
          <p:sp>
            <p:nvSpPr>
              <p:cNvPr id="27" name="Bullet5" descr="64fc552d-72b6-4746-960e-4d2903703d83">
                <a:extLst>
                  <a:ext uri="{FF2B5EF4-FFF2-40B4-BE49-F238E27FC236}">
                    <a16:creationId xmlns:a16="http://schemas.microsoft.com/office/drawing/2014/main" id="{EF5F8A23-E76D-A96D-F812-8BFE8F1552D4}"/>
                  </a:ext>
                </a:extLst>
              </p:cNvPr>
              <p:cNvSpPr txBox="1">
                <a:spLocks/>
              </p:cNvSpPr>
              <p:nvPr/>
            </p:nvSpPr>
            <p:spPr>
              <a:xfrm>
                <a:off x="6830910" y="5188974"/>
                <a:ext cx="4762500"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600" i="0" u="none" dirty="0" err="1">
                    <a:solidFill>
                      <a:srgbClr val="000000"/>
                    </a:solidFill>
                    <a:latin typeface="Arial"/>
                  </a:rPr>
                  <a:t>AI驱动的智能运维（AI</a:t>
                </a:r>
                <a:r>
                  <a:rPr lang="en-US" sz="1600" i="0" u="none" dirty="0">
                    <a:solidFill>
                      <a:srgbClr val="000000"/>
                    </a:solidFill>
                    <a:latin typeface="Arial"/>
                  </a:rPr>
                  <a:t> for DB）</a:t>
                </a:r>
              </a:p>
            </p:txBody>
          </p:sp>
          <p:sp>
            <p:nvSpPr>
              <p:cNvPr id="29" name="Number5" descr="d413707b-19f7-439a-adef-0dfa5e0b9a10">
                <a:extLst>
                  <a:ext uri="{FF2B5EF4-FFF2-40B4-BE49-F238E27FC236}">
                    <a16:creationId xmlns:a16="http://schemas.microsoft.com/office/drawing/2014/main" id="{F5611463-BA56-FEDC-91F0-3B85FAE96974}"/>
                  </a:ext>
                </a:extLst>
              </p:cNvPr>
              <p:cNvSpPr txBox="1"/>
              <p:nvPr/>
            </p:nvSpPr>
            <p:spPr>
              <a:xfrm flipH="1">
                <a:off x="2621936" y="4794689"/>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5</a:t>
                </a:r>
              </a:p>
            </p:txBody>
          </p:sp>
        </p:grpSp>
      </p:grpSp>
      <p:sp>
        <p:nvSpPr>
          <p:cNvPr id="24" name="Text4" descr="e70569e8-ba8f-4b10-a5e3-b7809cbaa1af">
            <a:extLst>
              <a:ext uri="{FF2B5EF4-FFF2-40B4-BE49-F238E27FC236}">
                <a16:creationId xmlns:a16="http://schemas.microsoft.com/office/drawing/2014/main" id="{07225B48-8CDC-4D31-A182-5B9A9AA367F5}"/>
              </a:ext>
            </a:extLst>
          </p:cNvPr>
          <p:cNvSpPr txBox="1">
            <a:spLocks/>
          </p:cNvSpPr>
          <p:nvPr/>
        </p:nvSpPr>
        <p:spPr>
          <a:xfrm>
            <a:off x="3553076" y="2630393"/>
            <a:ext cx="8328808" cy="2004106"/>
          </a:xfrm>
          <a:prstGeom prst="rect">
            <a:avLst/>
          </a:prstGeom>
          <a:noFill/>
          <a:ln>
            <a:noFill/>
          </a:ln>
        </p:spPr>
        <p:txBody>
          <a:bodyPr wrap="square" lIns="91440" tIns="45720" rIns="91440" bIns="45720" anchor="t" anchorCtr="0">
            <a:normAutofit/>
          </a:bodyPr>
          <a:lstStyle/>
          <a:p>
            <a:pPr marL="285750" indent="-285750" algn="l">
              <a:lnSpc>
                <a:spcPct val="120000"/>
              </a:lnSpc>
              <a:spcBef>
                <a:spcPct val="0"/>
              </a:spcBef>
              <a:spcAft>
                <a:spcPct val="0"/>
              </a:spcAft>
              <a:buFont typeface="Arial" panose="020B0604020202020204" pitchFamily="34" charset="0"/>
              <a:buChar char="•"/>
            </a:pPr>
            <a:r>
              <a:rPr lang="en-US" sz="1600" b="1" i="0" u="none" strike="noStrike" dirty="0" err="1">
                <a:solidFill>
                  <a:srgbClr val="000000"/>
                </a:solidFill>
                <a:latin typeface="Arial"/>
              </a:rPr>
              <a:t>AI数据库不仅是数据容器，更是AI模型生命周期的管理平台</a:t>
            </a:r>
            <a:r>
              <a:rPr lang="en-US" sz="1600" b="1" i="0" u="none" strike="noStrike" dirty="0">
                <a:solidFill>
                  <a:srgbClr val="000000"/>
                </a:solidFill>
                <a:latin typeface="Arial"/>
              </a:rPr>
              <a:t>。</a:t>
            </a:r>
          </a:p>
          <a:p>
            <a:pPr marL="285750" indent="-285750" algn="l">
              <a:lnSpc>
                <a:spcPct val="120000"/>
              </a:lnSpc>
              <a:spcBef>
                <a:spcPct val="0"/>
              </a:spcBef>
              <a:spcAft>
                <a:spcPct val="0"/>
              </a:spcAft>
              <a:buFont typeface="Arial" panose="020B0604020202020204" pitchFamily="34" charset="0"/>
              <a:buChar char="•"/>
            </a:pPr>
            <a:r>
              <a:rPr lang="zh-CN" altLang="en-US" sz="1600" b="1" dirty="0">
                <a:solidFill>
                  <a:srgbClr val="000000"/>
                </a:solidFill>
                <a:latin typeface="Arial"/>
              </a:rPr>
              <a:t>功能</a:t>
            </a:r>
            <a:r>
              <a:rPr lang="en-US" sz="1600" b="1" i="0" u="none" strike="noStrike" dirty="0" err="1">
                <a:solidFill>
                  <a:srgbClr val="000000"/>
                </a:solidFill>
                <a:latin typeface="Arial"/>
              </a:rPr>
              <a:t>包括模型存储与版本控制、模型部署与服务化以及模型监控与更新</a:t>
            </a:r>
            <a:r>
              <a:rPr lang="en-US" sz="1600" b="1" i="0" u="none" strike="noStrike" dirty="0">
                <a:solidFill>
                  <a:srgbClr val="000000"/>
                </a:solidFill>
                <a:latin typeface="Arial"/>
              </a:rPr>
              <a:t>。</a:t>
            </a:r>
          </a:p>
          <a:p>
            <a:pPr marL="285750" indent="-285750" algn="l">
              <a:lnSpc>
                <a:spcPct val="120000"/>
              </a:lnSpc>
              <a:spcBef>
                <a:spcPct val="0"/>
              </a:spcBef>
              <a:spcAft>
                <a:spcPct val="0"/>
              </a:spcAft>
              <a:buFont typeface="Arial" panose="020B0604020202020204" pitchFamily="34" charset="0"/>
              <a:buChar char="•"/>
            </a:pPr>
            <a:r>
              <a:rPr lang="en-US" sz="1600" b="1" i="0" u="none" strike="noStrike" dirty="0" err="1">
                <a:solidFill>
                  <a:srgbClr val="000000"/>
                </a:solidFill>
                <a:latin typeface="Arial"/>
              </a:rPr>
              <a:t>模型存储与版本控制功能可以存储模型权重、元信息和训练配置，并支持版本管理、回滚和A</a:t>
            </a:r>
            <a:r>
              <a:rPr lang="en-US" sz="1600" b="1" i="0" u="none" strike="noStrike" dirty="0">
                <a:solidFill>
                  <a:srgbClr val="000000"/>
                </a:solidFill>
                <a:latin typeface="Arial"/>
              </a:rPr>
              <a:t>/</a:t>
            </a:r>
            <a:r>
              <a:rPr lang="en-US" sz="1600" b="1" i="0" u="none" strike="noStrike" dirty="0" err="1">
                <a:solidFill>
                  <a:srgbClr val="000000"/>
                </a:solidFill>
                <a:latin typeface="Arial"/>
              </a:rPr>
              <a:t>B测试</a:t>
            </a:r>
            <a:r>
              <a:rPr lang="en-US" sz="1600" b="1" i="0" u="none" strike="noStrike" dirty="0">
                <a:solidFill>
                  <a:srgbClr val="000000"/>
                </a:solidFill>
                <a:latin typeface="Arial"/>
              </a:rPr>
              <a:t>；</a:t>
            </a:r>
          </a:p>
          <a:p>
            <a:pPr marL="285750" indent="-285750" algn="l">
              <a:lnSpc>
                <a:spcPct val="120000"/>
              </a:lnSpc>
              <a:spcBef>
                <a:spcPct val="0"/>
              </a:spcBef>
              <a:spcAft>
                <a:spcPct val="0"/>
              </a:spcAft>
              <a:buFont typeface="Arial" panose="020B0604020202020204" pitchFamily="34" charset="0"/>
              <a:buChar char="•"/>
            </a:pPr>
            <a:r>
              <a:rPr lang="en-US" sz="1600" b="1" i="0" u="none" strike="noStrike" dirty="0" err="1">
                <a:solidFill>
                  <a:srgbClr val="000000"/>
                </a:solidFill>
                <a:latin typeface="Arial"/>
              </a:rPr>
              <a:t>模型部署与服务化功能提供REST</a:t>
            </a:r>
            <a:r>
              <a:rPr lang="en-US" sz="1600" b="1" i="0" u="none" strike="noStrike" dirty="0">
                <a:solidFill>
                  <a:srgbClr val="000000"/>
                </a:solidFill>
                <a:latin typeface="Arial"/>
              </a:rPr>
              <a:t>/</a:t>
            </a:r>
            <a:r>
              <a:rPr lang="en-US" sz="1600" b="1" i="0" u="none" strike="noStrike" dirty="0" err="1">
                <a:solidFill>
                  <a:srgbClr val="000000"/>
                </a:solidFill>
                <a:latin typeface="Arial"/>
              </a:rPr>
              <a:t>gRPC接口，支持模型在线调用，并集成推理引擎</a:t>
            </a:r>
            <a:r>
              <a:rPr lang="en-US" sz="1600" b="1" i="0" u="none" strike="noStrike" dirty="0">
                <a:solidFill>
                  <a:srgbClr val="000000"/>
                </a:solidFill>
                <a:latin typeface="Arial"/>
              </a:rPr>
              <a:t>；</a:t>
            </a:r>
          </a:p>
          <a:p>
            <a:pPr marL="285750" indent="-285750" algn="l">
              <a:lnSpc>
                <a:spcPct val="120000"/>
              </a:lnSpc>
              <a:spcBef>
                <a:spcPct val="0"/>
              </a:spcBef>
              <a:spcAft>
                <a:spcPct val="0"/>
              </a:spcAft>
              <a:buFont typeface="Arial" panose="020B0604020202020204" pitchFamily="34" charset="0"/>
              <a:buChar char="•"/>
            </a:pPr>
            <a:r>
              <a:rPr lang="en-US" sz="1600" b="1" i="0" u="none" strike="noStrike" dirty="0" err="1">
                <a:solidFill>
                  <a:srgbClr val="000000"/>
                </a:solidFill>
                <a:latin typeface="Arial"/>
              </a:rPr>
              <a:t>模型监控与更新功能可以实时监控模型性能，支持自动触发再训练与热更新</a:t>
            </a:r>
            <a:r>
              <a:rPr lang="en-US" sz="1600" b="1" i="0" u="none" strike="noStrike" dirty="0">
                <a:solidFill>
                  <a:srgbClr val="000000"/>
                </a:solidFill>
                <a:latin typeface="Arial"/>
              </a:rPr>
              <a:t>。</a:t>
            </a:r>
          </a:p>
        </p:txBody>
      </p:sp>
    </p:spTree>
    <p:extLst>
      <p:ext uri="{BB962C8B-B14F-4D97-AF65-F5344CB8AC3E}">
        <p14:creationId xmlns:p14="http://schemas.microsoft.com/office/powerpoint/2010/main" val="889471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altLang="zh-CN" sz="3200" b="1" dirty="0" err="1"/>
              <a:t>AI数据库</a:t>
            </a:r>
            <a:r>
              <a:rPr lang="en-US" sz="3200" b="1" dirty="0" err="1"/>
              <a:t>多模型支持核心原理</a:t>
            </a:r>
            <a:endParaRPr lang="en-US" sz="3200" b="1" dirty="0"/>
          </a:p>
        </p:txBody>
      </p:sp>
      <p:grpSp>
        <p:nvGrpSpPr>
          <p:cNvPr id="111" name="6f6ea536-f6d2-4ea0-b6cb-6d4a02692622.source.4.zh-Hans.pptx" descr="1f332f0c-32bf-4f71-bc2f-cff7803e91d0">
            <a:extLst>
              <a:ext uri="{FF2B5EF4-FFF2-40B4-BE49-F238E27FC236}">
                <a16:creationId xmlns:a16="http://schemas.microsoft.com/office/drawing/2014/main" id="{EC9F6911-075A-F072-44ED-088D410C6451}"/>
              </a:ext>
            </a:extLst>
          </p:cNvPr>
          <p:cNvGrpSpPr/>
          <p:nvPr/>
        </p:nvGrpSpPr>
        <p:grpSpPr>
          <a:xfrm>
            <a:off x="397933" y="72327"/>
            <a:ext cx="11691872" cy="6455640"/>
            <a:chOff x="236825" y="662434"/>
            <a:chExt cx="11691872" cy="6455640"/>
          </a:xfrm>
        </p:grpSpPr>
        <p:grpSp>
          <p:nvGrpSpPr>
            <p:cNvPr id="29" name="图形 24" descr="b3137cab-996b-4dd4-a0ca-77581b201f47">
              <a:extLst>
                <a:ext uri="{FF2B5EF4-FFF2-40B4-BE49-F238E27FC236}">
                  <a16:creationId xmlns:a16="http://schemas.microsoft.com/office/drawing/2014/main" id="{07EE57BC-0CBA-C1B8-B0F3-9C54F3277DD2}"/>
                </a:ext>
              </a:extLst>
            </p:cNvPr>
            <p:cNvGrpSpPr/>
            <p:nvPr/>
          </p:nvGrpSpPr>
          <p:grpSpPr>
            <a:xfrm>
              <a:off x="236825" y="662434"/>
              <a:ext cx="11691872" cy="5495423"/>
              <a:chOff x="4927589" y="3069972"/>
              <a:chExt cx="2333818" cy="713822"/>
            </a:xfrm>
          </p:grpSpPr>
          <p:sp>
            <p:nvSpPr>
              <p:cNvPr id="30" name="任意多边形: 形状 29" descr="edeba0fa-ae91-46fd-811b-a683c9dc04ae">
                <a:extLst>
                  <a:ext uri="{FF2B5EF4-FFF2-40B4-BE49-F238E27FC236}">
                    <a16:creationId xmlns:a16="http://schemas.microsoft.com/office/drawing/2014/main" id="{9C8F8B49-FD3B-5CCC-97BD-080043DF30F5}"/>
                  </a:ext>
                </a:extLst>
              </p:cNvPr>
              <p:cNvSpPr/>
              <p:nvPr/>
            </p:nvSpPr>
            <p:spPr>
              <a:xfrm>
                <a:off x="4933759" y="3075146"/>
                <a:ext cx="2318670" cy="705230"/>
              </a:xfrm>
              <a:custGeom>
                <a:avLst/>
                <a:gdLst>
                  <a:gd name="connsiteX0" fmla="*/ 62389 w 2318670"/>
                  <a:gd name="connsiteY0" fmla="*/ 705231 h 705230"/>
                  <a:gd name="connsiteX1" fmla="*/ 62389 w 2318670"/>
                  <a:gd name="connsiteY1" fmla="*/ 284702 h 705230"/>
                  <a:gd name="connsiteX2" fmla="*/ 0 w 2318670"/>
                  <a:gd name="connsiteY2" fmla="*/ 218218 h 705230"/>
                  <a:gd name="connsiteX3" fmla="*/ 0 w 2318670"/>
                  <a:gd name="connsiteY3" fmla="*/ 0 h 705230"/>
                  <a:gd name="connsiteX4" fmla="*/ 2318671 w 2318670"/>
                  <a:gd name="connsiteY4" fmla="*/ 0 h 705230"/>
                  <a:gd name="connsiteX5" fmla="*/ 2318671 w 2318670"/>
                  <a:gd name="connsiteY5" fmla="*/ 694563 h 705230"/>
                  <a:gd name="connsiteX6" fmla="*/ 1919383 w 2318670"/>
                  <a:gd name="connsiteY6" fmla="*/ 694563 h 705230"/>
                  <a:gd name="connsiteX7" fmla="*/ 1837944 w 2318670"/>
                  <a:gd name="connsiteY7" fmla="*/ 613124 h 705230"/>
                  <a:gd name="connsiteX8" fmla="*/ 1596104 w 2318670"/>
                  <a:gd name="connsiteY8" fmla="*/ 613124 h 705230"/>
                  <a:gd name="connsiteX9" fmla="*/ 1490377 w 2318670"/>
                  <a:gd name="connsiteY9" fmla="*/ 699802 h 705230"/>
                  <a:gd name="connsiteX10" fmla="*/ 425482 w 2318670"/>
                  <a:gd name="connsiteY10" fmla="*/ 699802 h 705230"/>
                  <a:gd name="connsiteX11" fmla="*/ 393764 w 2318670"/>
                  <a:gd name="connsiteY11" fmla="*/ 668084 h 705230"/>
                  <a:gd name="connsiteX12" fmla="*/ 308610 w 2318670"/>
                  <a:gd name="connsiteY12" fmla="*/ 668084 h 705230"/>
                  <a:gd name="connsiteX13" fmla="*/ 271558 w 2318670"/>
                  <a:gd name="connsiteY13" fmla="*/ 705231 h 705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8670" h="705230">
                    <a:moveTo>
                      <a:pt x="62389" y="705231"/>
                    </a:moveTo>
                    <a:lnTo>
                      <a:pt x="62389" y="284702"/>
                    </a:lnTo>
                    <a:lnTo>
                      <a:pt x="0" y="218218"/>
                    </a:lnTo>
                    <a:lnTo>
                      <a:pt x="0" y="0"/>
                    </a:lnTo>
                    <a:lnTo>
                      <a:pt x="2318671" y="0"/>
                    </a:lnTo>
                    <a:lnTo>
                      <a:pt x="2318671" y="694563"/>
                    </a:lnTo>
                    <a:lnTo>
                      <a:pt x="1919383" y="694563"/>
                    </a:lnTo>
                    <a:lnTo>
                      <a:pt x="1837944" y="613124"/>
                    </a:lnTo>
                    <a:lnTo>
                      <a:pt x="1596104" y="613124"/>
                    </a:lnTo>
                    <a:lnTo>
                      <a:pt x="1490377" y="699802"/>
                    </a:lnTo>
                    <a:lnTo>
                      <a:pt x="425482" y="699802"/>
                    </a:lnTo>
                    <a:lnTo>
                      <a:pt x="393764" y="668084"/>
                    </a:lnTo>
                    <a:lnTo>
                      <a:pt x="308610" y="668084"/>
                    </a:lnTo>
                    <a:lnTo>
                      <a:pt x="271558" y="705231"/>
                    </a:lnTo>
                    <a:close/>
                  </a:path>
                </a:pathLst>
              </a:custGeom>
              <a:noFill/>
              <a:ln w="6350" cap="rnd">
                <a:gradFill>
                  <a:gsLst>
                    <a:gs pos="0">
                      <a:schemeClr val="accent1">
                        <a:alpha val="51000"/>
                      </a:schemeClr>
                    </a:gs>
                    <a:gs pos="100000">
                      <a:schemeClr val="accent1">
                        <a:lumMod val="50000"/>
                      </a:schemeClr>
                    </a:gs>
                  </a:gsLst>
                  <a:lin ang="16200000" scaled="1"/>
                </a:gradFill>
                <a:prstDash val="solid"/>
                <a:round/>
              </a:ln>
            </p:spPr>
            <p:txBody>
              <a:bodyPr rtlCol="0" anchor="ctr" anchorCtr="0"/>
              <a:lstStyle/>
              <a:p>
                <a:pPr algn="l"/>
                <a:endParaRPr/>
              </a:p>
            </p:txBody>
          </p:sp>
          <p:grpSp>
            <p:nvGrpSpPr>
              <p:cNvPr id="31" name="图形 24" descr="e7af65f4-f122-4337-8d6f-6fd2fa5fc655">
                <a:extLst>
                  <a:ext uri="{FF2B5EF4-FFF2-40B4-BE49-F238E27FC236}">
                    <a16:creationId xmlns:a16="http://schemas.microsoft.com/office/drawing/2014/main" id="{AFF6CA98-7293-FE84-8B3F-8AD50F66CD93}"/>
                  </a:ext>
                </a:extLst>
              </p:cNvPr>
              <p:cNvGrpSpPr/>
              <p:nvPr/>
            </p:nvGrpSpPr>
            <p:grpSpPr>
              <a:xfrm>
                <a:off x="4927589" y="3069972"/>
                <a:ext cx="2333818" cy="47576"/>
                <a:chOff x="4927589" y="3069972"/>
                <a:chExt cx="2333818" cy="47576"/>
              </a:xfrm>
              <a:solidFill>
                <a:srgbClr val="0C3FFF"/>
              </a:solidFill>
            </p:grpSpPr>
            <p:sp>
              <p:nvSpPr>
                <p:cNvPr id="32" name="任意多边形: 形状 31" descr="49505db4-a5b8-421e-b3a0-b45b5dc4443e">
                  <a:extLst>
                    <a:ext uri="{FF2B5EF4-FFF2-40B4-BE49-F238E27FC236}">
                      <a16:creationId xmlns:a16="http://schemas.microsoft.com/office/drawing/2014/main" id="{FBA07306-3C18-49CA-DCB8-42A4D7985EFC}"/>
                    </a:ext>
                  </a:extLst>
                </p:cNvPr>
                <p:cNvSpPr/>
                <p:nvPr/>
              </p:nvSpPr>
              <p:spPr>
                <a:xfrm>
                  <a:off x="4927589" y="3070671"/>
                  <a:ext cx="55803" cy="35795"/>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sp>
              <p:nvSpPr>
                <p:cNvPr id="33" name="任意多边形: 形状 32" descr="ef98fc23-3536-4665-ab6e-d8add6f741ba">
                  <a:extLst>
                    <a:ext uri="{FF2B5EF4-FFF2-40B4-BE49-F238E27FC236}">
                      <a16:creationId xmlns:a16="http://schemas.microsoft.com/office/drawing/2014/main" id="{4991209A-2D5F-D994-0B76-5A5224108C2B}"/>
                    </a:ext>
                  </a:extLst>
                </p:cNvPr>
                <p:cNvSpPr/>
                <p:nvPr/>
              </p:nvSpPr>
              <p:spPr>
                <a:xfrm>
                  <a:off x="7187239" y="3069972"/>
                  <a:ext cx="74168" cy="47576"/>
                </a:xfrm>
                <a:custGeom>
                  <a:avLst/>
                  <a:gdLst>
                    <a:gd name="connsiteX0" fmla="*/ 0 w 149828"/>
                    <a:gd name="connsiteY0" fmla="*/ 0 h 149828"/>
                    <a:gd name="connsiteX1" fmla="*/ 120777 w 149828"/>
                    <a:gd name="connsiteY1" fmla="*/ 0 h 149828"/>
                    <a:gd name="connsiteX2" fmla="*/ 149828 w 149828"/>
                    <a:gd name="connsiteY2" fmla="*/ 0 h 149828"/>
                    <a:gd name="connsiteX3" fmla="*/ 149828 w 149828"/>
                    <a:gd name="connsiteY3" fmla="*/ 28956 h 149828"/>
                    <a:gd name="connsiteX4" fmla="*/ 149828 w 149828"/>
                    <a:gd name="connsiteY4" fmla="*/ 149828 h 149828"/>
                    <a:gd name="connsiteX5" fmla="*/ 111252 w 149828"/>
                    <a:gd name="connsiteY5" fmla="*/ 149828 h 149828"/>
                    <a:gd name="connsiteX6" fmla="*/ 111252 w 149828"/>
                    <a:gd name="connsiteY6" fmla="*/ 38481 h 149828"/>
                    <a:gd name="connsiteX7" fmla="*/ 0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0"/>
                      </a:moveTo>
                      <a:lnTo>
                        <a:pt x="120777" y="0"/>
                      </a:lnTo>
                      <a:lnTo>
                        <a:pt x="149828" y="0"/>
                      </a:lnTo>
                      <a:lnTo>
                        <a:pt x="149828" y="28956"/>
                      </a:lnTo>
                      <a:lnTo>
                        <a:pt x="149828" y="149828"/>
                      </a:lnTo>
                      <a:lnTo>
                        <a:pt x="111252" y="149828"/>
                      </a:lnTo>
                      <a:lnTo>
                        <a:pt x="111252" y="38481"/>
                      </a:lnTo>
                      <a:lnTo>
                        <a:pt x="0" y="38481"/>
                      </a:lnTo>
                      <a:close/>
                    </a:path>
                  </a:pathLst>
                </a:custGeom>
                <a:solidFill>
                  <a:schemeClr val="accent1"/>
                </a:solidFill>
                <a:ln w="9525" cap="flat">
                  <a:noFill/>
                  <a:prstDash val="solid"/>
                  <a:miter/>
                </a:ln>
              </p:spPr>
              <p:txBody>
                <a:bodyPr rtlCol="0" anchor="ctr" anchorCtr="0"/>
                <a:lstStyle/>
                <a:p>
                  <a:pPr algn="l"/>
                  <a:endParaRPr/>
                </a:p>
              </p:txBody>
            </p:sp>
          </p:grpSp>
          <p:grpSp>
            <p:nvGrpSpPr>
              <p:cNvPr id="34" name="图形 24" descr="53015db2-4998-4b36-a181-56fa7881cc53">
                <a:extLst>
                  <a:ext uri="{FF2B5EF4-FFF2-40B4-BE49-F238E27FC236}">
                    <a16:creationId xmlns:a16="http://schemas.microsoft.com/office/drawing/2014/main" id="{913D47C6-7849-06AE-9DF5-9A69CA6C558C}"/>
                  </a:ext>
                </a:extLst>
              </p:cNvPr>
              <p:cNvGrpSpPr/>
              <p:nvPr/>
            </p:nvGrpSpPr>
            <p:grpSpPr>
              <a:xfrm>
                <a:off x="4989096" y="3732662"/>
                <a:ext cx="2271427" cy="51132"/>
                <a:chOff x="4989096" y="3732662"/>
                <a:chExt cx="2271427" cy="51132"/>
              </a:xfrm>
              <a:solidFill>
                <a:srgbClr val="0C3FFF"/>
              </a:solidFill>
            </p:grpSpPr>
            <p:sp>
              <p:nvSpPr>
                <p:cNvPr id="35" name="任意多边形: 形状 34" descr="69708ec7-8d50-40d3-8232-d889038000cd">
                  <a:extLst>
                    <a:ext uri="{FF2B5EF4-FFF2-40B4-BE49-F238E27FC236}">
                      <a16:creationId xmlns:a16="http://schemas.microsoft.com/office/drawing/2014/main" id="{D4FBC7D5-67EE-E3CE-4DA9-8F05444AEF22}"/>
                    </a:ext>
                  </a:extLst>
                </p:cNvPr>
                <p:cNvSpPr/>
                <p:nvPr/>
              </p:nvSpPr>
              <p:spPr>
                <a:xfrm>
                  <a:off x="4989096" y="3747999"/>
                  <a:ext cx="60801" cy="35795"/>
                </a:xfrm>
                <a:custGeom>
                  <a:avLst/>
                  <a:gdLst>
                    <a:gd name="connsiteX0" fmla="*/ 149828 w 149828"/>
                    <a:gd name="connsiteY0" fmla="*/ 149828 h 149828"/>
                    <a:gd name="connsiteX1" fmla="*/ 29051 w 149828"/>
                    <a:gd name="connsiteY1" fmla="*/ 149828 h 149828"/>
                    <a:gd name="connsiteX2" fmla="*/ 0 w 149828"/>
                    <a:gd name="connsiteY2" fmla="*/ 149828 h 149828"/>
                    <a:gd name="connsiteX3" fmla="*/ 0 w 149828"/>
                    <a:gd name="connsiteY3" fmla="*/ 120777 h 149828"/>
                    <a:gd name="connsiteX4" fmla="*/ 0 w 149828"/>
                    <a:gd name="connsiteY4" fmla="*/ 0 h 149828"/>
                    <a:gd name="connsiteX5" fmla="*/ 38576 w 149828"/>
                    <a:gd name="connsiteY5" fmla="*/ 0 h 149828"/>
                    <a:gd name="connsiteX6" fmla="*/ 38576 w 149828"/>
                    <a:gd name="connsiteY6" fmla="*/ 111252 h 149828"/>
                    <a:gd name="connsiteX7" fmla="*/ 149828 w 149828"/>
                    <a:gd name="connsiteY7" fmla="*/ 11125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149828"/>
                      </a:moveTo>
                      <a:lnTo>
                        <a:pt x="29051" y="149828"/>
                      </a:lnTo>
                      <a:lnTo>
                        <a:pt x="0" y="149828"/>
                      </a:lnTo>
                      <a:lnTo>
                        <a:pt x="0" y="120777"/>
                      </a:lnTo>
                      <a:lnTo>
                        <a:pt x="0" y="0"/>
                      </a:lnTo>
                      <a:lnTo>
                        <a:pt x="38576" y="0"/>
                      </a:lnTo>
                      <a:lnTo>
                        <a:pt x="38576" y="111252"/>
                      </a:lnTo>
                      <a:lnTo>
                        <a:pt x="149828" y="111252"/>
                      </a:lnTo>
                      <a:close/>
                    </a:path>
                  </a:pathLst>
                </a:custGeom>
                <a:solidFill>
                  <a:schemeClr val="accent1"/>
                </a:solidFill>
                <a:ln w="9525" cap="flat">
                  <a:noFill/>
                  <a:prstDash val="solid"/>
                  <a:miter/>
                </a:ln>
              </p:spPr>
              <p:txBody>
                <a:bodyPr rtlCol="0" anchor="ctr" anchorCtr="0"/>
                <a:lstStyle/>
                <a:p>
                  <a:pPr algn="l"/>
                  <a:endParaRPr/>
                </a:p>
              </p:txBody>
            </p:sp>
            <p:sp>
              <p:nvSpPr>
                <p:cNvPr id="36" name="任意多边形: 形状 35" descr="795731a0-a743-491c-a1f7-5ca047cb79dd">
                  <a:extLst>
                    <a:ext uri="{FF2B5EF4-FFF2-40B4-BE49-F238E27FC236}">
                      <a16:creationId xmlns:a16="http://schemas.microsoft.com/office/drawing/2014/main" id="{A76838A9-D803-EE94-6D61-2D1A9CBA6430}"/>
                    </a:ext>
                  </a:extLst>
                </p:cNvPr>
                <p:cNvSpPr/>
                <p:nvPr/>
              </p:nvSpPr>
              <p:spPr>
                <a:xfrm>
                  <a:off x="7187239" y="3732662"/>
                  <a:ext cx="73284" cy="43144"/>
                </a:xfrm>
                <a:custGeom>
                  <a:avLst/>
                  <a:gdLst>
                    <a:gd name="connsiteX0" fmla="*/ 0 w 149828"/>
                    <a:gd name="connsiteY0" fmla="*/ 149828 h 149828"/>
                    <a:gd name="connsiteX1" fmla="*/ 120777 w 149828"/>
                    <a:gd name="connsiteY1" fmla="*/ 149828 h 149828"/>
                    <a:gd name="connsiteX2" fmla="*/ 149828 w 149828"/>
                    <a:gd name="connsiteY2" fmla="*/ 149828 h 149828"/>
                    <a:gd name="connsiteX3" fmla="*/ 149828 w 149828"/>
                    <a:gd name="connsiteY3" fmla="*/ 120872 h 149828"/>
                    <a:gd name="connsiteX4" fmla="*/ 149828 w 149828"/>
                    <a:gd name="connsiteY4" fmla="*/ 0 h 149828"/>
                    <a:gd name="connsiteX5" fmla="*/ 111252 w 149828"/>
                    <a:gd name="connsiteY5" fmla="*/ 0 h 149828"/>
                    <a:gd name="connsiteX6" fmla="*/ 111252 w 149828"/>
                    <a:gd name="connsiteY6" fmla="*/ 111347 h 149828"/>
                    <a:gd name="connsiteX7" fmla="*/ 0 w 149828"/>
                    <a:gd name="connsiteY7" fmla="*/ 111347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149828"/>
                      </a:moveTo>
                      <a:lnTo>
                        <a:pt x="120777" y="149828"/>
                      </a:lnTo>
                      <a:lnTo>
                        <a:pt x="149828" y="149828"/>
                      </a:lnTo>
                      <a:lnTo>
                        <a:pt x="149828" y="120872"/>
                      </a:lnTo>
                      <a:lnTo>
                        <a:pt x="149828" y="0"/>
                      </a:lnTo>
                      <a:lnTo>
                        <a:pt x="111252" y="0"/>
                      </a:lnTo>
                      <a:lnTo>
                        <a:pt x="111252" y="111347"/>
                      </a:lnTo>
                      <a:lnTo>
                        <a:pt x="0" y="111347"/>
                      </a:lnTo>
                      <a:close/>
                    </a:path>
                  </a:pathLst>
                </a:custGeom>
                <a:solidFill>
                  <a:schemeClr val="accent1"/>
                </a:solidFill>
                <a:ln w="9525" cap="flat">
                  <a:noFill/>
                  <a:prstDash val="solid"/>
                  <a:miter/>
                </a:ln>
              </p:spPr>
              <p:txBody>
                <a:bodyPr rtlCol="0" anchor="ctr" anchorCtr="0"/>
                <a:lstStyle/>
                <a:p>
                  <a:pPr algn="l"/>
                  <a:endParaRPr/>
                </a:p>
              </p:txBody>
            </p:sp>
          </p:grpSp>
          <p:sp>
            <p:nvSpPr>
              <p:cNvPr id="37" name="任意多边形: 形状 36" descr="6981b60f-6cc3-4cd6-a058-1800c27364f2">
                <a:extLst>
                  <a:ext uri="{FF2B5EF4-FFF2-40B4-BE49-F238E27FC236}">
                    <a16:creationId xmlns:a16="http://schemas.microsoft.com/office/drawing/2014/main" id="{CDBB5B9D-9E3F-5A40-3487-73A90DCA2876}"/>
                  </a:ext>
                </a:extLst>
              </p:cNvPr>
              <p:cNvSpPr/>
              <p:nvPr/>
            </p:nvSpPr>
            <p:spPr>
              <a:xfrm>
                <a:off x="5956554" y="3772837"/>
                <a:ext cx="373856" cy="5939"/>
              </a:xfrm>
              <a:custGeom>
                <a:avLst/>
                <a:gdLst>
                  <a:gd name="connsiteX0" fmla="*/ 0 w 373856"/>
                  <a:gd name="connsiteY0" fmla="*/ 0 h 46291"/>
                  <a:gd name="connsiteX1" fmla="*/ 373856 w 373856"/>
                  <a:gd name="connsiteY1" fmla="*/ 0 h 46291"/>
                  <a:gd name="connsiteX2" fmla="*/ 373856 w 373856"/>
                  <a:gd name="connsiteY2" fmla="*/ 46291 h 46291"/>
                  <a:gd name="connsiteX3" fmla="*/ 0 w 373856"/>
                  <a:gd name="connsiteY3" fmla="*/ 46291 h 46291"/>
                </a:gdLst>
                <a:ahLst/>
                <a:cxnLst>
                  <a:cxn ang="0">
                    <a:pos x="connsiteX0" y="connsiteY0"/>
                  </a:cxn>
                  <a:cxn ang="0">
                    <a:pos x="connsiteX1" y="connsiteY1"/>
                  </a:cxn>
                  <a:cxn ang="0">
                    <a:pos x="connsiteX2" y="connsiteY2"/>
                  </a:cxn>
                  <a:cxn ang="0">
                    <a:pos x="connsiteX3" y="connsiteY3"/>
                  </a:cxn>
                </a:cxnLst>
                <a:rect l="l" t="t" r="r" b="b"/>
                <a:pathLst>
                  <a:path w="373856" h="46291">
                    <a:moveTo>
                      <a:pt x="0" y="0"/>
                    </a:moveTo>
                    <a:lnTo>
                      <a:pt x="373856" y="0"/>
                    </a:lnTo>
                    <a:lnTo>
                      <a:pt x="373856" y="46291"/>
                    </a:lnTo>
                    <a:lnTo>
                      <a:pt x="0" y="46291"/>
                    </a:lnTo>
                    <a:close/>
                  </a:path>
                </a:pathLst>
              </a:custGeom>
              <a:solidFill>
                <a:schemeClr val="accent1"/>
              </a:solidFill>
              <a:ln w="9525" cap="flat">
                <a:noFill/>
                <a:prstDash val="solid"/>
                <a:miter/>
              </a:ln>
            </p:spPr>
            <p:txBody>
              <a:bodyPr rtlCol="0" anchor="ctr" anchorCtr="0"/>
              <a:lstStyle/>
              <a:p>
                <a:pPr algn="l"/>
                <a:endParaRPr/>
              </a:p>
            </p:txBody>
          </p:sp>
        </p:grpSp>
        <p:grpSp>
          <p:nvGrpSpPr>
            <p:cNvPr id="68" name="组合 67" descr="2c79749c-e03d-4246-89e4-3f72c7e0b6e9">
              <a:extLst>
                <a:ext uri="{FF2B5EF4-FFF2-40B4-BE49-F238E27FC236}">
                  <a16:creationId xmlns:a16="http://schemas.microsoft.com/office/drawing/2014/main" id="{C3A0D284-1C5C-03E0-7F52-F63D1A263B9A}"/>
                </a:ext>
              </a:extLst>
            </p:cNvPr>
            <p:cNvGrpSpPr/>
            <p:nvPr/>
          </p:nvGrpSpPr>
          <p:grpSpPr>
            <a:xfrm>
              <a:off x="715760" y="1965848"/>
              <a:ext cx="2631232" cy="4937539"/>
              <a:chOff x="771119" y="2119852"/>
              <a:chExt cx="2631232" cy="4937539"/>
            </a:xfrm>
          </p:grpSpPr>
          <p:grpSp>
            <p:nvGrpSpPr>
              <p:cNvPr id="8" name="组合 7" descr="4b0dfc2f-6bb0-4ccb-9afb-d217f0f36df0">
                <a:extLst>
                  <a:ext uri="{FF2B5EF4-FFF2-40B4-BE49-F238E27FC236}">
                    <a16:creationId xmlns:a16="http://schemas.microsoft.com/office/drawing/2014/main" id="{FDF2B8DF-F988-5844-D0F5-ADD1A54B503D}"/>
                  </a:ext>
                </a:extLst>
              </p:cNvPr>
              <p:cNvGrpSpPr>
                <a:grpSpLocks noChangeAspect="1"/>
              </p:cNvGrpSpPr>
              <p:nvPr/>
            </p:nvGrpSpPr>
            <p:grpSpPr>
              <a:xfrm>
                <a:off x="771119" y="2119852"/>
                <a:ext cx="2631232" cy="4937539"/>
                <a:chOff x="4389868" y="1533770"/>
                <a:chExt cx="3587334" cy="5801576"/>
              </a:xfrm>
            </p:grpSpPr>
            <p:sp>
              <p:nvSpPr>
                <p:cNvPr id="9" name="矩形: 圆顶角 1" descr="0cb790db-54b5-4995-aa61-7544152817f2">
                  <a:extLst>
                    <a:ext uri="{FF2B5EF4-FFF2-40B4-BE49-F238E27FC236}">
                      <a16:creationId xmlns:a16="http://schemas.microsoft.com/office/drawing/2014/main" id="{58CAFFD5-2E3B-4792-0C85-8B146D263562}"/>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 name="Bullet1" descr="e2ec233f-f988-4be4-98ef-d47ae695682a">
                  <a:extLst>
                    <a:ext uri="{FF2B5EF4-FFF2-40B4-BE49-F238E27FC236}">
                      <a16:creationId xmlns:a16="http://schemas.microsoft.com/office/drawing/2014/main" id="{6D6318CD-58D8-0885-BFD7-DD982DBBB5C9}"/>
                    </a:ext>
                  </a:extLst>
                </p:cNvPr>
                <p:cNvSpPr txBox="1"/>
                <p:nvPr/>
              </p:nvSpPr>
              <p:spPr>
                <a:xfrm>
                  <a:off x="4553745" y="1533770"/>
                  <a:ext cx="3071818" cy="760021"/>
                </a:xfrm>
                <a:prstGeom prst="rect">
                  <a:avLst/>
                </a:prstGeom>
                <a:noFill/>
                <a:ln>
                  <a:noFill/>
                </a:ln>
              </p:spPr>
              <p:txBody>
                <a:bodyPr wrap="square" lIns="91440" tIns="45720" rIns="91440" bIns="45720" anchor="b" anchorCtr="0">
                  <a:normAutofit/>
                </a:bodyPr>
                <a:lstStyle/>
                <a:p>
                  <a:pPr algn="ctr">
                    <a:spcBef>
                      <a:spcPct val="0"/>
                    </a:spcBef>
                    <a:spcAft>
                      <a:spcPct val="0"/>
                    </a:spcAft>
                  </a:pPr>
                  <a:r>
                    <a:rPr lang="en-US" b="1" i="0" u="none" strike="noStrike" dirty="0" err="1">
                      <a:solidFill>
                        <a:srgbClr val="000000"/>
                      </a:solidFill>
                      <a:ea typeface="微软雅黑"/>
                    </a:rPr>
                    <a:t>统一模型抽象层</a:t>
                  </a:r>
                  <a:endParaRPr lang="en-US" b="1" i="0" u="none" strike="noStrike" dirty="0">
                    <a:solidFill>
                      <a:srgbClr val="000000"/>
                    </a:solidFill>
                    <a:ea typeface="微软雅黑"/>
                  </a:endParaRPr>
                </a:p>
              </p:txBody>
            </p:sp>
            <p:sp>
              <p:nvSpPr>
                <p:cNvPr id="11" name="Text1" descr="f8a5c9bb-8496-4627-a7cb-4a1720378ce8">
                  <a:extLst>
                    <a:ext uri="{FF2B5EF4-FFF2-40B4-BE49-F238E27FC236}">
                      <a16:creationId xmlns:a16="http://schemas.microsoft.com/office/drawing/2014/main" id="{792A1BDD-CFEE-DEA4-F2A6-1B1F74C5B993}"/>
                    </a:ext>
                  </a:extLst>
                </p:cNvPr>
                <p:cNvSpPr txBox="1"/>
                <p:nvPr/>
              </p:nvSpPr>
              <p:spPr>
                <a:xfrm>
                  <a:off x="4496392" y="2786248"/>
                  <a:ext cx="3480810" cy="4549098"/>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模型接口标准化，定义通用接口屏蔽框架差异</a:t>
                  </a:r>
                  <a:r>
                    <a:rPr lang="en-US" sz="2000"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采用标准化格式实现模型跨平台兼容</a:t>
                  </a:r>
                  <a:r>
                    <a:rPr lang="en-US" sz="2000"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为每个模型建立统一元数据描述</a:t>
                  </a:r>
                  <a:r>
                    <a:rPr lang="en-US" sz="2000" b="0" i="0" u="none" strike="noStrike" dirty="0">
                      <a:solidFill>
                        <a:srgbClr val="000000"/>
                      </a:solidFill>
                      <a:ea typeface="微软雅黑"/>
                    </a:rPr>
                    <a:t>。</a:t>
                  </a:r>
                </a:p>
              </p:txBody>
            </p:sp>
          </p:grpSp>
          <p:cxnSp>
            <p:nvCxnSpPr>
              <p:cNvPr id="67" name="直接连接符 66" descr="b11ccfe5-1b7e-483f-8590-8d233e55c657">
                <a:extLst>
                  <a:ext uri="{FF2B5EF4-FFF2-40B4-BE49-F238E27FC236}">
                    <a16:creationId xmlns:a16="http://schemas.microsoft.com/office/drawing/2014/main" id="{7DC6FAFB-5952-9944-7B9B-E2CD99D9A9CF}"/>
                  </a:ext>
                </a:extLst>
              </p:cNvPr>
              <p:cNvCxnSpPr/>
              <p:nvPr/>
            </p:nvCxnSpPr>
            <p:spPr>
              <a:xfrm>
                <a:off x="901700" y="3365500"/>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93" name="组合 92" descr="533400ef-554e-4af8-aa0d-33a75372aa25">
              <a:extLst>
                <a:ext uri="{FF2B5EF4-FFF2-40B4-BE49-F238E27FC236}">
                  <a16:creationId xmlns:a16="http://schemas.microsoft.com/office/drawing/2014/main" id="{2A3FF2D1-0A2F-7DD9-0AC8-D08DF69F3A38}"/>
                </a:ext>
              </a:extLst>
            </p:cNvPr>
            <p:cNvGrpSpPr/>
            <p:nvPr/>
          </p:nvGrpSpPr>
          <p:grpSpPr>
            <a:xfrm>
              <a:off x="3467183" y="1965848"/>
              <a:ext cx="2597747" cy="5152226"/>
              <a:chOff x="771117" y="2119852"/>
              <a:chExt cx="2597747" cy="5152226"/>
            </a:xfrm>
          </p:grpSpPr>
          <p:grpSp>
            <p:nvGrpSpPr>
              <p:cNvPr id="94" name="组合 93" descr="d512d14f-ad82-447d-be02-7227729c9606">
                <a:extLst>
                  <a:ext uri="{FF2B5EF4-FFF2-40B4-BE49-F238E27FC236}">
                    <a16:creationId xmlns:a16="http://schemas.microsoft.com/office/drawing/2014/main" id="{4B0FA8F2-C1A6-E2ED-EC08-689FC072E752}"/>
                  </a:ext>
                </a:extLst>
              </p:cNvPr>
              <p:cNvGrpSpPr>
                <a:grpSpLocks noChangeAspect="1"/>
              </p:cNvGrpSpPr>
              <p:nvPr/>
            </p:nvGrpSpPr>
            <p:grpSpPr>
              <a:xfrm>
                <a:off x="771117" y="2119852"/>
                <a:ext cx="2597747" cy="5152226"/>
                <a:chOff x="4389868" y="1533770"/>
                <a:chExt cx="3541682" cy="6053832"/>
              </a:xfrm>
            </p:grpSpPr>
            <p:sp>
              <p:nvSpPr>
                <p:cNvPr id="96" name="矩形: 圆顶角 1" descr="471e3b91-9cd1-4fbf-a4e2-6d70d1154307">
                  <a:extLst>
                    <a:ext uri="{FF2B5EF4-FFF2-40B4-BE49-F238E27FC236}">
                      <a16:creationId xmlns:a16="http://schemas.microsoft.com/office/drawing/2014/main" id="{1EA046A1-4B9B-D1C6-BEF1-D8CE1499C7A1}"/>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97" name="Bullet2" descr="d83630bc-021e-4804-bc1e-de840d14b63f">
                  <a:extLst>
                    <a:ext uri="{FF2B5EF4-FFF2-40B4-BE49-F238E27FC236}">
                      <a16:creationId xmlns:a16="http://schemas.microsoft.com/office/drawing/2014/main" id="{63D86953-4B87-29FC-7B73-77914BB68F59}"/>
                    </a:ext>
                  </a:extLst>
                </p:cNvPr>
                <p:cNvSpPr txBox="1"/>
                <p:nvPr/>
              </p:nvSpPr>
              <p:spPr>
                <a:xfrm>
                  <a:off x="4553745" y="1533770"/>
                  <a:ext cx="3071818" cy="760021"/>
                </a:xfrm>
                <a:prstGeom prst="rect">
                  <a:avLst/>
                </a:prstGeom>
                <a:noFill/>
                <a:ln>
                  <a:noFill/>
                </a:ln>
              </p:spPr>
              <p:txBody>
                <a:bodyPr wrap="square" lIns="91440" tIns="45720" rIns="91440" bIns="45720" anchor="b" anchorCtr="0">
                  <a:normAutofit/>
                </a:bodyPr>
                <a:lstStyle/>
                <a:p>
                  <a:pPr algn="ctr">
                    <a:spcBef>
                      <a:spcPct val="0"/>
                    </a:spcBef>
                    <a:spcAft>
                      <a:spcPct val="0"/>
                    </a:spcAft>
                  </a:pPr>
                  <a:r>
                    <a:rPr lang="en-US" b="1" i="0" u="none" strike="noStrike">
                      <a:solidFill>
                        <a:srgbClr val="000000"/>
                      </a:solidFill>
                      <a:ea typeface="微软雅黑"/>
                    </a:rPr>
                    <a:t>异构模型执行引擎</a:t>
                  </a:r>
                </a:p>
              </p:txBody>
            </p:sp>
            <p:sp>
              <p:nvSpPr>
                <p:cNvPr id="98" name="Text2" descr="86fa2200-b7ec-45e6-b31a-f0995e035489">
                  <a:extLst>
                    <a:ext uri="{FF2B5EF4-FFF2-40B4-BE49-F238E27FC236}">
                      <a16:creationId xmlns:a16="http://schemas.microsoft.com/office/drawing/2014/main" id="{AAB78013-28EF-D181-2818-2A0A698EE355}"/>
                    </a:ext>
                  </a:extLst>
                </p:cNvPr>
                <p:cNvSpPr txBox="1"/>
                <p:nvPr/>
              </p:nvSpPr>
              <p:spPr>
                <a:xfrm>
                  <a:off x="4532000" y="2765513"/>
                  <a:ext cx="3399550" cy="4822089"/>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支持对接多种计算后端，根据模型类型自动选择执行引擎</a:t>
                  </a:r>
                  <a:r>
                    <a:rPr lang="en-US" sz="2000"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通过适配层统一映射API，实现透明调用</a:t>
                  </a:r>
                  <a:r>
                    <a:rPr lang="en-US" sz="2000"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支持CPU</a:t>
                  </a:r>
                  <a:r>
                    <a:rPr lang="en-US" sz="2000" b="0" i="0" u="none" strike="noStrike" dirty="0">
                      <a:solidFill>
                        <a:srgbClr val="000000"/>
                      </a:solidFill>
                      <a:ea typeface="微软雅黑"/>
                    </a:rPr>
                    <a:t>/GPU/</a:t>
                  </a:r>
                  <a:r>
                    <a:rPr lang="en-US" sz="2000" b="0" i="0" u="none" strike="noStrike" dirty="0" err="1">
                      <a:solidFill>
                        <a:srgbClr val="000000"/>
                      </a:solidFill>
                      <a:ea typeface="微软雅黑"/>
                    </a:rPr>
                    <a:t>TPU异构执行并动态分配资源</a:t>
                  </a:r>
                  <a:r>
                    <a:rPr lang="en-US" sz="2000" b="0" i="0" u="none" strike="noStrike" dirty="0">
                      <a:solidFill>
                        <a:srgbClr val="000000"/>
                      </a:solidFill>
                      <a:ea typeface="微软雅黑"/>
                    </a:rPr>
                    <a:t>。</a:t>
                  </a:r>
                </a:p>
              </p:txBody>
            </p:sp>
          </p:grpSp>
          <p:cxnSp>
            <p:nvCxnSpPr>
              <p:cNvPr id="95" name="直接连接符 94" descr="78f75d4a-732c-4327-a151-c3794dd122e0">
                <a:extLst>
                  <a:ext uri="{FF2B5EF4-FFF2-40B4-BE49-F238E27FC236}">
                    <a16:creationId xmlns:a16="http://schemas.microsoft.com/office/drawing/2014/main" id="{AFD342F2-5EDC-80EE-85C7-060D30AACECF}"/>
                  </a:ext>
                </a:extLst>
              </p:cNvPr>
              <p:cNvCxnSpPr/>
              <p:nvPr/>
            </p:nvCxnSpPr>
            <p:spPr>
              <a:xfrm>
                <a:off x="901700" y="3365500"/>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99" name="组合 98" descr="04324ebc-19cc-4299-9abe-4d49fdee2a94">
              <a:extLst>
                <a:ext uri="{FF2B5EF4-FFF2-40B4-BE49-F238E27FC236}">
                  <a16:creationId xmlns:a16="http://schemas.microsoft.com/office/drawing/2014/main" id="{99AEB1B7-E94D-FBF8-6844-B6FFE6139B43}"/>
                </a:ext>
              </a:extLst>
            </p:cNvPr>
            <p:cNvGrpSpPr/>
            <p:nvPr/>
          </p:nvGrpSpPr>
          <p:grpSpPr>
            <a:xfrm>
              <a:off x="6218610" y="1965848"/>
              <a:ext cx="2493504" cy="5092411"/>
              <a:chOff x="771119" y="2119852"/>
              <a:chExt cx="2493504" cy="5092411"/>
            </a:xfrm>
          </p:grpSpPr>
          <p:grpSp>
            <p:nvGrpSpPr>
              <p:cNvPr id="100" name="组合 99" descr="1a03ab90-9e1a-443b-8485-2ac04c1b9407">
                <a:extLst>
                  <a:ext uri="{FF2B5EF4-FFF2-40B4-BE49-F238E27FC236}">
                    <a16:creationId xmlns:a16="http://schemas.microsoft.com/office/drawing/2014/main" id="{7D902118-49BC-72F2-8335-D146C241E6F9}"/>
                  </a:ext>
                </a:extLst>
              </p:cNvPr>
              <p:cNvGrpSpPr>
                <a:grpSpLocks noChangeAspect="1"/>
              </p:cNvGrpSpPr>
              <p:nvPr/>
            </p:nvGrpSpPr>
            <p:grpSpPr>
              <a:xfrm>
                <a:off x="771119" y="2119852"/>
                <a:ext cx="2493504" cy="5092411"/>
                <a:chOff x="4389868" y="1533770"/>
                <a:chExt cx="3399560" cy="5983549"/>
              </a:xfrm>
            </p:grpSpPr>
            <p:sp>
              <p:nvSpPr>
                <p:cNvPr id="102" name="矩形: 圆顶角 1" descr="a65c83de-f45a-495b-8a32-3db7a9d0a516">
                  <a:extLst>
                    <a:ext uri="{FF2B5EF4-FFF2-40B4-BE49-F238E27FC236}">
                      <a16:creationId xmlns:a16="http://schemas.microsoft.com/office/drawing/2014/main" id="{EA4399BD-C177-27D9-790B-0D864F9E7067}"/>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3" name="Bullet3" descr="d9d64375-e8a9-4da3-8864-69a39aa7d8e2">
                  <a:extLst>
                    <a:ext uri="{FF2B5EF4-FFF2-40B4-BE49-F238E27FC236}">
                      <a16:creationId xmlns:a16="http://schemas.microsoft.com/office/drawing/2014/main" id="{5C9E5A82-5539-A323-02EC-7B2C9A020485}"/>
                    </a:ext>
                  </a:extLst>
                </p:cNvPr>
                <p:cNvSpPr txBox="1"/>
                <p:nvPr/>
              </p:nvSpPr>
              <p:spPr>
                <a:xfrm>
                  <a:off x="4553745" y="1533770"/>
                  <a:ext cx="3071818" cy="760021"/>
                </a:xfrm>
                <a:prstGeom prst="rect">
                  <a:avLst/>
                </a:prstGeom>
                <a:noFill/>
                <a:ln>
                  <a:noFill/>
                </a:ln>
              </p:spPr>
              <p:txBody>
                <a:bodyPr wrap="square" lIns="91440" tIns="45720" rIns="91440" bIns="45720" anchor="b" anchorCtr="0">
                  <a:normAutofit/>
                </a:bodyPr>
                <a:lstStyle/>
                <a:p>
                  <a:pPr algn="ctr">
                    <a:spcBef>
                      <a:spcPct val="0"/>
                    </a:spcBef>
                    <a:spcAft>
                      <a:spcPct val="0"/>
                    </a:spcAft>
                  </a:pPr>
                  <a:r>
                    <a:rPr lang="en-US" b="1" i="0" u="none" strike="noStrike">
                      <a:solidFill>
                        <a:srgbClr val="000000"/>
                      </a:solidFill>
                      <a:ea typeface="微软雅黑"/>
                    </a:rPr>
                    <a:t>模型 - 数据联合优化</a:t>
                  </a:r>
                </a:p>
              </p:txBody>
            </p:sp>
            <p:sp>
              <p:nvSpPr>
                <p:cNvPr id="104" name="Text3" descr="5c78ce96-c41e-4252-b045-4e3b2b4d13aa">
                  <a:extLst>
                    <a:ext uri="{FF2B5EF4-FFF2-40B4-BE49-F238E27FC236}">
                      <a16:creationId xmlns:a16="http://schemas.microsoft.com/office/drawing/2014/main" id="{FDAE0712-ECE9-F2AF-E0D4-BC7F6409DB9E}"/>
                    </a:ext>
                  </a:extLst>
                </p:cNvPr>
                <p:cNvSpPr txBox="1"/>
                <p:nvPr/>
              </p:nvSpPr>
              <p:spPr>
                <a:xfrm>
                  <a:off x="4553745" y="2890444"/>
                  <a:ext cx="3235683" cy="4626875"/>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根据输入数据特征动态选择最优模型或子模型</a:t>
                  </a:r>
                  <a:r>
                    <a:rPr lang="en-US" sz="2000"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将模型推理操作下推至存储节点执行，减少数据移动</a:t>
                  </a:r>
                  <a:r>
                    <a:rPr lang="en-US" sz="2000"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支持批量与实时流式推理的统一调度</a:t>
                  </a:r>
                  <a:r>
                    <a:rPr lang="en-US" sz="2000" b="0" i="0" u="none" strike="noStrike" dirty="0">
                      <a:solidFill>
                        <a:srgbClr val="000000"/>
                      </a:solidFill>
                      <a:ea typeface="微软雅黑"/>
                    </a:rPr>
                    <a:t>。</a:t>
                  </a:r>
                </a:p>
              </p:txBody>
            </p:sp>
          </p:grpSp>
          <p:cxnSp>
            <p:nvCxnSpPr>
              <p:cNvPr id="101" name="直接连接符 100" descr="03c054d6-0694-4ce3-9897-d21e209dcca0">
                <a:extLst>
                  <a:ext uri="{FF2B5EF4-FFF2-40B4-BE49-F238E27FC236}">
                    <a16:creationId xmlns:a16="http://schemas.microsoft.com/office/drawing/2014/main" id="{76A7396F-7F25-767D-3B19-CECF3B71A775}"/>
                  </a:ext>
                </a:extLst>
              </p:cNvPr>
              <p:cNvCxnSpPr/>
              <p:nvPr/>
            </p:nvCxnSpPr>
            <p:spPr>
              <a:xfrm>
                <a:off x="959312" y="3151481"/>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105" name="组合 104" descr="13418aab-fc69-467e-8556-90e1304661ab">
              <a:extLst>
                <a:ext uri="{FF2B5EF4-FFF2-40B4-BE49-F238E27FC236}">
                  <a16:creationId xmlns:a16="http://schemas.microsoft.com/office/drawing/2014/main" id="{0169455A-C85A-6ED6-DA72-80A81D62FA9D}"/>
                </a:ext>
              </a:extLst>
            </p:cNvPr>
            <p:cNvGrpSpPr/>
            <p:nvPr/>
          </p:nvGrpSpPr>
          <p:grpSpPr>
            <a:xfrm>
              <a:off x="8970036" y="1965848"/>
              <a:ext cx="2534795" cy="3866109"/>
              <a:chOff x="771119" y="2119852"/>
              <a:chExt cx="2534795" cy="3866109"/>
            </a:xfrm>
          </p:grpSpPr>
          <p:grpSp>
            <p:nvGrpSpPr>
              <p:cNvPr id="106" name="组合 105" descr="f5f872d0-a364-46e9-af51-ef3e794a5f8b">
                <a:extLst>
                  <a:ext uri="{FF2B5EF4-FFF2-40B4-BE49-F238E27FC236}">
                    <a16:creationId xmlns:a16="http://schemas.microsoft.com/office/drawing/2014/main" id="{A6B4F70A-4551-F760-11BA-4F2695D3C600}"/>
                  </a:ext>
                </a:extLst>
              </p:cNvPr>
              <p:cNvGrpSpPr>
                <a:grpSpLocks noChangeAspect="1"/>
              </p:cNvGrpSpPr>
              <p:nvPr/>
            </p:nvGrpSpPr>
            <p:grpSpPr>
              <a:xfrm>
                <a:off x="771119" y="2119852"/>
                <a:ext cx="2534795" cy="3866109"/>
                <a:chOff x="4389868" y="1533770"/>
                <a:chExt cx="3455855" cy="4542653"/>
              </a:xfrm>
            </p:grpSpPr>
            <p:sp>
              <p:nvSpPr>
                <p:cNvPr id="108" name="矩形: 圆顶角 1" descr="8db501ec-7a82-48c0-bbfb-7f2557b5bb12">
                  <a:extLst>
                    <a:ext uri="{FF2B5EF4-FFF2-40B4-BE49-F238E27FC236}">
                      <a16:creationId xmlns:a16="http://schemas.microsoft.com/office/drawing/2014/main" id="{98C406FE-E211-481B-D363-4B6EBAC0D789}"/>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9" name="Bullet4" descr="505586e1-1a54-4352-afda-4899da450cc2">
                  <a:extLst>
                    <a:ext uri="{FF2B5EF4-FFF2-40B4-BE49-F238E27FC236}">
                      <a16:creationId xmlns:a16="http://schemas.microsoft.com/office/drawing/2014/main" id="{7A9E4534-C944-ED24-97D9-403B58A23BFF}"/>
                    </a:ext>
                  </a:extLst>
                </p:cNvPr>
                <p:cNvSpPr txBox="1"/>
                <p:nvPr/>
              </p:nvSpPr>
              <p:spPr>
                <a:xfrm>
                  <a:off x="4553745" y="1533770"/>
                  <a:ext cx="3071818" cy="760021"/>
                </a:xfrm>
                <a:prstGeom prst="rect">
                  <a:avLst/>
                </a:prstGeom>
                <a:noFill/>
                <a:ln>
                  <a:noFill/>
                </a:ln>
              </p:spPr>
              <p:txBody>
                <a:bodyPr wrap="square" lIns="91440" tIns="45720" rIns="91440" bIns="45720" anchor="b" anchorCtr="0">
                  <a:normAutofit/>
                </a:bodyPr>
                <a:lstStyle/>
                <a:p>
                  <a:pPr algn="ctr">
                    <a:spcBef>
                      <a:spcPct val="0"/>
                    </a:spcBef>
                    <a:spcAft>
                      <a:spcPct val="0"/>
                    </a:spcAft>
                  </a:pPr>
                  <a:r>
                    <a:rPr lang="en-US" b="1" i="0" u="none" strike="noStrike">
                      <a:solidFill>
                        <a:srgbClr val="000000"/>
                      </a:solidFill>
                      <a:ea typeface="微软雅黑"/>
                    </a:rPr>
                    <a:t>多模态模型集成</a:t>
                  </a:r>
                </a:p>
              </p:txBody>
            </p:sp>
            <p:sp>
              <p:nvSpPr>
                <p:cNvPr id="110" name="Text4" descr="1c9753e0-5d16-4e53-ae60-888f8453bc07">
                  <a:extLst>
                    <a:ext uri="{FF2B5EF4-FFF2-40B4-BE49-F238E27FC236}">
                      <a16:creationId xmlns:a16="http://schemas.microsoft.com/office/drawing/2014/main" id="{B7E502F2-091A-CAFE-25E5-2776244EECF3}"/>
                    </a:ext>
                  </a:extLst>
                </p:cNvPr>
                <p:cNvSpPr txBox="1"/>
                <p:nvPr/>
              </p:nvSpPr>
              <p:spPr>
                <a:xfrm>
                  <a:off x="4567898" y="2877321"/>
                  <a:ext cx="3277825" cy="3199102"/>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支持文本、图像等多模态数据的联合建模</a:t>
                  </a:r>
                  <a:r>
                    <a:rPr lang="en-US" sz="2000"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提供多模态模型注册、版本控制与联合推理接口</a:t>
                  </a:r>
                  <a:r>
                    <a:rPr lang="en-US" sz="2000" b="0" i="0" u="none" strike="noStrike" dirty="0">
                      <a:solidFill>
                        <a:srgbClr val="000000"/>
                      </a:solidFill>
                      <a:ea typeface="微软雅黑"/>
                    </a:rPr>
                    <a:t>。</a:t>
                  </a:r>
                </a:p>
              </p:txBody>
            </p:sp>
          </p:grpSp>
          <p:cxnSp>
            <p:nvCxnSpPr>
              <p:cNvPr id="107" name="直接连接符 106" descr="048feb98-8cc9-4d23-865a-4893adce891f">
                <a:extLst>
                  <a:ext uri="{FF2B5EF4-FFF2-40B4-BE49-F238E27FC236}">
                    <a16:creationId xmlns:a16="http://schemas.microsoft.com/office/drawing/2014/main" id="{7BEFA3FE-ABE1-A6D9-09D0-81643270A7B3}"/>
                  </a:ext>
                </a:extLst>
              </p:cNvPr>
              <p:cNvCxnSpPr/>
              <p:nvPr/>
            </p:nvCxnSpPr>
            <p:spPr>
              <a:xfrm>
                <a:off x="901700" y="3365500"/>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3200" b="1" dirty="0" err="1"/>
              <a:t>AI模型管理核心原理</a:t>
            </a:r>
            <a:endParaRPr lang="en-US" sz="3200" b="1" dirty="0"/>
          </a:p>
        </p:txBody>
      </p:sp>
      <p:grpSp>
        <p:nvGrpSpPr>
          <p:cNvPr id="5" name="720d478c-9421-4f0f-9cb9-00c560b38fe9.source.5.zh-Hans.pptx" descr="4c383d54-1e7a-4dda-b3c3-88615855868f">
            <a:extLst>
              <a:ext uri="{FF2B5EF4-FFF2-40B4-BE49-F238E27FC236}">
                <a16:creationId xmlns:a16="http://schemas.microsoft.com/office/drawing/2014/main" id="{851498D2-9CC5-93CD-E802-7895E4C06A4D}"/>
              </a:ext>
            </a:extLst>
          </p:cNvPr>
          <p:cNvGrpSpPr/>
          <p:nvPr/>
        </p:nvGrpSpPr>
        <p:grpSpPr>
          <a:xfrm>
            <a:off x="662516" y="1572730"/>
            <a:ext cx="10858500" cy="4931640"/>
            <a:chOff x="660400" y="1753484"/>
            <a:chExt cx="10858500" cy="4931640"/>
          </a:xfrm>
        </p:grpSpPr>
        <p:grpSp>
          <p:nvGrpSpPr>
            <p:cNvPr id="12" name="组合 11" descr="28144e79-44de-4e9e-927a-5e474b263724">
              <a:extLst>
                <a:ext uri="{FF2B5EF4-FFF2-40B4-BE49-F238E27FC236}">
                  <a16:creationId xmlns:a16="http://schemas.microsoft.com/office/drawing/2014/main" id="{D813DB48-F7D5-E9C6-CA44-F8BBE5029B09}"/>
                </a:ext>
              </a:extLst>
            </p:cNvPr>
            <p:cNvGrpSpPr/>
            <p:nvPr/>
          </p:nvGrpSpPr>
          <p:grpSpPr>
            <a:xfrm>
              <a:off x="660400" y="1753484"/>
              <a:ext cx="5333010" cy="1405973"/>
              <a:chOff x="1143981" y="1753484"/>
              <a:chExt cx="5333010" cy="1405973"/>
            </a:xfrm>
          </p:grpSpPr>
          <p:grpSp>
            <p:nvGrpSpPr>
              <p:cNvPr id="10" name="组合 9" descr="f75de6e0-3d84-43a2-be9e-68813bd344d0">
                <a:extLst>
                  <a:ext uri="{FF2B5EF4-FFF2-40B4-BE49-F238E27FC236}">
                    <a16:creationId xmlns:a16="http://schemas.microsoft.com/office/drawing/2014/main" id="{C459EE7B-4326-D533-E632-D5B23415F92B}"/>
                  </a:ext>
                </a:extLst>
              </p:cNvPr>
              <p:cNvGrpSpPr/>
              <p:nvPr/>
            </p:nvGrpSpPr>
            <p:grpSpPr>
              <a:xfrm>
                <a:off x="1517059" y="1753484"/>
                <a:ext cx="4959932" cy="1405973"/>
                <a:chOff x="814532" y="1753484"/>
                <a:chExt cx="4959932" cy="1405973"/>
              </a:xfrm>
            </p:grpSpPr>
            <p:sp>
              <p:nvSpPr>
                <p:cNvPr id="8" name="Text1" descr="8e2a005f-1465-4010-ba58-d31bbb1e6b42">
                  <a:extLst>
                    <a:ext uri="{FF2B5EF4-FFF2-40B4-BE49-F238E27FC236}">
                      <a16:creationId xmlns:a16="http://schemas.microsoft.com/office/drawing/2014/main" id="{985E9402-F183-E97B-6A61-DF9AD885DF4D}"/>
                    </a:ext>
                  </a:extLst>
                </p:cNvPr>
                <p:cNvSpPr>
                  <a:spLocks/>
                </p:cNvSpPr>
                <p:nvPr/>
              </p:nvSpPr>
              <p:spPr>
                <a:xfrm>
                  <a:off x="942123" y="2202712"/>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171450" indent="-171450" algn="l">
                    <a:lnSpc>
                      <a:spcPct val="120000"/>
                    </a:lnSpc>
                    <a:buFont typeface="Arial" panose="020B0604020202020204" pitchFamily="34" charset="0"/>
                    <a:buChar char="•"/>
                  </a:pPr>
                  <a:r>
                    <a:rPr lang="en-US" sz="1600" b="0" i="0" u="none" dirty="0" err="1">
                      <a:solidFill>
                        <a:srgbClr val="000000"/>
                      </a:solidFill>
                      <a:ea typeface="微软雅黑"/>
                    </a:rPr>
                    <a:t>模型仓库提供集中化模型存储与元数据管理，支持上传、下载、查询</a:t>
                  </a:r>
                  <a:r>
                    <a:rPr lang="en-US" sz="1600" b="0" i="0" u="none" dirty="0">
                      <a:solidFill>
                        <a:srgbClr val="000000"/>
                      </a:solidFill>
                      <a:ea typeface="微软雅黑"/>
                    </a:rPr>
                    <a:t>；</a:t>
                  </a:r>
                </a:p>
                <a:p>
                  <a:pPr marL="171450" indent="-171450" algn="l">
                    <a:lnSpc>
                      <a:spcPct val="120000"/>
                    </a:lnSpc>
                    <a:buFont typeface="Arial" panose="020B0604020202020204" pitchFamily="34" charset="0"/>
                    <a:buChar char="•"/>
                  </a:pPr>
                  <a:r>
                    <a:rPr lang="en-US" sz="1600" b="0" i="0" u="none" dirty="0" err="1">
                      <a:solidFill>
                        <a:srgbClr val="000000"/>
                      </a:solidFill>
                      <a:ea typeface="微软雅黑"/>
                    </a:rPr>
                    <a:t>版本管理机制支持语义化版本与Git式分支管理，记录变更历史等信息</a:t>
                  </a:r>
                  <a:r>
                    <a:rPr lang="en-US" sz="1600" b="0" i="0" u="none" dirty="0">
                      <a:solidFill>
                        <a:srgbClr val="000000"/>
                      </a:solidFill>
                      <a:ea typeface="微软雅黑"/>
                    </a:rPr>
                    <a:t>；</a:t>
                  </a:r>
                </a:p>
                <a:p>
                  <a:pPr marL="171450" indent="-171450" algn="l">
                    <a:lnSpc>
                      <a:spcPct val="120000"/>
                    </a:lnSpc>
                    <a:buFont typeface="Arial" panose="020B0604020202020204" pitchFamily="34" charset="0"/>
                    <a:buChar char="•"/>
                  </a:pPr>
                  <a:r>
                    <a:rPr lang="en-US" sz="1600" b="0" i="0" u="none" dirty="0" err="1">
                      <a:solidFill>
                        <a:srgbClr val="000000"/>
                      </a:solidFill>
                      <a:ea typeface="微软雅黑"/>
                    </a:rPr>
                    <a:t>模型血缘追踪记录模型完整链路，支持影响分析</a:t>
                  </a:r>
                  <a:r>
                    <a:rPr lang="en-US" sz="1600" b="0" i="0" u="none" dirty="0">
                      <a:solidFill>
                        <a:srgbClr val="000000"/>
                      </a:solidFill>
                      <a:ea typeface="微软雅黑"/>
                    </a:rPr>
                    <a:t>。</a:t>
                  </a:r>
                </a:p>
              </p:txBody>
            </p:sp>
            <p:sp>
              <p:nvSpPr>
                <p:cNvPr id="9" name="Bullet1" descr="05672a49-9724-4fc1-94f8-ed410303e6a4">
                  <a:extLst>
                    <a:ext uri="{FF2B5EF4-FFF2-40B4-BE49-F238E27FC236}">
                      <a16:creationId xmlns:a16="http://schemas.microsoft.com/office/drawing/2014/main" id="{6E1D0C7F-D8D6-2FE7-0056-AC715B19D59E}"/>
                    </a:ext>
                  </a:extLst>
                </p:cNvPr>
                <p:cNvSpPr>
                  <a:spLocks/>
                </p:cNvSpPr>
                <p:nvPr/>
              </p:nvSpPr>
              <p:spPr>
                <a:xfrm>
                  <a:off x="814532"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lnSpc>
                      <a:spcPct val="120000"/>
                    </a:lnSpc>
                  </a:pPr>
                  <a:r>
                    <a:rPr lang="en-US" sz="1800" b="1" i="0" u="none" dirty="0" err="1">
                      <a:solidFill>
                        <a:srgbClr val="000000"/>
                      </a:solidFill>
                      <a:ea typeface="微软雅黑"/>
                    </a:rPr>
                    <a:t>模型注册与版本控制</a:t>
                  </a:r>
                  <a:endParaRPr lang="en-US" sz="1800" b="1" i="0" u="none" dirty="0">
                    <a:solidFill>
                      <a:srgbClr val="000000"/>
                    </a:solidFill>
                    <a:ea typeface="微软雅黑"/>
                  </a:endParaRPr>
                </a:p>
              </p:txBody>
            </p:sp>
          </p:grpSp>
          <p:sp>
            <p:nvSpPr>
              <p:cNvPr id="11" name="Number1" descr="c5f13142-47e3-47cf-b0f5-9066a0211893">
                <a:extLst>
                  <a:ext uri="{FF2B5EF4-FFF2-40B4-BE49-F238E27FC236}">
                    <a16:creationId xmlns:a16="http://schemas.microsoft.com/office/drawing/2014/main" id="{DF59F00C-3FD4-AB90-34C5-F849B14888AD}"/>
                  </a:ext>
                </a:extLst>
              </p:cNvPr>
              <p:cNvSpPr>
                <a:spLocks/>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a:r>
                  <a:rPr lang="en-US" sz="1600" b="0" i="0" u="none">
                    <a:solidFill>
                      <a:srgbClr val="FFFFFF"/>
                    </a:solidFill>
                    <a:latin typeface="Arial"/>
                  </a:rPr>
                  <a:t>1</a:t>
                </a:r>
              </a:p>
            </p:txBody>
          </p:sp>
        </p:grpSp>
        <p:grpSp>
          <p:nvGrpSpPr>
            <p:cNvPr id="13" name="组合 12" descr="e535891c-71ce-4cad-9d01-f82093153187">
              <a:extLst>
                <a:ext uri="{FF2B5EF4-FFF2-40B4-BE49-F238E27FC236}">
                  <a16:creationId xmlns:a16="http://schemas.microsoft.com/office/drawing/2014/main" id="{4083E7CA-4F51-B7D4-5D19-449835404A46}"/>
                </a:ext>
              </a:extLst>
            </p:cNvPr>
            <p:cNvGrpSpPr/>
            <p:nvPr/>
          </p:nvGrpSpPr>
          <p:grpSpPr>
            <a:xfrm>
              <a:off x="660400" y="3240806"/>
              <a:ext cx="5333010" cy="1978518"/>
              <a:chOff x="1143981" y="1753484"/>
              <a:chExt cx="5333010" cy="1978518"/>
            </a:xfrm>
          </p:grpSpPr>
          <p:grpSp>
            <p:nvGrpSpPr>
              <p:cNvPr id="14" name="组合 13" descr="7bfba8c7-ced6-48f2-a88f-68de8d246244">
                <a:extLst>
                  <a:ext uri="{FF2B5EF4-FFF2-40B4-BE49-F238E27FC236}">
                    <a16:creationId xmlns:a16="http://schemas.microsoft.com/office/drawing/2014/main" id="{3A89A112-1FCE-C6DD-9901-E3E449308A0D}"/>
                  </a:ext>
                </a:extLst>
              </p:cNvPr>
              <p:cNvGrpSpPr/>
              <p:nvPr/>
            </p:nvGrpSpPr>
            <p:grpSpPr>
              <a:xfrm>
                <a:off x="1474529" y="2322323"/>
                <a:ext cx="5002462" cy="1409679"/>
                <a:chOff x="772002" y="2322323"/>
                <a:chExt cx="5002462" cy="1409679"/>
              </a:xfrm>
            </p:grpSpPr>
            <p:sp>
              <p:nvSpPr>
                <p:cNvPr id="17" name="Text2" descr="a084d214-be83-47c1-b0dc-3b4fb39c4c70">
                  <a:extLst>
                    <a:ext uri="{FF2B5EF4-FFF2-40B4-BE49-F238E27FC236}">
                      <a16:creationId xmlns:a16="http://schemas.microsoft.com/office/drawing/2014/main" id="{FE4F97B4-0200-C9A3-C2E5-C94ED90C1BFB}"/>
                    </a:ext>
                  </a:extLst>
                </p:cNvPr>
                <p:cNvSpPr>
                  <a:spLocks/>
                </p:cNvSpPr>
                <p:nvPr/>
              </p:nvSpPr>
              <p:spPr>
                <a:xfrm>
                  <a:off x="942123" y="2775257"/>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171450" indent="-171450" algn="l">
                    <a:lnSpc>
                      <a:spcPct val="120000"/>
                    </a:lnSpc>
                    <a:buFont typeface="Arial" panose="020B0604020202020204" pitchFamily="34" charset="0"/>
                    <a:buChar char="•"/>
                  </a:pPr>
                  <a:r>
                    <a:rPr lang="en-US" sz="1600" b="0" i="0" u="none" dirty="0" err="1">
                      <a:solidFill>
                        <a:srgbClr val="000000"/>
                      </a:solidFill>
                      <a:ea typeface="微软雅黑"/>
                    </a:rPr>
                    <a:t>定义模型状态并支持流转，基于性能指标自动触发模型升级或回滚</a:t>
                  </a:r>
                  <a:endParaRPr lang="en-US" sz="1600" b="0" i="0" u="none" dirty="0">
                    <a:solidFill>
                      <a:srgbClr val="000000"/>
                    </a:solidFill>
                    <a:ea typeface="微软雅黑"/>
                  </a:endParaRPr>
                </a:p>
                <a:p>
                  <a:pPr marL="171450" indent="-171450" algn="l">
                    <a:lnSpc>
                      <a:spcPct val="120000"/>
                    </a:lnSpc>
                    <a:buFont typeface="Arial" panose="020B0604020202020204" pitchFamily="34" charset="0"/>
                    <a:buChar char="•"/>
                  </a:pPr>
                  <a:r>
                    <a:rPr lang="en-US" sz="1600" b="0" i="0" u="none" dirty="0" err="1">
                      <a:solidFill>
                        <a:srgbClr val="000000"/>
                      </a:solidFill>
                      <a:ea typeface="微软雅黑"/>
                    </a:rPr>
                    <a:t>支持多版本模型并行运行与灰度发布、A</a:t>
                  </a:r>
                  <a:r>
                    <a:rPr lang="en-US" sz="1600" b="0" i="0" u="none" dirty="0">
                      <a:solidFill>
                        <a:srgbClr val="000000"/>
                      </a:solidFill>
                      <a:ea typeface="微软雅黑"/>
                    </a:rPr>
                    <a:t>/</a:t>
                  </a:r>
                  <a:r>
                    <a:rPr lang="en-US" sz="1600" b="0" i="0" u="none" dirty="0" err="1">
                      <a:solidFill>
                        <a:srgbClr val="000000"/>
                      </a:solidFill>
                      <a:ea typeface="微软雅黑"/>
                    </a:rPr>
                    <a:t>B测试</a:t>
                  </a:r>
                  <a:r>
                    <a:rPr lang="en-US" sz="1600" b="0" i="0" u="none" dirty="0">
                      <a:solidFill>
                        <a:srgbClr val="000000"/>
                      </a:solidFill>
                      <a:ea typeface="微软雅黑"/>
                    </a:rPr>
                    <a:t>。</a:t>
                  </a:r>
                </a:p>
              </p:txBody>
            </p:sp>
            <p:sp>
              <p:nvSpPr>
                <p:cNvPr id="18" name="Bullet2" descr="0c24014c-6497-43d3-9550-889d3edef33f">
                  <a:extLst>
                    <a:ext uri="{FF2B5EF4-FFF2-40B4-BE49-F238E27FC236}">
                      <a16:creationId xmlns:a16="http://schemas.microsoft.com/office/drawing/2014/main" id="{D110E7B9-A1BB-842F-86F0-ED05B2548502}"/>
                    </a:ext>
                  </a:extLst>
                </p:cNvPr>
                <p:cNvSpPr>
                  <a:spLocks/>
                </p:cNvSpPr>
                <p:nvPr/>
              </p:nvSpPr>
              <p:spPr>
                <a:xfrm>
                  <a:off x="772002" y="2322323"/>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lnSpc>
                      <a:spcPct val="120000"/>
                    </a:lnSpc>
                  </a:pPr>
                  <a:r>
                    <a:rPr lang="en-US" sz="1800" b="1" i="0" u="none" dirty="0" err="1">
                      <a:solidFill>
                        <a:srgbClr val="000000"/>
                      </a:solidFill>
                      <a:ea typeface="微软雅黑"/>
                    </a:rPr>
                    <a:t>生命周期管理</a:t>
                  </a:r>
                  <a:endParaRPr lang="en-US" sz="1800" b="1" i="0" u="none" dirty="0">
                    <a:solidFill>
                      <a:srgbClr val="000000"/>
                    </a:solidFill>
                    <a:ea typeface="微软雅黑"/>
                  </a:endParaRPr>
                </a:p>
              </p:txBody>
            </p:sp>
          </p:grpSp>
          <p:sp>
            <p:nvSpPr>
              <p:cNvPr id="15" name="Number2" descr="2534cf09-cf93-4074-a133-f31a8edf5bcd">
                <a:extLst>
                  <a:ext uri="{FF2B5EF4-FFF2-40B4-BE49-F238E27FC236}">
                    <a16:creationId xmlns:a16="http://schemas.microsoft.com/office/drawing/2014/main" id="{44027D22-CC39-D6CB-8260-0EAC647A8E0A}"/>
                  </a:ext>
                </a:extLst>
              </p:cNvPr>
              <p:cNvSpPr>
                <a:spLocks/>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a:r>
                  <a:rPr lang="en-US" sz="1600" b="0" i="0" u="none">
                    <a:solidFill>
                      <a:srgbClr val="FFFFFF"/>
                    </a:solidFill>
                    <a:latin typeface="Arial"/>
                  </a:rPr>
                  <a:t>2</a:t>
                </a:r>
              </a:p>
            </p:txBody>
          </p:sp>
        </p:grpSp>
        <p:grpSp>
          <p:nvGrpSpPr>
            <p:cNvPr id="19" name="组合 18" descr="3311758c-72f2-4784-a8cd-d70fb58d93d8">
              <a:extLst>
                <a:ext uri="{FF2B5EF4-FFF2-40B4-BE49-F238E27FC236}">
                  <a16:creationId xmlns:a16="http://schemas.microsoft.com/office/drawing/2014/main" id="{468925FB-93A8-54AA-DCC7-D34AAAF94AAB}"/>
                </a:ext>
              </a:extLst>
            </p:cNvPr>
            <p:cNvGrpSpPr/>
            <p:nvPr/>
          </p:nvGrpSpPr>
          <p:grpSpPr>
            <a:xfrm>
              <a:off x="660400" y="4728127"/>
              <a:ext cx="5333010" cy="1956997"/>
              <a:chOff x="1143981" y="1753484"/>
              <a:chExt cx="5333010" cy="1956997"/>
            </a:xfrm>
          </p:grpSpPr>
          <p:grpSp>
            <p:nvGrpSpPr>
              <p:cNvPr id="20" name="组合 19" descr="532b0983-05eb-4178-a125-a8e88b8d5ee5">
                <a:extLst>
                  <a:ext uri="{FF2B5EF4-FFF2-40B4-BE49-F238E27FC236}">
                    <a16:creationId xmlns:a16="http://schemas.microsoft.com/office/drawing/2014/main" id="{8FD0878B-1505-3F1A-8538-1DCA5681F52E}"/>
                  </a:ext>
                </a:extLst>
              </p:cNvPr>
              <p:cNvGrpSpPr/>
              <p:nvPr/>
            </p:nvGrpSpPr>
            <p:grpSpPr>
              <a:xfrm>
                <a:off x="1474529" y="2343590"/>
                <a:ext cx="5002462" cy="1366891"/>
                <a:chOff x="772002" y="2343590"/>
                <a:chExt cx="5002462" cy="1366891"/>
              </a:xfrm>
            </p:grpSpPr>
            <p:sp>
              <p:nvSpPr>
                <p:cNvPr id="23" name="Text3" descr="132ebb55-0019-495e-99f7-ba7c4319c59b">
                  <a:extLst>
                    <a:ext uri="{FF2B5EF4-FFF2-40B4-BE49-F238E27FC236}">
                      <a16:creationId xmlns:a16="http://schemas.microsoft.com/office/drawing/2014/main" id="{2D21C1DC-720E-68A9-3C8A-6F7ED7937A21}"/>
                    </a:ext>
                  </a:extLst>
                </p:cNvPr>
                <p:cNvSpPr>
                  <a:spLocks/>
                </p:cNvSpPr>
                <p:nvPr/>
              </p:nvSpPr>
              <p:spPr>
                <a:xfrm>
                  <a:off x="942123" y="2753736"/>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171450" indent="-171450" algn="l">
                    <a:lnSpc>
                      <a:spcPct val="120000"/>
                    </a:lnSpc>
                    <a:buFont typeface="Arial" panose="020B0604020202020204" pitchFamily="34" charset="0"/>
                    <a:buChar char="•"/>
                  </a:pPr>
                  <a:r>
                    <a:rPr lang="en-US" sz="1600" b="0" i="0" u="none" dirty="0" err="1">
                      <a:solidFill>
                        <a:srgbClr val="000000"/>
                      </a:solidFill>
                      <a:ea typeface="微软雅黑"/>
                    </a:rPr>
                    <a:t>实时采集推理延迟等指标，监控输入数据分布变化，检测模型在不同群体中的表现差异，集成分布式追踪系统实现端到端调用链追踪</a:t>
                  </a:r>
                  <a:r>
                    <a:rPr lang="en-US" sz="1600" b="0" i="0" u="none" dirty="0">
                      <a:solidFill>
                        <a:srgbClr val="000000"/>
                      </a:solidFill>
                      <a:ea typeface="微软雅黑"/>
                    </a:rPr>
                    <a:t>。</a:t>
                  </a:r>
                </a:p>
              </p:txBody>
            </p:sp>
            <p:sp>
              <p:nvSpPr>
                <p:cNvPr id="25" name="Bullet3" descr="efb96689-ef6d-4193-83ed-dcfb8633234c">
                  <a:extLst>
                    <a:ext uri="{FF2B5EF4-FFF2-40B4-BE49-F238E27FC236}">
                      <a16:creationId xmlns:a16="http://schemas.microsoft.com/office/drawing/2014/main" id="{E1730A8B-6A55-5F72-DC31-4D897B4CC02B}"/>
                    </a:ext>
                  </a:extLst>
                </p:cNvPr>
                <p:cNvSpPr>
                  <a:spLocks/>
                </p:cNvSpPr>
                <p:nvPr/>
              </p:nvSpPr>
              <p:spPr>
                <a:xfrm>
                  <a:off x="772002" y="2343590"/>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lnSpc>
                      <a:spcPct val="120000"/>
                    </a:lnSpc>
                  </a:pPr>
                  <a:r>
                    <a:rPr lang="en-US" sz="1800" b="1" i="0" u="none" dirty="0" err="1">
                      <a:solidFill>
                        <a:srgbClr val="000000"/>
                      </a:solidFill>
                      <a:ea typeface="微软雅黑"/>
                    </a:rPr>
                    <a:t>模型监控与可观测性</a:t>
                  </a:r>
                  <a:endParaRPr lang="en-US" sz="1800" b="1" i="0" u="none" dirty="0">
                    <a:solidFill>
                      <a:srgbClr val="000000"/>
                    </a:solidFill>
                    <a:ea typeface="微软雅黑"/>
                  </a:endParaRPr>
                </a:p>
              </p:txBody>
            </p:sp>
          </p:grpSp>
          <p:sp>
            <p:nvSpPr>
              <p:cNvPr id="21" name="Number3" descr="87beba4a-fbca-4b2f-8481-1ca566a55852">
                <a:extLst>
                  <a:ext uri="{FF2B5EF4-FFF2-40B4-BE49-F238E27FC236}">
                    <a16:creationId xmlns:a16="http://schemas.microsoft.com/office/drawing/2014/main" id="{2CD8F8AE-6F76-14D0-2863-4113E4BCBA69}"/>
                  </a:ext>
                </a:extLst>
              </p:cNvPr>
              <p:cNvSpPr>
                <a:spLocks/>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a:r>
                  <a:rPr lang="en-US" sz="1600" b="0" i="0" u="none">
                    <a:solidFill>
                      <a:srgbClr val="FFFFFF"/>
                    </a:solidFill>
                    <a:latin typeface="Arial"/>
                  </a:rPr>
                  <a:t>3</a:t>
                </a:r>
              </a:p>
            </p:txBody>
          </p:sp>
        </p:grpSp>
        <p:grpSp>
          <p:nvGrpSpPr>
            <p:cNvPr id="33" name="组合 32" descr="b171e0be-ccd9-42ef-8d83-199625e02b6a">
              <a:extLst>
                <a:ext uri="{FF2B5EF4-FFF2-40B4-BE49-F238E27FC236}">
                  <a16:creationId xmlns:a16="http://schemas.microsoft.com/office/drawing/2014/main" id="{33076015-FA52-1EE4-9E2E-70B1660EE817}"/>
                </a:ext>
              </a:extLst>
            </p:cNvPr>
            <p:cNvGrpSpPr/>
            <p:nvPr/>
          </p:nvGrpSpPr>
          <p:grpSpPr>
            <a:xfrm>
              <a:off x="6136995" y="1753484"/>
              <a:ext cx="5333018" cy="1480400"/>
              <a:chOff x="1143981" y="1753484"/>
              <a:chExt cx="5333018" cy="1480400"/>
            </a:xfrm>
          </p:grpSpPr>
          <p:grpSp>
            <p:nvGrpSpPr>
              <p:cNvPr id="34" name="组合 33" descr="acaf4ca2-3c53-4cdf-b0fe-8c27e1bc5627">
                <a:extLst>
                  <a:ext uri="{FF2B5EF4-FFF2-40B4-BE49-F238E27FC236}">
                    <a16:creationId xmlns:a16="http://schemas.microsoft.com/office/drawing/2014/main" id="{9507B5DB-E216-B9A6-C9C5-20BBA8D2E2D3}"/>
                  </a:ext>
                </a:extLst>
              </p:cNvPr>
              <p:cNvGrpSpPr/>
              <p:nvPr/>
            </p:nvGrpSpPr>
            <p:grpSpPr>
              <a:xfrm>
                <a:off x="1644650" y="1753484"/>
                <a:ext cx="4832349" cy="1480400"/>
                <a:chOff x="942123" y="1753484"/>
                <a:chExt cx="4832349" cy="1480400"/>
              </a:xfrm>
            </p:grpSpPr>
            <p:sp>
              <p:nvSpPr>
                <p:cNvPr id="37" name="Text4" descr="a8403583-5ec8-4ecd-a016-43efbdf23166">
                  <a:extLst>
                    <a:ext uri="{FF2B5EF4-FFF2-40B4-BE49-F238E27FC236}">
                      <a16:creationId xmlns:a16="http://schemas.microsoft.com/office/drawing/2014/main" id="{4BFCB75C-E272-CB3B-CB63-A655396A4044}"/>
                    </a:ext>
                  </a:extLst>
                </p:cNvPr>
                <p:cNvSpPr>
                  <a:spLocks/>
                </p:cNvSpPr>
                <p:nvPr/>
              </p:nvSpPr>
              <p:spPr>
                <a:xfrm>
                  <a:off x="942123" y="2277139"/>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171450" indent="-171450" algn="l">
                    <a:lnSpc>
                      <a:spcPct val="120000"/>
                    </a:lnSpc>
                    <a:buFont typeface="Arial" panose="020B0604020202020204" pitchFamily="34" charset="0"/>
                    <a:buChar char="•"/>
                  </a:pPr>
                  <a:r>
                    <a:rPr lang="en-US" sz="1600" b="0" i="0" u="none" dirty="0" err="1">
                      <a:solidFill>
                        <a:srgbClr val="000000"/>
                      </a:solidFill>
                      <a:ea typeface="微软雅黑"/>
                    </a:rPr>
                    <a:t>基于RBAC模型控制模型权限，记录审计日志满足合规要求，集成工具提供模型决策解释能力</a:t>
                  </a:r>
                  <a:r>
                    <a:rPr lang="en-US" sz="1600" b="0" i="0" u="none" dirty="0">
                      <a:solidFill>
                        <a:srgbClr val="000000"/>
                      </a:solidFill>
                      <a:ea typeface="微软雅黑"/>
                    </a:rPr>
                    <a:t>。</a:t>
                  </a:r>
                </a:p>
              </p:txBody>
            </p:sp>
            <p:sp>
              <p:nvSpPr>
                <p:cNvPr id="38" name="Bullet4" descr="a089cb76-ef74-4679-acce-d820ab160e55">
                  <a:extLst>
                    <a:ext uri="{FF2B5EF4-FFF2-40B4-BE49-F238E27FC236}">
                      <a16:creationId xmlns:a16="http://schemas.microsoft.com/office/drawing/2014/main" id="{A572C0E0-F7DE-B605-60F6-A0476FC3AD99}"/>
                    </a:ext>
                  </a:extLst>
                </p:cNvPr>
                <p:cNvSpPr>
                  <a:spLocks/>
                </p:cNvSpPr>
                <p:nvPr/>
              </p:nvSpPr>
              <p:spPr>
                <a:xfrm>
                  <a:off x="942123"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lnSpc>
                      <a:spcPct val="120000"/>
                    </a:lnSpc>
                  </a:pPr>
                  <a:r>
                    <a:rPr lang="en-US" sz="1800" b="1" i="0" u="none" dirty="0" err="1">
                      <a:solidFill>
                        <a:srgbClr val="000000"/>
                      </a:solidFill>
                      <a:ea typeface="微软雅黑"/>
                    </a:rPr>
                    <a:t>模型治理与合规</a:t>
                  </a:r>
                  <a:endParaRPr lang="en-US" sz="1800" b="1" i="0" u="none" dirty="0">
                    <a:solidFill>
                      <a:srgbClr val="000000"/>
                    </a:solidFill>
                    <a:ea typeface="微软雅黑"/>
                  </a:endParaRPr>
                </a:p>
              </p:txBody>
            </p:sp>
          </p:grpSp>
          <p:sp>
            <p:nvSpPr>
              <p:cNvPr id="35" name="Number4" descr="46c1db65-09c9-4c5a-9f5a-ca130ccc3603">
                <a:extLst>
                  <a:ext uri="{FF2B5EF4-FFF2-40B4-BE49-F238E27FC236}">
                    <a16:creationId xmlns:a16="http://schemas.microsoft.com/office/drawing/2014/main" id="{58D96F91-2361-9359-1231-BFE7D17336FD}"/>
                  </a:ext>
                </a:extLst>
              </p:cNvPr>
              <p:cNvSpPr>
                <a:spLocks/>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a:r>
                  <a:rPr lang="en-US" sz="1600" b="0" i="0" u="none">
                    <a:solidFill>
                      <a:srgbClr val="FFFFFF"/>
                    </a:solidFill>
                    <a:latin typeface="Arial"/>
                  </a:rPr>
                  <a:t>4</a:t>
                </a:r>
              </a:p>
            </p:txBody>
          </p:sp>
        </p:grpSp>
        <p:grpSp>
          <p:nvGrpSpPr>
            <p:cNvPr id="39" name="组合 38" descr="480e3185-9626-455d-8546-f27a4122c9e1">
              <a:extLst>
                <a:ext uri="{FF2B5EF4-FFF2-40B4-BE49-F238E27FC236}">
                  <a16:creationId xmlns:a16="http://schemas.microsoft.com/office/drawing/2014/main" id="{4F2E473F-D803-FC8E-1820-69BC3F1A40B8}"/>
                </a:ext>
              </a:extLst>
            </p:cNvPr>
            <p:cNvGrpSpPr/>
            <p:nvPr/>
          </p:nvGrpSpPr>
          <p:grpSpPr>
            <a:xfrm>
              <a:off x="6136995" y="3202395"/>
              <a:ext cx="5381905" cy="2119552"/>
              <a:chOff x="1143981" y="1715073"/>
              <a:chExt cx="5381905" cy="2119552"/>
            </a:xfrm>
          </p:grpSpPr>
          <p:grpSp>
            <p:nvGrpSpPr>
              <p:cNvPr id="40" name="组合 39" descr="efe4070a-803b-4fde-87f7-a93e514f20b4">
                <a:extLst>
                  <a:ext uri="{FF2B5EF4-FFF2-40B4-BE49-F238E27FC236}">
                    <a16:creationId xmlns:a16="http://schemas.microsoft.com/office/drawing/2014/main" id="{B451BB0A-26A8-4DAB-DE9F-EDE8F4CF87CC}"/>
                  </a:ext>
                </a:extLst>
              </p:cNvPr>
              <p:cNvGrpSpPr/>
              <p:nvPr/>
            </p:nvGrpSpPr>
            <p:grpSpPr>
              <a:xfrm>
                <a:off x="1362926" y="1715073"/>
                <a:ext cx="5162960" cy="2119552"/>
                <a:chOff x="660399" y="1715073"/>
                <a:chExt cx="5162960" cy="2119552"/>
              </a:xfrm>
            </p:grpSpPr>
            <p:sp>
              <p:nvSpPr>
                <p:cNvPr id="42" name="ComponentBackground5" descr="476086e3-240e-467b-bbae-6d0b6b5f2338">
                  <a:extLst>
                    <a:ext uri="{FF2B5EF4-FFF2-40B4-BE49-F238E27FC236}">
                      <a16:creationId xmlns:a16="http://schemas.microsoft.com/office/drawing/2014/main" id="{FC1C4D24-065E-47CD-6632-8C3334AAD22C}"/>
                    </a:ext>
                  </a:extLst>
                </p:cNvPr>
                <p:cNvSpPr/>
                <p:nvPr/>
              </p:nvSpPr>
              <p:spPr>
                <a:xfrm>
                  <a:off x="660399" y="1715073"/>
                  <a:ext cx="5162960"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43" name="Text5" descr="afdc9f40-df2b-47e7-851d-5b925317444c">
                  <a:extLst>
                    <a:ext uri="{FF2B5EF4-FFF2-40B4-BE49-F238E27FC236}">
                      <a16:creationId xmlns:a16="http://schemas.microsoft.com/office/drawing/2014/main" id="{54DDD388-CD87-D246-662E-061EEE2A5962}"/>
                    </a:ext>
                  </a:extLst>
                </p:cNvPr>
                <p:cNvSpPr>
                  <a:spLocks/>
                </p:cNvSpPr>
                <p:nvPr/>
              </p:nvSpPr>
              <p:spPr>
                <a:xfrm>
                  <a:off x="942123" y="2877880"/>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fontScale="925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171450" indent="-171450" algn="l">
                    <a:lnSpc>
                      <a:spcPct val="120000"/>
                    </a:lnSpc>
                    <a:buFont typeface="Arial" panose="020B0604020202020204" pitchFamily="34" charset="0"/>
                    <a:buChar char="•"/>
                  </a:pPr>
                  <a:r>
                    <a:rPr lang="en-US" sz="1600" b="0" i="0" u="none" dirty="0" err="1">
                      <a:solidFill>
                        <a:srgbClr val="000000"/>
                      </a:solidFill>
                      <a:ea typeface="微软雅黑"/>
                    </a:rPr>
                    <a:t>与MLOps流水线集成，支持模型训练、测试、部署自动化</a:t>
                  </a:r>
                  <a:r>
                    <a:rPr lang="en-US" sz="1600" b="0" i="0" u="none" dirty="0">
                      <a:solidFill>
                        <a:srgbClr val="000000"/>
                      </a:solidFill>
                      <a:ea typeface="微软雅黑"/>
                    </a:rPr>
                    <a:t>；</a:t>
                  </a:r>
                </a:p>
                <a:p>
                  <a:pPr marL="171450" indent="-171450" algn="l">
                    <a:lnSpc>
                      <a:spcPct val="120000"/>
                    </a:lnSpc>
                    <a:buFont typeface="Arial" panose="020B0604020202020204" pitchFamily="34" charset="0"/>
                    <a:buChar char="•"/>
                  </a:pPr>
                  <a:r>
                    <a:rPr lang="en-US" sz="1600" b="0" i="0" u="none" dirty="0" err="1">
                      <a:solidFill>
                        <a:srgbClr val="000000"/>
                      </a:solidFill>
                      <a:ea typeface="微软雅黑"/>
                    </a:rPr>
                    <a:t>通过DAG定义流程，支持事件驱动触发模型重训练</a:t>
                  </a:r>
                  <a:r>
                    <a:rPr lang="en-US" sz="1600" b="0" i="0" u="none" dirty="0">
                      <a:solidFill>
                        <a:srgbClr val="000000"/>
                      </a:solidFill>
                      <a:ea typeface="微软雅黑"/>
                    </a:rPr>
                    <a:t>。</a:t>
                  </a:r>
                </a:p>
              </p:txBody>
            </p:sp>
            <p:sp>
              <p:nvSpPr>
                <p:cNvPr id="44" name="Bullet5" descr="809fce52-9144-44d6-8c29-79d849c2a49f">
                  <a:extLst>
                    <a:ext uri="{FF2B5EF4-FFF2-40B4-BE49-F238E27FC236}">
                      <a16:creationId xmlns:a16="http://schemas.microsoft.com/office/drawing/2014/main" id="{05A38255-0F83-745D-943E-7084BBBDA91F}"/>
                    </a:ext>
                  </a:extLst>
                </p:cNvPr>
                <p:cNvSpPr>
                  <a:spLocks/>
                </p:cNvSpPr>
                <p:nvPr/>
              </p:nvSpPr>
              <p:spPr>
                <a:xfrm>
                  <a:off x="942123" y="2247898"/>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lnSpc>
                      <a:spcPct val="120000"/>
                    </a:lnSpc>
                  </a:pPr>
                  <a:r>
                    <a:rPr lang="en-US" sz="1800" b="1" i="0" u="none" dirty="0" err="1">
                      <a:solidFill>
                        <a:srgbClr val="000000"/>
                      </a:solidFill>
                      <a:ea typeface="微软雅黑"/>
                    </a:rPr>
                    <a:t>自动化与编排能力</a:t>
                  </a:r>
                  <a:endParaRPr lang="en-US" sz="1800" b="1" i="0" u="none" dirty="0">
                    <a:solidFill>
                      <a:srgbClr val="000000"/>
                    </a:solidFill>
                    <a:ea typeface="微软雅黑"/>
                  </a:endParaRPr>
                </a:p>
              </p:txBody>
            </p:sp>
          </p:grpSp>
          <p:sp>
            <p:nvSpPr>
              <p:cNvPr id="41" name="Number5" descr="fe1abb37-cf11-4d0a-a0c3-e4022dbffe8d">
                <a:extLst>
                  <a:ext uri="{FF2B5EF4-FFF2-40B4-BE49-F238E27FC236}">
                    <a16:creationId xmlns:a16="http://schemas.microsoft.com/office/drawing/2014/main" id="{E3B8002F-6415-0FFF-D9F6-7D2D9C765A44}"/>
                  </a:ext>
                </a:extLst>
              </p:cNvPr>
              <p:cNvSpPr>
                <a:spLocks/>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a:r>
                  <a:rPr lang="en-US" sz="1600" b="0" i="0" u="none">
                    <a:solidFill>
                      <a:srgbClr val="FFFFFF"/>
                    </a:solidFill>
                    <a:latin typeface="Arial"/>
                  </a:rPr>
                  <a:t>5</a:t>
                </a:r>
              </a:p>
            </p:txBody>
          </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altLang="zh-CN" sz="2800" b="1" dirty="0" err="1"/>
              <a:t>AI数据库多模型</a:t>
            </a:r>
            <a:r>
              <a:rPr lang="en-US" sz="2800" b="1" dirty="0" err="1"/>
              <a:t>协同机制</a:t>
            </a:r>
            <a:endParaRPr lang="en-US" sz="2800" b="1" dirty="0"/>
          </a:p>
        </p:txBody>
      </p:sp>
      <p:grpSp>
        <p:nvGrpSpPr>
          <p:cNvPr id="59" name="24ebb528-3919-43e3-8209-8d8e234fc1ea.source.4.zh-Hans.pptx" descr="cb60a47b-dd65-4b4c-8faa-5783f85bddc2">
            <a:extLst>
              <a:ext uri="{FF2B5EF4-FFF2-40B4-BE49-F238E27FC236}">
                <a16:creationId xmlns:a16="http://schemas.microsoft.com/office/drawing/2014/main" id="{2ED26358-9EC0-13A0-C871-DA5B382653D9}"/>
              </a:ext>
            </a:extLst>
          </p:cNvPr>
          <p:cNvGrpSpPr/>
          <p:nvPr/>
        </p:nvGrpSpPr>
        <p:grpSpPr>
          <a:xfrm>
            <a:off x="105800" y="1955800"/>
            <a:ext cx="11967700" cy="4902201"/>
            <a:chOff x="105800" y="1955800"/>
            <a:chExt cx="11967700" cy="4902201"/>
          </a:xfrm>
        </p:grpSpPr>
        <p:sp>
          <p:nvSpPr>
            <p:cNvPr id="53" name="任意多边形: 形状 52" descr="6b281cb9-431d-4d3f-a533-379710d8a897">
              <a:extLst>
                <a:ext uri="{FF2B5EF4-FFF2-40B4-BE49-F238E27FC236}">
                  <a16:creationId xmlns:a16="http://schemas.microsoft.com/office/drawing/2014/main" id="{5B48FC04-2293-58E7-C39E-DE787B062E91}"/>
                </a:ext>
              </a:extLst>
            </p:cNvPr>
            <p:cNvSpPr/>
            <p:nvPr/>
          </p:nvSpPr>
          <p:spPr>
            <a:xfrm>
              <a:off x="105800" y="6076950"/>
              <a:ext cx="11967700" cy="781051"/>
            </a:xfrm>
            <a:custGeom>
              <a:avLst/>
              <a:gdLst>
                <a:gd name="connsiteX0" fmla="*/ 5983850 w 11967700"/>
                <a:gd name="connsiteY0" fmla="*/ 0 h 781051"/>
                <a:gd name="connsiteX1" fmla="*/ 11956001 w 11967700"/>
                <a:gd name="connsiteY1" fmla="*/ 770679 h 781051"/>
                <a:gd name="connsiteX2" fmla="*/ 11967700 w 11967700"/>
                <a:gd name="connsiteY2" fmla="*/ 781051 h 781051"/>
                <a:gd name="connsiteX3" fmla="*/ 0 w 11967700"/>
                <a:gd name="connsiteY3" fmla="*/ 781051 h 781051"/>
                <a:gd name="connsiteX4" fmla="*/ 11699 w 11967700"/>
                <a:gd name="connsiteY4" fmla="*/ 770679 h 781051"/>
                <a:gd name="connsiteX5" fmla="*/ 5983850 w 11967700"/>
                <a:gd name="connsiteY5" fmla="*/ 0 h 78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67700" h="781051">
                  <a:moveTo>
                    <a:pt x="5983850" y="0"/>
                  </a:moveTo>
                  <a:cubicBezTo>
                    <a:pt x="8929737" y="0"/>
                    <a:pt x="11387572" y="330854"/>
                    <a:pt x="11956001" y="770679"/>
                  </a:cubicBezTo>
                  <a:lnTo>
                    <a:pt x="11967700" y="781051"/>
                  </a:lnTo>
                  <a:lnTo>
                    <a:pt x="0" y="781051"/>
                  </a:lnTo>
                  <a:lnTo>
                    <a:pt x="11699" y="770679"/>
                  </a:lnTo>
                  <a:cubicBezTo>
                    <a:pt x="580128" y="330854"/>
                    <a:pt x="3037963" y="0"/>
                    <a:pt x="5983850" y="0"/>
                  </a:cubicBezTo>
                  <a:close/>
                </a:path>
              </a:pathLst>
            </a:custGeom>
            <a:gradFill>
              <a:gsLst>
                <a:gs pos="100000">
                  <a:schemeClr val="accent1">
                    <a:alpha val="0"/>
                  </a:schemeClr>
                </a:gs>
                <a:gs pos="0">
                  <a:schemeClr val="accent1">
                    <a:alpha val="15000"/>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a:p>
          </p:txBody>
        </p:sp>
        <p:sp>
          <p:nvSpPr>
            <p:cNvPr id="50" name="任意多边形: 形状 49" descr="4bd6c0ae-b569-48d5-a09f-e750fb9288a9">
              <a:extLst>
                <a:ext uri="{FF2B5EF4-FFF2-40B4-BE49-F238E27FC236}">
                  <a16:creationId xmlns:a16="http://schemas.microsoft.com/office/drawing/2014/main" id="{1F683F27-7814-1927-DA3F-ACBD92F14A2E}"/>
                </a:ext>
              </a:extLst>
            </p:cNvPr>
            <p:cNvSpPr/>
            <p:nvPr/>
          </p:nvSpPr>
          <p:spPr>
            <a:xfrm>
              <a:off x="1259391" y="6235700"/>
              <a:ext cx="9660518" cy="622300"/>
            </a:xfrm>
            <a:custGeom>
              <a:avLst/>
              <a:gdLst>
                <a:gd name="connsiteX0" fmla="*/ 4830259 w 9660518"/>
                <a:gd name="connsiteY0" fmla="*/ 0 h 622300"/>
                <a:gd name="connsiteX1" fmla="*/ 9627292 w 9660518"/>
                <a:gd name="connsiteY1" fmla="*/ 602330 h 622300"/>
                <a:gd name="connsiteX2" fmla="*/ 9660518 w 9660518"/>
                <a:gd name="connsiteY2" fmla="*/ 622300 h 622300"/>
                <a:gd name="connsiteX3" fmla="*/ 0 w 9660518"/>
                <a:gd name="connsiteY3" fmla="*/ 622300 h 622300"/>
                <a:gd name="connsiteX4" fmla="*/ 33227 w 9660518"/>
                <a:gd name="connsiteY4" fmla="*/ 602330 h 622300"/>
                <a:gd name="connsiteX5" fmla="*/ 4830259 w 9660518"/>
                <a:gd name="connsiteY5" fmla="*/ 0 h 622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0518" h="622300">
                  <a:moveTo>
                    <a:pt x="4830259" y="0"/>
                  </a:moveTo>
                  <a:cubicBezTo>
                    <a:pt x="7084169" y="0"/>
                    <a:pt x="8991341" y="253371"/>
                    <a:pt x="9627292" y="602330"/>
                  </a:cubicBezTo>
                  <a:lnTo>
                    <a:pt x="9660518" y="622300"/>
                  </a:lnTo>
                  <a:lnTo>
                    <a:pt x="0" y="622300"/>
                  </a:lnTo>
                  <a:lnTo>
                    <a:pt x="33227" y="602330"/>
                  </a:lnTo>
                  <a:cubicBezTo>
                    <a:pt x="669177" y="253371"/>
                    <a:pt x="2576349" y="0"/>
                    <a:pt x="4830259" y="0"/>
                  </a:cubicBezTo>
                  <a:close/>
                </a:path>
              </a:pathLst>
            </a:custGeom>
            <a:gradFill>
              <a:gsLst>
                <a:gs pos="100000">
                  <a:schemeClr val="accent1">
                    <a:alpha val="0"/>
                  </a:schemeClr>
                </a:gs>
                <a:gs pos="0">
                  <a:schemeClr val="accent1">
                    <a:alpha val="15000"/>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a:p>
          </p:txBody>
        </p:sp>
        <p:sp>
          <p:nvSpPr>
            <p:cNvPr id="47" name="任意多边形: 形状 46" descr="44d315dd-8b98-48b4-adef-7dcb6fc763fa">
              <a:extLst>
                <a:ext uri="{FF2B5EF4-FFF2-40B4-BE49-F238E27FC236}">
                  <a16:creationId xmlns:a16="http://schemas.microsoft.com/office/drawing/2014/main" id="{01519730-9993-D2EF-D6FB-821AE0B368EA}"/>
                </a:ext>
              </a:extLst>
            </p:cNvPr>
            <p:cNvSpPr/>
            <p:nvPr/>
          </p:nvSpPr>
          <p:spPr>
            <a:xfrm>
              <a:off x="4159250" y="6502400"/>
              <a:ext cx="3860800" cy="355600"/>
            </a:xfrm>
            <a:custGeom>
              <a:avLst/>
              <a:gdLst>
                <a:gd name="connsiteX0" fmla="*/ 1930400 w 3860800"/>
                <a:gd name="connsiteY0" fmla="*/ 0 h 355600"/>
                <a:gd name="connsiteX1" fmla="*/ 3860800 w 3860800"/>
                <a:gd name="connsiteY1" fmla="*/ 266700 h 355600"/>
                <a:gd name="connsiteX2" fmla="*/ 3774013 w 3860800"/>
                <a:gd name="connsiteY2" fmla="*/ 346009 h 355600"/>
                <a:gd name="connsiteX3" fmla="*/ 3748603 w 3860800"/>
                <a:gd name="connsiteY3" fmla="*/ 355600 h 355600"/>
                <a:gd name="connsiteX4" fmla="*/ 112197 w 3860800"/>
                <a:gd name="connsiteY4" fmla="*/ 355600 h 355600"/>
                <a:gd name="connsiteX5" fmla="*/ 86787 w 3860800"/>
                <a:gd name="connsiteY5" fmla="*/ 346009 h 355600"/>
                <a:gd name="connsiteX6" fmla="*/ 0 w 3860800"/>
                <a:gd name="connsiteY6" fmla="*/ 266700 h 355600"/>
                <a:gd name="connsiteX7" fmla="*/ 1930400 w 3860800"/>
                <a:gd name="connsiteY7" fmla="*/ 0 h 35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0800" h="355600">
                  <a:moveTo>
                    <a:pt x="1930400" y="0"/>
                  </a:moveTo>
                  <a:cubicBezTo>
                    <a:pt x="2996530" y="0"/>
                    <a:pt x="3860800" y="119406"/>
                    <a:pt x="3860800" y="266700"/>
                  </a:cubicBezTo>
                  <a:cubicBezTo>
                    <a:pt x="3860800" y="294318"/>
                    <a:pt x="3830416" y="320955"/>
                    <a:pt x="3774013" y="346009"/>
                  </a:cubicBezTo>
                  <a:lnTo>
                    <a:pt x="3748603" y="355600"/>
                  </a:lnTo>
                  <a:lnTo>
                    <a:pt x="112197" y="355600"/>
                  </a:lnTo>
                  <a:lnTo>
                    <a:pt x="86787" y="346009"/>
                  </a:lnTo>
                  <a:cubicBezTo>
                    <a:pt x="30385" y="320955"/>
                    <a:pt x="0" y="294318"/>
                    <a:pt x="0" y="266700"/>
                  </a:cubicBezTo>
                  <a:cubicBezTo>
                    <a:pt x="0" y="119406"/>
                    <a:pt x="864270" y="0"/>
                    <a:pt x="1930400" y="0"/>
                  </a:cubicBezTo>
                  <a:close/>
                </a:path>
              </a:pathLst>
            </a:custGeom>
            <a:gradFill flip="none" rotWithShape="1">
              <a:gsLst>
                <a:gs pos="100000">
                  <a:schemeClr val="accent1">
                    <a:alpha val="0"/>
                  </a:schemeClr>
                </a:gs>
                <a:gs pos="0">
                  <a:schemeClr val="accent1">
                    <a:alpha val="5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a:p>
          </p:txBody>
        </p:sp>
        <p:cxnSp>
          <p:nvCxnSpPr>
            <p:cNvPr id="31" name="连接符: 肘形 30" descr="cbfd898b-726f-4bd3-bce9-3a84cb6cce18">
              <a:extLst>
                <a:ext uri="{FF2B5EF4-FFF2-40B4-BE49-F238E27FC236}">
                  <a16:creationId xmlns:a16="http://schemas.microsoft.com/office/drawing/2014/main" id="{54998938-599F-0496-57A2-A76FBEC48B5E}"/>
                </a:ext>
              </a:extLst>
            </p:cNvPr>
            <p:cNvCxnSpPr>
              <a:stCxn id="22" idx="4"/>
            </p:cNvCxnSpPr>
            <p:nvPr/>
          </p:nvCxnSpPr>
          <p:spPr>
            <a:xfrm rot="16200000" flipH="1">
              <a:off x="3571875" y="3984625"/>
              <a:ext cx="850900" cy="4184650"/>
            </a:xfrm>
            <a:prstGeom prst="bentConnector3">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连接符: 肘形 32" descr="fbe2f21e-91a3-44c0-af9f-0d4c3e8bebbd">
              <a:extLst>
                <a:ext uri="{FF2B5EF4-FFF2-40B4-BE49-F238E27FC236}">
                  <a16:creationId xmlns:a16="http://schemas.microsoft.com/office/drawing/2014/main" id="{824AF592-37CC-8C57-B2F4-F43F78321FD4}"/>
                </a:ext>
              </a:extLst>
            </p:cNvPr>
            <p:cNvCxnSpPr>
              <a:stCxn id="23" idx="4"/>
            </p:cNvCxnSpPr>
            <p:nvPr/>
          </p:nvCxnSpPr>
          <p:spPr>
            <a:xfrm rot="16200000" flipH="1">
              <a:off x="4966758" y="5379508"/>
              <a:ext cx="850900" cy="1394883"/>
            </a:xfrm>
            <a:prstGeom prst="bentConnector3">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连接符: 肘形 34" descr="f442c4c0-8a24-40a8-bddc-07ed284d2c26">
              <a:extLst>
                <a:ext uri="{FF2B5EF4-FFF2-40B4-BE49-F238E27FC236}">
                  <a16:creationId xmlns:a16="http://schemas.microsoft.com/office/drawing/2014/main" id="{EFC5CFA9-3A84-89A0-C904-6DDCDE5F7467}"/>
                </a:ext>
              </a:extLst>
            </p:cNvPr>
            <p:cNvCxnSpPr>
              <a:stCxn id="24" idx="4"/>
            </p:cNvCxnSpPr>
            <p:nvPr/>
          </p:nvCxnSpPr>
          <p:spPr>
            <a:xfrm rot="5400000">
              <a:off x="6361642" y="5379508"/>
              <a:ext cx="850900" cy="1394884"/>
            </a:xfrm>
            <a:prstGeom prst="bentConnector3">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连接符: 肘形 36" descr="c39393be-7e27-49e9-8ba8-2611a3a345a2">
              <a:extLst>
                <a:ext uri="{FF2B5EF4-FFF2-40B4-BE49-F238E27FC236}">
                  <a16:creationId xmlns:a16="http://schemas.microsoft.com/office/drawing/2014/main" id="{6A367896-6532-3472-88F2-93B4771E5F6C}"/>
                </a:ext>
              </a:extLst>
            </p:cNvPr>
            <p:cNvCxnSpPr>
              <a:stCxn id="25" idx="4"/>
            </p:cNvCxnSpPr>
            <p:nvPr/>
          </p:nvCxnSpPr>
          <p:spPr>
            <a:xfrm rot="5400000">
              <a:off x="7756526" y="3984625"/>
              <a:ext cx="850900" cy="4184651"/>
            </a:xfrm>
            <a:prstGeom prst="bentConnector3">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5" name="组合 54" descr="9bba026f-7c89-40ef-b742-92e76e7ba5e6">
              <a:extLst>
                <a:ext uri="{FF2B5EF4-FFF2-40B4-BE49-F238E27FC236}">
                  <a16:creationId xmlns:a16="http://schemas.microsoft.com/office/drawing/2014/main" id="{15F535F7-DB2E-6926-FA35-6B8C32043111}"/>
                </a:ext>
              </a:extLst>
            </p:cNvPr>
            <p:cNvGrpSpPr/>
            <p:nvPr/>
          </p:nvGrpSpPr>
          <p:grpSpPr>
            <a:xfrm>
              <a:off x="660400" y="1955800"/>
              <a:ext cx="2489200" cy="4279898"/>
              <a:chOff x="660400" y="1955800"/>
              <a:chExt cx="2489200" cy="4279898"/>
            </a:xfrm>
          </p:grpSpPr>
          <p:sp>
            <p:nvSpPr>
              <p:cNvPr id="6" name="ComponentBackground1" descr="71252937-3fed-455a-a9a8-5a08293ca747">
                <a:extLst>
                  <a:ext uri="{FF2B5EF4-FFF2-40B4-BE49-F238E27FC236}">
                    <a16:creationId xmlns:a16="http://schemas.microsoft.com/office/drawing/2014/main" id="{23BCA240-A60D-E2D0-764D-ACB3FF8B0024}"/>
                  </a:ext>
                </a:extLst>
              </p:cNvPr>
              <p:cNvSpPr/>
              <p:nvPr/>
            </p:nvSpPr>
            <p:spPr>
              <a:xfrm>
                <a:off x="660400" y="1955800"/>
                <a:ext cx="2489200" cy="34036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 name="Bullet1" descr="fed7e349-ebf0-4be5-b543-b8a002fe1466">
                <a:extLst>
                  <a:ext uri="{FF2B5EF4-FFF2-40B4-BE49-F238E27FC236}">
                    <a16:creationId xmlns:a16="http://schemas.microsoft.com/office/drawing/2014/main" id="{5CC5A6A8-EF32-00E5-ED08-B347CF390A4C}"/>
                  </a:ext>
                </a:extLst>
              </p:cNvPr>
              <p:cNvSpPr>
                <a:spLocks/>
              </p:cNvSpPr>
              <p:nvPr/>
            </p:nvSpPr>
            <p:spPr>
              <a:xfrm>
                <a:off x="762000" y="2597150"/>
                <a:ext cx="2286000" cy="901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2000" b="1" i="0" u="none" dirty="0" err="1">
                    <a:solidFill>
                      <a:srgbClr val="000000"/>
                    </a:solidFill>
                    <a:ea typeface="微软雅黑"/>
                  </a:rPr>
                  <a:t>统一模型目录</a:t>
                </a:r>
                <a:endParaRPr lang="en-US" sz="2000" b="1" i="0" u="none" dirty="0">
                  <a:solidFill>
                    <a:srgbClr val="000000"/>
                  </a:solidFill>
                  <a:ea typeface="微软雅黑"/>
                </a:endParaRPr>
              </a:p>
            </p:txBody>
          </p:sp>
          <p:sp>
            <p:nvSpPr>
              <p:cNvPr id="11" name="Text1" descr="7eea5617-051b-4d75-819f-e2a6ab7af24a">
                <a:extLst>
                  <a:ext uri="{FF2B5EF4-FFF2-40B4-BE49-F238E27FC236}">
                    <a16:creationId xmlns:a16="http://schemas.microsoft.com/office/drawing/2014/main" id="{B20827C6-E513-7E99-3A7B-9270ADD44FB0}"/>
                  </a:ext>
                </a:extLst>
              </p:cNvPr>
              <p:cNvSpPr/>
              <p:nvPr/>
            </p:nvSpPr>
            <p:spPr>
              <a:xfrm>
                <a:off x="762002" y="3839091"/>
                <a:ext cx="2285996" cy="23966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gn="l">
                  <a:lnSpc>
                    <a:spcPct val="120000"/>
                  </a:lnSpc>
                  <a:buFont typeface="Arial" panose="020B0604020202020204" pitchFamily="34" charset="0"/>
                  <a:buChar char="•"/>
                </a:pPr>
                <a:r>
                  <a:rPr lang="en-US" sz="2000" b="0" i="0" u="none" dirty="0" err="1">
                    <a:solidFill>
                      <a:srgbClr val="000000"/>
                    </a:solidFill>
                    <a:ea typeface="微软雅黑"/>
                  </a:rPr>
                  <a:t>将多模型支持与管理能力整合为统一视图，支持跨模型查询与治理</a:t>
                </a:r>
                <a:r>
                  <a:rPr lang="en-US" sz="2000" b="0" i="0" u="none" dirty="0">
                    <a:solidFill>
                      <a:srgbClr val="000000"/>
                    </a:solidFill>
                    <a:ea typeface="微软雅黑"/>
                  </a:rPr>
                  <a:t>。</a:t>
                </a:r>
              </a:p>
            </p:txBody>
          </p:sp>
          <p:sp>
            <p:nvSpPr>
              <p:cNvPr id="22" name="IconBackground1" descr="8754bf4e-e5cd-44eb-9861-c6a3a6e65267">
                <a:extLst>
                  <a:ext uri="{FF2B5EF4-FFF2-40B4-BE49-F238E27FC236}">
                    <a16:creationId xmlns:a16="http://schemas.microsoft.com/office/drawing/2014/main" id="{51935D4E-DF3B-CD66-C09C-CF2256F23A70}"/>
                  </a:ext>
                </a:extLst>
              </p:cNvPr>
              <p:cNvSpPr/>
              <p:nvPr/>
            </p:nvSpPr>
            <p:spPr>
              <a:xfrm>
                <a:off x="1612900" y="5067300"/>
                <a:ext cx="584200" cy="584200"/>
              </a:xfrm>
              <a:prstGeom prst="ellipse">
                <a:avLst/>
              </a:prstGeom>
              <a:gradFill flip="none" rotWithShape="1">
                <a:gsLst>
                  <a:gs pos="50000">
                    <a:schemeClr val="accent1"/>
                  </a:gs>
                  <a:gs pos="100000">
                    <a:schemeClr val="accent1">
                      <a:lumMod val="60000"/>
                      <a:lumOff val="4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6" name="Icon1" descr="00688f88-19e4-4e48-9f9b-76f4f2a56c13">
                <a:extLst>
                  <a:ext uri="{FF2B5EF4-FFF2-40B4-BE49-F238E27FC236}">
                    <a16:creationId xmlns:a16="http://schemas.microsoft.com/office/drawing/2014/main" id="{C09976EF-2EFF-142E-D08C-BB350FB48D21}"/>
                  </a:ext>
                </a:extLst>
              </p:cNvPr>
              <p:cNvSpPr/>
              <p:nvPr/>
            </p:nvSpPr>
            <p:spPr>
              <a:xfrm>
                <a:off x="1755890" y="5239230"/>
                <a:ext cx="298220" cy="240340"/>
              </a:xfrm>
              <a:custGeom>
                <a:avLst/>
                <a:gdLst>
                  <a:gd name="connsiteX0" fmla="*/ 205376 w 586505"/>
                  <a:gd name="connsiteY0" fmla="*/ 414381 h 472676"/>
                  <a:gd name="connsiteX1" fmla="*/ 381205 w 586505"/>
                  <a:gd name="connsiteY1" fmla="*/ 414381 h 472676"/>
                  <a:gd name="connsiteX2" fmla="*/ 440224 w 586505"/>
                  <a:gd name="connsiteY2" fmla="*/ 472676 h 472676"/>
                  <a:gd name="connsiteX3" fmla="*/ 146971 w 586505"/>
                  <a:gd name="connsiteY3" fmla="*/ 472676 h 472676"/>
                  <a:gd name="connsiteX4" fmla="*/ 360870 w 586505"/>
                  <a:gd name="connsiteY4" fmla="*/ 179226 h 472676"/>
                  <a:gd name="connsiteX5" fmla="*/ 397120 w 586505"/>
                  <a:gd name="connsiteY5" fmla="*/ 215427 h 472676"/>
                  <a:gd name="connsiteX6" fmla="*/ 360870 w 586505"/>
                  <a:gd name="connsiteY6" fmla="*/ 251628 h 472676"/>
                  <a:gd name="connsiteX7" fmla="*/ 324620 w 586505"/>
                  <a:gd name="connsiteY7" fmla="*/ 215427 h 472676"/>
                  <a:gd name="connsiteX8" fmla="*/ 360870 w 586505"/>
                  <a:gd name="connsiteY8" fmla="*/ 179226 h 472676"/>
                  <a:gd name="connsiteX9" fmla="*/ 344895 w 586505"/>
                  <a:gd name="connsiteY9" fmla="*/ 111709 h 472676"/>
                  <a:gd name="connsiteX10" fmla="*/ 338132 w 586505"/>
                  <a:gd name="connsiteY10" fmla="*/ 147309 h 472676"/>
                  <a:gd name="connsiteX11" fmla="*/ 328295 w 586505"/>
                  <a:gd name="connsiteY11" fmla="*/ 150992 h 472676"/>
                  <a:gd name="connsiteX12" fmla="*/ 298171 w 586505"/>
                  <a:gd name="connsiteY12" fmla="*/ 131350 h 472676"/>
                  <a:gd name="connsiteX13" fmla="*/ 276654 w 586505"/>
                  <a:gd name="connsiteY13" fmla="*/ 152833 h 472676"/>
                  <a:gd name="connsiteX14" fmla="*/ 296327 w 586505"/>
                  <a:gd name="connsiteY14" fmla="*/ 182909 h 472676"/>
                  <a:gd name="connsiteX15" fmla="*/ 292023 w 586505"/>
                  <a:gd name="connsiteY15" fmla="*/ 192729 h 472676"/>
                  <a:gd name="connsiteX16" fmla="*/ 256980 w 586505"/>
                  <a:gd name="connsiteY16" fmla="*/ 200095 h 472676"/>
                  <a:gd name="connsiteX17" fmla="*/ 256980 w 586505"/>
                  <a:gd name="connsiteY17" fmla="*/ 230784 h 472676"/>
                  <a:gd name="connsiteX18" fmla="*/ 292023 w 586505"/>
                  <a:gd name="connsiteY18" fmla="*/ 238149 h 472676"/>
                  <a:gd name="connsiteX19" fmla="*/ 296327 w 586505"/>
                  <a:gd name="connsiteY19" fmla="*/ 247970 h 472676"/>
                  <a:gd name="connsiteX20" fmla="*/ 276654 w 586505"/>
                  <a:gd name="connsiteY20" fmla="*/ 277432 h 472676"/>
                  <a:gd name="connsiteX21" fmla="*/ 298171 w 586505"/>
                  <a:gd name="connsiteY21" fmla="*/ 299528 h 472676"/>
                  <a:gd name="connsiteX22" fmla="*/ 328295 w 586505"/>
                  <a:gd name="connsiteY22" fmla="*/ 279887 h 472676"/>
                  <a:gd name="connsiteX23" fmla="*/ 338132 w 586505"/>
                  <a:gd name="connsiteY23" fmla="*/ 283570 h 472676"/>
                  <a:gd name="connsiteX24" fmla="*/ 344895 w 586505"/>
                  <a:gd name="connsiteY24" fmla="*/ 318556 h 472676"/>
                  <a:gd name="connsiteX25" fmla="*/ 376249 w 586505"/>
                  <a:gd name="connsiteY25" fmla="*/ 318556 h 472676"/>
                  <a:gd name="connsiteX26" fmla="*/ 383011 w 586505"/>
                  <a:gd name="connsiteY26" fmla="*/ 283570 h 472676"/>
                  <a:gd name="connsiteX27" fmla="*/ 393463 w 586505"/>
                  <a:gd name="connsiteY27" fmla="*/ 279887 h 472676"/>
                  <a:gd name="connsiteX28" fmla="*/ 422972 w 586505"/>
                  <a:gd name="connsiteY28" fmla="*/ 299528 h 472676"/>
                  <a:gd name="connsiteX29" fmla="*/ 445105 w 586505"/>
                  <a:gd name="connsiteY29" fmla="*/ 277432 h 472676"/>
                  <a:gd name="connsiteX30" fmla="*/ 425432 w 586505"/>
                  <a:gd name="connsiteY30" fmla="*/ 247970 h 472676"/>
                  <a:gd name="connsiteX31" fmla="*/ 429120 w 586505"/>
                  <a:gd name="connsiteY31" fmla="*/ 237536 h 472676"/>
                  <a:gd name="connsiteX32" fmla="*/ 464163 w 586505"/>
                  <a:gd name="connsiteY32" fmla="*/ 230784 h 472676"/>
                  <a:gd name="connsiteX33" fmla="*/ 464163 w 586505"/>
                  <a:gd name="connsiteY33" fmla="*/ 199481 h 472676"/>
                  <a:gd name="connsiteX34" fmla="*/ 429120 w 586505"/>
                  <a:gd name="connsiteY34" fmla="*/ 192729 h 472676"/>
                  <a:gd name="connsiteX35" fmla="*/ 425432 w 586505"/>
                  <a:gd name="connsiteY35" fmla="*/ 182909 h 472676"/>
                  <a:gd name="connsiteX36" fmla="*/ 445105 w 586505"/>
                  <a:gd name="connsiteY36" fmla="*/ 152833 h 472676"/>
                  <a:gd name="connsiteX37" fmla="*/ 422972 w 586505"/>
                  <a:gd name="connsiteY37" fmla="*/ 131350 h 472676"/>
                  <a:gd name="connsiteX38" fmla="*/ 393463 w 586505"/>
                  <a:gd name="connsiteY38" fmla="*/ 150992 h 472676"/>
                  <a:gd name="connsiteX39" fmla="*/ 383626 w 586505"/>
                  <a:gd name="connsiteY39" fmla="*/ 147309 h 472676"/>
                  <a:gd name="connsiteX40" fmla="*/ 376249 w 586505"/>
                  <a:gd name="connsiteY40" fmla="*/ 111709 h 472676"/>
                  <a:gd name="connsiteX41" fmla="*/ 195847 w 586505"/>
                  <a:gd name="connsiteY41" fmla="*/ 109193 h 472676"/>
                  <a:gd name="connsiteX42" fmla="*/ 221345 w 586505"/>
                  <a:gd name="connsiteY42" fmla="*/ 134691 h 472676"/>
                  <a:gd name="connsiteX43" fmla="*/ 195847 w 586505"/>
                  <a:gd name="connsiteY43" fmla="*/ 160189 h 472676"/>
                  <a:gd name="connsiteX44" fmla="*/ 170349 w 586505"/>
                  <a:gd name="connsiteY44" fmla="*/ 134691 h 472676"/>
                  <a:gd name="connsiteX45" fmla="*/ 195847 w 586505"/>
                  <a:gd name="connsiteY45" fmla="*/ 109193 h 472676"/>
                  <a:gd name="connsiteX46" fmla="*/ 187510 w 586505"/>
                  <a:gd name="connsiteY46" fmla="*/ 61993 h 472676"/>
                  <a:gd name="connsiteX47" fmla="*/ 165992 w 586505"/>
                  <a:gd name="connsiteY47" fmla="*/ 67517 h 472676"/>
                  <a:gd name="connsiteX48" fmla="*/ 167837 w 586505"/>
                  <a:gd name="connsiteY48" fmla="*/ 92682 h 472676"/>
                  <a:gd name="connsiteX49" fmla="*/ 161689 w 586505"/>
                  <a:gd name="connsiteY49" fmla="*/ 96978 h 472676"/>
                  <a:gd name="connsiteX50" fmla="*/ 137712 w 586505"/>
                  <a:gd name="connsiteY50" fmla="*/ 88999 h 472676"/>
                  <a:gd name="connsiteX51" fmla="*/ 127261 w 586505"/>
                  <a:gd name="connsiteY51" fmla="*/ 108027 h 472676"/>
                  <a:gd name="connsiteX52" fmla="*/ 145704 w 586505"/>
                  <a:gd name="connsiteY52" fmla="*/ 124599 h 472676"/>
                  <a:gd name="connsiteX53" fmla="*/ 145090 w 586505"/>
                  <a:gd name="connsiteY53" fmla="*/ 131964 h 472676"/>
                  <a:gd name="connsiteX54" fmla="*/ 122342 w 586505"/>
                  <a:gd name="connsiteY54" fmla="*/ 143012 h 472676"/>
                  <a:gd name="connsiteX55" fmla="*/ 127876 w 586505"/>
                  <a:gd name="connsiteY55" fmla="*/ 164495 h 472676"/>
                  <a:gd name="connsiteX56" fmla="*/ 153082 w 586505"/>
                  <a:gd name="connsiteY56" fmla="*/ 162654 h 472676"/>
                  <a:gd name="connsiteX57" fmla="*/ 158000 w 586505"/>
                  <a:gd name="connsiteY57" fmla="*/ 168791 h 472676"/>
                  <a:gd name="connsiteX58" fmla="*/ 150008 w 586505"/>
                  <a:gd name="connsiteY58" fmla="*/ 192729 h 472676"/>
                  <a:gd name="connsiteX59" fmla="*/ 168451 w 586505"/>
                  <a:gd name="connsiteY59" fmla="*/ 203164 h 472676"/>
                  <a:gd name="connsiteX60" fmla="*/ 185051 w 586505"/>
                  <a:gd name="connsiteY60" fmla="*/ 184750 h 472676"/>
                  <a:gd name="connsiteX61" fmla="*/ 192428 w 586505"/>
                  <a:gd name="connsiteY61" fmla="*/ 185364 h 472676"/>
                  <a:gd name="connsiteX62" fmla="*/ 204109 w 586505"/>
                  <a:gd name="connsiteY62" fmla="*/ 208074 h 472676"/>
                  <a:gd name="connsiteX63" fmla="*/ 225012 w 586505"/>
                  <a:gd name="connsiteY63" fmla="*/ 202550 h 472676"/>
                  <a:gd name="connsiteX64" fmla="*/ 223167 w 586505"/>
                  <a:gd name="connsiteY64" fmla="*/ 177385 h 472676"/>
                  <a:gd name="connsiteX65" fmla="*/ 229315 w 586505"/>
                  <a:gd name="connsiteY65" fmla="*/ 172474 h 472676"/>
                  <a:gd name="connsiteX66" fmla="*/ 253292 w 586505"/>
                  <a:gd name="connsiteY66" fmla="*/ 181067 h 472676"/>
                  <a:gd name="connsiteX67" fmla="*/ 264358 w 586505"/>
                  <a:gd name="connsiteY67" fmla="*/ 162040 h 472676"/>
                  <a:gd name="connsiteX68" fmla="*/ 245300 w 586505"/>
                  <a:gd name="connsiteY68" fmla="*/ 145468 h 472676"/>
                  <a:gd name="connsiteX69" fmla="*/ 246529 w 586505"/>
                  <a:gd name="connsiteY69" fmla="*/ 137488 h 472676"/>
                  <a:gd name="connsiteX70" fmla="*/ 268661 w 586505"/>
                  <a:gd name="connsiteY70" fmla="*/ 126440 h 472676"/>
                  <a:gd name="connsiteX71" fmla="*/ 263128 w 586505"/>
                  <a:gd name="connsiteY71" fmla="*/ 105571 h 472676"/>
                  <a:gd name="connsiteX72" fmla="*/ 237922 w 586505"/>
                  <a:gd name="connsiteY72" fmla="*/ 107413 h 472676"/>
                  <a:gd name="connsiteX73" fmla="*/ 233619 w 586505"/>
                  <a:gd name="connsiteY73" fmla="*/ 101275 h 472676"/>
                  <a:gd name="connsiteX74" fmla="*/ 241611 w 586505"/>
                  <a:gd name="connsiteY74" fmla="*/ 77337 h 472676"/>
                  <a:gd name="connsiteX75" fmla="*/ 222552 w 586505"/>
                  <a:gd name="connsiteY75" fmla="*/ 66289 h 472676"/>
                  <a:gd name="connsiteX76" fmla="*/ 205953 w 586505"/>
                  <a:gd name="connsiteY76" fmla="*/ 85316 h 472676"/>
                  <a:gd name="connsiteX77" fmla="*/ 198576 w 586505"/>
                  <a:gd name="connsiteY77" fmla="*/ 84703 h 472676"/>
                  <a:gd name="connsiteX78" fmla="*/ 0 w 586505"/>
                  <a:gd name="connsiteY78" fmla="*/ 0 h 472676"/>
                  <a:gd name="connsiteX79" fmla="*/ 586505 w 586505"/>
                  <a:gd name="connsiteY79" fmla="*/ 0 h 472676"/>
                  <a:gd name="connsiteX80" fmla="*/ 586505 w 586505"/>
                  <a:gd name="connsiteY80" fmla="*/ 380548 h 472676"/>
                  <a:gd name="connsiteX81" fmla="*/ 0 w 586505"/>
                  <a:gd name="connsiteY81" fmla="*/ 380548 h 472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86505" h="472676">
                    <a:moveTo>
                      <a:pt x="205376" y="414381"/>
                    </a:moveTo>
                    <a:lnTo>
                      <a:pt x="381205" y="414381"/>
                    </a:lnTo>
                    <a:lnTo>
                      <a:pt x="440224" y="472676"/>
                    </a:lnTo>
                    <a:lnTo>
                      <a:pt x="146971" y="472676"/>
                    </a:lnTo>
                    <a:close/>
                    <a:moveTo>
                      <a:pt x="360870" y="179226"/>
                    </a:moveTo>
                    <a:cubicBezTo>
                      <a:pt x="380890" y="179226"/>
                      <a:pt x="397120" y="195434"/>
                      <a:pt x="397120" y="215427"/>
                    </a:cubicBezTo>
                    <a:cubicBezTo>
                      <a:pt x="397120" y="235420"/>
                      <a:pt x="380890" y="251628"/>
                      <a:pt x="360870" y="251628"/>
                    </a:cubicBezTo>
                    <a:cubicBezTo>
                      <a:pt x="340850" y="251628"/>
                      <a:pt x="324620" y="235420"/>
                      <a:pt x="324620" y="215427"/>
                    </a:cubicBezTo>
                    <a:cubicBezTo>
                      <a:pt x="324620" y="195434"/>
                      <a:pt x="340850" y="179226"/>
                      <a:pt x="360870" y="179226"/>
                    </a:cubicBezTo>
                    <a:close/>
                    <a:moveTo>
                      <a:pt x="344895" y="111709"/>
                    </a:moveTo>
                    <a:lnTo>
                      <a:pt x="338132" y="147309"/>
                    </a:lnTo>
                    <a:cubicBezTo>
                      <a:pt x="334443" y="148536"/>
                      <a:pt x="331369" y="149150"/>
                      <a:pt x="328295" y="150992"/>
                    </a:cubicBezTo>
                    <a:lnTo>
                      <a:pt x="298171" y="131350"/>
                    </a:lnTo>
                    <a:lnTo>
                      <a:pt x="276654" y="152833"/>
                    </a:lnTo>
                    <a:lnTo>
                      <a:pt x="296327" y="182909"/>
                    </a:lnTo>
                    <a:cubicBezTo>
                      <a:pt x="294482" y="185978"/>
                      <a:pt x="293253" y="189046"/>
                      <a:pt x="292023" y="192729"/>
                    </a:cubicBezTo>
                    <a:lnTo>
                      <a:pt x="256980" y="200095"/>
                    </a:lnTo>
                    <a:lnTo>
                      <a:pt x="256980" y="230784"/>
                    </a:lnTo>
                    <a:lnTo>
                      <a:pt x="292023" y="238149"/>
                    </a:lnTo>
                    <a:cubicBezTo>
                      <a:pt x="293253" y="241218"/>
                      <a:pt x="294482" y="244901"/>
                      <a:pt x="296327" y="247970"/>
                    </a:cubicBezTo>
                    <a:lnTo>
                      <a:pt x="276654" y="277432"/>
                    </a:lnTo>
                    <a:lnTo>
                      <a:pt x="298171" y="299528"/>
                    </a:lnTo>
                    <a:lnTo>
                      <a:pt x="328295" y="279887"/>
                    </a:lnTo>
                    <a:cubicBezTo>
                      <a:pt x="331369" y="281115"/>
                      <a:pt x="334443" y="282342"/>
                      <a:pt x="338132" y="283570"/>
                    </a:cubicBezTo>
                    <a:lnTo>
                      <a:pt x="344895" y="318556"/>
                    </a:lnTo>
                    <a:lnTo>
                      <a:pt x="376249" y="318556"/>
                    </a:lnTo>
                    <a:lnTo>
                      <a:pt x="383011" y="283570"/>
                    </a:lnTo>
                    <a:cubicBezTo>
                      <a:pt x="386700" y="282342"/>
                      <a:pt x="390389" y="281115"/>
                      <a:pt x="393463" y="279887"/>
                    </a:cubicBezTo>
                    <a:lnTo>
                      <a:pt x="422972" y="299528"/>
                    </a:lnTo>
                    <a:lnTo>
                      <a:pt x="445105" y="277432"/>
                    </a:lnTo>
                    <a:lnTo>
                      <a:pt x="425432" y="247970"/>
                    </a:lnTo>
                    <a:cubicBezTo>
                      <a:pt x="426661" y="244901"/>
                      <a:pt x="427891" y="241218"/>
                      <a:pt x="429120" y="237536"/>
                    </a:cubicBezTo>
                    <a:lnTo>
                      <a:pt x="464163" y="230784"/>
                    </a:lnTo>
                    <a:lnTo>
                      <a:pt x="464163" y="199481"/>
                    </a:lnTo>
                    <a:lnTo>
                      <a:pt x="429120" y="192729"/>
                    </a:lnTo>
                    <a:cubicBezTo>
                      <a:pt x="428505" y="189046"/>
                      <a:pt x="426661" y="185978"/>
                      <a:pt x="425432" y="182909"/>
                    </a:cubicBezTo>
                    <a:lnTo>
                      <a:pt x="445105" y="152833"/>
                    </a:lnTo>
                    <a:lnTo>
                      <a:pt x="422972" y="131350"/>
                    </a:lnTo>
                    <a:lnTo>
                      <a:pt x="393463" y="150992"/>
                    </a:lnTo>
                    <a:cubicBezTo>
                      <a:pt x="390389" y="149150"/>
                      <a:pt x="386700" y="148536"/>
                      <a:pt x="383626" y="147309"/>
                    </a:cubicBezTo>
                    <a:lnTo>
                      <a:pt x="376249" y="111709"/>
                    </a:lnTo>
                    <a:close/>
                    <a:moveTo>
                      <a:pt x="195847" y="109193"/>
                    </a:moveTo>
                    <a:cubicBezTo>
                      <a:pt x="209929" y="109193"/>
                      <a:pt x="221345" y="120609"/>
                      <a:pt x="221345" y="134691"/>
                    </a:cubicBezTo>
                    <a:cubicBezTo>
                      <a:pt x="221345" y="148773"/>
                      <a:pt x="209929" y="160189"/>
                      <a:pt x="195847" y="160189"/>
                    </a:cubicBezTo>
                    <a:cubicBezTo>
                      <a:pt x="181765" y="160189"/>
                      <a:pt x="170349" y="148773"/>
                      <a:pt x="170349" y="134691"/>
                    </a:cubicBezTo>
                    <a:cubicBezTo>
                      <a:pt x="170349" y="120609"/>
                      <a:pt x="181765" y="109193"/>
                      <a:pt x="195847" y="109193"/>
                    </a:cubicBezTo>
                    <a:close/>
                    <a:moveTo>
                      <a:pt x="187510" y="61993"/>
                    </a:moveTo>
                    <a:lnTo>
                      <a:pt x="165992" y="67517"/>
                    </a:lnTo>
                    <a:lnTo>
                      <a:pt x="167837" y="92682"/>
                    </a:lnTo>
                    <a:cubicBezTo>
                      <a:pt x="165992" y="93909"/>
                      <a:pt x="163533" y="95751"/>
                      <a:pt x="161689" y="96978"/>
                    </a:cubicBezTo>
                    <a:lnTo>
                      <a:pt x="137712" y="88999"/>
                    </a:lnTo>
                    <a:lnTo>
                      <a:pt x="127261" y="108027"/>
                    </a:lnTo>
                    <a:lnTo>
                      <a:pt x="145704" y="124599"/>
                    </a:lnTo>
                    <a:cubicBezTo>
                      <a:pt x="145090" y="127054"/>
                      <a:pt x="145090" y="129509"/>
                      <a:pt x="145090" y="131964"/>
                    </a:cubicBezTo>
                    <a:lnTo>
                      <a:pt x="122342" y="143012"/>
                    </a:lnTo>
                    <a:lnTo>
                      <a:pt x="127876" y="164495"/>
                    </a:lnTo>
                    <a:lnTo>
                      <a:pt x="153082" y="162654"/>
                    </a:lnTo>
                    <a:cubicBezTo>
                      <a:pt x="154311" y="165109"/>
                      <a:pt x="156156" y="166950"/>
                      <a:pt x="158000" y="168791"/>
                    </a:cubicBezTo>
                    <a:lnTo>
                      <a:pt x="150008" y="192729"/>
                    </a:lnTo>
                    <a:lnTo>
                      <a:pt x="168451" y="203164"/>
                    </a:lnTo>
                    <a:lnTo>
                      <a:pt x="185051" y="184750"/>
                    </a:lnTo>
                    <a:cubicBezTo>
                      <a:pt x="187510" y="185364"/>
                      <a:pt x="189969" y="185364"/>
                      <a:pt x="192428" y="185364"/>
                    </a:cubicBezTo>
                    <a:lnTo>
                      <a:pt x="204109" y="208074"/>
                    </a:lnTo>
                    <a:lnTo>
                      <a:pt x="225012" y="202550"/>
                    </a:lnTo>
                    <a:lnTo>
                      <a:pt x="223167" y="177385"/>
                    </a:lnTo>
                    <a:cubicBezTo>
                      <a:pt x="225626" y="175543"/>
                      <a:pt x="227471" y="174316"/>
                      <a:pt x="229315" y="172474"/>
                    </a:cubicBezTo>
                    <a:lnTo>
                      <a:pt x="253292" y="181067"/>
                    </a:lnTo>
                    <a:lnTo>
                      <a:pt x="264358" y="162040"/>
                    </a:lnTo>
                    <a:lnTo>
                      <a:pt x="245300" y="145468"/>
                    </a:lnTo>
                    <a:cubicBezTo>
                      <a:pt x="245914" y="143012"/>
                      <a:pt x="245914" y="140557"/>
                      <a:pt x="246529" y="137488"/>
                    </a:cubicBezTo>
                    <a:lnTo>
                      <a:pt x="268661" y="126440"/>
                    </a:lnTo>
                    <a:lnTo>
                      <a:pt x="263128" y="105571"/>
                    </a:lnTo>
                    <a:lnTo>
                      <a:pt x="237922" y="107413"/>
                    </a:lnTo>
                    <a:cubicBezTo>
                      <a:pt x="236693" y="104958"/>
                      <a:pt x="235463" y="103116"/>
                      <a:pt x="233619" y="101275"/>
                    </a:cubicBezTo>
                    <a:lnTo>
                      <a:pt x="241611" y="77337"/>
                    </a:lnTo>
                    <a:lnTo>
                      <a:pt x="222552" y="66289"/>
                    </a:lnTo>
                    <a:lnTo>
                      <a:pt x="205953" y="85316"/>
                    </a:lnTo>
                    <a:cubicBezTo>
                      <a:pt x="203494" y="84703"/>
                      <a:pt x="201035" y="84703"/>
                      <a:pt x="198576" y="84703"/>
                    </a:cubicBezTo>
                    <a:close/>
                    <a:moveTo>
                      <a:pt x="0" y="0"/>
                    </a:moveTo>
                    <a:lnTo>
                      <a:pt x="586505" y="0"/>
                    </a:lnTo>
                    <a:lnTo>
                      <a:pt x="586505" y="380548"/>
                    </a:lnTo>
                    <a:lnTo>
                      <a:pt x="0" y="380548"/>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38" name="Number1" descr="3732660c-f637-4e01-a75f-5de69795b621">
                <a:extLst>
                  <a:ext uri="{FF2B5EF4-FFF2-40B4-BE49-F238E27FC236}">
                    <a16:creationId xmlns:a16="http://schemas.microsoft.com/office/drawing/2014/main" id="{27769B48-33FE-9DDF-8FEA-8950971C73D5}"/>
                  </a:ext>
                </a:extLst>
              </p:cNvPr>
              <p:cNvSpPr txBox="1"/>
              <p:nvPr/>
            </p:nvSpPr>
            <p:spPr>
              <a:xfrm>
                <a:off x="1684395" y="1955800"/>
                <a:ext cx="441210" cy="707886"/>
              </a:xfrm>
              <a:prstGeom prst="rect">
                <a:avLst/>
              </a:prstGeom>
              <a:noFill/>
            </p:spPr>
            <p:txBody>
              <a:bodyPr wrap="square" rtlCol="0" anchor="ctr" anchorCtr="0">
                <a:spAutoFit/>
              </a:bodyPr>
              <a:lstStyle/>
              <a:p>
                <a:pPr algn="ctr"/>
                <a:r>
                  <a:rPr lang="en-US" sz="4000" b="1" i="0" u="none">
                    <a:solidFill>
                      <a:srgbClr val="454545"/>
                    </a:solidFill>
                    <a:latin typeface="Arial"/>
                  </a:rPr>
                  <a:t>1</a:t>
                </a:r>
              </a:p>
            </p:txBody>
          </p:sp>
        </p:grpSp>
        <p:grpSp>
          <p:nvGrpSpPr>
            <p:cNvPr id="56" name="组合 55" descr="48b100b6-fa8f-4358-99ac-a47671d30b0d">
              <a:extLst>
                <a:ext uri="{FF2B5EF4-FFF2-40B4-BE49-F238E27FC236}">
                  <a16:creationId xmlns:a16="http://schemas.microsoft.com/office/drawing/2014/main" id="{CDD00388-3D00-E4AC-8191-AD4BCBC47312}"/>
                </a:ext>
              </a:extLst>
            </p:cNvPr>
            <p:cNvGrpSpPr/>
            <p:nvPr/>
          </p:nvGrpSpPr>
          <p:grpSpPr>
            <a:xfrm>
              <a:off x="3450167" y="1955800"/>
              <a:ext cx="2489200" cy="4279898"/>
              <a:chOff x="3450167" y="1955800"/>
              <a:chExt cx="2489200" cy="4279898"/>
            </a:xfrm>
          </p:grpSpPr>
          <p:sp>
            <p:nvSpPr>
              <p:cNvPr id="7" name="ComponentBackground2" descr="11862fb8-6d53-4721-8fca-0e899a1fc5ca">
                <a:extLst>
                  <a:ext uri="{FF2B5EF4-FFF2-40B4-BE49-F238E27FC236}">
                    <a16:creationId xmlns:a16="http://schemas.microsoft.com/office/drawing/2014/main" id="{BC8B3418-167E-3920-40B7-8F5ED8A09F43}"/>
                  </a:ext>
                </a:extLst>
              </p:cNvPr>
              <p:cNvSpPr/>
              <p:nvPr/>
            </p:nvSpPr>
            <p:spPr>
              <a:xfrm>
                <a:off x="3450167" y="1955800"/>
                <a:ext cx="2489200" cy="34036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4" name="Bullet2" descr="f1835f36-2b6f-442d-a0e5-a2023d8e0863">
                <a:extLst>
                  <a:ext uri="{FF2B5EF4-FFF2-40B4-BE49-F238E27FC236}">
                    <a16:creationId xmlns:a16="http://schemas.microsoft.com/office/drawing/2014/main" id="{34C31A51-C49F-8FBB-94EF-DE7CE6A67F03}"/>
                  </a:ext>
                </a:extLst>
              </p:cNvPr>
              <p:cNvSpPr>
                <a:spLocks/>
              </p:cNvSpPr>
              <p:nvPr/>
            </p:nvSpPr>
            <p:spPr>
              <a:xfrm>
                <a:off x="3551767" y="2597150"/>
                <a:ext cx="2286000" cy="901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2000" b="1" i="0" u="none" dirty="0" err="1">
                    <a:solidFill>
                      <a:srgbClr val="000000"/>
                    </a:solidFill>
                    <a:ea typeface="微软雅黑"/>
                  </a:rPr>
                  <a:t>策略驱动的模型调度</a:t>
                </a:r>
                <a:endParaRPr lang="en-US" sz="2000" b="1" i="0" u="none" dirty="0">
                  <a:solidFill>
                    <a:srgbClr val="000000"/>
                  </a:solidFill>
                  <a:ea typeface="微软雅黑"/>
                </a:endParaRPr>
              </a:p>
            </p:txBody>
          </p:sp>
          <p:sp>
            <p:nvSpPr>
              <p:cNvPr id="15" name="Text2" descr="29dff657-92b9-412b-9155-a59b7120d5c6">
                <a:extLst>
                  <a:ext uri="{FF2B5EF4-FFF2-40B4-BE49-F238E27FC236}">
                    <a16:creationId xmlns:a16="http://schemas.microsoft.com/office/drawing/2014/main" id="{2534EFF4-9F9F-A3F8-EDA3-2F4761BA3679}"/>
                  </a:ext>
                </a:extLst>
              </p:cNvPr>
              <p:cNvSpPr/>
              <p:nvPr/>
            </p:nvSpPr>
            <p:spPr>
              <a:xfrm>
                <a:off x="3551769" y="3839091"/>
                <a:ext cx="2285996" cy="23966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gn="l">
                  <a:lnSpc>
                    <a:spcPct val="120000"/>
                  </a:lnSpc>
                  <a:buFont typeface="Arial" panose="020B0604020202020204" pitchFamily="34" charset="0"/>
                  <a:buChar char="•"/>
                </a:pPr>
                <a:r>
                  <a:rPr lang="en-US" sz="2000" b="0" i="0" u="none">
                    <a:solidFill>
                      <a:srgbClr val="000000"/>
                    </a:solidFill>
                    <a:ea typeface="微软雅黑"/>
                  </a:rPr>
                  <a:t>根据模型类型、版本、性能指标动态选择最优模型执行。</a:t>
                </a:r>
              </a:p>
            </p:txBody>
          </p:sp>
          <p:sp>
            <p:nvSpPr>
              <p:cNvPr id="23" name="IconBackground2" descr="1b731ac2-2da9-4033-bdbf-942bec14f4ab">
                <a:extLst>
                  <a:ext uri="{FF2B5EF4-FFF2-40B4-BE49-F238E27FC236}">
                    <a16:creationId xmlns:a16="http://schemas.microsoft.com/office/drawing/2014/main" id="{CC41CC73-C101-8D4C-17E1-2E67A0FD40F8}"/>
                  </a:ext>
                </a:extLst>
              </p:cNvPr>
              <p:cNvSpPr/>
              <p:nvPr/>
            </p:nvSpPr>
            <p:spPr>
              <a:xfrm>
                <a:off x="4402667" y="5067300"/>
                <a:ext cx="584200" cy="584200"/>
              </a:xfrm>
              <a:prstGeom prst="ellipse">
                <a:avLst/>
              </a:prstGeom>
              <a:gradFill flip="none" rotWithShape="1">
                <a:gsLst>
                  <a:gs pos="50000">
                    <a:schemeClr val="accent2"/>
                  </a:gs>
                  <a:gs pos="100000">
                    <a:schemeClr val="accent2">
                      <a:lumMod val="60000"/>
                      <a:lumOff val="4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7" name="Icon2" descr="e271435a-228d-4977-acb1-772ca75e420c">
                <a:extLst>
                  <a:ext uri="{FF2B5EF4-FFF2-40B4-BE49-F238E27FC236}">
                    <a16:creationId xmlns:a16="http://schemas.microsoft.com/office/drawing/2014/main" id="{DE99BCAC-5C71-001B-6475-9D85737BF084}"/>
                  </a:ext>
                </a:extLst>
              </p:cNvPr>
              <p:cNvSpPr/>
              <p:nvPr/>
            </p:nvSpPr>
            <p:spPr>
              <a:xfrm>
                <a:off x="4545657" y="5244335"/>
                <a:ext cx="298220" cy="230130"/>
              </a:xfrm>
              <a:custGeom>
                <a:avLst/>
                <a:gdLst>
                  <a:gd name="connsiteX0" fmla="*/ 0 w 375288"/>
                  <a:gd name="connsiteY0" fmla="*/ 16184 h 289603"/>
                  <a:gd name="connsiteX1" fmla="*/ 189565 w 375288"/>
                  <a:gd name="connsiteY1" fmla="*/ 172448 h 289603"/>
                  <a:gd name="connsiteX2" fmla="*/ 375288 w 375288"/>
                  <a:gd name="connsiteY2" fmla="*/ 17134 h 289603"/>
                  <a:gd name="connsiteX3" fmla="*/ 375288 w 375288"/>
                  <a:gd name="connsiteY3" fmla="*/ 289603 h 289603"/>
                  <a:gd name="connsiteX4" fmla="*/ 0 w 375288"/>
                  <a:gd name="connsiteY4" fmla="*/ 289603 h 289603"/>
                  <a:gd name="connsiteX5" fmla="*/ 20050 w 375288"/>
                  <a:gd name="connsiteY5" fmla="*/ 0 h 289603"/>
                  <a:gd name="connsiteX6" fmla="*/ 355328 w 375288"/>
                  <a:gd name="connsiteY6" fmla="*/ 0 h 289603"/>
                  <a:gd name="connsiteX7" fmla="*/ 189588 w 375288"/>
                  <a:gd name="connsiteY7" fmla="*/ 139092 h 28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288" h="289603">
                    <a:moveTo>
                      <a:pt x="0" y="16184"/>
                    </a:moveTo>
                    <a:lnTo>
                      <a:pt x="189565" y="172448"/>
                    </a:lnTo>
                    <a:lnTo>
                      <a:pt x="375288" y="17134"/>
                    </a:lnTo>
                    <a:lnTo>
                      <a:pt x="375288" y="289603"/>
                    </a:lnTo>
                    <a:lnTo>
                      <a:pt x="0" y="289603"/>
                    </a:lnTo>
                    <a:close/>
                    <a:moveTo>
                      <a:pt x="20050" y="0"/>
                    </a:moveTo>
                    <a:lnTo>
                      <a:pt x="355328" y="0"/>
                    </a:lnTo>
                    <a:lnTo>
                      <a:pt x="189588" y="139092"/>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39" name="Number2" descr="01228408-8025-42b0-b867-ad3b15aeb61f">
                <a:extLst>
                  <a:ext uri="{FF2B5EF4-FFF2-40B4-BE49-F238E27FC236}">
                    <a16:creationId xmlns:a16="http://schemas.microsoft.com/office/drawing/2014/main" id="{89179D89-C65A-022A-A2D2-DDC41D6F5607}"/>
                  </a:ext>
                </a:extLst>
              </p:cNvPr>
              <p:cNvSpPr txBox="1"/>
              <p:nvPr/>
            </p:nvSpPr>
            <p:spPr>
              <a:xfrm>
                <a:off x="4474161" y="1955800"/>
                <a:ext cx="441210" cy="707886"/>
              </a:xfrm>
              <a:prstGeom prst="rect">
                <a:avLst/>
              </a:prstGeom>
              <a:noFill/>
            </p:spPr>
            <p:txBody>
              <a:bodyPr wrap="square" rtlCol="0" anchor="ctr" anchorCtr="0">
                <a:spAutoFit/>
              </a:bodyPr>
              <a:lstStyle/>
              <a:p>
                <a:pPr algn="ctr"/>
                <a:r>
                  <a:rPr lang="en-US" sz="4000" b="1" i="0" u="none">
                    <a:solidFill>
                      <a:srgbClr val="000000"/>
                    </a:solidFill>
                    <a:latin typeface="Arial"/>
                  </a:rPr>
                  <a:t>2</a:t>
                </a:r>
              </a:p>
            </p:txBody>
          </p:sp>
        </p:grpSp>
        <p:grpSp>
          <p:nvGrpSpPr>
            <p:cNvPr id="57" name="组合 56" descr="414ed798-60d5-445c-bd49-d90836dcf2d5">
              <a:extLst>
                <a:ext uri="{FF2B5EF4-FFF2-40B4-BE49-F238E27FC236}">
                  <a16:creationId xmlns:a16="http://schemas.microsoft.com/office/drawing/2014/main" id="{38C2758B-3269-EFA2-2CCE-02C6AFE3C9E6}"/>
                </a:ext>
              </a:extLst>
            </p:cNvPr>
            <p:cNvGrpSpPr/>
            <p:nvPr/>
          </p:nvGrpSpPr>
          <p:grpSpPr>
            <a:xfrm>
              <a:off x="6239934" y="1955800"/>
              <a:ext cx="2489200" cy="4279898"/>
              <a:chOff x="6239934" y="1955800"/>
              <a:chExt cx="2489200" cy="4279898"/>
            </a:xfrm>
          </p:grpSpPr>
          <p:sp>
            <p:nvSpPr>
              <p:cNvPr id="8" name="ComponentBackground3" descr="ccb920ff-b5a5-4ffd-aa23-be449352aef1">
                <a:extLst>
                  <a:ext uri="{FF2B5EF4-FFF2-40B4-BE49-F238E27FC236}">
                    <a16:creationId xmlns:a16="http://schemas.microsoft.com/office/drawing/2014/main" id="{A62AED75-F2E3-2A68-4E07-A7484FF28AB5}"/>
                  </a:ext>
                </a:extLst>
              </p:cNvPr>
              <p:cNvSpPr/>
              <p:nvPr/>
            </p:nvSpPr>
            <p:spPr>
              <a:xfrm>
                <a:off x="6239934" y="1955800"/>
                <a:ext cx="2489200" cy="3403600"/>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7" name="Bullet3" descr="44d53cdf-25ca-4872-9fb2-7d3ddce286c7">
                <a:extLst>
                  <a:ext uri="{FF2B5EF4-FFF2-40B4-BE49-F238E27FC236}">
                    <a16:creationId xmlns:a16="http://schemas.microsoft.com/office/drawing/2014/main" id="{E19F0134-3357-06EB-5FEC-B94A5DE8926F}"/>
                  </a:ext>
                </a:extLst>
              </p:cNvPr>
              <p:cNvSpPr>
                <a:spLocks/>
              </p:cNvSpPr>
              <p:nvPr/>
            </p:nvSpPr>
            <p:spPr>
              <a:xfrm>
                <a:off x="6341534" y="2597150"/>
                <a:ext cx="2286000" cy="901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2000" b="1" i="0" u="none">
                    <a:solidFill>
                      <a:srgbClr val="000000"/>
                    </a:solidFill>
                    <a:ea typeface="微软雅黑"/>
                  </a:rPr>
                  <a:t>模型元数据驱动的自动化</a:t>
                </a:r>
              </a:p>
            </p:txBody>
          </p:sp>
          <p:sp>
            <p:nvSpPr>
              <p:cNvPr id="18" name="Text3" descr="1f13e3cd-4b96-493e-9179-d4dd9574574f">
                <a:extLst>
                  <a:ext uri="{FF2B5EF4-FFF2-40B4-BE49-F238E27FC236}">
                    <a16:creationId xmlns:a16="http://schemas.microsoft.com/office/drawing/2014/main" id="{50FCCE8A-B86E-073A-B580-C15DD2FA6F23}"/>
                  </a:ext>
                </a:extLst>
              </p:cNvPr>
              <p:cNvSpPr/>
              <p:nvPr/>
            </p:nvSpPr>
            <p:spPr>
              <a:xfrm>
                <a:off x="6341536" y="3839091"/>
                <a:ext cx="2285996" cy="23966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gn="l">
                  <a:lnSpc>
                    <a:spcPct val="120000"/>
                  </a:lnSpc>
                  <a:buFont typeface="Arial" panose="020B0604020202020204" pitchFamily="34" charset="0"/>
                  <a:buChar char="•"/>
                </a:pPr>
                <a:r>
                  <a:rPr lang="en-US" sz="2000" b="0" i="0" u="none" dirty="0" err="1">
                    <a:solidFill>
                      <a:srgbClr val="000000"/>
                    </a:solidFill>
                    <a:ea typeface="微软雅黑"/>
                  </a:rPr>
                  <a:t>利用元数据自动配置推理环境、资源分配与监控策略</a:t>
                </a:r>
                <a:r>
                  <a:rPr lang="en-US" sz="2000" b="0" i="0" u="none" dirty="0">
                    <a:solidFill>
                      <a:srgbClr val="000000"/>
                    </a:solidFill>
                    <a:ea typeface="微软雅黑"/>
                  </a:rPr>
                  <a:t>。</a:t>
                </a:r>
              </a:p>
            </p:txBody>
          </p:sp>
          <p:sp>
            <p:nvSpPr>
              <p:cNvPr id="24" name="IconBackground3" descr="0b7d47fe-e371-4e28-a682-8f8e979627e7">
                <a:extLst>
                  <a:ext uri="{FF2B5EF4-FFF2-40B4-BE49-F238E27FC236}">
                    <a16:creationId xmlns:a16="http://schemas.microsoft.com/office/drawing/2014/main" id="{76AB53FD-B568-976A-136E-E745173D7E54}"/>
                  </a:ext>
                </a:extLst>
              </p:cNvPr>
              <p:cNvSpPr/>
              <p:nvPr/>
            </p:nvSpPr>
            <p:spPr>
              <a:xfrm>
                <a:off x="7192434" y="5067300"/>
                <a:ext cx="584200" cy="584200"/>
              </a:xfrm>
              <a:prstGeom prst="ellipse">
                <a:avLst/>
              </a:prstGeom>
              <a:gradFill flip="none" rotWithShape="1">
                <a:gsLst>
                  <a:gs pos="50000">
                    <a:schemeClr val="accent3"/>
                  </a:gs>
                  <a:gs pos="100000">
                    <a:schemeClr val="accent3">
                      <a:lumMod val="60000"/>
                      <a:lumOff val="4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8" name="Icon3" descr="5eccc16b-18a3-4688-a16d-bd91b00e140c">
                <a:extLst>
                  <a:ext uri="{FF2B5EF4-FFF2-40B4-BE49-F238E27FC236}">
                    <a16:creationId xmlns:a16="http://schemas.microsoft.com/office/drawing/2014/main" id="{8DEA5556-0CFA-551B-AEE9-9368A9F25157}"/>
                  </a:ext>
                </a:extLst>
              </p:cNvPr>
              <p:cNvSpPr/>
              <p:nvPr/>
            </p:nvSpPr>
            <p:spPr>
              <a:xfrm>
                <a:off x="7395694" y="5210290"/>
                <a:ext cx="177680" cy="298220"/>
              </a:xfrm>
              <a:custGeom>
                <a:avLst/>
                <a:gdLst>
                  <a:gd name="T0" fmla="*/ 819 w 1639"/>
                  <a:gd name="T1" fmla="*/ 0 h 2755"/>
                  <a:gd name="T2" fmla="*/ 819 w 1639"/>
                  <a:gd name="T3" fmla="*/ 0 h 2755"/>
                  <a:gd name="T4" fmla="*/ 0 w 1639"/>
                  <a:gd name="T5" fmla="*/ 819 h 2755"/>
                  <a:gd name="T6" fmla="*/ 0 w 1639"/>
                  <a:gd name="T7" fmla="*/ 1935 h 2755"/>
                  <a:gd name="T8" fmla="*/ 819 w 1639"/>
                  <a:gd name="T9" fmla="*/ 2755 h 2755"/>
                  <a:gd name="T10" fmla="*/ 819 w 1639"/>
                  <a:gd name="T11" fmla="*/ 2755 h 2755"/>
                  <a:gd name="T12" fmla="*/ 1639 w 1639"/>
                  <a:gd name="T13" fmla="*/ 1935 h 2755"/>
                  <a:gd name="T14" fmla="*/ 1639 w 1639"/>
                  <a:gd name="T15" fmla="*/ 819 h 2755"/>
                  <a:gd name="T16" fmla="*/ 819 w 1639"/>
                  <a:gd name="T17" fmla="*/ 0 h 2755"/>
                  <a:gd name="T18" fmla="*/ 927 w 1639"/>
                  <a:gd name="T19" fmla="*/ 867 h 2755"/>
                  <a:gd name="T20" fmla="*/ 819 w 1639"/>
                  <a:gd name="T21" fmla="*/ 975 h 2755"/>
                  <a:gd name="T22" fmla="*/ 819 w 1639"/>
                  <a:gd name="T23" fmla="*/ 975 h 2755"/>
                  <a:gd name="T24" fmla="*/ 712 w 1639"/>
                  <a:gd name="T25" fmla="*/ 867 h 2755"/>
                  <a:gd name="T26" fmla="*/ 712 w 1639"/>
                  <a:gd name="T27" fmla="*/ 495 h 2755"/>
                  <a:gd name="T28" fmla="*/ 819 w 1639"/>
                  <a:gd name="T29" fmla="*/ 388 h 2755"/>
                  <a:gd name="T30" fmla="*/ 819 w 1639"/>
                  <a:gd name="T31" fmla="*/ 388 h 2755"/>
                  <a:gd name="T32" fmla="*/ 927 w 1639"/>
                  <a:gd name="T33" fmla="*/ 495 h 2755"/>
                  <a:gd name="T34" fmla="*/ 927 w 1639"/>
                  <a:gd name="T35" fmla="*/ 867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39" h="2755">
                    <a:moveTo>
                      <a:pt x="819" y="0"/>
                    </a:moveTo>
                    <a:lnTo>
                      <a:pt x="819" y="0"/>
                    </a:lnTo>
                    <a:cubicBezTo>
                      <a:pt x="367" y="0"/>
                      <a:pt x="0" y="367"/>
                      <a:pt x="0" y="819"/>
                    </a:cubicBezTo>
                    <a:lnTo>
                      <a:pt x="0" y="1935"/>
                    </a:lnTo>
                    <a:cubicBezTo>
                      <a:pt x="0" y="2388"/>
                      <a:pt x="367" y="2755"/>
                      <a:pt x="819" y="2755"/>
                    </a:cubicBezTo>
                    <a:lnTo>
                      <a:pt x="819" y="2755"/>
                    </a:lnTo>
                    <a:cubicBezTo>
                      <a:pt x="1272" y="2755"/>
                      <a:pt x="1639" y="2388"/>
                      <a:pt x="1639" y="1935"/>
                    </a:cubicBezTo>
                    <a:lnTo>
                      <a:pt x="1639" y="819"/>
                    </a:lnTo>
                    <a:cubicBezTo>
                      <a:pt x="1639" y="367"/>
                      <a:pt x="1272" y="0"/>
                      <a:pt x="819" y="0"/>
                    </a:cubicBezTo>
                    <a:close/>
                    <a:moveTo>
                      <a:pt x="927" y="867"/>
                    </a:moveTo>
                    <a:cubicBezTo>
                      <a:pt x="927" y="927"/>
                      <a:pt x="879" y="975"/>
                      <a:pt x="819" y="975"/>
                    </a:cubicBezTo>
                    <a:lnTo>
                      <a:pt x="819" y="975"/>
                    </a:lnTo>
                    <a:cubicBezTo>
                      <a:pt x="760" y="975"/>
                      <a:pt x="712" y="927"/>
                      <a:pt x="712" y="867"/>
                    </a:cubicBezTo>
                    <a:lnTo>
                      <a:pt x="712" y="495"/>
                    </a:lnTo>
                    <a:cubicBezTo>
                      <a:pt x="712" y="436"/>
                      <a:pt x="760" y="388"/>
                      <a:pt x="819" y="388"/>
                    </a:cubicBezTo>
                    <a:lnTo>
                      <a:pt x="819" y="388"/>
                    </a:lnTo>
                    <a:cubicBezTo>
                      <a:pt x="879" y="388"/>
                      <a:pt x="927" y="436"/>
                      <a:pt x="927" y="495"/>
                    </a:cubicBezTo>
                    <a:lnTo>
                      <a:pt x="927" y="86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40" name="Number3" descr="5004e32f-c8c3-4302-b76b-2b0fdd964e57">
                <a:extLst>
                  <a:ext uri="{FF2B5EF4-FFF2-40B4-BE49-F238E27FC236}">
                    <a16:creationId xmlns:a16="http://schemas.microsoft.com/office/drawing/2014/main" id="{5A0684D9-384C-23A8-A94F-13A13DA930AF}"/>
                  </a:ext>
                </a:extLst>
              </p:cNvPr>
              <p:cNvSpPr txBox="1"/>
              <p:nvPr/>
            </p:nvSpPr>
            <p:spPr>
              <a:xfrm>
                <a:off x="7263927" y="1955800"/>
                <a:ext cx="441210" cy="707886"/>
              </a:xfrm>
              <a:prstGeom prst="rect">
                <a:avLst/>
              </a:prstGeom>
              <a:noFill/>
            </p:spPr>
            <p:txBody>
              <a:bodyPr wrap="square" rtlCol="0" anchor="ctr" anchorCtr="0">
                <a:spAutoFit/>
              </a:bodyPr>
              <a:lstStyle/>
              <a:p>
                <a:pPr algn="ctr"/>
                <a:r>
                  <a:rPr lang="en-US" sz="4000" b="1" i="0" u="none">
                    <a:solidFill>
                      <a:srgbClr val="5D5D5D"/>
                    </a:solidFill>
                    <a:latin typeface="Arial"/>
                  </a:rPr>
                  <a:t>3</a:t>
                </a:r>
              </a:p>
            </p:txBody>
          </p:sp>
        </p:grpSp>
        <p:grpSp>
          <p:nvGrpSpPr>
            <p:cNvPr id="58" name="组合 57" descr="9105cda6-ad6a-4935-87cb-a9dd9a017e69">
              <a:extLst>
                <a:ext uri="{FF2B5EF4-FFF2-40B4-BE49-F238E27FC236}">
                  <a16:creationId xmlns:a16="http://schemas.microsoft.com/office/drawing/2014/main" id="{929877EE-BF6C-52EB-2696-F764AF788D55}"/>
                </a:ext>
              </a:extLst>
            </p:cNvPr>
            <p:cNvGrpSpPr/>
            <p:nvPr/>
          </p:nvGrpSpPr>
          <p:grpSpPr>
            <a:xfrm>
              <a:off x="9029700" y="1955800"/>
              <a:ext cx="2489200" cy="4279898"/>
              <a:chOff x="9029700" y="1955800"/>
              <a:chExt cx="2489200" cy="4279898"/>
            </a:xfrm>
          </p:grpSpPr>
          <p:sp>
            <p:nvSpPr>
              <p:cNvPr id="9" name="ComponentBackground4" descr="4213d5d3-9443-403d-9004-ac592f541032">
                <a:extLst>
                  <a:ext uri="{FF2B5EF4-FFF2-40B4-BE49-F238E27FC236}">
                    <a16:creationId xmlns:a16="http://schemas.microsoft.com/office/drawing/2014/main" id="{957785F9-CA63-0A53-8EDA-8A0DFABD7E69}"/>
                  </a:ext>
                </a:extLst>
              </p:cNvPr>
              <p:cNvSpPr/>
              <p:nvPr/>
            </p:nvSpPr>
            <p:spPr>
              <a:xfrm>
                <a:off x="9029700" y="1955800"/>
                <a:ext cx="2489200" cy="3403600"/>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0" name="Bullet4" descr="c6d01795-b8a7-4cbd-a990-df6a9af79e44">
                <a:extLst>
                  <a:ext uri="{FF2B5EF4-FFF2-40B4-BE49-F238E27FC236}">
                    <a16:creationId xmlns:a16="http://schemas.microsoft.com/office/drawing/2014/main" id="{D252589C-9394-0668-A10C-B83409AC39CC}"/>
                  </a:ext>
                </a:extLst>
              </p:cNvPr>
              <p:cNvSpPr>
                <a:spLocks/>
              </p:cNvSpPr>
              <p:nvPr/>
            </p:nvSpPr>
            <p:spPr>
              <a:xfrm>
                <a:off x="9131300" y="2597150"/>
                <a:ext cx="2286000" cy="901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2000" b="1" i="0" u="none" dirty="0" err="1">
                    <a:solidFill>
                      <a:srgbClr val="000000"/>
                    </a:solidFill>
                    <a:ea typeface="微软雅黑"/>
                  </a:rPr>
                  <a:t>多模型A</a:t>
                </a:r>
                <a:r>
                  <a:rPr lang="en-US" sz="2000" b="1" i="0" u="none" dirty="0">
                    <a:solidFill>
                      <a:srgbClr val="000000"/>
                    </a:solidFill>
                    <a:ea typeface="微软雅黑"/>
                  </a:rPr>
                  <a:t>/</a:t>
                </a:r>
                <a:r>
                  <a:rPr lang="en-US" sz="2000" b="1" i="0" u="none" dirty="0" err="1">
                    <a:solidFill>
                      <a:srgbClr val="000000"/>
                    </a:solidFill>
                    <a:ea typeface="微软雅黑"/>
                  </a:rPr>
                  <a:t>B测试与对比分析</a:t>
                </a:r>
                <a:endParaRPr lang="en-US" sz="2000" b="1" i="0" u="none" dirty="0">
                  <a:solidFill>
                    <a:srgbClr val="000000"/>
                  </a:solidFill>
                  <a:ea typeface="微软雅黑"/>
                </a:endParaRPr>
              </a:p>
            </p:txBody>
          </p:sp>
          <p:sp>
            <p:nvSpPr>
              <p:cNvPr id="21" name="Text4" descr="1f996d4d-ac32-454d-98cd-c7431a9340df">
                <a:extLst>
                  <a:ext uri="{FF2B5EF4-FFF2-40B4-BE49-F238E27FC236}">
                    <a16:creationId xmlns:a16="http://schemas.microsoft.com/office/drawing/2014/main" id="{F4B553B4-DF08-74F2-9D1A-FB09239BC3FF}"/>
                  </a:ext>
                </a:extLst>
              </p:cNvPr>
              <p:cNvSpPr/>
              <p:nvPr/>
            </p:nvSpPr>
            <p:spPr>
              <a:xfrm>
                <a:off x="9131302" y="3839091"/>
                <a:ext cx="2285996" cy="23966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gn="l">
                  <a:lnSpc>
                    <a:spcPct val="120000"/>
                  </a:lnSpc>
                  <a:buFont typeface="Arial" panose="020B0604020202020204" pitchFamily="34" charset="0"/>
                  <a:buChar char="•"/>
                </a:pPr>
                <a:r>
                  <a:rPr lang="en-US" sz="2000" b="0" i="0" u="none">
                    <a:solidFill>
                      <a:srgbClr val="000000"/>
                    </a:solidFill>
                    <a:ea typeface="微软雅黑"/>
                  </a:rPr>
                  <a:t>支持不同模型在相同数据集上的性能对比与选择。</a:t>
                </a:r>
              </a:p>
            </p:txBody>
          </p:sp>
          <p:sp>
            <p:nvSpPr>
              <p:cNvPr id="25" name="IconBackground4" descr="bfdaea2f-647b-4d11-bbc7-53e1a3606323">
                <a:extLst>
                  <a:ext uri="{FF2B5EF4-FFF2-40B4-BE49-F238E27FC236}">
                    <a16:creationId xmlns:a16="http://schemas.microsoft.com/office/drawing/2014/main" id="{923FA84E-9523-DB86-633E-2898431D0419}"/>
                  </a:ext>
                </a:extLst>
              </p:cNvPr>
              <p:cNvSpPr/>
              <p:nvPr/>
            </p:nvSpPr>
            <p:spPr>
              <a:xfrm>
                <a:off x="9982201" y="5067300"/>
                <a:ext cx="584200" cy="584200"/>
              </a:xfrm>
              <a:prstGeom prst="ellipse">
                <a:avLst/>
              </a:prstGeom>
              <a:gradFill flip="none" rotWithShape="1">
                <a:gsLst>
                  <a:gs pos="50000">
                    <a:schemeClr val="accent4"/>
                  </a:gs>
                  <a:gs pos="100000">
                    <a:schemeClr val="accent4">
                      <a:lumMod val="60000"/>
                      <a:lumOff val="4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9" name="Icon4" descr="21596472-7ad8-43a3-a92b-0e909a658281">
                <a:extLst>
                  <a:ext uri="{FF2B5EF4-FFF2-40B4-BE49-F238E27FC236}">
                    <a16:creationId xmlns:a16="http://schemas.microsoft.com/office/drawing/2014/main" id="{7B380D73-D53C-EDC4-4000-5A8DEDF15433}"/>
                  </a:ext>
                </a:extLst>
              </p:cNvPr>
              <p:cNvSpPr/>
              <p:nvPr/>
            </p:nvSpPr>
            <p:spPr>
              <a:xfrm>
                <a:off x="10125191" y="5210498"/>
                <a:ext cx="298220" cy="297804"/>
              </a:xfrm>
              <a:custGeom>
                <a:avLst/>
                <a:gdLst>
                  <a:gd name="connsiteX0" fmla="*/ 171723 w 608697"/>
                  <a:gd name="connsiteY0" fmla="*/ 489435 h 607851"/>
                  <a:gd name="connsiteX1" fmla="*/ 154566 w 608697"/>
                  <a:gd name="connsiteY1" fmla="*/ 495651 h 607851"/>
                  <a:gd name="connsiteX2" fmla="*/ 183414 w 608697"/>
                  <a:gd name="connsiteY2" fmla="*/ 515059 h 607851"/>
                  <a:gd name="connsiteX3" fmla="*/ 171723 w 608697"/>
                  <a:gd name="connsiteY3" fmla="*/ 489435 h 607851"/>
                  <a:gd name="connsiteX4" fmla="*/ 273906 w 608697"/>
                  <a:gd name="connsiteY4" fmla="*/ 468359 h 607851"/>
                  <a:gd name="connsiteX5" fmla="*/ 231089 w 608697"/>
                  <a:gd name="connsiteY5" fmla="*/ 473969 h 607851"/>
                  <a:gd name="connsiteX6" fmla="*/ 273906 w 608697"/>
                  <a:gd name="connsiteY6" fmla="*/ 535679 h 607851"/>
                  <a:gd name="connsiteX7" fmla="*/ 494986 w 608697"/>
                  <a:gd name="connsiteY7" fmla="*/ 467158 h 607851"/>
                  <a:gd name="connsiteX8" fmla="*/ 469328 w 608697"/>
                  <a:gd name="connsiteY8" fmla="*/ 492781 h 607851"/>
                  <a:gd name="connsiteX9" fmla="*/ 479197 w 608697"/>
                  <a:gd name="connsiteY9" fmla="*/ 512794 h 607851"/>
                  <a:gd name="connsiteX10" fmla="*/ 479197 w 608697"/>
                  <a:gd name="connsiteY10" fmla="*/ 539478 h 607851"/>
                  <a:gd name="connsiteX11" fmla="*/ 494986 w 608697"/>
                  <a:gd name="connsiteY11" fmla="*/ 555246 h 607851"/>
                  <a:gd name="connsiteX12" fmla="*/ 510776 w 608697"/>
                  <a:gd name="connsiteY12" fmla="*/ 539478 h 607851"/>
                  <a:gd name="connsiteX13" fmla="*/ 510776 w 608697"/>
                  <a:gd name="connsiteY13" fmla="*/ 512794 h 607851"/>
                  <a:gd name="connsiteX14" fmla="*/ 520493 w 608697"/>
                  <a:gd name="connsiteY14" fmla="*/ 492781 h 607851"/>
                  <a:gd name="connsiteX15" fmla="*/ 494986 w 608697"/>
                  <a:gd name="connsiteY15" fmla="*/ 467158 h 607851"/>
                  <a:gd name="connsiteX16" fmla="*/ 494986 w 608697"/>
                  <a:gd name="connsiteY16" fmla="*/ 361332 h 607851"/>
                  <a:gd name="connsiteX17" fmla="*/ 460674 w 608697"/>
                  <a:gd name="connsiteY17" fmla="*/ 395596 h 607851"/>
                  <a:gd name="connsiteX18" fmla="*/ 460674 w 608697"/>
                  <a:gd name="connsiteY18" fmla="*/ 426374 h 607851"/>
                  <a:gd name="connsiteX19" fmla="*/ 529147 w 608697"/>
                  <a:gd name="connsiteY19" fmla="*/ 426374 h 607851"/>
                  <a:gd name="connsiteX20" fmla="*/ 529147 w 608697"/>
                  <a:gd name="connsiteY20" fmla="*/ 395596 h 607851"/>
                  <a:gd name="connsiteX21" fmla="*/ 494986 w 608697"/>
                  <a:gd name="connsiteY21" fmla="*/ 361332 h 607851"/>
                  <a:gd name="connsiteX22" fmla="*/ 200571 w 608697"/>
                  <a:gd name="connsiteY22" fmla="*/ 334174 h 607851"/>
                  <a:gd name="connsiteX23" fmla="*/ 212110 w 608697"/>
                  <a:gd name="connsiteY23" fmla="*/ 416050 h 607851"/>
                  <a:gd name="connsiteX24" fmla="*/ 273906 w 608697"/>
                  <a:gd name="connsiteY24" fmla="*/ 407862 h 607851"/>
                  <a:gd name="connsiteX25" fmla="*/ 273906 w 608697"/>
                  <a:gd name="connsiteY25" fmla="*/ 334174 h 607851"/>
                  <a:gd name="connsiteX26" fmla="*/ 62555 w 608697"/>
                  <a:gd name="connsiteY26" fmla="*/ 334174 h 607851"/>
                  <a:gd name="connsiteX27" fmla="*/ 109016 w 608697"/>
                  <a:gd name="connsiteY27" fmla="*/ 449103 h 607851"/>
                  <a:gd name="connsiteX28" fmla="*/ 153503 w 608697"/>
                  <a:gd name="connsiteY28" fmla="*/ 431667 h 607851"/>
                  <a:gd name="connsiteX29" fmla="*/ 139838 w 608697"/>
                  <a:gd name="connsiteY29" fmla="*/ 334174 h 607851"/>
                  <a:gd name="connsiteX30" fmla="*/ 494986 w 608697"/>
                  <a:gd name="connsiteY30" fmla="*/ 321002 h 607851"/>
                  <a:gd name="connsiteX31" fmla="*/ 569533 w 608697"/>
                  <a:gd name="connsiteY31" fmla="*/ 395596 h 607851"/>
                  <a:gd name="connsiteX32" fmla="*/ 569533 w 608697"/>
                  <a:gd name="connsiteY32" fmla="*/ 427890 h 607851"/>
                  <a:gd name="connsiteX33" fmla="*/ 578339 w 608697"/>
                  <a:gd name="connsiteY33" fmla="*/ 427890 h 607851"/>
                  <a:gd name="connsiteX34" fmla="*/ 594584 w 608697"/>
                  <a:gd name="connsiteY34" fmla="*/ 444113 h 607851"/>
                  <a:gd name="connsiteX35" fmla="*/ 594584 w 608697"/>
                  <a:gd name="connsiteY35" fmla="*/ 578291 h 607851"/>
                  <a:gd name="connsiteX36" fmla="*/ 578339 w 608697"/>
                  <a:gd name="connsiteY36" fmla="*/ 594514 h 607851"/>
                  <a:gd name="connsiteX37" fmla="*/ 411482 w 608697"/>
                  <a:gd name="connsiteY37" fmla="*/ 594514 h 607851"/>
                  <a:gd name="connsiteX38" fmla="*/ 395237 w 608697"/>
                  <a:gd name="connsiteY38" fmla="*/ 578291 h 607851"/>
                  <a:gd name="connsiteX39" fmla="*/ 395237 w 608697"/>
                  <a:gd name="connsiteY39" fmla="*/ 444113 h 607851"/>
                  <a:gd name="connsiteX40" fmla="*/ 411482 w 608697"/>
                  <a:gd name="connsiteY40" fmla="*/ 427890 h 607851"/>
                  <a:gd name="connsiteX41" fmla="*/ 420440 w 608697"/>
                  <a:gd name="connsiteY41" fmla="*/ 427890 h 607851"/>
                  <a:gd name="connsiteX42" fmla="*/ 420440 w 608697"/>
                  <a:gd name="connsiteY42" fmla="*/ 395596 h 607851"/>
                  <a:gd name="connsiteX43" fmla="*/ 494986 w 608697"/>
                  <a:gd name="connsiteY43" fmla="*/ 321002 h 607851"/>
                  <a:gd name="connsiteX44" fmla="*/ 393854 w 608697"/>
                  <a:gd name="connsiteY44" fmla="*/ 192256 h 607851"/>
                  <a:gd name="connsiteX45" fmla="*/ 334639 w 608697"/>
                  <a:gd name="connsiteY45" fmla="*/ 199989 h 607851"/>
                  <a:gd name="connsiteX46" fmla="*/ 334639 w 608697"/>
                  <a:gd name="connsiteY46" fmla="*/ 273525 h 607851"/>
                  <a:gd name="connsiteX47" fmla="*/ 405393 w 608697"/>
                  <a:gd name="connsiteY47" fmla="*/ 273525 h 607851"/>
                  <a:gd name="connsiteX48" fmla="*/ 393854 w 608697"/>
                  <a:gd name="connsiteY48" fmla="*/ 192256 h 607851"/>
                  <a:gd name="connsiteX49" fmla="*/ 212110 w 608697"/>
                  <a:gd name="connsiteY49" fmla="*/ 191801 h 607851"/>
                  <a:gd name="connsiteX50" fmla="*/ 200571 w 608697"/>
                  <a:gd name="connsiteY50" fmla="*/ 273525 h 607851"/>
                  <a:gd name="connsiteX51" fmla="*/ 273906 w 608697"/>
                  <a:gd name="connsiteY51" fmla="*/ 273525 h 607851"/>
                  <a:gd name="connsiteX52" fmla="*/ 273906 w 608697"/>
                  <a:gd name="connsiteY52" fmla="*/ 199989 h 607851"/>
                  <a:gd name="connsiteX53" fmla="*/ 212110 w 608697"/>
                  <a:gd name="connsiteY53" fmla="*/ 191801 h 607851"/>
                  <a:gd name="connsiteX54" fmla="*/ 499681 w 608697"/>
                  <a:gd name="connsiteY54" fmla="*/ 158748 h 607851"/>
                  <a:gd name="connsiteX55" fmla="*/ 452613 w 608697"/>
                  <a:gd name="connsiteY55" fmla="*/ 177094 h 607851"/>
                  <a:gd name="connsiteX56" fmla="*/ 466126 w 608697"/>
                  <a:gd name="connsiteY56" fmla="*/ 273525 h 607851"/>
                  <a:gd name="connsiteX57" fmla="*/ 545990 w 608697"/>
                  <a:gd name="connsiteY57" fmla="*/ 273525 h 607851"/>
                  <a:gd name="connsiteX58" fmla="*/ 499681 w 608697"/>
                  <a:gd name="connsiteY58" fmla="*/ 158748 h 607851"/>
                  <a:gd name="connsiteX59" fmla="*/ 109016 w 608697"/>
                  <a:gd name="connsiteY59" fmla="*/ 158748 h 607851"/>
                  <a:gd name="connsiteX60" fmla="*/ 62555 w 608697"/>
                  <a:gd name="connsiteY60" fmla="*/ 273525 h 607851"/>
                  <a:gd name="connsiteX61" fmla="*/ 139838 w 608697"/>
                  <a:gd name="connsiteY61" fmla="*/ 273525 h 607851"/>
                  <a:gd name="connsiteX62" fmla="*/ 153503 w 608697"/>
                  <a:gd name="connsiteY62" fmla="*/ 176184 h 607851"/>
                  <a:gd name="connsiteX63" fmla="*/ 109016 w 608697"/>
                  <a:gd name="connsiteY63" fmla="*/ 158748 h 607851"/>
                  <a:gd name="connsiteX64" fmla="*/ 183414 w 608697"/>
                  <a:gd name="connsiteY64" fmla="*/ 92792 h 607851"/>
                  <a:gd name="connsiteX65" fmla="*/ 154566 w 608697"/>
                  <a:gd name="connsiteY65" fmla="*/ 112200 h 607851"/>
                  <a:gd name="connsiteX66" fmla="*/ 171723 w 608697"/>
                  <a:gd name="connsiteY66" fmla="*/ 118416 h 607851"/>
                  <a:gd name="connsiteX67" fmla="*/ 183414 w 608697"/>
                  <a:gd name="connsiteY67" fmla="*/ 92792 h 607851"/>
                  <a:gd name="connsiteX68" fmla="*/ 421487 w 608697"/>
                  <a:gd name="connsiteY68" fmla="*/ 90670 h 607851"/>
                  <a:gd name="connsiteX69" fmla="*/ 434545 w 608697"/>
                  <a:gd name="connsiteY69" fmla="*/ 119326 h 607851"/>
                  <a:gd name="connsiteX70" fmla="*/ 454131 w 608697"/>
                  <a:gd name="connsiteY70" fmla="*/ 112200 h 607851"/>
                  <a:gd name="connsiteX71" fmla="*/ 421487 w 608697"/>
                  <a:gd name="connsiteY71" fmla="*/ 90670 h 607851"/>
                  <a:gd name="connsiteX72" fmla="*/ 334639 w 608697"/>
                  <a:gd name="connsiteY72" fmla="*/ 74294 h 607851"/>
                  <a:gd name="connsiteX73" fmla="*/ 334639 w 608697"/>
                  <a:gd name="connsiteY73" fmla="*/ 139492 h 607851"/>
                  <a:gd name="connsiteX74" fmla="*/ 375027 w 608697"/>
                  <a:gd name="connsiteY74" fmla="*/ 134337 h 607851"/>
                  <a:gd name="connsiteX75" fmla="*/ 334639 w 608697"/>
                  <a:gd name="connsiteY75" fmla="*/ 74294 h 607851"/>
                  <a:gd name="connsiteX76" fmla="*/ 273906 w 608697"/>
                  <a:gd name="connsiteY76" fmla="*/ 72172 h 607851"/>
                  <a:gd name="connsiteX77" fmla="*/ 231089 w 608697"/>
                  <a:gd name="connsiteY77" fmla="*/ 133882 h 607851"/>
                  <a:gd name="connsiteX78" fmla="*/ 273906 w 608697"/>
                  <a:gd name="connsiteY78" fmla="*/ 139492 h 607851"/>
                  <a:gd name="connsiteX79" fmla="*/ 303058 w 608697"/>
                  <a:gd name="connsiteY79" fmla="*/ 0 h 607851"/>
                  <a:gd name="connsiteX80" fmla="*/ 304273 w 608697"/>
                  <a:gd name="connsiteY80" fmla="*/ 0 h 607851"/>
                  <a:gd name="connsiteX81" fmla="*/ 608697 w 608697"/>
                  <a:gd name="connsiteY81" fmla="*/ 303850 h 607851"/>
                  <a:gd name="connsiteX82" fmla="*/ 603838 w 608697"/>
                  <a:gd name="connsiteY82" fmla="*/ 358282 h 607851"/>
                  <a:gd name="connsiteX83" fmla="*/ 567550 w 608697"/>
                  <a:gd name="connsiteY83" fmla="*/ 306427 h 607851"/>
                  <a:gd name="connsiteX84" fmla="*/ 494974 w 608697"/>
                  <a:gd name="connsiteY84" fmla="*/ 280651 h 607851"/>
                  <a:gd name="connsiteX85" fmla="*/ 397650 w 608697"/>
                  <a:gd name="connsiteY85" fmla="*/ 334174 h 607851"/>
                  <a:gd name="connsiteX86" fmla="*/ 334639 w 608697"/>
                  <a:gd name="connsiteY86" fmla="*/ 334174 h 607851"/>
                  <a:gd name="connsiteX87" fmla="*/ 334639 w 608697"/>
                  <a:gd name="connsiteY87" fmla="*/ 407862 h 607851"/>
                  <a:gd name="connsiteX88" fmla="*/ 365613 w 608697"/>
                  <a:gd name="connsiteY88" fmla="*/ 410895 h 607851"/>
                  <a:gd name="connsiteX89" fmla="*/ 354833 w 608697"/>
                  <a:gd name="connsiteY89" fmla="*/ 444100 h 607851"/>
                  <a:gd name="connsiteX90" fmla="*/ 354833 w 608697"/>
                  <a:gd name="connsiteY90" fmla="*/ 470330 h 607851"/>
                  <a:gd name="connsiteX91" fmla="*/ 334639 w 608697"/>
                  <a:gd name="connsiteY91" fmla="*/ 468359 h 607851"/>
                  <a:gd name="connsiteX92" fmla="*/ 334639 w 608697"/>
                  <a:gd name="connsiteY92" fmla="*/ 533557 h 607851"/>
                  <a:gd name="connsiteX93" fmla="*/ 354833 w 608697"/>
                  <a:gd name="connsiteY93" fmla="*/ 510662 h 607851"/>
                  <a:gd name="connsiteX94" fmla="*/ 354833 w 608697"/>
                  <a:gd name="connsiteY94" fmla="*/ 578285 h 607851"/>
                  <a:gd name="connsiteX95" fmla="*/ 356503 w 608697"/>
                  <a:gd name="connsiteY95" fmla="*/ 592386 h 607851"/>
                  <a:gd name="connsiteX96" fmla="*/ 360299 w 608697"/>
                  <a:gd name="connsiteY96" fmla="*/ 602696 h 607851"/>
                  <a:gd name="connsiteX97" fmla="*/ 303058 w 608697"/>
                  <a:gd name="connsiteY97" fmla="*/ 607851 h 607851"/>
                  <a:gd name="connsiteX98" fmla="*/ 0 w 608697"/>
                  <a:gd name="connsiteY98" fmla="*/ 303850 h 607851"/>
                  <a:gd name="connsiteX99" fmla="*/ 303058 w 608697"/>
                  <a:gd name="connsiteY99"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608697" h="607851">
                    <a:moveTo>
                      <a:pt x="171723" y="489435"/>
                    </a:moveTo>
                    <a:cubicBezTo>
                      <a:pt x="165953" y="491406"/>
                      <a:pt x="160335" y="493377"/>
                      <a:pt x="154566" y="495651"/>
                    </a:cubicBezTo>
                    <a:cubicBezTo>
                      <a:pt x="163676" y="502777"/>
                      <a:pt x="173393" y="509297"/>
                      <a:pt x="183414" y="515059"/>
                    </a:cubicBezTo>
                    <a:cubicBezTo>
                      <a:pt x="179466" y="507174"/>
                      <a:pt x="175670" y="499138"/>
                      <a:pt x="171723" y="489435"/>
                    </a:cubicBezTo>
                    <a:close/>
                    <a:moveTo>
                      <a:pt x="273906" y="468359"/>
                    </a:moveTo>
                    <a:cubicBezTo>
                      <a:pt x="259634" y="469421"/>
                      <a:pt x="245362" y="471240"/>
                      <a:pt x="231089" y="473969"/>
                    </a:cubicBezTo>
                    <a:cubicBezTo>
                      <a:pt x="240807" y="495954"/>
                      <a:pt x="255079" y="520972"/>
                      <a:pt x="273906" y="535679"/>
                    </a:cubicBezTo>
                    <a:close/>
                    <a:moveTo>
                      <a:pt x="494986" y="467158"/>
                    </a:moveTo>
                    <a:cubicBezTo>
                      <a:pt x="480867" y="467158"/>
                      <a:pt x="469328" y="478681"/>
                      <a:pt x="469328" y="492781"/>
                    </a:cubicBezTo>
                    <a:cubicBezTo>
                      <a:pt x="469328" y="500968"/>
                      <a:pt x="473275" y="508094"/>
                      <a:pt x="479197" y="512794"/>
                    </a:cubicBezTo>
                    <a:lnTo>
                      <a:pt x="479197" y="539478"/>
                    </a:lnTo>
                    <a:cubicBezTo>
                      <a:pt x="479197" y="548272"/>
                      <a:pt x="486181" y="555246"/>
                      <a:pt x="494986" y="555246"/>
                    </a:cubicBezTo>
                    <a:cubicBezTo>
                      <a:pt x="503640" y="555246"/>
                      <a:pt x="510776" y="548272"/>
                      <a:pt x="510776" y="539478"/>
                    </a:cubicBezTo>
                    <a:lnTo>
                      <a:pt x="510776" y="512794"/>
                    </a:lnTo>
                    <a:cubicBezTo>
                      <a:pt x="516697" y="508094"/>
                      <a:pt x="520493" y="500968"/>
                      <a:pt x="520493" y="492781"/>
                    </a:cubicBezTo>
                    <a:cubicBezTo>
                      <a:pt x="520493" y="478681"/>
                      <a:pt x="509106" y="467158"/>
                      <a:pt x="494986" y="467158"/>
                    </a:cubicBezTo>
                    <a:close/>
                    <a:moveTo>
                      <a:pt x="494986" y="361332"/>
                    </a:moveTo>
                    <a:cubicBezTo>
                      <a:pt x="476160" y="361332"/>
                      <a:pt x="460674" y="376645"/>
                      <a:pt x="460674" y="395596"/>
                    </a:cubicBezTo>
                    <a:lnTo>
                      <a:pt x="460674" y="426374"/>
                    </a:lnTo>
                    <a:lnTo>
                      <a:pt x="529147" y="426374"/>
                    </a:lnTo>
                    <a:lnTo>
                      <a:pt x="529147" y="395596"/>
                    </a:lnTo>
                    <a:cubicBezTo>
                      <a:pt x="529147" y="376645"/>
                      <a:pt x="513813" y="361332"/>
                      <a:pt x="494986" y="361332"/>
                    </a:cubicBezTo>
                    <a:close/>
                    <a:moveTo>
                      <a:pt x="200571" y="334174"/>
                    </a:moveTo>
                    <a:cubicBezTo>
                      <a:pt x="202241" y="362982"/>
                      <a:pt x="206189" y="390577"/>
                      <a:pt x="212110" y="416050"/>
                    </a:cubicBezTo>
                    <a:cubicBezTo>
                      <a:pt x="232608" y="411956"/>
                      <a:pt x="253257" y="409227"/>
                      <a:pt x="273906" y="407862"/>
                    </a:cubicBezTo>
                    <a:lnTo>
                      <a:pt x="273906" y="334174"/>
                    </a:lnTo>
                    <a:close/>
                    <a:moveTo>
                      <a:pt x="62555" y="334174"/>
                    </a:moveTo>
                    <a:cubicBezTo>
                      <a:pt x="68021" y="376931"/>
                      <a:pt x="84419" y="416201"/>
                      <a:pt x="109016" y="449103"/>
                    </a:cubicBezTo>
                    <a:cubicBezTo>
                      <a:pt x="123440" y="442584"/>
                      <a:pt x="138320" y="436670"/>
                      <a:pt x="153503" y="431667"/>
                    </a:cubicBezTo>
                    <a:cubicBezTo>
                      <a:pt x="146215" y="401191"/>
                      <a:pt x="141508" y="368289"/>
                      <a:pt x="139838" y="334174"/>
                    </a:cubicBezTo>
                    <a:close/>
                    <a:moveTo>
                      <a:pt x="494986" y="321002"/>
                    </a:moveTo>
                    <a:cubicBezTo>
                      <a:pt x="536131" y="321002"/>
                      <a:pt x="569533" y="354509"/>
                      <a:pt x="569533" y="395596"/>
                    </a:cubicBezTo>
                    <a:lnTo>
                      <a:pt x="569533" y="427890"/>
                    </a:lnTo>
                    <a:lnTo>
                      <a:pt x="578339" y="427890"/>
                    </a:lnTo>
                    <a:cubicBezTo>
                      <a:pt x="587296" y="427890"/>
                      <a:pt x="594584" y="435168"/>
                      <a:pt x="594584" y="444113"/>
                    </a:cubicBezTo>
                    <a:lnTo>
                      <a:pt x="594584" y="578291"/>
                    </a:lnTo>
                    <a:cubicBezTo>
                      <a:pt x="594584" y="587388"/>
                      <a:pt x="587296" y="594514"/>
                      <a:pt x="578339" y="594514"/>
                    </a:cubicBezTo>
                    <a:lnTo>
                      <a:pt x="411482" y="594514"/>
                    </a:lnTo>
                    <a:cubicBezTo>
                      <a:pt x="402525" y="594514"/>
                      <a:pt x="395237" y="587388"/>
                      <a:pt x="395237" y="578291"/>
                    </a:cubicBezTo>
                    <a:lnTo>
                      <a:pt x="395237" y="444113"/>
                    </a:lnTo>
                    <a:cubicBezTo>
                      <a:pt x="395237" y="435168"/>
                      <a:pt x="402525" y="427890"/>
                      <a:pt x="411482" y="427890"/>
                    </a:cubicBezTo>
                    <a:lnTo>
                      <a:pt x="420440" y="427890"/>
                    </a:lnTo>
                    <a:lnTo>
                      <a:pt x="420440" y="395596"/>
                    </a:lnTo>
                    <a:cubicBezTo>
                      <a:pt x="420440" y="354357"/>
                      <a:pt x="453842" y="321002"/>
                      <a:pt x="494986" y="321002"/>
                    </a:cubicBezTo>
                    <a:close/>
                    <a:moveTo>
                      <a:pt x="393854" y="192256"/>
                    </a:moveTo>
                    <a:cubicBezTo>
                      <a:pt x="374419" y="196047"/>
                      <a:pt x="354529" y="198624"/>
                      <a:pt x="334639" y="199989"/>
                    </a:cubicBezTo>
                    <a:lnTo>
                      <a:pt x="334639" y="273525"/>
                    </a:lnTo>
                    <a:lnTo>
                      <a:pt x="405393" y="273525"/>
                    </a:lnTo>
                    <a:cubicBezTo>
                      <a:pt x="403723" y="245020"/>
                      <a:pt x="399927" y="217577"/>
                      <a:pt x="393854" y="192256"/>
                    </a:cubicBezTo>
                    <a:close/>
                    <a:moveTo>
                      <a:pt x="212110" y="191801"/>
                    </a:moveTo>
                    <a:cubicBezTo>
                      <a:pt x="206189" y="217274"/>
                      <a:pt x="202241" y="244869"/>
                      <a:pt x="200571" y="273525"/>
                    </a:cubicBezTo>
                    <a:lnTo>
                      <a:pt x="273906" y="273525"/>
                    </a:lnTo>
                    <a:lnTo>
                      <a:pt x="273906" y="199989"/>
                    </a:lnTo>
                    <a:cubicBezTo>
                      <a:pt x="253257" y="198624"/>
                      <a:pt x="232608" y="195895"/>
                      <a:pt x="212110" y="191801"/>
                    </a:cubicBezTo>
                    <a:close/>
                    <a:moveTo>
                      <a:pt x="499681" y="158748"/>
                    </a:moveTo>
                    <a:cubicBezTo>
                      <a:pt x="484346" y="165722"/>
                      <a:pt x="468707" y="171787"/>
                      <a:pt x="452613" y="177094"/>
                    </a:cubicBezTo>
                    <a:cubicBezTo>
                      <a:pt x="459901" y="207267"/>
                      <a:pt x="464456" y="239865"/>
                      <a:pt x="466126" y="273525"/>
                    </a:cubicBezTo>
                    <a:lnTo>
                      <a:pt x="545990" y="273525"/>
                    </a:lnTo>
                    <a:cubicBezTo>
                      <a:pt x="540676" y="230920"/>
                      <a:pt x="524278" y="191650"/>
                      <a:pt x="499681" y="158748"/>
                    </a:cubicBezTo>
                    <a:close/>
                    <a:moveTo>
                      <a:pt x="109016" y="158748"/>
                    </a:moveTo>
                    <a:cubicBezTo>
                      <a:pt x="84419" y="191650"/>
                      <a:pt x="68021" y="230920"/>
                      <a:pt x="62555" y="273525"/>
                    </a:cubicBezTo>
                    <a:lnTo>
                      <a:pt x="139838" y="273525"/>
                    </a:lnTo>
                    <a:cubicBezTo>
                      <a:pt x="141508" y="239562"/>
                      <a:pt x="146215" y="206660"/>
                      <a:pt x="153503" y="176184"/>
                    </a:cubicBezTo>
                    <a:cubicBezTo>
                      <a:pt x="138320" y="171181"/>
                      <a:pt x="123440" y="165267"/>
                      <a:pt x="109016" y="158748"/>
                    </a:cubicBezTo>
                    <a:close/>
                    <a:moveTo>
                      <a:pt x="183414" y="92792"/>
                    </a:moveTo>
                    <a:cubicBezTo>
                      <a:pt x="173393" y="98554"/>
                      <a:pt x="163676" y="105074"/>
                      <a:pt x="154566" y="112200"/>
                    </a:cubicBezTo>
                    <a:cubicBezTo>
                      <a:pt x="160335" y="114474"/>
                      <a:pt x="165953" y="116445"/>
                      <a:pt x="171723" y="118416"/>
                    </a:cubicBezTo>
                    <a:cubicBezTo>
                      <a:pt x="175670" y="108561"/>
                      <a:pt x="179466" y="100525"/>
                      <a:pt x="183414" y="92792"/>
                    </a:cubicBezTo>
                    <a:close/>
                    <a:moveTo>
                      <a:pt x="421487" y="90670"/>
                    </a:moveTo>
                    <a:cubicBezTo>
                      <a:pt x="425891" y="99160"/>
                      <a:pt x="430142" y="108409"/>
                      <a:pt x="434545" y="119326"/>
                    </a:cubicBezTo>
                    <a:cubicBezTo>
                      <a:pt x="441074" y="117052"/>
                      <a:pt x="447603" y="114777"/>
                      <a:pt x="454131" y="112200"/>
                    </a:cubicBezTo>
                    <a:cubicBezTo>
                      <a:pt x="443807" y="104164"/>
                      <a:pt x="433027" y="97038"/>
                      <a:pt x="421487" y="90670"/>
                    </a:cubicBezTo>
                    <a:close/>
                    <a:moveTo>
                      <a:pt x="334639" y="74294"/>
                    </a:moveTo>
                    <a:lnTo>
                      <a:pt x="334639" y="139492"/>
                    </a:lnTo>
                    <a:cubicBezTo>
                      <a:pt x="348152" y="138430"/>
                      <a:pt x="361665" y="136763"/>
                      <a:pt x="375027" y="134337"/>
                    </a:cubicBezTo>
                    <a:cubicBezTo>
                      <a:pt x="361210" y="102344"/>
                      <a:pt x="346482" y="84301"/>
                      <a:pt x="334639" y="74294"/>
                    </a:cubicBezTo>
                    <a:close/>
                    <a:moveTo>
                      <a:pt x="273906" y="72172"/>
                    </a:moveTo>
                    <a:cubicBezTo>
                      <a:pt x="255079" y="86727"/>
                      <a:pt x="240807" y="111897"/>
                      <a:pt x="231089" y="133882"/>
                    </a:cubicBezTo>
                    <a:cubicBezTo>
                      <a:pt x="245362" y="136459"/>
                      <a:pt x="259634" y="138430"/>
                      <a:pt x="273906" y="139492"/>
                    </a:cubicBezTo>
                    <a:close/>
                    <a:moveTo>
                      <a:pt x="303058" y="0"/>
                    </a:moveTo>
                    <a:lnTo>
                      <a:pt x="304273" y="0"/>
                    </a:lnTo>
                    <a:cubicBezTo>
                      <a:pt x="472199" y="0"/>
                      <a:pt x="608697" y="136308"/>
                      <a:pt x="608697" y="303850"/>
                    </a:cubicBezTo>
                    <a:cubicBezTo>
                      <a:pt x="608697" y="322499"/>
                      <a:pt x="607027" y="340694"/>
                      <a:pt x="603838" y="358282"/>
                    </a:cubicBezTo>
                    <a:cubicBezTo>
                      <a:pt x="596702" y="337813"/>
                      <a:pt x="584100" y="319921"/>
                      <a:pt x="567550" y="306427"/>
                    </a:cubicBezTo>
                    <a:cubicBezTo>
                      <a:pt x="547660" y="290355"/>
                      <a:pt x="522456" y="280651"/>
                      <a:pt x="494974" y="280651"/>
                    </a:cubicBezTo>
                    <a:cubicBezTo>
                      <a:pt x="453980" y="280651"/>
                      <a:pt x="418147" y="302030"/>
                      <a:pt x="397650" y="334174"/>
                    </a:cubicBezTo>
                    <a:lnTo>
                      <a:pt x="334639" y="334174"/>
                    </a:lnTo>
                    <a:lnTo>
                      <a:pt x="334639" y="407862"/>
                    </a:lnTo>
                    <a:cubicBezTo>
                      <a:pt x="344964" y="408620"/>
                      <a:pt x="355288" y="409682"/>
                      <a:pt x="365613" y="410895"/>
                    </a:cubicBezTo>
                    <a:cubicBezTo>
                      <a:pt x="358780" y="420295"/>
                      <a:pt x="354833" y="431818"/>
                      <a:pt x="354833" y="444100"/>
                    </a:cubicBezTo>
                    <a:lnTo>
                      <a:pt x="354833" y="470330"/>
                    </a:lnTo>
                    <a:cubicBezTo>
                      <a:pt x="348152" y="469572"/>
                      <a:pt x="341472" y="468966"/>
                      <a:pt x="334639" y="468359"/>
                    </a:cubicBezTo>
                    <a:lnTo>
                      <a:pt x="334639" y="533557"/>
                    </a:lnTo>
                    <a:cubicBezTo>
                      <a:pt x="341623" y="527643"/>
                      <a:pt x="348304" y="520062"/>
                      <a:pt x="354833" y="510662"/>
                    </a:cubicBezTo>
                    <a:lnTo>
                      <a:pt x="354833" y="578285"/>
                    </a:lnTo>
                    <a:cubicBezTo>
                      <a:pt x="354833" y="583137"/>
                      <a:pt x="355440" y="587837"/>
                      <a:pt x="356503" y="592386"/>
                    </a:cubicBezTo>
                    <a:cubicBezTo>
                      <a:pt x="357414" y="596025"/>
                      <a:pt x="358780" y="599360"/>
                      <a:pt x="360299" y="602696"/>
                    </a:cubicBezTo>
                    <a:cubicBezTo>
                      <a:pt x="340561" y="606335"/>
                      <a:pt x="322189" y="607851"/>
                      <a:pt x="303058" y="607851"/>
                    </a:cubicBezTo>
                    <a:cubicBezTo>
                      <a:pt x="138016" y="607851"/>
                      <a:pt x="0" y="472453"/>
                      <a:pt x="0" y="303850"/>
                    </a:cubicBezTo>
                    <a:cubicBezTo>
                      <a:pt x="0" y="134943"/>
                      <a:pt x="138471" y="0"/>
                      <a:pt x="303058"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41" name="Number4" descr="4ba1956e-3731-456a-8d45-0e13abda473d">
                <a:extLst>
                  <a:ext uri="{FF2B5EF4-FFF2-40B4-BE49-F238E27FC236}">
                    <a16:creationId xmlns:a16="http://schemas.microsoft.com/office/drawing/2014/main" id="{C088F78B-3379-13A2-107A-21EEDCB41410}"/>
                  </a:ext>
                </a:extLst>
              </p:cNvPr>
              <p:cNvSpPr txBox="1"/>
              <p:nvPr/>
            </p:nvSpPr>
            <p:spPr>
              <a:xfrm>
                <a:off x="10053693" y="1955800"/>
                <a:ext cx="441210" cy="707886"/>
              </a:xfrm>
              <a:prstGeom prst="rect">
                <a:avLst/>
              </a:prstGeom>
              <a:noFill/>
            </p:spPr>
            <p:txBody>
              <a:bodyPr wrap="square" rtlCol="0" anchor="ctr" anchorCtr="0">
                <a:spAutoFit/>
              </a:bodyPr>
              <a:lstStyle/>
              <a:p>
                <a:pPr algn="ctr"/>
                <a:r>
                  <a:rPr lang="en-US" sz="4000" b="1" i="0" u="none">
                    <a:solidFill>
                      <a:srgbClr val="3B3334"/>
                    </a:solidFill>
                    <a:latin typeface="Arial"/>
                  </a:rPr>
                  <a:t>4</a:t>
                </a:r>
              </a:p>
            </p:txBody>
          </p:sp>
        </p:gr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altLang="zh-CN" sz="2800" b="1" dirty="0" err="1"/>
              <a:t>AI多模型支持与模型管理</a:t>
            </a:r>
            <a:r>
              <a:rPr lang="en-US" sz="2800" b="1" dirty="0" err="1"/>
              <a:t>未来发展趋势</a:t>
            </a:r>
            <a:endParaRPr lang="en-US" sz="2800" b="1" dirty="0"/>
          </a:p>
        </p:txBody>
      </p:sp>
      <p:grpSp>
        <p:nvGrpSpPr>
          <p:cNvPr id="24" name="4eda1e78-9da9-4086-8953-14b97d158819.source.5.zh-Hans.pptx" descr="ef411244-e672-4fb9-bb12-e8a7b2f0f964">
            <a:extLst>
              <a:ext uri="{FF2B5EF4-FFF2-40B4-BE49-F238E27FC236}">
                <a16:creationId xmlns:a16="http://schemas.microsoft.com/office/drawing/2014/main" id="{1AC64A2A-4494-6153-97E1-BA798A087F2C}"/>
              </a:ext>
            </a:extLst>
          </p:cNvPr>
          <p:cNvGrpSpPr/>
          <p:nvPr/>
        </p:nvGrpSpPr>
        <p:grpSpPr>
          <a:xfrm>
            <a:off x="1055329" y="1332320"/>
            <a:ext cx="10395935" cy="4972787"/>
            <a:chOff x="3194462" y="1130301"/>
            <a:chExt cx="8324438" cy="5003799"/>
          </a:xfrm>
        </p:grpSpPr>
        <p:cxnSp>
          <p:nvCxnSpPr>
            <p:cNvPr id="22" name="连接符: 肘形 21" descr="10defb52-3d8e-4b01-a865-3ef13548628f">
              <a:extLst>
                <a:ext uri="{FF2B5EF4-FFF2-40B4-BE49-F238E27FC236}">
                  <a16:creationId xmlns:a16="http://schemas.microsoft.com/office/drawing/2014/main" id="{8248E6E8-E15C-2F94-8AD1-92A4E5382141}"/>
                </a:ext>
              </a:extLst>
            </p:cNvPr>
            <p:cNvCxnSpPr>
              <a:cxnSpLocks/>
              <a:stCxn id="2" idx="3"/>
              <a:endCxn id="16" idx="3"/>
            </p:cNvCxnSpPr>
            <p:nvPr/>
          </p:nvCxnSpPr>
          <p:spPr>
            <a:xfrm>
              <a:off x="3194462" y="3632199"/>
              <a:ext cx="748146" cy="1792099"/>
            </a:xfrm>
            <a:prstGeom prst="bentConnector3">
              <a:avLst>
                <a:gd name="adj1" fmla="val 50000"/>
              </a:avLst>
            </a:prstGeom>
            <a:ln w="6350">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descr="bcb3fbf3-03e4-4e5b-bbb2-25a59cf9f47b">
              <a:extLst>
                <a:ext uri="{FF2B5EF4-FFF2-40B4-BE49-F238E27FC236}">
                  <a16:creationId xmlns:a16="http://schemas.microsoft.com/office/drawing/2014/main" id="{70B44C88-F02E-4500-6D37-325572E6E5DC}"/>
                </a:ext>
              </a:extLst>
            </p:cNvPr>
            <p:cNvCxnSpPr>
              <a:cxnSpLocks/>
              <a:stCxn id="2" idx="3"/>
              <a:endCxn id="4" idx="3"/>
            </p:cNvCxnSpPr>
            <p:nvPr/>
          </p:nvCxnSpPr>
          <p:spPr>
            <a:xfrm flipV="1">
              <a:off x="3194462" y="1343883"/>
              <a:ext cx="748146" cy="2288316"/>
            </a:xfrm>
            <a:prstGeom prst="bentConnector3">
              <a:avLst>
                <a:gd name="adj1" fmla="val 50000"/>
              </a:avLst>
            </a:prstGeom>
            <a:ln w="6350">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9" name="组合 18" descr="1e93ca94-a0e9-4402-918d-063c83211919">
              <a:extLst>
                <a:ext uri="{FF2B5EF4-FFF2-40B4-BE49-F238E27FC236}">
                  <a16:creationId xmlns:a16="http://schemas.microsoft.com/office/drawing/2014/main" id="{AC7A58B0-75E4-EDEC-CFF8-414BA10FCD28}"/>
                </a:ext>
              </a:extLst>
            </p:cNvPr>
            <p:cNvGrpSpPr/>
            <p:nvPr/>
          </p:nvGrpSpPr>
          <p:grpSpPr>
            <a:xfrm>
              <a:off x="3942608" y="1130301"/>
              <a:ext cx="7576292" cy="920564"/>
              <a:chOff x="2738740" y="1409022"/>
              <a:chExt cx="4063997" cy="1187011"/>
            </a:xfrm>
          </p:grpSpPr>
          <p:sp>
            <p:nvSpPr>
              <p:cNvPr id="4" name="Bullet1" descr="2262f09a-6091-4ab5-aa5b-2aabcae18e43">
                <a:extLst>
                  <a:ext uri="{FF2B5EF4-FFF2-40B4-BE49-F238E27FC236}">
                    <a16:creationId xmlns:a16="http://schemas.microsoft.com/office/drawing/2014/main" id="{E582D15D-8052-8F6F-D653-557A0DB77AE9}"/>
                  </a:ext>
                </a:extLst>
              </p:cNvPr>
              <p:cNvSpPr>
                <a:spLocks/>
              </p:cNvSpPr>
              <p:nvPr/>
            </p:nvSpPr>
            <p:spPr>
              <a:xfrm flipH="1">
                <a:off x="2738740" y="1409022"/>
                <a:ext cx="4063993" cy="550800"/>
              </a:xfrm>
              <a:prstGeom prst="roundRect">
                <a:avLst>
                  <a:gd name="adj" fmla="val 9201"/>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2000" b="1" i="0" u="none" dirty="0" err="1">
                    <a:solidFill>
                      <a:srgbClr val="000000"/>
                    </a:solidFill>
                    <a:ea typeface="微软雅黑"/>
                  </a:rPr>
                  <a:t>模型即服务（MaaS）架构普及</a:t>
                </a:r>
                <a:endParaRPr lang="en-US" sz="2000" b="1" i="0" u="none" dirty="0">
                  <a:solidFill>
                    <a:srgbClr val="000000"/>
                  </a:solidFill>
                  <a:ea typeface="微软雅黑"/>
                </a:endParaRPr>
              </a:p>
            </p:txBody>
          </p:sp>
          <p:sp>
            <p:nvSpPr>
              <p:cNvPr id="5" name="Text1" descr="382d2ecd-411b-42b1-b93a-a0ba4de6f3c5">
                <a:extLst>
                  <a:ext uri="{FF2B5EF4-FFF2-40B4-BE49-F238E27FC236}">
                    <a16:creationId xmlns:a16="http://schemas.microsoft.com/office/drawing/2014/main" id="{1E9E3D4F-7083-C5C3-2C72-3EC70FF4CC40}"/>
                  </a:ext>
                </a:extLst>
              </p:cNvPr>
              <p:cNvSpPr txBox="1">
                <a:spLocks/>
              </p:cNvSpPr>
              <p:nvPr/>
            </p:nvSpPr>
            <p:spPr>
              <a:xfrm>
                <a:off x="2738744" y="2061346"/>
                <a:ext cx="4063993" cy="534687"/>
              </a:xfrm>
              <a:prstGeom prst="rect">
                <a:avLst/>
              </a:prstGeom>
              <a:noFill/>
              <a:ln w="6350">
                <a:noFill/>
              </a:ln>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800" b="0" i="0" u="none" dirty="0" err="1">
                    <a:solidFill>
                      <a:srgbClr val="000000"/>
                    </a:solidFill>
                    <a:latin typeface="Arial"/>
                  </a:rPr>
                  <a:t>AI数据库将成为模型服务的核心枢纽，支持按需调用与计费</a:t>
                </a:r>
                <a:r>
                  <a:rPr lang="en-US" sz="1800" b="0" i="0" u="none" dirty="0">
                    <a:solidFill>
                      <a:srgbClr val="000000"/>
                    </a:solidFill>
                    <a:latin typeface="Arial"/>
                  </a:rPr>
                  <a:t>。</a:t>
                </a:r>
              </a:p>
            </p:txBody>
          </p:sp>
        </p:grpSp>
        <p:grpSp>
          <p:nvGrpSpPr>
            <p:cNvPr id="20" name="组合 19" descr="fcdd46f3-99bb-49a3-ac09-b6ff8bda04dd">
              <a:extLst>
                <a:ext uri="{FF2B5EF4-FFF2-40B4-BE49-F238E27FC236}">
                  <a16:creationId xmlns:a16="http://schemas.microsoft.com/office/drawing/2014/main" id="{97339EBC-4E05-1700-D77E-75858F503529}"/>
                </a:ext>
              </a:extLst>
            </p:cNvPr>
            <p:cNvGrpSpPr/>
            <p:nvPr/>
          </p:nvGrpSpPr>
          <p:grpSpPr>
            <a:xfrm>
              <a:off x="3942608" y="2148995"/>
              <a:ext cx="7576292" cy="920564"/>
              <a:chOff x="2738741" y="4293436"/>
              <a:chExt cx="4063997" cy="1187011"/>
            </a:xfrm>
          </p:grpSpPr>
          <p:sp>
            <p:nvSpPr>
              <p:cNvPr id="7" name="Bullet2" descr="ef143ce7-6c88-4843-aa76-ad6f299fb8c5">
                <a:extLst>
                  <a:ext uri="{FF2B5EF4-FFF2-40B4-BE49-F238E27FC236}">
                    <a16:creationId xmlns:a16="http://schemas.microsoft.com/office/drawing/2014/main" id="{BA83D710-540F-0E12-9105-487B5FD722AB}"/>
                  </a:ext>
                </a:extLst>
              </p:cNvPr>
              <p:cNvSpPr>
                <a:spLocks/>
              </p:cNvSpPr>
              <p:nvPr/>
            </p:nvSpPr>
            <p:spPr>
              <a:xfrm flipH="1">
                <a:off x="2738741" y="4293436"/>
                <a:ext cx="4063993" cy="550800"/>
              </a:xfrm>
              <a:prstGeom prst="roundRect">
                <a:avLst>
                  <a:gd name="adj" fmla="val 7957"/>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2000" b="1" i="0" u="none">
                    <a:solidFill>
                      <a:srgbClr val="000000"/>
                    </a:solidFill>
                    <a:ea typeface="微软雅黑"/>
                  </a:rPr>
                  <a:t>自动化模型组合（Ensemble &amp; Fusion）管理</a:t>
                </a:r>
              </a:p>
            </p:txBody>
          </p:sp>
          <p:sp>
            <p:nvSpPr>
              <p:cNvPr id="8" name="Text2" descr="b87d68a9-360e-490f-9ea3-0895a7a47df6">
                <a:extLst>
                  <a:ext uri="{FF2B5EF4-FFF2-40B4-BE49-F238E27FC236}">
                    <a16:creationId xmlns:a16="http://schemas.microsoft.com/office/drawing/2014/main" id="{0FB2A81D-2A66-9DA2-549E-03317DFB088C}"/>
                  </a:ext>
                </a:extLst>
              </p:cNvPr>
              <p:cNvSpPr txBox="1">
                <a:spLocks/>
              </p:cNvSpPr>
              <p:nvPr/>
            </p:nvSpPr>
            <p:spPr>
              <a:xfrm>
                <a:off x="2738745" y="4945760"/>
                <a:ext cx="4063993" cy="534687"/>
              </a:xfrm>
              <a:prstGeom prst="rect">
                <a:avLst/>
              </a:prstGeom>
              <a:noFill/>
              <a:ln w="6350">
                <a:noFill/>
              </a:ln>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800" b="0" i="0" u="none">
                    <a:solidFill>
                      <a:srgbClr val="000000"/>
                    </a:solidFill>
                    <a:ea typeface="微软雅黑"/>
                  </a:rPr>
                  <a:t>支持复杂模型集成的统一管理。</a:t>
                </a:r>
              </a:p>
            </p:txBody>
          </p:sp>
        </p:grpSp>
        <p:grpSp>
          <p:nvGrpSpPr>
            <p:cNvPr id="27" name="组合 26" descr="b6895764-a104-4c62-bbe1-bc8fc98e9fe1">
              <a:extLst>
                <a:ext uri="{FF2B5EF4-FFF2-40B4-BE49-F238E27FC236}">
                  <a16:creationId xmlns:a16="http://schemas.microsoft.com/office/drawing/2014/main" id="{2277A800-EBDF-13AF-B57B-DF88BB913A9B}"/>
                </a:ext>
              </a:extLst>
            </p:cNvPr>
            <p:cNvGrpSpPr/>
            <p:nvPr/>
          </p:nvGrpSpPr>
          <p:grpSpPr>
            <a:xfrm>
              <a:off x="3942608" y="3167689"/>
              <a:ext cx="7576288" cy="923384"/>
              <a:chOff x="7467605" y="1142490"/>
              <a:chExt cx="4063995" cy="1190647"/>
            </a:xfrm>
          </p:grpSpPr>
          <p:sp>
            <p:nvSpPr>
              <p:cNvPr id="10" name="Bullet3" descr="c6abdbae-96be-4385-bf18-376a07e2bcbb">
                <a:extLst>
                  <a:ext uri="{FF2B5EF4-FFF2-40B4-BE49-F238E27FC236}">
                    <a16:creationId xmlns:a16="http://schemas.microsoft.com/office/drawing/2014/main" id="{9EFDC063-4AF5-95AA-D3EC-C9D3D20AF91E}"/>
                  </a:ext>
                </a:extLst>
              </p:cNvPr>
              <p:cNvSpPr>
                <a:spLocks/>
              </p:cNvSpPr>
              <p:nvPr/>
            </p:nvSpPr>
            <p:spPr>
              <a:xfrm flipH="1">
                <a:off x="7467605" y="1142490"/>
                <a:ext cx="4063993" cy="550800"/>
              </a:xfrm>
              <a:prstGeom prst="roundRect">
                <a:avLst>
                  <a:gd name="adj" fmla="val 9267"/>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2000" b="1" i="0" u="none">
                    <a:solidFill>
                      <a:srgbClr val="000000"/>
                    </a:solidFill>
                    <a:ea typeface="微软雅黑"/>
                  </a:rPr>
                  <a:t>联邦学习与分布式模型管理</a:t>
                </a:r>
              </a:p>
            </p:txBody>
          </p:sp>
          <p:sp>
            <p:nvSpPr>
              <p:cNvPr id="11" name="Text3" descr="adcc3dd3-289c-4a78-bd49-895c5c04b992">
                <a:extLst>
                  <a:ext uri="{FF2B5EF4-FFF2-40B4-BE49-F238E27FC236}">
                    <a16:creationId xmlns:a16="http://schemas.microsoft.com/office/drawing/2014/main" id="{7942591E-EB50-3FD9-7E28-90429BE43201}"/>
                  </a:ext>
                </a:extLst>
              </p:cNvPr>
              <p:cNvSpPr txBox="1">
                <a:spLocks/>
              </p:cNvSpPr>
              <p:nvPr/>
            </p:nvSpPr>
            <p:spPr>
              <a:xfrm>
                <a:off x="7467607" y="1782337"/>
                <a:ext cx="4063993" cy="550800"/>
              </a:xfrm>
              <a:prstGeom prst="rect">
                <a:avLst/>
              </a:prstGeom>
              <a:noFill/>
              <a:ln w="6350">
                <a:noFill/>
              </a:ln>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800" b="0" i="0" u="none">
                    <a:solidFill>
                      <a:srgbClr val="000000"/>
                    </a:solidFill>
                    <a:ea typeface="微软雅黑"/>
                  </a:rPr>
                  <a:t>在数据不出域前提下，实现跨节点模型协同训练与管理。</a:t>
                </a:r>
              </a:p>
            </p:txBody>
          </p:sp>
        </p:grpSp>
        <p:grpSp>
          <p:nvGrpSpPr>
            <p:cNvPr id="28" name="组合 27" descr="7675dd6a-fb03-4c1f-a202-2dde032be078">
              <a:extLst>
                <a:ext uri="{FF2B5EF4-FFF2-40B4-BE49-F238E27FC236}">
                  <a16:creationId xmlns:a16="http://schemas.microsoft.com/office/drawing/2014/main" id="{C4DB73BA-F9D6-D675-9517-36343EE20CF3}"/>
                </a:ext>
              </a:extLst>
            </p:cNvPr>
            <p:cNvGrpSpPr/>
            <p:nvPr/>
          </p:nvGrpSpPr>
          <p:grpSpPr>
            <a:xfrm>
              <a:off x="3942608" y="4189203"/>
              <a:ext cx="7576290" cy="923384"/>
              <a:chOff x="7454904" y="2788972"/>
              <a:chExt cx="4063996" cy="1190647"/>
            </a:xfrm>
          </p:grpSpPr>
          <p:sp>
            <p:nvSpPr>
              <p:cNvPr id="13" name="Bullet4" descr="388052ea-9ad9-4aa0-95f6-a21099a842d3">
                <a:extLst>
                  <a:ext uri="{FF2B5EF4-FFF2-40B4-BE49-F238E27FC236}">
                    <a16:creationId xmlns:a16="http://schemas.microsoft.com/office/drawing/2014/main" id="{741BD3BB-56E5-E00C-A0EE-CF57B26C57D1}"/>
                  </a:ext>
                </a:extLst>
              </p:cNvPr>
              <p:cNvSpPr>
                <a:spLocks/>
              </p:cNvSpPr>
              <p:nvPr/>
            </p:nvSpPr>
            <p:spPr>
              <a:xfrm flipH="1">
                <a:off x="7454904" y="2788972"/>
                <a:ext cx="4063993" cy="550800"/>
              </a:xfrm>
              <a:prstGeom prst="roundRect">
                <a:avLst>
                  <a:gd name="adj" fmla="val 8705"/>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2000" b="1" i="0" u="none">
                    <a:solidFill>
                      <a:srgbClr val="000000"/>
                    </a:solidFill>
                    <a:latin typeface="Arial"/>
                  </a:rPr>
                  <a:t>AI原生数据库（AI - Native DB）</a:t>
                </a:r>
              </a:p>
            </p:txBody>
          </p:sp>
          <p:sp>
            <p:nvSpPr>
              <p:cNvPr id="14" name="Text4" descr="3e40a1a1-4e29-43b9-a74f-4325d5be3ef4">
                <a:extLst>
                  <a:ext uri="{FF2B5EF4-FFF2-40B4-BE49-F238E27FC236}">
                    <a16:creationId xmlns:a16="http://schemas.microsoft.com/office/drawing/2014/main" id="{CC7DEB88-0EBB-B898-F425-78FF5BA68FFB}"/>
                  </a:ext>
                </a:extLst>
              </p:cNvPr>
              <p:cNvSpPr txBox="1">
                <a:spLocks/>
              </p:cNvSpPr>
              <p:nvPr/>
            </p:nvSpPr>
            <p:spPr>
              <a:xfrm>
                <a:off x="7454907" y="3428819"/>
                <a:ext cx="4063993" cy="550800"/>
              </a:xfrm>
              <a:prstGeom prst="rect">
                <a:avLst/>
              </a:prstGeom>
              <a:noFill/>
              <a:ln w="6350">
                <a:noFill/>
              </a:ln>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800" b="0" i="0" u="none" dirty="0" err="1">
                    <a:solidFill>
                      <a:srgbClr val="000000"/>
                    </a:solidFill>
                    <a:ea typeface="微软雅黑"/>
                  </a:rPr>
                  <a:t>数据库内核深度集成AI相关能力，实现“数据</a:t>
                </a:r>
                <a:r>
                  <a:rPr lang="en-US" sz="1800" b="0" i="0" u="none" dirty="0">
                    <a:solidFill>
                      <a:srgbClr val="000000"/>
                    </a:solidFill>
                    <a:ea typeface="微软雅黑"/>
                  </a:rPr>
                  <a:t> - </a:t>
                </a:r>
                <a:r>
                  <a:rPr lang="en-US" sz="1800" b="0" i="0" u="none" dirty="0" err="1">
                    <a:solidFill>
                      <a:srgbClr val="000000"/>
                    </a:solidFill>
                    <a:ea typeface="微软雅黑"/>
                  </a:rPr>
                  <a:t>模型</a:t>
                </a:r>
                <a:r>
                  <a:rPr lang="en-US" sz="1800" b="0" i="0" u="none" dirty="0">
                    <a:solidFill>
                      <a:srgbClr val="000000"/>
                    </a:solidFill>
                    <a:ea typeface="微软雅黑"/>
                  </a:rPr>
                  <a:t>-</a:t>
                </a:r>
                <a:r>
                  <a:rPr lang="zh-CN" altLang="en-US" sz="1800" dirty="0">
                    <a:solidFill>
                      <a:srgbClr val="000000"/>
                    </a:solidFill>
                    <a:ea typeface="微软雅黑"/>
                  </a:rPr>
                  <a:t>智能</a:t>
                </a:r>
                <a:r>
                  <a:rPr lang="en-US" sz="1800" b="0" i="0" u="none" dirty="0">
                    <a:solidFill>
                      <a:srgbClr val="000000"/>
                    </a:solidFill>
                    <a:ea typeface="微软雅黑"/>
                  </a:rPr>
                  <a:t>”</a:t>
                </a:r>
                <a:r>
                  <a:rPr lang="en-US" sz="1800" b="0" i="0" u="none" dirty="0" err="1">
                    <a:solidFill>
                      <a:srgbClr val="000000"/>
                    </a:solidFill>
                    <a:ea typeface="微软雅黑"/>
                  </a:rPr>
                  <a:t>一体化</a:t>
                </a:r>
                <a:r>
                  <a:rPr lang="en-US" sz="1800" b="0" i="0" u="none" dirty="0">
                    <a:solidFill>
                      <a:srgbClr val="000000"/>
                    </a:solidFill>
                    <a:ea typeface="微软雅黑"/>
                  </a:rPr>
                  <a:t>。</a:t>
                </a:r>
              </a:p>
            </p:txBody>
          </p:sp>
        </p:grpSp>
        <p:grpSp>
          <p:nvGrpSpPr>
            <p:cNvPr id="29" name="组合 28" descr="0862fcba-21af-4ced-a5d0-4e9410530be1">
              <a:extLst>
                <a:ext uri="{FF2B5EF4-FFF2-40B4-BE49-F238E27FC236}">
                  <a16:creationId xmlns:a16="http://schemas.microsoft.com/office/drawing/2014/main" id="{98E5388D-746C-43F4-A570-3AE10253277F}"/>
                </a:ext>
              </a:extLst>
            </p:cNvPr>
            <p:cNvGrpSpPr/>
            <p:nvPr/>
          </p:nvGrpSpPr>
          <p:grpSpPr>
            <a:xfrm>
              <a:off x="3942608" y="5210716"/>
              <a:ext cx="7576292" cy="923384"/>
              <a:chOff x="7454899" y="4435455"/>
              <a:chExt cx="4063997" cy="1190647"/>
            </a:xfrm>
          </p:grpSpPr>
          <p:sp>
            <p:nvSpPr>
              <p:cNvPr id="16" name="Bullet5" descr="a4e9c7a0-4f6a-47b1-8583-abb6b2f38cbb">
                <a:extLst>
                  <a:ext uri="{FF2B5EF4-FFF2-40B4-BE49-F238E27FC236}">
                    <a16:creationId xmlns:a16="http://schemas.microsoft.com/office/drawing/2014/main" id="{16D45FF4-4BCD-9736-0631-96CA7171EFFE}"/>
                  </a:ext>
                </a:extLst>
              </p:cNvPr>
              <p:cNvSpPr>
                <a:spLocks/>
              </p:cNvSpPr>
              <p:nvPr/>
            </p:nvSpPr>
            <p:spPr>
              <a:xfrm flipH="1">
                <a:off x="7454899" y="4435455"/>
                <a:ext cx="4063995" cy="550800"/>
              </a:xfrm>
              <a:prstGeom prst="roundRect">
                <a:avLst>
                  <a:gd name="adj" fmla="val 11890"/>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2000" b="1" i="0" u="none">
                    <a:solidFill>
                      <a:srgbClr val="000000"/>
                    </a:solidFill>
                    <a:ea typeface="微软雅黑"/>
                  </a:rPr>
                  <a:t>模型安全与防篡改机制</a:t>
                </a:r>
              </a:p>
            </p:txBody>
          </p:sp>
          <p:sp>
            <p:nvSpPr>
              <p:cNvPr id="17" name="Text5" descr="431aafe3-5bca-4fa7-8ace-98fe359d0425">
                <a:extLst>
                  <a:ext uri="{FF2B5EF4-FFF2-40B4-BE49-F238E27FC236}">
                    <a16:creationId xmlns:a16="http://schemas.microsoft.com/office/drawing/2014/main" id="{0A672B13-06FA-B4EC-F498-824D1691C34B}"/>
                  </a:ext>
                </a:extLst>
              </p:cNvPr>
              <p:cNvSpPr txBox="1">
                <a:spLocks/>
              </p:cNvSpPr>
              <p:nvPr/>
            </p:nvSpPr>
            <p:spPr>
              <a:xfrm>
                <a:off x="7454901" y="5075302"/>
                <a:ext cx="4063995" cy="550800"/>
              </a:xfrm>
              <a:prstGeom prst="rect">
                <a:avLst/>
              </a:prstGeom>
              <a:noFill/>
              <a:ln w="6350">
                <a:noFill/>
              </a:ln>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800" b="0" i="0" u="none" dirty="0" err="1">
                    <a:solidFill>
                      <a:srgbClr val="000000"/>
                    </a:solidFill>
                    <a:ea typeface="微软雅黑"/>
                  </a:rPr>
                  <a:t>引入数字签名、区块链等技术保障模型完整性</a:t>
                </a:r>
                <a:r>
                  <a:rPr lang="en-US" sz="1800" b="0" i="0" u="none" dirty="0">
                    <a:solidFill>
                      <a:srgbClr val="000000"/>
                    </a:solidFill>
                    <a:ea typeface="微软雅黑"/>
                  </a:rPr>
                  <a:t>。</a:t>
                </a:r>
              </a:p>
            </p:txBody>
          </p:sp>
        </p:grpSp>
        <p:cxnSp>
          <p:nvCxnSpPr>
            <p:cNvPr id="21" name="连接符: 肘形 20" descr="b04c61a7-82df-47d3-815f-6c6f353fd7b2">
              <a:extLst>
                <a:ext uri="{FF2B5EF4-FFF2-40B4-BE49-F238E27FC236}">
                  <a16:creationId xmlns:a16="http://schemas.microsoft.com/office/drawing/2014/main" id="{549AFC17-B69F-A5BC-3307-E8565AEB4A11}"/>
                </a:ext>
              </a:extLst>
            </p:cNvPr>
            <p:cNvCxnSpPr>
              <a:cxnSpLocks/>
              <a:stCxn id="2" idx="3"/>
              <a:endCxn id="7" idx="3"/>
            </p:cNvCxnSpPr>
            <p:nvPr/>
          </p:nvCxnSpPr>
          <p:spPr>
            <a:xfrm flipV="1">
              <a:off x="3194462" y="2362577"/>
              <a:ext cx="748146" cy="1269622"/>
            </a:xfrm>
            <a:prstGeom prst="bentConnector3">
              <a:avLst>
                <a:gd name="adj1" fmla="val 50000"/>
              </a:avLst>
            </a:prstGeom>
            <a:ln w="6350">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descr="6ee6133b-613f-4c8c-af0b-cf576cd12c36">
              <a:extLst>
                <a:ext uri="{FF2B5EF4-FFF2-40B4-BE49-F238E27FC236}">
                  <a16:creationId xmlns:a16="http://schemas.microsoft.com/office/drawing/2014/main" id="{B94E9FA9-332A-EF13-BC28-7C157C9F11EE}"/>
                </a:ext>
              </a:extLst>
            </p:cNvPr>
            <p:cNvCxnSpPr>
              <a:cxnSpLocks/>
              <a:stCxn id="2" idx="3"/>
              <a:endCxn id="10" idx="3"/>
            </p:cNvCxnSpPr>
            <p:nvPr/>
          </p:nvCxnSpPr>
          <p:spPr>
            <a:xfrm flipV="1">
              <a:off x="3194462" y="3381271"/>
              <a:ext cx="748146" cy="250928"/>
            </a:xfrm>
            <a:prstGeom prst="bentConnector3">
              <a:avLst>
                <a:gd name="adj1" fmla="val 50000"/>
              </a:avLst>
            </a:prstGeom>
            <a:ln w="6350">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descr="fa7e3ce9-aa24-473b-a6e1-438a16ca6c16">
              <a:extLst>
                <a:ext uri="{FF2B5EF4-FFF2-40B4-BE49-F238E27FC236}">
                  <a16:creationId xmlns:a16="http://schemas.microsoft.com/office/drawing/2014/main" id="{AA206197-81A4-DDD6-CB27-A1EE1F8F018F}"/>
                </a:ext>
              </a:extLst>
            </p:cNvPr>
            <p:cNvCxnSpPr>
              <a:cxnSpLocks/>
              <a:stCxn id="2" idx="3"/>
              <a:endCxn id="13" idx="3"/>
            </p:cNvCxnSpPr>
            <p:nvPr/>
          </p:nvCxnSpPr>
          <p:spPr>
            <a:xfrm>
              <a:off x="3194462" y="3632199"/>
              <a:ext cx="748146" cy="770586"/>
            </a:xfrm>
            <a:prstGeom prst="bentConnector3">
              <a:avLst>
                <a:gd name="adj1" fmla="val 50000"/>
              </a:avLst>
            </a:prstGeom>
            <a:ln w="6350">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3600" b="1" dirty="0" err="1"/>
              <a:t>AI数据库关键技术体系</a:t>
            </a:r>
            <a:endParaRPr lang="en-US" sz="3600" b="1" dirty="0"/>
          </a:p>
        </p:txBody>
      </p:sp>
      <p:grpSp>
        <p:nvGrpSpPr>
          <p:cNvPr id="50" name="6d649ebf-74bc-446c-add3-cfd664cd660c.source.5.zh-Hans.pptx" descr="6d7fe80a-d3c0-4f90-8fd3-6f3610870e11">
            <a:extLst>
              <a:ext uri="{FF2B5EF4-FFF2-40B4-BE49-F238E27FC236}">
                <a16:creationId xmlns:a16="http://schemas.microsoft.com/office/drawing/2014/main" id="{496284C5-9049-A9D1-8105-D97C867A2E7A}"/>
              </a:ext>
            </a:extLst>
          </p:cNvPr>
          <p:cNvGrpSpPr/>
          <p:nvPr/>
        </p:nvGrpSpPr>
        <p:grpSpPr>
          <a:xfrm>
            <a:off x="0" y="1662833"/>
            <a:ext cx="12698264" cy="5195167"/>
            <a:chOff x="1" y="1662833"/>
            <a:chExt cx="12191999" cy="5195167"/>
          </a:xfrm>
        </p:grpSpPr>
        <p:sp>
          <p:nvSpPr>
            <p:cNvPr id="13" name="PictureMisc1" descr="aa6ce5fb-21e2-4a7e-aa44-1ed2fcafc31f">
              <a:extLst>
                <a:ext uri="{FF2B5EF4-FFF2-40B4-BE49-F238E27FC236}">
                  <a16:creationId xmlns:a16="http://schemas.microsoft.com/office/drawing/2014/main" id="{D80852F5-4590-DFE2-0893-EC98FDB510F2}"/>
                </a:ext>
              </a:extLst>
            </p:cNvPr>
            <p:cNvSpPr/>
            <p:nvPr/>
          </p:nvSpPr>
          <p:spPr>
            <a:xfrm>
              <a:off x="1" y="4454604"/>
              <a:ext cx="12191999" cy="2403396"/>
            </a:xfrm>
            <a:prstGeom prst="rect">
              <a:avLst/>
            </a:prstGeom>
            <a:blipFill rotWithShape="1">
              <a:blip r:embed="rId2"/>
              <a:srcRect/>
              <a:stretch>
                <a:fillRect t="-5341" b="-18453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14" name="c" descr="c7f043c2-c98b-4e97-9bf2-60f4a7b4ee69">
              <a:extLst>
                <a:ext uri="{FF2B5EF4-FFF2-40B4-BE49-F238E27FC236}">
                  <a16:creationId xmlns:a16="http://schemas.microsoft.com/office/drawing/2014/main" id="{52A49B3F-E524-354D-7F22-84F151D900CF}"/>
                </a:ext>
              </a:extLst>
            </p:cNvPr>
            <p:cNvSpPr/>
            <p:nvPr/>
          </p:nvSpPr>
          <p:spPr>
            <a:xfrm>
              <a:off x="598591" y="1824048"/>
              <a:ext cx="10994819" cy="4310052"/>
            </a:xfrm>
            <a:prstGeom prst="roundRect">
              <a:avLst>
                <a:gd name="adj" fmla="val 3015"/>
              </a:avLst>
            </a:prstGeom>
            <a:gradFill flip="none" rotWithShape="1">
              <a:gsLst>
                <a:gs pos="0">
                  <a:schemeClr val="bg1"/>
                </a:gs>
                <a:gs pos="100000">
                  <a:schemeClr val="bg1">
                    <a:alpha val="90000"/>
                  </a:schemeClr>
                </a:gs>
              </a:gsLst>
              <a:lin ang="5400000" scaled="1"/>
              <a:tileRect/>
            </a:gradFill>
            <a:ln w="6350">
              <a:gradFill flip="none" rotWithShape="1">
                <a:gsLst>
                  <a:gs pos="0">
                    <a:schemeClr val="tx1">
                      <a:alpha val="50000"/>
                    </a:schemeClr>
                  </a:gs>
                  <a:gs pos="100000">
                    <a:schemeClr val="tx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imes New Roman"/>
                <a:ea typeface="宋体"/>
                <a:cs typeface="+mn-cs"/>
              </a:endParaRPr>
            </a:p>
          </p:txBody>
        </p:sp>
        <p:cxnSp>
          <p:nvCxnSpPr>
            <p:cNvPr id="15" name="直接连接符 14" descr="6aeadf92-db21-4171-905d-0c21c12d87ba">
              <a:extLst>
                <a:ext uri="{FF2B5EF4-FFF2-40B4-BE49-F238E27FC236}">
                  <a16:creationId xmlns:a16="http://schemas.microsoft.com/office/drawing/2014/main" id="{D5E7017A-61FA-DF7D-91E5-7AE76794A276}"/>
                </a:ext>
              </a:extLst>
            </p:cNvPr>
            <p:cNvCxnSpPr>
              <a:cxnSpLocks/>
              <a:stCxn id="29" idx="1"/>
              <a:endCxn id="32" idx="3"/>
            </p:cNvCxnSpPr>
            <p:nvPr/>
          </p:nvCxnSpPr>
          <p:spPr>
            <a:xfrm>
              <a:off x="3411420" y="4944422"/>
              <a:ext cx="5306516"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descr="db641f3d-655e-4566-a22a-98766ffd2fb4">
              <a:extLst>
                <a:ext uri="{FF2B5EF4-FFF2-40B4-BE49-F238E27FC236}">
                  <a16:creationId xmlns:a16="http://schemas.microsoft.com/office/drawing/2014/main" id="{7BC52E70-3086-62D6-253C-AF2D861B7D52}"/>
                </a:ext>
              </a:extLst>
            </p:cNvPr>
            <p:cNvCxnSpPr>
              <a:cxnSpLocks/>
              <a:stCxn id="41" idx="3"/>
            </p:cNvCxnSpPr>
            <p:nvPr/>
          </p:nvCxnSpPr>
          <p:spPr>
            <a:xfrm>
              <a:off x="2868646" y="1812566"/>
              <a:ext cx="6931611"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nvGrpSpPr>
            <p:cNvPr id="45" name="组合 44" descr="d6b04e63-cdc4-485f-b781-a6de7bf41558">
              <a:extLst>
                <a:ext uri="{FF2B5EF4-FFF2-40B4-BE49-F238E27FC236}">
                  <a16:creationId xmlns:a16="http://schemas.microsoft.com/office/drawing/2014/main" id="{97243A23-34C0-C0DB-ED3C-472FDFAE7594}"/>
                </a:ext>
              </a:extLst>
            </p:cNvPr>
            <p:cNvGrpSpPr/>
            <p:nvPr/>
          </p:nvGrpSpPr>
          <p:grpSpPr>
            <a:xfrm>
              <a:off x="1965844" y="1662833"/>
              <a:ext cx="3677016" cy="4161344"/>
              <a:chOff x="1965844" y="1662833"/>
              <a:chExt cx="3677016" cy="4161344"/>
            </a:xfrm>
          </p:grpSpPr>
          <p:sp>
            <p:nvSpPr>
              <p:cNvPr id="39" name="Bullet1" descr="63a985e9-225b-4530-ae46-40972af6aa8b">
                <a:extLst>
                  <a:ext uri="{FF2B5EF4-FFF2-40B4-BE49-F238E27FC236}">
                    <a16:creationId xmlns:a16="http://schemas.microsoft.com/office/drawing/2014/main" id="{E95CA7A1-9125-AD7D-4B78-63742D6BDBDC}"/>
                  </a:ext>
                </a:extLst>
              </p:cNvPr>
              <p:cNvSpPr txBox="1">
                <a:spLocks/>
              </p:cNvSpPr>
              <p:nvPr/>
            </p:nvSpPr>
            <p:spPr>
              <a:xfrm>
                <a:off x="2129169" y="5166210"/>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3765" rtl="0" eaLnBrk="1" fontAlgn="auto" latinLnBrk="0" hangingPunct="1">
                  <a:lnSpc>
                    <a:spcPct val="120000"/>
                  </a:lnSpc>
                  <a:spcBef>
                    <a:spcPct val="0"/>
                  </a:spcBef>
                  <a:spcAft>
                    <a:spcPct val="0"/>
                  </a:spcAft>
                  <a:buClrTx/>
                  <a:buSzPct val="25000"/>
                  <a:buFontTx/>
                  <a:buNone/>
                  <a:tabLst/>
                  <a:defRPr/>
                </a:pPr>
                <a:r>
                  <a:rPr kumimoji="0" lang="en-US" sz="1600" b="1" i="0" u="none" strike="noStrike" kern="1200" cap="none" spc="0" normalizeH="0" baseline="0" noProof="0" dirty="0" err="1">
                    <a:ln>
                      <a:noFill/>
                    </a:ln>
                    <a:solidFill>
                      <a:srgbClr val="000000"/>
                    </a:solidFill>
                    <a:effectLst/>
                    <a:uLnTx/>
                    <a:uFillTx/>
                    <a:latin typeface="Arial" panose="020B0604020202020204" pitchFamily="34" charset="0"/>
                    <a:ea typeface="微软雅黑"/>
                    <a:cs typeface="Arial" panose="020B0604020202020204" pitchFamily="34" charset="0"/>
                  </a:rPr>
                  <a:t>向量数据库</a:t>
                </a: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a:cs typeface="Arial" panose="020B0604020202020204" pitchFamily="34" charset="0"/>
                  </a:rPr>
                  <a:t>与</a:t>
                </a: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微软雅黑"/>
                    <a:cs typeface="Arial" panose="020B0604020202020204" pitchFamily="34" charset="0"/>
                  </a:rPr>
                  <a:t>LLM </a:t>
                </a:r>
                <a:r>
                  <a:rPr kumimoji="0" lang="en-US" altLang="zh-CN" sz="1600" b="1" i="0" u="none" strike="noStrike" kern="1200" cap="none" spc="0" normalizeH="0" baseline="0" noProof="0" dirty="0" err="1">
                    <a:ln>
                      <a:noFill/>
                    </a:ln>
                    <a:solidFill>
                      <a:srgbClr val="000000"/>
                    </a:solidFill>
                    <a:effectLst/>
                    <a:uLnTx/>
                    <a:uFillTx/>
                    <a:latin typeface="Arial" panose="020B0604020202020204" pitchFamily="34" charset="0"/>
                    <a:ea typeface="微软雅黑"/>
                    <a:cs typeface="Arial" panose="020B0604020202020204" pitchFamily="34" charset="0"/>
                  </a:rPr>
                  <a:t>RAG</a:t>
                </a:r>
                <a:r>
                  <a:rPr kumimoji="0" lang="en-US" sz="1600" b="1" i="0" u="none" strike="noStrike" kern="1200" cap="none" spc="0" normalizeH="0" baseline="0" noProof="0" dirty="0" err="1">
                    <a:ln>
                      <a:noFill/>
                    </a:ln>
                    <a:solidFill>
                      <a:srgbClr val="000000"/>
                    </a:solidFill>
                    <a:effectLst/>
                    <a:uLnTx/>
                    <a:uFillTx/>
                    <a:latin typeface="Arial" panose="020B0604020202020204" pitchFamily="34" charset="0"/>
                    <a:ea typeface="微软雅黑"/>
                    <a:cs typeface="Arial" panose="020B0604020202020204" pitchFamily="34" charset="0"/>
                  </a:rPr>
                  <a:t>技术</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a:cs typeface="Arial" panose="020B0604020202020204" pitchFamily="34" charset="0"/>
                </a:endParaRPr>
              </a:p>
            </p:txBody>
          </p:sp>
          <p:sp>
            <p:nvSpPr>
              <p:cNvPr id="41" name="Number1" descr="cb5a9482-dd7b-48c3-b267-d0acb23dd1ab">
                <a:extLst>
                  <a:ext uri="{FF2B5EF4-FFF2-40B4-BE49-F238E27FC236}">
                    <a16:creationId xmlns:a16="http://schemas.microsoft.com/office/drawing/2014/main" id="{D3AA65A5-4729-21F6-F81F-8A1162DABAC4}"/>
                  </a:ext>
                </a:extLst>
              </p:cNvPr>
              <p:cNvSpPr txBox="1"/>
              <p:nvPr/>
            </p:nvSpPr>
            <p:spPr>
              <a:xfrm>
                <a:off x="1965844"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454545"/>
                    </a:solidFill>
                    <a:effectLst/>
                    <a:uLnTx/>
                    <a:uFillTx/>
                    <a:latin typeface="Arial"/>
                    <a:ea typeface="宋体"/>
                    <a:cs typeface="+mn-cs"/>
                  </a:rPr>
                  <a:t>1</a:t>
                </a:r>
              </a:p>
            </p:txBody>
          </p:sp>
        </p:grpSp>
        <p:grpSp>
          <p:nvGrpSpPr>
            <p:cNvPr id="46" name="组合 45" descr="a8ef9746-64a1-450c-a1d6-2071045d2e7e">
              <a:extLst>
                <a:ext uri="{FF2B5EF4-FFF2-40B4-BE49-F238E27FC236}">
                  <a16:creationId xmlns:a16="http://schemas.microsoft.com/office/drawing/2014/main" id="{A95487B3-04BE-189D-49D3-1793B763E883}"/>
                </a:ext>
              </a:extLst>
            </p:cNvPr>
            <p:cNvGrpSpPr/>
            <p:nvPr/>
          </p:nvGrpSpPr>
          <p:grpSpPr>
            <a:xfrm>
              <a:off x="1284804" y="1662833"/>
              <a:ext cx="5256246" cy="977787"/>
              <a:chOff x="1284804" y="1662833"/>
              <a:chExt cx="5256246" cy="977787"/>
            </a:xfrm>
          </p:grpSpPr>
          <p:sp>
            <p:nvSpPr>
              <p:cNvPr id="36" name="Bullet2" descr="b4a03a2d-2661-476e-9f2e-ccba69d31cc2">
                <a:extLst>
                  <a:ext uri="{FF2B5EF4-FFF2-40B4-BE49-F238E27FC236}">
                    <a16:creationId xmlns:a16="http://schemas.microsoft.com/office/drawing/2014/main" id="{673A8015-3DE8-BD7C-B3F9-5ACF8C08A3E2}"/>
                  </a:ext>
                </a:extLst>
              </p:cNvPr>
              <p:cNvSpPr txBox="1">
                <a:spLocks/>
              </p:cNvSpPr>
              <p:nvPr/>
            </p:nvSpPr>
            <p:spPr>
              <a:xfrm>
                <a:off x="1284804" y="1982653"/>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3765" rtl="0" eaLnBrk="1" fontAlgn="auto" latinLnBrk="0" hangingPunct="1">
                  <a:lnSpc>
                    <a:spcPct val="120000"/>
                  </a:lnSpc>
                  <a:spcBef>
                    <a:spcPct val="0"/>
                  </a:spcBef>
                  <a:spcAft>
                    <a:spcPct val="0"/>
                  </a:spcAft>
                  <a:buClrTx/>
                  <a:buSzPct val="25000"/>
                  <a:buFontTx/>
                  <a:buNone/>
                  <a:tabLst/>
                  <a:defRPr/>
                </a:pPr>
                <a:r>
                  <a:rPr kumimoji="0" lang="en-US" sz="1600" b="1" i="0" u="none" strike="noStrike" kern="1200" cap="none" spc="0" normalizeH="0" baseline="0" noProof="0" dirty="0" err="1">
                    <a:ln>
                      <a:noFill/>
                    </a:ln>
                    <a:solidFill>
                      <a:srgbClr val="000000"/>
                    </a:solidFill>
                    <a:effectLst/>
                    <a:uLnTx/>
                    <a:uFillTx/>
                    <a:latin typeface="Arial" panose="020B0604020202020204" pitchFamily="34" charset="0"/>
                    <a:ea typeface="微软雅黑"/>
                    <a:cs typeface="Arial" panose="020B0604020202020204" pitchFamily="34" charset="0"/>
                  </a:rPr>
                  <a:t>特征工程一体化架构</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a:cs typeface="Arial" panose="020B0604020202020204" pitchFamily="34" charset="0"/>
                </a:endParaRPr>
              </a:p>
            </p:txBody>
          </p:sp>
          <p:sp>
            <p:nvSpPr>
              <p:cNvPr id="38" name="Number2" descr="33303b4d-75b8-43fb-9107-811eb522960e">
                <a:extLst>
                  <a:ext uri="{FF2B5EF4-FFF2-40B4-BE49-F238E27FC236}">
                    <a16:creationId xmlns:a16="http://schemas.microsoft.com/office/drawing/2014/main" id="{C5925CBE-12B1-4810-CA91-AF26A77C2D5B}"/>
                  </a:ext>
                </a:extLst>
              </p:cNvPr>
              <p:cNvSpPr txBox="1"/>
              <p:nvPr/>
            </p:nvSpPr>
            <p:spPr>
              <a:xfrm>
                <a:off x="5638248"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454545"/>
                    </a:solidFill>
                    <a:effectLst/>
                    <a:uLnTx/>
                    <a:uFillTx/>
                    <a:latin typeface="Arial"/>
                    <a:ea typeface="宋体"/>
                    <a:cs typeface="+mn-cs"/>
                  </a:rPr>
                  <a:t>2</a:t>
                </a:r>
              </a:p>
            </p:txBody>
          </p:sp>
        </p:grpSp>
        <p:grpSp>
          <p:nvGrpSpPr>
            <p:cNvPr id="47" name="组合 46" descr="c7974719-d37e-466b-8727-f1591792a42c">
              <a:extLst>
                <a:ext uri="{FF2B5EF4-FFF2-40B4-BE49-F238E27FC236}">
                  <a16:creationId xmlns:a16="http://schemas.microsoft.com/office/drawing/2014/main" id="{D2B237F1-FE1A-D583-3DD3-A46E71E5B820}"/>
                </a:ext>
              </a:extLst>
            </p:cNvPr>
            <p:cNvGrpSpPr/>
            <p:nvPr/>
          </p:nvGrpSpPr>
          <p:grpSpPr>
            <a:xfrm>
              <a:off x="4462705" y="1662833"/>
              <a:ext cx="5750750" cy="988100"/>
              <a:chOff x="4462705" y="1662833"/>
              <a:chExt cx="5750750" cy="988100"/>
            </a:xfrm>
          </p:grpSpPr>
          <p:sp>
            <p:nvSpPr>
              <p:cNvPr id="33" name="Bullet3" descr="25b8f82b-dca0-4461-980e-c00d40026f51">
                <a:extLst>
                  <a:ext uri="{FF2B5EF4-FFF2-40B4-BE49-F238E27FC236}">
                    <a16:creationId xmlns:a16="http://schemas.microsoft.com/office/drawing/2014/main" id="{DC26826B-E497-3D54-39D5-78277ACC72FD}"/>
                  </a:ext>
                </a:extLst>
              </p:cNvPr>
              <p:cNvSpPr txBox="1">
                <a:spLocks/>
              </p:cNvSpPr>
              <p:nvPr/>
            </p:nvSpPr>
            <p:spPr>
              <a:xfrm>
                <a:off x="4462705" y="1992966"/>
                <a:ext cx="3710844" cy="657967"/>
              </a:xfrm>
              <a:prstGeom prst="rect">
                <a:avLst/>
              </a:prstGeom>
              <a:noFill/>
              <a:ln>
                <a:noFill/>
              </a:ln>
            </p:spPr>
            <p:txBody>
              <a:bodyPr wrap="square" lIns="91440" tIns="45720" rIns="91440" bIns="45720" anchor="t" anchorCtr="0">
                <a:no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3765" rtl="0" eaLnBrk="1" fontAlgn="auto" latinLnBrk="0" hangingPunct="1">
                  <a:lnSpc>
                    <a:spcPct val="120000"/>
                  </a:lnSpc>
                  <a:spcBef>
                    <a:spcPct val="0"/>
                  </a:spcBef>
                  <a:spcAft>
                    <a:spcPct val="0"/>
                  </a:spcAft>
                  <a:buClrTx/>
                  <a:buSzPct val="25000"/>
                  <a:buFontTx/>
                  <a:buNone/>
                  <a:tabLst/>
                  <a:defRPr/>
                </a:pPr>
                <a:r>
                  <a:rPr kumimoji="0" lang="en-US" sz="1600" b="1" i="0" u="none" strike="noStrike" kern="1200" cap="none" spc="0" normalizeH="0" baseline="0" noProof="0" dirty="0" err="1">
                    <a:ln>
                      <a:noFill/>
                    </a:ln>
                    <a:solidFill>
                      <a:srgbClr val="000000"/>
                    </a:solidFill>
                    <a:effectLst/>
                    <a:uLnTx/>
                    <a:uFillTx/>
                    <a:latin typeface="Arial" panose="020B0604020202020204" pitchFamily="34" charset="0"/>
                    <a:ea typeface="微软雅黑"/>
                    <a:cs typeface="Arial" panose="020B0604020202020204" pitchFamily="34" charset="0"/>
                  </a:rPr>
                  <a:t>高性能计算与内存优化技术</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a:cs typeface="Arial" panose="020B0604020202020204" pitchFamily="34" charset="0"/>
                </a:endParaRPr>
              </a:p>
            </p:txBody>
          </p:sp>
          <p:sp>
            <p:nvSpPr>
              <p:cNvPr id="35" name="Number3" descr="c0a49732-a4c3-4d1a-a2f1-796979f425d8">
                <a:extLst>
                  <a:ext uri="{FF2B5EF4-FFF2-40B4-BE49-F238E27FC236}">
                    <a16:creationId xmlns:a16="http://schemas.microsoft.com/office/drawing/2014/main" id="{278459C1-467B-83C8-8DBB-81F7C03E168D}"/>
                  </a:ext>
                </a:extLst>
              </p:cNvPr>
              <p:cNvSpPr txBox="1"/>
              <p:nvPr/>
            </p:nvSpPr>
            <p:spPr>
              <a:xfrm>
                <a:off x="9310653"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454545"/>
                    </a:solidFill>
                    <a:effectLst/>
                    <a:uLnTx/>
                    <a:uFillTx/>
                    <a:latin typeface="Arial"/>
                    <a:ea typeface="宋体"/>
                    <a:cs typeface="+mn-cs"/>
                  </a:rPr>
                  <a:t>3</a:t>
                </a:r>
              </a:p>
            </p:txBody>
          </p:sp>
        </p:grpSp>
        <p:grpSp>
          <p:nvGrpSpPr>
            <p:cNvPr id="48" name="组合 47" descr="2a10a9d3-5c28-46d0-a330-e823e7a52646">
              <a:extLst>
                <a:ext uri="{FF2B5EF4-FFF2-40B4-BE49-F238E27FC236}">
                  <a16:creationId xmlns:a16="http://schemas.microsoft.com/office/drawing/2014/main" id="{4FBF7FE8-77EB-058A-4B5E-B8E8B0652EAD}"/>
                </a:ext>
              </a:extLst>
            </p:cNvPr>
            <p:cNvGrpSpPr/>
            <p:nvPr/>
          </p:nvGrpSpPr>
          <p:grpSpPr>
            <a:xfrm>
              <a:off x="7611325" y="2018346"/>
              <a:ext cx="3486571" cy="3075808"/>
              <a:chOff x="7611325" y="2018346"/>
              <a:chExt cx="3486571" cy="3075808"/>
            </a:xfrm>
          </p:grpSpPr>
          <p:sp>
            <p:nvSpPr>
              <p:cNvPr id="30" name="Bullet4" descr="3cb080ea-7a29-4d7c-8e4c-06310220d618">
                <a:extLst>
                  <a:ext uri="{FF2B5EF4-FFF2-40B4-BE49-F238E27FC236}">
                    <a16:creationId xmlns:a16="http://schemas.microsoft.com/office/drawing/2014/main" id="{C5A0AC27-3B9B-F222-3732-D2FD4B79C7E1}"/>
                  </a:ext>
                </a:extLst>
              </p:cNvPr>
              <p:cNvSpPr txBox="1">
                <a:spLocks/>
              </p:cNvSpPr>
              <p:nvPr/>
            </p:nvSpPr>
            <p:spPr>
              <a:xfrm>
                <a:off x="7611325" y="2018346"/>
                <a:ext cx="348657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3765" rtl="0" eaLnBrk="1" fontAlgn="auto" latinLnBrk="0" hangingPunct="1">
                  <a:lnSpc>
                    <a:spcPct val="120000"/>
                  </a:lnSpc>
                  <a:spcBef>
                    <a:spcPct val="0"/>
                  </a:spcBef>
                  <a:spcAft>
                    <a:spcPct val="0"/>
                  </a:spcAft>
                  <a:buClrTx/>
                  <a:buSzPct val="25000"/>
                  <a:buFontTx/>
                  <a:buNone/>
                  <a:tabLst/>
                  <a:defRPr/>
                </a:pPr>
                <a:r>
                  <a:rPr lang="en-US" sz="1600" dirty="0" err="1">
                    <a:solidFill>
                      <a:srgbClr val="000000"/>
                    </a:solidFill>
                    <a:ea typeface="微软雅黑"/>
                  </a:rPr>
                  <a:t>多模型支持与模型管理能力</a:t>
                </a:r>
                <a:endParaRPr lang="en-US" sz="1600" dirty="0">
                  <a:solidFill>
                    <a:srgbClr val="000000"/>
                  </a:solidFill>
                  <a:ea typeface="微软雅黑"/>
                </a:endParaRPr>
              </a:p>
            </p:txBody>
          </p:sp>
          <p:sp>
            <p:nvSpPr>
              <p:cNvPr id="32" name="Number4" descr="982ba4fa-0764-486a-a143-c10254addd2a">
                <a:extLst>
                  <a:ext uri="{FF2B5EF4-FFF2-40B4-BE49-F238E27FC236}">
                    <a16:creationId xmlns:a16="http://schemas.microsoft.com/office/drawing/2014/main" id="{C4CC405A-8B96-ED7E-8174-55C4503D0FE0}"/>
                  </a:ext>
                </a:extLst>
              </p:cNvPr>
              <p:cNvSpPr txBox="1"/>
              <p:nvPr/>
            </p:nvSpPr>
            <p:spPr>
              <a:xfrm flipH="1">
                <a:off x="8717936" y="4794689"/>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454545"/>
                    </a:solidFill>
                    <a:effectLst/>
                    <a:uLnTx/>
                    <a:uFillTx/>
                    <a:latin typeface="Arial"/>
                    <a:ea typeface="宋体"/>
                    <a:cs typeface="+mn-cs"/>
                  </a:rPr>
                  <a:t>4</a:t>
                </a:r>
              </a:p>
            </p:txBody>
          </p:sp>
        </p:grpSp>
        <p:grpSp>
          <p:nvGrpSpPr>
            <p:cNvPr id="49" name="组合 48" descr="6316730a-dabb-467d-b8a7-8b427d5ad165">
              <a:extLst>
                <a:ext uri="{FF2B5EF4-FFF2-40B4-BE49-F238E27FC236}">
                  <a16:creationId xmlns:a16="http://schemas.microsoft.com/office/drawing/2014/main" id="{D0879E40-40E5-84C5-E224-4A161783763E}"/>
                </a:ext>
              </a:extLst>
            </p:cNvPr>
            <p:cNvGrpSpPr/>
            <p:nvPr/>
          </p:nvGrpSpPr>
          <p:grpSpPr>
            <a:xfrm>
              <a:off x="2621936" y="4794689"/>
              <a:ext cx="8971474" cy="1052252"/>
              <a:chOff x="2621936" y="4794689"/>
              <a:chExt cx="8971474" cy="1052252"/>
            </a:xfrm>
          </p:grpSpPr>
          <p:sp>
            <p:nvSpPr>
              <p:cNvPr id="27" name="Bullet5" descr="64fc552d-72b6-4746-960e-4d2903703d83">
                <a:extLst>
                  <a:ext uri="{FF2B5EF4-FFF2-40B4-BE49-F238E27FC236}">
                    <a16:creationId xmlns:a16="http://schemas.microsoft.com/office/drawing/2014/main" id="{EF5F8A23-E76D-A96D-F812-8BFE8F1552D4}"/>
                  </a:ext>
                </a:extLst>
              </p:cNvPr>
              <p:cNvSpPr txBox="1">
                <a:spLocks/>
              </p:cNvSpPr>
              <p:nvPr/>
            </p:nvSpPr>
            <p:spPr>
              <a:xfrm>
                <a:off x="6830910" y="5188974"/>
                <a:ext cx="4762500"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3765" rtl="0" eaLnBrk="1" fontAlgn="auto" latinLnBrk="0" hangingPunct="1">
                  <a:lnSpc>
                    <a:spcPct val="120000"/>
                  </a:lnSpc>
                  <a:spcBef>
                    <a:spcPct val="0"/>
                  </a:spcBef>
                  <a:spcAft>
                    <a:spcPct val="0"/>
                  </a:spcAft>
                  <a:buClrTx/>
                  <a:buSzPct val="25000"/>
                  <a:buFontTx/>
                  <a:buNone/>
                  <a:tabLst/>
                  <a:defRPr/>
                </a:pPr>
                <a:r>
                  <a:rPr lang="en-US" sz="2000" u="sng" dirty="0" err="1">
                    <a:solidFill>
                      <a:srgbClr val="E40000"/>
                    </a:solidFill>
                    <a:latin typeface="Arial"/>
                    <a:ea typeface="黑体"/>
                  </a:rPr>
                  <a:t>AI驱动的智能运维</a:t>
                </a:r>
                <a:r>
                  <a:rPr lang="en-US" sz="2000" u="sng" dirty="0">
                    <a:solidFill>
                      <a:srgbClr val="E40000"/>
                    </a:solidFill>
                    <a:latin typeface="Arial"/>
                    <a:ea typeface="黑体"/>
                  </a:rPr>
                  <a:t>(AI for DB)</a:t>
                </a:r>
              </a:p>
            </p:txBody>
          </p:sp>
          <p:sp>
            <p:nvSpPr>
              <p:cNvPr id="29" name="Number5" descr="d413707b-19f7-439a-adef-0dfa5e0b9a10">
                <a:extLst>
                  <a:ext uri="{FF2B5EF4-FFF2-40B4-BE49-F238E27FC236}">
                    <a16:creationId xmlns:a16="http://schemas.microsoft.com/office/drawing/2014/main" id="{F5611463-BA56-FEDC-91F0-3B85FAE96974}"/>
                  </a:ext>
                </a:extLst>
              </p:cNvPr>
              <p:cNvSpPr txBox="1"/>
              <p:nvPr/>
            </p:nvSpPr>
            <p:spPr>
              <a:xfrm flipH="1">
                <a:off x="2621936" y="4794689"/>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454545"/>
                    </a:solidFill>
                    <a:effectLst/>
                    <a:uLnTx/>
                    <a:uFillTx/>
                    <a:latin typeface="Arial"/>
                    <a:ea typeface="宋体"/>
                    <a:cs typeface="+mn-cs"/>
                  </a:rPr>
                  <a:t>5</a:t>
                </a:r>
              </a:p>
            </p:txBody>
          </p:sp>
        </p:grpSp>
      </p:grpSp>
      <p:sp>
        <p:nvSpPr>
          <p:cNvPr id="25" name="Text5" descr="5b550606-85a4-45b4-9761-c55c6d207fd0">
            <a:extLst>
              <a:ext uri="{FF2B5EF4-FFF2-40B4-BE49-F238E27FC236}">
                <a16:creationId xmlns:a16="http://schemas.microsoft.com/office/drawing/2014/main" id="{B5407A47-7103-4F38-A1CC-CF68BEB7A9E2}"/>
              </a:ext>
            </a:extLst>
          </p:cNvPr>
          <p:cNvSpPr txBox="1">
            <a:spLocks/>
          </p:cNvSpPr>
          <p:nvPr/>
        </p:nvSpPr>
        <p:spPr>
          <a:xfrm>
            <a:off x="3078126" y="2620159"/>
            <a:ext cx="7347097" cy="2102473"/>
          </a:xfrm>
          <a:prstGeom prst="rect">
            <a:avLst/>
          </a:prstGeom>
          <a:noFill/>
          <a:ln>
            <a:noFill/>
          </a:ln>
        </p:spPr>
        <p:txBody>
          <a:bodyPr wrap="square" lIns="91440" tIns="45720" rIns="91440" bIns="45720" anchor="t" anchorCtr="0">
            <a:normAutofit fontScale="92500"/>
          </a:bodyPr>
          <a:lstStyle/>
          <a:p>
            <a:pPr marL="171450" indent="-171450" algn="l">
              <a:lnSpc>
                <a:spcPct val="120000"/>
              </a:lnSpc>
              <a:spcBef>
                <a:spcPct val="0"/>
              </a:spcBef>
              <a:spcAft>
                <a:spcPct val="0"/>
              </a:spcAft>
              <a:buFont typeface="Arial" panose="020B0604020202020204" pitchFamily="34" charset="0"/>
              <a:buChar char="•"/>
            </a:pPr>
            <a:r>
              <a:rPr lang="en-US" b="1" i="0" u="none" strike="noStrike" dirty="0" err="1">
                <a:solidFill>
                  <a:srgbClr val="000000"/>
                </a:solidFill>
                <a:latin typeface="Arial"/>
              </a:rPr>
              <a:t>AI反向赋能数据库管理，形成“AI管理AI系统”的闭环</a:t>
            </a:r>
            <a:r>
              <a:rPr lang="en-US" b="1" i="0" u="none" strike="noStrike" dirty="0">
                <a:solidFill>
                  <a:srgbClr val="000000"/>
                </a:solidFill>
                <a:latin typeface="Arial"/>
              </a:rPr>
              <a:t>。</a:t>
            </a:r>
          </a:p>
          <a:p>
            <a:pPr marL="171450" indent="-171450" algn="l">
              <a:lnSpc>
                <a:spcPct val="120000"/>
              </a:lnSpc>
              <a:spcBef>
                <a:spcPct val="0"/>
              </a:spcBef>
              <a:spcAft>
                <a:spcPct val="0"/>
              </a:spcAft>
              <a:buFont typeface="Arial" panose="020B0604020202020204" pitchFamily="34" charset="0"/>
              <a:buChar char="•"/>
            </a:pPr>
            <a:r>
              <a:rPr lang="en-US" b="1" i="0" u="none" strike="noStrike" dirty="0" err="1">
                <a:solidFill>
                  <a:srgbClr val="000000"/>
                </a:solidFill>
                <a:latin typeface="Arial"/>
              </a:rPr>
              <a:t>包括智能查询优化、数据质量监控和自动化维护</a:t>
            </a:r>
            <a:r>
              <a:rPr lang="en-US" b="1" i="0" u="none" strike="noStrike" dirty="0">
                <a:solidFill>
                  <a:srgbClr val="000000"/>
                </a:solidFill>
                <a:latin typeface="Arial"/>
              </a:rPr>
              <a:t>。</a:t>
            </a:r>
          </a:p>
          <a:p>
            <a:pPr marL="171450" indent="-171450" algn="l">
              <a:lnSpc>
                <a:spcPct val="120000"/>
              </a:lnSpc>
              <a:spcBef>
                <a:spcPct val="0"/>
              </a:spcBef>
              <a:spcAft>
                <a:spcPct val="0"/>
              </a:spcAft>
              <a:buFont typeface="Arial" panose="020B0604020202020204" pitchFamily="34" charset="0"/>
              <a:buChar char="•"/>
            </a:pPr>
            <a:r>
              <a:rPr lang="en-US" b="1" i="0" u="none" strike="noStrike" dirty="0" err="1">
                <a:solidFill>
                  <a:srgbClr val="000000"/>
                </a:solidFill>
                <a:latin typeface="Arial"/>
              </a:rPr>
              <a:t>智能查询优化利用AI预测最优执行计划，自动进行索引推荐与创建</a:t>
            </a:r>
            <a:r>
              <a:rPr lang="en-US" b="1" i="0" u="none" strike="noStrike" dirty="0">
                <a:solidFill>
                  <a:srgbClr val="000000"/>
                </a:solidFill>
                <a:latin typeface="Arial"/>
              </a:rPr>
              <a:t>；</a:t>
            </a:r>
          </a:p>
          <a:p>
            <a:pPr marL="171450" indent="-171450" algn="l">
              <a:lnSpc>
                <a:spcPct val="120000"/>
              </a:lnSpc>
              <a:spcBef>
                <a:spcPct val="0"/>
              </a:spcBef>
              <a:spcAft>
                <a:spcPct val="0"/>
              </a:spcAft>
              <a:buFont typeface="Arial" panose="020B0604020202020204" pitchFamily="34" charset="0"/>
              <a:buChar char="•"/>
            </a:pPr>
            <a:r>
              <a:rPr lang="en-US" b="1" i="0" u="none" strike="noStrike" dirty="0" err="1">
                <a:solidFill>
                  <a:srgbClr val="000000"/>
                </a:solidFill>
                <a:latin typeface="Arial"/>
              </a:rPr>
              <a:t>数据质量监控检测异常值、缺失率和分布偏移，自动生成数据质量报告</a:t>
            </a:r>
            <a:r>
              <a:rPr lang="en-US" b="1" i="0" u="none" strike="noStrike" dirty="0">
                <a:solidFill>
                  <a:srgbClr val="000000"/>
                </a:solidFill>
                <a:latin typeface="Arial"/>
              </a:rPr>
              <a:t>；</a:t>
            </a:r>
          </a:p>
          <a:p>
            <a:pPr marL="171450" indent="-171450" algn="l">
              <a:lnSpc>
                <a:spcPct val="120000"/>
              </a:lnSpc>
              <a:spcBef>
                <a:spcPct val="0"/>
              </a:spcBef>
              <a:spcAft>
                <a:spcPct val="0"/>
              </a:spcAft>
              <a:buFont typeface="Arial" panose="020B0604020202020204" pitchFamily="34" charset="0"/>
              <a:buChar char="•"/>
            </a:pPr>
            <a:r>
              <a:rPr lang="en-US" b="1" i="0" u="none" strike="noStrike" dirty="0" err="1">
                <a:solidFill>
                  <a:srgbClr val="000000"/>
                </a:solidFill>
                <a:latin typeface="Arial"/>
              </a:rPr>
              <a:t>自动化维护基于负载预测动态调整资源，自动进行分片、负载均衡与故障转移</a:t>
            </a:r>
            <a:r>
              <a:rPr lang="en-US" b="1" i="0" u="none" strike="noStrike" dirty="0">
                <a:solidFill>
                  <a:srgbClr val="000000"/>
                </a:solidFill>
                <a:latin typeface="Arial"/>
              </a:rPr>
              <a:t>。</a:t>
            </a:r>
          </a:p>
        </p:txBody>
      </p:sp>
    </p:spTree>
    <p:extLst>
      <p:ext uri="{BB962C8B-B14F-4D97-AF65-F5344CB8AC3E}">
        <p14:creationId xmlns:p14="http://schemas.microsoft.com/office/powerpoint/2010/main" val="18912903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r>
              <a:rPr lang="en-US" sz="3200" b="1" dirty="0"/>
              <a:t>AI for DB</a:t>
            </a:r>
            <a:r>
              <a:rPr lang="en-US" altLang="zh-CN" sz="3200" b="1" dirty="0"/>
              <a:t> </a:t>
            </a:r>
            <a:r>
              <a:rPr lang="en-US" altLang="zh-CN" sz="3200" b="1" dirty="0" err="1"/>
              <a:t>的核心</a:t>
            </a:r>
            <a:r>
              <a:rPr lang="zh-CN" altLang="en-US" sz="3200" b="1" dirty="0"/>
              <a:t>优化方向</a:t>
            </a:r>
            <a:endParaRPr lang="en-US" sz="3200" b="1" dirty="0"/>
          </a:p>
        </p:txBody>
      </p:sp>
      <p:grpSp>
        <p:nvGrpSpPr>
          <p:cNvPr id="149" name="2bf94ace-2ff4-48ba-881a-49d6ed41180e.source.2.zh-Hans.pptx" descr="61b11545-0a87-4347-ac82-fdabd9287505">
            <a:extLst>
              <a:ext uri="{FF2B5EF4-FFF2-40B4-BE49-F238E27FC236}">
                <a16:creationId xmlns:a16="http://schemas.microsoft.com/office/drawing/2014/main" id="{55FBA01F-0CBA-DEC2-2332-756651C6EEFD}"/>
              </a:ext>
            </a:extLst>
          </p:cNvPr>
          <p:cNvGrpSpPr/>
          <p:nvPr/>
        </p:nvGrpSpPr>
        <p:grpSpPr>
          <a:xfrm>
            <a:off x="660400" y="1130300"/>
            <a:ext cx="10872265" cy="4931011"/>
            <a:chOff x="660400" y="1130300"/>
            <a:chExt cx="10872265" cy="4931011"/>
          </a:xfrm>
        </p:grpSpPr>
        <p:grpSp>
          <p:nvGrpSpPr>
            <p:cNvPr id="136" name="组合 135" descr="c1a7bf64-fbd1-48da-bdd2-90b24fdfb0d3">
              <a:extLst>
                <a:ext uri="{FF2B5EF4-FFF2-40B4-BE49-F238E27FC236}">
                  <a16:creationId xmlns:a16="http://schemas.microsoft.com/office/drawing/2014/main" id="{460C8CFE-9C0C-D0CE-9044-8E28C9C588D6}"/>
                </a:ext>
              </a:extLst>
            </p:cNvPr>
            <p:cNvGrpSpPr/>
            <p:nvPr/>
          </p:nvGrpSpPr>
          <p:grpSpPr>
            <a:xfrm>
              <a:off x="660400" y="1130300"/>
              <a:ext cx="10872265" cy="4931011"/>
              <a:chOff x="660400" y="1130300"/>
              <a:chExt cx="10872265" cy="4931011"/>
            </a:xfrm>
          </p:grpSpPr>
          <p:sp>
            <p:nvSpPr>
              <p:cNvPr id="141" name="Number1" descr="adcefb72-19ca-4ff9-8baf-92d02a92714a">
                <a:extLst>
                  <a:ext uri="{FF2B5EF4-FFF2-40B4-BE49-F238E27FC236}">
                    <a16:creationId xmlns:a16="http://schemas.microsoft.com/office/drawing/2014/main" id="{CFCF9DFB-3E40-839B-299E-A70E9A8E8B21}"/>
                  </a:ext>
                </a:extLst>
              </p:cNvPr>
              <p:cNvSpPr/>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a:rPr>
                  <a:t>1</a:t>
                </a:r>
              </a:p>
            </p:txBody>
          </p:sp>
          <p:sp>
            <p:nvSpPr>
              <p:cNvPr id="143" name="Text1" descr="e0e3a21b-368d-4bc1-9733-d95fb25f98ab">
                <a:extLst>
                  <a:ext uri="{FF2B5EF4-FFF2-40B4-BE49-F238E27FC236}">
                    <a16:creationId xmlns:a16="http://schemas.microsoft.com/office/drawing/2014/main" id="{011222BB-0F9E-BE0E-5A43-771859FD0D48}"/>
                  </a:ext>
                </a:extLst>
              </p:cNvPr>
              <p:cNvSpPr txBox="1">
                <a:spLocks/>
              </p:cNvSpPr>
              <p:nvPr/>
            </p:nvSpPr>
            <p:spPr>
              <a:xfrm>
                <a:off x="1159367" y="1530173"/>
                <a:ext cx="10373298" cy="4531138"/>
              </a:xfrm>
              <a:prstGeom prst="rect">
                <a:avLst/>
              </a:prstGeom>
              <a:noFill/>
              <a:ln>
                <a:noFill/>
              </a:ln>
            </p:spPr>
            <p:txBody>
              <a:bodyPr wrap="square" lIns="91440" tIns="45720" rIns="91440" bIns="45720" anchor="t" anchorCtr="0">
                <a:normAutofit lnSpcReduction="10000"/>
              </a:bodyPr>
              <a:lstStyle/>
              <a:p>
                <a:pPr marL="171450" indent="-171450" algn="l">
                  <a:lnSpc>
                    <a:spcPct val="120000"/>
                  </a:lnSpc>
                  <a:spcBef>
                    <a:spcPct val="0"/>
                  </a:spcBef>
                  <a:spcAft>
                    <a:spcPct val="0"/>
                  </a:spcAft>
                  <a:buFont typeface="Arial" panose="020B0604020202020204" pitchFamily="34" charset="0"/>
                  <a:buChar char="•"/>
                </a:pPr>
                <a:r>
                  <a:rPr lang="en-US" sz="2400" b="1" i="0" u="none" strike="noStrike" dirty="0">
                    <a:solidFill>
                      <a:srgbClr val="000000"/>
                    </a:solidFill>
                    <a:latin typeface="Arial"/>
                  </a:rPr>
                  <a:t>AI for </a:t>
                </a:r>
                <a:r>
                  <a:rPr lang="en-US" sz="2400" b="1" i="0" u="none" strike="noStrike" dirty="0" err="1">
                    <a:solidFill>
                      <a:srgbClr val="000000"/>
                    </a:solidFill>
                    <a:latin typeface="Arial"/>
                  </a:rPr>
                  <a:t>DB主要从优化器改进、参数调优、智能索引推荐、事务智能调度四个方向进行核心优化</a:t>
                </a:r>
                <a:r>
                  <a:rPr lang="en-US" sz="2400" b="1" i="0" u="none" strike="noStrike" dirty="0">
                    <a:solidFill>
                      <a:srgbClr val="000000"/>
                    </a:solidFill>
                    <a:latin typeface="Arial"/>
                  </a:rPr>
                  <a:t>。</a:t>
                </a:r>
              </a:p>
              <a:p>
                <a:pPr marL="171450" indent="-171450" algn="l">
                  <a:lnSpc>
                    <a:spcPct val="120000"/>
                  </a:lnSpc>
                  <a:spcBef>
                    <a:spcPct val="0"/>
                  </a:spcBef>
                  <a:spcAft>
                    <a:spcPct val="0"/>
                  </a:spcAft>
                  <a:buFont typeface="Arial" panose="020B0604020202020204" pitchFamily="34" charset="0"/>
                  <a:buChar char="•"/>
                </a:pPr>
                <a:r>
                  <a:rPr lang="en-US" sz="2400" b="1" i="0" u="none" strike="noStrike" dirty="0" err="1">
                    <a:solidFill>
                      <a:srgbClr val="000000"/>
                    </a:solidFill>
                    <a:latin typeface="Arial"/>
                  </a:rPr>
                  <a:t>优化器改进</a:t>
                </a:r>
                <a:r>
                  <a:rPr lang="zh-CN" altLang="en-US" sz="2400" b="1" i="0" u="none" strike="noStrike" dirty="0">
                    <a:solidFill>
                      <a:srgbClr val="000000"/>
                    </a:solidFill>
                    <a:latin typeface="Arial"/>
                  </a:rPr>
                  <a:t>方向</a:t>
                </a:r>
                <a:r>
                  <a:rPr lang="en-US" sz="2400" b="1" i="0" u="none" strike="noStrike" dirty="0">
                    <a:solidFill>
                      <a:srgbClr val="000000"/>
                    </a:solidFill>
                    <a:latin typeface="Arial"/>
                  </a:rPr>
                  <a:t>，传统代价优化基于采样统计信息进行表连接规划，存在统计信息不准、启发式连接规划等问题，AI可以通过学习历史执行数据提供更准确的优化。</a:t>
                </a:r>
              </a:p>
              <a:p>
                <a:pPr marL="171450" indent="-171450" algn="l">
                  <a:lnSpc>
                    <a:spcPct val="120000"/>
                  </a:lnSpc>
                  <a:spcBef>
                    <a:spcPct val="0"/>
                  </a:spcBef>
                  <a:spcAft>
                    <a:spcPct val="0"/>
                  </a:spcAft>
                  <a:buFont typeface="Arial" panose="020B0604020202020204" pitchFamily="34" charset="0"/>
                  <a:buChar char="•"/>
                </a:pPr>
                <a:r>
                  <a:rPr lang="en-US" sz="2400" b="1" i="0" u="none" strike="noStrike" dirty="0" err="1">
                    <a:solidFill>
                      <a:srgbClr val="000000"/>
                    </a:solidFill>
                    <a:latin typeface="Arial"/>
                  </a:rPr>
                  <a:t>参数调优</a:t>
                </a:r>
                <a:r>
                  <a:rPr lang="zh-CN" altLang="en-US" sz="2400" b="1" dirty="0">
                    <a:solidFill>
                      <a:srgbClr val="000000"/>
                    </a:solidFill>
                    <a:latin typeface="Arial"/>
                  </a:rPr>
                  <a:t>方向</a:t>
                </a:r>
                <a:r>
                  <a:rPr lang="en-US" sz="2400" b="1" i="0" u="none" strike="noStrike" dirty="0">
                    <a:solidFill>
                      <a:srgbClr val="000000"/>
                    </a:solidFill>
                    <a:latin typeface="Arial"/>
                  </a:rPr>
                  <a:t>，</a:t>
                </a:r>
                <a:r>
                  <a:rPr lang="en-US" sz="2400" b="1" i="0" u="none" strike="noStrike" dirty="0" err="1">
                    <a:solidFill>
                      <a:srgbClr val="000000"/>
                    </a:solidFill>
                    <a:latin typeface="Arial"/>
                  </a:rPr>
                  <a:t>数据库有数十至上百个可调节参数，AI可以通过机器学习自动找到最优参数组合，避免人工经验调优的局限性</a:t>
                </a:r>
                <a:r>
                  <a:rPr lang="en-US" sz="2400" b="1" i="0" u="none" strike="noStrike" dirty="0">
                    <a:solidFill>
                      <a:srgbClr val="000000"/>
                    </a:solidFill>
                    <a:latin typeface="Arial"/>
                  </a:rPr>
                  <a:t>。</a:t>
                </a:r>
              </a:p>
              <a:p>
                <a:pPr marL="171450" indent="-171450" algn="l">
                  <a:lnSpc>
                    <a:spcPct val="120000"/>
                  </a:lnSpc>
                  <a:spcBef>
                    <a:spcPct val="0"/>
                  </a:spcBef>
                  <a:spcAft>
                    <a:spcPct val="0"/>
                  </a:spcAft>
                  <a:buFont typeface="Arial" panose="020B0604020202020204" pitchFamily="34" charset="0"/>
                  <a:buChar char="•"/>
                </a:pPr>
                <a:r>
                  <a:rPr lang="en-US" sz="2400" b="1" i="0" u="none" strike="noStrike" dirty="0" err="1">
                    <a:solidFill>
                      <a:srgbClr val="000000"/>
                    </a:solidFill>
                    <a:latin typeface="Arial"/>
                  </a:rPr>
                  <a:t>智能索引推荐</a:t>
                </a:r>
                <a:r>
                  <a:rPr lang="zh-CN" altLang="en-US" sz="2400" b="1" i="0" u="none" strike="noStrike" dirty="0">
                    <a:solidFill>
                      <a:srgbClr val="000000"/>
                    </a:solidFill>
                    <a:latin typeface="Arial"/>
                  </a:rPr>
                  <a:t>方向，</a:t>
                </a:r>
                <a:r>
                  <a:rPr lang="en-US" sz="2400" b="1" i="0" u="none" strike="noStrike" dirty="0" err="1">
                    <a:solidFill>
                      <a:srgbClr val="000000"/>
                    </a:solidFill>
                    <a:latin typeface="Arial"/>
                  </a:rPr>
                  <a:t>通过AI算法自动分析SQL负载，推荐最优索引策略，提升查询性能</a:t>
                </a:r>
                <a:r>
                  <a:rPr lang="en-US" sz="2400" b="1" i="0" u="none" strike="noStrike" dirty="0">
                    <a:solidFill>
                      <a:srgbClr val="000000"/>
                    </a:solidFill>
                    <a:latin typeface="Arial"/>
                  </a:rPr>
                  <a:t>。</a:t>
                </a:r>
              </a:p>
              <a:p>
                <a:pPr marL="171450" indent="-171450" algn="l">
                  <a:lnSpc>
                    <a:spcPct val="120000"/>
                  </a:lnSpc>
                  <a:spcBef>
                    <a:spcPct val="0"/>
                  </a:spcBef>
                  <a:spcAft>
                    <a:spcPct val="0"/>
                  </a:spcAft>
                  <a:buFont typeface="Arial" panose="020B0604020202020204" pitchFamily="34" charset="0"/>
                  <a:buChar char="•"/>
                </a:pPr>
                <a:r>
                  <a:rPr lang="en-US" sz="2400" b="1" i="0" u="none" strike="noStrike" dirty="0" err="1">
                    <a:solidFill>
                      <a:srgbClr val="000000"/>
                    </a:solidFill>
                    <a:latin typeface="Arial"/>
                  </a:rPr>
                  <a:t>事务智能调度</a:t>
                </a:r>
                <a:r>
                  <a:rPr lang="zh-CN" altLang="en-US" sz="2400" b="1" i="0" u="none" strike="noStrike" dirty="0">
                    <a:solidFill>
                      <a:srgbClr val="000000"/>
                    </a:solidFill>
                    <a:latin typeface="Arial"/>
                  </a:rPr>
                  <a:t>方向，</a:t>
                </a:r>
                <a:r>
                  <a:rPr lang="en-US" sz="2400" b="1" i="0" u="none" strike="noStrike" dirty="0" err="1">
                    <a:solidFill>
                      <a:srgbClr val="000000"/>
                    </a:solidFill>
                    <a:latin typeface="Arial"/>
                  </a:rPr>
                  <a:t>利用AI进行事务并发冲突的智能调度，提升OLTP系统的并发性能</a:t>
                </a:r>
                <a:r>
                  <a:rPr lang="en-US" sz="2400" b="1" i="0" u="none" strike="noStrike" dirty="0">
                    <a:solidFill>
                      <a:srgbClr val="000000"/>
                    </a:solidFill>
                    <a:latin typeface="Arial"/>
                  </a:rPr>
                  <a:t>。</a:t>
                </a:r>
              </a:p>
            </p:txBody>
          </p:sp>
        </p:grpSp>
        <p:sp>
          <p:nvSpPr>
            <p:cNvPr id="138" name="Number2" descr="a8f0d3e4-3711-4294-870b-1e004d197c42">
              <a:extLst>
                <a:ext uri="{FF2B5EF4-FFF2-40B4-BE49-F238E27FC236}">
                  <a16:creationId xmlns:a16="http://schemas.microsoft.com/office/drawing/2014/main" id="{D8364893-21A1-536C-7996-827A9181E1EF}"/>
                </a:ext>
              </a:extLst>
            </p:cNvPr>
            <p:cNvSpPr/>
            <p:nvPr/>
          </p:nvSpPr>
          <p:spPr>
            <a:xfrm flipH="1">
              <a:off x="7894641"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a:rPr>
                <a:t>2</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r>
              <a:rPr lang="en-US" sz="3200" b="1" dirty="0"/>
              <a:t>AI for DB</a:t>
            </a:r>
            <a:r>
              <a:rPr lang="en-US" altLang="zh-CN" sz="3200" b="1" dirty="0"/>
              <a:t> </a:t>
            </a:r>
            <a:r>
              <a:rPr lang="en-US" altLang="zh-CN" sz="3200" b="1" dirty="0" err="1"/>
              <a:t>的技术实现方式</a:t>
            </a:r>
            <a:endParaRPr lang="en-US" sz="3200" b="1" dirty="0"/>
          </a:p>
        </p:txBody>
      </p:sp>
      <p:grpSp>
        <p:nvGrpSpPr>
          <p:cNvPr id="149" name="2bf94ace-2ff4-48ba-881a-49d6ed41180e.source.2.zh-Hans.pptx" descr="61b11545-0a87-4347-ac82-fdabd9287505">
            <a:extLst>
              <a:ext uri="{FF2B5EF4-FFF2-40B4-BE49-F238E27FC236}">
                <a16:creationId xmlns:a16="http://schemas.microsoft.com/office/drawing/2014/main" id="{55FBA01F-0CBA-DEC2-2332-756651C6EEFD}"/>
              </a:ext>
            </a:extLst>
          </p:cNvPr>
          <p:cNvGrpSpPr/>
          <p:nvPr/>
        </p:nvGrpSpPr>
        <p:grpSpPr>
          <a:xfrm>
            <a:off x="660400" y="1130300"/>
            <a:ext cx="11045019" cy="5103884"/>
            <a:chOff x="660400" y="1130300"/>
            <a:chExt cx="11045019" cy="5103884"/>
          </a:xfrm>
        </p:grpSpPr>
        <p:sp>
          <p:nvSpPr>
            <p:cNvPr id="141" name="Number1" descr="adcefb72-19ca-4ff9-8baf-92d02a92714a">
              <a:extLst>
                <a:ext uri="{FF2B5EF4-FFF2-40B4-BE49-F238E27FC236}">
                  <a16:creationId xmlns:a16="http://schemas.microsoft.com/office/drawing/2014/main" id="{CFCF9DFB-3E40-839B-299E-A70E9A8E8B21}"/>
                </a:ext>
              </a:extLst>
            </p:cNvPr>
            <p:cNvSpPr/>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a:rPr>
                <a:t>1</a:t>
              </a:r>
            </a:p>
          </p:txBody>
        </p:sp>
        <p:grpSp>
          <p:nvGrpSpPr>
            <p:cNvPr id="137" name="组合 136" descr="f9b85386-81f0-40b2-9f7a-506609e6b640">
              <a:extLst>
                <a:ext uri="{FF2B5EF4-FFF2-40B4-BE49-F238E27FC236}">
                  <a16:creationId xmlns:a16="http://schemas.microsoft.com/office/drawing/2014/main" id="{8602E0C3-B25D-8A16-44EA-55D5D4F76490}"/>
                </a:ext>
              </a:extLst>
            </p:cNvPr>
            <p:cNvGrpSpPr/>
            <p:nvPr/>
          </p:nvGrpSpPr>
          <p:grpSpPr>
            <a:xfrm>
              <a:off x="1496704" y="1130300"/>
              <a:ext cx="10208715" cy="5103884"/>
              <a:chOff x="-5737537" y="1130300"/>
              <a:chExt cx="10208715" cy="5103884"/>
            </a:xfrm>
          </p:grpSpPr>
          <p:sp>
            <p:nvSpPr>
              <p:cNvPr id="138" name="Number2" descr="a8f0d3e4-3711-4294-870b-1e004d197c42">
                <a:extLst>
                  <a:ext uri="{FF2B5EF4-FFF2-40B4-BE49-F238E27FC236}">
                    <a16:creationId xmlns:a16="http://schemas.microsoft.com/office/drawing/2014/main" id="{D8364893-21A1-536C-7996-827A9181E1EF}"/>
                  </a:ext>
                </a:extLst>
              </p:cNvPr>
              <p:cNvSpPr/>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a:rPr>
                  <a:t>2</a:t>
                </a:r>
              </a:p>
            </p:txBody>
          </p:sp>
          <p:sp>
            <p:nvSpPr>
              <p:cNvPr id="139" name="Bullet2" descr="83ca09fe-de71-432e-8048-47b1f868def6">
                <a:extLst>
                  <a:ext uri="{FF2B5EF4-FFF2-40B4-BE49-F238E27FC236}">
                    <a16:creationId xmlns:a16="http://schemas.microsoft.com/office/drawing/2014/main" id="{F5B2C693-C0E3-54F4-198E-447078BCC276}"/>
                  </a:ext>
                </a:extLst>
              </p:cNvPr>
              <p:cNvSpPr txBox="1">
                <a:spLocks/>
              </p:cNvSpPr>
              <p:nvPr/>
            </p:nvSpPr>
            <p:spPr>
              <a:xfrm>
                <a:off x="1158303" y="1130300"/>
                <a:ext cx="3126356"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endParaRPr lang="en-US" sz="1800" b="1" i="0" u="none" dirty="0">
                  <a:solidFill>
                    <a:srgbClr val="000000"/>
                  </a:solidFill>
                  <a:ea typeface="微软雅黑"/>
                </a:endParaRPr>
              </a:p>
            </p:txBody>
          </p:sp>
          <p:sp>
            <p:nvSpPr>
              <p:cNvPr id="140" name="Text2" descr="0f3bfd49-57e0-46aa-8d1c-599e7757c274">
                <a:extLst>
                  <a:ext uri="{FF2B5EF4-FFF2-40B4-BE49-F238E27FC236}">
                    <a16:creationId xmlns:a16="http://schemas.microsoft.com/office/drawing/2014/main" id="{75645592-8C3E-1359-9602-64405420C487}"/>
                  </a:ext>
                </a:extLst>
              </p:cNvPr>
              <p:cNvSpPr txBox="1">
                <a:spLocks/>
              </p:cNvSpPr>
              <p:nvPr/>
            </p:nvSpPr>
            <p:spPr>
              <a:xfrm>
                <a:off x="-5737537" y="1703046"/>
                <a:ext cx="10208715" cy="4531138"/>
              </a:xfrm>
              <a:prstGeom prst="rect">
                <a:avLst/>
              </a:prstGeom>
              <a:noFill/>
              <a:ln>
                <a:noFill/>
              </a:ln>
            </p:spPr>
            <p:txBody>
              <a:bodyPr wrap="square" lIns="91440" tIns="45720" rIns="91440" bIns="45720" anchor="t" anchorCtr="0">
                <a:normAutofit/>
              </a:bodyPr>
              <a:lstStyle/>
              <a:p>
                <a:pPr marL="342900" indent="-342900" algn="l">
                  <a:lnSpc>
                    <a:spcPct val="120000"/>
                  </a:lnSpc>
                  <a:spcBef>
                    <a:spcPct val="0"/>
                  </a:spcBef>
                  <a:spcAft>
                    <a:spcPct val="0"/>
                  </a:spcAft>
                  <a:buFont typeface="Arial" panose="020B0604020202020204" pitchFamily="34" charset="0"/>
                  <a:buChar char="•"/>
                </a:pPr>
                <a:r>
                  <a:rPr lang="en-US" sz="2800" b="1" i="0" u="none" strike="noStrike" dirty="0">
                    <a:solidFill>
                      <a:srgbClr val="000000"/>
                    </a:solidFill>
                    <a:latin typeface="Arial"/>
                  </a:rPr>
                  <a:t>AI for </a:t>
                </a:r>
                <a:r>
                  <a:rPr lang="en-US" sz="2800" b="1" i="0" u="none" strike="noStrike" dirty="0" err="1">
                    <a:solidFill>
                      <a:srgbClr val="000000"/>
                    </a:solidFill>
                    <a:latin typeface="Arial"/>
                  </a:rPr>
                  <a:t>DB的技术实现方式主要包括三个方面</a:t>
                </a:r>
                <a:r>
                  <a:rPr lang="en-US" sz="2800" b="1" dirty="0">
                    <a:solidFill>
                      <a:srgbClr val="000000"/>
                    </a:solidFill>
                    <a:latin typeface="Arial"/>
                  </a:rPr>
                  <a:t>:</a:t>
                </a:r>
                <a:endParaRPr lang="en-US" sz="2800" b="1" i="0" u="none" strike="noStrike" dirty="0">
                  <a:solidFill>
                    <a:srgbClr val="000000"/>
                  </a:solidFill>
                  <a:latin typeface="Arial"/>
                </a:endParaRPr>
              </a:p>
              <a:p>
                <a:pPr marL="800100" lvl="1" indent="-342900">
                  <a:lnSpc>
                    <a:spcPct val="120000"/>
                  </a:lnSpc>
                  <a:spcBef>
                    <a:spcPct val="0"/>
                  </a:spcBef>
                  <a:spcAft>
                    <a:spcPct val="0"/>
                  </a:spcAft>
                  <a:buFont typeface="Arial" panose="020B0604020202020204" pitchFamily="34" charset="0"/>
                  <a:buChar char="•"/>
                </a:pPr>
                <a:r>
                  <a:rPr lang="en-US" sz="2800" b="1" i="0" u="none" strike="noStrike" dirty="0" err="1">
                    <a:solidFill>
                      <a:srgbClr val="000000"/>
                    </a:solidFill>
                    <a:latin typeface="Arial"/>
                  </a:rPr>
                  <a:t>首先是通过中间件如PilotScope屏蔽数据库异构细节，提供AI调用接口</a:t>
                </a:r>
                <a:r>
                  <a:rPr lang="en-US" sz="2800" b="1" i="0" u="none" strike="noStrike" dirty="0">
                    <a:solidFill>
                      <a:srgbClr val="000000"/>
                    </a:solidFill>
                    <a:latin typeface="Arial"/>
                  </a:rPr>
                  <a:t>。</a:t>
                </a:r>
              </a:p>
              <a:p>
                <a:pPr marL="800100" lvl="1" indent="-342900">
                  <a:lnSpc>
                    <a:spcPct val="120000"/>
                  </a:lnSpc>
                  <a:spcBef>
                    <a:spcPct val="0"/>
                  </a:spcBef>
                  <a:spcAft>
                    <a:spcPct val="0"/>
                  </a:spcAft>
                  <a:buFont typeface="Arial" panose="020B0604020202020204" pitchFamily="34" charset="0"/>
                  <a:buChar char="•"/>
                </a:pPr>
                <a:r>
                  <a:rPr lang="en-US" sz="2800" b="1" i="0" u="none" strike="noStrike" dirty="0" err="1">
                    <a:solidFill>
                      <a:srgbClr val="000000"/>
                    </a:solidFill>
                    <a:latin typeface="Arial"/>
                  </a:rPr>
                  <a:t>其次支持参数调优、索引推荐、基数估计等任务的AI算法嵌入</a:t>
                </a:r>
                <a:r>
                  <a:rPr lang="en-US" sz="2800" b="1" i="0" u="none" strike="noStrike" dirty="0">
                    <a:solidFill>
                      <a:srgbClr val="000000"/>
                    </a:solidFill>
                    <a:latin typeface="Arial"/>
                  </a:rPr>
                  <a:t>。</a:t>
                </a:r>
              </a:p>
              <a:p>
                <a:pPr marL="800100" lvl="1" indent="-342900">
                  <a:lnSpc>
                    <a:spcPct val="120000"/>
                  </a:lnSpc>
                  <a:spcBef>
                    <a:spcPct val="0"/>
                  </a:spcBef>
                  <a:spcAft>
                    <a:spcPct val="0"/>
                  </a:spcAft>
                  <a:buFont typeface="Arial" panose="020B0604020202020204" pitchFamily="34" charset="0"/>
                  <a:buChar char="•"/>
                </a:pPr>
                <a:r>
                  <a:rPr lang="en-US" sz="2800" b="1" i="0" u="none" strike="noStrike" dirty="0" err="1">
                    <a:solidFill>
                      <a:srgbClr val="000000"/>
                    </a:solidFill>
                    <a:latin typeface="Arial"/>
                  </a:rPr>
                  <a:t>最后实现数据库系统的自治能力，包括自调优、自诊断、自安全、自愈等特性</a:t>
                </a:r>
                <a:r>
                  <a:rPr lang="en-US" sz="2800" b="1" i="0" u="none" strike="noStrike" dirty="0">
                    <a:solidFill>
                      <a:srgbClr val="000000"/>
                    </a:solidFill>
                    <a:latin typeface="Arial"/>
                  </a:rPr>
                  <a:t>。</a:t>
                </a:r>
              </a:p>
            </p:txBody>
          </p:sp>
        </p:grpSp>
      </p:grpSp>
    </p:spTree>
    <p:extLst>
      <p:ext uri="{BB962C8B-B14F-4D97-AF65-F5344CB8AC3E}">
        <p14:creationId xmlns:p14="http://schemas.microsoft.com/office/powerpoint/2010/main" val="9226419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r>
              <a:rPr lang="en-US" altLang="zh-CN" sz="2800" b="1" dirty="0" err="1">
                <a:solidFill>
                  <a:srgbClr val="E40000"/>
                </a:solidFill>
                <a:latin typeface="Arial"/>
                <a:ea typeface="黑体"/>
              </a:rPr>
              <a:t>AI驱动的智能运维</a:t>
            </a:r>
            <a:r>
              <a:rPr lang="en-US" altLang="zh-CN" sz="2800" b="1" dirty="0">
                <a:solidFill>
                  <a:srgbClr val="E40000"/>
                </a:solidFill>
                <a:latin typeface="Arial"/>
                <a:ea typeface="黑体"/>
              </a:rPr>
              <a:t>(AI for DB):</a:t>
            </a:r>
            <a:r>
              <a:rPr lang="en-US" sz="2800" b="1" dirty="0" err="1">
                <a:solidFill>
                  <a:srgbClr val="E40000"/>
                </a:solidFill>
                <a:latin typeface="Arial"/>
                <a:ea typeface="黑体"/>
              </a:rPr>
              <a:t>关键技术原理</a:t>
            </a:r>
            <a:endParaRPr lang="en-US" sz="2800" b="1" dirty="0">
              <a:solidFill>
                <a:srgbClr val="E40000"/>
              </a:solidFill>
              <a:latin typeface="Arial"/>
              <a:ea typeface="黑体"/>
            </a:endParaRPr>
          </a:p>
        </p:txBody>
      </p:sp>
      <p:grpSp>
        <p:nvGrpSpPr>
          <p:cNvPr id="28" name="2bf94ace-2ff4-48ba-881a-49d6ed41180e.source.4.zh-Hans.pptx" descr="00873f2a-ae4f-45a4-b97f-b311a730aa44">
            <a:extLst>
              <a:ext uri="{FF2B5EF4-FFF2-40B4-BE49-F238E27FC236}">
                <a16:creationId xmlns:a16="http://schemas.microsoft.com/office/drawing/2014/main" id="{F041A746-E2B6-E512-34C3-910B37AF25A9}"/>
              </a:ext>
            </a:extLst>
          </p:cNvPr>
          <p:cNvGrpSpPr/>
          <p:nvPr/>
        </p:nvGrpSpPr>
        <p:grpSpPr>
          <a:xfrm>
            <a:off x="660400" y="1130300"/>
            <a:ext cx="11133940" cy="5306824"/>
            <a:chOff x="660400" y="1130300"/>
            <a:chExt cx="11133940" cy="5306824"/>
          </a:xfrm>
        </p:grpSpPr>
        <p:grpSp>
          <p:nvGrpSpPr>
            <p:cNvPr id="6" name="组合 5" descr="dccea486-d066-40af-8cee-7ee5490f33a0">
              <a:extLst>
                <a:ext uri="{FF2B5EF4-FFF2-40B4-BE49-F238E27FC236}">
                  <a16:creationId xmlns:a16="http://schemas.microsoft.com/office/drawing/2014/main" id="{5A72E58F-0AA5-ADFF-02DD-D54F10C03687}"/>
                </a:ext>
              </a:extLst>
            </p:cNvPr>
            <p:cNvGrpSpPr/>
            <p:nvPr/>
          </p:nvGrpSpPr>
          <p:grpSpPr>
            <a:xfrm>
              <a:off x="660400" y="1130300"/>
              <a:ext cx="5334471" cy="2628226"/>
              <a:chOff x="660400" y="1130300"/>
              <a:chExt cx="5334471" cy="2628226"/>
            </a:xfrm>
          </p:grpSpPr>
          <p:sp>
            <p:nvSpPr>
              <p:cNvPr id="19" name="Number1" descr="df72d60f-56bd-46b7-b627-62a3b0dd39d3">
                <a:extLst>
                  <a:ext uri="{FF2B5EF4-FFF2-40B4-BE49-F238E27FC236}">
                    <a16:creationId xmlns:a16="http://schemas.microsoft.com/office/drawing/2014/main" id="{B8B208AC-89F9-08B2-B931-53D0AEFA0D19}"/>
                  </a:ext>
                </a:extLst>
              </p:cNvPr>
              <p:cNvSpPr/>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a:rPr>
                  <a:t>1</a:t>
                </a:r>
              </a:p>
            </p:txBody>
          </p:sp>
          <p:sp>
            <p:nvSpPr>
              <p:cNvPr id="20" name="Bullet1" descr="c175d28d-054f-4367-adbe-4727f0448675">
                <a:extLst>
                  <a:ext uri="{FF2B5EF4-FFF2-40B4-BE49-F238E27FC236}">
                    <a16:creationId xmlns:a16="http://schemas.microsoft.com/office/drawing/2014/main" id="{A99695A0-B7BB-EA1F-A5C9-89F097F840CE}"/>
                  </a:ext>
                </a:extLst>
              </p:cNvPr>
              <p:cNvSpPr txBox="1">
                <a:spLocks/>
              </p:cNvSpPr>
              <p:nvPr/>
            </p:nvSpPr>
            <p:spPr>
              <a:xfrm>
                <a:off x="1167043" y="1433324"/>
                <a:ext cx="3523867"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a:rPr>
                  <a:t>特征学习与模式识别</a:t>
                </a:r>
              </a:p>
            </p:txBody>
          </p:sp>
          <p:sp>
            <p:nvSpPr>
              <p:cNvPr id="21" name="Text1" descr="f93192d4-19fd-42ae-a693-eabd7265302b">
                <a:extLst>
                  <a:ext uri="{FF2B5EF4-FFF2-40B4-BE49-F238E27FC236}">
                    <a16:creationId xmlns:a16="http://schemas.microsoft.com/office/drawing/2014/main" id="{CA14C998-2258-C981-D536-154738D7C7D7}"/>
                  </a:ext>
                </a:extLst>
              </p:cNvPr>
              <p:cNvSpPr txBox="1">
                <a:spLocks/>
              </p:cNvSpPr>
              <p:nvPr/>
            </p:nvSpPr>
            <p:spPr>
              <a:xfrm>
                <a:off x="1167043" y="1905986"/>
                <a:ext cx="4827828" cy="1852540"/>
              </a:xfrm>
              <a:prstGeom prst="rect">
                <a:avLst/>
              </a:prstGeom>
              <a:noFill/>
              <a:ln>
                <a:noFill/>
              </a:ln>
            </p:spPr>
            <p:txBody>
              <a:bodyPr wrap="square" lIns="91440" tIns="45720" rIns="91440" bIns="45720" anchor="t" anchorCtr="0">
                <a:normAutofit fontScale="92500"/>
              </a:bodyPr>
              <a:lstStyle/>
              <a:p>
                <a:pPr marL="171450" indent="-1714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通过对历史运维数据的时序分析，构建数据库运行特征的矢量表征，识别正常</a:t>
                </a:r>
                <a:r>
                  <a:rPr lang="en-US" b="0" i="0" u="none" strike="noStrike" dirty="0">
                    <a:solidFill>
                      <a:srgbClr val="000000"/>
                    </a:solidFill>
                    <a:ea typeface="微软雅黑"/>
                  </a:rPr>
                  <a:t>/</a:t>
                </a:r>
                <a:r>
                  <a:rPr lang="en-US" b="0" i="0" u="none" strike="noStrike" dirty="0" err="1">
                    <a:solidFill>
                      <a:srgbClr val="000000"/>
                    </a:solidFill>
                    <a:ea typeface="微软雅黑"/>
                  </a:rPr>
                  <a:t>异常模式</a:t>
                </a:r>
                <a:r>
                  <a:rPr lang="en-US"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例如</a:t>
                </a:r>
                <a:r>
                  <a:rPr lang="en-US" b="0" i="0" u="none" strike="noStrike" dirty="0">
                    <a:solidFill>
                      <a:srgbClr val="000000"/>
                    </a:solidFill>
                    <a:ea typeface="微软雅黑"/>
                  </a:rPr>
                  <a:t>，</a:t>
                </a:r>
                <a:r>
                  <a:rPr lang="zh-CN" altLang="en-US" b="0" i="0" u="none" strike="noStrike" dirty="0">
                    <a:solidFill>
                      <a:srgbClr val="000000"/>
                    </a:solidFill>
                    <a:ea typeface="微软雅黑"/>
                  </a:rPr>
                  <a:t>采用</a:t>
                </a:r>
                <a:r>
                  <a:rPr lang="en-US" b="0" i="0" u="none" strike="noStrike" dirty="0" err="1">
                    <a:solidFill>
                      <a:srgbClr val="000000"/>
                    </a:solidFill>
                    <a:ea typeface="微软雅黑"/>
                  </a:rPr>
                  <a:t>LSTM网络建模查询响应时间序列预测负载波动，GNN分析分布式数据库节点间的关联异常</a:t>
                </a:r>
                <a:r>
                  <a:rPr lang="en-US" b="0" i="0" u="none" strike="noStrike" dirty="0">
                    <a:solidFill>
                      <a:srgbClr val="000000"/>
                    </a:solidFill>
                    <a:ea typeface="微软雅黑"/>
                  </a:rPr>
                  <a:t>。</a:t>
                </a:r>
              </a:p>
            </p:txBody>
          </p:sp>
        </p:grpSp>
        <p:grpSp>
          <p:nvGrpSpPr>
            <p:cNvPr id="7" name="组合 6" descr="ba8cfb6b-3849-45f6-9cb9-b5a636f7a134">
              <a:extLst>
                <a:ext uri="{FF2B5EF4-FFF2-40B4-BE49-F238E27FC236}">
                  <a16:creationId xmlns:a16="http://schemas.microsoft.com/office/drawing/2014/main" id="{5DBB162F-E374-0AA5-F2EF-6C0C7390478A}"/>
                </a:ext>
              </a:extLst>
            </p:cNvPr>
            <p:cNvGrpSpPr/>
            <p:nvPr/>
          </p:nvGrpSpPr>
          <p:grpSpPr>
            <a:xfrm>
              <a:off x="660400" y="3808898"/>
              <a:ext cx="5435600" cy="2628226"/>
              <a:chOff x="660400" y="1130300"/>
              <a:chExt cx="5435600" cy="2628226"/>
            </a:xfrm>
          </p:grpSpPr>
          <p:sp>
            <p:nvSpPr>
              <p:cNvPr id="16" name="Number2" descr="96da7157-b6cd-4f65-ba7b-8d0a56f94d3f">
                <a:extLst>
                  <a:ext uri="{FF2B5EF4-FFF2-40B4-BE49-F238E27FC236}">
                    <a16:creationId xmlns:a16="http://schemas.microsoft.com/office/drawing/2014/main" id="{E8E37BEC-3FED-ED17-AB68-5EDE26261618}"/>
                  </a:ext>
                </a:extLst>
              </p:cNvPr>
              <p:cNvSpPr/>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a:rPr>
                  <a:t>2</a:t>
                </a:r>
              </a:p>
            </p:txBody>
          </p:sp>
          <p:sp>
            <p:nvSpPr>
              <p:cNvPr id="17" name="Bullet2" descr="424f31b4-12c7-4b5e-9911-cb4eb77065e8">
                <a:extLst>
                  <a:ext uri="{FF2B5EF4-FFF2-40B4-BE49-F238E27FC236}">
                    <a16:creationId xmlns:a16="http://schemas.microsoft.com/office/drawing/2014/main" id="{E576A05B-75E1-79BF-32B4-F463E22D96B6}"/>
                  </a:ext>
                </a:extLst>
              </p:cNvPr>
              <p:cNvSpPr txBox="1">
                <a:spLocks/>
              </p:cNvSpPr>
              <p:nvPr/>
            </p:nvSpPr>
            <p:spPr>
              <a:xfrm>
                <a:off x="1158302" y="1433324"/>
                <a:ext cx="3523867"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a:rPr>
                  <a:t>异常检测与根因定位</a:t>
                </a:r>
              </a:p>
            </p:txBody>
          </p:sp>
          <p:sp>
            <p:nvSpPr>
              <p:cNvPr id="18" name="Text2" descr="cdc19317-a10e-4634-b927-5b88572dca79">
                <a:extLst>
                  <a:ext uri="{FF2B5EF4-FFF2-40B4-BE49-F238E27FC236}">
                    <a16:creationId xmlns:a16="http://schemas.microsoft.com/office/drawing/2014/main" id="{1D1B418A-B1B9-C42C-89AF-C2CDE5D3D99C}"/>
                  </a:ext>
                </a:extLst>
              </p:cNvPr>
              <p:cNvSpPr txBox="1">
                <a:spLocks/>
              </p:cNvSpPr>
              <p:nvPr/>
            </p:nvSpPr>
            <p:spPr>
              <a:xfrm>
                <a:off x="1158302" y="1905986"/>
                <a:ext cx="4937698" cy="1852540"/>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采用无监督学习（Isolation</a:t>
                </a:r>
                <a:r>
                  <a:rPr lang="en-US" b="0" i="0" u="none" strike="noStrike" dirty="0">
                    <a:solidFill>
                      <a:srgbClr val="000000"/>
                    </a:solidFill>
                    <a:ea typeface="微软雅黑"/>
                  </a:rPr>
                  <a:t> Forest, </a:t>
                </a:r>
                <a:r>
                  <a:rPr lang="en-US" b="0" i="0" u="none" strike="noStrike" dirty="0" err="1">
                    <a:solidFill>
                      <a:srgbClr val="000000"/>
                    </a:solidFill>
                    <a:ea typeface="微软雅黑"/>
                  </a:rPr>
                  <a:t>Autoencoder）发现潜在异常事件，结合知识图谱技术构建多维度关联关系，快速定位故障根源</a:t>
                </a:r>
                <a:r>
                  <a:rPr lang="en-US"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zh-CN" altLang="en-US" dirty="0">
                    <a:solidFill>
                      <a:srgbClr val="000000"/>
                    </a:solidFill>
                    <a:ea typeface="微软雅黑"/>
                  </a:rPr>
                  <a:t>例如，</a:t>
                </a:r>
                <a:r>
                  <a:rPr lang="en-US" b="0" i="0" u="none" strike="noStrike" dirty="0">
                    <a:solidFill>
                      <a:srgbClr val="000000"/>
                    </a:solidFill>
                    <a:ea typeface="微软雅黑"/>
                  </a:rPr>
                  <a:t>AWS </a:t>
                </a:r>
                <a:r>
                  <a:rPr lang="en-US" b="0" i="0" u="none" strike="noStrike" dirty="0" err="1">
                    <a:solidFill>
                      <a:srgbClr val="000000"/>
                    </a:solidFill>
                    <a:ea typeface="微软雅黑"/>
                  </a:rPr>
                  <a:t>Aurora通过对比实时指标与历史基线，实现毫秒级慢查询根因分析</a:t>
                </a:r>
                <a:r>
                  <a:rPr lang="en-US" b="0" i="0" u="none" strike="noStrike" dirty="0">
                    <a:solidFill>
                      <a:srgbClr val="000000"/>
                    </a:solidFill>
                    <a:ea typeface="微软雅黑"/>
                  </a:rPr>
                  <a:t>。</a:t>
                </a:r>
              </a:p>
            </p:txBody>
          </p:sp>
        </p:grpSp>
        <p:grpSp>
          <p:nvGrpSpPr>
            <p:cNvPr id="8" name="组合 7" descr="e11220d8-9953-4e02-84d7-35f3f5f1a830">
              <a:extLst>
                <a:ext uri="{FF2B5EF4-FFF2-40B4-BE49-F238E27FC236}">
                  <a16:creationId xmlns:a16="http://schemas.microsoft.com/office/drawing/2014/main" id="{D0F3313D-463D-9441-65EC-F8F657AA690A}"/>
                </a:ext>
              </a:extLst>
            </p:cNvPr>
            <p:cNvGrpSpPr/>
            <p:nvPr/>
          </p:nvGrpSpPr>
          <p:grpSpPr>
            <a:xfrm>
              <a:off x="6699813" y="1130300"/>
              <a:ext cx="5094527" cy="2628226"/>
              <a:chOff x="-534428" y="1130300"/>
              <a:chExt cx="5094527" cy="2628226"/>
            </a:xfrm>
          </p:grpSpPr>
          <p:sp>
            <p:nvSpPr>
              <p:cNvPr id="13" name="Number3" descr="7ec3495c-f8b8-4b08-938c-1a15cba039e6">
                <a:extLst>
                  <a:ext uri="{FF2B5EF4-FFF2-40B4-BE49-F238E27FC236}">
                    <a16:creationId xmlns:a16="http://schemas.microsoft.com/office/drawing/2014/main" id="{761397F3-4153-2453-8518-B58C92BE028D}"/>
                  </a:ext>
                </a:extLst>
              </p:cNvPr>
              <p:cNvSpPr/>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a:rPr>
                  <a:t>3</a:t>
                </a:r>
              </a:p>
            </p:txBody>
          </p:sp>
          <p:sp>
            <p:nvSpPr>
              <p:cNvPr id="14" name="Bullet3" descr="fb90771e-44d2-4723-a061-cd106d6cb732">
                <a:extLst>
                  <a:ext uri="{FF2B5EF4-FFF2-40B4-BE49-F238E27FC236}">
                    <a16:creationId xmlns:a16="http://schemas.microsoft.com/office/drawing/2014/main" id="{ADDAD3C0-0F73-FD39-C58E-BD38998B167A}"/>
                  </a:ext>
                </a:extLst>
              </p:cNvPr>
              <p:cNvSpPr txBox="1">
                <a:spLocks/>
              </p:cNvSpPr>
              <p:nvPr/>
            </p:nvSpPr>
            <p:spPr>
              <a:xfrm>
                <a:off x="1167044" y="1433324"/>
                <a:ext cx="3126356"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a:rPr>
                  <a:t>优化决策生成</a:t>
                </a:r>
              </a:p>
            </p:txBody>
          </p:sp>
          <p:sp>
            <p:nvSpPr>
              <p:cNvPr id="15" name="Text3" descr="89a46b12-0673-4f2c-bc34-6a15f4ef1a13">
                <a:extLst>
                  <a:ext uri="{FF2B5EF4-FFF2-40B4-BE49-F238E27FC236}">
                    <a16:creationId xmlns:a16="http://schemas.microsoft.com/office/drawing/2014/main" id="{C3F57147-FD2B-10DC-3851-E589E3199B4D}"/>
                  </a:ext>
                </a:extLst>
              </p:cNvPr>
              <p:cNvSpPr txBox="1">
                <a:spLocks/>
              </p:cNvSpPr>
              <p:nvPr/>
            </p:nvSpPr>
            <p:spPr>
              <a:xfrm>
                <a:off x="-534428" y="1905986"/>
                <a:ext cx="5094527" cy="1852540"/>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基于强化学习（如Deep</a:t>
                </a:r>
                <a:r>
                  <a:rPr lang="en-US" b="0" i="0" u="none" strike="noStrike" dirty="0">
                    <a:solidFill>
                      <a:srgbClr val="000000"/>
                    </a:solidFill>
                    <a:ea typeface="微软雅黑"/>
                  </a:rPr>
                  <a:t> Q - </a:t>
                </a:r>
                <a:r>
                  <a:rPr lang="en-US" b="0" i="0" u="none" strike="noStrike" dirty="0" err="1">
                    <a:solidFill>
                      <a:srgbClr val="000000"/>
                    </a:solidFill>
                    <a:ea typeface="微软雅黑"/>
                  </a:rPr>
                  <a:t>Network）构建参数调优策略，通过虚拟环境的试错学习获得最优配置方案</a:t>
                </a:r>
                <a:r>
                  <a:rPr lang="en-US"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zh-CN" altLang="en-US" dirty="0">
                    <a:solidFill>
                      <a:srgbClr val="000000"/>
                    </a:solidFill>
                    <a:ea typeface="微软雅黑"/>
                  </a:rPr>
                  <a:t>例如，</a:t>
                </a:r>
                <a:r>
                  <a:rPr lang="en-US" b="0" i="0" u="none" strike="noStrike" dirty="0" err="1">
                    <a:solidFill>
                      <a:srgbClr val="000000"/>
                    </a:solidFill>
                    <a:ea typeface="微软雅黑"/>
                  </a:rPr>
                  <a:t>Google的"Query</a:t>
                </a:r>
                <a:r>
                  <a:rPr lang="en-US" b="0" i="0" u="none" strike="noStrike" dirty="0">
                    <a:solidFill>
                      <a:srgbClr val="000000"/>
                    </a:solidFill>
                    <a:ea typeface="微软雅黑"/>
                  </a:rPr>
                  <a:t> Optimizer AI"动态调整执行计划，减少95%人工优化工作量。</a:t>
                </a:r>
              </a:p>
            </p:txBody>
          </p:sp>
        </p:grpSp>
        <p:grpSp>
          <p:nvGrpSpPr>
            <p:cNvPr id="9" name="组合 8" descr="7be8ae4e-5194-48ab-86aa-fa65bfc9a913">
              <a:extLst>
                <a:ext uri="{FF2B5EF4-FFF2-40B4-BE49-F238E27FC236}">
                  <a16:creationId xmlns:a16="http://schemas.microsoft.com/office/drawing/2014/main" id="{1D462AB7-12AF-A54D-138E-917E7CC3CEDD}"/>
                </a:ext>
              </a:extLst>
            </p:cNvPr>
            <p:cNvGrpSpPr/>
            <p:nvPr/>
          </p:nvGrpSpPr>
          <p:grpSpPr>
            <a:xfrm>
              <a:off x="6842051" y="3808898"/>
              <a:ext cx="4880343" cy="2628226"/>
              <a:chOff x="-392190" y="1130300"/>
              <a:chExt cx="4880343" cy="2628226"/>
            </a:xfrm>
          </p:grpSpPr>
          <p:sp>
            <p:nvSpPr>
              <p:cNvPr id="10" name="Number4" descr="63378f60-fd79-45f3-8813-022aaf73585b">
                <a:extLst>
                  <a:ext uri="{FF2B5EF4-FFF2-40B4-BE49-F238E27FC236}">
                    <a16:creationId xmlns:a16="http://schemas.microsoft.com/office/drawing/2014/main" id="{64761EE4-6E09-062F-A696-AF6115AEEB71}"/>
                  </a:ext>
                </a:extLst>
              </p:cNvPr>
              <p:cNvSpPr/>
              <p:nvPr/>
            </p:nvSpPr>
            <p:spPr>
              <a:xfrm flipH="1">
                <a:off x="660400" y="1130300"/>
                <a:ext cx="472502" cy="472662"/>
              </a:xfrm>
              <a:prstGeom prst="ellipse">
                <a:avLst/>
              </a:prstGeom>
              <a:solidFill>
                <a:schemeClr val="accent1"/>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0" i="0" u="none">
                    <a:solidFill>
                      <a:srgbClr val="FFFFFF"/>
                    </a:solidFill>
                    <a:latin typeface="Arial"/>
                  </a:rPr>
                  <a:t>4</a:t>
                </a:r>
              </a:p>
            </p:txBody>
          </p:sp>
          <p:sp>
            <p:nvSpPr>
              <p:cNvPr id="11" name="Bullet4" descr="030e4e32-ef04-4c1c-a339-e7bf0ed7f101">
                <a:extLst>
                  <a:ext uri="{FF2B5EF4-FFF2-40B4-BE49-F238E27FC236}">
                    <a16:creationId xmlns:a16="http://schemas.microsoft.com/office/drawing/2014/main" id="{706ED57D-31D1-AC25-D868-80F983CBCA89}"/>
                  </a:ext>
                </a:extLst>
              </p:cNvPr>
              <p:cNvSpPr txBox="1">
                <a:spLocks/>
              </p:cNvSpPr>
              <p:nvPr/>
            </p:nvSpPr>
            <p:spPr>
              <a:xfrm>
                <a:off x="1055402" y="1374845"/>
                <a:ext cx="3126356"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a:rPr>
                  <a:t>知识沉淀与迁移</a:t>
                </a:r>
                <a:endParaRPr lang="en-US" sz="1800" b="1" i="0" u="none" dirty="0">
                  <a:solidFill>
                    <a:srgbClr val="000000"/>
                  </a:solidFill>
                  <a:ea typeface="微软雅黑"/>
                </a:endParaRPr>
              </a:p>
            </p:txBody>
          </p:sp>
          <p:sp>
            <p:nvSpPr>
              <p:cNvPr id="12" name="Text4" descr="6888adcd-5875-4ca1-bc51-299429ee23dd">
                <a:extLst>
                  <a:ext uri="{FF2B5EF4-FFF2-40B4-BE49-F238E27FC236}">
                    <a16:creationId xmlns:a16="http://schemas.microsoft.com/office/drawing/2014/main" id="{C75EFE01-2002-6167-9C30-503C873E728D}"/>
                  </a:ext>
                </a:extLst>
              </p:cNvPr>
              <p:cNvSpPr txBox="1">
                <a:spLocks/>
              </p:cNvSpPr>
              <p:nvPr/>
            </p:nvSpPr>
            <p:spPr>
              <a:xfrm>
                <a:off x="-392190" y="1905986"/>
                <a:ext cx="4880343" cy="1852540"/>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运用迁移学习跨数据库场景复用知识模型，结合持续学习机制保持模型更新</a:t>
                </a:r>
                <a:r>
                  <a:rPr lang="en-US" b="0" i="0" u="none" strike="noStrike" dirty="0">
                    <a:solidFill>
                      <a:srgbClr val="000000"/>
                    </a:solidFill>
                    <a:ea typeface="微软雅黑"/>
                  </a:rPr>
                  <a:t>。</a:t>
                </a:r>
              </a:p>
            </p:txBody>
          </p:sp>
        </p:gr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2800" b="1" dirty="0" err="1">
                <a:solidFill>
                  <a:srgbClr val="E40000"/>
                </a:solidFill>
                <a:latin typeface="Arial"/>
                <a:ea typeface="黑体"/>
              </a:rPr>
              <a:t>系统架构分层及核心功能闭环</a:t>
            </a:r>
            <a:endParaRPr lang="en-US" sz="2800" b="1" dirty="0">
              <a:solidFill>
                <a:srgbClr val="E40000"/>
              </a:solidFill>
              <a:latin typeface="Arial"/>
              <a:ea typeface="黑体"/>
            </a:endParaRPr>
          </a:p>
        </p:txBody>
      </p:sp>
      <p:grpSp>
        <p:nvGrpSpPr>
          <p:cNvPr id="23" name="37e9254f-cd01-4222-a8b3-518de6c71795.source.2.zh-Hans.pptx" descr="dee63f1e-0e4b-47ba-953d-53113c4b91ab">
            <a:extLst>
              <a:ext uri="{FF2B5EF4-FFF2-40B4-BE49-F238E27FC236}">
                <a16:creationId xmlns:a16="http://schemas.microsoft.com/office/drawing/2014/main" id="{06956E00-C178-AB98-F5F4-2CF73B004CE6}"/>
              </a:ext>
            </a:extLst>
          </p:cNvPr>
          <p:cNvGrpSpPr/>
          <p:nvPr/>
        </p:nvGrpSpPr>
        <p:grpSpPr>
          <a:xfrm>
            <a:off x="979320" y="1526610"/>
            <a:ext cx="10029874" cy="5189226"/>
            <a:chOff x="979320" y="1526610"/>
            <a:chExt cx="10029874" cy="5189226"/>
          </a:xfrm>
        </p:grpSpPr>
        <p:grpSp>
          <p:nvGrpSpPr>
            <p:cNvPr id="37" name="组合 36" descr="3234535e-c238-4d21-9b7c-971f74b3d6c1">
              <a:extLst>
                <a:ext uri="{FF2B5EF4-FFF2-40B4-BE49-F238E27FC236}">
                  <a16:creationId xmlns:a16="http://schemas.microsoft.com/office/drawing/2014/main" id="{B6820A27-9424-DE40-3D7A-0DC5E558CA8A}"/>
                </a:ext>
              </a:extLst>
            </p:cNvPr>
            <p:cNvGrpSpPr/>
            <p:nvPr/>
          </p:nvGrpSpPr>
          <p:grpSpPr>
            <a:xfrm>
              <a:off x="1011165" y="1526610"/>
              <a:ext cx="9834520" cy="999827"/>
              <a:chOff x="1236390" y="1583006"/>
              <a:chExt cx="9834520" cy="999827"/>
            </a:xfrm>
          </p:grpSpPr>
          <p:sp>
            <p:nvSpPr>
              <p:cNvPr id="35" name="Bullet1" descr="840651b6-ae9e-4e08-a3d8-70194eb164e6">
                <a:extLst>
                  <a:ext uri="{FF2B5EF4-FFF2-40B4-BE49-F238E27FC236}">
                    <a16:creationId xmlns:a16="http://schemas.microsoft.com/office/drawing/2014/main" id="{1B079846-DD93-7DDE-3763-763EE172A75C}"/>
                  </a:ext>
                </a:extLst>
              </p:cNvPr>
              <p:cNvSpPr txBox="1">
                <a:spLocks/>
              </p:cNvSpPr>
              <p:nvPr/>
            </p:nvSpPr>
            <p:spPr>
              <a:xfrm>
                <a:off x="1236390" y="1583006"/>
                <a:ext cx="47979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a:rPr>
                  <a:t>架构分层</a:t>
                </a:r>
                <a:endParaRPr lang="en-US" sz="1800" b="1" i="0" u="none" dirty="0">
                  <a:solidFill>
                    <a:srgbClr val="000000"/>
                  </a:solidFill>
                  <a:ea typeface="微软雅黑"/>
                </a:endParaRPr>
              </a:p>
            </p:txBody>
          </p:sp>
          <p:sp>
            <p:nvSpPr>
              <p:cNvPr id="36" name="Text1" descr="96ed7318-7cc2-48c6-9d0e-3e4b825d04d1">
                <a:extLst>
                  <a:ext uri="{FF2B5EF4-FFF2-40B4-BE49-F238E27FC236}">
                    <a16:creationId xmlns:a16="http://schemas.microsoft.com/office/drawing/2014/main" id="{CD462BE0-EFA8-5A18-CBA5-A56AA9443B4A}"/>
                  </a:ext>
                </a:extLst>
              </p:cNvPr>
              <p:cNvSpPr txBox="1">
                <a:spLocks/>
              </p:cNvSpPr>
              <p:nvPr/>
            </p:nvSpPr>
            <p:spPr>
              <a:xfrm>
                <a:off x="1368054" y="2055668"/>
                <a:ext cx="9702856" cy="527165"/>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典型架构分层实现核心功能闭环，具体为：数据采集层</a:t>
                </a:r>
                <a:r>
                  <a:rPr lang="en-US" sz="1600" b="0" i="0" u="none" strike="noStrike" dirty="0">
                    <a:solidFill>
                      <a:srgbClr val="000000"/>
                    </a:solidFill>
                    <a:ea typeface="微软雅黑"/>
                  </a:rPr>
                  <a:t> → </a:t>
                </a:r>
                <a:r>
                  <a:rPr lang="en-US" sz="1600" b="0" i="0" u="none" strike="noStrike" dirty="0" err="1">
                    <a:solidFill>
                      <a:srgbClr val="000000"/>
                    </a:solidFill>
                    <a:ea typeface="微软雅黑"/>
                  </a:rPr>
                  <a:t>智能分析层</a:t>
                </a:r>
                <a:r>
                  <a:rPr lang="en-US" sz="1600" b="0" i="0" u="none" strike="noStrike" dirty="0">
                    <a:solidFill>
                      <a:srgbClr val="000000"/>
                    </a:solidFill>
                    <a:ea typeface="微软雅黑"/>
                  </a:rPr>
                  <a:t> → </a:t>
                </a:r>
                <a:r>
                  <a:rPr lang="en-US" sz="1600" b="0" i="0" u="none" strike="noStrike" dirty="0" err="1">
                    <a:solidFill>
                      <a:srgbClr val="000000"/>
                    </a:solidFill>
                    <a:ea typeface="微软雅黑"/>
                  </a:rPr>
                  <a:t>执行</a:t>
                </a:r>
                <a:r>
                  <a:rPr lang="zh-CN" altLang="en-US" sz="1600" b="0" i="0" u="none" strike="noStrike" dirty="0">
                    <a:solidFill>
                      <a:srgbClr val="000000"/>
                    </a:solidFill>
                    <a:ea typeface="微软雅黑"/>
                  </a:rPr>
                  <a:t>控制</a:t>
                </a:r>
                <a:r>
                  <a:rPr lang="en-US" sz="1600" b="0" i="0" u="none" strike="noStrike" dirty="0" err="1">
                    <a:solidFill>
                      <a:srgbClr val="000000"/>
                    </a:solidFill>
                    <a:ea typeface="微软雅黑"/>
                  </a:rPr>
                  <a:t>层，同时知识库与各层相互关联</a:t>
                </a:r>
                <a:r>
                  <a:rPr lang="en-US" sz="1600" b="0" i="0" u="none" strike="noStrike" dirty="0">
                    <a:solidFill>
                      <a:srgbClr val="000000"/>
                    </a:solidFill>
                    <a:ea typeface="微软雅黑"/>
                  </a:rPr>
                  <a:t>。</a:t>
                </a:r>
              </a:p>
            </p:txBody>
          </p:sp>
        </p:grpSp>
        <p:grpSp>
          <p:nvGrpSpPr>
            <p:cNvPr id="70" name="组合 69" descr="61ebc10e-c441-4849-ab80-63e494d38b80">
              <a:extLst>
                <a:ext uri="{FF2B5EF4-FFF2-40B4-BE49-F238E27FC236}">
                  <a16:creationId xmlns:a16="http://schemas.microsoft.com/office/drawing/2014/main" id="{A6F75176-673A-FE58-A23B-DD13EF53B119}"/>
                </a:ext>
              </a:extLst>
            </p:cNvPr>
            <p:cNvGrpSpPr/>
            <p:nvPr/>
          </p:nvGrpSpPr>
          <p:grpSpPr>
            <a:xfrm>
              <a:off x="979320" y="5534624"/>
              <a:ext cx="10029874" cy="1181212"/>
              <a:chOff x="-4358055" y="5591020"/>
              <a:chExt cx="10029874" cy="1181212"/>
            </a:xfrm>
          </p:grpSpPr>
          <p:sp>
            <p:nvSpPr>
              <p:cNvPr id="84" name="Bullet2" descr="37721e2f-a746-4c5a-aa9f-8f00bfea1396">
                <a:extLst>
                  <a:ext uri="{FF2B5EF4-FFF2-40B4-BE49-F238E27FC236}">
                    <a16:creationId xmlns:a16="http://schemas.microsoft.com/office/drawing/2014/main" id="{6A53E935-CBAD-0030-6430-64B6EC522CE8}"/>
                  </a:ext>
                </a:extLst>
              </p:cNvPr>
              <p:cNvSpPr txBox="1">
                <a:spLocks/>
              </p:cNvSpPr>
              <p:nvPr/>
            </p:nvSpPr>
            <p:spPr>
              <a:xfrm>
                <a:off x="-4326210" y="5591020"/>
                <a:ext cx="4797998" cy="384856"/>
              </a:xfrm>
              <a:prstGeom prst="rect">
                <a:avLst/>
              </a:prstGeom>
              <a:noFill/>
              <a:ln>
                <a:noFill/>
              </a:ln>
            </p:spPr>
            <p:txBody>
              <a:bodyPr wrap="square" lIns="91440" tIns="45720" rIns="91440" bIns="45720" anchor="ctr" anchorCtr="0">
                <a:normAutofit lnSpcReduction="10000"/>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dirty="0" err="1">
                    <a:solidFill>
                      <a:srgbClr val="000000"/>
                    </a:solidFill>
                    <a:ea typeface="微软雅黑"/>
                  </a:rPr>
                  <a:t>核心功能闭环</a:t>
                </a:r>
                <a:endParaRPr lang="en-US" dirty="0">
                  <a:solidFill>
                    <a:srgbClr val="000000"/>
                  </a:solidFill>
                  <a:ea typeface="微软雅黑"/>
                </a:endParaRPr>
              </a:p>
            </p:txBody>
          </p:sp>
          <p:sp>
            <p:nvSpPr>
              <p:cNvPr id="85" name="Text2" descr="2ccf15e1-dda1-414c-a308-5b3fb911243d">
                <a:extLst>
                  <a:ext uri="{FF2B5EF4-FFF2-40B4-BE49-F238E27FC236}">
                    <a16:creationId xmlns:a16="http://schemas.microsoft.com/office/drawing/2014/main" id="{08426CFE-8686-92DC-289D-3240B951CB45}"/>
                  </a:ext>
                </a:extLst>
              </p:cNvPr>
              <p:cNvSpPr txBox="1">
                <a:spLocks/>
              </p:cNvSpPr>
              <p:nvPr/>
            </p:nvSpPr>
            <p:spPr>
              <a:xfrm>
                <a:off x="-4358055" y="6054535"/>
                <a:ext cx="10029874" cy="717697"/>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数据采集层采集多模态数据，智能分析层对数据进行处理和推理，决策执行层根据分析结果进行自动化操作，知识库为整个过程提供知识支持</a:t>
                </a:r>
                <a:r>
                  <a:rPr lang="en-US" sz="1600" b="0" i="0" u="none" strike="noStrike" dirty="0">
                    <a:solidFill>
                      <a:srgbClr val="000000"/>
                    </a:solidFill>
                    <a:ea typeface="微软雅黑"/>
                  </a:rPr>
                  <a:t>。</a:t>
                </a:r>
              </a:p>
            </p:txBody>
          </p:sp>
        </p:grpSp>
      </p:grpSp>
      <p:sp>
        <p:nvSpPr>
          <p:cNvPr id="3" name="矩形 2">
            <a:extLst>
              <a:ext uri="{FF2B5EF4-FFF2-40B4-BE49-F238E27FC236}">
                <a16:creationId xmlns:a16="http://schemas.microsoft.com/office/drawing/2014/main" id="{666A72CF-99BE-4F49-9D9B-A0907F610A22}"/>
              </a:ext>
            </a:extLst>
          </p:cNvPr>
          <p:cNvSpPr/>
          <p:nvPr/>
        </p:nvSpPr>
        <p:spPr bwMode="auto">
          <a:xfrm>
            <a:off x="3762228" y="2875694"/>
            <a:ext cx="2224585" cy="408868"/>
          </a:xfrm>
          <a:prstGeom prst="rect">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0" i="0" u="none" strike="noStrike" dirty="0" err="1">
                <a:solidFill>
                  <a:srgbClr val="000000"/>
                </a:solidFill>
                <a:ea typeface="微软雅黑"/>
              </a:rPr>
              <a:t>执行</a:t>
            </a:r>
            <a:r>
              <a:rPr lang="zh-CN" altLang="en-US" sz="1800" b="0" i="0" u="none" strike="noStrike" dirty="0">
                <a:solidFill>
                  <a:srgbClr val="000000"/>
                </a:solidFill>
                <a:ea typeface="微软雅黑"/>
              </a:rPr>
              <a:t>控制</a:t>
            </a:r>
            <a:r>
              <a:rPr lang="en-US" altLang="zh-CN" sz="1800" b="0" i="0" u="none" strike="noStrike" dirty="0">
                <a:solidFill>
                  <a:srgbClr val="000000"/>
                </a:solidFill>
                <a:ea typeface="微软雅黑"/>
              </a:rPr>
              <a:t>层</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4" name="矩形 13">
            <a:extLst>
              <a:ext uri="{FF2B5EF4-FFF2-40B4-BE49-F238E27FC236}">
                <a16:creationId xmlns:a16="http://schemas.microsoft.com/office/drawing/2014/main" id="{2BA6CDF2-C22C-4410-A2FA-55734948E412}"/>
              </a:ext>
            </a:extLst>
          </p:cNvPr>
          <p:cNvSpPr/>
          <p:nvPr/>
        </p:nvSpPr>
        <p:spPr bwMode="auto">
          <a:xfrm>
            <a:off x="3759954" y="3733231"/>
            <a:ext cx="2224585" cy="408868"/>
          </a:xfrm>
          <a:prstGeom prst="rect">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0" i="0" u="none" strike="noStrike" dirty="0" err="1">
                <a:solidFill>
                  <a:srgbClr val="000000"/>
                </a:solidFill>
                <a:ea typeface="微软雅黑"/>
              </a:rPr>
              <a:t>智能分析层</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5" name="矩形 14">
            <a:extLst>
              <a:ext uri="{FF2B5EF4-FFF2-40B4-BE49-F238E27FC236}">
                <a16:creationId xmlns:a16="http://schemas.microsoft.com/office/drawing/2014/main" id="{048D5680-EE80-40DD-8FA0-DDC7F7CBD416}"/>
              </a:ext>
            </a:extLst>
          </p:cNvPr>
          <p:cNvSpPr/>
          <p:nvPr/>
        </p:nvSpPr>
        <p:spPr bwMode="auto">
          <a:xfrm>
            <a:off x="3712181" y="4575176"/>
            <a:ext cx="2224585" cy="408868"/>
          </a:xfrm>
          <a:prstGeom prst="rect">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0" i="0" u="none" strike="noStrike" dirty="0" err="1">
                <a:solidFill>
                  <a:srgbClr val="000000"/>
                </a:solidFill>
                <a:ea typeface="微软雅黑"/>
              </a:rPr>
              <a:t>数据采集层</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4" name="圆柱体 3">
            <a:extLst>
              <a:ext uri="{FF2B5EF4-FFF2-40B4-BE49-F238E27FC236}">
                <a16:creationId xmlns:a16="http://schemas.microsoft.com/office/drawing/2014/main" id="{33F4D905-A940-4185-BE44-94FCD74C5730}"/>
              </a:ext>
            </a:extLst>
          </p:cNvPr>
          <p:cNvSpPr/>
          <p:nvPr/>
        </p:nvSpPr>
        <p:spPr bwMode="auto">
          <a:xfrm>
            <a:off x="7369786" y="3621206"/>
            <a:ext cx="1360227" cy="1114567"/>
          </a:xfrm>
          <a:prstGeom prst="can">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lang="en-US" altLang="zh-CN" sz="1800" b="0" i="0" u="none" strike="noStrike" dirty="0">
              <a:solidFill>
                <a:srgbClr val="000000"/>
              </a:solidFill>
              <a:ea typeface="微软雅黑"/>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0" i="0" u="none" strike="noStrike" dirty="0" err="1">
                <a:solidFill>
                  <a:srgbClr val="000000"/>
                </a:solidFill>
                <a:ea typeface="微软雅黑"/>
              </a:rPr>
              <a:t>知识库</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5" name="箭头: 上 4">
            <a:extLst>
              <a:ext uri="{FF2B5EF4-FFF2-40B4-BE49-F238E27FC236}">
                <a16:creationId xmlns:a16="http://schemas.microsoft.com/office/drawing/2014/main" id="{787084A3-CEBC-4615-8481-B909A8F0AA0C}"/>
              </a:ext>
            </a:extLst>
          </p:cNvPr>
          <p:cNvSpPr/>
          <p:nvPr/>
        </p:nvSpPr>
        <p:spPr bwMode="auto">
          <a:xfrm>
            <a:off x="4699386" y="4208967"/>
            <a:ext cx="454926" cy="337961"/>
          </a:xfrm>
          <a:prstGeom prst="upArrow">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8" name="箭头: 上 17">
            <a:extLst>
              <a:ext uri="{FF2B5EF4-FFF2-40B4-BE49-F238E27FC236}">
                <a16:creationId xmlns:a16="http://schemas.microsoft.com/office/drawing/2014/main" id="{4659707A-2CF6-49F8-94EC-AC8DC3989B68}"/>
              </a:ext>
            </a:extLst>
          </p:cNvPr>
          <p:cNvSpPr/>
          <p:nvPr/>
        </p:nvSpPr>
        <p:spPr bwMode="auto">
          <a:xfrm>
            <a:off x="4697113" y="3346881"/>
            <a:ext cx="454926" cy="312990"/>
          </a:xfrm>
          <a:prstGeom prst="upArrow">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7" name="直接箭头连接符 6">
            <a:extLst>
              <a:ext uri="{FF2B5EF4-FFF2-40B4-BE49-F238E27FC236}">
                <a16:creationId xmlns:a16="http://schemas.microsoft.com/office/drawing/2014/main" id="{52EBDE0C-AA21-421C-84E7-38984E4C5518}"/>
              </a:ext>
            </a:extLst>
          </p:cNvPr>
          <p:cNvCxnSpPr>
            <a:cxnSpLocks/>
            <a:stCxn id="3" idx="3"/>
          </p:cNvCxnSpPr>
          <p:nvPr/>
        </p:nvCxnSpPr>
        <p:spPr bwMode="auto">
          <a:xfrm>
            <a:off x="5986813" y="3080128"/>
            <a:ext cx="1414818" cy="944468"/>
          </a:xfrm>
          <a:prstGeom prst="straightConnector1">
            <a:avLst/>
          </a:prstGeom>
          <a:solidFill>
            <a:schemeClr val="accent1"/>
          </a:solidFill>
          <a:ln w="9525" cap="flat" cmpd="sng" algn="ctr">
            <a:solidFill>
              <a:schemeClr val="tx1"/>
            </a:solidFill>
            <a:prstDash val="solid"/>
            <a:round/>
            <a:headEnd type="triangle"/>
            <a:tailEnd type="triangle"/>
          </a:ln>
          <a:effectLst>
            <a:outerShdw dist="17961" dir="2700000" algn="ctr" rotWithShape="0">
              <a:schemeClr val="tx1">
                <a:gamma/>
                <a:shade val="60000"/>
                <a:invGamma/>
              </a:schemeClr>
            </a:outerShdw>
          </a:effectLst>
        </p:spPr>
      </p:cxnSp>
      <p:cxnSp>
        <p:nvCxnSpPr>
          <p:cNvPr id="22" name="直接箭头连接符 21">
            <a:extLst>
              <a:ext uri="{FF2B5EF4-FFF2-40B4-BE49-F238E27FC236}">
                <a16:creationId xmlns:a16="http://schemas.microsoft.com/office/drawing/2014/main" id="{0E576FEF-383C-4C21-AD2E-2ED8ADBB3306}"/>
              </a:ext>
            </a:extLst>
          </p:cNvPr>
          <p:cNvCxnSpPr>
            <a:cxnSpLocks/>
            <a:stCxn id="14" idx="3"/>
            <a:endCxn id="4" idx="2"/>
          </p:cNvCxnSpPr>
          <p:nvPr/>
        </p:nvCxnSpPr>
        <p:spPr bwMode="auto">
          <a:xfrm>
            <a:off x="5984539" y="3937665"/>
            <a:ext cx="1385247" cy="240825"/>
          </a:xfrm>
          <a:prstGeom prst="straightConnector1">
            <a:avLst/>
          </a:prstGeom>
          <a:solidFill>
            <a:schemeClr val="accent1"/>
          </a:solidFill>
          <a:ln w="9525" cap="flat" cmpd="sng" algn="ctr">
            <a:solidFill>
              <a:schemeClr val="tx1"/>
            </a:solidFill>
            <a:prstDash val="solid"/>
            <a:round/>
            <a:headEnd type="triangle"/>
            <a:tailEnd type="triangle"/>
          </a:ln>
          <a:effectLst>
            <a:outerShdw dist="17961" dir="2700000" algn="ctr" rotWithShape="0">
              <a:schemeClr val="tx1">
                <a:gamma/>
                <a:shade val="60000"/>
                <a:invGamma/>
              </a:schemeClr>
            </a:outerShdw>
          </a:effectLst>
        </p:spPr>
      </p:cxnSp>
      <p:cxnSp>
        <p:nvCxnSpPr>
          <p:cNvPr id="16" name="直接箭头连接符 15">
            <a:extLst>
              <a:ext uri="{FF2B5EF4-FFF2-40B4-BE49-F238E27FC236}">
                <a16:creationId xmlns:a16="http://schemas.microsoft.com/office/drawing/2014/main" id="{8ABDAE2C-84A3-4208-987E-DA1053D25E99}"/>
              </a:ext>
            </a:extLst>
          </p:cNvPr>
          <p:cNvCxnSpPr>
            <a:cxnSpLocks/>
            <a:endCxn id="15" idx="3"/>
          </p:cNvCxnSpPr>
          <p:nvPr/>
        </p:nvCxnSpPr>
        <p:spPr bwMode="auto">
          <a:xfrm flipH="1">
            <a:off x="5936766" y="4377947"/>
            <a:ext cx="1433020" cy="401663"/>
          </a:xfrm>
          <a:prstGeom prst="straightConnector1">
            <a:avLst/>
          </a:prstGeom>
          <a:solidFill>
            <a:schemeClr val="accent1"/>
          </a:solidFill>
          <a:ln w="9525" cap="flat" cmpd="sng" algn="ctr">
            <a:solidFill>
              <a:schemeClr val="tx1"/>
            </a:solidFill>
            <a:prstDash val="solid"/>
            <a:round/>
            <a:headEnd type="triangle"/>
            <a:tailEnd type="triangle"/>
          </a:ln>
          <a:effectLst>
            <a:outerShdw dist="17961" dir="2700000" algn="ctr" rotWithShape="0">
              <a:schemeClr val="tx1">
                <a:gamma/>
                <a:shade val="60000"/>
                <a:invGamma/>
              </a:schemeClr>
            </a:outerShdw>
          </a:effectLst>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2800" b="1" dirty="0" err="1">
                <a:solidFill>
                  <a:srgbClr val="E40000"/>
                </a:solidFill>
                <a:latin typeface="Arial"/>
                <a:ea typeface="黑体"/>
              </a:rPr>
              <a:t>数据采集层</a:t>
            </a:r>
            <a:endParaRPr lang="en-US" sz="2800" b="1" dirty="0">
              <a:solidFill>
                <a:srgbClr val="E40000"/>
              </a:solidFill>
              <a:latin typeface="Arial"/>
              <a:ea typeface="黑体"/>
            </a:endParaRPr>
          </a:p>
        </p:txBody>
      </p:sp>
      <p:grpSp>
        <p:nvGrpSpPr>
          <p:cNvPr id="3" name="def833a4-fb96-4912-b259-2a1294d29a0c.source.2.zh-Hans.pptx" descr="a5caf57a-60f3-4ace-98f6-541ecac32e29">
            <a:extLst>
              <a:ext uri="{FF2B5EF4-FFF2-40B4-BE49-F238E27FC236}">
                <a16:creationId xmlns:a16="http://schemas.microsoft.com/office/drawing/2014/main" id="{A0778EFB-5B26-B1F6-554E-A9D638ABA330}"/>
              </a:ext>
            </a:extLst>
          </p:cNvPr>
          <p:cNvGrpSpPr/>
          <p:nvPr/>
        </p:nvGrpSpPr>
        <p:grpSpPr>
          <a:xfrm>
            <a:off x="465351" y="1341095"/>
            <a:ext cx="10859676" cy="4532918"/>
            <a:chOff x="469900" y="940758"/>
            <a:chExt cx="10859676" cy="4532918"/>
          </a:xfrm>
        </p:grpSpPr>
        <p:grpSp>
          <p:nvGrpSpPr>
            <p:cNvPr id="7" name="组合 6" descr="ad6aab9f-8fb8-412b-ad28-da1a56d8c665">
              <a:extLst>
                <a:ext uri="{FF2B5EF4-FFF2-40B4-BE49-F238E27FC236}">
                  <a16:creationId xmlns:a16="http://schemas.microsoft.com/office/drawing/2014/main" id="{0CD348AA-3BA8-A83E-1D78-77510594B974}"/>
                </a:ext>
              </a:extLst>
            </p:cNvPr>
            <p:cNvGrpSpPr/>
            <p:nvPr/>
          </p:nvGrpSpPr>
          <p:grpSpPr>
            <a:xfrm>
              <a:off x="469900" y="940758"/>
              <a:ext cx="5242414" cy="4532918"/>
              <a:chOff x="469900" y="940758"/>
              <a:chExt cx="5242414" cy="4532918"/>
            </a:xfrm>
          </p:grpSpPr>
          <p:sp>
            <p:nvSpPr>
              <p:cNvPr id="15" name="Text1" descr="4c58a604-a053-4e71-9276-b51789c20662">
                <a:extLst>
                  <a:ext uri="{FF2B5EF4-FFF2-40B4-BE49-F238E27FC236}">
                    <a16:creationId xmlns:a16="http://schemas.microsoft.com/office/drawing/2014/main" id="{5A2AC463-2B35-BC60-2E8D-FC0DA2D62441}"/>
                  </a:ext>
                </a:extLst>
              </p:cNvPr>
              <p:cNvSpPr/>
              <p:nvPr/>
            </p:nvSpPr>
            <p:spPr>
              <a:xfrm flipH="1">
                <a:off x="871522" y="4549250"/>
                <a:ext cx="4840792" cy="924426"/>
              </a:xfrm>
              <a:prstGeom prst="rect">
                <a:avLst/>
              </a:prstGeom>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包括性能指标（CPU</a:t>
                </a:r>
                <a:r>
                  <a:rPr lang="en-US" sz="1600" b="0" i="0" u="none" strike="noStrike" dirty="0">
                    <a:solidFill>
                      <a:srgbClr val="000000"/>
                    </a:solidFill>
                    <a:ea typeface="微软雅黑"/>
                  </a:rPr>
                  <a:t>/IO/</a:t>
                </a:r>
                <a:r>
                  <a:rPr lang="en-US" sz="1600" b="0" i="0" u="none" strike="noStrike" dirty="0" err="1">
                    <a:solidFill>
                      <a:srgbClr val="000000"/>
                    </a:solidFill>
                    <a:ea typeface="微软雅黑"/>
                  </a:rPr>
                  <a:t>锁竞争等</a:t>
                </a:r>
                <a:r>
                  <a:rPr lang="en-US" sz="1600" b="0" i="0" u="none" strike="noStrike" dirty="0">
                    <a:solidFill>
                      <a:srgbClr val="000000"/>
                    </a:solidFill>
                    <a:ea typeface="微软雅黑"/>
                  </a:rPr>
                  <a:t>）、</a:t>
                </a:r>
                <a:r>
                  <a:rPr lang="en-US" sz="1600" b="0" i="0" u="none" strike="noStrike" dirty="0" err="1">
                    <a:solidFill>
                      <a:srgbClr val="000000"/>
                    </a:solidFill>
                    <a:ea typeface="微软雅黑"/>
                  </a:rPr>
                  <a:t>查询执行计划及性能剖析（Explain</a:t>
                </a:r>
                <a:r>
                  <a:rPr lang="en-US" sz="1600" b="0" i="0" u="none" strike="noStrike" dirty="0">
                    <a:solidFill>
                      <a:srgbClr val="000000"/>
                    </a:solidFill>
                    <a:ea typeface="微软雅黑"/>
                  </a:rPr>
                  <a:t> Plan）、</a:t>
                </a:r>
                <a:r>
                  <a:rPr lang="en-US" sz="1600" b="0" i="0" u="none" strike="noStrike" dirty="0" err="1">
                    <a:solidFill>
                      <a:srgbClr val="000000"/>
                    </a:solidFill>
                    <a:ea typeface="微软雅黑"/>
                  </a:rPr>
                  <a:t>日志数据（错误日志、慢查询日志</a:t>
                </a:r>
                <a:r>
                  <a:rPr lang="en-US" sz="1600" b="0" i="0" u="none" strike="noStrike" dirty="0">
                    <a:solidFill>
                      <a:srgbClr val="000000"/>
                    </a:solidFill>
                    <a:ea typeface="微软雅黑"/>
                  </a:rPr>
                  <a:t>）、</a:t>
                </a:r>
                <a:r>
                  <a:rPr lang="en-US" sz="1600" b="0" i="0" u="none" strike="noStrike" dirty="0" err="1">
                    <a:solidFill>
                      <a:srgbClr val="000000"/>
                    </a:solidFill>
                    <a:ea typeface="微软雅黑"/>
                  </a:rPr>
                  <a:t>拓扑信息（集群节点状态、网络延迟</a:t>
                </a:r>
                <a:r>
                  <a:rPr lang="en-US" sz="1600" b="0" i="0" u="none" strike="noStrike" dirty="0">
                    <a:solidFill>
                      <a:srgbClr val="000000"/>
                    </a:solidFill>
                    <a:ea typeface="微软雅黑"/>
                  </a:rPr>
                  <a:t>）。</a:t>
                </a:r>
              </a:p>
            </p:txBody>
          </p:sp>
          <p:sp>
            <p:nvSpPr>
              <p:cNvPr id="16" name="Bullet1" descr="ce648d79-6dab-492b-892e-12c659db8931">
                <a:extLst>
                  <a:ext uri="{FF2B5EF4-FFF2-40B4-BE49-F238E27FC236}">
                    <a16:creationId xmlns:a16="http://schemas.microsoft.com/office/drawing/2014/main" id="{F7B7251E-7F3F-A76C-39C5-A5CDE7B01ED7}"/>
                  </a:ext>
                </a:extLst>
              </p:cNvPr>
              <p:cNvSpPr txBox="1"/>
              <p:nvPr/>
            </p:nvSpPr>
            <p:spPr>
              <a:xfrm>
                <a:off x="1074177" y="3830475"/>
                <a:ext cx="3908194" cy="442800"/>
              </a:xfrm>
              <a:prstGeom prst="rect">
                <a:avLst/>
              </a:prstGeom>
              <a:noFill/>
              <a:ln>
                <a:noFill/>
              </a:ln>
            </p:spPr>
            <p:txBody>
              <a:bodyPr wrap="square" lIns="91440" tIns="45720" rIns="91440" bIns="45720" anchor="ctr" anchorCtr="0">
                <a:normAutofit/>
              </a:bodyPr>
              <a:lstStyle/>
              <a:p>
                <a:pPr algn="l">
                  <a:lnSpc>
                    <a:spcPct val="120000"/>
                  </a:lnSpc>
                </a:pPr>
                <a:r>
                  <a:rPr lang="en-US" sz="1800" b="1" i="0" u="none" dirty="0" err="1">
                    <a:solidFill>
                      <a:srgbClr val="000000"/>
                    </a:solidFill>
                    <a:ea typeface="微软雅黑"/>
                  </a:rPr>
                  <a:t>多模态数据获取</a:t>
                </a:r>
                <a:endParaRPr lang="en-US" sz="1800" b="1" i="0" u="none" dirty="0">
                  <a:solidFill>
                    <a:srgbClr val="000000"/>
                  </a:solidFill>
                  <a:ea typeface="微软雅黑"/>
                </a:endParaRPr>
              </a:p>
            </p:txBody>
          </p:sp>
          <p:sp>
            <p:nvSpPr>
              <p:cNvPr id="17" name="Shape1" descr="db06e350-aa7e-4e8c-ba3a-ea48e437acd3">
                <a:extLst>
                  <a:ext uri="{FF2B5EF4-FFF2-40B4-BE49-F238E27FC236}">
                    <a16:creationId xmlns:a16="http://schemas.microsoft.com/office/drawing/2014/main" id="{D56C8EE6-8784-14B5-984F-F4F86586FF87}"/>
                  </a:ext>
                </a:extLst>
              </p:cNvPr>
              <p:cNvSpPr/>
              <p:nvPr/>
            </p:nvSpPr>
            <p:spPr>
              <a:xfrm>
                <a:off x="469900" y="940758"/>
                <a:ext cx="393664" cy="396548"/>
              </a:xfrm>
              <a:prstGeom prst="pie">
                <a:avLst>
                  <a:gd name="adj1" fmla="val 0"/>
                  <a:gd name="adj2" fmla="val 5387355"/>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grpSp>
        <p:grpSp>
          <p:nvGrpSpPr>
            <p:cNvPr id="8" name="组合 7" descr="46ecb74d-8379-4028-a643-1115b726a950">
              <a:extLst>
                <a:ext uri="{FF2B5EF4-FFF2-40B4-BE49-F238E27FC236}">
                  <a16:creationId xmlns:a16="http://schemas.microsoft.com/office/drawing/2014/main" id="{18E32327-7778-CE65-C7C3-F2A931A27B9D}"/>
                </a:ext>
              </a:extLst>
            </p:cNvPr>
            <p:cNvGrpSpPr/>
            <p:nvPr/>
          </p:nvGrpSpPr>
          <p:grpSpPr>
            <a:xfrm>
              <a:off x="469900" y="3632201"/>
              <a:ext cx="10859676" cy="1841475"/>
              <a:chOff x="469900" y="3632201"/>
              <a:chExt cx="10859676" cy="1841475"/>
            </a:xfrm>
          </p:grpSpPr>
          <p:sp>
            <p:nvSpPr>
              <p:cNvPr id="11" name="Text2" descr="965b9723-b03f-405d-935c-2290a8a3a127">
                <a:extLst>
                  <a:ext uri="{FF2B5EF4-FFF2-40B4-BE49-F238E27FC236}">
                    <a16:creationId xmlns:a16="http://schemas.microsoft.com/office/drawing/2014/main" id="{E87346DE-8E3D-6B46-E0DC-2CF0ABFDE6DF}"/>
                  </a:ext>
                </a:extLst>
              </p:cNvPr>
              <p:cNvSpPr/>
              <p:nvPr/>
            </p:nvSpPr>
            <p:spPr>
              <a:xfrm flipH="1">
                <a:off x="6177886" y="4549250"/>
                <a:ext cx="5151690" cy="924426"/>
              </a:xfrm>
              <a:prstGeom prst="rect">
                <a:avLst/>
              </a:prstGeom>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时序数据库（Prometheus</a:t>
                </a:r>
                <a:r>
                  <a:rPr lang="en-US" sz="1600" b="0" i="0" u="none" strike="noStrike" dirty="0">
                    <a:solidFill>
                      <a:srgbClr val="000000"/>
                    </a:solidFill>
                    <a:ea typeface="微软雅黑"/>
                  </a:rPr>
                  <a:t>/</a:t>
                </a:r>
                <a:r>
                  <a:rPr lang="en-US" sz="1600" b="0" i="0" u="none" strike="noStrike" dirty="0" err="1">
                    <a:solidFill>
                      <a:srgbClr val="000000"/>
                    </a:solidFill>
                    <a:ea typeface="微软雅黑"/>
                  </a:rPr>
                  <a:t>TDengine</a:t>
                </a:r>
                <a:r>
                  <a:rPr lang="en-US" sz="1600" b="0" i="0" u="none" strike="noStrike" dirty="0">
                    <a:solidFill>
                      <a:srgbClr val="000000"/>
                    </a:solidFill>
                    <a:ea typeface="微软雅黑"/>
                  </a:rPr>
                  <a:t>）、</a:t>
                </a:r>
                <a:r>
                  <a:rPr lang="en-US" sz="1600" b="0" i="0" u="none" strike="noStrike" dirty="0" err="1">
                    <a:solidFill>
                      <a:srgbClr val="000000"/>
                    </a:solidFill>
                    <a:ea typeface="微软雅黑"/>
                  </a:rPr>
                  <a:t>日志采集器（Fluentd</a:t>
                </a:r>
                <a:r>
                  <a:rPr lang="en-US" sz="1600" b="0" i="0" u="none" strike="noStrike" dirty="0">
                    <a:solidFill>
                      <a:srgbClr val="000000"/>
                    </a:solidFill>
                    <a:ea typeface="微软雅黑"/>
                  </a:rPr>
                  <a:t>/</a:t>
                </a:r>
                <a:r>
                  <a:rPr lang="en-US" sz="1600" b="0" i="0" u="none" strike="noStrike" dirty="0" err="1">
                    <a:solidFill>
                      <a:srgbClr val="000000"/>
                    </a:solidFill>
                    <a:ea typeface="微软雅黑"/>
                  </a:rPr>
                  <a:t>Filebeat</a:t>
                </a:r>
                <a:r>
                  <a:rPr lang="en-US" sz="1600" b="0" i="0" u="none" strike="noStrike" dirty="0">
                    <a:solidFill>
                      <a:srgbClr val="000000"/>
                    </a:solidFill>
                    <a:ea typeface="微软雅黑"/>
                  </a:rPr>
                  <a:t>）、</a:t>
                </a:r>
                <a:r>
                  <a:rPr lang="en-US" sz="1600" b="0" i="0" u="none" strike="noStrike" dirty="0" err="1">
                    <a:solidFill>
                      <a:srgbClr val="000000"/>
                    </a:solidFill>
                    <a:ea typeface="微软雅黑"/>
                  </a:rPr>
                  <a:t>实时流处理（Kafka</a:t>
                </a:r>
                <a:r>
                  <a:rPr lang="en-US" sz="1600" b="0" i="0" u="none" strike="noStrike" dirty="0">
                    <a:solidFill>
                      <a:srgbClr val="000000"/>
                    </a:solidFill>
                    <a:ea typeface="微软雅黑"/>
                  </a:rPr>
                  <a:t>/Pulsar）。</a:t>
                </a:r>
              </a:p>
            </p:txBody>
          </p:sp>
          <p:sp>
            <p:nvSpPr>
              <p:cNvPr id="12" name="Bullet2" descr="dc3754ec-a187-48a9-983f-fe5b8604afcb">
                <a:extLst>
                  <a:ext uri="{FF2B5EF4-FFF2-40B4-BE49-F238E27FC236}">
                    <a16:creationId xmlns:a16="http://schemas.microsoft.com/office/drawing/2014/main" id="{4DD0C752-BB55-8311-4223-F993FCA33206}"/>
                  </a:ext>
                </a:extLst>
              </p:cNvPr>
              <p:cNvSpPr txBox="1"/>
              <p:nvPr/>
            </p:nvSpPr>
            <p:spPr>
              <a:xfrm>
                <a:off x="6132709" y="3906247"/>
                <a:ext cx="5151690" cy="387567"/>
              </a:xfrm>
              <a:prstGeom prst="rect">
                <a:avLst/>
              </a:prstGeom>
              <a:noFill/>
              <a:ln>
                <a:noFill/>
              </a:ln>
            </p:spPr>
            <p:txBody>
              <a:bodyPr wrap="square" lIns="91440" tIns="45720" rIns="91440" bIns="45720" anchor="ctr" anchorCtr="0">
                <a:normAutofit lnSpcReduction="10000"/>
              </a:bodyPr>
              <a:lstStyle/>
              <a:p>
                <a:pPr algn="l">
                  <a:lnSpc>
                    <a:spcPct val="120000"/>
                  </a:lnSpc>
                </a:pPr>
                <a:r>
                  <a:rPr lang="en-US" sz="1800" b="1" i="0" u="none" dirty="0" err="1">
                    <a:solidFill>
                      <a:srgbClr val="000000"/>
                    </a:solidFill>
                    <a:ea typeface="微软雅黑"/>
                  </a:rPr>
                  <a:t>采集技术栈</a:t>
                </a:r>
                <a:endParaRPr lang="en-US" sz="1800" b="1" i="0" u="none" dirty="0">
                  <a:solidFill>
                    <a:srgbClr val="000000"/>
                  </a:solidFill>
                  <a:ea typeface="微软雅黑"/>
                </a:endParaRPr>
              </a:p>
            </p:txBody>
          </p:sp>
          <p:sp>
            <p:nvSpPr>
              <p:cNvPr id="13" name="Shape2" descr="65400225-d171-484c-8c8c-bebdaab3d93b">
                <a:extLst>
                  <a:ext uri="{FF2B5EF4-FFF2-40B4-BE49-F238E27FC236}">
                    <a16:creationId xmlns:a16="http://schemas.microsoft.com/office/drawing/2014/main" id="{7F99934E-7E8D-0EC9-468F-9D3F08728861}"/>
                  </a:ext>
                </a:extLst>
              </p:cNvPr>
              <p:cNvSpPr/>
              <p:nvPr/>
            </p:nvSpPr>
            <p:spPr>
              <a:xfrm>
                <a:off x="469900" y="3632201"/>
                <a:ext cx="393664" cy="396548"/>
              </a:xfrm>
              <a:prstGeom prst="pie">
                <a:avLst>
                  <a:gd name="adj1" fmla="val 0"/>
                  <a:gd name="adj2" fmla="val 5387355"/>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grpSp>
      </p:grpSp>
      <p:sp>
        <p:nvSpPr>
          <p:cNvPr id="21" name="Text1" descr="41d3e034-d64b-4f06-bf1c-26e34b9ca530">
            <a:extLst>
              <a:ext uri="{FF2B5EF4-FFF2-40B4-BE49-F238E27FC236}">
                <a16:creationId xmlns:a16="http://schemas.microsoft.com/office/drawing/2014/main" id="{19171DA2-81EC-41F0-AED3-21DE44EF4308}"/>
              </a:ext>
            </a:extLst>
          </p:cNvPr>
          <p:cNvSpPr txBox="1">
            <a:spLocks/>
          </p:cNvSpPr>
          <p:nvPr/>
        </p:nvSpPr>
        <p:spPr>
          <a:xfrm>
            <a:off x="1069628" y="1776474"/>
            <a:ext cx="9416402" cy="2256064"/>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sz="2400" b="0" i="0" u="none" strike="noStrike" dirty="0" err="1">
                <a:solidFill>
                  <a:srgbClr val="000000"/>
                </a:solidFill>
                <a:ea typeface="微软雅黑"/>
              </a:rPr>
              <a:t>数据采集层负责对数据库</a:t>
            </a:r>
            <a:r>
              <a:rPr lang="zh-CN" altLang="en-US" sz="2400" b="0" i="0" u="none" strike="noStrike" dirty="0">
                <a:solidFill>
                  <a:srgbClr val="000000"/>
                </a:solidFill>
                <a:ea typeface="微软雅黑"/>
              </a:rPr>
              <a:t>运行时</a:t>
            </a:r>
            <a:r>
              <a:rPr lang="en-US" sz="2400" b="0" i="0" u="none" strike="noStrike" dirty="0" err="1">
                <a:solidFill>
                  <a:srgbClr val="000000"/>
                </a:solidFill>
                <a:ea typeface="微软雅黑"/>
              </a:rPr>
              <a:t>数据进行</a:t>
            </a:r>
            <a:r>
              <a:rPr lang="zh-CN" altLang="en-US" sz="2400" b="0" i="0" u="none" strike="noStrike" dirty="0">
                <a:solidFill>
                  <a:srgbClr val="000000"/>
                </a:solidFill>
                <a:ea typeface="微软雅黑"/>
              </a:rPr>
              <a:t>实时</a:t>
            </a:r>
            <a:r>
              <a:rPr lang="en-US" sz="2400" b="0" i="0" u="none" strike="noStrike" dirty="0" err="1">
                <a:solidFill>
                  <a:srgbClr val="000000"/>
                </a:solidFill>
                <a:ea typeface="微软雅黑"/>
              </a:rPr>
              <a:t>采集监控，生成数据库负载画像，为AI模型提供训练数据</a:t>
            </a:r>
            <a:r>
              <a:rPr lang="en-US" sz="2400"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sz="2400" b="0" i="0" u="none" strike="noStrike" dirty="0" err="1">
                <a:solidFill>
                  <a:srgbClr val="000000"/>
                </a:solidFill>
                <a:ea typeface="微软雅黑"/>
              </a:rPr>
              <a:t>通过对数据库各种</a:t>
            </a:r>
            <a:r>
              <a:rPr lang="zh-CN" altLang="en-US" sz="2400" b="0" i="0" u="none" strike="noStrike" dirty="0">
                <a:solidFill>
                  <a:srgbClr val="000000"/>
                </a:solidFill>
                <a:ea typeface="微软雅黑"/>
              </a:rPr>
              <a:t>运行时</a:t>
            </a:r>
            <a:r>
              <a:rPr lang="en-US" sz="2400" b="0" i="0" u="none" strike="noStrike" dirty="0" err="1">
                <a:solidFill>
                  <a:srgbClr val="000000"/>
                </a:solidFill>
                <a:ea typeface="微软雅黑"/>
              </a:rPr>
              <a:t>数据的采集和分析，全面了解数据库的运行状况和负载情况</a:t>
            </a:r>
            <a:r>
              <a:rPr lang="zh-CN" altLang="en-US" sz="2400" b="0" i="0" u="none" strike="noStrike" dirty="0">
                <a:solidFill>
                  <a:srgbClr val="000000"/>
                </a:solidFill>
                <a:ea typeface="微软雅黑"/>
              </a:rPr>
              <a:t>，为智能分析提供依据</a:t>
            </a:r>
            <a:r>
              <a:rPr lang="en-US" sz="2400" b="0" i="0" u="none" strike="noStrike" dirty="0">
                <a:solidFill>
                  <a:srgbClr val="000000"/>
                </a:solidFill>
                <a:ea typeface="微软雅黑"/>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r>
              <a:rPr lang="en-US" sz="2800" b="1" dirty="0" err="1">
                <a:solidFill>
                  <a:srgbClr val="E40000"/>
                </a:solidFill>
                <a:latin typeface="Arial"/>
                <a:ea typeface="黑体"/>
              </a:rPr>
              <a:t>智能分析层</a:t>
            </a:r>
            <a:endParaRPr lang="en-US" sz="2800" b="1" dirty="0">
              <a:solidFill>
                <a:srgbClr val="E40000"/>
              </a:solidFill>
              <a:latin typeface="Arial"/>
              <a:ea typeface="黑体"/>
            </a:endParaRPr>
          </a:p>
        </p:txBody>
      </p:sp>
      <p:grpSp>
        <p:nvGrpSpPr>
          <p:cNvPr id="3" name="4eda1e78-9da9-4086-8953-14b97d158819.source.2.zh-Hans.pptx" descr="5e505001-32fa-4b26-a04a-4dfad2314a83">
            <a:extLst>
              <a:ext uri="{FF2B5EF4-FFF2-40B4-BE49-F238E27FC236}">
                <a16:creationId xmlns:a16="http://schemas.microsoft.com/office/drawing/2014/main" id="{332E24F0-5595-76A7-0602-4ED70522A390}"/>
              </a:ext>
            </a:extLst>
          </p:cNvPr>
          <p:cNvGrpSpPr/>
          <p:nvPr/>
        </p:nvGrpSpPr>
        <p:grpSpPr>
          <a:xfrm>
            <a:off x="660399" y="1536699"/>
            <a:ext cx="10858501" cy="4597401"/>
            <a:chOff x="660399" y="1536699"/>
            <a:chExt cx="10858501" cy="4597401"/>
          </a:xfrm>
        </p:grpSpPr>
        <p:sp>
          <p:nvSpPr>
            <p:cNvPr id="6" name="Title" descr="c20192e3-fc33-4ffa-a850-12c61bc1c9dc">
              <a:extLst>
                <a:ext uri="{FF2B5EF4-FFF2-40B4-BE49-F238E27FC236}">
                  <a16:creationId xmlns:a16="http://schemas.microsoft.com/office/drawing/2014/main" id="{9EF5D666-882B-7683-AA0A-A021B5E8C2DF}"/>
                </a:ext>
              </a:extLst>
            </p:cNvPr>
            <p:cNvSpPr>
              <a:spLocks/>
            </p:cNvSpPr>
            <p:nvPr/>
          </p:nvSpPr>
          <p:spPr>
            <a:xfrm>
              <a:off x="660399" y="1536699"/>
              <a:ext cx="2833427" cy="4163516"/>
            </a:xfrm>
            <a:prstGeom prst="roundRect">
              <a:avLst>
                <a:gd name="adj" fmla="val 0"/>
              </a:avLst>
            </a:prstGeom>
            <a:noFill/>
          </p:spPr>
          <p:txBody>
            <a:bodyPr wrap="square" lIns="91440" tIns="45720" rIns="91440" bIns="45720" anchor="ctr" anchorCtr="0">
              <a:normAutofit fontScale="77500" lnSpcReduction="20000"/>
            </a:bodyPr>
            <a:lstStyle/>
            <a:p>
              <a:pPr marL="342900" indent="-342900">
                <a:buFont typeface="Arial" panose="020B0604020202020204" pitchFamily="34" charset="0"/>
                <a:buChar char="•"/>
              </a:pPr>
              <a:r>
                <a:rPr lang="en-US" altLang="zh-CN" sz="2400" b="0" i="0" u="none" strike="noStrike" dirty="0" err="1">
                  <a:solidFill>
                    <a:srgbClr val="000000"/>
                  </a:solidFill>
                  <a:ea typeface="微软雅黑"/>
                </a:rPr>
                <a:t>智能分析层具有多项功能。它利用自然语言生成SQL语句，实现中文到SQL的自动转换，降低了用户编写SQL的难度</a:t>
              </a:r>
              <a:r>
                <a:rPr lang="en-US" altLang="zh-CN" sz="2400" b="0" i="0" u="none" strike="noStrike" dirty="0">
                  <a:solidFill>
                    <a:srgbClr val="000000"/>
                  </a:solidFill>
                  <a:ea typeface="微软雅黑"/>
                </a:rPr>
                <a:t>。</a:t>
              </a:r>
            </a:p>
            <a:p>
              <a:pPr marL="342900" indent="-342900">
                <a:buFont typeface="Arial" panose="020B0604020202020204" pitchFamily="34" charset="0"/>
                <a:buChar char="•"/>
              </a:pPr>
              <a:r>
                <a:rPr lang="en-US" altLang="zh-CN" sz="2400" b="0" i="0" u="none" strike="noStrike" dirty="0">
                  <a:solidFill>
                    <a:srgbClr val="000000"/>
                  </a:solidFill>
                  <a:ea typeface="微软雅黑"/>
                </a:rPr>
                <a:t>AI审核机制对SQL进行“合规扫描”，</a:t>
              </a:r>
              <a:r>
                <a:rPr lang="en-US" altLang="zh-CN" sz="2400" b="0" i="0" u="none" strike="noStrike" dirty="0" err="1">
                  <a:solidFill>
                    <a:srgbClr val="000000"/>
                  </a:solidFill>
                  <a:ea typeface="微软雅黑"/>
                </a:rPr>
                <a:t>提前拦截缺少索引、可能引发锁表等风险的SQL，保障了数据库的稳定运行</a:t>
              </a:r>
              <a:r>
                <a:rPr lang="en-US" altLang="zh-CN" sz="2400" b="0" i="0" u="none" strike="noStrike" dirty="0">
                  <a:solidFill>
                    <a:srgbClr val="000000"/>
                  </a:solidFill>
                  <a:ea typeface="微软雅黑"/>
                </a:rPr>
                <a:t>。</a:t>
              </a:r>
            </a:p>
            <a:p>
              <a:pPr marL="342900" indent="-342900">
                <a:buFont typeface="Arial" panose="020B0604020202020204" pitchFamily="34" charset="0"/>
                <a:buChar char="•"/>
              </a:pPr>
              <a:r>
                <a:rPr lang="en-US" altLang="zh-CN" sz="2400" b="0" i="0" u="none" strike="noStrike" dirty="0" err="1">
                  <a:solidFill>
                    <a:srgbClr val="000000"/>
                  </a:solidFill>
                  <a:ea typeface="微软雅黑"/>
                </a:rPr>
                <a:t>此外，基于负载画像的参数自优化和数据库设计优化，能够进一步提升数据库的性能和效率</a:t>
              </a:r>
              <a:r>
                <a:rPr lang="en-US" altLang="zh-CN" sz="2400" b="0" i="0" u="none" strike="noStrike" dirty="0">
                  <a:solidFill>
                    <a:srgbClr val="000000"/>
                  </a:solidFill>
                  <a:ea typeface="微软雅黑"/>
                </a:rPr>
                <a:t>。</a:t>
              </a:r>
            </a:p>
            <a:p>
              <a:pPr algn="l"/>
              <a:endParaRPr lang="en-US" sz="2400" b="1" i="0" u="none" dirty="0">
                <a:solidFill>
                  <a:srgbClr val="000000"/>
                </a:solidFill>
                <a:ea typeface="微软雅黑"/>
              </a:endParaRPr>
            </a:p>
          </p:txBody>
        </p:sp>
        <p:cxnSp>
          <p:nvCxnSpPr>
            <p:cNvPr id="13" name="连接符: 肘形 12" descr="c9e86b24-d766-47e3-b327-b80f8367b687">
              <a:extLst>
                <a:ext uri="{FF2B5EF4-FFF2-40B4-BE49-F238E27FC236}">
                  <a16:creationId xmlns:a16="http://schemas.microsoft.com/office/drawing/2014/main" id="{276995CC-ED4D-C804-80F8-DC21CFAF9B90}"/>
                </a:ext>
              </a:extLst>
            </p:cNvPr>
            <p:cNvCxnSpPr>
              <a:cxnSpLocks/>
              <a:stCxn id="2" idx="3"/>
              <a:endCxn id="7" idx="3"/>
            </p:cNvCxnSpPr>
            <p:nvPr/>
          </p:nvCxnSpPr>
          <p:spPr>
            <a:xfrm>
              <a:off x="3443844" y="3156792"/>
              <a:ext cx="641268" cy="1344692"/>
            </a:xfrm>
            <a:prstGeom prst="bentConnector3">
              <a:avLst>
                <a:gd name="adj1" fmla="val 50000"/>
              </a:avLst>
            </a:prstGeom>
            <a:ln w="6350">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连接符: 肘形 13" descr="11f3a1bd-9cd4-4ee1-848a-11cb9b0829a2">
              <a:extLst>
                <a:ext uri="{FF2B5EF4-FFF2-40B4-BE49-F238E27FC236}">
                  <a16:creationId xmlns:a16="http://schemas.microsoft.com/office/drawing/2014/main" id="{86324EAB-9430-1658-052A-C1EEDB6F0522}"/>
                </a:ext>
              </a:extLst>
            </p:cNvPr>
            <p:cNvCxnSpPr>
              <a:cxnSpLocks/>
              <a:stCxn id="2" idx="3"/>
              <a:endCxn id="4" idx="3"/>
            </p:cNvCxnSpPr>
            <p:nvPr/>
          </p:nvCxnSpPr>
          <p:spPr>
            <a:xfrm flipV="1">
              <a:off x="3443844" y="1812100"/>
              <a:ext cx="641268" cy="1344692"/>
            </a:xfrm>
            <a:prstGeom prst="bentConnector3">
              <a:avLst>
                <a:gd name="adj1" fmla="val 50000"/>
              </a:avLst>
            </a:prstGeom>
            <a:ln w="6350">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0" name="组合 9" descr="ed168481-5726-4997-86bb-98b1b6788850">
              <a:extLst>
                <a:ext uri="{FF2B5EF4-FFF2-40B4-BE49-F238E27FC236}">
                  <a16:creationId xmlns:a16="http://schemas.microsoft.com/office/drawing/2014/main" id="{A2D107B0-1CA4-62BF-A826-4DC32C7AEE9E}"/>
                </a:ext>
              </a:extLst>
            </p:cNvPr>
            <p:cNvGrpSpPr/>
            <p:nvPr/>
          </p:nvGrpSpPr>
          <p:grpSpPr>
            <a:xfrm>
              <a:off x="4085112" y="1536700"/>
              <a:ext cx="7433788" cy="1908016"/>
              <a:chOff x="4085112" y="1130300"/>
              <a:chExt cx="7433788" cy="1908016"/>
            </a:xfrm>
          </p:grpSpPr>
          <p:sp>
            <p:nvSpPr>
              <p:cNvPr id="4" name="Bullet1" descr="695778cf-abd0-4614-b94b-cdd95d9a402b">
                <a:extLst>
                  <a:ext uri="{FF2B5EF4-FFF2-40B4-BE49-F238E27FC236}">
                    <a16:creationId xmlns:a16="http://schemas.microsoft.com/office/drawing/2014/main" id="{5A074986-887D-033C-3868-C1FD5A3AAE2C}"/>
                  </a:ext>
                </a:extLst>
              </p:cNvPr>
              <p:cNvSpPr>
                <a:spLocks/>
              </p:cNvSpPr>
              <p:nvPr/>
            </p:nvSpPr>
            <p:spPr>
              <a:xfrm flipH="1">
                <a:off x="4085112" y="1130300"/>
                <a:ext cx="7433784" cy="550800"/>
              </a:xfrm>
              <a:prstGeom prst="roundRect">
                <a:avLst>
                  <a:gd name="adj" fmla="val 9201"/>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000000"/>
                    </a:solidFill>
                    <a:ea typeface="微软雅黑"/>
                  </a:rPr>
                  <a:t>模块化处理管道</a:t>
                </a:r>
              </a:p>
            </p:txBody>
          </p:sp>
          <p:sp>
            <p:nvSpPr>
              <p:cNvPr id="5" name="Text1" descr="4cbaa856-fc33-43b9-9eac-8431c7fa7609">
                <a:extLst>
                  <a:ext uri="{FF2B5EF4-FFF2-40B4-BE49-F238E27FC236}">
                    <a16:creationId xmlns:a16="http://schemas.microsoft.com/office/drawing/2014/main" id="{7EC7908F-D589-0615-E37D-C7278D916E26}"/>
                  </a:ext>
                </a:extLst>
              </p:cNvPr>
              <p:cNvSpPr txBox="1">
                <a:spLocks/>
              </p:cNvSpPr>
              <p:nvPr/>
            </p:nvSpPr>
            <p:spPr>
              <a:xfrm>
                <a:off x="4085116" y="1788021"/>
                <a:ext cx="7433784" cy="1250295"/>
              </a:xfrm>
              <a:prstGeom prst="rect">
                <a:avLst/>
              </a:prstGeom>
              <a:noFill/>
              <a:ln w="6350">
                <a:noFill/>
              </a:ln>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0" i="0" u="none" dirty="0" err="1">
                    <a:solidFill>
                      <a:srgbClr val="000000"/>
                    </a:solidFill>
                    <a:ea typeface="微软雅黑"/>
                  </a:rPr>
                  <a:t>数据预处理</a:t>
                </a:r>
                <a:r>
                  <a:rPr lang="en-US" sz="1800" b="0" i="0" u="none" dirty="0">
                    <a:solidFill>
                      <a:srgbClr val="000000"/>
                    </a:solidFill>
                    <a:ea typeface="微软雅黑"/>
                  </a:rPr>
                  <a:t> → </a:t>
                </a:r>
                <a:r>
                  <a:rPr lang="en-US" sz="1800" b="0" i="0" u="none" dirty="0" err="1">
                    <a:solidFill>
                      <a:srgbClr val="000000"/>
                    </a:solidFill>
                    <a:ea typeface="微软雅黑"/>
                  </a:rPr>
                  <a:t>特征工程</a:t>
                </a:r>
                <a:r>
                  <a:rPr lang="en-US" sz="1800" b="0" i="0" u="none" dirty="0">
                    <a:solidFill>
                      <a:srgbClr val="000000"/>
                    </a:solidFill>
                    <a:ea typeface="微软雅黑"/>
                  </a:rPr>
                  <a:t> → </a:t>
                </a:r>
                <a:r>
                  <a:rPr lang="en-US" sz="1800" b="0" i="0" u="none" dirty="0" err="1">
                    <a:solidFill>
                      <a:srgbClr val="000000"/>
                    </a:solidFill>
                    <a:ea typeface="微软雅黑"/>
                  </a:rPr>
                  <a:t>模型推理</a:t>
                </a:r>
                <a:r>
                  <a:rPr lang="en-US" sz="1800" b="0" i="0" u="none" dirty="0">
                    <a:solidFill>
                      <a:srgbClr val="000000"/>
                    </a:solidFill>
                    <a:ea typeface="微软雅黑"/>
                  </a:rPr>
                  <a:t> → </a:t>
                </a:r>
                <a:r>
                  <a:rPr lang="en-US" sz="1800" b="0" i="0" u="none" dirty="0" err="1">
                    <a:solidFill>
                      <a:srgbClr val="000000"/>
                    </a:solidFill>
                    <a:ea typeface="微软雅黑"/>
                  </a:rPr>
                  <a:t>结果解释</a:t>
                </a:r>
                <a:r>
                  <a:rPr lang="en-US" sz="1800" b="0" i="0" u="none" dirty="0">
                    <a:solidFill>
                      <a:srgbClr val="000000"/>
                    </a:solidFill>
                    <a:ea typeface="微软雅黑"/>
                  </a:rPr>
                  <a:t>。</a:t>
                </a:r>
              </a:p>
            </p:txBody>
          </p:sp>
        </p:grpSp>
        <p:grpSp>
          <p:nvGrpSpPr>
            <p:cNvPr id="11" name="组合 10" descr="7f79761f-24f5-4cad-924f-951712b07276">
              <a:extLst>
                <a:ext uri="{FF2B5EF4-FFF2-40B4-BE49-F238E27FC236}">
                  <a16:creationId xmlns:a16="http://schemas.microsoft.com/office/drawing/2014/main" id="{E2319657-18AF-9994-A363-E4F8667B505D}"/>
                </a:ext>
              </a:extLst>
            </p:cNvPr>
            <p:cNvGrpSpPr/>
            <p:nvPr/>
          </p:nvGrpSpPr>
          <p:grpSpPr>
            <a:xfrm>
              <a:off x="4085112" y="4226084"/>
              <a:ext cx="7433788" cy="1908016"/>
              <a:chOff x="4085112" y="3819684"/>
              <a:chExt cx="7433788" cy="1908016"/>
            </a:xfrm>
          </p:grpSpPr>
          <p:sp>
            <p:nvSpPr>
              <p:cNvPr id="7" name="Bullet2" descr="8b098b07-d0ca-4bb6-b44b-88dd8ec88001">
                <a:extLst>
                  <a:ext uri="{FF2B5EF4-FFF2-40B4-BE49-F238E27FC236}">
                    <a16:creationId xmlns:a16="http://schemas.microsoft.com/office/drawing/2014/main" id="{D51D4825-5669-B0E7-9B98-C48D46E7B2C2}"/>
                  </a:ext>
                </a:extLst>
              </p:cNvPr>
              <p:cNvSpPr>
                <a:spLocks/>
              </p:cNvSpPr>
              <p:nvPr/>
            </p:nvSpPr>
            <p:spPr>
              <a:xfrm flipH="1">
                <a:off x="4085112" y="3819684"/>
                <a:ext cx="7433784" cy="550800"/>
              </a:xfrm>
              <a:prstGeom prst="roundRect">
                <a:avLst>
                  <a:gd name="adj" fmla="val 7957"/>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000000"/>
                    </a:solidFill>
                    <a:ea typeface="微软雅黑"/>
                  </a:rPr>
                  <a:t>核心功能组件</a:t>
                </a:r>
              </a:p>
            </p:txBody>
          </p:sp>
          <p:sp>
            <p:nvSpPr>
              <p:cNvPr id="8" name="Text2" descr="da89428b-15ab-4e74-a5eb-4e92f5b12b98">
                <a:extLst>
                  <a:ext uri="{FF2B5EF4-FFF2-40B4-BE49-F238E27FC236}">
                    <a16:creationId xmlns:a16="http://schemas.microsoft.com/office/drawing/2014/main" id="{A06D7F71-C2FE-8C56-EC65-200CF09BFE3C}"/>
                  </a:ext>
                </a:extLst>
              </p:cNvPr>
              <p:cNvSpPr txBox="1">
                <a:spLocks/>
              </p:cNvSpPr>
              <p:nvPr/>
            </p:nvSpPr>
            <p:spPr>
              <a:xfrm>
                <a:off x="4085116" y="4477405"/>
                <a:ext cx="7433784" cy="1250295"/>
              </a:xfrm>
              <a:prstGeom prst="rect">
                <a:avLst/>
              </a:prstGeom>
              <a:noFill/>
              <a:ln w="6350">
                <a:noFill/>
              </a:ln>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600" b="0" i="0" u="none" dirty="0" err="1">
                    <a:solidFill>
                      <a:srgbClr val="000000"/>
                    </a:solidFill>
                    <a:ea typeface="微软雅黑"/>
                  </a:rPr>
                  <a:t>异常检测引擎：集成Isolation</a:t>
                </a:r>
                <a:r>
                  <a:rPr lang="en-US" sz="1600" b="0" i="0" u="none" dirty="0">
                    <a:solidFill>
                      <a:srgbClr val="000000"/>
                    </a:solidFill>
                    <a:ea typeface="微软雅黑"/>
                  </a:rPr>
                  <a:t> </a:t>
                </a:r>
                <a:r>
                  <a:rPr lang="en-US" sz="1600" b="0" i="0" u="none" dirty="0" err="1">
                    <a:solidFill>
                      <a:srgbClr val="000000"/>
                    </a:solidFill>
                    <a:ea typeface="微软雅黑"/>
                  </a:rPr>
                  <a:t>Forest与Prophet实现多维度指标联合分析</a:t>
                </a:r>
                <a:r>
                  <a:rPr lang="en-US" sz="16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600" b="0" i="0" u="none" dirty="0">
                    <a:solidFill>
                      <a:srgbClr val="000000"/>
                    </a:solidFill>
                    <a:ea typeface="微软雅黑"/>
                  </a:rPr>
                  <a:t>性能预测模型：时空卷积网络预测未来1小时负载峰值；</a:t>
                </a:r>
              </a:p>
              <a:p>
                <a:pPr marL="285750" indent="-285750" algn="l">
                  <a:lnSpc>
                    <a:spcPct val="120000"/>
                  </a:lnSpc>
                  <a:buFont typeface="Arial" panose="020B0604020202020204" pitchFamily="34" charset="0"/>
                  <a:buChar char="•"/>
                </a:pPr>
                <a:r>
                  <a:rPr lang="en-US" sz="1600" b="0" i="0" u="none" dirty="0" err="1">
                    <a:solidFill>
                      <a:srgbClr val="000000"/>
                    </a:solidFill>
                    <a:ea typeface="微软雅黑"/>
                  </a:rPr>
                  <a:t>自动索引推荐：基于强化学习的索引策略生成器（类似微软COLT系统</a:t>
                </a:r>
                <a:r>
                  <a:rPr lang="en-US" sz="16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600" b="0" i="0" u="none" dirty="0" err="1">
                    <a:solidFill>
                      <a:srgbClr val="000000"/>
                    </a:solidFill>
                    <a:ea typeface="微软雅黑"/>
                  </a:rPr>
                  <a:t>SQL优化器：语义解析生成等效高效查询语句</a:t>
                </a:r>
                <a:r>
                  <a:rPr lang="en-US" sz="1600" b="0" i="0" u="none" dirty="0">
                    <a:solidFill>
                      <a:srgbClr val="000000"/>
                    </a:solidFill>
                    <a:ea typeface="微软雅黑"/>
                  </a:rPr>
                  <a:t>。</a:t>
                </a:r>
              </a:p>
            </p:txBody>
          </p: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2800" b="1" dirty="0" err="1">
                <a:solidFill>
                  <a:srgbClr val="E40000"/>
                </a:solidFill>
                <a:latin typeface="Arial"/>
                <a:ea typeface="黑体"/>
              </a:rPr>
              <a:t>执行</a:t>
            </a:r>
            <a:r>
              <a:rPr lang="en-US" altLang="zh-CN" sz="2800" b="1" dirty="0" err="1">
                <a:solidFill>
                  <a:srgbClr val="E40000"/>
                </a:solidFill>
                <a:latin typeface="Arial"/>
                <a:ea typeface="黑体"/>
              </a:rPr>
              <a:t>控制</a:t>
            </a:r>
            <a:r>
              <a:rPr lang="en-US" sz="2800" b="1" dirty="0" err="1">
                <a:solidFill>
                  <a:srgbClr val="E40000"/>
                </a:solidFill>
                <a:latin typeface="Arial"/>
                <a:ea typeface="黑体"/>
              </a:rPr>
              <a:t>层</a:t>
            </a:r>
            <a:endParaRPr lang="en-US" sz="2800" b="1" dirty="0">
              <a:solidFill>
                <a:srgbClr val="E40000"/>
              </a:solidFill>
              <a:latin typeface="Arial"/>
              <a:ea typeface="黑体"/>
            </a:endParaRPr>
          </a:p>
        </p:txBody>
      </p:sp>
      <p:grpSp>
        <p:nvGrpSpPr>
          <p:cNvPr id="113" name="6f6ea536-f6d2-4ea0-b6cb-6d4a02692622.source.2.zh-Hans.pptx" descr="5c59ffb3-bced-4ce5-a0a0-791ebd5ef246">
            <a:extLst>
              <a:ext uri="{FF2B5EF4-FFF2-40B4-BE49-F238E27FC236}">
                <a16:creationId xmlns:a16="http://schemas.microsoft.com/office/drawing/2014/main" id="{AC888DB7-3703-6283-B49E-BB28C155D0EE}"/>
              </a:ext>
            </a:extLst>
          </p:cNvPr>
          <p:cNvGrpSpPr/>
          <p:nvPr/>
        </p:nvGrpSpPr>
        <p:grpSpPr>
          <a:xfrm>
            <a:off x="355106" y="1371600"/>
            <a:ext cx="11691872" cy="5495423"/>
            <a:chOff x="236825" y="662434"/>
            <a:chExt cx="11691872" cy="5495423"/>
          </a:xfrm>
        </p:grpSpPr>
        <p:sp>
          <p:nvSpPr>
            <p:cNvPr id="49" name="Title" descr="8a3175ac-8e2e-4f97-a0bc-91fe4f4092ba">
              <a:extLst>
                <a:ext uri="{FF2B5EF4-FFF2-40B4-BE49-F238E27FC236}">
                  <a16:creationId xmlns:a16="http://schemas.microsoft.com/office/drawing/2014/main" id="{DE44F044-FAAA-54E1-042F-4BA16DFA9560}"/>
                </a:ext>
              </a:extLst>
            </p:cNvPr>
            <p:cNvSpPr>
              <a:spLocks noChangeAspect="1"/>
            </p:cNvSpPr>
            <p:nvPr/>
          </p:nvSpPr>
          <p:spPr>
            <a:xfrm>
              <a:off x="660399" y="1130301"/>
              <a:ext cx="10858500" cy="9102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gn="ctr"/>
              <a:r>
                <a:rPr lang="en-US" sz="2400" b="1" i="0" u="none">
                  <a:solidFill>
                    <a:srgbClr val="FFFFFF"/>
                  </a:solidFill>
                  <a:ea typeface="微软雅黑"/>
                </a:rPr>
                <a:t>阐述决策执行层的自动化操作控制和人机协同机制</a:t>
              </a:r>
            </a:p>
          </p:txBody>
        </p:sp>
        <p:grpSp>
          <p:nvGrpSpPr>
            <p:cNvPr id="29" name="图形 24" descr="e839c8de-f364-44fd-9967-b578f19b721a">
              <a:extLst>
                <a:ext uri="{FF2B5EF4-FFF2-40B4-BE49-F238E27FC236}">
                  <a16:creationId xmlns:a16="http://schemas.microsoft.com/office/drawing/2014/main" id="{07EE57BC-0CBA-C1B8-B0F3-9C54F3277DD2}"/>
                </a:ext>
              </a:extLst>
            </p:cNvPr>
            <p:cNvGrpSpPr/>
            <p:nvPr/>
          </p:nvGrpSpPr>
          <p:grpSpPr>
            <a:xfrm>
              <a:off x="236825" y="662434"/>
              <a:ext cx="11691872" cy="5495423"/>
              <a:chOff x="4927589" y="3069972"/>
              <a:chExt cx="2333818" cy="713822"/>
            </a:xfrm>
          </p:grpSpPr>
          <p:sp>
            <p:nvSpPr>
              <p:cNvPr id="30" name="任意多边形: 形状 29" descr="691b1f7f-c9a9-4f4d-99c8-92b228837864">
                <a:extLst>
                  <a:ext uri="{FF2B5EF4-FFF2-40B4-BE49-F238E27FC236}">
                    <a16:creationId xmlns:a16="http://schemas.microsoft.com/office/drawing/2014/main" id="{9C8F8B49-FD3B-5CCC-97BD-080043DF30F5}"/>
                  </a:ext>
                </a:extLst>
              </p:cNvPr>
              <p:cNvSpPr/>
              <p:nvPr/>
            </p:nvSpPr>
            <p:spPr>
              <a:xfrm>
                <a:off x="4933759" y="3075146"/>
                <a:ext cx="2318670" cy="705230"/>
              </a:xfrm>
              <a:custGeom>
                <a:avLst/>
                <a:gdLst>
                  <a:gd name="connsiteX0" fmla="*/ 62389 w 2318670"/>
                  <a:gd name="connsiteY0" fmla="*/ 705231 h 705230"/>
                  <a:gd name="connsiteX1" fmla="*/ 62389 w 2318670"/>
                  <a:gd name="connsiteY1" fmla="*/ 284702 h 705230"/>
                  <a:gd name="connsiteX2" fmla="*/ 0 w 2318670"/>
                  <a:gd name="connsiteY2" fmla="*/ 218218 h 705230"/>
                  <a:gd name="connsiteX3" fmla="*/ 0 w 2318670"/>
                  <a:gd name="connsiteY3" fmla="*/ 0 h 705230"/>
                  <a:gd name="connsiteX4" fmla="*/ 2318671 w 2318670"/>
                  <a:gd name="connsiteY4" fmla="*/ 0 h 705230"/>
                  <a:gd name="connsiteX5" fmla="*/ 2318671 w 2318670"/>
                  <a:gd name="connsiteY5" fmla="*/ 694563 h 705230"/>
                  <a:gd name="connsiteX6" fmla="*/ 1919383 w 2318670"/>
                  <a:gd name="connsiteY6" fmla="*/ 694563 h 705230"/>
                  <a:gd name="connsiteX7" fmla="*/ 1837944 w 2318670"/>
                  <a:gd name="connsiteY7" fmla="*/ 613124 h 705230"/>
                  <a:gd name="connsiteX8" fmla="*/ 1596104 w 2318670"/>
                  <a:gd name="connsiteY8" fmla="*/ 613124 h 705230"/>
                  <a:gd name="connsiteX9" fmla="*/ 1490377 w 2318670"/>
                  <a:gd name="connsiteY9" fmla="*/ 699802 h 705230"/>
                  <a:gd name="connsiteX10" fmla="*/ 425482 w 2318670"/>
                  <a:gd name="connsiteY10" fmla="*/ 699802 h 705230"/>
                  <a:gd name="connsiteX11" fmla="*/ 393764 w 2318670"/>
                  <a:gd name="connsiteY11" fmla="*/ 668084 h 705230"/>
                  <a:gd name="connsiteX12" fmla="*/ 308610 w 2318670"/>
                  <a:gd name="connsiteY12" fmla="*/ 668084 h 705230"/>
                  <a:gd name="connsiteX13" fmla="*/ 271558 w 2318670"/>
                  <a:gd name="connsiteY13" fmla="*/ 705231 h 705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8670" h="705230">
                    <a:moveTo>
                      <a:pt x="62389" y="705231"/>
                    </a:moveTo>
                    <a:lnTo>
                      <a:pt x="62389" y="284702"/>
                    </a:lnTo>
                    <a:lnTo>
                      <a:pt x="0" y="218218"/>
                    </a:lnTo>
                    <a:lnTo>
                      <a:pt x="0" y="0"/>
                    </a:lnTo>
                    <a:lnTo>
                      <a:pt x="2318671" y="0"/>
                    </a:lnTo>
                    <a:lnTo>
                      <a:pt x="2318671" y="694563"/>
                    </a:lnTo>
                    <a:lnTo>
                      <a:pt x="1919383" y="694563"/>
                    </a:lnTo>
                    <a:lnTo>
                      <a:pt x="1837944" y="613124"/>
                    </a:lnTo>
                    <a:lnTo>
                      <a:pt x="1596104" y="613124"/>
                    </a:lnTo>
                    <a:lnTo>
                      <a:pt x="1490377" y="699802"/>
                    </a:lnTo>
                    <a:lnTo>
                      <a:pt x="425482" y="699802"/>
                    </a:lnTo>
                    <a:lnTo>
                      <a:pt x="393764" y="668084"/>
                    </a:lnTo>
                    <a:lnTo>
                      <a:pt x="308610" y="668084"/>
                    </a:lnTo>
                    <a:lnTo>
                      <a:pt x="271558" y="705231"/>
                    </a:lnTo>
                    <a:close/>
                  </a:path>
                </a:pathLst>
              </a:custGeom>
              <a:noFill/>
              <a:ln w="6350" cap="rnd">
                <a:gradFill>
                  <a:gsLst>
                    <a:gs pos="0">
                      <a:schemeClr val="accent1">
                        <a:alpha val="51000"/>
                      </a:schemeClr>
                    </a:gs>
                    <a:gs pos="100000">
                      <a:schemeClr val="accent1">
                        <a:lumMod val="50000"/>
                      </a:schemeClr>
                    </a:gs>
                  </a:gsLst>
                  <a:lin ang="16200000" scaled="1"/>
                </a:gradFill>
                <a:prstDash val="solid"/>
                <a:round/>
              </a:ln>
            </p:spPr>
            <p:txBody>
              <a:bodyPr rtlCol="0" anchor="ctr" anchorCtr="0"/>
              <a:lstStyle/>
              <a:p>
                <a:pPr algn="l"/>
                <a:endParaRPr/>
              </a:p>
            </p:txBody>
          </p:sp>
          <p:grpSp>
            <p:nvGrpSpPr>
              <p:cNvPr id="31" name="图形 24" descr="ad5977b6-50eb-47be-b88c-c9361a9b0774">
                <a:extLst>
                  <a:ext uri="{FF2B5EF4-FFF2-40B4-BE49-F238E27FC236}">
                    <a16:creationId xmlns:a16="http://schemas.microsoft.com/office/drawing/2014/main" id="{AFF6CA98-7293-FE84-8B3F-8AD50F66CD93}"/>
                  </a:ext>
                </a:extLst>
              </p:cNvPr>
              <p:cNvGrpSpPr/>
              <p:nvPr/>
            </p:nvGrpSpPr>
            <p:grpSpPr>
              <a:xfrm>
                <a:off x="4927589" y="3069972"/>
                <a:ext cx="2333818" cy="47576"/>
                <a:chOff x="4927589" y="3069972"/>
                <a:chExt cx="2333818" cy="47576"/>
              </a:xfrm>
              <a:solidFill>
                <a:srgbClr val="0C3FFF"/>
              </a:solidFill>
            </p:grpSpPr>
            <p:sp>
              <p:nvSpPr>
                <p:cNvPr id="32" name="任意多边形: 形状 31" descr="be257382-f6ae-4c60-8356-82ccaaa14f02">
                  <a:extLst>
                    <a:ext uri="{FF2B5EF4-FFF2-40B4-BE49-F238E27FC236}">
                      <a16:creationId xmlns:a16="http://schemas.microsoft.com/office/drawing/2014/main" id="{FBA07306-3C18-49CA-DCB8-42A4D7985EFC}"/>
                    </a:ext>
                  </a:extLst>
                </p:cNvPr>
                <p:cNvSpPr/>
                <p:nvPr/>
              </p:nvSpPr>
              <p:spPr>
                <a:xfrm>
                  <a:off x="4927589" y="3070671"/>
                  <a:ext cx="55803" cy="35795"/>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sp>
              <p:nvSpPr>
                <p:cNvPr id="33" name="任意多边形: 形状 32" descr="00ada1f4-04ba-4486-b246-606deeec6600">
                  <a:extLst>
                    <a:ext uri="{FF2B5EF4-FFF2-40B4-BE49-F238E27FC236}">
                      <a16:creationId xmlns:a16="http://schemas.microsoft.com/office/drawing/2014/main" id="{4991209A-2D5F-D994-0B76-5A5224108C2B}"/>
                    </a:ext>
                  </a:extLst>
                </p:cNvPr>
                <p:cNvSpPr/>
                <p:nvPr/>
              </p:nvSpPr>
              <p:spPr>
                <a:xfrm>
                  <a:off x="7187239" y="3069972"/>
                  <a:ext cx="74168" cy="47576"/>
                </a:xfrm>
                <a:custGeom>
                  <a:avLst/>
                  <a:gdLst>
                    <a:gd name="connsiteX0" fmla="*/ 0 w 149828"/>
                    <a:gd name="connsiteY0" fmla="*/ 0 h 149828"/>
                    <a:gd name="connsiteX1" fmla="*/ 120777 w 149828"/>
                    <a:gd name="connsiteY1" fmla="*/ 0 h 149828"/>
                    <a:gd name="connsiteX2" fmla="*/ 149828 w 149828"/>
                    <a:gd name="connsiteY2" fmla="*/ 0 h 149828"/>
                    <a:gd name="connsiteX3" fmla="*/ 149828 w 149828"/>
                    <a:gd name="connsiteY3" fmla="*/ 28956 h 149828"/>
                    <a:gd name="connsiteX4" fmla="*/ 149828 w 149828"/>
                    <a:gd name="connsiteY4" fmla="*/ 149828 h 149828"/>
                    <a:gd name="connsiteX5" fmla="*/ 111252 w 149828"/>
                    <a:gd name="connsiteY5" fmla="*/ 149828 h 149828"/>
                    <a:gd name="connsiteX6" fmla="*/ 111252 w 149828"/>
                    <a:gd name="connsiteY6" fmla="*/ 38481 h 149828"/>
                    <a:gd name="connsiteX7" fmla="*/ 0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0"/>
                      </a:moveTo>
                      <a:lnTo>
                        <a:pt x="120777" y="0"/>
                      </a:lnTo>
                      <a:lnTo>
                        <a:pt x="149828" y="0"/>
                      </a:lnTo>
                      <a:lnTo>
                        <a:pt x="149828" y="28956"/>
                      </a:lnTo>
                      <a:lnTo>
                        <a:pt x="149828" y="149828"/>
                      </a:lnTo>
                      <a:lnTo>
                        <a:pt x="111252" y="149828"/>
                      </a:lnTo>
                      <a:lnTo>
                        <a:pt x="111252" y="38481"/>
                      </a:lnTo>
                      <a:lnTo>
                        <a:pt x="0" y="38481"/>
                      </a:lnTo>
                      <a:close/>
                    </a:path>
                  </a:pathLst>
                </a:custGeom>
                <a:solidFill>
                  <a:schemeClr val="accent1"/>
                </a:solidFill>
                <a:ln w="9525" cap="flat">
                  <a:noFill/>
                  <a:prstDash val="solid"/>
                  <a:miter/>
                </a:ln>
              </p:spPr>
              <p:txBody>
                <a:bodyPr rtlCol="0" anchor="ctr" anchorCtr="0"/>
                <a:lstStyle/>
                <a:p>
                  <a:pPr algn="l"/>
                  <a:endParaRPr/>
                </a:p>
              </p:txBody>
            </p:sp>
          </p:grpSp>
          <p:grpSp>
            <p:nvGrpSpPr>
              <p:cNvPr id="34" name="图形 24" descr="8931b084-2c5e-4daa-b1ec-8006cddc0f7b">
                <a:extLst>
                  <a:ext uri="{FF2B5EF4-FFF2-40B4-BE49-F238E27FC236}">
                    <a16:creationId xmlns:a16="http://schemas.microsoft.com/office/drawing/2014/main" id="{913D47C6-7849-06AE-9DF5-9A69CA6C558C}"/>
                  </a:ext>
                </a:extLst>
              </p:cNvPr>
              <p:cNvGrpSpPr/>
              <p:nvPr/>
            </p:nvGrpSpPr>
            <p:grpSpPr>
              <a:xfrm>
                <a:off x="4989096" y="3732662"/>
                <a:ext cx="2271427" cy="51132"/>
                <a:chOff x="4989096" y="3732662"/>
                <a:chExt cx="2271427" cy="51132"/>
              </a:xfrm>
              <a:solidFill>
                <a:srgbClr val="0C3FFF"/>
              </a:solidFill>
            </p:grpSpPr>
            <p:sp>
              <p:nvSpPr>
                <p:cNvPr id="35" name="任意多边形: 形状 34" descr="7d43e56a-dd65-4ada-b2b4-50ff189a654d">
                  <a:extLst>
                    <a:ext uri="{FF2B5EF4-FFF2-40B4-BE49-F238E27FC236}">
                      <a16:creationId xmlns:a16="http://schemas.microsoft.com/office/drawing/2014/main" id="{D4FBC7D5-67EE-E3CE-4DA9-8F05444AEF22}"/>
                    </a:ext>
                  </a:extLst>
                </p:cNvPr>
                <p:cNvSpPr/>
                <p:nvPr/>
              </p:nvSpPr>
              <p:spPr>
                <a:xfrm>
                  <a:off x="4989096" y="3747999"/>
                  <a:ext cx="60801" cy="35795"/>
                </a:xfrm>
                <a:custGeom>
                  <a:avLst/>
                  <a:gdLst>
                    <a:gd name="connsiteX0" fmla="*/ 149828 w 149828"/>
                    <a:gd name="connsiteY0" fmla="*/ 149828 h 149828"/>
                    <a:gd name="connsiteX1" fmla="*/ 29051 w 149828"/>
                    <a:gd name="connsiteY1" fmla="*/ 149828 h 149828"/>
                    <a:gd name="connsiteX2" fmla="*/ 0 w 149828"/>
                    <a:gd name="connsiteY2" fmla="*/ 149828 h 149828"/>
                    <a:gd name="connsiteX3" fmla="*/ 0 w 149828"/>
                    <a:gd name="connsiteY3" fmla="*/ 120777 h 149828"/>
                    <a:gd name="connsiteX4" fmla="*/ 0 w 149828"/>
                    <a:gd name="connsiteY4" fmla="*/ 0 h 149828"/>
                    <a:gd name="connsiteX5" fmla="*/ 38576 w 149828"/>
                    <a:gd name="connsiteY5" fmla="*/ 0 h 149828"/>
                    <a:gd name="connsiteX6" fmla="*/ 38576 w 149828"/>
                    <a:gd name="connsiteY6" fmla="*/ 111252 h 149828"/>
                    <a:gd name="connsiteX7" fmla="*/ 149828 w 149828"/>
                    <a:gd name="connsiteY7" fmla="*/ 11125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149828"/>
                      </a:moveTo>
                      <a:lnTo>
                        <a:pt x="29051" y="149828"/>
                      </a:lnTo>
                      <a:lnTo>
                        <a:pt x="0" y="149828"/>
                      </a:lnTo>
                      <a:lnTo>
                        <a:pt x="0" y="120777"/>
                      </a:lnTo>
                      <a:lnTo>
                        <a:pt x="0" y="0"/>
                      </a:lnTo>
                      <a:lnTo>
                        <a:pt x="38576" y="0"/>
                      </a:lnTo>
                      <a:lnTo>
                        <a:pt x="38576" y="111252"/>
                      </a:lnTo>
                      <a:lnTo>
                        <a:pt x="149828" y="111252"/>
                      </a:lnTo>
                      <a:close/>
                    </a:path>
                  </a:pathLst>
                </a:custGeom>
                <a:solidFill>
                  <a:schemeClr val="accent1"/>
                </a:solidFill>
                <a:ln w="9525" cap="flat">
                  <a:noFill/>
                  <a:prstDash val="solid"/>
                  <a:miter/>
                </a:ln>
              </p:spPr>
              <p:txBody>
                <a:bodyPr rtlCol="0" anchor="ctr" anchorCtr="0"/>
                <a:lstStyle/>
                <a:p>
                  <a:pPr algn="l"/>
                  <a:endParaRPr/>
                </a:p>
              </p:txBody>
            </p:sp>
            <p:sp>
              <p:nvSpPr>
                <p:cNvPr id="36" name="任意多边形: 形状 35" descr="a0b63606-e57c-40dd-ad36-49f7760fdbf0">
                  <a:extLst>
                    <a:ext uri="{FF2B5EF4-FFF2-40B4-BE49-F238E27FC236}">
                      <a16:creationId xmlns:a16="http://schemas.microsoft.com/office/drawing/2014/main" id="{A76838A9-D803-EE94-6D61-2D1A9CBA6430}"/>
                    </a:ext>
                  </a:extLst>
                </p:cNvPr>
                <p:cNvSpPr/>
                <p:nvPr/>
              </p:nvSpPr>
              <p:spPr>
                <a:xfrm>
                  <a:off x="7187239" y="3732662"/>
                  <a:ext cx="73284" cy="43144"/>
                </a:xfrm>
                <a:custGeom>
                  <a:avLst/>
                  <a:gdLst>
                    <a:gd name="connsiteX0" fmla="*/ 0 w 149828"/>
                    <a:gd name="connsiteY0" fmla="*/ 149828 h 149828"/>
                    <a:gd name="connsiteX1" fmla="*/ 120777 w 149828"/>
                    <a:gd name="connsiteY1" fmla="*/ 149828 h 149828"/>
                    <a:gd name="connsiteX2" fmla="*/ 149828 w 149828"/>
                    <a:gd name="connsiteY2" fmla="*/ 149828 h 149828"/>
                    <a:gd name="connsiteX3" fmla="*/ 149828 w 149828"/>
                    <a:gd name="connsiteY3" fmla="*/ 120872 h 149828"/>
                    <a:gd name="connsiteX4" fmla="*/ 149828 w 149828"/>
                    <a:gd name="connsiteY4" fmla="*/ 0 h 149828"/>
                    <a:gd name="connsiteX5" fmla="*/ 111252 w 149828"/>
                    <a:gd name="connsiteY5" fmla="*/ 0 h 149828"/>
                    <a:gd name="connsiteX6" fmla="*/ 111252 w 149828"/>
                    <a:gd name="connsiteY6" fmla="*/ 111347 h 149828"/>
                    <a:gd name="connsiteX7" fmla="*/ 0 w 149828"/>
                    <a:gd name="connsiteY7" fmla="*/ 111347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149828"/>
                      </a:moveTo>
                      <a:lnTo>
                        <a:pt x="120777" y="149828"/>
                      </a:lnTo>
                      <a:lnTo>
                        <a:pt x="149828" y="149828"/>
                      </a:lnTo>
                      <a:lnTo>
                        <a:pt x="149828" y="120872"/>
                      </a:lnTo>
                      <a:lnTo>
                        <a:pt x="149828" y="0"/>
                      </a:lnTo>
                      <a:lnTo>
                        <a:pt x="111252" y="0"/>
                      </a:lnTo>
                      <a:lnTo>
                        <a:pt x="111252" y="111347"/>
                      </a:lnTo>
                      <a:lnTo>
                        <a:pt x="0" y="111347"/>
                      </a:lnTo>
                      <a:close/>
                    </a:path>
                  </a:pathLst>
                </a:custGeom>
                <a:solidFill>
                  <a:schemeClr val="accent1"/>
                </a:solidFill>
                <a:ln w="9525" cap="flat">
                  <a:noFill/>
                  <a:prstDash val="solid"/>
                  <a:miter/>
                </a:ln>
              </p:spPr>
              <p:txBody>
                <a:bodyPr rtlCol="0" anchor="ctr" anchorCtr="0"/>
                <a:lstStyle/>
                <a:p>
                  <a:pPr algn="l"/>
                  <a:endParaRPr/>
                </a:p>
              </p:txBody>
            </p:sp>
          </p:grpSp>
          <p:sp>
            <p:nvSpPr>
              <p:cNvPr id="37" name="任意多边形: 形状 36" descr="00fa8b85-f420-4817-833e-9aa272d6c66e">
                <a:extLst>
                  <a:ext uri="{FF2B5EF4-FFF2-40B4-BE49-F238E27FC236}">
                    <a16:creationId xmlns:a16="http://schemas.microsoft.com/office/drawing/2014/main" id="{CDBB5B9D-9E3F-5A40-3487-73A90DCA2876}"/>
                  </a:ext>
                </a:extLst>
              </p:cNvPr>
              <p:cNvSpPr/>
              <p:nvPr/>
            </p:nvSpPr>
            <p:spPr>
              <a:xfrm>
                <a:off x="5956554" y="3772837"/>
                <a:ext cx="373856" cy="5939"/>
              </a:xfrm>
              <a:custGeom>
                <a:avLst/>
                <a:gdLst>
                  <a:gd name="connsiteX0" fmla="*/ 0 w 373856"/>
                  <a:gd name="connsiteY0" fmla="*/ 0 h 46291"/>
                  <a:gd name="connsiteX1" fmla="*/ 373856 w 373856"/>
                  <a:gd name="connsiteY1" fmla="*/ 0 h 46291"/>
                  <a:gd name="connsiteX2" fmla="*/ 373856 w 373856"/>
                  <a:gd name="connsiteY2" fmla="*/ 46291 h 46291"/>
                  <a:gd name="connsiteX3" fmla="*/ 0 w 373856"/>
                  <a:gd name="connsiteY3" fmla="*/ 46291 h 46291"/>
                </a:gdLst>
                <a:ahLst/>
                <a:cxnLst>
                  <a:cxn ang="0">
                    <a:pos x="connsiteX0" y="connsiteY0"/>
                  </a:cxn>
                  <a:cxn ang="0">
                    <a:pos x="connsiteX1" y="connsiteY1"/>
                  </a:cxn>
                  <a:cxn ang="0">
                    <a:pos x="connsiteX2" y="connsiteY2"/>
                  </a:cxn>
                  <a:cxn ang="0">
                    <a:pos x="connsiteX3" y="connsiteY3"/>
                  </a:cxn>
                </a:cxnLst>
                <a:rect l="l" t="t" r="r" b="b"/>
                <a:pathLst>
                  <a:path w="373856" h="46291">
                    <a:moveTo>
                      <a:pt x="0" y="0"/>
                    </a:moveTo>
                    <a:lnTo>
                      <a:pt x="373856" y="0"/>
                    </a:lnTo>
                    <a:lnTo>
                      <a:pt x="373856" y="46291"/>
                    </a:lnTo>
                    <a:lnTo>
                      <a:pt x="0" y="46291"/>
                    </a:lnTo>
                    <a:close/>
                  </a:path>
                </a:pathLst>
              </a:custGeom>
              <a:solidFill>
                <a:schemeClr val="accent1"/>
              </a:solidFill>
              <a:ln w="9525" cap="flat">
                <a:noFill/>
                <a:prstDash val="solid"/>
                <a:miter/>
              </a:ln>
            </p:spPr>
            <p:txBody>
              <a:bodyPr rtlCol="0" anchor="ctr" anchorCtr="0"/>
              <a:lstStyle/>
              <a:p>
                <a:pPr algn="l"/>
                <a:endParaRPr/>
              </a:p>
            </p:txBody>
          </p:sp>
        </p:grpSp>
        <p:grpSp>
          <p:nvGrpSpPr>
            <p:cNvPr id="68" name="组合 67" descr="3b009bb7-b7b1-4197-94a9-43da0fcefd74">
              <a:extLst>
                <a:ext uri="{FF2B5EF4-FFF2-40B4-BE49-F238E27FC236}">
                  <a16:creationId xmlns:a16="http://schemas.microsoft.com/office/drawing/2014/main" id="{C3A0D284-1C5C-03E0-7F52-F63D1A263B9A}"/>
                </a:ext>
              </a:extLst>
            </p:cNvPr>
            <p:cNvGrpSpPr/>
            <p:nvPr/>
          </p:nvGrpSpPr>
          <p:grpSpPr>
            <a:xfrm>
              <a:off x="1722824" y="2151289"/>
              <a:ext cx="4168460" cy="3656807"/>
              <a:chOff x="641672" y="2305293"/>
              <a:chExt cx="2788280" cy="3656807"/>
            </a:xfrm>
          </p:grpSpPr>
          <p:grpSp>
            <p:nvGrpSpPr>
              <p:cNvPr id="8" name="组合 7" descr="8c1cc6c5-6c4e-432a-8009-832363aa8d0e">
                <a:extLst>
                  <a:ext uri="{FF2B5EF4-FFF2-40B4-BE49-F238E27FC236}">
                    <a16:creationId xmlns:a16="http://schemas.microsoft.com/office/drawing/2014/main" id="{FDF2B8DF-F988-5844-D0F5-ADD1A54B503D}"/>
                  </a:ext>
                </a:extLst>
              </p:cNvPr>
              <p:cNvGrpSpPr>
                <a:grpSpLocks noChangeAspect="1"/>
              </p:cNvGrpSpPr>
              <p:nvPr/>
            </p:nvGrpSpPr>
            <p:grpSpPr>
              <a:xfrm>
                <a:off x="641672" y="2305293"/>
                <a:ext cx="2788280" cy="3656807"/>
                <a:chOff x="4213388" y="1751662"/>
                <a:chExt cx="3801449" cy="4296728"/>
              </a:xfrm>
            </p:grpSpPr>
            <p:sp>
              <p:nvSpPr>
                <p:cNvPr id="9" name="矩形: 圆顶角 1" descr="f7b90495-79f3-4204-8133-708cd6cf30d2">
                  <a:extLst>
                    <a:ext uri="{FF2B5EF4-FFF2-40B4-BE49-F238E27FC236}">
                      <a16:creationId xmlns:a16="http://schemas.microsoft.com/office/drawing/2014/main" id="{58CAFFD5-2E3B-4792-0C85-8B146D263562}"/>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 name="Bullet1" descr="eac43be0-9446-42f1-9a29-ce72a0d85a95">
                  <a:extLst>
                    <a:ext uri="{FF2B5EF4-FFF2-40B4-BE49-F238E27FC236}">
                      <a16:creationId xmlns:a16="http://schemas.microsoft.com/office/drawing/2014/main" id="{6D6318CD-58D8-0885-BFD7-DD982DBBB5C9}"/>
                    </a:ext>
                  </a:extLst>
                </p:cNvPr>
                <p:cNvSpPr txBox="1"/>
                <p:nvPr/>
              </p:nvSpPr>
              <p:spPr>
                <a:xfrm>
                  <a:off x="4213388" y="2831759"/>
                  <a:ext cx="3635493" cy="760022"/>
                </a:xfrm>
                <a:prstGeom prst="rect">
                  <a:avLst/>
                </a:prstGeom>
                <a:noFill/>
                <a:ln>
                  <a:noFill/>
                </a:ln>
              </p:spPr>
              <p:txBody>
                <a:bodyPr wrap="square" lIns="91440" tIns="45720" rIns="91440" bIns="45720" anchor="b" anchorCtr="0">
                  <a:normAutofit/>
                </a:bodyPr>
                <a:lstStyle/>
                <a:p>
                  <a:pPr marL="285750" indent="-285750" algn="l">
                    <a:spcBef>
                      <a:spcPct val="0"/>
                    </a:spcBef>
                    <a:spcAft>
                      <a:spcPct val="0"/>
                    </a:spcAft>
                    <a:buFont typeface="Arial" panose="020B0604020202020204" pitchFamily="34" charset="0"/>
                    <a:buChar char="•"/>
                  </a:pPr>
                  <a:r>
                    <a:rPr lang="en-US" sz="2000" b="1" i="0" u="none" strike="noStrike" dirty="0" err="1">
                      <a:solidFill>
                        <a:srgbClr val="000000"/>
                      </a:solidFill>
                      <a:ea typeface="微软雅黑"/>
                    </a:rPr>
                    <a:t>自动化操作控制</a:t>
                  </a:r>
                  <a:endParaRPr lang="en-US" sz="2000" b="1" i="0" u="none" strike="noStrike" dirty="0">
                    <a:solidFill>
                      <a:srgbClr val="000000"/>
                    </a:solidFill>
                    <a:ea typeface="微软雅黑"/>
                  </a:endParaRPr>
                </a:p>
              </p:txBody>
            </p:sp>
            <p:sp>
              <p:nvSpPr>
                <p:cNvPr id="11" name="Text1" descr="d7f1f767-666a-4270-8279-5b66f6c51842">
                  <a:extLst>
                    <a:ext uri="{FF2B5EF4-FFF2-40B4-BE49-F238E27FC236}">
                      <a16:creationId xmlns:a16="http://schemas.microsoft.com/office/drawing/2014/main" id="{792A1BDD-CFEE-DEA4-F2A6-1B1F74C5B993}"/>
                    </a:ext>
                  </a:extLst>
                </p:cNvPr>
                <p:cNvSpPr txBox="1"/>
                <p:nvPr/>
              </p:nvSpPr>
              <p:spPr>
                <a:xfrm>
                  <a:off x="4213390" y="4001034"/>
                  <a:ext cx="3801447" cy="2047356"/>
                </a:xfrm>
                <a:prstGeom prst="rect">
                  <a:avLst/>
                </a:prstGeom>
                <a:noFill/>
                <a:ln>
                  <a:noFill/>
                </a:ln>
              </p:spPr>
              <p:txBody>
                <a:bodyPr wrap="square" lIns="91440" tIns="45720" rIns="91440" bIns="45720" anchor="t" anchorCtr="0">
                  <a:normAutofit fontScale="92500" lnSpcReduction="20000"/>
                </a:bodyPr>
                <a:lstStyle/>
                <a:p>
                  <a:pPr marL="171450" indent="-1714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自动伸缩</a:t>
                  </a:r>
                  <a:r>
                    <a:rPr lang="en-US" b="0" i="0" u="none" strike="noStrike" dirty="0">
                      <a:solidFill>
                        <a:srgbClr val="000000"/>
                      </a:solidFill>
                      <a:ea typeface="微软雅黑"/>
                    </a:rPr>
                    <a:t>（</a:t>
                  </a:r>
                  <a:r>
                    <a:rPr lang="zh-CN" altLang="en-US" b="0" i="0" u="none" strike="noStrike" dirty="0">
                      <a:solidFill>
                        <a:srgbClr val="000000"/>
                      </a:solidFill>
                      <a:ea typeface="微软雅黑"/>
                    </a:rPr>
                    <a:t>如</a:t>
                  </a:r>
                  <a:r>
                    <a:rPr lang="en-US" b="0" i="0" u="none" strike="noStrike" dirty="0" err="1">
                      <a:solidFill>
                        <a:srgbClr val="000000"/>
                      </a:solidFill>
                      <a:ea typeface="微软雅黑"/>
                    </a:rPr>
                    <a:t>基于预测的只读副本扩展</a:t>
                  </a:r>
                  <a:r>
                    <a:rPr lang="en-US"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在线参数调优</a:t>
                  </a:r>
                  <a:r>
                    <a:rPr lang="en-US" b="0" i="0" u="none" strike="noStrike" dirty="0">
                      <a:solidFill>
                        <a:srgbClr val="000000"/>
                      </a:solidFill>
                      <a:ea typeface="微软雅黑"/>
                    </a:rPr>
                    <a:t>（</a:t>
                  </a:r>
                  <a:r>
                    <a:rPr lang="zh-CN" altLang="en-US" b="0" i="0" u="none" strike="noStrike" dirty="0">
                      <a:solidFill>
                        <a:srgbClr val="000000"/>
                      </a:solidFill>
                      <a:ea typeface="微软雅黑"/>
                    </a:rPr>
                    <a:t>如</a:t>
                  </a:r>
                  <a:r>
                    <a:rPr lang="en-US" b="0" i="0" u="none" strike="noStrike" dirty="0" err="1">
                      <a:solidFill>
                        <a:srgbClr val="000000"/>
                      </a:solidFill>
                      <a:ea typeface="微软雅黑"/>
                    </a:rPr>
                    <a:t>MySQL自适应innodb_buffer_pool_size</a:t>
                  </a:r>
                  <a:r>
                    <a:rPr lang="en-US"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自我修复</a:t>
                  </a:r>
                  <a:r>
                    <a:rPr lang="en-US" b="0" i="0" u="none" strike="noStrike" dirty="0">
                      <a:solidFill>
                        <a:srgbClr val="000000"/>
                      </a:solidFill>
                      <a:ea typeface="微软雅黑"/>
                    </a:rPr>
                    <a:t>（</a:t>
                  </a:r>
                  <a:r>
                    <a:rPr lang="zh-CN" altLang="en-US" b="0" i="0" u="none" strike="noStrike" dirty="0">
                      <a:solidFill>
                        <a:srgbClr val="000000"/>
                      </a:solidFill>
                      <a:ea typeface="微软雅黑"/>
                    </a:rPr>
                    <a:t>如</a:t>
                  </a:r>
                  <a:r>
                    <a:rPr lang="en-US" b="0" i="0" u="none" strike="noStrike" dirty="0" err="1">
                      <a:solidFill>
                        <a:srgbClr val="000000"/>
                      </a:solidFill>
                      <a:ea typeface="微软雅黑"/>
                    </a:rPr>
                    <a:t>自动触发备份恢复流程</a:t>
                  </a:r>
                  <a:r>
                    <a:rPr lang="en-US" b="0" i="0" u="none" strike="noStrike" dirty="0">
                      <a:solidFill>
                        <a:srgbClr val="000000"/>
                      </a:solidFill>
                      <a:ea typeface="微软雅黑"/>
                    </a:rPr>
                    <a:t>）。</a:t>
                  </a:r>
                </a:p>
              </p:txBody>
            </p:sp>
          </p:grpSp>
          <p:cxnSp>
            <p:nvCxnSpPr>
              <p:cNvPr id="67" name="直接连接符 66" descr="ad6fcbb1-f064-4c2e-8786-d922450bf2e0">
                <a:extLst>
                  <a:ext uri="{FF2B5EF4-FFF2-40B4-BE49-F238E27FC236}">
                    <a16:creationId xmlns:a16="http://schemas.microsoft.com/office/drawing/2014/main" id="{7DC6FAFB-5952-9944-7B9B-E2CD99D9A9CF}"/>
                  </a:ext>
                </a:extLst>
              </p:cNvPr>
              <p:cNvCxnSpPr/>
              <p:nvPr/>
            </p:nvCxnSpPr>
            <p:spPr>
              <a:xfrm>
                <a:off x="901700" y="3365500"/>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93" name="组合 92" descr="9445506a-cf14-4c5a-8d58-e3529f87d663">
              <a:extLst>
                <a:ext uri="{FF2B5EF4-FFF2-40B4-BE49-F238E27FC236}">
                  <a16:creationId xmlns:a16="http://schemas.microsoft.com/office/drawing/2014/main" id="{2A3FF2D1-0A2F-7DD9-0AC8-D08DF69F3A38}"/>
                </a:ext>
              </a:extLst>
            </p:cNvPr>
            <p:cNvGrpSpPr/>
            <p:nvPr/>
          </p:nvGrpSpPr>
          <p:grpSpPr>
            <a:xfrm>
              <a:off x="6341657" y="2151289"/>
              <a:ext cx="3986485" cy="3656807"/>
              <a:chOff x="641672" y="2305293"/>
              <a:chExt cx="2666557" cy="3656807"/>
            </a:xfrm>
          </p:grpSpPr>
          <p:grpSp>
            <p:nvGrpSpPr>
              <p:cNvPr id="94" name="组合 93" descr="0e3b2ba5-bd1b-407b-ab56-c80977bf537d">
                <a:extLst>
                  <a:ext uri="{FF2B5EF4-FFF2-40B4-BE49-F238E27FC236}">
                    <a16:creationId xmlns:a16="http://schemas.microsoft.com/office/drawing/2014/main" id="{4B0FA8F2-C1A6-E2ED-EC08-689FC072E752}"/>
                  </a:ext>
                </a:extLst>
              </p:cNvPr>
              <p:cNvGrpSpPr>
                <a:grpSpLocks noChangeAspect="1"/>
              </p:cNvGrpSpPr>
              <p:nvPr/>
            </p:nvGrpSpPr>
            <p:grpSpPr>
              <a:xfrm>
                <a:off x="641672" y="2305293"/>
                <a:ext cx="2666557" cy="3656807"/>
                <a:chOff x="4213388" y="1751662"/>
                <a:chExt cx="3635496" cy="4296728"/>
              </a:xfrm>
            </p:grpSpPr>
            <p:sp>
              <p:nvSpPr>
                <p:cNvPr id="96" name="矩形: 圆顶角 1" descr="c3497ab8-a123-4580-86f4-2bfddcad3649">
                  <a:extLst>
                    <a:ext uri="{FF2B5EF4-FFF2-40B4-BE49-F238E27FC236}">
                      <a16:creationId xmlns:a16="http://schemas.microsoft.com/office/drawing/2014/main" id="{1EA046A1-4B9B-D1C6-BEF1-D8CE1499C7A1}"/>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97" name="Bullet2" descr="490422fc-dfe0-49fe-bd19-5c9b02c47137">
                  <a:extLst>
                    <a:ext uri="{FF2B5EF4-FFF2-40B4-BE49-F238E27FC236}">
                      <a16:creationId xmlns:a16="http://schemas.microsoft.com/office/drawing/2014/main" id="{63D86953-4B87-29FC-7B73-77914BB68F59}"/>
                    </a:ext>
                  </a:extLst>
                </p:cNvPr>
                <p:cNvSpPr txBox="1"/>
                <p:nvPr/>
              </p:nvSpPr>
              <p:spPr>
                <a:xfrm>
                  <a:off x="4213388" y="2831759"/>
                  <a:ext cx="3635493" cy="760022"/>
                </a:xfrm>
                <a:prstGeom prst="rect">
                  <a:avLst/>
                </a:prstGeom>
                <a:noFill/>
                <a:ln>
                  <a:noFill/>
                </a:ln>
              </p:spPr>
              <p:txBody>
                <a:bodyPr wrap="square" lIns="91440" tIns="45720" rIns="91440" bIns="45720" anchor="b" anchorCtr="0">
                  <a:normAutofit/>
                </a:bodyPr>
                <a:lstStyle/>
                <a:p>
                  <a:pPr marL="285750" indent="-285750" algn="l">
                    <a:spcBef>
                      <a:spcPct val="0"/>
                    </a:spcBef>
                    <a:spcAft>
                      <a:spcPct val="0"/>
                    </a:spcAft>
                    <a:buFont typeface="Arial" panose="020B0604020202020204" pitchFamily="34" charset="0"/>
                    <a:buChar char="•"/>
                  </a:pPr>
                  <a:r>
                    <a:rPr lang="en-US" sz="2000" b="1" i="0" u="none" strike="noStrike" dirty="0" err="1">
                      <a:solidFill>
                        <a:srgbClr val="000000"/>
                      </a:solidFill>
                      <a:ea typeface="微软雅黑"/>
                    </a:rPr>
                    <a:t>人机协同机制</a:t>
                  </a:r>
                  <a:endParaRPr lang="en-US" sz="2000" b="1" i="0" u="none" strike="noStrike" dirty="0">
                    <a:solidFill>
                      <a:srgbClr val="000000"/>
                    </a:solidFill>
                    <a:ea typeface="微软雅黑"/>
                  </a:endParaRPr>
                </a:p>
              </p:txBody>
            </p:sp>
            <p:sp>
              <p:nvSpPr>
                <p:cNvPr id="98" name="Text2" descr="66325776-0e43-4cac-be5f-2144a2de1704">
                  <a:extLst>
                    <a:ext uri="{FF2B5EF4-FFF2-40B4-BE49-F238E27FC236}">
                      <a16:creationId xmlns:a16="http://schemas.microsoft.com/office/drawing/2014/main" id="{AAB78013-28EF-D181-2818-2A0A698EE355}"/>
                    </a:ext>
                  </a:extLst>
                </p:cNvPr>
                <p:cNvSpPr txBox="1"/>
                <p:nvPr/>
              </p:nvSpPr>
              <p:spPr>
                <a:xfrm>
                  <a:off x="4213390" y="4001034"/>
                  <a:ext cx="3635494" cy="2047356"/>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置信度阈值控制</a:t>
                  </a:r>
                  <a:r>
                    <a:rPr lang="en-US" b="0" i="0" u="none" strike="noStrike" dirty="0">
                      <a:solidFill>
                        <a:srgbClr val="000000"/>
                      </a:solidFill>
                      <a:ea typeface="微软雅黑"/>
                    </a:rPr>
                    <a:t>（&gt;90%置信自动执行，&lt;70%转人工审批）。</a:t>
                  </a:r>
                </a:p>
              </p:txBody>
            </p:sp>
          </p:grpSp>
          <p:cxnSp>
            <p:nvCxnSpPr>
              <p:cNvPr id="95" name="直接连接符 94" descr="9854b39a-a41b-43f3-be08-8939ddbbfd78">
                <a:extLst>
                  <a:ext uri="{FF2B5EF4-FFF2-40B4-BE49-F238E27FC236}">
                    <a16:creationId xmlns:a16="http://schemas.microsoft.com/office/drawing/2014/main" id="{AFD342F2-5EDC-80EE-85C7-060D30AACECF}"/>
                  </a:ext>
                </a:extLst>
              </p:cNvPr>
              <p:cNvCxnSpPr/>
              <p:nvPr/>
            </p:nvCxnSpPr>
            <p:spPr>
              <a:xfrm>
                <a:off x="901700" y="3365500"/>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sp>
        <p:nvSpPr>
          <p:cNvPr id="26" name="Text3" descr="71ea2e23-c520-43dc-8a72-4d1e55c7f663">
            <a:extLst>
              <a:ext uri="{FF2B5EF4-FFF2-40B4-BE49-F238E27FC236}">
                <a16:creationId xmlns:a16="http://schemas.microsoft.com/office/drawing/2014/main" id="{75A2C508-B730-4FA5-BBE5-402FBA5CFC81}"/>
              </a:ext>
            </a:extLst>
          </p:cNvPr>
          <p:cNvSpPr txBox="1">
            <a:spLocks/>
          </p:cNvSpPr>
          <p:nvPr/>
        </p:nvSpPr>
        <p:spPr>
          <a:xfrm>
            <a:off x="1574042" y="1572174"/>
            <a:ext cx="8807185" cy="2155575"/>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执行控制层具备智能调优和弹性伸缩的资源扩展能力，可以根据数据库的实际负载情况自动调整资源</a:t>
            </a:r>
            <a:r>
              <a:rPr lang="en-US"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zh-CN" altLang="en-US" dirty="0">
                <a:solidFill>
                  <a:srgbClr val="000000"/>
                </a:solidFill>
                <a:ea typeface="微软雅黑"/>
              </a:rPr>
              <a:t>可以</a:t>
            </a:r>
            <a:r>
              <a:rPr lang="en-US" b="0" i="0" u="none" strike="noStrike" dirty="0" err="1">
                <a:solidFill>
                  <a:srgbClr val="000000"/>
                </a:solidFill>
                <a:ea typeface="微软雅黑"/>
              </a:rPr>
              <a:t>实时监控应用性能，自动执行索引推荐、参数调整和资源伸缩，确保数据库始终处于最佳运行状态</a:t>
            </a:r>
            <a:r>
              <a:rPr lang="en-US"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同时，预测性维护功能可以秒级定位系统异常根因，自动执行故障恢复策略，提高了系统的可靠性和可用性</a:t>
            </a:r>
            <a:r>
              <a:rPr lang="en-US" b="0" i="0" u="none" strike="noStrike" dirty="0">
                <a:solidFill>
                  <a:srgbClr val="000000"/>
                </a:solidFill>
                <a:ea typeface="微软雅黑"/>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2800" b="1" dirty="0" err="1">
                <a:solidFill>
                  <a:srgbClr val="E40000"/>
                </a:solidFill>
                <a:latin typeface="Arial"/>
                <a:ea typeface="黑体"/>
              </a:rPr>
              <a:t>知识库系统</a:t>
            </a:r>
            <a:endParaRPr lang="en-US" sz="2800" b="1" dirty="0">
              <a:solidFill>
                <a:srgbClr val="E40000"/>
              </a:solidFill>
              <a:latin typeface="Arial"/>
              <a:ea typeface="黑体"/>
            </a:endParaRPr>
          </a:p>
        </p:txBody>
      </p:sp>
      <p:grpSp>
        <p:nvGrpSpPr>
          <p:cNvPr id="5" name="6d649ebf-74bc-446c-add3-cfd664cd660c.source.3.zh-Hans.pptx" descr="a7a007fb-4878-4e9f-a2db-476968d4baf7">
            <a:extLst>
              <a:ext uri="{FF2B5EF4-FFF2-40B4-BE49-F238E27FC236}">
                <a16:creationId xmlns:a16="http://schemas.microsoft.com/office/drawing/2014/main" id="{863987AA-CAC8-6A3F-3599-0C2FB61D1227}"/>
              </a:ext>
            </a:extLst>
          </p:cNvPr>
          <p:cNvGrpSpPr/>
          <p:nvPr/>
        </p:nvGrpSpPr>
        <p:grpSpPr>
          <a:xfrm>
            <a:off x="1" y="1824048"/>
            <a:ext cx="12191999" cy="5033952"/>
            <a:chOff x="1" y="1824048"/>
            <a:chExt cx="12191999" cy="5033952"/>
          </a:xfrm>
        </p:grpSpPr>
        <p:sp>
          <p:nvSpPr>
            <p:cNvPr id="65" name="PictureMisc1" descr="dc327a52-86fb-4b64-ad19-b0575044ce86">
              <a:extLst>
                <a:ext uri="{FF2B5EF4-FFF2-40B4-BE49-F238E27FC236}">
                  <a16:creationId xmlns:a16="http://schemas.microsoft.com/office/drawing/2014/main" id="{5DB9263E-74BC-324D-8274-8640186FCC47}"/>
                </a:ext>
              </a:extLst>
            </p:cNvPr>
            <p:cNvSpPr/>
            <p:nvPr/>
          </p:nvSpPr>
          <p:spPr>
            <a:xfrm>
              <a:off x="1" y="4454604"/>
              <a:ext cx="12191999" cy="2403396"/>
            </a:xfrm>
            <a:prstGeom prst="rect">
              <a:avLst/>
            </a:prstGeom>
            <a:blipFill rotWithShape="1">
              <a:blip r:embed="rId2"/>
              <a:srcRect/>
              <a:stretch>
                <a:fillRect t="-5341" b="-18453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 name="c" descr="57f825d6-94cb-4389-abad-10a642d23543">
              <a:extLst>
                <a:ext uri="{FF2B5EF4-FFF2-40B4-BE49-F238E27FC236}">
                  <a16:creationId xmlns:a16="http://schemas.microsoft.com/office/drawing/2014/main" id="{F586F91A-F926-94C4-B940-7B33FA137CEB}"/>
                </a:ext>
              </a:extLst>
            </p:cNvPr>
            <p:cNvSpPr/>
            <p:nvPr/>
          </p:nvSpPr>
          <p:spPr>
            <a:xfrm>
              <a:off x="598591" y="1824048"/>
              <a:ext cx="10994819" cy="4310052"/>
            </a:xfrm>
            <a:prstGeom prst="roundRect">
              <a:avLst>
                <a:gd name="adj" fmla="val 3015"/>
              </a:avLst>
            </a:prstGeom>
            <a:gradFill flip="none" rotWithShape="1">
              <a:gsLst>
                <a:gs pos="0">
                  <a:schemeClr val="bg1"/>
                </a:gs>
                <a:gs pos="100000">
                  <a:schemeClr val="bg1">
                    <a:alpha val="90000"/>
                  </a:schemeClr>
                </a:gs>
              </a:gsLst>
              <a:lin ang="5400000" scaled="1"/>
              <a:tileRect/>
            </a:gradFill>
            <a:ln w="6350">
              <a:gradFill flip="none" rotWithShape="1">
                <a:gsLst>
                  <a:gs pos="0">
                    <a:schemeClr val="tx1">
                      <a:alpha val="50000"/>
                    </a:schemeClr>
                  </a:gs>
                  <a:gs pos="100000">
                    <a:schemeClr val="tx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lnSpc>
                  <a:spcPct val="120000"/>
                </a:lnSpc>
              </a:pPr>
              <a:endParaRPr/>
            </a:p>
          </p:txBody>
        </p:sp>
        <p:cxnSp>
          <p:nvCxnSpPr>
            <p:cNvPr id="226" name="直接连接符 225" descr="dac5d439-7eda-4656-8a7c-1d735399ae92">
              <a:extLst>
                <a:ext uri="{FF2B5EF4-FFF2-40B4-BE49-F238E27FC236}">
                  <a16:creationId xmlns:a16="http://schemas.microsoft.com/office/drawing/2014/main" id="{0CA1E6CF-3DAE-9AF9-D21F-100AE9D7D50B}"/>
                </a:ext>
              </a:extLst>
            </p:cNvPr>
            <p:cNvCxnSpPr>
              <a:cxnSpLocks/>
              <a:stCxn id="72" idx="3"/>
              <a:endCxn id="76" idx="1"/>
            </p:cNvCxnSpPr>
            <p:nvPr/>
          </p:nvCxnSpPr>
          <p:spPr>
            <a:xfrm>
              <a:off x="3771398" y="2158127"/>
              <a:ext cx="4756171"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nvGrpSpPr>
            <p:cNvPr id="6" name="组合 1" descr="fc306c34-b247-48d3-a181-bc496b2e9dce">
              <a:extLst>
                <a:ext uri="{FF2B5EF4-FFF2-40B4-BE49-F238E27FC236}">
                  <a16:creationId xmlns:a16="http://schemas.microsoft.com/office/drawing/2014/main" id="{1E89B8CC-B55C-FA98-E6BC-B702007FD8AC}"/>
                </a:ext>
              </a:extLst>
            </p:cNvPr>
            <p:cNvGrpSpPr/>
            <p:nvPr/>
          </p:nvGrpSpPr>
          <p:grpSpPr>
            <a:xfrm>
              <a:off x="2074460" y="2008394"/>
              <a:ext cx="4137945" cy="1985305"/>
              <a:chOff x="2074460" y="2008394"/>
              <a:chExt cx="4137945" cy="1985305"/>
            </a:xfrm>
          </p:grpSpPr>
          <p:sp>
            <p:nvSpPr>
              <p:cNvPr id="95" name="Bullet1" descr="d6a79fb6-7846-4c78-a1e1-77663588a57e">
                <a:extLst>
                  <a:ext uri="{FF2B5EF4-FFF2-40B4-BE49-F238E27FC236}">
                    <a16:creationId xmlns:a16="http://schemas.microsoft.com/office/drawing/2014/main" id="{A668A0D6-A050-C5D4-2140-BEC7BDF96455}"/>
                  </a:ext>
                </a:extLst>
              </p:cNvPr>
              <p:cNvSpPr txBox="1">
                <a:spLocks/>
              </p:cNvSpPr>
              <p:nvPr/>
            </p:nvSpPr>
            <p:spPr>
              <a:xfrm>
                <a:off x="2074460" y="2428129"/>
                <a:ext cx="3898785"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a:rPr>
                  <a:t>运维事件知识图谱</a:t>
                </a:r>
                <a:endParaRPr lang="en-US" sz="1800" b="1" i="0" u="none" dirty="0">
                  <a:solidFill>
                    <a:srgbClr val="000000"/>
                  </a:solidFill>
                  <a:ea typeface="微软雅黑"/>
                </a:endParaRPr>
              </a:p>
            </p:txBody>
          </p:sp>
          <p:sp>
            <p:nvSpPr>
              <p:cNvPr id="96" name="Text1" descr="e17ed25b-e645-4acf-a310-50eddc656dc2">
                <a:extLst>
                  <a:ext uri="{FF2B5EF4-FFF2-40B4-BE49-F238E27FC236}">
                    <a16:creationId xmlns:a16="http://schemas.microsoft.com/office/drawing/2014/main" id="{C10F2A4E-8E15-900B-40D8-D6F05CAE2893}"/>
                  </a:ext>
                </a:extLst>
              </p:cNvPr>
              <p:cNvSpPr txBox="1">
                <a:spLocks/>
              </p:cNvSpPr>
              <p:nvPr/>
            </p:nvSpPr>
            <p:spPr>
              <a:xfrm>
                <a:off x="2074460" y="3086096"/>
                <a:ext cx="4137945" cy="907603"/>
              </a:xfrm>
              <a:prstGeom prst="rect">
                <a:avLst/>
              </a:prstGeom>
              <a:noFill/>
              <a:ln>
                <a:noFill/>
              </a:ln>
            </p:spPr>
            <p:txBody>
              <a:bodyPr wrap="square" lIns="91440" tIns="45720" rIns="91440" bIns="45720" anchor="t" anchorCtr="0">
                <a:normAutofit/>
              </a:bodyPr>
              <a:lstStyle/>
              <a:p>
                <a:pPr marL="285750" indent="-2857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存储历史故障解决方案的实体关系</a:t>
                </a:r>
                <a:r>
                  <a:rPr lang="zh-CN" altLang="en-US" sz="1600" b="0" i="0" u="none" strike="noStrike" dirty="0">
                    <a:solidFill>
                      <a:srgbClr val="000000"/>
                    </a:solidFill>
                    <a:ea typeface="微软雅黑"/>
                  </a:rPr>
                  <a:t>图</a:t>
                </a:r>
                <a:r>
                  <a:rPr lang="en-US" sz="1600" b="0" i="0" u="none" strike="noStrike" dirty="0">
                    <a:solidFill>
                      <a:srgbClr val="000000"/>
                    </a:solidFill>
                    <a:ea typeface="微软雅黑"/>
                  </a:rPr>
                  <a:t>。</a:t>
                </a:r>
              </a:p>
            </p:txBody>
          </p:sp>
          <p:sp>
            <p:nvSpPr>
              <p:cNvPr id="72" name="Number1" descr="ecd8c741-42f9-48b5-a544-2783cb87ac08">
                <a:extLst>
                  <a:ext uri="{FF2B5EF4-FFF2-40B4-BE49-F238E27FC236}">
                    <a16:creationId xmlns:a16="http://schemas.microsoft.com/office/drawing/2014/main" id="{3A43B319-7C97-320B-D093-0821E4490A89}"/>
                  </a:ext>
                </a:extLst>
              </p:cNvPr>
              <p:cNvSpPr txBox="1"/>
              <p:nvPr/>
            </p:nvSpPr>
            <p:spPr>
              <a:xfrm>
                <a:off x="2868596"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1</a:t>
                </a:r>
              </a:p>
            </p:txBody>
          </p:sp>
        </p:grpSp>
        <p:grpSp>
          <p:nvGrpSpPr>
            <p:cNvPr id="3" name="组合 2" descr="dc0132b2-887b-4342-b4ed-c33bffd7a45f">
              <a:extLst>
                <a:ext uri="{FF2B5EF4-FFF2-40B4-BE49-F238E27FC236}">
                  <a16:creationId xmlns:a16="http://schemas.microsoft.com/office/drawing/2014/main" id="{B0A3E6F0-1CCC-3A7F-CCBB-55D0E54811EA}"/>
                </a:ext>
              </a:extLst>
            </p:cNvPr>
            <p:cNvGrpSpPr/>
            <p:nvPr/>
          </p:nvGrpSpPr>
          <p:grpSpPr>
            <a:xfrm>
              <a:off x="6212405" y="2008394"/>
              <a:ext cx="5343750" cy="1924179"/>
              <a:chOff x="6212405" y="2008394"/>
              <a:chExt cx="5343750" cy="1924179"/>
            </a:xfrm>
          </p:grpSpPr>
          <p:sp>
            <p:nvSpPr>
              <p:cNvPr id="77" name="Bullet2" descr="09fbd46d-031f-4d60-b0c6-5abeca306fe6">
                <a:extLst>
                  <a:ext uri="{FF2B5EF4-FFF2-40B4-BE49-F238E27FC236}">
                    <a16:creationId xmlns:a16="http://schemas.microsoft.com/office/drawing/2014/main" id="{35D93B8A-EB98-534E-5776-A723F2AB36AC}"/>
                  </a:ext>
                </a:extLst>
              </p:cNvPr>
              <p:cNvSpPr txBox="1">
                <a:spLocks/>
              </p:cNvSpPr>
              <p:nvPr/>
            </p:nvSpPr>
            <p:spPr>
              <a:xfrm>
                <a:off x="6212405" y="2428129"/>
                <a:ext cx="5306495"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lnSpc>
                    <a:spcPct val="120000"/>
                  </a:lnSpc>
                  <a:spcBef>
                    <a:spcPct val="0"/>
                  </a:spcBef>
                  <a:spcAft>
                    <a:spcPct val="0"/>
                  </a:spcAft>
                </a:pPr>
                <a:r>
                  <a:rPr lang="en-US" sz="1800" b="1" i="0" u="none" dirty="0" err="1">
                    <a:solidFill>
                      <a:srgbClr val="000000"/>
                    </a:solidFill>
                    <a:ea typeface="微软雅黑"/>
                  </a:rPr>
                  <a:t>模型版本仓库</a:t>
                </a:r>
                <a:endParaRPr lang="en-US" sz="1800" b="1" i="0" u="none" dirty="0">
                  <a:solidFill>
                    <a:srgbClr val="000000"/>
                  </a:solidFill>
                  <a:ea typeface="微软雅黑"/>
                </a:endParaRPr>
              </a:p>
            </p:txBody>
          </p:sp>
          <p:sp>
            <p:nvSpPr>
              <p:cNvPr id="78" name="Text2" descr="9d3cdd36-9cfd-4008-9dcf-29c5aee76dac">
                <a:extLst>
                  <a:ext uri="{FF2B5EF4-FFF2-40B4-BE49-F238E27FC236}">
                    <a16:creationId xmlns:a16="http://schemas.microsoft.com/office/drawing/2014/main" id="{33947B64-2C69-EEC4-7500-302DC2E6215D}"/>
                  </a:ext>
                </a:extLst>
              </p:cNvPr>
              <p:cNvSpPr txBox="1">
                <a:spLocks/>
              </p:cNvSpPr>
              <p:nvPr/>
            </p:nvSpPr>
            <p:spPr>
              <a:xfrm>
                <a:off x="6249660" y="3024970"/>
                <a:ext cx="5306495" cy="907603"/>
              </a:xfrm>
              <a:prstGeom prst="rect">
                <a:avLst/>
              </a:prstGeom>
              <a:noFill/>
              <a:ln>
                <a:noFill/>
              </a:ln>
            </p:spPr>
            <p:txBody>
              <a:bodyPr wrap="square" lIns="91440" tIns="45720" rIns="91440" bIns="45720" anchor="t" anchorCtr="0">
                <a:normAutofit/>
              </a:bodyPr>
              <a:lstStyle/>
              <a:p>
                <a:pPr marL="285750" indent="-285750" algn="ctr">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记录各模型迭代过程及适用场景</a:t>
                </a:r>
                <a:r>
                  <a:rPr lang="en-US" sz="1600" b="0" i="0" u="none" strike="noStrike" dirty="0">
                    <a:solidFill>
                      <a:srgbClr val="000000"/>
                    </a:solidFill>
                    <a:ea typeface="微软雅黑"/>
                  </a:rPr>
                  <a:t>。</a:t>
                </a:r>
              </a:p>
            </p:txBody>
          </p:sp>
          <p:sp>
            <p:nvSpPr>
              <p:cNvPr id="76" name="Number2" descr="048a3013-2ca6-49f4-b6b5-ee9106f83404">
                <a:extLst>
                  <a:ext uri="{FF2B5EF4-FFF2-40B4-BE49-F238E27FC236}">
                    <a16:creationId xmlns:a16="http://schemas.microsoft.com/office/drawing/2014/main" id="{9ED18147-10F1-0FD3-7B83-519D3BE0179A}"/>
                  </a:ext>
                </a:extLst>
              </p:cNvPr>
              <p:cNvSpPr txBox="1"/>
              <p:nvPr/>
            </p:nvSpPr>
            <p:spPr>
              <a:xfrm>
                <a:off x="8414251"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2</a:t>
                </a:r>
              </a:p>
            </p:txBody>
          </p:sp>
        </p:grpSp>
        <p:grpSp>
          <p:nvGrpSpPr>
            <p:cNvPr id="4" name="组合 3" descr="c5344d8f-9ecf-4f4c-b948-70734841bf24">
              <a:extLst>
                <a:ext uri="{FF2B5EF4-FFF2-40B4-BE49-F238E27FC236}">
                  <a16:creationId xmlns:a16="http://schemas.microsoft.com/office/drawing/2014/main" id="{81A8D727-5F88-3DC7-C9BF-3E45258BD934}"/>
                </a:ext>
              </a:extLst>
            </p:cNvPr>
            <p:cNvGrpSpPr/>
            <p:nvPr/>
          </p:nvGrpSpPr>
          <p:grpSpPr>
            <a:xfrm>
              <a:off x="2702247" y="4026774"/>
              <a:ext cx="7802165" cy="1985305"/>
              <a:chOff x="2702247" y="4026774"/>
              <a:chExt cx="7802165" cy="1985305"/>
            </a:xfrm>
          </p:grpSpPr>
          <p:sp>
            <p:nvSpPr>
              <p:cNvPr id="240" name="Bullet3" descr="7967fa0a-3bee-4a5c-8ad1-ea84465d394a">
                <a:extLst>
                  <a:ext uri="{FF2B5EF4-FFF2-40B4-BE49-F238E27FC236}">
                    <a16:creationId xmlns:a16="http://schemas.microsoft.com/office/drawing/2014/main" id="{95832515-E09E-D65E-A6AE-5FE08AABDE43}"/>
                  </a:ext>
                </a:extLst>
              </p:cNvPr>
              <p:cNvSpPr txBox="1">
                <a:spLocks/>
              </p:cNvSpPr>
              <p:nvPr/>
            </p:nvSpPr>
            <p:spPr>
              <a:xfrm>
                <a:off x="2702247" y="4446509"/>
                <a:ext cx="7006039"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lnSpc>
                    <a:spcPct val="120000"/>
                  </a:lnSpc>
                  <a:spcBef>
                    <a:spcPct val="0"/>
                  </a:spcBef>
                  <a:spcAft>
                    <a:spcPct val="0"/>
                  </a:spcAft>
                </a:pPr>
                <a:r>
                  <a:rPr lang="en-US" sz="1800" b="1" i="0" u="none" dirty="0" err="1">
                    <a:solidFill>
                      <a:srgbClr val="000000"/>
                    </a:solidFill>
                    <a:ea typeface="微软雅黑"/>
                  </a:rPr>
                  <a:t>策略反馈闭环</a:t>
                </a:r>
                <a:endParaRPr lang="en-US" sz="1800" b="1" i="0" u="none" dirty="0">
                  <a:solidFill>
                    <a:srgbClr val="000000"/>
                  </a:solidFill>
                  <a:ea typeface="微软雅黑"/>
                </a:endParaRPr>
              </a:p>
            </p:txBody>
          </p:sp>
          <p:sp>
            <p:nvSpPr>
              <p:cNvPr id="241" name="Text3" descr="71005dde-04de-4a21-96b8-356cb4e04cdc">
                <a:extLst>
                  <a:ext uri="{FF2B5EF4-FFF2-40B4-BE49-F238E27FC236}">
                    <a16:creationId xmlns:a16="http://schemas.microsoft.com/office/drawing/2014/main" id="{0E9832D8-661F-47F5-2487-8337E3ACDDDE}"/>
                  </a:ext>
                </a:extLst>
              </p:cNvPr>
              <p:cNvSpPr txBox="1">
                <a:spLocks/>
              </p:cNvSpPr>
              <p:nvPr/>
            </p:nvSpPr>
            <p:spPr>
              <a:xfrm>
                <a:off x="3498372" y="5104476"/>
                <a:ext cx="7006040" cy="907603"/>
              </a:xfrm>
              <a:prstGeom prst="rect">
                <a:avLst/>
              </a:prstGeom>
              <a:noFill/>
              <a:ln>
                <a:noFill/>
              </a:ln>
            </p:spPr>
            <p:txBody>
              <a:bodyPr wrap="square" lIns="91440" tIns="45720" rIns="91440" bIns="45720" anchor="t" anchorCtr="0">
                <a:normAutofit/>
              </a:bodyPr>
              <a:lstStyle/>
              <a:p>
                <a:pPr marL="285750" indent="-285750" algn="ctr">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通过DBaaS平台收集人工修正建议优化模型</a:t>
                </a:r>
                <a:r>
                  <a:rPr lang="en-US" sz="1600" b="0" i="0" u="none" strike="noStrike" dirty="0">
                    <a:solidFill>
                      <a:srgbClr val="000000"/>
                    </a:solidFill>
                    <a:ea typeface="微软雅黑"/>
                  </a:rPr>
                  <a:t>。</a:t>
                </a:r>
              </a:p>
            </p:txBody>
          </p:sp>
          <p:sp>
            <p:nvSpPr>
              <p:cNvPr id="242" name="Number3" descr="71e9b640-20dc-4492-a63c-5ef6372dc91c">
                <a:extLst>
                  <a:ext uri="{FF2B5EF4-FFF2-40B4-BE49-F238E27FC236}">
                    <a16:creationId xmlns:a16="http://schemas.microsoft.com/office/drawing/2014/main" id="{0D3019D7-A355-676E-AC51-5F37A193A9FA}"/>
                  </a:ext>
                </a:extLst>
              </p:cNvPr>
              <p:cNvSpPr txBox="1"/>
              <p:nvPr/>
            </p:nvSpPr>
            <p:spPr>
              <a:xfrm flipH="1">
                <a:off x="5644599" y="402677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dirty="0">
                    <a:solidFill>
                      <a:srgbClr val="454545"/>
                    </a:solidFill>
                    <a:latin typeface="Arial"/>
                  </a:rPr>
                  <a:t>3</a:t>
                </a:r>
              </a:p>
            </p:txBody>
          </p:sp>
        </p:gr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altLang="zh-CN" sz="2800" b="1" dirty="0" err="1">
                <a:solidFill>
                  <a:srgbClr val="E40000"/>
                </a:solidFill>
                <a:latin typeface="Arial"/>
                <a:ea typeface="黑体"/>
              </a:rPr>
              <a:t>AI驱动的智能运维</a:t>
            </a:r>
            <a:r>
              <a:rPr lang="en-US" altLang="zh-CN" sz="2800" b="1" dirty="0">
                <a:solidFill>
                  <a:srgbClr val="E40000"/>
                </a:solidFill>
                <a:latin typeface="Arial"/>
                <a:ea typeface="黑体"/>
              </a:rPr>
              <a:t>(AI for DB): </a:t>
            </a:r>
            <a:r>
              <a:rPr lang="en-US" sz="2800" b="1" dirty="0" err="1">
                <a:solidFill>
                  <a:srgbClr val="E40000"/>
                </a:solidFill>
                <a:latin typeface="Arial"/>
                <a:ea typeface="黑体"/>
              </a:rPr>
              <a:t>典型应用场景</a:t>
            </a:r>
            <a:endParaRPr lang="en-US" sz="2800" b="1" dirty="0">
              <a:solidFill>
                <a:srgbClr val="E40000"/>
              </a:solidFill>
              <a:latin typeface="Arial"/>
              <a:ea typeface="黑体"/>
            </a:endParaRPr>
          </a:p>
        </p:txBody>
      </p:sp>
      <p:grpSp>
        <p:nvGrpSpPr>
          <p:cNvPr id="13" name="4fd913c7-11fd-4171-a2aa-ea6658a24207.source.4.zh-Hans.pptx" descr="c26f9b26-30e6-4e56-9967-70c99bff9edc">
            <a:extLst>
              <a:ext uri="{FF2B5EF4-FFF2-40B4-BE49-F238E27FC236}">
                <a16:creationId xmlns:a16="http://schemas.microsoft.com/office/drawing/2014/main" id="{88964AF0-F38F-DAAF-EF5D-B2BB38E4C12F}"/>
              </a:ext>
            </a:extLst>
          </p:cNvPr>
          <p:cNvGrpSpPr/>
          <p:nvPr/>
        </p:nvGrpSpPr>
        <p:grpSpPr>
          <a:xfrm>
            <a:off x="660400" y="2039008"/>
            <a:ext cx="10998200" cy="3688693"/>
            <a:chOff x="660400" y="2039008"/>
            <a:chExt cx="10998200" cy="3688693"/>
          </a:xfrm>
        </p:grpSpPr>
        <p:grpSp>
          <p:nvGrpSpPr>
            <p:cNvPr id="9" name="组合 8" descr="9cd51503-6bbe-47d5-850a-8ee859621199">
              <a:extLst>
                <a:ext uri="{FF2B5EF4-FFF2-40B4-BE49-F238E27FC236}">
                  <a16:creationId xmlns:a16="http://schemas.microsoft.com/office/drawing/2014/main" id="{8647F283-6953-67A1-E815-44E8000F91A6}"/>
                </a:ext>
              </a:extLst>
            </p:cNvPr>
            <p:cNvGrpSpPr/>
            <p:nvPr/>
          </p:nvGrpSpPr>
          <p:grpSpPr>
            <a:xfrm>
              <a:off x="660400" y="2039008"/>
              <a:ext cx="2706656" cy="3688693"/>
              <a:chOff x="660400" y="2039008"/>
              <a:chExt cx="2706656" cy="3688693"/>
            </a:xfrm>
          </p:grpSpPr>
          <p:sp>
            <p:nvSpPr>
              <p:cNvPr id="5" name="矩形 4" descr="e7c5d522-c374-4d34-892b-42d9e9e93045">
                <a:extLst>
                  <a:ext uri="{FF2B5EF4-FFF2-40B4-BE49-F238E27FC236}">
                    <a16:creationId xmlns:a16="http://schemas.microsoft.com/office/drawing/2014/main" id="{862C93B7-E693-D55A-20A7-3F4B851949B6}"/>
                  </a:ext>
                </a:extLst>
              </p:cNvPr>
              <p:cNvSpPr/>
              <p:nvPr/>
            </p:nvSpPr>
            <p:spPr>
              <a:xfrm>
                <a:off x="687981" y="2069066"/>
                <a:ext cx="2460523" cy="3358476"/>
              </a:xfrm>
              <a:prstGeom prst="rect">
                <a:avLst/>
              </a:prstGeom>
              <a:gradFill flip="none" rotWithShape="1">
                <a:gsLst>
                  <a:gs pos="0">
                    <a:schemeClr val="accent1">
                      <a:alpha val="39000"/>
                    </a:schemeClr>
                  </a:gs>
                  <a:gs pos="100000">
                    <a:schemeClr val="accent1">
                      <a:alpha val="32000"/>
                    </a:schemeClr>
                  </a:gs>
                  <a:gs pos="55000">
                    <a:schemeClr val="accent1">
                      <a:alpha val="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1" name="任意多边形: 形状 20" descr="1d86166f-56e8-4ec7-961c-18c4ef8ecfb9">
                <a:extLst>
                  <a:ext uri="{FF2B5EF4-FFF2-40B4-BE49-F238E27FC236}">
                    <a16:creationId xmlns:a16="http://schemas.microsoft.com/office/drawing/2014/main" id="{AB73A1F7-16C6-7790-0D99-A3E170ECE4C2}"/>
                  </a:ext>
                </a:extLst>
              </p:cNvPr>
              <p:cNvSpPr/>
              <p:nvPr/>
            </p:nvSpPr>
            <p:spPr>
              <a:xfrm>
                <a:off x="1054019"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22" name="任意多边形: 形状 21" descr="b3ff46a8-f0e5-4f04-9d39-78eb2475f31c">
                <a:extLst>
                  <a:ext uri="{FF2B5EF4-FFF2-40B4-BE49-F238E27FC236}">
                    <a16:creationId xmlns:a16="http://schemas.microsoft.com/office/drawing/2014/main" id="{24A3E9E4-3E82-0073-1064-3933AA6C9232}"/>
                  </a:ext>
                </a:extLst>
              </p:cNvPr>
              <p:cNvSpPr/>
              <p:nvPr/>
            </p:nvSpPr>
            <p:spPr>
              <a:xfrm>
                <a:off x="1199119"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23" name="任意多边形: 形状 22" descr="caa637eb-4066-4e43-98b4-a91fa40c4a27">
                <a:extLst>
                  <a:ext uri="{FF2B5EF4-FFF2-40B4-BE49-F238E27FC236}">
                    <a16:creationId xmlns:a16="http://schemas.microsoft.com/office/drawing/2014/main" id="{1A6483A2-2C00-EC5D-90CB-00E3E5AB79DB}"/>
                  </a:ext>
                </a:extLst>
              </p:cNvPr>
              <p:cNvSpPr/>
              <p:nvPr/>
            </p:nvSpPr>
            <p:spPr>
              <a:xfrm>
                <a:off x="1344398"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24" name="任意多边形: 形状 23" descr="635f5530-43c2-4aea-8573-2096cf5741eb">
                <a:extLst>
                  <a:ext uri="{FF2B5EF4-FFF2-40B4-BE49-F238E27FC236}">
                    <a16:creationId xmlns:a16="http://schemas.microsoft.com/office/drawing/2014/main" id="{31218991-7D2D-938D-BD01-C362FB3872F8}"/>
                  </a:ext>
                </a:extLst>
              </p:cNvPr>
              <p:cNvSpPr/>
              <p:nvPr/>
            </p:nvSpPr>
            <p:spPr>
              <a:xfrm>
                <a:off x="1489496"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25" name="任意多边形: 形状 24" descr="9f070700-f368-4796-a62c-1779d2f4cfdd">
                <a:extLst>
                  <a:ext uri="{FF2B5EF4-FFF2-40B4-BE49-F238E27FC236}">
                    <a16:creationId xmlns:a16="http://schemas.microsoft.com/office/drawing/2014/main" id="{708F40D3-BFE9-A81D-588D-FD1C6EF013F8}"/>
                  </a:ext>
                </a:extLst>
              </p:cNvPr>
              <p:cNvSpPr/>
              <p:nvPr/>
            </p:nvSpPr>
            <p:spPr>
              <a:xfrm>
                <a:off x="1634775"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26" name="任意多边形: 形状 25" descr="d0489e95-8fed-4c9d-9a84-2a43dc731f48">
                <a:extLst>
                  <a:ext uri="{FF2B5EF4-FFF2-40B4-BE49-F238E27FC236}">
                    <a16:creationId xmlns:a16="http://schemas.microsoft.com/office/drawing/2014/main" id="{586F949E-307F-56DB-ED2F-A784FD46664F}"/>
                  </a:ext>
                </a:extLst>
              </p:cNvPr>
              <p:cNvSpPr/>
              <p:nvPr/>
            </p:nvSpPr>
            <p:spPr>
              <a:xfrm>
                <a:off x="2752254" y="5394722"/>
                <a:ext cx="375760" cy="75401"/>
              </a:xfrm>
              <a:custGeom>
                <a:avLst/>
                <a:gdLst>
                  <a:gd name="connsiteX0" fmla="*/ 160401 w 200786"/>
                  <a:gd name="connsiteY0" fmla="*/ 40291 h 40290"/>
                  <a:gd name="connsiteX1" fmla="*/ 0 w 200786"/>
                  <a:gd name="connsiteY1" fmla="*/ 40291 h 40290"/>
                  <a:gd name="connsiteX2" fmla="*/ 40386 w 200786"/>
                  <a:gd name="connsiteY2" fmla="*/ 0 h 40290"/>
                  <a:gd name="connsiteX3" fmla="*/ 200787 w 200786"/>
                  <a:gd name="connsiteY3" fmla="*/ 0 h 40290"/>
                </a:gdLst>
                <a:ahLst/>
                <a:cxnLst>
                  <a:cxn ang="0">
                    <a:pos x="connsiteX0" y="connsiteY0"/>
                  </a:cxn>
                  <a:cxn ang="0">
                    <a:pos x="connsiteX1" y="connsiteY1"/>
                  </a:cxn>
                  <a:cxn ang="0">
                    <a:pos x="connsiteX2" y="connsiteY2"/>
                  </a:cxn>
                  <a:cxn ang="0">
                    <a:pos x="connsiteX3" y="connsiteY3"/>
                  </a:cxn>
                </a:cxnLst>
                <a:rect l="l" t="t" r="r" b="b"/>
                <a:pathLst>
                  <a:path w="200786" h="40290">
                    <a:moveTo>
                      <a:pt x="160401" y="40291"/>
                    </a:moveTo>
                    <a:lnTo>
                      <a:pt x="0" y="40291"/>
                    </a:lnTo>
                    <a:lnTo>
                      <a:pt x="40386" y="0"/>
                    </a:lnTo>
                    <a:lnTo>
                      <a:pt x="200787" y="0"/>
                    </a:lnTo>
                    <a:close/>
                  </a:path>
                </a:pathLst>
              </a:custGeom>
              <a:solidFill>
                <a:schemeClr val="accent1"/>
              </a:solidFill>
              <a:ln w="9525" cap="flat">
                <a:noFill/>
                <a:prstDash val="solid"/>
                <a:miter/>
              </a:ln>
            </p:spPr>
            <p:txBody>
              <a:bodyPr rtlCol="0" anchor="ctr" anchorCtr="0"/>
              <a:lstStyle/>
              <a:p>
                <a:pPr algn="l"/>
                <a:endParaRPr/>
              </a:p>
            </p:txBody>
          </p:sp>
          <p:sp>
            <p:nvSpPr>
              <p:cNvPr id="20" name="任意多边形: 形状 19" descr="26e87c12-dbcf-42d1-90df-3ea962e45464">
                <a:extLst>
                  <a:ext uri="{FF2B5EF4-FFF2-40B4-BE49-F238E27FC236}">
                    <a16:creationId xmlns:a16="http://schemas.microsoft.com/office/drawing/2014/main" id="{F980A5B9-0735-E22B-6861-E8370AB64D07}"/>
                  </a:ext>
                </a:extLst>
              </p:cNvPr>
              <p:cNvSpPr/>
              <p:nvPr/>
            </p:nvSpPr>
            <p:spPr>
              <a:xfrm>
                <a:off x="813376" y="5221636"/>
                <a:ext cx="2553680" cy="506065"/>
              </a:xfrm>
              <a:custGeom>
                <a:avLst/>
                <a:gdLst>
                  <a:gd name="connsiteX0" fmla="*/ 837819 w 1364551"/>
                  <a:gd name="connsiteY0" fmla="*/ 190691 h 270414"/>
                  <a:gd name="connsiteX1" fmla="*/ 758190 w 1364551"/>
                  <a:gd name="connsiteY1" fmla="*/ 270415 h 270414"/>
                  <a:gd name="connsiteX2" fmla="*/ 0 w 1364551"/>
                  <a:gd name="connsiteY2" fmla="*/ 270415 h 270414"/>
                  <a:gd name="connsiteX3" fmla="*/ 159353 w 1364551"/>
                  <a:gd name="connsiteY3" fmla="*/ 111062 h 270414"/>
                  <a:gd name="connsiteX4" fmla="*/ 1253585 w 1364551"/>
                  <a:gd name="connsiteY4" fmla="*/ 111062 h 270414"/>
                  <a:gd name="connsiteX5" fmla="*/ 1364552 w 1364551"/>
                  <a:gd name="connsiteY5" fmla="*/ 0 h 27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4551" h="270414">
                    <a:moveTo>
                      <a:pt x="837819" y="190691"/>
                    </a:moveTo>
                    <a:lnTo>
                      <a:pt x="758190" y="270415"/>
                    </a:lnTo>
                    <a:lnTo>
                      <a:pt x="0" y="270415"/>
                    </a:lnTo>
                    <a:lnTo>
                      <a:pt x="159353" y="111062"/>
                    </a:lnTo>
                    <a:lnTo>
                      <a:pt x="1253585" y="111062"/>
                    </a:lnTo>
                    <a:lnTo>
                      <a:pt x="1364552" y="0"/>
                    </a:lnTo>
                  </a:path>
                </a:pathLst>
              </a:custGeom>
              <a:noFill/>
              <a:ln w="9525" cap="flat">
                <a:solidFill>
                  <a:schemeClr val="accent1"/>
                </a:solidFill>
                <a:prstDash val="solid"/>
                <a:miter/>
              </a:ln>
            </p:spPr>
            <p:txBody>
              <a:bodyPr rtlCol="0" anchor="ctr" anchorCtr="0"/>
              <a:lstStyle/>
              <a:p>
                <a:pPr algn="l"/>
                <a:endParaRPr/>
              </a:p>
            </p:txBody>
          </p:sp>
          <p:sp>
            <p:nvSpPr>
              <p:cNvPr id="28" name="任意多边形: 形状 27" descr="84ac8c34-4bf7-4f38-a0fb-fb9685baedf4">
                <a:extLst>
                  <a:ext uri="{FF2B5EF4-FFF2-40B4-BE49-F238E27FC236}">
                    <a16:creationId xmlns:a16="http://schemas.microsoft.com/office/drawing/2014/main" id="{29BCC43C-2E22-F7D2-88B2-9308BE0962AB}"/>
                  </a:ext>
                </a:extLst>
              </p:cNvPr>
              <p:cNvSpPr/>
              <p:nvPr/>
            </p:nvSpPr>
            <p:spPr>
              <a:xfrm>
                <a:off x="660400" y="2039008"/>
                <a:ext cx="223824" cy="22063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grpSp>
            <p:nvGrpSpPr>
              <p:cNvPr id="7" name="组合 1" descr="898b99c1-9e6b-46bd-8302-973f3f123381">
                <a:extLst>
                  <a:ext uri="{FF2B5EF4-FFF2-40B4-BE49-F238E27FC236}">
                    <a16:creationId xmlns:a16="http://schemas.microsoft.com/office/drawing/2014/main" id="{2433AF18-5D15-56A7-B6F3-55076CB663D1}"/>
                  </a:ext>
                </a:extLst>
              </p:cNvPr>
              <p:cNvGrpSpPr/>
              <p:nvPr/>
            </p:nvGrpSpPr>
            <p:grpSpPr>
              <a:xfrm>
                <a:off x="751249" y="2300560"/>
                <a:ext cx="2325967" cy="2528162"/>
                <a:chOff x="751249" y="2300560"/>
                <a:chExt cx="2325967" cy="2528162"/>
              </a:xfrm>
            </p:grpSpPr>
            <p:sp>
              <p:nvSpPr>
                <p:cNvPr id="30" name="Bullet1" descr="b014b111-1439-4357-9bd3-f9d0851c25b6">
                  <a:extLst>
                    <a:ext uri="{FF2B5EF4-FFF2-40B4-BE49-F238E27FC236}">
                      <a16:creationId xmlns:a16="http://schemas.microsoft.com/office/drawing/2014/main" id="{93AE95D1-D2B9-BEC2-64F7-6008E25E6450}"/>
                    </a:ext>
                  </a:extLst>
                </p:cNvPr>
                <p:cNvSpPr txBox="1">
                  <a:spLocks/>
                </p:cNvSpPr>
                <p:nvPr/>
              </p:nvSpPr>
              <p:spPr>
                <a:xfrm>
                  <a:off x="751249" y="2300560"/>
                  <a:ext cx="2325967" cy="717113"/>
                </a:xfrm>
                <a:prstGeom prst="rect">
                  <a:avLst/>
                </a:prstGeom>
                <a:noFill/>
                <a:ln>
                  <a:noFill/>
                </a:ln>
              </p:spPr>
              <p:txBody>
                <a:bodyPr wrap="square" lIns="91440" tIns="45720" rIns="91440" bIns="45720" anchor="b" anchorCtr="0">
                  <a:normAutofit/>
                </a:bodyPr>
                <a:lstStyle/>
                <a:p>
                  <a:pPr algn="ctr">
                    <a:spcBef>
                      <a:spcPct val="0"/>
                    </a:spcBef>
                    <a:spcAft>
                      <a:spcPct val="0"/>
                    </a:spcAft>
                  </a:pPr>
                  <a:r>
                    <a:rPr lang="en-US" sz="1600" b="1" u="none" strike="noStrike" dirty="0" err="1">
                      <a:solidFill>
                        <a:srgbClr val="000000"/>
                      </a:solidFill>
                      <a:ea typeface="微软雅黑"/>
                    </a:rPr>
                    <a:t>容量预测</a:t>
                  </a:r>
                  <a:endParaRPr lang="en-US" sz="1600" b="1" u="none" strike="noStrike" dirty="0">
                    <a:solidFill>
                      <a:srgbClr val="000000"/>
                    </a:solidFill>
                    <a:ea typeface="微软雅黑"/>
                  </a:endParaRPr>
                </a:p>
              </p:txBody>
            </p:sp>
            <p:sp>
              <p:nvSpPr>
                <p:cNvPr id="31" name="Text1" descr="d807909a-0032-4678-a597-face70bb07dd">
                  <a:extLst>
                    <a:ext uri="{FF2B5EF4-FFF2-40B4-BE49-F238E27FC236}">
                      <a16:creationId xmlns:a16="http://schemas.microsoft.com/office/drawing/2014/main" id="{F558CEE7-8E38-F562-2C3A-350CF1B4AB06}"/>
                    </a:ext>
                  </a:extLst>
                </p:cNvPr>
                <p:cNvSpPr txBox="1">
                  <a:spLocks/>
                </p:cNvSpPr>
                <p:nvPr/>
              </p:nvSpPr>
              <p:spPr>
                <a:xfrm>
                  <a:off x="751249" y="3373125"/>
                  <a:ext cx="2325967" cy="1455597"/>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1600" b="0" u="none" strike="noStrike" dirty="0" err="1">
                      <a:solidFill>
                        <a:srgbClr val="000000"/>
                      </a:solidFill>
                      <a:ea typeface="微软雅黑"/>
                    </a:rPr>
                    <a:t>技术实现为Prophet</a:t>
                  </a:r>
                  <a:r>
                    <a:rPr lang="en-US" sz="1600" b="0" u="none" strike="noStrike" dirty="0">
                      <a:solidFill>
                        <a:srgbClr val="000000"/>
                      </a:solidFill>
                      <a:ea typeface="微软雅黑"/>
                    </a:rPr>
                    <a:t> + </a:t>
                  </a:r>
                  <a:r>
                    <a:rPr lang="en-US" sz="1600" b="0" u="none" strike="noStrike" dirty="0" err="1">
                      <a:solidFill>
                        <a:srgbClr val="000000"/>
                      </a:solidFill>
                      <a:ea typeface="微软雅黑"/>
                    </a:rPr>
                    <a:t>LightGBM时空特征建模，商业产品实例</a:t>
                  </a:r>
                  <a:r>
                    <a:rPr lang="zh-CN" altLang="en-US" sz="1600" b="0" u="none" strike="noStrike" dirty="0">
                      <a:solidFill>
                        <a:srgbClr val="000000"/>
                      </a:solidFill>
                      <a:ea typeface="微软雅黑"/>
                    </a:rPr>
                    <a:t>如：</a:t>
                  </a:r>
                  <a:r>
                    <a:rPr lang="en-US" sz="1600" b="0" u="none" strike="noStrike" dirty="0">
                      <a:solidFill>
                        <a:srgbClr val="000000"/>
                      </a:solidFill>
                      <a:ea typeface="微软雅黑"/>
                    </a:rPr>
                    <a:t>Oracle MySQL </a:t>
                  </a:r>
                  <a:r>
                    <a:rPr lang="en-US" sz="1600" b="0" u="none" strike="noStrike" dirty="0" err="1">
                      <a:solidFill>
                        <a:srgbClr val="000000"/>
                      </a:solidFill>
                      <a:ea typeface="微软雅黑"/>
                    </a:rPr>
                    <a:t>HeatWave</a:t>
                  </a:r>
                  <a:r>
                    <a:rPr lang="en-US" sz="1600" b="0" u="none" strike="noStrike" dirty="0">
                      <a:solidFill>
                        <a:srgbClr val="000000"/>
                      </a:solidFill>
                      <a:ea typeface="微软雅黑"/>
                    </a:rPr>
                    <a:t> </a:t>
                  </a:r>
                  <a:r>
                    <a:rPr lang="en-US" sz="1600" b="0" u="none" strike="noStrike" dirty="0" err="1">
                      <a:solidFill>
                        <a:srgbClr val="000000"/>
                      </a:solidFill>
                      <a:ea typeface="微软雅黑"/>
                    </a:rPr>
                    <a:t>AutoScaler</a:t>
                  </a:r>
                  <a:r>
                    <a:rPr lang="en-US" sz="1600" b="0" u="none" strike="noStrike" dirty="0">
                      <a:solidFill>
                        <a:srgbClr val="000000"/>
                      </a:solidFill>
                      <a:ea typeface="微软雅黑"/>
                    </a:rPr>
                    <a:t>。</a:t>
                  </a:r>
                </a:p>
              </p:txBody>
            </p:sp>
          </p:grpSp>
        </p:grpSp>
        <p:grpSp>
          <p:nvGrpSpPr>
            <p:cNvPr id="10" name="组合 9" descr="cc71bc2a-7df5-46f3-a987-20976acf4e89">
              <a:extLst>
                <a:ext uri="{FF2B5EF4-FFF2-40B4-BE49-F238E27FC236}">
                  <a16:creationId xmlns:a16="http://schemas.microsoft.com/office/drawing/2014/main" id="{617970AC-FE22-9C8B-1CE5-02B4245A3DCF}"/>
                </a:ext>
              </a:extLst>
            </p:cNvPr>
            <p:cNvGrpSpPr/>
            <p:nvPr/>
          </p:nvGrpSpPr>
          <p:grpSpPr>
            <a:xfrm>
              <a:off x="3424248" y="2039008"/>
              <a:ext cx="2706656" cy="3688693"/>
              <a:chOff x="3424248" y="2039008"/>
              <a:chExt cx="2706656" cy="3688693"/>
            </a:xfrm>
          </p:grpSpPr>
          <p:sp>
            <p:nvSpPr>
              <p:cNvPr id="37" name="矩形 36" descr="e58a9bba-a246-48c0-b846-c0622c97676c">
                <a:extLst>
                  <a:ext uri="{FF2B5EF4-FFF2-40B4-BE49-F238E27FC236}">
                    <a16:creationId xmlns:a16="http://schemas.microsoft.com/office/drawing/2014/main" id="{0A08A11B-7C9B-BEB0-F96E-BD80325D7183}"/>
                  </a:ext>
                </a:extLst>
              </p:cNvPr>
              <p:cNvSpPr/>
              <p:nvPr/>
            </p:nvSpPr>
            <p:spPr>
              <a:xfrm>
                <a:off x="3451829" y="2069066"/>
                <a:ext cx="2460523" cy="3358476"/>
              </a:xfrm>
              <a:prstGeom prst="rect">
                <a:avLst/>
              </a:prstGeom>
              <a:gradFill flip="none" rotWithShape="1">
                <a:gsLst>
                  <a:gs pos="0">
                    <a:schemeClr val="accent1">
                      <a:alpha val="39000"/>
                    </a:schemeClr>
                  </a:gs>
                  <a:gs pos="100000">
                    <a:schemeClr val="accent1">
                      <a:alpha val="32000"/>
                    </a:schemeClr>
                  </a:gs>
                  <a:gs pos="55000">
                    <a:schemeClr val="accent1">
                      <a:alpha val="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42" name="任意多边形: 形状 41" descr="fe67df6a-f621-49b4-949f-294050711e38">
                <a:extLst>
                  <a:ext uri="{FF2B5EF4-FFF2-40B4-BE49-F238E27FC236}">
                    <a16:creationId xmlns:a16="http://schemas.microsoft.com/office/drawing/2014/main" id="{A065092A-71CF-14EA-5B95-EE2EF3A406E9}"/>
                  </a:ext>
                </a:extLst>
              </p:cNvPr>
              <p:cNvSpPr/>
              <p:nvPr/>
            </p:nvSpPr>
            <p:spPr>
              <a:xfrm>
                <a:off x="3817867"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43" name="任意多边形: 形状 42" descr="065a3351-4b68-4f68-a1e7-0aebfe16e5fe">
                <a:extLst>
                  <a:ext uri="{FF2B5EF4-FFF2-40B4-BE49-F238E27FC236}">
                    <a16:creationId xmlns:a16="http://schemas.microsoft.com/office/drawing/2014/main" id="{FAF5805B-4390-82FB-DE9A-E704BB0EE821}"/>
                  </a:ext>
                </a:extLst>
              </p:cNvPr>
              <p:cNvSpPr/>
              <p:nvPr/>
            </p:nvSpPr>
            <p:spPr>
              <a:xfrm>
                <a:off x="3962967"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44" name="任意多边形: 形状 43" descr="ed8add11-ebac-4db2-807c-4a7de159c6a1">
                <a:extLst>
                  <a:ext uri="{FF2B5EF4-FFF2-40B4-BE49-F238E27FC236}">
                    <a16:creationId xmlns:a16="http://schemas.microsoft.com/office/drawing/2014/main" id="{C7DE2F8A-28E6-4DC1-E5D7-342CFAB30E47}"/>
                  </a:ext>
                </a:extLst>
              </p:cNvPr>
              <p:cNvSpPr/>
              <p:nvPr/>
            </p:nvSpPr>
            <p:spPr>
              <a:xfrm>
                <a:off x="4108246"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45" name="任意多边形: 形状 44" descr="2d12b520-14fa-45d8-a5cb-466c4679b476">
                <a:extLst>
                  <a:ext uri="{FF2B5EF4-FFF2-40B4-BE49-F238E27FC236}">
                    <a16:creationId xmlns:a16="http://schemas.microsoft.com/office/drawing/2014/main" id="{7E1C5F86-12A1-50AD-BB9D-6D4B29A35F66}"/>
                  </a:ext>
                </a:extLst>
              </p:cNvPr>
              <p:cNvSpPr/>
              <p:nvPr/>
            </p:nvSpPr>
            <p:spPr>
              <a:xfrm>
                <a:off x="4253344"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46" name="任意多边形: 形状 45" descr="e610bc52-ab44-4445-85b2-1e1a0cb56d5a">
                <a:extLst>
                  <a:ext uri="{FF2B5EF4-FFF2-40B4-BE49-F238E27FC236}">
                    <a16:creationId xmlns:a16="http://schemas.microsoft.com/office/drawing/2014/main" id="{3C6B3C08-EDCC-4C7D-1326-E4E2B69E7378}"/>
                  </a:ext>
                </a:extLst>
              </p:cNvPr>
              <p:cNvSpPr/>
              <p:nvPr/>
            </p:nvSpPr>
            <p:spPr>
              <a:xfrm>
                <a:off x="4398623"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47" name="任意多边形: 形状 46" descr="4dae5413-3c29-4c43-800f-fbd30654fb27">
                <a:extLst>
                  <a:ext uri="{FF2B5EF4-FFF2-40B4-BE49-F238E27FC236}">
                    <a16:creationId xmlns:a16="http://schemas.microsoft.com/office/drawing/2014/main" id="{1729F206-D9A2-8C89-2087-67B284356A3E}"/>
                  </a:ext>
                </a:extLst>
              </p:cNvPr>
              <p:cNvSpPr/>
              <p:nvPr/>
            </p:nvSpPr>
            <p:spPr>
              <a:xfrm>
                <a:off x="5516102" y="5394722"/>
                <a:ext cx="375760" cy="75401"/>
              </a:xfrm>
              <a:custGeom>
                <a:avLst/>
                <a:gdLst>
                  <a:gd name="connsiteX0" fmla="*/ 160401 w 200786"/>
                  <a:gd name="connsiteY0" fmla="*/ 40291 h 40290"/>
                  <a:gd name="connsiteX1" fmla="*/ 0 w 200786"/>
                  <a:gd name="connsiteY1" fmla="*/ 40291 h 40290"/>
                  <a:gd name="connsiteX2" fmla="*/ 40386 w 200786"/>
                  <a:gd name="connsiteY2" fmla="*/ 0 h 40290"/>
                  <a:gd name="connsiteX3" fmla="*/ 200787 w 200786"/>
                  <a:gd name="connsiteY3" fmla="*/ 0 h 40290"/>
                </a:gdLst>
                <a:ahLst/>
                <a:cxnLst>
                  <a:cxn ang="0">
                    <a:pos x="connsiteX0" y="connsiteY0"/>
                  </a:cxn>
                  <a:cxn ang="0">
                    <a:pos x="connsiteX1" y="connsiteY1"/>
                  </a:cxn>
                  <a:cxn ang="0">
                    <a:pos x="connsiteX2" y="connsiteY2"/>
                  </a:cxn>
                  <a:cxn ang="0">
                    <a:pos x="connsiteX3" y="connsiteY3"/>
                  </a:cxn>
                </a:cxnLst>
                <a:rect l="l" t="t" r="r" b="b"/>
                <a:pathLst>
                  <a:path w="200786" h="40290">
                    <a:moveTo>
                      <a:pt x="160401" y="40291"/>
                    </a:moveTo>
                    <a:lnTo>
                      <a:pt x="0" y="40291"/>
                    </a:lnTo>
                    <a:lnTo>
                      <a:pt x="40386" y="0"/>
                    </a:lnTo>
                    <a:lnTo>
                      <a:pt x="200787" y="0"/>
                    </a:lnTo>
                    <a:close/>
                  </a:path>
                </a:pathLst>
              </a:custGeom>
              <a:solidFill>
                <a:schemeClr val="accent1"/>
              </a:solidFill>
              <a:ln w="9525" cap="flat">
                <a:noFill/>
                <a:prstDash val="solid"/>
                <a:miter/>
              </a:ln>
            </p:spPr>
            <p:txBody>
              <a:bodyPr rtlCol="0" anchor="ctr" anchorCtr="0"/>
              <a:lstStyle/>
              <a:p>
                <a:pPr algn="l"/>
                <a:endParaRPr/>
              </a:p>
            </p:txBody>
          </p:sp>
          <p:sp>
            <p:nvSpPr>
              <p:cNvPr id="41" name="任意多边形: 形状 40" descr="19471494-42d0-44aa-9cb8-f43764da08bf">
                <a:extLst>
                  <a:ext uri="{FF2B5EF4-FFF2-40B4-BE49-F238E27FC236}">
                    <a16:creationId xmlns:a16="http://schemas.microsoft.com/office/drawing/2014/main" id="{2F0D500D-F833-AC61-7AF0-BA31E8C07BC5}"/>
                  </a:ext>
                </a:extLst>
              </p:cNvPr>
              <p:cNvSpPr/>
              <p:nvPr/>
            </p:nvSpPr>
            <p:spPr>
              <a:xfrm>
                <a:off x="3577224" y="5221636"/>
                <a:ext cx="2553680" cy="506065"/>
              </a:xfrm>
              <a:custGeom>
                <a:avLst/>
                <a:gdLst>
                  <a:gd name="connsiteX0" fmla="*/ 837819 w 1364551"/>
                  <a:gd name="connsiteY0" fmla="*/ 190691 h 270414"/>
                  <a:gd name="connsiteX1" fmla="*/ 758190 w 1364551"/>
                  <a:gd name="connsiteY1" fmla="*/ 270415 h 270414"/>
                  <a:gd name="connsiteX2" fmla="*/ 0 w 1364551"/>
                  <a:gd name="connsiteY2" fmla="*/ 270415 h 270414"/>
                  <a:gd name="connsiteX3" fmla="*/ 159353 w 1364551"/>
                  <a:gd name="connsiteY3" fmla="*/ 111062 h 270414"/>
                  <a:gd name="connsiteX4" fmla="*/ 1253585 w 1364551"/>
                  <a:gd name="connsiteY4" fmla="*/ 111062 h 270414"/>
                  <a:gd name="connsiteX5" fmla="*/ 1364552 w 1364551"/>
                  <a:gd name="connsiteY5" fmla="*/ 0 h 27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4551" h="270414">
                    <a:moveTo>
                      <a:pt x="837819" y="190691"/>
                    </a:moveTo>
                    <a:lnTo>
                      <a:pt x="758190" y="270415"/>
                    </a:lnTo>
                    <a:lnTo>
                      <a:pt x="0" y="270415"/>
                    </a:lnTo>
                    <a:lnTo>
                      <a:pt x="159353" y="111062"/>
                    </a:lnTo>
                    <a:lnTo>
                      <a:pt x="1253585" y="111062"/>
                    </a:lnTo>
                    <a:lnTo>
                      <a:pt x="1364552" y="0"/>
                    </a:lnTo>
                  </a:path>
                </a:pathLst>
              </a:custGeom>
              <a:noFill/>
              <a:ln w="9525" cap="flat">
                <a:solidFill>
                  <a:schemeClr val="accent1"/>
                </a:solidFill>
                <a:prstDash val="solid"/>
                <a:miter/>
              </a:ln>
            </p:spPr>
            <p:txBody>
              <a:bodyPr rtlCol="0" anchor="ctr" anchorCtr="0"/>
              <a:lstStyle/>
              <a:p>
                <a:pPr algn="l"/>
                <a:endParaRPr/>
              </a:p>
            </p:txBody>
          </p:sp>
          <p:sp>
            <p:nvSpPr>
              <p:cNvPr id="39" name="任意多边形: 形状 38" descr="bcc47a57-f92d-48a8-b964-5b72b97610be">
                <a:extLst>
                  <a:ext uri="{FF2B5EF4-FFF2-40B4-BE49-F238E27FC236}">
                    <a16:creationId xmlns:a16="http://schemas.microsoft.com/office/drawing/2014/main" id="{1584EC34-4C5D-2A7E-3742-386A8CD79B30}"/>
                  </a:ext>
                </a:extLst>
              </p:cNvPr>
              <p:cNvSpPr/>
              <p:nvPr/>
            </p:nvSpPr>
            <p:spPr>
              <a:xfrm>
                <a:off x="3424248" y="2039008"/>
                <a:ext cx="223824" cy="22063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grpSp>
            <p:nvGrpSpPr>
              <p:cNvPr id="3" name="组合 2" descr="557036d1-f287-4b0e-915e-880e7e64e008">
                <a:extLst>
                  <a:ext uri="{FF2B5EF4-FFF2-40B4-BE49-F238E27FC236}">
                    <a16:creationId xmlns:a16="http://schemas.microsoft.com/office/drawing/2014/main" id="{7219AA24-0F9D-AE55-0806-028457ABD33F}"/>
                  </a:ext>
                </a:extLst>
              </p:cNvPr>
              <p:cNvGrpSpPr/>
              <p:nvPr/>
            </p:nvGrpSpPr>
            <p:grpSpPr>
              <a:xfrm>
                <a:off x="3515097" y="2300560"/>
                <a:ext cx="2325967" cy="2528162"/>
                <a:chOff x="3515097" y="2300560"/>
                <a:chExt cx="2325967" cy="2528162"/>
              </a:xfrm>
            </p:grpSpPr>
            <p:sp>
              <p:nvSpPr>
                <p:cNvPr id="35" name="Bullet2" descr="183661b4-feff-4d0a-ae93-0f0d98005e63">
                  <a:extLst>
                    <a:ext uri="{FF2B5EF4-FFF2-40B4-BE49-F238E27FC236}">
                      <a16:creationId xmlns:a16="http://schemas.microsoft.com/office/drawing/2014/main" id="{1A3E4061-F3B1-5131-250D-138741A96B7C}"/>
                    </a:ext>
                  </a:extLst>
                </p:cNvPr>
                <p:cNvSpPr txBox="1">
                  <a:spLocks/>
                </p:cNvSpPr>
                <p:nvPr/>
              </p:nvSpPr>
              <p:spPr>
                <a:xfrm>
                  <a:off x="3515097" y="2300560"/>
                  <a:ext cx="2325967" cy="717113"/>
                </a:xfrm>
                <a:prstGeom prst="rect">
                  <a:avLst/>
                </a:prstGeom>
                <a:noFill/>
                <a:ln>
                  <a:noFill/>
                </a:ln>
              </p:spPr>
              <p:txBody>
                <a:bodyPr wrap="square" lIns="91440" tIns="45720" rIns="91440" bIns="45720" anchor="b" anchorCtr="0">
                  <a:normAutofit/>
                </a:bodyPr>
                <a:lstStyle/>
                <a:p>
                  <a:pPr algn="ctr">
                    <a:spcBef>
                      <a:spcPct val="0"/>
                    </a:spcBef>
                    <a:spcAft>
                      <a:spcPct val="0"/>
                    </a:spcAft>
                  </a:pPr>
                  <a:r>
                    <a:rPr lang="en-US" sz="1600" b="1" u="none" strike="noStrike">
                      <a:solidFill>
                        <a:srgbClr val="000000"/>
                      </a:solidFill>
                      <a:ea typeface="微软雅黑"/>
                    </a:rPr>
                    <a:t>索引优化</a:t>
                  </a:r>
                </a:p>
              </p:txBody>
            </p:sp>
            <p:sp>
              <p:nvSpPr>
                <p:cNvPr id="36" name="Text2" descr="f1a3dd83-5b55-4f71-8e01-51b62d64df8f">
                  <a:extLst>
                    <a:ext uri="{FF2B5EF4-FFF2-40B4-BE49-F238E27FC236}">
                      <a16:creationId xmlns:a16="http://schemas.microsoft.com/office/drawing/2014/main" id="{8D38D89E-4A49-1ED7-D0E5-6204632CD415}"/>
                    </a:ext>
                  </a:extLst>
                </p:cNvPr>
                <p:cNvSpPr txBox="1">
                  <a:spLocks/>
                </p:cNvSpPr>
                <p:nvPr/>
              </p:nvSpPr>
              <p:spPr>
                <a:xfrm>
                  <a:off x="3515097" y="3373125"/>
                  <a:ext cx="2325967" cy="1455597"/>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1600" b="0" u="none" strike="noStrike" dirty="0" err="1">
                      <a:solidFill>
                        <a:srgbClr val="000000"/>
                      </a:solidFill>
                      <a:ea typeface="微软雅黑"/>
                    </a:rPr>
                    <a:t>技术实现是DQN算法评估索引操作长期收益，商业产品实例</a:t>
                  </a:r>
                  <a:r>
                    <a:rPr lang="zh-CN" altLang="en-US" sz="1600" b="0" u="none" strike="noStrike" dirty="0">
                      <a:solidFill>
                        <a:srgbClr val="000000"/>
                      </a:solidFill>
                      <a:ea typeface="微软雅黑"/>
                    </a:rPr>
                    <a:t>如：</a:t>
                  </a:r>
                  <a:r>
                    <a:rPr lang="en-US" sz="1600" b="0" u="none" strike="noStrike" dirty="0">
                      <a:solidFill>
                        <a:srgbClr val="000000"/>
                      </a:solidFill>
                      <a:ea typeface="微软雅黑"/>
                    </a:rPr>
                    <a:t>Alibaba Cloud DAS Index Advisor。</a:t>
                  </a:r>
                </a:p>
              </p:txBody>
            </p:sp>
          </p:grpSp>
        </p:grpSp>
        <p:grpSp>
          <p:nvGrpSpPr>
            <p:cNvPr id="11" name="组合 10" descr="2f626642-ef72-4701-9a26-a345cdf8630a">
              <a:extLst>
                <a:ext uri="{FF2B5EF4-FFF2-40B4-BE49-F238E27FC236}">
                  <a16:creationId xmlns:a16="http://schemas.microsoft.com/office/drawing/2014/main" id="{0D8CC0F4-5F5D-DD9F-BF64-8AB273004269}"/>
                </a:ext>
              </a:extLst>
            </p:cNvPr>
            <p:cNvGrpSpPr/>
            <p:nvPr/>
          </p:nvGrpSpPr>
          <p:grpSpPr>
            <a:xfrm>
              <a:off x="6188096" y="2039008"/>
              <a:ext cx="2706656" cy="3688693"/>
              <a:chOff x="6188096" y="2039008"/>
              <a:chExt cx="2706656" cy="3688693"/>
            </a:xfrm>
          </p:grpSpPr>
          <p:sp>
            <p:nvSpPr>
              <p:cNvPr id="52" name="矩形 51" descr="525efa5f-0628-4630-8b3e-71d3da64701a">
                <a:extLst>
                  <a:ext uri="{FF2B5EF4-FFF2-40B4-BE49-F238E27FC236}">
                    <a16:creationId xmlns:a16="http://schemas.microsoft.com/office/drawing/2014/main" id="{CB62FEDF-DF83-1D7F-1FB4-3649F4016339}"/>
                  </a:ext>
                </a:extLst>
              </p:cNvPr>
              <p:cNvSpPr/>
              <p:nvPr/>
            </p:nvSpPr>
            <p:spPr>
              <a:xfrm>
                <a:off x="6215677" y="2069066"/>
                <a:ext cx="2460523" cy="3358476"/>
              </a:xfrm>
              <a:prstGeom prst="rect">
                <a:avLst/>
              </a:prstGeom>
              <a:gradFill flip="none" rotWithShape="1">
                <a:gsLst>
                  <a:gs pos="0">
                    <a:schemeClr val="accent1">
                      <a:alpha val="39000"/>
                    </a:schemeClr>
                  </a:gs>
                  <a:gs pos="100000">
                    <a:schemeClr val="accent1">
                      <a:alpha val="32000"/>
                    </a:schemeClr>
                  </a:gs>
                  <a:gs pos="55000">
                    <a:schemeClr val="accent1">
                      <a:alpha val="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57" name="任意多边形: 形状 56" descr="2b912393-ef97-43c1-a1a3-f28d13e3b492">
                <a:extLst>
                  <a:ext uri="{FF2B5EF4-FFF2-40B4-BE49-F238E27FC236}">
                    <a16:creationId xmlns:a16="http://schemas.microsoft.com/office/drawing/2014/main" id="{DEC68181-51D0-F5BE-7AA7-2A7158E2DA0A}"/>
                  </a:ext>
                </a:extLst>
              </p:cNvPr>
              <p:cNvSpPr/>
              <p:nvPr/>
            </p:nvSpPr>
            <p:spPr>
              <a:xfrm>
                <a:off x="6581715"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58" name="任意多边形: 形状 57" descr="69275e55-ddd4-476e-8351-910c0d16b5e6">
                <a:extLst>
                  <a:ext uri="{FF2B5EF4-FFF2-40B4-BE49-F238E27FC236}">
                    <a16:creationId xmlns:a16="http://schemas.microsoft.com/office/drawing/2014/main" id="{77399209-9283-CB90-F463-9A7C3BD5FA49}"/>
                  </a:ext>
                </a:extLst>
              </p:cNvPr>
              <p:cNvSpPr/>
              <p:nvPr/>
            </p:nvSpPr>
            <p:spPr>
              <a:xfrm>
                <a:off x="6726815"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59" name="任意多边形: 形状 58" descr="30cb6289-ce64-423f-95b0-cfb8f684358d">
                <a:extLst>
                  <a:ext uri="{FF2B5EF4-FFF2-40B4-BE49-F238E27FC236}">
                    <a16:creationId xmlns:a16="http://schemas.microsoft.com/office/drawing/2014/main" id="{C9D6694F-C361-C221-8668-97844831F359}"/>
                  </a:ext>
                </a:extLst>
              </p:cNvPr>
              <p:cNvSpPr/>
              <p:nvPr/>
            </p:nvSpPr>
            <p:spPr>
              <a:xfrm>
                <a:off x="6872094"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60" name="任意多边形: 形状 59" descr="0c4fb582-bc71-42cd-b783-fc126a3a0747">
                <a:extLst>
                  <a:ext uri="{FF2B5EF4-FFF2-40B4-BE49-F238E27FC236}">
                    <a16:creationId xmlns:a16="http://schemas.microsoft.com/office/drawing/2014/main" id="{B3459C07-2F94-1E74-B59D-BA3E8CF5B952}"/>
                  </a:ext>
                </a:extLst>
              </p:cNvPr>
              <p:cNvSpPr/>
              <p:nvPr/>
            </p:nvSpPr>
            <p:spPr>
              <a:xfrm>
                <a:off x="7017192"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61" name="任意多边形: 形状 60" descr="234b6881-9d2d-45cc-b33a-a5d0f08b6b11">
                <a:extLst>
                  <a:ext uri="{FF2B5EF4-FFF2-40B4-BE49-F238E27FC236}">
                    <a16:creationId xmlns:a16="http://schemas.microsoft.com/office/drawing/2014/main" id="{86DED3FE-89C1-7B8C-6CD6-3976FDC7E190}"/>
                  </a:ext>
                </a:extLst>
              </p:cNvPr>
              <p:cNvSpPr/>
              <p:nvPr/>
            </p:nvSpPr>
            <p:spPr>
              <a:xfrm>
                <a:off x="7162471"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62" name="任意多边形: 形状 61" descr="c0d52909-a0cb-4fd1-8273-e3933b12c48e">
                <a:extLst>
                  <a:ext uri="{FF2B5EF4-FFF2-40B4-BE49-F238E27FC236}">
                    <a16:creationId xmlns:a16="http://schemas.microsoft.com/office/drawing/2014/main" id="{AC066E04-289F-3923-F1FB-23C397186F8B}"/>
                  </a:ext>
                </a:extLst>
              </p:cNvPr>
              <p:cNvSpPr/>
              <p:nvPr/>
            </p:nvSpPr>
            <p:spPr>
              <a:xfrm>
                <a:off x="8279950" y="5394722"/>
                <a:ext cx="375760" cy="75401"/>
              </a:xfrm>
              <a:custGeom>
                <a:avLst/>
                <a:gdLst>
                  <a:gd name="connsiteX0" fmla="*/ 160401 w 200786"/>
                  <a:gd name="connsiteY0" fmla="*/ 40291 h 40290"/>
                  <a:gd name="connsiteX1" fmla="*/ 0 w 200786"/>
                  <a:gd name="connsiteY1" fmla="*/ 40291 h 40290"/>
                  <a:gd name="connsiteX2" fmla="*/ 40386 w 200786"/>
                  <a:gd name="connsiteY2" fmla="*/ 0 h 40290"/>
                  <a:gd name="connsiteX3" fmla="*/ 200787 w 200786"/>
                  <a:gd name="connsiteY3" fmla="*/ 0 h 40290"/>
                </a:gdLst>
                <a:ahLst/>
                <a:cxnLst>
                  <a:cxn ang="0">
                    <a:pos x="connsiteX0" y="connsiteY0"/>
                  </a:cxn>
                  <a:cxn ang="0">
                    <a:pos x="connsiteX1" y="connsiteY1"/>
                  </a:cxn>
                  <a:cxn ang="0">
                    <a:pos x="connsiteX2" y="connsiteY2"/>
                  </a:cxn>
                  <a:cxn ang="0">
                    <a:pos x="connsiteX3" y="connsiteY3"/>
                  </a:cxn>
                </a:cxnLst>
                <a:rect l="l" t="t" r="r" b="b"/>
                <a:pathLst>
                  <a:path w="200786" h="40290">
                    <a:moveTo>
                      <a:pt x="160401" y="40291"/>
                    </a:moveTo>
                    <a:lnTo>
                      <a:pt x="0" y="40291"/>
                    </a:lnTo>
                    <a:lnTo>
                      <a:pt x="40386" y="0"/>
                    </a:lnTo>
                    <a:lnTo>
                      <a:pt x="200787" y="0"/>
                    </a:lnTo>
                    <a:close/>
                  </a:path>
                </a:pathLst>
              </a:custGeom>
              <a:solidFill>
                <a:schemeClr val="accent1"/>
              </a:solidFill>
              <a:ln w="9525" cap="flat">
                <a:noFill/>
                <a:prstDash val="solid"/>
                <a:miter/>
              </a:ln>
            </p:spPr>
            <p:txBody>
              <a:bodyPr rtlCol="0" anchor="ctr" anchorCtr="0"/>
              <a:lstStyle/>
              <a:p>
                <a:pPr algn="l"/>
                <a:endParaRPr/>
              </a:p>
            </p:txBody>
          </p:sp>
          <p:sp>
            <p:nvSpPr>
              <p:cNvPr id="56" name="任意多边形: 形状 55" descr="23bfddb9-cdf4-4763-bf90-4864af9195bd">
                <a:extLst>
                  <a:ext uri="{FF2B5EF4-FFF2-40B4-BE49-F238E27FC236}">
                    <a16:creationId xmlns:a16="http://schemas.microsoft.com/office/drawing/2014/main" id="{ED449B20-82EC-DD4C-6792-507FF17D41C3}"/>
                  </a:ext>
                </a:extLst>
              </p:cNvPr>
              <p:cNvSpPr/>
              <p:nvPr/>
            </p:nvSpPr>
            <p:spPr>
              <a:xfrm>
                <a:off x="6341072" y="5221636"/>
                <a:ext cx="2553680" cy="506065"/>
              </a:xfrm>
              <a:custGeom>
                <a:avLst/>
                <a:gdLst>
                  <a:gd name="connsiteX0" fmla="*/ 837819 w 1364551"/>
                  <a:gd name="connsiteY0" fmla="*/ 190691 h 270414"/>
                  <a:gd name="connsiteX1" fmla="*/ 758190 w 1364551"/>
                  <a:gd name="connsiteY1" fmla="*/ 270415 h 270414"/>
                  <a:gd name="connsiteX2" fmla="*/ 0 w 1364551"/>
                  <a:gd name="connsiteY2" fmla="*/ 270415 h 270414"/>
                  <a:gd name="connsiteX3" fmla="*/ 159353 w 1364551"/>
                  <a:gd name="connsiteY3" fmla="*/ 111062 h 270414"/>
                  <a:gd name="connsiteX4" fmla="*/ 1253585 w 1364551"/>
                  <a:gd name="connsiteY4" fmla="*/ 111062 h 270414"/>
                  <a:gd name="connsiteX5" fmla="*/ 1364552 w 1364551"/>
                  <a:gd name="connsiteY5" fmla="*/ 0 h 27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4551" h="270414">
                    <a:moveTo>
                      <a:pt x="837819" y="190691"/>
                    </a:moveTo>
                    <a:lnTo>
                      <a:pt x="758190" y="270415"/>
                    </a:lnTo>
                    <a:lnTo>
                      <a:pt x="0" y="270415"/>
                    </a:lnTo>
                    <a:lnTo>
                      <a:pt x="159353" y="111062"/>
                    </a:lnTo>
                    <a:lnTo>
                      <a:pt x="1253585" y="111062"/>
                    </a:lnTo>
                    <a:lnTo>
                      <a:pt x="1364552" y="0"/>
                    </a:lnTo>
                  </a:path>
                </a:pathLst>
              </a:custGeom>
              <a:noFill/>
              <a:ln w="9525" cap="flat">
                <a:solidFill>
                  <a:schemeClr val="accent1"/>
                </a:solidFill>
                <a:prstDash val="solid"/>
                <a:miter/>
              </a:ln>
            </p:spPr>
            <p:txBody>
              <a:bodyPr rtlCol="0" anchor="ctr" anchorCtr="0"/>
              <a:lstStyle/>
              <a:p>
                <a:pPr algn="l"/>
                <a:endParaRPr/>
              </a:p>
            </p:txBody>
          </p:sp>
          <p:sp>
            <p:nvSpPr>
              <p:cNvPr id="54" name="任意多边形: 形状 53" descr="e615e948-0b0a-447e-87fa-8d12dae02282">
                <a:extLst>
                  <a:ext uri="{FF2B5EF4-FFF2-40B4-BE49-F238E27FC236}">
                    <a16:creationId xmlns:a16="http://schemas.microsoft.com/office/drawing/2014/main" id="{CA7049B2-3C49-C7E6-7C23-840CCB6129B0}"/>
                  </a:ext>
                </a:extLst>
              </p:cNvPr>
              <p:cNvSpPr/>
              <p:nvPr/>
            </p:nvSpPr>
            <p:spPr>
              <a:xfrm>
                <a:off x="6188096" y="2039008"/>
                <a:ext cx="223824" cy="22063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grpSp>
            <p:nvGrpSpPr>
              <p:cNvPr id="4" name="组合 3" descr="91f3c687-21b3-46ee-9958-b29d292b87c3">
                <a:extLst>
                  <a:ext uri="{FF2B5EF4-FFF2-40B4-BE49-F238E27FC236}">
                    <a16:creationId xmlns:a16="http://schemas.microsoft.com/office/drawing/2014/main" id="{F5D40DE7-95C1-7701-6812-993FE01139F1}"/>
                  </a:ext>
                </a:extLst>
              </p:cNvPr>
              <p:cNvGrpSpPr/>
              <p:nvPr/>
            </p:nvGrpSpPr>
            <p:grpSpPr>
              <a:xfrm>
                <a:off x="6278945" y="2300560"/>
                <a:ext cx="2325967" cy="2528162"/>
                <a:chOff x="6278945" y="2300560"/>
                <a:chExt cx="2325967" cy="2528162"/>
              </a:xfrm>
            </p:grpSpPr>
            <p:sp>
              <p:nvSpPr>
                <p:cNvPr id="50" name="Bullet3" descr="f5af7e5e-1200-467e-8cdb-6113bd184457">
                  <a:extLst>
                    <a:ext uri="{FF2B5EF4-FFF2-40B4-BE49-F238E27FC236}">
                      <a16:creationId xmlns:a16="http://schemas.microsoft.com/office/drawing/2014/main" id="{D348F0B2-7743-DD05-A7A1-D411DB82FF6F}"/>
                    </a:ext>
                  </a:extLst>
                </p:cNvPr>
                <p:cNvSpPr txBox="1">
                  <a:spLocks/>
                </p:cNvSpPr>
                <p:nvPr/>
              </p:nvSpPr>
              <p:spPr>
                <a:xfrm>
                  <a:off x="6278945" y="2300560"/>
                  <a:ext cx="2325967" cy="717113"/>
                </a:xfrm>
                <a:prstGeom prst="rect">
                  <a:avLst/>
                </a:prstGeom>
                <a:noFill/>
                <a:ln>
                  <a:noFill/>
                </a:ln>
              </p:spPr>
              <p:txBody>
                <a:bodyPr wrap="square" lIns="91440" tIns="45720" rIns="91440" bIns="45720" anchor="b" anchorCtr="0">
                  <a:normAutofit/>
                </a:bodyPr>
                <a:lstStyle/>
                <a:p>
                  <a:pPr algn="ctr">
                    <a:spcBef>
                      <a:spcPct val="0"/>
                    </a:spcBef>
                    <a:spcAft>
                      <a:spcPct val="0"/>
                    </a:spcAft>
                  </a:pPr>
                  <a:r>
                    <a:rPr lang="en-US" sz="1600" b="1" u="none" strike="noStrike">
                      <a:solidFill>
                        <a:srgbClr val="000000"/>
                      </a:solidFill>
                      <a:ea typeface="微软雅黑"/>
                    </a:rPr>
                    <a:t>慢查询治理</a:t>
                  </a:r>
                </a:p>
              </p:txBody>
            </p:sp>
            <p:sp>
              <p:nvSpPr>
                <p:cNvPr id="51" name="Text3" descr="445cdc0a-3afc-4e0e-a074-5fff8b78ad18">
                  <a:extLst>
                    <a:ext uri="{FF2B5EF4-FFF2-40B4-BE49-F238E27FC236}">
                      <a16:creationId xmlns:a16="http://schemas.microsoft.com/office/drawing/2014/main" id="{434D6D71-02C3-603F-50BE-F0AE86FB657B}"/>
                    </a:ext>
                  </a:extLst>
                </p:cNvPr>
                <p:cNvSpPr txBox="1">
                  <a:spLocks/>
                </p:cNvSpPr>
                <p:nvPr/>
              </p:nvSpPr>
              <p:spPr>
                <a:xfrm>
                  <a:off x="6278945" y="3373125"/>
                  <a:ext cx="2325967" cy="1455597"/>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1600" b="0" u="none" strike="noStrike" dirty="0" err="1">
                      <a:solidFill>
                        <a:srgbClr val="000000"/>
                      </a:solidFill>
                      <a:ea typeface="微软雅黑"/>
                    </a:rPr>
                    <a:t>技术实现是NLP解析SQL语义</a:t>
                  </a:r>
                  <a:r>
                    <a:rPr lang="en-US" sz="1600" b="0" u="none" strike="noStrike" dirty="0">
                      <a:solidFill>
                        <a:srgbClr val="000000"/>
                      </a:solidFill>
                      <a:ea typeface="微软雅黑"/>
                    </a:rPr>
                    <a:t> + </a:t>
                  </a:r>
                  <a:r>
                    <a:rPr lang="en-US" sz="1600" b="0" u="none" strike="noStrike" dirty="0" err="1">
                      <a:solidFill>
                        <a:srgbClr val="000000"/>
                      </a:solidFill>
                      <a:ea typeface="微软雅黑"/>
                    </a:rPr>
                    <a:t>代价模型预测，商业产品实例</a:t>
                  </a:r>
                  <a:r>
                    <a:rPr lang="zh-CN" altLang="en-US" sz="1600" b="0" u="none" strike="noStrike" dirty="0">
                      <a:solidFill>
                        <a:srgbClr val="000000"/>
                      </a:solidFill>
                      <a:ea typeface="微软雅黑"/>
                    </a:rPr>
                    <a:t>如：</a:t>
                  </a:r>
                  <a:r>
                    <a:rPr lang="en-US" sz="1600" b="0" u="none" strike="noStrike" dirty="0">
                      <a:solidFill>
                        <a:srgbClr val="000000"/>
                      </a:solidFill>
                      <a:ea typeface="微软雅黑"/>
                    </a:rPr>
                    <a:t>Amazon RDS Performance Insights。</a:t>
                  </a:r>
                </a:p>
              </p:txBody>
            </p:sp>
          </p:grpSp>
        </p:grpSp>
        <p:grpSp>
          <p:nvGrpSpPr>
            <p:cNvPr id="12" name="组合 11" descr="23eb50ee-cf72-4ff1-a68e-d33b632206a6">
              <a:extLst>
                <a:ext uri="{FF2B5EF4-FFF2-40B4-BE49-F238E27FC236}">
                  <a16:creationId xmlns:a16="http://schemas.microsoft.com/office/drawing/2014/main" id="{90645493-C245-9329-0256-CA2AD153FD09}"/>
                </a:ext>
              </a:extLst>
            </p:cNvPr>
            <p:cNvGrpSpPr/>
            <p:nvPr/>
          </p:nvGrpSpPr>
          <p:grpSpPr>
            <a:xfrm>
              <a:off x="8951944" y="2039008"/>
              <a:ext cx="2706656" cy="3688693"/>
              <a:chOff x="8951944" y="2039008"/>
              <a:chExt cx="2706656" cy="3688693"/>
            </a:xfrm>
          </p:grpSpPr>
          <p:sp>
            <p:nvSpPr>
              <p:cNvPr id="67" name="矩形 66" descr="130661ec-eb96-4e03-9505-58aa2a41de80">
                <a:extLst>
                  <a:ext uri="{FF2B5EF4-FFF2-40B4-BE49-F238E27FC236}">
                    <a16:creationId xmlns:a16="http://schemas.microsoft.com/office/drawing/2014/main" id="{339D1E78-0D2C-98F4-EC97-13795B2977DD}"/>
                  </a:ext>
                </a:extLst>
              </p:cNvPr>
              <p:cNvSpPr/>
              <p:nvPr/>
            </p:nvSpPr>
            <p:spPr>
              <a:xfrm>
                <a:off x="8979525" y="2069066"/>
                <a:ext cx="2460523" cy="3358476"/>
              </a:xfrm>
              <a:prstGeom prst="rect">
                <a:avLst/>
              </a:prstGeom>
              <a:gradFill flip="none" rotWithShape="1">
                <a:gsLst>
                  <a:gs pos="0">
                    <a:schemeClr val="accent1">
                      <a:alpha val="39000"/>
                    </a:schemeClr>
                  </a:gs>
                  <a:gs pos="100000">
                    <a:schemeClr val="accent1">
                      <a:alpha val="32000"/>
                    </a:schemeClr>
                  </a:gs>
                  <a:gs pos="55000">
                    <a:schemeClr val="accent1">
                      <a:alpha val="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72" name="任意多边形: 形状 71" descr="e85fab4e-c1f6-4629-b9f0-41fae92a71e3">
                <a:extLst>
                  <a:ext uri="{FF2B5EF4-FFF2-40B4-BE49-F238E27FC236}">
                    <a16:creationId xmlns:a16="http://schemas.microsoft.com/office/drawing/2014/main" id="{DCCB1F5E-6CD2-05A9-97F0-B1BD594FCD9B}"/>
                  </a:ext>
                </a:extLst>
              </p:cNvPr>
              <p:cNvSpPr/>
              <p:nvPr/>
            </p:nvSpPr>
            <p:spPr>
              <a:xfrm>
                <a:off x="9345563"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73" name="任意多边形: 形状 72" descr="27815c85-186e-402d-aa4f-2399a39d7b49">
                <a:extLst>
                  <a:ext uri="{FF2B5EF4-FFF2-40B4-BE49-F238E27FC236}">
                    <a16:creationId xmlns:a16="http://schemas.microsoft.com/office/drawing/2014/main" id="{F8952065-1F53-8359-83E9-BCD496849115}"/>
                  </a:ext>
                </a:extLst>
              </p:cNvPr>
              <p:cNvSpPr/>
              <p:nvPr/>
            </p:nvSpPr>
            <p:spPr>
              <a:xfrm>
                <a:off x="9490663"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74" name="任意多边形: 形状 73" descr="eb39784e-4fab-407c-9061-477cbc6607ca">
                <a:extLst>
                  <a:ext uri="{FF2B5EF4-FFF2-40B4-BE49-F238E27FC236}">
                    <a16:creationId xmlns:a16="http://schemas.microsoft.com/office/drawing/2014/main" id="{4064D678-0479-C50C-20F9-7CA56BED2125}"/>
                  </a:ext>
                </a:extLst>
              </p:cNvPr>
              <p:cNvSpPr/>
              <p:nvPr/>
            </p:nvSpPr>
            <p:spPr>
              <a:xfrm>
                <a:off x="9635942"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75" name="任意多边形: 形状 74" descr="fa43821d-17c3-4300-9d72-efc385290ae1">
                <a:extLst>
                  <a:ext uri="{FF2B5EF4-FFF2-40B4-BE49-F238E27FC236}">
                    <a16:creationId xmlns:a16="http://schemas.microsoft.com/office/drawing/2014/main" id="{5C1C31FB-9CE7-A3AE-5971-9FBF412B2215}"/>
                  </a:ext>
                </a:extLst>
              </p:cNvPr>
              <p:cNvSpPr/>
              <p:nvPr/>
            </p:nvSpPr>
            <p:spPr>
              <a:xfrm>
                <a:off x="9781040"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76" name="任意多边形: 形状 75" descr="00d4ef11-a371-4d66-babd-06f6b26f68fa">
                <a:extLst>
                  <a:ext uri="{FF2B5EF4-FFF2-40B4-BE49-F238E27FC236}">
                    <a16:creationId xmlns:a16="http://schemas.microsoft.com/office/drawing/2014/main" id="{2F27E30A-926C-097C-7B97-5E8CD9E353A7}"/>
                  </a:ext>
                </a:extLst>
              </p:cNvPr>
              <p:cNvSpPr/>
              <p:nvPr/>
            </p:nvSpPr>
            <p:spPr>
              <a:xfrm>
                <a:off x="9926319" y="5505418"/>
                <a:ext cx="218362" cy="146347"/>
              </a:xfrm>
              <a:custGeom>
                <a:avLst/>
                <a:gdLst>
                  <a:gd name="connsiteX0" fmla="*/ 38576 w 116681"/>
                  <a:gd name="connsiteY0" fmla="*/ 78200 h 78200"/>
                  <a:gd name="connsiteX1" fmla="*/ 0 w 116681"/>
                  <a:gd name="connsiteY1" fmla="*/ 78200 h 78200"/>
                  <a:gd name="connsiteX2" fmla="*/ 78105 w 116681"/>
                  <a:gd name="connsiteY2" fmla="*/ 0 h 78200"/>
                  <a:gd name="connsiteX3" fmla="*/ 116681 w 116681"/>
                  <a:gd name="connsiteY3" fmla="*/ 0 h 78200"/>
                </a:gdLst>
                <a:ahLst/>
                <a:cxnLst>
                  <a:cxn ang="0">
                    <a:pos x="connsiteX0" y="connsiteY0"/>
                  </a:cxn>
                  <a:cxn ang="0">
                    <a:pos x="connsiteX1" y="connsiteY1"/>
                  </a:cxn>
                  <a:cxn ang="0">
                    <a:pos x="connsiteX2" y="connsiteY2"/>
                  </a:cxn>
                  <a:cxn ang="0">
                    <a:pos x="connsiteX3" y="connsiteY3"/>
                  </a:cxn>
                </a:cxnLst>
                <a:rect l="l" t="t" r="r" b="b"/>
                <a:pathLst>
                  <a:path w="116681" h="78200">
                    <a:moveTo>
                      <a:pt x="38576" y="78200"/>
                    </a:moveTo>
                    <a:lnTo>
                      <a:pt x="0" y="78200"/>
                    </a:lnTo>
                    <a:lnTo>
                      <a:pt x="78105" y="0"/>
                    </a:lnTo>
                    <a:lnTo>
                      <a:pt x="116681" y="0"/>
                    </a:lnTo>
                    <a:close/>
                  </a:path>
                </a:pathLst>
              </a:custGeom>
              <a:solidFill>
                <a:schemeClr val="accent1"/>
              </a:solidFill>
              <a:ln w="9525" cap="flat">
                <a:noFill/>
                <a:prstDash val="solid"/>
                <a:miter/>
              </a:ln>
            </p:spPr>
            <p:txBody>
              <a:bodyPr rtlCol="0" anchor="ctr" anchorCtr="0"/>
              <a:lstStyle/>
              <a:p>
                <a:pPr algn="l"/>
                <a:endParaRPr/>
              </a:p>
            </p:txBody>
          </p:sp>
          <p:sp>
            <p:nvSpPr>
              <p:cNvPr id="77" name="任意多边形: 形状 76" descr="f4492bdc-4d9b-4b89-aa0d-49d5570fb7a8">
                <a:extLst>
                  <a:ext uri="{FF2B5EF4-FFF2-40B4-BE49-F238E27FC236}">
                    <a16:creationId xmlns:a16="http://schemas.microsoft.com/office/drawing/2014/main" id="{C4CEC474-7569-8B2C-911B-3C6D0EC33FE9}"/>
                  </a:ext>
                </a:extLst>
              </p:cNvPr>
              <p:cNvSpPr/>
              <p:nvPr/>
            </p:nvSpPr>
            <p:spPr>
              <a:xfrm>
                <a:off x="11043798" y="5394722"/>
                <a:ext cx="375760" cy="75401"/>
              </a:xfrm>
              <a:custGeom>
                <a:avLst/>
                <a:gdLst>
                  <a:gd name="connsiteX0" fmla="*/ 160401 w 200786"/>
                  <a:gd name="connsiteY0" fmla="*/ 40291 h 40290"/>
                  <a:gd name="connsiteX1" fmla="*/ 0 w 200786"/>
                  <a:gd name="connsiteY1" fmla="*/ 40291 h 40290"/>
                  <a:gd name="connsiteX2" fmla="*/ 40386 w 200786"/>
                  <a:gd name="connsiteY2" fmla="*/ 0 h 40290"/>
                  <a:gd name="connsiteX3" fmla="*/ 200787 w 200786"/>
                  <a:gd name="connsiteY3" fmla="*/ 0 h 40290"/>
                </a:gdLst>
                <a:ahLst/>
                <a:cxnLst>
                  <a:cxn ang="0">
                    <a:pos x="connsiteX0" y="connsiteY0"/>
                  </a:cxn>
                  <a:cxn ang="0">
                    <a:pos x="connsiteX1" y="connsiteY1"/>
                  </a:cxn>
                  <a:cxn ang="0">
                    <a:pos x="connsiteX2" y="connsiteY2"/>
                  </a:cxn>
                  <a:cxn ang="0">
                    <a:pos x="connsiteX3" y="connsiteY3"/>
                  </a:cxn>
                </a:cxnLst>
                <a:rect l="l" t="t" r="r" b="b"/>
                <a:pathLst>
                  <a:path w="200786" h="40290">
                    <a:moveTo>
                      <a:pt x="160401" y="40291"/>
                    </a:moveTo>
                    <a:lnTo>
                      <a:pt x="0" y="40291"/>
                    </a:lnTo>
                    <a:lnTo>
                      <a:pt x="40386" y="0"/>
                    </a:lnTo>
                    <a:lnTo>
                      <a:pt x="200787" y="0"/>
                    </a:lnTo>
                    <a:close/>
                  </a:path>
                </a:pathLst>
              </a:custGeom>
              <a:solidFill>
                <a:schemeClr val="accent1"/>
              </a:solidFill>
              <a:ln w="9525" cap="flat">
                <a:noFill/>
                <a:prstDash val="solid"/>
                <a:miter/>
              </a:ln>
            </p:spPr>
            <p:txBody>
              <a:bodyPr rtlCol="0" anchor="ctr" anchorCtr="0"/>
              <a:lstStyle/>
              <a:p>
                <a:pPr algn="l"/>
                <a:endParaRPr/>
              </a:p>
            </p:txBody>
          </p:sp>
          <p:sp>
            <p:nvSpPr>
              <p:cNvPr id="71" name="任意多边形: 形状 70" descr="d1115460-9583-4ef3-8a8a-36292cf97106">
                <a:extLst>
                  <a:ext uri="{FF2B5EF4-FFF2-40B4-BE49-F238E27FC236}">
                    <a16:creationId xmlns:a16="http://schemas.microsoft.com/office/drawing/2014/main" id="{76AD88FF-F23A-A011-3E40-45A8A967BE4E}"/>
                  </a:ext>
                </a:extLst>
              </p:cNvPr>
              <p:cNvSpPr/>
              <p:nvPr/>
            </p:nvSpPr>
            <p:spPr>
              <a:xfrm>
                <a:off x="9104920" y="5221636"/>
                <a:ext cx="2553680" cy="506065"/>
              </a:xfrm>
              <a:custGeom>
                <a:avLst/>
                <a:gdLst>
                  <a:gd name="connsiteX0" fmla="*/ 837819 w 1364551"/>
                  <a:gd name="connsiteY0" fmla="*/ 190691 h 270414"/>
                  <a:gd name="connsiteX1" fmla="*/ 758190 w 1364551"/>
                  <a:gd name="connsiteY1" fmla="*/ 270415 h 270414"/>
                  <a:gd name="connsiteX2" fmla="*/ 0 w 1364551"/>
                  <a:gd name="connsiteY2" fmla="*/ 270415 h 270414"/>
                  <a:gd name="connsiteX3" fmla="*/ 159353 w 1364551"/>
                  <a:gd name="connsiteY3" fmla="*/ 111062 h 270414"/>
                  <a:gd name="connsiteX4" fmla="*/ 1253585 w 1364551"/>
                  <a:gd name="connsiteY4" fmla="*/ 111062 h 270414"/>
                  <a:gd name="connsiteX5" fmla="*/ 1364552 w 1364551"/>
                  <a:gd name="connsiteY5" fmla="*/ 0 h 27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4551" h="270414">
                    <a:moveTo>
                      <a:pt x="837819" y="190691"/>
                    </a:moveTo>
                    <a:lnTo>
                      <a:pt x="758190" y="270415"/>
                    </a:lnTo>
                    <a:lnTo>
                      <a:pt x="0" y="270415"/>
                    </a:lnTo>
                    <a:lnTo>
                      <a:pt x="159353" y="111062"/>
                    </a:lnTo>
                    <a:lnTo>
                      <a:pt x="1253585" y="111062"/>
                    </a:lnTo>
                    <a:lnTo>
                      <a:pt x="1364552" y="0"/>
                    </a:lnTo>
                  </a:path>
                </a:pathLst>
              </a:custGeom>
              <a:noFill/>
              <a:ln w="9525" cap="flat">
                <a:solidFill>
                  <a:schemeClr val="accent1"/>
                </a:solidFill>
                <a:prstDash val="solid"/>
                <a:miter/>
              </a:ln>
            </p:spPr>
            <p:txBody>
              <a:bodyPr rtlCol="0" anchor="ctr" anchorCtr="0"/>
              <a:lstStyle/>
              <a:p>
                <a:pPr algn="l"/>
                <a:endParaRPr/>
              </a:p>
            </p:txBody>
          </p:sp>
          <p:sp>
            <p:nvSpPr>
              <p:cNvPr id="69" name="任意多边形: 形状 68" descr="fb9d74a3-4a7c-41c3-acc2-081d68dad962">
                <a:extLst>
                  <a:ext uri="{FF2B5EF4-FFF2-40B4-BE49-F238E27FC236}">
                    <a16:creationId xmlns:a16="http://schemas.microsoft.com/office/drawing/2014/main" id="{D40AFF23-ED60-C197-D23F-F2F7ED4E117B}"/>
                  </a:ext>
                </a:extLst>
              </p:cNvPr>
              <p:cNvSpPr/>
              <p:nvPr/>
            </p:nvSpPr>
            <p:spPr>
              <a:xfrm>
                <a:off x="8951944" y="2039008"/>
                <a:ext cx="223824" cy="22063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grpSp>
            <p:nvGrpSpPr>
              <p:cNvPr id="6" name="组合 5" descr="067d14c8-8ba1-4630-b47b-2b6c8bb2fbcd">
                <a:extLst>
                  <a:ext uri="{FF2B5EF4-FFF2-40B4-BE49-F238E27FC236}">
                    <a16:creationId xmlns:a16="http://schemas.microsoft.com/office/drawing/2014/main" id="{B19F4ED3-1D4A-F34B-602F-9FE78DD83C82}"/>
                  </a:ext>
                </a:extLst>
              </p:cNvPr>
              <p:cNvGrpSpPr/>
              <p:nvPr/>
            </p:nvGrpSpPr>
            <p:grpSpPr>
              <a:xfrm>
                <a:off x="9042793" y="2300560"/>
                <a:ext cx="2325967" cy="2528162"/>
                <a:chOff x="9042793" y="2300560"/>
                <a:chExt cx="2325967" cy="2528162"/>
              </a:xfrm>
            </p:grpSpPr>
            <p:sp>
              <p:nvSpPr>
                <p:cNvPr id="65" name="Bullet4" descr="cec4e6d1-14cf-4463-b74a-143aafa3a820">
                  <a:extLst>
                    <a:ext uri="{FF2B5EF4-FFF2-40B4-BE49-F238E27FC236}">
                      <a16:creationId xmlns:a16="http://schemas.microsoft.com/office/drawing/2014/main" id="{03A47710-7A5A-34BA-57A0-748D5CAC3084}"/>
                    </a:ext>
                  </a:extLst>
                </p:cNvPr>
                <p:cNvSpPr txBox="1">
                  <a:spLocks/>
                </p:cNvSpPr>
                <p:nvPr/>
              </p:nvSpPr>
              <p:spPr>
                <a:xfrm>
                  <a:off x="9042793" y="2300560"/>
                  <a:ext cx="2325967" cy="717113"/>
                </a:xfrm>
                <a:prstGeom prst="rect">
                  <a:avLst/>
                </a:prstGeom>
                <a:noFill/>
                <a:ln>
                  <a:noFill/>
                </a:ln>
              </p:spPr>
              <p:txBody>
                <a:bodyPr wrap="square" lIns="91440" tIns="45720" rIns="91440" bIns="45720" anchor="b" anchorCtr="0">
                  <a:normAutofit/>
                </a:bodyPr>
                <a:lstStyle/>
                <a:p>
                  <a:pPr algn="ctr">
                    <a:spcBef>
                      <a:spcPct val="0"/>
                    </a:spcBef>
                    <a:spcAft>
                      <a:spcPct val="0"/>
                    </a:spcAft>
                  </a:pPr>
                  <a:r>
                    <a:rPr lang="en-US" sz="1600" b="1" u="none" strike="noStrike">
                      <a:solidFill>
                        <a:srgbClr val="000000"/>
                      </a:solidFill>
                      <a:ea typeface="微软雅黑"/>
                    </a:rPr>
                    <a:t>故障自愈</a:t>
                  </a:r>
                </a:p>
              </p:txBody>
            </p:sp>
            <p:sp>
              <p:nvSpPr>
                <p:cNvPr id="66" name="Text4" descr="e88dddf7-3ac2-4a88-84c2-3581d16afcec">
                  <a:extLst>
                    <a:ext uri="{FF2B5EF4-FFF2-40B4-BE49-F238E27FC236}">
                      <a16:creationId xmlns:a16="http://schemas.microsoft.com/office/drawing/2014/main" id="{FE95B60C-44D0-9939-2767-84AC3DCF074F}"/>
                    </a:ext>
                  </a:extLst>
                </p:cNvPr>
                <p:cNvSpPr txBox="1">
                  <a:spLocks/>
                </p:cNvSpPr>
                <p:nvPr/>
              </p:nvSpPr>
              <p:spPr>
                <a:xfrm>
                  <a:off x="9042793" y="3373125"/>
                  <a:ext cx="2325967" cy="1455597"/>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1600" b="0" u="none" strike="noStrike" dirty="0" err="1">
                      <a:solidFill>
                        <a:srgbClr val="000000"/>
                      </a:solidFill>
                      <a:ea typeface="微软雅黑"/>
                    </a:rPr>
                    <a:t>技术实现是GNN定位异常传播路径</a:t>
                  </a:r>
                  <a:r>
                    <a:rPr lang="en-US" sz="1600" b="0" u="none" strike="noStrike" dirty="0">
                      <a:solidFill>
                        <a:srgbClr val="000000"/>
                      </a:solidFill>
                      <a:ea typeface="微软雅黑"/>
                    </a:rPr>
                    <a:t> + </a:t>
                  </a:r>
                  <a:r>
                    <a:rPr lang="en-US" sz="1600" b="0" u="none" strike="noStrike" dirty="0" err="1">
                      <a:solidFill>
                        <a:srgbClr val="000000"/>
                      </a:solidFill>
                      <a:ea typeface="微软雅黑"/>
                    </a:rPr>
                    <a:t>预案自动匹配，商业产品实例</a:t>
                  </a:r>
                  <a:r>
                    <a:rPr lang="zh-CN" altLang="en-US" sz="1600" b="0" u="none" strike="noStrike" dirty="0">
                      <a:solidFill>
                        <a:srgbClr val="000000"/>
                      </a:solidFill>
                      <a:ea typeface="微软雅黑"/>
                    </a:rPr>
                    <a:t>如：</a:t>
                  </a:r>
                  <a:r>
                    <a:rPr lang="en-US" sz="1600" b="0" u="none" strike="noStrike" dirty="0">
                      <a:solidFill>
                        <a:srgbClr val="000000"/>
                      </a:solidFill>
                      <a:ea typeface="微软雅黑"/>
                    </a:rPr>
                    <a:t>Microsoft Azure </a:t>
                  </a:r>
                  <a:r>
                    <a:rPr lang="en-US" sz="1600" b="0" u="none" strike="noStrike" dirty="0" err="1">
                      <a:solidFill>
                        <a:srgbClr val="000000"/>
                      </a:solidFill>
                      <a:ea typeface="微软雅黑"/>
                    </a:rPr>
                    <a:t>SQL自动故障转移</a:t>
                  </a:r>
                  <a:r>
                    <a:rPr lang="en-US" sz="1600" b="0" u="none" strike="noStrike" dirty="0">
                      <a:solidFill>
                        <a:srgbClr val="000000"/>
                      </a:solidFill>
                      <a:ea typeface="微软雅黑"/>
                    </a:rPr>
                    <a:t>。</a:t>
                  </a:r>
                </a:p>
              </p:txBody>
            </p:sp>
          </p:grpSp>
        </p:gr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altLang="zh-CN" sz="2800" b="1" dirty="0" err="1">
                <a:solidFill>
                  <a:srgbClr val="E40000"/>
                </a:solidFill>
                <a:latin typeface="Arial"/>
                <a:ea typeface="黑体"/>
              </a:rPr>
              <a:t>AI驱动的智能运维</a:t>
            </a:r>
            <a:r>
              <a:rPr lang="en-US" altLang="zh-CN" sz="2800" b="1" dirty="0">
                <a:solidFill>
                  <a:srgbClr val="E40000"/>
                </a:solidFill>
                <a:latin typeface="Arial"/>
                <a:ea typeface="黑体"/>
              </a:rPr>
              <a:t>(AI for DB): </a:t>
            </a:r>
            <a:r>
              <a:rPr lang="en-US" sz="2800" b="1" dirty="0" err="1">
                <a:solidFill>
                  <a:srgbClr val="E40000"/>
                </a:solidFill>
                <a:latin typeface="Arial"/>
                <a:ea typeface="黑体"/>
              </a:rPr>
              <a:t>技术挑战与对策</a:t>
            </a:r>
            <a:endParaRPr lang="en-US" sz="2800" b="1" dirty="0">
              <a:solidFill>
                <a:srgbClr val="E40000"/>
              </a:solidFill>
              <a:latin typeface="Arial"/>
              <a:ea typeface="黑体"/>
            </a:endParaRPr>
          </a:p>
        </p:txBody>
      </p:sp>
      <p:grpSp>
        <p:nvGrpSpPr>
          <p:cNvPr id="15" name="5ef7b1c6-1952-4708-ba26-766f61762773.source.4.zh-Hans.pptx" descr="a930daeb-0eeb-44cf-9058-1f1bdc4f1580">
            <a:extLst>
              <a:ext uri="{FF2B5EF4-FFF2-40B4-BE49-F238E27FC236}">
                <a16:creationId xmlns:a16="http://schemas.microsoft.com/office/drawing/2014/main" id="{9F96F435-7D1C-42A2-4385-303C4FEAD2A9}"/>
              </a:ext>
            </a:extLst>
          </p:cNvPr>
          <p:cNvGrpSpPr/>
          <p:nvPr/>
        </p:nvGrpSpPr>
        <p:grpSpPr>
          <a:xfrm>
            <a:off x="660400" y="1612103"/>
            <a:ext cx="10858500" cy="3859888"/>
            <a:chOff x="660400" y="2185312"/>
            <a:chExt cx="10858500" cy="3859888"/>
          </a:xfrm>
        </p:grpSpPr>
        <p:grpSp>
          <p:nvGrpSpPr>
            <p:cNvPr id="9" name="组合 8" descr="d5d7d802-a280-4668-9f1d-43949da1e3a7">
              <a:extLst>
                <a:ext uri="{FF2B5EF4-FFF2-40B4-BE49-F238E27FC236}">
                  <a16:creationId xmlns:a16="http://schemas.microsoft.com/office/drawing/2014/main" id="{BC1B7775-6D37-6FE9-DB89-63BD40E91888}"/>
                </a:ext>
              </a:extLst>
            </p:cNvPr>
            <p:cNvGrpSpPr/>
            <p:nvPr/>
          </p:nvGrpSpPr>
          <p:grpSpPr>
            <a:xfrm>
              <a:off x="660400" y="2185312"/>
              <a:ext cx="4693426" cy="1777088"/>
              <a:chOff x="660400" y="2185312"/>
              <a:chExt cx="4693426" cy="1777088"/>
            </a:xfrm>
          </p:grpSpPr>
          <p:sp>
            <p:nvSpPr>
              <p:cNvPr id="38" name="任意多边形: 形状 37" descr="d2faab2f-72b0-4434-a100-342a2d3e03c9">
                <a:extLst>
                  <a:ext uri="{FF2B5EF4-FFF2-40B4-BE49-F238E27FC236}">
                    <a16:creationId xmlns:a16="http://schemas.microsoft.com/office/drawing/2014/main" id="{2471564C-3BA0-6236-30E3-A79EA49F943F}"/>
                  </a:ext>
                </a:extLst>
              </p:cNvPr>
              <p:cNvSpPr/>
              <p:nvPr/>
            </p:nvSpPr>
            <p:spPr>
              <a:xfrm>
                <a:off x="682855" y="2209016"/>
                <a:ext cx="4647266" cy="1728774"/>
              </a:xfrm>
              <a:custGeom>
                <a:avLst/>
                <a:gdLst>
                  <a:gd name="connsiteX0" fmla="*/ 62389 w 3902963"/>
                  <a:gd name="connsiteY0" fmla="*/ 1451896 h 1451895"/>
                  <a:gd name="connsiteX1" fmla="*/ 62389 w 3902963"/>
                  <a:gd name="connsiteY1" fmla="*/ 1031367 h 1451895"/>
                  <a:gd name="connsiteX2" fmla="*/ 139160 w 3902963"/>
                  <a:gd name="connsiteY2" fmla="*/ 954596 h 1451895"/>
                  <a:gd name="connsiteX3" fmla="*/ 139160 w 3902963"/>
                  <a:gd name="connsiteY3" fmla="*/ 357378 h 1451895"/>
                  <a:gd name="connsiteX4" fmla="*/ 0 w 3902963"/>
                  <a:gd name="connsiteY4" fmla="*/ 218218 h 1451895"/>
                  <a:gd name="connsiteX5" fmla="*/ 0 w 3902963"/>
                  <a:gd name="connsiteY5" fmla="*/ 0 h 1451895"/>
                  <a:gd name="connsiteX6" fmla="*/ 3902964 w 3902963"/>
                  <a:gd name="connsiteY6" fmla="*/ 0 h 1451895"/>
                  <a:gd name="connsiteX7" fmla="*/ 3902964 w 3902963"/>
                  <a:gd name="connsiteY7" fmla="*/ 1441228 h 1451895"/>
                  <a:gd name="connsiteX8" fmla="*/ 3503676 w 3902963"/>
                  <a:gd name="connsiteY8" fmla="*/ 1441228 h 1451895"/>
                  <a:gd name="connsiteX9" fmla="*/ 3422237 w 3902963"/>
                  <a:gd name="connsiteY9" fmla="*/ 1359789 h 1451895"/>
                  <a:gd name="connsiteX10" fmla="*/ 3180493 w 3902963"/>
                  <a:gd name="connsiteY10" fmla="*/ 1359789 h 1451895"/>
                  <a:gd name="connsiteX11" fmla="*/ 3074765 w 3902963"/>
                  <a:gd name="connsiteY11" fmla="*/ 1446467 h 1451895"/>
                  <a:gd name="connsiteX12" fmla="*/ 425482 w 3902963"/>
                  <a:gd name="connsiteY12" fmla="*/ 1446467 h 1451895"/>
                  <a:gd name="connsiteX13" fmla="*/ 393764 w 3902963"/>
                  <a:gd name="connsiteY13" fmla="*/ 1414748 h 1451895"/>
                  <a:gd name="connsiteX14" fmla="*/ 308610 w 3902963"/>
                  <a:gd name="connsiteY14" fmla="*/ 1414748 h 1451895"/>
                  <a:gd name="connsiteX15" fmla="*/ 271558 w 3902963"/>
                  <a:gd name="connsiteY15" fmla="*/ 1451896 h 145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02963" h="1451895">
                    <a:moveTo>
                      <a:pt x="62389" y="1451896"/>
                    </a:moveTo>
                    <a:lnTo>
                      <a:pt x="62389" y="1031367"/>
                    </a:lnTo>
                    <a:lnTo>
                      <a:pt x="139160" y="954596"/>
                    </a:lnTo>
                    <a:lnTo>
                      <a:pt x="139160" y="357378"/>
                    </a:lnTo>
                    <a:lnTo>
                      <a:pt x="0" y="218218"/>
                    </a:lnTo>
                    <a:lnTo>
                      <a:pt x="0" y="0"/>
                    </a:lnTo>
                    <a:lnTo>
                      <a:pt x="3902964" y="0"/>
                    </a:lnTo>
                    <a:lnTo>
                      <a:pt x="3902964" y="1441228"/>
                    </a:lnTo>
                    <a:lnTo>
                      <a:pt x="3503676" y="1441228"/>
                    </a:lnTo>
                    <a:lnTo>
                      <a:pt x="3422237" y="1359789"/>
                    </a:lnTo>
                    <a:lnTo>
                      <a:pt x="3180493" y="1359789"/>
                    </a:lnTo>
                    <a:lnTo>
                      <a:pt x="3074765" y="1446467"/>
                    </a:lnTo>
                    <a:lnTo>
                      <a:pt x="425482" y="1446467"/>
                    </a:lnTo>
                    <a:lnTo>
                      <a:pt x="393764" y="1414748"/>
                    </a:lnTo>
                    <a:lnTo>
                      <a:pt x="308610" y="1414748"/>
                    </a:lnTo>
                    <a:lnTo>
                      <a:pt x="271558" y="1451896"/>
                    </a:lnTo>
                    <a:close/>
                  </a:path>
                </a:pathLst>
              </a:custGeom>
              <a:noFill/>
              <a:ln w="9525" cap="rnd">
                <a:gradFill>
                  <a:gsLst>
                    <a:gs pos="0">
                      <a:schemeClr val="accent1">
                        <a:alpha val="35000"/>
                        <a:lumMod val="95000"/>
                        <a:lumOff val="5000"/>
                      </a:schemeClr>
                    </a:gs>
                    <a:gs pos="54940">
                      <a:schemeClr val="accent1">
                        <a:lumMod val="75000"/>
                      </a:schemeClr>
                    </a:gs>
                    <a:gs pos="84920">
                      <a:schemeClr val="accent1">
                        <a:lumMod val="50000"/>
                      </a:schemeClr>
                    </a:gs>
                    <a:gs pos="100000">
                      <a:schemeClr val="accent1">
                        <a:lumMod val="50000"/>
                      </a:schemeClr>
                    </a:gs>
                  </a:gsLst>
                  <a:lin ang="16200000" scaled="1"/>
                </a:gradFill>
                <a:prstDash val="solid"/>
                <a:round/>
              </a:ln>
            </p:spPr>
            <p:txBody>
              <a:bodyPr rtlCol="0" anchor="ctr" anchorCtr="0"/>
              <a:lstStyle/>
              <a:p>
                <a:pPr algn="l"/>
                <a:endParaRPr/>
              </a:p>
            </p:txBody>
          </p:sp>
          <p:sp>
            <p:nvSpPr>
              <p:cNvPr id="45" name="任意多边形: 形状 44" descr="4d309a31-943e-45ca-b4be-53d4c032bd5e">
                <a:extLst>
                  <a:ext uri="{FF2B5EF4-FFF2-40B4-BE49-F238E27FC236}">
                    <a16:creationId xmlns:a16="http://schemas.microsoft.com/office/drawing/2014/main" id="{6B79BF39-E2EA-E4B5-A820-BEBBAC3D4E27}"/>
                  </a:ext>
                </a:extLst>
              </p:cNvPr>
              <p:cNvSpPr/>
              <p:nvPr/>
            </p:nvSpPr>
            <p:spPr>
              <a:xfrm>
                <a:off x="660400" y="2188033"/>
                <a:ext cx="178401" cy="17840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sp>
            <p:nvSpPr>
              <p:cNvPr id="46" name="任意多边形: 形状 45" descr="8ebbd874-d31c-4703-ad31-1f3d1ef9971a">
                <a:extLst>
                  <a:ext uri="{FF2B5EF4-FFF2-40B4-BE49-F238E27FC236}">
                    <a16:creationId xmlns:a16="http://schemas.microsoft.com/office/drawing/2014/main" id="{F817C6E7-29C3-C8C6-A757-A13AB55B69DE}"/>
                  </a:ext>
                </a:extLst>
              </p:cNvPr>
              <p:cNvSpPr/>
              <p:nvPr/>
            </p:nvSpPr>
            <p:spPr>
              <a:xfrm>
                <a:off x="5175425" y="2188033"/>
                <a:ext cx="178401" cy="178401"/>
              </a:xfrm>
              <a:custGeom>
                <a:avLst/>
                <a:gdLst>
                  <a:gd name="connsiteX0" fmla="*/ 0 w 149828"/>
                  <a:gd name="connsiteY0" fmla="*/ 0 h 149828"/>
                  <a:gd name="connsiteX1" fmla="*/ 120872 w 149828"/>
                  <a:gd name="connsiteY1" fmla="*/ 0 h 149828"/>
                  <a:gd name="connsiteX2" fmla="*/ 149828 w 149828"/>
                  <a:gd name="connsiteY2" fmla="*/ 0 h 149828"/>
                  <a:gd name="connsiteX3" fmla="*/ 149828 w 149828"/>
                  <a:gd name="connsiteY3" fmla="*/ 28956 h 149828"/>
                  <a:gd name="connsiteX4" fmla="*/ 149828 w 149828"/>
                  <a:gd name="connsiteY4" fmla="*/ 149828 h 149828"/>
                  <a:gd name="connsiteX5" fmla="*/ 111347 w 149828"/>
                  <a:gd name="connsiteY5" fmla="*/ 149828 h 149828"/>
                  <a:gd name="connsiteX6" fmla="*/ 111347 w 149828"/>
                  <a:gd name="connsiteY6" fmla="*/ 38481 h 149828"/>
                  <a:gd name="connsiteX7" fmla="*/ 0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0"/>
                    </a:moveTo>
                    <a:lnTo>
                      <a:pt x="120872" y="0"/>
                    </a:lnTo>
                    <a:lnTo>
                      <a:pt x="149828" y="0"/>
                    </a:lnTo>
                    <a:lnTo>
                      <a:pt x="149828" y="28956"/>
                    </a:lnTo>
                    <a:lnTo>
                      <a:pt x="149828" y="149828"/>
                    </a:lnTo>
                    <a:lnTo>
                      <a:pt x="111347" y="149828"/>
                    </a:lnTo>
                    <a:lnTo>
                      <a:pt x="111347" y="38481"/>
                    </a:lnTo>
                    <a:lnTo>
                      <a:pt x="0" y="38481"/>
                    </a:lnTo>
                    <a:close/>
                  </a:path>
                </a:pathLst>
              </a:custGeom>
              <a:solidFill>
                <a:schemeClr val="accent1"/>
              </a:solidFill>
              <a:ln w="9525" cap="flat">
                <a:noFill/>
                <a:prstDash val="solid"/>
                <a:miter/>
              </a:ln>
            </p:spPr>
            <p:txBody>
              <a:bodyPr rtlCol="0" anchor="ctr" anchorCtr="0"/>
              <a:lstStyle/>
              <a:p>
                <a:pPr algn="l"/>
                <a:endParaRPr/>
              </a:p>
            </p:txBody>
          </p:sp>
          <p:sp>
            <p:nvSpPr>
              <p:cNvPr id="53" name="任意多边形: 形状 52" descr="fb7ec839-d381-4836-a002-31d286fe6a67">
                <a:extLst>
                  <a:ext uri="{FF2B5EF4-FFF2-40B4-BE49-F238E27FC236}">
                    <a16:creationId xmlns:a16="http://schemas.microsoft.com/office/drawing/2014/main" id="{3A634831-4297-0FB2-FDE2-BF54F2831CE6}"/>
                  </a:ext>
                </a:extLst>
              </p:cNvPr>
              <p:cNvSpPr/>
              <p:nvPr/>
            </p:nvSpPr>
            <p:spPr>
              <a:xfrm>
                <a:off x="5306533" y="2449113"/>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54" name="任意多边形: 形状 53" descr="4fcb35f4-1df6-4509-9986-e3e4b508bb7e">
                <a:extLst>
                  <a:ext uri="{FF2B5EF4-FFF2-40B4-BE49-F238E27FC236}">
                    <a16:creationId xmlns:a16="http://schemas.microsoft.com/office/drawing/2014/main" id="{6502EEA8-DE6F-B380-24D9-BCDAC3846D93}"/>
                  </a:ext>
                </a:extLst>
              </p:cNvPr>
              <p:cNvSpPr/>
              <p:nvPr/>
            </p:nvSpPr>
            <p:spPr>
              <a:xfrm>
                <a:off x="5019595" y="21853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60" name="任意多边形: 形状 59" descr="3f1dd365-1987-4975-ad0a-5aa76dd022a3">
                <a:extLst>
                  <a:ext uri="{FF2B5EF4-FFF2-40B4-BE49-F238E27FC236}">
                    <a16:creationId xmlns:a16="http://schemas.microsoft.com/office/drawing/2014/main" id="{2B2EC9B2-00AF-BAE6-34F3-06C06177D774}"/>
                  </a:ext>
                </a:extLst>
              </p:cNvPr>
              <p:cNvSpPr/>
              <p:nvPr/>
            </p:nvSpPr>
            <p:spPr>
              <a:xfrm>
                <a:off x="4879868" y="21853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61" name="任意多边形: 形状 60" descr="a2260759-187c-42e1-a6c0-476bc386ee32">
                <a:extLst>
                  <a:ext uri="{FF2B5EF4-FFF2-40B4-BE49-F238E27FC236}">
                    <a16:creationId xmlns:a16="http://schemas.microsoft.com/office/drawing/2014/main" id="{B88E8AC9-B0EA-602A-CAB9-8CF7A57A7304}"/>
                  </a:ext>
                </a:extLst>
              </p:cNvPr>
              <p:cNvSpPr/>
              <p:nvPr/>
            </p:nvSpPr>
            <p:spPr>
              <a:xfrm>
                <a:off x="5306533" y="2555610"/>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62" name="任意多边形: 形状 61" descr="4c8c67ba-30f7-4ae0-b0c6-5caa521eb296">
                <a:extLst>
                  <a:ext uri="{FF2B5EF4-FFF2-40B4-BE49-F238E27FC236}">
                    <a16:creationId xmlns:a16="http://schemas.microsoft.com/office/drawing/2014/main" id="{FF562E75-AEC4-B2DA-2B9C-4386FABFB865}"/>
                  </a:ext>
                </a:extLst>
              </p:cNvPr>
              <p:cNvSpPr/>
              <p:nvPr/>
            </p:nvSpPr>
            <p:spPr>
              <a:xfrm>
                <a:off x="5306533" y="266210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63" name="任意多边形: 形状 62" descr="83c95ab9-de5e-473f-9404-2b600d9b2b4f">
                <a:extLst>
                  <a:ext uri="{FF2B5EF4-FFF2-40B4-BE49-F238E27FC236}">
                    <a16:creationId xmlns:a16="http://schemas.microsoft.com/office/drawing/2014/main" id="{E10D3565-C36B-39F9-5391-1814AE56D9B0}"/>
                  </a:ext>
                </a:extLst>
              </p:cNvPr>
              <p:cNvSpPr/>
              <p:nvPr/>
            </p:nvSpPr>
            <p:spPr>
              <a:xfrm>
                <a:off x="5306533" y="276871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65" name="任意多边形: 形状 64" descr="34285be1-70e8-4fda-92d6-9200285a8939">
                <a:extLst>
                  <a:ext uri="{FF2B5EF4-FFF2-40B4-BE49-F238E27FC236}">
                    <a16:creationId xmlns:a16="http://schemas.microsoft.com/office/drawing/2014/main" id="{EF5EC199-2038-4E3F-8FA4-37A07CCF9E36}"/>
                  </a:ext>
                </a:extLst>
              </p:cNvPr>
              <p:cNvSpPr/>
              <p:nvPr/>
            </p:nvSpPr>
            <p:spPr>
              <a:xfrm>
                <a:off x="739790" y="3783433"/>
                <a:ext cx="178401" cy="178400"/>
              </a:xfrm>
              <a:custGeom>
                <a:avLst/>
                <a:gdLst>
                  <a:gd name="connsiteX0" fmla="*/ 149828 w 149828"/>
                  <a:gd name="connsiteY0" fmla="*/ 149828 h 149828"/>
                  <a:gd name="connsiteX1" fmla="*/ 29051 w 149828"/>
                  <a:gd name="connsiteY1" fmla="*/ 149828 h 149828"/>
                  <a:gd name="connsiteX2" fmla="*/ 0 w 149828"/>
                  <a:gd name="connsiteY2" fmla="*/ 149828 h 149828"/>
                  <a:gd name="connsiteX3" fmla="*/ 0 w 149828"/>
                  <a:gd name="connsiteY3" fmla="*/ 120777 h 149828"/>
                  <a:gd name="connsiteX4" fmla="*/ 0 w 149828"/>
                  <a:gd name="connsiteY4" fmla="*/ 0 h 149828"/>
                  <a:gd name="connsiteX5" fmla="*/ 38576 w 149828"/>
                  <a:gd name="connsiteY5" fmla="*/ 0 h 149828"/>
                  <a:gd name="connsiteX6" fmla="*/ 38576 w 149828"/>
                  <a:gd name="connsiteY6" fmla="*/ 111252 h 149828"/>
                  <a:gd name="connsiteX7" fmla="*/ 149828 w 149828"/>
                  <a:gd name="connsiteY7" fmla="*/ 11125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149828"/>
                    </a:moveTo>
                    <a:lnTo>
                      <a:pt x="29051" y="149828"/>
                    </a:lnTo>
                    <a:lnTo>
                      <a:pt x="0" y="149828"/>
                    </a:lnTo>
                    <a:lnTo>
                      <a:pt x="0" y="120777"/>
                    </a:lnTo>
                    <a:lnTo>
                      <a:pt x="0" y="0"/>
                    </a:lnTo>
                    <a:lnTo>
                      <a:pt x="38576" y="0"/>
                    </a:lnTo>
                    <a:lnTo>
                      <a:pt x="38576" y="111252"/>
                    </a:lnTo>
                    <a:lnTo>
                      <a:pt x="149828" y="111252"/>
                    </a:lnTo>
                    <a:close/>
                  </a:path>
                </a:pathLst>
              </a:custGeom>
              <a:solidFill>
                <a:schemeClr val="accent1"/>
              </a:solidFill>
              <a:ln w="9525" cap="flat">
                <a:noFill/>
                <a:prstDash val="solid"/>
                <a:miter/>
              </a:ln>
            </p:spPr>
            <p:txBody>
              <a:bodyPr rtlCol="0" anchor="ctr" anchorCtr="0"/>
              <a:lstStyle/>
              <a:p>
                <a:pPr algn="l"/>
                <a:endParaRPr/>
              </a:p>
            </p:txBody>
          </p:sp>
          <p:sp>
            <p:nvSpPr>
              <p:cNvPr id="66" name="任意多边形: 形状 65" descr="3e724fb5-84d9-4aad-839c-8cb5c22aa9d7">
                <a:extLst>
                  <a:ext uri="{FF2B5EF4-FFF2-40B4-BE49-F238E27FC236}">
                    <a16:creationId xmlns:a16="http://schemas.microsoft.com/office/drawing/2014/main" id="{51B130E7-9412-0845-F8B6-35BB174357E1}"/>
                  </a:ext>
                </a:extLst>
              </p:cNvPr>
              <p:cNvSpPr/>
              <p:nvPr/>
            </p:nvSpPr>
            <p:spPr>
              <a:xfrm>
                <a:off x="5175425" y="3770164"/>
                <a:ext cx="178401" cy="178400"/>
              </a:xfrm>
              <a:custGeom>
                <a:avLst/>
                <a:gdLst>
                  <a:gd name="connsiteX0" fmla="*/ 0 w 149828"/>
                  <a:gd name="connsiteY0" fmla="*/ 149828 h 149828"/>
                  <a:gd name="connsiteX1" fmla="*/ 120872 w 149828"/>
                  <a:gd name="connsiteY1" fmla="*/ 149828 h 149828"/>
                  <a:gd name="connsiteX2" fmla="*/ 149828 w 149828"/>
                  <a:gd name="connsiteY2" fmla="*/ 149828 h 149828"/>
                  <a:gd name="connsiteX3" fmla="*/ 149828 w 149828"/>
                  <a:gd name="connsiteY3" fmla="*/ 120872 h 149828"/>
                  <a:gd name="connsiteX4" fmla="*/ 149828 w 149828"/>
                  <a:gd name="connsiteY4" fmla="*/ 0 h 149828"/>
                  <a:gd name="connsiteX5" fmla="*/ 111347 w 149828"/>
                  <a:gd name="connsiteY5" fmla="*/ 0 h 149828"/>
                  <a:gd name="connsiteX6" fmla="*/ 111347 w 149828"/>
                  <a:gd name="connsiteY6" fmla="*/ 111347 h 149828"/>
                  <a:gd name="connsiteX7" fmla="*/ 0 w 149828"/>
                  <a:gd name="connsiteY7" fmla="*/ 111347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149828"/>
                    </a:moveTo>
                    <a:lnTo>
                      <a:pt x="120872" y="149828"/>
                    </a:lnTo>
                    <a:lnTo>
                      <a:pt x="149828" y="149828"/>
                    </a:lnTo>
                    <a:lnTo>
                      <a:pt x="149828" y="120872"/>
                    </a:lnTo>
                    <a:lnTo>
                      <a:pt x="149828" y="0"/>
                    </a:lnTo>
                    <a:lnTo>
                      <a:pt x="111347" y="0"/>
                    </a:lnTo>
                    <a:lnTo>
                      <a:pt x="111347" y="111347"/>
                    </a:lnTo>
                    <a:lnTo>
                      <a:pt x="0" y="111347"/>
                    </a:lnTo>
                    <a:close/>
                  </a:path>
                </a:pathLst>
              </a:custGeom>
              <a:solidFill>
                <a:schemeClr val="accent1"/>
              </a:solidFill>
              <a:ln w="9525" cap="flat">
                <a:noFill/>
                <a:prstDash val="solid"/>
                <a:miter/>
              </a:ln>
            </p:spPr>
            <p:txBody>
              <a:bodyPr rtlCol="0" anchor="ctr" anchorCtr="0"/>
              <a:lstStyle/>
              <a:p>
                <a:pPr algn="l"/>
                <a:endParaRPr/>
              </a:p>
            </p:txBody>
          </p:sp>
          <p:sp>
            <p:nvSpPr>
              <p:cNvPr id="67" name="任意多边形: 形状 66" descr="996b39c3-bee4-4307-809e-d317bc820a8e">
                <a:extLst>
                  <a:ext uri="{FF2B5EF4-FFF2-40B4-BE49-F238E27FC236}">
                    <a16:creationId xmlns:a16="http://schemas.microsoft.com/office/drawing/2014/main" id="{E0EBED7F-D0DE-5DE9-C96F-58128B72C396}"/>
                  </a:ext>
                </a:extLst>
              </p:cNvPr>
              <p:cNvSpPr/>
              <p:nvPr/>
            </p:nvSpPr>
            <p:spPr>
              <a:xfrm>
                <a:off x="1936311" y="3907282"/>
                <a:ext cx="581248" cy="55118"/>
              </a:xfrm>
              <a:custGeom>
                <a:avLst/>
                <a:gdLst>
                  <a:gd name="connsiteX0" fmla="*/ 0 w 488156"/>
                  <a:gd name="connsiteY0" fmla="*/ 0 h 46291"/>
                  <a:gd name="connsiteX1" fmla="*/ 488156 w 488156"/>
                  <a:gd name="connsiteY1" fmla="*/ 0 h 46291"/>
                  <a:gd name="connsiteX2" fmla="*/ 488156 w 488156"/>
                  <a:gd name="connsiteY2" fmla="*/ 46292 h 46291"/>
                  <a:gd name="connsiteX3" fmla="*/ 0 w 488156"/>
                  <a:gd name="connsiteY3" fmla="*/ 46292 h 46291"/>
                </a:gdLst>
                <a:ahLst/>
                <a:cxnLst>
                  <a:cxn ang="0">
                    <a:pos x="connsiteX0" y="connsiteY0"/>
                  </a:cxn>
                  <a:cxn ang="0">
                    <a:pos x="connsiteX1" y="connsiteY1"/>
                  </a:cxn>
                  <a:cxn ang="0">
                    <a:pos x="connsiteX2" y="connsiteY2"/>
                  </a:cxn>
                  <a:cxn ang="0">
                    <a:pos x="connsiteX3" y="connsiteY3"/>
                  </a:cxn>
                </a:cxnLst>
                <a:rect l="l" t="t" r="r" b="b"/>
                <a:pathLst>
                  <a:path w="488156" h="46291">
                    <a:moveTo>
                      <a:pt x="0" y="0"/>
                    </a:moveTo>
                    <a:lnTo>
                      <a:pt x="488156" y="0"/>
                    </a:lnTo>
                    <a:lnTo>
                      <a:pt x="488156" y="46292"/>
                    </a:lnTo>
                    <a:lnTo>
                      <a:pt x="0" y="46292"/>
                    </a:lnTo>
                    <a:close/>
                  </a:path>
                </a:pathLst>
              </a:custGeom>
              <a:solidFill>
                <a:schemeClr val="accent1"/>
              </a:solidFill>
              <a:ln w="9525" cap="flat">
                <a:noFill/>
                <a:prstDash val="solid"/>
                <a:miter/>
              </a:ln>
            </p:spPr>
            <p:txBody>
              <a:bodyPr rtlCol="0" anchor="ctr" anchorCtr="0"/>
              <a:lstStyle/>
              <a:p>
                <a:pPr algn="l"/>
                <a:endParaRPr/>
              </a:p>
            </p:txBody>
          </p:sp>
          <p:sp>
            <p:nvSpPr>
              <p:cNvPr id="68" name="任意多边形: 形状 67" descr="eee147b2-31a2-4f0a-b9ce-afba28c9c8b9">
                <a:extLst>
                  <a:ext uri="{FF2B5EF4-FFF2-40B4-BE49-F238E27FC236}">
                    <a16:creationId xmlns:a16="http://schemas.microsoft.com/office/drawing/2014/main" id="{9D084A1F-E76B-77CE-AD89-30D3FDE21E99}"/>
                  </a:ext>
                </a:extLst>
              </p:cNvPr>
              <p:cNvSpPr/>
              <p:nvPr/>
            </p:nvSpPr>
            <p:spPr>
              <a:xfrm>
                <a:off x="822128" y="2915473"/>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69" name="任意多边形: 形状 68" descr="5ff3ba93-5000-4f12-acdc-80661ae68cb9">
                <a:extLst>
                  <a:ext uri="{FF2B5EF4-FFF2-40B4-BE49-F238E27FC236}">
                    <a16:creationId xmlns:a16="http://schemas.microsoft.com/office/drawing/2014/main" id="{9427BBF7-381E-6511-5FFA-2A106960238A}"/>
                  </a:ext>
                </a:extLst>
              </p:cNvPr>
              <p:cNvSpPr/>
              <p:nvPr/>
            </p:nvSpPr>
            <p:spPr>
              <a:xfrm>
                <a:off x="822128" y="3013917"/>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70" name="任意多边形: 形状 69" descr="ce91960d-0fff-4c89-9f8b-03aab2ea13d4">
                <a:extLst>
                  <a:ext uri="{FF2B5EF4-FFF2-40B4-BE49-F238E27FC236}">
                    <a16:creationId xmlns:a16="http://schemas.microsoft.com/office/drawing/2014/main" id="{9ED47350-B270-9783-BA4E-C96B3674512B}"/>
                  </a:ext>
                </a:extLst>
              </p:cNvPr>
              <p:cNvSpPr/>
              <p:nvPr/>
            </p:nvSpPr>
            <p:spPr>
              <a:xfrm>
                <a:off x="681281" y="2632842"/>
                <a:ext cx="132238" cy="626802"/>
              </a:xfrm>
              <a:custGeom>
                <a:avLst/>
                <a:gdLst>
                  <a:gd name="connsiteX0" fmla="*/ 0 w 75819"/>
                  <a:gd name="connsiteY0" fmla="*/ 33242 h 359378"/>
                  <a:gd name="connsiteX1" fmla="*/ 37910 w 75819"/>
                  <a:gd name="connsiteY1" fmla="*/ 14288 h 359378"/>
                  <a:gd name="connsiteX2" fmla="*/ 75819 w 75819"/>
                  <a:gd name="connsiteY2" fmla="*/ 33242 h 359378"/>
                  <a:gd name="connsiteX3" fmla="*/ 75819 w 75819"/>
                  <a:gd name="connsiteY3" fmla="*/ 18955 h 359378"/>
                  <a:gd name="connsiteX4" fmla="*/ 37910 w 75819"/>
                  <a:gd name="connsiteY4" fmla="*/ 0 h 359378"/>
                  <a:gd name="connsiteX5" fmla="*/ 0 w 75819"/>
                  <a:gd name="connsiteY5" fmla="*/ 18955 h 359378"/>
                  <a:gd name="connsiteX6" fmla="*/ 0 w 75819"/>
                  <a:gd name="connsiteY6" fmla="*/ 33242 h 359378"/>
                  <a:gd name="connsiteX7" fmla="*/ 0 w 75819"/>
                  <a:gd name="connsiteY7" fmla="*/ 155543 h 359378"/>
                  <a:gd name="connsiteX8" fmla="*/ 37910 w 75819"/>
                  <a:gd name="connsiteY8" fmla="*/ 136589 h 359378"/>
                  <a:gd name="connsiteX9" fmla="*/ 75819 w 75819"/>
                  <a:gd name="connsiteY9" fmla="*/ 155543 h 359378"/>
                  <a:gd name="connsiteX10" fmla="*/ 75819 w 75819"/>
                  <a:gd name="connsiteY10" fmla="*/ 141256 h 359378"/>
                  <a:gd name="connsiteX11" fmla="*/ 37910 w 75819"/>
                  <a:gd name="connsiteY11" fmla="*/ 122301 h 359378"/>
                  <a:gd name="connsiteX12" fmla="*/ 0 w 75819"/>
                  <a:gd name="connsiteY12" fmla="*/ 141256 h 359378"/>
                  <a:gd name="connsiteX13" fmla="*/ 0 w 75819"/>
                  <a:gd name="connsiteY13" fmla="*/ 155543 h 359378"/>
                  <a:gd name="connsiteX14" fmla="*/ 0 w 75819"/>
                  <a:gd name="connsiteY14" fmla="*/ 114776 h 359378"/>
                  <a:gd name="connsiteX15" fmla="*/ 37910 w 75819"/>
                  <a:gd name="connsiteY15" fmla="*/ 95822 h 359378"/>
                  <a:gd name="connsiteX16" fmla="*/ 75819 w 75819"/>
                  <a:gd name="connsiteY16" fmla="*/ 114776 h 359378"/>
                  <a:gd name="connsiteX17" fmla="*/ 75819 w 75819"/>
                  <a:gd name="connsiteY17" fmla="*/ 100489 h 359378"/>
                  <a:gd name="connsiteX18" fmla="*/ 37910 w 75819"/>
                  <a:gd name="connsiteY18" fmla="*/ 81534 h 359378"/>
                  <a:gd name="connsiteX19" fmla="*/ 0 w 75819"/>
                  <a:gd name="connsiteY19" fmla="*/ 100489 h 359378"/>
                  <a:gd name="connsiteX20" fmla="*/ 0 w 75819"/>
                  <a:gd name="connsiteY20" fmla="*/ 114776 h 359378"/>
                  <a:gd name="connsiteX21" fmla="*/ 0 w 75819"/>
                  <a:gd name="connsiteY21" fmla="*/ 74009 h 359378"/>
                  <a:gd name="connsiteX22" fmla="*/ 37910 w 75819"/>
                  <a:gd name="connsiteY22" fmla="*/ 55055 h 359378"/>
                  <a:gd name="connsiteX23" fmla="*/ 75819 w 75819"/>
                  <a:gd name="connsiteY23" fmla="*/ 74009 h 359378"/>
                  <a:gd name="connsiteX24" fmla="*/ 75819 w 75819"/>
                  <a:gd name="connsiteY24" fmla="*/ 59722 h 359378"/>
                  <a:gd name="connsiteX25" fmla="*/ 37910 w 75819"/>
                  <a:gd name="connsiteY25" fmla="*/ 40767 h 359378"/>
                  <a:gd name="connsiteX26" fmla="*/ 0 w 75819"/>
                  <a:gd name="connsiteY26" fmla="*/ 59722 h 359378"/>
                  <a:gd name="connsiteX27" fmla="*/ 0 w 75819"/>
                  <a:gd name="connsiteY27" fmla="*/ 74009 h 359378"/>
                  <a:gd name="connsiteX28" fmla="*/ 0 w 75819"/>
                  <a:gd name="connsiteY28" fmla="*/ 277844 h 359378"/>
                  <a:gd name="connsiteX29" fmla="*/ 37910 w 75819"/>
                  <a:gd name="connsiteY29" fmla="*/ 258890 h 359378"/>
                  <a:gd name="connsiteX30" fmla="*/ 75819 w 75819"/>
                  <a:gd name="connsiteY30" fmla="*/ 277844 h 359378"/>
                  <a:gd name="connsiteX31" fmla="*/ 75819 w 75819"/>
                  <a:gd name="connsiteY31" fmla="*/ 263557 h 359378"/>
                  <a:gd name="connsiteX32" fmla="*/ 37910 w 75819"/>
                  <a:gd name="connsiteY32" fmla="*/ 244602 h 359378"/>
                  <a:gd name="connsiteX33" fmla="*/ 0 w 75819"/>
                  <a:gd name="connsiteY33" fmla="*/ 263557 h 359378"/>
                  <a:gd name="connsiteX34" fmla="*/ 0 w 75819"/>
                  <a:gd name="connsiteY34" fmla="*/ 277844 h 359378"/>
                  <a:gd name="connsiteX35" fmla="*/ 37910 w 75819"/>
                  <a:gd name="connsiteY35" fmla="*/ 340424 h 359378"/>
                  <a:gd name="connsiteX36" fmla="*/ 75819 w 75819"/>
                  <a:gd name="connsiteY36" fmla="*/ 359378 h 359378"/>
                  <a:gd name="connsiteX37" fmla="*/ 75819 w 75819"/>
                  <a:gd name="connsiteY37" fmla="*/ 345091 h 359378"/>
                  <a:gd name="connsiteX38" fmla="*/ 37910 w 75819"/>
                  <a:gd name="connsiteY38" fmla="*/ 326136 h 359378"/>
                  <a:gd name="connsiteX39" fmla="*/ 0 w 75819"/>
                  <a:gd name="connsiteY39" fmla="*/ 345091 h 359378"/>
                  <a:gd name="connsiteX40" fmla="*/ 0 w 75819"/>
                  <a:gd name="connsiteY40" fmla="*/ 359378 h 359378"/>
                  <a:gd name="connsiteX41" fmla="*/ 37910 w 75819"/>
                  <a:gd name="connsiteY41" fmla="*/ 340424 h 359378"/>
                  <a:gd name="connsiteX42" fmla="*/ 0 w 75819"/>
                  <a:gd name="connsiteY42" fmla="*/ 196310 h 359378"/>
                  <a:gd name="connsiteX43" fmla="*/ 37910 w 75819"/>
                  <a:gd name="connsiteY43" fmla="*/ 177356 h 359378"/>
                  <a:gd name="connsiteX44" fmla="*/ 75819 w 75819"/>
                  <a:gd name="connsiteY44" fmla="*/ 196310 h 359378"/>
                  <a:gd name="connsiteX45" fmla="*/ 75819 w 75819"/>
                  <a:gd name="connsiteY45" fmla="*/ 182023 h 359378"/>
                  <a:gd name="connsiteX46" fmla="*/ 37910 w 75819"/>
                  <a:gd name="connsiteY46" fmla="*/ 163068 h 359378"/>
                  <a:gd name="connsiteX47" fmla="*/ 0 w 75819"/>
                  <a:gd name="connsiteY47" fmla="*/ 182023 h 359378"/>
                  <a:gd name="connsiteX48" fmla="*/ 0 w 75819"/>
                  <a:gd name="connsiteY48" fmla="*/ 196310 h 359378"/>
                  <a:gd name="connsiteX49" fmla="*/ 0 w 75819"/>
                  <a:gd name="connsiteY49" fmla="*/ 318611 h 359378"/>
                  <a:gd name="connsiteX50" fmla="*/ 37910 w 75819"/>
                  <a:gd name="connsiteY50" fmla="*/ 299657 h 359378"/>
                  <a:gd name="connsiteX51" fmla="*/ 75819 w 75819"/>
                  <a:gd name="connsiteY51" fmla="*/ 318611 h 359378"/>
                  <a:gd name="connsiteX52" fmla="*/ 75819 w 75819"/>
                  <a:gd name="connsiteY52" fmla="*/ 304324 h 359378"/>
                  <a:gd name="connsiteX53" fmla="*/ 37910 w 75819"/>
                  <a:gd name="connsiteY53" fmla="*/ 285369 h 359378"/>
                  <a:gd name="connsiteX54" fmla="*/ 0 w 75819"/>
                  <a:gd name="connsiteY54" fmla="*/ 304324 h 359378"/>
                  <a:gd name="connsiteX55" fmla="*/ 0 w 75819"/>
                  <a:gd name="connsiteY55" fmla="*/ 318611 h 359378"/>
                  <a:gd name="connsiteX56" fmla="*/ 0 w 75819"/>
                  <a:gd name="connsiteY56" fmla="*/ 237077 h 359378"/>
                  <a:gd name="connsiteX57" fmla="*/ 37910 w 75819"/>
                  <a:gd name="connsiteY57" fmla="*/ 218123 h 359378"/>
                  <a:gd name="connsiteX58" fmla="*/ 75819 w 75819"/>
                  <a:gd name="connsiteY58" fmla="*/ 237077 h 359378"/>
                  <a:gd name="connsiteX59" fmla="*/ 75819 w 75819"/>
                  <a:gd name="connsiteY59" fmla="*/ 222790 h 359378"/>
                  <a:gd name="connsiteX60" fmla="*/ 37910 w 75819"/>
                  <a:gd name="connsiteY60" fmla="*/ 203835 h 359378"/>
                  <a:gd name="connsiteX61" fmla="*/ 0 w 75819"/>
                  <a:gd name="connsiteY61" fmla="*/ 222790 h 359378"/>
                  <a:gd name="connsiteX62" fmla="*/ 0 w 75819"/>
                  <a:gd name="connsiteY62" fmla="*/ 237077 h 359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75819" h="359378">
                    <a:moveTo>
                      <a:pt x="0" y="33242"/>
                    </a:moveTo>
                    <a:lnTo>
                      <a:pt x="37910" y="14288"/>
                    </a:lnTo>
                    <a:lnTo>
                      <a:pt x="75819" y="33242"/>
                    </a:lnTo>
                    <a:lnTo>
                      <a:pt x="75819" y="18955"/>
                    </a:lnTo>
                    <a:lnTo>
                      <a:pt x="37910" y="0"/>
                    </a:lnTo>
                    <a:lnTo>
                      <a:pt x="0" y="18955"/>
                    </a:lnTo>
                    <a:lnTo>
                      <a:pt x="0" y="33242"/>
                    </a:lnTo>
                    <a:close/>
                    <a:moveTo>
                      <a:pt x="0" y="155543"/>
                    </a:moveTo>
                    <a:lnTo>
                      <a:pt x="37910" y="136589"/>
                    </a:lnTo>
                    <a:lnTo>
                      <a:pt x="75819" y="155543"/>
                    </a:lnTo>
                    <a:lnTo>
                      <a:pt x="75819" y="141256"/>
                    </a:lnTo>
                    <a:lnTo>
                      <a:pt x="37910" y="122301"/>
                    </a:lnTo>
                    <a:lnTo>
                      <a:pt x="0" y="141256"/>
                    </a:lnTo>
                    <a:lnTo>
                      <a:pt x="0" y="155543"/>
                    </a:lnTo>
                    <a:close/>
                    <a:moveTo>
                      <a:pt x="0" y="114776"/>
                    </a:moveTo>
                    <a:lnTo>
                      <a:pt x="37910" y="95822"/>
                    </a:lnTo>
                    <a:lnTo>
                      <a:pt x="75819" y="114776"/>
                    </a:lnTo>
                    <a:lnTo>
                      <a:pt x="75819" y="100489"/>
                    </a:lnTo>
                    <a:lnTo>
                      <a:pt x="37910" y="81534"/>
                    </a:lnTo>
                    <a:lnTo>
                      <a:pt x="0" y="100489"/>
                    </a:lnTo>
                    <a:lnTo>
                      <a:pt x="0" y="114776"/>
                    </a:lnTo>
                    <a:close/>
                    <a:moveTo>
                      <a:pt x="0" y="74009"/>
                    </a:moveTo>
                    <a:lnTo>
                      <a:pt x="37910" y="55055"/>
                    </a:lnTo>
                    <a:lnTo>
                      <a:pt x="75819" y="74009"/>
                    </a:lnTo>
                    <a:lnTo>
                      <a:pt x="75819" y="59722"/>
                    </a:lnTo>
                    <a:lnTo>
                      <a:pt x="37910" y="40767"/>
                    </a:lnTo>
                    <a:lnTo>
                      <a:pt x="0" y="59722"/>
                    </a:lnTo>
                    <a:lnTo>
                      <a:pt x="0" y="74009"/>
                    </a:lnTo>
                    <a:close/>
                    <a:moveTo>
                      <a:pt x="0" y="277844"/>
                    </a:moveTo>
                    <a:lnTo>
                      <a:pt x="37910" y="258890"/>
                    </a:lnTo>
                    <a:lnTo>
                      <a:pt x="75819" y="277844"/>
                    </a:lnTo>
                    <a:lnTo>
                      <a:pt x="75819" y="263557"/>
                    </a:lnTo>
                    <a:lnTo>
                      <a:pt x="37910" y="244602"/>
                    </a:lnTo>
                    <a:lnTo>
                      <a:pt x="0" y="263557"/>
                    </a:lnTo>
                    <a:lnTo>
                      <a:pt x="0" y="277844"/>
                    </a:lnTo>
                    <a:close/>
                    <a:moveTo>
                      <a:pt x="37910" y="340424"/>
                    </a:moveTo>
                    <a:lnTo>
                      <a:pt x="75819" y="359378"/>
                    </a:lnTo>
                    <a:lnTo>
                      <a:pt x="75819" y="345091"/>
                    </a:lnTo>
                    <a:lnTo>
                      <a:pt x="37910" y="326136"/>
                    </a:lnTo>
                    <a:lnTo>
                      <a:pt x="0" y="345091"/>
                    </a:lnTo>
                    <a:lnTo>
                      <a:pt x="0" y="359378"/>
                    </a:lnTo>
                    <a:lnTo>
                      <a:pt x="37910" y="340424"/>
                    </a:lnTo>
                    <a:close/>
                    <a:moveTo>
                      <a:pt x="0" y="196310"/>
                    </a:moveTo>
                    <a:lnTo>
                      <a:pt x="37910" y="177356"/>
                    </a:lnTo>
                    <a:lnTo>
                      <a:pt x="75819" y="196310"/>
                    </a:lnTo>
                    <a:lnTo>
                      <a:pt x="75819" y="182023"/>
                    </a:lnTo>
                    <a:lnTo>
                      <a:pt x="37910" y="163068"/>
                    </a:lnTo>
                    <a:lnTo>
                      <a:pt x="0" y="182023"/>
                    </a:lnTo>
                    <a:lnTo>
                      <a:pt x="0" y="196310"/>
                    </a:lnTo>
                    <a:close/>
                    <a:moveTo>
                      <a:pt x="0" y="318611"/>
                    </a:moveTo>
                    <a:lnTo>
                      <a:pt x="37910" y="299657"/>
                    </a:lnTo>
                    <a:lnTo>
                      <a:pt x="75819" y="318611"/>
                    </a:lnTo>
                    <a:lnTo>
                      <a:pt x="75819" y="304324"/>
                    </a:lnTo>
                    <a:lnTo>
                      <a:pt x="37910" y="285369"/>
                    </a:lnTo>
                    <a:lnTo>
                      <a:pt x="0" y="304324"/>
                    </a:lnTo>
                    <a:lnTo>
                      <a:pt x="0" y="318611"/>
                    </a:lnTo>
                    <a:close/>
                    <a:moveTo>
                      <a:pt x="0" y="237077"/>
                    </a:moveTo>
                    <a:lnTo>
                      <a:pt x="37910" y="218123"/>
                    </a:lnTo>
                    <a:lnTo>
                      <a:pt x="75819" y="237077"/>
                    </a:lnTo>
                    <a:lnTo>
                      <a:pt x="75819" y="222790"/>
                    </a:lnTo>
                    <a:lnTo>
                      <a:pt x="37910" y="203835"/>
                    </a:lnTo>
                    <a:lnTo>
                      <a:pt x="0" y="222790"/>
                    </a:lnTo>
                    <a:lnTo>
                      <a:pt x="0" y="237077"/>
                    </a:lnTo>
                    <a:close/>
                  </a:path>
                </a:pathLst>
              </a:custGeom>
              <a:gradFill flip="none" rotWithShape="1">
                <a:gsLst>
                  <a:gs pos="0">
                    <a:schemeClr val="accent1"/>
                  </a:gs>
                  <a:gs pos="100000">
                    <a:schemeClr val="accent1">
                      <a:alpha val="0"/>
                    </a:schemeClr>
                  </a:gs>
                </a:gsLst>
                <a:lin ang="5400000" scaled="1"/>
                <a:tileRect/>
              </a:gradFill>
              <a:ln w="9525" cap="flat">
                <a:noFill/>
                <a:prstDash val="solid"/>
                <a:miter/>
              </a:ln>
            </p:spPr>
            <p:txBody>
              <a:bodyPr rtlCol="0" anchor="ctr" anchorCtr="0"/>
              <a:lstStyle/>
              <a:p>
                <a:pPr algn="l"/>
                <a:endParaRPr/>
              </a:p>
            </p:txBody>
          </p:sp>
        </p:grpSp>
        <p:grpSp>
          <p:nvGrpSpPr>
            <p:cNvPr id="12" name="组合 11" descr="b382ce7d-a28e-4dbc-b370-be23c074ec5d">
              <a:extLst>
                <a:ext uri="{FF2B5EF4-FFF2-40B4-BE49-F238E27FC236}">
                  <a16:creationId xmlns:a16="http://schemas.microsoft.com/office/drawing/2014/main" id="{34477013-0C39-3CB2-9511-D303D5419D5F}"/>
                </a:ext>
              </a:extLst>
            </p:cNvPr>
            <p:cNvGrpSpPr/>
            <p:nvPr/>
          </p:nvGrpSpPr>
          <p:grpSpPr>
            <a:xfrm>
              <a:off x="5791200" y="2185312"/>
              <a:ext cx="4693426" cy="1777088"/>
              <a:chOff x="5791200" y="2185312"/>
              <a:chExt cx="4693426" cy="1777088"/>
            </a:xfrm>
          </p:grpSpPr>
          <p:sp>
            <p:nvSpPr>
              <p:cNvPr id="79" name="任意多边形: 形状 78" descr="49bc5ae6-6cea-4701-b8bb-46ed0490f3a5">
                <a:extLst>
                  <a:ext uri="{FF2B5EF4-FFF2-40B4-BE49-F238E27FC236}">
                    <a16:creationId xmlns:a16="http://schemas.microsoft.com/office/drawing/2014/main" id="{2F0C4862-34F3-FA1C-9B7D-3D4B6045832E}"/>
                  </a:ext>
                </a:extLst>
              </p:cNvPr>
              <p:cNvSpPr/>
              <p:nvPr/>
            </p:nvSpPr>
            <p:spPr>
              <a:xfrm>
                <a:off x="5813655" y="2209016"/>
                <a:ext cx="4647266" cy="1728774"/>
              </a:xfrm>
              <a:custGeom>
                <a:avLst/>
                <a:gdLst>
                  <a:gd name="connsiteX0" fmla="*/ 62389 w 3902963"/>
                  <a:gd name="connsiteY0" fmla="*/ 1451896 h 1451895"/>
                  <a:gd name="connsiteX1" fmla="*/ 62389 w 3902963"/>
                  <a:gd name="connsiteY1" fmla="*/ 1031367 h 1451895"/>
                  <a:gd name="connsiteX2" fmla="*/ 139160 w 3902963"/>
                  <a:gd name="connsiteY2" fmla="*/ 954596 h 1451895"/>
                  <a:gd name="connsiteX3" fmla="*/ 139160 w 3902963"/>
                  <a:gd name="connsiteY3" fmla="*/ 357378 h 1451895"/>
                  <a:gd name="connsiteX4" fmla="*/ 0 w 3902963"/>
                  <a:gd name="connsiteY4" fmla="*/ 218218 h 1451895"/>
                  <a:gd name="connsiteX5" fmla="*/ 0 w 3902963"/>
                  <a:gd name="connsiteY5" fmla="*/ 0 h 1451895"/>
                  <a:gd name="connsiteX6" fmla="*/ 3902964 w 3902963"/>
                  <a:gd name="connsiteY6" fmla="*/ 0 h 1451895"/>
                  <a:gd name="connsiteX7" fmla="*/ 3902964 w 3902963"/>
                  <a:gd name="connsiteY7" fmla="*/ 1441228 h 1451895"/>
                  <a:gd name="connsiteX8" fmla="*/ 3503676 w 3902963"/>
                  <a:gd name="connsiteY8" fmla="*/ 1441228 h 1451895"/>
                  <a:gd name="connsiteX9" fmla="*/ 3422237 w 3902963"/>
                  <a:gd name="connsiteY9" fmla="*/ 1359789 h 1451895"/>
                  <a:gd name="connsiteX10" fmla="*/ 3180493 w 3902963"/>
                  <a:gd name="connsiteY10" fmla="*/ 1359789 h 1451895"/>
                  <a:gd name="connsiteX11" fmla="*/ 3074765 w 3902963"/>
                  <a:gd name="connsiteY11" fmla="*/ 1446467 h 1451895"/>
                  <a:gd name="connsiteX12" fmla="*/ 425482 w 3902963"/>
                  <a:gd name="connsiteY12" fmla="*/ 1446467 h 1451895"/>
                  <a:gd name="connsiteX13" fmla="*/ 393764 w 3902963"/>
                  <a:gd name="connsiteY13" fmla="*/ 1414748 h 1451895"/>
                  <a:gd name="connsiteX14" fmla="*/ 308610 w 3902963"/>
                  <a:gd name="connsiteY14" fmla="*/ 1414748 h 1451895"/>
                  <a:gd name="connsiteX15" fmla="*/ 271558 w 3902963"/>
                  <a:gd name="connsiteY15" fmla="*/ 1451896 h 145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02963" h="1451895">
                    <a:moveTo>
                      <a:pt x="62389" y="1451896"/>
                    </a:moveTo>
                    <a:lnTo>
                      <a:pt x="62389" y="1031367"/>
                    </a:lnTo>
                    <a:lnTo>
                      <a:pt x="139160" y="954596"/>
                    </a:lnTo>
                    <a:lnTo>
                      <a:pt x="139160" y="357378"/>
                    </a:lnTo>
                    <a:lnTo>
                      <a:pt x="0" y="218218"/>
                    </a:lnTo>
                    <a:lnTo>
                      <a:pt x="0" y="0"/>
                    </a:lnTo>
                    <a:lnTo>
                      <a:pt x="3902964" y="0"/>
                    </a:lnTo>
                    <a:lnTo>
                      <a:pt x="3902964" y="1441228"/>
                    </a:lnTo>
                    <a:lnTo>
                      <a:pt x="3503676" y="1441228"/>
                    </a:lnTo>
                    <a:lnTo>
                      <a:pt x="3422237" y="1359789"/>
                    </a:lnTo>
                    <a:lnTo>
                      <a:pt x="3180493" y="1359789"/>
                    </a:lnTo>
                    <a:lnTo>
                      <a:pt x="3074765" y="1446467"/>
                    </a:lnTo>
                    <a:lnTo>
                      <a:pt x="425482" y="1446467"/>
                    </a:lnTo>
                    <a:lnTo>
                      <a:pt x="393764" y="1414748"/>
                    </a:lnTo>
                    <a:lnTo>
                      <a:pt x="308610" y="1414748"/>
                    </a:lnTo>
                    <a:lnTo>
                      <a:pt x="271558" y="1451896"/>
                    </a:lnTo>
                    <a:close/>
                  </a:path>
                </a:pathLst>
              </a:custGeom>
              <a:noFill/>
              <a:ln w="9525" cap="rnd">
                <a:gradFill>
                  <a:gsLst>
                    <a:gs pos="0">
                      <a:schemeClr val="accent1">
                        <a:alpha val="35000"/>
                        <a:lumMod val="95000"/>
                        <a:lumOff val="5000"/>
                      </a:schemeClr>
                    </a:gs>
                    <a:gs pos="54940">
                      <a:schemeClr val="accent1">
                        <a:lumMod val="75000"/>
                      </a:schemeClr>
                    </a:gs>
                    <a:gs pos="84920">
                      <a:schemeClr val="accent1">
                        <a:lumMod val="50000"/>
                      </a:schemeClr>
                    </a:gs>
                    <a:gs pos="100000">
                      <a:schemeClr val="accent1">
                        <a:lumMod val="50000"/>
                      </a:schemeClr>
                    </a:gs>
                  </a:gsLst>
                  <a:lin ang="16200000" scaled="1"/>
                </a:gradFill>
                <a:prstDash val="solid"/>
                <a:round/>
              </a:ln>
            </p:spPr>
            <p:txBody>
              <a:bodyPr rtlCol="0" anchor="ctr" anchorCtr="0"/>
              <a:lstStyle/>
              <a:p>
                <a:pPr algn="l"/>
                <a:endParaRPr/>
              </a:p>
            </p:txBody>
          </p:sp>
          <p:sp>
            <p:nvSpPr>
              <p:cNvPr id="88" name="任意多边形: 形状 87" descr="94dd4e90-1bfa-430a-be6a-dcb79f32a48e">
                <a:extLst>
                  <a:ext uri="{FF2B5EF4-FFF2-40B4-BE49-F238E27FC236}">
                    <a16:creationId xmlns:a16="http://schemas.microsoft.com/office/drawing/2014/main" id="{811029E5-5349-1E7F-E7AF-CBBC62574FC9}"/>
                  </a:ext>
                </a:extLst>
              </p:cNvPr>
              <p:cNvSpPr/>
              <p:nvPr/>
            </p:nvSpPr>
            <p:spPr>
              <a:xfrm>
                <a:off x="5791200" y="2188033"/>
                <a:ext cx="178401" cy="17840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sp>
            <p:nvSpPr>
              <p:cNvPr id="89" name="任意多边形: 形状 88" descr="580bcc47-665f-494d-94d4-cb43ff435b6a">
                <a:extLst>
                  <a:ext uri="{FF2B5EF4-FFF2-40B4-BE49-F238E27FC236}">
                    <a16:creationId xmlns:a16="http://schemas.microsoft.com/office/drawing/2014/main" id="{115605A8-85C5-0C2F-380A-727874B88C42}"/>
                  </a:ext>
                </a:extLst>
              </p:cNvPr>
              <p:cNvSpPr/>
              <p:nvPr/>
            </p:nvSpPr>
            <p:spPr>
              <a:xfrm>
                <a:off x="10306225" y="2188033"/>
                <a:ext cx="178401" cy="178401"/>
              </a:xfrm>
              <a:custGeom>
                <a:avLst/>
                <a:gdLst>
                  <a:gd name="connsiteX0" fmla="*/ 0 w 149828"/>
                  <a:gd name="connsiteY0" fmla="*/ 0 h 149828"/>
                  <a:gd name="connsiteX1" fmla="*/ 120872 w 149828"/>
                  <a:gd name="connsiteY1" fmla="*/ 0 h 149828"/>
                  <a:gd name="connsiteX2" fmla="*/ 149828 w 149828"/>
                  <a:gd name="connsiteY2" fmla="*/ 0 h 149828"/>
                  <a:gd name="connsiteX3" fmla="*/ 149828 w 149828"/>
                  <a:gd name="connsiteY3" fmla="*/ 28956 h 149828"/>
                  <a:gd name="connsiteX4" fmla="*/ 149828 w 149828"/>
                  <a:gd name="connsiteY4" fmla="*/ 149828 h 149828"/>
                  <a:gd name="connsiteX5" fmla="*/ 111347 w 149828"/>
                  <a:gd name="connsiteY5" fmla="*/ 149828 h 149828"/>
                  <a:gd name="connsiteX6" fmla="*/ 111347 w 149828"/>
                  <a:gd name="connsiteY6" fmla="*/ 38481 h 149828"/>
                  <a:gd name="connsiteX7" fmla="*/ 0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0"/>
                    </a:moveTo>
                    <a:lnTo>
                      <a:pt x="120872" y="0"/>
                    </a:lnTo>
                    <a:lnTo>
                      <a:pt x="149828" y="0"/>
                    </a:lnTo>
                    <a:lnTo>
                      <a:pt x="149828" y="28956"/>
                    </a:lnTo>
                    <a:lnTo>
                      <a:pt x="149828" y="149828"/>
                    </a:lnTo>
                    <a:lnTo>
                      <a:pt x="111347" y="149828"/>
                    </a:lnTo>
                    <a:lnTo>
                      <a:pt x="111347" y="38481"/>
                    </a:lnTo>
                    <a:lnTo>
                      <a:pt x="0" y="38481"/>
                    </a:lnTo>
                    <a:close/>
                  </a:path>
                </a:pathLst>
              </a:custGeom>
              <a:solidFill>
                <a:schemeClr val="accent1"/>
              </a:solidFill>
              <a:ln w="9525" cap="flat">
                <a:noFill/>
                <a:prstDash val="solid"/>
                <a:miter/>
              </a:ln>
            </p:spPr>
            <p:txBody>
              <a:bodyPr rtlCol="0" anchor="ctr" anchorCtr="0"/>
              <a:lstStyle/>
              <a:p>
                <a:pPr algn="l"/>
                <a:endParaRPr/>
              </a:p>
            </p:txBody>
          </p:sp>
          <p:sp>
            <p:nvSpPr>
              <p:cNvPr id="90" name="任意多边形: 形状 89" descr="9f993bb8-39a8-48a6-8b4d-d40664faec55">
                <a:extLst>
                  <a:ext uri="{FF2B5EF4-FFF2-40B4-BE49-F238E27FC236}">
                    <a16:creationId xmlns:a16="http://schemas.microsoft.com/office/drawing/2014/main" id="{6028008A-4134-AAF4-EDD4-F667F0066B7C}"/>
                  </a:ext>
                </a:extLst>
              </p:cNvPr>
              <p:cNvSpPr/>
              <p:nvPr/>
            </p:nvSpPr>
            <p:spPr>
              <a:xfrm>
                <a:off x="10437333" y="2449113"/>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91" name="任意多边形: 形状 90" descr="158f4c54-fb9c-443f-8bc8-0582ae8b3352">
                <a:extLst>
                  <a:ext uri="{FF2B5EF4-FFF2-40B4-BE49-F238E27FC236}">
                    <a16:creationId xmlns:a16="http://schemas.microsoft.com/office/drawing/2014/main" id="{2BCC9D67-82F8-E589-3C62-025AA81B7A8E}"/>
                  </a:ext>
                </a:extLst>
              </p:cNvPr>
              <p:cNvSpPr/>
              <p:nvPr/>
            </p:nvSpPr>
            <p:spPr>
              <a:xfrm>
                <a:off x="10150395" y="21853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92" name="任意多边形: 形状 91" descr="3fb8cc44-ff4e-4a6a-83e0-19f7e6bcbca5">
                <a:extLst>
                  <a:ext uri="{FF2B5EF4-FFF2-40B4-BE49-F238E27FC236}">
                    <a16:creationId xmlns:a16="http://schemas.microsoft.com/office/drawing/2014/main" id="{930B80CF-BF81-C4AC-72A6-786E39F7C2E4}"/>
                  </a:ext>
                </a:extLst>
              </p:cNvPr>
              <p:cNvSpPr/>
              <p:nvPr/>
            </p:nvSpPr>
            <p:spPr>
              <a:xfrm>
                <a:off x="10010668" y="21853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93" name="任意多边形: 形状 92" descr="15855a5d-0a5d-448c-99d1-bd6d79f81097">
                <a:extLst>
                  <a:ext uri="{FF2B5EF4-FFF2-40B4-BE49-F238E27FC236}">
                    <a16:creationId xmlns:a16="http://schemas.microsoft.com/office/drawing/2014/main" id="{F50AE916-1758-B19A-A0F5-1D07BF5C2385}"/>
                  </a:ext>
                </a:extLst>
              </p:cNvPr>
              <p:cNvSpPr/>
              <p:nvPr/>
            </p:nvSpPr>
            <p:spPr>
              <a:xfrm>
                <a:off x="10437333" y="2555610"/>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94" name="任意多边形: 形状 93" descr="56862d21-cf47-41e2-bd8c-a7dfb0ad33c8">
                <a:extLst>
                  <a:ext uri="{FF2B5EF4-FFF2-40B4-BE49-F238E27FC236}">
                    <a16:creationId xmlns:a16="http://schemas.microsoft.com/office/drawing/2014/main" id="{86B81058-DCAE-F823-4087-108B463467A0}"/>
                  </a:ext>
                </a:extLst>
              </p:cNvPr>
              <p:cNvSpPr/>
              <p:nvPr/>
            </p:nvSpPr>
            <p:spPr>
              <a:xfrm>
                <a:off x="10437333" y="266210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95" name="任意多边形: 形状 94" descr="205d8b4c-0379-4f87-bf37-8b301b95e92d">
                <a:extLst>
                  <a:ext uri="{FF2B5EF4-FFF2-40B4-BE49-F238E27FC236}">
                    <a16:creationId xmlns:a16="http://schemas.microsoft.com/office/drawing/2014/main" id="{75165A96-F58F-0D35-C330-991B864D7B0B}"/>
                  </a:ext>
                </a:extLst>
              </p:cNvPr>
              <p:cNvSpPr/>
              <p:nvPr/>
            </p:nvSpPr>
            <p:spPr>
              <a:xfrm>
                <a:off x="10437333" y="276871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86" name="任意多边形: 形状 85" descr="bcd4909e-d3b6-4554-a9c1-bc5952e31c97">
                <a:extLst>
                  <a:ext uri="{FF2B5EF4-FFF2-40B4-BE49-F238E27FC236}">
                    <a16:creationId xmlns:a16="http://schemas.microsoft.com/office/drawing/2014/main" id="{18A7B64B-F59F-EEA8-897A-2902DF2ABE44}"/>
                  </a:ext>
                </a:extLst>
              </p:cNvPr>
              <p:cNvSpPr/>
              <p:nvPr/>
            </p:nvSpPr>
            <p:spPr>
              <a:xfrm>
                <a:off x="5870590" y="3783433"/>
                <a:ext cx="178401" cy="178400"/>
              </a:xfrm>
              <a:custGeom>
                <a:avLst/>
                <a:gdLst>
                  <a:gd name="connsiteX0" fmla="*/ 149828 w 149828"/>
                  <a:gd name="connsiteY0" fmla="*/ 149828 h 149828"/>
                  <a:gd name="connsiteX1" fmla="*/ 29051 w 149828"/>
                  <a:gd name="connsiteY1" fmla="*/ 149828 h 149828"/>
                  <a:gd name="connsiteX2" fmla="*/ 0 w 149828"/>
                  <a:gd name="connsiteY2" fmla="*/ 149828 h 149828"/>
                  <a:gd name="connsiteX3" fmla="*/ 0 w 149828"/>
                  <a:gd name="connsiteY3" fmla="*/ 120777 h 149828"/>
                  <a:gd name="connsiteX4" fmla="*/ 0 w 149828"/>
                  <a:gd name="connsiteY4" fmla="*/ 0 h 149828"/>
                  <a:gd name="connsiteX5" fmla="*/ 38576 w 149828"/>
                  <a:gd name="connsiteY5" fmla="*/ 0 h 149828"/>
                  <a:gd name="connsiteX6" fmla="*/ 38576 w 149828"/>
                  <a:gd name="connsiteY6" fmla="*/ 111252 h 149828"/>
                  <a:gd name="connsiteX7" fmla="*/ 149828 w 149828"/>
                  <a:gd name="connsiteY7" fmla="*/ 11125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149828"/>
                    </a:moveTo>
                    <a:lnTo>
                      <a:pt x="29051" y="149828"/>
                    </a:lnTo>
                    <a:lnTo>
                      <a:pt x="0" y="149828"/>
                    </a:lnTo>
                    <a:lnTo>
                      <a:pt x="0" y="120777"/>
                    </a:lnTo>
                    <a:lnTo>
                      <a:pt x="0" y="0"/>
                    </a:lnTo>
                    <a:lnTo>
                      <a:pt x="38576" y="0"/>
                    </a:lnTo>
                    <a:lnTo>
                      <a:pt x="38576" y="111252"/>
                    </a:lnTo>
                    <a:lnTo>
                      <a:pt x="149828" y="111252"/>
                    </a:lnTo>
                    <a:close/>
                  </a:path>
                </a:pathLst>
              </a:custGeom>
              <a:solidFill>
                <a:schemeClr val="accent1"/>
              </a:solidFill>
              <a:ln w="9525" cap="flat">
                <a:noFill/>
                <a:prstDash val="solid"/>
                <a:miter/>
              </a:ln>
            </p:spPr>
            <p:txBody>
              <a:bodyPr rtlCol="0" anchor="ctr" anchorCtr="0"/>
              <a:lstStyle/>
              <a:p>
                <a:pPr algn="l"/>
                <a:endParaRPr/>
              </a:p>
            </p:txBody>
          </p:sp>
          <p:sp>
            <p:nvSpPr>
              <p:cNvPr id="87" name="任意多边形: 形状 86" descr="bfa125fb-5c16-4d02-a707-b0bc73114fa8">
                <a:extLst>
                  <a:ext uri="{FF2B5EF4-FFF2-40B4-BE49-F238E27FC236}">
                    <a16:creationId xmlns:a16="http://schemas.microsoft.com/office/drawing/2014/main" id="{9EBFB682-0482-5CD7-8E79-E74C054DE2A4}"/>
                  </a:ext>
                </a:extLst>
              </p:cNvPr>
              <p:cNvSpPr/>
              <p:nvPr/>
            </p:nvSpPr>
            <p:spPr>
              <a:xfrm>
                <a:off x="10306225" y="3770164"/>
                <a:ext cx="178401" cy="178400"/>
              </a:xfrm>
              <a:custGeom>
                <a:avLst/>
                <a:gdLst>
                  <a:gd name="connsiteX0" fmla="*/ 0 w 149828"/>
                  <a:gd name="connsiteY0" fmla="*/ 149828 h 149828"/>
                  <a:gd name="connsiteX1" fmla="*/ 120872 w 149828"/>
                  <a:gd name="connsiteY1" fmla="*/ 149828 h 149828"/>
                  <a:gd name="connsiteX2" fmla="*/ 149828 w 149828"/>
                  <a:gd name="connsiteY2" fmla="*/ 149828 h 149828"/>
                  <a:gd name="connsiteX3" fmla="*/ 149828 w 149828"/>
                  <a:gd name="connsiteY3" fmla="*/ 120872 h 149828"/>
                  <a:gd name="connsiteX4" fmla="*/ 149828 w 149828"/>
                  <a:gd name="connsiteY4" fmla="*/ 0 h 149828"/>
                  <a:gd name="connsiteX5" fmla="*/ 111347 w 149828"/>
                  <a:gd name="connsiteY5" fmla="*/ 0 h 149828"/>
                  <a:gd name="connsiteX6" fmla="*/ 111347 w 149828"/>
                  <a:gd name="connsiteY6" fmla="*/ 111347 h 149828"/>
                  <a:gd name="connsiteX7" fmla="*/ 0 w 149828"/>
                  <a:gd name="connsiteY7" fmla="*/ 111347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149828"/>
                    </a:moveTo>
                    <a:lnTo>
                      <a:pt x="120872" y="149828"/>
                    </a:lnTo>
                    <a:lnTo>
                      <a:pt x="149828" y="149828"/>
                    </a:lnTo>
                    <a:lnTo>
                      <a:pt x="149828" y="120872"/>
                    </a:lnTo>
                    <a:lnTo>
                      <a:pt x="149828" y="0"/>
                    </a:lnTo>
                    <a:lnTo>
                      <a:pt x="111347" y="0"/>
                    </a:lnTo>
                    <a:lnTo>
                      <a:pt x="111347" y="111347"/>
                    </a:lnTo>
                    <a:lnTo>
                      <a:pt x="0" y="111347"/>
                    </a:lnTo>
                    <a:close/>
                  </a:path>
                </a:pathLst>
              </a:custGeom>
              <a:solidFill>
                <a:schemeClr val="accent1"/>
              </a:solidFill>
              <a:ln w="9525" cap="flat">
                <a:noFill/>
                <a:prstDash val="solid"/>
                <a:miter/>
              </a:ln>
            </p:spPr>
            <p:txBody>
              <a:bodyPr rtlCol="0" anchor="ctr" anchorCtr="0"/>
              <a:lstStyle/>
              <a:p>
                <a:pPr algn="l"/>
                <a:endParaRPr/>
              </a:p>
            </p:txBody>
          </p:sp>
          <p:sp>
            <p:nvSpPr>
              <p:cNvPr id="82" name="任意多边形: 形状 81" descr="352d274c-bcd9-4a50-975a-439e2fd14fdf">
                <a:extLst>
                  <a:ext uri="{FF2B5EF4-FFF2-40B4-BE49-F238E27FC236}">
                    <a16:creationId xmlns:a16="http://schemas.microsoft.com/office/drawing/2014/main" id="{BBB6F865-CB00-6C18-1E4F-251F4381642D}"/>
                  </a:ext>
                </a:extLst>
              </p:cNvPr>
              <p:cNvSpPr/>
              <p:nvPr/>
            </p:nvSpPr>
            <p:spPr>
              <a:xfrm>
                <a:off x="7067111" y="3907282"/>
                <a:ext cx="581248" cy="55118"/>
              </a:xfrm>
              <a:custGeom>
                <a:avLst/>
                <a:gdLst>
                  <a:gd name="connsiteX0" fmla="*/ 0 w 488156"/>
                  <a:gd name="connsiteY0" fmla="*/ 0 h 46291"/>
                  <a:gd name="connsiteX1" fmla="*/ 488156 w 488156"/>
                  <a:gd name="connsiteY1" fmla="*/ 0 h 46291"/>
                  <a:gd name="connsiteX2" fmla="*/ 488156 w 488156"/>
                  <a:gd name="connsiteY2" fmla="*/ 46292 h 46291"/>
                  <a:gd name="connsiteX3" fmla="*/ 0 w 488156"/>
                  <a:gd name="connsiteY3" fmla="*/ 46292 h 46291"/>
                </a:gdLst>
                <a:ahLst/>
                <a:cxnLst>
                  <a:cxn ang="0">
                    <a:pos x="connsiteX0" y="connsiteY0"/>
                  </a:cxn>
                  <a:cxn ang="0">
                    <a:pos x="connsiteX1" y="connsiteY1"/>
                  </a:cxn>
                  <a:cxn ang="0">
                    <a:pos x="connsiteX2" y="connsiteY2"/>
                  </a:cxn>
                  <a:cxn ang="0">
                    <a:pos x="connsiteX3" y="connsiteY3"/>
                  </a:cxn>
                </a:cxnLst>
                <a:rect l="l" t="t" r="r" b="b"/>
                <a:pathLst>
                  <a:path w="488156" h="46291">
                    <a:moveTo>
                      <a:pt x="0" y="0"/>
                    </a:moveTo>
                    <a:lnTo>
                      <a:pt x="488156" y="0"/>
                    </a:lnTo>
                    <a:lnTo>
                      <a:pt x="488156" y="46292"/>
                    </a:lnTo>
                    <a:lnTo>
                      <a:pt x="0" y="46292"/>
                    </a:lnTo>
                    <a:close/>
                  </a:path>
                </a:pathLst>
              </a:custGeom>
              <a:solidFill>
                <a:schemeClr val="accent1"/>
              </a:solidFill>
              <a:ln w="9525" cap="flat">
                <a:noFill/>
                <a:prstDash val="solid"/>
                <a:miter/>
              </a:ln>
            </p:spPr>
            <p:txBody>
              <a:bodyPr rtlCol="0" anchor="ctr" anchorCtr="0"/>
              <a:lstStyle/>
              <a:p>
                <a:pPr algn="l"/>
                <a:endParaRPr/>
              </a:p>
            </p:txBody>
          </p:sp>
          <p:sp>
            <p:nvSpPr>
              <p:cNvPr id="83" name="任意多边形: 形状 82" descr="6d7f65f6-ae0c-49f6-9412-6d657208668e">
                <a:extLst>
                  <a:ext uri="{FF2B5EF4-FFF2-40B4-BE49-F238E27FC236}">
                    <a16:creationId xmlns:a16="http://schemas.microsoft.com/office/drawing/2014/main" id="{46528A57-9016-9670-826C-2D0644FE5B4A}"/>
                  </a:ext>
                </a:extLst>
              </p:cNvPr>
              <p:cNvSpPr/>
              <p:nvPr/>
            </p:nvSpPr>
            <p:spPr>
              <a:xfrm>
                <a:off x="5952928" y="2915473"/>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84" name="任意多边形: 形状 83" descr="7c6a527e-fdd0-47bd-82c3-92932421abfc">
                <a:extLst>
                  <a:ext uri="{FF2B5EF4-FFF2-40B4-BE49-F238E27FC236}">
                    <a16:creationId xmlns:a16="http://schemas.microsoft.com/office/drawing/2014/main" id="{49501B7B-D4A1-D29D-0001-A3B41DF7023E}"/>
                  </a:ext>
                </a:extLst>
              </p:cNvPr>
              <p:cNvSpPr/>
              <p:nvPr/>
            </p:nvSpPr>
            <p:spPr>
              <a:xfrm>
                <a:off x="5952928" y="3013917"/>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85" name="任意多边形: 形状 84" descr="b902f74d-c337-4f36-bd69-9c12a3225c72">
                <a:extLst>
                  <a:ext uri="{FF2B5EF4-FFF2-40B4-BE49-F238E27FC236}">
                    <a16:creationId xmlns:a16="http://schemas.microsoft.com/office/drawing/2014/main" id="{48731988-B311-A694-6A02-E7176889BA81}"/>
                  </a:ext>
                </a:extLst>
              </p:cNvPr>
              <p:cNvSpPr/>
              <p:nvPr/>
            </p:nvSpPr>
            <p:spPr>
              <a:xfrm>
                <a:off x="5812081" y="2632842"/>
                <a:ext cx="132238" cy="626802"/>
              </a:xfrm>
              <a:custGeom>
                <a:avLst/>
                <a:gdLst>
                  <a:gd name="connsiteX0" fmla="*/ 0 w 75819"/>
                  <a:gd name="connsiteY0" fmla="*/ 33242 h 359378"/>
                  <a:gd name="connsiteX1" fmla="*/ 37910 w 75819"/>
                  <a:gd name="connsiteY1" fmla="*/ 14288 h 359378"/>
                  <a:gd name="connsiteX2" fmla="*/ 75819 w 75819"/>
                  <a:gd name="connsiteY2" fmla="*/ 33242 h 359378"/>
                  <a:gd name="connsiteX3" fmla="*/ 75819 w 75819"/>
                  <a:gd name="connsiteY3" fmla="*/ 18955 h 359378"/>
                  <a:gd name="connsiteX4" fmla="*/ 37910 w 75819"/>
                  <a:gd name="connsiteY4" fmla="*/ 0 h 359378"/>
                  <a:gd name="connsiteX5" fmla="*/ 0 w 75819"/>
                  <a:gd name="connsiteY5" fmla="*/ 18955 h 359378"/>
                  <a:gd name="connsiteX6" fmla="*/ 0 w 75819"/>
                  <a:gd name="connsiteY6" fmla="*/ 33242 h 359378"/>
                  <a:gd name="connsiteX7" fmla="*/ 0 w 75819"/>
                  <a:gd name="connsiteY7" fmla="*/ 155543 h 359378"/>
                  <a:gd name="connsiteX8" fmla="*/ 37910 w 75819"/>
                  <a:gd name="connsiteY8" fmla="*/ 136589 h 359378"/>
                  <a:gd name="connsiteX9" fmla="*/ 75819 w 75819"/>
                  <a:gd name="connsiteY9" fmla="*/ 155543 h 359378"/>
                  <a:gd name="connsiteX10" fmla="*/ 75819 w 75819"/>
                  <a:gd name="connsiteY10" fmla="*/ 141256 h 359378"/>
                  <a:gd name="connsiteX11" fmla="*/ 37910 w 75819"/>
                  <a:gd name="connsiteY11" fmla="*/ 122301 h 359378"/>
                  <a:gd name="connsiteX12" fmla="*/ 0 w 75819"/>
                  <a:gd name="connsiteY12" fmla="*/ 141256 h 359378"/>
                  <a:gd name="connsiteX13" fmla="*/ 0 w 75819"/>
                  <a:gd name="connsiteY13" fmla="*/ 155543 h 359378"/>
                  <a:gd name="connsiteX14" fmla="*/ 0 w 75819"/>
                  <a:gd name="connsiteY14" fmla="*/ 114776 h 359378"/>
                  <a:gd name="connsiteX15" fmla="*/ 37910 w 75819"/>
                  <a:gd name="connsiteY15" fmla="*/ 95822 h 359378"/>
                  <a:gd name="connsiteX16" fmla="*/ 75819 w 75819"/>
                  <a:gd name="connsiteY16" fmla="*/ 114776 h 359378"/>
                  <a:gd name="connsiteX17" fmla="*/ 75819 w 75819"/>
                  <a:gd name="connsiteY17" fmla="*/ 100489 h 359378"/>
                  <a:gd name="connsiteX18" fmla="*/ 37910 w 75819"/>
                  <a:gd name="connsiteY18" fmla="*/ 81534 h 359378"/>
                  <a:gd name="connsiteX19" fmla="*/ 0 w 75819"/>
                  <a:gd name="connsiteY19" fmla="*/ 100489 h 359378"/>
                  <a:gd name="connsiteX20" fmla="*/ 0 w 75819"/>
                  <a:gd name="connsiteY20" fmla="*/ 114776 h 359378"/>
                  <a:gd name="connsiteX21" fmla="*/ 0 w 75819"/>
                  <a:gd name="connsiteY21" fmla="*/ 74009 h 359378"/>
                  <a:gd name="connsiteX22" fmla="*/ 37910 w 75819"/>
                  <a:gd name="connsiteY22" fmla="*/ 55055 h 359378"/>
                  <a:gd name="connsiteX23" fmla="*/ 75819 w 75819"/>
                  <a:gd name="connsiteY23" fmla="*/ 74009 h 359378"/>
                  <a:gd name="connsiteX24" fmla="*/ 75819 w 75819"/>
                  <a:gd name="connsiteY24" fmla="*/ 59722 h 359378"/>
                  <a:gd name="connsiteX25" fmla="*/ 37910 w 75819"/>
                  <a:gd name="connsiteY25" fmla="*/ 40767 h 359378"/>
                  <a:gd name="connsiteX26" fmla="*/ 0 w 75819"/>
                  <a:gd name="connsiteY26" fmla="*/ 59722 h 359378"/>
                  <a:gd name="connsiteX27" fmla="*/ 0 w 75819"/>
                  <a:gd name="connsiteY27" fmla="*/ 74009 h 359378"/>
                  <a:gd name="connsiteX28" fmla="*/ 0 w 75819"/>
                  <a:gd name="connsiteY28" fmla="*/ 277844 h 359378"/>
                  <a:gd name="connsiteX29" fmla="*/ 37910 w 75819"/>
                  <a:gd name="connsiteY29" fmla="*/ 258890 h 359378"/>
                  <a:gd name="connsiteX30" fmla="*/ 75819 w 75819"/>
                  <a:gd name="connsiteY30" fmla="*/ 277844 h 359378"/>
                  <a:gd name="connsiteX31" fmla="*/ 75819 w 75819"/>
                  <a:gd name="connsiteY31" fmla="*/ 263557 h 359378"/>
                  <a:gd name="connsiteX32" fmla="*/ 37910 w 75819"/>
                  <a:gd name="connsiteY32" fmla="*/ 244602 h 359378"/>
                  <a:gd name="connsiteX33" fmla="*/ 0 w 75819"/>
                  <a:gd name="connsiteY33" fmla="*/ 263557 h 359378"/>
                  <a:gd name="connsiteX34" fmla="*/ 0 w 75819"/>
                  <a:gd name="connsiteY34" fmla="*/ 277844 h 359378"/>
                  <a:gd name="connsiteX35" fmla="*/ 37910 w 75819"/>
                  <a:gd name="connsiteY35" fmla="*/ 340424 h 359378"/>
                  <a:gd name="connsiteX36" fmla="*/ 75819 w 75819"/>
                  <a:gd name="connsiteY36" fmla="*/ 359378 h 359378"/>
                  <a:gd name="connsiteX37" fmla="*/ 75819 w 75819"/>
                  <a:gd name="connsiteY37" fmla="*/ 345091 h 359378"/>
                  <a:gd name="connsiteX38" fmla="*/ 37910 w 75819"/>
                  <a:gd name="connsiteY38" fmla="*/ 326136 h 359378"/>
                  <a:gd name="connsiteX39" fmla="*/ 0 w 75819"/>
                  <a:gd name="connsiteY39" fmla="*/ 345091 h 359378"/>
                  <a:gd name="connsiteX40" fmla="*/ 0 w 75819"/>
                  <a:gd name="connsiteY40" fmla="*/ 359378 h 359378"/>
                  <a:gd name="connsiteX41" fmla="*/ 37910 w 75819"/>
                  <a:gd name="connsiteY41" fmla="*/ 340424 h 359378"/>
                  <a:gd name="connsiteX42" fmla="*/ 0 w 75819"/>
                  <a:gd name="connsiteY42" fmla="*/ 196310 h 359378"/>
                  <a:gd name="connsiteX43" fmla="*/ 37910 w 75819"/>
                  <a:gd name="connsiteY43" fmla="*/ 177356 h 359378"/>
                  <a:gd name="connsiteX44" fmla="*/ 75819 w 75819"/>
                  <a:gd name="connsiteY44" fmla="*/ 196310 h 359378"/>
                  <a:gd name="connsiteX45" fmla="*/ 75819 w 75819"/>
                  <a:gd name="connsiteY45" fmla="*/ 182023 h 359378"/>
                  <a:gd name="connsiteX46" fmla="*/ 37910 w 75819"/>
                  <a:gd name="connsiteY46" fmla="*/ 163068 h 359378"/>
                  <a:gd name="connsiteX47" fmla="*/ 0 w 75819"/>
                  <a:gd name="connsiteY47" fmla="*/ 182023 h 359378"/>
                  <a:gd name="connsiteX48" fmla="*/ 0 w 75819"/>
                  <a:gd name="connsiteY48" fmla="*/ 196310 h 359378"/>
                  <a:gd name="connsiteX49" fmla="*/ 0 w 75819"/>
                  <a:gd name="connsiteY49" fmla="*/ 318611 h 359378"/>
                  <a:gd name="connsiteX50" fmla="*/ 37910 w 75819"/>
                  <a:gd name="connsiteY50" fmla="*/ 299657 h 359378"/>
                  <a:gd name="connsiteX51" fmla="*/ 75819 w 75819"/>
                  <a:gd name="connsiteY51" fmla="*/ 318611 h 359378"/>
                  <a:gd name="connsiteX52" fmla="*/ 75819 w 75819"/>
                  <a:gd name="connsiteY52" fmla="*/ 304324 h 359378"/>
                  <a:gd name="connsiteX53" fmla="*/ 37910 w 75819"/>
                  <a:gd name="connsiteY53" fmla="*/ 285369 h 359378"/>
                  <a:gd name="connsiteX54" fmla="*/ 0 w 75819"/>
                  <a:gd name="connsiteY54" fmla="*/ 304324 h 359378"/>
                  <a:gd name="connsiteX55" fmla="*/ 0 w 75819"/>
                  <a:gd name="connsiteY55" fmla="*/ 318611 h 359378"/>
                  <a:gd name="connsiteX56" fmla="*/ 0 w 75819"/>
                  <a:gd name="connsiteY56" fmla="*/ 237077 h 359378"/>
                  <a:gd name="connsiteX57" fmla="*/ 37910 w 75819"/>
                  <a:gd name="connsiteY57" fmla="*/ 218123 h 359378"/>
                  <a:gd name="connsiteX58" fmla="*/ 75819 w 75819"/>
                  <a:gd name="connsiteY58" fmla="*/ 237077 h 359378"/>
                  <a:gd name="connsiteX59" fmla="*/ 75819 w 75819"/>
                  <a:gd name="connsiteY59" fmla="*/ 222790 h 359378"/>
                  <a:gd name="connsiteX60" fmla="*/ 37910 w 75819"/>
                  <a:gd name="connsiteY60" fmla="*/ 203835 h 359378"/>
                  <a:gd name="connsiteX61" fmla="*/ 0 w 75819"/>
                  <a:gd name="connsiteY61" fmla="*/ 222790 h 359378"/>
                  <a:gd name="connsiteX62" fmla="*/ 0 w 75819"/>
                  <a:gd name="connsiteY62" fmla="*/ 237077 h 359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75819" h="359378">
                    <a:moveTo>
                      <a:pt x="0" y="33242"/>
                    </a:moveTo>
                    <a:lnTo>
                      <a:pt x="37910" y="14288"/>
                    </a:lnTo>
                    <a:lnTo>
                      <a:pt x="75819" y="33242"/>
                    </a:lnTo>
                    <a:lnTo>
                      <a:pt x="75819" y="18955"/>
                    </a:lnTo>
                    <a:lnTo>
                      <a:pt x="37910" y="0"/>
                    </a:lnTo>
                    <a:lnTo>
                      <a:pt x="0" y="18955"/>
                    </a:lnTo>
                    <a:lnTo>
                      <a:pt x="0" y="33242"/>
                    </a:lnTo>
                    <a:close/>
                    <a:moveTo>
                      <a:pt x="0" y="155543"/>
                    </a:moveTo>
                    <a:lnTo>
                      <a:pt x="37910" y="136589"/>
                    </a:lnTo>
                    <a:lnTo>
                      <a:pt x="75819" y="155543"/>
                    </a:lnTo>
                    <a:lnTo>
                      <a:pt x="75819" y="141256"/>
                    </a:lnTo>
                    <a:lnTo>
                      <a:pt x="37910" y="122301"/>
                    </a:lnTo>
                    <a:lnTo>
                      <a:pt x="0" y="141256"/>
                    </a:lnTo>
                    <a:lnTo>
                      <a:pt x="0" y="155543"/>
                    </a:lnTo>
                    <a:close/>
                    <a:moveTo>
                      <a:pt x="0" y="114776"/>
                    </a:moveTo>
                    <a:lnTo>
                      <a:pt x="37910" y="95822"/>
                    </a:lnTo>
                    <a:lnTo>
                      <a:pt x="75819" y="114776"/>
                    </a:lnTo>
                    <a:lnTo>
                      <a:pt x="75819" y="100489"/>
                    </a:lnTo>
                    <a:lnTo>
                      <a:pt x="37910" y="81534"/>
                    </a:lnTo>
                    <a:lnTo>
                      <a:pt x="0" y="100489"/>
                    </a:lnTo>
                    <a:lnTo>
                      <a:pt x="0" y="114776"/>
                    </a:lnTo>
                    <a:close/>
                    <a:moveTo>
                      <a:pt x="0" y="74009"/>
                    </a:moveTo>
                    <a:lnTo>
                      <a:pt x="37910" y="55055"/>
                    </a:lnTo>
                    <a:lnTo>
                      <a:pt x="75819" y="74009"/>
                    </a:lnTo>
                    <a:lnTo>
                      <a:pt x="75819" y="59722"/>
                    </a:lnTo>
                    <a:lnTo>
                      <a:pt x="37910" y="40767"/>
                    </a:lnTo>
                    <a:lnTo>
                      <a:pt x="0" y="59722"/>
                    </a:lnTo>
                    <a:lnTo>
                      <a:pt x="0" y="74009"/>
                    </a:lnTo>
                    <a:close/>
                    <a:moveTo>
                      <a:pt x="0" y="277844"/>
                    </a:moveTo>
                    <a:lnTo>
                      <a:pt x="37910" y="258890"/>
                    </a:lnTo>
                    <a:lnTo>
                      <a:pt x="75819" y="277844"/>
                    </a:lnTo>
                    <a:lnTo>
                      <a:pt x="75819" y="263557"/>
                    </a:lnTo>
                    <a:lnTo>
                      <a:pt x="37910" y="244602"/>
                    </a:lnTo>
                    <a:lnTo>
                      <a:pt x="0" y="263557"/>
                    </a:lnTo>
                    <a:lnTo>
                      <a:pt x="0" y="277844"/>
                    </a:lnTo>
                    <a:close/>
                    <a:moveTo>
                      <a:pt x="37910" y="340424"/>
                    </a:moveTo>
                    <a:lnTo>
                      <a:pt x="75819" y="359378"/>
                    </a:lnTo>
                    <a:lnTo>
                      <a:pt x="75819" y="345091"/>
                    </a:lnTo>
                    <a:lnTo>
                      <a:pt x="37910" y="326136"/>
                    </a:lnTo>
                    <a:lnTo>
                      <a:pt x="0" y="345091"/>
                    </a:lnTo>
                    <a:lnTo>
                      <a:pt x="0" y="359378"/>
                    </a:lnTo>
                    <a:lnTo>
                      <a:pt x="37910" y="340424"/>
                    </a:lnTo>
                    <a:close/>
                    <a:moveTo>
                      <a:pt x="0" y="196310"/>
                    </a:moveTo>
                    <a:lnTo>
                      <a:pt x="37910" y="177356"/>
                    </a:lnTo>
                    <a:lnTo>
                      <a:pt x="75819" y="196310"/>
                    </a:lnTo>
                    <a:lnTo>
                      <a:pt x="75819" y="182023"/>
                    </a:lnTo>
                    <a:lnTo>
                      <a:pt x="37910" y="163068"/>
                    </a:lnTo>
                    <a:lnTo>
                      <a:pt x="0" y="182023"/>
                    </a:lnTo>
                    <a:lnTo>
                      <a:pt x="0" y="196310"/>
                    </a:lnTo>
                    <a:close/>
                    <a:moveTo>
                      <a:pt x="0" y="318611"/>
                    </a:moveTo>
                    <a:lnTo>
                      <a:pt x="37910" y="299657"/>
                    </a:lnTo>
                    <a:lnTo>
                      <a:pt x="75819" y="318611"/>
                    </a:lnTo>
                    <a:lnTo>
                      <a:pt x="75819" y="304324"/>
                    </a:lnTo>
                    <a:lnTo>
                      <a:pt x="37910" y="285369"/>
                    </a:lnTo>
                    <a:lnTo>
                      <a:pt x="0" y="304324"/>
                    </a:lnTo>
                    <a:lnTo>
                      <a:pt x="0" y="318611"/>
                    </a:lnTo>
                    <a:close/>
                    <a:moveTo>
                      <a:pt x="0" y="237077"/>
                    </a:moveTo>
                    <a:lnTo>
                      <a:pt x="37910" y="218123"/>
                    </a:lnTo>
                    <a:lnTo>
                      <a:pt x="75819" y="237077"/>
                    </a:lnTo>
                    <a:lnTo>
                      <a:pt x="75819" y="222790"/>
                    </a:lnTo>
                    <a:lnTo>
                      <a:pt x="37910" y="203835"/>
                    </a:lnTo>
                    <a:lnTo>
                      <a:pt x="0" y="222790"/>
                    </a:lnTo>
                    <a:lnTo>
                      <a:pt x="0" y="237077"/>
                    </a:lnTo>
                    <a:close/>
                  </a:path>
                </a:pathLst>
              </a:custGeom>
              <a:gradFill flip="none" rotWithShape="1">
                <a:gsLst>
                  <a:gs pos="0">
                    <a:schemeClr val="accent1"/>
                  </a:gs>
                  <a:gs pos="100000">
                    <a:schemeClr val="accent1">
                      <a:alpha val="0"/>
                    </a:schemeClr>
                  </a:gs>
                </a:gsLst>
                <a:lin ang="5400000" scaled="1"/>
                <a:tileRect/>
              </a:gradFill>
              <a:ln w="9525" cap="flat">
                <a:noFill/>
                <a:prstDash val="solid"/>
                <a:miter/>
              </a:ln>
            </p:spPr>
            <p:txBody>
              <a:bodyPr rtlCol="0" anchor="ctr" anchorCtr="0"/>
              <a:lstStyle/>
              <a:p>
                <a:pPr algn="l"/>
                <a:endParaRPr/>
              </a:p>
            </p:txBody>
          </p:sp>
        </p:grpSp>
        <p:grpSp>
          <p:nvGrpSpPr>
            <p:cNvPr id="14" name="组合 13" descr="02d0561a-69c0-487c-9c18-34a7c7167970">
              <a:extLst>
                <a:ext uri="{FF2B5EF4-FFF2-40B4-BE49-F238E27FC236}">
                  <a16:creationId xmlns:a16="http://schemas.microsoft.com/office/drawing/2014/main" id="{4E34F2DA-17BD-09C1-A4BA-3194E5AEECC0}"/>
                </a:ext>
              </a:extLst>
            </p:cNvPr>
            <p:cNvGrpSpPr/>
            <p:nvPr/>
          </p:nvGrpSpPr>
          <p:grpSpPr>
            <a:xfrm>
              <a:off x="1694674" y="4268112"/>
              <a:ext cx="4693426" cy="1777088"/>
              <a:chOff x="1694674" y="4268112"/>
              <a:chExt cx="4693426" cy="1777088"/>
            </a:xfrm>
          </p:grpSpPr>
          <p:sp>
            <p:nvSpPr>
              <p:cNvPr id="101" name="任意多边形: 形状 100" descr="21002dec-2096-41ab-8735-aa46f8207570">
                <a:extLst>
                  <a:ext uri="{FF2B5EF4-FFF2-40B4-BE49-F238E27FC236}">
                    <a16:creationId xmlns:a16="http://schemas.microsoft.com/office/drawing/2014/main" id="{9B35987A-FAAF-C410-E1B2-65D18B3FDE76}"/>
                  </a:ext>
                </a:extLst>
              </p:cNvPr>
              <p:cNvSpPr/>
              <p:nvPr/>
            </p:nvSpPr>
            <p:spPr>
              <a:xfrm>
                <a:off x="1717129" y="4291816"/>
                <a:ext cx="4647266" cy="1728774"/>
              </a:xfrm>
              <a:custGeom>
                <a:avLst/>
                <a:gdLst>
                  <a:gd name="connsiteX0" fmla="*/ 62389 w 3902963"/>
                  <a:gd name="connsiteY0" fmla="*/ 1451896 h 1451895"/>
                  <a:gd name="connsiteX1" fmla="*/ 62389 w 3902963"/>
                  <a:gd name="connsiteY1" fmla="*/ 1031367 h 1451895"/>
                  <a:gd name="connsiteX2" fmla="*/ 139160 w 3902963"/>
                  <a:gd name="connsiteY2" fmla="*/ 954596 h 1451895"/>
                  <a:gd name="connsiteX3" fmla="*/ 139160 w 3902963"/>
                  <a:gd name="connsiteY3" fmla="*/ 357378 h 1451895"/>
                  <a:gd name="connsiteX4" fmla="*/ 0 w 3902963"/>
                  <a:gd name="connsiteY4" fmla="*/ 218218 h 1451895"/>
                  <a:gd name="connsiteX5" fmla="*/ 0 w 3902963"/>
                  <a:gd name="connsiteY5" fmla="*/ 0 h 1451895"/>
                  <a:gd name="connsiteX6" fmla="*/ 3902964 w 3902963"/>
                  <a:gd name="connsiteY6" fmla="*/ 0 h 1451895"/>
                  <a:gd name="connsiteX7" fmla="*/ 3902964 w 3902963"/>
                  <a:gd name="connsiteY7" fmla="*/ 1441228 h 1451895"/>
                  <a:gd name="connsiteX8" fmla="*/ 3503676 w 3902963"/>
                  <a:gd name="connsiteY8" fmla="*/ 1441228 h 1451895"/>
                  <a:gd name="connsiteX9" fmla="*/ 3422237 w 3902963"/>
                  <a:gd name="connsiteY9" fmla="*/ 1359789 h 1451895"/>
                  <a:gd name="connsiteX10" fmla="*/ 3180493 w 3902963"/>
                  <a:gd name="connsiteY10" fmla="*/ 1359789 h 1451895"/>
                  <a:gd name="connsiteX11" fmla="*/ 3074765 w 3902963"/>
                  <a:gd name="connsiteY11" fmla="*/ 1446467 h 1451895"/>
                  <a:gd name="connsiteX12" fmla="*/ 425482 w 3902963"/>
                  <a:gd name="connsiteY12" fmla="*/ 1446467 h 1451895"/>
                  <a:gd name="connsiteX13" fmla="*/ 393764 w 3902963"/>
                  <a:gd name="connsiteY13" fmla="*/ 1414748 h 1451895"/>
                  <a:gd name="connsiteX14" fmla="*/ 308610 w 3902963"/>
                  <a:gd name="connsiteY14" fmla="*/ 1414748 h 1451895"/>
                  <a:gd name="connsiteX15" fmla="*/ 271558 w 3902963"/>
                  <a:gd name="connsiteY15" fmla="*/ 1451896 h 145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02963" h="1451895">
                    <a:moveTo>
                      <a:pt x="62389" y="1451896"/>
                    </a:moveTo>
                    <a:lnTo>
                      <a:pt x="62389" y="1031367"/>
                    </a:lnTo>
                    <a:lnTo>
                      <a:pt x="139160" y="954596"/>
                    </a:lnTo>
                    <a:lnTo>
                      <a:pt x="139160" y="357378"/>
                    </a:lnTo>
                    <a:lnTo>
                      <a:pt x="0" y="218218"/>
                    </a:lnTo>
                    <a:lnTo>
                      <a:pt x="0" y="0"/>
                    </a:lnTo>
                    <a:lnTo>
                      <a:pt x="3902964" y="0"/>
                    </a:lnTo>
                    <a:lnTo>
                      <a:pt x="3902964" y="1441228"/>
                    </a:lnTo>
                    <a:lnTo>
                      <a:pt x="3503676" y="1441228"/>
                    </a:lnTo>
                    <a:lnTo>
                      <a:pt x="3422237" y="1359789"/>
                    </a:lnTo>
                    <a:lnTo>
                      <a:pt x="3180493" y="1359789"/>
                    </a:lnTo>
                    <a:lnTo>
                      <a:pt x="3074765" y="1446467"/>
                    </a:lnTo>
                    <a:lnTo>
                      <a:pt x="425482" y="1446467"/>
                    </a:lnTo>
                    <a:lnTo>
                      <a:pt x="393764" y="1414748"/>
                    </a:lnTo>
                    <a:lnTo>
                      <a:pt x="308610" y="1414748"/>
                    </a:lnTo>
                    <a:lnTo>
                      <a:pt x="271558" y="1451896"/>
                    </a:lnTo>
                    <a:close/>
                  </a:path>
                </a:pathLst>
              </a:custGeom>
              <a:noFill/>
              <a:ln w="9525" cap="rnd">
                <a:gradFill>
                  <a:gsLst>
                    <a:gs pos="0">
                      <a:schemeClr val="accent1">
                        <a:alpha val="35000"/>
                        <a:lumMod val="95000"/>
                        <a:lumOff val="5000"/>
                      </a:schemeClr>
                    </a:gs>
                    <a:gs pos="54940">
                      <a:schemeClr val="accent1">
                        <a:lumMod val="75000"/>
                      </a:schemeClr>
                    </a:gs>
                    <a:gs pos="84920">
                      <a:schemeClr val="accent1">
                        <a:lumMod val="50000"/>
                      </a:schemeClr>
                    </a:gs>
                    <a:gs pos="100000">
                      <a:schemeClr val="accent1">
                        <a:lumMod val="50000"/>
                      </a:schemeClr>
                    </a:gs>
                  </a:gsLst>
                  <a:lin ang="16200000" scaled="1"/>
                </a:gradFill>
                <a:prstDash val="solid"/>
                <a:round/>
              </a:ln>
            </p:spPr>
            <p:txBody>
              <a:bodyPr rtlCol="0" anchor="ctr" anchorCtr="0"/>
              <a:lstStyle/>
              <a:p>
                <a:pPr algn="l"/>
                <a:endParaRPr/>
              </a:p>
            </p:txBody>
          </p:sp>
          <p:sp>
            <p:nvSpPr>
              <p:cNvPr id="110" name="任意多边形: 形状 109" descr="55782407-7e55-4021-9e68-bec2778b75af">
                <a:extLst>
                  <a:ext uri="{FF2B5EF4-FFF2-40B4-BE49-F238E27FC236}">
                    <a16:creationId xmlns:a16="http://schemas.microsoft.com/office/drawing/2014/main" id="{F3A2425D-B8CB-496B-7F01-C1147B1857C7}"/>
                  </a:ext>
                </a:extLst>
              </p:cNvPr>
              <p:cNvSpPr/>
              <p:nvPr/>
            </p:nvSpPr>
            <p:spPr>
              <a:xfrm>
                <a:off x="1694674" y="4270833"/>
                <a:ext cx="178401" cy="17840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sp>
            <p:nvSpPr>
              <p:cNvPr id="111" name="任意多边形: 形状 110" descr="b380225a-69a9-4027-8467-cdd79965005c">
                <a:extLst>
                  <a:ext uri="{FF2B5EF4-FFF2-40B4-BE49-F238E27FC236}">
                    <a16:creationId xmlns:a16="http://schemas.microsoft.com/office/drawing/2014/main" id="{2CFA31D7-6EDD-4F95-5E50-E2568C0ACA78}"/>
                  </a:ext>
                </a:extLst>
              </p:cNvPr>
              <p:cNvSpPr/>
              <p:nvPr/>
            </p:nvSpPr>
            <p:spPr>
              <a:xfrm>
                <a:off x="6209699" y="4270833"/>
                <a:ext cx="178401" cy="178401"/>
              </a:xfrm>
              <a:custGeom>
                <a:avLst/>
                <a:gdLst>
                  <a:gd name="connsiteX0" fmla="*/ 0 w 149828"/>
                  <a:gd name="connsiteY0" fmla="*/ 0 h 149828"/>
                  <a:gd name="connsiteX1" fmla="*/ 120872 w 149828"/>
                  <a:gd name="connsiteY1" fmla="*/ 0 h 149828"/>
                  <a:gd name="connsiteX2" fmla="*/ 149828 w 149828"/>
                  <a:gd name="connsiteY2" fmla="*/ 0 h 149828"/>
                  <a:gd name="connsiteX3" fmla="*/ 149828 w 149828"/>
                  <a:gd name="connsiteY3" fmla="*/ 28956 h 149828"/>
                  <a:gd name="connsiteX4" fmla="*/ 149828 w 149828"/>
                  <a:gd name="connsiteY4" fmla="*/ 149828 h 149828"/>
                  <a:gd name="connsiteX5" fmla="*/ 111347 w 149828"/>
                  <a:gd name="connsiteY5" fmla="*/ 149828 h 149828"/>
                  <a:gd name="connsiteX6" fmla="*/ 111347 w 149828"/>
                  <a:gd name="connsiteY6" fmla="*/ 38481 h 149828"/>
                  <a:gd name="connsiteX7" fmla="*/ 0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0"/>
                    </a:moveTo>
                    <a:lnTo>
                      <a:pt x="120872" y="0"/>
                    </a:lnTo>
                    <a:lnTo>
                      <a:pt x="149828" y="0"/>
                    </a:lnTo>
                    <a:lnTo>
                      <a:pt x="149828" y="28956"/>
                    </a:lnTo>
                    <a:lnTo>
                      <a:pt x="149828" y="149828"/>
                    </a:lnTo>
                    <a:lnTo>
                      <a:pt x="111347" y="149828"/>
                    </a:lnTo>
                    <a:lnTo>
                      <a:pt x="111347" y="38481"/>
                    </a:lnTo>
                    <a:lnTo>
                      <a:pt x="0" y="38481"/>
                    </a:lnTo>
                    <a:close/>
                  </a:path>
                </a:pathLst>
              </a:custGeom>
              <a:solidFill>
                <a:schemeClr val="accent1"/>
              </a:solidFill>
              <a:ln w="9525" cap="flat">
                <a:noFill/>
                <a:prstDash val="solid"/>
                <a:miter/>
              </a:ln>
            </p:spPr>
            <p:txBody>
              <a:bodyPr rtlCol="0" anchor="ctr" anchorCtr="0"/>
              <a:lstStyle/>
              <a:p>
                <a:pPr algn="l"/>
                <a:endParaRPr/>
              </a:p>
            </p:txBody>
          </p:sp>
          <p:sp>
            <p:nvSpPr>
              <p:cNvPr id="112" name="任意多边形: 形状 111" descr="fc2548d2-7ef8-48b2-a987-fa8f8fe181f7">
                <a:extLst>
                  <a:ext uri="{FF2B5EF4-FFF2-40B4-BE49-F238E27FC236}">
                    <a16:creationId xmlns:a16="http://schemas.microsoft.com/office/drawing/2014/main" id="{C980B99A-AA37-8B85-90C7-432B51A256DD}"/>
                  </a:ext>
                </a:extLst>
              </p:cNvPr>
              <p:cNvSpPr/>
              <p:nvPr/>
            </p:nvSpPr>
            <p:spPr>
              <a:xfrm>
                <a:off x="6340807" y="4531913"/>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13" name="任意多边形: 形状 112" descr="1424265b-262e-4faf-9247-287ff5006f25">
                <a:extLst>
                  <a:ext uri="{FF2B5EF4-FFF2-40B4-BE49-F238E27FC236}">
                    <a16:creationId xmlns:a16="http://schemas.microsoft.com/office/drawing/2014/main" id="{8ABBD795-0530-A72D-41D9-2D3FDBC58E88}"/>
                  </a:ext>
                </a:extLst>
              </p:cNvPr>
              <p:cNvSpPr/>
              <p:nvPr/>
            </p:nvSpPr>
            <p:spPr>
              <a:xfrm>
                <a:off x="6053869" y="42681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14" name="任意多边形: 形状 113" descr="334d0377-4e19-4a70-9ece-08706f4e8e6f">
                <a:extLst>
                  <a:ext uri="{FF2B5EF4-FFF2-40B4-BE49-F238E27FC236}">
                    <a16:creationId xmlns:a16="http://schemas.microsoft.com/office/drawing/2014/main" id="{1BAE3EB0-F83C-AC6A-81CC-1C1E202A6198}"/>
                  </a:ext>
                </a:extLst>
              </p:cNvPr>
              <p:cNvSpPr/>
              <p:nvPr/>
            </p:nvSpPr>
            <p:spPr>
              <a:xfrm>
                <a:off x="5914142" y="42681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15" name="任意多边形: 形状 114" descr="48c8eefc-abdc-46a3-9c30-8ae18bfddd3e">
                <a:extLst>
                  <a:ext uri="{FF2B5EF4-FFF2-40B4-BE49-F238E27FC236}">
                    <a16:creationId xmlns:a16="http://schemas.microsoft.com/office/drawing/2014/main" id="{82758EDF-7E5E-99F9-0059-F2293C7E8041}"/>
                  </a:ext>
                </a:extLst>
              </p:cNvPr>
              <p:cNvSpPr/>
              <p:nvPr/>
            </p:nvSpPr>
            <p:spPr>
              <a:xfrm>
                <a:off x="6340807" y="4638410"/>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16" name="任意多边形: 形状 115" descr="9685b6a0-a3d1-4b92-b298-c27f37c9993f">
                <a:extLst>
                  <a:ext uri="{FF2B5EF4-FFF2-40B4-BE49-F238E27FC236}">
                    <a16:creationId xmlns:a16="http://schemas.microsoft.com/office/drawing/2014/main" id="{4A71C72D-7113-B875-9EDD-37911F9E2F60}"/>
                  </a:ext>
                </a:extLst>
              </p:cNvPr>
              <p:cNvSpPr/>
              <p:nvPr/>
            </p:nvSpPr>
            <p:spPr>
              <a:xfrm>
                <a:off x="6340807" y="474490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17" name="任意多边形: 形状 116" descr="fe5f3ac0-16a4-4069-afca-612a0c4ffd5d">
                <a:extLst>
                  <a:ext uri="{FF2B5EF4-FFF2-40B4-BE49-F238E27FC236}">
                    <a16:creationId xmlns:a16="http://schemas.microsoft.com/office/drawing/2014/main" id="{70E8BB29-C2B3-B127-CFD0-EC7E3B0DD8F8}"/>
                  </a:ext>
                </a:extLst>
              </p:cNvPr>
              <p:cNvSpPr/>
              <p:nvPr/>
            </p:nvSpPr>
            <p:spPr>
              <a:xfrm>
                <a:off x="6340807" y="485151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08" name="任意多边形: 形状 107" descr="054e596f-472a-4ce3-b07d-0f32009ca9fe">
                <a:extLst>
                  <a:ext uri="{FF2B5EF4-FFF2-40B4-BE49-F238E27FC236}">
                    <a16:creationId xmlns:a16="http://schemas.microsoft.com/office/drawing/2014/main" id="{F38980FF-AFA3-F0B8-4BDC-5BD2F2006473}"/>
                  </a:ext>
                </a:extLst>
              </p:cNvPr>
              <p:cNvSpPr/>
              <p:nvPr/>
            </p:nvSpPr>
            <p:spPr>
              <a:xfrm>
                <a:off x="1774064" y="5866233"/>
                <a:ext cx="178401" cy="178400"/>
              </a:xfrm>
              <a:custGeom>
                <a:avLst/>
                <a:gdLst>
                  <a:gd name="connsiteX0" fmla="*/ 149828 w 149828"/>
                  <a:gd name="connsiteY0" fmla="*/ 149828 h 149828"/>
                  <a:gd name="connsiteX1" fmla="*/ 29051 w 149828"/>
                  <a:gd name="connsiteY1" fmla="*/ 149828 h 149828"/>
                  <a:gd name="connsiteX2" fmla="*/ 0 w 149828"/>
                  <a:gd name="connsiteY2" fmla="*/ 149828 h 149828"/>
                  <a:gd name="connsiteX3" fmla="*/ 0 w 149828"/>
                  <a:gd name="connsiteY3" fmla="*/ 120777 h 149828"/>
                  <a:gd name="connsiteX4" fmla="*/ 0 w 149828"/>
                  <a:gd name="connsiteY4" fmla="*/ 0 h 149828"/>
                  <a:gd name="connsiteX5" fmla="*/ 38576 w 149828"/>
                  <a:gd name="connsiteY5" fmla="*/ 0 h 149828"/>
                  <a:gd name="connsiteX6" fmla="*/ 38576 w 149828"/>
                  <a:gd name="connsiteY6" fmla="*/ 111252 h 149828"/>
                  <a:gd name="connsiteX7" fmla="*/ 149828 w 149828"/>
                  <a:gd name="connsiteY7" fmla="*/ 11125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149828"/>
                    </a:moveTo>
                    <a:lnTo>
                      <a:pt x="29051" y="149828"/>
                    </a:lnTo>
                    <a:lnTo>
                      <a:pt x="0" y="149828"/>
                    </a:lnTo>
                    <a:lnTo>
                      <a:pt x="0" y="120777"/>
                    </a:lnTo>
                    <a:lnTo>
                      <a:pt x="0" y="0"/>
                    </a:lnTo>
                    <a:lnTo>
                      <a:pt x="38576" y="0"/>
                    </a:lnTo>
                    <a:lnTo>
                      <a:pt x="38576" y="111252"/>
                    </a:lnTo>
                    <a:lnTo>
                      <a:pt x="149828" y="111252"/>
                    </a:lnTo>
                    <a:close/>
                  </a:path>
                </a:pathLst>
              </a:custGeom>
              <a:solidFill>
                <a:schemeClr val="accent1"/>
              </a:solidFill>
              <a:ln w="9525" cap="flat">
                <a:noFill/>
                <a:prstDash val="solid"/>
                <a:miter/>
              </a:ln>
            </p:spPr>
            <p:txBody>
              <a:bodyPr rtlCol="0" anchor="ctr" anchorCtr="0"/>
              <a:lstStyle/>
              <a:p>
                <a:pPr algn="l"/>
                <a:endParaRPr/>
              </a:p>
            </p:txBody>
          </p:sp>
          <p:sp>
            <p:nvSpPr>
              <p:cNvPr id="109" name="任意多边形: 形状 108" descr="af9a0206-c7b7-4e06-9125-7f5a521947df">
                <a:extLst>
                  <a:ext uri="{FF2B5EF4-FFF2-40B4-BE49-F238E27FC236}">
                    <a16:creationId xmlns:a16="http://schemas.microsoft.com/office/drawing/2014/main" id="{4E3F1A72-B72E-CA8C-BF13-ADFA658FF468}"/>
                  </a:ext>
                </a:extLst>
              </p:cNvPr>
              <p:cNvSpPr/>
              <p:nvPr/>
            </p:nvSpPr>
            <p:spPr>
              <a:xfrm>
                <a:off x="6209699" y="5852964"/>
                <a:ext cx="178401" cy="178400"/>
              </a:xfrm>
              <a:custGeom>
                <a:avLst/>
                <a:gdLst>
                  <a:gd name="connsiteX0" fmla="*/ 0 w 149828"/>
                  <a:gd name="connsiteY0" fmla="*/ 149828 h 149828"/>
                  <a:gd name="connsiteX1" fmla="*/ 120872 w 149828"/>
                  <a:gd name="connsiteY1" fmla="*/ 149828 h 149828"/>
                  <a:gd name="connsiteX2" fmla="*/ 149828 w 149828"/>
                  <a:gd name="connsiteY2" fmla="*/ 149828 h 149828"/>
                  <a:gd name="connsiteX3" fmla="*/ 149828 w 149828"/>
                  <a:gd name="connsiteY3" fmla="*/ 120872 h 149828"/>
                  <a:gd name="connsiteX4" fmla="*/ 149828 w 149828"/>
                  <a:gd name="connsiteY4" fmla="*/ 0 h 149828"/>
                  <a:gd name="connsiteX5" fmla="*/ 111347 w 149828"/>
                  <a:gd name="connsiteY5" fmla="*/ 0 h 149828"/>
                  <a:gd name="connsiteX6" fmla="*/ 111347 w 149828"/>
                  <a:gd name="connsiteY6" fmla="*/ 111347 h 149828"/>
                  <a:gd name="connsiteX7" fmla="*/ 0 w 149828"/>
                  <a:gd name="connsiteY7" fmla="*/ 111347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149828"/>
                    </a:moveTo>
                    <a:lnTo>
                      <a:pt x="120872" y="149828"/>
                    </a:lnTo>
                    <a:lnTo>
                      <a:pt x="149828" y="149828"/>
                    </a:lnTo>
                    <a:lnTo>
                      <a:pt x="149828" y="120872"/>
                    </a:lnTo>
                    <a:lnTo>
                      <a:pt x="149828" y="0"/>
                    </a:lnTo>
                    <a:lnTo>
                      <a:pt x="111347" y="0"/>
                    </a:lnTo>
                    <a:lnTo>
                      <a:pt x="111347" y="111347"/>
                    </a:lnTo>
                    <a:lnTo>
                      <a:pt x="0" y="111347"/>
                    </a:lnTo>
                    <a:close/>
                  </a:path>
                </a:pathLst>
              </a:custGeom>
              <a:solidFill>
                <a:schemeClr val="accent1"/>
              </a:solidFill>
              <a:ln w="9525" cap="flat">
                <a:noFill/>
                <a:prstDash val="solid"/>
                <a:miter/>
              </a:ln>
            </p:spPr>
            <p:txBody>
              <a:bodyPr rtlCol="0" anchor="ctr" anchorCtr="0"/>
              <a:lstStyle/>
              <a:p>
                <a:pPr algn="l"/>
                <a:endParaRPr/>
              </a:p>
            </p:txBody>
          </p:sp>
          <p:sp>
            <p:nvSpPr>
              <p:cNvPr id="104" name="任意多边形: 形状 103" descr="08261d39-9325-41e6-b41b-222eb56e88c6">
                <a:extLst>
                  <a:ext uri="{FF2B5EF4-FFF2-40B4-BE49-F238E27FC236}">
                    <a16:creationId xmlns:a16="http://schemas.microsoft.com/office/drawing/2014/main" id="{DCF62532-94C5-B46B-3BF7-D2A66D474F26}"/>
                  </a:ext>
                </a:extLst>
              </p:cNvPr>
              <p:cNvSpPr/>
              <p:nvPr/>
            </p:nvSpPr>
            <p:spPr>
              <a:xfrm>
                <a:off x="2970585" y="5990082"/>
                <a:ext cx="581248" cy="55118"/>
              </a:xfrm>
              <a:custGeom>
                <a:avLst/>
                <a:gdLst>
                  <a:gd name="connsiteX0" fmla="*/ 0 w 488156"/>
                  <a:gd name="connsiteY0" fmla="*/ 0 h 46291"/>
                  <a:gd name="connsiteX1" fmla="*/ 488156 w 488156"/>
                  <a:gd name="connsiteY1" fmla="*/ 0 h 46291"/>
                  <a:gd name="connsiteX2" fmla="*/ 488156 w 488156"/>
                  <a:gd name="connsiteY2" fmla="*/ 46292 h 46291"/>
                  <a:gd name="connsiteX3" fmla="*/ 0 w 488156"/>
                  <a:gd name="connsiteY3" fmla="*/ 46292 h 46291"/>
                </a:gdLst>
                <a:ahLst/>
                <a:cxnLst>
                  <a:cxn ang="0">
                    <a:pos x="connsiteX0" y="connsiteY0"/>
                  </a:cxn>
                  <a:cxn ang="0">
                    <a:pos x="connsiteX1" y="connsiteY1"/>
                  </a:cxn>
                  <a:cxn ang="0">
                    <a:pos x="connsiteX2" y="connsiteY2"/>
                  </a:cxn>
                  <a:cxn ang="0">
                    <a:pos x="connsiteX3" y="connsiteY3"/>
                  </a:cxn>
                </a:cxnLst>
                <a:rect l="l" t="t" r="r" b="b"/>
                <a:pathLst>
                  <a:path w="488156" h="46291">
                    <a:moveTo>
                      <a:pt x="0" y="0"/>
                    </a:moveTo>
                    <a:lnTo>
                      <a:pt x="488156" y="0"/>
                    </a:lnTo>
                    <a:lnTo>
                      <a:pt x="488156" y="46292"/>
                    </a:lnTo>
                    <a:lnTo>
                      <a:pt x="0" y="46292"/>
                    </a:lnTo>
                    <a:close/>
                  </a:path>
                </a:pathLst>
              </a:custGeom>
              <a:solidFill>
                <a:schemeClr val="accent1"/>
              </a:solidFill>
              <a:ln w="9525" cap="flat">
                <a:noFill/>
                <a:prstDash val="solid"/>
                <a:miter/>
              </a:ln>
            </p:spPr>
            <p:txBody>
              <a:bodyPr rtlCol="0" anchor="ctr" anchorCtr="0"/>
              <a:lstStyle/>
              <a:p>
                <a:pPr algn="l"/>
                <a:endParaRPr/>
              </a:p>
            </p:txBody>
          </p:sp>
          <p:sp>
            <p:nvSpPr>
              <p:cNvPr id="105" name="任意多边形: 形状 104" descr="7d6f2fac-6d40-4d4e-8c6e-8713f8593bd5">
                <a:extLst>
                  <a:ext uri="{FF2B5EF4-FFF2-40B4-BE49-F238E27FC236}">
                    <a16:creationId xmlns:a16="http://schemas.microsoft.com/office/drawing/2014/main" id="{A92437EC-85C5-BACA-F64C-646819DA9BA5}"/>
                  </a:ext>
                </a:extLst>
              </p:cNvPr>
              <p:cNvSpPr/>
              <p:nvPr/>
            </p:nvSpPr>
            <p:spPr>
              <a:xfrm>
                <a:off x="1856402" y="4998273"/>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06" name="任意多边形: 形状 105" descr="d89a5a77-c849-4741-9fd3-6728593251ba">
                <a:extLst>
                  <a:ext uri="{FF2B5EF4-FFF2-40B4-BE49-F238E27FC236}">
                    <a16:creationId xmlns:a16="http://schemas.microsoft.com/office/drawing/2014/main" id="{2208F389-FD9C-A1D4-4763-C78D5F6CDE87}"/>
                  </a:ext>
                </a:extLst>
              </p:cNvPr>
              <p:cNvSpPr/>
              <p:nvPr/>
            </p:nvSpPr>
            <p:spPr>
              <a:xfrm>
                <a:off x="1856402" y="5096717"/>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07" name="任意多边形: 形状 106" descr="cd8bf320-288b-4c3f-ba8e-4e13261f9128">
                <a:extLst>
                  <a:ext uri="{FF2B5EF4-FFF2-40B4-BE49-F238E27FC236}">
                    <a16:creationId xmlns:a16="http://schemas.microsoft.com/office/drawing/2014/main" id="{8E61D269-ABF5-188E-C4D0-C1F05E1C81FA}"/>
                  </a:ext>
                </a:extLst>
              </p:cNvPr>
              <p:cNvSpPr/>
              <p:nvPr/>
            </p:nvSpPr>
            <p:spPr>
              <a:xfrm>
                <a:off x="1715555" y="4715642"/>
                <a:ext cx="132238" cy="626802"/>
              </a:xfrm>
              <a:custGeom>
                <a:avLst/>
                <a:gdLst>
                  <a:gd name="connsiteX0" fmla="*/ 0 w 75819"/>
                  <a:gd name="connsiteY0" fmla="*/ 33242 h 359378"/>
                  <a:gd name="connsiteX1" fmla="*/ 37910 w 75819"/>
                  <a:gd name="connsiteY1" fmla="*/ 14288 h 359378"/>
                  <a:gd name="connsiteX2" fmla="*/ 75819 w 75819"/>
                  <a:gd name="connsiteY2" fmla="*/ 33242 h 359378"/>
                  <a:gd name="connsiteX3" fmla="*/ 75819 w 75819"/>
                  <a:gd name="connsiteY3" fmla="*/ 18955 h 359378"/>
                  <a:gd name="connsiteX4" fmla="*/ 37910 w 75819"/>
                  <a:gd name="connsiteY4" fmla="*/ 0 h 359378"/>
                  <a:gd name="connsiteX5" fmla="*/ 0 w 75819"/>
                  <a:gd name="connsiteY5" fmla="*/ 18955 h 359378"/>
                  <a:gd name="connsiteX6" fmla="*/ 0 w 75819"/>
                  <a:gd name="connsiteY6" fmla="*/ 33242 h 359378"/>
                  <a:gd name="connsiteX7" fmla="*/ 0 w 75819"/>
                  <a:gd name="connsiteY7" fmla="*/ 155543 h 359378"/>
                  <a:gd name="connsiteX8" fmla="*/ 37910 w 75819"/>
                  <a:gd name="connsiteY8" fmla="*/ 136589 h 359378"/>
                  <a:gd name="connsiteX9" fmla="*/ 75819 w 75819"/>
                  <a:gd name="connsiteY9" fmla="*/ 155543 h 359378"/>
                  <a:gd name="connsiteX10" fmla="*/ 75819 w 75819"/>
                  <a:gd name="connsiteY10" fmla="*/ 141256 h 359378"/>
                  <a:gd name="connsiteX11" fmla="*/ 37910 w 75819"/>
                  <a:gd name="connsiteY11" fmla="*/ 122301 h 359378"/>
                  <a:gd name="connsiteX12" fmla="*/ 0 w 75819"/>
                  <a:gd name="connsiteY12" fmla="*/ 141256 h 359378"/>
                  <a:gd name="connsiteX13" fmla="*/ 0 w 75819"/>
                  <a:gd name="connsiteY13" fmla="*/ 155543 h 359378"/>
                  <a:gd name="connsiteX14" fmla="*/ 0 w 75819"/>
                  <a:gd name="connsiteY14" fmla="*/ 114776 h 359378"/>
                  <a:gd name="connsiteX15" fmla="*/ 37910 w 75819"/>
                  <a:gd name="connsiteY15" fmla="*/ 95822 h 359378"/>
                  <a:gd name="connsiteX16" fmla="*/ 75819 w 75819"/>
                  <a:gd name="connsiteY16" fmla="*/ 114776 h 359378"/>
                  <a:gd name="connsiteX17" fmla="*/ 75819 w 75819"/>
                  <a:gd name="connsiteY17" fmla="*/ 100489 h 359378"/>
                  <a:gd name="connsiteX18" fmla="*/ 37910 w 75819"/>
                  <a:gd name="connsiteY18" fmla="*/ 81534 h 359378"/>
                  <a:gd name="connsiteX19" fmla="*/ 0 w 75819"/>
                  <a:gd name="connsiteY19" fmla="*/ 100489 h 359378"/>
                  <a:gd name="connsiteX20" fmla="*/ 0 w 75819"/>
                  <a:gd name="connsiteY20" fmla="*/ 114776 h 359378"/>
                  <a:gd name="connsiteX21" fmla="*/ 0 w 75819"/>
                  <a:gd name="connsiteY21" fmla="*/ 74009 h 359378"/>
                  <a:gd name="connsiteX22" fmla="*/ 37910 w 75819"/>
                  <a:gd name="connsiteY22" fmla="*/ 55055 h 359378"/>
                  <a:gd name="connsiteX23" fmla="*/ 75819 w 75819"/>
                  <a:gd name="connsiteY23" fmla="*/ 74009 h 359378"/>
                  <a:gd name="connsiteX24" fmla="*/ 75819 w 75819"/>
                  <a:gd name="connsiteY24" fmla="*/ 59722 h 359378"/>
                  <a:gd name="connsiteX25" fmla="*/ 37910 w 75819"/>
                  <a:gd name="connsiteY25" fmla="*/ 40767 h 359378"/>
                  <a:gd name="connsiteX26" fmla="*/ 0 w 75819"/>
                  <a:gd name="connsiteY26" fmla="*/ 59722 h 359378"/>
                  <a:gd name="connsiteX27" fmla="*/ 0 w 75819"/>
                  <a:gd name="connsiteY27" fmla="*/ 74009 h 359378"/>
                  <a:gd name="connsiteX28" fmla="*/ 0 w 75819"/>
                  <a:gd name="connsiteY28" fmla="*/ 277844 h 359378"/>
                  <a:gd name="connsiteX29" fmla="*/ 37910 w 75819"/>
                  <a:gd name="connsiteY29" fmla="*/ 258890 h 359378"/>
                  <a:gd name="connsiteX30" fmla="*/ 75819 w 75819"/>
                  <a:gd name="connsiteY30" fmla="*/ 277844 h 359378"/>
                  <a:gd name="connsiteX31" fmla="*/ 75819 w 75819"/>
                  <a:gd name="connsiteY31" fmla="*/ 263557 h 359378"/>
                  <a:gd name="connsiteX32" fmla="*/ 37910 w 75819"/>
                  <a:gd name="connsiteY32" fmla="*/ 244602 h 359378"/>
                  <a:gd name="connsiteX33" fmla="*/ 0 w 75819"/>
                  <a:gd name="connsiteY33" fmla="*/ 263557 h 359378"/>
                  <a:gd name="connsiteX34" fmla="*/ 0 w 75819"/>
                  <a:gd name="connsiteY34" fmla="*/ 277844 h 359378"/>
                  <a:gd name="connsiteX35" fmla="*/ 37910 w 75819"/>
                  <a:gd name="connsiteY35" fmla="*/ 340424 h 359378"/>
                  <a:gd name="connsiteX36" fmla="*/ 75819 w 75819"/>
                  <a:gd name="connsiteY36" fmla="*/ 359378 h 359378"/>
                  <a:gd name="connsiteX37" fmla="*/ 75819 w 75819"/>
                  <a:gd name="connsiteY37" fmla="*/ 345091 h 359378"/>
                  <a:gd name="connsiteX38" fmla="*/ 37910 w 75819"/>
                  <a:gd name="connsiteY38" fmla="*/ 326136 h 359378"/>
                  <a:gd name="connsiteX39" fmla="*/ 0 w 75819"/>
                  <a:gd name="connsiteY39" fmla="*/ 345091 h 359378"/>
                  <a:gd name="connsiteX40" fmla="*/ 0 w 75819"/>
                  <a:gd name="connsiteY40" fmla="*/ 359378 h 359378"/>
                  <a:gd name="connsiteX41" fmla="*/ 37910 w 75819"/>
                  <a:gd name="connsiteY41" fmla="*/ 340424 h 359378"/>
                  <a:gd name="connsiteX42" fmla="*/ 0 w 75819"/>
                  <a:gd name="connsiteY42" fmla="*/ 196310 h 359378"/>
                  <a:gd name="connsiteX43" fmla="*/ 37910 w 75819"/>
                  <a:gd name="connsiteY43" fmla="*/ 177356 h 359378"/>
                  <a:gd name="connsiteX44" fmla="*/ 75819 w 75819"/>
                  <a:gd name="connsiteY44" fmla="*/ 196310 h 359378"/>
                  <a:gd name="connsiteX45" fmla="*/ 75819 w 75819"/>
                  <a:gd name="connsiteY45" fmla="*/ 182023 h 359378"/>
                  <a:gd name="connsiteX46" fmla="*/ 37910 w 75819"/>
                  <a:gd name="connsiteY46" fmla="*/ 163068 h 359378"/>
                  <a:gd name="connsiteX47" fmla="*/ 0 w 75819"/>
                  <a:gd name="connsiteY47" fmla="*/ 182023 h 359378"/>
                  <a:gd name="connsiteX48" fmla="*/ 0 w 75819"/>
                  <a:gd name="connsiteY48" fmla="*/ 196310 h 359378"/>
                  <a:gd name="connsiteX49" fmla="*/ 0 w 75819"/>
                  <a:gd name="connsiteY49" fmla="*/ 318611 h 359378"/>
                  <a:gd name="connsiteX50" fmla="*/ 37910 w 75819"/>
                  <a:gd name="connsiteY50" fmla="*/ 299657 h 359378"/>
                  <a:gd name="connsiteX51" fmla="*/ 75819 w 75819"/>
                  <a:gd name="connsiteY51" fmla="*/ 318611 h 359378"/>
                  <a:gd name="connsiteX52" fmla="*/ 75819 w 75819"/>
                  <a:gd name="connsiteY52" fmla="*/ 304324 h 359378"/>
                  <a:gd name="connsiteX53" fmla="*/ 37910 w 75819"/>
                  <a:gd name="connsiteY53" fmla="*/ 285369 h 359378"/>
                  <a:gd name="connsiteX54" fmla="*/ 0 w 75819"/>
                  <a:gd name="connsiteY54" fmla="*/ 304324 h 359378"/>
                  <a:gd name="connsiteX55" fmla="*/ 0 w 75819"/>
                  <a:gd name="connsiteY55" fmla="*/ 318611 h 359378"/>
                  <a:gd name="connsiteX56" fmla="*/ 0 w 75819"/>
                  <a:gd name="connsiteY56" fmla="*/ 237077 h 359378"/>
                  <a:gd name="connsiteX57" fmla="*/ 37910 w 75819"/>
                  <a:gd name="connsiteY57" fmla="*/ 218123 h 359378"/>
                  <a:gd name="connsiteX58" fmla="*/ 75819 w 75819"/>
                  <a:gd name="connsiteY58" fmla="*/ 237077 h 359378"/>
                  <a:gd name="connsiteX59" fmla="*/ 75819 w 75819"/>
                  <a:gd name="connsiteY59" fmla="*/ 222790 h 359378"/>
                  <a:gd name="connsiteX60" fmla="*/ 37910 w 75819"/>
                  <a:gd name="connsiteY60" fmla="*/ 203835 h 359378"/>
                  <a:gd name="connsiteX61" fmla="*/ 0 w 75819"/>
                  <a:gd name="connsiteY61" fmla="*/ 222790 h 359378"/>
                  <a:gd name="connsiteX62" fmla="*/ 0 w 75819"/>
                  <a:gd name="connsiteY62" fmla="*/ 237077 h 359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75819" h="359378">
                    <a:moveTo>
                      <a:pt x="0" y="33242"/>
                    </a:moveTo>
                    <a:lnTo>
                      <a:pt x="37910" y="14288"/>
                    </a:lnTo>
                    <a:lnTo>
                      <a:pt x="75819" y="33242"/>
                    </a:lnTo>
                    <a:lnTo>
                      <a:pt x="75819" y="18955"/>
                    </a:lnTo>
                    <a:lnTo>
                      <a:pt x="37910" y="0"/>
                    </a:lnTo>
                    <a:lnTo>
                      <a:pt x="0" y="18955"/>
                    </a:lnTo>
                    <a:lnTo>
                      <a:pt x="0" y="33242"/>
                    </a:lnTo>
                    <a:close/>
                    <a:moveTo>
                      <a:pt x="0" y="155543"/>
                    </a:moveTo>
                    <a:lnTo>
                      <a:pt x="37910" y="136589"/>
                    </a:lnTo>
                    <a:lnTo>
                      <a:pt x="75819" y="155543"/>
                    </a:lnTo>
                    <a:lnTo>
                      <a:pt x="75819" y="141256"/>
                    </a:lnTo>
                    <a:lnTo>
                      <a:pt x="37910" y="122301"/>
                    </a:lnTo>
                    <a:lnTo>
                      <a:pt x="0" y="141256"/>
                    </a:lnTo>
                    <a:lnTo>
                      <a:pt x="0" y="155543"/>
                    </a:lnTo>
                    <a:close/>
                    <a:moveTo>
                      <a:pt x="0" y="114776"/>
                    </a:moveTo>
                    <a:lnTo>
                      <a:pt x="37910" y="95822"/>
                    </a:lnTo>
                    <a:lnTo>
                      <a:pt x="75819" y="114776"/>
                    </a:lnTo>
                    <a:lnTo>
                      <a:pt x="75819" y="100489"/>
                    </a:lnTo>
                    <a:lnTo>
                      <a:pt x="37910" y="81534"/>
                    </a:lnTo>
                    <a:lnTo>
                      <a:pt x="0" y="100489"/>
                    </a:lnTo>
                    <a:lnTo>
                      <a:pt x="0" y="114776"/>
                    </a:lnTo>
                    <a:close/>
                    <a:moveTo>
                      <a:pt x="0" y="74009"/>
                    </a:moveTo>
                    <a:lnTo>
                      <a:pt x="37910" y="55055"/>
                    </a:lnTo>
                    <a:lnTo>
                      <a:pt x="75819" y="74009"/>
                    </a:lnTo>
                    <a:lnTo>
                      <a:pt x="75819" y="59722"/>
                    </a:lnTo>
                    <a:lnTo>
                      <a:pt x="37910" y="40767"/>
                    </a:lnTo>
                    <a:lnTo>
                      <a:pt x="0" y="59722"/>
                    </a:lnTo>
                    <a:lnTo>
                      <a:pt x="0" y="74009"/>
                    </a:lnTo>
                    <a:close/>
                    <a:moveTo>
                      <a:pt x="0" y="277844"/>
                    </a:moveTo>
                    <a:lnTo>
                      <a:pt x="37910" y="258890"/>
                    </a:lnTo>
                    <a:lnTo>
                      <a:pt x="75819" y="277844"/>
                    </a:lnTo>
                    <a:lnTo>
                      <a:pt x="75819" y="263557"/>
                    </a:lnTo>
                    <a:lnTo>
                      <a:pt x="37910" y="244602"/>
                    </a:lnTo>
                    <a:lnTo>
                      <a:pt x="0" y="263557"/>
                    </a:lnTo>
                    <a:lnTo>
                      <a:pt x="0" y="277844"/>
                    </a:lnTo>
                    <a:close/>
                    <a:moveTo>
                      <a:pt x="37910" y="340424"/>
                    </a:moveTo>
                    <a:lnTo>
                      <a:pt x="75819" y="359378"/>
                    </a:lnTo>
                    <a:lnTo>
                      <a:pt x="75819" y="345091"/>
                    </a:lnTo>
                    <a:lnTo>
                      <a:pt x="37910" y="326136"/>
                    </a:lnTo>
                    <a:lnTo>
                      <a:pt x="0" y="345091"/>
                    </a:lnTo>
                    <a:lnTo>
                      <a:pt x="0" y="359378"/>
                    </a:lnTo>
                    <a:lnTo>
                      <a:pt x="37910" y="340424"/>
                    </a:lnTo>
                    <a:close/>
                    <a:moveTo>
                      <a:pt x="0" y="196310"/>
                    </a:moveTo>
                    <a:lnTo>
                      <a:pt x="37910" y="177356"/>
                    </a:lnTo>
                    <a:lnTo>
                      <a:pt x="75819" y="196310"/>
                    </a:lnTo>
                    <a:lnTo>
                      <a:pt x="75819" y="182023"/>
                    </a:lnTo>
                    <a:lnTo>
                      <a:pt x="37910" y="163068"/>
                    </a:lnTo>
                    <a:lnTo>
                      <a:pt x="0" y="182023"/>
                    </a:lnTo>
                    <a:lnTo>
                      <a:pt x="0" y="196310"/>
                    </a:lnTo>
                    <a:close/>
                    <a:moveTo>
                      <a:pt x="0" y="318611"/>
                    </a:moveTo>
                    <a:lnTo>
                      <a:pt x="37910" y="299657"/>
                    </a:lnTo>
                    <a:lnTo>
                      <a:pt x="75819" y="318611"/>
                    </a:lnTo>
                    <a:lnTo>
                      <a:pt x="75819" y="304324"/>
                    </a:lnTo>
                    <a:lnTo>
                      <a:pt x="37910" y="285369"/>
                    </a:lnTo>
                    <a:lnTo>
                      <a:pt x="0" y="304324"/>
                    </a:lnTo>
                    <a:lnTo>
                      <a:pt x="0" y="318611"/>
                    </a:lnTo>
                    <a:close/>
                    <a:moveTo>
                      <a:pt x="0" y="237077"/>
                    </a:moveTo>
                    <a:lnTo>
                      <a:pt x="37910" y="218123"/>
                    </a:lnTo>
                    <a:lnTo>
                      <a:pt x="75819" y="237077"/>
                    </a:lnTo>
                    <a:lnTo>
                      <a:pt x="75819" y="222790"/>
                    </a:lnTo>
                    <a:lnTo>
                      <a:pt x="37910" y="203835"/>
                    </a:lnTo>
                    <a:lnTo>
                      <a:pt x="0" y="222790"/>
                    </a:lnTo>
                    <a:lnTo>
                      <a:pt x="0" y="237077"/>
                    </a:lnTo>
                    <a:close/>
                  </a:path>
                </a:pathLst>
              </a:custGeom>
              <a:gradFill flip="none" rotWithShape="1">
                <a:gsLst>
                  <a:gs pos="0">
                    <a:schemeClr val="accent1"/>
                  </a:gs>
                  <a:gs pos="100000">
                    <a:schemeClr val="accent1">
                      <a:alpha val="0"/>
                    </a:schemeClr>
                  </a:gs>
                </a:gsLst>
                <a:lin ang="5400000" scaled="1"/>
                <a:tileRect/>
              </a:gradFill>
              <a:ln w="9525" cap="flat">
                <a:noFill/>
                <a:prstDash val="solid"/>
                <a:miter/>
              </a:ln>
            </p:spPr>
            <p:txBody>
              <a:bodyPr rtlCol="0" anchor="ctr" anchorCtr="0"/>
              <a:lstStyle/>
              <a:p>
                <a:pPr algn="l"/>
                <a:endParaRPr/>
              </a:p>
            </p:txBody>
          </p:sp>
        </p:grpSp>
        <p:grpSp>
          <p:nvGrpSpPr>
            <p:cNvPr id="13" name="组合 12" descr="52ad2f54-0e3e-4a54-a631-af9177abcd58">
              <a:extLst>
                <a:ext uri="{FF2B5EF4-FFF2-40B4-BE49-F238E27FC236}">
                  <a16:creationId xmlns:a16="http://schemas.microsoft.com/office/drawing/2014/main" id="{AD57FBAE-3186-30DD-8FCB-E6CA89E598AE}"/>
                </a:ext>
              </a:extLst>
            </p:cNvPr>
            <p:cNvGrpSpPr/>
            <p:nvPr/>
          </p:nvGrpSpPr>
          <p:grpSpPr>
            <a:xfrm>
              <a:off x="6825474" y="4268112"/>
              <a:ext cx="4693426" cy="1777088"/>
              <a:chOff x="6825474" y="4268112"/>
              <a:chExt cx="4693426" cy="1777088"/>
            </a:xfrm>
          </p:grpSpPr>
          <p:sp>
            <p:nvSpPr>
              <p:cNvPr id="123" name="任意多边形: 形状 122" descr="1a9cf971-41a2-41f2-85f0-cbcbe93cf2bc">
                <a:extLst>
                  <a:ext uri="{FF2B5EF4-FFF2-40B4-BE49-F238E27FC236}">
                    <a16:creationId xmlns:a16="http://schemas.microsoft.com/office/drawing/2014/main" id="{1033F367-D0D9-6E69-1B1B-A2BD182F9C91}"/>
                  </a:ext>
                </a:extLst>
              </p:cNvPr>
              <p:cNvSpPr/>
              <p:nvPr/>
            </p:nvSpPr>
            <p:spPr>
              <a:xfrm>
                <a:off x="6847929" y="4291816"/>
                <a:ext cx="4647266" cy="1728774"/>
              </a:xfrm>
              <a:custGeom>
                <a:avLst/>
                <a:gdLst>
                  <a:gd name="connsiteX0" fmla="*/ 62389 w 3902963"/>
                  <a:gd name="connsiteY0" fmla="*/ 1451896 h 1451895"/>
                  <a:gd name="connsiteX1" fmla="*/ 62389 w 3902963"/>
                  <a:gd name="connsiteY1" fmla="*/ 1031367 h 1451895"/>
                  <a:gd name="connsiteX2" fmla="*/ 139160 w 3902963"/>
                  <a:gd name="connsiteY2" fmla="*/ 954596 h 1451895"/>
                  <a:gd name="connsiteX3" fmla="*/ 139160 w 3902963"/>
                  <a:gd name="connsiteY3" fmla="*/ 357378 h 1451895"/>
                  <a:gd name="connsiteX4" fmla="*/ 0 w 3902963"/>
                  <a:gd name="connsiteY4" fmla="*/ 218218 h 1451895"/>
                  <a:gd name="connsiteX5" fmla="*/ 0 w 3902963"/>
                  <a:gd name="connsiteY5" fmla="*/ 0 h 1451895"/>
                  <a:gd name="connsiteX6" fmla="*/ 3902964 w 3902963"/>
                  <a:gd name="connsiteY6" fmla="*/ 0 h 1451895"/>
                  <a:gd name="connsiteX7" fmla="*/ 3902964 w 3902963"/>
                  <a:gd name="connsiteY7" fmla="*/ 1441228 h 1451895"/>
                  <a:gd name="connsiteX8" fmla="*/ 3503676 w 3902963"/>
                  <a:gd name="connsiteY8" fmla="*/ 1441228 h 1451895"/>
                  <a:gd name="connsiteX9" fmla="*/ 3422237 w 3902963"/>
                  <a:gd name="connsiteY9" fmla="*/ 1359789 h 1451895"/>
                  <a:gd name="connsiteX10" fmla="*/ 3180493 w 3902963"/>
                  <a:gd name="connsiteY10" fmla="*/ 1359789 h 1451895"/>
                  <a:gd name="connsiteX11" fmla="*/ 3074765 w 3902963"/>
                  <a:gd name="connsiteY11" fmla="*/ 1446467 h 1451895"/>
                  <a:gd name="connsiteX12" fmla="*/ 425482 w 3902963"/>
                  <a:gd name="connsiteY12" fmla="*/ 1446467 h 1451895"/>
                  <a:gd name="connsiteX13" fmla="*/ 393764 w 3902963"/>
                  <a:gd name="connsiteY13" fmla="*/ 1414748 h 1451895"/>
                  <a:gd name="connsiteX14" fmla="*/ 308610 w 3902963"/>
                  <a:gd name="connsiteY14" fmla="*/ 1414748 h 1451895"/>
                  <a:gd name="connsiteX15" fmla="*/ 271558 w 3902963"/>
                  <a:gd name="connsiteY15" fmla="*/ 1451896 h 145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02963" h="1451895">
                    <a:moveTo>
                      <a:pt x="62389" y="1451896"/>
                    </a:moveTo>
                    <a:lnTo>
                      <a:pt x="62389" y="1031367"/>
                    </a:lnTo>
                    <a:lnTo>
                      <a:pt x="139160" y="954596"/>
                    </a:lnTo>
                    <a:lnTo>
                      <a:pt x="139160" y="357378"/>
                    </a:lnTo>
                    <a:lnTo>
                      <a:pt x="0" y="218218"/>
                    </a:lnTo>
                    <a:lnTo>
                      <a:pt x="0" y="0"/>
                    </a:lnTo>
                    <a:lnTo>
                      <a:pt x="3902964" y="0"/>
                    </a:lnTo>
                    <a:lnTo>
                      <a:pt x="3902964" y="1441228"/>
                    </a:lnTo>
                    <a:lnTo>
                      <a:pt x="3503676" y="1441228"/>
                    </a:lnTo>
                    <a:lnTo>
                      <a:pt x="3422237" y="1359789"/>
                    </a:lnTo>
                    <a:lnTo>
                      <a:pt x="3180493" y="1359789"/>
                    </a:lnTo>
                    <a:lnTo>
                      <a:pt x="3074765" y="1446467"/>
                    </a:lnTo>
                    <a:lnTo>
                      <a:pt x="425482" y="1446467"/>
                    </a:lnTo>
                    <a:lnTo>
                      <a:pt x="393764" y="1414748"/>
                    </a:lnTo>
                    <a:lnTo>
                      <a:pt x="308610" y="1414748"/>
                    </a:lnTo>
                    <a:lnTo>
                      <a:pt x="271558" y="1451896"/>
                    </a:lnTo>
                    <a:close/>
                  </a:path>
                </a:pathLst>
              </a:custGeom>
              <a:noFill/>
              <a:ln w="9525" cap="rnd">
                <a:gradFill>
                  <a:gsLst>
                    <a:gs pos="0">
                      <a:schemeClr val="accent1">
                        <a:alpha val="35000"/>
                        <a:lumMod val="95000"/>
                        <a:lumOff val="5000"/>
                      </a:schemeClr>
                    </a:gs>
                    <a:gs pos="54940">
                      <a:schemeClr val="accent1">
                        <a:lumMod val="75000"/>
                      </a:schemeClr>
                    </a:gs>
                    <a:gs pos="84920">
                      <a:schemeClr val="accent1">
                        <a:lumMod val="50000"/>
                      </a:schemeClr>
                    </a:gs>
                    <a:gs pos="100000">
                      <a:schemeClr val="accent1">
                        <a:lumMod val="50000"/>
                      </a:schemeClr>
                    </a:gs>
                  </a:gsLst>
                  <a:lin ang="16200000" scaled="1"/>
                </a:gradFill>
                <a:prstDash val="solid"/>
                <a:round/>
              </a:ln>
            </p:spPr>
            <p:txBody>
              <a:bodyPr rtlCol="0" anchor="ctr" anchorCtr="0"/>
              <a:lstStyle/>
              <a:p>
                <a:pPr algn="l"/>
                <a:endParaRPr/>
              </a:p>
            </p:txBody>
          </p:sp>
          <p:sp>
            <p:nvSpPr>
              <p:cNvPr id="132" name="任意多边形: 形状 131" descr="111fe804-cc25-4301-84d3-71e0b6767058">
                <a:extLst>
                  <a:ext uri="{FF2B5EF4-FFF2-40B4-BE49-F238E27FC236}">
                    <a16:creationId xmlns:a16="http://schemas.microsoft.com/office/drawing/2014/main" id="{BB9C6B86-CAD5-5CA6-55F8-671720BE36F9}"/>
                  </a:ext>
                </a:extLst>
              </p:cNvPr>
              <p:cNvSpPr/>
              <p:nvPr/>
            </p:nvSpPr>
            <p:spPr>
              <a:xfrm>
                <a:off x="6825474" y="4270833"/>
                <a:ext cx="178401" cy="178401"/>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sp>
            <p:nvSpPr>
              <p:cNvPr id="133" name="任意多边形: 形状 132" descr="c0b5d865-dae4-422f-b3d8-7071d92fa273">
                <a:extLst>
                  <a:ext uri="{FF2B5EF4-FFF2-40B4-BE49-F238E27FC236}">
                    <a16:creationId xmlns:a16="http://schemas.microsoft.com/office/drawing/2014/main" id="{C524393B-BF9D-5B25-93D9-F7492B5F41B9}"/>
                  </a:ext>
                </a:extLst>
              </p:cNvPr>
              <p:cNvSpPr/>
              <p:nvPr/>
            </p:nvSpPr>
            <p:spPr>
              <a:xfrm>
                <a:off x="11340499" y="4270833"/>
                <a:ext cx="178401" cy="178401"/>
              </a:xfrm>
              <a:custGeom>
                <a:avLst/>
                <a:gdLst>
                  <a:gd name="connsiteX0" fmla="*/ 0 w 149828"/>
                  <a:gd name="connsiteY0" fmla="*/ 0 h 149828"/>
                  <a:gd name="connsiteX1" fmla="*/ 120872 w 149828"/>
                  <a:gd name="connsiteY1" fmla="*/ 0 h 149828"/>
                  <a:gd name="connsiteX2" fmla="*/ 149828 w 149828"/>
                  <a:gd name="connsiteY2" fmla="*/ 0 h 149828"/>
                  <a:gd name="connsiteX3" fmla="*/ 149828 w 149828"/>
                  <a:gd name="connsiteY3" fmla="*/ 28956 h 149828"/>
                  <a:gd name="connsiteX4" fmla="*/ 149828 w 149828"/>
                  <a:gd name="connsiteY4" fmla="*/ 149828 h 149828"/>
                  <a:gd name="connsiteX5" fmla="*/ 111347 w 149828"/>
                  <a:gd name="connsiteY5" fmla="*/ 149828 h 149828"/>
                  <a:gd name="connsiteX6" fmla="*/ 111347 w 149828"/>
                  <a:gd name="connsiteY6" fmla="*/ 38481 h 149828"/>
                  <a:gd name="connsiteX7" fmla="*/ 0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0"/>
                    </a:moveTo>
                    <a:lnTo>
                      <a:pt x="120872" y="0"/>
                    </a:lnTo>
                    <a:lnTo>
                      <a:pt x="149828" y="0"/>
                    </a:lnTo>
                    <a:lnTo>
                      <a:pt x="149828" y="28956"/>
                    </a:lnTo>
                    <a:lnTo>
                      <a:pt x="149828" y="149828"/>
                    </a:lnTo>
                    <a:lnTo>
                      <a:pt x="111347" y="149828"/>
                    </a:lnTo>
                    <a:lnTo>
                      <a:pt x="111347" y="38481"/>
                    </a:lnTo>
                    <a:lnTo>
                      <a:pt x="0" y="38481"/>
                    </a:lnTo>
                    <a:close/>
                  </a:path>
                </a:pathLst>
              </a:custGeom>
              <a:solidFill>
                <a:schemeClr val="accent1"/>
              </a:solidFill>
              <a:ln w="9525" cap="flat">
                <a:noFill/>
                <a:prstDash val="solid"/>
                <a:miter/>
              </a:ln>
            </p:spPr>
            <p:txBody>
              <a:bodyPr rtlCol="0" anchor="ctr" anchorCtr="0"/>
              <a:lstStyle/>
              <a:p>
                <a:pPr algn="l"/>
                <a:endParaRPr/>
              </a:p>
            </p:txBody>
          </p:sp>
          <p:sp>
            <p:nvSpPr>
              <p:cNvPr id="134" name="任意多边形: 形状 133" descr="0f32094f-b282-4fa3-b84c-f442380f10e2">
                <a:extLst>
                  <a:ext uri="{FF2B5EF4-FFF2-40B4-BE49-F238E27FC236}">
                    <a16:creationId xmlns:a16="http://schemas.microsoft.com/office/drawing/2014/main" id="{0697C80A-A8B4-45D4-8B54-5410A2DD0112}"/>
                  </a:ext>
                </a:extLst>
              </p:cNvPr>
              <p:cNvSpPr/>
              <p:nvPr/>
            </p:nvSpPr>
            <p:spPr>
              <a:xfrm>
                <a:off x="11471607" y="4531913"/>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35" name="任意多边形: 形状 134" descr="2ccd646b-3e1f-46d8-b357-89f02c845b0c">
                <a:extLst>
                  <a:ext uri="{FF2B5EF4-FFF2-40B4-BE49-F238E27FC236}">
                    <a16:creationId xmlns:a16="http://schemas.microsoft.com/office/drawing/2014/main" id="{EA609190-338D-A855-CF08-029469236230}"/>
                  </a:ext>
                </a:extLst>
              </p:cNvPr>
              <p:cNvSpPr/>
              <p:nvPr/>
            </p:nvSpPr>
            <p:spPr>
              <a:xfrm>
                <a:off x="11184669" y="42681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36" name="任意多边形: 形状 135" descr="044f126e-d762-4a32-99a1-b38270eb36e1">
                <a:extLst>
                  <a:ext uri="{FF2B5EF4-FFF2-40B4-BE49-F238E27FC236}">
                    <a16:creationId xmlns:a16="http://schemas.microsoft.com/office/drawing/2014/main" id="{0E90C5FF-0B1D-9677-314C-2A9D5CF53356}"/>
                  </a:ext>
                </a:extLst>
              </p:cNvPr>
              <p:cNvSpPr/>
              <p:nvPr/>
            </p:nvSpPr>
            <p:spPr>
              <a:xfrm>
                <a:off x="11044942" y="4268112"/>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37" name="任意多边形: 形状 136" descr="bb796f12-6489-425c-b07a-2bd92ccb285e">
                <a:extLst>
                  <a:ext uri="{FF2B5EF4-FFF2-40B4-BE49-F238E27FC236}">
                    <a16:creationId xmlns:a16="http://schemas.microsoft.com/office/drawing/2014/main" id="{C94E9EBF-6FA7-3939-E685-BE745D4D16BE}"/>
                  </a:ext>
                </a:extLst>
              </p:cNvPr>
              <p:cNvSpPr/>
              <p:nvPr/>
            </p:nvSpPr>
            <p:spPr>
              <a:xfrm>
                <a:off x="11471607" y="4638410"/>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38" name="任意多边形: 形状 137" descr="e2a07683-fcc0-406f-b525-303c87cfc595">
                <a:extLst>
                  <a:ext uri="{FF2B5EF4-FFF2-40B4-BE49-F238E27FC236}">
                    <a16:creationId xmlns:a16="http://schemas.microsoft.com/office/drawing/2014/main" id="{5397E515-60A2-83DC-72A6-C41748D8E24F}"/>
                  </a:ext>
                </a:extLst>
              </p:cNvPr>
              <p:cNvSpPr/>
              <p:nvPr/>
            </p:nvSpPr>
            <p:spPr>
              <a:xfrm>
                <a:off x="11471607" y="474490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39" name="任意多边形: 形状 138" descr="7a73f5dd-d2f9-4068-9c2d-4f456a5f6e75">
                <a:extLst>
                  <a:ext uri="{FF2B5EF4-FFF2-40B4-BE49-F238E27FC236}">
                    <a16:creationId xmlns:a16="http://schemas.microsoft.com/office/drawing/2014/main" id="{B46CB78B-A716-0297-39D7-1B4C1C7C83E4}"/>
                  </a:ext>
                </a:extLst>
              </p:cNvPr>
              <p:cNvSpPr/>
              <p:nvPr/>
            </p:nvSpPr>
            <p:spPr>
              <a:xfrm>
                <a:off x="11471607" y="4851516"/>
                <a:ext cx="47293" cy="47293"/>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30" name="任意多边形: 形状 129" descr="1855e106-e6bb-4b32-b135-47b924afce0f">
                <a:extLst>
                  <a:ext uri="{FF2B5EF4-FFF2-40B4-BE49-F238E27FC236}">
                    <a16:creationId xmlns:a16="http://schemas.microsoft.com/office/drawing/2014/main" id="{E76F5CF3-A392-87D9-9148-A4C0EBCB043D}"/>
                  </a:ext>
                </a:extLst>
              </p:cNvPr>
              <p:cNvSpPr/>
              <p:nvPr/>
            </p:nvSpPr>
            <p:spPr>
              <a:xfrm>
                <a:off x="6904864" y="5866233"/>
                <a:ext cx="178401" cy="178400"/>
              </a:xfrm>
              <a:custGeom>
                <a:avLst/>
                <a:gdLst>
                  <a:gd name="connsiteX0" fmla="*/ 149828 w 149828"/>
                  <a:gd name="connsiteY0" fmla="*/ 149828 h 149828"/>
                  <a:gd name="connsiteX1" fmla="*/ 29051 w 149828"/>
                  <a:gd name="connsiteY1" fmla="*/ 149828 h 149828"/>
                  <a:gd name="connsiteX2" fmla="*/ 0 w 149828"/>
                  <a:gd name="connsiteY2" fmla="*/ 149828 h 149828"/>
                  <a:gd name="connsiteX3" fmla="*/ 0 w 149828"/>
                  <a:gd name="connsiteY3" fmla="*/ 120777 h 149828"/>
                  <a:gd name="connsiteX4" fmla="*/ 0 w 149828"/>
                  <a:gd name="connsiteY4" fmla="*/ 0 h 149828"/>
                  <a:gd name="connsiteX5" fmla="*/ 38576 w 149828"/>
                  <a:gd name="connsiteY5" fmla="*/ 0 h 149828"/>
                  <a:gd name="connsiteX6" fmla="*/ 38576 w 149828"/>
                  <a:gd name="connsiteY6" fmla="*/ 111252 h 149828"/>
                  <a:gd name="connsiteX7" fmla="*/ 149828 w 149828"/>
                  <a:gd name="connsiteY7" fmla="*/ 11125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149828"/>
                    </a:moveTo>
                    <a:lnTo>
                      <a:pt x="29051" y="149828"/>
                    </a:lnTo>
                    <a:lnTo>
                      <a:pt x="0" y="149828"/>
                    </a:lnTo>
                    <a:lnTo>
                      <a:pt x="0" y="120777"/>
                    </a:lnTo>
                    <a:lnTo>
                      <a:pt x="0" y="0"/>
                    </a:lnTo>
                    <a:lnTo>
                      <a:pt x="38576" y="0"/>
                    </a:lnTo>
                    <a:lnTo>
                      <a:pt x="38576" y="111252"/>
                    </a:lnTo>
                    <a:lnTo>
                      <a:pt x="149828" y="111252"/>
                    </a:lnTo>
                    <a:close/>
                  </a:path>
                </a:pathLst>
              </a:custGeom>
              <a:solidFill>
                <a:schemeClr val="accent1"/>
              </a:solidFill>
              <a:ln w="9525" cap="flat">
                <a:noFill/>
                <a:prstDash val="solid"/>
                <a:miter/>
              </a:ln>
            </p:spPr>
            <p:txBody>
              <a:bodyPr rtlCol="0" anchor="ctr" anchorCtr="0"/>
              <a:lstStyle/>
              <a:p>
                <a:pPr algn="l"/>
                <a:endParaRPr/>
              </a:p>
            </p:txBody>
          </p:sp>
          <p:sp>
            <p:nvSpPr>
              <p:cNvPr id="131" name="任意多边形: 形状 130" descr="a738610f-76a4-487b-83ff-44c9dec17e0e">
                <a:extLst>
                  <a:ext uri="{FF2B5EF4-FFF2-40B4-BE49-F238E27FC236}">
                    <a16:creationId xmlns:a16="http://schemas.microsoft.com/office/drawing/2014/main" id="{365D7271-A0E7-4EE7-08BC-B5E449418355}"/>
                  </a:ext>
                </a:extLst>
              </p:cNvPr>
              <p:cNvSpPr/>
              <p:nvPr/>
            </p:nvSpPr>
            <p:spPr>
              <a:xfrm>
                <a:off x="11340499" y="5852964"/>
                <a:ext cx="178401" cy="178400"/>
              </a:xfrm>
              <a:custGeom>
                <a:avLst/>
                <a:gdLst>
                  <a:gd name="connsiteX0" fmla="*/ 0 w 149828"/>
                  <a:gd name="connsiteY0" fmla="*/ 149828 h 149828"/>
                  <a:gd name="connsiteX1" fmla="*/ 120872 w 149828"/>
                  <a:gd name="connsiteY1" fmla="*/ 149828 h 149828"/>
                  <a:gd name="connsiteX2" fmla="*/ 149828 w 149828"/>
                  <a:gd name="connsiteY2" fmla="*/ 149828 h 149828"/>
                  <a:gd name="connsiteX3" fmla="*/ 149828 w 149828"/>
                  <a:gd name="connsiteY3" fmla="*/ 120872 h 149828"/>
                  <a:gd name="connsiteX4" fmla="*/ 149828 w 149828"/>
                  <a:gd name="connsiteY4" fmla="*/ 0 h 149828"/>
                  <a:gd name="connsiteX5" fmla="*/ 111347 w 149828"/>
                  <a:gd name="connsiteY5" fmla="*/ 0 h 149828"/>
                  <a:gd name="connsiteX6" fmla="*/ 111347 w 149828"/>
                  <a:gd name="connsiteY6" fmla="*/ 111347 h 149828"/>
                  <a:gd name="connsiteX7" fmla="*/ 0 w 149828"/>
                  <a:gd name="connsiteY7" fmla="*/ 111347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149828"/>
                    </a:moveTo>
                    <a:lnTo>
                      <a:pt x="120872" y="149828"/>
                    </a:lnTo>
                    <a:lnTo>
                      <a:pt x="149828" y="149828"/>
                    </a:lnTo>
                    <a:lnTo>
                      <a:pt x="149828" y="120872"/>
                    </a:lnTo>
                    <a:lnTo>
                      <a:pt x="149828" y="0"/>
                    </a:lnTo>
                    <a:lnTo>
                      <a:pt x="111347" y="0"/>
                    </a:lnTo>
                    <a:lnTo>
                      <a:pt x="111347" y="111347"/>
                    </a:lnTo>
                    <a:lnTo>
                      <a:pt x="0" y="111347"/>
                    </a:lnTo>
                    <a:close/>
                  </a:path>
                </a:pathLst>
              </a:custGeom>
              <a:solidFill>
                <a:schemeClr val="accent1"/>
              </a:solidFill>
              <a:ln w="9525" cap="flat">
                <a:noFill/>
                <a:prstDash val="solid"/>
                <a:miter/>
              </a:ln>
            </p:spPr>
            <p:txBody>
              <a:bodyPr rtlCol="0" anchor="ctr" anchorCtr="0"/>
              <a:lstStyle/>
              <a:p>
                <a:pPr algn="l"/>
                <a:endParaRPr/>
              </a:p>
            </p:txBody>
          </p:sp>
          <p:sp>
            <p:nvSpPr>
              <p:cNvPr id="126" name="任意多边形: 形状 125" descr="ae5a5046-6780-421d-af91-5b1ab06b0037">
                <a:extLst>
                  <a:ext uri="{FF2B5EF4-FFF2-40B4-BE49-F238E27FC236}">
                    <a16:creationId xmlns:a16="http://schemas.microsoft.com/office/drawing/2014/main" id="{C88D2BAB-E14D-141A-AFC1-63D9403371DF}"/>
                  </a:ext>
                </a:extLst>
              </p:cNvPr>
              <p:cNvSpPr/>
              <p:nvPr/>
            </p:nvSpPr>
            <p:spPr>
              <a:xfrm>
                <a:off x="8101385" y="5990082"/>
                <a:ext cx="581248" cy="55118"/>
              </a:xfrm>
              <a:custGeom>
                <a:avLst/>
                <a:gdLst>
                  <a:gd name="connsiteX0" fmla="*/ 0 w 488156"/>
                  <a:gd name="connsiteY0" fmla="*/ 0 h 46291"/>
                  <a:gd name="connsiteX1" fmla="*/ 488156 w 488156"/>
                  <a:gd name="connsiteY1" fmla="*/ 0 h 46291"/>
                  <a:gd name="connsiteX2" fmla="*/ 488156 w 488156"/>
                  <a:gd name="connsiteY2" fmla="*/ 46292 h 46291"/>
                  <a:gd name="connsiteX3" fmla="*/ 0 w 488156"/>
                  <a:gd name="connsiteY3" fmla="*/ 46292 h 46291"/>
                </a:gdLst>
                <a:ahLst/>
                <a:cxnLst>
                  <a:cxn ang="0">
                    <a:pos x="connsiteX0" y="connsiteY0"/>
                  </a:cxn>
                  <a:cxn ang="0">
                    <a:pos x="connsiteX1" y="connsiteY1"/>
                  </a:cxn>
                  <a:cxn ang="0">
                    <a:pos x="connsiteX2" y="connsiteY2"/>
                  </a:cxn>
                  <a:cxn ang="0">
                    <a:pos x="connsiteX3" y="connsiteY3"/>
                  </a:cxn>
                </a:cxnLst>
                <a:rect l="l" t="t" r="r" b="b"/>
                <a:pathLst>
                  <a:path w="488156" h="46291">
                    <a:moveTo>
                      <a:pt x="0" y="0"/>
                    </a:moveTo>
                    <a:lnTo>
                      <a:pt x="488156" y="0"/>
                    </a:lnTo>
                    <a:lnTo>
                      <a:pt x="488156" y="46292"/>
                    </a:lnTo>
                    <a:lnTo>
                      <a:pt x="0" y="46292"/>
                    </a:lnTo>
                    <a:close/>
                  </a:path>
                </a:pathLst>
              </a:custGeom>
              <a:solidFill>
                <a:schemeClr val="accent1"/>
              </a:solidFill>
              <a:ln w="9525" cap="flat">
                <a:noFill/>
                <a:prstDash val="solid"/>
                <a:miter/>
              </a:ln>
            </p:spPr>
            <p:txBody>
              <a:bodyPr rtlCol="0" anchor="ctr" anchorCtr="0"/>
              <a:lstStyle/>
              <a:p>
                <a:pPr algn="l"/>
                <a:endParaRPr/>
              </a:p>
            </p:txBody>
          </p:sp>
          <p:sp>
            <p:nvSpPr>
              <p:cNvPr id="127" name="任意多边形: 形状 126" descr="bfa961e0-dfc3-4c97-81bb-69018de72f65">
                <a:extLst>
                  <a:ext uri="{FF2B5EF4-FFF2-40B4-BE49-F238E27FC236}">
                    <a16:creationId xmlns:a16="http://schemas.microsoft.com/office/drawing/2014/main" id="{8FEB757F-D0C0-C08D-BDE7-E5251D179F6F}"/>
                  </a:ext>
                </a:extLst>
              </p:cNvPr>
              <p:cNvSpPr/>
              <p:nvPr/>
            </p:nvSpPr>
            <p:spPr>
              <a:xfrm>
                <a:off x="6987202" y="4998273"/>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28" name="任意多边形: 形状 127" descr="fa4c9b68-d972-47a7-96e1-0825f5c0e865">
                <a:extLst>
                  <a:ext uri="{FF2B5EF4-FFF2-40B4-BE49-F238E27FC236}">
                    <a16:creationId xmlns:a16="http://schemas.microsoft.com/office/drawing/2014/main" id="{CE801DB2-2A66-8A63-9CD1-50C4886686DE}"/>
                  </a:ext>
                </a:extLst>
              </p:cNvPr>
              <p:cNvSpPr/>
              <p:nvPr/>
            </p:nvSpPr>
            <p:spPr>
              <a:xfrm>
                <a:off x="6987202" y="5096717"/>
                <a:ext cx="47294" cy="47294"/>
              </a:xfrm>
              <a:custGeom>
                <a:avLst/>
                <a:gdLst>
                  <a:gd name="connsiteX0" fmla="*/ 0 w 39719"/>
                  <a:gd name="connsiteY0" fmla="*/ 0 h 39719"/>
                  <a:gd name="connsiteX1" fmla="*/ 39719 w 39719"/>
                  <a:gd name="connsiteY1" fmla="*/ 0 h 39719"/>
                  <a:gd name="connsiteX2" fmla="*/ 39719 w 39719"/>
                  <a:gd name="connsiteY2" fmla="*/ 39719 h 39719"/>
                  <a:gd name="connsiteX3" fmla="*/ 0 w 39719"/>
                  <a:gd name="connsiteY3" fmla="*/ 39719 h 39719"/>
                </a:gdLst>
                <a:ahLst/>
                <a:cxnLst>
                  <a:cxn ang="0">
                    <a:pos x="connsiteX0" y="connsiteY0"/>
                  </a:cxn>
                  <a:cxn ang="0">
                    <a:pos x="connsiteX1" y="connsiteY1"/>
                  </a:cxn>
                  <a:cxn ang="0">
                    <a:pos x="connsiteX2" y="connsiteY2"/>
                  </a:cxn>
                  <a:cxn ang="0">
                    <a:pos x="connsiteX3" y="connsiteY3"/>
                  </a:cxn>
                </a:cxnLst>
                <a:rect l="l" t="t" r="r" b="b"/>
                <a:pathLst>
                  <a:path w="39719" h="39719">
                    <a:moveTo>
                      <a:pt x="0" y="0"/>
                    </a:moveTo>
                    <a:lnTo>
                      <a:pt x="39719" y="0"/>
                    </a:lnTo>
                    <a:lnTo>
                      <a:pt x="39719" y="39719"/>
                    </a:lnTo>
                    <a:lnTo>
                      <a:pt x="0" y="39719"/>
                    </a:lnTo>
                    <a:close/>
                  </a:path>
                </a:pathLst>
              </a:custGeom>
              <a:solidFill>
                <a:schemeClr val="accent1"/>
              </a:solidFill>
              <a:ln w="9525" cap="flat">
                <a:noFill/>
                <a:prstDash val="solid"/>
                <a:miter/>
              </a:ln>
            </p:spPr>
            <p:txBody>
              <a:bodyPr rtlCol="0" anchor="ctr" anchorCtr="0"/>
              <a:lstStyle/>
              <a:p>
                <a:pPr algn="l"/>
                <a:endParaRPr/>
              </a:p>
            </p:txBody>
          </p:sp>
          <p:sp>
            <p:nvSpPr>
              <p:cNvPr id="129" name="任意多边形: 形状 128" descr="2f309539-0766-4832-9b08-e79b5a5d119a">
                <a:extLst>
                  <a:ext uri="{FF2B5EF4-FFF2-40B4-BE49-F238E27FC236}">
                    <a16:creationId xmlns:a16="http://schemas.microsoft.com/office/drawing/2014/main" id="{ADFCF4CD-4F74-7E45-2005-8868FB906FE2}"/>
                  </a:ext>
                </a:extLst>
              </p:cNvPr>
              <p:cNvSpPr/>
              <p:nvPr/>
            </p:nvSpPr>
            <p:spPr>
              <a:xfrm>
                <a:off x="6846355" y="4715642"/>
                <a:ext cx="132238" cy="626802"/>
              </a:xfrm>
              <a:custGeom>
                <a:avLst/>
                <a:gdLst>
                  <a:gd name="connsiteX0" fmla="*/ 0 w 75819"/>
                  <a:gd name="connsiteY0" fmla="*/ 33242 h 359378"/>
                  <a:gd name="connsiteX1" fmla="*/ 37910 w 75819"/>
                  <a:gd name="connsiteY1" fmla="*/ 14288 h 359378"/>
                  <a:gd name="connsiteX2" fmla="*/ 75819 w 75819"/>
                  <a:gd name="connsiteY2" fmla="*/ 33242 h 359378"/>
                  <a:gd name="connsiteX3" fmla="*/ 75819 w 75819"/>
                  <a:gd name="connsiteY3" fmla="*/ 18955 h 359378"/>
                  <a:gd name="connsiteX4" fmla="*/ 37910 w 75819"/>
                  <a:gd name="connsiteY4" fmla="*/ 0 h 359378"/>
                  <a:gd name="connsiteX5" fmla="*/ 0 w 75819"/>
                  <a:gd name="connsiteY5" fmla="*/ 18955 h 359378"/>
                  <a:gd name="connsiteX6" fmla="*/ 0 w 75819"/>
                  <a:gd name="connsiteY6" fmla="*/ 33242 h 359378"/>
                  <a:gd name="connsiteX7" fmla="*/ 0 w 75819"/>
                  <a:gd name="connsiteY7" fmla="*/ 155543 h 359378"/>
                  <a:gd name="connsiteX8" fmla="*/ 37910 w 75819"/>
                  <a:gd name="connsiteY8" fmla="*/ 136589 h 359378"/>
                  <a:gd name="connsiteX9" fmla="*/ 75819 w 75819"/>
                  <a:gd name="connsiteY9" fmla="*/ 155543 h 359378"/>
                  <a:gd name="connsiteX10" fmla="*/ 75819 w 75819"/>
                  <a:gd name="connsiteY10" fmla="*/ 141256 h 359378"/>
                  <a:gd name="connsiteX11" fmla="*/ 37910 w 75819"/>
                  <a:gd name="connsiteY11" fmla="*/ 122301 h 359378"/>
                  <a:gd name="connsiteX12" fmla="*/ 0 w 75819"/>
                  <a:gd name="connsiteY12" fmla="*/ 141256 h 359378"/>
                  <a:gd name="connsiteX13" fmla="*/ 0 w 75819"/>
                  <a:gd name="connsiteY13" fmla="*/ 155543 h 359378"/>
                  <a:gd name="connsiteX14" fmla="*/ 0 w 75819"/>
                  <a:gd name="connsiteY14" fmla="*/ 114776 h 359378"/>
                  <a:gd name="connsiteX15" fmla="*/ 37910 w 75819"/>
                  <a:gd name="connsiteY15" fmla="*/ 95822 h 359378"/>
                  <a:gd name="connsiteX16" fmla="*/ 75819 w 75819"/>
                  <a:gd name="connsiteY16" fmla="*/ 114776 h 359378"/>
                  <a:gd name="connsiteX17" fmla="*/ 75819 w 75819"/>
                  <a:gd name="connsiteY17" fmla="*/ 100489 h 359378"/>
                  <a:gd name="connsiteX18" fmla="*/ 37910 w 75819"/>
                  <a:gd name="connsiteY18" fmla="*/ 81534 h 359378"/>
                  <a:gd name="connsiteX19" fmla="*/ 0 w 75819"/>
                  <a:gd name="connsiteY19" fmla="*/ 100489 h 359378"/>
                  <a:gd name="connsiteX20" fmla="*/ 0 w 75819"/>
                  <a:gd name="connsiteY20" fmla="*/ 114776 h 359378"/>
                  <a:gd name="connsiteX21" fmla="*/ 0 w 75819"/>
                  <a:gd name="connsiteY21" fmla="*/ 74009 h 359378"/>
                  <a:gd name="connsiteX22" fmla="*/ 37910 w 75819"/>
                  <a:gd name="connsiteY22" fmla="*/ 55055 h 359378"/>
                  <a:gd name="connsiteX23" fmla="*/ 75819 w 75819"/>
                  <a:gd name="connsiteY23" fmla="*/ 74009 h 359378"/>
                  <a:gd name="connsiteX24" fmla="*/ 75819 w 75819"/>
                  <a:gd name="connsiteY24" fmla="*/ 59722 h 359378"/>
                  <a:gd name="connsiteX25" fmla="*/ 37910 w 75819"/>
                  <a:gd name="connsiteY25" fmla="*/ 40767 h 359378"/>
                  <a:gd name="connsiteX26" fmla="*/ 0 w 75819"/>
                  <a:gd name="connsiteY26" fmla="*/ 59722 h 359378"/>
                  <a:gd name="connsiteX27" fmla="*/ 0 w 75819"/>
                  <a:gd name="connsiteY27" fmla="*/ 74009 h 359378"/>
                  <a:gd name="connsiteX28" fmla="*/ 0 w 75819"/>
                  <a:gd name="connsiteY28" fmla="*/ 277844 h 359378"/>
                  <a:gd name="connsiteX29" fmla="*/ 37910 w 75819"/>
                  <a:gd name="connsiteY29" fmla="*/ 258890 h 359378"/>
                  <a:gd name="connsiteX30" fmla="*/ 75819 w 75819"/>
                  <a:gd name="connsiteY30" fmla="*/ 277844 h 359378"/>
                  <a:gd name="connsiteX31" fmla="*/ 75819 w 75819"/>
                  <a:gd name="connsiteY31" fmla="*/ 263557 h 359378"/>
                  <a:gd name="connsiteX32" fmla="*/ 37910 w 75819"/>
                  <a:gd name="connsiteY32" fmla="*/ 244602 h 359378"/>
                  <a:gd name="connsiteX33" fmla="*/ 0 w 75819"/>
                  <a:gd name="connsiteY33" fmla="*/ 263557 h 359378"/>
                  <a:gd name="connsiteX34" fmla="*/ 0 w 75819"/>
                  <a:gd name="connsiteY34" fmla="*/ 277844 h 359378"/>
                  <a:gd name="connsiteX35" fmla="*/ 37910 w 75819"/>
                  <a:gd name="connsiteY35" fmla="*/ 340424 h 359378"/>
                  <a:gd name="connsiteX36" fmla="*/ 75819 w 75819"/>
                  <a:gd name="connsiteY36" fmla="*/ 359378 h 359378"/>
                  <a:gd name="connsiteX37" fmla="*/ 75819 w 75819"/>
                  <a:gd name="connsiteY37" fmla="*/ 345091 h 359378"/>
                  <a:gd name="connsiteX38" fmla="*/ 37910 w 75819"/>
                  <a:gd name="connsiteY38" fmla="*/ 326136 h 359378"/>
                  <a:gd name="connsiteX39" fmla="*/ 0 w 75819"/>
                  <a:gd name="connsiteY39" fmla="*/ 345091 h 359378"/>
                  <a:gd name="connsiteX40" fmla="*/ 0 w 75819"/>
                  <a:gd name="connsiteY40" fmla="*/ 359378 h 359378"/>
                  <a:gd name="connsiteX41" fmla="*/ 37910 w 75819"/>
                  <a:gd name="connsiteY41" fmla="*/ 340424 h 359378"/>
                  <a:gd name="connsiteX42" fmla="*/ 0 w 75819"/>
                  <a:gd name="connsiteY42" fmla="*/ 196310 h 359378"/>
                  <a:gd name="connsiteX43" fmla="*/ 37910 w 75819"/>
                  <a:gd name="connsiteY43" fmla="*/ 177356 h 359378"/>
                  <a:gd name="connsiteX44" fmla="*/ 75819 w 75819"/>
                  <a:gd name="connsiteY44" fmla="*/ 196310 h 359378"/>
                  <a:gd name="connsiteX45" fmla="*/ 75819 w 75819"/>
                  <a:gd name="connsiteY45" fmla="*/ 182023 h 359378"/>
                  <a:gd name="connsiteX46" fmla="*/ 37910 w 75819"/>
                  <a:gd name="connsiteY46" fmla="*/ 163068 h 359378"/>
                  <a:gd name="connsiteX47" fmla="*/ 0 w 75819"/>
                  <a:gd name="connsiteY47" fmla="*/ 182023 h 359378"/>
                  <a:gd name="connsiteX48" fmla="*/ 0 w 75819"/>
                  <a:gd name="connsiteY48" fmla="*/ 196310 h 359378"/>
                  <a:gd name="connsiteX49" fmla="*/ 0 w 75819"/>
                  <a:gd name="connsiteY49" fmla="*/ 318611 h 359378"/>
                  <a:gd name="connsiteX50" fmla="*/ 37910 w 75819"/>
                  <a:gd name="connsiteY50" fmla="*/ 299657 h 359378"/>
                  <a:gd name="connsiteX51" fmla="*/ 75819 w 75819"/>
                  <a:gd name="connsiteY51" fmla="*/ 318611 h 359378"/>
                  <a:gd name="connsiteX52" fmla="*/ 75819 w 75819"/>
                  <a:gd name="connsiteY52" fmla="*/ 304324 h 359378"/>
                  <a:gd name="connsiteX53" fmla="*/ 37910 w 75819"/>
                  <a:gd name="connsiteY53" fmla="*/ 285369 h 359378"/>
                  <a:gd name="connsiteX54" fmla="*/ 0 w 75819"/>
                  <a:gd name="connsiteY54" fmla="*/ 304324 h 359378"/>
                  <a:gd name="connsiteX55" fmla="*/ 0 w 75819"/>
                  <a:gd name="connsiteY55" fmla="*/ 318611 h 359378"/>
                  <a:gd name="connsiteX56" fmla="*/ 0 w 75819"/>
                  <a:gd name="connsiteY56" fmla="*/ 237077 h 359378"/>
                  <a:gd name="connsiteX57" fmla="*/ 37910 w 75819"/>
                  <a:gd name="connsiteY57" fmla="*/ 218123 h 359378"/>
                  <a:gd name="connsiteX58" fmla="*/ 75819 w 75819"/>
                  <a:gd name="connsiteY58" fmla="*/ 237077 h 359378"/>
                  <a:gd name="connsiteX59" fmla="*/ 75819 w 75819"/>
                  <a:gd name="connsiteY59" fmla="*/ 222790 h 359378"/>
                  <a:gd name="connsiteX60" fmla="*/ 37910 w 75819"/>
                  <a:gd name="connsiteY60" fmla="*/ 203835 h 359378"/>
                  <a:gd name="connsiteX61" fmla="*/ 0 w 75819"/>
                  <a:gd name="connsiteY61" fmla="*/ 222790 h 359378"/>
                  <a:gd name="connsiteX62" fmla="*/ 0 w 75819"/>
                  <a:gd name="connsiteY62" fmla="*/ 237077 h 359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75819" h="359378">
                    <a:moveTo>
                      <a:pt x="0" y="33242"/>
                    </a:moveTo>
                    <a:lnTo>
                      <a:pt x="37910" y="14288"/>
                    </a:lnTo>
                    <a:lnTo>
                      <a:pt x="75819" y="33242"/>
                    </a:lnTo>
                    <a:lnTo>
                      <a:pt x="75819" y="18955"/>
                    </a:lnTo>
                    <a:lnTo>
                      <a:pt x="37910" y="0"/>
                    </a:lnTo>
                    <a:lnTo>
                      <a:pt x="0" y="18955"/>
                    </a:lnTo>
                    <a:lnTo>
                      <a:pt x="0" y="33242"/>
                    </a:lnTo>
                    <a:close/>
                    <a:moveTo>
                      <a:pt x="0" y="155543"/>
                    </a:moveTo>
                    <a:lnTo>
                      <a:pt x="37910" y="136589"/>
                    </a:lnTo>
                    <a:lnTo>
                      <a:pt x="75819" y="155543"/>
                    </a:lnTo>
                    <a:lnTo>
                      <a:pt x="75819" y="141256"/>
                    </a:lnTo>
                    <a:lnTo>
                      <a:pt x="37910" y="122301"/>
                    </a:lnTo>
                    <a:lnTo>
                      <a:pt x="0" y="141256"/>
                    </a:lnTo>
                    <a:lnTo>
                      <a:pt x="0" y="155543"/>
                    </a:lnTo>
                    <a:close/>
                    <a:moveTo>
                      <a:pt x="0" y="114776"/>
                    </a:moveTo>
                    <a:lnTo>
                      <a:pt x="37910" y="95822"/>
                    </a:lnTo>
                    <a:lnTo>
                      <a:pt x="75819" y="114776"/>
                    </a:lnTo>
                    <a:lnTo>
                      <a:pt x="75819" y="100489"/>
                    </a:lnTo>
                    <a:lnTo>
                      <a:pt x="37910" y="81534"/>
                    </a:lnTo>
                    <a:lnTo>
                      <a:pt x="0" y="100489"/>
                    </a:lnTo>
                    <a:lnTo>
                      <a:pt x="0" y="114776"/>
                    </a:lnTo>
                    <a:close/>
                    <a:moveTo>
                      <a:pt x="0" y="74009"/>
                    </a:moveTo>
                    <a:lnTo>
                      <a:pt x="37910" y="55055"/>
                    </a:lnTo>
                    <a:lnTo>
                      <a:pt x="75819" y="74009"/>
                    </a:lnTo>
                    <a:lnTo>
                      <a:pt x="75819" y="59722"/>
                    </a:lnTo>
                    <a:lnTo>
                      <a:pt x="37910" y="40767"/>
                    </a:lnTo>
                    <a:lnTo>
                      <a:pt x="0" y="59722"/>
                    </a:lnTo>
                    <a:lnTo>
                      <a:pt x="0" y="74009"/>
                    </a:lnTo>
                    <a:close/>
                    <a:moveTo>
                      <a:pt x="0" y="277844"/>
                    </a:moveTo>
                    <a:lnTo>
                      <a:pt x="37910" y="258890"/>
                    </a:lnTo>
                    <a:lnTo>
                      <a:pt x="75819" y="277844"/>
                    </a:lnTo>
                    <a:lnTo>
                      <a:pt x="75819" y="263557"/>
                    </a:lnTo>
                    <a:lnTo>
                      <a:pt x="37910" y="244602"/>
                    </a:lnTo>
                    <a:lnTo>
                      <a:pt x="0" y="263557"/>
                    </a:lnTo>
                    <a:lnTo>
                      <a:pt x="0" y="277844"/>
                    </a:lnTo>
                    <a:close/>
                    <a:moveTo>
                      <a:pt x="37910" y="340424"/>
                    </a:moveTo>
                    <a:lnTo>
                      <a:pt x="75819" y="359378"/>
                    </a:lnTo>
                    <a:lnTo>
                      <a:pt x="75819" y="345091"/>
                    </a:lnTo>
                    <a:lnTo>
                      <a:pt x="37910" y="326136"/>
                    </a:lnTo>
                    <a:lnTo>
                      <a:pt x="0" y="345091"/>
                    </a:lnTo>
                    <a:lnTo>
                      <a:pt x="0" y="359378"/>
                    </a:lnTo>
                    <a:lnTo>
                      <a:pt x="37910" y="340424"/>
                    </a:lnTo>
                    <a:close/>
                    <a:moveTo>
                      <a:pt x="0" y="196310"/>
                    </a:moveTo>
                    <a:lnTo>
                      <a:pt x="37910" y="177356"/>
                    </a:lnTo>
                    <a:lnTo>
                      <a:pt x="75819" y="196310"/>
                    </a:lnTo>
                    <a:lnTo>
                      <a:pt x="75819" y="182023"/>
                    </a:lnTo>
                    <a:lnTo>
                      <a:pt x="37910" y="163068"/>
                    </a:lnTo>
                    <a:lnTo>
                      <a:pt x="0" y="182023"/>
                    </a:lnTo>
                    <a:lnTo>
                      <a:pt x="0" y="196310"/>
                    </a:lnTo>
                    <a:close/>
                    <a:moveTo>
                      <a:pt x="0" y="318611"/>
                    </a:moveTo>
                    <a:lnTo>
                      <a:pt x="37910" y="299657"/>
                    </a:lnTo>
                    <a:lnTo>
                      <a:pt x="75819" y="318611"/>
                    </a:lnTo>
                    <a:lnTo>
                      <a:pt x="75819" y="304324"/>
                    </a:lnTo>
                    <a:lnTo>
                      <a:pt x="37910" y="285369"/>
                    </a:lnTo>
                    <a:lnTo>
                      <a:pt x="0" y="304324"/>
                    </a:lnTo>
                    <a:lnTo>
                      <a:pt x="0" y="318611"/>
                    </a:lnTo>
                    <a:close/>
                    <a:moveTo>
                      <a:pt x="0" y="237077"/>
                    </a:moveTo>
                    <a:lnTo>
                      <a:pt x="37910" y="218123"/>
                    </a:lnTo>
                    <a:lnTo>
                      <a:pt x="75819" y="237077"/>
                    </a:lnTo>
                    <a:lnTo>
                      <a:pt x="75819" y="222790"/>
                    </a:lnTo>
                    <a:lnTo>
                      <a:pt x="37910" y="203835"/>
                    </a:lnTo>
                    <a:lnTo>
                      <a:pt x="0" y="222790"/>
                    </a:lnTo>
                    <a:lnTo>
                      <a:pt x="0" y="237077"/>
                    </a:lnTo>
                    <a:close/>
                  </a:path>
                </a:pathLst>
              </a:custGeom>
              <a:gradFill flip="none" rotWithShape="1">
                <a:gsLst>
                  <a:gs pos="0">
                    <a:schemeClr val="accent1"/>
                  </a:gs>
                  <a:gs pos="100000">
                    <a:schemeClr val="accent1">
                      <a:alpha val="0"/>
                    </a:schemeClr>
                  </a:gs>
                </a:gsLst>
                <a:lin ang="5400000" scaled="1"/>
                <a:tileRect/>
              </a:gradFill>
              <a:ln w="9525" cap="flat">
                <a:noFill/>
                <a:prstDash val="solid"/>
                <a:miter/>
              </a:ln>
            </p:spPr>
            <p:txBody>
              <a:bodyPr rtlCol="0" anchor="ctr" anchorCtr="0"/>
              <a:lstStyle/>
              <a:p>
                <a:pPr algn="l"/>
                <a:endParaRPr/>
              </a:p>
            </p:txBody>
          </p:sp>
        </p:grpSp>
        <p:grpSp>
          <p:nvGrpSpPr>
            <p:cNvPr id="3" name="组合 2" descr="7f349d63-4373-4687-a747-b1556e9daf0e">
              <a:extLst>
                <a:ext uri="{FF2B5EF4-FFF2-40B4-BE49-F238E27FC236}">
                  <a16:creationId xmlns:a16="http://schemas.microsoft.com/office/drawing/2014/main" id="{9FACA3BD-5ED0-BA2E-004D-4E1645A0B78F}"/>
                </a:ext>
              </a:extLst>
            </p:cNvPr>
            <p:cNvGrpSpPr/>
            <p:nvPr/>
          </p:nvGrpSpPr>
          <p:grpSpPr>
            <a:xfrm>
              <a:off x="945895" y="2312310"/>
              <a:ext cx="4276981" cy="1370329"/>
              <a:chOff x="945895" y="2312310"/>
              <a:chExt cx="4276981" cy="1370329"/>
            </a:xfrm>
          </p:grpSpPr>
          <p:sp>
            <p:nvSpPr>
              <p:cNvPr id="10" name="Text1" descr="6a02aa2c-3dfd-4db1-8809-ad4358b7923c">
                <a:extLst>
                  <a:ext uri="{FF2B5EF4-FFF2-40B4-BE49-F238E27FC236}">
                    <a16:creationId xmlns:a16="http://schemas.microsoft.com/office/drawing/2014/main" id="{0C0892CB-7C02-4587-372D-A66F297A3550}"/>
                  </a:ext>
                </a:extLst>
              </p:cNvPr>
              <p:cNvSpPr txBox="1">
                <a:spLocks/>
              </p:cNvSpPr>
              <p:nvPr/>
            </p:nvSpPr>
            <p:spPr>
              <a:xfrm>
                <a:off x="945897" y="2932703"/>
                <a:ext cx="4073697" cy="749936"/>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联邦学习技术实现跨企业知识共享（如FATE框架</a:t>
                </a:r>
                <a:r>
                  <a:rPr lang="en-US" sz="1400" b="0" i="0" u="none" dirty="0">
                    <a:solidFill>
                      <a:srgbClr val="000000"/>
                    </a:solidFill>
                    <a:ea typeface="微软雅黑"/>
                  </a:rPr>
                  <a:t>），</a:t>
                </a:r>
                <a:r>
                  <a:rPr lang="en-US" sz="1400" b="0" i="0" u="none" dirty="0" err="1">
                    <a:solidFill>
                      <a:srgbClr val="000000"/>
                    </a:solidFill>
                    <a:ea typeface="微软雅黑"/>
                  </a:rPr>
                  <a:t>差分隐私保护敏感查询模式</a:t>
                </a:r>
                <a:r>
                  <a:rPr lang="en-US" sz="1400" b="0" i="0" u="none" dirty="0">
                    <a:solidFill>
                      <a:srgbClr val="000000"/>
                    </a:solidFill>
                    <a:ea typeface="微软雅黑"/>
                  </a:rPr>
                  <a:t>。</a:t>
                </a:r>
              </a:p>
            </p:txBody>
          </p:sp>
          <p:sp>
            <p:nvSpPr>
              <p:cNvPr id="11" name="Bullet1" descr="85f6f730-7b5d-4c2f-b5a5-b3a9733d1d3f">
                <a:extLst>
                  <a:ext uri="{FF2B5EF4-FFF2-40B4-BE49-F238E27FC236}">
                    <a16:creationId xmlns:a16="http://schemas.microsoft.com/office/drawing/2014/main" id="{B9BFBF60-83B9-BEF8-C6E3-057BF67FE2C0}"/>
                  </a:ext>
                </a:extLst>
              </p:cNvPr>
              <p:cNvSpPr txBox="1"/>
              <p:nvPr/>
            </p:nvSpPr>
            <p:spPr>
              <a:xfrm>
                <a:off x="945895" y="2312310"/>
                <a:ext cx="4276981" cy="520307"/>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US" sz="1600" b="1" i="0" u="none" dirty="0" err="1">
                    <a:solidFill>
                      <a:srgbClr val="000000"/>
                    </a:solidFill>
                    <a:ea typeface="微软雅黑"/>
                  </a:rPr>
                  <a:t>数据敏感性</a:t>
                </a:r>
                <a:r>
                  <a:rPr lang="zh-CN" altLang="en-US" sz="1600" b="1" i="0" u="none" dirty="0">
                    <a:solidFill>
                      <a:srgbClr val="000000"/>
                    </a:solidFill>
                    <a:ea typeface="微软雅黑"/>
                  </a:rPr>
                  <a:t>问题</a:t>
                </a:r>
                <a:endParaRPr lang="en-US" sz="1600" b="1" i="0" u="none" dirty="0">
                  <a:solidFill>
                    <a:srgbClr val="000000"/>
                  </a:solidFill>
                  <a:ea typeface="微软雅黑"/>
                </a:endParaRPr>
              </a:p>
            </p:txBody>
          </p:sp>
        </p:grpSp>
        <p:grpSp>
          <p:nvGrpSpPr>
            <p:cNvPr id="4" name="组合 3" descr="b7b804a2-ec61-4e79-b9cd-06fa4f873797">
              <a:extLst>
                <a:ext uri="{FF2B5EF4-FFF2-40B4-BE49-F238E27FC236}">
                  <a16:creationId xmlns:a16="http://schemas.microsoft.com/office/drawing/2014/main" id="{4E88C296-80CD-2E72-E5BA-8344F1B6B94F}"/>
                </a:ext>
              </a:extLst>
            </p:cNvPr>
            <p:cNvGrpSpPr/>
            <p:nvPr/>
          </p:nvGrpSpPr>
          <p:grpSpPr>
            <a:xfrm>
              <a:off x="6076695" y="2248620"/>
              <a:ext cx="4276981" cy="1434019"/>
              <a:chOff x="6076695" y="2248620"/>
              <a:chExt cx="4276981" cy="1434019"/>
            </a:xfrm>
          </p:grpSpPr>
          <p:sp>
            <p:nvSpPr>
              <p:cNvPr id="96" name="Text2" descr="57a8ce73-ef37-45bf-bc75-67ea84fe1fd6">
                <a:extLst>
                  <a:ext uri="{FF2B5EF4-FFF2-40B4-BE49-F238E27FC236}">
                    <a16:creationId xmlns:a16="http://schemas.microsoft.com/office/drawing/2014/main" id="{BBBFF3A1-8689-891A-C0A6-961D9E2359E3}"/>
                  </a:ext>
                </a:extLst>
              </p:cNvPr>
              <p:cNvSpPr txBox="1">
                <a:spLocks/>
              </p:cNvSpPr>
              <p:nvPr/>
            </p:nvSpPr>
            <p:spPr>
              <a:xfrm>
                <a:off x="6076697" y="2932703"/>
                <a:ext cx="4276977" cy="749936"/>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在线学习结合概念漂移检测（ADWIN算法</a:t>
                </a:r>
                <a:r>
                  <a:rPr lang="en-US" sz="1400" b="0" i="0" u="none" dirty="0">
                    <a:solidFill>
                      <a:srgbClr val="000000"/>
                    </a:solidFill>
                    <a:ea typeface="微软雅黑"/>
                  </a:rPr>
                  <a:t>），</a:t>
                </a:r>
                <a:r>
                  <a:rPr lang="en-US" sz="1400" b="0" i="0" u="none" dirty="0" err="1">
                    <a:solidFill>
                      <a:srgbClr val="000000"/>
                    </a:solidFill>
                    <a:ea typeface="微软雅黑"/>
                  </a:rPr>
                  <a:t>生产环境Shadow</a:t>
                </a:r>
                <a:r>
                  <a:rPr lang="en-US" sz="1400" b="0" i="0" u="none" dirty="0">
                    <a:solidFill>
                      <a:srgbClr val="000000"/>
                    </a:solidFill>
                    <a:ea typeface="微软雅黑"/>
                  </a:rPr>
                  <a:t> </a:t>
                </a:r>
                <a:r>
                  <a:rPr lang="en-US" sz="1400" b="0" i="0" u="none" dirty="0" err="1">
                    <a:solidFill>
                      <a:srgbClr val="000000"/>
                    </a:solidFill>
                    <a:ea typeface="微软雅黑"/>
                  </a:rPr>
                  <a:t>Mode部署验证</a:t>
                </a:r>
                <a:r>
                  <a:rPr lang="en-US" sz="1400" b="0" i="0" u="none" dirty="0">
                    <a:solidFill>
                      <a:srgbClr val="000000"/>
                    </a:solidFill>
                    <a:ea typeface="微软雅黑"/>
                  </a:rPr>
                  <a:t>。</a:t>
                </a:r>
              </a:p>
            </p:txBody>
          </p:sp>
          <p:sp>
            <p:nvSpPr>
              <p:cNvPr id="97" name="Bullet2" descr="75b79357-77e7-4292-8448-cdb429369050">
                <a:extLst>
                  <a:ext uri="{FF2B5EF4-FFF2-40B4-BE49-F238E27FC236}">
                    <a16:creationId xmlns:a16="http://schemas.microsoft.com/office/drawing/2014/main" id="{2F8BF95A-B11E-5CAD-CB91-CDE4B094BA17}"/>
                  </a:ext>
                </a:extLst>
              </p:cNvPr>
              <p:cNvSpPr txBox="1"/>
              <p:nvPr/>
            </p:nvSpPr>
            <p:spPr>
              <a:xfrm>
                <a:off x="6076695" y="2248620"/>
                <a:ext cx="4276981" cy="520307"/>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US" sz="1600" b="1" i="0" u="none" dirty="0" err="1">
                    <a:solidFill>
                      <a:srgbClr val="000000"/>
                    </a:solidFill>
                    <a:ea typeface="微软雅黑"/>
                  </a:rPr>
                  <a:t>模型漂移问题</a:t>
                </a:r>
                <a:endParaRPr lang="en-US" sz="1600" b="1" i="0" u="none" dirty="0">
                  <a:solidFill>
                    <a:srgbClr val="000000"/>
                  </a:solidFill>
                  <a:ea typeface="微软雅黑"/>
                </a:endParaRPr>
              </a:p>
            </p:txBody>
          </p:sp>
        </p:grpSp>
        <p:grpSp>
          <p:nvGrpSpPr>
            <p:cNvPr id="5" name="组合 4" descr="2b7c6a37-c410-4a2b-abab-21eb1ab0ecbc">
              <a:extLst>
                <a:ext uri="{FF2B5EF4-FFF2-40B4-BE49-F238E27FC236}">
                  <a16:creationId xmlns:a16="http://schemas.microsoft.com/office/drawing/2014/main" id="{A9DFDFBC-96D5-1F31-B512-B479F405DB49}"/>
                </a:ext>
              </a:extLst>
            </p:cNvPr>
            <p:cNvGrpSpPr/>
            <p:nvPr/>
          </p:nvGrpSpPr>
          <p:grpSpPr>
            <a:xfrm>
              <a:off x="1980169" y="4372362"/>
              <a:ext cx="4276981" cy="1393077"/>
              <a:chOff x="1980169" y="4372362"/>
              <a:chExt cx="4276981" cy="1393077"/>
            </a:xfrm>
          </p:grpSpPr>
          <p:sp>
            <p:nvSpPr>
              <p:cNvPr id="118" name="Text3" descr="ac33f919-6ae0-469b-85a2-3d991df57f02">
                <a:extLst>
                  <a:ext uri="{FF2B5EF4-FFF2-40B4-BE49-F238E27FC236}">
                    <a16:creationId xmlns:a16="http://schemas.microsoft.com/office/drawing/2014/main" id="{9076BF87-2CCF-48D6-C8CB-B7E892E1265A}"/>
                  </a:ext>
                </a:extLst>
              </p:cNvPr>
              <p:cNvSpPr txBox="1">
                <a:spLocks/>
              </p:cNvSpPr>
              <p:nvPr/>
            </p:nvSpPr>
            <p:spPr>
              <a:xfrm>
                <a:off x="1980171" y="5015503"/>
                <a:ext cx="4276977" cy="749936"/>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zh-CN" altLang="en-US" sz="1400" b="0" i="0" u="none" dirty="0">
                    <a:solidFill>
                      <a:srgbClr val="000000"/>
                    </a:solidFill>
                    <a:latin typeface="Arial"/>
                  </a:rPr>
                  <a:t>采用</a:t>
                </a:r>
                <a:r>
                  <a:rPr lang="en-US" sz="1400" b="0" i="0" u="none" dirty="0" err="1">
                    <a:solidFill>
                      <a:srgbClr val="000000"/>
                    </a:solidFill>
                    <a:latin typeface="Arial"/>
                  </a:rPr>
                  <a:t>SHAP值解释模型决策依据，可视化异常传播路径图</a:t>
                </a:r>
                <a:r>
                  <a:rPr lang="en-US" sz="1400" b="0" i="0" u="none" dirty="0">
                    <a:solidFill>
                      <a:srgbClr val="000000"/>
                    </a:solidFill>
                    <a:latin typeface="Arial"/>
                  </a:rPr>
                  <a:t>。</a:t>
                </a:r>
              </a:p>
            </p:txBody>
          </p:sp>
          <p:sp>
            <p:nvSpPr>
              <p:cNvPr id="119" name="Bullet3" descr="d829143d-431c-447a-bebf-752cf3329f6e">
                <a:extLst>
                  <a:ext uri="{FF2B5EF4-FFF2-40B4-BE49-F238E27FC236}">
                    <a16:creationId xmlns:a16="http://schemas.microsoft.com/office/drawing/2014/main" id="{9CFD2602-2A0A-40EF-D3CD-C661CF94634F}"/>
                  </a:ext>
                </a:extLst>
              </p:cNvPr>
              <p:cNvSpPr txBox="1"/>
              <p:nvPr/>
            </p:nvSpPr>
            <p:spPr>
              <a:xfrm>
                <a:off x="1980169" y="4372362"/>
                <a:ext cx="4276981" cy="520307"/>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US" sz="1600" b="1" i="0" u="none" dirty="0" err="1">
                    <a:solidFill>
                      <a:srgbClr val="000000"/>
                    </a:solidFill>
                    <a:ea typeface="微软雅黑"/>
                  </a:rPr>
                  <a:t>可解释性要求</a:t>
                </a:r>
                <a:endParaRPr lang="en-US" sz="1600" b="1" i="0" u="none" dirty="0">
                  <a:solidFill>
                    <a:srgbClr val="000000"/>
                  </a:solidFill>
                  <a:ea typeface="微软雅黑"/>
                </a:endParaRPr>
              </a:p>
            </p:txBody>
          </p:sp>
        </p:grpSp>
        <p:grpSp>
          <p:nvGrpSpPr>
            <p:cNvPr id="6" name="组合 5" descr="2e479b62-995d-42bd-9c69-ae067114f933">
              <a:extLst>
                <a:ext uri="{FF2B5EF4-FFF2-40B4-BE49-F238E27FC236}">
                  <a16:creationId xmlns:a16="http://schemas.microsoft.com/office/drawing/2014/main" id="{6485D773-033D-B3B3-6179-B64D32897536}"/>
                </a:ext>
              </a:extLst>
            </p:cNvPr>
            <p:cNvGrpSpPr/>
            <p:nvPr/>
          </p:nvGrpSpPr>
          <p:grpSpPr>
            <a:xfrm>
              <a:off x="7110969" y="4372362"/>
              <a:ext cx="4276981" cy="1393077"/>
              <a:chOff x="7110969" y="4372362"/>
              <a:chExt cx="4276981" cy="1393077"/>
            </a:xfrm>
          </p:grpSpPr>
          <p:sp>
            <p:nvSpPr>
              <p:cNvPr id="140" name="Text4" descr="a3a02a39-c0e0-4776-accf-8d0b4a513347">
                <a:extLst>
                  <a:ext uri="{FF2B5EF4-FFF2-40B4-BE49-F238E27FC236}">
                    <a16:creationId xmlns:a16="http://schemas.microsoft.com/office/drawing/2014/main" id="{8445B2B2-E9CF-3384-92D9-ED1BE8F992FF}"/>
                  </a:ext>
                </a:extLst>
              </p:cNvPr>
              <p:cNvSpPr txBox="1">
                <a:spLocks/>
              </p:cNvSpPr>
              <p:nvPr/>
            </p:nvSpPr>
            <p:spPr>
              <a:xfrm>
                <a:off x="7110971" y="5015503"/>
                <a:ext cx="4276977" cy="749936"/>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抽象化架构层支持多云API对接</a:t>
                </a:r>
                <a:r>
                  <a:rPr lang="en-US" sz="1400" b="0" i="0" u="none" dirty="0">
                    <a:solidFill>
                      <a:srgbClr val="000000"/>
                    </a:solidFill>
                    <a:ea typeface="微软雅黑"/>
                  </a:rPr>
                  <a:t>，</a:t>
                </a:r>
                <a:r>
                  <a:rPr lang="zh-CN" altLang="en-US" sz="1400" b="0" i="0" u="none" dirty="0">
                    <a:solidFill>
                      <a:srgbClr val="000000"/>
                    </a:solidFill>
                    <a:ea typeface="微软雅黑"/>
                  </a:rPr>
                  <a:t>支持</a:t>
                </a:r>
                <a:r>
                  <a:rPr lang="en-US" sz="1400" b="0" i="0" u="none" dirty="0">
                    <a:solidFill>
                      <a:srgbClr val="000000"/>
                    </a:solidFill>
                    <a:ea typeface="微软雅黑"/>
                  </a:rPr>
                  <a:t>Kubernetes </a:t>
                </a:r>
                <a:r>
                  <a:rPr lang="en-US" sz="1400" b="0" i="0" u="none" dirty="0" err="1">
                    <a:solidFill>
                      <a:srgbClr val="000000"/>
                    </a:solidFill>
                    <a:ea typeface="微软雅黑"/>
                  </a:rPr>
                  <a:t>Operator标准化部署</a:t>
                </a:r>
                <a:r>
                  <a:rPr lang="en-US" sz="1400" b="0" i="0" u="none" dirty="0">
                    <a:solidFill>
                      <a:srgbClr val="000000"/>
                    </a:solidFill>
                    <a:ea typeface="微软雅黑"/>
                  </a:rPr>
                  <a:t>。</a:t>
                </a:r>
              </a:p>
            </p:txBody>
          </p:sp>
          <p:sp>
            <p:nvSpPr>
              <p:cNvPr id="141" name="Bullet4" descr="433e425f-aee3-4b88-9952-238646a20d86">
                <a:extLst>
                  <a:ext uri="{FF2B5EF4-FFF2-40B4-BE49-F238E27FC236}">
                    <a16:creationId xmlns:a16="http://schemas.microsoft.com/office/drawing/2014/main" id="{B14BD3EF-55C4-E044-B693-64565188ECBF}"/>
                  </a:ext>
                </a:extLst>
              </p:cNvPr>
              <p:cNvSpPr txBox="1"/>
              <p:nvPr/>
            </p:nvSpPr>
            <p:spPr>
              <a:xfrm>
                <a:off x="7110969" y="4372362"/>
                <a:ext cx="4276981" cy="520307"/>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US" sz="1600" b="1" i="0" u="none" dirty="0" err="1">
                    <a:solidFill>
                      <a:srgbClr val="000000"/>
                    </a:solidFill>
                    <a:ea typeface="微软雅黑"/>
                  </a:rPr>
                  <a:t>混合云环境适配</a:t>
                </a:r>
                <a:endParaRPr lang="en-US" sz="1600" b="1" i="0" u="none" dirty="0">
                  <a:solidFill>
                    <a:srgbClr val="000000"/>
                  </a:solidFill>
                  <a:ea typeface="微软雅黑"/>
                </a:endParaRPr>
              </a:p>
            </p:txBody>
          </p:sp>
        </p:gr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altLang="zh-CN" sz="2800" b="1" dirty="0" err="1">
                <a:solidFill>
                  <a:srgbClr val="E40000"/>
                </a:solidFill>
                <a:latin typeface="Arial"/>
                <a:ea typeface="黑体"/>
              </a:rPr>
              <a:t>AI驱动的智能运维</a:t>
            </a:r>
            <a:r>
              <a:rPr lang="en-US" altLang="zh-CN" sz="2800" b="1" dirty="0">
                <a:solidFill>
                  <a:srgbClr val="E40000"/>
                </a:solidFill>
                <a:latin typeface="Arial"/>
                <a:ea typeface="黑体"/>
              </a:rPr>
              <a:t>(AI for DB): </a:t>
            </a:r>
            <a:r>
              <a:rPr lang="en-US" sz="2800" b="1" dirty="0" err="1">
                <a:solidFill>
                  <a:srgbClr val="E40000"/>
                </a:solidFill>
                <a:latin typeface="Arial"/>
                <a:ea typeface="黑体"/>
              </a:rPr>
              <a:t>未来演进方向</a:t>
            </a:r>
            <a:endParaRPr lang="en-US" sz="2800" b="1" dirty="0">
              <a:solidFill>
                <a:srgbClr val="E40000"/>
              </a:solidFill>
              <a:latin typeface="Arial"/>
              <a:ea typeface="黑体"/>
            </a:endParaRPr>
          </a:p>
        </p:txBody>
      </p:sp>
      <p:grpSp>
        <p:nvGrpSpPr>
          <p:cNvPr id="22" name="019d5a39-64ee-419a-a374-09444675d919.source.3.zh-Hans.pptx" descr="8e4f4f5d-e015-4766-a449-5bb091300c81">
            <a:extLst>
              <a:ext uri="{FF2B5EF4-FFF2-40B4-BE49-F238E27FC236}">
                <a16:creationId xmlns:a16="http://schemas.microsoft.com/office/drawing/2014/main" id="{9FFBAD27-063E-7470-6038-0D63D3B77CF8}"/>
              </a:ext>
            </a:extLst>
          </p:cNvPr>
          <p:cNvGrpSpPr/>
          <p:nvPr/>
        </p:nvGrpSpPr>
        <p:grpSpPr>
          <a:xfrm>
            <a:off x="660399" y="884781"/>
            <a:ext cx="10858501" cy="5249319"/>
            <a:chOff x="660399" y="884781"/>
            <a:chExt cx="10858501" cy="5249319"/>
          </a:xfrm>
        </p:grpSpPr>
        <p:sp>
          <p:nvSpPr>
            <p:cNvPr id="4" name="任意多边形: 形状 3" descr="08837953-82a3-4b3a-97ff-d1fcb70049b3">
              <a:extLst>
                <a:ext uri="{FF2B5EF4-FFF2-40B4-BE49-F238E27FC236}">
                  <a16:creationId xmlns:a16="http://schemas.microsoft.com/office/drawing/2014/main" id="{D00AD7EE-FE9E-9927-64E3-5CC1FC3381E5}"/>
                </a:ext>
              </a:extLst>
            </p:cNvPr>
            <p:cNvSpPr/>
            <p:nvPr/>
          </p:nvSpPr>
          <p:spPr>
            <a:xfrm>
              <a:off x="770847" y="884781"/>
              <a:ext cx="1058129" cy="107213"/>
            </a:xfrm>
            <a:custGeom>
              <a:avLst/>
              <a:gdLst>
                <a:gd name="connsiteX0" fmla="*/ 856106 w 1058129"/>
                <a:gd name="connsiteY0" fmla="*/ 0 h 107213"/>
                <a:gd name="connsiteX1" fmla="*/ 1058129 w 1058129"/>
                <a:gd name="connsiteY1" fmla="*/ 0 h 107213"/>
                <a:gd name="connsiteX2" fmla="*/ 887698 w 1058129"/>
                <a:gd name="connsiteY2" fmla="*/ 107213 h 107213"/>
                <a:gd name="connsiteX3" fmla="*/ 685674 w 1058129"/>
                <a:gd name="connsiteY3" fmla="*/ 107213 h 107213"/>
                <a:gd name="connsiteX4" fmla="*/ 513164 w 1058129"/>
                <a:gd name="connsiteY4" fmla="*/ 0 h 107213"/>
                <a:gd name="connsiteX5" fmla="*/ 715187 w 1058129"/>
                <a:gd name="connsiteY5" fmla="*/ 0 h 107213"/>
                <a:gd name="connsiteX6" fmla="*/ 544756 w 1058129"/>
                <a:gd name="connsiteY6" fmla="*/ 107213 h 107213"/>
                <a:gd name="connsiteX7" fmla="*/ 342732 w 1058129"/>
                <a:gd name="connsiteY7" fmla="*/ 107213 h 107213"/>
                <a:gd name="connsiteX8" fmla="*/ 170432 w 1058129"/>
                <a:gd name="connsiteY8" fmla="*/ 0 h 107213"/>
                <a:gd name="connsiteX9" fmla="*/ 372455 w 1058129"/>
                <a:gd name="connsiteY9" fmla="*/ 0 h 107213"/>
                <a:gd name="connsiteX10" fmla="*/ 202024 w 1058129"/>
                <a:gd name="connsiteY10" fmla="*/ 107213 h 107213"/>
                <a:gd name="connsiteX11" fmla="*/ 0 w 1058129"/>
                <a:gd name="connsiteY11" fmla="*/ 107213 h 10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8129" h="107213">
                  <a:moveTo>
                    <a:pt x="856106" y="0"/>
                  </a:moveTo>
                  <a:lnTo>
                    <a:pt x="1058129" y="0"/>
                  </a:lnTo>
                  <a:lnTo>
                    <a:pt x="887698" y="107213"/>
                  </a:lnTo>
                  <a:lnTo>
                    <a:pt x="685674" y="107213"/>
                  </a:lnTo>
                  <a:close/>
                  <a:moveTo>
                    <a:pt x="513164" y="0"/>
                  </a:moveTo>
                  <a:lnTo>
                    <a:pt x="715187" y="0"/>
                  </a:lnTo>
                  <a:lnTo>
                    <a:pt x="544756" y="107213"/>
                  </a:lnTo>
                  <a:lnTo>
                    <a:pt x="342732" y="107213"/>
                  </a:lnTo>
                  <a:close/>
                  <a:moveTo>
                    <a:pt x="170432" y="0"/>
                  </a:moveTo>
                  <a:lnTo>
                    <a:pt x="372455" y="0"/>
                  </a:lnTo>
                  <a:lnTo>
                    <a:pt x="202024" y="107213"/>
                  </a:lnTo>
                  <a:lnTo>
                    <a:pt x="0" y="107213"/>
                  </a:lnTo>
                  <a:close/>
                </a:path>
              </a:pathLst>
            </a:custGeom>
            <a:solidFill>
              <a:schemeClr val="accent1">
                <a:alpha val="30000"/>
              </a:schemeClr>
            </a:solidFill>
            <a:ln w="9525" cap="flat">
              <a:noFill/>
              <a:prstDash val="solid"/>
              <a:miter/>
            </a:ln>
          </p:spPr>
          <p:txBody>
            <a:bodyPr rtlCol="0" anchor="ctr" anchorCtr="0"/>
            <a:lstStyle/>
            <a:p>
              <a:pPr algn="l"/>
              <a:endParaRPr/>
            </a:p>
          </p:txBody>
        </p:sp>
        <p:cxnSp>
          <p:nvCxnSpPr>
            <p:cNvPr id="5" name="直接连接符 4" descr="451f9a66-2b31-4bf2-ba64-d1eea6381bf3">
              <a:extLst>
                <a:ext uri="{FF2B5EF4-FFF2-40B4-BE49-F238E27FC236}">
                  <a16:creationId xmlns:a16="http://schemas.microsoft.com/office/drawing/2014/main" id="{0C5AF847-25C7-F2FE-4049-CBB9CE3613E2}"/>
                </a:ext>
              </a:extLst>
            </p:cNvPr>
            <p:cNvCxnSpPr/>
            <p:nvPr/>
          </p:nvCxnSpPr>
          <p:spPr>
            <a:xfrm>
              <a:off x="660399" y="1028700"/>
              <a:ext cx="10858500"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nvGrpSpPr>
            <p:cNvPr id="18" name="组合 17" descr="7c4bc936-b0f7-45ea-b9a8-75dee979b196">
              <a:extLst>
                <a:ext uri="{FF2B5EF4-FFF2-40B4-BE49-F238E27FC236}">
                  <a16:creationId xmlns:a16="http://schemas.microsoft.com/office/drawing/2014/main" id="{1D5B786C-1FFC-F0B1-B2E0-2166DD6FDD29}"/>
                </a:ext>
              </a:extLst>
            </p:cNvPr>
            <p:cNvGrpSpPr/>
            <p:nvPr/>
          </p:nvGrpSpPr>
          <p:grpSpPr>
            <a:xfrm>
              <a:off x="660400" y="1986034"/>
              <a:ext cx="4660537" cy="1976969"/>
              <a:chOff x="660400" y="1986034"/>
              <a:chExt cx="4660537" cy="1976969"/>
            </a:xfrm>
          </p:grpSpPr>
          <p:sp>
            <p:nvSpPr>
              <p:cNvPr id="21" name="矩形: 圆角 20" descr="f2a56780-143b-4af1-9620-01ffb76acebb">
                <a:extLst>
                  <a:ext uri="{FF2B5EF4-FFF2-40B4-BE49-F238E27FC236}">
                    <a16:creationId xmlns:a16="http://schemas.microsoft.com/office/drawing/2014/main" id="{31A3FA3D-D546-B5E9-D599-9203EC68E15D}"/>
                  </a:ext>
                </a:extLst>
              </p:cNvPr>
              <p:cNvSpPr/>
              <p:nvPr/>
            </p:nvSpPr>
            <p:spPr>
              <a:xfrm>
                <a:off x="660400" y="2477071"/>
                <a:ext cx="4660537" cy="1463073"/>
              </a:xfrm>
              <a:prstGeom prst="roundRect">
                <a:avLst>
                  <a:gd name="adj" fmla="val 4325"/>
                </a:avLst>
              </a:prstGeom>
              <a:noFill/>
              <a:ln>
                <a:solidFill>
                  <a:schemeClr val="accent1"/>
                </a:solidFill>
              </a:ln>
            </p:spPr>
            <p:txBody>
              <a:bodyPr wrap="square" lIns="91440" tIns="45720" rIns="91440" bIns="45720" anchor="ctr" anchorCtr="0">
                <a:normAutofit/>
              </a:bodyPr>
              <a:lstStyle/>
              <a:p>
                <a:pPr algn="ctr"/>
                <a:endParaRPr/>
              </a:p>
            </p:txBody>
          </p:sp>
          <p:sp>
            <p:nvSpPr>
              <p:cNvPr id="6" name="任意多边形: 形状 5" descr="7a765535-fed7-4f53-9275-3c9c7104e72c">
                <a:extLst>
                  <a:ext uri="{FF2B5EF4-FFF2-40B4-BE49-F238E27FC236}">
                    <a16:creationId xmlns:a16="http://schemas.microsoft.com/office/drawing/2014/main" id="{4523C09E-CA13-845E-A1D4-4510EB30B8B8}"/>
                  </a:ext>
                </a:extLst>
              </p:cNvPr>
              <p:cNvSpPr/>
              <p:nvPr/>
            </p:nvSpPr>
            <p:spPr>
              <a:xfrm>
                <a:off x="2647937" y="1986034"/>
                <a:ext cx="372453" cy="107211"/>
              </a:xfrm>
              <a:custGeom>
                <a:avLst/>
                <a:gdLst>
                  <a:gd name="connsiteX0" fmla="*/ 92583 w 170687"/>
                  <a:gd name="connsiteY0" fmla="*/ 78105 h 78104"/>
                  <a:gd name="connsiteX1" fmla="*/ 0 w 170687"/>
                  <a:gd name="connsiteY1" fmla="*/ 78105 h 78104"/>
                  <a:gd name="connsiteX2" fmla="*/ 78105 w 170687"/>
                  <a:gd name="connsiteY2" fmla="*/ 0 h 78104"/>
                  <a:gd name="connsiteX3" fmla="*/ 170688 w 170687"/>
                  <a:gd name="connsiteY3" fmla="*/ 0 h 78104"/>
                </a:gdLst>
                <a:ahLst/>
                <a:cxnLst>
                  <a:cxn ang="0">
                    <a:pos x="connsiteX0" y="connsiteY0"/>
                  </a:cxn>
                  <a:cxn ang="0">
                    <a:pos x="connsiteX1" y="connsiteY1"/>
                  </a:cxn>
                  <a:cxn ang="0">
                    <a:pos x="connsiteX2" y="connsiteY2"/>
                  </a:cxn>
                  <a:cxn ang="0">
                    <a:pos x="connsiteX3" y="connsiteY3"/>
                  </a:cxn>
                </a:cxnLst>
                <a:rect l="l" t="t" r="r" b="b"/>
                <a:pathLst>
                  <a:path w="170687" h="78104">
                    <a:moveTo>
                      <a:pt x="92583" y="78105"/>
                    </a:moveTo>
                    <a:lnTo>
                      <a:pt x="0" y="78105"/>
                    </a:lnTo>
                    <a:lnTo>
                      <a:pt x="78105" y="0"/>
                    </a:lnTo>
                    <a:lnTo>
                      <a:pt x="170688" y="0"/>
                    </a:lnTo>
                    <a:close/>
                  </a:path>
                </a:pathLst>
              </a:custGeom>
              <a:solidFill>
                <a:schemeClr val="accent1"/>
              </a:solidFill>
              <a:ln w="9525" cap="flat">
                <a:noFill/>
                <a:prstDash val="solid"/>
                <a:miter/>
              </a:ln>
            </p:spPr>
            <p:txBody>
              <a:bodyPr rtlCol="0" anchor="ctr" anchorCtr="0"/>
              <a:lstStyle/>
              <a:p>
                <a:pPr algn="l"/>
                <a:endParaRPr/>
              </a:p>
            </p:txBody>
          </p:sp>
          <p:sp>
            <p:nvSpPr>
              <p:cNvPr id="7" name="任意多边形: 形状 6" descr="0e063e06-a5e2-43d5-8acf-3fdd3f02999b">
                <a:extLst>
                  <a:ext uri="{FF2B5EF4-FFF2-40B4-BE49-F238E27FC236}">
                    <a16:creationId xmlns:a16="http://schemas.microsoft.com/office/drawing/2014/main" id="{9299961B-11B7-4469-1AA8-FC3DD434949F}"/>
                  </a:ext>
                </a:extLst>
              </p:cNvPr>
              <p:cNvSpPr/>
              <p:nvPr/>
            </p:nvSpPr>
            <p:spPr>
              <a:xfrm>
                <a:off x="2990669" y="1986034"/>
                <a:ext cx="372453" cy="107211"/>
              </a:xfrm>
              <a:custGeom>
                <a:avLst/>
                <a:gdLst>
                  <a:gd name="connsiteX0" fmla="*/ 92583 w 170687"/>
                  <a:gd name="connsiteY0" fmla="*/ 78105 h 78104"/>
                  <a:gd name="connsiteX1" fmla="*/ 0 w 170687"/>
                  <a:gd name="connsiteY1" fmla="*/ 78105 h 78104"/>
                  <a:gd name="connsiteX2" fmla="*/ 78105 w 170687"/>
                  <a:gd name="connsiteY2" fmla="*/ 0 h 78104"/>
                  <a:gd name="connsiteX3" fmla="*/ 170688 w 170687"/>
                  <a:gd name="connsiteY3" fmla="*/ 0 h 78104"/>
                </a:gdLst>
                <a:ahLst/>
                <a:cxnLst>
                  <a:cxn ang="0">
                    <a:pos x="connsiteX0" y="connsiteY0"/>
                  </a:cxn>
                  <a:cxn ang="0">
                    <a:pos x="connsiteX1" y="connsiteY1"/>
                  </a:cxn>
                  <a:cxn ang="0">
                    <a:pos x="connsiteX2" y="connsiteY2"/>
                  </a:cxn>
                  <a:cxn ang="0">
                    <a:pos x="connsiteX3" y="connsiteY3"/>
                  </a:cxn>
                </a:cxnLst>
                <a:rect l="l" t="t" r="r" b="b"/>
                <a:pathLst>
                  <a:path w="170687" h="78104">
                    <a:moveTo>
                      <a:pt x="92583" y="78105"/>
                    </a:moveTo>
                    <a:lnTo>
                      <a:pt x="0" y="78105"/>
                    </a:lnTo>
                    <a:lnTo>
                      <a:pt x="78105" y="0"/>
                    </a:lnTo>
                    <a:lnTo>
                      <a:pt x="170688" y="0"/>
                    </a:lnTo>
                    <a:close/>
                  </a:path>
                </a:pathLst>
              </a:custGeom>
              <a:solidFill>
                <a:schemeClr val="accent1"/>
              </a:solidFill>
              <a:ln w="9525" cap="flat">
                <a:noFill/>
                <a:prstDash val="solid"/>
                <a:miter/>
              </a:ln>
            </p:spPr>
            <p:txBody>
              <a:bodyPr rtlCol="0" anchor="ctr" anchorCtr="0"/>
              <a:lstStyle/>
              <a:p>
                <a:pPr algn="l"/>
                <a:endParaRPr/>
              </a:p>
            </p:txBody>
          </p:sp>
          <p:sp>
            <p:nvSpPr>
              <p:cNvPr id="8" name="任意多边形: 形状 7" descr="dfe690c9-cc58-4036-8b53-fddb5428f817">
                <a:extLst>
                  <a:ext uri="{FF2B5EF4-FFF2-40B4-BE49-F238E27FC236}">
                    <a16:creationId xmlns:a16="http://schemas.microsoft.com/office/drawing/2014/main" id="{6E3A65EB-3174-4AE4-8F9D-05987BEF9C65}"/>
                  </a:ext>
                </a:extLst>
              </p:cNvPr>
              <p:cNvSpPr/>
              <p:nvPr/>
            </p:nvSpPr>
            <p:spPr>
              <a:xfrm>
                <a:off x="3333611" y="1986034"/>
                <a:ext cx="372453" cy="107211"/>
              </a:xfrm>
              <a:custGeom>
                <a:avLst/>
                <a:gdLst>
                  <a:gd name="connsiteX0" fmla="*/ 92583 w 170687"/>
                  <a:gd name="connsiteY0" fmla="*/ 78105 h 78104"/>
                  <a:gd name="connsiteX1" fmla="*/ 0 w 170687"/>
                  <a:gd name="connsiteY1" fmla="*/ 78105 h 78104"/>
                  <a:gd name="connsiteX2" fmla="*/ 78105 w 170687"/>
                  <a:gd name="connsiteY2" fmla="*/ 0 h 78104"/>
                  <a:gd name="connsiteX3" fmla="*/ 170688 w 170687"/>
                  <a:gd name="connsiteY3" fmla="*/ 0 h 78104"/>
                </a:gdLst>
                <a:ahLst/>
                <a:cxnLst>
                  <a:cxn ang="0">
                    <a:pos x="connsiteX0" y="connsiteY0"/>
                  </a:cxn>
                  <a:cxn ang="0">
                    <a:pos x="connsiteX1" y="connsiteY1"/>
                  </a:cxn>
                  <a:cxn ang="0">
                    <a:pos x="connsiteX2" y="connsiteY2"/>
                  </a:cxn>
                  <a:cxn ang="0">
                    <a:pos x="connsiteX3" y="connsiteY3"/>
                  </a:cxn>
                </a:cxnLst>
                <a:rect l="l" t="t" r="r" b="b"/>
                <a:pathLst>
                  <a:path w="170687" h="78104">
                    <a:moveTo>
                      <a:pt x="92583" y="78105"/>
                    </a:moveTo>
                    <a:lnTo>
                      <a:pt x="0" y="78105"/>
                    </a:lnTo>
                    <a:lnTo>
                      <a:pt x="78105" y="0"/>
                    </a:lnTo>
                    <a:lnTo>
                      <a:pt x="170688" y="0"/>
                    </a:lnTo>
                    <a:close/>
                  </a:path>
                </a:pathLst>
              </a:custGeom>
              <a:solidFill>
                <a:schemeClr val="accent1"/>
              </a:solidFill>
              <a:ln w="9525" cap="flat">
                <a:noFill/>
                <a:prstDash val="solid"/>
                <a:miter/>
              </a:ln>
            </p:spPr>
            <p:txBody>
              <a:bodyPr rtlCol="0" anchor="ctr" anchorCtr="0"/>
              <a:lstStyle/>
              <a:p>
                <a:pPr algn="l"/>
                <a:endParaRPr/>
              </a:p>
            </p:txBody>
          </p:sp>
          <p:sp>
            <p:nvSpPr>
              <p:cNvPr id="67" name="平行四边形 66" descr="54f8c7c9-7b23-4b3a-a2b4-c82364ed73cf">
                <a:extLst>
                  <a:ext uri="{FF2B5EF4-FFF2-40B4-BE49-F238E27FC236}">
                    <a16:creationId xmlns:a16="http://schemas.microsoft.com/office/drawing/2014/main" id="{BE8828D1-9110-3EC2-6927-A582FD28AD45}"/>
                  </a:ext>
                </a:extLst>
              </p:cNvPr>
              <p:cNvSpPr/>
              <p:nvPr/>
            </p:nvSpPr>
            <p:spPr>
              <a:xfrm>
                <a:off x="4636664" y="3917284"/>
                <a:ext cx="467150" cy="45719"/>
              </a:xfrm>
              <a:prstGeom prst="parallelogram">
                <a:avLst>
                  <a:gd name="adj" fmla="val 53255"/>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grpSp>
            <p:nvGrpSpPr>
              <p:cNvPr id="13" name="组合 12" descr="046ee451-6bba-4eee-85de-03b7714c9795">
                <a:extLst>
                  <a:ext uri="{FF2B5EF4-FFF2-40B4-BE49-F238E27FC236}">
                    <a16:creationId xmlns:a16="http://schemas.microsoft.com/office/drawing/2014/main" id="{F3B0BD74-A8A9-10EA-0671-95B56F23C269}"/>
                  </a:ext>
                </a:extLst>
              </p:cNvPr>
              <p:cNvGrpSpPr/>
              <p:nvPr/>
            </p:nvGrpSpPr>
            <p:grpSpPr>
              <a:xfrm>
                <a:off x="807980" y="2093245"/>
                <a:ext cx="4346947" cy="1738527"/>
                <a:chOff x="807980" y="2093245"/>
                <a:chExt cx="4346947" cy="1738527"/>
              </a:xfrm>
            </p:grpSpPr>
            <p:sp>
              <p:nvSpPr>
                <p:cNvPr id="10" name="Bullet1" descr="51db551a-e8c1-4a12-a62d-8f4f9c1d406f">
                  <a:extLst>
                    <a:ext uri="{FF2B5EF4-FFF2-40B4-BE49-F238E27FC236}">
                      <a16:creationId xmlns:a16="http://schemas.microsoft.com/office/drawing/2014/main" id="{C0748AC3-1896-9EE8-29A2-3ECD30DC2004}"/>
                    </a:ext>
                  </a:extLst>
                </p:cNvPr>
                <p:cNvSpPr txBox="1"/>
                <p:nvPr/>
              </p:nvSpPr>
              <p:spPr>
                <a:xfrm>
                  <a:off x="807981" y="2093245"/>
                  <a:ext cx="3144817" cy="612456"/>
                </a:xfrm>
                <a:prstGeom prst="roundRect">
                  <a:avLst>
                    <a:gd name="adj" fmla="val 50000"/>
                  </a:avLst>
                </a:prstGeom>
                <a:solidFill>
                  <a:schemeClr val="bg1"/>
                </a:solidFill>
                <a:ln>
                  <a:solidFill>
                    <a:schemeClr val="accent1"/>
                  </a:solidFill>
                </a:ln>
              </p:spPr>
              <p:txBody>
                <a:bodyPr wrap="square" lIns="91440" tIns="45720" rIns="91440" bIns="45720" anchor="ctr" anchorCtr="0">
                  <a:normAutofit/>
                </a:bodyPr>
                <a:lstStyle/>
                <a:p>
                  <a:pPr algn="ctr">
                    <a:spcBef>
                      <a:spcPct val="0"/>
                    </a:spcBef>
                    <a:spcAft>
                      <a:spcPct val="0"/>
                    </a:spcAft>
                  </a:pPr>
                  <a:r>
                    <a:rPr lang="en-US" sz="2000" b="1" i="0" u="none" strike="noStrike" dirty="0" err="1">
                      <a:solidFill>
                        <a:srgbClr val="000000"/>
                      </a:solidFill>
                      <a:ea typeface="微软雅黑"/>
                    </a:rPr>
                    <a:t>认知智能增强</a:t>
                  </a:r>
                  <a:endParaRPr lang="en-US" sz="2000" b="1" i="0" u="none" strike="noStrike" dirty="0">
                    <a:solidFill>
                      <a:srgbClr val="000000"/>
                    </a:solidFill>
                    <a:ea typeface="微软雅黑"/>
                  </a:endParaRPr>
                </a:p>
              </p:txBody>
            </p:sp>
            <p:sp>
              <p:nvSpPr>
                <p:cNvPr id="11" name="Text1" descr="169d9d91-2fff-4361-b108-ee261f3f1824">
                  <a:extLst>
                    <a:ext uri="{FF2B5EF4-FFF2-40B4-BE49-F238E27FC236}">
                      <a16:creationId xmlns:a16="http://schemas.microsoft.com/office/drawing/2014/main" id="{B0BE4F89-B953-C2B1-6AF1-F6DB7F41E8F2}"/>
                    </a:ext>
                  </a:extLst>
                </p:cNvPr>
                <p:cNvSpPr txBox="1"/>
                <p:nvPr/>
              </p:nvSpPr>
              <p:spPr>
                <a:xfrm>
                  <a:off x="807980" y="2749244"/>
                  <a:ext cx="4346947" cy="1082528"/>
                </a:xfrm>
                <a:prstGeom prst="rect">
                  <a:avLst/>
                </a:prstGeom>
                <a:noFill/>
                <a:ln>
                  <a:noFill/>
                </a:ln>
              </p:spPr>
              <p:txBody>
                <a:bodyPr wrap="square" lIns="91440" tIns="45720" rIns="91440" bIns="45720" anchor="t" anchorCtr="0">
                  <a:normAutofit/>
                </a:bodyPr>
                <a:lstStyle/>
                <a:p>
                  <a:pPr marL="285750" indent="-2857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结合大语言模型（LLM）实现自然语言运维交互，GPT</a:t>
                  </a:r>
                  <a:r>
                    <a:rPr lang="en-US" b="0" i="0" u="none" strike="noStrike" dirty="0">
                      <a:solidFill>
                        <a:srgbClr val="000000"/>
                      </a:solidFill>
                      <a:ea typeface="微软雅黑"/>
                    </a:rPr>
                    <a:t> - 4在日志解析、工单处理中的应用。</a:t>
                  </a:r>
                </a:p>
              </p:txBody>
            </p:sp>
          </p:grpSp>
        </p:grpSp>
        <p:grpSp>
          <p:nvGrpSpPr>
            <p:cNvPr id="19" name="组合 18" descr="fea07d5d-b919-45a7-a85a-53641eaa22ec">
              <a:extLst>
                <a:ext uri="{FF2B5EF4-FFF2-40B4-BE49-F238E27FC236}">
                  <a16:creationId xmlns:a16="http://schemas.microsoft.com/office/drawing/2014/main" id="{21426957-1CBD-73B3-C7AF-DEC98B819CF6}"/>
                </a:ext>
              </a:extLst>
            </p:cNvPr>
            <p:cNvGrpSpPr/>
            <p:nvPr/>
          </p:nvGrpSpPr>
          <p:grpSpPr>
            <a:xfrm>
              <a:off x="6858363" y="1986034"/>
              <a:ext cx="4660537" cy="1976969"/>
              <a:chOff x="6858363" y="1986034"/>
              <a:chExt cx="4660537" cy="1976969"/>
            </a:xfrm>
          </p:grpSpPr>
          <p:sp>
            <p:nvSpPr>
              <p:cNvPr id="107" name="矩形: 圆角 106" descr="87d781c0-070d-4a76-bb8a-4cbab4497145">
                <a:extLst>
                  <a:ext uri="{FF2B5EF4-FFF2-40B4-BE49-F238E27FC236}">
                    <a16:creationId xmlns:a16="http://schemas.microsoft.com/office/drawing/2014/main" id="{E4558DB7-7CBF-DFB5-243D-D3582AA39BD3}"/>
                  </a:ext>
                </a:extLst>
              </p:cNvPr>
              <p:cNvSpPr/>
              <p:nvPr/>
            </p:nvSpPr>
            <p:spPr>
              <a:xfrm>
                <a:off x="6858363" y="2477071"/>
                <a:ext cx="4660537" cy="1463073"/>
              </a:xfrm>
              <a:prstGeom prst="roundRect">
                <a:avLst>
                  <a:gd name="adj" fmla="val 4325"/>
                </a:avLst>
              </a:prstGeom>
              <a:noFill/>
              <a:ln>
                <a:solidFill>
                  <a:schemeClr val="accent1"/>
                </a:solidFill>
              </a:ln>
            </p:spPr>
            <p:txBody>
              <a:bodyPr wrap="square" lIns="91440" tIns="45720" rIns="91440" bIns="45720" anchor="ctr" anchorCtr="0">
                <a:normAutofit/>
              </a:bodyPr>
              <a:lstStyle/>
              <a:p>
                <a:pPr algn="ctr"/>
                <a:endParaRPr/>
              </a:p>
            </p:txBody>
          </p:sp>
          <p:sp>
            <p:nvSpPr>
              <p:cNvPr id="111" name="任意多边形: 形状 110" descr="7b482bc9-d906-4b7b-a244-04846d262537">
                <a:extLst>
                  <a:ext uri="{FF2B5EF4-FFF2-40B4-BE49-F238E27FC236}">
                    <a16:creationId xmlns:a16="http://schemas.microsoft.com/office/drawing/2014/main" id="{EED00848-C0CC-391A-36C0-9A80C4C715EF}"/>
                  </a:ext>
                </a:extLst>
              </p:cNvPr>
              <p:cNvSpPr/>
              <p:nvPr/>
            </p:nvSpPr>
            <p:spPr>
              <a:xfrm>
                <a:off x="8845900" y="1986034"/>
                <a:ext cx="372453" cy="107211"/>
              </a:xfrm>
              <a:custGeom>
                <a:avLst/>
                <a:gdLst>
                  <a:gd name="connsiteX0" fmla="*/ 92583 w 170687"/>
                  <a:gd name="connsiteY0" fmla="*/ 78105 h 78104"/>
                  <a:gd name="connsiteX1" fmla="*/ 0 w 170687"/>
                  <a:gd name="connsiteY1" fmla="*/ 78105 h 78104"/>
                  <a:gd name="connsiteX2" fmla="*/ 78105 w 170687"/>
                  <a:gd name="connsiteY2" fmla="*/ 0 h 78104"/>
                  <a:gd name="connsiteX3" fmla="*/ 170688 w 170687"/>
                  <a:gd name="connsiteY3" fmla="*/ 0 h 78104"/>
                </a:gdLst>
                <a:ahLst/>
                <a:cxnLst>
                  <a:cxn ang="0">
                    <a:pos x="connsiteX0" y="connsiteY0"/>
                  </a:cxn>
                  <a:cxn ang="0">
                    <a:pos x="connsiteX1" y="connsiteY1"/>
                  </a:cxn>
                  <a:cxn ang="0">
                    <a:pos x="connsiteX2" y="connsiteY2"/>
                  </a:cxn>
                  <a:cxn ang="0">
                    <a:pos x="connsiteX3" y="connsiteY3"/>
                  </a:cxn>
                </a:cxnLst>
                <a:rect l="l" t="t" r="r" b="b"/>
                <a:pathLst>
                  <a:path w="170687" h="78104">
                    <a:moveTo>
                      <a:pt x="92583" y="78105"/>
                    </a:moveTo>
                    <a:lnTo>
                      <a:pt x="0" y="78105"/>
                    </a:lnTo>
                    <a:lnTo>
                      <a:pt x="78105" y="0"/>
                    </a:lnTo>
                    <a:lnTo>
                      <a:pt x="170688" y="0"/>
                    </a:lnTo>
                    <a:close/>
                  </a:path>
                </a:pathLst>
              </a:custGeom>
              <a:solidFill>
                <a:schemeClr val="accent1"/>
              </a:solidFill>
              <a:ln w="9525" cap="flat">
                <a:noFill/>
                <a:prstDash val="solid"/>
                <a:miter/>
              </a:ln>
            </p:spPr>
            <p:txBody>
              <a:bodyPr rtlCol="0" anchor="ctr" anchorCtr="0"/>
              <a:lstStyle/>
              <a:p>
                <a:pPr algn="l"/>
                <a:endParaRPr/>
              </a:p>
            </p:txBody>
          </p:sp>
          <p:sp>
            <p:nvSpPr>
              <p:cNvPr id="112" name="任意多边形: 形状 111" descr="8b014444-c71a-4637-981c-b4b366623909">
                <a:extLst>
                  <a:ext uri="{FF2B5EF4-FFF2-40B4-BE49-F238E27FC236}">
                    <a16:creationId xmlns:a16="http://schemas.microsoft.com/office/drawing/2014/main" id="{739D3119-BFE6-A80A-E38E-26F96FD0B4ED}"/>
                  </a:ext>
                </a:extLst>
              </p:cNvPr>
              <p:cNvSpPr/>
              <p:nvPr/>
            </p:nvSpPr>
            <p:spPr>
              <a:xfrm>
                <a:off x="9188632" y="1986034"/>
                <a:ext cx="372453" cy="107211"/>
              </a:xfrm>
              <a:custGeom>
                <a:avLst/>
                <a:gdLst>
                  <a:gd name="connsiteX0" fmla="*/ 92583 w 170687"/>
                  <a:gd name="connsiteY0" fmla="*/ 78105 h 78104"/>
                  <a:gd name="connsiteX1" fmla="*/ 0 w 170687"/>
                  <a:gd name="connsiteY1" fmla="*/ 78105 h 78104"/>
                  <a:gd name="connsiteX2" fmla="*/ 78105 w 170687"/>
                  <a:gd name="connsiteY2" fmla="*/ 0 h 78104"/>
                  <a:gd name="connsiteX3" fmla="*/ 170688 w 170687"/>
                  <a:gd name="connsiteY3" fmla="*/ 0 h 78104"/>
                </a:gdLst>
                <a:ahLst/>
                <a:cxnLst>
                  <a:cxn ang="0">
                    <a:pos x="connsiteX0" y="connsiteY0"/>
                  </a:cxn>
                  <a:cxn ang="0">
                    <a:pos x="connsiteX1" y="connsiteY1"/>
                  </a:cxn>
                  <a:cxn ang="0">
                    <a:pos x="connsiteX2" y="connsiteY2"/>
                  </a:cxn>
                  <a:cxn ang="0">
                    <a:pos x="connsiteX3" y="connsiteY3"/>
                  </a:cxn>
                </a:cxnLst>
                <a:rect l="l" t="t" r="r" b="b"/>
                <a:pathLst>
                  <a:path w="170687" h="78104">
                    <a:moveTo>
                      <a:pt x="92583" y="78105"/>
                    </a:moveTo>
                    <a:lnTo>
                      <a:pt x="0" y="78105"/>
                    </a:lnTo>
                    <a:lnTo>
                      <a:pt x="78105" y="0"/>
                    </a:lnTo>
                    <a:lnTo>
                      <a:pt x="170688" y="0"/>
                    </a:lnTo>
                    <a:close/>
                  </a:path>
                </a:pathLst>
              </a:custGeom>
              <a:solidFill>
                <a:schemeClr val="accent1"/>
              </a:solidFill>
              <a:ln w="9525" cap="flat">
                <a:noFill/>
                <a:prstDash val="solid"/>
                <a:miter/>
              </a:ln>
            </p:spPr>
            <p:txBody>
              <a:bodyPr rtlCol="0" anchor="ctr" anchorCtr="0"/>
              <a:lstStyle/>
              <a:p>
                <a:pPr algn="l"/>
                <a:endParaRPr/>
              </a:p>
            </p:txBody>
          </p:sp>
          <p:sp>
            <p:nvSpPr>
              <p:cNvPr id="113" name="任意多边形: 形状 112" descr="d78f0792-f593-4986-8885-321b5ff2e1d5">
                <a:extLst>
                  <a:ext uri="{FF2B5EF4-FFF2-40B4-BE49-F238E27FC236}">
                    <a16:creationId xmlns:a16="http://schemas.microsoft.com/office/drawing/2014/main" id="{24AD3A4D-6E84-B247-E3B1-97CE7D0D53C3}"/>
                  </a:ext>
                </a:extLst>
              </p:cNvPr>
              <p:cNvSpPr/>
              <p:nvPr/>
            </p:nvSpPr>
            <p:spPr>
              <a:xfrm>
                <a:off x="9531574" y="1986034"/>
                <a:ext cx="372453" cy="107211"/>
              </a:xfrm>
              <a:custGeom>
                <a:avLst/>
                <a:gdLst>
                  <a:gd name="connsiteX0" fmla="*/ 92583 w 170687"/>
                  <a:gd name="connsiteY0" fmla="*/ 78105 h 78104"/>
                  <a:gd name="connsiteX1" fmla="*/ 0 w 170687"/>
                  <a:gd name="connsiteY1" fmla="*/ 78105 h 78104"/>
                  <a:gd name="connsiteX2" fmla="*/ 78105 w 170687"/>
                  <a:gd name="connsiteY2" fmla="*/ 0 h 78104"/>
                  <a:gd name="connsiteX3" fmla="*/ 170688 w 170687"/>
                  <a:gd name="connsiteY3" fmla="*/ 0 h 78104"/>
                </a:gdLst>
                <a:ahLst/>
                <a:cxnLst>
                  <a:cxn ang="0">
                    <a:pos x="connsiteX0" y="connsiteY0"/>
                  </a:cxn>
                  <a:cxn ang="0">
                    <a:pos x="connsiteX1" y="connsiteY1"/>
                  </a:cxn>
                  <a:cxn ang="0">
                    <a:pos x="connsiteX2" y="connsiteY2"/>
                  </a:cxn>
                  <a:cxn ang="0">
                    <a:pos x="connsiteX3" y="connsiteY3"/>
                  </a:cxn>
                </a:cxnLst>
                <a:rect l="l" t="t" r="r" b="b"/>
                <a:pathLst>
                  <a:path w="170687" h="78104">
                    <a:moveTo>
                      <a:pt x="92583" y="78105"/>
                    </a:moveTo>
                    <a:lnTo>
                      <a:pt x="0" y="78105"/>
                    </a:lnTo>
                    <a:lnTo>
                      <a:pt x="78105" y="0"/>
                    </a:lnTo>
                    <a:lnTo>
                      <a:pt x="170688" y="0"/>
                    </a:lnTo>
                    <a:close/>
                  </a:path>
                </a:pathLst>
              </a:custGeom>
              <a:solidFill>
                <a:schemeClr val="accent1"/>
              </a:solidFill>
              <a:ln w="9525" cap="flat">
                <a:noFill/>
                <a:prstDash val="solid"/>
                <a:miter/>
              </a:ln>
            </p:spPr>
            <p:txBody>
              <a:bodyPr rtlCol="0" anchor="ctr" anchorCtr="0"/>
              <a:lstStyle/>
              <a:p>
                <a:pPr algn="l"/>
                <a:endParaRPr/>
              </a:p>
            </p:txBody>
          </p:sp>
          <p:sp>
            <p:nvSpPr>
              <p:cNvPr id="110" name="平行四边形 109" descr="63737afe-5088-409b-b183-f3cfd12a136b">
                <a:extLst>
                  <a:ext uri="{FF2B5EF4-FFF2-40B4-BE49-F238E27FC236}">
                    <a16:creationId xmlns:a16="http://schemas.microsoft.com/office/drawing/2014/main" id="{9A00C6A7-5793-40AC-4987-B8D561400C96}"/>
                  </a:ext>
                </a:extLst>
              </p:cNvPr>
              <p:cNvSpPr/>
              <p:nvPr/>
            </p:nvSpPr>
            <p:spPr>
              <a:xfrm>
                <a:off x="10834627" y="3917284"/>
                <a:ext cx="467150" cy="45719"/>
              </a:xfrm>
              <a:prstGeom prst="parallelogram">
                <a:avLst>
                  <a:gd name="adj" fmla="val 53255"/>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grpSp>
            <p:nvGrpSpPr>
              <p:cNvPr id="14" name="组合 13" descr="b08a9141-113e-493b-b017-87a1865b3249">
                <a:extLst>
                  <a:ext uri="{FF2B5EF4-FFF2-40B4-BE49-F238E27FC236}">
                    <a16:creationId xmlns:a16="http://schemas.microsoft.com/office/drawing/2014/main" id="{3FB17BFF-ABCC-FDDA-E46C-C88FABE99416}"/>
                  </a:ext>
                </a:extLst>
              </p:cNvPr>
              <p:cNvGrpSpPr/>
              <p:nvPr/>
            </p:nvGrpSpPr>
            <p:grpSpPr>
              <a:xfrm>
                <a:off x="7005943" y="2093245"/>
                <a:ext cx="4346947" cy="1738527"/>
                <a:chOff x="7005943" y="2093245"/>
                <a:chExt cx="4346947" cy="1738527"/>
              </a:xfrm>
            </p:grpSpPr>
            <p:sp>
              <p:nvSpPr>
                <p:cNvPr id="114" name="Bullet2" descr="f730d986-ad93-4e42-b8e0-e66956edbbf8">
                  <a:extLst>
                    <a:ext uri="{FF2B5EF4-FFF2-40B4-BE49-F238E27FC236}">
                      <a16:creationId xmlns:a16="http://schemas.microsoft.com/office/drawing/2014/main" id="{D8F7DA2D-5E18-327F-392A-5ED320E5BAF9}"/>
                    </a:ext>
                  </a:extLst>
                </p:cNvPr>
                <p:cNvSpPr txBox="1"/>
                <p:nvPr/>
              </p:nvSpPr>
              <p:spPr>
                <a:xfrm>
                  <a:off x="7005944" y="2093245"/>
                  <a:ext cx="3144817" cy="612456"/>
                </a:xfrm>
                <a:prstGeom prst="roundRect">
                  <a:avLst>
                    <a:gd name="adj" fmla="val 50000"/>
                  </a:avLst>
                </a:prstGeom>
                <a:solidFill>
                  <a:schemeClr val="bg1"/>
                </a:solidFill>
                <a:ln>
                  <a:solidFill>
                    <a:schemeClr val="accent1"/>
                  </a:solidFill>
                </a:ln>
              </p:spPr>
              <p:txBody>
                <a:bodyPr wrap="square" lIns="91440" tIns="45720" rIns="91440" bIns="45720" anchor="ctr" anchorCtr="0">
                  <a:normAutofit/>
                </a:bodyPr>
                <a:lstStyle/>
                <a:p>
                  <a:pPr algn="ctr">
                    <a:spcBef>
                      <a:spcPct val="0"/>
                    </a:spcBef>
                    <a:spcAft>
                      <a:spcPct val="0"/>
                    </a:spcAft>
                  </a:pPr>
                  <a:r>
                    <a:rPr lang="en-US" sz="2000" b="1" i="0" u="none" strike="noStrike">
                      <a:solidFill>
                        <a:srgbClr val="000000"/>
                      </a:solidFill>
                      <a:ea typeface="微软雅黑"/>
                    </a:rPr>
                    <a:t>端到端闭环优化</a:t>
                  </a:r>
                </a:p>
              </p:txBody>
            </p:sp>
            <p:sp>
              <p:nvSpPr>
                <p:cNvPr id="109" name="Text2" descr="4c28e762-c500-40b5-bb3f-806bef4c3daf">
                  <a:extLst>
                    <a:ext uri="{FF2B5EF4-FFF2-40B4-BE49-F238E27FC236}">
                      <a16:creationId xmlns:a16="http://schemas.microsoft.com/office/drawing/2014/main" id="{54D4E444-52B8-E51D-80F0-50C010712CCF}"/>
                    </a:ext>
                  </a:extLst>
                </p:cNvPr>
                <p:cNvSpPr txBox="1"/>
                <p:nvPr/>
              </p:nvSpPr>
              <p:spPr>
                <a:xfrm>
                  <a:off x="7005943" y="2749244"/>
                  <a:ext cx="4346947" cy="1082528"/>
                </a:xfrm>
                <a:prstGeom prst="rect">
                  <a:avLst/>
                </a:prstGeom>
                <a:noFill/>
                <a:ln>
                  <a:noFill/>
                </a:ln>
              </p:spPr>
              <p:txBody>
                <a:bodyPr wrap="square" lIns="91440" tIns="45720" rIns="91440" bIns="45720" anchor="t" anchorCtr="0">
                  <a:normAutofit/>
                </a:bodyPr>
                <a:lstStyle/>
                <a:p>
                  <a:pPr marL="285750" indent="-285750" algn="l">
                    <a:lnSpc>
                      <a:spcPct val="120000"/>
                    </a:lnSpc>
                    <a:spcBef>
                      <a:spcPct val="0"/>
                    </a:spcBef>
                    <a:spcAft>
                      <a:spcPct val="0"/>
                    </a:spcAft>
                    <a:buFont typeface="Arial" panose="020B0604020202020204" pitchFamily="34" charset="0"/>
                    <a:buChar char="•"/>
                  </a:pPr>
                  <a:r>
                    <a:rPr lang="en-US" b="0" i="0" u="none" strike="noStrike">
                      <a:solidFill>
                        <a:srgbClr val="000000"/>
                      </a:solidFill>
                      <a:ea typeface="微软雅黑"/>
                    </a:rPr>
                    <a:t>从硬件层（智能网卡DPU）到应用层的全栈优化，NVIDIA Morpheus智能数据处理流水线。</a:t>
                  </a:r>
                </a:p>
              </p:txBody>
            </p:sp>
          </p:grpSp>
        </p:grpSp>
        <p:grpSp>
          <p:nvGrpSpPr>
            <p:cNvPr id="20" name="组合 19" descr="b243d6e5-c17c-4eda-ae92-fe024fae0d5b">
              <a:extLst>
                <a:ext uri="{FF2B5EF4-FFF2-40B4-BE49-F238E27FC236}">
                  <a16:creationId xmlns:a16="http://schemas.microsoft.com/office/drawing/2014/main" id="{E8EEFDDF-8063-9E2A-9AFB-0027E0F2AE8D}"/>
                </a:ext>
              </a:extLst>
            </p:cNvPr>
            <p:cNvGrpSpPr/>
            <p:nvPr/>
          </p:nvGrpSpPr>
          <p:grpSpPr>
            <a:xfrm>
              <a:off x="3759381" y="4157131"/>
              <a:ext cx="4660537" cy="1976969"/>
              <a:chOff x="3759381" y="4157131"/>
              <a:chExt cx="4660537" cy="1976969"/>
            </a:xfrm>
          </p:grpSpPr>
          <p:sp>
            <p:nvSpPr>
              <p:cNvPr id="116" name="矩形: 圆角 115" descr="11756344-159a-41c9-aebf-a37ce907a25f">
                <a:extLst>
                  <a:ext uri="{FF2B5EF4-FFF2-40B4-BE49-F238E27FC236}">
                    <a16:creationId xmlns:a16="http://schemas.microsoft.com/office/drawing/2014/main" id="{76F44DC9-82DA-E486-5D15-664BEC512EB1}"/>
                  </a:ext>
                </a:extLst>
              </p:cNvPr>
              <p:cNvSpPr/>
              <p:nvPr/>
            </p:nvSpPr>
            <p:spPr>
              <a:xfrm>
                <a:off x="3759381" y="4648168"/>
                <a:ext cx="4660537" cy="1463073"/>
              </a:xfrm>
              <a:prstGeom prst="roundRect">
                <a:avLst>
                  <a:gd name="adj" fmla="val 4325"/>
                </a:avLst>
              </a:prstGeom>
              <a:noFill/>
              <a:ln>
                <a:solidFill>
                  <a:schemeClr val="accent1"/>
                </a:solidFill>
              </a:ln>
            </p:spPr>
            <p:txBody>
              <a:bodyPr wrap="square" lIns="91440" tIns="45720" rIns="91440" bIns="45720" anchor="ctr" anchorCtr="0">
                <a:normAutofit/>
              </a:bodyPr>
              <a:lstStyle/>
              <a:p>
                <a:pPr algn="ctr"/>
                <a:endParaRPr/>
              </a:p>
            </p:txBody>
          </p:sp>
          <p:sp>
            <p:nvSpPr>
              <p:cNvPr id="120" name="任意多边形: 形状 119" descr="d360fe33-1487-44bd-80ce-2f4838393e89">
                <a:extLst>
                  <a:ext uri="{FF2B5EF4-FFF2-40B4-BE49-F238E27FC236}">
                    <a16:creationId xmlns:a16="http://schemas.microsoft.com/office/drawing/2014/main" id="{75F5CCC0-BB86-45AD-0A7E-A52C46A68095}"/>
                  </a:ext>
                </a:extLst>
              </p:cNvPr>
              <p:cNvSpPr/>
              <p:nvPr/>
            </p:nvSpPr>
            <p:spPr>
              <a:xfrm>
                <a:off x="5746918" y="4157131"/>
                <a:ext cx="372453" cy="107211"/>
              </a:xfrm>
              <a:custGeom>
                <a:avLst/>
                <a:gdLst>
                  <a:gd name="connsiteX0" fmla="*/ 92583 w 170687"/>
                  <a:gd name="connsiteY0" fmla="*/ 78105 h 78104"/>
                  <a:gd name="connsiteX1" fmla="*/ 0 w 170687"/>
                  <a:gd name="connsiteY1" fmla="*/ 78105 h 78104"/>
                  <a:gd name="connsiteX2" fmla="*/ 78105 w 170687"/>
                  <a:gd name="connsiteY2" fmla="*/ 0 h 78104"/>
                  <a:gd name="connsiteX3" fmla="*/ 170688 w 170687"/>
                  <a:gd name="connsiteY3" fmla="*/ 0 h 78104"/>
                </a:gdLst>
                <a:ahLst/>
                <a:cxnLst>
                  <a:cxn ang="0">
                    <a:pos x="connsiteX0" y="connsiteY0"/>
                  </a:cxn>
                  <a:cxn ang="0">
                    <a:pos x="connsiteX1" y="connsiteY1"/>
                  </a:cxn>
                  <a:cxn ang="0">
                    <a:pos x="connsiteX2" y="connsiteY2"/>
                  </a:cxn>
                  <a:cxn ang="0">
                    <a:pos x="connsiteX3" y="connsiteY3"/>
                  </a:cxn>
                </a:cxnLst>
                <a:rect l="l" t="t" r="r" b="b"/>
                <a:pathLst>
                  <a:path w="170687" h="78104">
                    <a:moveTo>
                      <a:pt x="92583" y="78105"/>
                    </a:moveTo>
                    <a:lnTo>
                      <a:pt x="0" y="78105"/>
                    </a:lnTo>
                    <a:lnTo>
                      <a:pt x="78105" y="0"/>
                    </a:lnTo>
                    <a:lnTo>
                      <a:pt x="170688" y="0"/>
                    </a:lnTo>
                    <a:close/>
                  </a:path>
                </a:pathLst>
              </a:custGeom>
              <a:solidFill>
                <a:schemeClr val="accent1"/>
              </a:solidFill>
              <a:ln w="9525" cap="flat">
                <a:noFill/>
                <a:prstDash val="solid"/>
                <a:miter/>
              </a:ln>
            </p:spPr>
            <p:txBody>
              <a:bodyPr rtlCol="0" anchor="ctr" anchorCtr="0"/>
              <a:lstStyle/>
              <a:p>
                <a:pPr algn="l"/>
                <a:endParaRPr/>
              </a:p>
            </p:txBody>
          </p:sp>
          <p:sp>
            <p:nvSpPr>
              <p:cNvPr id="121" name="任意多边形: 形状 120" descr="c8b7ffc5-2037-4198-8383-e3b1bb7cef2a">
                <a:extLst>
                  <a:ext uri="{FF2B5EF4-FFF2-40B4-BE49-F238E27FC236}">
                    <a16:creationId xmlns:a16="http://schemas.microsoft.com/office/drawing/2014/main" id="{3654411C-E9B6-E95C-3F76-A1A17B4A163C}"/>
                  </a:ext>
                </a:extLst>
              </p:cNvPr>
              <p:cNvSpPr/>
              <p:nvPr/>
            </p:nvSpPr>
            <p:spPr>
              <a:xfrm>
                <a:off x="6089650" y="4157131"/>
                <a:ext cx="372453" cy="107211"/>
              </a:xfrm>
              <a:custGeom>
                <a:avLst/>
                <a:gdLst>
                  <a:gd name="connsiteX0" fmla="*/ 92583 w 170687"/>
                  <a:gd name="connsiteY0" fmla="*/ 78105 h 78104"/>
                  <a:gd name="connsiteX1" fmla="*/ 0 w 170687"/>
                  <a:gd name="connsiteY1" fmla="*/ 78105 h 78104"/>
                  <a:gd name="connsiteX2" fmla="*/ 78105 w 170687"/>
                  <a:gd name="connsiteY2" fmla="*/ 0 h 78104"/>
                  <a:gd name="connsiteX3" fmla="*/ 170688 w 170687"/>
                  <a:gd name="connsiteY3" fmla="*/ 0 h 78104"/>
                </a:gdLst>
                <a:ahLst/>
                <a:cxnLst>
                  <a:cxn ang="0">
                    <a:pos x="connsiteX0" y="connsiteY0"/>
                  </a:cxn>
                  <a:cxn ang="0">
                    <a:pos x="connsiteX1" y="connsiteY1"/>
                  </a:cxn>
                  <a:cxn ang="0">
                    <a:pos x="connsiteX2" y="connsiteY2"/>
                  </a:cxn>
                  <a:cxn ang="0">
                    <a:pos x="connsiteX3" y="connsiteY3"/>
                  </a:cxn>
                </a:cxnLst>
                <a:rect l="l" t="t" r="r" b="b"/>
                <a:pathLst>
                  <a:path w="170687" h="78104">
                    <a:moveTo>
                      <a:pt x="92583" y="78105"/>
                    </a:moveTo>
                    <a:lnTo>
                      <a:pt x="0" y="78105"/>
                    </a:lnTo>
                    <a:lnTo>
                      <a:pt x="78105" y="0"/>
                    </a:lnTo>
                    <a:lnTo>
                      <a:pt x="170688" y="0"/>
                    </a:lnTo>
                    <a:close/>
                  </a:path>
                </a:pathLst>
              </a:custGeom>
              <a:solidFill>
                <a:schemeClr val="accent1"/>
              </a:solidFill>
              <a:ln w="9525" cap="flat">
                <a:noFill/>
                <a:prstDash val="solid"/>
                <a:miter/>
              </a:ln>
            </p:spPr>
            <p:txBody>
              <a:bodyPr rtlCol="0" anchor="ctr" anchorCtr="0"/>
              <a:lstStyle/>
              <a:p>
                <a:pPr algn="l"/>
                <a:endParaRPr/>
              </a:p>
            </p:txBody>
          </p:sp>
          <p:sp>
            <p:nvSpPr>
              <p:cNvPr id="122" name="任意多边形: 形状 121" descr="c65a6598-56f8-4933-b337-9dfe79925dad">
                <a:extLst>
                  <a:ext uri="{FF2B5EF4-FFF2-40B4-BE49-F238E27FC236}">
                    <a16:creationId xmlns:a16="http://schemas.microsoft.com/office/drawing/2014/main" id="{C7E2AEC7-C0CE-8044-7E26-3BF44C0A02A0}"/>
                  </a:ext>
                </a:extLst>
              </p:cNvPr>
              <p:cNvSpPr/>
              <p:nvPr/>
            </p:nvSpPr>
            <p:spPr>
              <a:xfrm>
                <a:off x="6432592" y="4157131"/>
                <a:ext cx="372453" cy="107211"/>
              </a:xfrm>
              <a:custGeom>
                <a:avLst/>
                <a:gdLst>
                  <a:gd name="connsiteX0" fmla="*/ 92583 w 170687"/>
                  <a:gd name="connsiteY0" fmla="*/ 78105 h 78104"/>
                  <a:gd name="connsiteX1" fmla="*/ 0 w 170687"/>
                  <a:gd name="connsiteY1" fmla="*/ 78105 h 78104"/>
                  <a:gd name="connsiteX2" fmla="*/ 78105 w 170687"/>
                  <a:gd name="connsiteY2" fmla="*/ 0 h 78104"/>
                  <a:gd name="connsiteX3" fmla="*/ 170688 w 170687"/>
                  <a:gd name="connsiteY3" fmla="*/ 0 h 78104"/>
                </a:gdLst>
                <a:ahLst/>
                <a:cxnLst>
                  <a:cxn ang="0">
                    <a:pos x="connsiteX0" y="connsiteY0"/>
                  </a:cxn>
                  <a:cxn ang="0">
                    <a:pos x="connsiteX1" y="connsiteY1"/>
                  </a:cxn>
                  <a:cxn ang="0">
                    <a:pos x="connsiteX2" y="connsiteY2"/>
                  </a:cxn>
                  <a:cxn ang="0">
                    <a:pos x="connsiteX3" y="connsiteY3"/>
                  </a:cxn>
                </a:cxnLst>
                <a:rect l="l" t="t" r="r" b="b"/>
                <a:pathLst>
                  <a:path w="170687" h="78104">
                    <a:moveTo>
                      <a:pt x="92583" y="78105"/>
                    </a:moveTo>
                    <a:lnTo>
                      <a:pt x="0" y="78105"/>
                    </a:lnTo>
                    <a:lnTo>
                      <a:pt x="78105" y="0"/>
                    </a:lnTo>
                    <a:lnTo>
                      <a:pt x="170688" y="0"/>
                    </a:lnTo>
                    <a:close/>
                  </a:path>
                </a:pathLst>
              </a:custGeom>
              <a:solidFill>
                <a:schemeClr val="accent1"/>
              </a:solidFill>
              <a:ln w="9525" cap="flat">
                <a:noFill/>
                <a:prstDash val="solid"/>
                <a:miter/>
              </a:ln>
            </p:spPr>
            <p:txBody>
              <a:bodyPr rtlCol="0" anchor="ctr" anchorCtr="0"/>
              <a:lstStyle/>
              <a:p>
                <a:pPr algn="l"/>
                <a:endParaRPr/>
              </a:p>
            </p:txBody>
          </p:sp>
          <p:sp>
            <p:nvSpPr>
              <p:cNvPr id="119" name="平行四边形 118" descr="63c26469-8866-469d-a976-353301d16d0a">
                <a:extLst>
                  <a:ext uri="{FF2B5EF4-FFF2-40B4-BE49-F238E27FC236}">
                    <a16:creationId xmlns:a16="http://schemas.microsoft.com/office/drawing/2014/main" id="{1258B3FC-BD23-B7F8-DDA4-D5CEE8EC91CF}"/>
                  </a:ext>
                </a:extLst>
              </p:cNvPr>
              <p:cNvSpPr/>
              <p:nvPr/>
            </p:nvSpPr>
            <p:spPr>
              <a:xfrm>
                <a:off x="7735645" y="6088381"/>
                <a:ext cx="467150" cy="45719"/>
              </a:xfrm>
              <a:prstGeom prst="parallelogram">
                <a:avLst>
                  <a:gd name="adj" fmla="val 53255"/>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grpSp>
            <p:nvGrpSpPr>
              <p:cNvPr id="15" name="组合 14" descr="56b390d7-9303-4f3f-9f95-971fea9220fe">
                <a:extLst>
                  <a:ext uri="{FF2B5EF4-FFF2-40B4-BE49-F238E27FC236}">
                    <a16:creationId xmlns:a16="http://schemas.microsoft.com/office/drawing/2014/main" id="{C58C4171-6337-AF58-8FFC-98304DA66207}"/>
                  </a:ext>
                </a:extLst>
              </p:cNvPr>
              <p:cNvGrpSpPr/>
              <p:nvPr/>
            </p:nvGrpSpPr>
            <p:grpSpPr>
              <a:xfrm>
                <a:off x="3906961" y="4264342"/>
                <a:ext cx="4346947" cy="1738527"/>
                <a:chOff x="3906961" y="4264342"/>
                <a:chExt cx="4346947" cy="1738527"/>
              </a:xfrm>
            </p:grpSpPr>
            <p:sp>
              <p:nvSpPr>
                <p:cNvPr id="123" name="Bullet3" descr="8180a4fe-03c3-4e13-8fbd-1f6f3c063cf0">
                  <a:extLst>
                    <a:ext uri="{FF2B5EF4-FFF2-40B4-BE49-F238E27FC236}">
                      <a16:creationId xmlns:a16="http://schemas.microsoft.com/office/drawing/2014/main" id="{2304D247-E838-E023-F038-27BF800E6DEB}"/>
                    </a:ext>
                  </a:extLst>
                </p:cNvPr>
                <p:cNvSpPr txBox="1"/>
                <p:nvPr/>
              </p:nvSpPr>
              <p:spPr>
                <a:xfrm>
                  <a:off x="3906962" y="4264342"/>
                  <a:ext cx="3144817" cy="612456"/>
                </a:xfrm>
                <a:prstGeom prst="roundRect">
                  <a:avLst>
                    <a:gd name="adj" fmla="val 50000"/>
                  </a:avLst>
                </a:prstGeom>
                <a:solidFill>
                  <a:schemeClr val="bg1"/>
                </a:solidFill>
                <a:ln>
                  <a:solidFill>
                    <a:schemeClr val="accent1"/>
                  </a:solidFill>
                </a:ln>
              </p:spPr>
              <p:txBody>
                <a:bodyPr wrap="square" lIns="91440" tIns="45720" rIns="91440" bIns="45720" anchor="ctr" anchorCtr="0">
                  <a:normAutofit/>
                </a:bodyPr>
                <a:lstStyle/>
                <a:p>
                  <a:pPr algn="ctr">
                    <a:spcBef>
                      <a:spcPct val="0"/>
                    </a:spcBef>
                    <a:spcAft>
                      <a:spcPct val="0"/>
                    </a:spcAft>
                  </a:pPr>
                  <a:r>
                    <a:rPr lang="en-US" sz="2000" b="1" i="0" u="none" strike="noStrike">
                      <a:solidFill>
                        <a:srgbClr val="000000"/>
                      </a:solidFill>
                      <a:ea typeface="微软雅黑"/>
                    </a:rPr>
                    <a:t>量子计算赋能</a:t>
                  </a:r>
                </a:p>
              </p:txBody>
            </p:sp>
            <p:sp>
              <p:nvSpPr>
                <p:cNvPr id="118" name="Text3" descr="2a27436f-ab66-49d3-8d62-78f7081c195c">
                  <a:extLst>
                    <a:ext uri="{FF2B5EF4-FFF2-40B4-BE49-F238E27FC236}">
                      <a16:creationId xmlns:a16="http://schemas.microsoft.com/office/drawing/2014/main" id="{E30FA3D2-DA18-F4EE-85AD-41345D800DDE}"/>
                    </a:ext>
                  </a:extLst>
                </p:cNvPr>
                <p:cNvSpPr txBox="1"/>
                <p:nvPr/>
              </p:nvSpPr>
              <p:spPr>
                <a:xfrm>
                  <a:off x="3906961" y="4920341"/>
                  <a:ext cx="4346947" cy="1082528"/>
                </a:xfrm>
                <a:prstGeom prst="rect">
                  <a:avLst/>
                </a:prstGeom>
                <a:noFill/>
                <a:ln>
                  <a:noFill/>
                </a:ln>
              </p:spPr>
              <p:txBody>
                <a:bodyPr wrap="square" lIns="91440" tIns="45720" rIns="91440" bIns="45720" anchor="t" anchorCtr="0">
                  <a:normAutofit/>
                </a:bodyPr>
                <a:lstStyle/>
                <a:p>
                  <a:pPr marL="285750" indent="-285750" algn="l">
                    <a:lnSpc>
                      <a:spcPct val="120000"/>
                    </a:lnSpc>
                    <a:spcBef>
                      <a:spcPct val="0"/>
                    </a:spcBef>
                    <a:spcAft>
                      <a:spcPct val="0"/>
                    </a:spcAft>
                    <a:buFont typeface="Arial" panose="020B0604020202020204" pitchFamily="34" charset="0"/>
                    <a:buChar char="•"/>
                  </a:pPr>
                  <a:r>
                    <a:rPr lang="en-US" b="0" i="0" u="none" strike="noStrike">
                      <a:solidFill>
                        <a:srgbClr val="000000"/>
                      </a:solidFill>
                      <a:ea typeface="微软雅黑"/>
                    </a:rPr>
                    <a:t>量子优化算法解决数据库NP - hard问题，D - Wave实验量子索引选择优化。</a:t>
                  </a:r>
                </a:p>
              </p:txBody>
            </p:sp>
          </p:grpSp>
        </p:gr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sz="3600" b="1" dirty="0" err="1"/>
              <a:t>AI数据库关键技术体系</a:t>
            </a:r>
            <a:endParaRPr lang="en-US" sz="3600" b="1" dirty="0"/>
          </a:p>
        </p:txBody>
      </p:sp>
      <p:grpSp>
        <p:nvGrpSpPr>
          <p:cNvPr id="50" name="6d649ebf-74bc-446c-add3-cfd664cd660c.source.5.zh-Hans.pptx" descr="6d7fe80a-d3c0-4f90-8fd3-6f3610870e11">
            <a:extLst>
              <a:ext uri="{FF2B5EF4-FFF2-40B4-BE49-F238E27FC236}">
                <a16:creationId xmlns:a16="http://schemas.microsoft.com/office/drawing/2014/main" id="{496284C5-9049-A9D1-8105-D97C867A2E7A}"/>
              </a:ext>
            </a:extLst>
          </p:cNvPr>
          <p:cNvGrpSpPr/>
          <p:nvPr/>
        </p:nvGrpSpPr>
        <p:grpSpPr>
          <a:xfrm>
            <a:off x="0" y="1662833"/>
            <a:ext cx="12698264" cy="5195167"/>
            <a:chOff x="1" y="1662833"/>
            <a:chExt cx="12191999" cy="5195167"/>
          </a:xfrm>
        </p:grpSpPr>
        <p:sp>
          <p:nvSpPr>
            <p:cNvPr id="13" name="PictureMisc1" descr="aa6ce5fb-21e2-4a7e-aa44-1ed2fcafc31f">
              <a:extLst>
                <a:ext uri="{FF2B5EF4-FFF2-40B4-BE49-F238E27FC236}">
                  <a16:creationId xmlns:a16="http://schemas.microsoft.com/office/drawing/2014/main" id="{D80852F5-4590-DFE2-0893-EC98FDB510F2}"/>
                </a:ext>
              </a:extLst>
            </p:cNvPr>
            <p:cNvSpPr/>
            <p:nvPr/>
          </p:nvSpPr>
          <p:spPr>
            <a:xfrm>
              <a:off x="1" y="4454604"/>
              <a:ext cx="12191999" cy="2403396"/>
            </a:xfrm>
            <a:prstGeom prst="rect">
              <a:avLst/>
            </a:prstGeom>
            <a:blipFill rotWithShape="1">
              <a:blip r:embed="rId2"/>
              <a:srcRect/>
              <a:stretch>
                <a:fillRect t="-5341" b="-18453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imes New Roman"/>
                <a:ea typeface="宋体"/>
                <a:cs typeface="+mn-cs"/>
              </a:endParaRPr>
            </a:p>
          </p:txBody>
        </p:sp>
        <p:sp>
          <p:nvSpPr>
            <p:cNvPr id="14" name="c" descr="c7f043c2-c98b-4e97-9bf2-60f4a7b4ee69">
              <a:extLst>
                <a:ext uri="{FF2B5EF4-FFF2-40B4-BE49-F238E27FC236}">
                  <a16:creationId xmlns:a16="http://schemas.microsoft.com/office/drawing/2014/main" id="{52A49B3F-E524-354D-7F22-84F151D900CF}"/>
                </a:ext>
              </a:extLst>
            </p:cNvPr>
            <p:cNvSpPr/>
            <p:nvPr/>
          </p:nvSpPr>
          <p:spPr>
            <a:xfrm>
              <a:off x="598591" y="1824048"/>
              <a:ext cx="10994819" cy="4310052"/>
            </a:xfrm>
            <a:prstGeom prst="roundRect">
              <a:avLst>
                <a:gd name="adj" fmla="val 3015"/>
              </a:avLst>
            </a:prstGeom>
            <a:gradFill flip="none" rotWithShape="1">
              <a:gsLst>
                <a:gs pos="0">
                  <a:schemeClr val="bg1"/>
                </a:gs>
                <a:gs pos="100000">
                  <a:schemeClr val="bg1">
                    <a:alpha val="90000"/>
                  </a:schemeClr>
                </a:gs>
              </a:gsLst>
              <a:lin ang="5400000" scaled="1"/>
              <a:tileRect/>
            </a:gradFill>
            <a:ln w="6350">
              <a:gradFill flip="none" rotWithShape="1">
                <a:gsLst>
                  <a:gs pos="0">
                    <a:schemeClr val="tx1">
                      <a:alpha val="50000"/>
                    </a:schemeClr>
                  </a:gs>
                  <a:gs pos="100000">
                    <a:schemeClr val="tx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imes New Roman"/>
                <a:ea typeface="宋体"/>
                <a:cs typeface="+mn-cs"/>
              </a:endParaRPr>
            </a:p>
          </p:txBody>
        </p:sp>
        <p:cxnSp>
          <p:nvCxnSpPr>
            <p:cNvPr id="15" name="直接连接符 14" descr="6aeadf92-db21-4171-905d-0c21c12d87ba">
              <a:extLst>
                <a:ext uri="{FF2B5EF4-FFF2-40B4-BE49-F238E27FC236}">
                  <a16:creationId xmlns:a16="http://schemas.microsoft.com/office/drawing/2014/main" id="{D5E7017A-61FA-DF7D-91E5-7AE76794A276}"/>
                </a:ext>
              </a:extLst>
            </p:cNvPr>
            <p:cNvCxnSpPr>
              <a:cxnSpLocks/>
              <a:stCxn id="29" idx="1"/>
              <a:endCxn id="32" idx="3"/>
            </p:cNvCxnSpPr>
            <p:nvPr/>
          </p:nvCxnSpPr>
          <p:spPr>
            <a:xfrm>
              <a:off x="3411420" y="4944422"/>
              <a:ext cx="5306516"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descr="db641f3d-655e-4566-a22a-98766ffd2fb4">
              <a:extLst>
                <a:ext uri="{FF2B5EF4-FFF2-40B4-BE49-F238E27FC236}">
                  <a16:creationId xmlns:a16="http://schemas.microsoft.com/office/drawing/2014/main" id="{7BC52E70-3086-62D6-253C-AF2D861B7D52}"/>
                </a:ext>
              </a:extLst>
            </p:cNvPr>
            <p:cNvCxnSpPr>
              <a:cxnSpLocks/>
              <a:stCxn id="41" idx="3"/>
            </p:cNvCxnSpPr>
            <p:nvPr/>
          </p:nvCxnSpPr>
          <p:spPr>
            <a:xfrm>
              <a:off x="2868646" y="1812566"/>
              <a:ext cx="6931611"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nvGrpSpPr>
            <p:cNvPr id="45" name="组合 44" descr="d6b04e63-cdc4-485f-b781-a6de7bf41558">
              <a:extLst>
                <a:ext uri="{FF2B5EF4-FFF2-40B4-BE49-F238E27FC236}">
                  <a16:creationId xmlns:a16="http://schemas.microsoft.com/office/drawing/2014/main" id="{97243A23-34C0-C0DB-ED3C-472FDFAE7594}"/>
                </a:ext>
              </a:extLst>
            </p:cNvPr>
            <p:cNvGrpSpPr/>
            <p:nvPr/>
          </p:nvGrpSpPr>
          <p:grpSpPr>
            <a:xfrm>
              <a:off x="1965844" y="1662833"/>
              <a:ext cx="3733798" cy="4154974"/>
              <a:chOff x="1965844" y="1662833"/>
              <a:chExt cx="3733798" cy="4154974"/>
            </a:xfrm>
          </p:grpSpPr>
          <p:sp>
            <p:nvSpPr>
              <p:cNvPr id="39" name="Bullet1" descr="63a985e9-225b-4530-ae46-40972af6aa8b">
                <a:extLst>
                  <a:ext uri="{FF2B5EF4-FFF2-40B4-BE49-F238E27FC236}">
                    <a16:creationId xmlns:a16="http://schemas.microsoft.com/office/drawing/2014/main" id="{E95CA7A1-9125-AD7D-4B78-63742D6BDBDC}"/>
                  </a:ext>
                </a:extLst>
              </p:cNvPr>
              <p:cNvSpPr txBox="1">
                <a:spLocks/>
              </p:cNvSpPr>
              <p:nvPr/>
            </p:nvSpPr>
            <p:spPr>
              <a:xfrm>
                <a:off x="2185951" y="5159840"/>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3765" rtl="0" eaLnBrk="1" fontAlgn="auto" latinLnBrk="0" hangingPunct="1">
                  <a:lnSpc>
                    <a:spcPct val="120000"/>
                  </a:lnSpc>
                  <a:spcBef>
                    <a:spcPct val="0"/>
                  </a:spcBef>
                  <a:spcAft>
                    <a:spcPct val="0"/>
                  </a:spcAft>
                  <a:buClrTx/>
                  <a:buSzPct val="25000"/>
                  <a:buFontTx/>
                  <a:buNone/>
                  <a:tabLst/>
                  <a:defRPr/>
                </a:pPr>
                <a:r>
                  <a:rPr lang="en-US" sz="2000" u="sng" dirty="0" err="1">
                    <a:solidFill>
                      <a:srgbClr val="E40000"/>
                    </a:solidFill>
                    <a:latin typeface="Arial"/>
                    <a:ea typeface="黑体"/>
                  </a:rPr>
                  <a:t>向量数据库</a:t>
                </a:r>
                <a:r>
                  <a:rPr lang="zh-CN" altLang="en-US" sz="2000" u="sng" dirty="0">
                    <a:solidFill>
                      <a:srgbClr val="E40000"/>
                    </a:solidFill>
                    <a:latin typeface="Arial"/>
                    <a:ea typeface="黑体"/>
                  </a:rPr>
                  <a:t>与</a:t>
                </a:r>
                <a:r>
                  <a:rPr lang="en-US" altLang="zh-CN" sz="2000" u="sng" dirty="0">
                    <a:solidFill>
                      <a:srgbClr val="E40000"/>
                    </a:solidFill>
                    <a:latin typeface="Arial"/>
                    <a:ea typeface="黑体"/>
                  </a:rPr>
                  <a:t>LLM </a:t>
                </a:r>
                <a:r>
                  <a:rPr lang="en-US" altLang="zh-CN" sz="2000" u="sng" dirty="0" err="1">
                    <a:solidFill>
                      <a:srgbClr val="E40000"/>
                    </a:solidFill>
                    <a:latin typeface="Arial"/>
                    <a:ea typeface="黑体"/>
                  </a:rPr>
                  <a:t>RAG</a:t>
                </a:r>
                <a:r>
                  <a:rPr lang="en-US" sz="2000" u="sng" dirty="0" err="1">
                    <a:solidFill>
                      <a:srgbClr val="E40000"/>
                    </a:solidFill>
                    <a:latin typeface="Arial"/>
                    <a:ea typeface="黑体"/>
                  </a:rPr>
                  <a:t>技术</a:t>
                </a:r>
                <a:endParaRPr lang="en-US" sz="2000" u="sng" dirty="0">
                  <a:solidFill>
                    <a:srgbClr val="E40000"/>
                  </a:solidFill>
                  <a:latin typeface="Arial"/>
                  <a:ea typeface="黑体"/>
                </a:endParaRPr>
              </a:p>
            </p:txBody>
          </p:sp>
          <p:sp>
            <p:nvSpPr>
              <p:cNvPr id="41" name="Number1" descr="cb5a9482-dd7b-48c3-b267-d0acb23dd1ab">
                <a:extLst>
                  <a:ext uri="{FF2B5EF4-FFF2-40B4-BE49-F238E27FC236}">
                    <a16:creationId xmlns:a16="http://schemas.microsoft.com/office/drawing/2014/main" id="{D3AA65A5-4729-21F6-F81F-8A1162DABAC4}"/>
                  </a:ext>
                </a:extLst>
              </p:cNvPr>
              <p:cNvSpPr txBox="1"/>
              <p:nvPr/>
            </p:nvSpPr>
            <p:spPr>
              <a:xfrm>
                <a:off x="1965844"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454545"/>
                    </a:solidFill>
                    <a:effectLst/>
                    <a:uLnTx/>
                    <a:uFillTx/>
                    <a:latin typeface="Arial"/>
                    <a:ea typeface="宋体"/>
                    <a:cs typeface="+mn-cs"/>
                  </a:rPr>
                  <a:t>1</a:t>
                </a:r>
              </a:p>
            </p:txBody>
          </p:sp>
        </p:grpSp>
        <p:grpSp>
          <p:nvGrpSpPr>
            <p:cNvPr id="46" name="组合 45" descr="a8ef9746-64a1-450c-a1d6-2071045d2e7e">
              <a:extLst>
                <a:ext uri="{FF2B5EF4-FFF2-40B4-BE49-F238E27FC236}">
                  <a16:creationId xmlns:a16="http://schemas.microsoft.com/office/drawing/2014/main" id="{A95487B3-04BE-189D-49D3-1793B763E883}"/>
                </a:ext>
              </a:extLst>
            </p:cNvPr>
            <p:cNvGrpSpPr/>
            <p:nvPr/>
          </p:nvGrpSpPr>
          <p:grpSpPr>
            <a:xfrm>
              <a:off x="1284804" y="1662833"/>
              <a:ext cx="5256246" cy="977787"/>
              <a:chOff x="1284804" y="1662833"/>
              <a:chExt cx="5256246" cy="977787"/>
            </a:xfrm>
          </p:grpSpPr>
          <p:sp>
            <p:nvSpPr>
              <p:cNvPr id="36" name="Bullet2" descr="b4a03a2d-2661-476e-9f2e-ccba69d31cc2">
                <a:extLst>
                  <a:ext uri="{FF2B5EF4-FFF2-40B4-BE49-F238E27FC236}">
                    <a16:creationId xmlns:a16="http://schemas.microsoft.com/office/drawing/2014/main" id="{673A8015-3DE8-BD7C-B3F9-5ACF8C08A3E2}"/>
                  </a:ext>
                </a:extLst>
              </p:cNvPr>
              <p:cNvSpPr txBox="1">
                <a:spLocks/>
              </p:cNvSpPr>
              <p:nvPr/>
            </p:nvSpPr>
            <p:spPr>
              <a:xfrm>
                <a:off x="1284804" y="1982653"/>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3765" rtl="0" eaLnBrk="1" fontAlgn="auto" latinLnBrk="0" hangingPunct="1">
                  <a:lnSpc>
                    <a:spcPct val="120000"/>
                  </a:lnSpc>
                  <a:spcBef>
                    <a:spcPct val="0"/>
                  </a:spcBef>
                  <a:spcAft>
                    <a:spcPct val="0"/>
                  </a:spcAft>
                  <a:buClrTx/>
                  <a:buSzPct val="25000"/>
                  <a:buFontTx/>
                  <a:buNone/>
                  <a:tabLst/>
                  <a:defRPr/>
                </a:pPr>
                <a:r>
                  <a:rPr kumimoji="0" lang="en-US" sz="1600" b="1" i="0" u="none" strike="noStrike" kern="1200" cap="none" spc="0" normalizeH="0" baseline="0" noProof="0" dirty="0" err="1">
                    <a:ln>
                      <a:noFill/>
                    </a:ln>
                    <a:solidFill>
                      <a:srgbClr val="000000"/>
                    </a:solidFill>
                    <a:effectLst/>
                    <a:uLnTx/>
                    <a:uFillTx/>
                    <a:latin typeface="Arial" panose="020B0604020202020204" pitchFamily="34" charset="0"/>
                    <a:ea typeface="微软雅黑"/>
                    <a:cs typeface="Arial" panose="020B0604020202020204" pitchFamily="34" charset="0"/>
                  </a:rPr>
                  <a:t>特征工程一体化架构</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a:cs typeface="Arial" panose="020B0604020202020204" pitchFamily="34" charset="0"/>
                </a:endParaRPr>
              </a:p>
            </p:txBody>
          </p:sp>
          <p:sp>
            <p:nvSpPr>
              <p:cNvPr id="38" name="Number2" descr="33303b4d-75b8-43fb-9107-811eb522960e">
                <a:extLst>
                  <a:ext uri="{FF2B5EF4-FFF2-40B4-BE49-F238E27FC236}">
                    <a16:creationId xmlns:a16="http://schemas.microsoft.com/office/drawing/2014/main" id="{C5925CBE-12B1-4810-CA91-AF26A77C2D5B}"/>
                  </a:ext>
                </a:extLst>
              </p:cNvPr>
              <p:cNvSpPr txBox="1"/>
              <p:nvPr/>
            </p:nvSpPr>
            <p:spPr>
              <a:xfrm>
                <a:off x="5638248"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454545"/>
                    </a:solidFill>
                    <a:effectLst/>
                    <a:uLnTx/>
                    <a:uFillTx/>
                    <a:latin typeface="Arial"/>
                    <a:ea typeface="宋体"/>
                    <a:cs typeface="+mn-cs"/>
                  </a:rPr>
                  <a:t>2</a:t>
                </a:r>
              </a:p>
            </p:txBody>
          </p:sp>
        </p:grpSp>
        <p:grpSp>
          <p:nvGrpSpPr>
            <p:cNvPr id="47" name="组合 46" descr="c7974719-d37e-466b-8727-f1591792a42c">
              <a:extLst>
                <a:ext uri="{FF2B5EF4-FFF2-40B4-BE49-F238E27FC236}">
                  <a16:creationId xmlns:a16="http://schemas.microsoft.com/office/drawing/2014/main" id="{D2B237F1-FE1A-D583-3DD3-A46E71E5B820}"/>
                </a:ext>
              </a:extLst>
            </p:cNvPr>
            <p:cNvGrpSpPr/>
            <p:nvPr/>
          </p:nvGrpSpPr>
          <p:grpSpPr>
            <a:xfrm>
              <a:off x="4462705" y="1662833"/>
              <a:ext cx="5750750" cy="988100"/>
              <a:chOff x="4462705" y="1662833"/>
              <a:chExt cx="5750750" cy="988100"/>
            </a:xfrm>
          </p:grpSpPr>
          <p:sp>
            <p:nvSpPr>
              <p:cNvPr id="33" name="Bullet3" descr="25b8f82b-dca0-4461-980e-c00d40026f51">
                <a:extLst>
                  <a:ext uri="{FF2B5EF4-FFF2-40B4-BE49-F238E27FC236}">
                    <a16:creationId xmlns:a16="http://schemas.microsoft.com/office/drawing/2014/main" id="{DC26826B-E497-3D54-39D5-78277ACC72FD}"/>
                  </a:ext>
                </a:extLst>
              </p:cNvPr>
              <p:cNvSpPr txBox="1">
                <a:spLocks/>
              </p:cNvSpPr>
              <p:nvPr/>
            </p:nvSpPr>
            <p:spPr>
              <a:xfrm>
                <a:off x="4462705" y="1992966"/>
                <a:ext cx="3710844" cy="657967"/>
              </a:xfrm>
              <a:prstGeom prst="rect">
                <a:avLst/>
              </a:prstGeom>
              <a:noFill/>
              <a:ln>
                <a:noFill/>
              </a:ln>
            </p:spPr>
            <p:txBody>
              <a:bodyPr wrap="square" lIns="91440" tIns="45720" rIns="91440" bIns="45720" anchor="t" anchorCtr="0">
                <a:no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3765" rtl="0" eaLnBrk="1" fontAlgn="auto" latinLnBrk="0" hangingPunct="1">
                  <a:lnSpc>
                    <a:spcPct val="120000"/>
                  </a:lnSpc>
                  <a:spcBef>
                    <a:spcPct val="0"/>
                  </a:spcBef>
                  <a:spcAft>
                    <a:spcPct val="0"/>
                  </a:spcAft>
                  <a:buClrTx/>
                  <a:buSzPct val="25000"/>
                  <a:buFontTx/>
                  <a:buNone/>
                  <a:tabLst/>
                  <a:defRPr/>
                </a:pPr>
                <a:r>
                  <a:rPr kumimoji="0" lang="en-US" sz="1600" b="1" i="0" u="none" strike="noStrike" kern="1200" cap="none" spc="0" normalizeH="0" baseline="0" noProof="0" dirty="0" err="1">
                    <a:ln>
                      <a:noFill/>
                    </a:ln>
                    <a:solidFill>
                      <a:srgbClr val="000000"/>
                    </a:solidFill>
                    <a:effectLst/>
                    <a:uLnTx/>
                    <a:uFillTx/>
                    <a:latin typeface="Arial" panose="020B0604020202020204" pitchFamily="34" charset="0"/>
                    <a:ea typeface="微软雅黑"/>
                    <a:cs typeface="Arial" panose="020B0604020202020204" pitchFamily="34" charset="0"/>
                  </a:rPr>
                  <a:t>高性能计算与内存优化技术</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a:cs typeface="Arial" panose="020B0604020202020204" pitchFamily="34" charset="0"/>
                </a:endParaRPr>
              </a:p>
            </p:txBody>
          </p:sp>
          <p:sp>
            <p:nvSpPr>
              <p:cNvPr id="35" name="Number3" descr="c0a49732-a4c3-4d1a-a2f1-796979f425d8">
                <a:extLst>
                  <a:ext uri="{FF2B5EF4-FFF2-40B4-BE49-F238E27FC236}">
                    <a16:creationId xmlns:a16="http://schemas.microsoft.com/office/drawing/2014/main" id="{278459C1-467B-83C8-8DBB-81F7C03E168D}"/>
                  </a:ext>
                </a:extLst>
              </p:cNvPr>
              <p:cNvSpPr txBox="1"/>
              <p:nvPr/>
            </p:nvSpPr>
            <p:spPr>
              <a:xfrm>
                <a:off x="9310653" y="166283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454545"/>
                    </a:solidFill>
                    <a:effectLst/>
                    <a:uLnTx/>
                    <a:uFillTx/>
                    <a:latin typeface="Arial"/>
                    <a:ea typeface="宋体"/>
                    <a:cs typeface="+mn-cs"/>
                  </a:rPr>
                  <a:t>3</a:t>
                </a:r>
              </a:p>
            </p:txBody>
          </p:sp>
        </p:grpSp>
        <p:grpSp>
          <p:nvGrpSpPr>
            <p:cNvPr id="48" name="组合 47" descr="2a10a9d3-5c28-46d0-a330-e823e7a52646">
              <a:extLst>
                <a:ext uri="{FF2B5EF4-FFF2-40B4-BE49-F238E27FC236}">
                  <a16:creationId xmlns:a16="http://schemas.microsoft.com/office/drawing/2014/main" id="{4FBF7FE8-77EB-058A-4B5E-B8E8B0652EAD}"/>
                </a:ext>
              </a:extLst>
            </p:cNvPr>
            <p:cNvGrpSpPr/>
            <p:nvPr/>
          </p:nvGrpSpPr>
          <p:grpSpPr>
            <a:xfrm>
              <a:off x="7611325" y="2018346"/>
              <a:ext cx="3486571" cy="3075808"/>
              <a:chOff x="7611325" y="2018346"/>
              <a:chExt cx="3486571" cy="3075808"/>
            </a:xfrm>
          </p:grpSpPr>
          <p:sp>
            <p:nvSpPr>
              <p:cNvPr id="30" name="Bullet4" descr="3cb080ea-7a29-4d7c-8e4c-06310220d618">
                <a:extLst>
                  <a:ext uri="{FF2B5EF4-FFF2-40B4-BE49-F238E27FC236}">
                    <a16:creationId xmlns:a16="http://schemas.microsoft.com/office/drawing/2014/main" id="{C5A0AC27-3B9B-F222-3732-D2FD4B79C7E1}"/>
                  </a:ext>
                </a:extLst>
              </p:cNvPr>
              <p:cNvSpPr txBox="1">
                <a:spLocks/>
              </p:cNvSpPr>
              <p:nvPr/>
            </p:nvSpPr>
            <p:spPr>
              <a:xfrm>
                <a:off x="7611325" y="2018346"/>
                <a:ext cx="348657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3765" rtl="0" eaLnBrk="1" fontAlgn="auto" latinLnBrk="0" hangingPunct="1">
                  <a:lnSpc>
                    <a:spcPct val="120000"/>
                  </a:lnSpc>
                  <a:spcBef>
                    <a:spcPct val="0"/>
                  </a:spcBef>
                  <a:spcAft>
                    <a:spcPct val="0"/>
                  </a:spcAft>
                  <a:buClrTx/>
                  <a:buSzPct val="25000"/>
                  <a:buFontTx/>
                  <a:buNone/>
                  <a:tabLst/>
                  <a:defRPr/>
                </a:pPr>
                <a:r>
                  <a:rPr lang="en-US" sz="1600" dirty="0" err="1">
                    <a:solidFill>
                      <a:srgbClr val="000000"/>
                    </a:solidFill>
                    <a:ea typeface="微软雅黑"/>
                  </a:rPr>
                  <a:t>多模型支持与模型管理能力</a:t>
                </a:r>
                <a:endParaRPr lang="en-US" sz="1600" dirty="0">
                  <a:solidFill>
                    <a:srgbClr val="000000"/>
                  </a:solidFill>
                  <a:ea typeface="微软雅黑"/>
                </a:endParaRPr>
              </a:p>
            </p:txBody>
          </p:sp>
          <p:sp>
            <p:nvSpPr>
              <p:cNvPr id="32" name="Number4" descr="982ba4fa-0764-486a-a143-c10254addd2a">
                <a:extLst>
                  <a:ext uri="{FF2B5EF4-FFF2-40B4-BE49-F238E27FC236}">
                    <a16:creationId xmlns:a16="http://schemas.microsoft.com/office/drawing/2014/main" id="{C4CC405A-8B96-ED7E-8174-55C4503D0FE0}"/>
                  </a:ext>
                </a:extLst>
              </p:cNvPr>
              <p:cNvSpPr txBox="1"/>
              <p:nvPr/>
            </p:nvSpPr>
            <p:spPr>
              <a:xfrm flipH="1">
                <a:off x="8717936" y="4794689"/>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454545"/>
                    </a:solidFill>
                    <a:effectLst/>
                    <a:uLnTx/>
                    <a:uFillTx/>
                    <a:latin typeface="Arial"/>
                    <a:ea typeface="宋体"/>
                    <a:cs typeface="+mn-cs"/>
                  </a:rPr>
                  <a:t>4</a:t>
                </a:r>
              </a:p>
            </p:txBody>
          </p:sp>
        </p:grpSp>
        <p:grpSp>
          <p:nvGrpSpPr>
            <p:cNvPr id="49" name="组合 48" descr="6316730a-dabb-467d-b8a7-8b427d5ad165">
              <a:extLst>
                <a:ext uri="{FF2B5EF4-FFF2-40B4-BE49-F238E27FC236}">
                  <a16:creationId xmlns:a16="http://schemas.microsoft.com/office/drawing/2014/main" id="{D0879E40-40E5-84C5-E224-4A161783763E}"/>
                </a:ext>
              </a:extLst>
            </p:cNvPr>
            <p:cNvGrpSpPr/>
            <p:nvPr/>
          </p:nvGrpSpPr>
          <p:grpSpPr>
            <a:xfrm>
              <a:off x="2621936" y="4794689"/>
              <a:ext cx="8971474" cy="1052252"/>
              <a:chOff x="2621936" y="4794689"/>
              <a:chExt cx="8971474" cy="1052252"/>
            </a:xfrm>
          </p:grpSpPr>
          <p:sp>
            <p:nvSpPr>
              <p:cNvPr id="27" name="Bullet5" descr="64fc552d-72b6-4746-960e-4d2903703d83">
                <a:extLst>
                  <a:ext uri="{FF2B5EF4-FFF2-40B4-BE49-F238E27FC236}">
                    <a16:creationId xmlns:a16="http://schemas.microsoft.com/office/drawing/2014/main" id="{EF5F8A23-E76D-A96D-F812-8BFE8F1552D4}"/>
                  </a:ext>
                </a:extLst>
              </p:cNvPr>
              <p:cNvSpPr txBox="1">
                <a:spLocks/>
              </p:cNvSpPr>
              <p:nvPr/>
            </p:nvSpPr>
            <p:spPr>
              <a:xfrm>
                <a:off x="6830910" y="5188974"/>
                <a:ext cx="4762500"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3765" rtl="0" eaLnBrk="1" fontAlgn="auto" latinLnBrk="0" hangingPunct="1">
                  <a:lnSpc>
                    <a:spcPct val="120000"/>
                  </a:lnSpc>
                  <a:spcBef>
                    <a:spcPct val="0"/>
                  </a:spcBef>
                  <a:spcAft>
                    <a:spcPct val="0"/>
                  </a:spcAft>
                  <a:buClrTx/>
                  <a:buSzPct val="25000"/>
                  <a:buFontTx/>
                  <a:buNone/>
                  <a:tabLst/>
                  <a:defRPr/>
                </a:pPr>
                <a:r>
                  <a:rPr lang="en-US" sz="1600" dirty="0" err="1">
                    <a:solidFill>
                      <a:srgbClr val="000000"/>
                    </a:solidFill>
                    <a:ea typeface="微软雅黑"/>
                  </a:rPr>
                  <a:t>AI驱动的智能运维</a:t>
                </a:r>
                <a:r>
                  <a:rPr lang="en-US" sz="1600" dirty="0">
                    <a:solidFill>
                      <a:srgbClr val="000000"/>
                    </a:solidFill>
                    <a:ea typeface="微软雅黑"/>
                  </a:rPr>
                  <a:t>(AI for DB)</a:t>
                </a:r>
              </a:p>
            </p:txBody>
          </p:sp>
          <p:sp>
            <p:nvSpPr>
              <p:cNvPr id="29" name="Number5" descr="d413707b-19f7-439a-adef-0dfa5e0b9a10">
                <a:extLst>
                  <a:ext uri="{FF2B5EF4-FFF2-40B4-BE49-F238E27FC236}">
                    <a16:creationId xmlns:a16="http://schemas.microsoft.com/office/drawing/2014/main" id="{F5611463-BA56-FEDC-91F0-3B85FAE96974}"/>
                  </a:ext>
                </a:extLst>
              </p:cNvPr>
              <p:cNvSpPr txBox="1"/>
              <p:nvPr/>
            </p:nvSpPr>
            <p:spPr>
              <a:xfrm flipH="1">
                <a:off x="2621936" y="4794689"/>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454545"/>
                    </a:solidFill>
                    <a:effectLst/>
                    <a:uLnTx/>
                    <a:uFillTx/>
                    <a:latin typeface="Arial"/>
                    <a:ea typeface="宋体"/>
                    <a:cs typeface="+mn-cs"/>
                  </a:rPr>
                  <a:t>5</a:t>
                </a:r>
              </a:p>
            </p:txBody>
          </p:sp>
        </p:grpSp>
      </p:grpSp>
      <p:sp>
        <p:nvSpPr>
          <p:cNvPr id="24" name="Text1" descr="972b2600-40fd-4367-ad4a-dd34bca43e29">
            <a:extLst>
              <a:ext uri="{FF2B5EF4-FFF2-40B4-BE49-F238E27FC236}">
                <a16:creationId xmlns:a16="http://schemas.microsoft.com/office/drawing/2014/main" id="{F1E566BD-E868-4AEA-9002-84B6B9868110}"/>
              </a:ext>
            </a:extLst>
          </p:cNvPr>
          <p:cNvSpPr txBox="1">
            <a:spLocks/>
          </p:cNvSpPr>
          <p:nvPr/>
        </p:nvSpPr>
        <p:spPr>
          <a:xfrm>
            <a:off x="1526559" y="2741998"/>
            <a:ext cx="8170712" cy="1736397"/>
          </a:xfrm>
          <a:prstGeom prst="rect">
            <a:avLst/>
          </a:prstGeom>
          <a:noFill/>
          <a:ln>
            <a:noFill/>
          </a:ln>
        </p:spPr>
        <p:txBody>
          <a:bodyPr wrap="square" lIns="91440" tIns="45720" rIns="91440" bIns="45720" anchor="t" anchorCtr="0">
            <a:normAutofit/>
          </a:bodyPr>
          <a:lstStyle/>
          <a:p>
            <a:pPr marL="285750" indent="-2857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向量数据库是AI数据库的核心组件之一，专为处理高维向量数据而生，支撑基于语义的相似性搜索</a:t>
            </a:r>
            <a:r>
              <a:rPr lang="en-US" b="0" i="0" u="none" strike="noStrike" dirty="0">
                <a:solidFill>
                  <a:srgbClr val="000000"/>
                </a:solidFill>
                <a:ea typeface="微软雅黑"/>
              </a:rPr>
              <a:t>。</a:t>
            </a:r>
          </a:p>
          <a:p>
            <a:pPr marL="285750" indent="-2857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在AI应用中，很多数据需要进行语义理解和相似性匹配，如图像、文本等</a:t>
            </a:r>
            <a:r>
              <a:rPr lang="en-US" b="0" i="0" u="none" strike="noStrike" dirty="0">
                <a:solidFill>
                  <a:srgbClr val="000000"/>
                </a:solidFill>
                <a:ea typeface="微软雅黑"/>
              </a:rPr>
              <a:t>。</a:t>
            </a:r>
          </a:p>
          <a:p>
            <a:pPr marL="285750" indent="-285750" algn="l">
              <a:lnSpc>
                <a:spcPct val="120000"/>
              </a:lnSpc>
              <a:spcBef>
                <a:spcPct val="0"/>
              </a:spcBef>
              <a:spcAft>
                <a:spcPct val="0"/>
              </a:spcAft>
              <a:buFont typeface="Arial" panose="020B0604020202020204" pitchFamily="34" charset="0"/>
              <a:buChar char="•"/>
            </a:pPr>
            <a:r>
              <a:rPr lang="en-US" b="0" i="0" u="none" strike="noStrike" dirty="0" err="1">
                <a:solidFill>
                  <a:srgbClr val="000000"/>
                </a:solidFill>
                <a:ea typeface="微软雅黑"/>
              </a:rPr>
              <a:t>向量数据库通过将数据转换为高维向量表示，并采用高效的检索算法，实现了快速、准确的语义相似性搜索</a:t>
            </a:r>
            <a:r>
              <a:rPr lang="en-US" b="0" i="0" u="none" strike="noStrike" dirty="0">
                <a:solidFill>
                  <a:srgbClr val="000000"/>
                </a:solidFill>
                <a:ea typeface="微软雅黑"/>
              </a:rPr>
              <a:t>。</a:t>
            </a:r>
          </a:p>
        </p:txBody>
      </p:sp>
    </p:spTree>
    <p:extLst>
      <p:ext uri="{BB962C8B-B14F-4D97-AF65-F5344CB8AC3E}">
        <p14:creationId xmlns:p14="http://schemas.microsoft.com/office/powerpoint/2010/main" val="40316329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6d649ebf-74bc-446c-add3-cfd664cd660c.source.4.zh-Hans.pptx" descr="bc63a27b-1aea-41c2-b738-40b47447c723">
            <a:extLst>
              <a:ext uri="{FF2B5EF4-FFF2-40B4-BE49-F238E27FC236}">
                <a16:creationId xmlns:a16="http://schemas.microsoft.com/office/drawing/2014/main" id="{B972CB9C-69FD-4F3E-2B55-40A2E42FBC4D}"/>
              </a:ext>
            </a:extLst>
          </p:cNvPr>
          <p:cNvGrpSpPr/>
          <p:nvPr/>
        </p:nvGrpSpPr>
        <p:grpSpPr>
          <a:xfrm>
            <a:off x="1" y="844891"/>
            <a:ext cx="12191999" cy="6013109"/>
            <a:chOff x="1" y="844891"/>
            <a:chExt cx="12191999" cy="6013109"/>
          </a:xfrm>
        </p:grpSpPr>
        <p:sp>
          <p:nvSpPr>
            <p:cNvPr id="65" name="PictureMisc1" descr="76545929-59d3-4aa2-81bb-bebddd1ac78c">
              <a:extLst>
                <a:ext uri="{FF2B5EF4-FFF2-40B4-BE49-F238E27FC236}">
                  <a16:creationId xmlns:a16="http://schemas.microsoft.com/office/drawing/2014/main" id="{92FA0352-0E50-9635-3508-898067E8C522}"/>
                </a:ext>
              </a:extLst>
            </p:cNvPr>
            <p:cNvSpPr/>
            <p:nvPr/>
          </p:nvSpPr>
          <p:spPr>
            <a:xfrm>
              <a:off x="1" y="4454604"/>
              <a:ext cx="12191999" cy="2403396"/>
            </a:xfrm>
            <a:prstGeom prst="rect">
              <a:avLst/>
            </a:prstGeom>
            <a:blipFill rotWithShape="1">
              <a:blip r:embed="rId2"/>
              <a:srcRect/>
              <a:stretch>
                <a:fillRect t="-5341" b="-18453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 name="c" descr="484d7e61-108f-43c4-98e9-2b7b5d290acf">
              <a:extLst>
                <a:ext uri="{FF2B5EF4-FFF2-40B4-BE49-F238E27FC236}">
                  <a16:creationId xmlns:a16="http://schemas.microsoft.com/office/drawing/2014/main" id="{F56D314E-A994-AFA6-44B8-9D0B2E3323B4}"/>
                </a:ext>
              </a:extLst>
            </p:cNvPr>
            <p:cNvSpPr/>
            <p:nvPr/>
          </p:nvSpPr>
          <p:spPr>
            <a:xfrm>
              <a:off x="598591" y="1824048"/>
              <a:ext cx="10994819" cy="4310052"/>
            </a:xfrm>
            <a:prstGeom prst="roundRect">
              <a:avLst>
                <a:gd name="adj" fmla="val 3015"/>
              </a:avLst>
            </a:prstGeom>
            <a:gradFill flip="none" rotWithShape="1">
              <a:gsLst>
                <a:gs pos="0">
                  <a:schemeClr val="bg1"/>
                </a:gs>
                <a:gs pos="100000">
                  <a:schemeClr val="bg1">
                    <a:alpha val="90000"/>
                  </a:schemeClr>
                </a:gs>
              </a:gsLst>
              <a:lin ang="5400000" scaled="1"/>
              <a:tileRect/>
            </a:gradFill>
            <a:ln w="6350">
              <a:gradFill flip="none" rotWithShape="1">
                <a:gsLst>
                  <a:gs pos="0">
                    <a:schemeClr val="tx1">
                      <a:alpha val="50000"/>
                    </a:schemeClr>
                  </a:gs>
                  <a:gs pos="100000">
                    <a:schemeClr val="tx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lnSpc>
                  <a:spcPct val="120000"/>
                </a:lnSpc>
              </a:pPr>
              <a:endParaRPr/>
            </a:p>
          </p:txBody>
        </p:sp>
        <p:cxnSp>
          <p:nvCxnSpPr>
            <p:cNvPr id="265" name="直接连接符 264" descr="2cfc25a7-b2b4-4450-a953-09bf16f26ca8">
              <a:extLst>
                <a:ext uri="{FF2B5EF4-FFF2-40B4-BE49-F238E27FC236}">
                  <a16:creationId xmlns:a16="http://schemas.microsoft.com/office/drawing/2014/main" id="{386558A4-4A7F-BBC6-D808-847A9CE54B20}"/>
                </a:ext>
              </a:extLst>
            </p:cNvPr>
            <p:cNvCxnSpPr>
              <a:cxnSpLocks/>
              <a:stCxn id="246" idx="1"/>
              <a:endCxn id="242" idx="3"/>
            </p:cNvCxnSpPr>
            <p:nvPr/>
          </p:nvCxnSpPr>
          <p:spPr>
            <a:xfrm>
              <a:off x="3651730" y="4176507"/>
              <a:ext cx="4762521"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descr="a048549a-49c2-4bcc-aecb-b7c95fc9d311">
              <a:extLst>
                <a:ext uri="{FF2B5EF4-FFF2-40B4-BE49-F238E27FC236}">
                  <a16:creationId xmlns:a16="http://schemas.microsoft.com/office/drawing/2014/main" id="{089D57E8-414E-A9C3-5C3B-AC95F54832E4}"/>
                </a:ext>
              </a:extLst>
            </p:cNvPr>
            <p:cNvCxnSpPr>
              <a:cxnSpLocks/>
              <a:stCxn id="72" idx="3"/>
              <a:endCxn id="76" idx="1"/>
            </p:cNvCxnSpPr>
            <p:nvPr/>
          </p:nvCxnSpPr>
          <p:spPr>
            <a:xfrm>
              <a:off x="3771398" y="2158127"/>
              <a:ext cx="4756171"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sp>
          <p:nvSpPr>
            <p:cNvPr id="158" name="Title" descr="611681a0-af0c-4c33-94eb-2a4d6841d92e">
              <a:extLst>
                <a:ext uri="{FF2B5EF4-FFF2-40B4-BE49-F238E27FC236}">
                  <a16:creationId xmlns:a16="http://schemas.microsoft.com/office/drawing/2014/main" id="{A6537433-AFB1-209E-D1F0-14119DF67503}"/>
                </a:ext>
              </a:extLst>
            </p:cNvPr>
            <p:cNvSpPr>
              <a:spLocks/>
            </p:cNvSpPr>
            <p:nvPr/>
          </p:nvSpPr>
          <p:spPr>
            <a:xfrm>
              <a:off x="660400" y="844891"/>
              <a:ext cx="10858500" cy="608093"/>
            </a:xfrm>
            <a:prstGeom prst="rect">
              <a:avLst/>
            </a:prstGeom>
            <a:no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p>
              <a:pPr algn="ctr"/>
              <a:r>
                <a:rPr lang="en-US" sz="2800" b="1" dirty="0" err="1">
                  <a:solidFill>
                    <a:schemeClr val="tx2"/>
                  </a:solidFill>
                  <a:latin typeface="+mj-lt"/>
                  <a:ea typeface="+mj-ea"/>
                  <a:cs typeface="+mj-cs"/>
                </a:rPr>
                <a:t>不同技术在AI数据库中的实际应用</a:t>
              </a:r>
              <a:endParaRPr lang="en-US" sz="2800" b="1" dirty="0">
                <a:solidFill>
                  <a:schemeClr val="tx2"/>
                </a:solidFill>
                <a:latin typeface="+mj-lt"/>
                <a:ea typeface="+mj-ea"/>
                <a:cs typeface="+mj-cs"/>
              </a:endParaRPr>
            </a:p>
          </p:txBody>
        </p:sp>
        <p:grpSp>
          <p:nvGrpSpPr>
            <p:cNvPr id="15" name="组合 14" descr="3f65857c-32bb-415a-944c-5fe257b38d86">
              <a:extLst>
                <a:ext uri="{FF2B5EF4-FFF2-40B4-BE49-F238E27FC236}">
                  <a16:creationId xmlns:a16="http://schemas.microsoft.com/office/drawing/2014/main" id="{80DB1690-6CCE-416B-EA33-5689E5992220}"/>
                </a:ext>
              </a:extLst>
            </p:cNvPr>
            <p:cNvGrpSpPr/>
            <p:nvPr/>
          </p:nvGrpSpPr>
          <p:grpSpPr>
            <a:xfrm>
              <a:off x="666750" y="2008394"/>
              <a:ext cx="5306495" cy="1985305"/>
              <a:chOff x="666750" y="2008394"/>
              <a:chExt cx="5306495" cy="1985305"/>
            </a:xfrm>
          </p:grpSpPr>
          <p:sp>
            <p:nvSpPr>
              <p:cNvPr id="95" name="Bullet1" descr="e2f241c9-a8da-4eb6-98de-5d61df4cce37">
                <a:extLst>
                  <a:ext uri="{FF2B5EF4-FFF2-40B4-BE49-F238E27FC236}">
                    <a16:creationId xmlns:a16="http://schemas.microsoft.com/office/drawing/2014/main" id="{D13275F6-86BF-97B0-4E00-8B47AD1DB6F5}"/>
                  </a:ext>
                </a:extLst>
              </p:cNvPr>
              <p:cNvSpPr txBox="1">
                <a:spLocks/>
              </p:cNvSpPr>
              <p:nvPr/>
            </p:nvSpPr>
            <p:spPr>
              <a:xfrm>
                <a:off x="666750" y="2428129"/>
                <a:ext cx="5306495"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a:solidFill>
                      <a:srgbClr val="000000"/>
                    </a:solidFill>
                    <a:latin typeface="Arial"/>
                  </a:rPr>
                  <a:t>Google </a:t>
                </a:r>
                <a:r>
                  <a:rPr lang="en-US" sz="1800" b="1" i="0" u="none" dirty="0" err="1">
                    <a:solidFill>
                      <a:srgbClr val="000000"/>
                    </a:solidFill>
                    <a:latin typeface="Arial"/>
                  </a:rPr>
                  <a:t>BigQuery</a:t>
                </a:r>
                <a:r>
                  <a:rPr lang="en-US" sz="1800" b="1" i="0" u="none" dirty="0">
                    <a:solidFill>
                      <a:srgbClr val="000000"/>
                    </a:solidFill>
                    <a:latin typeface="Arial"/>
                  </a:rPr>
                  <a:t> + AI Platform</a:t>
                </a:r>
              </a:p>
            </p:txBody>
          </p:sp>
          <p:sp>
            <p:nvSpPr>
              <p:cNvPr id="96" name="Text1" descr="c359a770-2cff-4206-8a30-a5fd8edda037">
                <a:extLst>
                  <a:ext uri="{FF2B5EF4-FFF2-40B4-BE49-F238E27FC236}">
                    <a16:creationId xmlns:a16="http://schemas.microsoft.com/office/drawing/2014/main" id="{091B1D94-0E38-DF07-400C-BE758614BE18}"/>
                  </a:ext>
                </a:extLst>
              </p:cNvPr>
              <p:cNvSpPr txBox="1">
                <a:spLocks/>
              </p:cNvSpPr>
              <p:nvPr/>
            </p:nvSpPr>
            <p:spPr>
              <a:xfrm>
                <a:off x="666750" y="3086096"/>
                <a:ext cx="5306495" cy="907603"/>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采用列式存储与分布式执行引擎，支持PB级数据上的机器学习查询</a:t>
                </a:r>
                <a:r>
                  <a:rPr lang="en-US" sz="2000" b="0" i="0" u="none" strike="noStrike" dirty="0">
                    <a:solidFill>
                      <a:srgbClr val="000000"/>
                    </a:solidFill>
                    <a:ea typeface="微软雅黑"/>
                  </a:rPr>
                  <a:t>。</a:t>
                </a:r>
              </a:p>
            </p:txBody>
          </p:sp>
          <p:sp>
            <p:nvSpPr>
              <p:cNvPr id="72" name="Number1" descr="255f2870-45c2-4287-a592-893c43290bde">
                <a:extLst>
                  <a:ext uri="{FF2B5EF4-FFF2-40B4-BE49-F238E27FC236}">
                    <a16:creationId xmlns:a16="http://schemas.microsoft.com/office/drawing/2014/main" id="{FD5D109E-2EE1-DCF6-C841-46514A95FF2A}"/>
                  </a:ext>
                </a:extLst>
              </p:cNvPr>
              <p:cNvSpPr txBox="1"/>
              <p:nvPr/>
            </p:nvSpPr>
            <p:spPr>
              <a:xfrm>
                <a:off x="2868596"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1</a:t>
                </a:r>
              </a:p>
            </p:txBody>
          </p:sp>
        </p:grpSp>
        <p:grpSp>
          <p:nvGrpSpPr>
            <p:cNvPr id="16" name="组合 15" descr="dfa82fcc-b181-4326-940a-836376470a02">
              <a:extLst>
                <a:ext uri="{FF2B5EF4-FFF2-40B4-BE49-F238E27FC236}">
                  <a16:creationId xmlns:a16="http://schemas.microsoft.com/office/drawing/2014/main" id="{4D88D745-146E-9397-0253-37C83D13827D}"/>
                </a:ext>
              </a:extLst>
            </p:cNvPr>
            <p:cNvGrpSpPr/>
            <p:nvPr/>
          </p:nvGrpSpPr>
          <p:grpSpPr>
            <a:xfrm>
              <a:off x="6212405" y="2008394"/>
              <a:ext cx="5306495" cy="1985305"/>
              <a:chOff x="6212405" y="2008394"/>
              <a:chExt cx="5306495" cy="1985305"/>
            </a:xfrm>
          </p:grpSpPr>
          <p:sp>
            <p:nvSpPr>
              <p:cNvPr id="77" name="Bullet2" descr="6a08fd09-a145-4c4b-b444-a454bb556ebf">
                <a:extLst>
                  <a:ext uri="{FF2B5EF4-FFF2-40B4-BE49-F238E27FC236}">
                    <a16:creationId xmlns:a16="http://schemas.microsoft.com/office/drawing/2014/main" id="{DD2C7671-234D-B918-3295-0BE3FF84A1D7}"/>
                  </a:ext>
                </a:extLst>
              </p:cNvPr>
              <p:cNvSpPr txBox="1">
                <a:spLocks/>
              </p:cNvSpPr>
              <p:nvPr/>
            </p:nvSpPr>
            <p:spPr>
              <a:xfrm>
                <a:off x="6212405" y="2428129"/>
                <a:ext cx="5306495"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a:solidFill>
                      <a:srgbClr val="000000"/>
                    </a:solidFill>
                    <a:latin typeface="Arial"/>
                  </a:rPr>
                  <a:t>Apache Spark with GPU Support</a:t>
                </a:r>
              </a:p>
            </p:txBody>
          </p:sp>
          <p:sp>
            <p:nvSpPr>
              <p:cNvPr id="78" name="Text2" descr="42f389bd-2862-4909-b280-e8d8bf440bb2">
                <a:extLst>
                  <a:ext uri="{FF2B5EF4-FFF2-40B4-BE49-F238E27FC236}">
                    <a16:creationId xmlns:a16="http://schemas.microsoft.com/office/drawing/2014/main" id="{7A949CEF-EE32-0987-41B9-0293F654E8C8}"/>
                  </a:ext>
                </a:extLst>
              </p:cNvPr>
              <p:cNvSpPr txBox="1">
                <a:spLocks/>
              </p:cNvSpPr>
              <p:nvPr/>
            </p:nvSpPr>
            <p:spPr>
              <a:xfrm>
                <a:off x="6212405" y="3086096"/>
                <a:ext cx="5306495" cy="907603"/>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sz="2000" b="0" i="0" u="none" strike="noStrike">
                    <a:solidFill>
                      <a:srgbClr val="000000"/>
                    </a:solidFill>
                    <a:ea typeface="微软雅黑"/>
                  </a:rPr>
                  <a:t>通过RAPIDS加速库实现GPU内存管理与分布式计算融合。</a:t>
                </a:r>
              </a:p>
            </p:txBody>
          </p:sp>
          <p:sp>
            <p:nvSpPr>
              <p:cNvPr id="76" name="Number2" descr="b1c60640-d9e4-4dc6-9ef5-ad5f7ca361c2">
                <a:extLst>
                  <a:ext uri="{FF2B5EF4-FFF2-40B4-BE49-F238E27FC236}">
                    <a16:creationId xmlns:a16="http://schemas.microsoft.com/office/drawing/2014/main" id="{603B63CA-E58B-5211-E789-2933FAB8C84A}"/>
                  </a:ext>
                </a:extLst>
              </p:cNvPr>
              <p:cNvSpPr txBox="1"/>
              <p:nvPr/>
            </p:nvSpPr>
            <p:spPr>
              <a:xfrm>
                <a:off x="8414251"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2</a:t>
                </a:r>
              </a:p>
            </p:txBody>
          </p:sp>
        </p:grpSp>
        <p:grpSp>
          <p:nvGrpSpPr>
            <p:cNvPr id="17" name="组合 16" descr="068a29ca-f1ae-4f48-aed7-04f70498c990">
              <a:extLst>
                <a:ext uri="{FF2B5EF4-FFF2-40B4-BE49-F238E27FC236}">
                  <a16:creationId xmlns:a16="http://schemas.microsoft.com/office/drawing/2014/main" id="{B854465E-9F6B-13A3-A2E8-CF604977B21B}"/>
                </a:ext>
              </a:extLst>
            </p:cNvPr>
            <p:cNvGrpSpPr/>
            <p:nvPr/>
          </p:nvGrpSpPr>
          <p:grpSpPr>
            <a:xfrm>
              <a:off x="6212405" y="4026774"/>
              <a:ext cx="5306495" cy="1985305"/>
              <a:chOff x="6212405" y="4026774"/>
              <a:chExt cx="5306495" cy="1985305"/>
            </a:xfrm>
          </p:grpSpPr>
          <p:sp>
            <p:nvSpPr>
              <p:cNvPr id="240" name="Bullet3" descr="f11a31aa-2df8-40e1-9d08-9e4d02308150">
                <a:extLst>
                  <a:ext uri="{FF2B5EF4-FFF2-40B4-BE49-F238E27FC236}">
                    <a16:creationId xmlns:a16="http://schemas.microsoft.com/office/drawing/2014/main" id="{3BA143A0-A619-5984-05F6-3580A69A1992}"/>
                  </a:ext>
                </a:extLst>
              </p:cNvPr>
              <p:cNvSpPr txBox="1">
                <a:spLocks/>
              </p:cNvSpPr>
              <p:nvPr/>
            </p:nvSpPr>
            <p:spPr>
              <a:xfrm>
                <a:off x="6212405" y="4446509"/>
                <a:ext cx="5306495"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latin typeface="Arial"/>
                  </a:rPr>
                  <a:t>TiDB</a:t>
                </a:r>
                <a:r>
                  <a:rPr lang="en-US" sz="1800" b="1" i="0" u="none" dirty="0">
                    <a:solidFill>
                      <a:srgbClr val="000000"/>
                    </a:solidFill>
                    <a:latin typeface="Arial"/>
                  </a:rPr>
                  <a:t> + </a:t>
                </a:r>
                <a:r>
                  <a:rPr lang="en-US" sz="1800" b="1" i="0" u="none" dirty="0" err="1">
                    <a:solidFill>
                      <a:srgbClr val="000000"/>
                    </a:solidFill>
                    <a:latin typeface="Arial"/>
                  </a:rPr>
                  <a:t>Tiflash</a:t>
                </a:r>
                <a:endParaRPr lang="en-US" sz="1800" b="1" i="0" u="none" dirty="0">
                  <a:solidFill>
                    <a:srgbClr val="000000"/>
                  </a:solidFill>
                  <a:latin typeface="Arial"/>
                </a:endParaRPr>
              </a:p>
            </p:txBody>
          </p:sp>
          <p:sp>
            <p:nvSpPr>
              <p:cNvPr id="241" name="Text3" descr="3b629dbe-f07e-4768-8a22-1a0128b5540c">
                <a:extLst>
                  <a:ext uri="{FF2B5EF4-FFF2-40B4-BE49-F238E27FC236}">
                    <a16:creationId xmlns:a16="http://schemas.microsoft.com/office/drawing/2014/main" id="{1378376A-DE93-9CE0-1221-D6732F893768}"/>
                  </a:ext>
                </a:extLst>
              </p:cNvPr>
              <p:cNvSpPr txBox="1">
                <a:spLocks/>
              </p:cNvSpPr>
              <p:nvPr/>
            </p:nvSpPr>
            <p:spPr>
              <a:xfrm>
                <a:off x="6212405" y="5104476"/>
                <a:ext cx="5306495" cy="907603"/>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sz="2000" b="0" i="0" u="none" strike="noStrike">
                    <a:solidFill>
                      <a:srgbClr val="000000"/>
                    </a:solidFill>
                    <a:ea typeface="微软雅黑"/>
                  </a:rPr>
                  <a:t>混合列式存储引擎，支持实时分析与AI联合查询。</a:t>
                </a:r>
              </a:p>
            </p:txBody>
          </p:sp>
          <p:sp>
            <p:nvSpPr>
              <p:cNvPr id="242" name="Number3" descr="cd47b182-dfa2-4b4e-b103-54b06dbe22cc">
                <a:extLst>
                  <a:ext uri="{FF2B5EF4-FFF2-40B4-BE49-F238E27FC236}">
                    <a16:creationId xmlns:a16="http://schemas.microsoft.com/office/drawing/2014/main" id="{474D3047-2522-E98F-19EC-32376C80CAD7}"/>
                  </a:ext>
                </a:extLst>
              </p:cNvPr>
              <p:cNvSpPr txBox="1"/>
              <p:nvPr/>
            </p:nvSpPr>
            <p:spPr>
              <a:xfrm flipH="1">
                <a:off x="8414251" y="402677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3</a:t>
                </a:r>
              </a:p>
            </p:txBody>
          </p:sp>
        </p:grpSp>
        <p:grpSp>
          <p:nvGrpSpPr>
            <p:cNvPr id="18" name="组合 17" descr="e17b95c0-e3b6-4271-b198-412a8a5c5252">
              <a:extLst>
                <a:ext uri="{FF2B5EF4-FFF2-40B4-BE49-F238E27FC236}">
                  <a16:creationId xmlns:a16="http://schemas.microsoft.com/office/drawing/2014/main" id="{17C1ACC0-F0FC-8680-4C9A-552220759ADE}"/>
                </a:ext>
              </a:extLst>
            </p:cNvPr>
            <p:cNvGrpSpPr/>
            <p:nvPr/>
          </p:nvGrpSpPr>
          <p:grpSpPr>
            <a:xfrm>
              <a:off x="660400" y="4026774"/>
              <a:ext cx="5306495" cy="1985305"/>
              <a:chOff x="660400" y="4026774"/>
              <a:chExt cx="5306495" cy="1985305"/>
            </a:xfrm>
          </p:grpSpPr>
          <p:sp>
            <p:nvSpPr>
              <p:cNvPr id="244" name="Bullet4" descr="191fd3d5-7880-43bc-8b12-cdf85a9c1ccf">
                <a:extLst>
                  <a:ext uri="{FF2B5EF4-FFF2-40B4-BE49-F238E27FC236}">
                    <a16:creationId xmlns:a16="http://schemas.microsoft.com/office/drawing/2014/main" id="{0A9C89E6-734E-F71D-B3D4-3CADBE0EC4D3}"/>
                  </a:ext>
                </a:extLst>
              </p:cNvPr>
              <p:cNvSpPr txBox="1">
                <a:spLocks/>
              </p:cNvSpPr>
              <p:nvPr/>
            </p:nvSpPr>
            <p:spPr>
              <a:xfrm>
                <a:off x="660400" y="4446509"/>
                <a:ext cx="5306495"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latin typeface="Arial"/>
                  </a:rPr>
                  <a:t>MemSQL（现SingleStore</a:t>
                </a:r>
                <a:r>
                  <a:rPr lang="en-US" sz="1800" b="1" i="0" u="none" dirty="0">
                    <a:solidFill>
                      <a:srgbClr val="000000"/>
                    </a:solidFill>
                    <a:latin typeface="Arial"/>
                  </a:rPr>
                  <a:t>）</a:t>
                </a:r>
              </a:p>
            </p:txBody>
          </p:sp>
          <p:sp>
            <p:nvSpPr>
              <p:cNvPr id="245" name="Text4" descr="63de6131-c945-48e9-9bd3-5154bd1731a5">
                <a:extLst>
                  <a:ext uri="{FF2B5EF4-FFF2-40B4-BE49-F238E27FC236}">
                    <a16:creationId xmlns:a16="http://schemas.microsoft.com/office/drawing/2014/main" id="{D462368F-0D74-2A31-F6A1-09BCA227844A}"/>
                  </a:ext>
                </a:extLst>
              </p:cNvPr>
              <p:cNvSpPr txBox="1">
                <a:spLocks/>
              </p:cNvSpPr>
              <p:nvPr/>
            </p:nvSpPr>
            <p:spPr>
              <a:xfrm>
                <a:off x="660400" y="5104476"/>
                <a:ext cx="5306495" cy="907603"/>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sz="2000" b="0" i="0" u="none" strike="noStrike" dirty="0" err="1">
                    <a:solidFill>
                      <a:srgbClr val="000000"/>
                    </a:solidFill>
                    <a:ea typeface="微软雅黑"/>
                  </a:rPr>
                  <a:t>全内存优化数据库，支持实时事务与分析一体化</a:t>
                </a:r>
                <a:r>
                  <a:rPr lang="en-US" sz="2000" b="0" i="0" u="none" strike="noStrike" dirty="0">
                    <a:solidFill>
                      <a:srgbClr val="000000"/>
                    </a:solidFill>
                    <a:ea typeface="微软雅黑"/>
                  </a:rPr>
                  <a:t>。</a:t>
                </a:r>
              </a:p>
            </p:txBody>
          </p:sp>
          <p:sp>
            <p:nvSpPr>
              <p:cNvPr id="246" name="Number4" descr="8029407f-181a-4b44-9c13-56537a281725">
                <a:extLst>
                  <a:ext uri="{FF2B5EF4-FFF2-40B4-BE49-F238E27FC236}">
                    <a16:creationId xmlns:a16="http://schemas.microsoft.com/office/drawing/2014/main" id="{BCC1BEEA-3A43-54F0-B402-48019087BC6A}"/>
                  </a:ext>
                </a:extLst>
              </p:cNvPr>
              <p:cNvSpPr txBox="1"/>
              <p:nvPr/>
            </p:nvSpPr>
            <p:spPr>
              <a:xfrm flipH="1">
                <a:off x="2862246" y="402677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454545"/>
                    </a:solidFill>
                    <a:latin typeface="Arial"/>
                  </a:rPr>
                  <a:t>4</a:t>
                </a:r>
              </a:p>
            </p:txBody>
          </p:sp>
        </p:gr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nSpc>
                <a:spcPct val="100000"/>
              </a:lnSpc>
              <a:spcBef>
                <a:spcPct val="0"/>
              </a:spcBef>
            </a:pPr>
            <a:r>
              <a:rPr lang="en-US" altLang="zh-CN" sz="2800" b="1" dirty="0" err="1">
                <a:solidFill>
                  <a:schemeClr val="tx2"/>
                </a:solidFill>
                <a:latin typeface="+mj-lt"/>
                <a:ea typeface="+mj-ea"/>
                <a:cs typeface="+mj-cs"/>
              </a:rPr>
              <a:t>AI</a:t>
            </a:r>
            <a:r>
              <a:rPr lang="en-US" altLang="zh-CN" sz="2800" b="1" dirty="0" err="1"/>
              <a:t>数据库</a:t>
            </a:r>
            <a:r>
              <a:rPr lang="en-US" sz="2800" b="1" dirty="0" err="1"/>
              <a:t>典型架构模式对比</a:t>
            </a:r>
            <a:endParaRPr lang="en-US" sz="2800" b="1" dirty="0"/>
          </a:p>
        </p:txBody>
      </p:sp>
      <p:grpSp>
        <p:nvGrpSpPr>
          <p:cNvPr id="4" name="组合 3" descr="5e2e9215-aec3-4f21-ae33-509665588b49">
            <a:extLst>
              <a:ext uri="{FF2B5EF4-FFF2-40B4-BE49-F238E27FC236}">
                <a16:creationId xmlns:a16="http://schemas.microsoft.com/office/drawing/2014/main" id="{68348258-6E63-7BCB-19A0-05001C65B8B0}"/>
              </a:ext>
            </a:extLst>
          </p:cNvPr>
          <p:cNvGrpSpPr/>
          <p:nvPr/>
        </p:nvGrpSpPr>
        <p:grpSpPr>
          <a:xfrm>
            <a:off x="660401" y="1130300"/>
            <a:ext cx="10858500" cy="5004451"/>
            <a:chOff x="660401" y="1130300"/>
            <a:chExt cx="10858500" cy="5004451"/>
          </a:xfrm>
        </p:grpSpPr>
        <p:grpSp>
          <p:nvGrpSpPr>
            <p:cNvPr id="14" name="组合 13" descr="697cc7fc-831e-42f4-9b72-4bd6485491e8">
              <a:extLst>
                <a:ext uri="{FF2B5EF4-FFF2-40B4-BE49-F238E27FC236}">
                  <a16:creationId xmlns:a16="http://schemas.microsoft.com/office/drawing/2014/main" id="{8B3B08C0-3AD4-C8EF-CA6E-8FE2F73917D6}"/>
                </a:ext>
              </a:extLst>
            </p:cNvPr>
            <p:cNvGrpSpPr/>
            <p:nvPr/>
          </p:nvGrpSpPr>
          <p:grpSpPr>
            <a:xfrm>
              <a:off x="660401" y="1130300"/>
              <a:ext cx="5257561" cy="2677426"/>
              <a:chOff x="660401" y="340371"/>
              <a:chExt cx="5257561" cy="2677426"/>
            </a:xfrm>
          </p:grpSpPr>
          <p:sp>
            <p:nvSpPr>
              <p:cNvPr id="16" name="Bullet1" descr="888851d5-6efb-41bf-8b2f-526ee9325f21">
                <a:extLst>
                  <a:ext uri="{FF2B5EF4-FFF2-40B4-BE49-F238E27FC236}">
                    <a16:creationId xmlns:a16="http://schemas.microsoft.com/office/drawing/2014/main" id="{952F1A81-A66E-E0B2-E534-DA2EE4E9070B}"/>
                  </a:ext>
                </a:extLst>
              </p:cNvPr>
              <p:cNvSpPr txBox="1">
                <a:spLocks/>
              </p:cNvSpPr>
              <p:nvPr/>
            </p:nvSpPr>
            <p:spPr>
              <a:xfrm>
                <a:off x="660401" y="340371"/>
                <a:ext cx="31850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a:rPr>
                  <a:t>向量优先型</a:t>
                </a:r>
              </a:p>
            </p:txBody>
          </p:sp>
          <p:sp>
            <p:nvSpPr>
              <p:cNvPr id="17" name="Text1" descr="3fc53226-7ed7-47c9-89f5-4ed86500e7e9">
                <a:extLst>
                  <a:ext uri="{FF2B5EF4-FFF2-40B4-BE49-F238E27FC236}">
                    <a16:creationId xmlns:a16="http://schemas.microsoft.com/office/drawing/2014/main" id="{E27ACE71-4DE2-F425-A5E7-D8D1FCC82E2C}"/>
                  </a:ext>
                </a:extLst>
              </p:cNvPr>
              <p:cNvSpPr txBox="1">
                <a:spLocks/>
              </p:cNvSpPr>
              <p:nvPr/>
            </p:nvSpPr>
            <p:spPr>
              <a:xfrm>
                <a:off x="673099" y="908567"/>
                <a:ext cx="5244863" cy="2109230"/>
              </a:xfrm>
              <a:prstGeom prst="rect">
                <a:avLst/>
              </a:prstGeom>
              <a:noFill/>
              <a:ln>
                <a:noFill/>
              </a:ln>
            </p:spPr>
            <p:txBody>
              <a:bodyPr wrap="square" lIns="91440" tIns="45720" rIns="91440" bIns="45720" anchor="t" anchorCtr="0">
                <a:normAutofit lnSpcReduction="10000"/>
              </a:bodyPr>
              <a:lstStyle/>
              <a:p>
                <a:pPr marL="171450" indent="-1714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代表系统为Faiss</a:t>
                </a:r>
                <a:r>
                  <a:rPr lang="en-US" sz="1600" b="0" i="0" u="none" strike="noStrike" dirty="0">
                    <a:solidFill>
                      <a:srgbClr val="000000"/>
                    </a:solidFill>
                    <a:ea typeface="微软雅黑"/>
                  </a:rPr>
                  <a:t>, </a:t>
                </a:r>
                <a:r>
                  <a:rPr lang="en-US" sz="1600" b="0" i="0" u="none" strike="noStrike" dirty="0" err="1">
                    <a:solidFill>
                      <a:srgbClr val="000000"/>
                    </a:solidFill>
                    <a:ea typeface="微软雅黑"/>
                  </a:rPr>
                  <a:t>ScaNN</a:t>
                </a:r>
                <a:r>
                  <a:rPr lang="en-US" sz="1600" b="0" i="0" u="none" strike="noStrike" dirty="0">
                    <a:solidFill>
                      <a:srgbClr val="000000"/>
                    </a:solidFill>
                    <a:ea typeface="微软雅黑"/>
                  </a:rPr>
                  <a:t>, </a:t>
                </a:r>
                <a:r>
                  <a:rPr lang="en-US" sz="1600" b="0" i="0" u="none" strike="noStrike" dirty="0" err="1">
                    <a:solidFill>
                      <a:srgbClr val="000000"/>
                    </a:solidFill>
                    <a:ea typeface="微软雅黑"/>
                  </a:rPr>
                  <a:t>Milvus，核心能力是高速向量检索、ANN算法优化，适用于推荐、搜索、RAG等场景</a:t>
                </a:r>
                <a:r>
                  <a:rPr lang="en-US" sz="1600"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sz="1600" b="0" i="0" u="none" strike="noStrike" dirty="0">
                    <a:solidFill>
                      <a:srgbClr val="000000"/>
                    </a:solidFill>
                    <a:ea typeface="微软雅黑"/>
                  </a:rPr>
                  <a:t>这类架构专注于向量数据的处理和检索，采用高效的ANN算法，能够在海量向量数据中快速找到相似的向量，为推荐系统、搜索引擎和问答系统等应用提供支持。</a:t>
                </a:r>
              </a:p>
            </p:txBody>
          </p:sp>
        </p:grpSp>
        <p:grpSp>
          <p:nvGrpSpPr>
            <p:cNvPr id="35" name="组合 34" descr="a22a8240-881d-4950-8a87-446401767877">
              <a:extLst>
                <a:ext uri="{FF2B5EF4-FFF2-40B4-BE49-F238E27FC236}">
                  <a16:creationId xmlns:a16="http://schemas.microsoft.com/office/drawing/2014/main" id="{2B5423FF-3C30-7E37-9DFE-0D0A9FC54ECD}"/>
                </a:ext>
              </a:extLst>
            </p:cNvPr>
            <p:cNvGrpSpPr/>
            <p:nvPr/>
          </p:nvGrpSpPr>
          <p:grpSpPr>
            <a:xfrm>
              <a:off x="660401" y="3747549"/>
              <a:ext cx="5139898" cy="2387202"/>
              <a:chOff x="660401" y="723900"/>
              <a:chExt cx="5139898" cy="2387202"/>
            </a:xfrm>
          </p:grpSpPr>
          <p:sp>
            <p:nvSpPr>
              <p:cNvPr id="37" name="Bullet2" descr="64374907-d8a3-488a-80e5-8eb100387a69">
                <a:extLst>
                  <a:ext uri="{FF2B5EF4-FFF2-40B4-BE49-F238E27FC236}">
                    <a16:creationId xmlns:a16="http://schemas.microsoft.com/office/drawing/2014/main" id="{1ABDDDA9-C594-A48A-18B7-97FE2E513C29}"/>
                  </a:ext>
                </a:extLst>
              </p:cNvPr>
              <p:cNvSpPr txBox="1">
                <a:spLocks/>
              </p:cNvSpPr>
              <p:nvPr/>
            </p:nvSpPr>
            <p:spPr>
              <a:xfrm>
                <a:off x="660401" y="723900"/>
                <a:ext cx="31850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a:rPr>
                  <a:t>特征工程型</a:t>
                </a:r>
              </a:p>
            </p:txBody>
          </p:sp>
          <p:sp>
            <p:nvSpPr>
              <p:cNvPr id="38" name="Text2" descr="e8a21cb4-88f3-423f-a490-87f3819dd6fd">
                <a:extLst>
                  <a:ext uri="{FF2B5EF4-FFF2-40B4-BE49-F238E27FC236}">
                    <a16:creationId xmlns:a16="http://schemas.microsoft.com/office/drawing/2014/main" id="{815DAD5A-DA16-D25C-B481-00A00420CC8F}"/>
                  </a:ext>
                </a:extLst>
              </p:cNvPr>
              <p:cNvSpPr txBox="1">
                <a:spLocks/>
              </p:cNvSpPr>
              <p:nvPr/>
            </p:nvSpPr>
            <p:spPr>
              <a:xfrm>
                <a:off x="660401" y="1197212"/>
                <a:ext cx="5139898" cy="1913890"/>
              </a:xfrm>
              <a:prstGeom prst="rect">
                <a:avLst/>
              </a:prstGeom>
              <a:noFill/>
              <a:ln>
                <a:noFill/>
              </a:ln>
            </p:spPr>
            <p:txBody>
              <a:bodyPr wrap="square" lIns="91440" tIns="45720" rIns="91440" bIns="45720" anchor="t" anchorCtr="0">
                <a:normAutofit/>
              </a:bodyPr>
              <a:lstStyle/>
              <a:p>
                <a:pPr marL="171450" indent="-1714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代表系统是OpenMLDB，核心能力是特征一致性、SQL统一开发，适用于风控、广告、用户画像等场景</a:t>
                </a:r>
                <a:r>
                  <a:rPr lang="en-US" sz="1600"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sz="1600" b="0" i="0" u="none" strike="noStrike" dirty="0">
                    <a:solidFill>
                      <a:srgbClr val="000000"/>
                    </a:solidFill>
                    <a:ea typeface="微软雅黑"/>
                  </a:rPr>
                  <a:t>该架构通过特征工程一体化架构，保证了离线和在线特征计算的一致性，同时使用统一的SQL接口进行开发，降低了开发门槛，提高了开发效率。</a:t>
                </a:r>
              </a:p>
            </p:txBody>
          </p:sp>
        </p:grpSp>
        <p:grpSp>
          <p:nvGrpSpPr>
            <p:cNvPr id="50" name="组合 49" descr="e6d2ebe9-c19a-461a-a391-d74b091bc5cd">
              <a:extLst>
                <a:ext uri="{FF2B5EF4-FFF2-40B4-BE49-F238E27FC236}">
                  <a16:creationId xmlns:a16="http://schemas.microsoft.com/office/drawing/2014/main" id="{92BE4784-728C-58A3-1675-FC1A0C7ADF93}"/>
                </a:ext>
              </a:extLst>
            </p:cNvPr>
            <p:cNvGrpSpPr/>
            <p:nvPr/>
          </p:nvGrpSpPr>
          <p:grpSpPr>
            <a:xfrm>
              <a:off x="6778388" y="1130300"/>
              <a:ext cx="4740513" cy="2386551"/>
              <a:chOff x="-455853" y="340371"/>
              <a:chExt cx="4740513" cy="2386551"/>
            </a:xfrm>
          </p:grpSpPr>
          <p:sp>
            <p:nvSpPr>
              <p:cNvPr id="60" name="Bullet3" descr="a2402054-05af-4d9f-a84f-90c70d42539e">
                <a:extLst>
                  <a:ext uri="{FF2B5EF4-FFF2-40B4-BE49-F238E27FC236}">
                    <a16:creationId xmlns:a16="http://schemas.microsoft.com/office/drawing/2014/main" id="{5CC182E5-DB38-31EA-1CD6-3DF0047639AC}"/>
                  </a:ext>
                </a:extLst>
              </p:cNvPr>
              <p:cNvSpPr txBox="1">
                <a:spLocks/>
              </p:cNvSpPr>
              <p:nvPr/>
            </p:nvSpPr>
            <p:spPr>
              <a:xfrm>
                <a:off x="1158303" y="340371"/>
                <a:ext cx="3126355"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a:rPr>
                  <a:t>搜索分析型</a:t>
                </a:r>
                <a:endParaRPr lang="en-US" sz="1800" b="1" i="0" u="none" dirty="0">
                  <a:solidFill>
                    <a:srgbClr val="000000"/>
                  </a:solidFill>
                  <a:ea typeface="微软雅黑"/>
                </a:endParaRPr>
              </a:p>
            </p:txBody>
          </p:sp>
          <p:sp>
            <p:nvSpPr>
              <p:cNvPr id="61" name="Text3" descr="69947508-ecf7-4c47-b43a-08994a7757fa">
                <a:extLst>
                  <a:ext uri="{FF2B5EF4-FFF2-40B4-BE49-F238E27FC236}">
                    <a16:creationId xmlns:a16="http://schemas.microsoft.com/office/drawing/2014/main" id="{7C26E2BE-36D5-BB6B-E34F-90DB5C408F6E}"/>
                  </a:ext>
                </a:extLst>
              </p:cNvPr>
              <p:cNvSpPr txBox="1">
                <a:spLocks/>
              </p:cNvSpPr>
              <p:nvPr/>
            </p:nvSpPr>
            <p:spPr>
              <a:xfrm>
                <a:off x="-455853" y="813032"/>
                <a:ext cx="4740513" cy="1913890"/>
              </a:xfrm>
              <a:prstGeom prst="rect">
                <a:avLst/>
              </a:prstGeom>
              <a:noFill/>
              <a:ln>
                <a:noFill/>
              </a:ln>
            </p:spPr>
            <p:txBody>
              <a:bodyPr wrap="square" lIns="91440" tIns="45720" rIns="91440" bIns="45720" anchor="t" anchorCtr="0">
                <a:noAutofit/>
              </a:bodyPr>
              <a:lstStyle/>
              <a:p>
                <a:pPr marL="171450" indent="-1714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代表系统是Elasticsearch，核心能力是全文检索、日志分析、聚合查询，适用于电商、运维监控等场景</a:t>
                </a:r>
                <a:r>
                  <a:rPr lang="en-US" sz="1600"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sz="1600" b="0" i="0" u="none" strike="noStrike" dirty="0">
                    <a:solidFill>
                      <a:srgbClr val="000000"/>
                    </a:solidFill>
                    <a:ea typeface="微软雅黑"/>
                  </a:rPr>
                  <a:t>Elasticsearch具备强大的搜索和分析功能，能够处理大量的文本和日志数据，支持全文检索、聚合查询等操作，为电商网站的商品搜索、运维系统的日志分析等应用提供支持。</a:t>
                </a:r>
              </a:p>
            </p:txBody>
          </p:sp>
        </p:grpSp>
        <p:grpSp>
          <p:nvGrpSpPr>
            <p:cNvPr id="51" name="组合 50" descr="60f2f9ce-32e3-4fd7-8a11-2d28229d5ba2">
              <a:extLst>
                <a:ext uri="{FF2B5EF4-FFF2-40B4-BE49-F238E27FC236}">
                  <a16:creationId xmlns:a16="http://schemas.microsoft.com/office/drawing/2014/main" id="{5C51D414-34F1-00DB-3855-6DBC97A7B4A9}"/>
                </a:ext>
              </a:extLst>
            </p:cNvPr>
            <p:cNvGrpSpPr/>
            <p:nvPr/>
          </p:nvGrpSpPr>
          <p:grpSpPr>
            <a:xfrm>
              <a:off x="6946710" y="3747549"/>
              <a:ext cx="4572191" cy="2386551"/>
              <a:chOff x="-287531" y="723900"/>
              <a:chExt cx="4572191" cy="2386551"/>
            </a:xfrm>
          </p:grpSpPr>
          <p:sp>
            <p:nvSpPr>
              <p:cNvPr id="57" name="Bullet4" descr="eeea8475-d67e-459a-8efe-bb62bb5fd0bb">
                <a:extLst>
                  <a:ext uri="{FF2B5EF4-FFF2-40B4-BE49-F238E27FC236}">
                    <a16:creationId xmlns:a16="http://schemas.microsoft.com/office/drawing/2014/main" id="{1D1E7D1E-8919-0495-C790-E0FB04CF824A}"/>
                  </a:ext>
                </a:extLst>
              </p:cNvPr>
              <p:cNvSpPr txBox="1">
                <a:spLocks/>
              </p:cNvSpPr>
              <p:nvPr/>
            </p:nvSpPr>
            <p:spPr>
              <a:xfrm>
                <a:off x="1158304" y="723900"/>
                <a:ext cx="3126355"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a:rPr>
                  <a:t>多模态融合型</a:t>
                </a:r>
              </a:p>
            </p:txBody>
          </p:sp>
          <p:sp>
            <p:nvSpPr>
              <p:cNvPr id="58" name="Text4" descr="93fbc216-5b65-4703-8966-29fb2b6b2d0c">
                <a:extLst>
                  <a:ext uri="{FF2B5EF4-FFF2-40B4-BE49-F238E27FC236}">
                    <a16:creationId xmlns:a16="http://schemas.microsoft.com/office/drawing/2014/main" id="{B247B890-C3C8-0874-4689-AB51E620D551}"/>
                  </a:ext>
                </a:extLst>
              </p:cNvPr>
              <p:cNvSpPr txBox="1">
                <a:spLocks/>
              </p:cNvSpPr>
              <p:nvPr/>
            </p:nvSpPr>
            <p:spPr>
              <a:xfrm>
                <a:off x="-287531" y="1196561"/>
                <a:ext cx="4572191" cy="1913890"/>
              </a:xfrm>
              <a:prstGeom prst="rect">
                <a:avLst/>
              </a:prstGeom>
              <a:noFill/>
              <a:ln>
                <a:noFill/>
              </a:ln>
            </p:spPr>
            <p:txBody>
              <a:bodyPr wrap="square" lIns="91440" tIns="45720" rIns="91440" bIns="45720" anchor="t" anchorCtr="0">
                <a:normAutofit fontScale="92500" lnSpcReduction="10000"/>
              </a:bodyPr>
              <a:lstStyle/>
              <a:p>
                <a:pPr marL="171450" indent="-171450" algn="l">
                  <a:lnSpc>
                    <a:spcPct val="120000"/>
                  </a:lnSpc>
                  <a:spcBef>
                    <a:spcPct val="0"/>
                  </a:spcBef>
                  <a:spcAft>
                    <a:spcPct val="0"/>
                  </a:spcAft>
                  <a:buFont typeface="Arial" panose="020B0604020202020204" pitchFamily="34" charset="0"/>
                  <a:buChar char="•"/>
                </a:pPr>
                <a:r>
                  <a:rPr lang="en-US" sz="1600" b="0" i="0" u="none" strike="noStrike" dirty="0" err="1">
                    <a:solidFill>
                      <a:srgbClr val="000000"/>
                    </a:solidFill>
                    <a:ea typeface="微软雅黑"/>
                  </a:rPr>
                  <a:t>代表系统为新一代AI数据库（如Pinecone、Weaviate</a:t>
                </a:r>
                <a:r>
                  <a:rPr lang="en-US" sz="1600" b="0" i="0" u="none" strike="noStrike" dirty="0">
                    <a:solidFill>
                      <a:srgbClr val="000000"/>
                    </a:solidFill>
                    <a:ea typeface="微软雅黑"/>
                  </a:rPr>
                  <a:t>），</a:t>
                </a:r>
                <a:r>
                  <a:rPr lang="en-US" sz="1600" b="0" i="0" u="none" strike="noStrike" dirty="0" err="1">
                    <a:solidFill>
                      <a:srgbClr val="000000"/>
                    </a:solidFill>
                    <a:ea typeface="微软雅黑"/>
                  </a:rPr>
                  <a:t>核心能力是统一处理文本、图像、音频向量，适用于多模态AI应用</a:t>
                </a:r>
                <a:r>
                  <a:rPr lang="en-US" sz="1600" b="0" i="0" u="none" strike="noStrike" dirty="0">
                    <a:solidFill>
                      <a:srgbClr val="000000"/>
                    </a:solidFill>
                    <a:ea typeface="微软雅黑"/>
                  </a:rPr>
                  <a:t>。</a:t>
                </a:r>
              </a:p>
              <a:p>
                <a:pPr marL="171450" indent="-171450" algn="l">
                  <a:lnSpc>
                    <a:spcPct val="120000"/>
                  </a:lnSpc>
                  <a:spcBef>
                    <a:spcPct val="0"/>
                  </a:spcBef>
                  <a:spcAft>
                    <a:spcPct val="0"/>
                  </a:spcAft>
                  <a:buFont typeface="Arial" panose="020B0604020202020204" pitchFamily="34" charset="0"/>
                  <a:buChar char="•"/>
                </a:pPr>
                <a:r>
                  <a:rPr lang="en-US" sz="1600" b="0" i="0" u="none" strike="noStrike" dirty="0">
                    <a:solidFill>
                      <a:srgbClr val="000000"/>
                    </a:solidFill>
                    <a:ea typeface="微软雅黑"/>
                  </a:rPr>
                  <a:t>这类架构能够将不同模态的数据（如文本、图像、音频）转换为统一的向量表示，并进行语义理解和相似性搜索，为多模态AI应用（如图像搜索、语音识别等）提供支持。</a:t>
                </a:r>
              </a:p>
            </p:txBody>
          </p:sp>
        </p:gr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a:xfrm>
            <a:off x="475270" y="200882"/>
            <a:ext cx="11387667" cy="1143000"/>
          </a:xfrm>
        </p:spPr>
        <p:txBody>
          <a:bodyPr anchorCtr="0"/>
          <a:lstStyle/>
          <a:p>
            <a:pPr>
              <a:lnSpc>
                <a:spcPct val="100000"/>
              </a:lnSpc>
              <a:spcBef>
                <a:spcPct val="0"/>
              </a:spcBef>
            </a:pPr>
            <a:r>
              <a:rPr lang="en-US" sz="2800" b="1" dirty="0" err="1"/>
              <a:t>AI数据库未来技术演进方向</a:t>
            </a:r>
            <a:endParaRPr lang="en-US" sz="2800" b="1" dirty="0"/>
          </a:p>
        </p:txBody>
      </p:sp>
      <p:grpSp>
        <p:nvGrpSpPr>
          <p:cNvPr id="24" name="4eda1e78-9da9-4086-8953-14b97d158819.source.5.zh-Hans.pptx" descr="ef411244-e672-4fb9-bb12-e8a7b2f0f964">
            <a:extLst>
              <a:ext uri="{FF2B5EF4-FFF2-40B4-BE49-F238E27FC236}">
                <a16:creationId xmlns:a16="http://schemas.microsoft.com/office/drawing/2014/main" id="{1AC64A2A-4494-6153-97E1-BA798A087F2C}"/>
              </a:ext>
            </a:extLst>
          </p:cNvPr>
          <p:cNvGrpSpPr/>
          <p:nvPr/>
        </p:nvGrpSpPr>
        <p:grpSpPr>
          <a:xfrm>
            <a:off x="705134" y="1553384"/>
            <a:ext cx="10673905" cy="4712129"/>
            <a:chOff x="3929905" y="1130301"/>
            <a:chExt cx="7588988" cy="4712129"/>
          </a:xfrm>
        </p:grpSpPr>
        <p:grpSp>
          <p:nvGrpSpPr>
            <p:cNvPr id="19" name="组合 18" descr="1e93ca94-a0e9-4402-918d-063c83211919">
              <a:extLst>
                <a:ext uri="{FF2B5EF4-FFF2-40B4-BE49-F238E27FC236}">
                  <a16:creationId xmlns:a16="http://schemas.microsoft.com/office/drawing/2014/main" id="{AC7A58B0-75E4-EDEC-CFF8-414BA10FCD28}"/>
                </a:ext>
              </a:extLst>
            </p:cNvPr>
            <p:cNvGrpSpPr/>
            <p:nvPr/>
          </p:nvGrpSpPr>
          <p:grpSpPr>
            <a:xfrm>
              <a:off x="3942608" y="1130301"/>
              <a:ext cx="7576284" cy="1431761"/>
              <a:chOff x="2738740" y="1409022"/>
              <a:chExt cx="4063993" cy="1846169"/>
            </a:xfrm>
          </p:grpSpPr>
          <p:sp>
            <p:nvSpPr>
              <p:cNvPr id="4" name="Bullet1" descr="2262f09a-6091-4ab5-aa5b-2aabcae18e43">
                <a:extLst>
                  <a:ext uri="{FF2B5EF4-FFF2-40B4-BE49-F238E27FC236}">
                    <a16:creationId xmlns:a16="http://schemas.microsoft.com/office/drawing/2014/main" id="{E582D15D-8052-8F6F-D653-557A0DB77AE9}"/>
                  </a:ext>
                </a:extLst>
              </p:cNvPr>
              <p:cNvSpPr>
                <a:spLocks/>
              </p:cNvSpPr>
              <p:nvPr/>
            </p:nvSpPr>
            <p:spPr>
              <a:xfrm flipH="1">
                <a:off x="2738740" y="1409022"/>
                <a:ext cx="4063993" cy="550800"/>
              </a:xfrm>
              <a:prstGeom prst="roundRect">
                <a:avLst>
                  <a:gd name="adj" fmla="val 9201"/>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dirty="0" err="1">
                    <a:solidFill>
                      <a:srgbClr val="000000"/>
                    </a:solidFill>
                    <a:latin typeface="Arial"/>
                  </a:rPr>
                  <a:t>AI原生数据库（AI</a:t>
                </a:r>
                <a:r>
                  <a:rPr lang="en-US" sz="1800" b="1" i="0" u="none" dirty="0">
                    <a:solidFill>
                      <a:srgbClr val="000000"/>
                    </a:solidFill>
                    <a:latin typeface="Arial"/>
                  </a:rPr>
                  <a:t> - Native DB）</a:t>
                </a:r>
              </a:p>
            </p:txBody>
          </p:sp>
          <p:sp>
            <p:nvSpPr>
              <p:cNvPr id="5" name="Text1" descr="382d2ecd-411b-42b1-b93a-a0ba4de6f3c5">
                <a:extLst>
                  <a:ext uri="{FF2B5EF4-FFF2-40B4-BE49-F238E27FC236}">
                    <a16:creationId xmlns:a16="http://schemas.microsoft.com/office/drawing/2014/main" id="{1E9E3D4F-7083-C5C3-2C72-3EC70FF4CC40}"/>
                  </a:ext>
                </a:extLst>
              </p:cNvPr>
              <p:cNvSpPr txBox="1">
                <a:spLocks/>
              </p:cNvSpPr>
              <p:nvPr/>
            </p:nvSpPr>
            <p:spPr>
              <a:xfrm>
                <a:off x="2738740" y="2065951"/>
                <a:ext cx="4063993" cy="1189240"/>
              </a:xfrm>
              <a:prstGeom prst="rect">
                <a:avLst/>
              </a:prstGeom>
              <a:noFill/>
              <a:ln w="6350">
                <a:noFill/>
              </a:ln>
            </p:spPr>
            <p:txBody>
              <a:bodyPr wrap="square" rtlCol="0" anchor="t" anchorCtr="0">
                <a:no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数据库内建AI能力，如自动特征提取、模型建议、异常检测等，实现“数据库即服务AI</a:t>
                </a:r>
                <a:r>
                  <a:rPr lang="en-US" sz="14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未来的AI数据库将更加智能化，具备自动特征提取能力，能够从原始数据中自动提取有用的特征</a:t>
                </a:r>
                <a:r>
                  <a:rPr lang="en-US" sz="14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模型建议功能可以根据数据特点和业务需求，为开发者推荐合适的模型</a:t>
                </a:r>
                <a:r>
                  <a:rPr lang="en-US" sz="14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异常检测功能可以及时发现数据中的异常情况，为业务决策提供支持</a:t>
                </a:r>
                <a:r>
                  <a:rPr lang="en-US" sz="1400" b="0" i="0" u="none" dirty="0">
                    <a:solidFill>
                      <a:srgbClr val="000000"/>
                    </a:solidFill>
                    <a:ea typeface="微软雅黑"/>
                  </a:rPr>
                  <a:t>。</a:t>
                </a:r>
              </a:p>
            </p:txBody>
          </p:sp>
        </p:grpSp>
        <p:grpSp>
          <p:nvGrpSpPr>
            <p:cNvPr id="20" name="组合 19" descr="fcdd46f3-99bb-49a3-ac09-b6ff8bda04dd">
              <a:extLst>
                <a:ext uri="{FF2B5EF4-FFF2-40B4-BE49-F238E27FC236}">
                  <a16:creationId xmlns:a16="http://schemas.microsoft.com/office/drawing/2014/main" id="{97339EBC-4E05-1700-D77E-75858F503529}"/>
                </a:ext>
              </a:extLst>
            </p:cNvPr>
            <p:cNvGrpSpPr/>
            <p:nvPr/>
          </p:nvGrpSpPr>
          <p:grpSpPr>
            <a:xfrm>
              <a:off x="3929909" y="2644867"/>
              <a:ext cx="7588984" cy="1463808"/>
              <a:chOff x="2731929" y="4932837"/>
              <a:chExt cx="4070805" cy="1887492"/>
            </a:xfrm>
          </p:grpSpPr>
          <p:sp>
            <p:nvSpPr>
              <p:cNvPr id="7" name="Bullet2" descr="ef143ce7-6c88-4843-aa76-ad6f299fb8c5">
                <a:extLst>
                  <a:ext uri="{FF2B5EF4-FFF2-40B4-BE49-F238E27FC236}">
                    <a16:creationId xmlns:a16="http://schemas.microsoft.com/office/drawing/2014/main" id="{BA83D710-540F-0E12-9105-487B5FD722AB}"/>
                  </a:ext>
                </a:extLst>
              </p:cNvPr>
              <p:cNvSpPr>
                <a:spLocks/>
              </p:cNvSpPr>
              <p:nvPr/>
            </p:nvSpPr>
            <p:spPr>
              <a:xfrm flipH="1">
                <a:off x="2738741" y="4932837"/>
                <a:ext cx="4063993" cy="550803"/>
              </a:xfrm>
              <a:prstGeom prst="roundRect">
                <a:avLst>
                  <a:gd name="adj" fmla="val 7957"/>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dirty="0" err="1">
                    <a:solidFill>
                      <a:srgbClr val="000000"/>
                    </a:solidFill>
                    <a:ea typeface="微软雅黑"/>
                  </a:rPr>
                  <a:t>与AI大模型深度融合</a:t>
                </a:r>
                <a:endParaRPr lang="en-US" sz="1800" b="1" i="0" u="none" dirty="0">
                  <a:solidFill>
                    <a:srgbClr val="000000"/>
                  </a:solidFill>
                  <a:ea typeface="微软雅黑"/>
                </a:endParaRPr>
              </a:p>
            </p:txBody>
          </p:sp>
          <p:sp>
            <p:nvSpPr>
              <p:cNvPr id="8" name="Text2" descr="b87d68a9-360e-490f-9ea3-0895a7a47df6">
                <a:extLst>
                  <a:ext uri="{FF2B5EF4-FFF2-40B4-BE49-F238E27FC236}">
                    <a16:creationId xmlns:a16="http://schemas.microsoft.com/office/drawing/2014/main" id="{0FB2A81D-2A66-9DA2-549E-03317DFB088C}"/>
                  </a:ext>
                </a:extLst>
              </p:cNvPr>
              <p:cNvSpPr txBox="1">
                <a:spLocks/>
              </p:cNvSpPr>
              <p:nvPr/>
            </p:nvSpPr>
            <p:spPr>
              <a:xfrm>
                <a:off x="2731929" y="5649729"/>
                <a:ext cx="4063993" cy="1170600"/>
              </a:xfrm>
              <a:prstGeom prst="rect">
                <a:avLst/>
              </a:prstGeom>
              <a:noFill/>
              <a:ln w="6350">
                <a:noFill/>
              </a:ln>
            </p:spPr>
            <p:txBody>
              <a:bodyPr wrap="square" rtlCol="0" anchor="t" anchorCtr="0">
                <a:no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400" dirty="0" err="1">
                    <a:solidFill>
                      <a:srgbClr val="000000"/>
                    </a:solidFill>
                    <a:ea typeface="微软雅黑"/>
                  </a:rPr>
                  <a:t>成为RAG系统的知识底座；支持大模型输出向量的实时索引与检索</a:t>
                </a:r>
                <a:r>
                  <a:rPr lang="en-US" sz="1400" dirty="0">
                    <a:solidFill>
                      <a:srgbClr val="000000"/>
                    </a:solidFill>
                    <a:ea typeface="微软雅黑"/>
                  </a:rPr>
                  <a:t>。</a:t>
                </a:r>
              </a:p>
              <a:p>
                <a:pPr marL="285750" indent="-285750" algn="l">
                  <a:lnSpc>
                    <a:spcPct val="120000"/>
                  </a:lnSpc>
                  <a:buFont typeface="Arial" panose="020B0604020202020204" pitchFamily="34" charset="0"/>
                  <a:buChar char="•"/>
                </a:pPr>
                <a:r>
                  <a:rPr lang="en-US" sz="1400" dirty="0" err="1">
                    <a:solidFill>
                      <a:srgbClr val="000000"/>
                    </a:solidFill>
                    <a:ea typeface="微软雅黑"/>
                  </a:rPr>
                  <a:t>随着大模型的发展，AI数据库将成为RAG（Retrieval</a:t>
                </a:r>
                <a:r>
                  <a:rPr lang="en-US" sz="1400" dirty="0">
                    <a:solidFill>
                      <a:srgbClr val="000000"/>
                    </a:solidFill>
                    <a:ea typeface="微软雅黑"/>
                  </a:rPr>
                  <a:t> - Augmented Generation）系统的重要知识底座，为RAG系统提供丰富的知识库支持。同时，AI数据库将支持大模型输出向量的实时索引与检索，提高RAG系统的响应速度和准确性。</a:t>
                </a:r>
              </a:p>
            </p:txBody>
          </p:sp>
        </p:grpSp>
        <p:grpSp>
          <p:nvGrpSpPr>
            <p:cNvPr id="27" name="组合 26" descr="b6895764-a104-4c62-bbe1-bc8fc98e9fe1">
              <a:extLst>
                <a:ext uri="{FF2B5EF4-FFF2-40B4-BE49-F238E27FC236}">
                  <a16:creationId xmlns:a16="http://schemas.microsoft.com/office/drawing/2014/main" id="{2277A800-EBDF-13AF-B57B-DF88BB913A9B}"/>
                </a:ext>
              </a:extLst>
            </p:cNvPr>
            <p:cNvGrpSpPr/>
            <p:nvPr/>
          </p:nvGrpSpPr>
          <p:grpSpPr>
            <a:xfrm>
              <a:off x="3929905" y="4186742"/>
              <a:ext cx="7588987" cy="1655688"/>
              <a:chOff x="7460791" y="2456486"/>
              <a:chExt cx="4070807" cy="2134908"/>
            </a:xfrm>
          </p:grpSpPr>
          <p:sp>
            <p:nvSpPr>
              <p:cNvPr id="10" name="Bullet3" descr="c6abdbae-96be-4385-bf18-376a07e2bcbb">
                <a:extLst>
                  <a:ext uri="{FF2B5EF4-FFF2-40B4-BE49-F238E27FC236}">
                    <a16:creationId xmlns:a16="http://schemas.microsoft.com/office/drawing/2014/main" id="{9EFDC063-4AF5-95AA-D3EC-C9D3D20AF91E}"/>
                  </a:ext>
                </a:extLst>
              </p:cNvPr>
              <p:cNvSpPr>
                <a:spLocks/>
              </p:cNvSpPr>
              <p:nvPr/>
            </p:nvSpPr>
            <p:spPr>
              <a:xfrm flipH="1">
                <a:off x="7467605" y="2456486"/>
                <a:ext cx="4063993" cy="550802"/>
              </a:xfrm>
              <a:prstGeom prst="roundRect">
                <a:avLst>
                  <a:gd name="adj" fmla="val 9267"/>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dirty="0" err="1">
                    <a:solidFill>
                      <a:srgbClr val="000000"/>
                    </a:solidFill>
                    <a:ea typeface="微软雅黑"/>
                  </a:rPr>
                  <a:t>云原生与Serverless架构普及</a:t>
                </a:r>
                <a:endParaRPr lang="en-US" sz="1800" b="1" i="0" u="none" dirty="0">
                  <a:solidFill>
                    <a:srgbClr val="000000"/>
                  </a:solidFill>
                  <a:ea typeface="微软雅黑"/>
                </a:endParaRPr>
              </a:p>
            </p:txBody>
          </p:sp>
          <p:sp>
            <p:nvSpPr>
              <p:cNvPr id="11" name="Text3" descr="adcc3dd3-289c-4a78-bd49-895c5c04b992">
                <a:extLst>
                  <a:ext uri="{FF2B5EF4-FFF2-40B4-BE49-F238E27FC236}">
                    <a16:creationId xmlns:a16="http://schemas.microsoft.com/office/drawing/2014/main" id="{7942591E-EB50-3FD9-7E28-90429BE43201}"/>
                  </a:ext>
                </a:extLst>
              </p:cNvPr>
              <p:cNvSpPr txBox="1">
                <a:spLocks/>
              </p:cNvSpPr>
              <p:nvPr/>
            </p:nvSpPr>
            <p:spPr>
              <a:xfrm>
                <a:off x="7460791" y="2996648"/>
                <a:ext cx="4063993" cy="1594746"/>
              </a:xfrm>
              <a:prstGeom prst="rect">
                <a:avLst/>
              </a:prstGeom>
              <a:noFill/>
              <a:ln w="6350">
                <a:noFill/>
              </a:ln>
            </p:spPr>
            <p:txBody>
              <a:bodyPr wrap="square" rtlCol="0" anchor="t" anchorCtr="0">
                <a:no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支持自动扩缩容、按需计费；深度集成Kubernetes、Data</a:t>
                </a:r>
                <a:r>
                  <a:rPr lang="en-US" sz="1400" b="0" i="0" u="none" dirty="0">
                    <a:solidFill>
                      <a:srgbClr val="000000"/>
                    </a:solidFill>
                    <a:ea typeface="微软雅黑"/>
                  </a:rPr>
                  <a:t> </a:t>
                </a:r>
                <a:r>
                  <a:rPr lang="en-US" sz="1400" b="0" i="0" u="none" dirty="0" err="1">
                    <a:solidFill>
                      <a:srgbClr val="000000"/>
                    </a:solidFill>
                    <a:ea typeface="微软雅黑"/>
                  </a:rPr>
                  <a:t>Lakehouse等现代数据栈</a:t>
                </a:r>
                <a:r>
                  <a:rPr lang="en-US" sz="14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云原生和Serverless架构具有弹性扩展、按需计费等优势，能够更好地满足AI应用的需求</a:t>
                </a:r>
                <a:r>
                  <a:rPr lang="en-US" sz="1400" b="0" i="0" u="none" dirty="0">
                    <a:solidFill>
                      <a:srgbClr val="000000"/>
                    </a:solidFill>
                    <a:ea typeface="微软雅黑"/>
                  </a:rPr>
                  <a:t>。</a:t>
                </a:r>
              </a:p>
              <a:p>
                <a:pPr marL="285750" indent="-285750" algn="l">
                  <a:lnSpc>
                    <a:spcPct val="120000"/>
                  </a:lnSpc>
                  <a:buFont typeface="Arial" panose="020B0604020202020204" pitchFamily="34" charset="0"/>
                  <a:buChar char="•"/>
                </a:pPr>
                <a:r>
                  <a:rPr lang="en-US" sz="1400" b="0" i="0" u="none" dirty="0" err="1">
                    <a:solidFill>
                      <a:srgbClr val="000000"/>
                    </a:solidFill>
                    <a:ea typeface="微软雅黑"/>
                  </a:rPr>
                  <a:t>未来的AI数据库将采用云原生和Serverless架构，支持自动扩缩容和按需计费，同时深度集成Kubernetes、Data</a:t>
                </a:r>
                <a:r>
                  <a:rPr lang="en-US" sz="1400" b="0" i="0" u="none" dirty="0">
                    <a:solidFill>
                      <a:srgbClr val="000000"/>
                    </a:solidFill>
                    <a:ea typeface="微软雅黑"/>
                  </a:rPr>
                  <a:t> </a:t>
                </a:r>
                <a:r>
                  <a:rPr lang="en-US" sz="1400" b="0" i="0" u="none" dirty="0" err="1">
                    <a:solidFill>
                      <a:srgbClr val="000000"/>
                    </a:solidFill>
                    <a:ea typeface="微软雅黑"/>
                  </a:rPr>
                  <a:t>Lakehouse等现代数据栈，提高系统的可扩展性和灵活性</a:t>
                </a:r>
                <a:r>
                  <a:rPr lang="en-US" sz="1400" b="0" i="0" u="none" dirty="0">
                    <a:solidFill>
                      <a:srgbClr val="000000"/>
                    </a:solidFill>
                    <a:ea typeface="微软雅黑"/>
                  </a:rPr>
                  <a:t>。</a:t>
                </a:r>
              </a:p>
            </p:txBody>
          </p:sp>
        </p:gr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a:xfrm>
            <a:off x="475270" y="200882"/>
            <a:ext cx="11387667" cy="1143000"/>
          </a:xfrm>
        </p:spPr>
        <p:txBody>
          <a:bodyPr anchorCtr="0"/>
          <a:lstStyle/>
          <a:p>
            <a:pPr>
              <a:lnSpc>
                <a:spcPct val="100000"/>
              </a:lnSpc>
              <a:spcBef>
                <a:spcPct val="0"/>
              </a:spcBef>
            </a:pPr>
            <a:r>
              <a:rPr lang="en-US" sz="2800" b="1" dirty="0" err="1"/>
              <a:t>AI数据库未来技术演进方向</a:t>
            </a:r>
            <a:endParaRPr lang="en-US" sz="2800" b="1" dirty="0"/>
          </a:p>
        </p:txBody>
      </p:sp>
      <p:grpSp>
        <p:nvGrpSpPr>
          <p:cNvPr id="24" name="4eda1e78-9da9-4086-8953-14b97d158819.source.5.zh-Hans.pptx" descr="ef411244-e672-4fb9-bb12-e8a7b2f0f964">
            <a:extLst>
              <a:ext uri="{FF2B5EF4-FFF2-40B4-BE49-F238E27FC236}">
                <a16:creationId xmlns:a16="http://schemas.microsoft.com/office/drawing/2014/main" id="{1AC64A2A-4494-6153-97E1-BA798A087F2C}"/>
              </a:ext>
            </a:extLst>
          </p:cNvPr>
          <p:cNvGrpSpPr/>
          <p:nvPr/>
        </p:nvGrpSpPr>
        <p:grpSpPr>
          <a:xfrm>
            <a:off x="705134" y="1814459"/>
            <a:ext cx="10673910" cy="4236047"/>
            <a:chOff x="3929905" y="1391376"/>
            <a:chExt cx="7588991" cy="4236047"/>
          </a:xfrm>
        </p:grpSpPr>
        <p:grpSp>
          <p:nvGrpSpPr>
            <p:cNvPr id="28" name="组合 27" descr="7675dd6a-fb03-4c1f-a202-2dde032be078">
              <a:extLst>
                <a:ext uri="{FF2B5EF4-FFF2-40B4-BE49-F238E27FC236}">
                  <a16:creationId xmlns:a16="http://schemas.microsoft.com/office/drawing/2014/main" id="{C4DB73BA-F9D6-D675-9517-36343EE20CF3}"/>
                </a:ext>
              </a:extLst>
            </p:cNvPr>
            <p:cNvGrpSpPr/>
            <p:nvPr/>
          </p:nvGrpSpPr>
          <p:grpSpPr>
            <a:xfrm>
              <a:off x="3929908" y="1391376"/>
              <a:ext cx="7588986" cy="1635558"/>
              <a:chOff x="7448091" y="-818665"/>
              <a:chExt cx="4070806" cy="2108958"/>
            </a:xfrm>
          </p:grpSpPr>
          <p:sp>
            <p:nvSpPr>
              <p:cNvPr id="13" name="Bullet4" descr="388052ea-9ad9-4aa0-95f6-a21099a842d3">
                <a:extLst>
                  <a:ext uri="{FF2B5EF4-FFF2-40B4-BE49-F238E27FC236}">
                    <a16:creationId xmlns:a16="http://schemas.microsoft.com/office/drawing/2014/main" id="{741BD3BB-56E5-E00C-A0EE-CF57B26C57D1}"/>
                  </a:ext>
                </a:extLst>
              </p:cNvPr>
              <p:cNvSpPr>
                <a:spLocks/>
              </p:cNvSpPr>
              <p:nvPr/>
            </p:nvSpPr>
            <p:spPr>
              <a:xfrm flipH="1">
                <a:off x="7454904" y="-818665"/>
                <a:ext cx="4063993" cy="550799"/>
              </a:xfrm>
              <a:prstGeom prst="roundRect">
                <a:avLst>
                  <a:gd name="adj" fmla="val 8705"/>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dirty="0" err="1">
                    <a:solidFill>
                      <a:srgbClr val="000000"/>
                    </a:solidFill>
                    <a:ea typeface="微软雅黑"/>
                  </a:rPr>
                  <a:t>实时性与流式处理增强</a:t>
                </a:r>
                <a:endParaRPr lang="en-US" sz="1800" b="1" i="0" u="none" dirty="0">
                  <a:solidFill>
                    <a:srgbClr val="000000"/>
                  </a:solidFill>
                  <a:ea typeface="微软雅黑"/>
                </a:endParaRPr>
              </a:p>
            </p:txBody>
          </p:sp>
          <p:sp>
            <p:nvSpPr>
              <p:cNvPr id="14" name="Text4" descr="3e40a1a1-4e29-43b9-a74f-4325d5be3ef4">
                <a:extLst>
                  <a:ext uri="{FF2B5EF4-FFF2-40B4-BE49-F238E27FC236}">
                    <a16:creationId xmlns:a16="http://schemas.microsoft.com/office/drawing/2014/main" id="{CC7DEB88-0EBB-B898-F425-78FF5BA68FFB}"/>
                  </a:ext>
                </a:extLst>
              </p:cNvPr>
              <p:cNvSpPr txBox="1">
                <a:spLocks/>
              </p:cNvSpPr>
              <p:nvPr/>
            </p:nvSpPr>
            <p:spPr>
              <a:xfrm>
                <a:off x="7448091" y="6367"/>
                <a:ext cx="4063993" cy="1283926"/>
              </a:xfrm>
              <a:prstGeom prst="rect">
                <a:avLst/>
              </a:prstGeom>
              <a:noFill/>
              <a:ln w="6350">
                <a:noFill/>
              </a:ln>
            </p:spPr>
            <p:txBody>
              <a:bodyPr wrap="square" rtlCol="0" anchor="t" anchorCtr="0">
                <a:no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l">
                  <a:lnSpc>
                    <a:spcPct val="120000"/>
                  </a:lnSpc>
                  <a:buFont typeface="Arial" panose="020B0604020202020204" pitchFamily="34" charset="0"/>
                  <a:buChar char="•"/>
                </a:pPr>
                <a:r>
                  <a:rPr lang="en-US" sz="1600" b="0" i="0" u="none" dirty="0" err="1">
                    <a:solidFill>
                      <a:srgbClr val="000000"/>
                    </a:solidFill>
                    <a:ea typeface="微软雅黑"/>
                  </a:rPr>
                  <a:t>支持Flink</a:t>
                </a:r>
                <a:r>
                  <a:rPr lang="en-US" sz="1600" b="0" i="0" u="none" dirty="0">
                    <a:solidFill>
                      <a:srgbClr val="000000"/>
                    </a:solidFill>
                    <a:ea typeface="微软雅黑"/>
                  </a:rPr>
                  <a:t>/Spark </a:t>
                </a:r>
                <a:r>
                  <a:rPr lang="en-US" sz="1600" b="0" i="0" u="none" dirty="0" err="1">
                    <a:solidFill>
                      <a:srgbClr val="000000"/>
                    </a:solidFill>
                    <a:ea typeface="微软雅黑"/>
                  </a:rPr>
                  <a:t>Streaming实时特征计算</a:t>
                </a:r>
                <a:r>
                  <a:rPr lang="en-US" sz="1600" b="0" i="0" u="none" dirty="0">
                    <a:solidFill>
                      <a:srgbClr val="000000"/>
                    </a:solidFill>
                    <a:ea typeface="微软雅黑"/>
                  </a:rPr>
                  <a:t>, </a:t>
                </a:r>
                <a:r>
                  <a:rPr lang="en-US" sz="1600" b="0" i="0" u="none" dirty="0" err="1">
                    <a:solidFill>
                      <a:srgbClr val="000000"/>
                    </a:solidFill>
                    <a:ea typeface="微软雅黑"/>
                  </a:rPr>
                  <a:t>实现“事件驱动”的AI推理闭环</a:t>
                </a:r>
                <a:r>
                  <a:rPr lang="en-US" sz="1600" b="0" i="0" u="none" dirty="0">
                    <a:solidFill>
                      <a:srgbClr val="000000"/>
                    </a:solidFill>
                    <a:ea typeface="微软雅黑"/>
                  </a:rPr>
                  <a:t>。</a:t>
                </a:r>
              </a:p>
              <a:p>
                <a:pPr marL="171450" indent="-171450" algn="l">
                  <a:lnSpc>
                    <a:spcPct val="120000"/>
                  </a:lnSpc>
                  <a:buFont typeface="Arial" panose="020B0604020202020204" pitchFamily="34" charset="0"/>
                  <a:buChar char="•"/>
                </a:pPr>
                <a:r>
                  <a:rPr lang="en-US" sz="1600" b="0" i="0" u="none" dirty="0" err="1">
                    <a:solidFill>
                      <a:srgbClr val="000000"/>
                    </a:solidFill>
                    <a:ea typeface="微软雅黑"/>
                  </a:rPr>
                  <a:t>实时性和流式处理是AI应用的重要需求之一</a:t>
                </a:r>
                <a:r>
                  <a:rPr lang="en-US" sz="1600" b="0" i="0" u="none" dirty="0">
                    <a:solidFill>
                      <a:srgbClr val="000000"/>
                    </a:solidFill>
                    <a:ea typeface="微软雅黑"/>
                  </a:rPr>
                  <a:t>。</a:t>
                </a:r>
              </a:p>
              <a:p>
                <a:pPr marL="171450" indent="-171450" algn="l">
                  <a:lnSpc>
                    <a:spcPct val="120000"/>
                  </a:lnSpc>
                  <a:buFont typeface="Arial" panose="020B0604020202020204" pitchFamily="34" charset="0"/>
                  <a:buChar char="•"/>
                </a:pPr>
                <a:r>
                  <a:rPr lang="en-US" sz="1600" b="0" i="0" u="none" dirty="0" err="1">
                    <a:solidFill>
                      <a:srgbClr val="000000"/>
                    </a:solidFill>
                    <a:ea typeface="微软雅黑"/>
                  </a:rPr>
                  <a:t>未来的AI数据库将支持Flink</a:t>
                </a:r>
                <a:r>
                  <a:rPr lang="en-US" sz="1600" b="0" i="0" u="none" dirty="0">
                    <a:solidFill>
                      <a:srgbClr val="000000"/>
                    </a:solidFill>
                    <a:ea typeface="微软雅黑"/>
                  </a:rPr>
                  <a:t>/Spark </a:t>
                </a:r>
                <a:r>
                  <a:rPr lang="en-US" sz="1600" b="0" i="0" u="none" dirty="0" err="1">
                    <a:solidFill>
                      <a:srgbClr val="000000"/>
                    </a:solidFill>
                    <a:ea typeface="微软雅黑"/>
                  </a:rPr>
                  <a:t>Streaming等实时计算框架，实现实时特征计算</a:t>
                </a:r>
                <a:r>
                  <a:rPr lang="en-US" sz="1600" b="0" i="0" u="none" dirty="0">
                    <a:solidFill>
                      <a:srgbClr val="000000"/>
                    </a:solidFill>
                    <a:ea typeface="微软雅黑"/>
                  </a:rPr>
                  <a:t>。</a:t>
                </a:r>
              </a:p>
              <a:p>
                <a:pPr marL="171450" indent="-171450" algn="l">
                  <a:lnSpc>
                    <a:spcPct val="120000"/>
                  </a:lnSpc>
                  <a:buFont typeface="Arial" panose="020B0604020202020204" pitchFamily="34" charset="0"/>
                  <a:buChar char="•"/>
                </a:pPr>
                <a:r>
                  <a:rPr lang="en-US" sz="1600" b="0" i="0" u="none" dirty="0" err="1">
                    <a:solidFill>
                      <a:srgbClr val="000000"/>
                    </a:solidFill>
                    <a:ea typeface="微软雅黑"/>
                  </a:rPr>
                  <a:t>同时，实现“事件驱动”的AI推理闭环，能够及时响应事件并进行推理，提高应用的实时性和响应能力</a:t>
                </a:r>
                <a:r>
                  <a:rPr lang="en-US" sz="1600" b="0" i="0" u="none" dirty="0">
                    <a:solidFill>
                      <a:srgbClr val="000000"/>
                    </a:solidFill>
                    <a:ea typeface="微软雅黑"/>
                  </a:rPr>
                  <a:t>。</a:t>
                </a:r>
              </a:p>
            </p:txBody>
          </p:sp>
        </p:grpSp>
        <p:grpSp>
          <p:nvGrpSpPr>
            <p:cNvPr id="29" name="组合 28" descr="0862fcba-21af-4ced-a5d0-4e9410530be1">
              <a:extLst>
                <a:ext uri="{FF2B5EF4-FFF2-40B4-BE49-F238E27FC236}">
                  <a16:creationId xmlns:a16="http://schemas.microsoft.com/office/drawing/2014/main" id="{98E5388D-746C-43F4-A570-3AE10253277F}"/>
                </a:ext>
              </a:extLst>
            </p:cNvPr>
            <p:cNvGrpSpPr/>
            <p:nvPr/>
          </p:nvGrpSpPr>
          <p:grpSpPr>
            <a:xfrm>
              <a:off x="3929905" y="3850456"/>
              <a:ext cx="7588991" cy="1776967"/>
              <a:chOff x="7448085" y="2681499"/>
              <a:chExt cx="4070809" cy="2291301"/>
            </a:xfrm>
          </p:grpSpPr>
          <p:sp>
            <p:nvSpPr>
              <p:cNvPr id="16" name="Bullet5" descr="a4e9c7a0-4f6a-47b1-8583-abb6b2f38cbb">
                <a:extLst>
                  <a:ext uri="{FF2B5EF4-FFF2-40B4-BE49-F238E27FC236}">
                    <a16:creationId xmlns:a16="http://schemas.microsoft.com/office/drawing/2014/main" id="{16D45FF4-4BCD-9736-0631-96CA7171EFFE}"/>
                  </a:ext>
                </a:extLst>
              </p:cNvPr>
              <p:cNvSpPr>
                <a:spLocks/>
              </p:cNvSpPr>
              <p:nvPr/>
            </p:nvSpPr>
            <p:spPr>
              <a:xfrm flipH="1">
                <a:off x="7454899" y="2681499"/>
                <a:ext cx="4063995" cy="550798"/>
              </a:xfrm>
              <a:prstGeom prst="roundRect">
                <a:avLst>
                  <a:gd name="adj" fmla="val 11890"/>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dirty="0" err="1">
                    <a:solidFill>
                      <a:srgbClr val="000000"/>
                    </a:solidFill>
                    <a:ea typeface="微软雅黑"/>
                  </a:rPr>
                  <a:t>安全与隐私增强</a:t>
                </a:r>
                <a:endParaRPr lang="en-US" sz="1800" b="1" i="0" u="none" dirty="0">
                  <a:solidFill>
                    <a:srgbClr val="000000"/>
                  </a:solidFill>
                  <a:ea typeface="微软雅黑"/>
                </a:endParaRPr>
              </a:p>
            </p:txBody>
          </p:sp>
          <p:sp>
            <p:nvSpPr>
              <p:cNvPr id="17" name="Text5" descr="431aafe3-5bca-4fa7-8ace-98fe359d0425">
                <a:extLst>
                  <a:ext uri="{FF2B5EF4-FFF2-40B4-BE49-F238E27FC236}">
                    <a16:creationId xmlns:a16="http://schemas.microsoft.com/office/drawing/2014/main" id="{0A672B13-06FA-B4EC-F498-824D1691C34B}"/>
                  </a:ext>
                </a:extLst>
              </p:cNvPr>
              <p:cNvSpPr txBox="1">
                <a:spLocks/>
              </p:cNvSpPr>
              <p:nvPr/>
            </p:nvSpPr>
            <p:spPr>
              <a:xfrm>
                <a:off x="7448085" y="3348152"/>
                <a:ext cx="4063995" cy="1624648"/>
              </a:xfrm>
              <a:prstGeom prst="rect">
                <a:avLst/>
              </a:prstGeom>
              <a:noFill/>
              <a:ln w="6350">
                <a:noFill/>
              </a:ln>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l">
                  <a:lnSpc>
                    <a:spcPct val="120000"/>
                  </a:lnSpc>
                  <a:buFont typeface="Arial" panose="020B0604020202020204" pitchFamily="34" charset="0"/>
                  <a:buChar char="•"/>
                </a:pPr>
                <a:r>
                  <a:rPr lang="en-US" sz="1400" b="0" i="0" u="none" dirty="0" err="1">
                    <a:solidFill>
                      <a:srgbClr val="000000"/>
                    </a:solidFill>
                    <a:ea typeface="微软雅黑"/>
                  </a:rPr>
                  <a:t>支持同态加密、差分隐私下的向量检索</a:t>
                </a:r>
                <a:r>
                  <a:rPr lang="en-US" sz="1400" b="0" i="0" u="none" dirty="0">
                    <a:solidFill>
                      <a:srgbClr val="000000"/>
                    </a:solidFill>
                    <a:ea typeface="微软雅黑"/>
                  </a:rPr>
                  <a:t>；</a:t>
                </a:r>
              </a:p>
              <a:p>
                <a:pPr marL="171450" indent="-171450" algn="l">
                  <a:lnSpc>
                    <a:spcPct val="120000"/>
                  </a:lnSpc>
                  <a:buFont typeface="Arial" panose="020B0604020202020204" pitchFamily="34" charset="0"/>
                  <a:buChar char="•"/>
                </a:pPr>
                <a:r>
                  <a:rPr lang="en-US" sz="1400" b="0" i="0" u="none" dirty="0" err="1">
                    <a:solidFill>
                      <a:srgbClr val="000000"/>
                    </a:solidFill>
                    <a:ea typeface="微软雅黑"/>
                  </a:rPr>
                  <a:t>满足GDPR、数据合规要求</a:t>
                </a:r>
                <a:r>
                  <a:rPr lang="en-US" sz="1400" b="0" i="0" u="none" dirty="0">
                    <a:solidFill>
                      <a:srgbClr val="000000"/>
                    </a:solidFill>
                    <a:ea typeface="微软雅黑"/>
                  </a:rPr>
                  <a:t>, </a:t>
                </a:r>
                <a:r>
                  <a:rPr lang="en-US" sz="1400" b="0" i="0" u="none" dirty="0" err="1">
                    <a:solidFill>
                      <a:srgbClr val="000000"/>
                    </a:solidFill>
                    <a:ea typeface="微软雅黑"/>
                  </a:rPr>
                  <a:t>随着数据安全和隐私保护的要求越来越高，未来的AI数据库将加强安全和隐私保护措施</a:t>
                </a:r>
                <a:r>
                  <a:rPr lang="en-US" sz="1400" b="0" i="0" u="none" dirty="0">
                    <a:solidFill>
                      <a:srgbClr val="000000"/>
                    </a:solidFill>
                    <a:ea typeface="微软雅黑"/>
                  </a:rPr>
                  <a:t>。</a:t>
                </a:r>
              </a:p>
              <a:p>
                <a:pPr marL="171450" indent="-171450" algn="l">
                  <a:lnSpc>
                    <a:spcPct val="120000"/>
                  </a:lnSpc>
                  <a:buFont typeface="Arial" panose="020B0604020202020204" pitchFamily="34" charset="0"/>
                  <a:buChar char="•"/>
                </a:pPr>
                <a:r>
                  <a:rPr lang="en-US" sz="1400" b="0" i="0" u="none" dirty="0" err="1">
                    <a:solidFill>
                      <a:srgbClr val="000000"/>
                    </a:solidFill>
                    <a:ea typeface="微软雅黑"/>
                  </a:rPr>
                  <a:t>支持同态加密、差分隐私下的向量检索，能够在保护数据隐私的前提下进行数据分析和检索</a:t>
                </a:r>
                <a:r>
                  <a:rPr lang="en-US" sz="1400" b="0" i="0" u="none" dirty="0">
                    <a:solidFill>
                      <a:srgbClr val="000000"/>
                    </a:solidFill>
                    <a:ea typeface="微软雅黑"/>
                  </a:rPr>
                  <a:t>。</a:t>
                </a:r>
              </a:p>
              <a:p>
                <a:pPr marL="171450" indent="-171450" algn="l">
                  <a:lnSpc>
                    <a:spcPct val="120000"/>
                  </a:lnSpc>
                  <a:buFont typeface="Arial" panose="020B0604020202020204" pitchFamily="34" charset="0"/>
                  <a:buChar char="•"/>
                </a:pPr>
                <a:r>
                  <a:rPr lang="en-US" sz="1400" b="0" i="0" u="none" dirty="0" err="1">
                    <a:solidFill>
                      <a:srgbClr val="000000"/>
                    </a:solidFill>
                    <a:ea typeface="微软雅黑"/>
                  </a:rPr>
                  <a:t>同时，满足GDPR、数据合规要求，确保数据处理的合法性和合规性</a:t>
                </a:r>
                <a:r>
                  <a:rPr lang="en-US" sz="1400" b="0" i="0" u="none" dirty="0">
                    <a:solidFill>
                      <a:srgbClr val="000000"/>
                    </a:solidFill>
                    <a:ea typeface="微软雅黑"/>
                  </a:rPr>
                  <a:t>。</a:t>
                </a:r>
              </a:p>
            </p:txBody>
          </p:sp>
        </p:grpSp>
      </p:grpSp>
    </p:spTree>
    <p:extLst>
      <p:ext uri="{BB962C8B-B14F-4D97-AF65-F5344CB8AC3E}">
        <p14:creationId xmlns:p14="http://schemas.microsoft.com/office/powerpoint/2010/main" val="30079890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6a4a05f2-7caf-44da-89bf-dc3118f3dca6"/>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latin typeface="Arial"/>
              </a:rPr>
              <a:t>AI数据库技术架构核心价值总结</a:t>
            </a:r>
          </a:p>
        </p:txBody>
      </p:sp>
      <p:grpSp>
        <p:nvGrpSpPr>
          <p:cNvPr id="71" name="dfb8e719-bc77-4df4-ad66-c9f63a1f8954.source.5.zh-Hans.pptx" descr="b702540c-a217-4331-8577-65f32aab78c1">
            <a:extLst>
              <a:ext uri="{FF2B5EF4-FFF2-40B4-BE49-F238E27FC236}">
                <a16:creationId xmlns:a16="http://schemas.microsoft.com/office/drawing/2014/main" id="{072D85A6-18FA-01F7-F3A1-DCBA3B77E39A}"/>
              </a:ext>
            </a:extLst>
          </p:cNvPr>
          <p:cNvGrpSpPr/>
          <p:nvPr/>
        </p:nvGrpSpPr>
        <p:grpSpPr>
          <a:xfrm>
            <a:off x="660400" y="1130300"/>
            <a:ext cx="10858500" cy="5018099"/>
            <a:chOff x="660400" y="1130300"/>
            <a:chExt cx="10858500" cy="5018099"/>
          </a:xfrm>
        </p:grpSpPr>
        <p:grpSp>
          <p:nvGrpSpPr>
            <p:cNvPr id="53" name="组合 52" descr="0fadd577-2676-4a41-9205-76c9a7ef17dd">
              <a:extLst>
                <a:ext uri="{FF2B5EF4-FFF2-40B4-BE49-F238E27FC236}">
                  <a16:creationId xmlns:a16="http://schemas.microsoft.com/office/drawing/2014/main" id="{FC4B2DEC-C9C0-AE1C-013E-807CEBBF6CFF}"/>
                </a:ext>
              </a:extLst>
            </p:cNvPr>
            <p:cNvGrpSpPr/>
            <p:nvPr/>
          </p:nvGrpSpPr>
          <p:grpSpPr>
            <a:xfrm>
              <a:off x="660400" y="1130300"/>
              <a:ext cx="10858500" cy="5018099"/>
              <a:chOff x="660400" y="1130300"/>
              <a:chExt cx="10858500" cy="5018099"/>
            </a:xfrm>
          </p:grpSpPr>
          <p:sp>
            <p:nvSpPr>
              <p:cNvPr id="30" name="Title" descr="697a418d-ebac-4173-a0df-d588c815ff09">
                <a:extLst>
                  <a:ext uri="{FF2B5EF4-FFF2-40B4-BE49-F238E27FC236}">
                    <a16:creationId xmlns:a16="http://schemas.microsoft.com/office/drawing/2014/main" id="{5A6FE70C-5F55-346B-73AA-E0F6DBFD59C0}"/>
                  </a:ext>
                </a:extLst>
              </p:cNvPr>
              <p:cNvSpPr/>
              <p:nvPr/>
            </p:nvSpPr>
            <p:spPr>
              <a:xfrm>
                <a:off x="660400" y="1130300"/>
                <a:ext cx="10858500" cy="720000"/>
              </a:xfrm>
              <a:prstGeom prst="roundRect">
                <a:avLst>
                  <a:gd name="adj" fmla="val 0"/>
                </a:avLst>
              </a:prstGeom>
              <a:noFill/>
              <a:ln w="6350" cap="rnd">
                <a:solidFill>
                  <a:schemeClr val="tx1">
                    <a:alpha val="50000"/>
                  </a:schemeClr>
                </a:solidFill>
                <a:prstDash val="solid"/>
                <a:round/>
              </a:ln>
              <a:effectLst>
                <a:outerShdw blurRad="254000" dist="1270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l"/>
                <a:r>
                  <a:rPr lang="en-US" sz="2400" b="1" i="0" u="none">
                    <a:solidFill>
                      <a:srgbClr val="000000"/>
                    </a:solidFill>
                    <a:ea typeface="微软雅黑"/>
                  </a:rPr>
                  <a:t>从不同维度总结AI数据库技术架构的核心价值</a:t>
                </a:r>
              </a:p>
            </p:txBody>
          </p:sp>
          <p:grpSp>
            <p:nvGrpSpPr>
              <p:cNvPr id="52" name="组合 51" descr="d474f2cf-5588-4545-8f2a-65eea9dd01ca">
                <a:extLst>
                  <a:ext uri="{FF2B5EF4-FFF2-40B4-BE49-F238E27FC236}">
                    <a16:creationId xmlns:a16="http://schemas.microsoft.com/office/drawing/2014/main" id="{1AE10F12-F656-E551-F827-499228D63A7C}"/>
                  </a:ext>
                </a:extLst>
              </p:cNvPr>
              <p:cNvGrpSpPr/>
              <p:nvPr/>
            </p:nvGrpSpPr>
            <p:grpSpPr>
              <a:xfrm>
                <a:off x="660400" y="2692106"/>
                <a:ext cx="1926978" cy="3456293"/>
                <a:chOff x="848910" y="2692106"/>
                <a:chExt cx="1926978" cy="3456293"/>
              </a:xfrm>
            </p:grpSpPr>
            <p:grpSp>
              <p:nvGrpSpPr>
                <p:cNvPr id="17" name="组合 16" descr="b73f006a-ae7e-4a53-a166-91d4a276176c">
                  <a:extLst>
                    <a:ext uri="{FF2B5EF4-FFF2-40B4-BE49-F238E27FC236}">
                      <a16:creationId xmlns:a16="http://schemas.microsoft.com/office/drawing/2014/main" id="{B289DC81-5CC7-C245-A338-F36510459A20}"/>
                    </a:ext>
                  </a:extLst>
                </p:cNvPr>
                <p:cNvGrpSpPr/>
                <p:nvPr/>
              </p:nvGrpSpPr>
              <p:grpSpPr>
                <a:xfrm>
                  <a:off x="848910" y="3040765"/>
                  <a:ext cx="1926978" cy="3107634"/>
                  <a:chOff x="660399" y="3040765"/>
                  <a:chExt cx="2304000" cy="3107634"/>
                </a:xfrm>
              </p:grpSpPr>
              <p:sp>
                <p:nvSpPr>
                  <p:cNvPr id="32" name="Bullet1" descr="e5627401-aea2-47e5-b86b-64b7a0fcc405">
                    <a:extLst>
                      <a:ext uri="{FF2B5EF4-FFF2-40B4-BE49-F238E27FC236}">
                        <a16:creationId xmlns:a16="http://schemas.microsoft.com/office/drawing/2014/main" id="{7225A6CD-075C-AB7A-A881-ED4473E91C9D}"/>
                      </a:ext>
                    </a:extLst>
                  </p:cNvPr>
                  <p:cNvSpPr/>
                  <p:nvPr/>
                </p:nvSpPr>
                <p:spPr>
                  <a:xfrm>
                    <a:off x="660399" y="3040765"/>
                    <a:ext cx="2304000" cy="753789"/>
                  </a:xfrm>
                  <a:prstGeom prst="rect">
                    <a:avLst/>
                  </a:prstGeom>
                  <a:noFill/>
                  <a:ln w="6350" cap="rnd">
                    <a:solidFill>
                      <a:schemeClr val="tx1">
                        <a:alpha val="50000"/>
                      </a:schemeClr>
                    </a:solidFill>
                    <a:prstDash val="solid"/>
                    <a:round/>
                  </a:ln>
                  <a:effectLst>
                    <a:outerShdw blurRad="254000" dist="1270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l">
                      <a:lnSpc>
                        <a:spcPct val="120000"/>
                      </a:lnSpc>
                    </a:pPr>
                    <a:r>
                      <a:rPr lang="en-US" sz="1800" b="1" i="0" u="none">
                        <a:solidFill>
                          <a:srgbClr val="000000"/>
                        </a:solidFill>
                        <a:ea typeface="微软雅黑"/>
                      </a:rPr>
                      <a:t>数据处理</a:t>
                    </a:r>
                  </a:p>
                </p:txBody>
              </p:sp>
              <p:sp>
                <p:nvSpPr>
                  <p:cNvPr id="33" name="Text1" descr="e4000b43-8489-4378-905b-1e2a5e2853b4">
                    <a:extLst>
                      <a:ext uri="{FF2B5EF4-FFF2-40B4-BE49-F238E27FC236}">
                        <a16:creationId xmlns:a16="http://schemas.microsoft.com/office/drawing/2014/main" id="{13059BDD-EF8D-4040-04D1-0888B76AFE24}"/>
                      </a:ext>
                    </a:extLst>
                  </p:cNvPr>
                  <p:cNvSpPr/>
                  <p:nvPr/>
                </p:nvSpPr>
                <p:spPr>
                  <a:xfrm>
                    <a:off x="660399" y="3893912"/>
                    <a:ext cx="2304000" cy="22544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rmAutofit/>
                  </a:bodyPr>
                  <a:lstStyle/>
                  <a:p>
                    <a:pPr algn="l">
                      <a:lnSpc>
                        <a:spcPct val="120000"/>
                      </a:lnSpc>
                    </a:pPr>
                    <a:r>
                      <a:rPr lang="en-US" sz="1200" b="0" i="0" u="none">
                        <a:solidFill>
                          <a:srgbClr val="000000"/>
                        </a:solidFill>
                        <a:ea typeface="微软雅黑"/>
                      </a:rPr>
                      <a:t>支持多模态、高维、大规模数据的统一管理。AI数据库能够处理文本、图像、音频等多种模态的数据，支持高维向量数据的存储和检索，同时能够处理大规模数据，为AI应用提供全面的数据支持。</a:t>
                    </a:r>
                  </a:p>
                </p:txBody>
              </p:sp>
            </p:grpSp>
            <p:sp>
              <p:nvSpPr>
                <p:cNvPr id="34" name="Number1" descr="48344321-5688-48e0-b8df-e98b70b1ddad">
                  <a:extLst>
                    <a:ext uri="{FF2B5EF4-FFF2-40B4-BE49-F238E27FC236}">
                      <a16:creationId xmlns:a16="http://schemas.microsoft.com/office/drawing/2014/main" id="{5C2524B3-EC67-A816-F261-F4EB9DF7320B}"/>
                    </a:ext>
                  </a:extLst>
                </p:cNvPr>
                <p:cNvSpPr/>
                <p:nvPr/>
              </p:nvSpPr>
              <p:spPr>
                <a:xfrm>
                  <a:off x="1355375" y="2692106"/>
                  <a:ext cx="914048" cy="360000"/>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i="0" u="none">
                      <a:solidFill>
                        <a:srgbClr val="FFFFFF"/>
                      </a:solidFill>
                      <a:latin typeface="Arial"/>
                    </a:rPr>
                    <a:t>1</a:t>
                  </a:r>
                </a:p>
              </p:txBody>
            </p:sp>
          </p:grpSp>
          <p:grpSp>
            <p:nvGrpSpPr>
              <p:cNvPr id="51" name="组合 50" descr="25cc806d-6d18-4035-8bde-722a0f78b5e2">
                <a:extLst>
                  <a:ext uri="{FF2B5EF4-FFF2-40B4-BE49-F238E27FC236}">
                    <a16:creationId xmlns:a16="http://schemas.microsoft.com/office/drawing/2014/main" id="{14787E62-11CA-0E47-93F4-A213DF850376}"/>
                  </a:ext>
                </a:extLst>
              </p:cNvPr>
              <p:cNvGrpSpPr/>
              <p:nvPr/>
            </p:nvGrpSpPr>
            <p:grpSpPr>
              <a:xfrm>
                <a:off x="2893281" y="2692106"/>
                <a:ext cx="1926978" cy="3456293"/>
                <a:chOff x="3104966" y="2692106"/>
                <a:chExt cx="1926978" cy="3456293"/>
              </a:xfrm>
            </p:grpSpPr>
            <p:grpSp>
              <p:nvGrpSpPr>
                <p:cNvPr id="18" name="组合 17" descr="20dbc8bb-dc13-4d7f-9ff4-b85efcc15f88">
                  <a:extLst>
                    <a:ext uri="{FF2B5EF4-FFF2-40B4-BE49-F238E27FC236}">
                      <a16:creationId xmlns:a16="http://schemas.microsoft.com/office/drawing/2014/main" id="{B52EA2F8-8826-A723-EB3C-27F1DD70185C}"/>
                    </a:ext>
                  </a:extLst>
                </p:cNvPr>
                <p:cNvGrpSpPr/>
                <p:nvPr/>
              </p:nvGrpSpPr>
              <p:grpSpPr>
                <a:xfrm>
                  <a:off x="3104966" y="3040765"/>
                  <a:ext cx="1926978" cy="3107634"/>
                  <a:chOff x="3511900" y="3040765"/>
                  <a:chExt cx="2304000" cy="3107634"/>
                </a:xfrm>
              </p:grpSpPr>
              <p:sp>
                <p:nvSpPr>
                  <p:cNvPr id="37" name="Bullet2" descr="0af221d8-2e3a-4dc1-8ab2-85580717e1a8">
                    <a:extLst>
                      <a:ext uri="{FF2B5EF4-FFF2-40B4-BE49-F238E27FC236}">
                        <a16:creationId xmlns:a16="http://schemas.microsoft.com/office/drawing/2014/main" id="{29C4F0E2-B370-5CE4-B434-A762A1C1C0C8}"/>
                      </a:ext>
                    </a:extLst>
                  </p:cNvPr>
                  <p:cNvSpPr/>
                  <p:nvPr/>
                </p:nvSpPr>
                <p:spPr>
                  <a:xfrm>
                    <a:off x="3511900" y="3040765"/>
                    <a:ext cx="2304000" cy="753789"/>
                  </a:xfrm>
                  <a:prstGeom prst="rect">
                    <a:avLst/>
                  </a:prstGeom>
                  <a:noFill/>
                  <a:ln w="6350" cap="rnd">
                    <a:solidFill>
                      <a:schemeClr val="tx1">
                        <a:alpha val="50000"/>
                      </a:schemeClr>
                    </a:solidFill>
                    <a:prstDash val="solid"/>
                    <a:round/>
                  </a:ln>
                  <a:effectLst>
                    <a:outerShdw blurRad="254000" dist="1270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l">
                      <a:lnSpc>
                        <a:spcPct val="120000"/>
                      </a:lnSpc>
                    </a:pPr>
                    <a:r>
                      <a:rPr lang="en-US" sz="1800" b="1" i="0" u="none">
                        <a:solidFill>
                          <a:srgbClr val="000000"/>
                        </a:solidFill>
                        <a:ea typeface="微软雅黑"/>
                      </a:rPr>
                      <a:t>计算性能</a:t>
                    </a:r>
                  </a:p>
                </p:txBody>
              </p:sp>
              <p:sp>
                <p:nvSpPr>
                  <p:cNvPr id="38" name="Text2" descr="3363083e-3d0d-4b90-b125-d1d8b7b754ff">
                    <a:extLst>
                      <a:ext uri="{FF2B5EF4-FFF2-40B4-BE49-F238E27FC236}">
                        <a16:creationId xmlns:a16="http://schemas.microsoft.com/office/drawing/2014/main" id="{A811ECB2-6C9D-3D17-7901-CFA80A8295CE}"/>
                      </a:ext>
                    </a:extLst>
                  </p:cNvPr>
                  <p:cNvSpPr/>
                  <p:nvPr/>
                </p:nvSpPr>
                <p:spPr>
                  <a:xfrm>
                    <a:off x="3511900" y="3893912"/>
                    <a:ext cx="2304000" cy="22544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rmAutofit/>
                  </a:bodyPr>
                  <a:lstStyle/>
                  <a:p>
                    <a:pPr algn="l">
                      <a:lnSpc>
                        <a:spcPct val="120000"/>
                      </a:lnSpc>
                    </a:pPr>
                    <a:r>
                      <a:rPr lang="en-US" sz="1200" b="0" i="0" u="none">
                        <a:solidFill>
                          <a:srgbClr val="000000"/>
                        </a:solidFill>
                        <a:ea typeface="微软雅黑"/>
                      </a:rPr>
                      <a:t>通过向量化、并行化、内存优化实现高速处理。AI数据库采用向量化计算、并行计算和内存优化等技术，提高了计算性能，实现了对数据的高速处理，满足了AI应用对计算速度和延迟的要求。</a:t>
                    </a:r>
                  </a:p>
                </p:txBody>
              </p:sp>
            </p:grpSp>
            <p:sp>
              <p:nvSpPr>
                <p:cNvPr id="39" name="Number2" descr="2f6cbecb-7c13-47c7-9c94-044a0e31443f">
                  <a:extLst>
                    <a:ext uri="{FF2B5EF4-FFF2-40B4-BE49-F238E27FC236}">
                      <a16:creationId xmlns:a16="http://schemas.microsoft.com/office/drawing/2014/main" id="{C9E33DB8-4FD4-5F78-4CFE-A284070A2301}"/>
                    </a:ext>
                  </a:extLst>
                </p:cNvPr>
                <p:cNvSpPr/>
                <p:nvPr/>
              </p:nvSpPr>
              <p:spPr>
                <a:xfrm>
                  <a:off x="3611431" y="2692106"/>
                  <a:ext cx="914048" cy="360000"/>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a:r>
                    <a:rPr lang="en-US" sz="1600" b="0" i="0" u="none">
                      <a:solidFill>
                        <a:srgbClr val="FFFFFF"/>
                      </a:solidFill>
                      <a:latin typeface="Arial"/>
                    </a:rPr>
                    <a:t>2</a:t>
                  </a:r>
                </a:p>
              </p:txBody>
            </p:sp>
          </p:grpSp>
          <p:grpSp>
            <p:nvGrpSpPr>
              <p:cNvPr id="48" name="组合 47" descr="b741b97b-f588-419a-a92b-af3a8226a9c9">
                <a:extLst>
                  <a:ext uri="{FF2B5EF4-FFF2-40B4-BE49-F238E27FC236}">
                    <a16:creationId xmlns:a16="http://schemas.microsoft.com/office/drawing/2014/main" id="{887FF5BD-FECC-0D9B-806B-96449673A892}"/>
                  </a:ext>
                </a:extLst>
              </p:cNvPr>
              <p:cNvGrpSpPr/>
              <p:nvPr/>
            </p:nvGrpSpPr>
            <p:grpSpPr>
              <a:xfrm>
                <a:off x="5126162" y="2692106"/>
                <a:ext cx="1926978" cy="3456293"/>
                <a:chOff x="5361022" y="2692106"/>
                <a:chExt cx="1926978" cy="3456293"/>
              </a:xfrm>
            </p:grpSpPr>
            <p:grpSp>
              <p:nvGrpSpPr>
                <p:cNvPr id="19" name="组合 18" descr="384b9f12-ba1d-4cf9-83ec-93e6ad2669dc">
                  <a:extLst>
                    <a:ext uri="{FF2B5EF4-FFF2-40B4-BE49-F238E27FC236}">
                      <a16:creationId xmlns:a16="http://schemas.microsoft.com/office/drawing/2014/main" id="{064ACE2A-E3DB-133C-0DCF-10A2746F32CE}"/>
                    </a:ext>
                  </a:extLst>
                </p:cNvPr>
                <p:cNvGrpSpPr/>
                <p:nvPr/>
              </p:nvGrpSpPr>
              <p:grpSpPr>
                <a:xfrm>
                  <a:off x="5361022" y="3040765"/>
                  <a:ext cx="1926978" cy="3107634"/>
                  <a:chOff x="6363401" y="3040765"/>
                  <a:chExt cx="2304000" cy="3107634"/>
                </a:xfrm>
              </p:grpSpPr>
              <p:sp>
                <p:nvSpPr>
                  <p:cNvPr id="41" name="Bullet3" descr="0d46a405-a236-4788-aee5-9d6dc8e692e0">
                    <a:extLst>
                      <a:ext uri="{FF2B5EF4-FFF2-40B4-BE49-F238E27FC236}">
                        <a16:creationId xmlns:a16="http://schemas.microsoft.com/office/drawing/2014/main" id="{FCD2B7BE-4DCA-D3C6-5FD8-E164AB628277}"/>
                      </a:ext>
                    </a:extLst>
                  </p:cNvPr>
                  <p:cNvSpPr/>
                  <p:nvPr/>
                </p:nvSpPr>
                <p:spPr>
                  <a:xfrm>
                    <a:off x="6363401" y="3040765"/>
                    <a:ext cx="2304000" cy="753789"/>
                  </a:xfrm>
                  <a:prstGeom prst="rect">
                    <a:avLst/>
                  </a:prstGeom>
                  <a:noFill/>
                  <a:ln w="6350" cap="rnd">
                    <a:solidFill>
                      <a:schemeClr val="tx1">
                        <a:alpha val="50000"/>
                      </a:schemeClr>
                    </a:solidFill>
                    <a:prstDash val="solid"/>
                    <a:round/>
                  </a:ln>
                  <a:effectLst>
                    <a:outerShdw blurRad="254000" dist="1270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l">
                      <a:lnSpc>
                        <a:spcPct val="120000"/>
                      </a:lnSpc>
                    </a:pPr>
                    <a:r>
                      <a:rPr lang="en-US" sz="1800" b="1" i="0" u="none">
                        <a:solidFill>
                          <a:srgbClr val="000000"/>
                        </a:solidFill>
                        <a:ea typeface="微软雅黑"/>
                      </a:rPr>
                      <a:t>工程效率</a:t>
                    </a:r>
                  </a:p>
                </p:txBody>
              </p:sp>
              <p:sp>
                <p:nvSpPr>
                  <p:cNvPr id="42" name="Text3" descr="3f2cd327-94e5-4a9d-87d3-85e5bb762514">
                    <a:extLst>
                      <a:ext uri="{FF2B5EF4-FFF2-40B4-BE49-F238E27FC236}">
                        <a16:creationId xmlns:a16="http://schemas.microsoft.com/office/drawing/2014/main" id="{FD841162-5BDD-5157-41F7-6D0CC96DF5D2}"/>
                      </a:ext>
                    </a:extLst>
                  </p:cNvPr>
                  <p:cNvSpPr/>
                  <p:nvPr/>
                </p:nvSpPr>
                <p:spPr>
                  <a:xfrm>
                    <a:off x="6363401" y="3893912"/>
                    <a:ext cx="2304000" cy="22544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rmAutofit/>
                  </a:bodyPr>
                  <a:lstStyle/>
                  <a:p>
                    <a:pPr algn="l">
                      <a:lnSpc>
                        <a:spcPct val="120000"/>
                      </a:lnSpc>
                    </a:pPr>
                    <a:r>
                      <a:rPr lang="en-US" sz="1200" b="0" i="0" u="none">
                        <a:solidFill>
                          <a:srgbClr val="000000"/>
                        </a:solidFill>
                        <a:ea typeface="微软雅黑"/>
                      </a:rPr>
                      <a:t>统一SQL接口降低开发门槛，保障特征一致性。AI数据库的统一SQL接口降低了开发门槛，使得开发者只需掌握SQL即可进行特征计算和模型开发。同时，保证了线上线下特征计算的一致性，提高了模型的可靠性和稳定性。</a:t>
                    </a:r>
                  </a:p>
                </p:txBody>
              </p:sp>
            </p:grpSp>
            <p:sp>
              <p:nvSpPr>
                <p:cNvPr id="43" name="Number3" descr="3da78aaa-0ebd-4780-83bc-40d9366e8626">
                  <a:extLst>
                    <a:ext uri="{FF2B5EF4-FFF2-40B4-BE49-F238E27FC236}">
                      <a16:creationId xmlns:a16="http://schemas.microsoft.com/office/drawing/2014/main" id="{823C3E91-6553-BB22-36BE-77162180E0B4}"/>
                    </a:ext>
                  </a:extLst>
                </p:cNvPr>
                <p:cNvSpPr/>
                <p:nvPr/>
              </p:nvSpPr>
              <p:spPr>
                <a:xfrm>
                  <a:off x="5867487" y="2692106"/>
                  <a:ext cx="914048" cy="360000"/>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a:r>
                    <a:rPr lang="en-US" sz="1600" b="0" i="0" u="none">
                      <a:solidFill>
                        <a:srgbClr val="FFFFFF"/>
                      </a:solidFill>
                      <a:latin typeface="Arial"/>
                    </a:rPr>
                    <a:t>3</a:t>
                  </a:r>
                </a:p>
              </p:txBody>
            </p:sp>
          </p:grpSp>
          <p:grpSp>
            <p:nvGrpSpPr>
              <p:cNvPr id="44" name="组合 43" descr="102c8fe9-2ad3-49e9-aa8c-c4a7fa15a677">
                <a:extLst>
                  <a:ext uri="{FF2B5EF4-FFF2-40B4-BE49-F238E27FC236}">
                    <a16:creationId xmlns:a16="http://schemas.microsoft.com/office/drawing/2014/main" id="{A458ED5C-D8DC-4D8C-CD09-A300E5C2684A}"/>
                  </a:ext>
                </a:extLst>
              </p:cNvPr>
              <p:cNvGrpSpPr/>
              <p:nvPr/>
            </p:nvGrpSpPr>
            <p:grpSpPr>
              <a:xfrm>
                <a:off x="7359043" y="2692106"/>
                <a:ext cx="1926978" cy="3456293"/>
                <a:chOff x="7617078" y="2692106"/>
                <a:chExt cx="1926978" cy="3456293"/>
              </a:xfrm>
            </p:grpSpPr>
            <p:grpSp>
              <p:nvGrpSpPr>
                <p:cNvPr id="20" name="组合 19" descr="2b8f69b8-5152-4ec9-b282-2a70b218af58">
                  <a:extLst>
                    <a:ext uri="{FF2B5EF4-FFF2-40B4-BE49-F238E27FC236}">
                      <a16:creationId xmlns:a16="http://schemas.microsoft.com/office/drawing/2014/main" id="{8D723EC5-DB00-BD13-7747-B2E6D694D032}"/>
                    </a:ext>
                  </a:extLst>
                </p:cNvPr>
                <p:cNvGrpSpPr/>
                <p:nvPr/>
              </p:nvGrpSpPr>
              <p:grpSpPr>
                <a:xfrm>
                  <a:off x="7617078" y="3040765"/>
                  <a:ext cx="1926978" cy="3107634"/>
                  <a:chOff x="9214902" y="3040765"/>
                  <a:chExt cx="2304000" cy="3107634"/>
                </a:xfrm>
              </p:grpSpPr>
              <p:sp>
                <p:nvSpPr>
                  <p:cNvPr id="45" name="Bullet4" descr="c2117d3f-fc25-494d-91bf-5ba73f80a5b7">
                    <a:extLst>
                      <a:ext uri="{FF2B5EF4-FFF2-40B4-BE49-F238E27FC236}">
                        <a16:creationId xmlns:a16="http://schemas.microsoft.com/office/drawing/2014/main" id="{D94BAFE7-F8A4-3E74-4692-C46B4B88D502}"/>
                      </a:ext>
                    </a:extLst>
                  </p:cNvPr>
                  <p:cNvSpPr/>
                  <p:nvPr/>
                </p:nvSpPr>
                <p:spPr>
                  <a:xfrm>
                    <a:off x="9214902" y="3040765"/>
                    <a:ext cx="2304000" cy="753789"/>
                  </a:xfrm>
                  <a:prstGeom prst="rect">
                    <a:avLst/>
                  </a:prstGeom>
                  <a:noFill/>
                  <a:ln w="6350" cap="rnd">
                    <a:solidFill>
                      <a:schemeClr val="tx1">
                        <a:alpha val="50000"/>
                      </a:schemeClr>
                    </a:solidFill>
                    <a:prstDash val="solid"/>
                    <a:round/>
                  </a:ln>
                  <a:effectLst>
                    <a:outerShdw blurRad="254000" dist="1270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l">
                      <a:lnSpc>
                        <a:spcPct val="120000"/>
                      </a:lnSpc>
                    </a:pPr>
                    <a:r>
                      <a:rPr lang="en-US" sz="1800" b="1" i="0" u="none">
                        <a:solidFill>
                          <a:srgbClr val="000000"/>
                        </a:solidFill>
                        <a:ea typeface="微软雅黑"/>
                      </a:rPr>
                      <a:t>系统可靠性</a:t>
                    </a:r>
                  </a:p>
                </p:txBody>
              </p:sp>
              <p:sp>
                <p:nvSpPr>
                  <p:cNvPr id="46" name="Text4" descr="a7ffa610-861b-4957-94b1-38ff239ddd27">
                    <a:extLst>
                      <a:ext uri="{FF2B5EF4-FFF2-40B4-BE49-F238E27FC236}">
                        <a16:creationId xmlns:a16="http://schemas.microsoft.com/office/drawing/2014/main" id="{F475A6D5-9594-A5E8-5D9F-0537B507B50A}"/>
                      </a:ext>
                    </a:extLst>
                  </p:cNvPr>
                  <p:cNvSpPr/>
                  <p:nvPr/>
                </p:nvSpPr>
                <p:spPr>
                  <a:xfrm>
                    <a:off x="9214902" y="3893912"/>
                    <a:ext cx="2304000" cy="22544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rmAutofit/>
                  </a:bodyPr>
                  <a:lstStyle/>
                  <a:p>
                    <a:pPr algn="l">
                      <a:lnSpc>
                        <a:spcPct val="120000"/>
                      </a:lnSpc>
                    </a:pPr>
                    <a:r>
                      <a:rPr lang="en-US" sz="1200" b="0" i="0" u="none">
                        <a:solidFill>
                          <a:srgbClr val="000000"/>
                        </a:solidFill>
                        <a:ea typeface="微软雅黑"/>
                      </a:rPr>
                      <a:t>分布式架构、容错机制保障高可用。AI数据库采用分布式架构和容错机制，能够保证系统的高可用性。分布式架构使得系统能够根据业务需求进行扩展，容错机制能够在系统出现故障时保证数据的完整性和可用性。</a:t>
                    </a:r>
                  </a:p>
                </p:txBody>
              </p:sp>
            </p:grpSp>
            <p:sp>
              <p:nvSpPr>
                <p:cNvPr id="47" name="Number4" descr="b5d4370c-fbdf-4cf8-b542-756f27d659c4">
                  <a:extLst>
                    <a:ext uri="{FF2B5EF4-FFF2-40B4-BE49-F238E27FC236}">
                      <a16:creationId xmlns:a16="http://schemas.microsoft.com/office/drawing/2014/main" id="{D4930739-C58E-A286-FC4A-D5E026F267A9}"/>
                    </a:ext>
                  </a:extLst>
                </p:cNvPr>
                <p:cNvSpPr/>
                <p:nvPr/>
              </p:nvSpPr>
              <p:spPr>
                <a:xfrm>
                  <a:off x="8123543" y="2692106"/>
                  <a:ext cx="914048" cy="360000"/>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0" i="0" u="none">
                      <a:solidFill>
                        <a:srgbClr val="FFFFFF"/>
                      </a:solidFill>
                      <a:latin typeface="Arial"/>
                    </a:rPr>
                    <a:t>4</a:t>
                  </a:r>
                </a:p>
              </p:txBody>
            </p:sp>
          </p:grpSp>
          <p:grpSp>
            <p:nvGrpSpPr>
              <p:cNvPr id="40" name="组合 39" descr="b05fc931-4293-4f35-be4d-0a619ccec220">
                <a:extLst>
                  <a:ext uri="{FF2B5EF4-FFF2-40B4-BE49-F238E27FC236}">
                    <a16:creationId xmlns:a16="http://schemas.microsoft.com/office/drawing/2014/main" id="{E57AA5FA-BFD2-78E5-CAB7-B24D1EC0A157}"/>
                  </a:ext>
                </a:extLst>
              </p:cNvPr>
              <p:cNvGrpSpPr/>
              <p:nvPr/>
            </p:nvGrpSpPr>
            <p:grpSpPr>
              <a:xfrm>
                <a:off x="9591922" y="2692106"/>
                <a:ext cx="1926978" cy="3441993"/>
                <a:chOff x="9873136" y="2692106"/>
                <a:chExt cx="1926978" cy="3441993"/>
              </a:xfrm>
            </p:grpSpPr>
            <p:sp>
              <p:nvSpPr>
                <p:cNvPr id="8" name="Number5" descr="7ff2ec58-35d4-4f74-afc2-01b137e825df">
                  <a:extLst>
                    <a:ext uri="{FF2B5EF4-FFF2-40B4-BE49-F238E27FC236}">
                      <a16:creationId xmlns:a16="http://schemas.microsoft.com/office/drawing/2014/main" id="{60BDB040-CDD6-4D56-F899-9D45FCB09794}"/>
                    </a:ext>
                  </a:extLst>
                </p:cNvPr>
                <p:cNvSpPr/>
                <p:nvPr/>
              </p:nvSpPr>
              <p:spPr>
                <a:xfrm>
                  <a:off x="10379601" y="2692106"/>
                  <a:ext cx="914048" cy="360000"/>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0" i="0" u="none">
                      <a:solidFill>
                        <a:srgbClr val="FFFFFF"/>
                      </a:solidFill>
                      <a:latin typeface="Arial"/>
                    </a:rPr>
                    <a:t>5</a:t>
                  </a:r>
                </a:p>
              </p:txBody>
            </p:sp>
            <p:grpSp>
              <p:nvGrpSpPr>
                <p:cNvPr id="21" name="组合 20" descr="6540d11a-22e7-4236-8db7-418b22c92e19">
                  <a:extLst>
                    <a:ext uri="{FF2B5EF4-FFF2-40B4-BE49-F238E27FC236}">
                      <a16:creationId xmlns:a16="http://schemas.microsoft.com/office/drawing/2014/main" id="{8243A449-4180-3CB4-7424-E6C2113A25CC}"/>
                    </a:ext>
                  </a:extLst>
                </p:cNvPr>
                <p:cNvGrpSpPr/>
                <p:nvPr/>
              </p:nvGrpSpPr>
              <p:grpSpPr>
                <a:xfrm>
                  <a:off x="9873136" y="3052106"/>
                  <a:ext cx="1926978" cy="3081993"/>
                  <a:chOff x="4937650" y="4865806"/>
                  <a:chExt cx="2304000" cy="3081993"/>
                </a:xfrm>
              </p:grpSpPr>
              <p:sp>
                <p:nvSpPr>
                  <p:cNvPr id="49" name="Bullet5" descr="01ebb752-93fe-42e6-b6e1-1abfae07f384">
                    <a:extLst>
                      <a:ext uri="{FF2B5EF4-FFF2-40B4-BE49-F238E27FC236}">
                        <a16:creationId xmlns:a16="http://schemas.microsoft.com/office/drawing/2014/main" id="{E3050972-C10F-C436-AD3E-BCBF90D9534D}"/>
                      </a:ext>
                    </a:extLst>
                  </p:cNvPr>
                  <p:cNvSpPr/>
                  <p:nvPr/>
                </p:nvSpPr>
                <p:spPr>
                  <a:xfrm>
                    <a:off x="4937650" y="4865806"/>
                    <a:ext cx="2304000" cy="753789"/>
                  </a:xfrm>
                  <a:prstGeom prst="rect">
                    <a:avLst/>
                  </a:prstGeom>
                  <a:noFill/>
                  <a:ln w="6350" cap="rnd">
                    <a:solidFill>
                      <a:schemeClr val="tx1">
                        <a:alpha val="50000"/>
                      </a:schemeClr>
                    </a:solidFill>
                    <a:prstDash val="solid"/>
                    <a:round/>
                  </a:ln>
                  <a:effectLst>
                    <a:outerShdw blurRad="254000" dist="1270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l">
                      <a:lnSpc>
                        <a:spcPct val="120000"/>
                      </a:lnSpc>
                    </a:pPr>
                    <a:r>
                      <a:rPr lang="en-US" sz="1800" b="1" i="0" u="none">
                        <a:solidFill>
                          <a:srgbClr val="000000"/>
                        </a:solidFill>
                        <a:ea typeface="微软雅黑"/>
                      </a:rPr>
                      <a:t>智能化水平</a:t>
                    </a:r>
                  </a:p>
                </p:txBody>
              </p:sp>
              <p:sp>
                <p:nvSpPr>
                  <p:cNvPr id="50" name="Text5" descr="ef64ce35-b291-4244-95d3-10ec9a1e552a">
                    <a:extLst>
                      <a:ext uri="{FF2B5EF4-FFF2-40B4-BE49-F238E27FC236}">
                        <a16:creationId xmlns:a16="http://schemas.microsoft.com/office/drawing/2014/main" id="{4B5B70F7-BFF6-81CC-7D1E-09FBB936CE56}"/>
                      </a:ext>
                    </a:extLst>
                  </p:cNvPr>
                  <p:cNvSpPr/>
                  <p:nvPr/>
                </p:nvSpPr>
                <p:spPr>
                  <a:xfrm>
                    <a:off x="4937650" y="5693312"/>
                    <a:ext cx="2304000" cy="22544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rmAutofit/>
                  </a:bodyPr>
                  <a:lstStyle/>
                  <a:p>
                    <a:pPr algn="l">
                      <a:lnSpc>
                        <a:spcPct val="120000"/>
                      </a:lnSpc>
                    </a:pPr>
                    <a:r>
                      <a:rPr lang="en-US" sz="1200" b="0" i="0" u="none">
                        <a:solidFill>
                          <a:srgbClr val="000000"/>
                        </a:solidFill>
                        <a:ea typeface="微软雅黑"/>
                      </a:rPr>
                      <a:t>集成AI能力实现智能运维与自动优化。AI数据库集成了AI能力，实现了智能运维与自动优化。智能运维能够及时发现系统的问题并进行处理，自动优化能够根据系统运行情况自动调整参数和策略，提高系统的性能和效率。</a:t>
                    </a:r>
                  </a:p>
                </p:txBody>
              </p:sp>
            </p:grpSp>
          </p:grpSp>
        </p:grpSp>
        <p:cxnSp>
          <p:nvCxnSpPr>
            <p:cNvPr id="54" name="连接符: 肘形 53" descr="82d4c61a-5dbc-40fc-9a8d-14f359fde7a8">
              <a:extLst>
                <a:ext uri="{FF2B5EF4-FFF2-40B4-BE49-F238E27FC236}">
                  <a16:creationId xmlns:a16="http://schemas.microsoft.com/office/drawing/2014/main" id="{5C767F07-4FFD-8F5D-0297-4EFFDC438DFA}"/>
                </a:ext>
              </a:extLst>
            </p:cNvPr>
            <p:cNvCxnSpPr>
              <a:cxnSpLocks/>
              <a:stCxn id="30" idx="2"/>
              <a:endCxn id="34" idx="0"/>
            </p:cNvCxnSpPr>
            <p:nvPr/>
          </p:nvCxnSpPr>
          <p:spPr>
            <a:xfrm rot="5400000">
              <a:off x="3435867" y="38323"/>
              <a:ext cx="841806" cy="4465761"/>
            </a:xfrm>
            <a:prstGeom prst="bentConnector3">
              <a:avLst>
                <a:gd name="adj1" fmla="val 50000"/>
              </a:avLst>
            </a:prstGeom>
            <a:ln>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连接符: 肘形 55" descr="4f52c576-36e7-4f51-89e8-db08537b0774">
              <a:extLst>
                <a:ext uri="{FF2B5EF4-FFF2-40B4-BE49-F238E27FC236}">
                  <a16:creationId xmlns:a16="http://schemas.microsoft.com/office/drawing/2014/main" id="{5FD74289-1F6D-195B-C7D7-5C450E8818BD}"/>
                </a:ext>
              </a:extLst>
            </p:cNvPr>
            <p:cNvCxnSpPr>
              <a:cxnSpLocks/>
              <a:stCxn id="30" idx="2"/>
              <a:endCxn id="39" idx="0"/>
            </p:cNvCxnSpPr>
            <p:nvPr/>
          </p:nvCxnSpPr>
          <p:spPr>
            <a:xfrm rot="5400000">
              <a:off x="4552307" y="1154763"/>
              <a:ext cx="841806" cy="2232880"/>
            </a:xfrm>
            <a:prstGeom prst="bentConnector3">
              <a:avLst>
                <a:gd name="adj1" fmla="val 50000"/>
              </a:avLst>
            </a:prstGeom>
            <a:ln>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连接符: 肘形 56" descr="407a20e1-7101-4ba2-adde-e2218649fd6a">
              <a:extLst>
                <a:ext uri="{FF2B5EF4-FFF2-40B4-BE49-F238E27FC236}">
                  <a16:creationId xmlns:a16="http://schemas.microsoft.com/office/drawing/2014/main" id="{8105EC38-85FD-E952-5482-60264787BD0E}"/>
                </a:ext>
              </a:extLst>
            </p:cNvPr>
            <p:cNvCxnSpPr>
              <a:cxnSpLocks/>
              <a:stCxn id="30" idx="2"/>
              <a:endCxn id="47" idx="0"/>
            </p:cNvCxnSpPr>
            <p:nvPr/>
          </p:nvCxnSpPr>
          <p:spPr>
            <a:xfrm rot="16200000" flipH="1">
              <a:off x="6785188" y="1154762"/>
              <a:ext cx="841806" cy="2232882"/>
            </a:xfrm>
            <a:prstGeom prst="bentConnector3">
              <a:avLst>
                <a:gd name="adj1" fmla="val 50000"/>
              </a:avLst>
            </a:prstGeom>
            <a:ln>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连接符: 肘形 57" descr="a4aae05f-0e1f-47f5-a12a-416867b095ff">
              <a:extLst>
                <a:ext uri="{FF2B5EF4-FFF2-40B4-BE49-F238E27FC236}">
                  <a16:creationId xmlns:a16="http://schemas.microsoft.com/office/drawing/2014/main" id="{656F096A-EAD0-C840-A72E-21B9773C9043}"/>
                </a:ext>
              </a:extLst>
            </p:cNvPr>
            <p:cNvCxnSpPr>
              <a:cxnSpLocks/>
              <a:stCxn id="30" idx="2"/>
              <a:endCxn id="8" idx="0"/>
            </p:cNvCxnSpPr>
            <p:nvPr/>
          </p:nvCxnSpPr>
          <p:spPr>
            <a:xfrm rot="16200000" flipH="1">
              <a:off x="7901627" y="38322"/>
              <a:ext cx="841806" cy="4465761"/>
            </a:xfrm>
            <a:prstGeom prst="bentConnector3">
              <a:avLst>
                <a:gd name="adj1" fmla="val 50000"/>
              </a:avLst>
            </a:prstGeom>
            <a:ln>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descr="9d4102d6-5ec5-4ea8-94d8-51c4e8d69615">
              <a:extLst>
                <a:ext uri="{FF2B5EF4-FFF2-40B4-BE49-F238E27FC236}">
                  <a16:creationId xmlns:a16="http://schemas.microsoft.com/office/drawing/2014/main" id="{4F639ED8-0CB6-A9D0-14E3-CB67581F40CA}"/>
                </a:ext>
              </a:extLst>
            </p:cNvPr>
            <p:cNvCxnSpPr>
              <a:cxnSpLocks/>
              <a:stCxn id="30" idx="2"/>
              <a:endCxn id="43" idx="0"/>
            </p:cNvCxnSpPr>
            <p:nvPr/>
          </p:nvCxnSpPr>
          <p:spPr>
            <a:xfrm>
              <a:off x="6089650" y="1850300"/>
              <a:ext cx="1" cy="841806"/>
            </a:xfrm>
            <a:prstGeom prst="straightConnector1">
              <a:avLst/>
            </a:prstGeom>
            <a:ln>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灯片编号占位符 3"/>
          <p:cNvSpPr>
            <a:spLocks noGrp="1"/>
          </p:cNvSpPr>
          <p:nvPr>
            <p:ph type="sldNum" sz="quarter" idx="12"/>
          </p:nvPr>
        </p:nvSpPr>
        <p:spPr/>
        <p:txBody>
          <a:bodyPr vert="horz" wrap="square" lIns="91440" tIns="45720" rIns="91440" bIns="45720" numCol="1" anchor="ctr" anchorCtr="0" compatLnSpc="1"/>
          <a:lstStyle/>
          <a:p>
            <a:pPr algn="ctr" fontAlgn="base">
              <a:spcBef>
                <a:spcPct val="0"/>
              </a:spcBef>
              <a:spcAft>
                <a:spcPct val="0"/>
              </a:spcAft>
            </a:pPr>
            <a:fld id="{9A0DB2DC-4C9A-4742-B13C-FB6460FD3503}" type="slidenum">
              <a:rPr lang="en-US" altLang="zh-CN" sz="1000" b="1" dirty="0">
                <a:solidFill>
                  <a:srgbClr val="E40000"/>
                </a:solidFill>
                <a:latin typeface="Times New Roman" panose="02020603050405020304" charset="0"/>
                <a:ea typeface="隶书" panose="02010509060101010101" pitchFamily="49" charset="-122"/>
              </a:rPr>
              <a:pPr algn="ctr" fontAlgn="base">
                <a:spcBef>
                  <a:spcPct val="0"/>
                </a:spcBef>
                <a:spcAft>
                  <a:spcPct val="0"/>
                </a:spcAft>
              </a:pPr>
              <a:t>46</a:t>
            </a:fld>
            <a:endParaRPr lang="en-US" altLang="zh-CN" sz="1000" b="1" dirty="0">
              <a:solidFill>
                <a:srgbClr val="E40000"/>
              </a:solidFill>
              <a:latin typeface="Times New Roman" panose="02020603050405020304" charset="0"/>
              <a:ea typeface="隶书" panose="02010509060101010101" pitchFamily="49" charset="-122"/>
            </a:endParaRPr>
          </a:p>
        </p:txBody>
      </p:sp>
      <p:sp>
        <p:nvSpPr>
          <p:cNvPr id="290819" name="标题 1"/>
          <p:cNvSpPr>
            <a:spLocks noGrp="1" noRot="1"/>
          </p:cNvSpPr>
          <p:nvPr>
            <p:ph type="title"/>
          </p:nvPr>
        </p:nvSpPr>
        <p:spPr>
          <a:xfrm>
            <a:off x="2209800" y="328613"/>
            <a:ext cx="7772400" cy="1143000"/>
          </a:xfrm>
        </p:spPr>
        <p:txBody>
          <a:bodyPr wrap="square" lIns="91440" tIns="45720" rIns="91440" bIns="45720" anchor="ctr"/>
          <a:lstStyle/>
          <a:p>
            <a:r>
              <a:rPr lang="zh-CN" altLang="en-US" b="1" dirty="0"/>
              <a:t>第</a:t>
            </a:r>
            <a:r>
              <a:rPr lang="en-US" altLang="zh-CN" b="1" dirty="0"/>
              <a:t>7</a:t>
            </a:r>
            <a:r>
              <a:rPr lang="zh-CN" altLang="en-US" b="1" dirty="0"/>
              <a:t>章 </a:t>
            </a:r>
            <a:r>
              <a:rPr lang="en-US" altLang="zh-CN" b="1" dirty="0"/>
              <a:t>AI</a:t>
            </a:r>
            <a:r>
              <a:rPr lang="zh-CN" altLang="en-US" b="1" dirty="0"/>
              <a:t>数据库</a:t>
            </a:r>
          </a:p>
        </p:txBody>
      </p:sp>
      <p:sp>
        <p:nvSpPr>
          <p:cNvPr id="5123" name="Rectangle 3"/>
          <p:cNvSpPr>
            <a:spLocks noGrp="1"/>
          </p:cNvSpPr>
          <p:nvPr>
            <p:ph type="body" idx="4294967295"/>
          </p:nvPr>
        </p:nvSpPr>
        <p:spPr>
          <a:xfrm>
            <a:off x="2209800" y="1774249"/>
            <a:ext cx="7848600" cy="4876800"/>
          </a:xfrm>
        </p:spPr>
        <p:txBody>
          <a:bodyPr vert="horz" wrap="square" lIns="91440" tIns="45720" rIns="91440" bIns="45720" anchor="t" anchorCtr="0"/>
          <a:lstStyle/>
          <a:p>
            <a:pPr algn="l">
              <a:buSzTx/>
            </a:pPr>
            <a:r>
              <a:rPr lang="en-US" altLang="zh-CN" sz="4000" b="1" dirty="0">
                <a:sym typeface="+mn-ea"/>
              </a:rPr>
              <a:t>7-1  </a:t>
            </a:r>
            <a:r>
              <a:rPr lang="zh-CN" altLang="en-US" sz="4000" b="1" dirty="0">
                <a:latin typeface="宋体" panose="02010600030101010101" pitchFamily="2" charset="-122"/>
                <a:sym typeface="+mn-ea"/>
              </a:rPr>
              <a:t>概述</a:t>
            </a:r>
          </a:p>
          <a:p>
            <a:r>
              <a:rPr lang="en-US" altLang="zh-CN" sz="4000" b="1" dirty="0">
                <a:sym typeface="+mn-ea"/>
              </a:rPr>
              <a:t>7-2</a:t>
            </a:r>
            <a:r>
              <a:rPr lang="zh-CN" altLang="en-US" sz="4000" b="1" dirty="0">
                <a:latin typeface="宋体" panose="02010600030101010101" pitchFamily="2" charset="-122"/>
                <a:sym typeface="+mn-ea"/>
              </a:rPr>
              <a:t> </a:t>
            </a:r>
            <a:r>
              <a:rPr lang="en-US" altLang="zh-CN" sz="4000" b="1" dirty="0" err="1">
                <a:latin typeface="宋体" panose="02010600030101010101" pitchFamily="2" charset="-122"/>
              </a:rPr>
              <a:t>AI数据库关键技术体系</a:t>
            </a:r>
            <a:endParaRPr lang="en-US" altLang="zh-CN" sz="4000" b="1" dirty="0">
              <a:latin typeface="宋体" panose="02010600030101010101" pitchFamily="2" charset="-122"/>
            </a:endParaRPr>
          </a:p>
          <a:p>
            <a:r>
              <a:rPr lang="en-US" altLang="zh-CN" sz="4000" b="1" dirty="0">
                <a:latin typeface="Times New Roman" panose="02020603050405020304" charset="0"/>
                <a:sym typeface="+mn-ea"/>
              </a:rPr>
              <a:t>7-3  </a:t>
            </a:r>
            <a:r>
              <a:rPr lang="en-US" altLang="zh-CN" sz="4000" b="1" u="sng" dirty="0">
                <a:latin typeface="宋体" panose="02010600030101010101" pitchFamily="2" charset="-122"/>
                <a:sym typeface="+mn-ea"/>
              </a:rPr>
              <a:t>AI</a:t>
            </a:r>
            <a:r>
              <a:rPr lang="zh-CN" altLang="en-US" sz="4000" b="1" u="sng" dirty="0">
                <a:latin typeface="宋体" panose="02010600030101010101" pitchFamily="2" charset="-122"/>
                <a:sym typeface="+mn-ea"/>
              </a:rPr>
              <a:t>大模型与向量数据库</a:t>
            </a:r>
          </a:p>
        </p:txBody>
      </p:sp>
    </p:spTree>
    <p:extLst>
      <p:ext uri="{BB962C8B-B14F-4D97-AF65-F5344CB8AC3E}">
        <p14:creationId xmlns:p14="http://schemas.microsoft.com/office/powerpoint/2010/main" val="2589178178"/>
      </p:ext>
    </p:extLst>
  </p:cSld>
  <p:clrMapOvr>
    <a:masterClrMapping/>
  </p:clrMapOvr>
</p:sld>
</file>

<file path=ppt/theme/theme1.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TotalTime>
  <Words>2672</Words>
  <Application>Microsoft Office PowerPoint</Application>
  <PresentationFormat>宽屏</PresentationFormat>
  <Paragraphs>543</Paragraphs>
  <Slides>46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46</vt:i4>
      </vt:variant>
    </vt:vector>
  </HeadingPairs>
  <TitlesOfParts>
    <vt:vector size="53" baseType="lpstr">
      <vt:lpstr>等线</vt:lpstr>
      <vt:lpstr>宋体</vt:lpstr>
      <vt:lpstr>Arial</vt:lpstr>
      <vt:lpstr>Times New Roman</vt:lpstr>
      <vt:lpstr>Wingdings</vt:lpstr>
      <vt:lpstr>Wingdings 2</vt:lpstr>
      <vt:lpstr>吉祥如意</vt:lpstr>
      <vt:lpstr>第7章 AI数据库</vt:lpstr>
      <vt:lpstr>引言</vt:lpstr>
      <vt:lpstr>什么是AI数据库？</vt:lpstr>
      <vt:lpstr>AI数据库挑战与技术作用</vt:lpstr>
      <vt:lpstr>AI数据库的核心特征</vt:lpstr>
      <vt:lpstr>AI数据库核心设计理念</vt:lpstr>
      <vt:lpstr>AI数据库架构优势</vt:lpstr>
      <vt:lpstr>第7章 AI数据库</vt:lpstr>
      <vt:lpstr>AI数据库关键技术体系</vt:lpstr>
      <vt:lpstr>AI数据库关键技术体系</vt:lpstr>
      <vt:lpstr>特征工程一体化架构核心定义与目标</vt:lpstr>
      <vt:lpstr>特征工程一体化架构基本原理</vt:lpstr>
      <vt:lpstr>特征工程一体化架构基本原理</vt:lpstr>
      <vt:lpstr>特征工程一体化架构层级模型</vt:lpstr>
      <vt:lpstr>特征工程一体化架构 关键技术支撑</vt:lpstr>
      <vt:lpstr>特征工程一体化架构 优势与挑战</vt:lpstr>
      <vt:lpstr>特征工程一体化架构本质与未来演进方向</vt:lpstr>
      <vt:lpstr>AI数据库关键技术体系</vt:lpstr>
      <vt:lpstr>AI数据库高性能计算核心原理</vt:lpstr>
      <vt:lpstr>AI数据库内存优化技术原理</vt:lpstr>
      <vt:lpstr>AI数据库高性能计算与内存优化协同机制</vt:lpstr>
      <vt:lpstr>PowerPoint 演示文稿</vt:lpstr>
      <vt:lpstr>AI数据库关键技术体系</vt:lpstr>
      <vt:lpstr>AI数据库多模型支持核心原理</vt:lpstr>
      <vt:lpstr>AI模型管理核心原理</vt:lpstr>
      <vt:lpstr>AI数据库多模型协同机制</vt:lpstr>
      <vt:lpstr>AI多模型支持与模型管理未来发展趋势</vt:lpstr>
      <vt:lpstr>AI数据库关键技术体系</vt:lpstr>
      <vt:lpstr>AI for DB 的核心优化方向</vt:lpstr>
      <vt:lpstr>AI for DB 的技术实现方式</vt:lpstr>
      <vt:lpstr>AI驱动的智能运维(AI for DB):关键技术原理</vt:lpstr>
      <vt:lpstr>系统架构分层及核心功能闭环</vt:lpstr>
      <vt:lpstr>数据采集层</vt:lpstr>
      <vt:lpstr>智能分析层</vt:lpstr>
      <vt:lpstr>执行控制层</vt:lpstr>
      <vt:lpstr>知识库系统</vt:lpstr>
      <vt:lpstr>AI驱动的智能运维(AI for DB): 典型应用场景</vt:lpstr>
      <vt:lpstr>AI驱动的智能运维(AI for DB): 技术挑战与对策</vt:lpstr>
      <vt:lpstr>AI驱动的智能运维(AI for DB): 未来演进方向</vt:lpstr>
      <vt:lpstr>AI数据库关键技术体系</vt:lpstr>
      <vt:lpstr>PowerPoint 演示文稿</vt:lpstr>
      <vt:lpstr>AI数据库典型架构模式对比</vt:lpstr>
      <vt:lpstr>AI数据库未来技术演进方向</vt:lpstr>
      <vt:lpstr>AI数据库未来技术演进方向</vt:lpstr>
      <vt:lpstr>AI数据库技术架构核心价值总结</vt:lpstr>
      <vt:lpstr>第7章 AI数据库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AI数据库</dc:title>
  <dc:creator>pc</dc:creator>
  <cp:lastModifiedBy>houdi</cp:lastModifiedBy>
  <cp:revision>39</cp:revision>
  <dcterms:created xsi:type="dcterms:W3CDTF">2025-10-23T03:59:53Z</dcterms:created>
  <dcterms:modified xsi:type="dcterms:W3CDTF">2025-10-27T14:29:45Z</dcterms:modified>
</cp:coreProperties>
</file>