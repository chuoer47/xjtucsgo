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tiff" ContentType="image/tiff"/>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6.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4" r:id="rId3"/>
    <p:sldMasterId id="2147483678" r:id="rId4"/>
    <p:sldMasterId id="2147483705" r:id="rId5"/>
    <p:sldMasterId id="2147483717" r:id="rId6"/>
    <p:sldMasterId id="2147483723" r:id="rId7"/>
    <p:sldMasterId id="2147483726" r:id="rId8"/>
  </p:sldMasterIdLst>
  <p:notesMasterIdLst>
    <p:notesMasterId r:id="rId152"/>
  </p:notesMasterIdLst>
  <p:handoutMasterIdLst>
    <p:handoutMasterId r:id="rId153"/>
  </p:handoutMasterIdLst>
  <p:sldIdLst>
    <p:sldId id="2043" r:id="rId9"/>
    <p:sldId id="2164" r:id="rId10"/>
    <p:sldId id="1590" r:id="rId11"/>
    <p:sldId id="2576" r:id="rId12"/>
    <p:sldId id="1594" r:id="rId13"/>
    <p:sldId id="1593" r:id="rId14"/>
    <p:sldId id="1595" r:id="rId15"/>
    <p:sldId id="1596" r:id="rId16"/>
    <p:sldId id="1597" r:id="rId17"/>
    <p:sldId id="1598" r:id="rId18"/>
    <p:sldId id="1599" r:id="rId19"/>
    <p:sldId id="1600" r:id="rId20"/>
    <p:sldId id="1601" r:id="rId21"/>
    <p:sldId id="2542" r:id="rId22"/>
    <p:sldId id="2575" r:id="rId23"/>
    <p:sldId id="1604" r:id="rId24"/>
    <p:sldId id="1605" r:id="rId25"/>
    <p:sldId id="1607" r:id="rId26"/>
    <p:sldId id="1608" r:id="rId27"/>
    <p:sldId id="1610" r:id="rId28"/>
    <p:sldId id="1611" r:id="rId29"/>
    <p:sldId id="1612" r:id="rId30"/>
    <p:sldId id="1613" r:id="rId31"/>
    <p:sldId id="1614" r:id="rId32"/>
    <p:sldId id="2165" r:id="rId33"/>
    <p:sldId id="2166" r:id="rId34"/>
    <p:sldId id="2167" r:id="rId35"/>
    <p:sldId id="2168" r:id="rId36"/>
    <p:sldId id="2169" r:id="rId37"/>
    <p:sldId id="2170" r:id="rId38"/>
    <p:sldId id="1616" r:id="rId39"/>
    <p:sldId id="1617" r:id="rId40"/>
    <p:sldId id="1618" r:id="rId41"/>
    <p:sldId id="1619" r:id="rId42"/>
    <p:sldId id="1620" r:id="rId43"/>
    <p:sldId id="1621" r:id="rId44"/>
    <p:sldId id="1622" r:id="rId45"/>
    <p:sldId id="1623" r:id="rId46"/>
    <p:sldId id="2171" r:id="rId47"/>
    <p:sldId id="2172" r:id="rId48"/>
    <p:sldId id="2173" r:id="rId49"/>
    <p:sldId id="2174" r:id="rId50"/>
    <p:sldId id="2175" r:id="rId51"/>
    <p:sldId id="2176" r:id="rId52"/>
    <p:sldId id="2177" r:id="rId53"/>
    <p:sldId id="2178" r:id="rId54"/>
    <p:sldId id="2179" r:id="rId55"/>
    <p:sldId id="2180" r:id="rId56"/>
    <p:sldId id="2181" r:id="rId57"/>
    <p:sldId id="2182" r:id="rId58"/>
    <p:sldId id="2183" r:id="rId59"/>
    <p:sldId id="2184" r:id="rId60"/>
    <p:sldId id="2185" r:id="rId61"/>
    <p:sldId id="2186" r:id="rId62"/>
    <p:sldId id="2187" r:id="rId63"/>
    <p:sldId id="2188" r:id="rId64"/>
    <p:sldId id="2189" r:id="rId65"/>
    <p:sldId id="2577" r:id="rId66"/>
    <p:sldId id="2190" r:id="rId67"/>
    <p:sldId id="2309" r:id="rId68"/>
    <p:sldId id="2310" r:id="rId69"/>
    <p:sldId id="2191" r:id="rId70"/>
    <p:sldId id="2192" r:id="rId71"/>
    <p:sldId id="2193" r:id="rId72"/>
    <p:sldId id="2194" r:id="rId73"/>
    <p:sldId id="2195" r:id="rId74"/>
    <p:sldId id="2196" r:id="rId75"/>
    <p:sldId id="2197" r:id="rId76"/>
    <p:sldId id="2198" r:id="rId77"/>
    <p:sldId id="2199" r:id="rId78"/>
    <p:sldId id="2200" r:id="rId79"/>
    <p:sldId id="2201" r:id="rId80"/>
    <p:sldId id="2202" r:id="rId81"/>
    <p:sldId id="2203" r:id="rId82"/>
    <p:sldId id="2204" r:id="rId83"/>
    <p:sldId id="2205" r:id="rId84"/>
    <p:sldId id="2206" r:id="rId85"/>
    <p:sldId id="2207" r:id="rId86"/>
    <p:sldId id="2208" r:id="rId87"/>
    <p:sldId id="2209" r:id="rId88"/>
    <p:sldId id="2210" r:id="rId89"/>
    <p:sldId id="2211" r:id="rId90"/>
    <p:sldId id="2543" r:id="rId91"/>
    <p:sldId id="2544" r:id="rId92"/>
    <p:sldId id="2545" r:id="rId93"/>
    <p:sldId id="2546" r:id="rId94"/>
    <p:sldId id="2578" r:id="rId95"/>
    <p:sldId id="2341" r:id="rId96"/>
    <p:sldId id="2428" r:id="rId97"/>
    <p:sldId id="2343" r:id="rId98"/>
    <p:sldId id="2344" r:id="rId99"/>
    <p:sldId id="2347" r:id="rId100"/>
    <p:sldId id="2533" r:id="rId101"/>
    <p:sldId id="2346" r:id="rId102"/>
    <p:sldId id="2536" r:id="rId103"/>
    <p:sldId id="2538" r:id="rId104"/>
    <p:sldId id="2539" r:id="rId105"/>
    <p:sldId id="2537" r:id="rId106"/>
    <p:sldId id="1669" r:id="rId107"/>
    <p:sldId id="2534" r:id="rId108"/>
    <p:sldId id="2535" r:id="rId109"/>
    <p:sldId id="1672" r:id="rId110"/>
    <p:sldId id="2540" r:id="rId111"/>
    <p:sldId id="2541" r:id="rId112"/>
    <p:sldId id="2579" r:id="rId113"/>
    <p:sldId id="1675" r:id="rId114"/>
    <p:sldId id="2547" r:id="rId115"/>
    <p:sldId id="2548" r:id="rId116"/>
    <p:sldId id="2549" r:id="rId117"/>
    <p:sldId id="2550" r:id="rId118"/>
    <p:sldId id="2551" r:id="rId119"/>
    <p:sldId id="2552" r:id="rId120"/>
    <p:sldId id="2553" r:id="rId121"/>
    <p:sldId id="2554" r:id="rId122"/>
    <p:sldId id="1676" r:id="rId123"/>
    <p:sldId id="1677" r:id="rId124"/>
    <p:sldId id="1678" r:id="rId125"/>
    <p:sldId id="1679" r:id="rId126"/>
    <p:sldId id="1680" r:id="rId127"/>
    <p:sldId id="1681" r:id="rId128"/>
    <p:sldId id="1682" r:id="rId129"/>
    <p:sldId id="1683" r:id="rId130"/>
    <p:sldId id="1684" r:id="rId131"/>
    <p:sldId id="1689" r:id="rId132"/>
    <p:sldId id="2580" r:id="rId133"/>
    <p:sldId id="2499" r:id="rId134"/>
    <p:sldId id="2500" r:id="rId135"/>
    <p:sldId id="2501" r:id="rId136"/>
    <p:sldId id="2502" r:id="rId137"/>
    <p:sldId id="2503" r:id="rId138"/>
    <p:sldId id="2555" r:id="rId139"/>
    <p:sldId id="2558" r:id="rId140"/>
    <p:sldId id="2559" r:id="rId141"/>
    <p:sldId id="2560" r:id="rId142"/>
    <p:sldId id="2561" r:id="rId143"/>
    <p:sldId id="2562" r:id="rId144"/>
    <p:sldId id="2563" r:id="rId145"/>
    <p:sldId id="2564" r:id="rId146"/>
    <p:sldId id="2565" r:id="rId147"/>
    <p:sldId id="2566" r:id="rId148"/>
    <p:sldId id="2568" r:id="rId149"/>
    <p:sldId id="2569" r:id="rId150"/>
    <p:sldId id="2571" r:id="rId151"/>
  </p:sldIdLst>
  <p:sldSz cx="9144000" cy="6858000" type="screen4x3"/>
  <p:notesSz cx="6858000" cy="9144000"/>
  <p:custDataLst>
    <p:tags r:id="rId154"/>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41" userDrawn="1">
          <p15:clr>
            <a:srgbClr val="A4A3A4"/>
          </p15:clr>
        </p15:guide>
        <p15:guide id="2" pos="284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oguo Xie" initials="b" lastIdx="1" clrIdx="0"/>
  <p:cmAuthor id="2" name="Guo Xiang Zhang" initials="G"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3" d="100"/>
          <a:sy n="103" d="100"/>
        </p:scale>
        <p:origin x="1770" y="72"/>
      </p:cViewPr>
      <p:guideLst>
        <p:guide orient="horz" pos="2041"/>
        <p:guide pos="284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63" Type="http://schemas.openxmlformats.org/officeDocument/2006/relationships/slide" Target="slides/slide55.xml"/><Relationship Id="rId84" Type="http://schemas.openxmlformats.org/officeDocument/2006/relationships/slide" Target="slides/slide76.xml"/><Relationship Id="rId138" Type="http://schemas.openxmlformats.org/officeDocument/2006/relationships/slide" Target="slides/slide130.xml"/><Relationship Id="rId159" Type="http://schemas.openxmlformats.org/officeDocument/2006/relationships/tableStyles" Target="tableStyles.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53" Type="http://schemas.openxmlformats.org/officeDocument/2006/relationships/slide" Target="slides/slide45.xml"/><Relationship Id="rId74" Type="http://schemas.openxmlformats.org/officeDocument/2006/relationships/slide" Target="slides/slide66.xml"/><Relationship Id="rId128" Type="http://schemas.openxmlformats.org/officeDocument/2006/relationships/slide" Target="slides/slide120.xml"/><Relationship Id="rId149" Type="http://schemas.openxmlformats.org/officeDocument/2006/relationships/slide" Target="slides/slide141.xml"/><Relationship Id="rId5" Type="http://schemas.openxmlformats.org/officeDocument/2006/relationships/slideMaster" Target="slideMasters/slideMaster5.xml"/><Relationship Id="rId95" Type="http://schemas.openxmlformats.org/officeDocument/2006/relationships/slide" Target="slides/slide87.xml"/><Relationship Id="rId22" Type="http://schemas.openxmlformats.org/officeDocument/2006/relationships/slide" Target="slides/slide14.xml"/><Relationship Id="rId43" Type="http://schemas.openxmlformats.org/officeDocument/2006/relationships/slide" Target="slides/slide35.xml"/><Relationship Id="rId64" Type="http://schemas.openxmlformats.org/officeDocument/2006/relationships/slide" Target="slides/slide56.xml"/><Relationship Id="rId118" Type="http://schemas.openxmlformats.org/officeDocument/2006/relationships/slide" Target="slides/slide110.xml"/><Relationship Id="rId139" Type="http://schemas.openxmlformats.org/officeDocument/2006/relationships/slide" Target="slides/slide131.xml"/><Relationship Id="rId80" Type="http://schemas.openxmlformats.org/officeDocument/2006/relationships/slide" Target="slides/slide72.xml"/><Relationship Id="rId85" Type="http://schemas.openxmlformats.org/officeDocument/2006/relationships/slide" Target="slides/slide77.xml"/><Relationship Id="rId150" Type="http://schemas.openxmlformats.org/officeDocument/2006/relationships/slide" Target="slides/slide142.xml"/><Relationship Id="rId155" Type="http://schemas.openxmlformats.org/officeDocument/2006/relationships/commentAuthors" Target="commentAuthors.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openxmlformats.org/officeDocument/2006/relationships/slide" Target="slides/slide116.xml"/><Relationship Id="rId129" Type="http://schemas.openxmlformats.org/officeDocument/2006/relationships/slide" Target="slides/slide121.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40" Type="http://schemas.openxmlformats.org/officeDocument/2006/relationships/slide" Target="slides/slide132.xml"/><Relationship Id="rId145" Type="http://schemas.openxmlformats.org/officeDocument/2006/relationships/slide" Target="slides/slide137.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slide" Target="slides/slide11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0" Type="http://schemas.openxmlformats.org/officeDocument/2006/relationships/slide" Target="slides/slide122.xml"/><Relationship Id="rId135" Type="http://schemas.openxmlformats.org/officeDocument/2006/relationships/slide" Target="slides/slide127.xml"/><Relationship Id="rId151" Type="http://schemas.openxmlformats.org/officeDocument/2006/relationships/slide" Target="slides/slide143.xml"/><Relationship Id="rId156" Type="http://schemas.openxmlformats.org/officeDocument/2006/relationships/presProps" Target="presProps.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slide" Target="slides/slide117.xml"/><Relationship Id="rId141" Type="http://schemas.openxmlformats.org/officeDocument/2006/relationships/slide" Target="slides/slide133.xml"/><Relationship Id="rId146" Type="http://schemas.openxmlformats.org/officeDocument/2006/relationships/slide" Target="slides/slide138.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131" Type="http://schemas.openxmlformats.org/officeDocument/2006/relationships/slide" Target="slides/slide123.xml"/><Relationship Id="rId136" Type="http://schemas.openxmlformats.org/officeDocument/2006/relationships/slide" Target="slides/slide128.xml"/><Relationship Id="rId157" Type="http://schemas.openxmlformats.org/officeDocument/2006/relationships/viewProps" Target="viewProps.xml"/><Relationship Id="rId61" Type="http://schemas.openxmlformats.org/officeDocument/2006/relationships/slide" Target="slides/slide53.xml"/><Relationship Id="rId82" Type="http://schemas.openxmlformats.org/officeDocument/2006/relationships/slide" Target="slides/slide74.xml"/><Relationship Id="rId152" Type="http://schemas.openxmlformats.org/officeDocument/2006/relationships/notesMaster" Target="notesMasters/notesMaster1.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slide" Target="slides/slide118.xml"/><Relationship Id="rId147" Type="http://schemas.openxmlformats.org/officeDocument/2006/relationships/slide" Target="slides/slide13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142" Type="http://schemas.openxmlformats.org/officeDocument/2006/relationships/slide" Target="slides/slide134.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137" Type="http://schemas.openxmlformats.org/officeDocument/2006/relationships/slide" Target="slides/slide129.xml"/><Relationship Id="rId158"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32" Type="http://schemas.openxmlformats.org/officeDocument/2006/relationships/slide" Target="slides/slide124.xml"/><Relationship Id="rId153" Type="http://schemas.openxmlformats.org/officeDocument/2006/relationships/handoutMaster" Target="handoutMasters/handoutMaster1.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27" Type="http://schemas.openxmlformats.org/officeDocument/2006/relationships/slide" Target="slides/slide119.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143" Type="http://schemas.openxmlformats.org/officeDocument/2006/relationships/slide" Target="slides/slide135.xml"/><Relationship Id="rId148" Type="http://schemas.openxmlformats.org/officeDocument/2006/relationships/slide" Target="slides/slide140.xml"/><Relationship Id="rId4" Type="http://schemas.openxmlformats.org/officeDocument/2006/relationships/slideMaster" Target="slideMasters/slideMaster4.xml"/><Relationship Id="rId9" Type="http://schemas.openxmlformats.org/officeDocument/2006/relationships/slide" Target="slides/slide1.xml"/><Relationship Id="rId26" Type="http://schemas.openxmlformats.org/officeDocument/2006/relationships/slide" Target="slides/slide18.xml"/><Relationship Id="rId47" Type="http://schemas.openxmlformats.org/officeDocument/2006/relationships/slide" Target="slides/slide39.xml"/><Relationship Id="rId68" Type="http://schemas.openxmlformats.org/officeDocument/2006/relationships/slide" Target="slides/slide60.xml"/><Relationship Id="rId89" Type="http://schemas.openxmlformats.org/officeDocument/2006/relationships/slide" Target="slides/slide81.xml"/><Relationship Id="rId112" Type="http://schemas.openxmlformats.org/officeDocument/2006/relationships/slide" Target="slides/slide104.xml"/><Relationship Id="rId133" Type="http://schemas.openxmlformats.org/officeDocument/2006/relationships/slide" Target="slides/slide125.xml"/><Relationship Id="rId154" Type="http://schemas.openxmlformats.org/officeDocument/2006/relationships/tags" Target="tags/tag1.xml"/><Relationship Id="rId16" Type="http://schemas.openxmlformats.org/officeDocument/2006/relationships/slide" Target="slides/slide8.xml"/><Relationship Id="rId37" Type="http://schemas.openxmlformats.org/officeDocument/2006/relationships/slide" Target="slides/slide29.xml"/><Relationship Id="rId58" Type="http://schemas.openxmlformats.org/officeDocument/2006/relationships/slide" Target="slides/slide50.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slide" Target="slides/slide115.xml"/><Relationship Id="rId144" Type="http://schemas.openxmlformats.org/officeDocument/2006/relationships/slide" Target="slides/slide136.xml"/><Relationship Id="rId90" Type="http://schemas.openxmlformats.org/officeDocument/2006/relationships/slide" Target="slides/slide82.xml"/><Relationship Id="rId27" Type="http://schemas.openxmlformats.org/officeDocument/2006/relationships/slide" Target="slides/slide19.xml"/><Relationship Id="rId48" Type="http://schemas.openxmlformats.org/officeDocument/2006/relationships/slide" Target="slides/slide40.xml"/><Relationship Id="rId69" Type="http://schemas.openxmlformats.org/officeDocument/2006/relationships/slide" Target="slides/slide61.xml"/><Relationship Id="rId113" Type="http://schemas.openxmlformats.org/officeDocument/2006/relationships/slide" Target="slides/slide105.xml"/><Relationship Id="rId134" Type="http://schemas.openxmlformats.org/officeDocument/2006/relationships/slide" Target="slides/slide12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2025/10/20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2663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noProof="1" dirty="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4F3E040-174E-49EE-9F97-0C08BFA82ABA}" type="slidenum">
              <a:rPr kumimoji="0" lang="en-US" altLang="zh-CN" sz="12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0DB2DC-4C9A-4742-B13C-FB6460FD3503}" type="slidenum">
              <a:rPr kumimoji="0" lang="en-US" altLang="zh-CN" sz="1200" b="0" i="0" u="none" strike="noStrike" kern="1200" cap="none" spc="0" normalizeH="0" baseline="0" noProof="1" dirty="0">
                <a:ln>
                  <a:noFill/>
                </a:ln>
                <a:solidFill>
                  <a:srgbClr val="000000"/>
                </a:solidFill>
                <a:effectLst/>
                <a:uLnTx/>
                <a:uFillTx/>
                <a:latin typeface="Arial" panose="020B0604020202020204" pitchFamily="34" charset="0"/>
                <a:ea typeface="宋体" panose="02010600030101010101" pitchFamily="2" charset="-122"/>
                <a:cs typeface="+mn-cs"/>
              </a:rPr>
              <a:t>1</a:t>
            </a:fld>
            <a:endParaRPr kumimoji="0" lang="en-US" altLang="zh-CN" sz="12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146" name="Rectangle 2"/>
          <p:cNvSpPr>
            <a:spLocks noGrp="1" noRot="1" noChangeAspect="1" noTextEdit="1"/>
          </p:cNvSpPr>
          <p:nvPr>
            <p:ph type="sldImg"/>
          </p:nvPr>
        </p:nvSpPr>
        <p:spPr/>
      </p:sp>
      <p:sp>
        <p:nvSpPr>
          <p:cNvPr id="6147"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4FA5C0-9868-CE46-A0FF-56EEF184B354}" type="slidenum">
              <a:rPr kumimoji="0" lang="en-US" altLang="zh-CN"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7</a:t>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txBox="1">
            <a:spLocks noGrp="1"/>
          </p:cNvSpPr>
          <p:nvPr>
            <p:ph type="sldNum" sz="quarter"/>
          </p:nvPr>
        </p:nvSpPr>
        <p:spPr>
          <a:xfrm>
            <a:off x="4024313" y="9721850"/>
            <a:ext cx="3074987" cy="512763"/>
          </a:xfrm>
          <a:prstGeom prst="rect">
            <a:avLst/>
          </a:prstGeom>
          <a:noFill/>
          <a:ln w="9525">
            <a:noFill/>
          </a:ln>
        </p:spPr>
        <p:txBody>
          <a:bodyPr lIns="95500" tIns="47750" rIns="95500" bIns="47750" anchor="b" anchorCtr="0"/>
          <a:lstStyle/>
          <a:p>
            <a:pPr marL="0" marR="0" lvl="0" indent="0" algn="r" defTabSz="955675"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en-US" altLang="zh-CN" sz="1300" b="0" i="0" u="none" strike="noStrike" kern="1200" cap="none" spc="0" normalizeH="0" baseline="0" noProof="1" dirty="0">
                <a:ln>
                  <a:noFill/>
                </a:ln>
                <a:solidFill>
                  <a:srgbClr val="FFFFFF"/>
                </a:solidFill>
                <a:effectLst/>
                <a:uLnTx/>
                <a:uFillTx/>
                <a:latin typeface="Arial" panose="020B0604020202020204" pitchFamily="34" charset="0"/>
                <a:ea typeface="宋体" panose="02010600030101010101" pitchFamily="2" charset="-122"/>
                <a:cs typeface="+mn-cs"/>
              </a:rPr>
              <a:pPr marL="0" marR="0" lvl="0" indent="0" algn="r" defTabSz="955675" rtl="0" eaLnBrk="1" fontAlgn="base" latinLnBrk="0" hangingPunct="1">
                <a:lnSpc>
                  <a:spcPct val="100000"/>
                </a:lnSpc>
                <a:spcBef>
                  <a:spcPct val="0"/>
                </a:spcBef>
                <a:spcAft>
                  <a:spcPct val="0"/>
                </a:spcAft>
                <a:buClrTx/>
                <a:buSzTx/>
                <a:buFont typeface="Arial" panose="020B0604020202020204" pitchFamily="34" charset="0"/>
                <a:buNone/>
                <a:tabLst/>
                <a:defRPr/>
              </a:pPr>
              <a:t>14</a:t>
            </a:fld>
            <a:endParaRPr kumimoji="0" lang="en-US" altLang="zh-CN" sz="1300" b="0" i="0" u="none" strike="noStrike" kern="1200" cap="none" spc="0" normalizeH="0" baseline="0" noProof="1">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4819" name="Rectangle 7"/>
          <p:cNvSpPr txBox="1">
            <a:spLocks noGrp="1"/>
          </p:cNvSpPr>
          <p:nvPr/>
        </p:nvSpPr>
        <p:spPr>
          <a:xfrm>
            <a:off x="4022725" y="9718675"/>
            <a:ext cx="3074988" cy="514350"/>
          </a:xfrm>
          <a:prstGeom prst="rect">
            <a:avLst/>
          </a:prstGeom>
          <a:noFill/>
          <a:ln w="9525">
            <a:noFill/>
          </a:ln>
        </p:spPr>
        <p:txBody>
          <a:bodyPr lIns="103446" tIns="51723" rIns="103446" bIns="51723" anchor="b" anchorCtr="0"/>
          <a:lstStyle/>
          <a:p>
            <a:pPr marL="0" marR="0" lvl="0" indent="0" algn="r" defTabSz="1035050" rtl="0" eaLnBrk="1" fontAlgn="base" latinLnBrk="0" hangingPunct="1">
              <a:lnSpc>
                <a:spcPct val="100000"/>
              </a:lnSpc>
              <a:spcBef>
                <a:spcPct val="0"/>
              </a:spcBef>
              <a:spcAft>
                <a:spcPct val="0"/>
              </a:spcAft>
              <a:buClrTx/>
              <a:buSzTx/>
              <a:buFont typeface="Arial" panose="020B0604020202020204" pitchFamily="34" charset="0"/>
              <a:buNone/>
              <a:tabLst/>
              <a:defRPr/>
            </a:pPr>
            <a:fld id="{9A0DB2DC-4C9A-4742-B13C-FB6460FD3503}" type="slidenum">
              <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1035050" rtl="0" eaLnBrk="1" fontAlgn="base" latinLnBrk="0" hangingPunct="1">
                <a:lnSpc>
                  <a:spcPct val="100000"/>
                </a:lnSpc>
                <a:spcBef>
                  <a:spcPct val="0"/>
                </a:spcBef>
                <a:spcAft>
                  <a:spcPct val="0"/>
                </a:spcAft>
                <a:buClrTx/>
                <a:buSzTx/>
                <a:buFont typeface="Arial" panose="020B0604020202020204" pitchFamily="34" charset="0"/>
                <a:buNone/>
                <a:tabLst/>
                <a:defRPr/>
              </a:pPr>
              <a:t>14</a:t>
            </a:fld>
            <a:endParaRPr kumimoji="0" lang="en-US" altLang="zh-CN" sz="1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4820" name="Rectangle 2"/>
          <p:cNvSpPr>
            <a:spLocks noGrp="1" noRot="1" noChangeAspect="1" noTextEdit="1"/>
          </p:cNvSpPr>
          <p:nvPr>
            <p:ph type="sldImg"/>
          </p:nvPr>
        </p:nvSpPr>
        <p:spPr>
          <a:xfrm>
            <a:off x="993775" y="766763"/>
            <a:ext cx="5114925" cy="3836987"/>
          </a:xfrm>
        </p:spPr>
      </p:sp>
      <p:sp>
        <p:nvSpPr>
          <p:cNvPr id="34821" name="Rectangle 3"/>
          <p:cNvSpPr>
            <a:spLocks noGrp="1"/>
          </p:cNvSpPr>
          <p:nvPr>
            <p:ph type="body"/>
          </p:nvPr>
        </p:nvSpPr>
        <p:spPr>
          <a:xfrm>
            <a:off x="709613" y="4860925"/>
            <a:ext cx="5680075" cy="4606925"/>
          </a:xfrm>
        </p:spPr>
        <p:txBody>
          <a:bodyPr wrap="square" lIns="103446" tIns="51723" rIns="103446" bIns="51723" anchor="t" anchorCtr="0"/>
          <a:lstStyle/>
          <a:p>
            <a:pPr lvl="0" eaLnBrk="1" hangingPunct="1"/>
            <a:r>
              <a:rPr lang="zh-CN" altLang="en-US" sz="1000" b="1" dirty="0">
                <a:solidFill>
                  <a:schemeClr val="bg1"/>
                </a:solidFill>
              </a:rPr>
              <a:t>过路的人！</a:t>
            </a:r>
          </a:p>
          <a:p>
            <a:pPr lvl="0" eaLnBrk="1" hangingPunct="1"/>
            <a:r>
              <a:rPr lang="zh-CN" altLang="en-US" sz="1000" b="1" dirty="0">
                <a:solidFill>
                  <a:schemeClr val="bg1"/>
                </a:solidFill>
              </a:rPr>
              <a:t>这儿埋葬着丢番图．</a:t>
            </a:r>
          </a:p>
          <a:p>
            <a:pPr lvl="0" eaLnBrk="1" hangingPunct="1"/>
            <a:r>
              <a:rPr lang="zh-CN" altLang="en-US" sz="1000" b="1" dirty="0">
                <a:solidFill>
                  <a:schemeClr val="bg1"/>
                </a:solidFill>
              </a:rPr>
              <a:t>请计算下列数目，</a:t>
            </a:r>
          </a:p>
          <a:p>
            <a:pPr lvl="0" eaLnBrk="1" hangingPunct="1"/>
            <a:r>
              <a:rPr lang="zh-CN" altLang="en-US" sz="1000" b="1" dirty="0">
                <a:solidFill>
                  <a:schemeClr val="bg1"/>
                </a:solidFill>
              </a:rPr>
              <a:t>便可知道他一生经过了多少个寒暑．</a:t>
            </a:r>
          </a:p>
          <a:p>
            <a:pPr lvl="0" eaLnBrk="1" hangingPunct="1"/>
            <a:r>
              <a:rPr lang="zh-CN" altLang="en-US" sz="1000" b="1" dirty="0">
                <a:solidFill>
                  <a:schemeClr val="bg1"/>
                </a:solidFill>
              </a:rPr>
              <a:t>他一生的六分之一是幸福的童年，</a:t>
            </a:r>
          </a:p>
          <a:p>
            <a:pPr lvl="0" eaLnBrk="1" hangingPunct="1"/>
            <a:r>
              <a:rPr lang="zh-CN" altLang="en-US" sz="1000" b="1" dirty="0">
                <a:solidFill>
                  <a:schemeClr val="bg1"/>
                </a:solidFill>
              </a:rPr>
              <a:t>十二分之一是无忧无虑的少年． </a:t>
            </a:r>
          </a:p>
          <a:p>
            <a:pPr lvl="0" eaLnBrk="1" hangingPunct="1"/>
            <a:r>
              <a:rPr lang="zh-CN" altLang="en-US" sz="1000" b="1" dirty="0">
                <a:solidFill>
                  <a:schemeClr val="bg1"/>
                </a:solidFill>
              </a:rPr>
              <a:t>再过去七分之一的生命旅程，</a:t>
            </a:r>
          </a:p>
          <a:p>
            <a:pPr lvl="0" eaLnBrk="1" hangingPunct="1"/>
            <a:r>
              <a:rPr lang="zh-CN" altLang="en-US" sz="1000" b="1" dirty="0">
                <a:solidFill>
                  <a:schemeClr val="bg1"/>
                </a:solidFill>
              </a:rPr>
              <a:t>他建立了幸福的家庭．</a:t>
            </a:r>
          </a:p>
          <a:p>
            <a:pPr lvl="0" eaLnBrk="1" hangingPunct="1"/>
            <a:r>
              <a:rPr lang="zh-CN" altLang="en-US" sz="1000" b="1" dirty="0">
                <a:solidFill>
                  <a:schemeClr val="bg1"/>
                </a:solidFill>
              </a:rPr>
              <a:t>五年后儿子出生，</a:t>
            </a:r>
          </a:p>
          <a:p>
            <a:pPr lvl="0" eaLnBrk="1" hangingPunct="1"/>
            <a:r>
              <a:rPr lang="zh-CN" altLang="en-US" sz="1000" b="1" dirty="0">
                <a:solidFill>
                  <a:schemeClr val="bg1"/>
                </a:solidFill>
              </a:rPr>
              <a:t>不料儿子竟先于父亲四年而终，</a:t>
            </a:r>
          </a:p>
          <a:p>
            <a:pPr lvl="0" eaLnBrk="1" hangingPunct="1"/>
            <a:r>
              <a:rPr lang="zh-CN" altLang="en-US" sz="1000" b="1" dirty="0">
                <a:solidFill>
                  <a:schemeClr val="bg1"/>
                </a:solidFill>
              </a:rPr>
              <a:t>年龄不过父亲享年的一半，</a:t>
            </a:r>
          </a:p>
          <a:p>
            <a:pPr lvl="0" eaLnBrk="1" hangingPunct="1"/>
            <a:r>
              <a:rPr lang="zh-CN" altLang="en-US" sz="1000" b="1" dirty="0">
                <a:solidFill>
                  <a:schemeClr val="bg1"/>
                </a:solidFill>
              </a:rPr>
              <a:t>晚年丧子老人真可怜，</a:t>
            </a:r>
          </a:p>
          <a:p>
            <a:pPr lvl="0" eaLnBrk="1" hangingPunct="1"/>
            <a:r>
              <a:rPr lang="zh-CN" altLang="en-US" sz="1000" b="1" dirty="0">
                <a:solidFill>
                  <a:schemeClr val="bg1"/>
                </a:solidFill>
              </a:rPr>
              <a:t>悲痛之中度过了风烛残年．</a:t>
            </a:r>
          </a:p>
          <a:p>
            <a:pPr lvl="0" eaLnBrk="1" hangingPunct="1"/>
            <a:r>
              <a:rPr lang="zh-CN" altLang="en-US" sz="1000" b="1" dirty="0">
                <a:solidFill>
                  <a:schemeClr val="bg1"/>
                </a:solidFill>
              </a:rPr>
              <a:t>请你算一算，丢番图活到多少岁，</a:t>
            </a:r>
          </a:p>
          <a:p>
            <a:pPr lvl="0" eaLnBrk="1" hangingPunct="1"/>
            <a:r>
              <a:rPr lang="zh-CN" altLang="en-US" sz="1000" b="1" dirty="0">
                <a:solidFill>
                  <a:schemeClr val="bg1"/>
                </a:solidFill>
              </a:rPr>
              <a:t>才和死神见面？</a:t>
            </a:r>
            <a:endParaRPr lang="zh-CN" altLang="zh-CN" sz="1000" b="1" dirty="0">
              <a:solidFill>
                <a:schemeClr val="bg1"/>
              </a:solidFill>
            </a:endParaRPr>
          </a:p>
        </p:txBody>
      </p:sp>
    </p:spTree>
    <p:extLst>
      <p:ext uri="{BB962C8B-B14F-4D97-AF65-F5344CB8AC3E}">
        <p14:creationId xmlns:p14="http://schemas.microsoft.com/office/powerpoint/2010/main" val="3260711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4FA5C0-9868-CE46-A0FF-56EEF184B354}" type="slidenum">
              <a:rPr kumimoji="0" lang="en-US" altLang="zh-CN"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16</a:t>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E4FA5C0-9868-CE46-A0FF-56EEF184B354}" type="slidenum">
              <a:rPr kumimoji="0" lang="en-US" altLang="zh-CN"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17</a:t>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2"/>
          <p:cNvSpPr/>
          <p:nvPr/>
        </p:nvSpPr>
        <p:spPr>
          <a:xfrm>
            <a:off x="4760913" y="20638"/>
            <a:ext cx="4438650" cy="4038600"/>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0" b="0"/>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ln>
        </p:spPr>
        <p:txBody>
          <a:bodyPr/>
          <a:lstStyle/>
          <a:p>
            <a:endParaRPr lang="zh-CN" altLang="en-US"/>
          </a:p>
        </p:txBody>
      </p:sp>
      <p:grpSp>
        <p:nvGrpSpPr>
          <p:cNvPr id="2051" name="Group 3"/>
          <p:cNvGrpSpPr/>
          <p:nvPr/>
        </p:nvGrpSpPr>
        <p:grpSpPr>
          <a:xfrm>
            <a:off x="4572000" y="28575"/>
            <a:ext cx="4756150" cy="4338638"/>
            <a:chOff x="2918" y="18"/>
            <a:chExt cx="2958" cy="2699"/>
          </a:xfrm>
        </p:grpSpPr>
        <p:sp>
          <p:nvSpPr>
            <p:cNvPr id="2052" name="Freeform 4"/>
            <p:cNvSpPr/>
            <p:nvPr/>
          </p:nvSpPr>
          <p:spPr>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0" b="0"/>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ln>
          </p:spPr>
          <p:txBody>
            <a:bodyPr/>
            <a:lstStyle/>
            <a:p>
              <a:endParaRPr lang="zh-CN" altLang="en-US"/>
            </a:p>
          </p:txBody>
        </p:sp>
        <p:sp>
          <p:nvSpPr>
            <p:cNvPr id="2053" name="Freeform 5"/>
            <p:cNvSpPr>
              <a:spLocks noEditPoints="1"/>
            </p:cNvSpPr>
            <p:nvPr/>
          </p:nvSpPr>
          <p:spPr>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0" b="0"/>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ln>
          </p:spPr>
          <p:txBody>
            <a:bodyPr/>
            <a:lstStyle/>
            <a:p>
              <a:endParaRPr lang="zh-CN" altLang="en-US"/>
            </a:p>
          </p:txBody>
        </p:sp>
        <p:sp>
          <p:nvSpPr>
            <p:cNvPr id="2054" name="Freeform 6"/>
            <p:cNvSpPr/>
            <p:nvPr/>
          </p:nvSpPr>
          <p:spPr>
            <a:xfrm>
              <a:off x="3621" y="1287"/>
              <a:ext cx="238" cy="283"/>
            </a:xfrm>
            <a:custGeom>
              <a:avLst/>
              <a:gdLst/>
              <a:ahLst/>
              <a:cxnLst>
                <a:cxn ang="0">
                  <a:pos x="40" y="15"/>
                </a:cxn>
                <a:cxn ang="0">
                  <a:pos x="27" y="56"/>
                </a:cxn>
                <a:cxn ang="0">
                  <a:pos x="40" y="15"/>
                </a:cxn>
              </a:cxnLst>
              <a:rect l="0" t="0" r="0" b="0"/>
              <a:pathLst>
                <a:path w="47" h="56">
                  <a:moveTo>
                    <a:pt x="40" y="15"/>
                  </a:moveTo>
                  <a:cubicBezTo>
                    <a:pt x="37" y="0"/>
                    <a:pt x="0" y="23"/>
                    <a:pt x="27" y="56"/>
                  </a:cubicBezTo>
                  <a:cubicBezTo>
                    <a:pt x="27" y="56"/>
                    <a:pt x="47" y="49"/>
                    <a:pt x="40" y="15"/>
                  </a:cubicBezTo>
                  <a:close/>
                </a:path>
              </a:pathLst>
            </a:custGeom>
            <a:solidFill>
              <a:schemeClr val="bg1"/>
            </a:solidFill>
            <a:ln w="0">
              <a:noFill/>
            </a:ln>
          </p:spPr>
          <p:txBody>
            <a:bodyPr/>
            <a:lstStyle/>
            <a:p>
              <a:endParaRPr lang="zh-CN" altLang="en-US"/>
            </a:p>
          </p:txBody>
        </p:sp>
        <p:sp>
          <p:nvSpPr>
            <p:cNvPr id="2055" name="Freeform 7"/>
            <p:cNvSpPr/>
            <p:nvPr/>
          </p:nvSpPr>
          <p:spPr>
            <a:xfrm>
              <a:off x="3403" y="1403"/>
              <a:ext cx="208" cy="379"/>
            </a:xfrm>
            <a:custGeom>
              <a:avLst/>
              <a:gdLst/>
              <a:ahLst/>
              <a:cxnLst>
                <a:cxn ang="0">
                  <a:pos x="19" y="27"/>
                </a:cxn>
                <a:cxn ang="0">
                  <a:pos x="12" y="69"/>
                </a:cxn>
                <a:cxn ang="0">
                  <a:pos x="40" y="45"/>
                </a:cxn>
                <a:cxn ang="0">
                  <a:pos x="37" y="24"/>
                </a:cxn>
                <a:cxn ang="0">
                  <a:pos x="19" y="27"/>
                </a:cxn>
              </a:cxnLst>
              <a:rect l="0" t="0" r="0" b="0"/>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ln>
          </p:spPr>
          <p:txBody>
            <a:bodyPr/>
            <a:lstStyle/>
            <a:p>
              <a:endParaRPr lang="zh-CN" altLang="en-US"/>
            </a:p>
          </p:txBody>
        </p:sp>
        <p:sp>
          <p:nvSpPr>
            <p:cNvPr id="2056" name="Freeform 8"/>
            <p:cNvSpPr/>
            <p:nvPr/>
          </p:nvSpPr>
          <p:spPr>
            <a:xfrm>
              <a:off x="3272" y="645"/>
              <a:ext cx="674" cy="318"/>
            </a:xfrm>
            <a:custGeom>
              <a:avLst/>
              <a:gdLst/>
              <a:ahLst/>
              <a:cxnLst>
                <a:cxn ang="0">
                  <a:pos x="112" y="4"/>
                </a:cxn>
                <a:cxn ang="0">
                  <a:pos x="24" y="4"/>
                </a:cxn>
                <a:cxn ang="0">
                  <a:pos x="2" y="25"/>
                </a:cxn>
                <a:cxn ang="0">
                  <a:pos x="60" y="58"/>
                </a:cxn>
                <a:cxn ang="0">
                  <a:pos x="96" y="54"/>
                </a:cxn>
                <a:cxn ang="0">
                  <a:pos x="113" y="53"/>
                </a:cxn>
                <a:cxn ang="0">
                  <a:pos x="112" y="4"/>
                </a:cxn>
              </a:cxnLst>
              <a:rect l="0" t="0" r="0" b="0"/>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ln>
          </p:spPr>
          <p:txBody>
            <a:bodyPr/>
            <a:lstStyle/>
            <a:p>
              <a:endParaRPr lang="zh-CN" altLang="en-US"/>
            </a:p>
          </p:txBody>
        </p:sp>
        <p:sp>
          <p:nvSpPr>
            <p:cNvPr id="2057" name="Freeform 9"/>
            <p:cNvSpPr/>
            <p:nvPr/>
          </p:nvSpPr>
          <p:spPr>
            <a:xfrm>
              <a:off x="4046" y="1545"/>
              <a:ext cx="499" cy="516"/>
            </a:xfrm>
            <a:custGeom>
              <a:avLst/>
              <a:gdLst/>
              <a:ahLst/>
              <a:cxnLst>
                <a:cxn ang="0">
                  <a:pos x="67" y="5"/>
                </a:cxn>
                <a:cxn ang="0">
                  <a:pos x="31" y="5"/>
                </a:cxn>
                <a:cxn ang="0">
                  <a:pos x="12" y="57"/>
                </a:cxn>
                <a:cxn ang="0">
                  <a:pos x="79" y="62"/>
                </a:cxn>
                <a:cxn ang="0">
                  <a:pos x="67" y="5"/>
                </a:cxn>
              </a:cxnLst>
              <a:rect l="0" t="0" r="0" b="0"/>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ln>
          </p:spPr>
          <p:txBody>
            <a:bodyPr/>
            <a:lstStyle/>
            <a:p>
              <a:endParaRPr lang="zh-CN" altLang="en-US"/>
            </a:p>
          </p:txBody>
        </p:sp>
        <p:sp>
          <p:nvSpPr>
            <p:cNvPr id="2058" name="Freeform 10"/>
            <p:cNvSpPr/>
            <p:nvPr/>
          </p:nvSpPr>
          <p:spPr>
            <a:xfrm>
              <a:off x="5173" y="1024"/>
              <a:ext cx="501" cy="96"/>
            </a:xfrm>
            <a:custGeom>
              <a:avLst/>
              <a:gdLst/>
              <a:ahLst/>
              <a:cxnLst>
                <a:cxn ang="0">
                  <a:pos x="15" y="0"/>
                </a:cxn>
                <a:cxn ang="0">
                  <a:pos x="40" y="15"/>
                </a:cxn>
                <a:cxn ang="0">
                  <a:pos x="15" y="0"/>
                </a:cxn>
              </a:cxnLst>
              <a:rect l="0" t="0" r="0" b="0"/>
              <a:pathLst>
                <a:path w="99" h="19">
                  <a:moveTo>
                    <a:pt x="15" y="0"/>
                  </a:moveTo>
                  <a:cubicBezTo>
                    <a:pt x="0" y="0"/>
                    <a:pt x="19" y="19"/>
                    <a:pt x="40" y="15"/>
                  </a:cubicBezTo>
                  <a:cubicBezTo>
                    <a:pt x="99" y="1"/>
                    <a:pt x="15" y="0"/>
                    <a:pt x="15" y="0"/>
                  </a:cubicBezTo>
                  <a:close/>
                </a:path>
              </a:pathLst>
            </a:custGeom>
            <a:solidFill>
              <a:schemeClr val="bg1"/>
            </a:solidFill>
            <a:ln w="0">
              <a:noFill/>
            </a:ln>
          </p:spPr>
          <p:txBody>
            <a:bodyPr/>
            <a:lstStyle/>
            <a:p>
              <a:endParaRPr lang="zh-CN" altLang="en-US"/>
            </a:p>
          </p:txBody>
        </p:sp>
        <p:sp>
          <p:nvSpPr>
            <p:cNvPr id="2059" name="Freeform 11"/>
            <p:cNvSpPr/>
            <p:nvPr/>
          </p:nvSpPr>
          <p:spPr>
            <a:xfrm>
              <a:off x="5340" y="1004"/>
              <a:ext cx="385" cy="237"/>
            </a:xfrm>
            <a:custGeom>
              <a:avLst/>
              <a:gdLst/>
              <a:ahLst/>
              <a:cxnLst>
                <a:cxn ang="0">
                  <a:pos x="21" y="37"/>
                </a:cxn>
                <a:cxn ang="0">
                  <a:pos x="70" y="17"/>
                </a:cxn>
                <a:cxn ang="0">
                  <a:pos x="48" y="3"/>
                </a:cxn>
                <a:cxn ang="0">
                  <a:pos x="19" y="32"/>
                </a:cxn>
                <a:cxn ang="0">
                  <a:pos x="21" y="37"/>
                </a:cxn>
              </a:cxnLst>
              <a:rect l="0" t="0" r="0" b="0"/>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ln>
          </p:spPr>
          <p:txBody>
            <a:bodyPr/>
            <a:lstStyle/>
            <a:p>
              <a:endParaRPr lang="zh-CN" altLang="en-US"/>
            </a:p>
          </p:txBody>
        </p:sp>
        <p:sp>
          <p:nvSpPr>
            <p:cNvPr id="2060" name="Freeform 12"/>
            <p:cNvSpPr/>
            <p:nvPr/>
          </p:nvSpPr>
          <p:spPr>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0" b="0"/>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ln>
          </p:spPr>
          <p:txBody>
            <a:bodyPr/>
            <a:lstStyle/>
            <a:p>
              <a:endParaRPr lang="zh-CN" altLang="en-US"/>
            </a:p>
          </p:txBody>
        </p:sp>
        <p:sp>
          <p:nvSpPr>
            <p:cNvPr id="2061" name="Freeform 13"/>
            <p:cNvSpPr/>
            <p:nvPr/>
          </p:nvSpPr>
          <p:spPr>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0" b="0"/>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ln>
          </p:spPr>
          <p:txBody>
            <a:bodyPr/>
            <a:lstStyle/>
            <a:p>
              <a:endParaRPr lang="zh-CN" altLang="en-US"/>
            </a:p>
          </p:txBody>
        </p:sp>
        <p:sp>
          <p:nvSpPr>
            <p:cNvPr id="2062" name="Freeform 14"/>
            <p:cNvSpPr/>
            <p:nvPr/>
          </p:nvSpPr>
          <p:spPr>
            <a:xfrm>
              <a:off x="5077" y="1540"/>
              <a:ext cx="567" cy="146"/>
            </a:xfrm>
            <a:custGeom>
              <a:avLst/>
              <a:gdLst/>
              <a:ahLst/>
              <a:cxnLst>
                <a:cxn ang="0">
                  <a:pos x="98" y="19"/>
                </a:cxn>
                <a:cxn ang="0">
                  <a:pos x="103" y="4"/>
                </a:cxn>
                <a:cxn ang="0">
                  <a:pos x="74" y="10"/>
                </a:cxn>
                <a:cxn ang="0">
                  <a:pos x="36" y="6"/>
                </a:cxn>
                <a:cxn ang="0">
                  <a:pos x="2" y="4"/>
                </a:cxn>
                <a:cxn ang="0">
                  <a:pos x="98" y="19"/>
                </a:cxn>
              </a:cxnLst>
              <a:rect l="0" t="0" r="0" b="0"/>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ln>
          </p:spPr>
          <p:txBody>
            <a:bodyPr/>
            <a:lstStyle/>
            <a:p>
              <a:endParaRPr lang="zh-CN" altLang="en-US"/>
            </a:p>
          </p:txBody>
        </p:sp>
        <p:sp>
          <p:nvSpPr>
            <p:cNvPr id="2063" name="Freeform 15"/>
            <p:cNvSpPr/>
            <p:nvPr/>
          </p:nvSpPr>
          <p:spPr>
            <a:xfrm>
              <a:off x="5042" y="1656"/>
              <a:ext cx="584"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0" b="0"/>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ln>
          </p:spPr>
          <p:txBody>
            <a:bodyPr/>
            <a:lstStyle/>
            <a:p>
              <a:endParaRPr lang="zh-CN" altLang="en-US"/>
            </a:p>
          </p:txBody>
        </p:sp>
        <p:sp>
          <p:nvSpPr>
            <p:cNvPr id="2064" name="Freeform 16"/>
            <p:cNvSpPr/>
            <p:nvPr/>
          </p:nvSpPr>
          <p:spPr>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0" b="0"/>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ln>
          </p:spPr>
          <p:txBody>
            <a:bodyPr/>
            <a:lstStyle/>
            <a:p>
              <a:endParaRPr lang="zh-CN" altLang="en-US"/>
            </a:p>
          </p:txBody>
        </p:sp>
      </p:grpSp>
      <p:grpSp>
        <p:nvGrpSpPr>
          <p:cNvPr id="2065" name="Group 17"/>
          <p:cNvGrpSpPr/>
          <p:nvPr/>
        </p:nvGrpSpPr>
        <p:grpSpPr>
          <a:xfrm>
            <a:off x="554038" y="36513"/>
            <a:ext cx="7891462" cy="6821487"/>
            <a:chOff x="349" y="23"/>
            <a:chExt cx="4971" cy="4297"/>
          </a:xfrm>
        </p:grpSpPr>
        <p:sp>
          <p:nvSpPr>
            <p:cNvPr id="2066" name="Rectangle 18"/>
            <p:cNvSpPr/>
            <p:nvPr/>
          </p:nvSpPr>
          <p:spPr>
            <a:xfrm>
              <a:off x="384" y="23"/>
              <a:ext cx="21"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067" name="Freeform 19"/>
            <p:cNvSpPr>
              <a:spLocks noEditPoints="1"/>
            </p:cNvSpPr>
            <p:nvPr/>
          </p:nvSpPr>
          <p:spPr>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68" name="Freeform 20"/>
            <p:cNvSpPr>
              <a:spLocks noEditPoints="1"/>
            </p:cNvSpPr>
            <p:nvPr/>
          </p:nvSpPr>
          <p:spPr>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69" name="Freeform 21"/>
            <p:cNvSpPr>
              <a:spLocks noEditPoints="1"/>
            </p:cNvSpPr>
            <p:nvPr/>
          </p:nvSpPr>
          <p:spPr>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0" name="Freeform 22"/>
            <p:cNvSpPr>
              <a:spLocks noEditPoints="1"/>
            </p:cNvSpPr>
            <p:nvPr/>
          </p:nvSpPr>
          <p:spPr>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1" name="Freeform 23"/>
            <p:cNvSpPr>
              <a:spLocks noEditPoints="1"/>
            </p:cNvSpPr>
            <p:nvPr/>
          </p:nvSpPr>
          <p:spPr>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2" name="Freeform 24"/>
            <p:cNvSpPr>
              <a:spLocks noEditPoints="1"/>
            </p:cNvSpPr>
            <p:nvPr/>
          </p:nvSpPr>
          <p:spPr>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3" name="Freeform 25"/>
            <p:cNvSpPr>
              <a:spLocks noEditPoints="1"/>
            </p:cNvSpPr>
            <p:nvPr/>
          </p:nvSpPr>
          <p:spPr>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4" name="Freeform 26"/>
            <p:cNvSpPr>
              <a:spLocks noEditPoints="1"/>
            </p:cNvSpPr>
            <p:nvPr/>
          </p:nvSpPr>
          <p:spPr>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5" name="Freeform 27"/>
            <p:cNvSpPr>
              <a:spLocks noEditPoints="1"/>
            </p:cNvSpPr>
            <p:nvPr/>
          </p:nvSpPr>
          <p:spPr>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6" name="Freeform 28"/>
            <p:cNvSpPr>
              <a:spLocks noEditPoints="1"/>
            </p:cNvSpPr>
            <p:nvPr/>
          </p:nvSpPr>
          <p:spPr>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77" name="Rectangle 29"/>
            <p:cNvSpPr/>
            <p:nvPr/>
          </p:nvSpPr>
          <p:spPr>
            <a:xfrm>
              <a:off x="384" y="4269"/>
              <a:ext cx="21"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078" name="Rectangle 30"/>
            <p:cNvSpPr/>
            <p:nvPr/>
          </p:nvSpPr>
          <p:spPr>
            <a:xfrm>
              <a:off x="829" y="23"/>
              <a:ext cx="21"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079" name="Freeform 31"/>
            <p:cNvSpPr>
              <a:spLocks noEditPoints="1"/>
            </p:cNvSpPr>
            <p:nvPr/>
          </p:nvSpPr>
          <p:spPr>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0" name="Freeform 32"/>
            <p:cNvSpPr>
              <a:spLocks noEditPoints="1"/>
            </p:cNvSpPr>
            <p:nvPr/>
          </p:nvSpPr>
          <p:spPr>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1" name="Freeform 33"/>
            <p:cNvSpPr>
              <a:spLocks noEditPoints="1"/>
            </p:cNvSpPr>
            <p:nvPr/>
          </p:nvSpPr>
          <p:spPr>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2" name="Freeform 34"/>
            <p:cNvSpPr>
              <a:spLocks noEditPoints="1"/>
            </p:cNvSpPr>
            <p:nvPr/>
          </p:nvSpPr>
          <p:spPr>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3" name="Freeform 35"/>
            <p:cNvSpPr>
              <a:spLocks noEditPoints="1"/>
            </p:cNvSpPr>
            <p:nvPr/>
          </p:nvSpPr>
          <p:spPr>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4" name="Freeform 36"/>
            <p:cNvSpPr>
              <a:spLocks noEditPoints="1"/>
            </p:cNvSpPr>
            <p:nvPr/>
          </p:nvSpPr>
          <p:spPr>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5" name="Freeform 37"/>
            <p:cNvSpPr>
              <a:spLocks noEditPoints="1"/>
            </p:cNvSpPr>
            <p:nvPr/>
          </p:nvSpPr>
          <p:spPr>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6" name="Freeform 38"/>
            <p:cNvSpPr>
              <a:spLocks noEditPoints="1"/>
            </p:cNvSpPr>
            <p:nvPr/>
          </p:nvSpPr>
          <p:spPr>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7" name="Freeform 39"/>
            <p:cNvSpPr>
              <a:spLocks noEditPoints="1"/>
            </p:cNvSpPr>
            <p:nvPr/>
          </p:nvSpPr>
          <p:spPr>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8" name="Freeform 40"/>
            <p:cNvSpPr>
              <a:spLocks noEditPoints="1"/>
            </p:cNvSpPr>
            <p:nvPr/>
          </p:nvSpPr>
          <p:spPr>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89" name="Rectangle 41"/>
            <p:cNvSpPr/>
            <p:nvPr/>
          </p:nvSpPr>
          <p:spPr>
            <a:xfrm>
              <a:off x="829" y="4269"/>
              <a:ext cx="21"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090" name="Rectangle 42"/>
            <p:cNvSpPr/>
            <p:nvPr/>
          </p:nvSpPr>
          <p:spPr>
            <a:xfrm>
              <a:off x="1279" y="23"/>
              <a:ext cx="21"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091" name="Freeform 43"/>
            <p:cNvSpPr>
              <a:spLocks noEditPoints="1"/>
            </p:cNvSpPr>
            <p:nvPr/>
          </p:nvSpPr>
          <p:spPr>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2" name="Freeform 44"/>
            <p:cNvSpPr>
              <a:spLocks noEditPoints="1"/>
            </p:cNvSpPr>
            <p:nvPr/>
          </p:nvSpPr>
          <p:spPr>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3" name="Freeform 45"/>
            <p:cNvSpPr>
              <a:spLocks noEditPoints="1"/>
            </p:cNvSpPr>
            <p:nvPr/>
          </p:nvSpPr>
          <p:spPr>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4" name="Freeform 46"/>
            <p:cNvSpPr>
              <a:spLocks noEditPoints="1"/>
            </p:cNvSpPr>
            <p:nvPr/>
          </p:nvSpPr>
          <p:spPr>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5" name="Freeform 47"/>
            <p:cNvSpPr>
              <a:spLocks noEditPoints="1"/>
            </p:cNvSpPr>
            <p:nvPr/>
          </p:nvSpPr>
          <p:spPr>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6" name="Freeform 48"/>
            <p:cNvSpPr>
              <a:spLocks noEditPoints="1"/>
            </p:cNvSpPr>
            <p:nvPr/>
          </p:nvSpPr>
          <p:spPr>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7" name="Freeform 49"/>
            <p:cNvSpPr>
              <a:spLocks noEditPoints="1"/>
            </p:cNvSpPr>
            <p:nvPr/>
          </p:nvSpPr>
          <p:spPr>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8" name="Freeform 50"/>
            <p:cNvSpPr>
              <a:spLocks noEditPoints="1"/>
            </p:cNvSpPr>
            <p:nvPr/>
          </p:nvSpPr>
          <p:spPr>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099" name="Freeform 51"/>
            <p:cNvSpPr>
              <a:spLocks noEditPoints="1"/>
            </p:cNvSpPr>
            <p:nvPr/>
          </p:nvSpPr>
          <p:spPr>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0" name="Freeform 52"/>
            <p:cNvSpPr>
              <a:spLocks noEditPoints="1"/>
            </p:cNvSpPr>
            <p:nvPr/>
          </p:nvSpPr>
          <p:spPr>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1" name="Rectangle 53"/>
            <p:cNvSpPr/>
            <p:nvPr/>
          </p:nvSpPr>
          <p:spPr>
            <a:xfrm>
              <a:off x="1279" y="4269"/>
              <a:ext cx="21"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02" name="Rectangle 54"/>
            <p:cNvSpPr/>
            <p:nvPr/>
          </p:nvSpPr>
          <p:spPr>
            <a:xfrm>
              <a:off x="1724" y="23"/>
              <a:ext cx="21"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03" name="Freeform 55"/>
            <p:cNvSpPr>
              <a:spLocks noEditPoints="1"/>
            </p:cNvSpPr>
            <p:nvPr/>
          </p:nvSpPr>
          <p:spPr>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4" name="Freeform 56"/>
            <p:cNvSpPr>
              <a:spLocks noEditPoints="1"/>
            </p:cNvSpPr>
            <p:nvPr/>
          </p:nvSpPr>
          <p:spPr>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5" name="Freeform 57"/>
            <p:cNvSpPr>
              <a:spLocks noEditPoints="1"/>
            </p:cNvSpPr>
            <p:nvPr/>
          </p:nvSpPr>
          <p:spPr>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6" name="Freeform 58"/>
            <p:cNvSpPr>
              <a:spLocks noEditPoints="1"/>
            </p:cNvSpPr>
            <p:nvPr/>
          </p:nvSpPr>
          <p:spPr>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7" name="Freeform 59"/>
            <p:cNvSpPr>
              <a:spLocks noEditPoints="1"/>
            </p:cNvSpPr>
            <p:nvPr/>
          </p:nvSpPr>
          <p:spPr>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8" name="Freeform 60"/>
            <p:cNvSpPr>
              <a:spLocks noEditPoints="1"/>
            </p:cNvSpPr>
            <p:nvPr/>
          </p:nvSpPr>
          <p:spPr>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09" name="Freeform 61"/>
            <p:cNvSpPr>
              <a:spLocks noEditPoints="1"/>
            </p:cNvSpPr>
            <p:nvPr/>
          </p:nvSpPr>
          <p:spPr>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0" name="Freeform 62"/>
            <p:cNvSpPr>
              <a:spLocks noEditPoints="1"/>
            </p:cNvSpPr>
            <p:nvPr/>
          </p:nvSpPr>
          <p:spPr>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1" name="Freeform 63"/>
            <p:cNvSpPr>
              <a:spLocks noEditPoints="1"/>
            </p:cNvSpPr>
            <p:nvPr/>
          </p:nvSpPr>
          <p:spPr>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2" name="Freeform 64"/>
            <p:cNvSpPr>
              <a:spLocks noEditPoints="1"/>
            </p:cNvSpPr>
            <p:nvPr/>
          </p:nvSpPr>
          <p:spPr>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3" name="Rectangle 65"/>
            <p:cNvSpPr/>
            <p:nvPr/>
          </p:nvSpPr>
          <p:spPr>
            <a:xfrm>
              <a:off x="1724" y="4269"/>
              <a:ext cx="21"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14" name="Rectangle 66"/>
            <p:cNvSpPr/>
            <p:nvPr/>
          </p:nvSpPr>
          <p:spPr>
            <a:xfrm>
              <a:off x="2169" y="23"/>
              <a:ext cx="21"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15" name="Freeform 67"/>
            <p:cNvSpPr>
              <a:spLocks noEditPoints="1"/>
            </p:cNvSpPr>
            <p:nvPr/>
          </p:nvSpPr>
          <p:spPr>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6" name="Freeform 68"/>
            <p:cNvSpPr>
              <a:spLocks noEditPoints="1"/>
            </p:cNvSpPr>
            <p:nvPr/>
          </p:nvSpPr>
          <p:spPr>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7" name="Freeform 69"/>
            <p:cNvSpPr>
              <a:spLocks noEditPoints="1"/>
            </p:cNvSpPr>
            <p:nvPr/>
          </p:nvSpPr>
          <p:spPr>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8" name="Freeform 70"/>
            <p:cNvSpPr>
              <a:spLocks noEditPoints="1"/>
            </p:cNvSpPr>
            <p:nvPr/>
          </p:nvSpPr>
          <p:spPr>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19" name="Freeform 71"/>
            <p:cNvSpPr>
              <a:spLocks noEditPoints="1"/>
            </p:cNvSpPr>
            <p:nvPr/>
          </p:nvSpPr>
          <p:spPr>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0" name="Freeform 72"/>
            <p:cNvSpPr>
              <a:spLocks noEditPoints="1"/>
            </p:cNvSpPr>
            <p:nvPr/>
          </p:nvSpPr>
          <p:spPr>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1" name="Freeform 73"/>
            <p:cNvSpPr>
              <a:spLocks noEditPoints="1"/>
            </p:cNvSpPr>
            <p:nvPr/>
          </p:nvSpPr>
          <p:spPr>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2" name="Freeform 74"/>
            <p:cNvSpPr>
              <a:spLocks noEditPoints="1"/>
            </p:cNvSpPr>
            <p:nvPr/>
          </p:nvSpPr>
          <p:spPr>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3" name="Freeform 75"/>
            <p:cNvSpPr>
              <a:spLocks noEditPoints="1"/>
            </p:cNvSpPr>
            <p:nvPr/>
          </p:nvSpPr>
          <p:spPr>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4" name="Freeform 76"/>
            <p:cNvSpPr>
              <a:spLocks noEditPoints="1"/>
            </p:cNvSpPr>
            <p:nvPr/>
          </p:nvSpPr>
          <p:spPr>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5" name="Rectangle 77"/>
            <p:cNvSpPr/>
            <p:nvPr/>
          </p:nvSpPr>
          <p:spPr>
            <a:xfrm>
              <a:off x="2169" y="4269"/>
              <a:ext cx="21"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26" name="Rectangle 78"/>
            <p:cNvSpPr/>
            <p:nvPr/>
          </p:nvSpPr>
          <p:spPr>
            <a:xfrm>
              <a:off x="2620"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27" name="Freeform 79"/>
            <p:cNvSpPr>
              <a:spLocks noEditPoints="1"/>
            </p:cNvSpPr>
            <p:nvPr/>
          </p:nvSpPr>
          <p:spPr>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8" name="Freeform 80"/>
            <p:cNvSpPr>
              <a:spLocks noEditPoints="1"/>
            </p:cNvSpPr>
            <p:nvPr/>
          </p:nvSpPr>
          <p:spPr>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29" name="Freeform 81"/>
            <p:cNvSpPr>
              <a:spLocks noEditPoints="1"/>
            </p:cNvSpPr>
            <p:nvPr/>
          </p:nvSpPr>
          <p:spPr>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0" name="Freeform 82"/>
            <p:cNvSpPr>
              <a:spLocks noEditPoints="1"/>
            </p:cNvSpPr>
            <p:nvPr/>
          </p:nvSpPr>
          <p:spPr>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1" name="Freeform 83"/>
            <p:cNvSpPr>
              <a:spLocks noEditPoints="1"/>
            </p:cNvSpPr>
            <p:nvPr/>
          </p:nvSpPr>
          <p:spPr>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2" name="Freeform 84"/>
            <p:cNvSpPr>
              <a:spLocks noEditPoints="1"/>
            </p:cNvSpPr>
            <p:nvPr/>
          </p:nvSpPr>
          <p:spPr>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3" name="Freeform 85"/>
            <p:cNvSpPr>
              <a:spLocks noEditPoints="1"/>
            </p:cNvSpPr>
            <p:nvPr/>
          </p:nvSpPr>
          <p:spPr>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4" name="Freeform 86"/>
            <p:cNvSpPr>
              <a:spLocks noEditPoints="1"/>
            </p:cNvSpPr>
            <p:nvPr/>
          </p:nvSpPr>
          <p:spPr>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5" name="Freeform 87"/>
            <p:cNvSpPr>
              <a:spLocks noEditPoints="1"/>
            </p:cNvSpPr>
            <p:nvPr/>
          </p:nvSpPr>
          <p:spPr>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6" name="Freeform 88"/>
            <p:cNvSpPr>
              <a:spLocks noEditPoints="1"/>
            </p:cNvSpPr>
            <p:nvPr/>
          </p:nvSpPr>
          <p:spPr>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37" name="Rectangle 89"/>
            <p:cNvSpPr/>
            <p:nvPr/>
          </p:nvSpPr>
          <p:spPr>
            <a:xfrm>
              <a:off x="2620"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38" name="Rectangle 90"/>
            <p:cNvSpPr/>
            <p:nvPr/>
          </p:nvSpPr>
          <p:spPr>
            <a:xfrm>
              <a:off x="3065"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39" name="Freeform 91"/>
            <p:cNvSpPr>
              <a:spLocks noEditPoints="1"/>
            </p:cNvSpPr>
            <p:nvPr/>
          </p:nvSpPr>
          <p:spPr>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0" name="Freeform 92"/>
            <p:cNvSpPr>
              <a:spLocks noEditPoints="1"/>
            </p:cNvSpPr>
            <p:nvPr/>
          </p:nvSpPr>
          <p:spPr>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1" name="Freeform 93"/>
            <p:cNvSpPr>
              <a:spLocks noEditPoints="1"/>
            </p:cNvSpPr>
            <p:nvPr/>
          </p:nvSpPr>
          <p:spPr>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2" name="Freeform 94"/>
            <p:cNvSpPr>
              <a:spLocks noEditPoints="1"/>
            </p:cNvSpPr>
            <p:nvPr/>
          </p:nvSpPr>
          <p:spPr>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3" name="Freeform 95"/>
            <p:cNvSpPr>
              <a:spLocks noEditPoints="1"/>
            </p:cNvSpPr>
            <p:nvPr/>
          </p:nvSpPr>
          <p:spPr>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4" name="Freeform 96"/>
            <p:cNvSpPr>
              <a:spLocks noEditPoints="1"/>
            </p:cNvSpPr>
            <p:nvPr/>
          </p:nvSpPr>
          <p:spPr>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5" name="Freeform 97"/>
            <p:cNvSpPr>
              <a:spLocks noEditPoints="1"/>
            </p:cNvSpPr>
            <p:nvPr/>
          </p:nvSpPr>
          <p:spPr>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6" name="Freeform 98"/>
            <p:cNvSpPr>
              <a:spLocks noEditPoints="1"/>
            </p:cNvSpPr>
            <p:nvPr/>
          </p:nvSpPr>
          <p:spPr>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7" name="Freeform 99"/>
            <p:cNvSpPr>
              <a:spLocks noEditPoints="1"/>
            </p:cNvSpPr>
            <p:nvPr/>
          </p:nvSpPr>
          <p:spPr>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8" name="Freeform 100"/>
            <p:cNvSpPr>
              <a:spLocks noEditPoints="1"/>
            </p:cNvSpPr>
            <p:nvPr/>
          </p:nvSpPr>
          <p:spPr>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49" name="Rectangle 101"/>
            <p:cNvSpPr/>
            <p:nvPr/>
          </p:nvSpPr>
          <p:spPr>
            <a:xfrm>
              <a:off x="3065"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50" name="Rectangle 102"/>
            <p:cNvSpPr/>
            <p:nvPr/>
          </p:nvSpPr>
          <p:spPr>
            <a:xfrm>
              <a:off x="3510"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51" name="Freeform 103"/>
            <p:cNvSpPr>
              <a:spLocks noEditPoints="1"/>
            </p:cNvSpPr>
            <p:nvPr/>
          </p:nvSpPr>
          <p:spPr>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2" name="Freeform 104"/>
            <p:cNvSpPr>
              <a:spLocks noEditPoints="1"/>
            </p:cNvSpPr>
            <p:nvPr/>
          </p:nvSpPr>
          <p:spPr>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3" name="Freeform 105"/>
            <p:cNvSpPr>
              <a:spLocks noEditPoints="1"/>
            </p:cNvSpPr>
            <p:nvPr/>
          </p:nvSpPr>
          <p:spPr>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4" name="Freeform 106"/>
            <p:cNvSpPr>
              <a:spLocks noEditPoints="1"/>
            </p:cNvSpPr>
            <p:nvPr/>
          </p:nvSpPr>
          <p:spPr>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5" name="Freeform 107"/>
            <p:cNvSpPr>
              <a:spLocks noEditPoints="1"/>
            </p:cNvSpPr>
            <p:nvPr/>
          </p:nvSpPr>
          <p:spPr>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6" name="Freeform 108"/>
            <p:cNvSpPr>
              <a:spLocks noEditPoints="1"/>
            </p:cNvSpPr>
            <p:nvPr/>
          </p:nvSpPr>
          <p:spPr>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7" name="Freeform 109"/>
            <p:cNvSpPr>
              <a:spLocks noEditPoints="1"/>
            </p:cNvSpPr>
            <p:nvPr/>
          </p:nvSpPr>
          <p:spPr>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8" name="Freeform 110"/>
            <p:cNvSpPr>
              <a:spLocks noEditPoints="1"/>
            </p:cNvSpPr>
            <p:nvPr/>
          </p:nvSpPr>
          <p:spPr>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59" name="Freeform 111"/>
            <p:cNvSpPr>
              <a:spLocks noEditPoints="1"/>
            </p:cNvSpPr>
            <p:nvPr/>
          </p:nvSpPr>
          <p:spPr>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0" name="Freeform 112"/>
            <p:cNvSpPr>
              <a:spLocks noEditPoints="1"/>
            </p:cNvSpPr>
            <p:nvPr/>
          </p:nvSpPr>
          <p:spPr>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1" name="Rectangle 113"/>
            <p:cNvSpPr/>
            <p:nvPr/>
          </p:nvSpPr>
          <p:spPr>
            <a:xfrm>
              <a:off x="3510"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62" name="Rectangle 114"/>
            <p:cNvSpPr/>
            <p:nvPr/>
          </p:nvSpPr>
          <p:spPr>
            <a:xfrm>
              <a:off x="3960"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63" name="Freeform 115"/>
            <p:cNvSpPr>
              <a:spLocks noEditPoints="1"/>
            </p:cNvSpPr>
            <p:nvPr/>
          </p:nvSpPr>
          <p:spPr>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4" name="Freeform 116"/>
            <p:cNvSpPr>
              <a:spLocks noEditPoints="1"/>
            </p:cNvSpPr>
            <p:nvPr/>
          </p:nvSpPr>
          <p:spPr>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5" name="Freeform 117"/>
            <p:cNvSpPr>
              <a:spLocks noEditPoints="1"/>
            </p:cNvSpPr>
            <p:nvPr/>
          </p:nvSpPr>
          <p:spPr>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6" name="Freeform 118"/>
            <p:cNvSpPr>
              <a:spLocks noEditPoints="1"/>
            </p:cNvSpPr>
            <p:nvPr/>
          </p:nvSpPr>
          <p:spPr>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7" name="Freeform 119"/>
            <p:cNvSpPr>
              <a:spLocks noEditPoints="1"/>
            </p:cNvSpPr>
            <p:nvPr/>
          </p:nvSpPr>
          <p:spPr>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8" name="Freeform 120"/>
            <p:cNvSpPr>
              <a:spLocks noEditPoints="1"/>
            </p:cNvSpPr>
            <p:nvPr/>
          </p:nvSpPr>
          <p:spPr>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69" name="Freeform 121"/>
            <p:cNvSpPr>
              <a:spLocks noEditPoints="1"/>
            </p:cNvSpPr>
            <p:nvPr/>
          </p:nvSpPr>
          <p:spPr>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0" name="Freeform 122"/>
            <p:cNvSpPr>
              <a:spLocks noEditPoints="1"/>
            </p:cNvSpPr>
            <p:nvPr/>
          </p:nvSpPr>
          <p:spPr>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1" name="Freeform 123"/>
            <p:cNvSpPr>
              <a:spLocks noEditPoints="1"/>
            </p:cNvSpPr>
            <p:nvPr/>
          </p:nvSpPr>
          <p:spPr>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2" name="Freeform 124"/>
            <p:cNvSpPr>
              <a:spLocks noEditPoints="1"/>
            </p:cNvSpPr>
            <p:nvPr/>
          </p:nvSpPr>
          <p:spPr>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3" name="Rectangle 125"/>
            <p:cNvSpPr/>
            <p:nvPr/>
          </p:nvSpPr>
          <p:spPr>
            <a:xfrm>
              <a:off x="3960"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74" name="Rectangle 126"/>
            <p:cNvSpPr/>
            <p:nvPr/>
          </p:nvSpPr>
          <p:spPr>
            <a:xfrm>
              <a:off x="4405"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75" name="Freeform 127"/>
            <p:cNvSpPr>
              <a:spLocks noEditPoints="1"/>
            </p:cNvSpPr>
            <p:nvPr/>
          </p:nvSpPr>
          <p:spPr>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6" name="Freeform 128"/>
            <p:cNvSpPr>
              <a:spLocks noEditPoints="1"/>
            </p:cNvSpPr>
            <p:nvPr/>
          </p:nvSpPr>
          <p:spPr>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7" name="Freeform 129"/>
            <p:cNvSpPr>
              <a:spLocks noEditPoints="1"/>
            </p:cNvSpPr>
            <p:nvPr/>
          </p:nvSpPr>
          <p:spPr>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8" name="Freeform 130"/>
            <p:cNvSpPr>
              <a:spLocks noEditPoints="1"/>
            </p:cNvSpPr>
            <p:nvPr/>
          </p:nvSpPr>
          <p:spPr>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79" name="Freeform 131"/>
            <p:cNvSpPr>
              <a:spLocks noEditPoints="1"/>
            </p:cNvSpPr>
            <p:nvPr/>
          </p:nvSpPr>
          <p:spPr>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0" name="Freeform 132"/>
            <p:cNvSpPr>
              <a:spLocks noEditPoints="1"/>
            </p:cNvSpPr>
            <p:nvPr/>
          </p:nvSpPr>
          <p:spPr>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1" name="Freeform 133"/>
            <p:cNvSpPr>
              <a:spLocks noEditPoints="1"/>
            </p:cNvSpPr>
            <p:nvPr/>
          </p:nvSpPr>
          <p:spPr>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2" name="Freeform 134"/>
            <p:cNvSpPr>
              <a:spLocks noEditPoints="1"/>
            </p:cNvSpPr>
            <p:nvPr/>
          </p:nvSpPr>
          <p:spPr>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3" name="Freeform 135"/>
            <p:cNvSpPr>
              <a:spLocks noEditPoints="1"/>
            </p:cNvSpPr>
            <p:nvPr/>
          </p:nvSpPr>
          <p:spPr>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4" name="Freeform 136"/>
            <p:cNvSpPr>
              <a:spLocks noEditPoints="1"/>
            </p:cNvSpPr>
            <p:nvPr/>
          </p:nvSpPr>
          <p:spPr>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5" name="Rectangle 137"/>
            <p:cNvSpPr/>
            <p:nvPr/>
          </p:nvSpPr>
          <p:spPr>
            <a:xfrm>
              <a:off x="4405"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86" name="Rectangle 138"/>
            <p:cNvSpPr/>
            <p:nvPr/>
          </p:nvSpPr>
          <p:spPr>
            <a:xfrm>
              <a:off x="4850"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87" name="Freeform 139"/>
            <p:cNvSpPr>
              <a:spLocks noEditPoints="1"/>
            </p:cNvSpPr>
            <p:nvPr/>
          </p:nvSpPr>
          <p:spPr>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8" name="Freeform 140"/>
            <p:cNvSpPr>
              <a:spLocks noEditPoints="1"/>
            </p:cNvSpPr>
            <p:nvPr/>
          </p:nvSpPr>
          <p:spPr>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89" name="Freeform 141"/>
            <p:cNvSpPr>
              <a:spLocks noEditPoints="1"/>
            </p:cNvSpPr>
            <p:nvPr/>
          </p:nvSpPr>
          <p:spPr>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0" name="Freeform 142"/>
            <p:cNvSpPr>
              <a:spLocks noEditPoints="1"/>
            </p:cNvSpPr>
            <p:nvPr/>
          </p:nvSpPr>
          <p:spPr>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1" name="Freeform 143"/>
            <p:cNvSpPr>
              <a:spLocks noEditPoints="1"/>
            </p:cNvSpPr>
            <p:nvPr/>
          </p:nvSpPr>
          <p:spPr>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2" name="Freeform 144"/>
            <p:cNvSpPr>
              <a:spLocks noEditPoints="1"/>
            </p:cNvSpPr>
            <p:nvPr/>
          </p:nvSpPr>
          <p:spPr>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3" name="Freeform 145"/>
            <p:cNvSpPr>
              <a:spLocks noEditPoints="1"/>
            </p:cNvSpPr>
            <p:nvPr/>
          </p:nvSpPr>
          <p:spPr>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4" name="Freeform 146"/>
            <p:cNvSpPr>
              <a:spLocks noEditPoints="1"/>
            </p:cNvSpPr>
            <p:nvPr/>
          </p:nvSpPr>
          <p:spPr>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5" name="Freeform 147"/>
            <p:cNvSpPr>
              <a:spLocks noEditPoints="1"/>
            </p:cNvSpPr>
            <p:nvPr/>
          </p:nvSpPr>
          <p:spPr>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6" name="Freeform 148"/>
            <p:cNvSpPr>
              <a:spLocks noEditPoints="1"/>
            </p:cNvSpPr>
            <p:nvPr/>
          </p:nvSpPr>
          <p:spPr>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197" name="Rectangle 149"/>
            <p:cNvSpPr/>
            <p:nvPr/>
          </p:nvSpPr>
          <p:spPr>
            <a:xfrm>
              <a:off x="4850"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98" name="Rectangle 150"/>
            <p:cNvSpPr/>
            <p:nvPr/>
          </p:nvSpPr>
          <p:spPr>
            <a:xfrm>
              <a:off x="5300" y="23"/>
              <a:ext cx="20" cy="10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199" name="Freeform 151"/>
            <p:cNvSpPr>
              <a:spLocks noEditPoints="1"/>
            </p:cNvSpPr>
            <p:nvPr/>
          </p:nvSpPr>
          <p:spPr>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0" name="Freeform 152"/>
            <p:cNvSpPr>
              <a:spLocks noEditPoints="1"/>
            </p:cNvSpPr>
            <p:nvPr/>
          </p:nvSpPr>
          <p:spPr>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1" name="Freeform 153"/>
            <p:cNvSpPr>
              <a:spLocks noEditPoints="1"/>
            </p:cNvSpPr>
            <p:nvPr/>
          </p:nvSpPr>
          <p:spPr>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2" name="Freeform 154"/>
            <p:cNvSpPr>
              <a:spLocks noEditPoints="1"/>
            </p:cNvSpPr>
            <p:nvPr/>
          </p:nvSpPr>
          <p:spPr>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3" name="Freeform 155"/>
            <p:cNvSpPr>
              <a:spLocks noEditPoints="1"/>
            </p:cNvSpPr>
            <p:nvPr/>
          </p:nvSpPr>
          <p:spPr>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4" name="Freeform 156"/>
            <p:cNvSpPr>
              <a:spLocks noEditPoints="1"/>
            </p:cNvSpPr>
            <p:nvPr/>
          </p:nvSpPr>
          <p:spPr>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5" name="Freeform 157"/>
            <p:cNvSpPr>
              <a:spLocks noEditPoints="1"/>
            </p:cNvSpPr>
            <p:nvPr/>
          </p:nvSpPr>
          <p:spPr>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6" name="Freeform 158"/>
            <p:cNvSpPr>
              <a:spLocks noEditPoints="1"/>
            </p:cNvSpPr>
            <p:nvPr/>
          </p:nvSpPr>
          <p:spPr>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7" name="Freeform 159"/>
            <p:cNvSpPr>
              <a:spLocks noEditPoints="1"/>
            </p:cNvSpPr>
            <p:nvPr/>
          </p:nvSpPr>
          <p:spPr>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8" name="Freeform 160"/>
            <p:cNvSpPr>
              <a:spLocks noEditPoints="1"/>
            </p:cNvSpPr>
            <p:nvPr/>
          </p:nvSpPr>
          <p:spPr>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lstStyle/>
            <a:p>
              <a:endParaRPr lang="zh-CN" altLang="en-US"/>
            </a:p>
          </p:txBody>
        </p:sp>
        <p:sp>
          <p:nvSpPr>
            <p:cNvPr id="2209" name="Rectangle 161"/>
            <p:cNvSpPr/>
            <p:nvPr/>
          </p:nvSpPr>
          <p:spPr>
            <a:xfrm>
              <a:off x="5300" y="4269"/>
              <a:ext cx="20" cy="51"/>
            </a:xfrm>
            <a:prstGeom prst="rect">
              <a:avLst/>
            </a:prstGeom>
            <a:solidFill>
              <a:schemeClr val="bg2">
                <a:alpha val="50195"/>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2210" name="Freeform 162"/>
            <p:cNvSpPr/>
            <p:nvPr/>
          </p:nvSpPr>
          <p:spPr>
            <a:xfrm>
              <a:off x="349" y="3304"/>
              <a:ext cx="20" cy="10"/>
            </a:xfrm>
            <a:custGeom>
              <a:avLst/>
              <a:gdLst/>
              <a:ahLst/>
              <a:cxnLst>
                <a:cxn ang="0">
                  <a:pos x="0" y="1"/>
                </a:cxn>
                <a:cxn ang="0">
                  <a:pos x="0" y="1"/>
                </a:cxn>
              </a:cxnLst>
              <a:rect l="0" t="0" r="0" b="0"/>
              <a:pathLst>
                <a:path w="4" h="2">
                  <a:moveTo>
                    <a:pt x="0" y="1"/>
                  </a:moveTo>
                  <a:cubicBezTo>
                    <a:pt x="1" y="2"/>
                    <a:pt x="4" y="0"/>
                    <a:pt x="0" y="1"/>
                  </a:cubicBezTo>
                  <a:close/>
                </a:path>
              </a:pathLst>
            </a:custGeom>
            <a:solidFill>
              <a:schemeClr val="bg2">
                <a:alpha val="50195"/>
              </a:schemeClr>
            </a:solidFill>
            <a:ln w="0">
              <a:noFill/>
            </a:ln>
          </p:spPr>
          <p:txBody>
            <a:bodyPr/>
            <a:lstStyle/>
            <a:p>
              <a:endParaRPr lang="zh-CN" altLang="en-US"/>
            </a:p>
          </p:txBody>
        </p:sp>
      </p:grpSp>
      <p:grpSp>
        <p:nvGrpSpPr>
          <p:cNvPr id="2211" name="Group 168"/>
          <p:cNvGrpSpPr/>
          <p:nvPr/>
        </p:nvGrpSpPr>
        <p:grpSpPr>
          <a:xfrm>
            <a:off x="152400" y="4724400"/>
            <a:ext cx="1685925" cy="1557338"/>
            <a:chOff x="96" y="2784"/>
            <a:chExt cx="1062" cy="981"/>
          </a:xfrm>
        </p:grpSpPr>
        <p:sp>
          <p:nvSpPr>
            <p:cNvPr id="2212" name="Freeform 169"/>
            <p:cNvSpPr/>
            <p:nvPr/>
          </p:nvSpPr>
          <p:spPr>
            <a:xfrm>
              <a:off x="121" y="2784"/>
              <a:ext cx="207" cy="81"/>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w="0">
              <a:noFill/>
            </a:ln>
          </p:spPr>
          <p:txBody>
            <a:bodyPr/>
            <a:lstStyle/>
            <a:p>
              <a:endParaRPr lang="zh-CN" altLang="en-US"/>
            </a:p>
          </p:txBody>
        </p:sp>
        <p:sp>
          <p:nvSpPr>
            <p:cNvPr id="2213" name="Freeform 170"/>
            <p:cNvSpPr>
              <a:spLocks noEditPoints="1"/>
            </p:cNvSpPr>
            <p:nvPr/>
          </p:nvSpPr>
          <p:spPr>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w="0">
              <a:noFill/>
            </a:ln>
          </p:spPr>
          <p:txBody>
            <a:bodyPr/>
            <a:lstStyle/>
            <a:p>
              <a:endParaRPr lang="zh-CN" altLang="en-US"/>
            </a:p>
          </p:txBody>
        </p:sp>
        <p:sp>
          <p:nvSpPr>
            <p:cNvPr id="2214" name="Freeform 171"/>
            <p:cNvSpPr/>
            <p:nvPr/>
          </p:nvSpPr>
          <p:spPr>
            <a:xfrm>
              <a:off x="348" y="3254"/>
              <a:ext cx="86" cy="102"/>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folHlink"/>
            </a:solidFill>
            <a:ln w="0">
              <a:noFill/>
            </a:ln>
          </p:spPr>
          <p:txBody>
            <a:bodyPr/>
            <a:lstStyle/>
            <a:p>
              <a:endParaRPr lang="zh-CN" altLang="en-US"/>
            </a:p>
          </p:txBody>
        </p:sp>
        <p:sp>
          <p:nvSpPr>
            <p:cNvPr id="2215" name="Freeform 172"/>
            <p:cNvSpPr/>
            <p:nvPr/>
          </p:nvSpPr>
          <p:spPr>
            <a:xfrm>
              <a:off x="267" y="3295"/>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w="0">
              <a:noFill/>
            </a:ln>
          </p:spPr>
          <p:txBody>
            <a:bodyPr/>
            <a:lstStyle/>
            <a:p>
              <a:endParaRPr lang="zh-CN" altLang="en-US"/>
            </a:p>
          </p:txBody>
        </p:sp>
        <p:sp>
          <p:nvSpPr>
            <p:cNvPr id="2216" name="Freeform 173"/>
            <p:cNvSpPr/>
            <p:nvPr/>
          </p:nvSpPr>
          <p:spPr>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w="0">
              <a:noFill/>
            </a:ln>
          </p:spPr>
          <p:txBody>
            <a:bodyPr/>
            <a:lstStyle/>
            <a:p>
              <a:endParaRPr lang="zh-CN" altLang="en-US"/>
            </a:p>
          </p:txBody>
        </p:sp>
        <p:sp>
          <p:nvSpPr>
            <p:cNvPr id="2217" name="Freeform 174"/>
            <p:cNvSpPr/>
            <p:nvPr/>
          </p:nvSpPr>
          <p:spPr>
            <a:xfrm>
              <a:off x="500" y="3345"/>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w="0">
              <a:noFill/>
            </a:ln>
          </p:spPr>
          <p:txBody>
            <a:bodyPr/>
            <a:lstStyle/>
            <a:p>
              <a:endParaRPr lang="zh-CN" altLang="en-US"/>
            </a:p>
          </p:txBody>
        </p:sp>
        <p:sp>
          <p:nvSpPr>
            <p:cNvPr id="2218" name="Freeform 175"/>
            <p:cNvSpPr/>
            <p:nvPr/>
          </p:nvSpPr>
          <p:spPr>
            <a:xfrm>
              <a:off x="905" y="3158"/>
              <a:ext cx="177" cy="36"/>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folHlink"/>
            </a:solidFill>
            <a:ln w="0">
              <a:noFill/>
            </a:ln>
          </p:spPr>
          <p:txBody>
            <a:bodyPr/>
            <a:lstStyle/>
            <a:p>
              <a:endParaRPr lang="zh-CN" altLang="en-US"/>
            </a:p>
          </p:txBody>
        </p:sp>
        <p:sp>
          <p:nvSpPr>
            <p:cNvPr id="2219" name="Freeform 176"/>
            <p:cNvSpPr/>
            <p:nvPr/>
          </p:nvSpPr>
          <p:spPr>
            <a:xfrm>
              <a:off x="965" y="3153"/>
              <a:ext cx="137" cy="81"/>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w="0">
              <a:noFill/>
            </a:ln>
          </p:spPr>
          <p:txBody>
            <a:bodyPr/>
            <a:lstStyle/>
            <a:p>
              <a:endParaRPr lang="zh-CN" altLang="en-US"/>
            </a:p>
          </p:txBody>
        </p:sp>
        <p:sp>
          <p:nvSpPr>
            <p:cNvPr id="2220" name="Freeform 177"/>
            <p:cNvSpPr/>
            <p:nvPr/>
          </p:nvSpPr>
          <p:spPr>
            <a:xfrm>
              <a:off x="960" y="3204"/>
              <a:ext cx="177" cy="86"/>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w="0">
              <a:noFill/>
            </a:ln>
          </p:spPr>
          <p:txBody>
            <a:bodyPr/>
            <a:lstStyle/>
            <a:p>
              <a:endParaRPr lang="zh-CN" altLang="en-US"/>
            </a:p>
          </p:txBody>
        </p:sp>
        <p:sp>
          <p:nvSpPr>
            <p:cNvPr id="2221" name="Freeform 178"/>
            <p:cNvSpPr/>
            <p:nvPr/>
          </p:nvSpPr>
          <p:spPr>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w="0">
              <a:noFill/>
            </a:ln>
          </p:spPr>
          <p:txBody>
            <a:bodyPr/>
            <a:lstStyle/>
            <a:p>
              <a:endParaRPr lang="zh-CN" altLang="en-US"/>
            </a:p>
          </p:txBody>
        </p:sp>
        <p:sp>
          <p:nvSpPr>
            <p:cNvPr id="2222" name="Freeform 179"/>
            <p:cNvSpPr/>
            <p:nvPr/>
          </p:nvSpPr>
          <p:spPr>
            <a:xfrm>
              <a:off x="869" y="3340"/>
              <a:ext cx="203" cy="56"/>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w="0">
              <a:noFill/>
            </a:ln>
          </p:spPr>
          <p:txBody>
            <a:bodyPr/>
            <a:lstStyle/>
            <a:p>
              <a:endParaRPr lang="zh-CN" altLang="en-US"/>
            </a:p>
          </p:txBody>
        </p:sp>
        <p:sp>
          <p:nvSpPr>
            <p:cNvPr id="2223" name="Freeform 180"/>
            <p:cNvSpPr/>
            <p:nvPr/>
          </p:nvSpPr>
          <p:spPr>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w="0">
              <a:noFill/>
            </a:ln>
          </p:spPr>
          <p:txBody>
            <a:bodyPr/>
            <a:lstStyle/>
            <a:p>
              <a:endParaRPr lang="zh-CN" altLang="en-US"/>
            </a:p>
          </p:txBody>
        </p:sp>
        <p:sp>
          <p:nvSpPr>
            <p:cNvPr id="2224" name="Freeform 181"/>
            <p:cNvSpPr/>
            <p:nvPr/>
          </p:nvSpPr>
          <p:spPr>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w="0">
              <a:noFill/>
            </a:ln>
          </p:spPr>
          <p:txBody>
            <a:bodyPr/>
            <a:lstStyle/>
            <a:p>
              <a:endParaRPr lang="zh-CN" altLang="en-US"/>
            </a:p>
          </p:txBody>
        </p:sp>
      </p:grpSp>
      <p:sp>
        <p:nvSpPr>
          <p:cNvPr id="40099" name="Rectangle 163"/>
          <p:cNvSpPr>
            <a:spLocks noGrp="1" noRot="1" noChangeArrowheads="1"/>
          </p:cNvSpPr>
          <p:nvPr>
            <p:ph type="ctrTitle"/>
          </p:nvPr>
        </p:nvSpPr>
        <p:spPr>
          <a:xfrm>
            <a:off x="685800" y="2057400"/>
            <a:ext cx="7772400" cy="1143000"/>
          </a:xfrm>
        </p:spPr>
        <p:txBody>
          <a:bodyPr/>
          <a:lstStyle>
            <a:lvl1pPr>
              <a:defRPr/>
            </a:lvl1pPr>
          </a:lstStyle>
          <a:p>
            <a:pPr fontAlgn="base"/>
            <a:r>
              <a:rPr lang="zh-CN" altLang="en-US" strike="noStrike" noProof="1"/>
              <a:t>单击此处编辑母版标题样式</a:t>
            </a:r>
          </a:p>
        </p:txBody>
      </p:sp>
      <p:sp>
        <p:nvSpPr>
          <p:cNvPr id="40103" name="Rectangle 167"/>
          <p:cNvSpPr>
            <a:spLocks noGrp="1" noRot="1" noChangeArrowheads="1"/>
          </p:cNvSpPr>
          <p:nvPr>
            <p:ph type="subTitle" idx="1"/>
          </p:nvPr>
        </p:nvSpPr>
        <p:spPr>
          <a:xfrm>
            <a:off x="1371600" y="3505200"/>
            <a:ext cx="6400800" cy="1752600"/>
          </a:xfrm>
        </p:spPr>
        <p:txBody>
          <a:bodyPr/>
          <a:lstStyle>
            <a:lvl1pPr marL="0" indent="0" algn="ctr">
              <a:buFont typeface="Wingdings" panose="05000000000000000000" pitchFamily="2" charset="2"/>
              <a:buNone/>
              <a:defRPr/>
            </a:lvl1pPr>
          </a:lstStyle>
          <a:p>
            <a:pPr fontAlgn="base"/>
            <a:r>
              <a:rPr lang="zh-CN" altLang="en-US" strike="noStrike" noProof="1"/>
              <a:t>单击此处编辑母版副标题样式</a:t>
            </a:r>
          </a:p>
        </p:txBody>
      </p:sp>
      <p:sp>
        <p:nvSpPr>
          <p:cNvPr id="428" name="Rectangle 164"/>
          <p:cNvSpPr>
            <a:spLocks noGrp="1" noChangeArrowheads="1"/>
          </p:cNvSpPr>
          <p:nvPr>
            <p:ph type="dt" sz="half" idx="2"/>
          </p:nvPr>
        </p:nvSpPr>
        <p:spPr bwMode="auto">
          <a:xfrm>
            <a:off x="301625" y="6248400"/>
            <a:ext cx="2289175"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9" name="Rectangle 165"/>
          <p:cNvSpPr>
            <a:spLocks noGrp="1" noChangeArrowheads="1"/>
          </p:cNvSpPr>
          <p:nvPr>
            <p:ph type="ftr" sz="quarter" idx="3"/>
          </p:nvPr>
        </p:nvSpPr>
        <p:spPr bwMode="auto">
          <a:xfrm>
            <a:off x="3124200" y="6248400"/>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0" name="Rectangle 166"/>
          <p:cNvSpPr>
            <a:spLocks noGrp="1" noChangeArrowheads="1"/>
          </p:cNvSpPr>
          <p:nvPr>
            <p:ph type="sldNum" sz="quarter" idx="4"/>
          </p:nvPr>
        </p:nvSpPr>
        <p:spPr bwMode="auto">
          <a:xfrm>
            <a:off x="6553200" y="6248400"/>
            <a:ext cx="2289175"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135764-36BE-4128-A346-F64E43A5169A}"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298450" y="228600"/>
            <a:ext cx="6253163" cy="587057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xAndObj">
  <p:cSld name="标题，文本与内容">
    <p:bg>
      <p:bgPr>
        <a:solidFill>
          <a:schemeClr val="bg1"/>
        </a:solidFill>
        <a:effectLst/>
      </p:bgPr>
    </p:bg>
    <p:spTree>
      <p:nvGrpSpPr>
        <p:cNvPr id="1" name=""/>
        <p:cNvGrpSpPr/>
        <p:nvPr/>
      </p:nvGrpSpPr>
      <p:grpSpPr>
        <a:xfrm>
          <a:off x="0" y="0"/>
          <a:ext cx="0" cy="0"/>
          <a:chOff x="0" y="0"/>
          <a:chExt cx="0" cy="0"/>
        </a:xfrm>
      </p:grpSpPr>
      <p:grpSp>
        <p:nvGrpSpPr>
          <p:cNvPr id="3074" name="Group 2"/>
          <p:cNvGrpSpPr/>
          <p:nvPr/>
        </p:nvGrpSpPr>
        <p:grpSpPr>
          <a:xfrm>
            <a:off x="566738" y="0"/>
            <a:ext cx="7891462" cy="6821488"/>
            <a:chOff x="349" y="23"/>
            <a:chExt cx="4971" cy="4297"/>
          </a:xfrm>
        </p:grpSpPr>
        <p:sp>
          <p:nvSpPr>
            <p:cNvPr id="3075" name="Rectangle 3"/>
            <p:cNvSpPr/>
            <p:nvPr/>
          </p:nvSpPr>
          <p:spPr>
            <a:xfrm>
              <a:off x="384"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076" name="Freeform 4"/>
            <p:cNvSpPr>
              <a:spLocks noEditPoints="1"/>
            </p:cNvSpPr>
            <p:nvPr/>
          </p:nvSpPr>
          <p:spPr>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77" name="Freeform 5"/>
            <p:cNvSpPr>
              <a:spLocks noEditPoints="1"/>
            </p:cNvSpPr>
            <p:nvPr/>
          </p:nvSpPr>
          <p:spPr>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78" name="Freeform 6"/>
            <p:cNvSpPr>
              <a:spLocks noEditPoints="1"/>
            </p:cNvSpPr>
            <p:nvPr/>
          </p:nvSpPr>
          <p:spPr>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79" name="Freeform 7"/>
            <p:cNvSpPr>
              <a:spLocks noEditPoints="1"/>
            </p:cNvSpPr>
            <p:nvPr/>
          </p:nvSpPr>
          <p:spPr>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0" name="Freeform 8"/>
            <p:cNvSpPr>
              <a:spLocks noEditPoints="1"/>
            </p:cNvSpPr>
            <p:nvPr/>
          </p:nvSpPr>
          <p:spPr>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1" name="Freeform 9"/>
            <p:cNvSpPr>
              <a:spLocks noEditPoints="1"/>
            </p:cNvSpPr>
            <p:nvPr/>
          </p:nvSpPr>
          <p:spPr>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2" name="Freeform 10"/>
            <p:cNvSpPr>
              <a:spLocks noEditPoints="1"/>
            </p:cNvSpPr>
            <p:nvPr/>
          </p:nvSpPr>
          <p:spPr>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3" name="Freeform 11"/>
            <p:cNvSpPr>
              <a:spLocks noEditPoints="1"/>
            </p:cNvSpPr>
            <p:nvPr/>
          </p:nvSpPr>
          <p:spPr>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4" name="Freeform 12"/>
            <p:cNvSpPr>
              <a:spLocks noEditPoints="1"/>
            </p:cNvSpPr>
            <p:nvPr/>
          </p:nvSpPr>
          <p:spPr>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5" name="Freeform 13"/>
            <p:cNvSpPr>
              <a:spLocks noEditPoints="1"/>
            </p:cNvSpPr>
            <p:nvPr/>
          </p:nvSpPr>
          <p:spPr>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6" name="Rectangle 14"/>
            <p:cNvSpPr/>
            <p:nvPr/>
          </p:nvSpPr>
          <p:spPr>
            <a:xfrm>
              <a:off x="384"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087" name="Rectangle 15"/>
            <p:cNvSpPr/>
            <p:nvPr/>
          </p:nvSpPr>
          <p:spPr>
            <a:xfrm>
              <a:off x="829"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088" name="Freeform 16"/>
            <p:cNvSpPr>
              <a:spLocks noEditPoints="1"/>
            </p:cNvSpPr>
            <p:nvPr/>
          </p:nvSpPr>
          <p:spPr>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89" name="Freeform 17"/>
            <p:cNvSpPr>
              <a:spLocks noEditPoints="1"/>
            </p:cNvSpPr>
            <p:nvPr/>
          </p:nvSpPr>
          <p:spPr>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0" name="Freeform 18"/>
            <p:cNvSpPr>
              <a:spLocks noEditPoints="1"/>
            </p:cNvSpPr>
            <p:nvPr/>
          </p:nvSpPr>
          <p:spPr>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1" name="Freeform 19"/>
            <p:cNvSpPr>
              <a:spLocks noEditPoints="1"/>
            </p:cNvSpPr>
            <p:nvPr/>
          </p:nvSpPr>
          <p:spPr>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2" name="Freeform 20"/>
            <p:cNvSpPr>
              <a:spLocks noEditPoints="1"/>
            </p:cNvSpPr>
            <p:nvPr/>
          </p:nvSpPr>
          <p:spPr>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3" name="Freeform 21"/>
            <p:cNvSpPr>
              <a:spLocks noEditPoints="1"/>
            </p:cNvSpPr>
            <p:nvPr/>
          </p:nvSpPr>
          <p:spPr>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4" name="Freeform 22"/>
            <p:cNvSpPr>
              <a:spLocks noEditPoints="1"/>
            </p:cNvSpPr>
            <p:nvPr/>
          </p:nvSpPr>
          <p:spPr>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5" name="Freeform 23"/>
            <p:cNvSpPr>
              <a:spLocks noEditPoints="1"/>
            </p:cNvSpPr>
            <p:nvPr/>
          </p:nvSpPr>
          <p:spPr>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6" name="Freeform 24"/>
            <p:cNvSpPr>
              <a:spLocks noEditPoints="1"/>
            </p:cNvSpPr>
            <p:nvPr/>
          </p:nvSpPr>
          <p:spPr>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7" name="Freeform 25"/>
            <p:cNvSpPr>
              <a:spLocks noEditPoints="1"/>
            </p:cNvSpPr>
            <p:nvPr/>
          </p:nvSpPr>
          <p:spPr>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098" name="Rectangle 26"/>
            <p:cNvSpPr/>
            <p:nvPr/>
          </p:nvSpPr>
          <p:spPr>
            <a:xfrm>
              <a:off x="829"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099" name="Rectangle 27"/>
            <p:cNvSpPr/>
            <p:nvPr/>
          </p:nvSpPr>
          <p:spPr>
            <a:xfrm>
              <a:off x="1279"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00" name="Freeform 28"/>
            <p:cNvSpPr>
              <a:spLocks noEditPoints="1"/>
            </p:cNvSpPr>
            <p:nvPr/>
          </p:nvSpPr>
          <p:spPr>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1" name="Freeform 29"/>
            <p:cNvSpPr>
              <a:spLocks noEditPoints="1"/>
            </p:cNvSpPr>
            <p:nvPr/>
          </p:nvSpPr>
          <p:spPr>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2" name="Freeform 30"/>
            <p:cNvSpPr>
              <a:spLocks noEditPoints="1"/>
            </p:cNvSpPr>
            <p:nvPr/>
          </p:nvSpPr>
          <p:spPr>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3" name="Freeform 31"/>
            <p:cNvSpPr>
              <a:spLocks noEditPoints="1"/>
            </p:cNvSpPr>
            <p:nvPr/>
          </p:nvSpPr>
          <p:spPr>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4" name="Freeform 32"/>
            <p:cNvSpPr>
              <a:spLocks noEditPoints="1"/>
            </p:cNvSpPr>
            <p:nvPr/>
          </p:nvSpPr>
          <p:spPr>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5" name="Freeform 33"/>
            <p:cNvSpPr>
              <a:spLocks noEditPoints="1"/>
            </p:cNvSpPr>
            <p:nvPr/>
          </p:nvSpPr>
          <p:spPr>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6" name="Freeform 34"/>
            <p:cNvSpPr>
              <a:spLocks noEditPoints="1"/>
            </p:cNvSpPr>
            <p:nvPr/>
          </p:nvSpPr>
          <p:spPr>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7" name="Freeform 35"/>
            <p:cNvSpPr>
              <a:spLocks noEditPoints="1"/>
            </p:cNvSpPr>
            <p:nvPr/>
          </p:nvSpPr>
          <p:spPr>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8" name="Freeform 36"/>
            <p:cNvSpPr>
              <a:spLocks noEditPoints="1"/>
            </p:cNvSpPr>
            <p:nvPr/>
          </p:nvSpPr>
          <p:spPr>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09" name="Freeform 37"/>
            <p:cNvSpPr>
              <a:spLocks noEditPoints="1"/>
            </p:cNvSpPr>
            <p:nvPr/>
          </p:nvSpPr>
          <p:spPr>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0" name="Rectangle 38"/>
            <p:cNvSpPr/>
            <p:nvPr/>
          </p:nvSpPr>
          <p:spPr>
            <a:xfrm>
              <a:off x="1279"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11" name="Rectangle 39"/>
            <p:cNvSpPr/>
            <p:nvPr/>
          </p:nvSpPr>
          <p:spPr>
            <a:xfrm>
              <a:off x="1724"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12" name="Freeform 40"/>
            <p:cNvSpPr>
              <a:spLocks noEditPoints="1"/>
            </p:cNvSpPr>
            <p:nvPr/>
          </p:nvSpPr>
          <p:spPr>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3" name="Freeform 41"/>
            <p:cNvSpPr>
              <a:spLocks noEditPoints="1"/>
            </p:cNvSpPr>
            <p:nvPr/>
          </p:nvSpPr>
          <p:spPr>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4" name="Freeform 42"/>
            <p:cNvSpPr>
              <a:spLocks noEditPoints="1"/>
            </p:cNvSpPr>
            <p:nvPr/>
          </p:nvSpPr>
          <p:spPr>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5" name="Freeform 43"/>
            <p:cNvSpPr>
              <a:spLocks noEditPoints="1"/>
            </p:cNvSpPr>
            <p:nvPr/>
          </p:nvSpPr>
          <p:spPr>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6" name="Freeform 44"/>
            <p:cNvSpPr>
              <a:spLocks noEditPoints="1"/>
            </p:cNvSpPr>
            <p:nvPr/>
          </p:nvSpPr>
          <p:spPr>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7" name="Freeform 45"/>
            <p:cNvSpPr>
              <a:spLocks noEditPoints="1"/>
            </p:cNvSpPr>
            <p:nvPr/>
          </p:nvSpPr>
          <p:spPr>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8" name="Freeform 46"/>
            <p:cNvSpPr>
              <a:spLocks noEditPoints="1"/>
            </p:cNvSpPr>
            <p:nvPr/>
          </p:nvSpPr>
          <p:spPr>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19" name="Freeform 47"/>
            <p:cNvSpPr>
              <a:spLocks noEditPoints="1"/>
            </p:cNvSpPr>
            <p:nvPr/>
          </p:nvSpPr>
          <p:spPr>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0" name="Freeform 48"/>
            <p:cNvSpPr>
              <a:spLocks noEditPoints="1"/>
            </p:cNvSpPr>
            <p:nvPr/>
          </p:nvSpPr>
          <p:spPr>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1" name="Freeform 49"/>
            <p:cNvSpPr>
              <a:spLocks noEditPoints="1"/>
            </p:cNvSpPr>
            <p:nvPr/>
          </p:nvSpPr>
          <p:spPr>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2" name="Rectangle 50"/>
            <p:cNvSpPr/>
            <p:nvPr/>
          </p:nvSpPr>
          <p:spPr>
            <a:xfrm>
              <a:off x="1724"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23" name="Rectangle 51"/>
            <p:cNvSpPr/>
            <p:nvPr/>
          </p:nvSpPr>
          <p:spPr>
            <a:xfrm>
              <a:off x="2169"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24" name="Freeform 52"/>
            <p:cNvSpPr>
              <a:spLocks noEditPoints="1"/>
            </p:cNvSpPr>
            <p:nvPr/>
          </p:nvSpPr>
          <p:spPr>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5" name="Freeform 53"/>
            <p:cNvSpPr>
              <a:spLocks noEditPoints="1"/>
            </p:cNvSpPr>
            <p:nvPr/>
          </p:nvSpPr>
          <p:spPr>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6" name="Freeform 54"/>
            <p:cNvSpPr>
              <a:spLocks noEditPoints="1"/>
            </p:cNvSpPr>
            <p:nvPr/>
          </p:nvSpPr>
          <p:spPr>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7" name="Freeform 55"/>
            <p:cNvSpPr>
              <a:spLocks noEditPoints="1"/>
            </p:cNvSpPr>
            <p:nvPr/>
          </p:nvSpPr>
          <p:spPr>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8" name="Freeform 56"/>
            <p:cNvSpPr>
              <a:spLocks noEditPoints="1"/>
            </p:cNvSpPr>
            <p:nvPr/>
          </p:nvSpPr>
          <p:spPr>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29" name="Freeform 57"/>
            <p:cNvSpPr>
              <a:spLocks noEditPoints="1"/>
            </p:cNvSpPr>
            <p:nvPr/>
          </p:nvSpPr>
          <p:spPr>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0" name="Freeform 58"/>
            <p:cNvSpPr>
              <a:spLocks noEditPoints="1"/>
            </p:cNvSpPr>
            <p:nvPr/>
          </p:nvSpPr>
          <p:spPr>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1" name="Freeform 59"/>
            <p:cNvSpPr>
              <a:spLocks noEditPoints="1"/>
            </p:cNvSpPr>
            <p:nvPr/>
          </p:nvSpPr>
          <p:spPr>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2" name="Freeform 60"/>
            <p:cNvSpPr>
              <a:spLocks noEditPoints="1"/>
            </p:cNvSpPr>
            <p:nvPr/>
          </p:nvSpPr>
          <p:spPr>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3" name="Freeform 61"/>
            <p:cNvSpPr>
              <a:spLocks noEditPoints="1"/>
            </p:cNvSpPr>
            <p:nvPr/>
          </p:nvSpPr>
          <p:spPr>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4" name="Rectangle 62"/>
            <p:cNvSpPr/>
            <p:nvPr/>
          </p:nvSpPr>
          <p:spPr>
            <a:xfrm>
              <a:off x="2169"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35" name="Rectangle 63"/>
            <p:cNvSpPr/>
            <p:nvPr/>
          </p:nvSpPr>
          <p:spPr>
            <a:xfrm>
              <a:off x="262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36" name="Freeform 64"/>
            <p:cNvSpPr>
              <a:spLocks noEditPoints="1"/>
            </p:cNvSpPr>
            <p:nvPr/>
          </p:nvSpPr>
          <p:spPr>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7" name="Freeform 65"/>
            <p:cNvSpPr>
              <a:spLocks noEditPoints="1"/>
            </p:cNvSpPr>
            <p:nvPr/>
          </p:nvSpPr>
          <p:spPr>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8" name="Freeform 66"/>
            <p:cNvSpPr>
              <a:spLocks noEditPoints="1"/>
            </p:cNvSpPr>
            <p:nvPr/>
          </p:nvSpPr>
          <p:spPr>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39" name="Freeform 67"/>
            <p:cNvSpPr>
              <a:spLocks noEditPoints="1"/>
            </p:cNvSpPr>
            <p:nvPr/>
          </p:nvSpPr>
          <p:spPr>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0" name="Freeform 68"/>
            <p:cNvSpPr>
              <a:spLocks noEditPoints="1"/>
            </p:cNvSpPr>
            <p:nvPr/>
          </p:nvSpPr>
          <p:spPr>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1" name="Freeform 69"/>
            <p:cNvSpPr>
              <a:spLocks noEditPoints="1"/>
            </p:cNvSpPr>
            <p:nvPr/>
          </p:nvSpPr>
          <p:spPr>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2" name="Freeform 70"/>
            <p:cNvSpPr>
              <a:spLocks noEditPoints="1"/>
            </p:cNvSpPr>
            <p:nvPr/>
          </p:nvSpPr>
          <p:spPr>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3" name="Freeform 71"/>
            <p:cNvSpPr>
              <a:spLocks noEditPoints="1"/>
            </p:cNvSpPr>
            <p:nvPr/>
          </p:nvSpPr>
          <p:spPr>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4" name="Freeform 72"/>
            <p:cNvSpPr>
              <a:spLocks noEditPoints="1"/>
            </p:cNvSpPr>
            <p:nvPr/>
          </p:nvSpPr>
          <p:spPr>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5" name="Freeform 73"/>
            <p:cNvSpPr>
              <a:spLocks noEditPoints="1"/>
            </p:cNvSpPr>
            <p:nvPr/>
          </p:nvSpPr>
          <p:spPr>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6" name="Rectangle 74"/>
            <p:cNvSpPr/>
            <p:nvPr/>
          </p:nvSpPr>
          <p:spPr>
            <a:xfrm>
              <a:off x="262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47" name="Rectangle 75"/>
            <p:cNvSpPr/>
            <p:nvPr/>
          </p:nvSpPr>
          <p:spPr>
            <a:xfrm>
              <a:off x="3065"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48" name="Freeform 76"/>
            <p:cNvSpPr>
              <a:spLocks noEditPoints="1"/>
            </p:cNvSpPr>
            <p:nvPr/>
          </p:nvSpPr>
          <p:spPr>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49" name="Freeform 77"/>
            <p:cNvSpPr>
              <a:spLocks noEditPoints="1"/>
            </p:cNvSpPr>
            <p:nvPr/>
          </p:nvSpPr>
          <p:spPr>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0" name="Freeform 78"/>
            <p:cNvSpPr>
              <a:spLocks noEditPoints="1"/>
            </p:cNvSpPr>
            <p:nvPr/>
          </p:nvSpPr>
          <p:spPr>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1" name="Freeform 79"/>
            <p:cNvSpPr>
              <a:spLocks noEditPoints="1"/>
            </p:cNvSpPr>
            <p:nvPr/>
          </p:nvSpPr>
          <p:spPr>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2" name="Freeform 80"/>
            <p:cNvSpPr>
              <a:spLocks noEditPoints="1"/>
            </p:cNvSpPr>
            <p:nvPr/>
          </p:nvSpPr>
          <p:spPr>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3" name="Freeform 81"/>
            <p:cNvSpPr>
              <a:spLocks noEditPoints="1"/>
            </p:cNvSpPr>
            <p:nvPr/>
          </p:nvSpPr>
          <p:spPr>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4" name="Freeform 82"/>
            <p:cNvSpPr>
              <a:spLocks noEditPoints="1"/>
            </p:cNvSpPr>
            <p:nvPr/>
          </p:nvSpPr>
          <p:spPr>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5" name="Freeform 83"/>
            <p:cNvSpPr>
              <a:spLocks noEditPoints="1"/>
            </p:cNvSpPr>
            <p:nvPr/>
          </p:nvSpPr>
          <p:spPr>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6" name="Freeform 84"/>
            <p:cNvSpPr>
              <a:spLocks noEditPoints="1"/>
            </p:cNvSpPr>
            <p:nvPr/>
          </p:nvSpPr>
          <p:spPr>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7" name="Freeform 85"/>
            <p:cNvSpPr>
              <a:spLocks noEditPoints="1"/>
            </p:cNvSpPr>
            <p:nvPr/>
          </p:nvSpPr>
          <p:spPr>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58" name="Rectangle 86"/>
            <p:cNvSpPr/>
            <p:nvPr/>
          </p:nvSpPr>
          <p:spPr>
            <a:xfrm>
              <a:off x="3065"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59" name="Rectangle 87"/>
            <p:cNvSpPr/>
            <p:nvPr/>
          </p:nvSpPr>
          <p:spPr>
            <a:xfrm>
              <a:off x="351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60" name="Freeform 88"/>
            <p:cNvSpPr>
              <a:spLocks noEditPoints="1"/>
            </p:cNvSpPr>
            <p:nvPr/>
          </p:nvSpPr>
          <p:spPr>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1" name="Freeform 89"/>
            <p:cNvSpPr>
              <a:spLocks noEditPoints="1"/>
            </p:cNvSpPr>
            <p:nvPr/>
          </p:nvSpPr>
          <p:spPr>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2" name="Freeform 90"/>
            <p:cNvSpPr>
              <a:spLocks noEditPoints="1"/>
            </p:cNvSpPr>
            <p:nvPr/>
          </p:nvSpPr>
          <p:spPr>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3" name="Freeform 91"/>
            <p:cNvSpPr>
              <a:spLocks noEditPoints="1"/>
            </p:cNvSpPr>
            <p:nvPr/>
          </p:nvSpPr>
          <p:spPr>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4" name="Freeform 92"/>
            <p:cNvSpPr>
              <a:spLocks noEditPoints="1"/>
            </p:cNvSpPr>
            <p:nvPr/>
          </p:nvSpPr>
          <p:spPr>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5" name="Freeform 93"/>
            <p:cNvSpPr>
              <a:spLocks noEditPoints="1"/>
            </p:cNvSpPr>
            <p:nvPr/>
          </p:nvSpPr>
          <p:spPr>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6" name="Freeform 94"/>
            <p:cNvSpPr>
              <a:spLocks noEditPoints="1"/>
            </p:cNvSpPr>
            <p:nvPr/>
          </p:nvSpPr>
          <p:spPr>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7" name="Freeform 95"/>
            <p:cNvSpPr>
              <a:spLocks noEditPoints="1"/>
            </p:cNvSpPr>
            <p:nvPr/>
          </p:nvSpPr>
          <p:spPr>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8" name="Freeform 96"/>
            <p:cNvSpPr>
              <a:spLocks noEditPoints="1"/>
            </p:cNvSpPr>
            <p:nvPr/>
          </p:nvSpPr>
          <p:spPr>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69" name="Freeform 97"/>
            <p:cNvSpPr>
              <a:spLocks noEditPoints="1"/>
            </p:cNvSpPr>
            <p:nvPr/>
          </p:nvSpPr>
          <p:spPr>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0" name="Rectangle 98"/>
            <p:cNvSpPr/>
            <p:nvPr/>
          </p:nvSpPr>
          <p:spPr>
            <a:xfrm>
              <a:off x="351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71" name="Rectangle 99"/>
            <p:cNvSpPr/>
            <p:nvPr/>
          </p:nvSpPr>
          <p:spPr>
            <a:xfrm>
              <a:off x="396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72" name="Freeform 100"/>
            <p:cNvSpPr>
              <a:spLocks noEditPoints="1"/>
            </p:cNvSpPr>
            <p:nvPr/>
          </p:nvSpPr>
          <p:spPr>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3" name="Freeform 101"/>
            <p:cNvSpPr>
              <a:spLocks noEditPoints="1"/>
            </p:cNvSpPr>
            <p:nvPr/>
          </p:nvSpPr>
          <p:spPr>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4" name="Freeform 102"/>
            <p:cNvSpPr>
              <a:spLocks noEditPoints="1"/>
            </p:cNvSpPr>
            <p:nvPr/>
          </p:nvSpPr>
          <p:spPr>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5" name="Freeform 103"/>
            <p:cNvSpPr>
              <a:spLocks noEditPoints="1"/>
            </p:cNvSpPr>
            <p:nvPr/>
          </p:nvSpPr>
          <p:spPr>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6" name="Freeform 104"/>
            <p:cNvSpPr>
              <a:spLocks noEditPoints="1"/>
            </p:cNvSpPr>
            <p:nvPr/>
          </p:nvSpPr>
          <p:spPr>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7" name="Freeform 105"/>
            <p:cNvSpPr>
              <a:spLocks noEditPoints="1"/>
            </p:cNvSpPr>
            <p:nvPr/>
          </p:nvSpPr>
          <p:spPr>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8" name="Freeform 106"/>
            <p:cNvSpPr>
              <a:spLocks noEditPoints="1"/>
            </p:cNvSpPr>
            <p:nvPr/>
          </p:nvSpPr>
          <p:spPr>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79" name="Freeform 107"/>
            <p:cNvSpPr>
              <a:spLocks noEditPoints="1"/>
            </p:cNvSpPr>
            <p:nvPr/>
          </p:nvSpPr>
          <p:spPr>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0" name="Freeform 108"/>
            <p:cNvSpPr>
              <a:spLocks noEditPoints="1"/>
            </p:cNvSpPr>
            <p:nvPr/>
          </p:nvSpPr>
          <p:spPr>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1" name="Freeform 109"/>
            <p:cNvSpPr>
              <a:spLocks noEditPoints="1"/>
            </p:cNvSpPr>
            <p:nvPr/>
          </p:nvSpPr>
          <p:spPr>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2" name="Rectangle 110"/>
            <p:cNvSpPr/>
            <p:nvPr/>
          </p:nvSpPr>
          <p:spPr>
            <a:xfrm>
              <a:off x="396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83" name="Rectangle 111"/>
            <p:cNvSpPr/>
            <p:nvPr/>
          </p:nvSpPr>
          <p:spPr>
            <a:xfrm>
              <a:off x="4405"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84" name="Freeform 112"/>
            <p:cNvSpPr>
              <a:spLocks noEditPoints="1"/>
            </p:cNvSpPr>
            <p:nvPr/>
          </p:nvSpPr>
          <p:spPr>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5" name="Freeform 113"/>
            <p:cNvSpPr>
              <a:spLocks noEditPoints="1"/>
            </p:cNvSpPr>
            <p:nvPr/>
          </p:nvSpPr>
          <p:spPr>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6" name="Freeform 114"/>
            <p:cNvSpPr>
              <a:spLocks noEditPoints="1"/>
            </p:cNvSpPr>
            <p:nvPr/>
          </p:nvSpPr>
          <p:spPr>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7" name="Freeform 115"/>
            <p:cNvSpPr>
              <a:spLocks noEditPoints="1"/>
            </p:cNvSpPr>
            <p:nvPr/>
          </p:nvSpPr>
          <p:spPr>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8" name="Freeform 116"/>
            <p:cNvSpPr>
              <a:spLocks noEditPoints="1"/>
            </p:cNvSpPr>
            <p:nvPr/>
          </p:nvSpPr>
          <p:spPr>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89" name="Freeform 117"/>
            <p:cNvSpPr>
              <a:spLocks noEditPoints="1"/>
            </p:cNvSpPr>
            <p:nvPr/>
          </p:nvSpPr>
          <p:spPr>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0" name="Freeform 118"/>
            <p:cNvSpPr>
              <a:spLocks noEditPoints="1"/>
            </p:cNvSpPr>
            <p:nvPr/>
          </p:nvSpPr>
          <p:spPr>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1" name="Freeform 119"/>
            <p:cNvSpPr>
              <a:spLocks noEditPoints="1"/>
            </p:cNvSpPr>
            <p:nvPr/>
          </p:nvSpPr>
          <p:spPr>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2" name="Freeform 120"/>
            <p:cNvSpPr>
              <a:spLocks noEditPoints="1"/>
            </p:cNvSpPr>
            <p:nvPr/>
          </p:nvSpPr>
          <p:spPr>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3" name="Freeform 121"/>
            <p:cNvSpPr>
              <a:spLocks noEditPoints="1"/>
            </p:cNvSpPr>
            <p:nvPr/>
          </p:nvSpPr>
          <p:spPr>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4" name="Rectangle 122"/>
            <p:cNvSpPr/>
            <p:nvPr/>
          </p:nvSpPr>
          <p:spPr>
            <a:xfrm>
              <a:off x="4405"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95" name="Rectangle 123"/>
            <p:cNvSpPr/>
            <p:nvPr/>
          </p:nvSpPr>
          <p:spPr>
            <a:xfrm>
              <a:off x="485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196" name="Freeform 124"/>
            <p:cNvSpPr>
              <a:spLocks noEditPoints="1"/>
            </p:cNvSpPr>
            <p:nvPr/>
          </p:nvSpPr>
          <p:spPr>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7" name="Freeform 125"/>
            <p:cNvSpPr>
              <a:spLocks noEditPoints="1"/>
            </p:cNvSpPr>
            <p:nvPr/>
          </p:nvSpPr>
          <p:spPr>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8" name="Freeform 126"/>
            <p:cNvSpPr>
              <a:spLocks noEditPoints="1"/>
            </p:cNvSpPr>
            <p:nvPr/>
          </p:nvSpPr>
          <p:spPr>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199" name="Freeform 127"/>
            <p:cNvSpPr>
              <a:spLocks noEditPoints="1"/>
            </p:cNvSpPr>
            <p:nvPr/>
          </p:nvSpPr>
          <p:spPr>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0" name="Freeform 128"/>
            <p:cNvSpPr>
              <a:spLocks noEditPoints="1"/>
            </p:cNvSpPr>
            <p:nvPr/>
          </p:nvSpPr>
          <p:spPr>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1" name="Freeform 129"/>
            <p:cNvSpPr>
              <a:spLocks noEditPoints="1"/>
            </p:cNvSpPr>
            <p:nvPr/>
          </p:nvSpPr>
          <p:spPr>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2" name="Freeform 130"/>
            <p:cNvSpPr>
              <a:spLocks noEditPoints="1"/>
            </p:cNvSpPr>
            <p:nvPr/>
          </p:nvSpPr>
          <p:spPr>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3" name="Freeform 131"/>
            <p:cNvSpPr>
              <a:spLocks noEditPoints="1"/>
            </p:cNvSpPr>
            <p:nvPr/>
          </p:nvSpPr>
          <p:spPr>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4" name="Freeform 132"/>
            <p:cNvSpPr>
              <a:spLocks noEditPoints="1"/>
            </p:cNvSpPr>
            <p:nvPr/>
          </p:nvSpPr>
          <p:spPr>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5" name="Freeform 133"/>
            <p:cNvSpPr>
              <a:spLocks noEditPoints="1"/>
            </p:cNvSpPr>
            <p:nvPr/>
          </p:nvSpPr>
          <p:spPr>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6" name="Rectangle 134"/>
            <p:cNvSpPr/>
            <p:nvPr/>
          </p:nvSpPr>
          <p:spPr>
            <a:xfrm>
              <a:off x="485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207" name="Rectangle 135"/>
            <p:cNvSpPr/>
            <p:nvPr/>
          </p:nvSpPr>
          <p:spPr>
            <a:xfrm>
              <a:off x="530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208" name="Freeform 136"/>
            <p:cNvSpPr>
              <a:spLocks noEditPoints="1"/>
            </p:cNvSpPr>
            <p:nvPr/>
          </p:nvSpPr>
          <p:spPr>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09" name="Freeform 137"/>
            <p:cNvSpPr>
              <a:spLocks noEditPoints="1"/>
            </p:cNvSpPr>
            <p:nvPr/>
          </p:nvSpPr>
          <p:spPr>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0" name="Freeform 138"/>
            <p:cNvSpPr>
              <a:spLocks noEditPoints="1"/>
            </p:cNvSpPr>
            <p:nvPr/>
          </p:nvSpPr>
          <p:spPr>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1" name="Freeform 139"/>
            <p:cNvSpPr>
              <a:spLocks noEditPoints="1"/>
            </p:cNvSpPr>
            <p:nvPr/>
          </p:nvSpPr>
          <p:spPr>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2" name="Freeform 140"/>
            <p:cNvSpPr>
              <a:spLocks noEditPoints="1"/>
            </p:cNvSpPr>
            <p:nvPr/>
          </p:nvSpPr>
          <p:spPr>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3" name="Freeform 141"/>
            <p:cNvSpPr>
              <a:spLocks noEditPoints="1"/>
            </p:cNvSpPr>
            <p:nvPr/>
          </p:nvSpPr>
          <p:spPr>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4" name="Freeform 142"/>
            <p:cNvSpPr>
              <a:spLocks noEditPoints="1"/>
            </p:cNvSpPr>
            <p:nvPr/>
          </p:nvSpPr>
          <p:spPr>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5" name="Freeform 143"/>
            <p:cNvSpPr>
              <a:spLocks noEditPoints="1"/>
            </p:cNvSpPr>
            <p:nvPr/>
          </p:nvSpPr>
          <p:spPr>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6" name="Freeform 144"/>
            <p:cNvSpPr>
              <a:spLocks noEditPoints="1"/>
            </p:cNvSpPr>
            <p:nvPr/>
          </p:nvSpPr>
          <p:spPr>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7" name="Freeform 145"/>
            <p:cNvSpPr>
              <a:spLocks noEditPoints="1"/>
            </p:cNvSpPr>
            <p:nvPr/>
          </p:nvSpPr>
          <p:spPr>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3218" name="Rectangle 146"/>
            <p:cNvSpPr/>
            <p:nvPr/>
          </p:nvSpPr>
          <p:spPr>
            <a:xfrm>
              <a:off x="530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3219" name="Freeform 147"/>
            <p:cNvSpPr/>
            <p:nvPr/>
          </p:nvSpPr>
          <p:spPr>
            <a:xfrm>
              <a:off x="349" y="3304"/>
              <a:ext cx="20" cy="10"/>
            </a:xfrm>
            <a:custGeom>
              <a:avLst/>
              <a:gdLst/>
              <a:ahLst/>
              <a:cxnLst>
                <a:cxn ang="0">
                  <a:pos x="0" y="1"/>
                </a:cxn>
                <a:cxn ang="0">
                  <a:pos x="0" y="1"/>
                </a:cxn>
              </a:cxnLst>
              <a:rect l="0" t="0" r="0" b="0"/>
              <a:pathLst>
                <a:path w="4" h="2">
                  <a:moveTo>
                    <a:pt x="0" y="1"/>
                  </a:moveTo>
                  <a:cubicBezTo>
                    <a:pt x="1" y="2"/>
                    <a:pt x="4" y="0"/>
                    <a:pt x="0" y="1"/>
                  </a:cubicBezTo>
                  <a:close/>
                </a:path>
              </a:pathLst>
            </a:custGeom>
            <a:solidFill>
              <a:schemeClr val="bg2">
                <a:alpha val="59999"/>
              </a:schemeClr>
            </a:solidFill>
            <a:ln w="0">
              <a:noFill/>
            </a:ln>
          </p:spPr>
          <p:txBody>
            <a:bodyPr/>
            <a:lstStyle/>
            <a:p>
              <a:endParaRPr lang="zh-CN" altLang="en-US"/>
            </a:p>
          </p:txBody>
        </p:sp>
      </p:grpSp>
      <p:grpSp>
        <p:nvGrpSpPr>
          <p:cNvPr id="3220" name="Group 148"/>
          <p:cNvGrpSpPr/>
          <p:nvPr/>
        </p:nvGrpSpPr>
        <p:grpSpPr>
          <a:xfrm>
            <a:off x="1066800" y="3444875"/>
            <a:ext cx="533400" cy="492125"/>
            <a:chOff x="96" y="2784"/>
            <a:chExt cx="1062" cy="981"/>
          </a:xfrm>
        </p:grpSpPr>
        <p:sp>
          <p:nvSpPr>
            <p:cNvPr id="3221" name="Freeform 149"/>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3222" name="Freeform 150"/>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3223" name="Freeform 151"/>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3224" name="Freeform 152"/>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3225" name="Freeform 153"/>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3226" name="Freeform 154"/>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3227" name="Freeform 155"/>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3228" name="Freeform 156"/>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3229" name="Freeform 157"/>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3230" name="Freeform 158"/>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3231" name="Freeform 159"/>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3232" name="Freeform 160"/>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3233" name="Freeform 161"/>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3234" name="Group 162"/>
          <p:cNvGrpSpPr/>
          <p:nvPr/>
        </p:nvGrpSpPr>
        <p:grpSpPr>
          <a:xfrm>
            <a:off x="1066800" y="4552950"/>
            <a:ext cx="533400" cy="492125"/>
            <a:chOff x="96" y="2784"/>
            <a:chExt cx="1062" cy="981"/>
          </a:xfrm>
        </p:grpSpPr>
        <p:sp>
          <p:nvSpPr>
            <p:cNvPr id="3235" name="Freeform 163"/>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3236" name="Freeform 164"/>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3237" name="Freeform 165"/>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3238" name="Freeform 166"/>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3239" name="Freeform 167"/>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3240" name="Freeform 168"/>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3241" name="Freeform 169"/>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3242" name="Freeform 170"/>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3243" name="Freeform 171"/>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3244" name="Freeform 172"/>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3245" name="Freeform 173"/>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3246" name="Freeform 174"/>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3247" name="Freeform 175"/>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3248" name="Group 176"/>
          <p:cNvGrpSpPr/>
          <p:nvPr/>
        </p:nvGrpSpPr>
        <p:grpSpPr>
          <a:xfrm>
            <a:off x="1066800" y="5562600"/>
            <a:ext cx="533400" cy="492125"/>
            <a:chOff x="96" y="2784"/>
            <a:chExt cx="1062" cy="981"/>
          </a:xfrm>
        </p:grpSpPr>
        <p:sp>
          <p:nvSpPr>
            <p:cNvPr id="3249" name="Freeform 177"/>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3250" name="Freeform 178"/>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3251" name="Freeform 179"/>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3252" name="Freeform 180"/>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3253" name="Freeform 181"/>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3254" name="Freeform 182"/>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3255" name="Freeform 183"/>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3256" name="Freeform 184"/>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3257" name="Freeform 185"/>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3258" name="Freeform 186"/>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3259" name="Freeform 187"/>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3260" name="Freeform 188"/>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3261" name="Freeform 189"/>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3262" name="Group 190"/>
          <p:cNvGrpSpPr/>
          <p:nvPr/>
        </p:nvGrpSpPr>
        <p:grpSpPr>
          <a:xfrm>
            <a:off x="381000" y="3962400"/>
            <a:ext cx="533400" cy="492125"/>
            <a:chOff x="96" y="2784"/>
            <a:chExt cx="1062" cy="981"/>
          </a:xfrm>
        </p:grpSpPr>
        <p:sp>
          <p:nvSpPr>
            <p:cNvPr id="3263" name="Freeform 191"/>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3264" name="Freeform 192"/>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3265" name="Freeform 193"/>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3266" name="Freeform 194"/>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3267" name="Freeform 195"/>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3268" name="Freeform 196"/>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3269" name="Freeform 197"/>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3270" name="Freeform 198"/>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3271" name="Freeform 199"/>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3272" name="Freeform 200"/>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3273" name="Freeform 201"/>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3274" name="Freeform 202"/>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3275" name="Freeform 203"/>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3276" name="Group 204"/>
          <p:cNvGrpSpPr/>
          <p:nvPr/>
        </p:nvGrpSpPr>
        <p:grpSpPr>
          <a:xfrm>
            <a:off x="381000" y="5070475"/>
            <a:ext cx="533400" cy="492125"/>
            <a:chOff x="96" y="2784"/>
            <a:chExt cx="1062" cy="981"/>
          </a:xfrm>
        </p:grpSpPr>
        <p:sp>
          <p:nvSpPr>
            <p:cNvPr id="3277" name="Freeform 205"/>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3278" name="Freeform 206"/>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3279" name="Freeform 207"/>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3280" name="Freeform 208"/>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3281" name="Freeform 209"/>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3282" name="Freeform 210"/>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3283" name="Freeform 211"/>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3284" name="Freeform 212"/>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3285" name="Freeform 213"/>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3286" name="Freeform 214"/>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3287" name="Freeform 215"/>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3288" name="Freeform 216"/>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3289" name="Freeform 217"/>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3290" name="Group 218"/>
          <p:cNvGrpSpPr/>
          <p:nvPr/>
        </p:nvGrpSpPr>
        <p:grpSpPr>
          <a:xfrm>
            <a:off x="381000" y="6121400"/>
            <a:ext cx="533400" cy="492125"/>
            <a:chOff x="96" y="2784"/>
            <a:chExt cx="1062" cy="981"/>
          </a:xfrm>
        </p:grpSpPr>
        <p:sp>
          <p:nvSpPr>
            <p:cNvPr id="3291" name="Freeform 219"/>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3292" name="Freeform 220"/>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3293" name="Freeform 221"/>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3294" name="Freeform 222"/>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3295" name="Freeform 223"/>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3296" name="Freeform 224"/>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3297" name="Freeform 225"/>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3298" name="Freeform 226"/>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3299" name="Freeform 227"/>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3300" name="Freeform 228"/>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3301" name="Freeform 229"/>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3302" name="Freeform 230"/>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3303" name="Freeform 231"/>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3304" name="Group 232"/>
          <p:cNvGrpSpPr/>
          <p:nvPr/>
        </p:nvGrpSpPr>
        <p:grpSpPr>
          <a:xfrm>
            <a:off x="6934200" y="-7937"/>
            <a:ext cx="2317750" cy="2063750"/>
            <a:chOff x="4080" y="-5"/>
            <a:chExt cx="1748" cy="1556"/>
          </a:xfrm>
        </p:grpSpPr>
        <p:sp>
          <p:nvSpPr>
            <p:cNvPr id="3305" name="Freeform 233"/>
            <p:cNvSpPr/>
            <p:nvPr/>
          </p:nvSpPr>
          <p:spPr>
            <a:xfrm>
              <a:off x="4161" y="-5"/>
              <a:ext cx="1585" cy="1443"/>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0" b="0"/>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ln>
          </p:spPr>
          <p:txBody>
            <a:bodyPr/>
            <a:lstStyle/>
            <a:p>
              <a:endParaRPr lang="zh-CN" altLang="en-US"/>
            </a:p>
          </p:txBody>
        </p:sp>
        <p:grpSp>
          <p:nvGrpSpPr>
            <p:cNvPr id="3306" name="Group 234"/>
            <p:cNvGrpSpPr/>
            <p:nvPr userDrawn="1"/>
          </p:nvGrpSpPr>
          <p:grpSpPr>
            <a:xfrm>
              <a:off x="4080" y="0"/>
              <a:ext cx="1748" cy="1551"/>
              <a:chOff x="2918" y="18"/>
              <a:chExt cx="2958" cy="2699"/>
            </a:xfrm>
          </p:grpSpPr>
          <p:sp>
            <p:nvSpPr>
              <p:cNvPr id="3307" name="Freeform 235"/>
              <p:cNvSpPr/>
              <p:nvPr/>
            </p:nvSpPr>
            <p:spPr>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0" b="0"/>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ln>
            </p:spPr>
            <p:txBody>
              <a:bodyPr/>
              <a:lstStyle/>
              <a:p>
                <a:endParaRPr lang="zh-CN" altLang="en-US"/>
              </a:p>
            </p:txBody>
          </p:sp>
          <p:sp>
            <p:nvSpPr>
              <p:cNvPr id="3308" name="Freeform 236"/>
              <p:cNvSpPr>
                <a:spLocks noEditPoints="1"/>
              </p:cNvSpPr>
              <p:nvPr/>
            </p:nvSpPr>
            <p:spPr>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0" b="0"/>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ln>
            </p:spPr>
            <p:txBody>
              <a:bodyPr/>
              <a:lstStyle/>
              <a:p>
                <a:endParaRPr lang="zh-CN" altLang="en-US"/>
              </a:p>
            </p:txBody>
          </p:sp>
          <p:sp>
            <p:nvSpPr>
              <p:cNvPr id="3309" name="Freeform 237"/>
              <p:cNvSpPr/>
              <p:nvPr/>
            </p:nvSpPr>
            <p:spPr>
              <a:xfrm>
                <a:off x="3621" y="1286"/>
                <a:ext cx="237" cy="283"/>
              </a:xfrm>
              <a:custGeom>
                <a:avLst/>
                <a:gdLst/>
                <a:ahLst/>
                <a:cxnLst>
                  <a:cxn ang="0">
                    <a:pos x="40" y="15"/>
                  </a:cxn>
                  <a:cxn ang="0">
                    <a:pos x="27" y="56"/>
                  </a:cxn>
                  <a:cxn ang="0">
                    <a:pos x="40" y="15"/>
                  </a:cxn>
                </a:cxnLst>
                <a:rect l="0" t="0" r="0" b="0"/>
                <a:pathLst>
                  <a:path w="47" h="56">
                    <a:moveTo>
                      <a:pt x="40" y="15"/>
                    </a:moveTo>
                    <a:cubicBezTo>
                      <a:pt x="37" y="0"/>
                      <a:pt x="0" y="23"/>
                      <a:pt x="27" y="56"/>
                    </a:cubicBezTo>
                    <a:cubicBezTo>
                      <a:pt x="27" y="56"/>
                      <a:pt x="47" y="49"/>
                      <a:pt x="40" y="15"/>
                    </a:cubicBezTo>
                    <a:close/>
                  </a:path>
                </a:pathLst>
              </a:custGeom>
              <a:solidFill>
                <a:schemeClr val="bg1"/>
              </a:solidFill>
              <a:ln w="0">
                <a:noFill/>
              </a:ln>
            </p:spPr>
            <p:txBody>
              <a:bodyPr/>
              <a:lstStyle/>
              <a:p>
                <a:endParaRPr lang="zh-CN" altLang="en-US"/>
              </a:p>
            </p:txBody>
          </p:sp>
          <p:sp>
            <p:nvSpPr>
              <p:cNvPr id="3310" name="Freeform 238"/>
              <p:cNvSpPr/>
              <p:nvPr/>
            </p:nvSpPr>
            <p:spPr>
              <a:xfrm>
                <a:off x="3402" y="1403"/>
                <a:ext cx="209" cy="379"/>
              </a:xfrm>
              <a:custGeom>
                <a:avLst/>
                <a:gdLst/>
                <a:ahLst/>
                <a:cxnLst>
                  <a:cxn ang="0">
                    <a:pos x="19" y="27"/>
                  </a:cxn>
                  <a:cxn ang="0">
                    <a:pos x="12" y="69"/>
                  </a:cxn>
                  <a:cxn ang="0">
                    <a:pos x="40" y="45"/>
                  </a:cxn>
                  <a:cxn ang="0">
                    <a:pos x="37" y="24"/>
                  </a:cxn>
                  <a:cxn ang="0">
                    <a:pos x="19" y="27"/>
                  </a:cxn>
                </a:cxnLst>
                <a:rect l="0" t="0" r="0" b="0"/>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ln>
            </p:spPr>
            <p:txBody>
              <a:bodyPr/>
              <a:lstStyle/>
              <a:p>
                <a:endParaRPr lang="zh-CN" altLang="en-US"/>
              </a:p>
            </p:txBody>
          </p:sp>
          <p:sp>
            <p:nvSpPr>
              <p:cNvPr id="3311" name="Freeform 239"/>
              <p:cNvSpPr/>
              <p:nvPr/>
            </p:nvSpPr>
            <p:spPr>
              <a:xfrm>
                <a:off x="3273" y="645"/>
                <a:ext cx="683" cy="319"/>
              </a:xfrm>
              <a:custGeom>
                <a:avLst/>
                <a:gdLst/>
                <a:ahLst/>
                <a:cxnLst>
                  <a:cxn ang="0">
                    <a:pos x="112" y="4"/>
                  </a:cxn>
                  <a:cxn ang="0">
                    <a:pos x="24" y="4"/>
                  </a:cxn>
                  <a:cxn ang="0">
                    <a:pos x="2" y="25"/>
                  </a:cxn>
                  <a:cxn ang="0">
                    <a:pos x="60" y="58"/>
                  </a:cxn>
                  <a:cxn ang="0">
                    <a:pos x="96" y="54"/>
                  </a:cxn>
                  <a:cxn ang="0">
                    <a:pos x="113" y="53"/>
                  </a:cxn>
                  <a:cxn ang="0">
                    <a:pos x="112" y="4"/>
                  </a:cxn>
                </a:cxnLst>
                <a:rect l="0" t="0" r="0" b="0"/>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ln>
            </p:spPr>
            <p:txBody>
              <a:bodyPr/>
              <a:lstStyle/>
              <a:p>
                <a:endParaRPr lang="zh-CN" altLang="en-US"/>
              </a:p>
            </p:txBody>
          </p:sp>
          <p:sp>
            <p:nvSpPr>
              <p:cNvPr id="3312" name="Freeform 240"/>
              <p:cNvSpPr/>
              <p:nvPr/>
            </p:nvSpPr>
            <p:spPr>
              <a:xfrm>
                <a:off x="4046" y="1544"/>
                <a:ext cx="490" cy="517"/>
              </a:xfrm>
              <a:custGeom>
                <a:avLst/>
                <a:gdLst/>
                <a:ahLst/>
                <a:cxnLst>
                  <a:cxn ang="0">
                    <a:pos x="67" y="5"/>
                  </a:cxn>
                  <a:cxn ang="0">
                    <a:pos x="31" y="5"/>
                  </a:cxn>
                  <a:cxn ang="0">
                    <a:pos x="12" y="57"/>
                  </a:cxn>
                  <a:cxn ang="0">
                    <a:pos x="79" y="62"/>
                  </a:cxn>
                  <a:cxn ang="0">
                    <a:pos x="67" y="5"/>
                  </a:cxn>
                </a:cxnLst>
                <a:rect l="0" t="0" r="0" b="0"/>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ln>
            </p:spPr>
            <p:txBody>
              <a:bodyPr/>
              <a:lstStyle/>
              <a:p>
                <a:endParaRPr lang="zh-CN" altLang="en-US"/>
              </a:p>
            </p:txBody>
          </p:sp>
          <p:sp>
            <p:nvSpPr>
              <p:cNvPr id="3313" name="Freeform 241"/>
              <p:cNvSpPr/>
              <p:nvPr/>
            </p:nvSpPr>
            <p:spPr>
              <a:xfrm>
                <a:off x="5173" y="1024"/>
                <a:ext cx="500" cy="96"/>
              </a:xfrm>
              <a:custGeom>
                <a:avLst/>
                <a:gdLst/>
                <a:ahLst/>
                <a:cxnLst>
                  <a:cxn ang="0">
                    <a:pos x="15" y="0"/>
                  </a:cxn>
                  <a:cxn ang="0">
                    <a:pos x="40" y="15"/>
                  </a:cxn>
                  <a:cxn ang="0">
                    <a:pos x="15" y="0"/>
                  </a:cxn>
                </a:cxnLst>
                <a:rect l="0" t="0" r="0" b="0"/>
                <a:pathLst>
                  <a:path w="99" h="19">
                    <a:moveTo>
                      <a:pt x="15" y="0"/>
                    </a:moveTo>
                    <a:cubicBezTo>
                      <a:pt x="0" y="0"/>
                      <a:pt x="19" y="19"/>
                      <a:pt x="40" y="15"/>
                    </a:cubicBezTo>
                    <a:cubicBezTo>
                      <a:pt x="99" y="1"/>
                      <a:pt x="15" y="0"/>
                      <a:pt x="15" y="0"/>
                    </a:cubicBezTo>
                    <a:close/>
                  </a:path>
                </a:pathLst>
              </a:custGeom>
              <a:solidFill>
                <a:schemeClr val="bg1"/>
              </a:solidFill>
              <a:ln w="0">
                <a:noFill/>
              </a:ln>
            </p:spPr>
            <p:txBody>
              <a:bodyPr/>
              <a:lstStyle/>
              <a:p>
                <a:endParaRPr lang="zh-CN" altLang="en-US"/>
              </a:p>
            </p:txBody>
          </p:sp>
          <p:sp>
            <p:nvSpPr>
              <p:cNvPr id="3314" name="Freeform 242"/>
              <p:cNvSpPr/>
              <p:nvPr/>
            </p:nvSpPr>
            <p:spPr>
              <a:xfrm>
                <a:off x="5339" y="1003"/>
                <a:ext cx="385" cy="237"/>
              </a:xfrm>
              <a:custGeom>
                <a:avLst/>
                <a:gdLst/>
                <a:ahLst/>
                <a:cxnLst>
                  <a:cxn ang="0">
                    <a:pos x="21" y="37"/>
                  </a:cxn>
                  <a:cxn ang="0">
                    <a:pos x="70" y="17"/>
                  </a:cxn>
                  <a:cxn ang="0">
                    <a:pos x="48" y="3"/>
                  </a:cxn>
                  <a:cxn ang="0">
                    <a:pos x="19" y="32"/>
                  </a:cxn>
                  <a:cxn ang="0">
                    <a:pos x="21" y="37"/>
                  </a:cxn>
                </a:cxnLst>
                <a:rect l="0" t="0" r="0" b="0"/>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ln>
            </p:spPr>
            <p:txBody>
              <a:bodyPr/>
              <a:lstStyle/>
              <a:p>
                <a:endParaRPr lang="zh-CN" altLang="en-US"/>
              </a:p>
            </p:txBody>
          </p:sp>
          <p:sp>
            <p:nvSpPr>
              <p:cNvPr id="3315" name="Freeform 243"/>
              <p:cNvSpPr/>
              <p:nvPr/>
            </p:nvSpPr>
            <p:spPr>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0" b="0"/>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ln>
            </p:spPr>
            <p:txBody>
              <a:bodyPr/>
              <a:lstStyle/>
              <a:p>
                <a:endParaRPr lang="zh-CN" altLang="en-US"/>
              </a:p>
            </p:txBody>
          </p:sp>
          <p:sp>
            <p:nvSpPr>
              <p:cNvPr id="3316" name="Freeform 244"/>
              <p:cNvSpPr/>
              <p:nvPr/>
            </p:nvSpPr>
            <p:spPr>
              <a:xfrm>
                <a:off x="5001" y="1378"/>
                <a:ext cx="699" cy="167"/>
              </a:xfrm>
              <a:custGeom>
                <a:avLst/>
                <a:gdLst/>
                <a:ahLst/>
                <a:cxnLst>
                  <a:cxn ang="0">
                    <a:pos x="21" y="1"/>
                  </a:cxn>
                  <a:cxn ang="0">
                    <a:pos x="8" y="14"/>
                  </a:cxn>
                  <a:cxn ang="0">
                    <a:pos x="57" y="22"/>
                  </a:cxn>
                  <a:cxn ang="0">
                    <a:pos x="117" y="23"/>
                  </a:cxn>
                  <a:cxn ang="0">
                    <a:pos x="114" y="8"/>
                  </a:cxn>
                  <a:cxn ang="0">
                    <a:pos x="82" y="3"/>
                  </a:cxn>
                  <a:cxn ang="0">
                    <a:pos x="21" y="1"/>
                  </a:cxn>
                </a:cxnLst>
                <a:rect l="0" t="0" r="0" b="0"/>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ln>
            </p:spPr>
            <p:txBody>
              <a:bodyPr/>
              <a:lstStyle/>
              <a:p>
                <a:endParaRPr lang="zh-CN" altLang="en-US"/>
              </a:p>
            </p:txBody>
          </p:sp>
          <p:sp>
            <p:nvSpPr>
              <p:cNvPr id="3317" name="Freeform 245"/>
              <p:cNvSpPr/>
              <p:nvPr/>
            </p:nvSpPr>
            <p:spPr>
              <a:xfrm>
                <a:off x="5078" y="1540"/>
                <a:ext cx="565" cy="146"/>
              </a:xfrm>
              <a:custGeom>
                <a:avLst/>
                <a:gdLst/>
                <a:ahLst/>
                <a:cxnLst>
                  <a:cxn ang="0">
                    <a:pos x="98" y="19"/>
                  </a:cxn>
                  <a:cxn ang="0">
                    <a:pos x="103" y="4"/>
                  </a:cxn>
                  <a:cxn ang="0">
                    <a:pos x="74" y="10"/>
                  </a:cxn>
                  <a:cxn ang="0">
                    <a:pos x="36" y="6"/>
                  </a:cxn>
                  <a:cxn ang="0">
                    <a:pos x="2" y="4"/>
                  </a:cxn>
                  <a:cxn ang="0">
                    <a:pos x="98" y="19"/>
                  </a:cxn>
                </a:cxnLst>
                <a:rect l="0" t="0" r="0" b="0"/>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ln>
            </p:spPr>
            <p:txBody>
              <a:bodyPr/>
              <a:lstStyle/>
              <a:p>
                <a:endParaRPr lang="zh-CN" altLang="en-US"/>
              </a:p>
            </p:txBody>
          </p:sp>
          <p:sp>
            <p:nvSpPr>
              <p:cNvPr id="3318" name="Freeform 246"/>
              <p:cNvSpPr/>
              <p:nvPr/>
            </p:nvSpPr>
            <p:spPr>
              <a:xfrm>
                <a:off x="5041" y="1657"/>
                <a:ext cx="581" cy="479"/>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0" b="0"/>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ln>
            </p:spPr>
            <p:txBody>
              <a:bodyPr/>
              <a:lstStyle/>
              <a:p>
                <a:endParaRPr lang="zh-CN" altLang="en-US"/>
              </a:p>
            </p:txBody>
          </p:sp>
          <p:sp>
            <p:nvSpPr>
              <p:cNvPr id="3319" name="Freeform 247"/>
              <p:cNvSpPr/>
              <p:nvPr/>
            </p:nvSpPr>
            <p:spPr>
              <a:xfrm>
                <a:off x="5420" y="1463"/>
                <a:ext cx="330"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0" b="0"/>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ln>
            </p:spPr>
            <p:txBody>
              <a:bodyPr/>
              <a:lstStyle/>
              <a:p>
                <a:endParaRPr lang="zh-CN" altLang="en-US"/>
              </a:p>
            </p:txBody>
          </p:sp>
        </p:grpSp>
      </p:grpSp>
      <p:sp>
        <p:nvSpPr>
          <p:cNvPr id="2" name="标题 1"/>
          <p:cNvSpPr>
            <a:spLocks noGrp="1"/>
          </p:cNvSpPr>
          <p:nvPr>
            <p:ph type="title"/>
          </p:nvPr>
        </p:nvSpPr>
        <p:spPr>
          <a:xfrm>
            <a:off x="457200" y="274638"/>
            <a:ext cx="8229600"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99" name="日期占位符 4"/>
          <p:cNvSpPr>
            <a:spLocks noGrp="1"/>
          </p:cNvSpPr>
          <p:nvPr>
            <p:ph type="dt" sz="half" idx="1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0" name="页脚占位符 5"/>
          <p:cNvSpPr>
            <a:spLocks noGrp="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1" name="灯片编号占位符 6"/>
          <p:cNvSpPr>
            <a:spLocks noGrp="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第</a:t>
            </a:r>
            <a:fld id="{51B6AC01-7A14-4154-8492-A93A377ACFDA}" type="slidenum">
              <a:rPr kumimoji="0" lang="zh-CN" altLang="en-US"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r>
              <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hasCustomPrompt="1"/>
          </p:nvPr>
        </p:nvSpPr>
        <p:spPr/>
        <p:txBody>
          <a:bodyPr/>
          <a:lstStyle/>
          <a:p>
            <a:r>
              <a:rPr lang="en-US"/>
              <a:t>Title</a:t>
            </a:r>
          </a:p>
        </p:txBody>
      </p:sp>
      <p:sp>
        <p:nvSpPr>
          <p:cNvPr id="3" name="Text 2"/>
          <p:cNvSpPr>
            <a:spLocks noGrp="1"/>
          </p:cNvSpPr>
          <p:nvPr>
            <p:ph type="body" idx="1" hasCustomPrompt="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10/20/2025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单击此处编辑母版标题样式</a:t>
            </a:r>
          </a:p>
        </p:txBody>
      </p:sp>
      <p:sp>
        <p:nvSpPr>
          <p:cNvPr id="3" name="内容占位符 2"/>
          <p:cNvSpPr>
            <a:spLocks noGrp="1"/>
          </p:cNvSpPr>
          <p:nvPr>
            <p:ph idx="1"/>
          </p:nvPr>
        </p:nvSpPr>
        <p:spPr>
          <a:xfrm>
            <a:off x="228600" y="1201271"/>
            <a:ext cx="8592671" cy="4876801"/>
          </a:xfrm>
        </p:spPr>
        <p:txBody>
          <a:bodyPr/>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87BBDC00-B9E2-4EFD-9306-2934E87247C6}" type="slidenum">
              <a:rPr lang="zh-CN" altLang="en-US" smtClean="0"/>
              <a:t>‹#›</a:t>
            </a:fld>
            <a:endParaRPr lang="zh-CN" altLang="en-US"/>
          </a:p>
        </p:txBody>
      </p:sp>
      <p:sp>
        <p:nvSpPr>
          <p:cNvPr id="5" name="Rectangle 7"/>
          <p:cNvSpPr>
            <a:spLocks noGrp="1" noChangeArrowheads="1"/>
          </p:cNvSpPr>
          <p:nvPr>
            <p:ph type="title"/>
          </p:nvPr>
        </p:nvSpPr>
        <p:spPr bwMode="auto">
          <a:xfrm>
            <a:off x="787914" y="109584"/>
            <a:ext cx="7568173" cy="678470"/>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p>
        </p:txBody>
      </p:sp>
      <p:sp>
        <p:nvSpPr>
          <p:cNvPr id="8" name="Rectangle 4"/>
          <p:cNvSpPr>
            <a:spLocks noGrp="1" noChangeArrowheads="1"/>
          </p:cNvSpPr>
          <p:nvPr>
            <p:ph idx="1"/>
          </p:nvPr>
        </p:nvSpPr>
        <p:spPr bwMode="auto">
          <a:xfrm>
            <a:off x="342900" y="1125538"/>
            <a:ext cx="8155641"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298450" y="6245225"/>
            <a:ext cx="2289175" cy="47625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3121025" y="6245225"/>
            <a:ext cx="2895600" cy="476250"/>
          </a:xfrm>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fld id="{9A0DB2DC-4C9A-4742-B13C-FB6460FD3503}" type="slidenum">
              <a:rPr lang="en-US" altLang="zh-CN" sz="1400" strike="noStrike" noProof="1" dirty="0">
                <a:latin typeface="Arial" panose="020B0604020202020204" pitchFamily="34" charset="0"/>
                <a:ea typeface="宋体" panose="02010600030101010101" pitchFamily="2" charset="-122"/>
                <a:cs typeface="+mn-ea"/>
              </a:rPr>
              <a:t>‹#›</a:t>
            </a:fld>
            <a:endParaRPr lang="en-US" altLang="zh-CN" sz="1400"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cSld>
  <p:clrMapOvr>
    <a:masterClrMapping/>
  </p:clrMapOvr>
  <p:transition>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cSld>
  <p:clrMapOvr>
    <a:masterClrMapping/>
  </p:clrMapOvr>
  <p:transition>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Tree>
  </p:cSld>
  <p:clrMapOvr>
    <a:masterClrMapping/>
  </p:clrMapOvr>
  <p:transition>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transition>
    <p:zo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p:transition>
    <p:zo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zo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zo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752475" y="1047750"/>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52975" y="1047750"/>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9525"/>
            <a:ext cx="2019300" cy="59150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28650" y="9525"/>
            <a:ext cx="5905500" cy="59150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1"/>
            <a:ext cx="7772400" cy="389466"/>
          </a:xfrm>
          <a:prstGeom prst="rect">
            <a:avLst/>
          </a:prstGeom>
        </p:spPr>
        <p:txBody>
          <a:bodyPr wrap="square" lIns="0" tIns="0" rIns="0" bIns="0">
            <a:spAutoFit/>
          </a:bodyPr>
          <a:lstStyle>
            <a:lvl1pPr>
              <a:defRPr sz="2531" b="1" i="0">
                <a:solidFill>
                  <a:srgbClr val="031793"/>
                </a:solidFill>
                <a:latin typeface="Palatino Linotype"/>
                <a:cs typeface="Palatino Linotype"/>
              </a:defRPr>
            </a:lvl1pPr>
          </a:lstStyle>
          <a:p>
            <a:endParaRPr/>
          </a:p>
        </p:txBody>
      </p:sp>
      <p:sp>
        <p:nvSpPr>
          <p:cNvPr id="3" name="Holder 3"/>
          <p:cNvSpPr>
            <a:spLocks noGrp="1"/>
          </p:cNvSpPr>
          <p:nvPr>
            <p:ph type="subTitle" idx="4"/>
          </p:nvPr>
        </p:nvSpPr>
        <p:spPr>
          <a:xfrm>
            <a:off x="1371600" y="3840480"/>
            <a:ext cx="6400800" cy="303032"/>
          </a:xfrm>
          <a:prstGeom prst="rect">
            <a:avLst/>
          </a:prstGeom>
        </p:spPr>
        <p:txBody>
          <a:bodyPr wrap="square" lIns="0" tIns="0" rIns="0" bIns="0">
            <a:spAutoFit/>
          </a:bodyPr>
          <a:lstStyle>
            <a:lvl1pPr>
              <a:defRPr sz="1969" b="0"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821042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919758" y="276820"/>
            <a:ext cx="5196185" cy="389466"/>
          </a:xfrm>
        </p:spPr>
        <p:txBody>
          <a:bodyPr lIns="0" tIns="0" rIns="0" bIns="0"/>
          <a:lstStyle>
            <a:lvl1pPr>
              <a:defRPr sz="2531" b="1" i="0">
                <a:solidFill>
                  <a:srgbClr val="031793"/>
                </a:solidFill>
                <a:latin typeface="Palatino Linotype"/>
                <a:cs typeface="Palatino Linotype"/>
              </a:defRPr>
            </a:lvl1pPr>
          </a:lstStyle>
          <a:p>
            <a:endParaRPr/>
          </a:p>
        </p:txBody>
      </p:sp>
      <p:sp>
        <p:nvSpPr>
          <p:cNvPr id="3" name="Holder 3"/>
          <p:cNvSpPr>
            <a:spLocks noGrp="1"/>
          </p:cNvSpPr>
          <p:nvPr>
            <p:ph type="body" idx="1"/>
          </p:nvPr>
        </p:nvSpPr>
        <p:spPr>
          <a:xfrm>
            <a:off x="1660922" y="3139678"/>
            <a:ext cx="6169968" cy="303032"/>
          </a:xfrm>
        </p:spPr>
        <p:txBody>
          <a:bodyPr lIns="0" tIns="0" rIns="0" bIns="0"/>
          <a:lstStyle>
            <a:lvl1pPr>
              <a:defRPr sz="1969" b="0"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517784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919758" y="276820"/>
            <a:ext cx="5196185" cy="389466"/>
          </a:xfrm>
        </p:spPr>
        <p:txBody>
          <a:bodyPr lIns="0" tIns="0" rIns="0" bIns="0"/>
          <a:lstStyle>
            <a:lvl1pPr>
              <a:defRPr sz="2531" b="1" i="0">
                <a:solidFill>
                  <a:srgbClr val="031793"/>
                </a:solidFill>
                <a:latin typeface="Palatino Linotype"/>
                <a:cs typeface="Palatino Linotype"/>
              </a:defRPr>
            </a:lvl1pPr>
          </a:lstStyle>
          <a:p>
            <a:endParaRPr/>
          </a:p>
        </p:txBody>
      </p:sp>
      <p:sp>
        <p:nvSpPr>
          <p:cNvPr id="3" name="Holder 3"/>
          <p:cNvSpPr>
            <a:spLocks noGrp="1"/>
          </p:cNvSpPr>
          <p:nvPr>
            <p:ph sz="half" idx="2"/>
          </p:nvPr>
        </p:nvSpPr>
        <p:spPr>
          <a:xfrm>
            <a:off x="457200" y="1577340"/>
            <a:ext cx="397764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331086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919758" y="276820"/>
            <a:ext cx="5196185" cy="389466"/>
          </a:xfrm>
        </p:spPr>
        <p:txBody>
          <a:bodyPr lIns="0" tIns="0" rIns="0" bIns="0"/>
          <a:lstStyle>
            <a:lvl1pPr>
              <a:defRPr sz="2531" b="1" i="0">
                <a:solidFill>
                  <a:srgbClr val="031793"/>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092762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548758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单击此处编辑母版标题样式</a:t>
            </a:r>
          </a:p>
        </p:txBody>
      </p:sp>
      <p:sp>
        <p:nvSpPr>
          <p:cNvPr id="3" name="内容占位符 2"/>
          <p:cNvSpPr>
            <a:spLocks noGrp="1"/>
          </p:cNvSpPr>
          <p:nvPr>
            <p:ph idx="1"/>
          </p:nvPr>
        </p:nvSpPr>
        <p:spPr>
          <a:xfrm>
            <a:off x="228600" y="1201271"/>
            <a:ext cx="8592671" cy="4876801"/>
          </a:xfrm>
        </p:spPr>
        <p:txBody>
          <a:bodyPr/>
          <a:lstStyle>
            <a:lvl1pPr>
              <a:defRPr>
                <a:latin typeface="SimHei" panose="02010609060101010101" pitchFamily="49" charset="-122"/>
                <a:ea typeface="SimHei" panose="02010609060101010101" pitchFamily="49" charset="-122"/>
              </a:defRPr>
            </a:lvl1pPr>
            <a:lvl2pPr>
              <a:defRPr>
                <a:latin typeface="SimHei" panose="02010609060101010101" pitchFamily="49" charset="-122"/>
                <a:ea typeface="SimHei" panose="02010609060101010101" pitchFamily="49" charset="-122"/>
              </a:defRPr>
            </a:lvl2pPr>
            <a:lvl3pPr>
              <a:defRPr>
                <a:latin typeface="SimHei" panose="02010609060101010101" pitchFamily="49" charset="-122"/>
                <a:ea typeface="SimHei" panose="02010609060101010101" pitchFamily="49" charset="-122"/>
              </a:defRPr>
            </a:lvl3pPr>
            <a:lvl4pPr>
              <a:defRPr>
                <a:latin typeface="SimHei" panose="02010609060101010101" pitchFamily="49" charset="-122"/>
                <a:ea typeface="SimHei" panose="02010609060101010101" pitchFamily="49" charset="-122"/>
              </a:defRPr>
            </a:lvl4pPr>
            <a:lvl5pPr>
              <a:defRPr>
                <a:latin typeface="SimHei" panose="02010609060101010101" pitchFamily="49" charset="-122"/>
                <a:ea typeface="SimHei" panose="02010609060101010101" pitchFamily="49"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页脚占位符 4"/>
          <p:cNvSpPr>
            <a:spLocks noGrp="1"/>
          </p:cNvSpPr>
          <p:nvPr>
            <p:ph type="ftr" sz="quarter" idx="11"/>
          </p:nvPr>
        </p:nvSpPr>
        <p:spPr>
          <a:xfrm>
            <a:off x="3028950" y="6356350"/>
            <a:ext cx="3086100" cy="501650"/>
          </a:xfrm>
          <a:prstGeom prst="rect">
            <a:avLst/>
          </a:prstGeom>
        </p:spPr>
        <p:txBody>
          <a:bodyPr vert="horz" lIns="91440" tIns="45720" rIns="91440" bIns="45720" rtlCol="0" anchor="ctr"/>
          <a:lstStyle>
            <a:defPPr>
              <a:defRPr lang="zh-CN"/>
            </a:defPPr>
            <a:lvl1pPr marL="0" algn="ctr" defTabSz="685800" rtl="0" eaLnBrk="1" latinLnBrk="0" hangingPunct="1">
              <a:defRPr sz="900" kern="1200">
                <a:solidFill>
                  <a:schemeClr val="tx1">
                    <a:tint val="75000"/>
                  </a:schemeClr>
                </a:solidFill>
                <a:latin typeface="SimHei" panose="02010609060101010101" pitchFamily="49" charset="-122"/>
                <a:ea typeface="SimHei" panose="02010609060101010101" pitchFamily="49"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1" lang="zh-CN" altLang="en-US"/>
              <a:t>数据库系统</a:t>
            </a:r>
            <a:r>
              <a:rPr kumimoji="1" lang="en-US" altLang="zh-CN"/>
              <a:t>—</a:t>
            </a:r>
            <a:r>
              <a:rPr kumimoji="1" lang="zh-CN" altLang="en-US"/>
              <a:t>索引</a:t>
            </a:r>
            <a:endParaRPr kumimoji="1" lang="zh-CN" altLang="en-US" dirty="0">
              <a:latin typeface="SimHei" panose="02010609060101010101" pitchFamily="49" charset="-122"/>
              <a:ea typeface="SimHei" panose="02010609060101010101" pitchFamily="49" charset="-122"/>
            </a:endParaRP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pic>
        <p:nvPicPr>
          <p:cNvPr id="4" name="图片 3"/>
          <p:cNvPicPr>
            <a:picLocks noChangeAspect="1"/>
          </p:cNvPicPr>
          <p:nvPr userDrawn="1"/>
        </p:nvPicPr>
        <p:blipFill>
          <a:blip r:embed="rId2"/>
          <a:stretch>
            <a:fillRect/>
          </a:stretch>
        </p:blipFill>
        <p:spPr>
          <a:xfrm>
            <a:off x="1" y="1"/>
            <a:ext cx="775446" cy="1135529"/>
          </a:xfrm>
          <a:prstGeom prst="rect">
            <a:avLst/>
          </a:prstGeom>
        </p:spPr>
      </p:pic>
      <p:pic>
        <p:nvPicPr>
          <p:cNvPr id="7" name="图片 6"/>
          <p:cNvPicPr>
            <a:picLocks noChangeAspect="1"/>
          </p:cNvPicPr>
          <p:nvPr userDrawn="1"/>
        </p:nvPicPr>
        <p:blipFill>
          <a:blip r:embed="rId2"/>
          <a:stretch>
            <a:fillRect/>
          </a:stretch>
        </p:blipFill>
        <p:spPr>
          <a:xfrm>
            <a:off x="8393245" y="-20914"/>
            <a:ext cx="750755" cy="1135529"/>
          </a:xfrm>
          <a:prstGeom prst="rect">
            <a:avLst/>
          </a:prstGeom>
        </p:spPr>
      </p:pic>
    </p:spTree>
    <p:extLst>
      <p:ext uri="{BB962C8B-B14F-4D97-AF65-F5344CB8AC3E}">
        <p14:creationId xmlns:p14="http://schemas.microsoft.com/office/powerpoint/2010/main" val="2861142019"/>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A43A6EF-72EA-BF49-9572-4A36487CB914}"/>
              </a:ext>
            </a:extLst>
          </p:cNvPr>
          <p:cNvSpPr>
            <a:spLocks noGrp="1"/>
          </p:cNvSpPr>
          <p:nvPr>
            <p:ph type="sldNum" sz="quarter" idx="10"/>
          </p:nvPr>
        </p:nvSpPr>
        <p:spPr/>
        <p:txBody>
          <a:bodyPr/>
          <a:lstStyle/>
          <a:p>
            <a:fld id="{87BBDC00-B9E2-4EFD-9306-2934E87247C6}" type="slidenum">
              <a:rPr lang="zh-CN" altLang="en-US" smtClean="0"/>
              <a:pPr/>
              <a:t>‹#›</a:t>
            </a:fld>
            <a:endParaRPr lang="zh-CN" altLang="en-US"/>
          </a:p>
        </p:txBody>
      </p:sp>
      <p:sp>
        <p:nvSpPr>
          <p:cNvPr id="5" name="Rectangle 7">
            <a:extLst>
              <a:ext uri="{FF2B5EF4-FFF2-40B4-BE49-F238E27FC236}">
                <a16:creationId xmlns:a16="http://schemas.microsoft.com/office/drawing/2014/main" id="{A0DC9526-AEAB-C547-9BBC-659D55C0F681}"/>
              </a:ext>
            </a:extLst>
          </p:cNvPr>
          <p:cNvSpPr>
            <a:spLocks noGrp="1" noChangeArrowheads="1"/>
          </p:cNvSpPr>
          <p:nvPr>
            <p:ph type="title"/>
          </p:nvPr>
        </p:nvSpPr>
        <p:spPr bwMode="auto">
          <a:xfrm>
            <a:off x="787914" y="109584"/>
            <a:ext cx="7568173"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8" name="Rectangle 4">
            <a:extLst>
              <a:ext uri="{FF2B5EF4-FFF2-40B4-BE49-F238E27FC236}">
                <a16:creationId xmlns:a16="http://schemas.microsoft.com/office/drawing/2014/main" id="{E17AFDEE-BBF8-634D-A3D6-F4ABC9CB6190}"/>
              </a:ext>
            </a:extLst>
          </p:cNvPr>
          <p:cNvSpPr>
            <a:spLocks noGrp="1" noChangeArrowheads="1"/>
          </p:cNvSpPr>
          <p:nvPr>
            <p:ph idx="1"/>
          </p:nvPr>
        </p:nvSpPr>
        <p:spPr bwMode="auto">
          <a:xfrm>
            <a:off x="342900" y="1125538"/>
            <a:ext cx="8155641"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a:latin typeface="SimHei" panose="02010609060101010101" pitchFamily="49" charset="-122"/>
                <a:ea typeface="SimHei" panose="02010609060101010101" pitchFamily="49" charset="-122"/>
              </a:defRPr>
            </a:lvl1pPr>
            <a:lvl2pPr>
              <a:defRPr>
                <a:latin typeface="SimHei" panose="02010609060101010101" pitchFamily="49" charset="-122"/>
                <a:ea typeface="SimHei" panose="02010609060101010101" pitchFamily="49" charset="-122"/>
              </a:defRPr>
            </a:lvl2pPr>
            <a:lvl3pPr>
              <a:defRPr>
                <a:latin typeface="SimHei" panose="02010609060101010101" pitchFamily="49" charset="-122"/>
                <a:ea typeface="SimHei" panose="02010609060101010101" pitchFamily="49" charset="-122"/>
              </a:defRPr>
            </a:lvl3pPr>
            <a:lvl4pPr>
              <a:defRPr>
                <a:latin typeface="SimHei" panose="02010609060101010101" pitchFamily="49" charset="-122"/>
                <a:ea typeface="SimHei" panose="02010609060101010101" pitchFamily="49" charset="-122"/>
              </a:defRPr>
            </a:lvl4pPr>
            <a:lvl5pPr>
              <a:defRPr>
                <a:latin typeface="SimHei" panose="02010609060101010101" pitchFamily="49" charset="-122"/>
                <a:ea typeface="SimHei"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9" name="Rectangle 6">
            <a:extLst>
              <a:ext uri="{FF2B5EF4-FFF2-40B4-BE49-F238E27FC236}">
                <a16:creationId xmlns:a16="http://schemas.microsoft.com/office/drawing/2014/main" id="{E0A0153D-2D6F-DA49-B92D-436E519A825E}"/>
              </a:ext>
            </a:extLst>
          </p:cNvPr>
          <p:cNvSpPr>
            <a:spLocks noGrp="1" noChangeArrowheads="1"/>
          </p:cNvSpPr>
          <p:nvPr>
            <p:ph type="ftr" sz="quarter" idx="3"/>
          </p:nvPr>
        </p:nvSpPr>
        <p:spPr bwMode="auto">
          <a:xfrm>
            <a:off x="3067925" y="6548438"/>
            <a:ext cx="2889647"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900">
                <a:latin typeface="SimHei" panose="02010609060101010101" pitchFamily="49" charset="-122"/>
                <a:ea typeface="SimHei" panose="02010609060101010101" pitchFamily="49" charset="-122"/>
                <a:cs typeface="+mn-cs"/>
              </a:defRPr>
            </a:lvl1pPr>
          </a:lstStyle>
          <a:p>
            <a:pPr>
              <a:defRPr/>
            </a:pPr>
            <a:r>
              <a:rPr lang="zh-CN" altLang="en-US"/>
              <a:t>数据库系统</a:t>
            </a:r>
            <a:r>
              <a:rPr lang="en-US" altLang="zh-CN"/>
              <a:t>—</a:t>
            </a:r>
            <a:r>
              <a:rPr lang="zh-CN" altLang="en-US"/>
              <a:t>索引</a:t>
            </a:r>
            <a:endParaRPr lang="en-US" altLang="zh-CN" sz="900" dirty="0"/>
          </a:p>
        </p:txBody>
      </p:sp>
      <p:pic>
        <p:nvPicPr>
          <p:cNvPr id="6" name="图片 5"/>
          <p:cNvPicPr>
            <a:picLocks noChangeAspect="1"/>
          </p:cNvPicPr>
          <p:nvPr userDrawn="1"/>
        </p:nvPicPr>
        <p:blipFill>
          <a:blip r:embed="rId2"/>
          <a:stretch>
            <a:fillRect/>
          </a:stretch>
        </p:blipFill>
        <p:spPr>
          <a:xfrm>
            <a:off x="1" y="1"/>
            <a:ext cx="775446" cy="1135529"/>
          </a:xfrm>
          <a:prstGeom prst="rect">
            <a:avLst/>
          </a:prstGeom>
        </p:spPr>
      </p:pic>
      <p:pic>
        <p:nvPicPr>
          <p:cNvPr id="7" name="图片 6"/>
          <p:cNvPicPr>
            <a:picLocks noChangeAspect="1"/>
          </p:cNvPicPr>
          <p:nvPr userDrawn="1"/>
        </p:nvPicPr>
        <p:blipFill>
          <a:blip r:embed="rId2"/>
          <a:stretch>
            <a:fillRect/>
          </a:stretch>
        </p:blipFill>
        <p:spPr>
          <a:xfrm>
            <a:off x="8393245" y="-20914"/>
            <a:ext cx="750755" cy="1135529"/>
          </a:xfrm>
          <a:prstGeom prst="rect">
            <a:avLst/>
          </a:prstGeom>
        </p:spPr>
      </p:pic>
    </p:spTree>
    <p:extLst>
      <p:ext uri="{BB962C8B-B14F-4D97-AF65-F5344CB8AC3E}">
        <p14:creationId xmlns:p14="http://schemas.microsoft.com/office/powerpoint/2010/main" val="1692805909"/>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494935" y="2513834"/>
            <a:ext cx="6153930" cy="82404"/>
          </a:xfrm>
          <a:prstGeom prst="rect">
            <a:avLst/>
          </a:prstGeom>
        </p:spPr>
      </p:pic>
      <p:sp>
        <p:nvSpPr>
          <p:cNvPr id="2" name="Holder 2"/>
          <p:cNvSpPr>
            <a:spLocks noGrp="1"/>
          </p:cNvSpPr>
          <p:nvPr>
            <p:ph type="ctrTitle"/>
          </p:nvPr>
        </p:nvSpPr>
        <p:spPr>
          <a:xfrm>
            <a:off x="3756127" y="1148739"/>
            <a:ext cx="1631747" cy="353495"/>
          </a:xfrm>
          <a:prstGeom prst="rect">
            <a:avLst/>
          </a:prstGeom>
        </p:spPr>
        <p:txBody>
          <a:bodyPr wrap="square" lIns="0" tIns="0" rIns="0" bIns="0">
            <a:spAutoFit/>
          </a:bodyPr>
          <a:lstStyle>
            <a:lvl1pPr>
              <a:defRPr sz="2297" b="0" i="0">
                <a:solidFill>
                  <a:srgbClr val="0365C0"/>
                </a:solidFill>
                <a:latin typeface="Arial MT"/>
                <a:cs typeface="Arial MT"/>
              </a:defRPr>
            </a:lvl1pPr>
          </a:lstStyle>
          <a:p>
            <a:endParaRPr/>
          </a:p>
        </p:txBody>
      </p:sp>
      <p:sp>
        <p:nvSpPr>
          <p:cNvPr id="3" name="Holder 3"/>
          <p:cNvSpPr>
            <a:spLocks noGrp="1"/>
          </p:cNvSpPr>
          <p:nvPr>
            <p:ph type="subTitle" idx="4"/>
          </p:nvPr>
        </p:nvSpPr>
        <p:spPr>
          <a:xfrm>
            <a:off x="1371600" y="3840480"/>
            <a:ext cx="6400800" cy="622927"/>
          </a:xfrm>
          <a:prstGeom prst="rect">
            <a:avLst/>
          </a:prstGeom>
        </p:spPr>
        <p:txBody>
          <a:bodyPr wrap="square" lIns="0" tIns="0" rIns="0" bIns="0">
            <a:spAutoFit/>
          </a:bodyPr>
          <a:lstStyle>
            <a:lvl1pPr>
              <a:defRPr sz="4048" b="0" i="0">
                <a:solidFill>
                  <a:srgbClr val="0365C0"/>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209588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691910" y="75040"/>
            <a:ext cx="5829228" cy="353495"/>
          </a:xfrm>
        </p:spPr>
        <p:txBody>
          <a:bodyPr lIns="0" tIns="0" rIns="0" bIns="0"/>
          <a:lstStyle>
            <a:lvl1pPr>
              <a:defRPr sz="2297" b="0" i="0">
                <a:solidFill>
                  <a:srgbClr val="0365C0"/>
                </a:solidFill>
                <a:latin typeface="Arial MT"/>
                <a:cs typeface="Arial MT"/>
              </a:defRPr>
            </a:lvl1pPr>
          </a:lstStyle>
          <a:p>
            <a:endParaRPr/>
          </a:p>
        </p:txBody>
      </p:sp>
      <p:sp>
        <p:nvSpPr>
          <p:cNvPr id="3" name="Holder 3"/>
          <p:cNvSpPr>
            <a:spLocks noGrp="1"/>
          </p:cNvSpPr>
          <p:nvPr>
            <p:ph type="body" idx="1"/>
          </p:nvPr>
        </p:nvSpPr>
        <p:spPr>
          <a:xfrm>
            <a:off x="2060383" y="1754536"/>
            <a:ext cx="5023233" cy="622927"/>
          </a:xfrm>
        </p:spPr>
        <p:txBody>
          <a:bodyPr lIns="0" tIns="0" rIns="0" bIns="0"/>
          <a:lstStyle>
            <a:lvl1pPr>
              <a:defRPr sz="4048" b="0" i="0">
                <a:solidFill>
                  <a:srgbClr val="0365C0"/>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946790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691910" y="75040"/>
            <a:ext cx="5829228" cy="353495"/>
          </a:xfrm>
        </p:spPr>
        <p:txBody>
          <a:bodyPr lIns="0" tIns="0" rIns="0" bIns="0"/>
          <a:lstStyle>
            <a:lvl1pPr>
              <a:defRPr sz="2297" b="0" i="0">
                <a:solidFill>
                  <a:srgbClr val="0365C0"/>
                </a:solidFill>
                <a:latin typeface="Arial MT"/>
                <a:cs typeface="Arial MT"/>
              </a:defRPr>
            </a:lvl1pPr>
          </a:lstStyle>
          <a:p>
            <a:endParaRPr/>
          </a:p>
        </p:txBody>
      </p:sp>
      <p:sp>
        <p:nvSpPr>
          <p:cNvPr id="3" name="Holder 3"/>
          <p:cNvSpPr>
            <a:spLocks noGrp="1"/>
          </p:cNvSpPr>
          <p:nvPr>
            <p:ph sz="half" idx="2"/>
          </p:nvPr>
        </p:nvSpPr>
        <p:spPr>
          <a:xfrm>
            <a:off x="457200" y="1577340"/>
            <a:ext cx="3977640" cy="136960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136960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668667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494935" y="2513834"/>
            <a:ext cx="6153930" cy="82404"/>
          </a:xfrm>
          <a:prstGeom prst="rect">
            <a:avLst/>
          </a:prstGeom>
        </p:spPr>
      </p:pic>
      <p:sp>
        <p:nvSpPr>
          <p:cNvPr id="2" name="Holder 2"/>
          <p:cNvSpPr>
            <a:spLocks noGrp="1"/>
          </p:cNvSpPr>
          <p:nvPr>
            <p:ph type="title"/>
          </p:nvPr>
        </p:nvSpPr>
        <p:spPr>
          <a:xfrm>
            <a:off x="1691910" y="75040"/>
            <a:ext cx="5829228" cy="353495"/>
          </a:xfrm>
        </p:spPr>
        <p:txBody>
          <a:bodyPr lIns="0" tIns="0" rIns="0" bIns="0"/>
          <a:lstStyle>
            <a:lvl1pPr>
              <a:defRPr sz="2297" b="0" i="0">
                <a:solidFill>
                  <a:srgbClr val="0365C0"/>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987719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6762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2.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theme" Target="../theme/theme6.xml"/><Relationship Id="rId5" Type="http://schemas.openxmlformats.org/officeDocument/2006/relationships/slideLayout" Target="../slideLayouts/slideLayout54.xml"/><Relationship Id="rId4" Type="http://schemas.openxmlformats.org/officeDocument/2006/relationships/slideLayout" Target="../slideLayouts/slideLayout53.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56.xml"/><Relationship Id="rId1" Type="http://schemas.openxmlformats.org/officeDocument/2006/relationships/slideLayout" Target="../slideLayouts/slideLayout55.xml"/><Relationship Id="rId5" Type="http://schemas.openxmlformats.org/officeDocument/2006/relationships/image" Target="../media/image3.png"/><Relationship Id="rId4" Type="http://schemas.openxmlformats.org/officeDocument/2006/relationships/image" Target="../media/image2.tiff"/></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59.xml"/><Relationship Id="rId7" Type="http://schemas.openxmlformats.org/officeDocument/2006/relationships/image" Target="../media/image5.png"/><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theme" Target="../theme/theme8.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a:xfrm>
            <a:off x="566738" y="0"/>
            <a:ext cx="7891462" cy="6821488"/>
            <a:chOff x="349" y="23"/>
            <a:chExt cx="4971" cy="4297"/>
          </a:xfrm>
        </p:grpSpPr>
        <p:sp>
          <p:nvSpPr>
            <p:cNvPr id="1027" name="Rectangle 3"/>
            <p:cNvSpPr/>
            <p:nvPr/>
          </p:nvSpPr>
          <p:spPr>
            <a:xfrm>
              <a:off x="384"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28" name="Freeform 4"/>
            <p:cNvSpPr>
              <a:spLocks noEditPoints="1"/>
            </p:cNvSpPr>
            <p:nvPr/>
          </p:nvSpPr>
          <p:spPr>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29" name="Freeform 5"/>
            <p:cNvSpPr>
              <a:spLocks noEditPoints="1"/>
            </p:cNvSpPr>
            <p:nvPr/>
          </p:nvSpPr>
          <p:spPr>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0" name="Freeform 6"/>
            <p:cNvSpPr>
              <a:spLocks noEditPoints="1"/>
            </p:cNvSpPr>
            <p:nvPr/>
          </p:nvSpPr>
          <p:spPr>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1" name="Freeform 7"/>
            <p:cNvSpPr>
              <a:spLocks noEditPoints="1"/>
            </p:cNvSpPr>
            <p:nvPr/>
          </p:nvSpPr>
          <p:spPr>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2" name="Freeform 8"/>
            <p:cNvSpPr>
              <a:spLocks noEditPoints="1"/>
            </p:cNvSpPr>
            <p:nvPr/>
          </p:nvSpPr>
          <p:spPr>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3" name="Freeform 9"/>
            <p:cNvSpPr>
              <a:spLocks noEditPoints="1"/>
            </p:cNvSpPr>
            <p:nvPr/>
          </p:nvSpPr>
          <p:spPr>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4" name="Freeform 10"/>
            <p:cNvSpPr>
              <a:spLocks noEditPoints="1"/>
            </p:cNvSpPr>
            <p:nvPr/>
          </p:nvSpPr>
          <p:spPr>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5" name="Freeform 11"/>
            <p:cNvSpPr>
              <a:spLocks noEditPoints="1"/>
            </p:cNvSpPr>
            <p:nvPr/>
          </p:nvSpPr>
          <p:spPr>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6" name="Freeform 12"/>
            <p:cNvSpPr>
              <a:spLocks noEditPoints="1"/>
            </p:cNvSpPr>
            <p:nvPr/>
          </p:nvSpPr>
          <p:spPr>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7" name="Freeform 13"/>
            <p:cNvSpPr>
              <a:spLocks noEditPoints="1"/>
            </p:cNvSpPr>
            <p:nvPr/>
          </p:nvSpPr>
          <p:spPr>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38" name="Rectangle 14"/>
            <p:cNvSpPr/>
            <p:nvPr/>
          </p:nvSpPr>
          <p:spPr>
            <a:xfrm>
              <a:off x="384"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39" name="Rectangle 15"/>
            <p:cNvSpPr/>
            <p:nvPr/>
          </p:nvSpPr>
          <p:spPr>
            <a:xfrm>
              <a:off x="829"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40" name="Freeform 16"/>
            <p:cNvSpPr>
              <a:spLocks noEditPoints="1"/>
            </p:cNvSpPr>
            <p:nvPr/>
          </p:nvSpPr>
          <p:spPr>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1" name="Freeform 17"/>
            <p:cNvSpPr>
              <a:spLocks noEditPoints="1"/>
            </p:cNvSpPr>
            <p:nvPr/>
          </p:nvSpPr>
          <p:spPr>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2" name="Freeform 18"/>
            <p:cNvSpPr>
              <a:spLocks noEditPoints="1"/>
            </p:cNvSpPr>
            <p:nvPr/>
          </p:nvSpPr>
          <p:spPr>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3" name="Freeform 19"/>
            <p:cNvSpPr>
              <a:spLocks noEditPoints="1"/>
            </p:cNvSpPr>
            <p:nvPr/>
          </p:nvSpPr>
          <p:spPr>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4" name="Freeform 20"/>
            <p:cNvSpPr>
              <a:spLocks noEditPoints="1"/>
            </p:cNvSpPr>
            <p:nvPr/>
          </p:nvSpPr>
          <p:spPr>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5" name="Freeform 21"/>
            <p:cNvSpPr>
              <a:spLocks noEditPoints="1"/>
            </p:cNvSpPr>
            <p:nvPr/>
          </p:nvSpPr>
          <p:spPr>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6" name="Freeform 22"/>
            <p:cNvSpPr>
              <a:spLocks noEditPoints="1"/>
            </p:cNvSpPr>
            <p:nvPr/>
          </p:nvSpPr>
          <p:spPr>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7" name="Freeform 23"/>
            <p:cNvSpPr>
              <a:spLocks noEditPoints="1"/>
            </p:cNvSpPr>
            <p:nvPr/>
          </p:nvSpPr>
          <p:spPr>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8" name="Freeform 24"/>
            <p:cNvSpPr>
              <a:spLocks noEditPoints="1"/>
            </p:cNvSpPr>
            <p:nvPr/>
          </p:nvSpPr>
          <p:spPr>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49" name="Freeform 25"/>
            <p:cNvSpPr>
              <a:spLocks noEditPoints="1"/>
            </p:cNvSpPr>
            <p:nvPr/>
          </p:nvSpPr>
          <p:spPr>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0" name="Rectangle 26"/>
            <p:cNvSpPr/>
            <p:nvPr/>
          </p:nvSpPr>
          <p:spPr>
            <a:xfrm>
              <a:off x="829"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51" name="Rectangle 27"/>
            <p:cNvSpPr/>
            <p:nvPr/>
          </p:nvSpPr>
          <p:spPr>
            <a:xfrm>
              <a:off x="1279"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52" name="Freeform 28"/>
            <p:cNvSpPr>
              <a:spLocks noEditPoints="1"/>
            </p:cNvSpPr>
            <p:nvPr/>
          </p:nvSpPr>
          <p:spPr>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3" name="Freeform 29"/>
            <p:cNvSpPr>
              <a:spLocks noEditPoints="1"/>
            </p:cNvSpPr>
            <p:nvPr/>
          </p:nvSpPr>
          <p:spPr>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4" name="Freeform 30"/>
            <p:cNvSpPr>
              <a:spLocks noEditPoints="1"/>
            </p:cNvSpPr>
            <p:nvPr/>
          </p:nvSpPr>
          <p:spPr>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5" name="Freeform 31"/>
            <p:cNvSpPr>
              <a:spLocks noEditPoints="1"/>
            </p:cNvSpPr>
            <p:nvPr/>
          </p:nvSpPr>
          <p:spPr>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6" name="Freeform 32"/>
            <p:cNvSpPr>
              <a:spLocks noEditPoints="1"/>
            </p:cNvSpPr>
            <p:nvPr/>
          </p:nvSpPr>
          <p:spPr>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7" name="Freeform 33"/>
            <p:cNvSpPr>
              <a:spLocks noEditPoints="1"/>
            </p:cNvSpPr>
            <p:nvPr/>
          </p:nvSpPr>
          <p:spPr>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8" name="Freeform 34"/>
            <p:cNvSpPr>
              <a:spLocks noEditPoints="1"/>
            </p:cNvSpPr>
            <p:nvPr/>
          </p:nvSpPr>
          <p:spPr>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59" name="Freeform 35"/>
            <p:cNvSpPr>
              <a:spLocks noEditPoints="1"/>
            </p:cNvSpPr>
            <p:nvPr/>
          </p:nvSpPr>
          <p:spPr>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0" name="Freeform 36"/>
            <p:cNvSpPr>
              <a:spLocks noEditPoints="1"/>
            </p:cNvSpPr>
            <p:nvPr/>
          </p:nvSpPr>
          <p:spPr>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1" name="Freeform 37"/>
            <p:cNvSpPr>
              <a:spLocks noEditPoints="1"/>
            </p:cNvSpPr>
            <p:nvPr/>
          </p:nvSpPr>
          <p:spPr>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2" name="Rectangle 38"/>
            <p:cNvSpPr/>
            <p:nvPr/>
          </p:nvSpPr>
          <p:spPr>
            <a:xfrm>
              <a:off x="1279"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63" name="Rectangle 39"/>
            <p:cNvSpPr/>
            <p:nvPr/>
          </p:nvSpPr>
          <p:spPr>
            <a:xfrm>
              <a:off x="1724"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64" name="Freeform 40"/>
            <p:cNvSpPr>
              <a:spLocks noEditPoints="1"/>
            </p:cNvSpPr>
            <p:nvPr/>
          </p:nvSpPr>
          <p:spPr>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5" name="Freeform 41"/>
            <p:cNvSpPr>
              <a:spLocks noEditPoints="1"/>
            </p:cNvSpPr>
            <p:nvPr/>
          </p:nvSpPr>
          <p:spPr>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6" name="Freeform 42"/>
            <p:cNvSpPr>
              <a:spLocks noEditPoints="1"/>
            </p:cNvSpPr>
            <p:nvPr/>
          </p:nvSpPr>
          <p:spPr>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7" name="Freeform 43"/>
            <p:cNvSpPr>
              <a:spLocks noEditPoints="1"/>
            </p:cNvSpPr>
            <p:nvPr/>
          </p:nvSpPr>
          <p:spPr>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8" name="Freeform 44"/>
            <p:cNvSpPr>
              <a:spLocks noEditPoints="1"/>
            </p:cNvSpPr>
            <p:nvPr/>
          </p:nvSpPr>
          <p:spPr>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69" name="Freeform 45"/>
            <p:cNvSpPr>
              <a:spLocks noEditPoints="1"/>
            </p:cNvSpPr>
            <p:nvPr/>
          </p:nvSpPr>
          <p:spPr>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0" name="Freeform 46"/>
            <p:cNvSpPr>
              <a:spLocks noEditPoints="1"/>
            </p:cNvSpPr>
            <p:nvPr/>
          </p:nvSpPr>
          <p:spPr>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1" name="Freeform 47"/>
            <p:cNvSpPr>
              <a:spLocks noEditPoints="1"/>
            </p:cNvSpPr>
            <p:nvPr/>
          </p:nvSpPr>
          <p:spPr>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2" name="Freeform 48"/>
            <p:cNvSpPr>
              <a:spLocks noEditPoints="1"/>
            </p:cNvSpPr>
            <p:nvPr/>
          </p:nvSpPr>
          <p:spPr>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3" name="Freeform 49"/>
            <p:cNvSpPr>
              <a:spLocks noEditPoints="1"/>
            </p:cNvSpPr>
            <p:nvPr/>
          </p:nvSpPr>
          <p:spPr>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4" name="Rectangle 50"/>
            <p:cNvSpPr/>
            <p:nvPr/>
          </p:nvSpPr>
          <p:spPr>
            <a:xfrm>
              <a:off x="1724"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75" name="Rectangle 51"/>
            <p:cNvSpPr/>
            <p:nvPr/>
          </p:nvSpPr>
          <p:spPr>
            <a:xfrm>
              <a:off x="2169" y="23"/>
              <a:ext cx="21"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76" name="Freeform 52"/>
            <p:cNvSpPr>
              <a:spLocks noEditPoints="1"/>
            </p:cNvSpPr>
            <p:nvPr/>
          </p:nvSpPr>
          <p:spPr>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7" name="Freeform 53"/>
            <p:cNvSpPr>
              <a:spLocks noEditPoints="1"/>
            </p:cNvSpPr>
            <p:nvPr/>
          </p:nvSpPr>
          <p:spPr>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8" name="Freeform 54"/>
            <p:cNvSpPr>
              <a:spLocks noEditPoints="1"/>
            </p:cNvSpPr>
            <p:nvPr/>
          </p:nvSpPr>
          <p:spPr>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79" name="Freeform 55"/>
            <p:cNvSpPr>
              <a:spLocks noEditPoints="1"/>
            </p:cNvSpPr>
            <p:nvPr/>
          </p:nvSpPr>
          <p:spPr>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0" name="Freeform 56"/>
            <p:cNvSpPr>
              <a:spLocks noEditPoints="1"/>
            </p:cNvSpPr>
            <p:nvPr/>
          </p:nvSpPr>
          <p:spPr>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1" name="Freeform 57"/>
            <p:cNvSpPr>
              <a:spLocks noEditPoints="1"/>
            </p:cNvSpPr>
            <p:nvPr/>
          </p:nvSpPr>
          <p:spPr>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2" name="Freeform 58"/>
            <p:cNvSpPr>
              <a:spLocks noEditPoints="1"/>
            </p:cNvSpPr>
            <p:nvPr/>
          </p:nvSpPr>
          <p:spPr>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3" name="Freeform 59"/>
            <p:cNvSpPr>
              <a:spLocks noEditPoints="1"/>
            </p:cNvSpPr>
            <p:nvPr/>
          </p:nvSpPr>
          <p:spPr>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4" name="Freeform 60"/>
            <p:cNvSpPr>
              <a:spLocks noEditPoints="1"/>
            </p:cNvSpPr>
            <p:nvPr/>
          </p:nvSpPr>
          <p:spPr>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5" name="Freeform 61"/>
            <p:cNvSpPr>
              <a:spLocks noEditPoints="1"/>
            </p:cNvSpPr>
            <p:nvPr/>
          </p:nvSpPr>
          <p:spPr>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6" name="Rectangle 62"/>
            <p:cNvSpPr/>
            <p:nvPr/>
          </p:nvSpPr>
          <p:spPr>
            <a:xfrm>
              <a:off x="2169" y="4269"/>
              <a:ext cx="21"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87" name="Rectangle 63"/>
            <p:cNvSpPr/>
            <p:nvPr/>
          </p:nvSpPr>
          <p:spPr>
            <a:xfrm>
              <a:off x="262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88" name="Freeform 64"/>
            <p:cNvSpPr>
              <a:spLocks noEditPoints="1"/>
            </p:cNvSpPr>
            <p:nvPr/>
          </p:nvSpPr>
          <p:spPr>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89" name="Freeform 65"/>
            <p:cNvSpPr>
              <a:spLocks noEditPoints="1"/>
            </p:cNvSpPr>
            <p:nvPr/>
          </p:nvSpPr>
          <p:spPr>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0" name="Freeform 66"/>
            <p:cNvSpPr>
              <a:spLocks noEditPoints="1"/>
            </p:cNvSpPr>
            <p:nvPr/>
          </p:nvSpPr>
          <p:spPr>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1" name="Freeform 67"/>
            <p:cNvSpPr>
              <a:spLocks noEditPoints="1"/>
            </p:cNvSpPr>
            <p:nvPr/>
          </p:nvSpPr>
          <p:spPr>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2" name="Freeform 68"/>
            <p:cNvSpPr>
              <a:spLocks noEditPoints="1"/>
            </p:cNvSpPr>
            <p:nvPr/>
          </p:nvSpPr>
          <p:spPr>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3" name="Freeform 69"/>
            <p:cNvSpPr>
              <a:spLocks noEditPoints="1"/>
            </p:cNvSpPr>
            <p:nvPr/>
          </p:nvSpPr>
          <p:spPr>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4" name="Freeform 70"/>
            <p:cNvSpPr>
              <a:spLocks noEditPoints="1"/>
            </p:cNvSpPr>
            <p:nvPr/>
          </p:nvSpPr>
          <p:spPr>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5" name="Freeform 71"/>
            <p:cNvSpPr>
              <a:spLocks noEditPoints="1"/>
            </p:cNvSpPr>
            <p:nvPr/>
          </p:nvSpPr>
          <p:spPr>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6" name="Freeform 72"/>
            <p:cNvSpPr>
              <a:spLocks noEditPoints="1"/>
            </p:cNvSpPr>
            <p:nvPr/>
          </p:nvSpPr>
          <p:spPr>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7" name="Freeform 73"/>
            <p:cNvSpPr>
              <a:spLocks noEditPoints="1"/>
            </p:cNvSpPr>
            <p:nvPr/>
          </p:nvSpPr>
          <p:spPr>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098" name="Rectangle 74"/>
            <p:cNvSpPr/>
            <p:nvPr/>
          </p:nvSpPr>
          <p:spPr>
            <a:xfrm>
              <a:off x="262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099" name="Rectangle 75"/>
            <p:cNvSpPr/>
            <p:nvPr/>
          </p:nvSpPr>
          <p:spPr>
            <a:xfrm>
              <a:off x="3065"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00" name="Freeform 76"/>
            <p:cNvSpPr>
              <a:spLocks noEditPoints="1"/>
            </p:cNvSpPr>
            <p:nvPr/>
          </p:nvSpPr>
          <p:spPr>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1" name="Freeform 77"/>
            <p:cNvSpPr>
              <a:spLocks noEditPoints="1"/>
            </p:cNvSpPr>
            <p:nvPr/>
          </p:nvSpPr>
          <p:spPr>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2" name="Freeform 78"/>
            <p:cNvSpPr>
              <a:spLocks noEditPoints="1"/>
            </p:cNvSpPr>
            <p:nvPr/>
          </p:nvSpPr>
          <p:spPr>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3" name="Freeform 79"/>
            <p:cNvSpPr>
              <a:spLocks noEditPoints="1"/>
            </p:cNvSpPr>
            <p:nvPr/>
          </p:nvSpPr>
          <p:spPr>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4" name="Freeform 80"/>
            <p:cNvSpPr>
              <a:spLocks noEditPoints="1"/>
            </p:cNvSpPr>
            <p:nvPr/>
          </p:nvSpPr>
          <p:spPr>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5" name="Freeform 81"/>
            <p:cNvSpPr>
              <a:spLocks noEditPoints="1"/>
            </p:cNvSpPr>
            <p:nvPr/>
          </p:nvSpPr>
          <p:spPr>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6" name="Freeform 82"/>
            <p:cNvSpPr>
              <a:spLocks noEditPoints="1"/>
            </p:cNvSpPr>
            <p:nvPr/>
          </p:nvSpPr>
          <p:spPr>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7" name="Freeform 83"/>
            <p:cNvSpPr>
              <a:spLocks noEditPoints="1"/>
            </p:cNvSpPr>
            <p:nvPr/>
          </p:nvSpPr>
          <p:spPr>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8" name="Freeform 84"/>
            <p:cNvSpPr>
              <a:spLocks noEditPoints="1"/>
            </p:cNvSpPr>
            <p:nvPr/>
          </p:nvSpPr>
          <p:spPr>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09" name="Freeform 85"/>
            <p:cNvSpPr>
              <a:spLocks noEditPoints="1"/>
            </p:cNvSpPr>
            <p:nvPr/>
          </p:nvSpPr>
          <p:spPr>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0" name="Rectangle 86"/>
            <p:cNvSpPr/>
            <p:nvPr/>
          </p:nvSpPr>
          <p:spPr>
            <a:xfrm>
              <a:off x="3065"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11" name="Rectangle 87"/>
            <p:cNvSpPr/>
            <p:nvPr/>
          </p:nvSpPr>
          <p:spPr>
            <a:xfrm>
              <a:off x="351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12" name="Freeform 88"/>
            <p:cNvSpPr>
              <a:spLocks noEditPoints="1"/>
            </p:cNvSpPr>
            <p:nvPr/>
          </p:nvSpPr>
          <p:spPr>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3" name="Freeform 89"/>
            <p:cNvSpPr>
              <a:spLocks noEditPoints="1"/>
            </p:cNvSpPr>
            <p:nvPr/>
          </p:nvSpPr>
          <p:spPr>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4" name="Freeform 90"/>
            <p:cNvSpPr>
              <a:spLocks noEditPoints="1"/>
            </p:cNvSpPr>
            <p:nvPr/>
          </p:nvSpPr>
          <p:spPr>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5" name="Freeform 91"/>
            <p:cNvSpPr>
              <a:spLocks noEditPoints="1"/>
            </p:cNvSpPr>
            <p:nvPr/>
          </p:nvSpPr>
          <p:spPr>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6" name="Freeform 92"/>
            <p:cNvSpPr>
              <a:spLocks noEditPoints="1"/>
            </p:cNvSpPr>
            <p:nvPr/>
          </p:nvSpPr>
          <p:spPr>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7" name="Freeform 93"/>
            <p:cNvSpPr>
              <a:spLocks noEditPoints="1"/>
            </p:cNvSpPr>
            <p:nvPr/>
          </p:nvSpPr>
          <p:spPr>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8" name="Freeform 94"/>
            <p:cNvSpPr>
              <a:spLocks noEditPoints="1"/>
            </p:cNvSpPr>
            <p:nvPr/>
          </p:nvSpPr>
          <p:spPr>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19" name="Freeform 95"/>
            <p:cNvSpPr>
              <a:spLocks noEditPoints="1"/>
            </p:cNvSpPr>
            <p:nvPr/>
          </p:nvSpPr>
          <p:spPr>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0" name="Freeform 96"/>
            <p:cNvSpPr>
              <a:spLocks noEditPoints="1"/>
            </p:cNvSpPr>
            <p:nvPr/>
          </p:nvSpPr>
          <p:spPr>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1" name="Freeform 97"/>
            <p:cNvSpPr>
              <a:spLocks noEditPoints="1"/>
            </p:cNvSpPr>
            <p:nvPr/>
          </p:nvSpPr>
          <p:spPr>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2" name="Rectangle 98"/>
            <p:cNvSpPr/>
            <p:nvPr/>
          </p:nvSpPr>
          <p:spPr>
            <a:xfrm>
              <a:off x="351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23" name="Rectangle 99"/>
            <p:cNvSpPr/>
            <p:nvPr/>
          </p:nvSpPr>
          <p:spPr>
            <a:xfrm>
              <a:off x="396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24" name="Freeform 100"/>
            <p:cNvSpPr>
              <a:spLocks noEditPoints="1"/>
            </p:cNvSpPr>
            <p:nvPr/>
          </p:nvSpPr>
          <p:spPr>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5" name="Freeform 101"/>
            <p:cNvSpPr>
              <a:spLocks noEditPoints="1"/>
            </p:cNvSpPr>
            <p:nvPr/>
          </p:nvSpPr>
          <p:spPr>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6" name="Freeform 102"/>
            <p:cNvSpPr>
              <a:spLocks noEditPoints="1"/>
            </p:cNvSpPr>
            <p:nvPr/>
          </p:nvSpPr>
          <p:spPr>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7" name="Freeform 103"/>
            <p:cNvSpPr>
              <a:spLocks noEditPoints="1"/>
            </p:cNvSpPr>
            <p:nvPr/>
          </p:nvSpPr>
          <p:spPr>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8" name="Freeform 104"/>
            <p:cNvSpPr>
              <a:spLocks noEditPoints="1"/>
            </p:cNvSpPr>
            <p:nvPr/>
          </p:nvSpPr>
          <p:spPr>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29" name="Freeform 105"/>
            <p:cNvSpPr>
              <a:spLocks noEditPoints="1"/>
            </p:cNvSpPr>
            <p:nvPr/>
          </p:nvSpPr>
          <p:spPr>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0" name="Freeform 106"/>
            <p:cNvSpPr>
              <a:spLocks noEditPoints="1"/>
            </p:cNvSpPr>
            <p:nvPr/>
          </p:nvSpPr>
          <p:spPr>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1" name="Freeform 107"/>
            <p:cNvSpPr>
              <a:spLocks noEditPoints="1"/>
            </p:cNvSpPr>
            <p:nvPr/>
          </p:nvSpPr>
          <p:spPr>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2" name="Freeform 108"/>
            <p:cNvSpPr>
              <a:spLocks noEditPoints="1"/>
            </p:cNvSpPr>
            <p:nvPr/>
          </p:nvSpPr>
          <p:spPr>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3" name="Freeform 109"/>
            <p:cNvSpPr>
              <a:spLocks noEditPoints="1"/>
            </p:cNvSpPr>
            <p:nvPr/>
          </p:nvSpPr>
          <p:spPr>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4" name="Rectangle 110"/>
            <p:cNvSpPr/>
            <p:nvPr/>
          </p:nvSpPr>
          <p:spPr>
            <a:xfrm>
              <a:off x="396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35" name="Rectangle 111"/>
            <p:cNvSpPr/>
            <p:nvPr/>
          </p:nvSpPr>
          <p:spPr>
            <a:xfrm>
              <a:off x="4405"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36" name="Freeform 112"/>
            <p:cNvSpPr>
              <a:spLocks noEditPoints="1"/>
            </p:cNvSpPr>
            <p:nvPr/>
          </p:nvSpPr>
          <p:spPr>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7" name="Freeform 113"/>
            <p:cNvSpPr>
              <a:spLocks noEditPoints="1"/>
            </p:cNvSpPr>
            <p:nvPr/>
          </p:nvSpPr>
          <p:spPr>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8" name="Freeform 114"/>
            <p:cNvSpPr>
              <a:spLocks noEditPoints="1"/>
            </p:cNvSpPr>
            <p:nvPr/>
          </p:nvSpPr>
          <p:spPr>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39" name="Freeform 115"/>
            <p:cNvSpPr>
              <a:spLocks noEditPoints="1"/>
            </p:cNvSpPr>
            <p:nvPr/>
          </p:nvSpPr>
          <p:spPr>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0" name="Freeform 116"/>
            <p:cNvSpPr>
              <a:spLocks noEditPoints="1"/>
            </p:cNvSpPr>
            <p:nvPr/>
          </p:nvSpPr>
          <p:spPr>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1" name="Freeform 117"/>
            <p:cNvSpPr>
              <a:spLocks noEditPoints="1"/>
            </p:cNvSpPr>
            <p:nvPr/>
          </p:nvSpPr>
          <p:spPr>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2" name="Freeform 118"/>
            <p:cNvSpPr>
              <a:spLocks noEditPoints="1"/>
            </p:cNvSpPr>
            <p:nvPr/>
          </p:nvSpPr>
          <p:spPr>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3" name="Freeform 119"/>
            <p:cNvSpPr>
              <a:spLocks noEditPoints="1"/>
            </p:cNvSpPr>
            <p:nvPr/>
          </p:nvSpPr>
          <p:spPr>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4" name="Freeform 120"/>
            <p:cNvSpPr>
              <a:spLocks noEditPoints="1"/>
            </p:cNvSpPr>
            <p:nvPr/>
          </p:nvSpPr>
          <p:spPr>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5" name="Freeform 121"/>
            <p:cNvSpPr>
              <a:spLocks noEditPoints="1"/>
            </p:cNvSpPr>
            <p:nvPr/>
          </p:nvSpPr>
          <p:spPr>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6" name="Rectangle 122"/>
            <p:cNvSpPr/>
            <p:nvPr/>
          </p:nvSpPr>
          <p:spPr>
            <a:xfrm>
              <a:off x="4405"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47" name="Rectangle 123"/>
            <p:cNvSpPr/>
            <p:nvPr/>
          </p:nvSpPr>
          <p:spPr>
            <a:xfrm>
              <a:off x="485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48" name="Freeform 124"/>
            <p:cNvSpPr>
              <a:spLocks noEditPoints="1"/>
            </p:cNvSpPr>
            <p:nvPr/>
          </p:nvSpPr>
          <p:spPr>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49" name="Freeform 125"/>
            <p:cNvSpPr>
              <a:spLocks noEditPoints="1"/>
            </p:cNvSpPr>
            <p:nvPr/>
          </p:nvSpPr>
          <p:spPr>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0" name="Freeform 126"/>
            <p:cNvSpPr>
              <a:spLocks noEditPoints="1"/>
            </p:cNvSpPr>
            <p:nvPr/>
          </p:nvSpPr>
          <p:spPr>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1" name="Freeform 127"/>
            <p:cNvSpPr>
              <a:spLocks noEditPoints="1"/>
            </p:cNvSpPr>
            <p:nvPr/>
          </p:nvSpPr>
          <p:spPr>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2" name="Freeform 128"/>
            <p:cNvSpPr>
              <a:spLocks noEditPoints="1"/>
            </p:cNvSpPr>
            <p:nvPr/>
          </p:nvSpPr>
          <p:spPr>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3" name="Freeform 129"/>
            <p:cNvSpPr>
              <a:spLocks noEditPoints="1"/>
            </p:cNvSpPr>
            <p:nvPr/>
          </p:nvSpPr>
          <p:spPr>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4" name="Freeform 130"/>
            <p:cNvSpPr>
              <a:spLocks noEditPoints="1"/>
            </p:cNvSpPr>
            <p:nvPr/>
          </p:nvSpPr>
          <p:spPr>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5" name="Freeform 131"/>
            <p:cNvSpPr>
              <a:spLocks noEditPoints="1"/>
            </p:cNvSpPr>
            <p:nvPr/>
          </p:nvSpPr>
          <p:spPr>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6" name="Freeform 132"/>
            <p:cNvSpPr>
              <a:spLocks noEditPoints="1"/>
            </p:cNvSpPr>
            <p:nvPr/>
          </p:nvSpPr>
          <p:spPr>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7" name="Freeform 133"/>
            <p:cNvSpPr>
              <a:spLocks noEditPoints="1"/>
            </p:cNvSpPr>
            <p:nvPr/>
          </p:nvSpPr>
          <p:spPr>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58" name="Rectangle 134"/>
            <p:cNvSpPr/>
            <p:nvPr/>
          </p:nvSpPr>
          <p:spPr>
            <a:xfrm>
              <a:off x="485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59" name="Rectangle 135"/>
            <p:cNvSpPr/>
            <p:nvPr/>
          </p:nvSpPr>
          <p:spPr>
            <a:xfrm>
              <a:off x="5300" y="23"/>
              <a:ext cx="20" cy="10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60" name="Freeform 136"/>
            <p:cNvSpPr>
              <a:spLocks noEditPoints="1"/>
            </p:cNvSpPr>
            <p:nvPr/>
          </p:nvSpPr>
          <p:spPr>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1" name="Freeform 137"/>
            <p:cNvSpPr>
              <a:spLocks noEditPoints="1"/>
            </p:cNvSpPr>
            <p:nvPr/>
          </p:nvSpPr>
          <p:spPr>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2" name="Freeform 138"/>
            <p:cNvSpPr>
              <a:spLocks noEditPoints="1"/>
            </p:cNvSpPr>
            <p:nvPr/>
          </p:nvSpPr>
          <p:spPr>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3" name="Freeform 139"/>
            <p:cNvSpPr>
              <a:spLocks noEditPoints="1"/>
            </p:cNvSpPr>
            <p:nvPr/>
          </p:nvSpPr>
          <p:spPr>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4" name="Freeform 140"/>
            <p:cNvSpPr>
              <a:spLocks noEditPoints="1"/>
            </p:cNvSpPr>
            <p:nvPr/>
          </p:nvSpPr>
          <p:spPr>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5" name="Freeform 141"/>
            <p:cNvSpPr>
              <a:spLocks noEditPoints="1"/>
            </p:cNvSpPr>
            <p:nvPr/>
          </p:nvSpPr>
          <p:spPr>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6" name="Freeform 142"/>
            <p:cNvSpPr>
              <a:spLocks noEditPoints="1"/>
            </p:cNvSpPr>
            <p:nvPr/>
          </p:nvSpPr>
          <p:spPr>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7" name="Freeform 143"/>
            <p:cNvSpPr>
              <a:spLocks noEditPoints="1"/>
            </p:cNvSpPr>
            <p:nvPr/>
          </p:nvSpPr>
          <p:spPr>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8" name="Freeform 144"/>
            <p:cNvSpPr>
              <a:spLocks noEditPoints="1"/>
            </p:cNvSpPr>
            <p:nvPr/>
          </p:nvSpPr>
          <p:spPr>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69" name="Freeform 145"/>
            <p:cNvSpPr>
              <a:spLocks noEditPoints="1"/>
            </p:cNvSpPr>
            <p:nvPr/>
          </p:nvSpPr>
          <p:spPr>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0" b="0"/>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lstStyle/>
            <a:p>
              <a:endParaRPr lang="zh-CN" altLang="en-US"/>
            </a:p>
          </p:txBody>
        </p:sp>
        <p:sp>
          <p:nvSpPr>
            <p:cNvPr id="1170" name="Rectangle 146"/>
            <p:cNvSpPr/>
            <p:nvPr/>
          </p:nvSpPr>
          <p:spPr>
            <a:xfrm>
              <a:off x="5300" y="4269"/>
              <a:ext cx="20" cy="51"/>
            </a:xfrm>
            <a:prstGeom prst="rect">
              <a:avLst/>
            </a:prstGeom>
            <a:solidFill>
              <a:schemeClr val="bg2">
                <a:alpha val="59999"/>
              </a:schemeClr>
            </a:solidFill>
            <a:ln w="0">
              <a:noFill/>
            </a:ln>
          </p:spPr>
          <p:txBody>
            <a:bodyPr anchor="t" anchorCtr="0"/>
            <a:lstStyle/>
            <a:p>
              <a:pPr lvl="0" eaLnBrk="1" hangingPunct="1">
                <a:buFontTx/>
              </a:pPr>
              <a:endParaRPr lang="zh-CN" altLang="en-US" dirty="0">
                <a:latin typeface="Arial" panose="020B0604020202020204" pitchFamily="34" charset="0"/>
                <a:ea typeface="宋体" panose="02010600030101010101" pitchFamily="2" charset="-122"/>
              </a:endParaRPr>
            </a:p>
          </p:txBody>
        </p:sp>
        <p:sp>
          <p:nvSpPr>
            <p:cNvPr id="1171" name="Freeform 147"/>
            <p:cNvSpPr/>
            <p:nvPr/>
          </p:nvSpPr>
          <p:spPr>
            <a:xfrm>
              <a:off x="349" y="3304"/>
              <a:ext cx="20" cy="10"/>
            </a:xfrm>
            <a:custGeom>
              <a:avLst/>
              <a:gdLst/>
              <a:ahLst/>
              <a:cxnLst>
                <a:cxn ang="0">
                  <a:pos x="0" y="1"/>
                </a:cxn>
                <a:cxn ang="0">
                  <a:pos x="0" y="1"/>
                </a:cxn>
              </a:cxnLst>
              <a:rect l="0" t="0" r="0" b="0"/>
              <a:pathLst>
                <a:path w="4" h="2">
                  <a:moveTo>
                    <a:pt x="0" y="1"/>
                  </a:moveTo>
                  <a:cubicBezTo>
                    <a:pt x="1" y="2"/>
                    <a:pt x="4" y="0"/>
                    <a:pt x="0" y="1"/>
                  </a:cubicBezTo>
                  <a:close/>
                </a:path>
              </a:pathLst>
            </a:custGeom>
            <a:solidFill>
              <a:schemeClr val="bg2">
                <a:alpha val="59999"/>
              </a:schemeClr>
            </a:solidFill>
            <a:ln w="0">
              <a:noFill/>
            </a:ln>
          </p:spPr>
          <p:txBody>
            <a:bodyPr/>
            <a:lstStyle/>
            <a:p>
              <a:endParaRPr lang="zh-CN" altLang="en-US"/>
            </a:p>
          </p:txBody>
        </p:sp>
      </p:grpSp>
      <p:grpSp>
        <p:nvGrpSpPr>
          <p:cNvPr id="1172" name="Group 148"/>
          <p:cNvGrpSpPr/>
          <p:nvPr/>
        </p:nvGrpSpPr>
        <p:grpSpPr>
          <a:xfrm>
            <a:off x="1066800" y="3444875"/>
            <a:ext cx="533400" cy="492125"/>
            <a:chOff x="96" y="2784"/>
            <a:chExt cx="1062" cy="981"/>
          </a:xfrm>
        </p:grpSpPr>
        <p:sp>
          <p:nvSpPr>
            <p:cNvPr id="1173" name="Freeform 149"/>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1174" name="Freeform 150"/>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1175" name="Freeform 151"/>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1176" name="Freeform 152"/>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1177" name="Freeform 153"/>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1178" name="Freeform 154"/>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1179" name="Freeform 155"/>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1180" name="Freeform 156"/>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1181" name="Freeform 157"/>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1182" name="Freeform 158"/>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1183" name="Freeform 159"/>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1184" name="Freeform 160"/>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1185" name="Freeform 161"/>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1186" name="Group 162"/>
          <p:cNvGrpSpPr/>
          <p:nvPr/>
        </p:nvGrpSpPr>
        <p:grpSpPr>
          <a:xfrm>
            <a:off x="1066800" y="4552950"/>
            <a:ext cx="533400" cy="492125"/>
            <a:chOff x="96" y="2784"/>
            <a:chExt cx="1062" cy="981"/>
          </a:xfrm>
        </p:grpSpPr>
        <p:sp>
          <p:nvSpPr>
            <p:cNvPr id="1187" name="Freeform 163"/>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1188" name="Freeform 164"/>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1189" name="Freeform 165"/>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1190" name="Freeform 166"/>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1191" name="Freeform 167"/>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1192" name="Freeform 168"/>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1193" name="Freeform 169"/>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1194" name="Freeform 170"/>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1195" name="Freeform 171"/>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1196" name="Freeform 172"/>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1197" name="Freeform 173"/>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1198" name="Freeform 174"/>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1199" name="Freeform 175"/>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1200" name="Group 176"/>
          <p:cNvGrpSpPr/>
          <p:nvPr/>
        </p:nvGrpSpPr>
        <p:grpSpPr>
          <a:xfrm>
            <a:off x="1066800" y="5562600"/>
            <a:ext cx="533400" cy="492125"/>
            <a:chOff x="96" y="2784"/>
            <a:chExt cx="1062" cy="981"/>
          </a:xfrm>
        </p:grpSpPr>
        <p:sp>
          <p:nvSpPr>
            <p:cNvPr id="1201" name="Freeform 177"/>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1202" name="Freeform 178"/>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1203" name="Freeform 179"/>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1204" name="Freeform 180"/>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1205" name="Freeform 181"/>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1206" name="Freeform 182"/>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1207" name="Freeform 183"/>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1208" name="Freeform 184"/>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1209" name="Freeform 185"/>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1210" name="Freeform 186"/>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1211" name="Freeform 187"/>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1212" name="Freeform 188"/>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1213" name="Freeform 189"/>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1214" name="Group 190"/>
          <p:cNvGrpSpPr/>
          <p:nvPr/>
        </p:nvGrpSpPr>
        <p:grpSpPr>
          <a:xfrm>
            <a:off x="381000" y="3962400"/>
            <a:ext cx="533400" cy="492125"/>
            <a:chOff x="96" y="2784"/>
            <a:chExt cx="1062" cy="981"/>
          </a:xfrm>
        </p:grpSpPr>
        <p:sp>
          <p:nvSpPr>
            <p:cNvPr id="1215" name="Freeform 191"/>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1216" name="Freeform 192"/>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1217" name="Freeform 193"/>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1218" name="Freeform 194"/>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1219" name="Freeform 195"/>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1220" name="Freeform 196"/>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1221" name="Freeform 197"/>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1222" name="Freeform 198"/>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1223" name="Freeform 199"/>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1224" name="Freeform 200"/>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1225" name="Freeform 201"/>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1226" name="Freeform 202"/>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1227" name="Freeform 203"/>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1228" name="Group 204"/>
          <p:cNvGrpSpPr/>
          <p:nvPr/>
        </p:nvGrpSpPr>
        <p:grpSpPr>
          <a:xfrm>
            <a:off x="381000" y="5070475"/>
            <a:ext cx="533400" cy="492125"/>
            <a:chOff x="96" y="2784"/>
            <a:chExt cx="1062" cy="981"/>
          </a:xfrm>
        </p:grpSpPr>
        <p:sp>
          <p:nvSpPr>
            <p:cNvPr id="1229" name="Freeform 205"/>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1230" name="Freeform 206"/>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1231" name="Freeform 207"/>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1232" name="Freeform 208"/>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1233" name="Freeform 209"/>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1234" name="Freeform 210"/>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1235" name="Freeform 211"/>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1236" name="Freeform 212"/>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1237" name="Freeform 213"/>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1238" name="Freeform 214"/>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1239" name="Freeform 215"/>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1240" name="Freeform 216"/>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1241" name="Freeform 217"/>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1242" name="Group 218"/>
          <p:cNvGrpSpPr/>
          <p:nvPr/>
        </p:nvGrpSpPr>
        <p:grpSpPr>
          <a:xfrm>
            <a:off x="381000" y="6121400"/>
            <a:ext cx="533400" cy="492125"/>
            <a:chOff x="96" y="2784"/>
            <a:chExt cx="1062" cy="981"/>
          </a:xfrm>
        </p:grpSpPr>
        <p:sp>
          <p:nvSpPr>
            <p:cNvPr id="1243" name="Freeform 219"/>
            <p:cNvSpPr/>
            <p:nvPr/>
          </p:nvSpPr>
          <p:spPr>
            <a:xfrm>
              <a:off x="121" y="2784"/>
              <a:ext cx="205" cy="82"/>
            </a:xfrm>
            <a:custGeom>
              <a:avLst/>
              <a:gdLst/>
              <a:ahLst/>
              <a:cxnLst>
                <a:cxn ang="0">
                  <a:pos x="30" y="12"/>
                </a:cxn>
                <a:cxn ang="0">
                  <a:pos x="37" y="10"/>
                </a:cxn>
                <a:cxn ang="0">
                  <a:pos x="38" y="9"/>
                </a:cxn>
                <a:cxn ang="0">
                  <a:pos x="31" y="1"/>
                </a:cxn>
                <a:cxn ang="0">
                  <a:pos x="8" y="11"/>
                </a:cxn>
                <a:cxn ang="0">
                  <a:pos x="30" y="12"/>
                </a:cxn>
              </a:cxnLst>
              <a:rect l="0" t="0" r="0" b="0"/>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w="0">
              <a:noFill/>
            </a:ln>
          </p:spPr>
          <p:txBody>
            <a:bodyPr/>
            <a:lstStyle/>
            <a:p>
              <a:endParaRPr lang="zh-CN" altLang="en-US"/>
            </a:p>
          </p:txBody>
        </p:sp>
        <p:sp>
          <p:nvSpPr>
            <p:cNvPr id="1244" name="Freeform 220"/>
            <p:cNvSpPr>
              <a:spLocks noEditPoints="1"/>
            </p:cNvSpPr>
            <p:nvPr/>
          </p:nvSpPr>
          <p:spPr>
            <a:xfrm>
              <a:off x="96" y="2790"/>
              <a:ext cx="1062" cy="975"/>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0" b="0"/>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w="0">
              <a:noFill/>
            </a:ln>
          </p:spPr>
          <p:txBody>
            <a:bodyPr/>
            <a:lstStyle/>
            <a:p>
              <a:endParaRPr lang="zh-CN" altLang="en-US"/>
            </a:p>
          </p:txBody>
        </p:sp>
        <p:sp>
          <p:nvSpPr>
            <p:cNvPr id="1245" name="Freeform 221"/>
            <p:cNvSpPr/>
            <p:nvPr/>
          </p:nvSpPr>
          <p:spPr>
            <a:xfrm>
              <a:off x="349" y="3256"/>
              <a:ext cx="85" cy="101"/>
            </a:xfrm>
            <a:custGeom>
              <a:avLst/>
              <a:gdLst/>
              <a:ahLst/>
              <a:cxnLst>
                <a:cxn ang="0">
                  <a:pos x="14" y="5"/>
                </a:cxn>
                <a:cxn ang="0">
                  <a:pos x="9" y="20"/>
                </a:cxn>
                <a:cxn ang="0">
                  <a:pos x="14" y="5"/>
                </a:cxn>
              </a:cxnLst>
              <a:rect l="0" t="0" r="0" b="0"/>
              <a:pathLst>
                <a:path w="17" h="20">
                  <a:moveTo>
                    <a:pt x="14" y="5"/>
                  </a:moveTo>
                  <a:cubicBezTo>
                    <a:pt x="13" y="0"/>
                    <a:pt x="0" y="8"/>
                    <a:pt x="9" y="20"/>
                  </a:cubicBezTo>
                  <a:cubicBezTo>
                    <a:pt x="9" y="20"/>
                    <a:pt x="17" y="17"/>
                    <a:pt x="14" y="5"/>
                  </a:cubicBezTo>
                  <a:close/>
                </a:path>
              </a:pathLst>
            </a:custGeom>
            <a:solidFill>
              <a:schemeClr val="accent2"/>
            </a:solidFill>
            <a:ln w="0">
              <a:noFill/>
            </a:ln>
          </p:spPr>
          <p:txBody>
            <a:bodyPr/>
            <a:lstStyle/>
            <a:p>
              <a:endParaRPr lang="zh-CN" altLang="en-US"/>
            </a:p>
          </p:txBody>
        </p:sp>
        <p:sp>
          <p:nvSpPr>
            <p:cNvPr id="1246" name="Freeform 222"/>
            <p:cNvSpPr/>
            <p:nvPr/>
          </p:nvSpPr>
          <p:spPr>
            <a:xfrm>
              <a:off x="267" y="3293"/>
              <a:ext cx="76" cy="136"/>
            </a:xfrm>
            <a:custGeom>
              <a:avLst/>
              <a:gdLst/>
              <a:ahLst/>
              <a:cxnLst>
                <a:cxn ang="0">
                  <a:pos x="7" y="10"/>
                </a:cxn>
                <a:cxn ang="0">
                  <a:pos x="4" y="25"/>
                </a:cxn>
                <a:cxn ang="0">
                  <a:pos x="15" y="16"/>
                </a:cxn>
                <a:cxn ang="0">
                  <a:pos x="13" y="8"/>
                </a:cxn>
                <a:cxn ang="0">
                  <a:pos x="7" y="10"/>
                </a:cxn>
              </a:cxnLst>
              <a:rect l="0" t="0" r="0" b="0"/>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w="0">
              <a:noFill/>
            </a:ln>
          </p:spPr>
          <p:txBody>
            <a:bodyPr/>
            <a:lstStyle/>
            <a:p>
              <a:endParaRPr lang="zh-CN" altLang="en-US"/>
            </a:p>
          </p:txBody>
        </p:sp>
        <p:sp>
          <p:nvSpPr>
            <p:cNvPr id="1247" name="Freeform 223"/>
            <p:cNvSpPr/>
            <p:nvPr/>
          </p:nvSpPr>
          <p:spPr>
            <a:xfrm>
              <a:off x="222" y="3021"/>
              <a:ext cx="243" cy="117"/>
            </a:xfrm>
            <a:custGeom>
              <a:avLst/>
              <a:gdLst/>
              <a:ahLst/>
              <a:cxnLst>
                <a:cxn ang="0">
                  <a:pos x="40" y="2"/>
                </a:cxn>
                <a:cxn ang="0">
                  <a:pos x="9" y="1"/>
                </a:cxn>
                <a:cxn ang="0">
                  <a:pos x="1" y="9"/>
                </a:cxn>
                <a:cxn ang="0">
                  <a:pos x="22" y="21"/>
                </a:cxn>
                <a:cxn ang="0">
                  <a:pos x="34" y="20"/>
                </a:cxn>
                <a:cxn ang="0">
                  <a:pos x="40" y="19"/>
                </a:cxn>
                <a:cxn ang="0">
                  <a:pos x="40" y="2"/>
                </a:cxn>
              </a:cxnLst>
              <a:rect l="0" t="0" r="0" b="0"/>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w="0">
              <a:noFill/>
            </a:ln>
          </p:spPr>
          <p:txBody>
            <a:bodyPr/>
            <a:lstStyle/>
            <a:p>
              <a:endParaRPr lang="zh-CN" altLang="en-US"/>
            </a:p>
          </p:txBody>
        </p:sp>
        <p:sp>
          <p:nvSpPr>
            <p:cNvPr id="1248" name="Freeform 224"/>
            <p:cNvSpPr/>
            <p:nvPr/>
          </p:nvSpPr>
          <p:spPr>
            <a:xfrm>
              <a:off x="501" y="3344"/>
              <a:ext cx="177" cy="187"/>
            </a:xfrm>
            <a:custGeom>
              <a:avLst/>
              <a:gdLst/>
              <a:ahLst/>
              <a:cxnLst>
                <a:cxn ang="0">
                  <a:pos x="24" y="2"/>
                </a:cxn>
                <a:cxn ang="0">
                  <a:pos x="11" y="2"/>
                </a:cxn>
                <a:cxn ang="0">
                  <a:pos x="4" y="20"/>
                </a:cxn>
                <a:cxn ang="0">
                  <a:pos x="28" y="22"/>
                </a:cxn>
                <a:cxn ang="0">
                  <a:pos x="24" y="2"/>
                </a:cxn>
              </a:cxnLst>
              <a:rect l="0" t="0" r="0" b="0"/>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w="0">
              <a:noFill/>
            </a:ln>
          </p:spPr>
          <p:txBody>
            <a:bodyPr/>
            <a:lstStyle/>
            <a:p>
              <a:endParaRPr lang="zh-CN" altLang="en-US"/>
            </a:p>
          </p:txBody>
        </p:sp>
        <p:sp>
          <p:nvSpPr>
            <p:cNvPr id="1249" name="Freeform 225"/>
            <p:cNvSpPr/>
            <p:nvPr/>
          </p:nvSpPr>
          <p:spPr>
            <a:xfrm>
              <a:off x="905" y="3157"/>
              <a:ext cx="177" cy="38"/>
            </a:xfrm>
            <a:custGeom>
              <a:avLst/>
              <a:gdLst/>
              <a:ahLst/>
              <a:cxnLst>
                <a:cxn ang="0">
                  <a:pos x="5" y="0"/>
                </a:cxn>
                <a:cxn ang="0">
                  <a:pos x="14" y="5"/>
                </a:cxn>
                <a:cxn ang="0">
                  <a:pos x="5" y="0"/>
                </a:cxn>
              </a:cxnLst>
              <a:rect l="0" t="0" r="0" b="0"/>
              <a:pathLst>
                <a:path w="35" h="7">
                  <a:moveTo>
                    <a:pt x="5" y="0"/>
                  </a:moveTo>
                  <a:cubicBezTo>
                    <a:pt x="0" y="0"/>
                    <a:pt x="7" y="7"/>
                    <a:pt x="14" y="5"/>
                  </a:cubicBezTo>
                  <a:cubicBezTo>
                    <a:pt x="35" y="1"/>
                    <a:pt x="5" y="0"/>
                    <a:pt x="5" y="0"/>
                  </a:cubicBezTo>
                  <a:close/>
                </a:path>
              </a:pathLst>
            </a:custGeom>
            <a:solidFill>
              <a:schemeClr val="accent2"/>
            </a:solidFill>
            <a:ln w="0">
              <a:noFill/>
            </a:ln>
          </p:spPr>
          <p:txBody>
            <a:bodyPr/>
            <a:lstStyle/>
            <a:p>
              <a:endParaRPr lang="zh-CN" altLang="en-US"/>
            </a:p>
          </p:txBody>
        </p:sp>
        <p:sp>
          <p:nvSpPr>
            <p:cNvPr id="1250" name="Freeform 226"/>
            <p:cNvSpPr/>
            <p:nvPr/>
          </p:nvSpPr>
          <p:spPr>
            <a:xfrm>
              <a:off x="965" y="3154"/>
              <a:ext cx="136" cy="79"/>
            </a:xfrm>
            <a:custGeom>
              <a:avLst/>
              <a:gdLst/>
              <a:ahLst/>
              <a:cxnLst>
                <a:cxn ang="0">
                  <a:pos x="7" y="13"/>
                </a:cxn>
                <a:cxn ang="0">
                  <a:pos x="25" y="6"/>
                </a:cxn>
                <a:cxn ang="0">
                  <a:pos x="17" y="1"/>
                </a:cxn>
                <a:cxn ang="0">
                  <a:pos x="7" y="11"/>
                </a:cxn>
                <a:cxn ang="0">
                  <a:pos x="7" y="13"/>
                </a:cxn>
              </a:cxnLst>
              <a:rect l="0" t="0" r="0" b="0"/>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w="0">
              <a:noFill/>
            </a:ln>
          </p:spPr>
          <p:txBody>
            <a:bodyPr/>
            <a:lstStyle/>
            <a:p>
              <a:endParaRPr lang="zh-CN" altLang="en-US"/>
            </a:p>
          </p:txBody>
        </p:sp>
        <p:sp>
          <p:nvSpPr>
            <p:cNvPr id="1251" name="Freeform 227"/>
            <p:cNvSpPr/>
            <p:nvPr/>
          </p:nvSpPr>
          <p:spPr>
            <a:xfrm>
              <a:off x="959" y="3205"/>
              <a:ext cx="177" cy="85"/>
            </a:xfrm>
            <a:custGeom>
              <a:avLst/>
              <a:gdLst/>
              <a:ahLst/>
              <a:cxnLst>
                <a:cxn ang="0">
                  <a:pos x="25" y="6"/>
                </a:cxn>
                <a:cxn ang="0">
                  <a:pos x="8" y="10"/>
                </a:cxn>
                <a:cxn ang="0">
                  <a:pos x="6" y="13"/>
                </a:cxn>
                <a:cxn ang="0">
                  <a:pos x="27" y="12"/>
                </a:cxn>
                <a:cxn ang="0">
                  <a:pos x="25" y="6"/>
                </a:cxn>
              </a:cxnLst>
              <a:rect l="0" t="0" r="0" b="0"/>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w="0">
              <a:noFill/>
            </a:ln>
          </p:spPr>
          <p:txBody>
            <a:bodyPr/>
            <a:lstStyle/>
            <a:p>
              <a:endParaRPr lang="zh-CN" altLang="en-US"/>
            </a:p>
          </p:txBody>
        </p:sp>
        <p:sp>
          <p:nvSpPr>
            <p:cNvPr id="1252" name="Freeform 228"/>
            <p:cNvSpPr/>
            <p:nvPr/>
          </p:nvSpPr>
          <p:spPr>
            <a:xfrm>
              <a:off x="845" y="3284"/>
              <a:ext cx="247" cy="60"/>
            </a:xfrm>
            <a:custGeom>
              <a:avLst/>
              <a:gdLst/>
              <a:ahLst/>
              <a:cxnLst>
                <a:cxn ang="0">
                  <a:pos x="40" y="3"/>
                </a:cxn>
                <a:cxn ang="0">
                  <a:pos x="29" y="1"/>
                </a:cxn>
                <a:cxn ang="0">
                  <a:pos x="7" y="0"/>
                </a:cxn>
                <a:cxn ang="0">
                  <a:pos x="2" y="5"/>
                </a:cxn>
                <a:cxn ang="0">
                  <a:pos x="20" y="8"/>
                </a:cxn>
                <a:cxn ang="0">
                  <a:pos x="41" y="8"/>
                </a:cxn>
                <a:cxn ang="0">
                  <a:pos x="40" y="3"/>
                </a:cxn>
              </a:cxnLst>
              <a:rect l="0" t="0" r="0" b="0"/>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w="0">
              <a:noFill/>
            </a:ln>
          </p:spPr>
          <p:txBody>
            <a:bodyPr/>
            <a:lstStyle/>
            <a:p>
              <a:endParaRPr lang="zh-CN" altLang="en-US"/>
            </a:p>
          </p:txBody>
        </p:sp>
        <p:sp>
          <p:nvSpPr>
            <p:cNvPr id="1253" name="Freeform 229"/>
            <p:cNvSpPr/>
            <p:nvPr/>
          </p:nvSpPr>
          <p:spPr>
            <a:xfrm>
              <a:off x="870" y="3341"/>
              <a:ext cx="202" cy="54"/>
            </a:xfrm>
            <a:custGeom>
              <a:avLst/>
              <a:gdLst/>
              <a:ahLst/>
              <a:cxnLst>
                <a:cxn ang="0">
                  <a:pos x="37" y="2"/>
                </a:cxn>
                <a:cxn ang="0">
                  <a:pos x="26" y="4"/>
                </a:cxn>
                <a:cxn ang="0">
                  <a:pos x="13" y="3"/>
                </a:cxn>
                <a:cxn ang="0">
                  <a:pos x="1" y="2"/>
                </a:cxn>
                <a:cxn ang="0">
                  <a:pos x="35" y="8"/>
                </a:cxn>
                <a:cxn ang="0">
                  <a:pos x="37" y="2"/>
                </a:cxn>
              </a:cxnLst>
              <a:rect l="0" t="0" r="0" b="0"/>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w="0">
              <a:noFill/>
            </a:ln>
          </p:spPr>
          <p:txBody>
            <a:bodyPr/>
            <a:lstStyle/>
            <a:p>
              <a:endParaRPr lang="zh-CN" altLang="en-US"/>
            </a:p>
          </p:txBody>
        </p:sp>
        <p:sp>
          <p:nvSpPr>
            <p:cNvPr id="1254" name="Freeform 230"/>
            <p:cNvSpPr/>
            <p:nvPr/>
          </p:nvSpPr>
          <p:spPr>
            <a:xfrm>
              <a:off x="858" y="3385"/>
              <a:ext cx="209" cy="174"/>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0" b="0"/>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w="0">
              <a:noFill/>
            </a:ln>
          </p:spPr>
          <p:txBody>
            <a:bodyPr/>
            <a:lstStyle/>
            <a:p>
              <a:endParaRPr lang="zh-CN" altLang="en-US"/>
            </a:p>
          </p:txBody>
        </p:sp>
        <p:sp>
          <p:nvSpPr>
            <p:cNvPr id="1255" name="Freeform 231"/>
            <p:cNvSpPr/>
            <p:nvPr/>
          </p:nvSpPr>
          <p:spPr>
            <a:xfrm>
              <a:off x="997" y="3306"/>
              <a:ext cx="126" cy="316"/>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0" b="0"/>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w="0">
              <a:noFill/>
            </a:ln>
          </p:spPr>
          <p:txBody>
            <a:bodyPr/>
            <a:lstStyle/>
            <a:p>
              <a:endParaRPr lang="zh-CN" altLang="en-US"/>
            </a:p>
          </p:txBody>
        </p:sp>
      </p:grpSp>
      <p:grpSp>
        <p:nvGrpSpPr>
          <p:cNvPr id="1256" name="Group 232"/>
          <p:cNvGrpSpPr/>
          <p:nvPr/>
        </p:nvGrpSpPr>
        <p:grpSpPr>
          <a:xfrm>
            <a:off x="6934200" y="-7937"/>
            <a:ext cx="2317750" cy="2063750"/>
            <a:chOff x="4080" y="-5"/>
            <a:chExt cx="1748" cy="1556"/>
          </a:xfrm>
        </p:grpSpPr>
        <p:sp>
          <p:nvSpPr>
            <p:cNvPr id="1257" name="Freeform 233"/>
            <p:cNvSpPr/>
            <p:nvPr/>
          </p:nvSpPr>
          <p:spPr>
            <a:xfrm>
              <a:off x="4161" y="-5"/>
              <a:ext cx="1585" cy="1443"/>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0" b="0"/>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ln>
          </p:spPr>
          <p:txBody>
            <a:bodyPr/>
            <a:lstStyle/>
            <a:p>
              <a:endParaRPr lang="zh-CN" altLang="en-US"/>
            </a:p>
          </p:txBody>
        </p:sp>
        <p:grpSp>
          <p:nvGrpSpPr>
            <p:cNvPr id="1258" name="Group 234"/>
            <p:cNvGrpSpPr/>
            <p:nvPr userDrawn="1"/>
          </p:nvGrpSpPr>
          <p:grpSpPr>
            <a:xfrm>
              <a:off x="4080" y="0"/>
              <a:ext cx="1748" cy="1551"/>
              <a:chOff x="2918" y="18"/>
              <a:chExt cx="2958" cy="2699"/>
            </a:xfrm>
          </p:grpSpPr>
          <p:sp>
            <p:nvSpPr>
              <p:cNvPr id="1259" name="Freeform 235"/>
              <p:cNvSpPr/>
              <p:nvPr/>
            </p:nvSpPr>
            <p:spPr>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0" b="0"/>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ln>
            </p:spPr>
            <p:txBody>
              <a:bodyPr/>
              <a:lstStyle/>
              <a:p>
                <a:endParaRPr lang="zh-CN" altLang="en-US"/>
              </a:p>
            </p:txBody>
          </p:sp>
          <p:sp>
            <p:nvSpPr>
              <p:cNvPr id="1260" name="Freeform 236"/>
              <p:cNvSpPr>
                <a:spLocks noEditPoints="1"/>
              </p:cNvSpPr>
              <p:nvPr/>
            </p:nvSpPr>
            <p:spPr>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0" b="0"/>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ln>
            </p:spPr>
            <p:txBody>
              <a:bodyPr/>
              <a:lstStyle/>
              <a:p>
                <a:endParaRPr lang="zh-CN" altLang="en-US"/>
              </a:p>
            </p:txBody>
          </p:sp>
          <p:sp>
            <p:nvSpPr>
              <p:cNvPr id="1261" name="Freeform 237"/>
              <p:cNvSpPr/>
              <p:nvPr/>
            </p:nvSpPr>
            <p:spPr>
              <a:xfrm>
                <a:off x="3621" y="1286"/>
                <a:ext cx="237" cy="283"/>
              </a:xfrm>
              <a:custGeom>
                <a:avLst/>
                <a:gdLst/>
                <a:ahLst/>
                <a:cxnLst>
                  <a:cxn ang="0">
                    <a:pos x="40" y="15"/>
                  </a:cxn>
                  <a:cxn ang="0">
                    <a:pos x="27" y="56"/>
                  </a:cxn>
                  <a:cxn ang="0">
                    <a:pos x="40" y="15"/>
                  </a:cxn>
                </a:cxnLst>
                <a:rect l="0" t="0" r="0" b="0"/>
                <a:pathLst>
                  <a:path w="47" h="56">
                    <a:moveTo>
                      <a:pt x="40" y="15"/>
                    </a:moveTo>
                    <a:cubicBezTo>
                      <a:pt x="37" y="0"/>
                      <a:pt x="0" y="23"/>
                      <a:pt x="27" y="56"/>
                    </a:cubicBezTo>
                    <a:cubicBezTo>
                      <a:pt x="27" y="56"/>
                      <a:pt x="47" y="49"/>
                      <a:pt x="40" y="15"/>
                    </a:cubicBezTo>
                    <a:close/>
                  </a:path>
                </a:pathLst>
              </a:custGeom>
              <a:solidFill>
                <a:schemeClr val="bg1"/>
              </a:solidFill>
              <a:ln w="0">
                <a:noFill/>
              </a:ln>
            </p:spPr>
            <p:txBody>
              <a:bodyPr/>
              <a:lstStyle/>
              <a:p>
                <a:endParaRPr lang="zh-CN" altLang="en-US"/>
              </a:p>
            </p:txBody>
          </p:sp>
          <p:sp>
            <p:nvSpPr>
              <p:cNvPr id="1262" name="Freeform 238"/>
              <p:cNvSpPr/>
              <p:nvPr/>
            </p:nvSpPr>
            <p:spPr>
              <a:xfrm>
                <a:off x="3402" y="1403"/>
                <a:ext cx="209" cy="379"/>
              </a:xfrm>
              <a:custGeom>
                <a:avLst/>
                <a:gdLst/>
                <a:ahLst/>
                <a:cxnLst>
                  <a:cxn ang="0">
                    <a:pos x="19" y="27"/>
                  </a:cxn>
                  <a:cxn ang="0">
                    <a:pos x="12" y="69"/>
                  </a:cxn>
                  <a:cxn ang="0">
                    <a:pos x="40" y="45"/>
                  </a:cxn>
                  <a:cxn ang="0">
                    <a:pos x="37" y="24"/>
                  </a:cxn>
                  <a:cxn ang="0">
                    <a:pos x="19" y="27"/>
                  </a:cxn>
                </a:cxnLst>
                <a:rect l="0" t="0" r="0" b="0"/>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ln>
            </p:spPr>
            <p:txBody>
              <a:bodyPr/>
              <a:lstStyle/>
              <a:p>
                <a:endParaRPr lang="zh-CN" altLang="en-US"/>
              </a:p>
            </p:txBody>
          </p:sp>
          <p:sp>
            <p:nvSpPr>
              <p:cNvPr id="1263" name="Freeform 239"/>
              <p:cNvSpPr/>
              <p:nvPr/>
            </p:nvSpPr>
            <p:spPr>
              <a:xfrm>
                <a:off x="3273" y="645"/>
                <a:ext cx="683" cy="319"/>
              </a:xfrm>
              <a:custGeom>
                <a:avLst/>
                <a:gdLst/>
                <a:ahLst/>
                <a:cxnLst>
                  <a:cxn ang="0">
                    <a:pos x="112" y="4"/>
                  </a:cxn>
                  <a:cxn ang="0">
                    <a:pos x="24" y="4"/>
                  </a:cxn>
                  <a:cxn ang="0">
                    <a:pos x="2" y="25"/>
                  </a:cxn>
                  <a:cxn ang="0">
                    <a:pos x="60" y="58"/>
                  </a:cxn>
                  <a:cxn ang="0">
                    <a:pos x="96" y="54"/>
                  </a:cxn>
                  <a:cxn ang="0">
                    <a:pos x="113" y="53"/>
                  </a:cxn>
                  <a:cxn ang="0">
                    <a:pos x="112" y="4"/>
                  </a:cxn>
                </a:cxnLst>
                <a:rect l="0" t="0" r="0" b="0"/>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ln>
            </p:spPr>
            <p:txBody>
              <a:bodyPr/>
              <a:lstStyle/>
              <a:p>
                <a:endParaRPr lang="zh-CN" altLang="en-US"/>
              </a:p>
            </p:txBody>
          </p:sp>
          <p:sp>
            <p:nvSpPr>
              <p:cNvPr id="1264" name="Freeform 240"/>
              <p:cNvSpPr/>
              <p:nvPr/>
            </p:nvSpPr>
            <p:spPr>
              <a:xfrm>
                <a:off x="4046" y="1544"/>
                <a:ext cx="490" cy="517"/>
              </a:xfrm>
              <a:custGeom>
                <a:avLst/>
                <a:gdLst/>
                <a:ahLst/>
                <a:cxnLst>
                  <a:cxn ang="0">
                    <a:pos x="67" y="5"/>
                  </a:cxn>
                  <a:cxn ang="0">
                    <a:pos x="31" y="5"/>
                  </a:cxn>
                  <a:cxn ang="0">
                    <a:pos x="12" y="57"/>
                  </a:cxn>
                  <a:cxn ang="0">
                    <a:pos x="79" y="62"/>
                  </a:cxn>
                  <a:cxn ang="0">
                    <a:pos x="67" y="5"/>
                  </a:cxn>
                </a:cxnLst>
                <a:rect l="0" t="0" r="0" b="0"/>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ln>
            </p:spPr>
            <p:txBody>
              <a:bodyPr/>
              <a:lstStyle/>
              <a:p>
                <a:endParaRPr lang="zh-CN" altLang="en-US"/>
              </a:p>
            </p:txBody>
          </p:sp>
          <p:sp>
            <p:nvSpPr>
              <p:cNvPr id="1265" name="Freeform 241"/>
              <p:cNvSpPr/>
              <p:nvPr/>
            </p:nvSpPr>
            <p:spPr>
              <a:xfrm>
                <a:off x="5173" y="1024"/>
                <a:ext cx="500" cy="96"/>
              </a:xfrm>
              <a:custGeom>
                <a:avLst/>
                <a:gdLst/>
                <a:ahLst/>
                <a:cxnLst>
                  <a:cxn ang="0">
                    <a:pos x="15" y="0"/>
                  </a:cxn>
                  <a:cxn ang="0">
                    <a:pos x="40" y="15"/>
                  </a:cxn>
                  <a:cxn ang="0">
                    <a:pos x="15" y="0"/>
                  </a:cxn>
                </a:cxnLst>
                <a:rect l="0" t="0" r="0" b="0"/>
                <a:pathLst>
                  <a:path w="99" h="19">
                    <a:moveTo>
                      <a:pt x="15" y="0"/>
                    </a:moveTo>
                    <a:cubicBezTo>
                      <a:pt x="0" y="0"/>
                      <a:pt x="19" y="19"/>
                      <a:pt x="40" y="15"/>
                    </a:cubicBezTo>
                    <a:cubicBezTo>
                      <a:pt x="99" y="1"/>
                      <a:pt x="15" y="0"/>
                      <a:pt x="15" y="0"/>
                    </a:cubicBezTo>
                    <a:close/>
                  </a:path>
                </a:pathLst>
              </a:custGeom>
              <a:solidFill>
                <a:schemeClr val="bg1"/>
              </a:solidFill>
              <a:ln w="0">
                <a:noFill/>
              </a:ln>
            </p:spPr>
            <p:txBody>
              <a:bodyPr/>
              <a:lstStyle/>
              <a:p>
                <a:endParaRPr lang="zh-CN" altLang="en-US"/>
              </a:p>
            </p:txBody>
          </p:sp>
          <p:sp>
            <p:nvSpPr>
              <p:cNvPr id="1266" name="Freeform 242"/>
              <p:cNvSpPr/>
              <p:nvPr/>
            </p:nvSpPr>
            <p:spPr>
              <a:xfrm>
                <a:off x="5339" y="1003"/>
                <a:ext cx="385" cy="237"/>
              </a:xfrm>
              <a:custGeom>
                <a:avLst/>
                <a:gdLst/>
                <a:ahLst/>
                <a:cxnLst>
                  <a:cxn ang="0">
                    <a:pos x="21" y="37"/>
                  </a:cxn>
                  <a:cxn ang="0">
                    <a:pos x="70" y="17"/>
                  </a:cxn>
                  <a:cxn ang="0">
                    <a:pos x="48" y="3"/>
                  </a:cxn>
                  <a:cxn ang="0">
                    <a:pos x="19" y="32"/>
                  </a:cxn>
                  <a:cxn ang="0">
                    <a:pos x="21" y="37"/>
                  </a:cxn>
                </a:cxnLst>
                <a:rect l="0" t="0" r="0" b="0"/>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ln>
            </p:spPr>
            <p:txBody>
              <a:bodyPr/>
              <a:lstStyle/>
              <a:p>
                <a:endParaRPr lang="zh-CN" altLang="en-US"/>
              </a:p>
            </p:txBody>
          </p:sp>
          <p:sp>
            <p:nvSpPr>
              <p:cNvPr id="1267" name="Freeform 243"/>
              <p:cNvSpPr/>
              <p:nvPr/>
            </p:nvSpPr>
            <p:spPr>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0" b="0"/>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ln>
            </p:spPr>
            <p:txBody>
              <a:bodyPr/>
              <a:lstStyle/>
              <a:p>
                <a:endParaRPr lang="zh-CN" altLang="en-US"/>
              </a:p>
            </p:txBody>
          </p:sp>
          <p:sp>
            <p:nvSpPr>
              <p:cNvPr id="1268" name="Freeform 244"/>
              <p:cNvSpPr/>
              <p:nvPr/>
            </p:nvSpPr>
            <p:spPr>
              <a:xfrm>
                <a:off x="5001" y="1378"/>
                <a:ext cx="699" cy="167"/>
              </a:xfrm>
              <a:custGeom>
                <a:avLst/>
                <a:gdLst/>
                <a:ahLst/>
                <a:cxnLst>
                  <a:cxn ang="0">
                    <a:pos x="21" y="1"/>
                  </a:cxn>
                  <a:cxn ang="0">
                    <a:pos x="8" y="14"/>
                  </a:cxn>
                  <a:cxn ang="0">
                    <a:pos x="57" y="22"/>
                  </a:cxn>
                  <a:cxn ang="0">
                    <a:pos x="117" y="23"/>
                  </a:cxn>
                  <a:cxn ang="0">
                    <a:pos x="114" y="8"/>
                  </a:cxn>
                  <a:cxn ang="0">
                    <a:pos x="82" y="3"/>
                  </a:cxn>
                  <a:cxn ang="0">
                    <a:pos x="21" y="1"/>
                  </a:cxn>
                </a:cxnLst>
                <a:rect l="0" t="0" r="0" b="0"/>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ln>
            </p:spPr>
            <p:txBody>
              <a:bodyPr/>
              <a:lstStyle/>
              <a:p>
                <a:endParaRPr lang="zh-CN" altLang="en-US"/>
              </a:p>
            </p:txBody>
          </p:sp>
          <p:sp>
            <p:nvSpPr>
              <p:cNvPr id="1269" name="Freeform 245"/>
              <p:cNvSpPr/>
              <p:nvPr/>
            </p:nvSpPr>
            <p:spPr>
              <a:xfrm>
                <a:off x="5078" y="1540"/>
                <a:ext cx="565" cy="146"/>
              </a:xfrm>
              <a:custGeom>
                <a:avLst/>
                <a:gdLst/>
                <a:ahLst/>
                <a:cxnLst>
                  <a:cxn ang="0">
                    <a:pos x="98" y="19"/>
                  </a:cxn>
                  <a:cxn ang="0">
                    <a:pos x="103" y="4"/>
                  </a:cxn>
                  <a:cxn ang="0">
                    <a:pos x="74" y="10"/>
                  </a:cxn>
                  <a:cxn ang="0">
                    <a:pos x="36" y="6"/>
                  </a:cxn>
                  <a:cxn ang="0">
                    <a:pos x="2" y="4"/>
                  </a:cxn>
                  <a:cxn ang="0">
                    <a:pos x="98" y="19"/>
                  </a:cxn>
                </a:cxnLst>
                <a:rect l="0" t="0" r="0" b="0"/>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ln>
            </p:spPr>
            <p:txBody>
              <a:bodyPr/>
              <a:lstStyle/>
              <a:p>
                <a:endParaRPr lang="zh-CN" altLang="en-US"/>
              </a:p>
            </p:txBody>
          </p:sp>
          <p:sp>
            <p:nvSpPr>
              <p:cNvPr id="1270" name="Freeform 246"/>
              <p:cNvSpPr/>
              <p:nvPr/>
            </p:nvSpPr>
            <p:spPr>
              <a:xfrm>
                <a:off x="5041" y="1657"/>
                <a:ext cx="581" cy="479"/>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0" b="0"/>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ln>
            </p:spPr>
            <p:txBody>
              <a:bodyPr/>
              <a:lstStyle/>
              <a:p>
                <a:endParaRPr lang="zh-CN" altLang="en-US"/>
              </a:p>
            </p:txBody>
          </p:sp>
          <p:sp>
            <p:nvSpPr>
              <p:cNvPr id="1271" name="Freeform 247"/>
              <p:cNvSpPr/>
              <p:nvPr/>
            </p:nvSpPr>
            <p:spPr>
              <a:xfrm>
                <a:off x="5420" y="1463"/>
                <a:ext cx="330"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0" b="0"/>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ln>
            </p:spPr>
            <p:txBody>
              <a:bodyPr/>
              <a:lstStyle/>
              <a:p>
                <a:endParaRPr lang="zh-CN" altLang="en-US"/>
              </a:p>
            </p:txBody>
          </p:sp>
        </p:grpSp>
      </p:grpSp>
      <p:sp>
        <p:nvSpPr>
          <p:cNvPr id="1272" name="Rectangle 248"/>
          <p:cNvSpPr>
            <a:spLocks noGrp="1" noRot="1"/>
          </p:cNvSpPr>
          <p:nvPr>
            <p:ph type="title"/>
          </p:nvPr>
        </p:nvSpPr>
        <p:spPr>
          <a:xfrm>
            <a:off x="298450" y="2286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2" name="Rectangle 249"/>
          <p:cNvSpPr>
            <a:spLocks noGrp="1" noRot="1"/>
          </p:cNvSpPr>
          <p:nvPr>
            <p:ph type="body"/>
          </p:nvPr>
        </p:nvSpPr>
        <p:spPr>
          <a:xfrm>
            <a:off x="609600" y="1600200"/>
            <a:ext cx="8153400" cy="4498975"/>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9162" name="Rectangle 250"/>
          <p:cNvSpPr>
            <a:spLocks noGrp="1" noChangeArrowheads="1"/>
          </p:cNvSpPr>
          <p:nvPr>
            <p:ph type="dt" sz="half" idx="2"/>
          </p:nvPr>
        </p:nvSpPr>
        <p:spPr bwMode="auto">
          <a:xfrm>
            <a:off x="298450" y="6245225"/>
            <a:ext cx="2289175" cy="476250"/>
          </a:xfrm>
          <a:prstGeom prst="rect">
            <a:avLst/>
          </a:prstGeom>
          <a:noFill/>
          <a:ln w="9525">
            <a:noFill/>
            <a:miter lim="800000"/>
          </a:ln>
          <a:effectLst/>
        </p:spPr>
        <p:txBody>
          <a:bodyPr vert="horz" wrap="square" lIns="91440" tIns="45720" rIns="91440" bIns="45720" numCol="1" anchor="t" anchorCtr="0" compatLnSpc="1"/>
          <a:lstStyle>
            <a:lvl1pPr>
              <a:buFontTx/>
              <a:buNone/>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163" name="Rectangle 251"/>
          <p:cNvSpPr>
            <a:spLocks noGrp="1" noChangeArrowheads="1"/>
          </p:cNvSpPr>
          <p:nvPr>
            <p:ph type="ftr" sz="quarter" idx="3"/>
          </p:nvPr>
        </p:nvSpPr>
        <p:spPr bwMode="auto">
          <a:xfrm>
            <a:off x="3121025"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164" name="Rectangle 252"/>
          <p:cNvSpPr>
            <a:spLocks noGrp="1" noChangeArrowheads="1"/>
          </p:cNvSpPr>
          <p:nvPr>
            <p:ph type="sldNum" sz="quarter" idx="4"/>
          </p:nvPr>
        </p:nvSpPr>
        <p:spPr bwMode="auto">
          <a:xfrm>
            <a:off x="6550025"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noProof="1" dirty="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96506-2B22-49BE-84E8-D915C1EEDDA4}" type="slidenum">
              <a:rPr kumimoji="0" lang="en-US" altLang="zh-CN" sz="1400" b="0" i="0" u="none" strike="noStrike" kern="1200" cap="none" spc="0" normalizeH="0" baseline="0" noProof="1" dirty="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 presetClass="entr" presetSubtype="0" fill="hold" nodeType="clickEffect">
                  <p:stCondLst>
                    <p:cond delay="0"/>
                  </p:stCondLst>
                  <p:childTnLst>
                    <p:set>
                      <p:cBhvr>
                        <p:cTn dur="1" fill="hold">
                          <p:stCondLst>
                            <p:cond delay="0"/>
                          </p:stCondLst>
                        </p:cTn>
                        <p:tgtEl>
                          <p:spTgt spid="2"/>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p:cNvPicPr preferRelativeResize="0">
            <a:picLocks noChangeAspect="1"/>
          </p:cNvPicPr>
          <p:nvPr userDrawn="1"/>
        </p:nvPicPr>
        <p:blipFill>
          <a:blip r:embed="rId13"/>
          <a:stretch>
            <a:fillRect/>
          </a:stretch>
        </p:blipFill>
        <p:spPr>
          <a:xfrm>
            <a:off x="0" y="0"/>
            <a:ext cx="9144000" cy="6858000"/>
          </a:xfrm>
          <a:prstGeom prst="rect">
            <a:avLst/>
          </a:prstGeom>
          <a:noFill/>
          <a:ln w="9525">
            <a:noFill/>
          </a:ln>
        </p:spPr>
      </p:pic>
      <p:sp>
        <p:nvSpPr>
          <p:cNvPr id="2051" name="Rectangle 3"/>
          <p:cNvSpPr/>
          <p:nvPr/>
        </p:nvSpPr>
        <p:spPr>
          <a:xfrm>
            <a:off x="-14287" y="0"/>
            <a:ext cx="9144000" cy="6858000"/>
          </a:xfrm>
          <a:prstGeom prst="rect">
            <a:avLst/>
          </a:prstGeom>
          <a:solidFill>
            <a:schemeClr val="bg1">
              <a:alpha val="81175"/>
            </a:schemeClr>
          </a:solidFill>
          <a:ln w="9525" cap="flat" cmpd="sng">
            <a:solidFill>
              <a:schemeClr val="tx1"/>
            </a:solidFill>
            <a:prstDash val="solid"/>
            <a:miter/>
            <a:headEnd type="none" w="med" len="med"/>
            <a:tailEnd type="none" w="med" len="med"/>
          </a:ln>
        </p:spPr>
        <p:txBody>
          <a:bodyPr wrap="none" anchor="ctr" anchorCtr="0"/>
          <a:lstStyle/>
          <a:p>
            <a:pPr lvl="0" eaLnBrk="1" hangingPunct="1">
              <a:buFontTx/>
              <a:buNone/>
            </a:pPr>
            <a:endParaRPr lang="zh-CN" altLang="en-US" sz="2000" dirty="0">
              <a:latin typeface="Times New Roman" panose="02020603050405020304" pitchFamily="18" charset="0"/>
            </a:endParaRPr>
          </a:p>
        </p:txBody>
      </p:sp>
      <p:pic>
        <p:nvPicPr>
          <p:cNvPr id="2052" name="Picture 4"/>
          <p:cNvPicPr>
            <a:picLocks noChangeAspect="1"/>
          </p:cNvPicPr>
          <p:nvPr userDrawn="1"/>
        </p:nvPicPr>
        <p:blipFill>
          <a:blip r:embed="rId13"/>
          <a:stretch>
            <a:fillRect/>
          </a:stretch>
        </p:blipFill>
        <p:spPr>
          <a:xfrm>
            <a:off x="0" y="0"/>
            <a:ext cx="9144000"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728663" y="53752"/>
            <a:ext cx="7568173" cy="678470"/>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p>
        </p:txBody>
      </p:sp>
      <p:sp>
        <p:nvSpPr>
          <p:cNvPr id="4104" name="Rectangle 8"/>
          <p:cNvSpPr>
            <a:spLocks noGrp="1" noChangeArrowheads="1"/>
          </p:cNvSpPr>
          <p:nvPr>
            <p:ph type="body" idx="1"/>
          </p:nvPr>
        </p:nvSpPr>
        <p:spPr bwMode="auto">
          <a:xfrm>
            <a:off x="228600" y="1201271"/>
            <a:ext cx="8592671" cy="5540097"/>
          </a:xfrm>
          <a:prstGeom prst="rect">
            <a:avLst/>
          </a:prstGeom>
          <a:noFill/>
          <a:ln>
            <a:noFill/>
          </a:ln>
          <a:effec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Rectangle 11"/>
          <p:cNvSpPr>
            <a:spLocks noGrp="1" noChangeArrowheads="1"/>
          </p:cNvSpPr>
          <p:nvPr>
            <p:ph type="sldNum" sz="quarter" idx="4"/>
          </p:nvPr>
        </p:nvSpPr>
        <p:spPr>
          <a:xfrm>
            <a:off x="8678316" y="6517146"/>
            <a:ext cx="574204" cy="476250"/>
          </a:xfrm>
          <a:prstGeom prst="rect">
            <a:avLst/>
          </a:prstGeom>
        </p:spPr>
        <p:txBody>
          <a:bodyPr/>
          <a:lstStyle>
            <a:lvl1pPr>
              <a:defRPr/>
            </a:lvl1pPr>
          </a:lstStyle>
          <a:p>
            <a:fld id="{87BBDC00-B9E2-4EFD-9306-2934E87247C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p:txStyles>
    <p:titleStyle>
      <a:lvl1pPr algn="ctr" rtl="0" eaLnBrk="1" fontAlgn="base" hangingPunct="1">
        <a:spcBef>
          <a:spcPct val="0"/>
        </a:spcBef>
        <a:spcAft>
          <a:spcPct val="0"/>
        </a:spcAft>
        <a:defRPr kumimoji="1" sz="36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316230"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633095"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949325"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266190"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p:titleStyle>
    <p:bodyStyle>
      <a:lvl1pPr marL="237490" indent="-237490" algn="l" rtl="0" eaLnBrk="1" fontAlgn="base" hangingPunct="1">
        <a:spcBef>
          <a:spcPct val="20000"/>
        </a:spcBef>
        <a:spcAft>
          <a:spcPct val="0"/>
        </a:spcAft>
        <a:buFont typeface="Wingdings" panose="05000000000000000000" pitchFamily="2" charset="2"/>
        <a:buChar char="p"/>
        <a:defRPr kumimoji="1" sz="2400" b="0">
          <a:solidFill>
            <a:schemeClr val="tx1"/>
          </a:solidFill>
          <a:effectLst/>
          <a:latin typeface="Arial" panose="020B0604020202020204"/>
          <a:ea typeface="黑体" panose="02010609060101010101" pitchFamily="49" charset="-122"/>
          <a:cs typeface="Arial" panose="020B0604020202020204"/>
        </a:defRPr>
      </a:lvl1pPr>
      <a:lvl2pPr marL="514350" indent="-198120" algn="l" rtl="0" eaLnBrk="1" fontAlgn="base" hangingPunct="1">
        <a:spcBef>
          <a:spcPct val="20000"/>
        </a:spcBef>
        <a:spcAft>
          <a:spcPct val="0"/>
        </a:spcAft>
        <a:buChar char="–"/>
        <a:defRPr kumimoji="1" sz="2100" b="0">
          <a:solidFill>
            <a:schemeClr val="tx1"/>
          </a:solidFill>
          <a:effectLst/>
          <a:latin typeface="Arial" panose="020B0604020202020204"/>
          <a:ea typeface="黑体" panose="02010609060101010101" pitchFamily="49" charset="-122"/>
          <a:cs typeface="Arial" panose="020B0604020202020204"/>
        </a:defRPr>
      </a:lvl2pPr>
      <a:lvl3pPr marL="791210" indent="-158115" algn="l" rtl="0" eaLnBrk="1" fontAlgn="base" hangingPunct="1">
        <a:spcBef>
          <a:spcPct val="20000"/>
        </a:spcBef>
        <a:spcAft>
          <a:spcPct val="0"/>
        </a:spcAft>
        <a:buChar char="•"/>
        <a:defRPr kumimoji="1" sz="1800" b="0">
          <a:solidFill>
            <a:schemeClr val="tx1"/>
          </a:solidFill>
          <a:effectLst/>
          <a:latin typeface="Arial" panose="020B0604020202020204"/>
          <a:ea typeface="黑体" panose="02010609060101010101" pitchFamily="49" charset="-122"/>
          <a:cs typeface="Arial" panose="020B0604020202020204"/>
        </a:defRPr>
      </a:lvl3pPr>
      <a:lvl4pPr marL="1108075" indent="-158115"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4pPr>
      <a:lvl5pPr marL="1424305" indent="-158115"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5pPr>
      <a:lvl6pPr marL="1741170" indent="-158115"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6pPr>
      <a:lvl7pPr marL="2057400" indent="-158115"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7pPr>
      <a:lvl8pPr marL="2374265" indent="-158115"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8pPr>
      <a:lvl9pPr marL="2690495" indent="-158115"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633095" rtl="0" eaLnBrk="1" latinLnBrk="0" hangingPunct="1">
        <a:defRPr sz="1245" kern="1200">
          <a:solidFill>
            <a:schemeClr val="tx1"/>
          </a:solidFill>
          <a:latin typeface="+mn-lt"/>
          <a:ea typeface="+mn-ea"/>
          <a:cs typeface="+mn-cs"/>
        </a:defRPr>
      </a:lvl1pPr>
      <a:lvl2pPr marL="316230" algn="l" defTabSz="633095" rtl="0" eaLnBrk="1" latinLnBrk="0" hangingPunct="1">
        <a:defRPr sz="1245" kern="1200">
          <a:solidFill>
            <a:schemeClr val="tx1"/>
          </a:solidFill>
          <a:latin typeface="+mn-lt"/>
          <a:ea typeface="+mn-ea"/>
          <a:cs typeface="+mn-cs"/>
        </a:defRPr>
      </a:lvl2pPr>
      <a:lvl3pPr marL="633095" algn="l" defTabSz="633095" rtl="0" eaLnBrk="1" latinLnBrk="0" hangingPunct="1">
        <a:defRPr sz="1245" kern="1200">
          <a:solidFill>
            <a:schemeClr val="tx1"/>
          </a:solidFill>
          <a:latin typeface="+mn-lt"/>
          <a:ea typeface="+mn-ea"/>
          <a:cs typeface="+mn-cs"/>
        </a:defRPr>
      </a:lvl3pPr>
      <a:lvl4pPr marL="949325" algn="l" defTabSz="633095" rtl="0" eaLnBrk="1" latinLnBrk="0" hangingPunct="1">
        <a:defRPr sz="1245" kern="1200">
          <a:solidFill>
            <a:schemeClr val="tx1"/>
          </a:solidFill>
          <a:latin typeface="+mn-lt"/>
          <a:ea typeface="+mn-ea"/>
          <a:cs typeface="+mn-cs"/>
        </a:defRPr>
      </a:lvl4pPr>
      <a:lvl5pPr marL="1266190" algn="l" defTabSz="633095" rtl="0" eaLnBrk="1" latinLnBrk="0" hangingPunct="1">
        <a:defRPr sz="1245" kern="1200">
          <a:solidFill>
            <a:schemeClr val="tx1"/>
          </a:solidFill>
          <a:latin typeface="+mn-lt"/>
          <a:ea typeface="+mn-ea"/>
          <a:cs typeface="+mn-cs"/>
        </a:defRPr>
      </a:lvl5pPr>
      <a:lvl6pPr marL="1582420" algn="l" defTabSz="633095" rtl="0" eaLnBrk="1" latinLnBrk="0" hangingPunct="1">
        <a:defRPr sz="1245" kern="1200">
          <a:solidFill>
            <a:schemeClr val="tx1"/>
          </a:solidFill>
          <a:latin typeface="+mn-lt"/>
          <a:ea typeface="+mn-ea"/>
          <a:cs typeface="+mn-cs"/>
        </a:defRPr>
      </a:lvl6pPr>
      <a:lvl7pPr marL="1899285" algn="l" defTabSz="633095" rtl="0" eaLnBrk="1" latinLnBrk="0" hangingPunct="1">
        <a:defRPr sz="1245" kern="1200">
          <a:solidFill>
            <a:schemeClr val="tx1"/>
          </a:solidFill>
          <a:latin typeface="+mn-lt"/>
          <a:ea typeface="+mn-ea"/>
          <a:cs typeface="+mn-cs"/>
        </a:defRPr>
      </a:lvl7pPr>
      <a:lvl8pPr marL="2215515" algn="l" defTabSz="633095" rtl="0" eaLnBrk="1" latinLnBrk="0" hangingPunct="1">
        <a:defRPr sz="1245" kern="1200">
          <a:solidFill>
            <a:schemeClr val="tx1"/>
          </a:solidFill>
          <a:latin typeface="+mn-lt"/>
          <a:ea typeface="+mn-ea"/>
          <a:cs typeface="+mn-cs"/>
        </a:defRPr>
      </a:lvl8pPr>
      <a:lvl9pPr marL="2532380" algn="l" defTabSz="633095" rtl="0" eaLnBrk="1" latinLnBrk="0" hangingPunct="1">
        <a:defRPr sz="124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1"/>
          <p:cNvPicPr>
            <a:picLocks noChangeAspect="1"/>
          </p:cNvPicPr>
          <p:nvPr userDrawn="1"/>
        </p:nvPicPr>
        <p:blipFill>
          <a:blip r:embed="rId13"/>
          <a:stretch>
            <a:fillRect/>
          </a:stretch>
        </p:blipFill>
        <p:spPr>
          <a:xfrm>
            <a:off x="0" y="0"/>
            <a:ext cx="9144000" cy="6858000"/>
          </a:xfrm>
          <a:prstGeom prst="rect">
            <a:avLst/>
          </a:prstGeom>
          <a:noFill/>
          <a:ln w="9525">
            <a:noFill/>
          </a:ln>
        </p:spPr>
      </p:pic>
      <p:sp>
        <p:nvSpPr>
          <p:cNvPr id="1027" name="Rectangle 6"/>
          <p:cNvSpPr/>
          <p:nvPr/>
        </p:nvSpPr>
        <p:spPr>
          <a:xfrm>
            <a:off x="0" y="39688"/>
            <a:ext cx="9144000" cy="858837"/>
          </a:xfrm>
          <a:prstGeom prst="rect">
            <a:avLst/>
          </a:prstGeom>
          <a:solidFill>
            <a:srgbClr val="873624"/>
          </a:solidFill>
          <a:ln w="26425">
            <a:noFill/>
          </a:ln>
        </p:spPr>
        <p:txBody>
          <a:bodyPr anchor="ctr" anchorCtr="0"/>
          <a:lstStyle/>
          <a:p>
            <a:pPr lvl="0" algn="ctr" eaLnBrk="1" hangingPunct="1">
              <a:buFontTx/>
              <a:buNone/>
            </a:pPr>
            <a:endParaRPr lang="en-US" altLang="zh-CN" sz="1800" b="0" dirty="0">
              <a:solidFill>
                <a:srgbClr val="FFFFFF"/>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ransition>
    <p:zoom/>
  </p:transition>
  <p:hf sldNum="0"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9BB4C2"/>
            </a:gs>
          </a:gsLst>
          <a:lin ang="5400000" scaled="1"/>
          <a:tileRect/>
        </a:gradFill>
        <a:effectLst/>
      </p:bgPr>
    </p:bg>
    <p:spTree>
      <p:nvGrpSpPr>
        <p:cNvPr id="1" name=""/>
        <p:cNvGrpSpPr/>
        <p:nvPr/>
      </p:nvGrpSpPr>
      <p:grpSpPr>
        <a:xfrm>
          <a:off x="0" y="0"/>
          <a:ext cx="0" cy="0"/>
          <a:chOff x="0" y="0"/>
          <a:chExt cx="0" cy="0"/>
        </a:xfrm>
      </p:grpSpPr>
      <p:sp>
        <p:nvSpPr>
          <p:cNvPr id="1026" name="Rectangle 2"/>
          <p:cNvSpPr/>
          <p:nvPr/>
        </p:nvSpPr>
        <p:spPr>
          <a:xfrm>
            <a:off x="0" y="-149225"/>
            <a:ext cx="9144000" cy="1311275"/>
          </a:xfrm>
          <a:prstGeom prst="rect">
            <a:avLst/>
          </a:prstGeom>
          <a:gradFill rotWithShape="0">
            <a:gsLst>
              <a:gs pos="0">
                <a:srgbClr val="FFFFFF"/>
              </a:gs>
              <a:gs pos="100000">
                <a:schemeClr val="bg1"/>
              </a:gs>
            </a:gsLst>
            <a:lin ang="5400000" scaled="1"/>
            <a:tileRect/>
          </a:gradFill>
          <a:ln w="9525">
            <a:noFill/>
          </a:ln>
        </p:spPr>
        <p:txBody>
          <a:bodyPr wrap="none" anchor="ctr" anchorCtr="0"/>
          <a:lstStyle/>
          <a:p>
            <a:pPr lvl="0">
              <a:buNone/>
            </a:pPr>
            <a:endParaRPr lang="zh-CN" altLang="en-US" dirty="0">
              <a:latin typeface="Helvetica" pitchFamily="1" charset="0"/>
              <a:ea typeface="宋体" panose="02010600030101010101" pitchFamily="2" charset="-122"/>
            </a:endParaRPr>
          </a:p>
        </p:txBody>
      </p:sp>
      <p:sp>
        <p:nvSpPr>
          <p:cNvPr id="1027" name="Rectangle 3"/>
          <p:cNvSpPr>
            <a:spLocks noGrp="1"/>
          </p:cNvSpPr>
          <p:nvPr>
            <p:ph type="body"/>
          </p:nvPr>
        </p:nvSpPr>
        <p:spPr>
          <a:xfrm>
            <a:off x="752475" y="1047750"/>
            <a:ext cx="7848600" cy="48768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p:spPr>
        <p:txBody>
          <a:bodyPr vert="horz" wrap="square" lIns="91440" tIns="45720" rIns="91440" bIns="45720" numCol="1" anchor="t" anchorCtr="0" compatLnSpc="1"/>
          <a:lstStyle>
            <a:lvl1pPr eaLnBrk="0" hangingPunct="0">
              <a:spcBef>
                <a:spcPct val="50000"/>
              </a:spcBef>
              <a:buFont typeface="Arial" panose="020B0604020202020204" pitchFamily="34" charset="0"/>
              <a:buNone/>
              <a:defRPr sz="1400">
                <a:solidFill>
                  <a:schemeClr val="bg2"/>
                </a:solidFill>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sldNum" sz="quarter" idx="4"/>
          </p:nvPr>
        </p:nvSpPr>
        <p:spPr bwMode="auto">
          <a:xfrm>
            <a:off x="6553200" y="62484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noProof="1" dirty="0">
                <a:solidFill>
                  <a:schemeClr val="bg2"/>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5F4B3791-8130-4663-8A80-E7F08DBDA633}" type="slidenum">
              <a:rPr kumimoji="0" lang="zh-CN" altLang="en-US" sz="1400" b="0" i="0" u="none" strike="noStrike" kern="1200" cap="none" spc="0" normalizeH="0" baseline="0" noProof="1" dirty="0">
                <a:ln>
                  <a:noFill/>
                </a:ln>
                <a:solidFill>
                  <a:schemeClr val="bg2"/>
                </a:solidFill>
                <a:effectLst/>
                <a:uLnTx/>
                <a:uFillTx/>
                <a:latin typeface="Times New Roman" panose="02020603050405020304" pitchFamily="18" charset="0"/>
                <a:ea typeface="宋体" panose="02010600030101010101" pitchFamily="2" charset="-122"/>
                <a:cs typeface="+mn-cs"/>
              </a:rPr>
              <a:t>‹#›</a:t>
            </a:fld>
            <a:endParaRPr kumimoji="0" lang="zh-CN" altLang="en-US" sz="1400" b="0" i="0" u="none" strike="noStrike" kern="1200" cap="none" spc="0" normalizeH="0" baseline="0" noProof="1">
              <a:ln>
                <a:noFill/>
              </a:ln>
              <a:solidFill>
                <a:schemeClr val="bg2"/>
              </a:solidFill>
              <a:effectLst/>
              <a:uLnTx/>
              <a:uFillTx/>
              <a:latin typeface="Times New Roman" panose="02020603050405020304" pitchFamily="18" charset="0"/>
              <a:ea typeface="宋体" panose="02010600030101010101" pitchFamily="2" charset="-122"/>
              <a:cs typeface="+mn-cs"/>
            </a:endParaRPr>
          </a:p>
        </p:txBody>
      </p:sp>
      <p:sp>
        <p:nvSpPr>
          <p:cNvPr id="1030" name="Oval 6"/>
          <p:cNvSpPr/>
          <p:nvPr/>
        </p:nvSpPr>
        <p:spPr>
          <a:xfrm>
            <a:off x="142875" y="0"/>
            <a:ext cx="838200" cy="781050"/>
          </a:xfrm>
          <a:prstGeom prst="ellipse">
            <a:avLst/>
          </a:prstGeom>
          <a:gradFill rotWithShape="0">
            <a:gsLst>
              <a:gs pos="0">
                <a:schemeClr val="hlink"/>
              </a:gs>
              <a:gs pos="100000">
                <a:srgbClr val="FFB74C"/>
              </a:gs>
            </a:gsLst>
            <a:lin ang="5400000" scaled="1"/>
            <a:tileRect/>
          </a:gradFill>
          <a:ln w="9525">
            <a:noFill/>
          </a:ln>
        </p:spPr>
        <p:txBody>
          <a:bodyPr wrap="none" anchor="ctr" anchorCtr="0"/>
          <a:lstStyle/>
          <a:p>
            <a:pPr lvl="0">
              <a:buNone/>
            </a:pPr>
            <a:endParaRPr lang="zh-CN" altLang="en-US" dirty="0">
              <a:latin typeface="Helvetica" pitchFamily="1" charset="0"/>
              <a:ea typeface="宋体" panose="02010600030101010101" pitchFamily="2" charset="-122"/>
            </a:endParaRPr>
          </a:p>
        </p:txBody>
      </p:sp>
      <p:sp>
        <p:nvSpPr>
          <p:cNvPr id="1031" name="Freeform 7"/>
          <p:cNvSpPr/>
          <p:nvPr/>
        </p:nvSpPr>
        <p:spPr>
          <a:xfrm>
            <a:off x="31750" y="338138"/>
            <a:ext cx="390525" cy="149225"/>
          </a:xfrm>
          <a:custGeom>
            <a:avLst/>
            <a:gdLst>
              <a:gd name="txL" fmla="*/ 0 w 246"/>
              <a:gd name="txT" fmla="*/ 0 h 94"/>
              <a:gd name="txR" fmla="*/ 246 w 246"/>
              <a:gd name="txB" fmla="*/ 94 h 9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46" h="94">
                <a:moveTo>
                  <a:pt x="0" y="55"/>
                </a:moveTo>
                <a:lnTo>
                  <a:pt x="7" y="52"/>
                </a:lnTo>
                <a:lnTo>
                  <a:pt x="14" y="50"/>
                </a:lnTo>
                <a:lnTo>
                  <a:pt x="22" y="48"/>
                </a:lnTo>
                <a:lnTo>
                  <a:pt x="30" y="48"/>
                </a:lnTo>
                <a:lnTo>
                  <a:pt x="38" y="48"/>
                </a:lnTo>
                <a:lnTo>
                  <a:pt x="45" y="48"/>
                </a:lnTo>
                <a:lnTo>
                  <a:pt x="53" y="50"/>
                </a:lnTo>
                <a:lnTo>
                  <a:pt x="61" y="51"/>
                </a:lnTo>
                <a:lnTo>
                  <a:pt x="69" y="54"/>
                </a:lnTo>
                <a:lnTo>
                  <a:pt x="76" y="56"/>
                </a:lnTo>
                <a:lnTo>
                  <a:pt x="84" y="59"/>
                </a:lnTo>
                <a:lnTo>
                  <a:pt x="92" y="62"/>
                </a:lnTo>
                <a:lnTo>
                  <a:pt x="99" y="65"/>
                </a:lnTo>
                <a:lnTo>
                  <a:pt x="106" y="68"/>
                </a:lnTo>
                <a:lnTo>
                  <a:pt x="113" y="72"/>
                </a:lnTo>
                <a:lnTo>
                  <a:pt x="119" y="75"/>
                </a:lnTo>
                <a:lnTo>
                  <a:pt x="124" y="66"/>
                </a:lnTo>
                <a:lnTo>
                  <a:pt x="130" y="56"/>
                </a:lnTo>
                <a:lnTo>
                  <a:pt x="136" y="48"/>
                </a:lnTo>
                <a:lnTo>
                  <a:pt x="143" y="42"/>
                </a:lnTo>
                <a:lnTo>
                  <a:pt x="150" y="35"/>
                </a:lnTo>
                <a:lnTo>
                  <a:pt x="158" y="29"/>
                </a:lnTo>
                <a:lnTo>
                  <a:pt x="166" y="24"/>
                </a:lnTo>
                <a:lnTo>
                  <a:pt x="175" y="20"/>
                </a:lnTo>
                <a:lnTo>
                  <a:pt x="183" y="16"/>
                </a:lnTo>
                <a:lnTo>
                  <a:pt x="193" y="13"/>
                </a:lnTo>
                <a:lnTo>
                  <a:pt x="201" y="9"/>
                </a:lnTo>
                <a:lnTo>
                  <a:pt x="210" y="7"/>
                </a:lnTo>
                <a:lnTo>
                  <a:pt x="219" y="5"/>
                </a:lnTo>
                <a:lnTo>
                  <a:pt x="228" y="3"/>
                </a:lnTo>
                <a:lnTo>
                  <a:pt x="237" y="1"/>
                </a:lnTo>
                <a:lnTo>
                  <a:pt x="245" y="0"/>
                </a:lnTo>
                <a:lnTo>
                  <a:pt x="237" y="3"/>
                </a:lnTo>
                <a:lnTo>
                  <a:pt x="230" y="7"/>
                </a:lnTo>
                <a:lnTo>
                  <a:pt x="222" y="11"/>
                </a:lnTo>
                <a:lnTo>
                  <a:pt x="214" y="15"/>
                </a:lnTo>
                <a:lnTo>
                  <a:pt x="207" y="19"/>
                </a:lnTo>
                <a:lnTo>
                  <a:pt x="199" y="24"/>
                </a:lnTo>
                <a:lnTo>
                  <a:pt x="191" y="28"/>
                </a:lnTo>
                <a:lnTo>
                  <a:pt x="185" y="33"/>
                </a:lnTo>
                <a:lnTo>
                  <a:pt x="177" y="39"/>
                </a:lnTo>
                <a:lnTo>
                  <a:pt x="170" y="44"/>
                </a:lnTo>
                <a:lnTo>
                  <a:pt x="163" y="51"/>
                </a:lnTo>
                <a:lnTo>
                  <a:pt x="158" y="57"/>
                </a:lnTo>
                <a:lnTo>
                  <a:pt x="152" y="64"/>
                </a:lnTo>
                <a:lnTo>
                  <a:pt x="146" y="71"/>
                </a:lnTo>
                <a:lnTo>
                  <a:pt x="142" y="79"/>
                </a:lnTo>
                <a:lnTo>
                  <a:pt x="138" y="87"/>
                </a:lnTo>
                <a:lnTo>
                  <a:pt x="135" y="90"/>
                </a:lnTo>
                <a:lnTo>
                  <a:pt x="133" y="92"/>
                </a:lnTo>
                <a:lnTo>
                  <a:pt x="130" y="93"/>
                </a:lnTo>
                <a:lnTo>
                  <a:pt x="127" y="91"/>
                </a:lnTo>
                <a:lnTo>
                  <a:pt x="123" y="90"/>
                </a:lnTo>
                <a:lnTo>
                  <a:pt x="120" y="89"/>
                </a:lnTo>
                <a:lnTo>
                  <a:pt x="116" y="87"/>
                </a:lnTo>
                <a:lnTo>
                  <a:pt x="113" y="86"/>
                </a:lnTo>
                <a:lnTo>
                  <a:pt x="107" y="84"/>
                </a:lnTo>
                <a:lnTo>
                  <a:pt x="101" y="80"/>
                </a:lnTo>
                <a:lnTo>
                  <a:pt x="93" y="78"/>
                </a:lnTo>
                <a:lnTo>
                  <a:pt x="87" y="74"/>
                </a:lnTo>
                <a:lnTo>
                  <a:pt x="79" y="71"/>
                </a:lnTo>
                <a:lnTo>
                  <a:pt x="71" y="67"/>
                </a:lnTo>
                <a:lnTo>
                  <a:pt x="63" y="64"/>
                </a:lnTo>
                <a:lnTo>
                  <a:pt x="55" y="61"/>
                </a:lnTo>
                <a:lnTo>
                  <a:pt x="47" y="58"/>
                </a:lnTo>
                <a:lnTo>
                  <a:pt x="39" y="55"/>
                </a:lnTo>
                <a:lnTo>
                  <a:pt x="31" y="54"/>
                </a:lnTo>
                <a:lnTo>
                  <a:pt x="24" y="52"/>
                </a:lnTo>
                <a:lnTo>
                  <a:pt x="17" y="52"/>
                </a:lnTo>
                <a:lnTo>
                  <a:pt x="10" y="52"/>
                </a:lnTo>
                <a:lnTo>
                  <a:pt x="5" y="53"/>
                </a:lnTo>
                <a:lnTo>
                  <a:pt x="0" y="55"/>
                </a:lnTo>
              </a:path>
            </a:pathLst>
          </a:custGeom>
          <a:solidFill>
            <a:schemeClr val="tx1">
              <a:alpha val="100000"/>
            </a:schemeClr>
          </a:solidFill>
          <a:ln w="9525">
            <a:noFill/>
          </a:ln>
        </p:spPr>
        <p:txBody>
          <a:bodyPr/>
          <a:lstStyle/>
          <a:p>
            <a:endParaRPr lang="zh-CN" altLang="en-US"/>
          </a:p>
        </p:txBody>
      </p:sp>
      <p:sp>
        <p:nvSpPr>
          <p:cNvPr id="1032" name="Freeform 8"/>
          <p:cNvSpPr/>
          <p:nvPr/>
        </p:nvSpPr>
        <p:spPr>
          <a:xfrm>
            <a:off x="619125" y="638175"/>
            <a:ext cx="468313" cy="177800"/>
          </a:xfrm>
          <a:custGeom>
            <a:avLst/>
            <a:gdLst>
              <a:gd name="txL" fmla="*/ 0 w 295"/>
              <a:gd name="txT" fmla="*/ 0 h 112"/>
              <a:gd name="txR" fmla="*/ 295 w 295"/>
              <a:gd name="txB" fmla="*/ 112 h 112"/>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95" h="112">
                <a:moveTo>
                  <a:pt x="0" y="65"/>
                </a:moveTo>
                <a:lnTo>
                  <a:pt x="8" y="62"/>
                </a:lnTo>
                <a:lnTo>
                  <a:pt x="16" y="59"/>
                </a:lnTo>
                <a:lnTo>
                  <a:pt x="26" y="57"/>
                </a:lnTo>
                <a:lnTo>
                  <a:pt x="36" y="57"/>
                </a:lnTo>
                <a:lnTo>
                  <a:pt x="45" y="57"/>
                </a:lnTo>
                <a:lnTo>
                  <a:pt x="54" y="57"/>
                </a:lnTo>
                <a:lnTo>
                  <a:pt x="63" y="59"/>
                </a:lnTo>
                <a:lnTo>
                  <a:pt x="73" y="60"/>
                </a:lnTo>
                <a:lnTo>
                  <a:pt x="82" y="64"/>
                </a:lnTo>
                <a:lnTo>
                  <a:pt x="91" y="66"/>
                </a:lnTo>
                <a:lnTo>
                  <a:pt x="100" y="70"/>
                </a:lnTo>
                <a:lnTo>
                  <a:pt x="110" y="74"/>
                </a:lnTo>
                <a:lnTo>
                  <a:pt x="118" y="77"/>
                </a:lnTo>
                <a:lnTo>
                  <a:pt x="127" y="81"/>
                </a:lnTo>
                <a:lnTo>
                  <a:pt x="135" y="85"/>
                </a:lnTo>
                <a:lnTo>
                  <a:pt x="142" y="89"/>
                </a:lnTo>
                <a:lnTo>
                  <a:pt x="148" y="78"/>
                </a:lnTo>
                <a:lnTo>
                  <a:pt x="156" y="66"/>
                </a:lnTo>
                <a:lnTo>
                  <a:pt x="163" y="57"/>
                </a:lnTo>
                <a:lnTo>
                  <a:pt x="171" y="50"/>
                </a:lnTo>
                <a:lnTo>
                  <a:pt x="180" y="41"/>
                </a:lnTo>
                <a:lnTo>
                  <a:pt x="189" y="34"/>
                </a:lnTo>
                <a:lnTo>
                  <a:pt x="199" y="28"/>
                </a:lnTo>
                <a:lnTo>
                  <a:pt x="210" y="23"/>
                </a:lnTo>
                <a:lnTo>
                  <a:pt x="219" y="19"/>
                </a:lnTo>
                <a:lnTo>
                  <a:pt x="231" y="15"/>
                </a:lnTo>
                <a:lnTo>
                  <a:pt x="241" y="10"/>
                </a:lnTo>
                <a:lnTo>
                  <a:pt x="252" y="8"/>
                </a:lnTo>
                <a:lnTo>
                  <a:pt x="262" y="5"/>
                </a:lnTo>
                <a:lnTo>
                  <a:pt x="273" y="3"/>
                </a:lnTo>
                <a:lnTo>
                  <a:pt x="284" y="1"/>
                </a:lnTo>
                <a:lnTo>
                  <a:pt x="294" y="0"/>
                </a:lnTo>
                <a:lnTo>
                  <a:pt x="284" y="3"/>
                </a:lnTo>
                <a:lnTo>
                  <a:pt x="276" y="8"/>
                </a:lnTo>
                <a:lnTo>
                  <a:pt x="266" y="13"/>
                </a:lnTo>
                <a:lnTo>
                  <a:pt x="256" y="17"/>
                </a:lnTo>
                <a:lnTo>
                  <a:pt x="248" y="22"/>
                </a:lnTo>
                <a:lnTo>
                  <a:pt x="238" y="28"/>
                </a:lnTo>
                <a:lnTo>
                  <a:pt x="229" y="33"/>
                </a:lnTo>
                <a:lnTo>
                  <a:pt x="222" y="39"/>
                </a:lnTo>
                <a:lnTo>
                  <a:pt x="212" y="46"/>
                </a:lnTo>
                <a:lnTo>
                  <a:pt x="204" y="52"/>
                </a:lnTo>
                <a:lnTo>
                  <a:pt x="195" y="60"/>
                </a:lnTo>
                <a:lnTo>
                  <a:pt x="189" y="68"/>
                </a:lnTo>
                <a:lnTo>
                  <a:pt x="182" y="76"/>
                </a:lnTo>
                <a:lnTo>
                  <a:pt x="175" y="84"/>
                </a:lnTo>
                <a:lnTo>
                  <a:pt x="170" y="94"/>
                </a:lnTo>
                <a:lnTo>
                  <a:pt x="165" y="103"/>
                </a:lnTo>
                <a:lnTo>
                  <a:pt x="162" y="107"/>
                </a:lnTo>
                <a:lnTo>
                  <a:pt x="159" y="109"/>
                </a:lnTo>
                <a:lnTo>
                  <a:pt x="156" y="111"/>
                </a:lnTo>
                <a:lnTo>
                  <a:pt x="152" y="108"/>
                </a:lnTo>
                <a:lnTo>
                  <a:pt x="147" y="107"/>
                </a:lnTo>
                <a:lnTo>
                  <a:pt x="144" y="106"/>
                </a:lnTo>
                <a:lnTo>
                  <a:pt x="139" y="103"/>
                </a:lnTo>
                <a:lnTo>
                  <a:pt x="135" y="102"/>
                </a:lnTo>
                <a:lnTo>
                  <a:pt x="128" y="100"/>
                </a:lnTo>
                <a:lnTo>
                  <a:pt x="121" y="95"/>
                </a:lnTo>
                <a:lnTo>
                  <a:pt x="111" y="93"/>
                </a:lnTo>
                <a:lnTo>
                  <a:pt x="104" y="88"/>
                </a:lnTo>
                <a:lnTo>
                  <a:pt x="94" y="84"/>
                </a:lnTo>
                <a:lnTo>
                  <a:pt x="85" y="79"/>
                </a:lnTo>
                <a:lnTo>
                  <a:pt x="75" y="76"/>
                </a:lnTo>
                <a:lnTo>
                  <a:pt x="66" y="72"/>
                </a:lnTo>
                <a:lnTo>
                  <a:pt x="56" y="69"/>
                </a:lnTo>
                <a:lnTo>
                  <a:pt x="46" y="65"/>
                </a:lnTo>
                <a:lnTo>
                  <a:pt x="37" y="64"/>
                </a:lnTo>
                <a:lnTo>
                  <a:pt x="28" y="62"/>
                </a:lnTo>
                <a:lnTo>
                  <a:pt x="20" y="62"/>
                </a:lnTo>
                <a:lnTo>
                  <a:pt x="12" y="62"/>
                </a:lnTo>
                <a:lnTo>
                  <a:pt x="6" y="63"/>
                </a:lnTo>
                <a:lnTo>
                  <a:pt x="0" y="65"/>
                </a:lnTo>
              </a:path>
            </a:pathLst>
          </a:custGeom>
          <a:solidFill>
            <a:schemeClr val="tx1">
              <a:alpha val="100000"/>
            </a:schemeClr>
          </a:solidFill>
          <a:ln w="9525">
            <a:noFill/>
          </a:ln>
        </p:spPr>
        <p:txBody>
          <a:bodyPr/>
          <a:lstStyle/>
          <a:p>
            <a:endParaRPr lang="zh-CN" altLang="en-US"/>
          </a:p>
        </p:txBody>
      </p:sp>
      <p:sp>
        <p:nvSpPr>
          <p:cNvPr id="1033" name="Freeform 9"/>
          <p:cNvSpPr/>
          <p:nvPr/>
        </p:nvSpPr>
        <p:spPr>
          <a:xfrm>
            <a:off x="7515225" y="6257925"/>
            <a:ext cx="1524000" cy="533400"/>
          </a:xfrm>
          <a:custGeom>
            <a:avLst/>
            <a:gdLst>
              <a:gd name="txL" fmla="*/ 0 w 1453"/>
              <a:gd name="txT" fmla="*/ 0 h 374"/>
              <a:gd name="txR" fmla="*/ 1453 w 1453"/>
              <a:gd name="txB" fmla="*/ 374 h 37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Lst>
            <a:rect l="txL" t="txT" r="txR" b="txB"/>
            <a:pathLst>
              <a:path w="1453" h="374">
                <a:moveTo>
                  <a:pt x="319" y="12"/>
                </a:moveTo>
                <a:lnTo>
                  <a:pt x="285" y="7"/>
                </a:lnTo>
                <a:lnTo>
                  <a:pt x="260" y="7"/>
                </a:lnTo>
                <a:lnTo>
                  <a:pt x="234" y="15"/>
                </a:lnTo>
                <a:lnTo>
                  <a:pt x="209" y="37"/>
                </a:lnTo>
                <a:lnTo>
                  <a:pt x="184" y="52"/>
                </a:lnTo>
                <a:lnTo>
                  <a:pt x="159" y="67"/>
                </a:lnTo>
                <a:lnTo>
                  <a:pt x="133" y="82"/>
                </a:lnTo>
                <a:lnTo>
                  <a:pt x="109" y="89"/>
                </a:lnTo>
                <a:lnTo>
                  <a:pt x="83" y="89"/>
                </a:lnTo>
                <a:lnTo>
                  <a:pt x="58" y="89"/>
                </a:lnTo>
                <a:lnTo>
                  <a:pt x="34" y="104"/>
                </a:lnTo>
                <a:lnTo>
                  <a:pt x="8" y="119"/>
                </a:lnTo>
                <a:lnTo>
                  <a:pt x="0" y="141"/>
                </a:lnTo>
                <a:lnTo>
                  <a:pt x="0" y="164"/>
                </a:lnTo>
                <a:lnTo>
                  <a:pt x="0" y="186"/>
                </a:lnTo>
                <a:lnTo>
                  <a:pt x="8" y="208"/>
                </a:lnTo>
                <a:lnTo>
                  <a:pt x="17" y="231"/>
                </a:lnTo>
                <a:lnTo>
                  <a:pt x="42" y="231"/>
                </a:lnTo>
                <a:lnTo>
                  <a:pt x="66" y="238"/>
                </a:lnTo>
                <a:lnTo>
                  <a:pt x="92" y="238"/>
                </a:lnTo>
                <a:lnTo>
                  <a:pt x="117" y="223"/>
                </a:lnTo>
                <a:lnTo>
                  <a:pt x="142" y="216"/>
                </a:lnTo>
                <a:lnTo>
                  <a:pt x="159" y="238"/>
                </a:lnTo>
                <a:lnTo>
                  <a:pt x="176" y="261"/>
                </a:lnTo>
                <a:lnTo>
                  <a:pt x="201" y="283"/>
                </a:lnTo>
                <a:lnTo>
                  <a:pt x="226" y="298"/>
                </a:lnTo>
                <a:lnTo>
                  <a:pt x="251" y="313"/>
                </a:lnTo>
                <a:lnTo>
                  <a:pt x="285" y="321"/>
                </a:lnTo>
                <a:lnTo>
                  <a:pt x="310" y="313"/>
                </a:lnTo>
                <a:lnTo>
                  <a:pt x="335" y="305"/>
                </a:lnTo>
                <a:lnTo>
                  <a:pt x="361" y="305"/>
                </a:lnTo>
                <a:lnTo>
                  <a:pt x="385" y="313"/>
                </a:lnTo>
                <a:lnTo>
                  <a:pt x="411" y="328"/>
                </a:lnTo>
                <a:lnTo>
                  <a:pt x="436" y="335"/>
                </a:lnTo>
                <a:lnTo>
                  <a:pt x="461" y="357"/>
                </a:lnTo>
                <a:lnTo>
                  <a:pt x="486" y="365"/>
                </a:lnTo>
                <a:lnTo>
                  <a:pt x="536" y="365"/>
                </a:lnTo>
                <a:lnTo>
                  <a:pt x="587" y="365"/>
                </a:lnTo>
                <a:lnTo>
                  <a:pt x="654" y="365"/>
                </a:lnTo>
                <a:lnTo>
                  <a:pt x="680" y="365"/>
                </a:lnTo>
                <a:lnTo>
                  <a:pt x="704" y="357"/>
                </a:lnTo>
                <a:lnTo>
                  <a:pt x="730" y="357"/>
                </a:lnTo>
                <a:lnTo>
                  <a:pt x="755" y="350"/>
                </a:lnTo>
                <a:lnTo>
                  <a:pt x="780" y="342"/>
                </a:lnTo>
                <a:lnTo>
                  <a:pt x="805" y="335"/>
                </a:lnTo>
                <a:lnTo>
                  <a:pt x="831" y="328"/>
                </a:lnTo>
                <a:lnTo>
                  <a:pt x="855" y="328"/>
                </a:lnTo>
                <a:lnTo>
                  <a:pt x="881" y="335"/>
                </a:lnTo>
                <a:lnTo>
                  <a:pt x="906" y="335"/>
                </a:lnTo>
                <a:lnTo>
                  <a:pt x="931" y="342"/>
                </a:lnTo>
                <a:lnTo>
                  <a:pt x="956" y="350"/>
                </a:lnTo>
                <a:lnTo>
                  <a:pt x="990" y="365"/>
                </a:lnTo>
                <a:lnTo>
                  <a:pt x="1040" y="365"/>
                </a:lnTo>
                <a:lnTo>
                  <a:pt x="1107" y="373"/>
                </a:lnTo>
                <a:lnTo>
                  <a:pt x="1133" y="365"/>
                </a:lnTo>
                <a:lnTo>
                  <a:pt x="1183" y="365"/>
                </a:lnTo>
                <a:lnTo>
                  <a:pt x="1217" y="357"/>
                </a:lnTo>
                <a:lnTo>
                  <a:pt x="1241" y="335"/>
                </a:lnTo>
                <a:lnTo>
                  <a:pt x="1267" y="328"/>
                </a:lnTo>
                <a:lnTo>
                  <a:pt x="1301" y="313"/>
                </a:lnTo>
                <a:lnTo>
                  <a:pt x="1325" y="298"/>
                </a:lnTo>
                <a:lnTo>
                  <a:pt x="1351" y="290"/>
                </a:lnTo>
                <a:lnTo>
                  <a:pt x="1376" y="283"/>
                </a:lnTo>
                <a:lnTo>
                  <a:pt x="1400" y="275"/>
                </a:lnTo>
                <a:lnTo>
                  <a:pt x="1426" y="275"/>
                </a:lnTo>
                <a:lnTo>
                  <a:pt x="1452" y="275"/>
                </a:lnTo>
                <a:lnTo>
                  <a:pt x="1443" y="254"/>
                </a:lnTo>
                <a:lnTo>
                  <a:pt x="1426" y="231"/>
                </a:lnTo>
                <a:lnTo>
                  <a:pt x="1417" y="208"/>
                </a:lnTo>
                <a:lnTo>
                  <a:pt x="1426" y="186"/>
                </a:lnTo>
                <a:lnTo>
                  <a:pt x="1443" y="164"/>
                </a:lnTo>
                <a:lnTo>
                  <a:pt x="1452" y="141"/>
                </a:lnTo>
                <a:lnTo>
                  <a:pt x="1443" y="119"/>
                </a:lnTo>
                <a:lnTo>
                  <a:pt x="1426" y="97"/>
                </a:lnTo>
                <a:lnTo>
                  <a:pt x="1400" y="82"/>
                </a:lnTo>
                <a:lnTo>
                  <a:pt x="1376" y="82"/>
                </a:lnTo>
                <a:lnTo>
                  <a:pt x="1351" y="82"/>
                </a:lnTo>
                <a:lnTo>
                  <a:pt x="1325" y="82"/>
                </a:lnTo>
                <a:lnTo>
                  <a:pt x="1301" y="82"/>
                </a:lnTo>
                <a:lnTo>
                  <a:pt x="1275" y="82"/>
                </a:lnTo>
                <a:lnTo>
                  <a:pt x="1250" y="74"/>
                </a:lnTo>
                <a:lnTo>
                  <a:pt x="1225" y="67"/>
                </a:lnTo>
                <a:lnTo>
                  <a:pt x="1200" y="67"/>
                </a:lnTo>
                <a:lnTo>
                  <a:pt x="1174" y="67"/>
                </a:lnTo>
                <a:lnTo>
                  <a:pt x="1150" y="74"/>
                </a:lnTo>
                <a:lnTo>
                  <a:pt x="1124" y="82"/>
                </a:lnTo>
                <a:lnTo>
                  <a:pt x="1107" y="59"/>
                </a:lnTo>
                <a:lnTo>
                  <a:pt x="1082" y="45"/>
                </a:lnTo>
                <a:lnTo>
                  <a:pt x="1057" y="30"/>
                </a:lnTo>
                <a:lnTo>
                  <a:pt x="1032" y="30"/>
                </a:lnTo>
                <a:lnTo>
                  <a:pt x="1006" y="22"/>
                </a:lnTo>
                <a:lnTo>
                  <a:pt x="973" y="15"/>
                </a:lnTo>
                <a:lnTo>
                  <a:pt x="948" y="7"/>
                </a:lnTo>
                <a:lnTo>
                  <a:pt x="922" y="7"/>
                </a:lnTo>
                <a:lnTo>
                  <a:pt x="898" y="22"/>
                </a:lnTo>
                <a:lnTo>
                  <a:pt x="872" y="30"/>
                </a:lnTo>
                <a:lnTo>
                  <a:pt x="847" y="30"/>
                </a:lnTo>
                <a:lnTo>
                  <a:pt x="822" y="30"/>
                </a:lnTo>
                <a:lnTo>
                  <a:pt x="797" y="30"/>
                </a:lnTo>
                <a:lnTo>
                  <a:pt x="771" y="30"/>
                </a:lnTo>
                <a:lnTo>
                  <a:pt x="747" y="22"/>
                </a:lnTo>
                <a:lnTo>
                  <a:pt x="721" y="15"/>
                </a:lnTo>
                <a:lnTo>
                  <a:pt x="696" y="7"/>
                </a:lnTo>
                <a:lnTo>
                  <a:pt x="671" y="7"/>
                </a:lnTo>
                <a:lnTo>
                  <a:pt x="646" y="7"/>
                </a:lnTo>
                <a:lnTo>
                  <a:pt x="620" y="7"/>
                </a:lnTo>
                <a:lnTo>
                  <a:pt x="596" y="22"/>
                </a:lnTo>
                <a:lnTo>
                  <a:pt x="570" y="30"/>
                </a:lnTo>
                <a:lnTo>
                  <a:pt x="545" y="30"/>
                </a:lnTo>
                <a:lnTo>
                  <a:pt x="520" y="22"/>
                </a:lnTo>
                <a:lnTo>
                  <a:pt x="486" y="7"/>
                </a:lnTo>
                <a:lnTo>
                  <a:pt x="461" y="7"/>
                </a:lnTo>
                <a:lnTo>
                  <a:pt x="436" y="0"/>
                </a:lnTo>
                <a:lnTo>
                  <a:pt x="411" y="0"/>
                </a:lnTo>
                <a:lnTo>
                  <a:pt x="385" y="0"/>
                </a:lnTo>
                <a:lnTo>
                  <a:pt x="361" y="7"/>
                </a:lnTo>
                <a:lnTo>
                  <a:pt x="319" y="12"/>
                </a:lnTo>
                <a:lnTo>
                  <a:pt x="293" y="45"/>
                </a:lnTo>
                <a:lnTo>
                  <a:pt x="268" y="59"/>
                </a:lnTo>
                <a:lnTo>
                  <a:pt x="260" y="82"/>
                </a:lnTo>
                <a:lnTo>
                  <a:pt x="234" y="74"/>
                </a:lnTo>
                <a:lnTo>
                  <a:pt x="209" y="67"/>
                </a:lnTo>
                <a:lnTo>
                  <a:pt x="217" y="57"/>
                </a:lnTo>
              </a:path>
            </a:pathLst>
          </a:custGeom>
          <a:gradFill rotWithShape="0">
            <a:gsLst>
              <a:gs pos="0">
                <a:srgbClr val="F5EACB">
                  <a:alpha val="100000"/>
                </a:srgbClr>
              </a:gs>
              <a:gs pos="100000">
                <a:srgbClr val="CC9900">
                  <a:alpha val="100000"/>
                </a:srgbClr>
              </a:gs>
            </a:gsLst>
            <a:lin ang="5400000" scaled="1"/>
            <a:tileRect/>
          </a:gradFill>
          <a:ln w="12700" cap="rnd" cmpd="sng">
            <a:solidFill>
              <a:srgbClr val="996633">
                <a:alpha val="100000"/>
              </a:srgbClr>
            </a:solidFill>
            <a:prstDash val="solid"/>
            <a:miter lim="800000"/>
            <a:headEnd type="none" w="med" len="med"/>
            <a:tailEnd type="none" w="med" len="med"/>
          </a:ln>
        </p:spPr>
        <p:txBody>
          <a:bodyPr/>
          <a:lstStyle/>
          <a:p>
            <a:endParaRPr lang="zh-CN" altLang="en-US"/>
          </a:p>
        </p:txBody>
      </p:sp>
      <p:grpSp>
        <p:nvGrpSpPr>
          <p:cNvPr id="1034" name="Group 10"/>
          <p:cNvGrpSpPr/>
          <p:nvPr/>
        </p:nvGrpSpPr>
        <p:grpSpPr>
          <a:xfrm>
            <a:off x="7620000" y="5076825"/>
            <a:ext cx="1371600" cy="1600200"/>
            <a:chOff x="0" y="0"/>
            <a:chExt cx="808" cy="998"/>
          </a:xfrm>
        </p:grpSpPr>
        <p:grpSp>
          <p:nvGrpSpPr>
            <p:cNvPr id="1046" name="Group 11"/>
            <p:cNvGrpSpPr/>
            <p:nvPr/>
          </p:nvGrpSpPr>
          <p:grpSpPr>
            <a:xfrm>
              <a:off x="0" y="0"/>
              <a:ext cx="506" cy="927"/>
              <a:chOff x="0" y="0"/>
              <a:chExt cx="506" cy="927"/>
            </a:xfrm>
          </p:grpSpPr>
          <p:sp>
            <p:nvSpPr>
              <p:cNvPr id="1059" name="Freeform 12"/>
              <p:cNvSpPr/>
              <p:nvPr/>
            </p:nvSpPr>
            <p:spPr>
              <a:xfrm>
                <a:off x="48" y="306"/>
                <a:ext cx="79" cy="621"/>
              </a:xfrm>
              <a:custGeom>
                <a:avLst/>
                <a:gdLst>
                  <a:gd name="txL" fmla="*/ 0 w 76"/>
                  <a:gd name="txT" fmla="*/ 0 h 621"/>
                  <a:gd name="txR" fmla="*/ 76 w 76"/>
                  <a:gd name="txB" fmla="*/ 621 h 621"/>
                </a:gdLst>
                <a:ahLst/>
                <a:cxnLst>
                  <a:cxn ang="0">
                    <a:pos x="0" y="54"/>
                  </a:cxn>
                  <a:cxn ang="0">
                    <a:pos x="11" y="269"/>
                  </a:cxn>
                  <a:cxn ang="0">
                    <a:pos x="26" y="442"/>
                  </a:cxn>
                  <a:cxn ang="0">
                    <a:pos x="34" y="570"/>
                  </a:cxn>
                  <a:cxn ang="0">
                    <a:pos x="32" y="620"/>
                  </a:cxn>
                  <a:cxn ang="0">
                    <a:pos x="52" y="620"/>
                  </a:cxn>
                  <a:cxn ang="0">
                    <a:pos x="57" y="546"/>
                  </a:cxn>
                  <a:cxn ang="0">
                    <a:pos x="60" y="434"/>
                  </a:cxn>
                  <a:cxn ang="0">
                    <a:pos x="67" y="329"/>
                  </a:cxn>
                  <a:cxn ang="0">
                    <a:pos x="71" y="250"/>
                  </a:cxn>
                  <a:cxn ang="0">
                    <a:pos x="79" y="135"/>
                  </a:cxn>
                  <a:cxn ang="0">
                    <a:pos x="87" y="36"/>
                  </a:cxn>
                  <a:cxn ang="0">
                    <a:pos x="82" y="11"/>
                  </a:cxn>
                  <a:cxn ang="0">
                    <a:pos x="73" y="0"/>
                  </a:cxn>
                  <a:cxn ang="0">
                    <a:pos x="61" y="121"/>
                  </a:cxn>
                  <a:cxn ang="0">
                    <a:pos x="53" y="224"/>
                  </a:cxn>
                  <a:cxn ang="0">
                    <a:pos x="51" y="305"/>
                  </a:cxn>
                  <a:cxn ang="0">
                    <a:pos x="48" y="390"/>
                  </a:cxn>
                  <a:cxn ang="0">
                    <a:pos x="38" y="475"/>
                  </a:cxn>
                  <a:cxn ang="0">
                    <a:pos x="29" y="327"/>
                  </a:cxn>
                  <a:cxn ang="0">
                    <a:pos x="19"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1060" name="Freeform 13"/>
              <p:cNvSpPr/>
              <p:nvPr/>
            </p:nvSpPr>
            <p:spPr>
              <a:xfrm>
                <a:off x="105" y="551"/>
                <a:ext cx="123" cy="349"/>
              </a:xfrm>
              <a:custGeom>
                <a:avLst/>
                <a:gdLst>
                  <a:gd name="txL" fmla="*/ 0 w 120"/>
                  <a:gd name="txT" fmla="*/ 0 h 349"/>
                  <a:gd name="txR" fmla="*/ 120 w 120"/>
                  <a:gd name="txB" fmla="*/ 349 h 349"/>
                </a:gdLst>
                <a:ahLst/>
                <a:cxnLst>
                  <a:cxn ang="0">
                    <a:pos x="0" y="161"/>
                  </a:cxn>
                  <a:cxn ang="0">
                    <a:pos x="10" y="232"/>
                  </a:cxn>
                  <a:cxn ang="0">
                    <a:pos x="24" y="289"/>
                  </a:cxn>
                  <a:cxn ang="0">
                    <a:pos x="30" y="331"/>
                  </a:cxn>
                  <a:cxn ang="0">
                    <a:pos x="29" y="348"/>
                  </a:cxn>
                  <a:cxn ang="0">
                    <a:pos x="43" y="348"/>
                  </a:cxn>
                  <a:cxn ang="0">
                    <a:pos x="47" y="323"/>
                  </a:cxn>
                  <a:cxn ang="0">
                    <a:pos x="49" y="286"/>
                  </a:cxn>
                  <a:cxn ang="0">
                    <a:pos x="55" y="252"/>
                  </a:cxn>
                  <a:cxn ang="0">
                    <a:pos x="58" y="226"/>
                  </a:cxn>
                  <a:cxn ang="0">
                    <a:pos x="66" y="188"/>
                  </a:cxn>
                  <a:cxn ang="0">
                    <a:pos x="74" y="156"/>
                  </a:cxn>
                  <a:cxn ang="0">
                    <a:pos x="79" y="127"/>
                  </a:cxn>
                  <a:cxn ang="0">
                    <a:pos x="85" y="96"/>
                  </a:cxn>
                  <a:cxn ang="0">
                    <a:pos x="94" y="66"/>
                  </a:cxn>
                  <a:cxn ang="0">
                    <a:pos x="105" y="40"/>
                  </a:cxn>
                  <a:cxn ang="0">
                    <a:pos x="125" y="15"/>
                  </a:cxn>
                  <a:cxn ang="0">
                    <a:pos x="131" y="5"/>
                  </a:cxn>
                  <a:cxn ang="0">
                    <a:pos x="124" y="0"/>
                  </a:cxn>
                  <a:cxn ang="0">
                    <a:pos x="113" y="10"/>
                  </a:cxn>
                  <a:cxn ang="0">
                    <a:pos x="94" y="33"/>
                  </a:cxn>
                  <a:cxn ang="0">
                    <a:pos x="83" y="57"/>
                  </a:cxn>
                  <a:cxn ang="0">
                    <a:pos x="74" y="81"/>
                  </a:cxn>
                  <a:cxn ang="0">
                    <a:pos x="67" y="113"/>
                  </a:cxn>
                  <a:cxn ang="0">
                    <a:pos x="59" y="144"/>
                  </a:cxn>
                  <a:cxn ang="0">
                    <a:pos x="51" y="184"/>
                  </a:cxn>
                  <a:cxn ang="0">
                    <a:pos x="44" y="217"/>
                  </a:cxn>
                  <a:cxn ang="0">
                    <a:pos x="41" y="244"/>
                  </a:cxn>
                  <a:cxn ang="0">
                    <a:pos x="40" y="272"/>
                  </a:cxn>
                  <a:cxn ang="0">
                    <a:pos x="34" y="300"/>
                  </a:cxn>
                  <a:cxn ang="0">
                    <a:pos x="26"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1061" name="Freeform 14"/>
              <p:cNvSpPr/>
              <p:nvPr/>
            </p:nvSpPr>
            <p:spPr>
              <a:xfrm>
                <a:off x="0" y="216"/>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1062" name="Group 15"/>
              <p:cNvGrpSpPr/>
              <p:nvPr/>
            </p:nvGrpSpPr>
            <p:grpSpPr>
              <a:xfrm>
                <a:off x="22" y="443"/>
                <a:ext cx="484" cy="368"/>
                <a:chOff x="0" y="0"/>
                <a:chExt cx="484" cy="368"/>
              </a:xfrm>
            </p:grpSpPr>
            <p:sp>
              <p:nvSpPr>
                <p:cNvPr id="1064" name="Freeform 16"/>
                <p:cNvSpPr/>
                <p:nvPr/>
              </p:nvSpPr>
              <p:spPr>
                <a:xfrm>
                  <a:off x="44" y="0"/>
                  <a:ext cx="440" cy="349"/>
                </a:xfrm>
                <a:custGeom>
                  <a:avLst/>
                  <a:gdLst>
                    <a:gd name="txL" fmla="*/ 0 w 440"/>
                    <a:gd name="txT" fmla="*/ 0 h 342"/>
                    <a:gd name="txR" fmla="*/ 440 w 440"/>
                    <a:gd name="txB" fmla="*/ 342 h 342"/>
                  </a:gdLst>
                  <a:ahLst/>
                  <a:cxnLst>
                    <a:cxn ang="0">
                      <a:pos x="167" y="46"/>
                    </a:cxn>
                    <a:cxn ang="0">
                      <a:pos x="202" y="14"/>
                    </a:cxn>
                    <a:cxn ang="0">
                      <a:pos x="245" y="3"/>
                    </a:cxn>
                    <a:cxn ang="0">
                      <a:pos x="292" y="2"/>
                    </a:cxn>
                    <a:cxn ang="0">
                      <a:pos x="304" y="7"/>
                    </a:cxn>
                    <a:cxn ang="0">
                      <a:pos x="272" y="15"/>
                    </a:cxn>
                    <a:cxn ang="0">
                      <a:pos x="236" y="29"/>
                    </a:cxn>
                    <a:cxn ang="0">
                      <a:pos x="195" y="59"/>
                    </a:cxn>
                    <a:cxn ang="0">
                      <a:pos x="191" y="102"/>
                    </a:cxn>
                    <a:cxn ang="0">
                      <a:pos x="252" y="74"/>
                    </a:cxn>
                    <a:cxn ang="0">
                      <a:pos x="301" y="71"/>
                    </a:cxn>
                    <a:cxn ang="0">
                      <a:pos x="354" y="78"/>
                    </a:cxn>
                    <a:cxn ang="0">
                      <a:pos x="416" y="86"/>
                    </a:cxn>
                    <a:cxn ang="0">
                      <a:pos x="417" y="87"/>
                    </a:cxn>
                    <a:cxn ang="0">
                      <a:pos x="357" y="90"/>
                    </a:cxn>
                    <a:cxn ang="0">
                      <a:pos x="302" y="91"/>
                    </a:cxn>
                    <a:cxn ang="0">
                      <a:pos x="254" y="98"/>
                    </a:cxn>
                    <a:cxn ang="0">
                      <a:pos x="200" y="111"/>
                    </a:cxn>
                    <a:cxn ang="0">
                      <a:pos x="222" y="134"/>
                    </a:cxn>
                    <a:cxn ang="0">
                      <a:pos x="238" y="153"/>
                    </a:cxn>
                    <a:cxn ang="0">
                      <a:pos x="184" y="136"/>
                    </a:cxn>
                    <a:cxn ang="0">
                      <a:pos x="173" y="147"/>
                    </a:cxn>
                    <a:cxn ang="0">
                      <a:pos x="232" y="157"/>
                    </a:cxn>
                    <a:cxn ang="0">
                      <a:pos x="282" y="169"/>
                    </a:cxn>
                    <a:cxn ang="0">
                      <a:pos x="321" y="205"/>
                    </a:cxn>
                    <a:cxn ang="0">
                      <a:pos x="351" y="253"/>
                    </a:cxn>
                    <a:cxn ang="0">
                      <a:pos x="344" y="261"/>
                    </a:cxn>
                    <a:cxn ang="0">
                      <a:pos x="304" y="232"/>
                    </a:cxn>
                    <a:cxn ang="0">
                      <a:pos x="259" y="198"/>
                    </a:cxn>
                    <a:cxn ang="0">
                      <a:pos x="211" y="174"/>
                    </a:cxn>
                    <a:cxn ang="0">
                      <a:pos x="180" y="167"/>
                    </a:cxn>
                    <a:cxn ang="0">
                      <a:pos x="206" y="204"/>
                    </a:cxn>
                    <a:cxn ang="0">
                      <a:pos x="238" y="253"/>
                    </a:cxn>
                    <a:cxn ang="0">
                      <a:pos x="256" y="298"/>
                    </a:cxn>
                    <a:cxn ang="0">
                      <a:pos x="255" y="339"/>
                    </a:cxn>
                    <a:cxn ang="0">
                      <a:pos x="232" y="294"/>
                    </a:cxn>
                    <a:cxn ang="0">
                      <a:pos x="208" y="245"/>
                    </a:cxn>
                    <a:cxn ang="0">
                      <a:pos x="181" y="200"/>
                    </a:cxn>
                    <a:cxn ang="0">
                      <a:pos x="157" y="161"/>
                    </a:cxn>
                    <a:cxn ang="0">
                      <a:pos x="115" y="185"/>
                    </a:cxn>
                    <a:cxn ang="0">
                      <a:pos x="80" y="240"/>
                    </a:cxn>
                    <a:cxn ang="0">
                      <a:pos x="51" y="296"/>
                    </a:cxn>
                    <a:cxn ang="0">
                      <a:pos x="18" y="348"/>
                    </a:cxn>
                    <a:cxn ang="0">
                      <a:pos x="8" y="342"/>
                    </a:cxn>
                    <a:cxn ang="0">
                      <a:pos x="47" y="275"/>
                    </a:cxn>
                    <a:cxn ang="0">
                      <a:pos x="82" y="225"/>
                    </a:cxn>
                    <a:cxn ang="0">
                      <a:pos x="112" y="174"/>
                    </a:cxn>
                    <a:cxn ang="0">
                      <a:pos x="139" y="137"/>
                    </a:cxn>
                    <a:cxn ang="0">
                      <a:pos x="99" y="90"/>
                    </a:cxn>
                    <a:cxn ang="0">
                      <a:pos x="43" y="64"/>
                    </a:cxn>
                    <a:cxn ang="0">
                      <a:pos x="20" y="51"/>
                    </a:cxn>
                    <a:cxn ang="0">
                      <a:pos x="63" y="65"/>
                    </a:cxn>
                    <a:cxn ang="0">
                      <a:pos x="122" y="98"/>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1065" name="Freeform 17"/>
                <p:cNvSpPr/>
                <p:nvPr/>
              </p:nvSpPr>
              <p:spPr>
                <a:xfrm>
                  <a:off x="193" y="175"/>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1066" name="Freeform 18"/>
                <p:cNvSpPr/>
                <p:nvPr/>
              </p:nvSpPr>
              <p:spPr>
                <a:xfrm>
                  <a:off x="14" y="69"/>
                  <a:ext cx="166" cy="50"/>
                </a:xfrm>
                <a:custGeom>
                  <a:avLst/>
                  <a:gdLst>
                    <a:gd name="txL" fmla="*/ 0 w 171"/>
                    <a:gd name="txT" fmla="*/ 0 h 50"/>
                    <a:gd name="txR" fmla="*/ 171 w 171"/>
                    <a:gd name="txB" fmla="*/ 50 h 50"/>
                  </a:gdLst>
                  <a:ahLst/>
                  <a:cxnLst>
                    <a:cxn ang="0">
                      <a:pos x="150" y="49"/>
                    </a:cxn>
                    <a:cxn ang="0">
                      <a:pos x="148" y="40"/>
                    </a:cxn>
                    <a:cxn ang="0">
                      <a:pos x="145" y="33"/>
                    </a:cxn>
                    <a:cxn ang="0">
                      <a:pos x="142" y="31"/>
                    </a:cxn>
                    <a:cxn ang="0">
                      <a:pos x="137" y="29"/>
                    </a:cxn>
                    <a:cxn ang="0">
                      <a:pos x="131" y="27"/>
                    </a:cxn>
                    <a:cxn ang="0">
                      <a:pos x="124" y="29"/>
                    </a:cxn>
                    <a:cxn ang="0">
                      <a:pos x="116" y="30"/>
                    </a:cxn>
                    <a:cxn ang="0">
                      <a:pos x="110" y="27"/>
                    </a:cxn>
                    <a:cxn ang="0">
                      <a:pos x="99" y="22"/>
                    </a:cxn>
                    <a:cxn ang="0">
                      <a:pos x="88" y="18"/>
                    </a:cxn>
                    <a:cxn ang="0">
                      <a:pos x="81" y="16"/>
                    </a:cxn>
                    <a:cxn ang="0">
                      <a:pos x="72" y="12"/>
                    </a:cxn>
                    <a:cxn ang="0">
                      <a:pos x="59" y="8"/>
                    </a:cxn>
                    <a:cxn ang="0">
                      <a:pos x="49" y="5"/>
                    </a:cxn>
                    <a:cxn ang="0">
                      <a:pos x="38" y="1"/>
                    </a:cxn>
                    <a:cxn ang="0">
                      <a:pos x="24" y="1"/>
                    </a:cxn>
                    <a:cxn ang="0">
                      <a:pos x="15" y="0"/>
                    </a:cxn>
                    <a:cxn ang="0">
                      <a:pos x="12" y="1"/>
                    </a:cxn>
                    <a:cxn ang="0">
                      <a:pos x="7" y="4"/>
                    </a:cxn>
                    <a:cxn ang="0">
                      <a:pos x="3" y="7"/>
                    </a:cxn>
                    <a:cxn ang="0">
                      <a:pos x="0" y="11"/>
                    </a:cxn>
                    <a:cxn ang="0">
                      <a:pos x="5" y="11"/>
                    </a:cxn>
                    <a:cxn ang="0">
                      <a:pos x="12" y="12"/>
                    </a:cxn>
                    <a:cxn ang="0">
                      <a:pos x="17" y="12"/>
                    </a:cxn>
                    <a:cxn ang="0">
                      <a:pos x="19" y="11"/>
                    </a:cxn>
                    <a:cxn ang="0">
                      <a:pos x="26" y="11"/>
                    </a:cxn>
                    <a:cxn ang="0">
                      <a:pos x="35" y="11"/>
                    </a:cxn>
                    <a:cxn ang="0">
                      <a:pos x="47" y="11"/>
                    </a:cxn>
                    <a:cxn ang="0">
                      <a:pos x="53" y="12"/>
                    </a:cxn>
                    <a:cxn ang="0">
                      <a:pos x="63" y="14"/>
                    </a:cxn>
                    <a:cxn ang="0">
                      <a:pos x="73" y="15"/>
                    </a:cxn>
                    <a:cxn ang="0">
                      <a:pos x="81" y="16"/>
                    </a:cxn>
                    <a:cxn ang="0">
                      <a:pos x="87" y="19"/>
                    </a:cxn>
                    <a:cxn ang="0">
                      <a:pos x="96" y="23"/>
                    </a:cxn>
                    <a:cxn ang="0">
                      <a:pos x="104" y="27"/>
                    </a:cxn>
                    <a:cxn ang="0">
                      <a:pos x="111" y="31"/>
                    </a:cxn>
                    <a:cxn ang="0">
                      <a:pos x="114" y="32"/>
                    </a:cxn>
                    <a:cxn ang="0">
                      <a:pos x="118" y="31"/>
                    </a:cxn>
                    <a:cxn ang="0">
                      <a:pos x="124" y="34"/>
                    </a:cxn>
                    <a:cxn ang="0">
                      <a:pos x="130" y="37"/>
                    </a:cxn>
                    <a:cxn ang="0">
                      <a:pos x="136" y="40"/>
                    </a:cxn>
                    <a:cxn ang="0">
                      <a:pos x="143" y="44"/>
                    </a:cxn>
                    <a:cxn ang="0">
                      <a:pos x="148" y="46"/>
                    </a:cxn>
                    <a:cxn ang="0">
                      <a:pos x="15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1067" name="Freeform 19"/>
                <p:cNvSpPr/>
                <p:nvPr/>
              </p:nvSpPr>
              <p:spPr>
                <a:xfrm>
                  <a:off x="0" y="97"/>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1063" name="Freeform 20"/>
              <p:cNvSpPr/>
              <p:nvPr/>
            </p:nvSpPr>
            <p:spPr>
              <a:xfrm>
                <a:off x="6" y="0"/>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1047" name="Group 21"/>
            <p:cNvGrpSpPr/>
            <p:nvPr/>
          </p:nvGrpSpPr>
          <p:grpSpPr>
            <a:xfrm>
              <a:off x="300" y="178"/>
              <a:ext cx="508" cy="820"/>
              <a:chOff x="0" y="0"/>
              <a:chExt cx="508" cy="820"/>
            </a:xfrm>
          </p:grpSpPr>
          <p:grpSp>
            <p:nvGrpSpPr>
              <p:cNvPr id="1048" name="Group 22"/>
              <p:cNvGrpSpPr/>
              <p:nvPr/>
            </p:nvGrpSpPr>
            <p:grpSpPr>
              <a:xfrm>
                <a:off x="262" y="0"/>
                <a:ext cx="246" cy="810"/>
                <a:chOff x="0" y="0"/>
                <a:chExt cx="246" cy="810"/>
              </a:xfrm>
            </p:grpSpPr>
            <p:sp>
              <p:nvSpPr>
                <p:cNvPr id="1057" name="Freeform 23"/>
                <p:cNvSpPr/>
                <p:nvPr/>
              </p:nvSpPr>
              <p:spPr>
                <a:xfrm>
                  <a:off x="145" y="172"/>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1058" name="Freeform 24"/>
                <p:cNvSpPr/>
                <p:nvPr/>
              </p:nvSpPr>
              <p:spPr>
                <a:xfrm>
                  <a:off x="0" y="0"/>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1049" name="Group 25"/>
              <p:cNvGrpSpPr/>
              <p:nvPr/>
            </p:nvGrpSpPr>
            <p:grpSpPr>
              <a:xfrm>
                <a:off x="0" y="218"/>
                <a:ext cx="465" cy="602"/>
                <a:chOff x="0" y="0"/>
                <a:chExt cx="465" cy="602"/>
              </a:xfrm>
            </p:grpSpPr>
            <p:sp>
              <p:nvSpPr>
                <p:cNvPr id="1050" name="Freeform 26"/>
                <p:cNvSpPr/>
                <p:nvPr/>
              </p:nvSpPr>
              <p:spPr>
                <a:xfrm>
                  <a:off x="179" y="106"/>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1051" name="Freeform 27"/>
                <p:cNvSpPr/>
                <p:nvPr/>
              </p:nvSpPr>
              <p:spPr>
                <a:xfrm>
                  <a:off x="219" y="187"/>
                  <a:ext cx="229" cy="349"/>
                </a:xfrm>
                <a:custGeom>
                  <a:avLst/>
                  <a:gdLst>
                    <a:gd name="txL" fmla="*/ 0 w 229"/>
                    <a:gd name="txT" fmla="*/ 0 h 358"/>
                    <a:gd name="txR" fmla="*/ 229 w 229"/>
                    <a:gd name="txB" fmla="*/ 358 h 358"/>
                  </a:gdLst>
                  <a:ahLst/>
                  <a:cxnLst>
                    <a:cxn ang="0">
                      <a:pos x="60" y="54"/>
                    </a:cxn>
                    <a:cxn ang="0">
                      <a:pos x="67" y="40"/>
                    </a:cxn>
                    <a:cxn ang="0">
                      <a:pos x="64" y="5"/>
                    </a:cxn>
                    <a:cxn ang="0">
                      <a:pos x="64" y="5"/>
                    </a:cxn>
                    <a:cxn ang="0">
                      <a:pos x="64" y="5"/>
                    </a:cxn>
                    <a:cxn ang="0">
                      <a:pos x="64" y="5"/>
                    </a:cxn>
                    <a:cxn ang="0">
                      <a:pos x="64" y="5"/>
                    </a:cxn>
                    <a:cxn ang="0">
                      <a:pos x="70" y="2"/>
                    </a:cxn>
                    <a:cxn ang="0">
                      <a:pos x="82" y="61"/>
                    </a:cxn>
                    <a:cxn ang="0">
                      <a:pos x="94" y="35"/>
                    </a:cxn>
                    <a:cxn ang="0">
                      <a:pos x="101" y="5"/>
                    </a:cxn>
                    <a:cxn ang="0">
                      <a:pos x="104" y="5"/>
                    </a:cxn>
                    <a:cxn ang="0">
                      <a:pos x="103" y="5"/>
                    </a:cxn>
                    <a:cxn ang="0">
                      <a:pos x="104" y="5"/>
                    </a:cxn>
                    <a:cxn ang="0">
                      <a:pos x="102" y="5"/>
                    </a:cxn>
                    <a:cxn ang="0">
                      <a:pos x="103" y="5"/>
                    </a:cxn>
                    <a:cxn ang="0">
                      <a:pos x="105" y="43"/>
                    </a:cxn>
                    <a:cxn ang="0">
                      <a:pos x="111" y="81"/>
                    </a:cxn>
                    <a:cxn ang="0">
                      <a:pos x="139" y="72"/>
                    </a:cxn>
                    <a:cxn ang="0">
                      <a:pos x="176" y="74"/>
                    </a:cxn>
                    <a:cxn ang="0">
                      <a:pos x="205" y="96"/>
                    </a:cxn>
                    <a:cxn ang="0">
                      <a:pos x="228" y="142"/>
                    </a:cxn>
                    <a:cxn ang="0">
                      <a:pos x="200" y="136"/>
                    </a:cxn>
                    <a:cxn ang="0">
                      <a:pos x="171" y="120"/>
                    </a:cxn>
                    <a:cxn ang="0">
                      <a:pos x="132" y="111"/>
                    </a:cxn>
                    <a:cxn ang="0">
                      <a:pos x="107" y="115"/>
                    </a:cxn>
                    <a:cxn ang="0">
                      <a:pos x="122" y="137"/>
                    </a:cxn>
                    <a:cxn ang="0">
                      <a:pos x="154" y="151"/>
                    </a:cxn>
                    <a:cxn ang="0">
                      <a:pos x="187" y="161"/>
                    </a:cxn>
                    <a:cxn ang="0">
                      <a:pos x="212" y="194"/>
                    </a:cxn>
                    <a:cxn ang="0">
                      <a:pos x="224" y="241"/>
                    </a:cxn>
                    <a:cxn ang="0">
                      <a:pos x="194" y="213"/>
                    </a:cxn>
                    <a:cxn ang="0">
                      <a:pos x="163" y="183"/>
                    </a:cxn>
                    <a:cxn ang="0">
                      <a:pos x="133" y="158"/>
                    </a:cxn>
                    <a:cxn ang="0">
                      <a:pos x="111" y="146"/>
                    </a:cxn>
                    <a:cxn ang="0">
                      <a:pos x="97" y="170"/>
                    </a:cxn>
                    <a:cxn ang="0">
                      <a:pos x="115" y="225"/>
                    </a:cxn>
                    <a:cxn ang="0">
                      <a:pos x="132" y="287"/>
                    </a:cxn>
                    <a:cxn ang="0">
                      <a:pos x="114" y="302"/>
                    </a:cxn>
                    <a:cxn ang="0">
                      <a:pos x="95" y="216"/>
                    </a:cxn>
                    <a:cxn ang="0">
                      <a:pos x="78" y="165"/>
                    </a:cxn>
                    <a:cxn ang="0">
                      <a:pos x="73" y="181"/>
                    </a:cxn>
                    <a:cxn ang="0">
                      <a:pos x="74" y="171"/>
                    </a:cxn>
                    <a:cxn ang="0">
                      <a:pos x="70" y="190"/>
                    </a:cxn>
                    <a:cxn ang="0">
                      <a:pos x="51" y="236"/>
                    </a:cxn>
                    <a:cxn ang="0">
                      <a:pos x="32" y="296"/>
                    </a:cxn>
                    <a:cxn ang="0">
                      <a:pos x="28" y="279"/>
                    </a:cxn>
                    <a:cxn ang="0">
                      <a:pos x="38" y="229"/>
                    </a:cxn>
                    <a:cxn ang="0">
                      <a:pos x="59" y="174"/>
                    </a:cxn>
                    <a:cxn ang="0">
                      <a:pos x="82" y="132"/>
                    </a:cxn>
                    <a:cxn ang="0">
                      <a:pos x="65" y="128"/>
                    </a:cxn>
                    <a:cxn ang="0">
                      <a:pos x="40" y="174"/>
                    </a:cxn>
                    <a:cxn ang="0">
                      <a:pos x="18" y="223"/>
                    </a:cxn>
                    <a:cxn ang="0">
                      <a:pos x="2" y="255"/>
                    </a:cxn>
                    <a:cxn ang="0">
                      <a:pos x="13" y="211"/>
                    </a:cxn>
                    <a:cxn ang="0">
                      <a:pos x="37" y="165"/>
                    </a:cxn>
                    <a:cxn ang="0">
                      <a:pos x="70" y="119"/>
                    </a:cxn>
                    <a:cxn ang="0">
                      <a:pos x="62" y="91"/>
                    </a:cxn>
                    <a:cxn ang="0">
                      <a:pos x="37" y="55"/>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1052" name="Group 28"/>
                <p:cNvGrpSpPr/>
                <p:nvPr/>
              </p:nvGrpSpPr>
              <p:grpSpPr>
                <a:xfrm>
                  <a:off x="0" y="0"/>
                  <a:ext cx="465" cy="349"/>
                  <a:chOff x="0" y="0"/>
                  <a:chExt cx="465" cy="349"/>
                </a:xfrm>
              </p:grpSpPr>
              <p:sp>
                <p:nvSpPr>
                  <p:cNvPr id="1053" name="Freeform 29"/>
                  <p:cNvSpPr/>
                  <p:nvPr/>
                </p:nvSpPr>
                <p:spPr>
                  <a:xfrm>
                    <a:off x="45" y="0"/>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1054" name="Freeform 30"/>
                  <p:cNvSpPr/>
                  <p:nvPr/>
                </p:nvSpPr>
                <p:spPr>
                  <a:xfrm>
                    <a:off x="190" y="159"/>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1055" name="Freeform 31"/>
                  <p:cNvSpPr/>
                  <p:nvPr/>
                </p:nvSpPr>
                <p:spPr>
                  <a:xfrm>
                    <a:off x="6" y="67"/>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1056" name="Freeform 32"/>
                  <p:cNvSpPr/>
                  <p:nvPr/>
                </p:nvSpPr>
                <p:spPr>
                  <a:xfrm>
                    <a:off x="0" y="95"/>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1035" name="Group 33"/>
          <p:cNvGrpSpPr/>
          <p:nvPr/>
        </p:nvGrpSpPr>
        <p:grpSpPr>
          <a:xfrm>
            <a:off x="7934325" y="6124575"/>
            <a:ext cx="322263" cy="420688"/>
            <a:chOff x="0" y="0"/>
            <a:chExt cx="439" cy="478"/>
          </a:xfrm>
        </p:grpSpPr>
        <p:grpSp>
          <p:nvGrpSpPr>
            <p:cNvPr id="1040" name="Group 34"/>
            <p:cNvGrpSpPr/>
            <p:nvPr/>
          </p:nvGrpSpPr>
          <p:grpSpPr>
            <a:xfrm>
              <a:off x="147" y="0"/>
              <a:ext cx="148" cy="478"/>
              <a:chOff x="0" y="0"/>
              <a:chExt cx="148" cy="478"/>
            </a:xfrm>
          </p:grpSpPr>
          <p:sp>
            <p:nvSpPr>
              <p:cNvPr id="1044" name="Freeform 35"/>
              <p:cNvSpPr/>
              <p:nvPr/>
            </p:nvSpPr>
            <p:spPr>
              <a:xfrm>
                <a:off x="0" y="0"/>
                <a:ext cx="147" cy="478"/>
              </a:xfrm>
              <a:custGeom>
                <a:avLst/>
                <a:gdLst>
                  <a:gd name="txL" fmla="*/ 0 w 147"/>
                  <a:gd name="txT" fmla="*/ 0 h 478"/>
                  <a:gd name="txR" fmla="*/ 147 w 147"/>
                  <a:gd name="txB" fmla="*/ 478 h 478"/>
                </a:gdLst>
                <a:ahLst/>
                <a:cxnLst>
                  <a:cxn ang="0">
                    <a:pos x="49" y="188"/>
                  </a:cxn>
                  <a:cxn ang="0">
                    <a:pos x="131" y="472"/>
                  </a:cxn>
                  <a:cxn ang="0">
                    <a:pos x="135" y="475"/>
                  </a:cxn>
                  <a:cxn ang="0">
                    <a:pos x="139" y="477"/>
                  </a:cxn>
                  <a:cxn ang="0">
                    <a:pos x="142" y="475"/>
                  </a:cxn>
                  <a:cxn ang="0">
                    <a:pos x="144" y="472"/>
                  </a:cxn>
                  <a:cxn ang="0">
                    <a:pos x="146" y="468"/>
                  </a:cxn>
                  <a:cxn ang="0">
                    <a:pos x="146" y="463"/>
                  </a:cxn>
                  <a:cxn ang="0">
                    <a:pos x="143" y="455"/>
                  </a:cxn>
                  <a:cxn ang="0">
                    <a:pos x="61" y="176"/>
                  </a:cxn>
                  <a:cxn ang="0">
                    <a:pos x="9" y="5"/>
                  </a:cxn>
                  <a:cxn ang="0">
                    <a:pos x="6" y="2"/>
                  </a:cxn>
                  <a:cxn ang="0">
                    <a:pos x="4" y="1"/>
                  </a:cxn>
                  <a:cxn ang="0">
                    <a:pos x="1" y="0"/>
                  </a:cxn>
                  <a:cxn ang="0">
                    <a:pos x="0" y="2"/>
                  </a:cxn>
                  <a:cxn ang="0">
                    <a:pos x="0" y="6"/>
                  </a:cxn>
                  <a:cxn ang="0">
                    <a:pos x="0" y="10"/>
                  </a:cxn>
                  <a:cxn ang="0">
                    <a:pos x="49" y="188"/>
                  </a:cxn>
                </a:cxnLst>
                <a:rect l="txL" t="txT" r="txR" b="txB"/>
                <a:pathLst>
                  <a:path w="147" h="478">
                    <a:moveTo>
                      <a:pt x="49" y="188"/>
                    </a:moveTo>
                    <a:lnTo>
                      <a:pt x="131" y="472"/>
                    </a:lnTo>
                    <a:lnTo>
                      <a:pt x="135" y="475"/>
                    </a:lnTo>
                    <a:lnTo>
                      <a:pt x="139" y="477"/>
                    </a:lnTo>
                    <a:lnTo>
                      <a:pt x="142" y="475"/>
                    </a:lnTo>
                    <a:lnTo>
                      <a:pt x="144" y="472"/>
                    </a:lnTo>
                    <a:lnTo>
                      <a:pt x="146" y="468"/>
                    </a:lnTo>
                    <a:lnTo>
                      <a:pt x="146" y="463"/>
                    </a:lnTo>
                    <a:lnTo>
                      <a:pt x="143" y="455"/>
                    </a:lnTo>
                    <a:lnTo>
                      <a:pt x="61" y="176"/>
                    </a:lnTo>
                    <a:lnTo>
                      <a:pt x="9" y="5"/>
                    </a:lnTo>
                    <a:lnTo>
                      <a:pt x="6" y="2"/>
                    </a:lnTo>
                    <a:lnTo>
                      <a:pt x="4" y="1"/>
                    </a:lnTo>
                    <a:lnTo>
                      <a:pt x="1" y="0"/>
                    </a:lnTo>
                    <a:lnTo>
                      <a:pt x="0" y="2"/>
                    </a:lnTo>
                    <a:lnTo>
                      <a:pt x="0" y="6"/>
                    </a:lnTo>
                    <a:lnTo>
                      <a:pt x="0" y="10"/>
                    </a:lnTo>
                    <a:lnTo>
                      <a:pt x="49" y="188"/>
                    </a:lnTo>
                  </a:path>
                </a:pathLst>
              </a:custGeom>
              <a:solidFill>
                <a:srgbClr val="C0C0C0">
                  <a:alpha val="100000"/>
                </a:srgbClr>
              </a:solidFill>
              <a:ln w="9525">
                <a:noFill/>
              </a:ln>
            </p:spPr>
            <p:txBody>
              <a:bodyPr/>
              <a:lstStyle/>
              <a:p>
                <a:endParaRPr lang="zh-CN" altLang="en-US"/>
              </a:p>
            </p:txBody>
          </p:sp>
          <p:sp>
            <p:nvSpPr>
              <p:cNvPr id="1045" name="Freeform 36"/>
              <p:cNvSpPr/>
              <p:nvPr/>
            </p:nvSpPr>
            <p:spPr>
              <a:xfrm>
                <a:off x="0" y="2"/>
                <a:ext cx="145" cy="476"/>
              </a:xfrm>
              <a:custGeom>
                <a:avLst/>
                <a:gdLst>
                  <a:gd name="txL" fmla="*/ 0 w 146"/>
                  <a:gd name="txT" fmla="*/ 0 h 477"/>
                  <a:gd name="txR" fmla="*/ 146 w 146"/>
                  <a:gd name="txB" fmla="*/ 477 h 477"/>
                </a:gdLst>
                <a:ahLst/>
                <a:cxnLst>
                  <a:cxn ang="0">
                    <a:pos x="50" y="186"/>
                  </a:cxn>
                  <a:cxn ang="0">
                    <a:pos x="127" y="467"/>
                  </a:cxn>
                  <a:cxn ang="0">
                    <a:pos x="129" y="470"/>
                  </a:cxn>
                  <a:cxn ang="0">
                    <a:pos x="134" y="472"/>
                  </a:cxn>
                  <a:cxn ang="0">
                    <a:pos x="137" y="470"/>
                  </a:cxn>
                  <a:cxn ang="0">
                    <a:pos x="140" y="469"/>
                  </a:cxn>
                  <a:cxn ang="0">
                    <a:pos x="141" y="463"/>
                  </a:cxn>
                  <a:cxn ang="0">
                    <a:pos x="141" y="458"/>
                  </a:cxn>
                  <a:cxn ang="0">
                    <a:pos x="139" y="450"/>
                  </a:cxn>
                  <a:cxn ang="0">
                    <a:pos x="61" y="174"/>
                  </a:cxn>
                  <a:cxn ang="0">
                    <a:pos x="9" y="4"/>
                  </a:cxn>
                  <a:cxn ang="0">
                    <a:pos x="6" y="2"/>
                  </a:cxn>
                  <a:cxn ang="0">
                    <a:pos x="4" y="0"/>
                  </a:cxn>
                  <a:cxn ang="0">
                    <a:pos x="2" y="0"/>
                  </a:cxn>
                  <a:cxn ang="0">
                    <a:pos x="1" y="2"/>
                  </a:cxn>
                  <a:cxn ang="0">
                    <a:pos x="0" y="5"/>
                  </a:cxn>
                  <a:cxn ang="0">
                    <a:pos x="0" y="9"/>
                  </a:cxn>
                  <a:cxn ang="0">
                    <a:pos x="50" y="186"/>
                  </a:cxn>
                </a:cxnLst>
                <a:rect l="txL" t="txT" r="txR" b="txB"/>
                <a:pathLst>
                  <a:path w="146" h="477">
                    <a:moveTo>
                      <a:pt x="50" y="186"/>
                    </a:moveTo>
                    <a:lnTo>
                      <a:pt x="131" y="471"/>
                    </a:lnTo>
                    <a:lnTo>
                      <a:pt x="133" y="474"/>
                    </a:lnTo>
                    <a:lnTo>
                      <a:pt x="138" y="476"/>
                    </a:lnTo>
                    <a:lnTo>
                      <a:pt x="141" y="474"/>
                    </a:lnTo>
                    <a:lnTo>
                      <a:pt x="144" y="473"/>
                    </a:lnTo>
                    <a:lnTo>
                      <a:pt x="145" y="467"/>
                    </a:lnTo>
                    <a:lnTo>
                      <a:pt x="145" y="462"/>
                    </a:lnTo>
                    <a:lnTo>
                      <a:pt x="143" y="454"/>
                    </a:lnTo>
                    <a:lnTo>
                      <a:pt x="61" y="174"/>
                    </a:lnTo>
                    <a:lnTo>
                      <a:pt x="9" y="4"/>
                    </a:lnTo>
                    <a:lnTo>
                      <a:pt x="6" y="2"/>
                    </a:lnTo>
                    <a:lnTo>
                      <a:pt x="4" y="0"/>
                    </a:lnTo>
                    <a:lnTo>
                      <a:pt x="2" y="0"/>
                    </a:lnTo>
                    <a:lnTo>
                      <a:pt x="1" y="2"/>
                    </a:lnTo>
                    <a:lnTo>
                      <a:pt x="0" y="5"/>
                    </a:lnTo>
                    <a:lnTo>
                      <a:pt x="0" y="9"/>
                    </a:lnTo>
                    <a:lnTo>
                      <a:pt x="50" y="186"/>
                    </a:lnTo>
                  </a:path>
                </a:pathLst>
              </a:custGeom>
              <a:solidFill>
                <a:srgbClr val="9F9F9F">
                  <a:alpha val="100000"/>
                </a:srgbClr>
              </a:solidFill>
              <a:ln w="9525">
                <a:noFill/>
              </a:ln>
            </p:spPr>
            <p:txBody>
              <a:bodyPr/>
              <a:lstStyle/>
              <a:p>
                <a:endParaRPr lang="zh-CN" altLang="en-US"/>
              </a:p>
            </p:txBody>
          </p:sp>
        </p:grpSp>
        <p:grpSp>
          <p:nvGrpSpPr>
            <p:cNvPr id="1041" name="Group 37"/>
            <p:cNvGrpSpPr/>
            <p:nvPr/>
          </p:nvGrpSpPr>
          <p:grpSpPr>
            <a:xfrm>
              <a:off x="0" y="7"/>
              <a:ext cx="439" cy="321"/>
              <a:chOff x="0" y="0"/>
              <a:chExt cx="439" cy="321"/>
            </a:xfrm>
          </p:grpSpPr>
          <p:sp>
            <p:nvSpPr>
              <p:cNvPr id="1042" name="Freeform 38"/>
              <p:cNvSpPr/>
              <p:nvPr/>
            </p:nvSpPr>
            <p:spPr>
              <a:xfrm>
                <a:off x="80" y="9"/>
                <a:ext cx="272" cy="276"/>
              </a:xfrm>
              <a:custGeom>
                <a:avLst/>
                <a:gdLst>
                  <a:gd name="txL" fmla="*/ 0 w 273"/>
                  <a:gd name="txT" fmla="*/ 0 h 276"/>
                  <a:gd name="txR" fmla="*/ 273 w 273"/>
                  <a:gd name="txB" fmla="*/ 276 h 276"/>
                </a:gdLst>
                <a:ahLst/>
                <a:cxnLst>
                  <a:cxn ang="0">
                    <a:pos x="43" y="32"/>
                  </a:cxn>
                  <a:cxn ang="0">
                    <a:pos x="69" y="13"/>
                  </a:cxn>
                  <a:cxn ang="0">
                    <a:pos x="92" y="4"/>
                  </a:cxn>
                  <a:cxn ang="0">
                    <a:pos x="123" y="0"/>
                  </a:cxn>
                  <a:cxn ang="0">
                    <a:pos x="150" y="9"/>
                  </a:cxn>
                  <a:cxn ang="0">
                    <a:pos x="190" y="36"/>
                  </a:cxn>
                  <a:cxn ang="0">
                    <a:pos x="228" y="75"/>
                  </a:cxn>
                  <a:cxn ang="0">
                    <a:pos x="261" y="128"/>
                  </a:cxn>
                  <a:cxn ang="0">
                    <a:pos x="264" y="156"/>
                  </a:cxn>
                  <a:cxn ang="0">
                    <a:pos x="257" y="146"/>
                  </a:cxn>
                  <a:cxn ang="0">
                    <a:pos x="249" y="138"/>
                  </a:cxn>
                  <a:cxn ang="0">
                    <a:pos x="238" y="133"/>
                  </a:cxn>
                  <a:cxn ang="0">
                    <a:pos x="228" y="132"/>
                  </a:cxn>
                  <a:cxn ang="0">
                    <a:pos x="216" y="133"/>
                  </a:cxn>
                  <a:cxn ang="0">
                    <a:pos x="205" y="137"/>
                  </a:cxn>
                  <a:cxn ang="0">
                    <a:pos x="197" y="144"/>
                  </a:cxn>
                  <a:cxn ang="0">
                    <a:pos x="189" y="155"/>
                  </a:cxn>
                  <a:cxn ang="0">
                    <a:pos x="183" y="167"/>
                  </a:cxn>
                  <a:cxn ang="0">
                    <a:pos x="180" y="181"/>
                  </a:cxn>
                  <a:cxn ang="0">
                    <a:pos x="182" y="196"/>
                  </a:cxn>
                  <a:cxn ang="0">
                    <a:pos x="162" y="150"/>
                  </a:cxn>
                  <a:cxn ang="0">
                    <a:pos x="99" y="225"/>
                  </a:cxn>
                  <a:cxn ang="0">
                    <a:pos x="99" y="231"/>
                  </a:cxn>
                  <a:cxn ang="0">
                    <a:pos x="92" y="221"/>
                  </a:cxn>
                  <a:cxn ang="0">
                    <a:pos x="83" y="212"/>
                  </a:cxn>
                  <a:cxn ang="0">
                    <a:pos x="73" y="207"/>
                  </a:cxn>
                  <a:cxn ang="0">
                    <a:pos x="63" y="204"/>
                  </a:cxn>
                  <a:cxn ang="0">
                    <a:pos x="53" y="206"/>
                  </a:cxn>
                  <a:cxn ang="0">
                    <a:pos x="43" y="208"/>
                  </a:cxn>
                  <a:cxn ang="0">
                    <a:pos x="33" y="214"/>
                  </a:cxn>
                  <a:cxn ang="0">
                    <a:pos x="25" y="222"/>
                  </a:cxn>
                  <a:cxn ang="0">
                    <a:pos x="19" y="231"/>
                  </a:cxn>
                  <a:cxn ang="0">
                    <a:pos x="15" y="243"/>
                  </a:cxn>
                  <a:cxn ang="0">
                    <a:pos x="14" y="258"/>
                  </a:cxn>
                  <a:cxn ang="0">
                    <a:pos x="17" y="275"/>
                  </a:cxn>
                  <a:cxn ang="0">
                    <a:pos x="3" y="229"/>
                  </a:cxn>
                  <a:cxn ang="0">
                    <a:pos x="0" y="173"/>
                  </a:cxn>
                  <a:cxn ang="0">
                    <a:pos x="4" y="119"/>
                  </a:cxn>
                  <a:cxn ang="0">
                    <a:pos x="30" y="48"/>
                  </a:cxn>
                </a:cxnLst>
                <a:rect l="txL" t="txT" r="txR" b="txB"/>
                <a:pathLst>
                  <a:path w="273" h="276">
                    <a:moveTo>
                      <a:pt x="30" y="48"/>
                    </a:moveTo>
                    <a:lnTo>
                      <a:pt x="43" y="32"/>
                    </a:lnTo>
                    <a:lnTo>
                      <a:pt x="55" y="21"/>
                    </a:lnTo>
                    <a:lnTo>
                      <a:pt x="69" y="13"/>
                    </a:lnTo>
                    <a:lnTo>
                      <a:pt x="78" y="8"/>
                    </a:lnTo>
                    <a:lnTo>
                      <a:pt x="92" y="4"/>
                    </a:lnTo>
                    <a:lnTo>
                      <a:pt x="108" y="0"/>
                    </a:lnTo>
                    <a:lnTo>
                      <a:pt x="123" y="0"/>
                    </a:lnTo>
                    <a:lnTo>
                      <a:pt x="144" y="4"/>
                    </a:lnTo>
                    <a:lnTo>
                      <a:pt x="154" y="9"/>
                    </a:lnTo>
                    <a:lnTo>
                      <a:pt x="173" y="20"/>
                    </a:lnTo>
                    <a:lnTo>
                      <a:pt x="194" y="36"/>
                    </a:lnTo>
                    <a:lnTo>
                      <a:pt x="213" y="55"/>
                    </a:lnTo>
                    <a:lnTo>
                      <a:pt x="232" y="75"/>
                    </a:lnTo>
                    <a:lnTo>
                      <a:pt x="247" y="105"/>
                    </a:lnTo>
                    <a:lnTo>
                      <a:pt x="265" y="128"/>
                    </a:lnTo>
                    <a:lnTo>
                      <a:pt x="272" y="165"/>
                    </a:lnTo>
                    <a:lnTo>
                      <a:pt x="268" y="156"/>
                    </a:lnTo>
                    <a:lnTo>
                      <a:pt x="265" y="150"/>
                    </a:lnTo>
                    <a:lnTo>
                      <a:pt x="261" y="146"/>
                    </a:lnTo>
                    <a:lnTo>
                      <a:pt x="256" y="142"/>
                    </a:lnTo>
                    <a:lnTo>
                      <a:pt x="253" y="138"/>
                    </a:lnTo>
                    <a:lnTo>
                      <a:pt x="247" y="136"/>
                    </a:lnTo>
                    <a:lnTo>
                      <a:pt x="242" y="133"/>
                    </a:lnTo>
                    <a:lnTo>
                      <a:pt x="237" y="132"/>
                    </a:lnTo>
                    <a:lnTo>
                      <a:pt x="232" y="132"/>
                    </a:lnTo>
                    <a:lnTo>
                      <a:pt x="226" y="132"/>
                    </a:lnTo>
                    <a:lnTo>
                      <a:pt x="220" y="133"/>
                    </a:lnTo>
                    <a:lnTo>
                      <a:pt x="215" y="134"/>
                    </a:lnTo>
                    <a:lnTo>
                      <a:pt x="209" y="137"/>
                    </a:lnTo>
                    <a:lnTo>
                      <a:pt x="205" y="141"/>
                    </a:lnTo>
                    <a:lnTo>
                      <a:pt x="201" y="144"/>
                    </a:lnTo>
                    <a:lnTo>
                      <a:pt x="196" y="149"/>
                    </a:lnTo>
                    <a:lnTo>
                      <a:pt x="193" y="155"/>
                    </a:lnTo>
                    <a:lnTo>
                      <a:pt x="190" y="161"/>
                    </a:lnTo>
                    <a:lnTo>
                      <a:pt x="187" y="167"/>
                    </a:lnTo>
                    <a:lnTo>
                      <a:pt x="186" y="175"/>
                    </a:lnTo>
                    <a:lnTo>
                      <a:pt x="184" y="181"/>
                    </a:lnTo>
                    <a:lnTo>
                      <a:pt x="185" y="190"/>
                    </a:lnTo>
                    <a:lnTo>
                      <a:pt x="186" y="196"/>
                    </a:lnTo>
                    <a:lnTo>
                      <a:pt x="187" y="203"/>
                    </a:lnTo>
                    <a:lnTo>
                      <a:pt x="166" y="150"/>
                    </a:lnTo>
                    <a:lnTo>
                      <a:pt x="98" y="175"/>
                    </a:lnTo>
                    <a:lnTo>
                      <a:pt x="99" y="225"/>
                    </a:lnTo>
                    <a:lnTo>
                      <a:pt x="102" y="239"/>
                    </a:lnTo>
                    <a:lnTo>
                      <a:pt x="99" y="231"/>
                    </a:lnTo>
                    <a:lnTo>
                      <a:pt x="96" y="226"/>
                    </a:lnTo>
                    <a:lnTo>
                      <a:pt x="92" y="221"/>
                    </a:lnTo>
                    <a:lnTo>
                      <a:pt x="87" y="217"/>
                    </a:lnTo>
                    <a:lnTo>
                      <a:pt x="83" y="212"/>
                    </a:lnTo>
                    <a:lnTo>
                      <a:pt x="78" y="210"/>
                    </a:lnTo>
                    <a:lnTo>
                      <a:pt x="73" y="207"/>
                    </a:lnTo>
                    <a:lnTo>
                      <a:pt x="68" y="206"/>
                    </a:lnTo>
                    <a:lnTo>
                      <a:pt x="63" y="204"/>
                    </a:lnTo>
                    <a:lnTo>
                      <a:pt x="58" y="204"/>
                    </a:lnTo>
                    <a:lnTo>
                      <a:pt x="53" y="206"/>
                    </a:lnTo>
                    <a:lnTo>
                      <a:pt x="48" y="206"/>
                    </a:lnTo>
                    <a:lnTo>
                      <a:pt x="43" y="208"/>
                    </a:lnTo>
                    <a:lnTo>
                      <a:pt x="38" y="211"/>
                    </a:lnTo>
                    <a:lnTo>
                      <a:pt x="33" y="214"/>
                    </a:lnTo>
                    <a:lnTo>
                      <a:pt x="28" y="218"/>
                    </a:lnTo>
                    <a:lnTo>
                      <a:pt x="25" y="222"/>
                    </a:lnTo>
                    <a:lnTo>
                      <a:pt x="22" y="226"/>
                    </a:lnTo>
                    <a:lnTo>
                      <a:pt x="19" y="231"/>
                    </a:lnTo>
                    <a:lnTo>
                      <a:pt x="17" y="238"/>
                    </a:lnTo>
                    <a:lnTo>
                      <a:pt x="15" y="243"/>
                    </a:lnTo>
                    <a:lnTo>
                      <a:pt x="14" y="252"/>
                    </a:lnTo>
                    <a:lnTo>
                      <a:pt x="14" y="258"/>
                    </a:lnTo>
                    <a:lnTo>
                      <a:pt x="15" y="264"/>
                    </a:lnTo>
                    <a:lnTo>
                      <a:pt x="17" y="275"/>
                    </a:lnTo>
                    <a:lnTo>
                      <a:pt x="12" y="262"/>
                    </a:lnTo>
                    <a:lnTo>
                      <a:pt x="3" y="229"/>
                    </a:lnTo>
                    <a:lnTo>
                      <a:pt x="2" y="207"/>
                    </a:lnTo>
                    <a:lnTo>
                      <a:pt x="0" y="173"/>
                    </a:lnTo>
                    <a:lnTo>
                      <a:pt x="0" y="144"/>
                    </a:lnTo>
                    <a:lnTo>
                      <a:pt x="4" y="119"/>
                    </a:lnTo>
                    <a:lnTo>
                      <a:pt x="11" y="84"/>
                    </a:lnTo>
                    <a:lnTo>
                      <a:pt x="30" y="48"/>
                    </a:lnTo>
                  </a:path>
                </a:pathLst>
              </a:custGeom>
              <a:solidFill>
                <a:srgbClr val="FFFFFF">
                  <a:alpha val="100000"/>
                </a:srgbClr>
              </a:solidFill>
              <a:ln w="9525">
                <a:noFill/>
              </a:ln>
            </p:spPr>
            <p:txBody>
              <a:bodyPr/>
              <a:lstStyle/>
              <a:p>
                <a:endParaRPr lang="zh-CN" altLang="en-US"/>
              </a:p>
            </p:txBody>
          </p:sp>
          <p:sp>
            <p:nvSpPr>
              <p:cNvPr id="1043" name="Freeform 39"/>
              <p:cNvSpPr/>
              <p:nvPr/>
            </p:nvSpPr>
            <p:spPr>
              <a:xfrm>
                <a:off x="0" y="0"/>
                <a:ext cx="439" cy="321"/>
              </a:xfrm>
              <a:custGeom>
                <a:avLst/>
                <a:gdLst>
                  <a:gd name="txL" fmla="*/ 0 w 439"/>
                  <a:gd name="txT" fmla="*/ 0 h 321"/>
                  <a:gd name="txR" fmla="*/ 439 w 439"/>
                  <a:gd name="txB" fmla="*/ 321 h 321"/>
                </a:gdLst>
                <a:ahLst/>
                <a:cxnLst>
                  <a:cxn ang="0">
                    <a:pos x="146" y="22"/>
                  </a:cxn>
                  <a:cxn ang="0">
                    <a:pos x="113" y="43"/>
                  </a:cxn>
                  <a:cxn ang="0">
                    <a:pos x="83" y="67"/>
                  </a:cxn>
                  <a:cxn ang="0">
                    <a:pos x="57" y="96"/>
                  </a:cxn>
                  <a:cxn ang="0">
                    <a:pos x="31" y="134"/>
                  </a:cxn>
                  <a:cxn ang="0">
                    <a:pos x="12" y="177"/>
                  </a:cxn>
                  <a:cxn ang="0">
                    <a:pos x="1" y="227"/>
                  </a:cxn>
                  <a:cxn ang="0">
                    <a:pos x="0" y="278"/>
                  </a:cxn>
                  <a:cxn ang="0">
                    <a:pos x="9" y="320"/>
                  </a:cxn>
                  <a:cxn ang="0">
                    <a:pos x="10" y="282"/>
                  </a:cxn>
                  <a:cxn ang="0">
                    <a:pos x="29" y="258"/>
                  </a:cxn>
                  <a:cxn ang="0">
                    <a:pos x="55" y="250"/>
                  </a:cxn>
                  <a:cxn ang="0">
                    <a:pos x="81" y="260"/>
                  </a:cxn>
                  <a:cxn ang="0">
                    <a:pos x="94" y="276"/>
                  </a:cxn>
                  <a:cxn ang="0">
                    <a:pos x="84" y="229"/>
                  </a:cxn>
                  <a:cxn ang="0">
                    <a:pos x="81" y="178"/>
                  </a:cxn>
                  <a:cxn ang="0">
                    <a:pos x="85" y="129"/>
                  </a:cxn>
                  <a:cxn ang="0">
                    <a:pos x="96" y="91"/>
                  </a:cxn>
                  <a:cxn ang="0">
                    <a:pos x="113" y="57"/>
                  </a:cxn>
                  <a:cxn ang="0">
                    <a:pos x="138" y="30"/>
                  </a:cxn>
                  <a:cxn ang="0">
                    <a:pos x="149" y="30"/>
                  </a:cxn>
                  <a:cxn ang="0">
                    <a:pos x="146" y="71"/>
                  </a:cxn>
                  <a:cxn ang="0">
                    <a:pos x="150" y="116"/>
                  </a:cxn>
                  <a:cxn ang="0">
                    <a:pos x="161" y="172"/>
                  </a:cxn>
                  <a:cxn ang="0">
                    <a:pos x="174" y="220"/>
                  </a:cxn>
                  <a:cxn ang="0">
                    <a:pos x="179" y="231"/>
                  </a:cxn>
                  <a:cxn ang="0">
                    <a:pos x="189" y="196"/>
                  </a:cxn>
                  <a:cxn ang="0">
                    <a:pos x="217" y="178"/>
                  </a:cxn>
                  <a:cxn ang="0">
                    <a:pos x="247" y="184"/>
                  </a:cxn>
                  <a:cxn ang="0">
                    <a:pos x="262" y="198"/>
                  </a:cxn>
                  <a:cxn ang="0">
                    <a:pos x="248" y="158"/>
                  </a:cxn>
                  <a:cxn ang="0">
                    <a:pos x="231" y="115"/>
                  </a:cxn>
                  <a:cxn ang="0">
                    <a:pos x="211" y="75"/>
                  </a:cxn>
                  <a:cxn ang="0">
                    <a:pos x="192" y="44"/>
                  </a:cxn>
                  <a:cxn ang="0">
                    <a:pos x="170" y="20"/>
                  </a:cxn>
                  <a:cxn ang="0">
                    <a:pos x="183" y="12"/>
                  </a:cxn>
                  <a:cxn ang="0">
                    <a:pos x="217" y="14"/>
                  </a:cxn>
                  <a:cxn ang="0">
                    <a:pos x="251" y="30"/>
                  </a:cxn>
                  <a:cxn ang="0">
                    <a:pos x="278" y="52"/>
                  </a:cxn>
                  <a:cxn ang="0">
                    <a:pos x="303" y="80"/>
                  </a:cxn>
                  <a:cxn ang="0">
                    <a:pos x="324" y="112"/>
                  </a:cxn>
                  <a:cxn ang="0">
                    <a:pos x="341" y="149"/>
                  </a:cxn>
                  <a:cxn ang="0">
                    <a:pos x="350" y="157"/>
                  </a:cxn>
                  <a:cxn ang="0">
                    <a:pos x="360" y="125"/>
                  </a:cxn>
                  <a:cxn ang="0">
                    <a:pos x="383" y="106"/>
                  </a:cxn>
                  <a:cxn ang="0">
                    <a:pos x="407" y="106"/>
                  </a:cxn>
                  <a:cxn ang="0">
                    <a:pos x="430" y="125"/>
                  </a:cxn>
                  <a:cxn ang="0">
                    <a:pos x="430" y="116"/>
                  </a:cxn>
                  <a:cxn ang="0">
                    <a:pos x="411" y="83"/>
                  </a:cxn>
                  <a:cxn ang="0">
                    <a:pos x="387" y="53"/>
                  </a:cxn>
                  <a:cxn ang="0">
                    <a:pos x="356" y="29"/>
                  </a:cxn>
                  <a:cxn ang="0">
                    <a:pos x="324" y="13"/>
                  </a:cxn>
                  <a:cxn ang="0">
                    <a:pos x="291" y="4"/>
                  </a:cxn>
                  <a:cxn ang="0">
                    <a:pos x="256" y="0"/>
                  </a:cxn>
                  <a:cxn ang="0">
                    <a:pos x="217" y="1"/>
                  </a:cxn>
                  <a:cxn ang="0">
                    <a:pos x="180" y="9"/>
                  </a:cxn>
                </a:cxnLst>
                <a:rect l="txL" t="txT" r="txR" b="txB"/>
                <a:pathLst>
                  <a:path w="439" h="321">
                    <a:moveTo>
                      <a:pt x="172" y="12"/>
                    </a:moveTo>
                    <a:lnTo>
                      <a:pt x="162" y="16"/>
                    </a:lnTo>
                    <a:lnTo>
                      <a:pt x="157" y="17"/>
                    </a:lnTo>
                    <a:lnTo>
                      <a:pt x="152" y="20"/>
                    </a:lnTo>
                    <a:lnTo>
                      <a:pt x="146" y="22"/>
                    </a:lnTo>
                    <a:lnTo>
                      <a:pt x="138" y="26"/>
                    </a:lnTo>
                    <a:lnTo>
                      <a:pt x="132" y="30"/>
                    </a:lnTo>
                    <a:lnTo>
                      <a:pt x="126" y="33"/>
                    </a:lnTo>
                    <a:lnTo>
                      <a:pt x="119" y="38"/>
                    </a:lnTo>
                    <a:lnTo>
                      <a:pt x="113" y="43"/>
                    </a:lnTo>
                    <a:lnTo>
                      <a:pt x="107" y="47"/>
                    </a:lnTo>
                    <a:lnTo>
                      <a:pt x="101" y="52"/>
                    </a:lnTo>
                    <a:lnTo>
                      <a:pt x="94" y="57"/>
                    </a:lnTo>
                    <a:lnTo>
                      <a:pt x="88" y="61"/>
                    </a:lnTo>
                    <a:lnTo>
                      <a:pt x="83" y="67"/>
                    </a:lnTo>
                    <a:lnTo>
                      <a:pt x="77" y="72"/>
                    </a:lnTo>
                    <a:lnTo>
                      <a:pt x="72" y="79"/>
                    </a:lnTo>
                    <a:lnTo>
                      <a:pt x="66" y="84"/>
                    </a:lnTo>
                    <a:lnTo>
                      <a:pt x="61" y="90"/>
                    </a:lnTo>
                    <a:lnTo>
                      <a:pt x="57" y="96"/>
                    </a:lnTo>
                    <a:lnTo>
                      <a:pt x="51" y="103"/>
                    </a:lnTo>
                    <a:lnTo>
                      <a:pt x="46" y="110"/>
                    </a:lnTo>
                    <a:lnTo>
                      <a:pt x="41" y="118"/>
                    </a:lnTo>
                    <a:lnTo>
                      <a:pt x="36" y="126"/>
                    </a:lnTo>
                    <a:lnTo>
                      <a:pt x="31" y="134"/>
                    </a:lnTo>
                    <a:lnTo>
                      <a:pt x="27" y="141"/>
                    </a:lnTo>
                    <a:lnTo>
                      <a:pt x="23" y="150"/>
                    </a:lnTo>
                    <a:lnTo>
                      <a:pt x="18" y="160"/>
                    </a:lnTo>
                    <a:lnTo>
                      <a:pt x="15" y="169"/>
                    </a:lnTo>
                    <a:lnTo>
                      <a:pt x="12" y="177"/>
                    </a:lnTo>
                    <a:lnTo>
                      <a:pt x="9" y="186"/>
                    </a:lnTo>
                    <a:lnTo>
                      <a:pt x="6" y="196"/>
                    </a:lnTo>
                    <a:lnTo>
                      <a:pt x="4" y="207"/>
                    </a:lnTo>
                    <a:lnTo>
                      <a:pt x="3" y="216"/>
                    </a:lnTo>
                    <a:lnTo>
                      <a:pt x="1" y="227"/>
                    </a:lnTo>
                    <a:lnTo>
                      <a:pt x="0" y="239"/>
                    </a:lnTo>
                    <a:lnTo>
                      <a:pt x="0" y="250"/>
                    </a:lnTo>
                    <a:lnTo>
                      <a:pt x="0" y="260"/>
                    </a:lnTo>
                    <a:lnTo>
                      <a:pt x="0" y="270"/>
                    </a:lnTo>
                    <a:lnTo>
                      <a:pt x="0" y="278"/>
                    </a:lnTo>
                    <a:lnTo>
                      <a:pt x="1" y="286"/>
                    </a:lnTo>
                    <a:lnTo>
                      <a:pt x="3" y="294"/>
                    </a:lnTo>
                    <a:lnTo>
                      <a:pt x="4" y="302"/>
                    </a:lnTo>
                    <a:lnTo>
                      <a:pt x="6" y="310"/>
                    </a:lnTo>
                    <a:lnTo>
                      <a:pt x="9" y="320"/>
                    </a:lnTo>
                    <a:lnTo>
                      <a:pt x="7" y="310"/>
                    </a:lnTo>
                    <a:lnTo>
                      <a:pt x="7" y="302"/>
                    </a:lnTo>
                    <a:lnTo>
                      <a:pt x="7" y="295"/>
                    </a:lnTo>
                    <a:lnTo>
                      <a:pt x="9" y="289"/>
                    </a:lnTo>
                    <a:lnTo>
                      <a:pt x="10" y="282"/>
                    </a:lnTo>
                    <a:lnTo>
                      <a:pt x="13" y="276"/>
                    </a:lnTo>
                    <a:lnTo>
                      <a:pt x="16" y="271"/>
                    </a:lnTo>
                    <a:lnTo>
                      <a:pt x="21" y="264"/>
                    </a:lnTo>
                    <a:lnTo>
                      <a:pt x="25" y="260"/>
                    </a:lnTo>
                    <a:lnTo>
                      <a:pt x="29" y="258"/>
                    </a:lnTo>
                    <a:lnTo>
                      <a:pt x="33" y="255"/>
                    </a:lnTo>
                    <a:lnTo>
                      <a:pt x="39" y="252"/>
                    </a:lnTo>
                    <a:lnTo>
                      <a:pt x="45" y="251"/>
                    </a:lnTo>
                    <a:lnTo>
                      <a:pt x="50" y="250"/>
                    </a:lnTo>
                    <a:lnTo>
                      <a:pt x="55" y="250"/>
                    </a:lnTo>
                    <a:lnTo>
                      <a:pt x="60" y="251"/>
                    </a:lnTo>
                    <a:lnTo>
                      <a:pt x="66" y="252"/>
                    </a:lnTo>
                    <a:lnTo>
                      <a:pt x="72" y="255"/>
                    </a:lnTo>
                    <a:lnTo>
                      <a:pt x="75" y="258"/>
                    </a:lnTo>
                    <a:lnTo>
                      <a:pt x="81" y="260"/>
                    </a:lnTo>
                    <a:lnTo>
                      <a:pt x="85" y="266"/>
                    </a:lnTo>
                    <a:lnTo>
                      <a:pt x="89" y="271"/>
                    </a:lnTo>
                    <a:lnTo>
                      <a:pt x="93" y="278"/>
                    </a:lnTo>
                    <a:lnTo>
                      <a:pt x="96" y="285"/>
                    </a:lnTo>
                    <a:lnTo>
                      <a:pt x="94" y="276"/>
                    </a:lnTo>
                    <a:lnTo>
                      <a:pt x="92" y="268"/>
                    </a:lnTo>
                    <a:lnTo>
                      <a:pt x="89" y="259"/>
                    </a:lnTo>
                    <a:lnTo>
                      <a:pt x="87" y="248"/>
                    </a:lnTo>
                    <a:lnTo>
                      <a:pt x="86" y="239"/>
                    </a:lnTo>
                    <a:lnTo>
                      <a:pt x="84" y="229"/>
                    </a:lnTo>
                    <a:lnTo>
                      <a:pt x="83" y="220"/>
                    </a:lnTo>
                    <a:lnTo>
                      <a:pt x="82" y="211"/>
                    </a:lnTo>
                    <a:lnTo>
                      <a:pt x="81" y="200"/>
                    </a:lnTo>
                    <a:lnTo>
                      <a:pt x="81" y="189"/>
                    </a:lnTo>
                    <a:lnTo>
                      <a:pt x="81" y="178"/>
                    </a:lnTo>
                    <a:lnTo>
                      <a:pt x="81" y="166"/>
                    </a:lnTo>
                    <a:lnTo>
                      <a:pt x="82" y="155"/>
                    </a:lnTo>
                    <a:lnTo>
                      <a:pt x="83" y="147"/>
                    </a:lnTo>
                    <a:lnTo>
                      <a:pt x="84" y="138"/>
                    </a:lnTo>
                    <a:lnTo>
                      <a:pt x="85" y="129"/>
                    </a:lnTo>
                    <a:lnTo>
                      <a:pt x="87" y="119"/>
                    </a:lnTo>
                    <a:lnTo>
                      <a:pt x="90" y="111"/>
                    </a:lnTo>
                    <a:lnTo>
                      <a:pt x="92" y="103"/>
                    </a:lnTo>
                    <a:lnTo>
                      <a:pt x="93" y="96"/>
                    </a:lnTo>
                    <a:lnTo>
                      <a:pt x="96" y="91"/>
                    </a:lnTo>
                    <a:lnTo>
                      <a:pt x="99" y="86"/>
                    </a:lnTo>
                    <a:lnTo>
                      <a:pt x="102" y="77"/>
                    </a:lnTo>
                    <a:lnTo>
                      <a:pt x="105" y="69"/>
                    </a:lnTo>
                    <a:lnTo>
                      <a:pt x="109" y="63"/>
                    </a:lnTo>
                    <a:lnTo>
                      <a:pt x="113" y="57"/>
                    </a:lnTo>
                    <a:lnTo>
                      <a:pt x="117" y="52"/>
                    </a:lnTo>
                    <a:lnTo>
                      <a:pt x="123" y="45"/>
                    </a:lnTo>
                    <a:lnTo>
                      <a:pt x="127" y="40"/>
                    </a:lnTo>
                    <a:lnTo>
                      <a:pt x="132" y="34"/>
                    </a:lnTo>
                    <a:lnTo>
                      <a:pt x="138" y="30"/>
                    </a:lnTo>
                    <a:lnTo>
                      <a:pt x="144" y="26"/>
                    </a:lnTo>
                    <a:lnTo>
                      <a:pt x="150" y="22"/>
                    </a:lnTo>
                    <a:lnTo>
                      <a:pt x="154" y="21"/>
                    </a:lnTo>
                    <a:lnTo>
                      <a:pt x="151" y="25"/>
                    </a:lnTo>
                    <a:lnTo>
                      <a:pt x="149" y="30"/>
                    </a:lnTo>
                    <a:lnTo>
                      <a:pt x="147" y="38"/>
                    </a:lnTo>
                    <a:lnTo>
                      <a:pt x="147" y="47"/>
                    </a:lnTo>
                    <a:lnTo>
                      <a:pt x="146" y="53"/>
                    </a:lnTo>
                    <a:lnTo>
                      <a:pt x="146" y="63"/>
                    </a:lnTo>
                    <a:lnTo>
                      <a:pt x="146" y="71"/>
                    </a:lnTo>
                    <a:lnTo>
                      <a:pt x="146" y="77"/>
                    </a:lnTo>
                    <a:lnTo>
                      <a:pt x="147" y="87"/>
                    </a:lnTo>
                    <a:lnTo>
                      <a:pt x="147" y="98"/>
                    </a:lnTo>
                    <a:lnTo>
                      <a:pt x="149" y="107"/>
                    </a:lnTo>
                    <a:lnTo>
                      <a:pt x="150" y="116"/>
                    </a:lnTo>
                    <a:lnTo>
                      <a:pt x="152" y="129"/>
                    </a:lnTo>
                    <a:lnTo>
                      <a:pt x="154" y="139"/>
                    </a:lnTo>
                    <a:lnTo>
                      <a:pt x="156" y="151"/>
                    </a:lnTo>
                    <a:lnTo>
                      <a:pt x="159" y="162"/>
                    </a:lnTo>
                    <a:lnTo>
                      <a:pt x="161" y="172"/>
                    </a:lnTo>
                    <a:lnTo>
                      <a:pt x="163" y="181"/>
                    </a:lnTo>
                    <a:lnTo>
                      <a:pt x="165" y="190"/>
                    </a:lnTo>
                    <a:lnTo>
                      <a:pt x="168" y="200"/>
                    </a:lnTo>
                    <a:lnTo>
                      <a:pt x="171" y="209"/>
                    </a:lnTo>
                    <a:lnTo>
                      <a:pt x="174" y="220"/>
                    </a:lnTo>
                    <a:lnTo>
                      <a:pt x="176" y="229"/>
                    </a:lnTo>
                    <a:lnTo>
                      <a:pt x="178" y="237"/>
                    </a:lnTo>
                    <a:lnTo>
                      <a:pt x="181" y="248"/>
                    </a:lnTo>
                    <a:lnTo>
                      <a:pt x="180" y="240"/>
                    </a:lnTo>
                    <a:lnTo>
                      <a:pt x="179" y="231"/>
                    </a:lnTo>
                    <a:lnTo>
                      <a:pt x="180" y="223"/>
                    </a:lnTo>
                    <a:lnTo>
                      <a:pt x="180" y="216"/>
                    </a:lnTo>
                    <a:lnTo>
                      <a:pt x="183" y="209"/>
                    </a:lnTo>
                    <a:lnTo>
                      <a:pt x="186" y="203"/>
                    </a:lnTo>
                    <a:lnTo>
                      <a:pt x="189" y="196"/>
                    </a:lnTo>
                    <a:lnTo>
                      <a:pt x="193" y="190"/>
                    </a:lnTo>
                    <a:lnTo>
                      <a:pt x="198" y="186"/>
                    </a:lnTo>
                    <a:lnTo>
                      <a:pt x="204" y="182"/>
                    </a:lnTo>
                    <a:lnTo>
                      <a:pt x="210" y="178"/>
                    </a:lnTo>
                    <a:lnTo>
                      <a:pt x="217" y="178"/>
                    </a:lnTo>
                    <a:lnTo>
                      <a:pt x="223" y="177"/>
                    </a:lnTo>
                    <a:lnTo>
                      <a:pt x="230" y="177"/>
                    </a:lnTo>
                    <a:lnTo>
                      <a:pt x="236" y="178"/>
                    </a:lnTo>
                    <a:lnTo>
                      <a:pt x="243" y="181"/>
                    </a:lnTo>
                    <a:lnTo>
                      <a:pt x="247" y="184"/>
                    </a:lnTo>
                    <a:lnTo>
                      <a:pt x="252" y="188"/>
                    </a:lnTo>
                    <a:lnTo>
                      <a:pt x="256" y="193"/>
                    </a:lnTo>
                    <a:lnTo>
                      <a:pt x="261" y="198"/>
                    </a:lnTo>
                    <a:lnTo>
                      <a:pt x="267" y="212"/>
                    </a:lnTo>
                    <a:lnTo>
                      <a:pt x="262" y="198"/>
                    </a:lnTo>
                    <a:lnTo>
                      <a:pt x="259" y="190"/>
                    </a:lnTo>
                    <a:lnTo>
                      <a:pt x="257" y="184"/>
                    </a:lnTo>
                    <a:lnTo>
                      <a:pt x="255" y="176"/>
                    </a:lnTo>
                    <a:lnTo>
                      <a:pt x="252" y="168"/>
                    </a:lnTo>
                    <a:lnTo>
                      <a:pt x="248" y="158"/>
                    </a:lnTo>
                    <a:lnTo>
                      <a:pt x="244" y="149"/>
                    </a:lnTo>
                    <a:lnTo>
                      <a:pt x="241" y="139"/>
                    </a:lnTo>
                    <a:lnTo>
                      <a:pt x="238" y="131"/>
                    </a:lnTo>
                    <a:lnTo>
                      <a:pt x="234" y="123"/>
                    </a:lnTo>
                    <a:lnTo>
                      <a:pt x="231" y="115"/>
                    </a:lnTo>
                    <a:lnTo>
                      <a:pt x="227" y="106"/>
                    </a:lnTo>
                    <a:lnTo>
                      <a:pt x="222" y="98"/>
                    </a:lnTo>
                    <a:lnTo>
                      <a:pt x="219" y="90"/>
                    </a:lnTo>
                    <a:lnTo>
                      <a:pt x="215" y="83"/>
                    </a:lnTo>
                    <a:lnTo>
                      <a:pt x="211" y="75"/>
                    </a:lnTo>
                    <a:lnTo>
                      <a:pt x="207" y="68"/>
                    </a:lnTo>
                    <a:lnTo>
                      <a:pt x="204" y="61"/>
                    </a:lnTo>
                    <a:lnTo>
                      <a:pt x="201" y="55"/>
                    </a:lnTo>
                    <a:lnTo>
                      <a:pt x="196" y="49"/>
                    </a:lnTo>
                    <a:lnTo>
                      <a:pt x="192" y="44"/>
                    </a:lnTo>
                    <a:lnTo>
                      <a:pt x="188" y="37"/>
                    </a:lnTo>
                    <a:lnTo>
                      <a:pt x="184" y="32"/>
                    </a:lnTo>
                    <a:lnTo>
                      <a:pt x="180" y="28"/>
                    </a:lnTo>
                    <a:lnTo>
                      <a:pt x="175" y="24"/>
                    </a:lnTo>
                    <a:lnTo>
                      <a:pt x="170" y="20"/>
                    </a:lnTo>
                    <a:lnTo>
                      <a:pt x="165" y="18"/>
                    </a:lnTo>
                    <a:lnTo>
                      <a:pt x="161" y="17"/>
                    </a:lnTo>
                    <a:lnTo>
                      <a:pt x="169" y="14"/>
                    </a:lnTo>
                    <a:lnTo>
                      <a:pt x="176" y="13"/>
                    </a:lnTo>
                    <a:lnTo>
                      <a:pt x="183" y="12"/>
                    </a:lnTo>
                    <a:lnTo>
                      <a:pt x="190" y="12"/>
                    </a:lnTo>
                    <a:lnTo>
                      <a:pt x="198" y="12"/>
                    </a:lnTo>
                    <a:lnTo>
                      <a:pt x="205" y="12"/>
                    </a:lnTo>
                    <a:lnTo>
                      <a:pt x="211" y="13"/>
                    </a:lnTo>
                    <a:lnTo>
                      <a:pt x="217" y="14"/>
                    </a:lnTo>
                    <a:lnTo>
                      <a:pt x="224" y="17"/>
                    </a:lnTo>
                    <a:lnTo>
                      <a:pt x="231" y="20"/>
                    </a:lnTo>
                    <a:lnTo>
                      <a:pt x="238" y="24"/>
                    </a:lnTo>
                    <a:lnTo>
                      <a:pt x="245" y="26"/>
                    </a:lnTo>
                    <a:lnTo>
                      <a:pt x="251" y="30"/>
                    </a:lnTo>
                    <a:lnTo>
                      <a:pt x="256" y="33"/>
                    </a:lnTo>
                    <a:lnTo>
                      <a:pt x="261" y="37"/>
                    </a:lnTo>
                    <a:lnTo>
                      <a:pt x="267" y="43"/>
                    </a:lnTo>
                    <a:lnTo>
                      <a:pt x="273" y="47"/>
                    </a:lnTo>
                    <a:lnTo>
                      <a:pt x="278" y="52"/>
                    </a:lnTo>
                    <a:lnTo>
                      <a:pt x="284" y="57"/>
                    </a:lnTo>
                    <a:lnTo>
                      <a:pt x="289" y="63"/>
                    </a:lnTo>
                    <a:lnTo>
                      <a:pt x="294" y="68"/>
                    </a:lnTo>
                    <a:lnTo>
                      <a:pt x="298" y="73"/>
                    </a:lnTo>
                    <a:lnTo>
                      <a:pt x="303" y="80"/>
                    </a:lnTo>
                    <a:lnTo>
                      <a:pt x="308" y="87"/>
                    </a:lnTo>
                    <a:lnTo>
                      <a:pt x="312" y="92"/>
                    </a:lnTo>
                    <a:lnTo>
                      <a:pt x="315" y="99"/>
                    </a:lnTo>
                    <a:lnTo>
                      <a:pt x="320" y="106"/>
                    </a:lnTo>
                    <a:lnTo>
                      <a:pt x="324" y="112"/>
                    </a:lnTo>
                    <a:lnTo>
                      <a:pt x="327" y="119"/>
                    </a:lnTo>
                    <a:lnTo>
                      <a:pt x="331" y="126"/>
                    </a:lnTo>
                    <a:lnTo>
                      <a:pt x="335" y="134"/>
                    </a:lnTo>
                    <a:lnTo>
                      <a:pt x="338" y="141"/>
                    </a:lnTo>
                    <a:lnTo>
                      <a:pt x="341" y="149"/>
                    </a:lnTo>
                    <a:lnTo>
                      <a:pt x="345" y="157"/>
                    </a:lnTo>
                    <a:lnTo>
                      <a:pt x="348" y="165"/>
                    </a:lnTo>
                    <a:lnTo>
                      <a:pt x="351" y="176"/>
                    </a:lnTo>
                    <a:lnTo>
                      <a:pt x="350" y="164"/>
                    </a:lnTo>
                    <a:lnTo>
                      <a:pt x="350" y="157"/>
                    </a:lnTo>
                    <a:lnTo>
                      <a:pt x="350" y="149"/>
                    </a:lnTo>
                    <a:lnTo>
                      <a:pt x="351" y="142"/>
                    </a:lnTo>
                    <a:lnTo>
                      <a:pt x="354" y="135"/>
                    </a:lnTo>
                    <a:lnTo>
                      <a:pt x="356" y="130"/>
                    </a:lnTo>
                    <a:lnTo>
                      <a:pt x="360" y="125"/>
                    </a:lnTo>
                    <a:lnTo>
                      <a:pt x="364" y="119"/>
                    </a:lnTo>
                    <a:lnTo>
                      <a:pt x="369" y="114"/>
                    </a:lnTo>
                    <a:lnTo>
                      <a:pt x="374" y="111"/>
                    </a:lnTo>
                    <a:lnTo>
                      <a:pt x="378" y="108"/>
                    </a:lnTo>
                    <a:lnTo>
                      <a:pt x="383" y="106"/>
                    </a:lnTo>
                    <a:lnTo>
                      <a:pt x="388" y="104"/>
                    </a:lnTo>
                    <a:lnTo>
                      <a:pt x="393" y="103"/>
                    </a:lnTo>
                    <a:lnTo>
                      <a:pt x="398" y="103"/>
                    </a:lnTo>
                    <a:lnTo>
                      <a:pt x="402" y="104"/>
                    </a:lnTo>
                    <a:lnTo>
                      <a:pt x="407" y="106"/>
                    </a:lnTo>
                    <a:lnTo>
                      <a:pt x="412" y="108"/>
                    </a:lnTo>
                    <a:lnTo>
                      <a:pt x="417" y="111"/>
                    </a:lnTo>
                    <a:lnTo>
                      <a:pt x="422" y="114"/>
                    </a:lnTo>
                    <a:lnTo>
                      <a:pt x="426" y="119"/>
                    </a:lnTo>
                    <a:lnTo>
                      <a:pt x="430" y="125"/>
                    </a:lnTo>
                    <a:lnTo>
                      <a:pt x="434" y="130"/>
                    </a:lnTo>
                    <a:lnTo>
                      <a:pt x="438" y="137"/>
                    </a:lnTo>
                    <a:lnTo>
                      <a:pt x="435" y="129"/>
                    </a:lnTo>
                    <a:lnTo>
                      <a:pt x="432" y="123"/>
                    </a:lnTo>
                    <a:lnTo>
                      <a:pt x="430" y="116"/>
                    </a:lnTo>
                    <a:lnTo>
                      <a:pt x="427" y="110"/>
                    </a:lnTo>
                    <a:lnTo>
                      <a:pt x="423" y="103"/>
                    </a:lnTo>
                    <a:lnTo>
                      <a:pt x="420" y="95"/>
                    </a:lnTo>
                    <a:lnTo>
                      <a:pt x="415" y="88"/>
                    </a:lnTo>
                    <a:lnTo>
                      <a:pt x="411" y="83"/>
                    </a:lnTo>
                    <a:lnTo>
                      <a:pt x="407" y="76"/>
                    </a:lnTo>
                    <a:lnTo>
                      <a:pt x="402" y="69"/>
                    </a:lnTo>
                    <a:lnTo>
                      <a:pt x="396" y="64"/>
                    </a:lnTo>
                    <a:lnTo>
                      <a:pt x="392" y="59"/>
                    </a:lnTo>
                    <a:lnTo>
                      <a:pt x="387" y="53"/>
                    </a:lnTo>
                    <a:lnTo>
                      <a:pt x="381" y="48"/>
                    </a:lnTo>
                    <a:lnTo>
                      <a:pt x="375" y="43"/>
                    </a:lnTo>
                    <a:lnTo>
                      <a:pt x="369" y="38"/>
                    </a:lnTo>
                    <a:lnTo>
                      <a:pt x="362" y="33"/>
                    </a:lnTo>
                    <a:lnTo>
                      <a:pt x="356" y="29"/>
                    </a:lnTo>
                    <a:lnTo>
                      <a:pt x="350" y="26"/>
                    </a:lnTo>
                    <a:lnTo>
                      <a:pt x="343" y="22"/>
                    </a:lnTo>
                    <a:lnTo>
                      <a:pt x="337" y="20"/>
                    </a:lnTo>
                    <a:lnTo>
                      <a:pt x="330" y="16"/>
                    </a:lnTo>
                    <a:lnTo>
                      <a:pt x="324" y="13"/>
                    </a:lnTo>
                    <a:lnTo>
                      <a:pt x="317" y="10"/>
                    </a:lnTo>
                    <a:lnTo>
                      <a:pt x="310" y="9"/>
                    </a:lnTo>
                    <a:lnTo>
                      <a:pt x="304" y="6"/>
                    </a:lnTo>
                    <a:lnTo>
                      <a:pt x="297" y="5"/>
                    </a:lnTo>
                    <a:lnTo>
                      <a:pt x="291" y="4"/>
                    </a:lnTo>
                    <a:lnTo>
                      <a:pt x="285" y="2"/>
                    </a:lnTo>
                    <a:lnTo>
                      <a:pt x="279" y="1"/>
                    </a:lnTo>
                    <a:lnTo>
                      <a:pt x="270" y="0"/>
                    </a:lnTo>
                    <a:lnTo>
                      <a:pt x="263" y="0"/>
                    </a:lnTo>
                    <a:lnTo>
                      <a:pt x="256" y="0"/>
                    </a:lnTo>
                    <a:lnTo>
                      <a:pt x="249" y="0"/>
                    </a:lnTo>
                    <a:lnTo>
                      <a:pt x="240" y="0"/>
                    </a:lnTo>
                    <a:lnTo>
                      <a:pt x="232" y="0"/>
                    </a:lnTo>
                    <a:lnTo>
                      <a:pt x="225" y="0"/>
                    </a:lnTo>
                    <a:lnTo>
                      <a:pt x="217" y="1"/>
                    </a:lnTo>
                    <a:lnTo>
                      <a:pt x="209" y="2"/>
                    </a:lnTo>
                    <a:lnTo>
                      <a:pt x="203" y="4"/>
                    </a:lnTo>
                    <a:lnTo>
                      <a:pt x="196" y="5"/>
                    </a:lnTo>
                    <a:lnTo>
                      <a:pt x="189" y="8"/>
                    </a:lnTo>
                    <a:lnTo>
                      <a:pt x="180" y="9"/>
                    </a:lnTo>
                    <a:lnTo>
                      <a:pt x="172" y="12"/>
                    </a:lnTo>
                  </a:path>
                </a:pathLst>
              </a:custGeom>
              <a:solidFill>
                <a:srgbClr val="FF0000">
                  <a:alpha val="100000"/>
                </a:srgbClr>
              </a:solidFill>
              <a:ln w="9525">
                <a:noFill/>
              </a:ln>
            </p:spPr>
            <p:txBody>
              <a:bodyPr/>
              <a:lstStyle/>
              <a:p>
                <a:endParaRPr lang="zh-CN" altLang="en-US"/>
              </a:p>
            </p:txBody>
          </p:sp>
        </p:grpSp>
      </p:grpSp>
      <p:sp>
        <p:nvSpPr>
          <p:cNvPr id="1036" name="Text Box 40"/>
          <p:cNvSpPr txBox="1"/>
          <p:nvPr/>
        </p:nvSpPr>
        <p:spPr>
          <a:xfrm>
            <a:off x="6762750" y="6613525"/>
            <a:ext cx="2381250" cy="244475"/>
          </a:xfrm>
          <a:prstGeom prst="rect">
            <a:avLst/>
          </a:prstGeom>
          <a:noFill/>
          <a:ln w="9525">
            <a:noFill/>
          </a:ln>
        </p:spPr>
        <p:txBody>
          <a:bodyPr wrap="none">
            <a:spAutoFit/>
          </a:bodyPr>
          <a:lstStyle/>
          <a:p>
            <a:pPr lvl="0" algn="ctr">
              <a:spcBef>
                <a:spcPct val="50000"/>
              </a:spcBef>
              <a:buNone/>
            </a:pPr>
            <a:r>
              <a:rPr lang="zh-CN" altLang="en-US" sz="1000" b="1" dirty="0">
                <a:solidFill>
                  <a:schemeClr val="tx2"/>
                </a:solidFill>
                <a:latin typeface="Helvetica" pitchFamily="1" charset="0"/>
                <a:ea typeface="宋体" panose="02010600030101010101" pitchFamily="2" charset="-122"/>
                <a:sym typeface="+mn-ea"/>
              </a:rPr>
              <a:t>©</a:t>
            </a:r>
            <a:r>
              <a:rPr lang="en-US" altLang="zh-CN" sz="1000" b="1" dirty="0">
                <a:solidFill>
                  <a:schemeClr val="tx2"/>
                </a:solidFill>
                <a:latin typeface="Helvetica" pitchFamily="1" charset="0"/>
                <a:ea typeface="宋体" panose="02010600030101010101" pitchFamily="2" charset="-122"/>
                <a:sym typeface="+mn-ea"/>
              </a:rPr>
              <a:t>Silberschatz, Korth and Sudarshan</a:t>
            </a:r>
          </a:p>
        </p:txBody>
      </p:sp>
      <p:sp>
        <p:nvSpPr>
          <p:cNvPr id="2" name="Text Box 41"/>
          <p:cNvSpPr txBox="1">
            <a:spLocks noChangeArrowheads="1"/>
          </p:cNvSpPr>
          <p:nvPr/>
        </p:nvSpPr>
        <p:spPr bwMode="auto">
          <a:xfrm>
            <a:off x="4446588" y="6613525"/>
            <a:ext cx="514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Helvetica" pitchFamily="1" charset="0"/>
              </a:defRPr>
            </a:lvl1pPr>
            <a:lvl2pPr eaLnBrk="0" hangingPunct="0">
              <a:defRPr>
                <a:solidFill>
                  <a:schemeClr val="tx1"/>
                </a:solidFill>
                <a:latin typeface="Helvetica" pitchFamily="1" charset="0"/>
              </a:defRPr>
            </a:lvl2pPr>
            <a:lvl3pPr eaLnBrk="0" hangingPunct="0">
              <a:defRPr>
                <a:solidFill>
                  <a:schemeClr val="tx1"/>
                </a:solidFill>
                <a:latin typeface="Helvetica" pitchFamily="1" charset="0"/>
              </a:defRPr>
            </a:lvl3pPr>
            <a:lvl4pPr eaLnBrk="0" hangingPunct="0">
              <a:defRPr>
                <a:solidFill>
                  <a:schemeClr val="tx1"/>
                </a:solidFill>
                <a:latin typeface="Helvetica" pitchFamily="1" charset="0"/>
              </a:defRPr>
            </a:lvl4pPr>
            <a:lvl5pPr eaLnBrk="0" hangingPunct="0">
              <a:defRPr>
                <a:solidFill>
                  <a:schemeClr val="tx1"/>
                </a:solidFill>
                <a:latin typeface="Helvetica" pitchFamily="1" charset="0"/>
              </a:defRPr>
            </a:lvl5pPr>
            <a:lvl6pPr eaLnBrk="0" fontAlgn="base" hangingPunct="0">
              <a:spcBef>
                <a:spcPct val="0"/>
              </a:spcBef>
              <a:spcAft>
                <a:spcPct val="0"/>
              </a:spcAft>
              <a:buFont typeface="Arial" panose="020B0604020202020204" pitchFamily="34" charset="0"/>
              <a:defRPr>
                <a:solidFill>
                  <a:schemeClr val="tx1"/>
                </a:solidFill>
                <a:latin typeface="Helvetica" pitchFamily="1" charset="0"/>
              </a:defRPr>
            </a:lvl6pPr>
            <a:lvl7pPr eaLnBrk="0" fontAlgn="base" hangingPunct="0">
              <a:spcBef>
                <a:spcPct val="0"/>
              </a:spcBef>
              <a:spcAft>
                <a:spcPct val="0"/>
              </a:spcAft>
              <a:buFont typeface="Arial" panose="020B0604020202020204" pitchFamily="34" charset="0"/>
              <a:defRPr>
                <a:solidFill>
                  <a:schemeClr val="tx1"/>
                </a:solidFill>
                <a:latin typeface="Helvetica" pitchFamily="1" charset="0"/>
              </a:defRPr>
            </a:lvl7pPr>
            <a:lvl8pPr eaLnBrk="0" fontAlgn="base" hangingPunct="0">
              <a:spcBef>
                <a:spcPct val="0"/>
              </a:spcBef>
              <a:spcAft>
                <a:spcPct val="0"/>
              </a:spcAft>
              <a:buFont typeface="Arial" panose="020B0604020202020204" pitchFamily="34" charset="0"/>
              <a:defRPr>
                <a:solidFill>
                  <a:schemeClr val="tx1"/>
                </a:solidFill>
                <a:latin typeface="Helvetica" pitchFamily="1" charset="0"/>
              </a:defRPr>
            </a:lvl8pPr>
            <a:lvl9pPr eaLnBrk="0" fontAlgn="base" hangingPunct="0">
              <a:spcBef>
                <a:spcPct val="0"/>
              </a:spcBef>
              <a:spcAft>
                <a:spcPct val="0"/>
              </a:spcAft>
              <a:buFont typeface="Arial" panose="020B0604020202020204" pitchFamily="34" charset="0"/>
              <a:defRPr>
                <a:solidFill>
                  <a:schemeClr val="tx1"/>
                </a:solidFill>
                <a:latin typeface="Helvetica" pitchFamily="1" charset="0"/>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r>
              <a:rPr kumimoji="0" lang="zh-CN" altLang="en-US" sz="1000" b="1" i="0" u="none" strike="noStrike" kern="1200" cap="none" spc="0" normalizeH="0" baseline="0" noProof="0">
                <a:ln>
                  <a:noFill/>
                </a:ln>
                <a:solidFill>
                  <a:schemeClr val="tx2"/>
                </a:solidFill>
                <a:effectLst/>
                <a:uLnTx/>
                <a:uFillTx/>
                <a:latin typeface="Helvetica" pitchFamily="1" charset="0"/>
                <a:ea typeface="宋体" panose="02010600030101010101" pitchFamily="2" charset="-122"/>
                <a:cs typeface="+mn-cs"/>
              </a:rPr>
              <a:t>12.</a:t>
            </a:r>
            <a:fld id="{48452500-6153-4AC4-9C21-8716691010E9}" type="slidenum">
              <a:rPr kumimoji="0" lang="zh-CN" altLang="en-US" sz="1000" b="1" i="0" u="none" strike="noStrike" kern="1200" cap="none" spc="0" normalizeH="0" baseline="0" noProof="0" smtClean="0">
                <a:ln>
                  <a:noFill/>
                </a:ln>
                <a:solidFill>
                  <a:schemeClr val="tx2"/>
                </a:solidFill>
                <a:effectLst/>
                <a:uLnTx/>
                <a:uFillTx/>
                <a:latin typeface="Helvetica" pitchFamily="1" charset="0"/>
                <a:ea typeface="宋体" panose="02010600030101010101" pitchFamily="2" charset="-122"/>
                <a:cs typeface="+mn-cs"/>
              </a:rPr>
              <a:t>‹#›</a:t>
            </a:fld>
            <a:endParaRPr kumimoji="0" lang="zh-CN" altLang="en-US" sz="1000" b="1" i="0" u="none" strike="noStrike" kern="1200" cap="none" spc="0" normalizeH="0" baseline="0" noProof="0">
              <a:ln>
                <a:noFill/>
              </a:ln>
              <a:solidFill>
                <a:schemeClr val="tx2"/>
              </a:solidFill>
              <a:effectLst/>
              <a:uLnTx/>
              <a:uFillTx/>
              <a:latin typeface="Helvetica" pitchFamily="1" charset="0"/>
              <a:ea typeface="宋体" panose="02010600030101010101" pitchFamily="2" charset="-122"/>
              <a:cs typeface="+mn-cs"/>
            </a:endParaRPr>
          </a:p>
        </p:txBody>
      </p:sp>
      <p:sp>
        <p:nvSpPr>
          <p:cNvPr id="1038" name="Rectangle 42"/>
          <p:cNvSpPr>
            <a:spLocks noGrp="1"/>
          </p:cNvSpPr>
          <p:nvPr>
            <p:ph type="title"/>
          </p:nvPr>
        </p:nvSpPr>
        <p:spPr>
          <a:xfrm>
            <a:off x="628650" y="9525"/>
            <a:ext cx="8077200" cy="609600"/>
          </a:xfrm>
          <a:prstGeom prst="rect">
            <a:avLst/>
          </a:prstGeom>
          <a:noFill/>
          <a:ln w="9525">
            <a:noFill/>
          </a:ln>
        </p:spPr>
        <p:txBody>
          <a:bodyPr anchor="b" anchorCtr="0"/>
          <a:lstStyle/>
          <a:p>
            <a:pPr lvl="0"/>
            <a:r>
              <a:rPr lang="en-US" altLang="zh-CN" dirty="0"/>
              <a:t>Click to edit Master title style</a:t>
            </a:r>
          </a:p>
        </p:txBody>
      </p:sp>
      <p:sp>
        <p:nvSpPr>
          <p:cNvPr id="1039" name="Text Box 43"/>
          <p:cNvSpPr txBox="1"/>
          <p:nvPr/>
        </p:nvSpPr>
        <p:spPr>
          <a:xfrm>
            <a:off x="0" y="6613525"/>
            <a:ext cx="1843088" cy="244475"/>
          </a:xfrm>
          <a:prstGeom prst="rect">
            <a:avLst/>
          </a:prstGeom>
          <a:noFill/>
          <a:ln w="9525">
            <a:noFill/>
          </a:ln>
        </p:spPr>
        <p:txBody>
          <a:bodyPr wrap="none">
            <a:spAutoFit/>
          </a:bodyPr>
          <a:lstStyle/>
          <a:p>
            <a:pPr lvl="0">
              <a:spcBef>
                <a:spcPct val="50000"/>
              </a:spcBef>
              <a:buNone/>
            </a:pPr>
            <a:r>
              <a:rPr lang="en-US" altLang="zh-CN" sz="1000" b="1" dirty="0">
                <a:solidFill>
                  <a:schemeClr val="tx2"/>
                </a:solidFill>
                <a:latin typeface="Helvetica" pitchFamily="1" charset="0"/>
                <a:ea typeface="宋体" panose="02010600030101010101" pitchFamily="2" charset="-122"/>
                <a:sym typeface="+mn-ea"/>
              </a:rPr>
              <a:t>Database System Concepts</a:t>
            </a: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2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tmplLst>
          <p:tmpl lvl="1">
            <p:tnLst>
              <p:par>
                <p:cTn presetID="1" presetClass="entr" presetSubtype="0" fill="hold" nodeType="click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1027"/>
                        </p:tgtEl>
                        <p:attrNameLst>
                          <p:attrName>style.visibility</p:attrName>
                        </p:attrNameLst>
                      </p:cBhvr>
                      <p:to>
                        <p:strVal val="visible"/>
                      </p:to>
                    </p:set>
                  </p:childTnLst>
                </p:cTn>
              </p:par>
            </p:tnLst>
          </p:tmpl>
        </p:tmplLst>
      </p:bldP>
    </p:bldLst>
  </p:timing>
  <p:hf sldNum="0"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Helvetica" pitchFamily="1" charset="0"/>
        </a:defRPr>
      </a:lvl2pPr>
      <a:lvl3pPr algn="ctr" rtl="0" eaLnBrk="0" fontAlgn="base" hangingPunct="0">
        <a:spcBef>
          <a:spcPct val="0"/>
        </a:spcBef>
        <a:spcAft>
          <a:spcPct val="0"/>
        </a:spcAft>
        <a:defRPr sz="3200" b="1">
          <a:solidFill>
            <a:schemeClr val="tx2"/>
          </a:solidFill>
          <a:latin typeface="Helvetica" pitchFamily="1" charset="0"/>
        </a:defRPr>
      </a:lvl3pPr>
      <a:lvl4pPr algn="ctr" rtl="0" eaLnBrk="0" fontAlgn="base" hangingPunct="0">
        <a:spcBef>
          <a:spcPct val="0"/>
        </a:spcBef>
        <a:spcAft>
          <a:spcPct val="0"/>
        </a:spcAft>
        <a:defRPr sz="3200" b="1">
          <a:solidFill>
            <a:schemeClr val="tx2"/>
          </a:solidFill>
          <a:latin typeface="Helvetica" pitchFamily="1" charset="0"/>
        </a:defRPr>
      </a:lvl4pPr>
      <a:lvl5pPr algn="ctr" rtl="0" eaLnBrk="0" fontAlgn="base" hangingPunct="0">
        <a:spcBef>
          <a:spcPct val="0"/>
        </a:spcBef>
        <a:spcAft>
          <a:spcPct val="0"/>
        </a:spcAft>
        <a:defRPr sz="3200" b="1">
          <a:solidFill>
            <a:schemeClr val="tx2"/>
          </a:solidFill>
          <a:latin typeface="Helvetica" pitchFamily="1" charset="0"/>
        </a:defRPr>
      </a:lvl5pPr>
      <a:lvl6pPr marL="457200" algn="ctr" rtl="0" eaLnBrk="0" fontAlgn="base" hangingPunct="0">
        <a:spcBef>
          <a:spcPct val="0"/>
        </a:spcBef>
        <a:spcAft>
          <a:spcPct val="0"/>
        </a:spcAft>
        <a:defRPr sz="3200" b="1">
          <a:solidFill>
            <a:schemeClr val="tx2"/>
          </a:solidFill>
          <a:latin typeface="Helvetica" pitchFamily="1" charset="0"/>
        </a:defRPr>
      </a:lvl6pPr>
      <a:lvl7pPr marL="914400" algn="ctr" rtl="0" eaLnBrk="0" fontAlgn="base" hangingPunct="0">
        <a:spcBef>
          <a:spcPct val="0"/>
        </a:spcBef>
        <a:spcAft>
          <a:spcPct val="0"/>
        </a:spcAft>
        <a:defRPr sz="3200" b="1">
          <a:solidFill>
            <a:schemeClr val="tx2"/>
          </a:solidFill>
          <a:latin typeface="Helvetica" pitchFamily="1" charset="0"/>
        </a:defRPr>
      </a:lvl7pPr>
      <a:lvl8pPr marL="1371600" algn="ctr" rtl="0" eaLnBrk="0" fontAlgn="base" hangingPunct="0">
        <a:spcBef>
          <a:spcPct val="0"/>
        </a:spcBef>
        <a:spcAft>
          <a:spcPct val="0"/>
        </a:spcAft>
        <a:defRPr sz="3200" b="1">
          <a:solidFill>
            <a:schemeClr val="tx2"/>
          </a:solidFill>
          <a:latin typeface="Helvetica" pitchFamily="1" charset="0"/>
        </a:defRPr>
      </a:lvl8pPr>
      <a:lvl9pPr marL="1828800" algn="ctr" rtl="0" eaLnBrk="0" fontAlgn="base" hangingPunct="0">
        <a:spcBef>
          <a:spcPct val="0"/>
        </a:spcBef>
        <a:spcAft>
          <a:spcPct val="0"/>
        </a:spcAft>
        <a:defRPr sz="3200" b="1">
          <a:solidFill>
            <a:schemeClr val="tx2"/>
          </a:solidFill>
          <a:latin typeface="Helvetica" pitchFamily="1"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sz="2000">
          <a:solidFill>
            <a:schemeClr val="tx1"/>
          </a:solidFill>
          <a:latin typeface="+mn-lt"/>
          <a:ea typeface="+mn-ea"/>
          <a:cs typeface="+mn-cs"/>
        </a:defRPr>
      </a:lvl1pPr>
      <a:lvl2pPr marL="742950" indent="-285750" algn="l" rtl="0" eaLnBrk="0" fontAlgn="base" hangingPunct="0">
        <a:spcBef>
          <a:spcPct val="35000"/>
        </a:spcBef>
        <a:spcAft>
          <a:spcPct val="0"/>
        </a:spcAft>
        <a:buClr>
          <a:schemeClr val="tx2"/>
        </a:buClr>
        <a:buSzPct val="90000"/>
        <a:buFont typeface="Monotype Sorts" pitchFamily="2" charset="2"/>
        <a:buChar char="Ø"/>
        <a:defRPr sz="2800">
          <a:solidFill>
            <a:schemeClr val="tx1"/>
          </a:solidFill>
          <a:latin typeface="+mn-lt"/>
        </a:defRPr>
      </a:lvl2pPr>
      <a:lvl3pPr marL="1085850" indent="-228600" algn="l" rtl="0" eaLnBrk="0" fontAlgn="base" hangingPunct="0">
        <a:spcBef>
          <a:spcPct val="35000"/>
        </a:spcBef>
        <a:spcAft>
          <a:spcPct val="0"/>
        </a:spcAft>
        <a:buClr>
          <a:schemeClr val="tx2"/>
        </a:buClr>
        <a:buSzPct val="90000"/>
        <a:buFont typeface="Monotype Sorts" pitchFamily="2" charset="2"/>
        <a:buChar char="ê"/>
        <a:defRPr sz="2400">
          <a:solidFill>
            <a:schemeClr val="tx1"/>
          </a:solidFill>
          <a:latin typeface="+mn-lt"/>
        </a:defRPr>
      </a:lvl3pPr>
      <a:lvl4pPr marL="1428750" indent="-228600" algn="l" rtl="0" eaLnBrk="0" fontAlgn="base" hangingPunct="0">
        <a:spcBef>
          <a:spcPct val="35000"/>
        </a:spcBef>
        <a:spcAft>
          <a:spcPct val="0"/>
        </a:spcAft>
        <a:buClr>
          <a:schemeClr val="tx2"/>
        </a:buClr>
        <a:buFont typeface="Monotype Sorts" pitchFamily="2" charset="2"/>
        <a:buChar char="–"/>
        <a:defRPr sz="2000">
          <a:solidFill>
            <a:schemeClr val="tx1"/>
          </a:solidFill>
          <a:latin typeface="+mn-lt"/>
        </a:defRPr>
      </a:lvl4pPr>
      <a:lvl5pPr marL="1771650" indent="-228600" algn="l" rtl="0" eaLnBrk="0" fontAlgn="base" hangingPunct="0">
        <a:spcBef>
          <a:spcPct val="35000"/>
        </a:spcBef>
        <a:spcAft>
          <a:spcPct val="0"/>
        </a:spcAft>
        <a:buClr>
          <a:schemeClr val="tx2"/>
        </a:buClr>
        <a:buFont typeface="Monotype Sorts" pitchFamily="2" charset="2"/>
        <a:buChar char="»"/>
        <a:defRPr sz="2000">
          <a:solidFill>
            <a:schemeClr val="tx1"/>
          </a:solidFill>
          <a:latin typeface="+mn-lt"/>
        </a:defRPr>
      </a:lvl5pPr>
      <a:lvl6pPr marL="2228850" indent="-228600" algn="l" rtl="0" eaLnBrk="0" fontAlgn="base" hangingPunct="0">
        <a:spcBef>
          <a:spcPct val="35000"/>
        </a:spcBef>
        <a:spcAft>
          <a:spcPct val="0"/>
        </a:spcAft>
        <a:buClr>
          <a:schemeClr val="tx2"/>
        </a:buClr>
        <a:buFont typeface="Monotype Sorts" pitchFamily="2" charset="2"/>
        <a:buChar char="»"/>
        <a:defRPr sz="2000">
          <a:solidFill>
            <a:schemeClr val="tx1"/>
          </a:solidFill>
          <a:latin typeface="+mn-lt"/>
        </a:defRPr>
      </a:lvl6pPr>
      <a:lvl7pPr marL="2686050" indent="-228600" algn="l" rtl="0" eaLnBrk="0" fontAlgn="base" hangingPunct="0">
        <a:spcBef>
          <a:spcPct val="35000"/>
        </a:spcBef>
        <a:spcAft>
          <a:spcPct val="0"/>
        </a:spcAft>
        <a:buClr>
          <a:schemeClr val="tx2"/>
        </a:buClr>
        <a:buFont typeface="Monotype Sorts" pitchFamily="2" charset="2"/>
        <a:buChar char="»"/>
        <a:defRPr sz="2000">
          <a:solidFill>
            <a:schemeClr val="tx1"/>
          </a:solidFill>
          <a:latin typeface="+mn-lt"/>
        </a:defRPr>
      </a:lvl7pPr>
      <a:lvl8pPr marL="3143250" indent="-228600" algn="l" rtl="0" eaLnBrk="0" fontAlgn="base" hangingPunct="0">
        <a:spcBef>
          <a:spcPct val="35000"/>
        </a:spcBef>
        <a:spcAft>
          <a:spcPct val="0"/>
        </a:spcAft>
        <a:buClr>
          <a:schemeClr val="tx2"/>
        </a:buClr>
        <a:buFont typeface="Monotype Sorts" pitchFamily="2" charset="2"/>
        <a:buChar char="»"/>
        <a:defRPr sz="2000">
          <a:solidFill>
            <a:schemeClr val="tx1"/>
          </a:solidFill>
          <a:latin typeface="+mn-lt"/>
        </a:defRPr>
      </a:lvl8pPr>
      <a:lvl9pPr marL="3600450" indent="-228600" algn="l" rtl="0" eaLnBrk="0" fontAlgn="base" hangingPunct="0">
        <a:spcBef>
          <a:spcPct val="35000"/>
        </a:spcBef>
        <a:spcAft>
          <a:spcPct val="0"/>
        </a:spcAft>
        <a:buClr>
          <a:schemeClr val="tx2"/>
        </a:buClr>
        <a:buFont typeface="Monotype Sorts" pitchFamily="2"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9758" y="276820"/>
            <a:ext cx="5196185" cy="553998"/>
          </a:xfrm>
          <a:prstGeom prst="rect">
            <a:avLst/>
          </a:prstGeom>
        </p:spPr>
        <p:txBody>
          <a:bodyPr wrap="square" lIns="0" tIns="0" rIns="0" bIns="0">
            <a:spAutoFit/>
          </a:bodyPr>
          <a:lstStyle>
            <a:lvl1pPr>
              <a:defRPr sz="3600" b="1" i="0">
                <a:solidFill>
                  <a:srgbClr val="031793"/>
                </a:solidFill>
                <a:latin typeface="Palatino Linotype"/>
                <a:cs typeface="Palatino Linotype"/>
              </a:defRPr>
            </a:lvl1pPr>
          </a:lstStyle>
          <a:p>
            <a:endParaRPr/>
          </a:p>
        </p:txBody>
      </p:sp>
      <p:sp>
        <p:nvSpPr>
          <p:cNvPr id="3" name="Holder 3"/>
          <p:cNvSpPr>
            <a:spLocks noGrp="1"/>
          </p:cNvSpPr>
          <p:nvPr>
            <p:ph type="body" idx="1"/>
          </p:nvPr>
        </p:nvSpPr>
        <p:spPr>
          <a:xfrm>
            <a:off x="1660922" y="3139678"/>
            <a:ext cx="6169968" cy="430887"/>
          </a:xfrm>
          <a:prstGeom prst="rect">
            <a:avLst/>
          </a:prstGeom>
        </p:spPr>
        <p:txBody>
          <a:bodyPr wrap="square" lIns="0" tIns="0" rIns="0" bIns="0">
            <a:spAutoFit/>
          </a:bodyPr>
          <a:lstStyle>
            <a:lvl1pPr>
              <a:defRPr sz="2800" b="0"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a:xfrm>
            <a:off x="6583680" y="6377940"/>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8825439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Lst>
  <p:txStyles>
    <p:titleStyle>
      <a:lvl1pPr>
        <a:defRPr>
          <a:latin typeface="+mj-lt"/>
          <a:ea typeface="+mj-ea"/>
          <a:cs typeface="+mj-cs"/>
        </a:defRPr>
      </a:lvl1pPr>
    </p:titleStyle>
    <p:bodyStyle>
      <a:lvl1pPr marL="0">
        <a:defRPr>
          <a:latin typeface="+mn-lt"/>
          <a:ea typeface="+mn-ea"/>
          <a:cs typeface="+mn-cs"/>
        </a:defRPr>
      </a:lvl1pPr>
      <a:lvl2pPr marL="321457">
        <a:defRPr>
          <a:latin typeface="+mn-lt"/>
          <a:ea typeface="+mn-ea"/>
          <a:cs typeface="+mn-cs"/>
        </a:defRPr>
      </a:lvl2pPr>
      <a:lvl3pPr marL="642915">
        <a:defRPr>
          <a:latin typeface="+mn-lt"/>
          <a:ea typeface="+mn-ea"/>
          <a:cs typeface="+mn-cs"/>
        </a:defRPr>
      </a:lvl3pPr>
      <a:lvl4pPr marL="964372">
        <a:defRPr>
          <a:latin typeface="+mn-lt"/>
          <a:ea typeface="+mn-ea"/>
          <a:cs typeface="+mn-cs"/>
        </a:defRPr>
      </a:lvl4pPr>
      <a:lvl5pPr marL="1285829">
        <a:defRPr>
          <a:latin typeface="+mn-lt"/>
          <a:ea typeface="+mn-ea"/>
          <a:cs typeface="+mn-cs"/>
        </a:defRPr>
      </a:lvl5pPr>
      <a:lvl6pPr marL="1607287">
        <a:defRPr>
          <a:latin typeface="+mn-lt"/>
          <a:ea typeface="+mn-ea"/>
          <a:cs typeface="+mn-cs"/>
        </a:defRPr>
      </a:lvl6pPr>
      <a:lvl7pPr marL="1928744">
        <a:defRPr>
          <a:latin typeface="+mn-lt"/>
          <a:ea typeface="+mn-ea"/>
          <a:cs typeface="+mn-cs"/>
        </a:defRPr>
      </a:lvl7pPr>
      <a:lvl8pPr marL="2250201">
        <a:defRPr>
          <a:latin typeface="+mn-lt"/>
          <a:ea typeface="+mn-ea"/>
          <a:cs typeface="+mn-cs"/>
        </a:defRPr>
      </a:lvl8pPr>
      <a:lvl9pPr marL="2571659">
        <a:defRPr>
          <a:latin typeface="+mn-lt"/>
          <a:ea typeface="+mn-ea"/>
          <a:cs typeface="+mn-cs"/>
        </a:defRPr>
      </a:lvl9pPr>
    </p:bodyStyle>
    <p:otherStyle>
      <a:lvl1pPr marL="0">
        <a:defRPr>
          <a:latin typeface="+mn-lt"/>
          <a:ea typeface="+mn-ea"/>
          <a:cs typeface="+mn-cs"/>
        </a:defRPr>
      </a:lvl1pPr>
      <a:lvl2pPr marL="321457">
        <a:defRPr>
          <a:latin typeface="+mn-lt"/>
          <a:ea typeface="+mn-ea"/>
          <a:cs typeface="+mn-cs"/>
        </a:defRPr>
      </a:lvl2pPr>
      <a:lvl3pPr marL="642915">
        <a:defRPr>
          <a:latin typeface="+mn-lt"/>
          <a:ea typeface="+mn-ea"/>
          <a:cs typeface="+mn-cs"/>
        </a:defRPr>
      </a:lvl3pPr>
      <a:lvl4pPr marL="964372">
        <a:defRPr>
          <a:latin typeface="+mn-lt"/>
          <a:ea typeface="+mn-ea"/>
          <a:cs typeface="+mn-cs"/>
        </a:defRPr>
      </a:lvl4pPr>
      <a:lvl5pPr marL="1285829">
        <a:defRPr>
          <a:latin typeface="+mn-lt"/>
          <a:ea typeface="+mn-ea"/>
          <a:cs typeface="+mn-cs"/>
        </a:defRPr>
      </a:lvl5pPr>
      <a:lvl6pPr marL="1607287">
        <a:defRPr>
          <a:latin typeface="+mn-lt"/>
          <a:ea typeface="+mn-ea"/>
          <a:cs typeface="+mn-cs"/>
        </a:defRPr>
      </a:lvl6pPr>
      <a:lvl7pPr marL="1928744">
        <a:defRPr>
          <a:latin typeface="+mn-lt"/>
          <a:ea typeface="+mn-ea"/>
          <a:cs typeface="+mn-cs"/>
        </a:defRPr>
      </a:lvl7pPr>
      <a:lvl8pPr marL="2250201">
        <a:defRPr>
          <a:latin typeface="+mn-lt"/>
          <a:ea typeface="+mn-ea"/>
          <a:cs typeface="+mn-cs"/>
        </a:defRPr>
      </a:lvl8pPr>
      <a:lvl9pPr marL="2571659">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728663" y="53752"/>
            <a:ext cx="7568173"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4104" name="Rectangle 8"/>
          <p:cNvSpPr>
            <a:spLocks noGrp="1" noChangeArrowheads="1"/>
          </p:cNvSpPr>
          <p:nvPr>
            <p:ph type="body" idx="1"/>
          </p:nvPr>
        </p:nvSpPr>
        <p:spPr bwMode="auto">
          <a:xfrm>
            <a:off x="228600" y="1201271"/>
            <a:ext cx="8592671" cy="55400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4" name="Rectangle 11"/>
          <p:cNvSpPr>
            <a:spLocks noGrp="1" noChangeArrowheads="1"/>
          </p:cNvSpPr>
          <p:nvPr>
            <p:ph type="sldNum" sz="quarter" idx="4"/>
          </p:nvPr>
        </p:nvSpPr>
        <p:spPr>
          <a:xfrm>
            <a:off x="8678316" y="6517146"/>
            <a:ext cx="574204" cy="476250"/>
          </a:xfrm>
          <a:prstGeom prst="rect">
            <a:avLst/>
          </a:prstGeom>
          <a:ln/>
        </p:spPr>
        <p:txBody>
          <a:bodyPr/>
          <a:lstStyle>
            <a:lvl1pPr>
              <a:defRPr/>
            </a:lvl1pPr>
          </a:lstStyle>
          <a:p>
            <a:fld id="{87BBDC00-B9E2-4EFD-9306-2934E87247C6}" type="slidenum">
              <a:rPr lang="zh-CN" altLang="en-US" smtClean="0"/>
              <a:pPr/>
              <a:t>‹#›</a:t>
            </a:fld>
            <a:endParaRPr lang="zh-CN" altLang="en-US"/>
          </a:p>
        </p:txBody>
      </p:sp>
      <p:pic>
        <p:nvPicPr>
          <p:cNvPr id="8" name="Picture 9">
            <a:extLst>
              <a:ext uri="{FF2B5EF4-FFF2-40B4-BE49-F238E27FC236}">
                <a16:creationId xmlns:a16="http://schemas.microsoft.com/office/drawing/2014/main" id="{26505B92-0898-7C44-8941-673C63F9DA7F}"/>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03432" y="0"/>
            <a:ext cx="740569"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D11A02E1-9214-6BD4-D7DE-9382801949DE}"/>
              </a:ext>
            </a:extLst>
          </p:cNvPr>
          <p:cNvPicPr>
            <a:picLocks noChangeAspect="1"/>
          </p:cNvPicPr>
          <p:nvPr userDrawn="1"/>
        </p:nvPicPr>
        <p:blipFill>
          <a:blip r:embed="rId5"/>
          <a:stretch>
            <a:fillRect/>
          </a:stretch>
        </p:blipFill>
        <p:spPr>
          <a:xfrm>
            <a:off x="0" y="0"/>
            <a:ext cx="740569" cy="992404"/>
          </a:xfrm>
          <a:prstGeom prst="rect">
            <a:avLst/>
          </a:prstGeom>
        </p:spPr>
      </p:pic>
    </p:spTree>
    <p:extLst>
      <p:ext uri="{BB962C8B-B14F-4D97-AF65-F5344CB8AC3E}">
        <p14:creationId xmlns:p14="http://schemas.microsoft.com/office/powerpoint/2010/main" val="2409033711"/>
      </p:ext>
    </p:extLst>
  </p:cSld>
  <p:clrMap bg1="lt1" tx1="dk1" bg2="lt2" tx2="dk2" accent1="accent1" accent2="accent2" accent3="accent3" accent4="accent4" accent5="accent5" accent6="accent6" hlink="hlink" folHlink="folHlink"/>
  <p:sldLayoutIdLst>
    <p:sldLayoutId id="2147483724" r:id="rId1"/>
    <p:sldLayoutId id="2147483725" r:id="rId2"/>
  </p:sldLayoutIdLst>
  <p:hf hdr="0"/>
  <p:txStyles>
    <p:titleStyle>
      <a:lvl1pPr algn="ctr" rtl="0" eaLnBrk="1" fontAlgn="base" hangingPunct="1">
        <a:spcBef>
          <a:spcPct val="0"/>
        </a:spcBef>
        <a:spcAft>
          <a:spcPct val="0"/>
        </a:spcAft>
        <a:defRPr kumimoji="1" sz="3600" b="1" i="0">
          <a:solidFill>
            <a:schemeClr val="tx2"/>
          </a:solidFill>
          <a:effectLst/>
          <a:latin typeface="Arial"/>
          <a:ea typeface="黑体"/>
          <a:cs typeface="Arial"/>
        </a:defRPr>
      </a:lvl1pPr>
      <a:lvl2pPr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5pPr>
      <a:lvl6pPr marL="316531"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6pPr>
      <a:lvl7pPr marL="633062"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7pPr>
      <a:lvl8pPr marL="949593"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266124" algn="l" rtl="0" eaLnBrk="1" fontAlgn="base" hangingPunct="1">
        <a:spcBef>
          <a:spcPct val="0"/>
        </a:spcBef>
        <a:spcAft>
          <a:spcPct val="0"/>
        </a:spcAft>
        <a:defRPr kumimoji="1" sz="3047" b="1">
          <a:solidFill>
            <a:schemeClr val="tx2"/>
          </a:solidFill>
          <a:effectLst>
            <a:outerShdw blurRad="38100" dist="38100" dir="2700000" algn="tl">
              <a:srgbClr val="C0C0C0"/>
            </a:outerShdw>
          </a:effectLst>
          <a:latin typeface="华文楷体" pitchFamily="2" charset="-122"/>
          <a:ea typeface="华文楷体" pitchFamily="2" charset="-122"/>
        </a:defRPr>
      </a:lvl9pPr>
    </p:titleStyle>
    <p:bodyStyle>
      <a:lvl1pPr marL="237398" indent="-237398" algn="l" rtl="0" eaLnBrk="1" fontAlgn="base" hangingPunct="1">
        <a:spcBef>
          <a:spcPct val="20000"/>
        </a:spcBef>
        <a:spcAft>
          <a:spcPct val="0"/>
        </a:spcAft>
        <a:buFont typeface="Wingdings" charset="2"/>
        <a:buChar char="p"/>
        <a:defRPr kumimoji="1" sz="2400" b="0">
          <a:solidFill>
            <a:schemeClr val="tx1"/>
          </a:solidFill>
          <a:effectLst/>
          <a:latin typeface="Arial"/>
          <a:ea typeface="黑体"/>
          <a:cs typeface="Arial"/>
        </a:defRPr>
      </a:lvl1pPr>
      <a:lvl2pPr marL="514363" indent="-197832" algn="l" rtl="0" eaLnBrk="1" fontAlgn="base" hangingPunct="1">
        <a:spcBef>
          <a:spcPct val="20000"/>
        </a:spcBef>
        <a:spcAft>
          <a:spcPct val="0"/>
        </a:spcAft>
        <a:buChar char="–"/>
        <a:defRPr kumimoji="1" sz="2100" b="0">
          <a:solidFill>
            <a:schemeClr val="tx1"/>
          </a:solidFill>
          <a:effectLst/>
          <a:latin typeface="Arial"/>
          <a:ea typeface="黑体"/>
          <a:cs typeface="Arial"/>
        </a:defRPr>
      </a:lvl2pPr>
      <a:lvl3pPr marL="791327" indent="-158266" algn="l" rtl="0" eaLnBrk="1" fontAlgn="base" hangingPunct="1">
        <a:spcBef>
          <a:spcPct val="20000"/>
        </a:spcBef>
        <a:spcAft>
          <a:spcPct val="0"/>
        </a:spcAft>
        <a:buChar char="•"/>
        <a:defRPr kumimoji="1" sz="1800" b="0">
          <a:solidFill>
            <a:schemeClr val="tx1"/>
          </a:solidFill>
          <a:effectLst/>
          <a:latin typeface="Arial"/>
          <a:ea typeface="黑体"/>
          <a:cs typeface="Arial"/>
        </a:defRPr>
      </a:lvl3pPr>
      <a:lvl4pPr marL="1107859" indent="-158266"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4pPr>
      <a:lvl5pPr marL="1424390" indent="-158266"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5pPr>
      <a:lvl6pPr marL="1740920" indent="-158266"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6pPr>
      <a:lvl7pPr marL="2057452" indent="-158266"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7pPr>
      <a:lvl8pPr marL="2373983" indent="-158266"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8pPr>
      <a:lvl9pPr marL="2690513" indent="-158266" algn="l" rtl="0" eaLnBrk="1" fontAlgn="base" hangingPunct="1">
        <a:spcBef>
          <a:spcPct val="20000"/>
        </a:spcBef>
        <a:spcAft>
          <a:spcPct val="0"/>
        </a:spcAft>
        <a:buChar char="»"/>
        <a:defRPr kumimoji="1" sz="1385">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633062" rtl="0" eaLnBrk="1" latinLnBrk="0" hangingPunct="1">
        <a:defRPr sz="1247" kern="1200">
          <a:solidFill>
            <a:schemeClr val="tx1"/>
          </a:solidFill>
          <a:latin typeface="+mn-lt"/>
          <a:ea typeface="+mn-ea"/>
          <a:cs typeface="+mn-cs"/>
        </a:defRPr>
      </a:lvl1pPr>
      <a:lvl2pPr marL="316531" algn="l" defTabSz="633062" rtl="0" eaLnBrk="1" latinLnBrk="0" hangingPunct="1">
        <a:defRPr sz="1247" kern="1200">
          <a:solidFill>
            <a:schemeClr val="tx1"/>
          </a:solidFill>
          <a:latin typeface="+mn-lt"/>
          <a:ea typeface="+mn-ea"/>
          <a:cs typeface="+mn-cs"/>
        </a:defRPr>
      </a:lvl2pPr>
      <a:lvl3pPr marL="633062" algn="l" defTabSz="633062" rtl="0" eaLnBrk="1" latinLnBrk="0" hangingPunct="1">
        <a:defRPr sz="1247" kern="1200">
          <a:solidFill>
            <a:schemeClr val="tx1"/>
          </a:solidFill>
          <a:latin typeface="+mn-lt"/>
          <a:ea typeface="+mn-ea"/>
          <a:cs typeface="+mn-cs"/>
        </a:defRPr>
      </a:lvl3pPr>
      <a:lvl4pPr marL="949593" algn="l" defTabSz="633062" rtl="0" eaLnBrk="1" latinLnBrk="0" hangingPunct="1">
        <a:defRPr sz="1247" kern="1200">
          <a:solidFill>
            <a:schemeClr val="tx1"/>
          </a:solidFill>
          <a:latin typeface="+mn-lt"/>
          <a:ea typeface="+mn-ea"/>
          <a:cs typeface="+mn-cs"/>
        </a:defRPr>
      </a:lvl4pPr>
      <a:lvl5pPr marL="1266124" algn="l" defTabSz="633062" rtl="0" eaLnBrk="1" latinLnBrk="0" hangingPunct="1">
        <a:defRPr sz="1247" kern="1200">
          <a:solidFill>
            <a:schemeClr val="tx1"/>
          </a:solidFill>
          <a:latin typeface="+mn-lt"/>
          <a:ea typeface="+mn-ea"/>
          <a:cs typeface="+mn-cs"/>
        </a:defRPr>
      </a:lvl5pPr>
      <a:lvl6pPr marL="1582655" algn="l" defTabSz="633062" rtl="0" eaLnBrk="1" latinLnBrk="0" hangingPunct="1">
        <a:defRPr sz="1247" kern="1200">
          <a:solidFill>
            <a:schemeClr val="tx1"/>
          </a:solidFill>
          <a:latin typeface="+mn-lt"/>
          <a:ea typeface="+mn-ea"/>
          <a:cs typeface="+mn-cs"/>
        </a:defRPr>
      </a:lvl6pPr>
      <a:lvl7pPr marL="1899186" algn="l" defTabSz="633062" rtl="0" eaLnBrk="1" latinLnBrk="0" hangingPunct="1">
        <a:defRPr sz="1247" kern="1200">
          <a:solidFill>
            <a:schemeClr val="tx1"/>
          </a:solidFill>
          <a:latin typeface="+mn-lt"/>
          <a:ea typeface="+mn-ea"/>
          <a:cs typeface="+mn-cs"/>
        </a:defRPr>
      </a:lvl7pPr>
      <a:lvl8pPr marL="2215717" algn="l" defTabSz="633062" rtl="0" eaLnBrk="1" latinLnBrk="0" hangingPunct="1">
        <a:defRPr sz="1247" kern="1200">
          <a:solidFill>
            <a:schemeClr val="tx1"/>
          </a:solidFill>
          <a:latin typeface="+mn-lt"/>
          <a:ea typeface="+mn-ea"/>
          <a:cs typeface="+mn-cs"/>
        </a:defRPr>
      </a:lvl8pPr>
      <a:lvl9pPr marL="2532248" algn="l" defTabSz="633062" rtl="0" eaLnBrk="1" latinLnBrk="0" hangingPunct="1">
        <a:defRPr sz="1247"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494935" y="633357"/>
            <a:ext cx="6153930" cy="82404"/>
          </a:xfrm>
          <a:prstGeom prst="rect">
            <a:avLst/>
          </a:prstGeom>
        </p:spPr>
      </p:pic>
      <p:sp>
        <p:nvSpPr>
          <p:cNvPr id="2" name="Holder 2"/>
          <p:cNvSpPr>
            <a:spLocks noGrp="1"/>
          </p:cNvSpPr>
          <p:nvPr>
            <p:ph type="title"/>
          </p:nvPr>
        </p:nvSpPr>
        <p:spPr>
          <a:xfrm>
            <a:off x="1691910" y="75040"/>
            <a:ext cx="5829228" cy="777136"/>
          </a:xfrm>
          <a:prstGeom prst="rect">
            <a:avLst/>
          </a:prstGeom>
        </p:spPr>
        <p:txBody>
          <a:bodyPr wrap="square" lIns="0" tIns="0" rIns="0" bIns="0">
            <a:spAutoFit/>
          </a:bodyPr>
          <a:lstStyle>
            <a:lvl1pPr>
              <a:defRPr sz="5050" b="0" i="0">
                <a:solidFill>
                  <a:srgbClr val="0365C0"/>
                </a:solidFill>
                <a:latin typeface="Arial MT"/>
                <a:cs typeface="Arial MT"/>
              </a:defRPr>
            </a:lvl1pPr>
          </a:lstStyle>
          <a:p>
            <a:endParaRPr/>
          </a:p>
        </p:txBody>
      </p:sp>
      <p:sp>
        <p:nvSpPr>
          <p:cNvPr id="3" name="Holder 3"/>
          <p:cNvSpPr>
            <a:spLocks noGrp="1"/>
          </p:cNvSpPr>
          <p:nvPr>
            <p:ph type="body" idx="1"/>
          </p:nvPr>
        </p:nvSpPr>
        <p:spPr>
          <a:xfrm>
            <a:off x="2060383" y="1754536"/>
            <a:ext cx="5023233" cy="1369606"/>
          </a:xfrm>
          <a:prstGeom prst="rect">
            <a:avLst/>
          </a:prstGeom>
        </p:spPr>
        <p:txBody>
          <a:bodyPr wrap="square" lIns="0" tIns="0" rIns="0" bIns="0">
            <a:spAutoFit/>
          </a:bodyPr>
          <a:lstStyle>
            <a:lvl1pPr>
              <a:defRPr sz="8900" b="0" i="0">
                <a:solidFill>
                  <a:srgbClr val="0365C0"/>
                </a:solidFill>
                <a:latin typeface="Arial MT"/>
                <a:cs typeface="Arial MT"/>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a:xfrm>
            <a:off x="6583681" y="6377940"/>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0494866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Lst>
  <p:txStyles>
    <p:titleStyle>
      <a:lvl1pPr>
        <a:defRPr>
          <a:latin typeface="+mj-lt"/>
          <a:ea typeface="+mj-ea"/>
          <a:cs typeface="+mj-cs"/>
        </a:defRPr>
      </a:lvl1pPr>
    </p:titleStyle>
    <p:bodyStyle>
      <a:lvl1pPr marL="0">
        <a:defRPr>
          <a:latin typeface="+mn-lt"/>
          <a:ea typeface="+mn-ea"/>
          <a:cs typeface="+mn-cs"/>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p:bodyStyle>
    <p:otherStyle>
      <a:lvl1pPr marL="0">
        <a:defRPr>
          <a:latin typeface="+mn-lt"/>
          <a:ea typeface="+mn-ea"/>
          <a:cs typeface="+mn-cs"/>
        </a:defRPr>
      </a:lvl1pPr>
      <a:lvl2pPr marL="207935">
        <a:defRPr>
          <a:latin typeface="+mn-lt"/>
          <a:ea typeface="+mn-ea"/>
          <a:cs typeface="+mn-cs"/>
        </a:defRPr>
      </a:lvl2pPr>
      <a:lvl3pPr marL="415869">
        <a:defRPr>
          <a:latin typeface="+mn-lt"/>
          <a:ea typeface="+mn-ea"/>
          <a:cs typeface="+mn-cs"/>
        </a:defRPr>
      </a:lvl3pPr>
      <a:lvl4pPr marL="623804">
        <a:defRPr>
          <a:latin typeface="+mn-lt"/>
          <a:ea typeface="+mn-ea"/>
          <a:cs typeface="+mn-cs"/>
        </a:defRPr>
      </a:lvl4pPr>
      <a:lvl5pPr marL="831738">
        <a:defRPr>
          <a:latin typeface="+mn-lt"/>
          <a:ea typeface="+mn-ea"/>
          <a:cs typeface="+mn-cs"/>
        </a:defRPr>
      </a:lvl5pPr>
      <a:lvl6pPr marL="1039673">
        <a:defRPr>
          <a:latin typeface="+mn-lt"/>
          <a:ea typeface="+mn-ea"/>
          <a:cs typeface="+mn-cs"/>
        </a:defRPr>
      </a:lvl6pPr>
      <a:lvl7pPr marL="1247607">
        <a:defRPr>
          <a:latin typeface="+mn-lt"/>
          <a:ea typeface="+mn-ea"/>
          <a:cs typeface="+mn-cs"/>
        </a:defRPr>
      </a:lvl7pPr>
      <a:lvl8pPr marL="1455542">
        <a:defRPr>
          <a:latin typeface="+mn-lt"/>
          <a:ea typeface="+mn-ea"/>
          <a:cs typeface="+mn-cs"/>
        </a:defRPr>
      </a:lvl8pPr>
      <a:lvl9pPr marL="166347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6.xml"/><Relationship Id="rId5" Type="http://schemas.openxmlformats.org/officeDocument/2006/relationships/image" Target="../media/image13.png"/><Relationship Id="rId4" Type="http://schemas.openxmlformats.org/officeDocument/2006/relationships/image" Target="../media/image12.svg"/></Relationships>
</file>

<file path=ppt/slides/_rels/slide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xml"/><Relationship Id="rId1" Type="http://schemas.openxmlformats.org/officeDocument/2006/relationships/slideLayout" Target="../slideLayouts/slideLayout26.xml"/><Relationship Id="rId5" Type="http://schemas.openxmlformats.org/officeDocument/2006/relationships/image" Target="../media/image22.emf"/><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6.xml"/><Relationship Id="rId4" Type="http://schemas.openxmlformats.org/officeDocument/2006/relationships/image" Target="../media/image24.emf"/></Relationships>
</file>

<file path=ppt/slides/_rels/slide2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7.emf"/><Relationship Id="rId1" Type="http://schemas.openxmlformats.org/officeDocument/2006/relationships/slideLayout" Target="../slideLayouts/slideLayout26.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emf"/><Relationship Id="rId1" Type="http://schemas.openxmlformats.org/officeDocument/2006/relationships/slideLayout" Target="../slideLayouts/slideLayout26.xml"/><Relationship Id="rId5" Type="http://schemas.openxmlformats.org/officeDocument/2006/relationships/image" Target="../media/image28.png"/><Relationship Id="rId4" Type="http://schemas.openxmlformats.org/officeDocument/2006/relationships/image" Target="../media/image27.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0.png"/><Relationship Id="rId1" Type="http://schemas.openxmlformats.org/officeDocument/2006/relationships/slideLayout" Target="../slideLayouts/slideLayout26.xml"/><Relationship Id="rId4" Type="http://schemas.openxmlformats.org/officeDocument/2006/relationships/image" Target="../media/image31.emf"/></Relationships>
</file>

<file path=ppt/slides/_rels/slide3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image" Target="../media/image42.tiff"/><Relationship Id="rId1" Type="http://schemas.openxmlformats.org/officeDocument/2006/relationships/slideLayout" Target="../slideLayouts/slideLayout56.xml"/></Relationships>
</file>

<file path=ppt/slides/_rels/slide8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emf"/><Relationship Id="rId1" Type="http://schemas.openxmlformats.org/officeDocument/2006/relationships/slideLayout" Target="../slideLayouts/slideLayout56.xml"/></Relationships>
</file>

<file path=ppt/slides/_rels/slide8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6.xml"/></Relationships>
</file>

<file path=ppt/slides/_rels/slide8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6.xml"/><Relationship Id="rId1" Type="http://schemas.openxmlformats.org/officeDocument/2006/relationships/vmlDrawing" Target="../drawings/vmlDrawing1.vml"/><Relationship Id="rId4" Type="http://schemas.openxmlformats.org/officeDocument/2006/relationships/image" Target="../media/image54.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5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01.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8.pn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7.png"/><Relationship Id="rId2" Type="http://schemas.openxmlformats.org/officeDocument/2006/relationships/image" Target="../media/image56.png"/><Relationship Id="rId1" Type="http://schemas.openxmlformats.org/officeDocument/2006/relationships/slideLayout" Target="../slideLayouts/slideLayout51.xml"/><Relationship Id="rId6" Type="http://schemas.openxmlformats.org/officeDocument/2006/relationships/image" Target="../media/image59.png"/><Relationship Id="rId11" Type="http://schemas.openxmlformats.org/officeDocument/2006/relationships/image" Target="../media/image60.png"/><Relationship Id="rId5" Type="http://schemas.openxmlformats.org/officeDocument/2006/relationships/image" Target="../media/image63.png"/><Relationship Id="rId10" Type="http://schemas.openxmlformats.org/officeDocument/2006/relationships/image" Target="../media/image66.png"/><Relationship Id="rId4" Type="http://schemas.openxmlformats.org/officeDocument/2006/relationships/image" Target="../media/image62.png"/><Relationship Id="rId9" Type="http://schemas.openxmlformats.org/officeDocument/2006/relationships/image" Target="../media/image6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3.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8.pn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7.png"/><Relationship Id="rId2" Type="http://schemas.openxmlformats.org/officeDocument/2006/relationships/image" Target="../media/image56.png"/><Relationship Id="rId1" Type="http://schemas.openxmlformats.org/officeDocument/2006/relationships/slideLayout" Target="../slideLayouts/slideLayout25.xml"/><Relationship Id="rId6" Type="http://schemas.openxmlformats.org/officeDocument/2006/relationships/image" Target="../media/image59.png"/><Relationship Id="rId11" Type="http://schemas.openxmlformats.org/officeDocument/2006/relationships/image" Target="../media/image60.png"/><Relationship Id="rId5" Type="http://schemas.openxmlformats.org/officeDocument/2006/relationships/image" Target="../media/image63.png"/><Relationship Id="rId10" Type="http://schemas.openxmlformats.org/officeDocument/2006/relationships/image" Target="../media/image66.png"/><Relationship Id="rId4" Type="http://schemas.openxmlformats.org/officeDocument/2006/relationships/image" Target="../media/image62.png"/><Relationship Id="rId9" Type="http://schemas.openxmlformats.org/officeDocument/2006/relationships/image" Target="../media/image65.png"/></Relationships>
</file>

<file path=ppt/slides/_rels/slide10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7.png"/><Relationship Id="rId2" Type="http://schemas.openxmlformats.org/officeDocument/2006/relationships/image" Target="../media/image56.png"/><Relationship Id="rId1" Type="http://schemas.openxmlformats.org/officeDocument/2006/relationships/slideLayout" Target="../slideLayouts/slideLayout25.xml"/><Relationship Id="rId6" Type="http://schemas.openxmlformats.org/officeDocument/2006/relationships/image" Target="../media/image59.png"/><Relationship Id="rId11" Type="http://schemas.openxmlformats.org/officeDocument/2006/relationships/image" Target="../media/image60.png"/><Relationship Id="rId5" Type="http://schemas.openxmlformats.org/officeDocument/2006/relationships/image" Target="../media/image69.png"/><Relationship Id="rId10" Type="http://schemas.openxmlformats.org/officeDocument/2006/relationships/image" Target="../media/image71.png"/><Relationship Id="rId4" Type="http://schemas.openxmlformats.org/officeDocument/2006/relationships/image" Target="../media/image62.png"/><Relationship Id="rId9" Type="http://schemas.openxmlformats.org/officeDocument/2006/relationships/image" Target="../media/image6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11.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5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13.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58.xml"/></Relationships>
</file>

<file path=ppt/slides/_rels/slide114.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58.xml"/></Relationships>
</file>

<file path=ppt/slides/_rels/slide11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emf"/><Relationship Id="rId1" Type="http://schemas.openxmlformats.org/officeDocument/2006/relationships/slideLayout" Target="../slideLayouts/slideLayout26.xml"/></Relationships>
</file>

<file path=ppt/slides/_rels/slide11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6.xml"/></Relationships>
</file>

<file path=ppt/slides/_rels/slide11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6.xml"/></Relationships>
</file>

<file path=ppt/slides/_rels/slide1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0.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570.png"/><Relationship Id="rId1" Type="http://schemas.openxmlformats.org/officeDocument/2006/relationships/slideLayout" Target="../slideLayouts/slideLayout26.xml"/></Relationships>
</file>

<file path=ppt/slides/_rels/slide12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6.xml"/></Relationships>
</file>

<file path=ppt/slides/_rels/slide122.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2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7.xml"/></Relationships>
</file>

<file path=ppt/slides/_rels/slide1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7.xml"/></Relationships>
</file>

<file path=ppt/slides/_rels/slide133.xml.rels><?xml version="1.0" encoding="UTF-8" standalone="yes"?>
<Relationships xmlns="http://schemas.openxmlformats.org/package/2006/relationships"><Relationship Id="rId3" Type="http://schemas.openxmlformats.org/officeDocument/2006/relationships/hyperlink" Target="http://en.wikipedia.org/wiki/Bloom_filter" TargetMode="External"/><Relationship Id="rId2" Type="http://schemas.openxmlformats.org/officeDocument/2006/relationships/hyperlink" Target="http://zh.wikipedia.org/zh/%E5%B8%83%E9%9A%86%E8%BF%87%E6%BB%A4%E5%99%A8" TargetMode="External"/><Relationship Id="rId1" Type="http://schemas.openxmlformats.org/officeDocument/2006/relationships/slideLayout" Target="../slideLayouts/slideLayout25.xml"/></Relationships>
</file>

<file path=ppt/slides/_rels/slide134.xml.rels><?xml version="1.0" encoding="UTF-8" standalone="yes"?>
<Relationships xmlns="http://schemas.openxmlformats.org/package/2006/relationships"><Relationship Id="rId3" Type="http://schemas.openxmlformats.org/officeDocument/2006/relationships/hyperlink" Target="http://blog.csdn.net/jiaomeng/archive/2007/01/27/1495500.aspx" TargetMode="External"/><Relationship Id="rId2" Type="http://schemas.openxmlformats.org/officeDocument/2006/relationships/image" Target="../media/image86.png"/><Relationship Id="rId1" Type="http://schemas.openxmlformats.org/officeDocument/2006/relationships/slideLayout" Target="../slideLayouts/slideLayout25.xml"/></Relationships>
</file>

<file path=ppt/slides/_rels/slide13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7.x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5.xml"/><Relationship Id="rId1" Type="http://schemas.openxmlformats.org/officeDocument/2006/relationships/vmlDrawing" Target="../drawings/vmlDrawing2.vml"/><Relationship Id="rId6" Type="http://schemas.openxmlformats.org/officeDocument/2006/relationships/image" Target="../media/image88.wmf"/><Relationship Id="rId5" Type="http://schemas.openxmlformats.org/officeDocument/2006/relationships/oleObject" Target="../embeddings/oleObject3.bin"/><Relationship Id="rId4" Type="http://schemas.openxmlformats.org/officeDocument/2006/relationships/image" Target="../media/image87.wmf"/></Relationships>
</file>

<file path=ppt/slides/_rels/slide137.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90.wmf"/><Relationship Id="rId2" Type="http://schemas.openxmlformats.org/officeDocument/2006/relationships/slideLayout" Target="../slideLayouts/slideLayout25.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89.wmf"/><Relationship Id="rId4" Type="http://schemas.openxmlformats.org/officeDocument/2006/relationships/oleObject" Target="../embeddings/oleObject4.bin"/></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5.xml"/><Relationship Id="rId1" Type="http://schemas.openxmlformats.org/officeDocument/2006/relationships/vmlDrawing" Target="../drawings/vmlDrawing4.vml"/><Relationship Id="rId4" Type="http://schemas.openxmlformats.org/officeDocument/2006/relationships/image" Target="../media/image92.wmf"/></Relationships>
</file>

<file path=ppt/slides/_rels/slide139.xml.rels><?xml version="1.0" encoding="UTF-8" standalone="yes"?>
<Relationships xmlns="http://schemas.openxmlformats.org/package/2006/relationships"><Relationship Id="rId3" Type="http://schemas.openxmlformats.org/officeDocument/2006/relationships/hyperlink" Target="http://murmurhash.googlepages.com/" TargetMode="External"/><Relationship Id="rId2" Type="http://schemas.openxmlformats.org/officeDocument/2006/relationships/hyperlink" Target="http://burtleburtle.net/bob/hash/doobs.html" TargetMode="External"/><Relationship Id="rId1" Type="http://schemas.openxmlformats.org/officeDocument/2006/relationships/slideLayout" Target="../slideLayouts/slideLayout25.xml"/><Relationship Id="rId4" Type="http://schemas.openxmlformats.org/officeDocument/2006/relationships/hyperlink" Target="http://www.partow.net/programming/hashfunctions/" TargetMode="External"/></Relationships>
</file>

<file path=ppt/slides/_rels/slide14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5.xml"/></Relationships>
</file>

<file path=ppt/slides/_rels/slide14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5.xml"/></Relationships>
</file>

<file path=ppt/slides/_rels/slide14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Rot="1"/>
          </p:cNvSpPr>
          <p:nvPr>
            <p:ph type="subTitle" idx="1"/>
          </p:nvPr>
        </p:nvSpPr>
        <p:spPr>
          <a:xfrm>
            <a:off x="988247" y="1702666"/>
            <a:ext cx="6824113" cy="3709999"/>
          </a:xfrm>
        </p:spPr>
        <p:txBody>
          <a:bodyPr vert="horz" wrap="square" lIns="78190" tIns="39095" rIns="78190" bIns="39095" anchor="t" anchorCtr="0"/>
          <a:lstStyle/>
          <a:p>
            <a:pPr marL="0" marR="0" indent="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pPr>
            <a:r>
              <a:rPr lang="en-US" altLang="zh-CN" sz="3080" b="1" noProof="1" smtClean="0"/>
              <a:t>5-</a:t>
            </a:r>
            <a:r>
              <a:rPr kumimoji="0" lang="en-US" altLang="zh-CN" sz="3080" b="1" i="0" u="none" strike="noStrike" kern="0" cap="none" spc="0" normalizeH="0" baseline="0" noProof="1" smtClean="0">
                <a:solidFill>
                  <a:schemeClr val="tx1"/>
                </a:solidFill>
                <a:latin typeface="+mn-lt"/>
                <a:ea typeface="+mn-ea"/>
                <a:cs typeface="+mn-cs"/>
              </a:rPr>
              <a:t>1  </a:t>
            </a:r>
            <a:r>
              <a:rPr lang="zh-CN" altLang="en-US" sz="3080" b="1" noProof="1"/>
              <a:t>概述</a:t>
            </a:r>
            <a:endParaRPr lang="en-US" altLang="zh-CN" sz="3080" b="1" noProof="1"/>
          </a:p>
          <a:p>
            <a:pPr marL="0" marR="0" indent="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pPr>
            <a:r>
              <a:rPr lang="en-US" altLang="zh-CN" sz="3080" b="1" noProof="1" smtClean="0"/>
              <a:t>5-</a:t>
            </a:r>
            <a:r>
              <a:rPr kumimoji="0" lang="en-US" altLang="zh-CN" sz="3080" b="1" i="0" u="none" strike="noStrike" kern="0" cap="none" spc="0" normalizeH="0" baseline="0" noProof="1" smtClean="0">
                <a:solidFill>
                  <a:schemeClr val="tx1"/>
                </a:solidFill>
                <a:latin typeface="+mn-lt"/>
                <a:ea typeface="+mn-ea"/>
                <a:cs typeface="+mn-cs"/>
              </a:rPr>
              <a:t>2  </a:t>
            </a:r>
            <a:r>
              <a:rPr kumimoji="0" lang="zh-CN" altLang="en-US" sz="3080" b="1" i="0" u="none" strike="noStrike" kern="0" cap="none" spc="0" normalizeH="0" baseline="0" noProof="1">
                <a:solidFill>
                  <a:schemeClr val="tx1"/>
                </a:solidFill>
                <a:latin typeface="+mn-lt"/>
                <a:ea typeface="+mn-ea"/>
                <a:cs typeface="+mn-cs"/>
              </a:rPr>
              <a:t>存储与文件结构</a:t>
            </a:r>
          </a:p>
          <a:p>
            <a:pPr marL="0" marR="0" indent="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pPr>
            <a:r>
              <a:rPr lang="en-US" altLang="zh-CN" sz="3080" b="1" noProof="1" smtClean="0"/>
              <a:t>5-</a:t>
            </a:r>
            <a:r>
              <a:rPr kumimoji="0" lang="en-US" altLang="zh-CN" sz="3080" b="1" i="0" u="none" strike="noStrike" kern="0" cap="none" spc="0" normalizeH="0" baseline="0" noProof="1" smtClean="0">
                <a:solidFill>
                  <a:schemeClr val="tx1"/>
                </a:solidFill>
                <a:latin typeface="+mn-lt"/>
                <a:ea typeface="+mn-ea"/>
                <a:cs typeface="+mn-cs"/>
              </a:rPr>
              <a:t>3  </a:t>
            </a:r>
            <a:r>
              <a:rPr lang="zh-CN" altLang="en-US" sz="3080" b="1" u="sng" noProof="1"/>
              <a:t>索引与哈希</a:t>
            </a:r>
            <a:endParaRPr lang="en-US" altLang="zh-CN" sz="3080" b="1" u="sng" noProof="1"/>
          </a:p>
          <a:p>
            <a:pPr marL="0" marR="0" algn="l" defTabSz="914400" rtl="0" eaLnBrk="1" fontAlgn="base" latinLnBrk="0" hangingPunct="1">
              <a:lnSpc>
                <a:spcPct val="90000"/>
              </a:lnSpc>
              <a:spcBef>
                <a:spcPct val="20000"/>
              </a:spcBef>
              <a:buClr>
                <a:schemeClr val="hlink"/>
              </a:buClr>
              <a:buSzTx/>
              <a:buFont typeface="Wingdings" panose="05000000000000000000" pitchFamily="2" charset="2"/>
              <a:buNone/>
            </a:pPr>
            <a:r>
              <a:rPr lang="en-US" altLang="zh-CN" sz="3080" b="1" noProof="1" smtClean="0"/>
              <a:t>5-</a:t>
            </a:r>
            <a:r>
              <a:rPr kumimoji="0" lang="en-US" altLang="zh-CN" sz="3080" b="1" i="0" u="none" strike="noStrike" kern="0" cap="none" spc="0" normalizeH="0" baseline="0" noProof="1" smtClean="0">
                <a:solidFill>
                  <a:schemeClr val="tx1"/>
                </a:solidFill>
                <a:latin typeface="+mn-lt"/>
                <a:ea typeface="+mn-ea"/>
                <a:cs typeface="+mn-cs"/>
              </a:rPr>
              <a:t>4  </a:t>
            </a:r>
            <a:r>
              <a:rPr kumimoji="0" lang="zh-CN" altLang="en-US" sz="3080" b="1" i="0" strike="noStrike" kern="0" cap="none" spc="0" normalizeH="0" baseline="0" noProof="1">
                <a:solidFill>
                  <a:schemeClr val="tx1"/>
                </a:solidFill>
                <a:latin typeface="+mn-lt"/>
                <a:ea typeface="+mn-ea"/>
                <a:cs typeface="+mn-cs"/>
              </a:rPr>
              <a:t>查询处理</a:t>
            </a:r>
            <a:endParaRPr kumimoji="0" lang="zh-CN" altLang="en-US" sz="3080" b="1" i="0" u="none" strike="noStrike" kern="0" cap="none" spc="0" normalizeH="0" baseline="0" noProof="1">
              <a:solidFill>
                <a:schemeClr val="tx1"/>
              </a:solidFill>
              <a:latin typeface="+mn-lt"/>
              <a:ea typeface="+mn-ea"/>
              <a:cs typeface="+mn-cs"/>
            </a:endParaRPr>
          </a:p>
          <a:p>
            <a:pPr marL="0" marR="0" algn="l" defTabSz="914400" rtl="0" eaLnBrk="1" fontAlgn="base" latinLnBrk="0" hangingPunct="1">
              <a:lnSpc>
                <a:spcPct val="90000"/>
              </a:lnSpc>
              <a:spcBef>
                <a:spcPct val="20000"/>
              </a:spcBef>
              <a:buClr>
                <a:schemeClr val="hlink"/>
              </a:buClr>
              <a:buSzTx/>
              <a:buFont typeface="Wingdings" panose="05000000000000000000" pitchFamily="2" charset="2"/>
              <a:buNone/>
            </a:pPr>
            <a:r>
              <a:rPr lang="en-US" altLang="zh-CN" sz="3080" b="1" noProof="1" smtClean="0"/>
              <a:t>5-</a:t>
            </a:r>
            <a:r>
              <a:rPr kumimoji="0" lang="en-US" altLang="zh-CN" sz="3080" b="1" i="0" u="none" strike="noStrike" kern="0" cap="none" spc="0" normalizeH="0" baseline="0" noProof="1" smtClean="0">
                <a:solidFill>
                  <a:schemeClr val="tx1"/>
                </a:solidFill>
                <a:latin typeface="+mn-lt"/>
                <a:ea typeface="+mn-ea"/>
                <a:cs typeface="+mn-cs"/>
              </a:rPr>
              <a:t>5  </a:t>
            </a:r>
            <a:r>
              <a:rPr kumimoji="0" lang="zh-CN" altLang="en-US" sz="3080" b="1" i="0" strike="noStrike" kern="0" cap="none" spc="0" normalizeH="0" baseline="0" noProof="1">
                <a:solidFill>
                  <a:schemeClr val="tx1"/>
                </a:solidFill>
                <a:latin typeface="+mn-lt"/>
                <a:ea typeface="+mn-ea"/>
                <a:cs typeface="+mn-cs"/>
              </a:rPr>
              <a:t>查询优化</a:t>
            </a:r>
          </a:p>
          <a:p>
            <a:pPr algn="l" eaLnBrk="1" hangingPunct="1">
              <a:lnSpc>
                <a:spcPct val="90000"/>
              </a:lnSpc>
            </a:pPr>
            <a:r>
              <a:rPr lang="en-US" altLang="zh-CN" sz="3080" b="1" noProof="1" smtClean="0"/>
              <a:t>5-</a:t>
            </a:r>
            <a:r>
              <a:rPr lang="zh-CN" altLang="en-US" sz="3080" b="1" noProof="1" smtClean="0"/>
              <a:t>6  </a:t>
            </a:r>
            <a:r>
              <a:rPr lang="zh-CN" altLang="en-US" sz="3080" b="1" noProof="1"/>
              <a:t>查询执行</a:t>
            </a:r>
            <a:endParaRPr kumimoji="0" lang="zh-CN" altLang="en-US" sz="2395" b="1" i="0" u="none" strike="noStrike" kern="0" cap="none" spc="0" normalizeH="0" baseline="0" noProof="1">
              <a:solidFill>
                <a:schemeClr val="tx1"/>
              </a:solidFill>
              <a:latin typeface="+mn-lt"/>
              <a:ea typeface="+mn-ea"/>
              <a:cs typeface="+mn-cs"/>
            </a:endParaRPr>
          </a:p>
          <a:p>
            <a:pPr marL="0" marR="0" indent="0" algn="ctr"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pPr>
            <a:endParaRPr kumimoji="0" lang="zh-CN" altLang="en-US" sz="2395" b="1" i="0" u="none" strike="noStrike" kern="0" cap="none" spc="0" normalizeH="0" baseline="0" noProof="1">
              <a:solidFill>
                <a:schemeClr val="tx1"/>
              </a:solidFill>
              <a:latin typeface="+mn-lt"/>
              <a:ea typeface="+mn-ea"/>
              <a:cs typeface="+mn-cs"/>
            </a:endParaRPr>
          </a:p>
        </p:txBody>
      </p:sp>
      <p:sp>
        <p:nvSpPr>
          <p:cNvPr id="4" name="Rectangle 4"/>
          <p:cNvSpPr>
            <a:spLocks noGrp="1" noRot="1"/>
          </p:cNvSpPr>
          <p:nvPr/>
        </p:nvSpPr>
        <p:spPr>
          <a:xfrm>
            <a:off x="827584" y="548680"/>
            <a:ext cx="7323164" cy="1076936"/>
          </a:xfrm>
          <a:prstGeom prst="rect">
            <a:avLst/>
          </a:prstGeom>
          <a:noFill/>
          <a:ln w="9525">
            <a:noFill/>
          </a:ln>
        </p:spPr>
        <p:txBody>
          <a:bodyPr vert="horz" wrap="square" lIns="86154" tIns="43076" rIns="86154" bIns="43076"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indent="0" algn="ctr" defTabSz="914400" rtl="0" eaLnBrk="1" fontAlgn="base" latinLnBrk="0" hangingPunct="1">
              <a:lnSpc>
                <a:spcPct val="100000"/>
              </a:lnSpc>
              <a:spcBef>
                <a:spcPct val="0"/>
              </a:spcBef>
              <a:spcAft>
                <a:spcPct val="0"/>
              </a:spcAft>
              <a:buClrTx/>
              <a:buSzTx/>
              <a:buFontTx/>
              <a:buNone/>
            </a:pPr>
            <a:r>
              <a:rPr lang="zh-CN" altLang="en-US" sz="3600" b="1" dirty="0" smtClean="0">
                <a:sym typeface="+mn-ea"/>
              </a:rPr>
              <a:t>第</a:t>
            </a:r>
            <a:r>
              <a:rPr lang="en-US" altLang="zh-CN" sz="3600" b="1" dirty="0">
                <a:sym typeface="+mn-ea"/>
              </a:rPr>
              <a:t>5</a:t>
            </a:r>
            <a:r>
              <a:rPr lang="zh-CN" altLang="en-US" sz="3600" b="1" dirty="0" smtClean="0">
                <a:sym typeface="+mn-ea"/>
              </a:rPr>
              <a:t>章</a:t>
            </a:r>
            <a:r>
              <a:rPr lang="en-US" altLang="zh-CN" sz="3600" b="1" dirty="0" smtClean="0">
                <a:sym typeface="+mn-ea"/>
              </a:rPr>
              <a:t>  </a:t>
            </a:r>
            <a:r>
              <a:rPr lang="zh-CN" altLang="en-US" sz="3600" b="1" noProof="0" dirty="0">
                <a:ln>
                  <a:noFill/>
                </a:ln>
                <a:effectLst/>
                <a:uLnTx/>
                <a:uFillTx/>
                <a:sym typeface="+mn-ea"/>
              </a:rPr>
              <a:t>数据库系统内核</a:t>
            </a:r>
            <a:endParaRPr kumimoji="0" lang="zh-CN" altLang="en-US" sz="3600" b="1" i="0" u="none" strike="noStrike" kern="0" cap="none" spc="0" normalizeH="0" baseline="0" noProof="0" dirty="0">
              <a:ln>
                <a:noFill/>
              </a:ln>
              <a:solidFill>
                <a:schemeClr val="tx2"/>
              </a:solidFill>
              <a:effectLst/>
              <a:uLnTx/>
              <a:uFillTx/>
              <a:latin typeface="+mj-lt"/>
              <a:ea typeface="+mj-ea"/>
              <a:cs typeface="+mj-cs"/>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298450" y="228600"/>
            <a:ext cx="8540750" cy="824136"/>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lang="zh-CN" altLang="en-US" sz="3600" b="1" dirty="0">
                <a:sym typeface="+mn-ea"/>
              </a:rPr>
              <a:t>索引与哈希</a:t>
            </a:r>
          </a:p>
        </p:txBody>
      </p:sp>
      <p:sp>
        <p:nvSpPr>
          <p:cNvPr id="4099" name="Rectangle 3"/>
          <p:cNvSpPr>
            <a:spLocks noGrp="1"/>
          </p:cNvSpPr>
          <p:nvPr>
            <p:ph type="body" idx="4294967295"/>
          </p:nvPr>
        </p:nvSpPr>
        <p:spPr/>
        <p:txBody>
          <a:bodyPr vert="horz" wrap="square" lIns="91440" tIns="45720" rIns="91440" bIns="45720" anchor="t" anchorCtr="0"/>
          <a:lstStyle/>
          <a:p>
            <a:r>
              <a:rPr lang="zh-CN" altLang="en-US" sz="2800" b="1" dirty="0">
                <a:ea typeface="宋体" panose="02010600030101010101" pitchFamily="2" charset="-122"/>
              </a:rPr>
              <a:t>本节内容特色:</a:t>
            </a:r>
          </a:p>
          <a:p>
            <a:pPr lvl="1"/>
            <a:r>
              <a:rPr lang="zh-CN" altLang="en-US" sz="2400" b="1" dirty="0">
                <a:ea typeface="宋体" panose="02010600030101010101" pitchFamily="2" charset="-122"/>
              </a:rPr>
              <a:t>涉及DBMS内部结构，对应用，系统和理论均重要。</a:t>
            </a:r>
          </a:p>
          <a:p>
            <a:pPr lvl="1"/>
            <a:r>
              <a:rPr lang="zh-CN" altLang="en-US" sz="2400" b="1" dirty="0">
                <a:ea typeface="宋体" panose="02010600030101010101" pitchFamily="2" charset="-122"/>
              </a:rPr>
              <a:t>体现数据库实现者和数据库使用者之间的重要知识差别。</a:t>
            </a:r>
          </a:p>
          <a:p>
            <a:pPr lvl="1"/>
            <a:r>
              <a:rPr lang="zh-CN" altLang="en-US" sz="2400" b="1" dirty="0">
                <a:ea typeface="宋体" panose="02010600030101010101" pitchFamily="2" charset="-122"/>
              </a:rPr>
              <a:t>涉及大量数据结构，算法细节。</a:t>
            </a:r>
          </a:p>
          <a:p>
            <a:pPr lvl="1"/>
            <a:r>
              <a:rPr lang="zh-CN" altLang="en-US" sz="2400" b="1" dirty="0">
                <a:ea typeface="宋体" panose="02010600030101010101" pitchFamily="2" charset="-122"/>
              </a:rPr>
              <a:t>着重介绍解决问题的思想和方法。</a:t>
            </a:r>
            <a:endParaRPr lang="zh-CN" altLang="en-US" sz="1800" b="1" dirty="0">
              <a:ea typeface="宋体" panose="02010600030101010101" pitchFamily="2" charset="-122"/>
            </a:endParaRPr>
          </a:p>
          <a:p>
            <a:r>
              <a:rPr lang="zh-CN" altLang="en-US" sz="2800" b="1" dirty="0" smtClean="0">
                <a:ea typeface="宋体" panose="02010600030101010101" pitchFamily="2" charset="-122"/>
              </a:rPr>
              <a:t>本节要</a:t>
            </a:r>
            <a:r>
              <a:rPr lang="zh-CN" altLang="en-US" sz="2800" b="1" dirty="0">
                <a:ea typeface="宋体" panose="02010600030101010101" pitchFamily="2" charset="-122"/>
              </a:rPr>
              <a:t>解决的关键问题：</a:t>
            </a:r>
          </a:p>
          <a:p>
            <a:pPr lvl="1"/>
            <a:r>
              <a:rPr lang="zh-CN" altLang="en-US" sz="2400" b="1" dirty="0">
                <a:ea typeface="宋体" panose="02010600030101010101" pitchFamily="2" charset="-122"/>
              </a:rPr>
              <a:t>如何</a:t>
            </a:r>
            <a:r>
              <a:rPr lang="zh-CN" altLang="en-US" sz="3200" b="1" u="sng" dirty="0">
                <a:ea typeface="宋体" panose="02010600030101010101" pitchFamily="2" charset="-122"/>
              </a:rPr>
              <a:t>高效</a:t>
            </a:r>
            <a:r>
              <a:rPr lang="zh-CN" altLang="en-US" sz="2400" b="1" dirty="0">
                <a:ea typeface="宋体" panose="02010600030101010101" pitchFamily="2" charset="-122"/>
              </a:rPr>
              <a:t>地实现</a:t>
            </a:r>
            <a:r>
              <a:rPr lang="zh-CN" altLang="en-US" b="1" u="sng" dirty="0">
                <a:ea typeface="宋体" panose="02010600030101010101" pitchFamily="2" charset="-122"/>
              </a:rPr>
              <a:t>逻辑地址空间</a:t>
            </a:r>
            <a:r>
              <a:rPr lang="zh-CN" altLang="en-US" sz="2400" b="1" dirty="0">
                <a:ea typeface="宋体" panose="02010600030101010101" pitchFamily="2" charset="-122"/>
              </a:rPr>
              <a:t>到</a:t>
            </a:r>
            <a:r>
              <a:rPr lang="zh-CN" altLang="en-US" b="1" u="sng" dirty="0">
                <a:ea typeface="宋体" panose="02010600030101010101" pitchFamily="2" charset="-122"/>
              </a:rPr>
              <a:t>物理地址空间</a:t>
            </a:r>
            <a:r>
              <a:rPr lang="zh-CN" altLang="en-US" sz="2400" b="1" dirty="0">
                <a:ea typeface="宋体" panose="02010600030101010101" pitchFamily="2" charset="-122"/>
              </a:rPr>
              <a:t>的</a:t>
            </a:r>
            <a:r>
              <a:rPr lang="zh-CN" altLang="en-US" b="1" u="sng" dirty="0">
                <a:ea typeface="宋体" panose="02010600030101010101" pitchFamily="2" charset="-122"/>
              </a:rPr>
              <a:t>映射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Times New Roman" panose="02020603050405020304"/>
                <a:ea typeface="华文楷体" panose="02010600040101010101" pitchFamily="2" charset="-122"/>
              </a:rPr>
              <a:t>3</a:t>
            </a:fld>
            <a:endParaRPr lang="zh-CN" altLang="en-US" sz="1350">
              <a:solidFill>
                <a:srgbClr val="000000"/>
              </a:solidFill>
              <a:latin typeface="Times New Roman" panose="02020603050405020304"/>
              <a:ea typeface="华文楷体" panose="02010600040101010101" pitchFamily="2" charset="-122"/>
            </a:endParaRPr>
          </a:p>
        </p:txBody>
      </p:sp>
      <p:sp>
        <p:nvSpPr>
          <p:cNvPr id="3" name="标题 2"/>
          <p:cNvSpPr>
            <a:spLocks noGrp="1"/>
          </p:cNvSpPr>
          <p:nvPr>
            <p:ph type="title"/>
          </p:nvPr>
        </p:nvSpPr>
        <p:spPr>
          <a:xfrm>
            <a:off x="728661" y="332656"/>
            <a:ext cx="7568173" cy="678470"/>
          </a:xfrm>
          <a:noFill/>
          <a:ln w="9525">
            <a:noFill/>
          </a:ln>
        </p:spPr>
        <p:txBody>
          <a:bodyPr vert="horz" wrap="square" lIns="91440" tIns="45720" rIns="91440" bIns="45720" numCol="1" anchor="b" anchorCtr="0" compatLnSpc="1"/>
          <a:lstStyle/>
          <a:p>
            <a:pPr eaLnBrk="0" hangingPunct="0"/>
            <a:r>
              <a:rPr lang="zh-CN" altLang="en-US" dirty="0">
                <a:solidFill>
                  <a:srgbClr val="FF0000"/>
                </a:solidFill>
                <a:latin typeface="+mj-lt"/>
                <a:ea typeface="+mj-ea"/>
                <a:cs typeface="+mj-cs"/>
              </a:rPr>
              <a:t>索引</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Times New Roman" panose="02020603050405020304"/>
                <a:ea typeface="华文楷体" panose="02010600040101010101" pitchFamily="2" charset="-122"/>
              </a:rPr>
              <a:t>数据库系统</a:t>
            </a:r>
            <a:r>
              <a:rPr lang="en-US" altLang="zh-CN" sz="1350">
                <a:solidFill>
                  <a:srgbClr val="000000"/>
                </a:solidFill>
                <a:latin typeface="Times New Roman" panose="02020603050405020304"/>
                <a:ea typeface="华文楷体" panose="02010600040101010101" pitchFamily="2" charset="-122"/>
              </a:rPr>
              <a:t>—</a:t>
            </a:r>
            <a:r>
              <a:rPr lang="zh-CN" altLang="en-US" sz="1350">
                <a:solidFill>
                  <a:srgbClr val="000000"/>
                </a:solidFill>
                <a:latin typeface="Times New Roman" panose="02020603050405020304"/>
                <a:ea typeface="华文楷体" panose="02010600040101010101" pitchFamily="2" charset="-122"/>
              </a:rPr>
              <a:t>索引</a:t>
            </a:r>
            <a:endParaRPr lang="en-US" altLang="zh-CN" sz="900" dirty="0">
              <a:solidFill>
                <a:srgbClr val="000000"/>
              </a:solidFill>
              <a:latin typeface="Times New Roman" panose="02020603050405020304"/>
              <a:ea typeface="华文楷体" panose="02010600040101010101" pitchFamily="2" charset="-122"/>
            </a:endParaRPr>
          </a:p>
        </p:txBody>
      </p:sp>
      <p:pic>
        <p:nvPicPr>
          <p:cNvPr id="8" name="图片 7"/>
          <p:cNvPicPr>
            <a:picLocks noChangeAspect="1"/>
          </p:cNvPicPr>
          <p:nvPr/>
        </p:nvPicPr>
        <p:blipFill>
          <a:blip r:embed="rId2"/>
          <a:stretch>
            <a:fillRect/>
          </a:stretch>
        </p:blipFill>
        <p:spPr>
          <a:xfrm>
            <a:off x="1046418" y="1463440"/>
            <a:ext cx="6932662" cy="43051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2261570" y="1736429"/>
            <a:ext cx="4714667" cy="342480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4</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目录</a:t>
            </a:r>
          </a:p>
        </p:txBody>
      </p:sp>
      <p:sp>
        <p:nvSpPr>
          <p:cNvPr id="4" name="内容占位符 3"/>
          <p:cNvSpPr>
            <a:spLocks noGrp="1"/>
          </p:cNvSpPr>
          <p:nvPr>
            <p:ph idx="1"/>
          </p:nvPr>
        </p:nvSpPr>
        <p:spPr>
          <a:xfrm>
            <a:off x="2484300" y="1942678"/>
            <a:ext cx="4355960" cy="3143768"/>
          </a:xfrm>
        </p:spPr>
        <p:txBody>
          <a:bodyPr/>
          <a:lstStyle/>
          <a:p>
            <a:pPr marL="342900" indent="-342900">
              <a:buFont typeface="+mj-lt"/>
              <a:buAutoNum type="arabicPeriod"/>
            </a:pPr>
            <a:r>
              <a:rPr lang="zh-CN" altLang="en-US" b="1" dirty="0">
                <a:solidFill>
                  <a:srgbClr val="701988"/>
                </a:solidFill>
                <a:latin typeface="微软雅黑" panose="020B0503020204020204" pitchFamily="82" charset="2"/>
                <a:ea typeface="微软雅黑" panose="020B0503020204020204" pitchFamily="82" charset="2"/>
              </a:rPr>
              <a:t>索引概述</a:t>
            </a:r>
            <a:endParaRPr lang="en-US" altLang="zh-CN" b="1" dirty="0">
              <a:solidFill>
                <a:srgbClr val="701988"/>
              </a:solidFill>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哈希索引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err="1">
                <a:latin typeface="微软雅黑" panose="020B0503020204020204" pitchFamily="82" charset="2"/>
                <a:ea typeface="微软雅黑" panose="020B0503020204020204" pitchFamily="82" charset="2"/>
              </a:rPr>
              <a:t>SkipList</a:t>
            </a:r>
            <a:r>
              <a:rPr lang="zh-CN" altLang="en-US" dirty="0">
                <a:latin typeface="微软雅黑" panose="020B0503020204020204" pitchFamily="82" charset="2"/>
                <a:ea typeface="微软雅黑" panose="020B0503020204020204" pitchFamily="82" charset="2"/>
              </a:rPr>
              <a:t>跳表索引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LSM</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位图索引</a:t>
            </a:r>
            <a:endParaRPr lang="en-US" altLang="zh-CN" dirty="0">
              <a:latin typeface="微软雅黑" panose="020B0503020204020204" pitchFamily="82" charset="2"/>
              <a:ea typeface="微软雅黑" panose="020B0503020204020204" pitchFamily="82" charset="2"/>
            </a:endParaRPr>
          </a:p>
          <a:p>
            <a:pPr marL="0" indent="0">
              <a:buNone/>
            </a:pPr>
            <a:r>
              <a:rPr lang="en-US" altLang="zh-CN" sz="1800" dirty="0" smtClean="0">
                <a:latin typeface="微软雅黑" panose="020B0503020204020204" pitchFamily="82" charset="2"/>
                <a:ea typeface="微软雅黑" panose="020B0503020204020204" pitchFamily="82" charset="2"/>
              </a:rPr>
              <a:t>     </a:t>
            </a:r>
            <a:endParaRPr lang="zh-CN" altLang="en-US" sz="18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8333680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962761" y="2131346"/>
            <a:ext cx="7168868" cy="346415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808973" y="188640"/>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索引概述</a:t>
            </a:r>
            <a:endParaRPr lang="zh-CN" altLang="en-US" sz="2700" dirty="0">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1235126" y="2259433"/>
            <a:ext cx="6793258" cy="3336071"/>
          </a:xfrm>
        </p:spPr>
        <p:txBody>
          <a:bodyPr/>
          <a:lstStyle/>
          <a:p>
            <a:pPr>
              <a:lnSpc>
                <a:spcPct val="150000"/>
              </a:lnSpc>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索引通过存储</a:t>
            </a:r>
            <a:r>
              <a:rPr lang="en-US" altLang="zh-CN" sz="1800" dirty="0">
                <a:solidFill>
                  <a:srgbClr val="6F1787"/>
                </a:solidFill>
                <a:latin typeface="微软雅黑" panose="020B0503020204020204" pitchFamily="82" charset="2"/>
                <a:ea typeface="微软雅黑" panose="020B0503020204020204" pitchFamily="82" charset="2"/>
              </a:rPr>
              <a:t>&lt;</a:t>
            </a:r>
            <a:r>
              <a:rPr lang="zh-CN" altLang="en-US" sz="1800" dirty="0">
                <a:solidFill>
                  <a:srgbClr val="6F1787"/>
                </a:solidFill>
                <a:latin typeface="微软雅黑" panose="020B0503020204020204" pitchFamily="82" charset="2"/>
                <a:ea typeface="微软雅黑" panose="020B0503020204020204" pitchFamily="82" charset="2"/>
              </a:rPr>
              <a:t>查找键</a:t>
            </a:r>
            <a:r>
              <a:rPr lang="en-US" altLang="zh-CN" sz="1800" dirty="0">
                <a:solidFill>
                  <a:srgbClr val="6F1787"/>
                </a:solidFill>
                <a:latin typeface="微软雅黑" panose="020B0503020204020204" pitchFamily="82" charset="2"/>
                <a:ea typeface="微软雅黑" panose="020B0503020204020204" pitchFamily="82" charset="2"/>
              </a:rPr>
              <a:t>,</a:t>
            </a:r>
            <a:r>
              <a:rPr lang="zh-CN" altLang="en-US" sz="1800" dirty="0">
                <a:solidFill>
                  <a:srgbClr val="6F1787"/>
                </a:solidFill>
                <a:latin typeface="微软雅黑" panose="020B0503020204020204" pitchFamily="82" charset="2"/>
                <a:ea typeface="微软雅黑" panose="020B0503020204020204" pitchFamily="82" charset="2"/>
              </a:rPr>
              <a:t> 数据位置</a:t>
            </a:r>
            <a:r>
              <a:rPr lang="en-US" altLang="zh-CN" sz="1800" dirty="0">
                <a:solidFill>
                  <a:srgbClr val="6F1787"/>
                </a:solidFill>
                <a:latin typeface="微软雅黑" panose="020B0503020204020204" pitchFamily="82" charset="2"/>
                <a:ea typeface="微软雅黑" panose="020B0503020204020204" pitchFamily="82" charset="2"/>
              </a:rPr>
              <a:t>&gt;</a:t>
            </a:r>
            <a:r>
              <a:rPr lang="zh-CN" altLang="en-US" sz="1800" dirty="0">
                <a:latin typeface="微软雅黑" panose="020B0503020204020204" pitchFamily="82" charset="2"/>
                <a:ea typeface="微软雅黑" panose="020B0503020204020204" pitchFamily="82" charset="2"/>
              </a:rPr>
              <a:t>来快速</a:t>
            </a:r>
            <a:r>
              <a:rPr lang="zh-CN" altLang="en-US" sz="2000" u="sng" dirty="0">
                <a:latin typeface="微软雅黑" panose="020B0503020204020204" pitchFamily="82" charset="2"/>
                <a:ea typeface="微软雅黑" panose="020B0503020204020204" pitchFamily="82" charset="2"/>
              </a:rPr>
              <a:t>定位</a:t>
            </a:r>
            <a:r>
              <a:rPr lang="zh-CN" altLang="en-US" sz="1800" dirty="0">
                <a:latin typeface="微软雅黑" panose="020B0503020204020204" pitchFamily="82" charset="2"/>
                <a:ea typeface="微软雅黑" panose="020B0503020204020204" pitchFamily="82" charset="2"/>
              </a:rPr>
              <a:t>记录</a:t>
            </a:r>
            <a:endParaRPr lang="en-US" altLang="zh-CN" sz="1800" dirty="0">
              <a:latin typeface="微软雅黑" panose="020B0503020204020204" pitchFamily="82" charset="2"/>
              <a:ea typeface="微软雅黑" panose="020B0503020204020204" pitchFamily="82" charset="2"/>
            </a:endParaRPr>
          </a:p>
          <a:p>
            <a:pPr lvl="1">
              <a:lnSpc>
                <a:spcPct val="150000"/>
              </a:lnSpc>
              <a:buSzPct val="50000"/>
              <a:buFont typeface="Wingdings" panose="05000000000000000000" pitchFamily="2" charset="2"/>
              <a:buChar char="p"/>
            </a:pPr>
            <a:r>
              <a:rPr lang="zh-CN" altLang="en-US" sz="1800" dirty="0">
                <a:latin typeface="微软雅黑" panose="020B0503020204020204" pitchFamily="82" charset="2"/>
                <a:ea typeface="微软雅黑" panose="020B0503020204020204" pitchFamily="82" charset="2"/>
              </a:rPr>
              <a:t>稠密索引：数据位置</a:t>
            </a:r>
            <a:r>
              <a:rPr lang="en-US" altLang="zh-CN" sz="1800" dirty="0">
                <a:latin typeface="微软雅黑" panose="020B0503020204020204" pitchFamily="82" charset="2"/>
                <a:ea typeface="微软雅黑" panose="020B0503020204020204" pitchFamily="82" charset="2"/>
                <a:sym typeface="Wingdings" panose="05000000000000000000" pitchFamily="2" charset="2"/>
              </a:rPr>
              <a:t></a:t>
            </a:r>
            <a:r>
              <a:rPr lang="zh-CN" altLang="en-US" sz="1800" dirty="0">
                <a:latin typeface="微软雅黑" panose="020B0503020204020204" pitchFamily="82" charset="2"/>
                <a:ea typeface="微软雅黑" panose="020B0503020204020204" pitchFamily="82" charset="2"/>
              </a:rPr>
              <a:t>记录的位置（页面，槽位）</a:t>
            </a:r>
            <a:endParaRPr lang="en-US" altLang="zh-CN" sz="1800" dirty="0">
              <a:latin typeface="微软雅黑" panose="020B0503020204020204" pitchFamily="82" charset="2"/>
              <a:ea typeface="微软雅黑" panose="020B0503020204020204" pitchFamily="82" charset="2"/>
            </a:endParaRPr>
          </a:p>
          <a:p>
            <a:pPr lvl="1">
              <a:lnSpc>
                <a:spcPct val="150000"/>
              </a:lnSpc>
              <a:buSzPct val="50000"/>
              <a:buFont typeface="Wingdings" panose="05000000000000000000" pitchFamily="2" charset="2"/>
              <a:buChar char="p"/>
            </a:pPr>
            <a:r>
              <a:rPr lang="zh-CN" altLang="en-US" sz="1800" dirty="0">
                <a:latin typeface="微软雅黑" panose="020B0503020204020204" pitchFamily="82" charset="2"/>
                <a:ea typeface="微软雅黑" panose="020B0503020204020204" pitchFamily="82" charset="2"/>
              </a:rPr>
              <a:t>稀疏索引：数据位置</a:t>
            </a:r>
            <a:r>
              <a:rPr lang="en-US" altLang="zh-CN" sz="1800" dirty="0">
                <a:latin typeface="微软雅黑" panose="020B0503020204020204" pitchFamily="82" charset="2"/>
                <a:ea typeface="微软雅黑" panose="020B0503020204020204" pitchFamily="82" charset="2"/>
                <a:sym typeface="Wingdings" panose="05000000000000000000" pitchFamily="2" charset="2"/>
              </a:rPr>
              <a:t></a:t>
            </a:r>
            <a:r>
              <a:rPr lang="zh-CN" altLang="en-US" sz="1800" dirty="0">
                <a:latin typeface="微软雅黑" panose="020B0503020204020204" pitchFamily="82" charset="2"/>
                <a:ea typeface="微软雅黑" panose="020B0503020204020204" pitchFamily="82" charset="2"/>
              </a:rPr>
              <a:t>页面的位置（页面）</a:t>
            </a:r>
            <a:endParaRPr lang="en-US" altLang="zh-CN" sz="1800" dirty="0">
              <a:latin typeface="微软雅黑" panose="020B0503020204020204" pitchFamily="82" charset="2"/>
              <a:ea typeface="微软雅黑" panose="020B0503020204020204" pitchFamily="82" charset="2"/>
            </a:endParaRPr>
          </a:p>
          <a:p>
            <a:pPr>
              <a:lnSpc>
                <a:spcPct val="150000"/>
              </a:lnSpc>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索引一般存储以页面为单位组织（内存索引除外）</a:t>
            </a:r>
            <a:endParaRPr lang="en-US" altLang="zh-CN" sz="1800" dirty="0">
              <a:latin typeface="微软雅黑" panose="020B0503020204020204" pitchFamily="82" charset="2"/>
              <a:ea typeface="微软雅黑" panose="020B0503020204020204" pitchFamily="82" charset="2"/>
            </a:endParaRPr>
          </a:p>
          <a:p>
            <a:pPr>
              <a:lnSpc>
                <a:spcPct val="150000"/>
              </a:lnSpc>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索引也需要支持并发控制</a:t>
            </a:r>
            <a:endParaRPr lang="en-US" altLang="zh-CN" sz="1800" dirty="0">
              <a:latin typeface="微软雅黑" panose="020B0503020204020204" pitchFamily="82" charset="2"/>
              <a:ea typeface="微软雅黑" panose="020B0503020204020204" pitchFamily="82" charset="2"/>
            </a:endParaRPr>
          </a:p>
          <a:p>
            <a:pPr>
              <a:lnSpc>
                <a:spcPct val="150000"/>
              </a:lnSpc>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插入记录时，</a:t>
            </a:r>
            <a:r>
              <a:rPr lang="zh-CN" altLang="en-US" sz="1800" dirty="0">
                <a:solidFill>
                  <a:srgbClr val="3B20FF"/>
                </a:solidFill>
                <a:latin typeface="微软雅黑" panose="020B0503020204020204" pitchFamily="82" charset="2"/>
                <a:ea typeface="微软雅黑" panose="020B0503020204020204" pitchFamily="82" charset="2"/>
              </a:rPr>
              <a:t>先插入数据页面，然后插入索引</a:t>
            </a:r>
            <a:r>
              <a:rPr lang="zh-CN" altLang="en-US" sz="1800" dirty="0">
                <a:latin typeface="微软雅黑" panose="020B0503020204020204" pitchFamily="82" charset="2"/>
                <a:ea typeface="微软雅黑" panose="020B0503020204020204" pitchFamily="82" charset="2"/>
              </a:rPr>
              <a:t>，而且两者要保持事务一致性</a:t>
            </a:r>
            <a:endParaRPr lang="en-US" altLang="zh-CN" sz="1800" dirty="0">
              <a:latin typeface="微软雅黑" panose="020B0503020204020204" pitchFamily="82" charset="2"/>
              <a:ea typeface="微软雅黑" panose="020B0503020204020204" pitchFamily="82" charset="2"/>
            </a:endParaRPr>
          </a:p>
          <a:p>
            <a:pPr marL="0" indent="0">
              <a:buNone/>
            </a:pPr>
            <a:endParaRPr lang="en-US" altLang="zh-CN"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
        <p:nvSpPr>
          <p:cNvPr id="7" name="矩形 6"/>
          <p:cNvSpPr/>
          <p:nvPr/>
        </p:nvSpPr>
        <p:spPr>
          <a:xfrm>
            <a:off x="899592" y="1414457"/>
            <a:ext cx="1770998" cy="577081"/>
          </a:xfrm>
          <a:prstGeom prst="rect">
            <a:avLst/>
          </a:prstGeom>
        </p:spPr>
        <p:txBody>
          <a:bodyPr wrap="none">
            <a:spAutoFit/>
          </a:bodyPr>
          <a:lstStyle/>
          <a:p>
            <a:pPr marL="237490" lvl="1" indent="-237490" defTabSz="685800" fontAlgn="auto">
              <a:lnSpc>
                <a:spcPct val="150000"/>
              </a:lnSpc>
              <a:spcBef>
                <a:spcPts val="0"/>
              </a:spcBef>
              <a:spcAft>
                <a:spcPts val="0"/>
              </a:spcAft>
              <a:buClr>
                <a:srgbClr val="6F1787"/>
              </a:buClr>
              <a:buFont typeface="Wingdings" panose="05000000000000000000" pitchFamily="2" charset="2"/>
              <a:buChar char="Ø"/>
            </a:pPr>
            <a:r>
              <a:rPr lang="zh-CN" altLang="en-US" sz="2100" b="1" dirty="0">
                <a:solidFill>
                  <a:srgbClr val="701988"/>
                </a:solidFill>
                <a:latin typeface="微软雅黑" panose="020B0503020204020204" pitchFamily="82" charset="2"/>
                <a:ea typeface="微软雅黑" panose="020B0503020204020204" pitchFamily="82" charset="2"/>
              </a:rPr>
              <a:t>索引的目的</a:t>
            </a:r>
            <a:endParaRPr lang="en-US" altLang="zh-CN" sz="2100" b="1" dirty="0">
              <a:solidFill>
                <a:srgbClr val="701988"/>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18"/>
          <p:cNvSpPr/>
          <p:nvPr/>
        </p:nvSpPr>
        <p:spPr>
          <a:xfrm>
            <a:off x="4900618" y="3092128"/>
            <a:ext cx="3389141" cy="293315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12" name="Shape18"/>
          <p:cNvSpPr/>
          <p:nvPr/>
        </p:nvSpPr>
        <p:spPr>
          <a:xfrm>
            <a:off x="945998" y="3083281"/>
            <a:ext cx="3806477" cy="293315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6</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87914" y="374266"/>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索引概述</a:t>
            </a:r>
          </a:p>
        </p:txBody>
      </p:sp>
      <p:sp>
        <p:nvSpPr>
          <p:cNvPr id="4" name="内容占位符 3"/>
          <p:cNvSpPr>
            <a:spLocks noGrp="1"/>
          </p:cNvSpPr>
          <p:nvPr>
            <p:ph idx="1"/>
          </p:nvPr>
        </p:nvSpPr>
        <p:spPr>
          <a:xfrm>
            <a:off x="1135234" y="1984726"/>
            <a:ext cx="7060577" cy="562628"/>
          </a:xfrm>
        </p:spPr>
        <p:txBody>
          <a:bodyPr/>
          <a:lstStyle/>
          <a:p>
            <a:pPr>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例如：从数据库中高效获取</a:t>
            </a:r>
            <a:r>
              <a:rPr lang="zh-CN" altLang="en-US" sz="1500" dirty="0">
                <a:solidFill>
                  <a:srgbClr val="6F1787"/>
                </a:solidFill>
                <a:latin typeface="微软雅黑" panose="020B0503020204020204" pitchFamily="82" charset="2"/>
                <a:ea typeface="微软雅黑" panose="020B0503020204020204" pitchFamily="82" charset="2"/>
              </a:rPr>
              <a:t>满足条件的记录</a:t>
            </a:r>
            <a:endParaRPr lang="en-US" altLang="zh-CN" sz="1500" dirty="0">
              <a:solidFill>
                <a:srgbClr val="6F1787"/>
              </a:solidFill>
              <a:latin typeface="微软雅黑" panose="020B0503020204020204" pitchFamily="82" charset="2"/>
              <a:ea typeface="微软雅黑" panose="020B0503020204020204" pitchFamily="82" charset="2"/>
            </a:endParaRPr>
          </a:p>
          <a:p>
            <a:pPr>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cs typeface="Courier New" panose="02070309020205020404" pitchFamily="49" charset="0"/>
              </a:rPr>
              <a:t>SELECT * FROM library WHERE </a:t>
            </a:r>
            <a:r>
              <a:rPr lang="en-US" altLang="zh-CN" sz="1500" dirty="0">
                <a:solidFill>
                  <a:srgbClr val="6F1787"/>
                </a:solidFill>
                <a:latin typeface="微软雅黑" panose="020B0503020204020204" pitchFamily="82" charset="2"/>
                <a:ea typeface="微软雅黑" panose="020B0503020204020204" pitchFamily="82" charset="2"/>
                <a:cs typeface="Courier New" panose="02070309020205020404" pitchFamily="49" charset="0"/>
              </a:rPr>
              <a:t>title = ‘Database System’;</a:t>
            </a:r>
          </a:p>
        </p:txBody>
      </p:sp>
      <p:pic>
        <p:nvPicPr>
          <p:cNvPr id="5" name="图片 4"/>
          <p:cNvPicPr>
            <a:picLocks noChangeAspect="1"/>
          </p:cNvPicPr>
          <p:nvPr/>
        </p:nvPicPr>
        <p:blipFill>
          <a:blip r:embed="rId2"/>
          <a:stretch>
            <a:fillRect/>
          </a:stretch>
        </p:blipFill>
        <p:spPr>
          <a:xfrm>
            <a:off x="1356409" y="3592516"/>
            <a:ext cx="2977867" cy="2236895"/>
          </a:xfrm>
          <a:prstGeom prst="rect">
            <a:avLst/>
          </a:prstGeom>
          <a:ln w="25400" cmpd="sng">
            <a:gradFill>
              <a:gsLst>
                <a:gs pos="0">
                  <a:schemeClr val="accent1">
                    <a:lumMod val="5000"/>
                    <a:lumOff val="95000"/>
                  </a:schemeClr>
                </a:gs>
                <a:gs pos="100000">
                  <a:srgbClr val="6F1787"/>
                </a:gs>
              </a:gsLst>
              <a:lin ang="5400000" scaled="1"/>
            </a:gradFill>
          </a:ln>
        </p:spPr>
      </p:pic>
      <p:pic>
        <p:nvPicPr>
          <p:cNvPr id="6" name="图片 5"/>
          <p:cNvPicPr>
            <a:picLocks noChangeAspect="1"/>
          </p:cNvPicPr>
          <p:nvPr/>
        </p:nvPicPr>
        <p:blipFill rotWithShape="1">
          <a:blip r:embed="rId3"/>
          <a:srcRect l="16322" t="38274" r="51878" b="6340"/>
          <a:stretch>
            <a:fillRect/>
          </a:stretch>
        </p:blipFill>
        <p:spPr>
          <a:xfrm>
            <a:off x="5736300" y="3592516"/>
            <a:ext cx="1709728" cy="2236895"/>
          </a:xfrm>
          <a:prstGeom prst="rect">
            <a:avLst/>
          </a:prstGeom>
          <a:solidFill>
            <a:schemeClr val="bg1">
              <a:alpha val="0"/>
            </a:schemeClr>
          </a:solidFill>
          <a:ln w="25400" cap="rnd" cmpd="sng">
            <a:gradFill>
              <a:gsLst>
                <a:gs pos="0">
                  <a:schemeClr val="accent1">
                    <a:lumMod val="5000"/>
                    <a:lumOff val="95000"/>
                  </a:schemeClr>
                </a:gs>
                <a:gs pos="100000">
                  <a:srgbClr val="6F1787"/>
                </a:gs>
              </a:gsLst>
              <a:lin ang="5400000" scaled="1"/>
            </a:gradFill>
          </a:ln>
        </p:spPr>
      </p:pic>
      <p:sp>
        <p:nvSpPr>
          <p:cNvPr id="8" name="文本框 7"/>
          <p:cNvSpPr txBox="1"/>
          <p:nvPr/>
        </p:nvSpPr>
        <p:spPr>
          <a:xfrm>
            <a:off x="5100805" y="3186969"/>
            <a:ext cx="3095006" cy="507831"/>
          </a:xfrm>
          <a:prstGeom prst="rect">
            <a:avLst/>
          </a:prstGeom>
          <a:noFill/>
        </p:spPr>
        <p:txBody>
          <a:bodyPr wrap="square" rtlCol="0">
            <a:spAutoFit/>
          </a:bodyPr>
          <a:lstStyle/>
          <a:p>
            <a:pPr defTabSz="685800" fontAlgn="auto">
              <a:spcBef>
                <a:spcPts val="0"/>
              </a:spcBef>
              <a:spcAft>
                <a:spcPts val="0"/>
              </a:spcAft>
            </a:pPr>
            <a:r>
              <a:rPr kumimoji="1" lang="zh-CN" altLang="en-US" sz="1350" dirty="0">
                <a:solidFill>
                  <a:srgbClr val="000000"/>
                </a:solidFill>
                <a:latin typeface="微软雅黑" panose="020B0503020204020204" pitchFamily="82" charset="2"/>
                <a:ea typeface="微软雅黑" panose="020B0503020204020204" pitchFamily="82" charset="2"/>
              </a:rPr>
              <a:t>文献卡片在卡片柜中以书名笔画数排序</a:t>
            </a:r>
          </a:p>
        </p:txBody>
      </p:sp>
      <p:sp>
        <p:nvSpPr>
          <p:cNvPr id="10" name="文本框 9"/>
          <p:cNvSpPr txBox="1"/>
          <p:nvPr/>
        </p:nvSpPr>
        <p:spPr>
          <a:xfrm>
            <a:off x="1052352" y="3186969"/>
            <a:ext cx="3783760" cy="300082"/>
          </a:xfrm>
          <a:prstGeom prst="rect">
            <a:avLst/>
          </a:prstGeom>
          <a:noFill/>
        </p:spPr>
        <p:txBody>
          <a:bodyPr wrap="square" rtlCol="0">
            <a:spAutoFit/>
          </a:bodyPr>
          <a:lstStyle/>
          <a:p>
            <a:pPr defTabSz="685800" fontAlgn="auto">
              <a:spcBef>
                <a:spcPts val="0"/>
              </a:spcBef>
              <a:spcAft>
                <a:spcPts val="0"/>
              </a:spcAft>
            </a:pPr>
            <a:r>
              <a:rPr kumimoji="1" lang="zh-CN" altLang="en-US" sz="1350" dirty="0">
                <a:solidFill>
                  <a:srgbClr val="000000"/>
                </a:solidFill>
                <a:latin typeface="微软雅黑" panose="020B0503020204020204" pitchFamily="82" charset="2"/>
                <a:ea typeface="微软雅黑" panose="020B0503020204020204" pitchFamily="82" charset="2"/>
              </a:rPr>
              <a:t>文献卡片记录了书的基本信息与所在书架位置</a:t>
            </a:r>
          </a:p>
        </p:txBody>
      </p:sp>
      <p:sp>
        <p:nvSpPr>
          <p:cNvPr id="9" name="页脚占位符 8"/>
          <p:cNvSpPr>
            <a:spLocks noGrp="1"/>
          </p:cNvSpPr>
          <p:nvPr>
            <p:ph type="ftr" sz="quarter" idx="4294967295"/>
          </p:nvPr>
        </p:nvSpPr>
        <p:spPr>
          <a:xfrm>
            <a:off x="3067925" y="6221164"/>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
        <p:nvSpPr>
          <p:cNvPr id="13" name="矩形 12"/>
          <p:cNvSpPr/>
          <p:nvPr/>
        </p:nvSpPr>
        <p:spPr>
          <a:xfrm>
            <a:off x="1024764" y="1371430"/>
            <a:ext cx="4843379" cy="923330"/>
          </a:xfrm>
          <a:prstGeom prst="rect">
            <a:avLst/>
          </a:prstGeom>
        </p:spPr>
        <p:txBody>
          <a:bodyPr wrap="square">
            <a:spAutoFit/>
          </a:bodyPr>
          <a:lstStyle/>
          <a:p>
            <a:pPr marL="237490" lvl="1" indent="-237490" defTabSz="685800" fontAlgn="auto">
              <a:lnSpc>
                <a:spcPct val="150000"/>
              </a:lnSpc>
              <a:spcBef>
                <a:spcPts val="0"/>
              </a:spcBef>
              <a:spcAft>
                <a:spcPts val="0"/>
              </a:spcAft>
              <a:buClr>
                <a:srgbClr val="6F1787"/>
              </a:buClr>
              <a:buFont typeface="Wingdings" panose="05000000000000000000" pitchFamily="2" charset="2"/>
              <a:buChar char="Ø"/>
            </a:pPr>
            <a:r>
              <a:rPr lang="zh-CN" altLang="en-US" b="1" dirty="0">
                <a:solidFill>
                  <a:srgbClr val="701988"/>
                </a:solidFill>
                <a:latin typeface="微软雅黑" panose="020B0503020204020204" pitchFamily="82" charset="2"/>
                <a:ea typeface="微软雅黑" panose="020B0503020204020204" pitchFamily="82" charset="2"/>
              </a:rPr>
              <a:t>索引的目的：加速数据获取速度</a:t>
            </a:r>
            <a:endParaRPr lang="en-US" altLang="zh-CN" b="1" dirty="0">
              <a:solidFill>
                <a:srgbClr val="701988"/>
              </a:solidFill>
              <a:latin typeface="微软雅黑" panose="020B0503020204020204" pitchFamily="82" charset="2"/>
              <a:ea typeface="微软雅黑" panose="020B0503020204020204" pitchFamily="82" charset="2"/>
            </a:endParaRPr>
          </a:p>
          <a:p>
            <a:pPr marL="237490" lvl="1" indent="-237490" defTabSz="685800" fontAlgn="auto">
              <a:lnSpc>
                <a:spcPct val="150000"/>
              </a:lnSpc>
              <a:spcBef>
                <a:spcPts val="0"/>
              </a:spcBef>
              <a:spcAft>
                <a:spcPts val="0"/>
              </a:spcAft>
              <a:buClr>
                <a:srgbClr val="6F1787"/>
              </a:buClr>
              <a:buFont typeface="Wingdings" panose="05000000000000000000" pitchFamily="2" charset="2"/>
              <a:buChar char="Ø"/>
            </a:pPr>
            <a:endParaRPr lang="en-US" altLang="zh-CN" b="1" dirty="0">
              <a:solidFill>
                <a:srgbClr val="701988"/>
              </a:solidFill>
              <a:latin typeface="微软雅黑" panose="020B0503020204020204" pitchFamily="82" charset="2"/>
              <a:ea typeface="微软雅黑" panose="020B0503020204020204" pitchFamily="8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p:cNvSpPr/>
          <p:nvPr/>
        </p:nvSpPr>
        <p:spPr>
          <a:xfrm>
            <a:off x="1191622" y="3839749"/>
            <a:ext cx="6887960" cy="181810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7</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37368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索引分类</a:t>
            </a:r>
            <a:r>
              <a:rPr lang="en-US" altLang="zh-CN" sz="2700" dirty="0">
                <a:solidFill>
                  <a:srgbClr val="FF0000"/>
                </a:solidFill>
                <a:latin typeface="微软雅黑" panose="020B0503020204020204" pitchFamily="82" charset="2"/>
                <a:ea typeface="微软雅黑" panose="020B0503020204020204" pitchFamily="82" charset="2"/>
              </a:rPr>
              <a:t>--</a:t>
            </a:r>
            <a:r>
              <a:rPr lang="zh-CN" altLang="en-US" sz="2700" dirty="0">
                <a:solidFill>
                  <a:srgbClr val="FF0000"/>
                </a:solidFill>
                <a:latin typeface="微软雅黑" panose="020B0503020204020204" pitchFamily="82" charset="2"/>
                <a:ea typeface="微软雅黑" panose="020B0503020204020204" pitchFamily="82" charset="2"/>
              </a:rPr>
              <a:t>按照物理存储类型</a:t>
            </a:r>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b="10241"/>
          <a:stretch>
            <a:fillRect/>
          </a:stretch>
        </p:blipFill>
        <p:spPr>
          <a:xfrm>
            <a:off x="1729535" y="3944858"/>
            <a:ext cx="5796535" cy="1552718"/>
          </a:xfrm>
          <a:prstGeom prst="rect">
            <a:avLst/>
          </a:prstGeom>
        </p:spPr>
      </p:pic>
      <p:sp>
        <p:nvSpPr>
          <p:cNvPr id="7" name="文本框 6"/>
          <p:cNvSpPr txBox="1"/>
          <p:nvPr/>
        </p:nvSpPr>
        <p:spPr>
          <a:xfrm>
            <a:off x="1810707" y="5312061"/>
            <a:ext cx="1131436" cy="300082"/>
          </a:xfrm>
          <a:prstGeom prst="rect">
            <a:avLst/>
          </a:prstGeom>
          <a:noFill/>
        </p:spPr>
        <p:txBody>
          <a:bodyPr wrap="square">
            <a:spAutoFit/>
          </a:bodyPr>
          <a:lstStyle/>
          <a:p>
            <a:pPr defTabSz="685800" fontAlgn="auto">
              <a:spcBef>
                <a:spcPts val="0"/>
              </a:spcBef>
              <a:spcAft>
                <a:spcPts val="0"/>
              </a:spcAft>
            </a:pPr>
            <a:r>
              <a:rPr lang="zh-CN" altLang="en-US" sz="1350" dirty="0">
                <a:solidFill>
                  <a:srgbClr val="000000"/>
                </a:solidFill>
                <a:latin typeface="微软雅黑" panose="020B0503020204020204" pitchFamily="82" charset="2"/>
                <a:ea typeface="微软雅黑" panose="020B0503020204020204" pitchFamily="82" charset="2"/>
              </a:rPr>
              <a:t>聚集索引</a:t>
            </a:r>
          </a:p>
        </p:txBody>
      </p:sp>
      <p:sp>
        <p:nvSpPr>
          <p:cNvPr id="8" name="文本框 7"/>
          <p:cNvSpPr txBox="1"/>
          <p:nvPr/>
        </p:nvSpPr>
        <p:spPr>
          <a:xfrm>
            <a:off x="6561156" y="5312061"/>
            <a:ext cx="1131436" cy="300082"/>
          </a:xfrm>
          <a:prstGeom prst="rect">
            <a:avLst/>
          </a:prstGeom>
          <a:noFill/>
        </p:spPr>
        <p:txBody>
          <a:bodyPr wrap="square">
            <a:spAutoFit/>
          </a:bodyPr>
          <a:lstStyle/>
          <a:p>
            <a:pPr defTabSz="685800" fontAlgn="auto">
              <a:spcBef>
                <a:spcPts val="0"/>
              </a:spcBef>
              <a:spcAft>
                <a:spcPts val="0"/>
              </a:spcAft>
            </a:pPr>
            <a:r>
              <a:rPr lang="zh-CN" altLang="en-US" sz="1350" dirty="0">
                <a:solidFill>
                  <a:srgbClr val="000000"/>
                </a:solidFill>
                <a:latin typeface="微软雅黑" panose="020B0503020204020204" pitchFamily="82" charset="2"/>
                <a:ea typeface="微软雅黑" panose="020B0503020204020204" pitchFamily="82" charset="2"/>
              </a:rPr>
              <a:t>非聚集索引</a:t>
            </a:r>
          </a:p>
        </p:txBody>
      </p:sp>
      <p:sp>
        <p:nvSpPr>
          <p:cNvPr id="9" name="页脚占位符 8"/>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787913" y="1553400"/>
            <a:ext cx="8482211" cy="3416790"/>
          </a:xfrm>
        </p:spPr>
        <p:txBody>
          <a:bodyPr/>
          <a:lstStyle/>
          <a:p>
            <a:pPr>
              <a:buClr>
                <a:srgbClr val="6F1787"/>
              </a:buClr>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按照物理存储分为：聚集索引 </a:t>
            </a:r>
            <a:r>
              <a:rPr lang="en-US" altLang="zh-CN" sz="1800" b="1" dirty="0">
                <a:solidFill>
                  <a:srgbClr val="701988"/>
                </a:solidFill>
                <a:latin typeface="微软雅黑" panose="020B0503020204020204" pitchFamily="82" charset="2"/>
                <a:ea typeface="微软雅黑" panose="020B0503020204020204" pitchFamily="82" charset="2"/>
              </a:rPr>
              <a:t>vs </a:t>
            </a:r>
            <a:r>
              <a:rPr lang="zh-CN" altLang="en-US" sz="1800" b="1" dirty="0">
                <a:solidFill>
                  <a:srgbClr val="701988"/>
                </a:solidFill>
                <a:latin typeface="微软雅黑" panose="020B0503020204020204" pitchFamily="82" charset="2"/>
                <a:ea typeface="微软雅黑" panose="020B0503020204020204" pitchFamily="82" charset="2"/>
              </a:rPr>
              <a:t>非聚集索引</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SzPct val="100000"/>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聚集索引：数据按照查找键排序</a:t>
            </a:r>
            <a:endParaRPr lang="en-US" altLang="zh-CN" sz="1500" dirty="0">
              <a:latin typeface="微软雅黑" panose="020B0503020204020204" pitchFamily="82" charset="2"/>
              <a:ea typeface="微软雅黑" panose="020B0503020204020204" pitchFamily="82" charset="2"/>
            </a:endParaRPr>
          </a:p>
          <a:p>
            <a:pPr lvl="2">
              <a:lnSpc>
                <a:spcPct val="150000"/>
              </a:lnSpc>
              <a:buSzPct val="50000"/>
              <a:buFont typeface="Wingdings" panose="05000000000000000000" pitchFamily="2" charset="2"/>
              <a:buChar char="p"/>
            </a:pPr>
            <a:r>
              <a:rPr lang="zh-CN" altLang="en-US" sz="1500" dirty="0">
                <a:latin typeface="微软雅黑" panose="020B0503020204020204" pitchFamily="82" charset="2"/>
                <a:ea typeface="微软雅黑" panose="020B0503020204020204" pitchFamily="82" charset="2"/>
              </a:rPr>
              <a:t>按照查找键连续存储，聚集索引上范围查询效率更高，一张表只能有一个</a:t>
            </a:r>
            <a:endParaRPr lang="en-US" altLang="zh-CN" sz="1500" dirty="0">
              <a:latin typeface="微软雅黑" panose="020B0503020204020204" pitchFamily="82" charset="2"/>
              <a:ea typeface="微软雅黑" panose="020B0503020204020204" pitchFamily="82" charset="2"/>
            </a:endParaRPr>
          </a:p>
          <a:p>
            <a:pPr lvl="2">
              <a:lnSpc>
                <a:spcPct val="150000"/>
              </a:lnSpc>
              <a:buSzPct val="50000"/>
              <a:buFont typeface="Wingdings" panose="05000000000000000000" pitchFamily="2" charset="2"/>
              <a:buChar char="p"/>
            </a:pPr>
            <a:r>
              <a:rPr lang="zh-CN" altLang="en-US" sz="1500" dirty="0">
                <a:latin typeface="微软雅黑" panose="020B0503020204020204" pitchFamily="82" charset="2"/>
                <a:ea typeface="微软雅黑" panose="020B0503020204020204" pitchFamily="82" charset="2"/>
              </a:rPr>
              <a:t>维护增删时需要移动数据文件中的记录，开销稍大</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非聚集索引：辅助索引、二级索引</a:t>
            </a:r>
            <a:endParaRPr lang="en-US" altLang="zh-CN" sz="1500" dirty="0">
              <a:latin typeface="微软雅黑" panose="020B0503020204020204" pitchFamily="82" charset="2"/>
              <a:ea typeface="微软雅黑" panose="020B0503020204020204" pitchFamily="82" charset="2"/>
            </a:endParaRPr>
          </a:p>
          <a:p>
            <a:pPr lvl="2">
              <a:lnSpc>
                <a:spcPct val="150000"/>
              </a:lnSpc>
              <a:buClr>
                <a:schemeClr val="tx1"/>
              </a:buClr>
              <a:buSzPct val="50000"/>
              <a:buFont typeface="Wingdings" panose="05000000000000000000" pitchFamily="2" charset="2"/>
              <a:buChar char="p"/>
            </a:pPr>
            <a:r>
              <a:rPr lang="zh-CN" altLang="en-US" sz="1500" b="1" dirty="0">
                <a:solidFill>
                  <a:srgbClr val="6F1787"/>
                </a:solidFill>
                <a:latin typeface="微软雅黑" panose="020B0503020204020204" pitchFamily="82" charset="2"/>
                <a:ea typeface="微软雅黑" panose="020B0503020204020204" pitchFamily="82" charset="2"/>
              </a:rPr>
              <a:t>一张表可以有多个</a:t>
            </a:r>
            <a:r>
              <a:rPr lang="zh-CN" altLang="en-US" sz="1500" dirty="0">
                <a:latin typeface="微软雅黑" panose="020B0503020204020204" pitchFamily="82" charset="2"/>
                <a:ea typeface="微软雅黑" panose="020B0503020204020204" pitchFamily="82" charset="2"/>
              </a:rPr>
              <a:t>，数据不一定按照索引列顺序存储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p:cNvSpPr/>
          <p:nvPr/>
        </p:nvSpPr>
        <p:spPr>
          <a:xfrm>
            <a:off x="1103258" y="2781515"/>
            <a:ext cx="6818981" cy="278008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8</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488582"/>
            <a:ext cx="7568173" cy="678470"/>
          </a:xfrm>
          <a:noFill/>
          <a:ln>
            <a:noFill/>
          </a:ln>
          <a:effectLst/>
        </p:spPr>
        <p:txBody>
          <a:bodyPr vert="horz" wrap="square" lIns="91440" tIns="45720" rIns="91440" bIns="45720" numCol="1" anchor="ctr" anchorCtr="0" compatLnSpc="1"/>
          <a:lstStyle/>
          <a:p>
            <a:r>
              <a:rPr lang="zh-CN" altLang="en-US" sz="2700" dirty="0">
                <a:solidFill>
                  <a:srgbClr val="FF0000"/>
                </a:solidFill>
                <a:latin typeface="微软雅黑" panose="020B0503020204020204" pitchFamily="82" charset="2"/>
                <a:ea typeface="微软雅黑" panose="020B0503020204020204" pitchFamily="82" charset="2"/>
              </a:rPr>
              <a:t>索引分类</a:t>
            </a:r>
            <a:r>
              <a:rPr lang="en-US" altLang="zh-CN" sz="2700" dirty="0">
                <a:solidFill>
                  <a:srgbClr val="FF0000"/>
                </a:solidFill>
                <a:latin typeface="微软雅黑" panose="020B0503020204020204" pitchFamily="82" charset="2"/>
                <a:ea typeface="微软雅黑" panose="020B0503020204020204" pitchFamily="82" charset="2"/>
              </a:rPr>
              <a:t>--</a:t>
            </a:r>
            <a:r>
              <a:rPr lang="zh-CN" altLang="en-US" sz="2700" dirty="0">
                <a:solidFill>
                  <a:srgbClr val="FF0000"/>
                </a:solidFill>
                <a:latin typeface="微软雅黑" panose="020B0503020204020204" pitchFamily="82" charset="2"/>
                <a:ea typeface="微软雅黑" panose="020B0503020204020204" pitchFamily="82" charset="2"/>
              </a:rPr>
              <a:t>按照指针记录的粒度</a:t>
            </a:r>
          </a:p>
        </p:txBody>
      </p:sp>
      <p:sp>
        <p:nvSpPr>
          <p:cNvPr id="4" name="内容占位符 3"/>
          <p:cNvSpPr>
            <a:spLocks noGrp="1"/>
          </p:cNvSpPr>
          <p:nvPr>
            <p:ph idx="1"/>
          </p:nvPr>
        </p:nvSpPr>
        <p:spPr>
          <a:xfrm>
            <a:off x="988359" y="1537728"/>
            <a:ext cx="7052383" cy="1270341"/>
          </a:xfrm>
        </p:spPr>
        <p:txBody>
          <a:bodyPr/>
          <a:lstStyle/>
          <a:p>
            <a:pPr>
              <a:lnSpc>
                <a:spcPct val="150000"/>
              </a:lnSpc>
              <a:buClr>
                <a:srgbClr val="6F1787"/>
              </a:buClr>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按照索引粒度分为：稠密索引 </a:t>
            </a:r>
            <a:r>
              <a:rPr lang="en-US" altLang="zh-CN" sz="1800" b="1" dirty="0">
                <a:solidFill>
                  <a:srgbClr val="701988"/>
                </a:solidFill>
                <a:latin typeface="微软雅黑" panose="020B0503020204020204" pitchFamily="82" charset="2"/>
                <a:ea typeface="微软雅黑" panose="020B0503020204020204" pitchFamily="82" charset="2"/>
              </a:rPr>
              <a:t>vs</a:t>
            </a:r>
            <a:r>
              <a:rPr lang="zh-CN" altLang="en-US" sz="1800" b="1" dirty="0">
                <a:solidFill>
                  <a:srgbClr val="701988"/>
                </a:solidFill>
                <a:latin typeface="微软雅黑" panose="020B0503020204020204" pitchFamily="82" charset="2"/>
                <a:ea typeface="微软雅黑" panose="020B0503020204020204" pitchFamily="82" charset="2"/>
              </a:rPr>
              <a:t> 稀疏索引</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SzPct val="50000"/>
              <a:buFont typeface="Wingdings" panose="05000000000000000000" pitchFamily="2" charset="2"/>
              <a:buChar char="l"/>
            </a:pPr>
            <a:r>
              <a:rPr lang="zh-CN" altLang="en-US" sz="1500" dirty="0">
                <a:latin typeface="微软雅黑" panose="020B0503020204020204" pitchFamily="82" charset="2"/>
                <a:ea typeface="微软雅黑" panose="020B0503020204020204" pitchFamily="82" charset="2"/>
              </a:rPr>
              <a:t>稠密索引：索引到数据记录</a:t>
            </a:r>
            <a:endParaRPr lang="en-US" altLang="zh-CN" sz="1500" dirty="0">
              <a:latin typeface="微软雅黑" panose="020B0503020204020204" pitchFamily="82" charset="2"/>
              <a:ea typeface="微软雅黑" panose="020B0503020204020204" pitchFamily="82" charset="2"/>
            </a:endParaRPr>
          </a:p>
          <a:p>
            <a:pPr lvl="1">
              <a:lnSpc>
                <a:spcPct val="150000"/>
              </a:lnSpc>
              <a:buSzPct val="50000"/>
              <a:buFont typeface="Wingdings" panose="05000000000000000000" pitchFamily="2" charset="2"/>
              <a:buChar char="l"/>
            </a:pPr>
            <a:r>
              <a:rPr lang="zh-CN" altLang="en-US" sz="1500" dirty="0">
                <a:latin typeface="微软雅黑" panose="020B0503020204020204" pitchFamily="82" charset="2"/>
                <a:ea typeface="微软雅黑" panose="020B0503020204020204" pitchFamily="82" charset="2"/>
              </a:rPr>
              <a:t>稀疏索引：索引到文件页面</a:t>
            </a:r>
            <a:endParaRPr lang="en-US" altLang="zh-CN" sz="1500" dirty="0">
              <a:latin typeface="微软雅黑" panose="020B0503020204020204" pitchFamily="82" charset="2"/>
              <a:ea typeface="微软雅黑" panose="020B0503020204020204" pitchFamily="82" charset="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0316" y="2870952"/>
            <a:ext cx="2927099" cy="257121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64882" y="2870952"/>
            <a:ext cx="3000689" cy="2571210"/>
          </a:xfrm>
          <a:prstGeom prst="rect">
            <a:avLst/>
          </a:prstGeom>
        </p:spPr>
      </p:pic>
      <p:sp>
        <p:nvSpPr>
          <p:cNvPr id="7" name="页脚占位符 6"/>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p:nvSpPr>
        <p:spPr bwMode="auto">
          <a:xfrm>
            <a:off x="534169" y="1747054"/>
            <a:ext cx="8075663" cy="364109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defTabSz="685800">
              <a:spcBef>
                <a:spcPct val="50000"/>
              </a:spcBef>
            </a:pPr>
            <a:endParaRPr kumimoji="1" lang="zh-CN" altLang="en-US" sz="2400" dirty="0">
              <a:solidFill>
                <a:srgbClr val="000000"/>
              </a:solidFill>
              <a:latin typeface="Times New Roman" panose="02020603050405020304" pitchFamily="18" charset="0"/>
              <a:ea typeface="华文楷体" panose="02010600040101010101" pitchFamily="2" charset="-122"/>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332656"/>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索引分类</a:t>
            </a:r>
            <a:r>
              <a:rPr lang="en-US" altLang="zh-CN" sz="2700" dirty="0">
                <a:solidFill>
                  <a:srgbClr val="FF0000"/>
                </a:solidFill>
                <a:latin typeface="微软雅黑" panose="020B0503020204020204" pitchFamily="82" charset="2"/>
                <a:ea typeface="微软雅黑" panose="020B0503020204020204" pitchFamily="82" charset="2"/>
              </a:rPr>
              <a:t>--</a:t>
            </a:r>
            <a:r>
              <a:rPr lang="zh-CN" altLang="en-US" sz="2700" dirty="0">
                <a:solidFill>
                  <a:srgbClr val="FF0000"/>
                </a:solidFill>
                <a:latin typeface="微软雅黑" panose="020B0503020204020204" pitchFamily="82" charset="2"/>
                <a:ea typeface="微软雅黑" panose="020B0503020204020204" pitchFamily="82" charset="2"/>
              </a:rPr>
              <a:t>按照层数</a:t>
            </a:r>
          </a:p>
        </p:txBody>
      </p:sp>
      <p:sp>
        <p:nvSpPr>
          <p:cNvPr id="4" name="内容占位符 3"/>
          <p:cNvSpPr>
            <a:spLocks noGrp="1"/>
          </p:cNvSpPr>
          <p:nvPr>
            <p:ph idx="1"/>
          </p:nvPr>
        </p:nvSpPr>
        <p:spPr>
          <a:xfrm>
            <a:off x="600151" y="1747054"/>
            <a:ext cx="3533525" cy="3754040"/>
          </a:xfrm>
        </p:spPr>
        <p:txBody>
          <a:bodyPr/>
          <a:lstStyle/>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单级索引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buSzPct val="100000"/>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一层索引：如哈希</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多级索引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buSzPct val="100000"/>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索引文件上再建索引</a:t>
            </a:r>
            <a:endParaRPr lang="en-US" altLang="zh-CN" sz="1500" dirty="0">
              <a:latin typeface="微软雅黑" panose="020B0503020204020204" pitchFamily="82" charset="2"/>
              <a:ea typeface="微软雅黑" panose="020B0503020204020204" pitchFamily="82" charset="2"/>
            </a:endParaRPr>
          </a:p>
          <a:p>
            <a:pPr lvl="1">
              <a:lnSpc>
                <a:spcPct val="150000"/>
              </a:lnSpc>
              <a:buSzPct val="100000"/>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如：</a:t>
            </a:r>
            <a:r>
              <a:rPr lang="en-US" altLang="zh-CN" sz="1500" dirty="0" err="1">
                <a:latin typeface="微软雅黑" panose="020B0503020204020204" pitchFamily="82" charset="2"/>
                <a:ea typeface="微软雅黑" panose="020B0503020204020204" pitchFamily="82" charset="2"/>
              </a:rPr>
              <a:t>B+tree</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多级索引目的</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buSzPct val="100000"/>
              <a:buFont typeface="微软雅黑" panose="020B0503020204020204" pitchFamily="34" charset="-122"/>
              <a:buChar char="•"/>
            </a:pPr>
            <a:r>
              <a:rPr lang="zh-CN" altLang="en-US" sz="1500" dirty="0">
                <a:latin typeface="微软雅黑" panose="020B0503020204020204" pitchFamily="82" charset="2"/>
                <a:ea typeface="微软雅黑" panose="020B0503020204020204" pitchFamily="82" charset="2"/>
              </a:rPr>
              <a:t>多层过滤</a:t>
            </a:r>
            <a:endParaRPr lang="en-US" altLang="zh-CN" sz="1500" dirty="0">
              <a:latin typeface="微软雅黑" panose="020B0503020204020204" pitchFamily="82" charset="2"/>
              <a:ea typeface="微软雅黑" panose="020B0503020204020204" pitchFamily="82" charset="2"/>
            </a:endParaRPr>
          </a:p>
          <a:p>
            <a:pPr lvl="1">
              <a:lnSpc>
                <a:spcPct val="150000"/>
              </a:lnSpc>
              <a:buSzPct val="100000"/>
              <a:buFont typeface="微软雅黑" panose="020B0503020204020204" pitchFamily="34" charset="-122"/>
              <a:buChar char="•"/>
            </a:pPr>
            <a:r>
              <a:rPr lang="zh-CN" altLang="en-US" sz="1500" dirty="0">
                <a:latin typeface="微软雅黑" panose="020B0503020204020204" pitchFamily="82" charset="2"/>
                <a:ea typeface="微软雅黑" panose="020B0503020204020204" pitchFamily="82" charset="2"/>
              </a:rPr>
              <a:t>进一步降低</a:t>
            </a:r>
            <a:r>
              <a:rPr lang="en-US" altLang="zh-CN" sz="1500" dirty="0">
                <a:latin typeface="微软雅黑" panose="020B0503020204020204" pitchFamily="82" charset="2"/>
                <a:ea typeface="微软雅黑" panose="020B0503020204020204" pitchFamily="82" charset="2"/>
              </a:rPr>
              <a:t>I/O</a:t>
            </a:r>
            <a:r>
              <a:rPr lang="zh-CN" altLang="en-US" sz="1500" dirty="0">
                <a:latin typeface="微软雅黑" panose="020B0503020204020204" pitchFamily="82" charset="2"/>
                <a:ea typeface="微软雅黑" panose="020B0503020204020204" pitchFamily="82" charset="2"/>
              </a:rPr>
              <a:t>次数</a:t>
            </a:r>
            <a:endParaRPr lang="en-US" altLang="zh-CN" sz="1500" dirty="0">
              <a:latin typeface="微软雅黑" panose="020B0503020204020204" pitchFamily="82" charset="2"/>
              <a:ea typeface="微软雅黑" panose="020B0503020204020204" pitchFamily="82" charset="2"/>
            </a:endParaRPr>
          </a:p>
          <a:p>
            <a:pPr lvl="1">
              <a:lnSpc>
                <a:spcPct val="150000"/>
              </a:lnSpc>
              <a:buSzPct val="100000"/>
              <a:buFont typeface="微软雅黑" panose="020B0503020204020204" pitchFamily="34" charset="-122"/>
              <a:buChar char="•"/>
            </a:pPr>
            <a:r>
              <a:rPr lang="zh-CN" altLang="en-US" sz="1500" dirty="0">
                <a:latin typeface="微软雅黑" panose="020B0503020204020204" pitchFamily="82" charset="2"/>
                <a:ea typeface="微软雅黑" panose="020B0503020204020204" pitchFamily="82" charset="2"/>
              </a:rPr>
              <a:t>提升查找速度</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2232" y="1883274"/>
            <a:ext cx="3721112" cy="3485064"/>
          </a:xfrm>
          <a:prstGeom prst="rect">
            <a:avLst/>
          </a:prstGeom>
        </p:spPr>
      </p:pic>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8"/>
          <p:cNvSpPr/>
          <p:nvPr/>
        </p:nvSpPr>
        <p:spPr bwMode="auto">
          <a:xfrm>
            <a:off x="534169" y="1747054"/>
            <a:ext cx="8075663" cy="364109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defTabSz="685800">
              <a:spcBef>
                <a:spcPct val="50000"/>
              </a:spcBef>
            </a:pPr>
            <a:endParaRPr kumimoji="1" lang="zh-CN" altLang="en-US" sz="2400" dirty="0">
              <a:solidFill>
                <a:srgbClr val="000000"/>
              </a:solidFill>
              <a:latin typeface="Times New Roman" panose="02020603050405020304" pitchFamily="18" charset="0"/>
              <a:ea typeface="华文楷体" panose="02010600040101010101" pitchFamily="2" charset="-122"/>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10</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索引分类</a:t>
            </a:r>
            <a:r>
              <a:rPr lang="en-US" altLang="zh-CN" sz="2700" dirty="0">
                <a:solidFill>
                  <a:srgbClr val="FF0000"/>
                </a:solidFill>
                <a:latin typeface="微软雅黑" panose="020B0503020204020204" pitchFamily="82" charset="2"/>
                <a:ea typeface="微软雅黑" panose="020B0503020204020204" pitchFamily="82" charset="2"/>
              </a:rPr>
              <a:t>--</a:t>
            </a:r>
            <a:r>
              <a:rPr lang="zh-CN" altLang="en-US" sz="2700" dirty="0">
                <a:solidFill>
                  <a:srgbClr val="FF0000"/>
                </a:solidFill>
                <a:latin typeface="微软雅黑" panose="020B0503020204020204" pitchFamily="82" charset="2"/>
                <a:ea typeface="微软雅黑" panose="020B0503020204020204" pitchFamily="82" charset="2"/>
              </a:rPr>
              <a:t>按照索引键特性</a:t>
            </a:r>
          </a:p>
        </p:txBody>
      </p:sp>
      <p:sp>
        <p:nvSpPr>
          <p:cNvPr id="4" name="内容占位符 3"/>
          <p:cNvSpPr>
            <a:spLocks noGrp="1"/>
          </p:cNvSpPr>
          <p:nvPr>
            <p:ph idx="1"/>
          </p:nvPr>
        </p:nvSpPr>
        <p:spPr>
          <a:xfrm>
            <a:off x="577414" y="1701375"/>
            <a:ext cx="5965999" cy="3754040"/>
          </a:xfrm>
        </p:spPr>
        <p:txBody>
          <a:bodyPr/>
          <a:lstStyle/>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按照索引键特性分为：主键索引、唯一索引和普通索引</a:t>
            </a:r>
            <a:endParaRPr lang="en-US" altLang="zh-CN" sz="1800" b="1" dirty="0">
              <a:solidFill>
                <a:srgbClr val="6F1787"/>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主键索引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建立在主键字段上的索引</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一张表最多只有一个主键索引</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索引列的值不允许有空值</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唯一索引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建立在 </a:t>
            </a:r>
            <a:r>
              <a:rPr lang="en-US" altLang="zh-CN" sz="1500" dirty="0">
                <a:latin typeface="微软雅黑" panose="020B0503020204020204" pitchFamily="82" charset="2"/>
                <a:ea typeface="微软雅黑" panose="020B0503020204020204" pitchFamily="82" charset="2"/>
              </a:rPr>
              <a:t>UNIQUE </a:t>
            </a:r>
            <a:r>
              <a:rPr lang="zh-CN" altLang="en-US" sz="1500" dirty="0">
                <a:latin typeface="微软雅黑" panose="020B0503020204020204" pitchFamily="82" charset="2"/>
                <a:ea typeface="微软雅黑" panose="020B0503020204020204" pitchFamily="82" charset="2"/>
              </a:rPr>
              <a:t>字段上的索引</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一张表可以有多个唯一索引</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索引列的值必须唯一，但是允许有空值</a:t>
            </a:r>
            <a:endParaRPr lang="en-US" altLang="zh-CN" sz="1500" dirty="0">
              <a:latin typeface="微软雅黑" panose="020B0503020204020204" pitchFamily="82" charset="2"/>
              <a:ea typeface="微软雅黑" panose="020B0503020204020204" pitchFamily="82" charset="2"/>
            </a:endParaRPr>
          </a:p>
          <a:p>
            <a:pPr lvl="1"/>
            <a:endParaRPr lang="en-US" altLang="zh-CN" sz="2400" dirty="0">
              <a:latin typeface="微软雅黑" panose="020B0503020204020204" pitchFamily="82" charset="2"/>
              <a:ea typeface="微软雅黑" panose="020B0503020204020204" pitchFamily="82" charset="2"/>
            </a:endParaRPr>
          </a:p>
          <a:p>
            <a:endParaRPr lang="zh-CN" altLang="en-US" sz="27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r="27799" b="10241"/>
          <a:stretch>
            <a:fillRect/>
          </a:stretch>
        </p:blipFill>
        <p:spPr>
          <a:xfrm>
            <a:off x="4135255" y="2484906"/>
            <a:ext cx="4431332" cy="1644050"/>
          </a:xfrm>
          <a:prstGeom prst="rect">
            <a:avLst/>
          </a:prstGeom>
        </p:spPr>
      </p:pic>
      <p:sp>
        <p:nvSpPr>
          <p:cNvPr id="8" name="文本框 7"/>
          <p:cNvSpPr txBox="1"/>
          <p:nvPr/>
        </p:nvSpPr>
        <p:spPr>
          <a:xfrm>
            <a:off x="6209955" y="4327672"/>
            <a:ext cx="1128455" cy="369332"/>
          </a:xfrm>
          <a:prstGeom prst="rect">
            <a:avLst/>
          </a:prstGeom>
          <a:noFill/>
        </p:spPr>
        <p:txBody>
          <a:bodyPr wrap="square">
            <a:spAutoFit/>
          </a:bodyPr>
          <a:lstStyle/>
          <a:p>
            <a:pPr defTabSz="685800" fontAlgn="auto">
              <a:spcBef>
                <a:spcPts val="0"/>
              </a:spcBef>
              <a:spcAft>
                <a:spcPts val="0"/>
              </a:spcAft>
            </a:pPr>
            <a:r>
              <a:rPr lang="zh-CN" altLang="en-US" dirty="0">
                <a:solidFill>
                  <a:srgbClr val="000000"/>
                </a:solidFill>
                <a:latin typeface="微软雅黑" panose="020B0503020204020204" pitchFamily="82" charset="2"/>
                <a:ea typeface="微软雅黑" panose="020B0503020204020204" pitchFamily="82" charset="2"/>
              </a:rPr>
              <a:t>主键索引</a:t>
            </a:r>
            <a:endParaRPr lang="en-US" altLang="zh-CN"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p:nvSpPr>
        <p:spPr bwMode="auto">
          <a:xfrm>
            <a:off x="534168" y="1574685"/>
            <a:ext cx="8075663" cy="1985750"/>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defTabSz="685800">
              <a:spcBef>
                <a:spcPct val="50000"/>
              </a:spcBef>
            </a:pPr>
            <a:endParaRPr kumimoji="1" lang="zh-CN" altLang="en-US" sz="2400" dirty="0">
              <a:solidFill>
                <a:srgbClr val="000000"/>
              </a:solidFill>
              <a:latin typeface="Times New Roman" panose="02020603050405020304" pitchFamily="18" charset="0"/>
              <a:ea typeface="华文楷体" panose="02010600040101010101" pitchFamily="2" charset="-122"/>
            </a:endParaRPr>
          </a:p>
        </p:txBody>
      </p:sp>
      <p:sp>
        <p:nvSpPr>
          <p:cNvPr id="8" name="Shape18"/>
          <p:cNvSpPr/>
          <p:nvPr/>
        </p:nvSpPr>
        <p:spPr>
          <a:xfrm>
            <a:off x="534169" y="3640147"/>
            <a:ext cx="8075663" cy="187618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11</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索引分类</a:t>
            </a:r>
            <a:r>
              <a:rPr lang="en-US" altLang="zh-CN" sz="2700" dirty="0">
                <a:solidFill>
                  <a:srgbClr val="FF0000"/>
                </a:solidFill>
                <a:latin typeface="微软雅黑" panose="020B0503020204020204" pitchFamily="82" charset="2"/>
                <a:ea typeface="微软雅黑" panose="020B0503020204020204" pitchFamily="82" charset="2"/>
              </a:rPr>
              <a:t>--</a:t>
            </a:r>
            <a:r>
              <a:rPr lang="zh-CN" altLang="en-US" sz="2700" dirty="0">
                <a:solidFill>
                  <a:srgbClr val="FF0000"/>
                </a:solidFill>
                <a:latin typeface="微软雅黑" panose="020B0503020204020204" pitchFamily="82" charset="2"/>
                <a:ea typeface="微软雅黑" panose="020B0503020204020204" pitchFamily="82" charset="2"/>
              </a:rPr>
              <a:t>按照索引键个数</a:t>
            </a:r>
          </a:p>
        </p:txBody>
      </p:sp>
      <p:sp>
        <p:nvSpPr>
          <p:cNvPr id="4" name="内容占位符 3"/>
          <p:cNvSpPr>
            <a:spLocks noGrp="1"/>
          </p:cNvSpPr>
          <p:nvPr>
            <p:ph idx="1"/>
          </p:nvPr>
        </p:nvSpPr>
        <p:spPr>
          <a:xfrm>
            <a:off x="601313" y="1574686"/>
            <a:ext cx="8155641" cy="3754040"/>
          </a:xfrm>
        </p:spPr>
        <p:txBody>
          <a:bodyPr/>
          <a:lstStyle/>
          <a:p>
            <a:pPr>
              <a:lnSpc>
                <a:spcPct val="15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按照</a:t>
            </a:r>
            <a:r>
              <a:rPr lang="zh-CN" altLang="en-US" sz="1800" dirty="0">
                <a:latin typeface="微软雅黑" panose="020B0503020204020204" pitchFamily="82" charset="2"/>
                <a:ea typeface="微软雅黑" panose="020B0503020204020204" pitchFamily="82" charset="2"/>
              </a:rPr>
              <a:t>索引键</a:t>
            </a:r>
            <a:r>
              <a:rPr lang="zh-CN" altLang="en-US" sz="1800" b="1" dirty="0">
                <a:solidFill>
                  <a:srgbClr val="6F1787"/>
                </a:solidFill>
                <a:latin typeface="微软雅黑" panose="020B0503020204020204" pitchFamily="82" charset="2"/>
                <a:ea typeface="微软雅黑" panose="020B0503020204020204" pitchFamily="82" charset="2"/>
              </a:rPr>
              <a:t>个数分为：单列索引和多列索引</a:t>
            </a:r>
            <a:endParaRPr lang="en-US" altLang="zh-CN" sz="1800" b="1" dirty="0">
              <a:solidFill>
                <a:srgbClr val="6F1787"/>
              </a:solidFill>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单列索引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建立在单个字段上的索引</a:t>
            </a:r>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多列索引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建立在多个字段上的索引</a:t>
            </a:r>
            <a:endParaRPr lang="en-US" altLang="zh-CN" sz="1500" dirty="0">
              <a:latin typeface="微软雅黑" panose="020B0503020204020204" pitchFamily="82" charset="2"/>
              <a:ea typeface="微软雅黑" panose="020B0503020204020204" pitchFamily="82" charset="2"/>
            </a:endParaRPr>
          </a:p>
          <a:p>
            <a:endParaRPr lang="zh-CN" altLang="en-US" sz="21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11" name="图片 10"/>
          <p:cNvPicPr>
            <a:picLocks noChangeAspect="1"/>
          </p:cNvPicPr>
          <p:nvPr/>
        </p:nvPicPr>
        <p:blipFill>
          <a:blip r:embed="rId2"/>
          <a:stretch>
            <a:fillRect/>
          </a:stretch>
        </p:blipFill>
        <p:spPr>
          <a:xfrm>
            <a:off x="773044" y="3832278"/>
            <a:ext cx="3612611" cy="1488251"/>
          </a:xfrm>
          <a:prstGeom prst="rect">
            <a:avLst/>
          </a:prstGeom>
        </p:spPr>
      </p:pic>
      <p:pic>
        <p:nvPicPr>
          <p:cNvPr id="12" name="图片 11"/>
          <p:cNvPicPr>
            <a:picLocks noChangeAspect="1"/>
          </p:cNvPicPr>
          <p:nvPr/>
        </p:nvPicPr>
        <p:blipFill>
          <a:blip r:embed="rId3"/>
          <a:stretch>
            <a:fillRect/>
          </a:stretch>
        </p:blipFill>
        <p:spPr>
          <a:xfrm>
            <a:off x="4553257" y="3828402"/>
            <a:ext cx="3820566" cy="149212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p:cNvSpPr/>
          <p:nvPr/>
        </p:nvSpPr>
        <p:spPr>
          <a:xfrm>
            <a:off x="1069596" y="4103790"/>
            <a:ext cx="6864292" cy="153041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12</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索引组织表</a:t>
            </a:r>
          </a:p>
        </p:txBody>
      </p:sp>
      <p:sp>
        <p:nvSpPr>
          <p:cNvPr id="4" name="内容占位符 3"/>
          <p:cNvSpPr>
            <a:spLocks noGrp="1"/>
          </p:cNvSpPr>
          <p:nvPr>
            <p:ph idx="1"/>
          </p:nvPr>
        </p:nvSpPr>
        <p:spPr>
          <a:xfrm>
            <a:off x="800180" y="1567446"/>
            <a:ext cx="8155641" cy="2772025"/>
          </a:xfrm>
        </p:spPr>
        <p:txBody>
          <a:bodyPr/>
          <a:lstStyle/>
          <a:p>
            <a:pPr>
              <a:lnSpc>
                <a:spcPct val="12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用</a:t>
            </a:r>
            <a:r>
              <a:rPr lang="en-US" altLang="zh-CN" sz="1800" b="1" dirty="0">
                <a:solidFill>
                  <a:srgbClr val="6F1787"/>
                </a:solidFill>
                <a:latin typeface="微软雅黑" panose="020B0503020204020204" pitchFamily="82" charset="2"/>
                <a:ea typeface="微软雅黑" panose="020B0503020204020204" pitchFamily="82" charset="2"/>
              </a:rPr>
              <a:t>B+</a:t>
            </a:r>
            <a:r>
              <a:rPr lang="zh-CN" altLang="en-US" sz="1800" b="1" dirty="0">
                <a:solidFill>
                  <a:srgbClr val="6F1787"/>
                </a:solidFill>
                <a:latin typeface="微软雅黑" panose="020B0503020204020204" pitchFamily="82" charset="2"/>
                <a:ea typeface="微软雅黑" panose="020B0503020204020204" pitchFamily="82" charset="2"/>
              </a:rPr>
              <a:t>树索引组织数据页面，数据页面使用顺序组织方式</a:t>
            </a:r>
            <a:endParaRPr lang="en-US" altLang="zh-CN" sz="1800" b="1" dirty="0">
              <a:solidFill>
                <a:srgbClr val="6F1787"/>
              </a:solidFill>
              <a:latin typeface="微软雅黑" panose="020B0503020204020204" pitchFamily="82" charset="2"/>
              <a:ea typeface="微软雅黑" panose="020B0503020204020204" pitchFamily="82" charset="2"/>
            </a:endParaRPr>
          </a:p>
          <a:p>
            <a:pPr>
              <a:lnSpc>
                <a:spcPct val="12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叶子节点为数据页面</a:t>
            </a:r>
            <a:endParaRPr lang="en-US" altLang="zh-CN" sz="1800" b="1" dirty="0">
              <a:solidFill>
                <a:srgbClr val="6F1787"/>
              </a:solidFill>
              <a:latin typeface="微软雅黑" panose="020B0503020204020204" pitchFamily="82" charset="2"/>
              <a:ea typeface="微软雅黑" panose="020B0503020204020204" pitchFamily="82" charset="2"/>
            </a:endParaRPr>
          </a:p>
          <a:p>
            <a:pPr>
              <a:lnSpc>
                <a:spcPct val="12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主键上的</a:t>
            </a:r>
            <a:r>
              <a:rPr lang="en-US" altLang="zh-CN" sz="1800" b="1" dirty="0">
                <a:solidFill>
                  <a:srgbClr val="6F1787"/>
                </a:solidFill>
                <a:latin typeface="微软雅黑" panose="020B0503020204020204" pitchFamily="82" charset="2"/>
                <a:ea typeface="微软雅黑" panose="020B0503020204020204" pitchFamily="82" charset="2"/>
              </a:rPr>
              <a:t>B+</a:t>
            </a:r>
            <a:r>
              <a:rPr lang="zh-CN" altLang="en-US" sz="1800" b="1" dirty="0">
                <a:solidFill>
                  <a:srgbClr val="6F1787"/>
                </a:solidFill>
                <a:latin typeface="微软雅黑" panose="020B0503020204020204" pitchFamily="82" charset="2"/>
                <a:ea typeface="微软雅黑" panose="020B0503020204020204" pitchFamily="82" charset="2"/>
              </a:rPr>
              <a:t>树聚集索引</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2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主键上范围查询时更多连续</a:t>
            </a:r>
            <a:r>
              <a:rPr lang="en-US" altLang="zh-CN" sz="1500" dirty="0">
                <a:latin typeface="微软雅黑" panose="020B0503020204020204" pitchFamily="82" charset="2"/>
                <a:ea typeface="微软雅黑" panose="020B0503020204020204" pitchFamily="82" charset="2"/>
              </a:rPr>
              <a:t>I/O</a:t>
            </a:r>
          </a:p>
          <a:p>
            <a:pPr lvl="1">
              <a:lnSpc>
                <a:spcPct val="12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插入</a:t>
            </a:r>
            <a:r>
              <a:rPr lang="en-US" altLang="zh-CN" sz="1500" dirty="0">
                <a:latin typeface="微软雅黑" panose="020B0503020204020204" pitchFamily="82" charset="2"/>
                <a:ea typeface="微软雅黑" panose="020B0503020204020204" pitchFamily="82" charset="2"/>
              </a:rPr>
              <a:t>/</a:t>
            </a:r>
            <a:r>
              <a:rPr lang="zh-CN" altLang="en-US" sz="1500" dirty="0">
                <a:latin typeface="微软雅黑" panose="020B0503020204020204" pitchFamily="82" charset="2"/>
                <a:ea typeface="微软雅黑" panose="020B0503020204020204" pitchFamily="82" charset="2"/>
              </a:rPr>
              <a:t>删除数据时要维护主索引，开销增大</a:t>
            </a:r>
            <a:endParaRPr lang="en-US" altLang="zh-CN" sz="1500" dirty="0">
              <a:latin typeface="微软雅黑" panose="020B0503020204020204" pitchFamily="82" charset="2"/>
              <a:ea typeface="微软雅黑" panose="020B0503020204020204" pitchFamily="82" charset="2"/>
            </a:endParaRPr>
          </a:p>
          <a:p>
            <a:pPr marL="257175" lvl="1" indent="-257175">
              <a:lnSpc>
                <a:spcPct val="120000"/>
              </a:lnSpc>
              <a:spcBef>
                <a:spcPts val="0"/>
              </a:spcBef>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索引是否回表：回表指的是通过索引找到页面记录才返回结果</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20000"/>
              </a:lnSpc>
              <a:spcBef>
                <a:spcPts val="0"/>
              </a:spcBef>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Index</a:t>
            </a:r>
            <a:r>
              <a:rPr lang="zh-CN" altLang="en-US"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rPr>
              <a:t>only</a:t>
            </a:r>
            <a:r>
              <a:rPr lang="zh-CN" altLang="en-US"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rPr>
              <a:t>scan</a:t>
            </a:r>
            <a:r>
              <a:rPr lang="zh-CN" altLang="en-US" sz="1500" dirty="0">
                <a:latin typeface="微软雅黑" panose="020B0503020204020204" pitchFamily="82" charset="2"/>
                <a:ea typeface="微软雅黑" panose="020B0503020204020204" pitchFamily="82" charset="2"/>
              </a:rPr>
              <a:t>不回表：仅查找索引列，根据索引就可以返回结果，如学号是否存在</a:t>
            </a:r>
            <a:endParaRPr lang="en-US" altLang="zh-CN" sz="1500" dirty="0">
              <a:latin typeface="微软雅黑" panose="020B0503020204020204" pitchFamily="82" charset="2"/>
              <a:ea typeface="微软雅黑" panose="020B0503020204020204" pitchFamily="82" charset="2"/>
            </a:endParaRPr>
          </a:p>
          <a:p>
            <a:pPr lvl="1">
              <a:lnSpc>
                <a:spcPct val="120000"/>
              </a:lnSpc>
              <a:spcBef>
                <a:spcPts val="0"/>
              </a:spcBef>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Index</a:t>
            </a:r>
            <a:r>
              <a:rPr lang="zh-CN" altLang="en-US"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rPr>
              <a:t>scan</a:t>
            </a:r>
            <a:r>
              <a:rPr lang="zh-CN" altLang="en-US" sz="1500" dirty="0">
                <a:latin typeface="微软雅黑" panose="020B0503020204020204" pitchFamily="82" charset="2"/>
                <a:ea typeface="微软雅黑" panose="020B0503020204020204" pitchFamily="82" charset="2"/>
              </a:rPr>
              <a:t>回表：根据索引列查找其他列的内容，如根据学号查找姓名</a:t>
            </a:r>
            <a:endParaRPr lang="en-US" altLang="zh-CN" sz="1500" dirty="0">
              <a:latin typeface="微软雅黑" panose="020B0503020204020204" pitchFamily="82" charset="2"/>
              <a:ea typeface="微软雅黑" panose="020B0503020204020204" pitchFamily="82" charset="2"/>
            </a:endParaRPr>
          </a:p>
          <a:p>
            <a:pPr lvl="1">
              <a:lnSpc>
                <a:spcPct val="120000"/>
              </a:lnSpc>
            </a:pPr>
            <a:endParaRPr lang="en-US" altLang="zh-CN" dirty="0">
              <a:latin typeface="微软雅黑" panose="020B0503020204020204" pitchFamily="82" charset="2"/>
              <a:ea typeface="微软雅黑" panose="020B0503020204020204" pitchFamily="82" charset="2"/>
            </a:endParaRPr>
          </a:p>
        </p:txBody>
      </p:sp>
      <p:graphicFrame>
        <p:nvGraphicFramePr>
          <p:cNvPr id="6" name="表格 6"/>
          <p:cNvGraphicFramePr>
            <a:graphicFrameLocks noGrp="1"/>
          </p:cNvGraphicFramePr>
          <p:nvPr/>
        </p:nvGraphicFramePr>
        <p:xfrm>
          <a:off x="1516780" y="4541068"/>
          <a:ext cx="5853519" cy="891540"/>
        </p:xfrm>
        <a:graphic>
          <a:graphicData uri="http://schemas.openxmlformats.org/drawingml/2006/table">
            <a:tbl>
              <a:tblPr firstRow="1" bandRow="1">
                <a:tableStyleId>{21E4AEA4-8DFA-4A89-87EB-49C32662AFE0}</a:tableStyleId>
              </a:tblPr>
              <a:tblGrid>
                <a:gridCol w="1951173">
                  <a:extLst>
                    <a:ext uri="{9D8B030D-6E8A-4147-A177-3AD203B41FA5}">
                      <a16:colId xmlns:a16="http://schemas.microsoft.com/office/drawing/2014/main" val="20000"/>
                    </a:ext>
                  </a:extLst>
                </a:gridCol>
                <a:gridCol w="1951173">
                  <a:extLst>
                    <a:ext uri="{9D8B030D-6E8A-4147-A177-3AD203B41FA5}">
                      <a16:colId xmlns:a16="http://schemas.microsoft.com/office/drawing/2014/main" val="20001"/>
                    </a:ext>
                  </a:extLst>
                </a:gridCol>
                <a:gridCol w="1951173">
                  <a:extLst>
                    <a:ext uri="{9D8B030D-6E8A-4147-A177-3AD203B41FA5}">
                      <a16:colId xmlns:a16="http://schemas.microsoft.com/office/drawing/2014/main" val="20002"/>
                    </a:ext>
                  </a:extLst>
                </a:gridCol>
              </a:tblGrid>
              <a:tr h="297180">
                <a:tc>
                  <a:txBody>
                    <a:bodyPr/>
                    <a:lstStyle/>
                    <a:p>
                      <a:pPr algn="ctr"/>
                      <a:r>
                        <a:rPr lang="zh-CN" altLang="en-US" sz="1500" dirty="0">
                          <a:latin typeface="微软雅黑" panose="020B0503020204020204" pitchFamily="82" charset="2"/>
                          <a:ea typeface="微软雅黑" panose="020B0503020204020204" pitchFamily="82" charset="2"/>
                        </a:rPr>
                        <a:t>数据文件</a:t>
                      </a:r>
                    </a:p>
                  </a:txBody>
                  <a:tcPr marL="68580" marR="68580" marT="34290" marB="34290">
                    <a:solidFill>
                      <a:srgbClr val="701988"/>
                    </a:solidFill>
                  </a:tcPr>
                </a:tc>
                <a:tc>
                  <a:txBody>
                    <a:bodyPr/>
                    <a:lstStyle/>
                    <a:p>
                      <a:pPr algn="ctr"/>
                      <a:r>
                        <a:rPr lang="zh-CN" altLang="en-US" sz="1500" dirty="0">
                          <a:latin typeface="微软雅黑" panose="020B0503020204020204" pitchFamily="82" charset="2"/>
                          <a:ea typeface="微软雅黑" panose="020B0503020204020204" pitchFamily="82" charset="2"/>
                        </a:rPr>
                        <a:t>数据记录指针</a:t>
                      </a:r>
                    </a:p>
                  </a:txBody>
                  <a:tcPr marL="68580" marR="68580" marT="34290" marB="34290">
                    <a:solidFill>
                      <a:srgbClr val="701988"/>
                    </a:solidFill>
                  </a:tcPr>
                </a:tc>
                <a:tc>
                  <a:txBody>
                    <a:bodyPr/>
                    <a:lstStyle/>
                    <a:p>
                      <a:pPr algn="ctr"/>
                      <a:r>
                        <a:rPr lang="zh-CN" altLang="en-US" sz="1500" dirty="0">
                          <a:latin typeface="微软雅黑" panose="020B0503020204020204" pitchFamily="82" charset="2"/>
                          <a:ea typeface="微软雅黑" panose="020B0503020204020204" pitchFamily="82" charset="2"/>
                        </a:rPr>
                        <a:t>代表</a:t>
                      </a:r>
                    </a:p>
                  </a:txBody>
                  <a:tcPr marL="68580" marR="68580" marT="34290" marB="34290">
                    <a:solidFill>
                      <a:srgbClr val="701988"/>
                    </a:solidFill>
                  </a:tcPr>
                </a:tc>
                <a:extLst>
                  <a:ext uri="{0D108BD9-81ED-4DB2-BD59-A6C34878D82A}">
                    <a16:rowId xmlns:a16="http://schemas.microsoft.com/office/drawing/2014/main" val="10000"/>
                  </a:ext>
                </a:extLst>
              </a:tr>
              <a:tr h="297180">
                <a:tc>
                  <a:txBody>
                    <a:bodyPr/>
                    <a:lstStyle/>
                    <a:p>
                      <a:pPr algn="ctr"/>
                      <a:r>
                        <a:rPr lang="zh-CN" altLang="en-US" sz="1500" dirty="0">
                          <a:latin typeface="微软雅黑" panose="020B0503020204020204" pitchFamily="82" charset="2"/>
                          <a:ea typeface="微软雅黑" panose="020B0503020204020204" pitchFamily="82" charset="2"/>
                        </a:rPr>
                        <a:t>索引组织表</a:t>
                      </a:r>
                    </a:p>
                  </a:txBody>
                  <a:tcPr marL="68580" marR="68580" marT="34290" marB="34290"/>
                </a:tc>
                <a:tc>
                  <a:txBody>
                    <a:bodyPr/>
                    <a:lstStyle/>
                    <a:p>
                      <a:pPr algn="ctr"/>
                      <a:r>
                        <a:rPr lang="zh-CN" altLang="en-US" sz="1500" dirty="0">
                          <a:latin typeface="微软雅黑" panose="020B0503020204020204" pitchFamily="82" charset="2"/>
                          <a:ea typeface="微软雅黑" panose="020B0503020204020204" pitchFamily="82" charset="2"/>
                        </a:rPr>
                        <a:t>主键</a:t>
                      </a:r>
                    </a:p>
                  </a:txBody>
                  <a:tcPr marL="68580" marR="68580" marT="34290" marB="34290"/>
                </a:tc>
                <a:tc>
                  <a:txBody>
                    <a:bodyPr/>
                    <a:lstStyle/>
                    <a:p>
                      <a:pPr algn="ctr"/>
                      <a:r>
                        <a:rPr lang="en-US" altLang="zh-CN" sz="1500" dirty="0">
                          <a:latin typeface="微软雅黑" panose="020B0503020204020204" pitchFamily="82" charset="2"/>
                          <a:ea typeface="微软雅黑" panose="020B0503020204020204" pitchFamily="82" charset="2"/>
                        </a:rPr>
                        <a:t>MySQL</a:t>
                      </a:r>
                      <a:r>
                        <a:rPr lang="zh-CN" altLang="en-US" sz="1500" dirty="0">
                          <a:latin typeface="微软雅黑" panose="020B0503020204020204" pitchFamily="82" charset="2"/>
                          <a:ea typeface="微软雅黑" panose="020B0503020204020204" pitchFamily="82" charset="2"/>
                        </a:rPr>
                        <a:t>、</a:t>
                      </a:r>
                      <a:r>
                        <a:rPr lang="en-US" altLang="zh-CN" sz="1500" dirty="0">
                          <a:latin typeface="微软雅黑" panose="020B0503020204020204" pitchFamily="82" charset="2"/>
                          <a:ea typeface="微软雅黑" panose="020B0503020204020204" pitchFamily="82" charset="2"/>
                        </a:rPr>
                        <a:t>SQLite</a:t>
                      </a:r>
                      <a:endParaRPr lang="zh-CN" altLang="en-US" sz="1500" dirty="0">
                        <a:latin typeface="微软雅黑" panose="020B0503020204020204" pitchFamily="82" charset="2"/>
                        <a:ea typeface="微软雅黑" panose="020B0503020204020204" pitchFamily="82" charset="2"/>
                      </a:endParaRPr>
                    </a:p>
                  </a:txBody>
                  <a:tcPr marL="68580" marR="68580" marT="34290" marB="34290"/>
                </a:tc>
                <a:extLst>
                  <a:ext uri="{0D108BD9-81ED-4DB2-BD59-A6C34878D82A}">
                    <a16:rowId xmlns:a16="http://schemas.microsoft.com/office/drawing/2014/main" val="10001"/>
                  </a:ext>
                </a:extLst>
              </a:tr>
              <a:tr h="297180">
                <a:tc>
                  <a:txBody>
                    <a:bodyPr/>
                    <a:lstStyle/>
                    <a:p>
                      <a:pPr algn="ctr"/>
                      <a:r>
                        <a:rPr lang="zh-CN" altLang="en-US" sz="1500" dirty="0">
                          <a:latin typeface="微软雅黑" panose="020B0503020204020204" pitchFamily="82" charset="2"/>
                          <a:ea typeface="微软雅黑" panose="020B0503020204020204" pitchFamily="82" charset="2"/>
                        </a:rPr>
                        <a:t>堆表</a:t>
                      </a:r>
                    </a:p>
                  </a:txBody>
                  <a:tcPr marL="68580" marR="68580" marT="34290" marB="34290"/>
                </a:tc>
                <a:tc>
                  <a:txBody>
                    <a:bodyPr/>
                    <a:lstStyle/>
                    <a:p>
                      <a:pPr algn="ctr"/>
                      <a:r>
                        <a:rPr lang="zh-CN" altLang="en-US" sz="1500" dirty="0">
                          <a:latin typeface="微软雅黑" panose="020B0503020204020204" pitchFamily="82" charset="2"/>
                          <a:ea typeface="微软雅黑" panose="020B0503020204020204" pitchFamily="82" charset="2"/>
                        </a:rPr>
                        <a:t>（页面号</a:t>
                      </a:r>
                      <a:r>
                        <a:rPr lang="en-US" altLang="zh-CN" sz="1500" dirty="0">
                          <a:latin typeface="微软雅黑" panose="020B0503020204020204" pitchFamily="82" charset="2"/>
                          <a:ea typeface="微软雅黑" panose="020B0503020204020204" pitchFamily="82" charset="2"/>
                        </a:rPr>
                        <a:t>,</a:t>
                      </a:r>
                      <a:r>
                        <a:rPr lang="zh-CN" altLang="en-US" sz="1500" dirty="0">
                          <a:latin typeface="微软雅黑" panose="020B0503020204020204" pitchFamily="82" charset="2"/>
                          <a:ea typeface="微软雅黑" panose="020B0503020204020204" pitchFamily="82" charset="2"/>
                        </a:rPr>
                        <a:t> 槽号）</a:t>
                      </a:r>
                    </a:p>
                  </a:txBody>
                  <a:tcPr marL="68580" marR="68580" marT="34290" marB="34290"/>
                </a:tc>
                <a:tc>
                  <a:txBody>
                    <a:bodyPr/>
                    <a:lstStyle/>
                    <a:p>
                      <a:pPr algn="ctr"/>
                      <a:r>
                        <a:rPr lang="en-US" altLang="zh-CN" sz="1500" dirty="0">
                          <a:latin typeface="微软雅黑" panose="020B0503020204020204" pitchFamily="82" charset="2"/>
                          <a:ea typeface="微软雅黑" panose="020B0503020204020204" pitchFamily="82" charset="2"/>
                        </a:rPr>
                        <a:t>PostgreSQL</a:t>
                      </a:r>
                      <a:r>
                        <a:rPr lang="zh-CN" altLang="en-US" sz="1500" dirty="0">
                          <a:latin typeface="微软雅黑" panose="020B0503020204020204" pitchFamily="82" charset="2"/>
                          <a:ea typeface="微软雅黑" panose="020B0503020204020204" pitchFamily="82" charset="2"/>
                        </a:rPr>
                        <a:t>、</a:t>
                      </a:r>
                      <a:r>
                        <a:rPr lang="en-US" altLang="zh-CN" sz="1500" dirty="0">
                          <a:latin typeface="微软雅黑" panose="020B0503020204020204" pitchFamily="82" charset="2"/>
                          <a:ea typeface="微软雅黑" panose="020B0503020204020204" pitchFamily="82" charset="2"/>
                        </a:rPr>
                        <a:t>DB2</a:t>
                      </a:r>
                      <a:endParaRPr lang="zh-CN" altLang="en-US" sz="1500" dirty="0">
                        <a:latin typeface="微软雅黑" panose="020B0503020204020204" pitchFamily="82" charset="2"/>
                        <a:ea typeface="微软雅黑" panose="020B0503020204020204" pitchFamily="82" charset="2"/>
                      </a:endParaRPr>
                    </a:p>
                  </a:txBody>
                  <a:tcPr marL="68580" marR="68580" marT="34290" marB="34290"/>
                </a:tc>
                <a:extLst>
                  <a:ext uri="{0D108BD9-81ED-4DB2-BD59-A6C34878D82A}">
                    <a16:rowId xmlns:a16="http://schemas.microsoft.com/office/drawing/2014/main" val="10002"/>
                  </a:ext>
                </a:extLst>
              </a:tr>
            </a:tbl>
          </a:graphicData>
        </a:graphic>
      </p:graphicFrame>
      <p:sp>
        <p:nvSpPr>
          <p:cNvPr id="7" name="文本框 6"/>
          <p:cNvSpPr txBox="1"/>
          <p:nvPr/>
        </p:nvSpPr>
        <p:spPr>
          <a:xfrm>
            <a:off x="1436699" y="4189430"/>
            <a:ext cx="6270601" cy="553998"/>
          </a:xfrm>
          <a:prstGeom prst="rect">
            <a:avLst/>
          </a:prstGeom>
          <a:noFill/>
        </p:spPr>
        <p:txBody>
          <a:bodyPr wrap="square" rtlCol="0">
            <a:spAutoFit/>
          </a:bodyPr>
          <a:lstStyle/>
          <a:p>
            <a:pPr algn="ctr" defTabSz="685800" fontAlgn="auto">
              <a:spcBef>
                <a:spcPts val="0"/>
              </a:spcBef>
              <a:spcAft>
                <a:spcPts val="0"/>
              </a:spcAft>
            </a:pPr>
            <a:r>
              <a:rPr kumimoji="1" lang="zh-CN" altLang="en-US" sz="1500" dirty="0">
                <a:solidFill>
                  <a:srgbClr val="000000"/>
                </a:solidFill>
                <a:latin typeface="微软雅黑" panose="020B0503020204020204" pitchFamily="82" charset="2"/>
                <a:ea typeface="微软雅黑" panose="020B0503020204020204" pitchFamily="82" charset="2"/>
              </a:rPr>
              <a:t>索引组织表中，按照主键组织数据，数据记录会经常移动，物理位置改变</a:t>
            </a:r>
            <a:endParaRPr kumimoji="1" lang="en-US" altLang="zh-CN" sz="1500" dirty="0">
              <a:solidFill>
                <a:srgbClr val="000000"/>
              </a:solidFill>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13</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87913" y="339331"/>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索引类型</a:t>
            </a:r>
          </a:p>
        </p:txBody>
      </p:sp>
      <p:sp>
        <p:nvSpPr>
          <p:cNvPr id="4" name="内容占位符 3"/>
          <p:cNvSpPr>
            <a:spLocks noGrp="1"/>
          </p:cNvSpPr>
          <p:nvPr>
            <p:ph idx="1"/>
          </p:nvPr>
        </p:nvSpPr>
        <p:spPr>
          <a:xfrm>
            <a:off x="664566" y="1786320"/>
            <a:ext cx="8300852" cy="3623072"/>
          </a:xfrm>
        </p:spPr>
        <p:txBody>
          <a:bodyPr/>
          <a:lstStyle/>
          <a:p>
            <a:pPr>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不同类型索引支持不同的数据类型、条件类型</a:t>
            </a:r>
            <a:endParaRPr lang="en-US" altLang="zh-CN" sz="1800" b="1" dirty="0">
              <a:solidFill>
                <a:srgbClr val="6F1787"/>
              </a:solidFill>
              <a:latin typeface="微软雅黑" panose="020B0503020204020204" pitchFamily="82" charset="2"/>
              <a:ea typeface="微软雅黑" panose="020B0503020204020204" pitchFamily="82" charset="2"/>
            </a:endParaRPr>
          </a:p>
          <a:p>
            <a:endParaRPr lang="en-US" altLang="zh-CN" sz="2100" b="1" dirty="0">
              <a:solidFill>
                <a:srgbClr val="6F1787"/>
              </a:solidFill>
              <a:latin typeface="微软雅黑" panose="020B0503020204020204" pitchFamily="82" charset="2"/>
              <a:ea typeface="微软雅黑" panose="020B0503020204020204" pitchFamily="82" charset="2"/>
            </a:endParaRPr>
          </a:p>
          <a:p>
            <a:endParaRPr lang="en-US" altLang="zh-CN" sz="2100" b="1" dirty="0">
              <a:solidFill>
                <a:srgbClr val="6F1787"/>
              </a:solidFill>
              <a:latin typeface="微软雅黑" panose="020B0503020204020204" pitchFamily="82" charset="2"/>
              <a:ea typeface="微软雅黑" panose="020B0503020204020204" pitchFamily="82" charset="2"/>
            </a:endParaRPr>
          </a:p>
          <a:p>
            <a:endParaRPr lang="en-US" altLang="zh-CN" sz="2100" b="1" dirty="0">
              <a:solidFill>
                <a:srgbClr val="6F1787"/>
              </a:solidFill>
              <a:latin typeface="微软雅黑" panose="020B0503020204020204" pitchFamily="82" charset="2"/>
              <a:ea typeface="微软雅黑" panose="020B0503020204020204" pitchFamily="82" charset="2"/>
            </a:endParaRPr>
          </a:p>
          <a:p>
            <a:endParaRPr lang="en-US" altLang="zh-CN" sz="2100" b="1" dirty="0">
              <a:solidFill>
                <a:srgbClr val="6F1787"/>
              </a:solidFill>
              <a:latin typeface="微软雅黑" panose="020B0503020204020204" pitchFamily="82" charset="2"/>
              <a:ea typeface="微软雅黑" panose="020B0503020204020204" pitchFamily="82" charset="2"/>
            </a:endParaRPr>
          </a:p>
          <a:p>
            <a:endParaRPr lang="en-US" altLang="zh-CN" sz="2100" b="1" dirty="0">
              <a:solidFill>
                <a:srgbClr val="6F1787"/>
              </a:solidFill>
              <a:latin typeface="微软雅黑" panose="020B0503020204020204" pitchFamily="82" charset="2"/>
              <a:ea typeface="微软雅黑" panose="020B0503020204020204" pitchFamily="82" charset="2"/>
            </a:endParaRPr>
          </a:p>
          <a:p>
            <a:pPr marL="0" indent="0">
              <a:lnSpc>
                <a:spcPct val="150000"/>
              </a:lnSpc>
              <a:buNone/>
            </a:pPr>
            <a:endParaRPr lang="en-US" altLang="zh-CN" sz="2100" b="1" dirty="0">
              <a:solidFill>
                <a:srgbClr val="6F1787"/>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6F1787"/>
                </a:solidFill>
                <a:latin typeface="微软雅黑" panose="020B0503020204020204" pitchFamily="82" charset="2"/>
                <a:ea typeface="微软雅黑" panose="020B0503020204020204" pitchFamily="82" charset="2"/>
              </a:rPr>
              <a:t>是否支持持久化、可以否快速恢复</a:t>
            </a:r>
            <a:endParaRPr lang="en-US" altLang="zh-CN" sz="1800" b="1" dirty="0">
              <a:solidFill>
                <a:srgbClr val="6F1787"/>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内存索引、磁盘索引</a:t>
            </a:r>
            <a:endParaRPr lang="en-US" altLang="zh-CN" sz="1500" dirty="0">
              <a:latin typeface="微软雅黑" panose="020B0503020204020204" pitchFamily="82" charset="2"/>
              <a:ea typeface="微软雅黑" panose="020B0503020204020204" pitchFamily="82" charset="2"/>
            </a:endParaRPr>
          </a:p>
        </p:txBody>
      </p:sp>
      <p:graphicFrame>
        <p:nvGraphicFramePr>
          <p:cNvPr id="6" name="表格 6"/>
          <p:cNvGraphicFramePr>
            <a:graphicFrameLocks noGrp="1"/>
          </p:cNvGraphicFramePr>
          <p:nvPr/>
        </p:nvGraphicFramePr>
        <p:xfrm>
          <a:off x="711054" y="2267180"/>
          <a:ext cx="7698673" cy="2205396"/>
        </p:xfrm>
        <a:graphic>
          <a:graphicData uri="http://schemas.openxmlformats.org/drawingml/2006/table">
            <a:tbl>
              <a:tblPr firstRow="1" bandRow="1">
                <a:tableStyleId>{21E4AEA4-8DFA-4A89-87EB-49C32662AFE0}</a:tableStyleId>
              </a:tblPr>
              <a:tblGrid>
                <a:gridCol w="5129744">
                  <a:extLst>
                    <a:ext uri="{9D8B030D-6E8A-4147-A177-3AD203B41FA5}">
                      <a16:colId xmlns:a16="http://schemas.microsoft.com/office/drawing/2014/main" val="20000"/>
                    </a:ext>
                  </a:extLst>
                </a:gridCol>
                <a:gridCol w="2568929">
                  <a:extLst>
                    <a:ext uri="{9D8B030D-6E8A-4147-A177-3AD203B41FA5}">
                      <a16:colId xmlns:a16="http://schemas.microsoft.com/office/drawing/2014/main" val="20001"/>
                    </a:ext>
                  </a:extLst>
                </a:gridCol>
              </a:tblGrid>
              <a:tr h="419904">
                <a:tc>
                  <a:txBody>
                    <a:bodyPr/>
                    <a:lstStyle/>
                    <a:p>
                      <a:r>
                        <a:rPr lang="zh-CN" altLang="en-US" sz="1500" dirty="0">
                          <a:latin typeface="微软雅黑" panose="020B0503020204020204" pitchFamily="34" charset="-122"/>
                          <a:ea typeface="微软雅黑" panose="020B0503020204020204" pitchFamily="34" charset="-122"/>
                        </a:rPr>
                        <a:t>查询类型</a:t>
                      </a:r>
                    </a:p>
                  </a:txBody>
                  <a:tcPr marL="68580" marR="68580" marT="34290" marB="34290" anchor="ctr">
                    <a:solidFill>
                      <a:srgbClr val="701988"/>
                    </a:solidFill>
                  </a:tcPr>
                </a:tc>
                <a:tc>
                  <a:txBody>
                    <a:bodyPr/>
                    <a:lstStyle/>
                    <a:p>
                      <a:r>
                        <a:rPr lang="zh-CN" altLang="en-US" sz="1500" dirty="0">
                          <a:latin typeface="微软雅黑" panose="020B0503020204020204" pitchFamily="34" charset="-122"/>
                          <a:ea typeface="微软雅黑" panose="020B0503020204020204" pitchFamily="34" charset="-122"/>
                        </a:rPr>
                        <a:t>索引类型</a:t>
                      </a:r>
                    </a:p>
                  </a:txBody>
                  <a:tcPr marL="68580" marR="68580" marT="34290" marB="34290" anchor="ctr">
                    <a:solidFill>
                      <a:srgbClr val="701988"/>
                    </a:solidFill>
                  </a:tcPr>
                </a:tc>
                <a:extLst>
                  <a:ext uri="{0D108BD9-81ED-4DB2-BD59-A6C34878D82A}">
                    <a16:rowId xmlns:a16="http://schemas.microsoft.com/office/drawing/2014/main" val="10000"/>
                  </a:ext>
                </a:extLst>
              </a:tr>
              <a:tr h="419904">
                <a:tc>
                  <a:txBody>
                    <a:bodyPr/>
                    <a:lstStyle/>
                    <a:p>
                      <a:r>
                        <a:rPr lang="zh-CN" altLang="en-US" sz="1500" dirty="0">
                          <a:latin typeface="微软雅黑" panose="020B0503020204020204" pitchFamily="34" charset="-122"/>
                          <a:ea typeface="微软雅黑" panose="020B0503020204020204" pitchFamily="34" charset="-122"/>
                        </a:rPr>
                        <a:t>点查询（</a:t>
                      </a:r>
                      <a:r>
                        <a:rPr lang="en-US" altLang="zh-CN" sz="1500" dirty="0">
                          <a:latin typeface="微软雅黑" panose="020B0503020204020204" pitchFamily="34" charset="-122"/>
                          <a:ea typeface="微软雅黑" panose="020B0503020204020204" pitchFamily="34" charset="-122"/>
                        </a:rPr>
                        <a:t>score=90</a:t>
                      </a:r>
                      <a:r>
                        <a:rPr lang="zh-CN" altLang="en-US" sz="1500" dirty="0">
                          <a:latin typeface="微软雅黑" panose="020B0503020204020204" pitchFamily="34" charset="-122"/>
                          <a:ea typeface="微软雅黑" panose="020B0503020204020204" pitchFamily="34" charset="-122"/>
                        </a:rPr>
                        <a:t>）</a:t>
                      </a:r>
                    </a:p>
                  </a:txBody>
                  <a:tcPr marL="68580" marR="68580" marT="34290" marB="34290" anchor="ctr"/>
                </a:tc>
                <a:tc>
                  <a:txBody>
                    <a:bodyPr/>
                    <a:lstStyle/>
                    <a:p>
                      <a:r>
                        <a:rPr lang="zh-CN" altLang="en-US" sz="1500" dirty="0">
                          <a:latin typeface="微软雅黑" panose="020B0503020204020204" pitchFamily="34" charset="-122"/>
                          <a:ea typeface="微软雅黑" panose="020B0503020204020204" pitchFamily="34" charset="-122"/>
                        </a:rPr>
                        <a:t>哈希索引、</a:t>
                      </a:r>
                      <a:r>
                        <a:rPr lang="en-US" altLang="zh-CN" sz="1500" dirty="0">
                          <a:latin typeface="微软雅黑" panose="020B0503020204020204" pitchFamily="34" charset="-122"/>
                          <a:ea typeface="微软雅黑" panose="020B0503020204020204" pitchFamily="34" charset="-122"/>
                        </a:rPr>
                        <a:t>B+</a:t>
                      </a:r>
                      <a:r>
                        <a:rPr lang="zh-CN" altLang="en-US" sz="1500" dirty="0">
                          <a:latin typeface="微软雅黑" panose="020B0503020204020204" pitchFamily="34" charset="-122"/>
                          <a:ea typeface="微软雅黑" panose="020B0503020204020204" pitchFamily="34" charset="-122"/>
                        </a:rPr>
                        <a:t>树索引</a:t>
                      </a:r>
                    </a:p>
                  </a:txBody>
                  <a:tcPr marL="68580" marR="68580" marT="34290" marB="34290" anchor="ctr"/>
                </a:tc>
                <a:extLst>
                  <a:ext uri="{0D108BD9-81ED-4DB2-BD59-A6C34878D82A}">
                    <a16:rowId xmlns:a16="http://schemas.microsoft.com/office/drawing/2014/main" val="10001"/>
                  </a:ext>
                </a:extLst>
              </a:tr>
              <a:tr h="419904">
                <a:tc>
                  <a:txBody>
                    <a:bodyPr/>
                    <a:lstStyle/>
                    <a:p>
                      <a:r>
                        <a:rPr lang="zh-CN" altLang="en-US" sz="1500" dirty="0">
                          <a:latin typeface="微软雅黑" panose="020B0503020204020204" pitchFamily="34" charset="-122"/>
                          <a:ea typeface="微软雅黑" panose="020B0503020204020204" pitchFamily="34" charset="-122"/>
                        </a:rPr>
                        <a:t>范围查询（</a:t>
                      </a:r>
                      <a:r>
                        <a:rPr lang="en-US" altLang="zh-CN" sz="1500" dirty="0">
                          <a:latin typeface="微软雅黑" panose="020B0503020204020204" pitchFamily="34" charset="-122"/>
                          <a:ea typeface="微软雅黑" panose="020B0503020204020204" pitchFamily="34" charset="-122"/>
                        </a:rPr>
                        <a:t>score&gt;60</a:t>
                      </a:r>
                      <a:r>
                        <a:rPr lang="zh-CN" altLang="en-US" sz="1500" dirty="0">
                          <a:latin typeface="微软雅黑" panose="020B0503020204020204" pitchFamily="34" charset="-122"/>
                          <a:ea typeface="微软雅黑" panose="020B0503020204020204" pitchFamily="34" charset="-122"/>
                        </a:rPr>
                        <a:t>）</a:t>
                      </a:r>
                    </a:p>
                  </a:txBody>
                  <a:tcPr marL="68580" marR="68580" marT="34290" marB="34290" anchor="ctr"/>
                </a:tc>
                <a:tc>
                  <a:txBody>
                    <a:bodyPr/>
                    <a:lstStyle/>
                    <a:p>
                      <a:r>
                        <a:rPr lang="en-US" altLang="zh-CN" sz="1500" dirty="0">
                          <a:latin typeface="微软雅黑" panose="020B0503020204020204" pitchFamily="34" charset="-122"/>
                          <a:ea typeface="微软雅黑" panose="020B0503020204020204" pitchFamily="34" charset="-122"/>
                        </a:rPr>
                        <a:t>B+</a:t>
                      </a:r>
                      <a:r>
                        <a:rPr lang="zh-CN" altLang="en-US" sz="1500" dirty="0">
                          <a:latin typeface="微软雅黑" panose="020B0503020204020204" pitchFamily="34" charset="-122"/>
                          <a:ea typeface="微软雅黑" panose="020B0503020204020204" pitchFamily="34" charset="-122"/>
                        </a:rPr>
                        <a:t>树索引</a:t>
                      </a:r>
                    </a:p>
                  </a:txBody>
                  <a:tcPr marL="68580" marR="68580" marT="34290" marB="34290" anchor="ctr"/>
                </a:tc>
                <a:extLst>
                  <a:ext uri="{0D108BD9-81ED-4DB2-BD59-A6C34878D82A}">
                    <a16:rowId xmlns:a16="http://schemas.microsoft.com/office/drawing/2014/main" val="10002"/>
                  </a:ext>
                </a:extLst>
              </a:tr>
              <a:tr h="419904">
                <a:tc>
                  <a:txBody>
                    <a:bodyPr/>
                    <a:lstStyle/>
                    <a:p>
                      <a:r>
                        <a:rPr lang="zh-CN" altLang="en-US" sz="1500" dirty="0">
                          <a:latin typeface="微软雅黑" panose="020B0503020204020204" pitchFamily="34" charset="-122"/>
                          <a:ea typeface="微软雅黑" panose="020B0503020204020204" pitchFamily="34" charset="-122"/>
                        </a:rPr>
                        <a:t>多列条件查询</a:t>
                      </a:r>
                      <a:r>
                        <a:rPr lang="en-US" altLang="zh-CN" sz="1500" dirty="0">
                          <a:latin typeface="微软雅黑" panose="020B0503020204020204" pitchFamily="34" charset="-122"/>
                          <a:ea typeface="微软雅黑" panose="020B0503020204020204" pitchFamily="34" charset="-122"/>
                        </a:rPr>
                        <a:t>(gender=male</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&amp;</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rating=5)</a:t>
                      </a:r>
                      <a:endParaRPr lang="zh-CN" altLang="en-US" sz="1500" dirty="0">
                        <a:latin typeface="微软雅黑" panose="020B0503020204020204" pitchFamily="34" charset="-122"/>
                        <a:ea typeface="微软雅黑" panose="020B0503020204020204" pitchFamily="34" charset="-122"/>
                      </a:endParaRPr>
                    </a:p>
                  </a:txBody>
                  <a:tcPr marL="68580" marR="68580" marT="34290" marB="34290" anchor="ctr"/>
                </a:tc>
                <a:tc>
                  <a:txBody>
                    <a:bodyPr/>
                    <a:lstStyle/>
                    <a:p>
                      <a:r>
                        <a:rPr lang="zh-CN" altLang="en-US" sz="1500" dirty="0">
                          <a:latin typeface="微软雅黑" panose="020B0503020204020204" pitchFamily="34" charset="-122"/>
                          <a:ea typeface="微软雅黑" panose="020B0503020204020204" pitchFamily="34" charset="-122"/>
                        </a:rPr>
                        <a:t>位图索引</a:t>
                      </a:r>
                    </a:p>
                  </a:txBody>
                  <a:tcPr marL="68580" marR="68580" marT="34290" marB="34290" anchor="ctr"/>
                </a:tc>
                <a:extLst>
                  <a:ext uri="{0D108BD9-81ED-4DB2-BD59-A6C34878D82A}">
                    <a16:rowId xmlns:a16="http://schemas.microsoft.com/office/drawing/2014/main" val="10003"/>
                  </a:ext>
                </a:extLst>
              </a:tr>
              <a:tr h="525780">
                <a:tc>
                  <a:txBody>
                    <a:bodyPr/>
                    <a:lstStyle/>
                    <a:p>
                      <a:r>
                        <a:rPr lang="zh-CN" altLang="en-US" sz="1500" dirty="0">
                          <a:latin typeface="微软雅黑" panose="020B0503020204020204" pitchFamily="34" charset="-122"/>
                          <a:ea typeface="微软雅黑" panose="020B0503020204020204" pitchFamily="34" charset="-122"/>
                        </a:rPr>
                        <a:t>空间范围查询</a:t>
                      </a:r>
                      <a:r>
                        <a:rPr lang="en-US" altLang="zh-CN" sz="1500" dirty="0">
                          <a:latin typeface="微软雅黑" panose="020B0503020204020204" pitchFamily="34" charset="-122"/>
                          <a:ea typeface="微软雅黑" panose="020B0503020204020204" pitchFamily="34" charset="-122"/>
                        </a:rPr>
                        <a:t>(115.7°&lt;lag&lt;117.4°&amp;</a:t>
                      </a:r>
                      <a:r>
                        <a:rPr lang="zh-CN" altLang="en-US" sz="1500"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39.4°&lt;long&lt;41.6°)</a:t>
                      </a:r>
                    </a:p>
                    <a:p>
                      <a:r>
                        <a:rPr lang="zh-CN" altLang="en-US" sz="1500" dirty="0">
                          <a:latin typeface="微软雅黑" panose="020B0503020204020204" pitchFamily="34" charset="-122"/>
                          <a:ea typeface="微软雅黑" panose="020B0503020204020204" pitchFamily="34" charset="-122"/>
                        </a:rPr>
                        <a:t>最近邻查询</a:t>
                      </a:r>
                      <a:r>
                        <a:rPr lang="en-US" altLang="zh-CN" sz="1500" dirty="0">
                          <a:latin typeface="微软雅黑" panose="020B0503020204020204" pitchFamily="34" charset="-122"/>
                          <a:ea typeface="微软雅黑" panose="020B0503020204020204" pitchFamily="34" charset="-122"/>
                        </a:rPr>
                        <a:t>(KNN)</a:t>
                      </a:r>
                      <a:endParaRPr lang="zh-CN" altLang="en-US" sz="1500" dirty="0">
                        <a:latin typeface="微软雅黑" panose="020B0503020204020204" pitchFamily="34" charset="-122"/>
                        <a:ea typeface="微软雅黑" panose="020B0503020204020204" pitchFamily="34" charset="-122"/>
                      </a:endParaRPr>
                    </a:p>
                  </a:txBody>
                  <a:tcPr marL="68580" marR="68580" marT="34290" marB="34290" anchor="ctr"/>
                </a:tc>
                <a:tc>
                  <a:txBody>
                    <a:bodyPr/>
                    <a:lstStyle/>
                    <a:p>
                      <a:r>
                        <a:rPr lang="zh-CN" altLang="en-US" sz="1500" dirty="0">
                          <a:latin typeface="微软雅黑" panose="020B0503020204020204" pitchFamily="34" charset="-122"/>
                          <a:ea typeface="微软雅黑" panose="020B0503020204020204" pitchFamily="34" charset="-122"/>
                        </a:rPr>
                        <a:t>多维索引</a:t>
                      </a:r>
                      <a:r>
                        <a:rPr lang="en-US" altLang="zh-CN" sz="1500" dirty="0">
                          <a:latin typeface="微软雅黑" panose="020B0503020204020204" pitchFamily="34" charset="-122"/>
                          <a:ea typeface="微软雅黑" panose="020B0503020204020204" pitchFamily="34" charset="-122"/>
                        </a:rPr>
                        <a:t>(R</a:t>
                      </a:r>
                      <a:r>
                        <a:rPr lang="zh-CN" altLang="en-US" sz="1500" dirty="0">
                          <a:latin typeface="微软雅黑" panose="020B0503020204020204" pitchFamily="34" charset="-122"/>
                          <a:ea typeface="微软雅黑" panose="020B0503020204020204" pitchFamily="34" charset="-122"/>
                        </a:rPr>
                        <a:t>树、</a:t>
                      </a:r>
                      <a:r>
                        <a:rPr lang="en-US" altLang="zh-CN" sz="1500" dirty="0">
                          <a:latin typeface="微软雅黑" panose="020B0503020204020204" pitchFamily="34" charset="-122"/>
                          <a:ea typeface="微软雅黑" panose="020B0503020204020204" pitchFamily="34" charset="-122"/>
                        </a:rPr>
                        <a:t>Quadtree</a:t>
                      </a:r>
                      <a:r>
                        <a:rPr lang="zh-CN" altLang="en-US"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KD</a:t>
                      </a:r>
                      <a:r>
                        <a:rPr lang="zh-CN" altLang="en-US" sz="1500" dirty="0">
                          <a:latin typeface="微软雅黑" panose="020B0503020204020204" pitchFamily="34" charset="-122"/>
                          <a:ea typeface="微软雅黑" panose="020B0503020204020204" pitchFamily="34" charset="-122"/>
                        </a:rPr>
                        <a:t>树</a:t>
                      </a:r>
                      <a:r>
                        <a:rPr lang="en-US" altLang="zh-CN" sz="1500" dirty="0">
                          <a:latin typeface="微软雅黑" panose="020B0503020204020204" pitchFamily="34" charset="-122"/>
                          <a:ea typeface="微软雅黑" panose="020B0503020204020204" pitchFamily="34" charset="-122"/>
                        </a:rPr>
                        <a:t>)</a:t>
                      </a:r>
                      <a:endParaRPr lang="zh-CN" altLang="en-US" sz="1500" dirty="0">
                        <a:latin typeface="微软雅黑" panose="020B0503020204020204" pitchFamily="34" charset="-122"/>
                        <a:ea typeface="微软雅黑" panose="020B0503020204020204" pitchFamily="34" charset="-122"/>
                      </a:endParaRPr>
                    </a:p>
                  </a:txBody>
                  <a:tcPr marL="68580" marR="68580" marT="34290" marB="34290" anchor="ctr"/>
                </a:tc>
                <a:extLst>
                  <a:ext uri="{0D108BD9-81ED-4DB2-BD59-A6C34878D82A}">
                    <a16:rowId xmlns:a16="http://schemas.microsoft.com/office/drawing/2014/main" val="10004"/>
                  </a:ext>
                </a:extLst>
              </a:tr>
            </a:tbl>
          </a:graphicData>
        </a:graphic>
      </p:graphicFrame>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3"/>
          <p:cNvPicPr>
            <a:picLocks noChangeAspect="1"/>
          </p:cNvPicPr>
          <p:nvPr/>
        </p:nvPicPr>
        <p:blipFill>
          <a:blip r:embed="rId3">
            <a:clrChange>
              <a:clrFrom>
                <a:srgbClr val="FFFFFF"/>
              </a:clrFrom>
              <a:clrTo>
                <a:srgbClr val="FFFFFF">
                  <a:alpha val="0"/>
                </a:srgbClr>
              </a:clrTo>
            </a:clrChange>
          </a:blip>
          <a:stretch>
            <a:fillRect/>
          </a:stretch>
        </p:blipFill>
        <p:spPr>
          <a:xfrm>
            <a:off x="414338" y="2078038"/>
            <a:ext cx="3448050" cy="4057650"/>
          </a:xfrm>
          <a:prstGeom prst="rect">
            <a:avLst/>
          </a:prstGeom>
          <a:noFill/>
          <a:ln w="9525">
            <a:noFill/>
          </a:ln>
        </p:spPr>
      </p:pic>
      <p:sp>
        <p:nvSpPr>
          <p:cNvPr id="33795" name="Text Box 4"/>
          <p:cNvSpPr txBox="1"/>
          <p:nvPr/>
        </p:nvSpPr>
        <p:spPr>
          <a:xfrm>
            <a:off x="433388" y="6137275"/>
            <a:ext cx="3328987" cy="336550"/>
          </a:xfrm>
          <a:prstGeom prst="rect">
            <a:avLst/>
          </a:prstGeom>
          <a:solidFill>
            <a:schemeClr val="tx2">
              <a:alpha val="85881"/>
            </a:schemeClr>
          </a:solid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怎样按照关键词找到相应的文档呢</a:t>
            </a: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a:t>
            </a:r>
          </a:p>
        </p:txBody>
      </p:sp>
      <p:sp>
        <p:nvSpPr>
          <p:cNvPr id="580613" name="Text Box 5"/>
          <p:cNvSpPr txBox="1"/>
          <p:nvPr/>
        </p:nvSpPr>
        <p:spPr>
          <a:xfrm>
            <a:off x="4008438" y="4181475"/>
            <a:ext cx="938212" cy="517525"/>
          </a:xfrm>
          <a:prstGeom prst="rect">
            <a:avLst/>
          </a:prstGeom>
          <a:solidFill>
            <a:schemeClr val="tx2"/>
          </a:solid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对所有文档建立</a:t>
            </a:r>
          </a:p>
        </p:txBody>
      </p:sp>
      <p:sp>
        <p:nvSpPr>
          <p:cNvPr id="580614" name="Freeform 6"/>
          <p:cNvSpPr/>
          <p:nvPr/>
        </p:nvSpPr>
        <p:spPr>
          <a:xfrm>
            <a:off x="3929063" y="2270125"/>
            <a:ext cx="1293812" cy="1854200"/>
          </a:xfrm>
          <a:custGeom>
            <a:avLst/>
            <a:gdLst/>
            <a:ahLst/>
            <a:cxnLst>
              <a:cxn ang="0">
                <a:pos x="1293812" y="1854200"/>
              </a:cxn>
              <a:cxn ang="0">
                <a:pos x="812800" y="1311275"/>
              </a:cxn>
              <a:cxn ang="0">
                <a:pos x="757237" y="406400"/>
              </a:cxn>
              <a:cxn ang="0">
                <a:pos x="0" y="0"/>
              </a:cxn>
            </a:cxnLst>
            <a:rect l="0" t="0" r="0" b="0"/>
            <a:pathLst>
              <a:path w="815" h="1168">
                <a:moveTo>
                  <a:pt x="815" y="1168"/>
                </a:moveTo>
                <a:cubicBezTo>
                  <a:pt x="766" y="1111"/>
                  <a:pt x="568" y="978"/>
                  <a:pt x="512" y="826"/>
                </a:cubicBezTo>
                <a:cubicBezTo>
                  <a:pt x="456" y="674"/>
                  <a:pt x="562" y="394"/>
                  <a:pt x="477" y="256"/>
                </a:cubicBezTo>
                <a:cubicBezTo>
                  <a:pt x="393" y="118"/>
                  <a:pt x="196" y="58"/>
                  <a:pt x="0" y="0"/>
                </a:cubicBezTo>
              </a:path>
            </a:pathLst>
          </a:custGeom>
          <a:noFill/>
          <a:ln w="38100" cap="flat" cmpd="sng">
            <a:solidFill>
              <a:schemeClr val="tx1">
                <a:alpha val="100000"/>
              </a:scheme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0615" name="Line 7"/>
          <p:cNvSpPr/>
          <p:nvPr/>
        </p:nvSpPr>
        <p:spPr>
          <a:xfrm flipV="1">
            <a:off x="3768725" y="4735513"/>
            <a:ext cx="1384300" cy="0"/>
          </a:xfrm>
          <a:prstGeom prst="line">
            <a:avLst/>
          </a:prstGeom>
          <a:ln w="28575" cap="flat" cmpd="sng">
            <a:solidFill>
              <a:schemeClr val="tx1"/>
            </a:solidFill>
            <a:prstDash val="solid"/>
            <a:headEnd type="none" w="med" len="med"/>
            <a:tailEnd type="triangle" w="med" len="med"/>
          </a:ln>
        </p:spPr>
      </p:sp>
      <p:sp>
        <p:nvSpPr>
          <p:cNvPr id="580616" name="Freeform 8"/>
          <p:cNvSpPr/>
          <p:nvPr/>
        </p:nvSpPr>
        <p:spPr>
          <a:xfrm>
            <a:off x="7794625" y="3082925"/>
            <a:ext cx="941388" cy="796925"/>
          </a:xfrm>
          <a:custGeom>
            <a:avLst/>
            <a:gdLst/>
            <a:ahLst/>
            <a:cxnLst>
              <a:cxn ang="0">
                <a:pos x="941388" y="0"/>
              </a:cxn>
              <a:cxn ang="0">
                <a:pos x="483306" y="214363"/>
              </a:cxn>
              <a:cxn ang="0">
                <a:pos x="254266" y="654437"/>
              </a:cxn>
              <a:cxn ang="0">
                <a:pos x="0" y="796925"/>
              </a:cxn>
            </a:cxnLst>
            <a:rect l="0" t="0" r="0" b="0"/>
            <a:pathLst>
              <a:path w="933" h="632">
                <a:moveTo>
                  <a:pt x="933" y="0"/>
                </a:moveTo>
                <a:cubicBezTo>
                  <a:pt x="763" y="42"/>
                  <a:pt x="593" y="84"/>
                  <a:pt x="479" y="170"/>
                </a:cubicBezTo>
                <a:cubicBezTo>
                  <a:pt x="365" y="256"/>
                  <a:pt x="332" y="442"/>
                  <a:pt x="252" y="519"/>
                </a:cubicBezTo>
                <a:cubicBezTo>
                  <a:pt x="172" y="596"/>
                  <a:pt x="86" y="614"/>
                  <a:pt x="0" y="632"/>
                </a:cubicBezTo>
              </a:path>
            </a:pathLst>
          </a:custGeom>
          <a:noFill/>
          <a:ln w="152400" cap="flat" cmpd="sng">
            <a:solidFill>
              <a:schemeClr val="tx1">
                <a:alpha val="100000"/>
              </a:scheme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0617" name="Text Box 9"/>
          <p:cNvSpPr txBox="1"/>
          <p:nvPr/>
        </p:nvSpPr>
        <p:spPr>
          <a:xfrm>
            <a:off x="7816850" y="2665413"/>
            <a:ext cx="1327150" cy="366712"/>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关键词查询</a:t>
            </a:r>
          </a:p>
        </p:txBody>
      </p:sp>
      <p:sp>
        <p:nvSpPr>
          <p:cNvPr id="580618" name="Text Box 10"/>
          <p:cNvSpPr txBox="1"/>
          <p:nvPr/>
        </p:nvSpPr>
        <p:spPr>
          <a:xfrm>
            <a:off x="3971925" y="2538413"/>
            <a:ext cx="569913" cy="517525"/>
          </a:xfrm>
          <a:prstGeom prst="rect">
            <a:avLst/>
          </a:prstGeom>
          <a:solidFill>
            <a:schemeClr val="tx2"/>
          </a:solid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查找文档</a:t>
            </a:r>
          </a:p>
        </p:txBody>
      </p:sp>
      <p:grpSp>
        <p:nvGrpSpPr>
          <p:cNvPr id="33802" name="Group 11"/>
          <p:cNvGrpSpPr/>
          <p:nvPr/>
        </p:nvGrpSpPr>
        <p:grpSpPr>
          <a:xfrm>
            <a:off x="5238750" y="3530600"/>
            <a:ext cx="2965450" cy="1900238"/>
            <a:chOff x="3271" y="3065"/>
            <a:chExt cx="1868" cy="1197"/>
          </a:xfrm>
        </p:grpSpPr>
        <p:pic>
          <p:nvPicPr>
            <p:cNvPr id="33823" name="Picture 12"/>
            <p:cNvPicPr>
              <a:picLocks noChangeAspect="1"/>
            </p:cNvPicPr>
            <p:nvPr/>
          </p:nvPicPr>
          <p:blipFill>
            <a:blip r:embed="rId4">
              <a:clrChange>
                <a:clrFrom>
                  <a:srgbClr val="FFFFFF"/>
                </a:clrFrom>
                <a:clrTo>
                  <a:srgbClr val="FFFFFF">
                    <a:alpha val="0"/>
                  </a:srgbClr>
                </a:clrTo>
              </a:clrChange>
            </a:blip>
            <a:stretch>
              <a:fillRect/>
            </a:stretch>
          </p:blipFill>
          <p:spPr>
            <a:xfrm>
              <a:off x="3271" y="3266"/>
              <a:ext cx="1868" cy="996"/>
            </a:xfrm>
            <a:prstGeom prst="rect">
              <a:avLst/>
            </a:prstGeom>
            <a:noFill/>
            <a:ln w="9525">
              <a:noFill/>
            </a:ln>
          </p:spPr>
        </p:pic>
        <p:sp>
          <p:nvSpPr>
            <p:cNvPr id="33824" name="Rectangle 13"/>
            <p:cNvSpPr/>
            <p:nvPr/>
          </p:nvSpPr>
          <p:spPr>
            <a:xfrm>
              <a:off x="3271" y="3065"/>
              <a:ext cx="1564" cy="212"/>
            </a:xfrm>
            <a:prstGeom prst="rect">
              <a:avLst/>
            </a:prstGeom>
            <a:solidFill>
              <a:schemeClr val="tx2"/>
            </a:solid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关键词索引表</a:t>
              </a:r>
              <a:r>
                <a:rPr kumimoji="0" lang="en-US" altLang="zh-CN"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a:t>
              </a:r>
              <a:r>
                <a:rPr kumimoji="0" lang="zh-CN" altLang="en-US" sz="16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倒排索引</a:t>
              </a:r>
            </a:p>
          </p:txBody>
        </p:sp>
      </p:grpSp>
      <p:sp>
        <p:nvSpPr>
          <p:cNvPr id="33803"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其他类型的索引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倒排索引</a:t>
            </a:r>
          </a:p>
        </p:txBody>
      </p:sp>
      <p:grpSp>
        <p:nvGrpSpPr>
          <p:cNvPr id="3" name="Group 49"/>
          <p:cNvGrpSpPr/>
          <p:nvPr/>
        </p:nvGrpSpPr>
        <p:grpSpPr>
          <a:xfrm>
            <a:off x="5326063" y="5202238"/>
            <a:ext cx="3281362" cy="1655762"/>
            <a:chOff x="3346" y="3181"/>
            <a:chExt cx="2067" cy="1043"/>
          </a:xfrm>
        </p:grpSpPr>
        <p:sp>
          <p:nvSpPr>
            <p:cNvPr id="33807" name="Rectangle 48"/>
            <p:cNvSpPr/>
            <p:nvPr/>
          </p:nvSpPr>
          <p:spPr>
            <a:xfrm>
              <a:off x="3346" y="3181"/>
              <a:ext cx="2067" cy="1043"/>
            </a:xfrm>
            <a:prstGeom prst="rect">
              <a:avLst/>
            </a:prstGeom>
            <a:solidFill>
              <a:srgbClr val="FFFF66"/>
            </a:solidFill>
            <a:ln w="9525">
              <a:noFill/>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33808" name="Group 47"/>
            <p:cNvGrpSpPr/>
            <p:nvPr/>
          </p:nvGrpSpPr>
          <p:grpSpPr>
            <a:xfrm>
              <a:off x="3411" y="3234"/>
              <a:ext cx="1918" cy="922"/>
              <a:chOff x="2378" y="3344"/>
              <a:chExt cx="1918" cy="922"/>
            </a:xfrm>
          </p:grpSpPr>
          <p:pic>
            <p:nvPicPr>
              <p:cNvPr id="33809" name="Picture 32"/>
              <p:cNvPicPr>
                <a:picLocks noChangeAspect="1"/>
              </p:cNvPicPr>
              <p:nvPr/>
            </p:nvPicPr>
            <p:blipFill>
              <a:blip r:embed="rId5"/>
              <a:stretch>
                <a:fillRect/>
              </a:stretch>
            </p:blipFill>
            <p:spPr>
              <a:xfrm>
                <a:off x="3431" y="3344"/>
                <a:ext cx="618" cy="922"/>
              </a:xfrm>
              <a:prstGeom prst="rect">
                <a:avLst/>
              </a:prstGeom>
              <a:noFill/>
              <a:ln w="9525">
                <a:noFill/>
              </a:ln>
            </p:spPr>
          </p:pic>
          <p:pic>
            <p:nvPicPr>
              <p:cNvPr id="33810" name="Picture 33"/>
              <p:cNvPicPr>
                <a:picLocks noChangeAspect="1"/>
              </p:cNvPicPr>
              <p:nvPr/>
            </p:nvPicPr>
            <p:blipFill>
              <a:blip r:embed="rId6"/>
              <a:stretch>
                <a:fillRect/>
              </a:stretch>
            </p:blipFill>
            <p:spPr>
              <a:xfrm>
                <a:off x="2378" y="3514"/>
                <a:ext cx="804" cy="686"/>
              </a:xfrm>
              <a:prstGeom prst="rect">
                <a:avLst/>
              </a:prstGeom>
              <a:noFill/>
              <a:ln w="9525">
                <a:noFill/>
              </a:ln>
            </p:spPr>
          </p:pic>
          <p:sp>
            <p:nvSpPr>
              <p:cNvPr id="33811" name="Line 34"/>
              <p:cNvSpPr/>
              <p:nvPr/>
            </p:nvSpPr>
            <p:spPr>
              <a:xfrm flipV="1">
                <a:off x="3081" y="3401"/>
                <a:ext cx="402" cy="439"/>
              </a:xfrm>
              <a:prstGeom prst="line">
                <a:avLst/>
              </a:prstGeom>
              <a:ln w="9525" cap="flat" cmpd="sng">
                <a:solidFill>
                  <a:schemeClr val="tx1"/>
                </a:solidFill>
                <a:prstDash val="solid"/>
                <a:headEnd type="none" w="med" len="med"/>
                <a:tailEnd type="triangle" w="med" len="med"/>
              </a:ln>
            </p:spPr>
          </p:sp>
          <p:sp>
            <p:nvSpPr>
              <p:cNvPr id="33812" name="Line 35"/>
              <p:cNvSpPr/>
              <p:nvPr/>
            </p:nvSpPr>
            <p:spPr>
              <a:xfrm flipV="1">
                <a:off x="3081" y="3721"/>
                <a:ext cx="412" cy="274"/>
              </a:xfrm>
              <a:prstGeom prst="line">
                <a:avLst/>
              </a:prstGeom>
              <a:ln w="9525" cap="flat" cmpd="sng">
                <a:solidFill>
                  <a:schemeClr val="tx1"/>
                </a:solidFill>
                <a:prstDash val="solid"/>
                <a:headEnd type="none" w="med" len="med"/>
                <a:tailEnd type="triangle" w="med" len="med"/>
              </a:ln>
            </p:spPr>
          </p:sp>
          <p:sp>
            <p:nvSpPr>
              <p:cNvPr id="33813" name="Line 36"/>
              <p:cNvSpPr/>
              <p:nvPr/>
            </p:nvSpPr>
            <p:spPr>
              <a:xfrm>
                <a:off x="3081" y="4087"/>
                <a:ext cx="393" cy="36"/>
              </a:xfrm>
              <a:prstGeom prst="line">
                <a:avLst/>
              </a:prstGeom>
              <a:ln w="9525" cap="flat" cmpd="sng">
                <a:solidFill>
                  <a:schemeClr val="tx1"/>
                </a:solidFill>
                <a:prstDash val="solid"/>
                <a:headEnd type="none" w="med" len="med"/>
                <a:tailEnd type="triangle" w="med" len="med"/>
              </a:ln>
            </p:spPr>
          </p:sp>
          <p:sp>
            <p:nvSpPr>
              <p:cNvPr id="33814" name="Line 37"/>
              <p:cNvSpPr/>
              <p:nvPr/>
            </p:nvSpPr>
            <p:spPr>
              <a:xfrm>
                <a:off x="3955" y="3401"/>
                <a:ext cx="338" cy="0"/>
              </a:xfrm>
              <a:prstGeom prst="line">
                <a:avLst/>
              </a:prstGeom>
              <a:ln w="9525" cap="flat" cmpd="sng">
                <a:solidFill>
                  <a:schemeClr val="tx1"/>
                </a:solidFill>
                <a:prstDash val="solid"/>
                <a:headEnd type="none" w="med" len="med"/>
                <a:tailEnd type="triangle" w="med" len="med"/>
              </a:ln>
            </p:spPr>
          </p:sp>
          <p:sp>
            <p:nvSpPr>
              <p:cNvPr id="33815" name="Line 38"/>
              <p:cNvSpPr/>
              <p:nvPr/>
            </p:nvSpPr>
            <p:spPr>
              <a:xfrm>
                <a:off x="3955" y="3501"/>
                <a:ext cx="338" cy="0"/>
              </a:xfrm>
              <a:prstGeom prst="line">
                <a:avLst/>
              </a:prstGeom>
              <a:ln w="9525" cap="flat" cmpd="sng">
                <a:solidFill>
                  <a:schemeClr val="tx1"/>
                </a:solidFill>
                <a:prstDash val="solid"/>
                <a:headEnd type="none" w="med" len="med"/>
                <a:tailEnd type="triangle" w="med" len="med"/>
              </a:ln>
            </p:spPr>
          </p:sp>
          <p:sp>
            <p:nvSpPr>
              <p:cNvPr id="33816" name="Line 39"/>
              <p:cNvSpPr/>
              <p:nvPr/>
            </p:nvSpPr>
            <p:spPr>
              <a:xfrm>
                <a:off x="3956" y="3602"/>
                <a:ext cx="338" cy="0"/>
              </a:xfrm>
              <a:prstGeom prst="line">
                <a:avLst/>
              </a:prstGeom>
              <a:ln w="9525" cap="flat" cmpd="sng">
                <a:solidFill>
                  <a:schemeClr val="tx1"/>
                </a:solidFill>
                <a:prstDash val="solid"/>
                <a:headEnd type="none" w="med" len="med"/>
                <a:tailEnd type="triangle" w="med" len="med"/>
              </a:ln>
            </p:spPr>
          </p:sp>
          <p:sp>
            <p:nvSpPr>
              <p:cNvPr id="33817" name="Line 40"/>
              <p:cNvSpPr/>
              <p:nvPr/>
            </p:nvSpPr>
            <p:spPr>
              <a:xfrm>
                <a:off x="3956" y="3702"/>
                <a:ext cx="338" cy="0"/>
              </a:xfrm>
              <a:prstGeom prst="line">
                <a:avLst/>
              </a:prstGeom>
              <a:ln w="9525" cap="flat" cmpd="sng">
                <a:solidFill>
                  <a:schemeClr val="tx1"/>
                </a:solidFill>
                <a:prstDash val="solid"/>
                <a:headEnd type="none" w="med" len="med"/>
                <a:tailEnd type="triangle" w="med" len="med"/>
              </a:ln>
            </p:spPr>
          </p:sp>
          <p:sp>
            <p:nvSpPr>
              <p:cNvPr id="33818" name="Line 41"/>
              <p:cNvSpPr/>
              <p:nvPr/>
            </p:nvSpPr>
            <p:spPr>
              <a:xfrm>
                <a:off x="3956" y="3803"/>
                <a:ext cx="338" cy="0"/>
              </a:xfrm>
              <a:prstGeom prst="line">
                <a:avLst/>
              </a:prstGeom>
              <a:ln w="9525" cap="flat" cmpd="sng">
                <a:solidFill>
                  <a:schemeClr val="tx1"/>
                </a:solidFill>
                <a:prstDash val="solid"/>
                <a:headEnd type="none" w="med" len="med"/>
                <a:tailEnd type="triangle" w="med" len="med"/>
              </a:ln>
            </p:spPr>
          </p:sp>
          <p:sp>
            <p:nvSpPr>
              <p:cNvPr id="33819" name="Line 42"/>
              <p:cNvSpPr/>
              <p:nvPr/>
            </p:nvSpPr>
            <p:spPr>
              <a:xfrm>
                <a:off x="3957" y="3904"/>
                <a:ext cx="338" cy="0"/>
              </a:xfrm>
              <a:prstGeom prst="line">
                <a:avLst/>
              </a:prstGeom>
              <a:ln w="9525" cap="flat" cmpd="sng">
                <a:solidFill>
                  <a:schemeClr val="tx1"/>
                </a:solidFill>
                <a:prstDash val="solid"/>
                <a:headEnd type="none" w="med" len="med"/>
                <a:tailEnd type="triangle" w="med" len="med"/>
              </a:ln>
            </p:spPr>
          </p:sp>
          <p:sp>
            <p:nvSpPr>
              <p:cNvPr id="33820" name="Line 43"/>
              <p:cNvSpPr/>
              <p:nvPr/>
            </p:nvSpPr>
            <p:spPr>
              <a:xfrm>
                <a:off x="3957" y="4004"/>
                <a:ext cx="338" cy="0"/>
              </a:xfrm>
              <a:prstGeom prst="line">
                <a:avLst/>
              </a:prstGeom>
              <a:ln w="9525" cap="flat" cmpd="sng">
                <a:solidFill>
                  <a:schemeClr val="tx1"/>
                </a:solidFill>
                <a:prstDash val="solid"/>
                <a:headEnd type="none" w="med" len="med"/>
                <a:tailEnd type="triangle" w="med" len="med"/>
              </a:ln>
            </p:spPr>
          </p:sp>
          <p:sp>
            <p:nvSpPr>
              <p:cNvPr id="33821" name="Line 44"/>
              <p:cNvSpPr/>
              <p:nvPr/>
            </p:nvSpPr>
            <p:spPr>
              <a:xfrm>
                <a:off x="3957" y="4105"/>
                <a:ext cx="338" cy="0"/>
              </a:xfrm>
              <a:prstGeom prst="line">
                <a:avLst/>
              </a:prstGeom>
              <a:ln w="9525" cap="flat" cmpd="sng">
                <a:solidFill>
                  <a:schemeClr val="tx1"/>
                </a:solidFill>
                <a:prstDash val="solid"/>
                <a:headEnd type="none" w="med" len="med"/>
                <a:tailEnd type="triangle" w="med" len="med"/>
              </a:ln>
            </p:spPr>
          </p:sp>
          <p:sp>
            <p:nvSpPr>
              <p:cNvPr id="33822" name="Line 45"/>
              <p:cNvSpPr/>
              <p:nvPr/>
            </p:nvSpPr>
            <p:spPr>
              <a:xfrm>
                <a:off x="3958" y="4206"/>
                <a:ext cx="338" cy="0"/>
              </a:xfrm>
              <a:prstGeom prst="line">
                <a:avLst/>
              </a:prstGeom>
              <a:ln w="9525" cap="flat" cmpd="sng">
                <a:solidFill>
                  <a:schemeClr val="tx1"/>
                </a:solidFill>
                <a:prstDash val="solid"/>
                <a:headEnd type="none" w="med" len="med"/>
                <a:tailEnd type="triangle" w="med" len="med"/>
              </a:ln>
            </p:spPr>
          </p:sp>
        </p:grpSp>
      </p:grpSp>
      <p:sp>
        <p:nvSpPr>
          <p:cNvPr id="580658" name="Rectangle 50"/>
          <p:cNvSpPr/>
          <p:nvPr/>
        </p:nvSpPr>
        <p:spPr>
          <a:xfrm>
            <a:off x="4291013" y="1092200"/>
            <a:ext cx="4572000" cy="1322070"/>
          </a:xfrm>
          <a:prstGeom prst="rect">
            <a:avLst/>
          </a:prstGeom>
          <a:noFill/>
          <a:ln w="9525">
            <a:noFill/>
          </a:ln>
        </p:spPr>
        <p:txBody>
          <a:bodyPr>
            <a:spAutoFit/>
          </a:bodyPr>
          <a:lstStyle/>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正排：一个文档包含了哪些词汇</a:t>
            </a:r>
            <a:r>
              <a:rPr kumimoji="0" lang="en-US" altLang="zh-CN"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    </a:t>
            </a:r>
            <a:r>
              <a:rPr kumimoji="0" lang="en-US" altLang="zh-CN" sz="1800" b="0" i="0" u="none" strike="noStrike" kern="120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#Doc1, { Word1,Word2,… }</a:t>
            </a:r>
          </a:p>
          <a:p>
            <a:pPr marL="342900" marR="0" lvl="0" indent="-342900" algn="ctr"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倒排：一个词汇包含在哪些文档中</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   </a:t>
            </a:r>
            <a:r>
              <a:rPr kumimoji="0" lang="zh-CN" altLang="en-US" sz="1800" b="0" i="0" u="none" strike="noStrike" kern="120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 </a:t>
            </a:r>
            <a:r>
              <a:rPr kumimoji="0" lang="en-US" altLang="zh-CN" sz="1800" b="0" i="0" u="none" strike="noStrike" kern="1200" cap="none" spc="0" normalizeH="0" baseline="0" noProof="0" dirty="0">
                <a:ln>
                  <a:noFill/>
                </a:ln>
                <a:solidFill>
                  <a:srgbClr val="CC0000"/>
                </a:solidFill>
                <a:effectLst/>
                <a:uLnTx/>
                <a:uFillTx/>
                <a:latin typeface="微软雅黑" panose="020B0503020204020204" charset="-122"/>
                <a:ea typeface="微软雅黑" panose="020B0503020204020204" charset="-122"/>
                <a:cs typeface="+mn-cs"/>
              </a:rPr>
              <a:t>Word1, { #Doc1, #Doc2, … }</a:t>
            </a:r>
          </a:p>
        </p:txBody>
      </p:sp>
      <p:sp>
        <p:nvSpPr>
          <p:cNvPr id="33806" name="Rectangle 52"/>
          <p:cNvSpPr/>
          <p:nvPr/>
        </p:nvSpPr>
        <p:spPr>
          <a:xfrm>
            <a:off x="257175" y="949325"/>
            <a:ext cx="1606550" cy="519113"/>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2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rPr>
              <a:t>倒排索引</a:t>
            </a:r>
          </a:p>
        </p:txBody>
      </p:sp>
    </p:spTree>
    <p:extLst>
      <p:ext uri="{BB962C8B-B14F-4D97-AF65-F5344CB8AC3E}">
        <p14:creationId xmlns:p14="http://schemas.microsoft.com/office/powerpoint/2010/main" val="229098722"/>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0658"/>
                                        </p:tgtEl>
                                        <p:attrNameLst>
                                          <p:attrName>style.visibility</p:attrName>
                                        </p:attrNameLst>
                                      </p:cBhvr>
                                      <p:to>
                                        <p:strVal val="visible"/>
                                      </p:to>
                                    </p:set>
                                    <p:anim calcmode="lin" valueType="num">
                                      <p:cBhvr additive="base">
                                        <p:cTn id="7" dur="500" fill="hold"/>
                                        <p:tgtEl>
                                          <p:spTgt spid="580658"/>
                                        </p:tgtEl>
                                        <p:attrNameLst>
                                          <p:attrName>ppt_x</p:attrName>
                                        </p:attrNameLst>
                                      </p:cBhvr>
                                      <p:tavLst>
                                        <p:tav tm="0">
                                          <p:val>
                                            <p:strVal val="#ppt_x"/>
                                          </p:val>
                                        </p:tav>
                                        <p:tav tm="100000">
                                          <p:val>
                                            <p:strVal val="#ppt_x"/>
                                          </p:val>
                                        </p:tav>
                                      </p:tavLst>
                                    </p:anim>
                                    <p:anim calcmode="lin" valueType="num">
                                      <p:cBhvr additive="base">
                                        <p:cTn id="8" dur="500" fill="hold"/>
                                        <p:tgtEl>
                                          <p:spTgt spid="58065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0613"/>
                                        </p:tgtEl>
                                        <p:attrNameLst>
                                          <p:attrName>style.visibility</p:attrName>
                                        </p:attrNameLst>
                                      </p:cBhvr>
                                      <p:to>
                                        <p:strVal val="visible"/>
                                      </p:to>
                                    </p:set>
                                    <p:anim calcmode="lin" valueType="num">
                                      <p:cBhvr additive="base">
                                        <p:cTn id="13" dur="500" fill="hold"/>
                                        <p:tgtEl>
                                          <p:spTgt spid="580613"/>
                                        </p:tgtEl>
                                        <p:attrNameLst>
                                          <p:attrName>ppt_x</p:attrName>
                                        </p:attrNameLst>
                                      </p:cBhvr>
                                      <p:tavLst>
                                        <p:tav tm="0">
                                          <p:val>
                                            <p:strVal val="#ppt_x"/>
                                          </p:val>
                                        </p:tav>
                                        <p:tav tm="100000">
                                          <p:val>
                                            <p:strVal val="#ppt_x"/>
                                          </p:val>
                                        </p:tav>
                                      </p:tavLst>
                                    </p:anim>
                                    <p:anim calcmode="lin" valueType="num">
                                      <p:cBhvr additive="base">
                                        <p:cTn id="14" dur="500" fill="hold"/>
                                        <p:tgtEl>
                                          <p:spTgt spid="58061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80615"/>
                                        </p:tgtEl>
                                        <p:attrNameLst>
                                          <p:attrName>style.visibility</p:attrName>
                                        </p:attrNameLst>
                                      </p:cBhvr>
                                      <p:to>
                                        <p:strVal val="visible"/>
                                      </p:to>
                                    </p:set>
                                    <p:anim calcmode="lin" valueType="num">
                                      <p:cBhvr additive="base">
                                        <p:cTn id="17" dur="500" fill="hold"/>
                                        <p:tgtEl>
                                          <p:spTgt spid="580615"/>
                                        </p:tgtEl>
                                        <p:attrNameLst>
                                          <p:attrName>ppt_x</p:attrName>
                                        </p:attrNameLst>
                                      </p:cBhvr>
                                      <p:tavLst>
                                        <p:tav tm="0">
                                          <p:val>
                                            <p:strVal val="#ppt_x"/>
                                          </p:val>
                                        </p:tav>
                                        <p:tav tm="100000">
                                          <p:val>
                                            <p:strVal val="#ppt_x"/>
                                          </p:val>
                                        </p:tav>
                                      </p:tavLst>
                                    </p:anim>
                                    <p:anim calcmode="lin" valueType="num">
                                      <p:cBhvr additive="base">
                                        <p:cTn id="18" dur="500" fill="hold"/>
                                        <p:tgtEl>
                                          <p:spTgt spid="5806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80616"/>
                                        </p:tgtEl>
                                        <p:attrNameLst>
                                          <p:attrName>style.visibility</p:attrName>
                                        </p:attrNameLst>
                                      </p:cBhvr>
                                      <p:to>
                                        <p:strVal val="visible"/>
                                      </p:to>
                                    </p:set>
                                    <p:anim calcmode="lin" valueType="num">
                                      <p:cBhvr additive="base">
                                        <p:cTn id="23" dur="500" fill="hold"/>
                                        <p:tgtEl>
                                          <p:spTgt spid="580616"/>
                                        </p:tgtEl>
                                        <p:attrNameLst>
                                          <p:attrName>ppt_x</p:attrName>
                                        </p:attrNameLst>
                                      </p:cBhvr>
                                      <p:tavLst>
                                        <p:tav tm="0">
                                          <p:val>
                                            <p:strVal val="#ppt_x"/>
                                          </p:val>
                                        </p:tav>
                                        <p:tav tm="100000">
                                          <p:val>
                                            <p:strVal val="#ppt_x"/>
                                          </p:val>
                                        </p:tav>
                                      </p:tavLst>
                                    </p:anim>
                                    <p:anim calcmode="lin" valueType="num">
                                      <p:cBhvr additive="base">
                                        <p:cTn id="24" dur="500" fill="hold"/>
                                        <p:tgtEl>
                                          <p:spTgt spid="58061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80617"/>
                                        </p:tgtEl>
                                        <p:attrNameLst>
                                          <p:attrName>style.visibility</p:attrName>
                                        </p:attrNameLst>
                                      </p:cBhvr>
                                      <p:to>
                                        <p:strVal val="visible"/>
                                      </p:to>
                                    </p:set>
                                    <p:anim calcmode="lin" valueType="num">
                                      <p:cBhvr additive="base">
                                        <p:cTn id="27" dur="500" fill="hold"/>
                                        <p:tgtEl>
                                          <p:spTgt spid="580617"/>
                                        </p:tgtEl>
                                        <p:attrNameLst>
                                          <p:attrName>ppt_x</p:attrName>
                                        </p:attrNameLst>
                                      </p:cBhvr>
                                      <p:tavLst>
                                        <p:tav tm="0">
                                          <p:val>
                                            <p:strVal val="#ppt_x"/>
                                          </p:val>
                                        </p:tav>
                                        <p:tav tm="100000">
                                          <p:val>
                                            <p:strVal val="#ppt_x"/>
                                          </p:val>
                                        </p:tav>
                                      </p:tavLst>
                                    </p:anim>
                                    <p:anim calcmode="lin" valueType="num">
                                      <p:cBhvr additive="base">
                                        <p:cTn id="28" dur="500" fill="hold"/>
                                        <p:tgtEl>
                                          <p:spTgt spid="5806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80618"/>
                                        </p:tgtEl>
                                        <p:attrNameLst>
                                          <p:attrName>style.visibility</p:attrName>
                                        </p:attrNameLst>
                                      </p:cBhvr>
                                      <p:to>
                                        <p:strVal val="visible"/>
                                      </p:to>
                                    </p:set>
                                    <p:anim calcmode="lin" valueType="num">
                                      <p:cBhvr additive="base">
                                        <p:cTn id="33" dur="500" fill="hold"/>
                                        <p:tgtEl>
                                          <p:spTgt spid="580618"/>
                                        </p:tgtEl>
                                        <p:attrNameLst>
                                          <p:attrName>ppt_x</p:attrName>
                                        </p:attrNameLst>
                                      </p:cBhvr>
                                      <p:tavLst>
                                        <p:tav tm="0">
                                          <p:val>
                                            <p:strVal val="#ppt_x"/>
                                          </p:val>
                                        </p:tav>
                                        <p:tav tm="100000">
                                          <p:val>
                                            <p:strVal val="#ppt_x"/>
                                          </p:val>
                                        </p:tav>
                                      </p:tavLst>
                                    </p:anim>
                                    <p:anim calcmode="lin" valueType="num">
                                      <p:cBhvr additive="base">
                                        <p:cTn id="34" dur="500" fill="hold"/>
                                        <p:tgtEl>
                                          <p:spTgt spid="58061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80614"/>
                                        </p:tgtEl>
                                        <p:attrNameLst>
                                          <p:attrName>style.visibility</p:attrName>
                                        </p:attrNameLst>
                                      </p:cBhvr>
                                      <p:to>
                                        <p:strVal val="visible"/>
                                      </p:to>
                                    </p:set>
                                    <p:anim calcmode="lin" valueType="num">
                                      <p:cBhvr additive="base">
                                        <p:cTn id="37" dur="500" fill="hold"/>
                                        <p:tgtEl>
                                          <p:spTgt spid="580614"/>
                                        </p:tgtEl>
                                        <p:attrNameLst>
                                          <p:attrName>ppt_x</p:attrName>
                                        </p:attrNameLst>
                                      </p:cBhvr>
                                      <p:tavLst>
                                        <p:tav tm="0">
                                          <p:val>
                                            <p:strVal val="#ppt_x"/>
                                          </p:val>
                                        </p:tav>
                                        <p:tav tm="100000">
                                          <p:val>
                                            <p:strVal val="#ppt_x"/>
                                          </p:val>
                                        </p:tav>
                                      </p:tavLst>
                                    </p:anim>
                                    <p:anim calcmode="lin" valueType="num">
                                      <p:cBhvr additive="base">
                                        <p:cTn id="38" dur="500" fill="hold"/>
                                        <p:tgtEl>
                                          <p:spTgt spid="5806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ppt_x"/>
                                          </p:val>
                                        </p:tav>
                                        <p:tav tm="100000">
                                          <p:val>
                                            <p:strVal val="#ppt_x"/>
                                          </p:val>
                                        </p:tav>
                                      </p:tavLst>
                                    </p:anim>
                                    <p:anim calcmode="lin" valueType="num">
                                      <p:cBhvr additive="base">
                                        <p:cTn id="4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3" grpId="0" bldLvl="0" animBg="1"/>
      <p:bldP spid="580617" grpId="0"/>
      <p:bldP spid="580618" grpId="0" bldLvl="0" animBg="1"/>
      <p:bldP spid="58065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2261570" y="1736429"/>
            <a:ext cx="4714667" cy="342480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目录</a:t>
            </a:r>
          </a:p>
        </p:txBody>
      </p:sp>
      <p:sp>
        <p:nvSpPr>
          <p:cNvPr id="4" name="内容占位符 3"/>
          <p:cNvSpPr>
            <a:spLocks noGrp="1"/>
          </p:cNvSpPr>
          <p:nvPr>
            <p:ph idx="1"/>
          </p:nvPr>
        </p:nvSpPr>
        <p:spPr>
          <a:xfrm>
            <a:off x="2484300" y="1942678"/>
            <a:ext cx="4355960" cy="3143768"/>
          </a:xfrm>
        </p:spPr>
        <p:txBody>
          <a:bodyPr/>
          <a:lstStyle/>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索引概述</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b="1" dirty="0">
                <a:solidFill>
                  <a:srgbClr val="701988"/>
                </a:solidFill>
                <a:latin typeface="微软雅黑" panose="020B0503020204020204" pitchFamily="82" charset="2"/>
                <a:ea typeface="微软雅黑" panose="020B0503020204020204" pitchFamily="82" charset="2"/>
              </a:rPr>
              <a:t>B+</a:t>
            </a:r>
            <a:r>
              <a:rPr lang="zh-CN" altLang="en-US" b="1" dirty="0">
                <a:solidFill>
                  <a:srgbClr val="701988"/>
                </a:solidFill>
                <a:latin typeface="微软雅黑" panose="020B0503020204020204" pitchFamily="82" charset="2"/>
                <a:ea typeface="微软雅黑" panose="020B0503020204020204" pitchFamily="82" charset="2"/>
              </a:rPr>
              <a:t>树索引</a:t>
            </a:r>
            <a:endParaRPr lang="en-US" altLang="zh-CN" b="1" dirty="0">
              <a:solidFill>
                <a:srgbClr val="701988"/>
              </a:solidFill>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哈希索引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err="1">
                <a:latin typeface="微软雅黑" panose="020B0503020204020204" pitchFamily="82" charset="2"/>
                <a:ea typeface="微软雅黑" panose="020B0503020204020204" pitchFamily="82" charset="2"/>
              </a:rPr>
              <a:t>SkipList</a:t>
            </a:r>
            <a:r>
              <a:rPr lang="zh-CN" altLang="en-US" dirty="0">
                <a:latin typeface="微软雅黑" panose="020B0503020204020204" pitchFamily="82" charset="2"/>
                <a:ea typeface="微软雅黑" panose="020B0503020204020204" pitchFamily="82" charset="2"/>
              </a:rPr>
              <a:t>跳表索引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LSM</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位图索引</a:t>
            </a:r>
            <a:endParaRPr lang="en-US" altLang="zh-CN" dirty="0">
              <a:latin typeface="微软雅黑" panose="020B0503020204020204" pitchFamily="82" charset="2"/>
              <a:ea typeface="微软雅黑" panose="020B0503020204020204" pitchFamily="82" charset="2"/>
            </a:endParaRPr>
          </a:p>
          <a:p>
            <a:pPr marL="0" indent="0">
              <a:buNone/>
            </a:pPr>
            <a:r>
              <a:rPr lang="en-US" altLang="zh-CN" sz="1800" dirty="0" smtClean="0">
                <a:latin typeface="微软雅黑" panose="020B0503020204020204" pitchFamily="82" charset="2"/>
                <a:ea typeface="微软雅黑" panose="020B0503020204020204" pitchFamily="82" charset="2"/>
              </a:rPr>
              <a:t>     </a:t>
            </a:r>
            <a:endParaRPr lang="zh-CN" altLang="en-US" sz="18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6347195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p:cNvSpPr/>
          <p:nvPr/>
        </p:nvSpPr>
        <p:spPr bwMode="auto">
          <a:xfrm>
            <a:off x="534169" y="1474979"/>
            <a:ext cx="8075663" cy="2409251"/>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defTabSz="685800">
              <a:spcBef>
                <a:spcPct val="50000"/>
              </a:spcBef>
            </a:pPr>
            <a:endParaRPr kumimoji="1" lang="zh-CN" altLang="en-US" sz="2400" dirty="0">
              <a:solidFill>
                <a:srgbClr val="000000"/>
              </a:solidFill>
              <a:latin typeface="Times New Roman" panose="02020603050405020304" pitchFamily="18" charset="0"/>
              <a:ea typeface="华文楷体" panose="02010600040101010101" pitchFamily="2" charset="-122"/>
            </a:endParaRPr>
          </a:p>
        </p:txBody>
      </p:sp>
      <p:sp>
        <p:nvSpPr>
          <p:cNvPr id="7" name="Shape18"/>
          <p:cNvSpPr/>
          <p:nvPr/>
        </p:nvSpPr>
        <p:spPr>
          <a:xfrm>
            <a:off x="534169" y="3991870"/>
            <a:ext cx="8075663" cy="151226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16</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87913" y="257707"/>
            <a:ext cx="7568173" cy="678470"/>
          </a:xfrm>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树索引结构</a:t>
            </a:r>
          </a:p>
        </p:txBody>
      </p:sp>
      <p:pic>
        <p:nvPicPr>
          <p:cNvPr id="6" name="图形 1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598337" y="4018559"/>
            <a:ext cx="5880434" cy="1439545"/>
          </a:xfrm>
          <a:prstGeom prst="rect">
            <a:avLst/>
          </a:prstGeom>
        </p:spPr>
      </p:pic>
      <mc:AlternateContent xmlns:mc="http://schemas.openxmlformats.org/markup-compatibility/2006" xmlns:a14="http://schemas.microsoft.com/office/drawing/2010/main">
        <mc:Choice Requires="a14">
          <p:sp>
            <p:nvSpPr>
              <p:cNvPr id="8" name="内容占位符 3"/>
              <p:cNvSpPr txBox="1"/>
              <p:nvPr/>
            </p:nvSpPr>
            <p:spPr bwMode="auto">
              <a:xfrm>
                <a:off x="1045772" y="1407633"/>
                <a:ext cx="6208608" cy="2344037"/>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结构：平衡多叉查找树</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zh-CN" altLang="en-US" sz="1800" kern="0" dirty="0">
                    <a:solidFill>
                      <a:srgbClr val="000000"/>
                    </a:solidFill>
                    <a:latin typeface="微软雅黑" panose="020B0503020204020204" pitchFamily="34" charset="-122"/>
                    <a:ea typeface="微软雅黑" panose="020B0503020204020204" pitchFamily="34" charset="-122"/>
                  </a:rPr>
                  <a:t>根到所有叶子节点路径长度相同</a:t>
                </a:r>
                <a:endParaRPr lang="en-US" altLang="zh-CN" sz="1800" kern="0" dirty="0">
                  <a:solidFill>
                    <a:srgbClr val="000000"/>
                  </a:solidFill>
                  <a:latin typeface="微软雅黑" panose="020B0503020204020204" pitchFamily="34" charset="-122"/>
                  <a:ea typeface="微软雅黑" panose="020B0503020204020204" pitchFamily="34" charset="-122"/>
                </a:endParaRPr>
              </a:p>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扇出</a:t>
                </a:r>
                <a14:m>
                  <m:oMath xmlns:m="http://schemas.openxmlformats.org/officeDocument/2006/math">
                    <m:r>
                      <a:rPr lang="en-US" altLang="zh-CN" sz="1800" b="1" i="1" kern="0">
                        <a:solidFill>
                          <a:srgbClr val="701988"/>
                        </a:solidFill>
                        <a:latin typeface="Cambria Math" panose="02040503050406030204" pitchFamily="18" charset="0"/>
                      </a:rPr>
                      <m:t>𝒎</m:t>
                    </m:r>
                    <m:r>
                      <a:rPr lang="zh-CN" altLang="en-US" sz="1800" b="1" kern="0">
                        <a:solidFill>
                          <a:srgbClr val="701988"/>
                        </a:solidFill>
                        <a:latin typeface="Cambria Math" panose="02040503050406030204" pitchFamily="18" charset="0"/>
                      </a:rPr>
                      <m:t>：</m:t>
                    </m:r>
                  </m:oMath>
                </a14:m>
                <a:r>
                  <a:rPr lang="zh-CN" altLang="en-US" sz="1800" b="1" kern="0" dirty="0">
                    <a:solidFill>
                      <a:srgbClr val="701988"/>
                    </a:solidFill>
                    <a:latin typeface="微软雅黑" panose="020B0503020204020204" pitchFamily="34" charset="-122"/>
                    <a:ea typeface="微软雅黑" panose="020B0503020204020204" pitchFamily="34" charset="-122"/>
                  </a:rPr>
                  <a:t>每个节点最多分叉数</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zh-CN" altLang="en-US" sz="1800" kern="0" dirty="0">
                    <a:solidFill>
                      <a:srgbClr val="000000"/>
                    </a:solidFill>
                    <a:latin typeface="微软雅黑" panose="020B0503020204020204" pitchFamily="34" charset="-122"/>
                    <a:ea typeface="微软雅黑" panose="020B0503020204020204" pitchFamily="34" charset="-122"/>
                  </a:rPr>
                  <a:t>子节点数目范围 </a:t>
                </a:r>
                <a14:m>
                  <m:oMath xmlns:m="http://schemas.openxmlformats.org/officeDocument/2006/math">
                    <m:d>
                      <m:dPr>
                        <m:begChr m:val="["/>
                        <m:endChr m:val="]"/>
                        <m:ctrlPr>
                          <a:rPr lang="en-US" altLang="zh-CN" sz="1800" i="1" kern="0">
                            <a:solidFill>
                              <a:srgbClr val="000000"/>
                            </a:solidFill>
                            <a:latin typeface="Cambria Math" panose="02040503050406030204" pitchFamily="18" charset="0"/>
                          </a:rPr>
                        </m:ctrlPr>
                      </m:dPr>
                      <m:e>
                        <m:d>
                          <m:dPr>
                            <m:begChr m:val="⌈"/>
                            <m:endChr m:val="⌉"/>
                            <m:ctrlPr>
                              <a:rPr lang="zh-CN" altLang="en-US" sz="1800" i="1" kern="0">
                                <a:solidFill>
                                  <a:srgbClr val="000000"/>
                                </a:solidFill>
                                <a:latin typeface="Cambria Math" panose="02040503050406030204" pitchFamily="18" charset="0"/>
                              </a:rPr>
                            </m:ctrlPr>
                          </m:dPr>
                          <m:e>
                            <m:f>
                              <m:fPr>
                                <m:ctrlPr>
                                  <a:rPr lang="en-US" altLang="zh-CN" sz="1800" i="1" kern="0">
                                    <a:solidFill>
                                      <a:srgbClr val="000000"/>
                                    </a:solidFill>
                                    <a:latin typeface="Cambria Math" panose="02040503050406030204" pitchFamily="18" charset="0"/>
                                  </a:rPr>
                                </m:ctrlPr>
                              </m:fPr>
                              <m:num>
                                <m:r>
                                  <a:rPr lang="en-US" altLang="zh-CN" sz="1800" i="1" kern="0">
                                    <a:solidFill>
                                      <a:srgbClr val="000000"/>
                                    </a:solidFill>
                                    <a:latin typeface="Cambria Math" panose="02040503050406030204" pitchFamily="18" charset="0"/>
                                  </a:rPr>
                                  <m:t>𝑚</m:t>
                                </m:r>
                              </m:num>
                              <m:den>
                                <m:r>
                                  <a:rPr lang="en-US" altLang="zh-CN" sz="1800" i="1" kern="0">
                                    <a:solidFill>
                                      <a:srgbClr val="000000"/>
                                    </a:solidFill>
                                    <a:latin typeface="Cambria Math" panose="02040503050406030204" pitchFamily="18" charset="0"/>
                                  </a:rPr>
                                  <m:t>2</m:t>
                                </m:r>
                              </m:den>
                            </m:f>
                          </m:e>
                        </m:d>
                        <m:r>
                          <a:rPr lang="en-US" altLang="zh-CN" sz="1800" kern="0">
                            <a:solidFill>
                              <a:srgbClr val="000000"/>
                            </a:solidFill>
                            <a:latin typeface="Cambria Math" panose="02040503050406030204" pitchFamily="18" charset="0"/>
                          </a:rPr>
                          <m:t>, </m:t>
                        </m:r>
                        <m:r>
                          <a:rPr lang="en-US" altLang="zh-CN" sz="1800" i="1" kern="0" dirty="0">
                            <a:solidFill>
                              <a:srgbClr val="000000"/>
                            </a:solidFill>
                            <a:latin typeface="Cambria Math" panose="02040503050406030204" pitchFamily="18" charset="0"/>
                          </a:rPr>
                          <m:t>𝑚</m:t>
                        </m:r>
                      </m:e>
                    </m:d>
                  </m:oMath>
                </a14:m>
                <a:endParaRPr lang="en-US" altLang="zh-CN" sz="1800" kern="0" dirty="0">
                  <a:solidFill>
                    <a:srgbClr val="000000"/>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zh-CN" altLang="en-US" sz="1800" kern="0" dirty="0">
                    <a:solidFill>
                      <a:srgbClr val="000000"/>
                    </a:solidFill>
                    <a:latin typeface="微软雅黑" panose="020B0503020204020204" pitchFamily="34" charset="-122"/>
                    <a:ea typeface="微软雅黑" panose="020B0503020204020204" pitchFamily="34" charset="-122"/>
                  </a:rPr>
                  <a:t>查找键数目范围 </a:t>
                </a:r>
                <a14:m>
                  <m:oMath xmlns:m="http://schemas.openxmlformats.org/officeDocument/2006/math">
                    <m:d>
                      <m:dPr>
                        <m:begChr m:val="["/>
                        <m:endChr m:val="]"/>
                        <m:ctrlPr>
                          <a:rPr lang="en-US" altLang="zh-CN" sz="1800" i="1" kern="0">
                            <a:solidFill>
                              <a:srgbClr val="000000"/>
                            </a:solidFill>
                            <a:latin typeface="Cambria Math" panose="02040503050406030204" pitchFamily="18" charset="0"/>
                          </a:rPr>
                        </m:ctrlPr>
                      </m:dPr>
                      <m:e>
                        <m:d>
                          <m:dPr>
                            <m:begChr m:val="⌈"/>
                            <m:endChr m:val="⌉"/>
                            <m:ctrlPr>
                              <a:rPr lang="zh-CN" altLang="en-US" sz="1800" i="1" kern="0">
                                <a:solidFill>
                                  <a:srgbClr val="000000"/>
                                </a:solidFill>
                                <a:latin typeface="Cambria Math" panose="02040503050406030204" pitchFamily="18" charset="0"/>
                              </a:rPr>
                            </m:ctrlPr>
                          </m:dPr>
                          <m:e>
                            <m:f>
                              <m:fPr>
                                <m:ctrlPr>
                                  <a:rPr lang="en-US" altLang="zh-CN" sz="1800" i="1" kern="0">
                                    <a:solidFill>
                                      <a:srgbClr val="000000"/>
                                    </a:solidFill>
                                    <a:latin typeface="Cambria Math" panose="02040503050406030204" pitchFamily="18" charset="0"/>
                                  </a:rPr>
                                </m:ctrlPr>
                              </m:fPr>
                              <m:num>
                                <m:r>
                                  <a:rPr lang="en-US" altLang="zh-CN" sz="1800" i="1" kern="0">
                                    <a:solidFill>
                                      <a:srgbClr val="000000"/>
                                    </a:solidFill>
                                    <a:latin typeface="Cambria Math" panose="02040503050406030204" pitchFamily="18" charset="0"/>
                                  </a:rPr>
                                  <m:t>𝑚</m:t>
                                </m:r>
                              </m:num>
                              <m:den>
                                <m:r>
                                  <a:rPr lang="en-US" altLang="zh-CN" sz="1800" i="1" kern="0">
                                    <a:solidFill>
                                      <a:srgbClr val="000000"/>
                                    </a:solidFill>
                                    <a:latin typeface="Cambria Math" panose="02040503050406030204" pitchFamily="18" charset="0"/>
                                  </a:rPr>
                                  <m:t>2</m:t>
                                </m:r>
                              </m:den>
                            </m:f>
                          </m:e>
                        </m:d>
                        <m:r>
                          <a:rPr lang="en-US" altLang="zh-CN" sz="1800" i="1" kern="0">
                            <a:solidFill>
                              <a:srgbClr val="000000"/>
                            </a:solidFill>
                            <a:latin typeface="Cambria Math" panose="02040503050406030204" pitchFamily="18" charset="0"/>
                          </a:rPr>
                          <m:t>−1</m:t>
                        </m:r>
                        <m:r>
                          <a:rPr lang="en-US" altLang="zh-CN" sz="1800" kern="0">
                            <a:solidFill>
                              <a:srgbClr val="000000"/>
                            </a:solidFill>
                            <a:latin typeface="Cambria Math" panose="02040503050406030204" pitchFamily="18" charset="0"/>
                          </a:rPr>
                          <m:t>, </m:t>
                        </m:r>
                        <m:r>
                          <a:rPr lang="en-US" altLang="zh-CN" sz="1800" i="1" kern="0" dirty="0">
                            <a:solidFill>
                              <a:srgbClr val="000000"/>
                            </a:solidFill>
                            <a:latin typeface="Cambria Math" panose="02040503050406030204" pitchFamily="18" charset="0"/>
                          </a:rPr>
                          <m:t>𝑚</m:t>
                        </m:r>
                        <m:r>
                          <a:rPr lang="en-US" altLang="zh-CN" sz="1800" i="1" kern="0" dirty="0">
                            <a:solidFill>
                              <a:srgbClr val="000000"/>
                            </a:solidFill>
                            <a:latin typeface="Cambria Math" panose="02040503050406030204" pitchFamily="18" charset="0"/>
                          </a:rPr>
                          <m:t>−1</m:t>
                        </m:r>
                      </m:e>
                    </m:d>
                  </m:oMath>
                </a14:m>
                <a:endParaRPr lang="en-US" altLang="zh-CN" sz="1800" kern="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8" name="内容占位符 3"/>
              <p:cNvSpPr txBox="1">
                <a:spLocks noRot="1" noChangeAspect="1" noMove="1" noResize="1" noEditPoints="1" noAdjustHandles="1" noChangeArrowheads="1" noChangeShapeType="1" noTextEdit="1"/>
              </p:cNvSpPr>
              <p:nvPr/>
            </p:nvSpPr>
            <p:spPr bwMode="auto">
              <a:xfrm>
                <a:off x="1045772" y="1407633"/>
                <a:ext cx="6208608" cy="2344037"/>
              </a:xfrm>
              <a:prstGeom prst="rect">
                <a:avLst/>
              </a:prstGeom>
              <a:blipFill rotWithShape="1">
                <a:blip r:embed="rId5"/>
                <a:stretch>
                  <a:fillRect l="-9" t="-20" r="2" b="-584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p:cNvSpPr/>
          <p:nvPr/>
        </p:nvSpPr>
        <p:spPr>
          <a:xfrm>
            <a:off x="201336" y="1614282"/>
            <a:ext cx="4302161" cy="393031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9" name="Shape18"/>
          <p:cNvSpPr/>
          <p:nvPr/>
        </p:nvSpPr>
        <p:spPr>
          <a:xfrm>
            <a:off x="4481348" y="1860786"/>
            <a:ext cx="4509675" cy="3483724"/>
          </a:xfrm>
          <a:prstGeom prst="roundRect">
            <a:avLst>
              <a:gd name="adj" fmla="val 320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17</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树索引结构</a:t>
            </a:r>
          </a:p>
        </p:txBody>
      </p:sp>
      <p:pic>
        <p:nvPicPr>
          <p:cNvPr id="7" name="内容占位符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41172" y="4307925"/>
            <a:ext cx="3882714" cy="637124"/>
          </a:xfrm>
          <a:prstGeom prst="rect">
            <a:avLst/>
          </a:prstGeom>
        </p:spPr>
      </p:pic>
      <mc:AlternateContent xmlns:mc="http://schemas.openxmlformats.org/markup-compatibility/2006" xmlns:a14="http://schemas.microsoft.com/office/drawing/2010/main">
        <mc:Choice Requires="a14">
          <p:sp>
            <p:nvSpPr>
              <p:cNvPr id="8" name="内容占位符 3"/>
              <p:cNvSpPr txBox="1"/>
              <p:nvPr/>
            </p:nvSpPr>
            <p:spPr bwMode="auto">
              <a:xfrm>
                <a:off x="152977" y="1714326"/>
                <a:ext cx="4418876" cy="373022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节点：页面（磁盘索引）</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34" charset="-122"/>
                    <a:ea typeface="微软雅黑" panose="020B0503020204020204" pitchFamily="34" charset="-122"/>
                  </a:rPr>
                  <a:t>页面缓冲管理器</a:t>
                </a:r>
                <a:endParaRPr lang="en-US" altLang="zh-CN" sz="1500" kern="0" dirty="0">
                  <a:solidFill>
                    <a:srgbClr val="000000"/>
                  </a:solidFill>
                  <a:latin typeface="微软雅黑" panose="020B0503020204020204" pitchFamily="34" charset="-122"/>
                  <a:ea typeface="微软雅黑" panose="020B0503020204020204" pitchFamily="34" charset="-122"/>
                </a:endParaRPr>
              </a:p>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节点内指针</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34" charset="-122"/>
                    <a:ea typeface="微软雅黑" panose="020B0503020204020204" pitchFamily="34" charset="-122"/>
                  </a:rPr>
                  <a:t>内部节点：索引页面号</a:t>
                </a:r>
                <a:endParaRPr lang="en-US" altLang="zh-CN" sz="1500" kern="0" dirty="0">
                  <a:solidFill>
                    <a:srgbClr val="000000"/>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34" charset="-122"/>
                    <a:ea typeface="微软雅黑" panose="020B0503020204020204" pitchFamily="34" charset="-122"/>
                  </a:rPr>
                  <a:t>叶子节点</a:t>
                </a:r>
                <a:r>
                  <a:rPr lang="zh-CN" altLang="en-US" sz="1500" kern="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500" kern="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500" kern="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数据记录页面号，数据记录槽号</a:t>
                </a:r>
                <a:r>
                  <a:rPr lang="en-US" altLang="zh-CN" sz="1500" kern="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1500" kern="0" dirty="0">
                  <a:solidFill>
                    <a:srgbClr val="000000"/>
                  </a:solidFill>
                  <a:latin typeface="微软雅黑" panose="020B0503020204020204" pitchFamily="34" charset="-122"/>
                  <a:ea typeface="微软雅黑" panose="020B0503020204020204" pitchFamily="34" charset="-122"/>
                </a:endParaRPr>
              </a:p>
              <a:p>
                <a:pPr marL="237490" indent="-237490" defTabSz="685800">
                  <a:lnSpc>
                    <a:spcPct val="150000"/>
                  </a:lnSpc>
                  <a:spcBef>
                    <a:spcPts val="0"/>
                  </a:spcBef>
                  <a:buFont typeface="Wingdings" panose="05000000000000000000" pitchFamily="2" charset="2"/>
                  <a:buChar char="Ø"/>
                </a:pPr>
                <a14:m>
                  <m:oMath xmlns:m="http://schemas.openxmlformats.org/officeDocument/2006/math">
                    <m:r>
                      <a:rPr lang="en-US" altLang="zh-CN" sz="1800" b="1" kern="0" dirty="0">
                        <a:solidFill>
                          <a:srgbClr val="701988"/>
                        </a:solidFill>
                        <a:latin typeface="Cambria Math" panose="02040503050406030204" pitchFamily="18" charset="0"/>
                      </a:rPr>
                      <m:t>𝐓𝐫𝐞𝐞</m:t>
                    </m:r>
                    <m:d>
                      <m:dPr>
                        <m:ctrlPr>
                          <a:rPr lang="en-US" altLang="zh-CN" sz="1800" b="1" i="1" kern="0" dirty="0">
                            <a:solidFill>
                              <a:srgbClr val="701988"/>
                            </a:solidFill>
                            <a:latin typeface="Cambria Math" panose="02040503050406030204" pitchFamily="18" charset="0"/>
                          </a:rPr>
                        </m:ctrlPr>
                      </m:dPr>
                      <m:e>
                        <m:sSub>
                          <m:sSubPr>
                            <m:ctrlPr>
                              <a:rPr lang="en-US" altLang="zh-CN" sz="1800" b="1" i="1" kern="0" dirty="0">
                                <a:solidFill>
                                  <a:srgbClr val="701988"/>
                                </a:solidFill>
                                <a:latin typeface="Cambria Math" panose="02040503050406030204" pitchFamily="18" charset="0"/>
                              </a:rPr>
                            </m:ctrlPr>
                          </m:sSubPr>
                          <m:e>
                            <m:r>
                              <a:rPr lang="en-US" altLang="zh-CN" sz="1800" b="1" i="1" kern="0" dirty="0">
                                <a:solidFill>
                                  <a:srgbClr val="701988"/>
                                </a:solidFill>
                                <a:latin typeface="Cambria Math" panose="02040503050406030204" pitchFamily="18" charset="0"/>
                              </a:rPr>
                              <m:t>𝑷</m:t>
                            </m:r>
                          </m:e>
                          <m:sub>
                            <m:r>
                              <a:rPr lang="en-US" altLang="zh-CN" sz="1800" b="1" i="1" kern="0" dirty="0">
                                <a:solidFill>
                                  <a:srgbClr val="701988"/>
                                </a:solidFill>
                                <a:latin typeface="Cambria Math" panose="02040503050406030204" pitchFamily="18" charset="0"/>
                              </a:rPr>
                              <m:t>𝒊</m:t>
                            </m:r>
                          </m:sub>
                        </m:sSub>
                      </m:e>
                    </m:d>
                    <m:r>
                      <a:rPr lang="en-US" altLang="zh-CN" sz="1800" b="1" i="1" kern="0" dirty="0">
                        <a:solidFill>
                          <a:srgbClr val="701988"/>
                        </a:solidFill>
                        <a:latin typeface="Cambria Math" panose="02040503050406030204" pitchFamily="18" charset="0"/>
                      </a:rPr>
                      <m:t>&lt;</m:t>
                    </m:r>
                    <m:sSub>
                      <m:sSubPr>
                        <m:ctrlPr>
                          <a:rPr lang="en-US" altLang="zh-CN" sz="1800" b="1" i="1" kern="0" dirty="0">
                            <a:solidFill>
                              <a:srgbClr val="701988"/>
                            </a:solidFill>
                            <a:latin typeface="Cambria Math" panose="02040503050406030204" pitchFamily="18" charset="0"/>
                          </a:rPr>
                        </m:ctrlPr>
                      </m:sSubPr>
                      <m:e>
                        <m:r>
                          <a:rPr lang="en-US" altLang="zh-CN" sz="1800" b="1" i="1" kern="0" dirty="0">
                            <a:solidFill>
                              <a:srgbClr val="701988"/>
                            </a:solidFill>
                            <a:latin typeface="Cambria Math" panose="02040503050406030204" pitchFamily="18" charset="0"/>
                          </a:rPr>
                          <m:t>𝑲</m:t>
                        </m:r>
                      </m:e>
                      <m:sub>
                        <m:r>
                          <a:rPr lang="en-US" altLang="zh-CN" sz="1800" b="1" i="1" kern="0" dirty="0">
                            <a:solidFill>
                              <a:srgbClr val="701988"/>
                            </a:solidFill>
                            <a:latin typeface="Cambria Math" panose="02040503050406030204" pitchFamily="18" charset="0"/>
                          </a:rPr>
                          <m:t>𝒊</m:t>
                        </m:r>
                      </m:sub>
                    </m:sSub>
                    <m:r>
                      <a:rPr lang="en-US" altLang="zh-CN" sz="1800" b="1" i="1" kern="0" dirty="0">
                        <a:solidFill>
                          <a:srgbClr val="701988"/>
                        </a:solidFill>
                        <a:latin typeface="Cambria Math" panose="02040503050406030204" pitchFamily="18" charset="0"/>
                      </a:rPr>
                      <m:t>≤</m:t>
                    </m:r>
                    <m:r>
                      <a:rPr lang="en-US" altLang="zh-CN" sz="1800" b="1" kern="0" dirty="0">
                        <a:solidFill>
                          <a:srgbClr val="701988"/>
                        </a:solidFill>
                        <a:latin typeface="Cambria Math" panose="02040503050406030204" pitchFamily="18" charset="0"/>
                      </a:rPr>
                      <m:t>𝐓𝐫𝐞𝐞</m:t>
                    </m:r>
                    <m:r>
                      <a:rPr lang="en-US" altLang="zh-CN" sz="1800" b="1" i="1" kern="0" dirty="0">
                        <a:solidFill>
                          <a:srgbClr val="701988"/>
                        </a:solidFill>
                        <a:latin typeface="Cambria Math" panose="02040503050406030204" pitchFamily="18" charset="0"/>
                      </a:rPr>
                      <m:t>(</m:t>
                    </m:r>
                    <m:sSub>
                      <m:sSubPr>
                        <m:ctrlPr>
                          <a:rPr lang="en-US" altLang="zh-CN" sz="1800" b="1" i="1" kern="0" dirty="0">
                            <a:solidFill>
                              <a:srgbClr val="701988"/>
                            </a:solidFill>
                            <a:latin typeface="Cambria Math" panose="02040503050406030204" pitchFamily="18" charset="0"/>
                          </a:rPr>
                        </m:ctrlPr>
                      </m:sSubPr>
                      <m:e>
                        <m:r>
                          <a:rPr lang="en-US" altLang="zh-CN" sz="1800" b="1" i="1" kern="0" dirty="0">
                            <a:solidFill>
                              <a:srgbClr val="701988"/>
                            </a:solidFill>
                            <a:latin typeface="Cambria Math" panose="02040503050406030204" pitchFamily="18" charset="0"/>
                          </a:rPr>
                          <m:t>𝑷</m:t>
                        </m:r>
                      </m:e>
                      <m:sub>
                        <m:r>
                          <a:rPr lang="en-US" altLang="zh-CN" sz="1800" b="1" i="1" kern="0" dirty="0">
                            <a:solidFill>
                              <a:srgbClr val="701988"/>
                            </a:solidFill>
                            <a:latin typeface="Cambria Math" panose="02040503050406030204" pitchFamily="18" charset="0"/>
                          </a:rPr>
                          <m:t>𝒊</m:t>
                        </m:r>
                        <m:r>
                          <a:rPr lang="en-US" altLang="zh-CN" sz="1800" b="1" i="1" kern="0" dirty="0">
                            <a:solidFill>
                              <a:srgbClr val="701988"/>
                            </a:solidFill>
                            <a:latin typeface="Cambria Math" panose="02040503050406030204" pitchFamily="18" charset="0"/>
                          </a:rPr>
                          <m:t>+</m:t>
                        </m:r>
                        <m:r>
                          <a:rPr lang="en-US" altLang="zh-CN" sz="1800" b="1" i="1" kern="0" dirty="0">
                            <a:solidFill>
                              <a:srgbClr val="701988"/>
                            </a:solidFill>
                            <a:latin typeface="Cambria Math" panose="02040503050406030204" pitchFamily="18" charset="0"/>
                          </a:rPr>
                          <m:t>𝟏</m:t>
                        </m:r>
                      </m:sub>
                    </m:sSub>
                    <m:r>
                      <a:rPr lang="en-US" altLang="zh-CN" sz="1800" b="1" i="1" kern="0" dirty="0">
                        <a:solidFill>
                          <a:srgbClr val="701988"/>
                        </a:solidFill>
                        <a:latin typeface="Cambria Math" panose="02040503050406030204" pitchFamily="18" charset="0"/>
                      </a:rPr>
                      <m:t>)</m:t>
                    </m:r>
                  </m:oMath>
                </a14:m>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扇出</a:t>
                </a:r>
                <a14:m>
                  <m:oMath xmlns:m="http://schemas.openxmlformats.org/officeDocument/2006/math">
                    <m:r>
                      <a:rPr lang="en-US" altLang="zh-CN" sz="1800" b="1" i="1" kern="0">
                        <a:solidFill>
                          <a:srgbClr val="701988"/>
                        </a:solidFill>
                        <a:latin typeface="Cambria Math" panose="02040503050406030204" pitchFamily="18" charset="0"/>
                      </a:rPr>
                      <m:t>𝒎</m:t>
                    </m:r>
                  </m:oMath>
                </a14:m>
                <a:r>
                  <a:rPr lang="zh-CN" altLang="en-US" sz="1800" b="1" kern="0" dirty="0">
                    <a:solidFill>
                      <a:srgbClr val="701988"/>
                    </a:solidFill>
                    <a:latin typeface="微软雅黑" panose="020B0503020204020204" pitchFamily="34" charset="-122"/>
                    <a:ea typeface="微软雅黑" panose="020B0503020204020204" pitchFamily="34" charset="-122"/>
                  </a:rPr>
                  <a:t>由页面大小和键值大小决定</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en-US" altLang="zh-CN" sz="1500" kern="0" dirty="0">
                    <a:solidFill>
                      <a:srgbClr val="000000"/>
                    </a:solidFill>
                    <a:latin typeface="微软雅黑" panose="020B0503020204020204" pitchFamily="34" charset="-122"/>
                    <a:ea typeface="微软雅黑" panose="020B0503020204020204" pitchFamily="34" charset="-122"/>
                  </a:rPr>
                  <a:t>m</a:t>
                </a:r>
                <a:r>
                  <a:rPr lang="zh-CN" altLang="en-US" sz="1500" kern="0" dirty="0">
                    <a:solidFill>
                      <a:srgbClr val="000000"/>
                    </a:solidFill>
                    <a:latin typeface="微软雅黑" panose="020B0503020204020204" pitchFamily="34" charset="-122"/>
                    <a:ea typeface="微软雅黑" panose="020B0503020204020204" pitchFamily="34" charset="-122"/>
                  </a:rPr>
                  <a:t>通常</a:t>
                </a:r>
                <a:r>
                  <a:rPr lang="en-US" altLang="zh-CN" sz="1500" kern="0" dirty="0">
                    <a:solidFill>
                      <a:srgbClr val="000000"/>
                    </a:solidFill>
                    <a:latin typeface="微软雅黑" panose="020B0503020204020204" pitchFamily="34" charset="-122"/>
                    <a:ea typeface="微软雅黑" panose="020B0503020204020204" pitchFamily="34" charset="-122"/>
                  </a:rPr>
                  <a:t>200</a:t>
                </a:r>
                <a:r>
                  <a:rPr lang="zh-CN" altLang="en-US" sz="1500" kern="0" dirty="0">
                    <a:solidFill>
                      <a:srgbClr val="000000"/>
                    </a:solidFill>
                    <a:latin typeface="微软雅黑" panose="020B0503020204020204" pitchFamily="34" charset="-122"/>
                    <a:ea typeface="微软雅黑" panose="020B0503020204020204" pitchFamily="34" charset="-122"/>
                  </a:rPr>
                  <a:t>～</a:t>
                </a:r>
                <a:r>
                  <a:rPr lang="en-US" altLang="zh-CN" sz="1500" kern="0" dirty="0">
                    <a:solidFill>
                      <a:srgbClr val="000000"/>
                    </a:solidFill>
                    <a:latin typeface="微软雅黑" panose="020B0503020204020204" pitchFamily="34" charset="-122"/>
                    <a:ea typeface="微软雅黑" panose="020B0503020204020204" pitchFamily="34" charset="-122"/>
                  </a:rPr>
                  <a:t>300</a:t>
                </a:r>
              </a:p>
              <a:p>
                <a:pPr marL="514350" lvl="1" indent="-198120" defTabSz="685800">
                  <a:lnSpc>
                    <a:spcPct val="150000"/>
                  </a:lnSpc>
                  <a:spcBef>
                    <a:spcPts val="0"/>
                  </a:spcBef>
                  <a:buFont typeface="Arial" panose="020B0604020202020204" pitchFamily="34" charset="0"/>
                  <a:buChar char="•"/>
                </a:pPr>
                <a:r>
                  <a:rPr lang="en-US" altLang="zh-CN" sz="1500" kern="0" dirty="0">
                    <a:solidFill>
                      <a:srgbClr val="000000"/>
                    </a:solidFill>
                    <a:latin typeface="微软雅黑" panose="020B0503020204020204" pitchFamily="34" charset="-122"/>
                    <a:ea typeface="微软雅黑" panose="020B0503020204020204" pitchFamily="34" charset="-122"/>
                  </a:rPr>
                  <a:t>10</a:t>
                </a:r>
                <a:r>
                  <a:rPr lang="zh-CN" altLang="en-US" sz="1500" kern="0" dirty="0">
                    <a:solidFill>
                      <a:srgbClr val="000000"/>
                    </a:solidFill>
                    <a:latin typeface="微软雅黑" panose="020B0503020204020204" pitchFamily="34" charset="-122"/>
                    <a:ea typeface="微软雅黑" panose="020B0503020204020204" pitchFamily="34" charset="-122"/>
                  </a:rPr>
                  <a:t>亿条记录仅需要</a:t>
                </a:r>
                <a:r>
                  <a:rPr lang="en-US" altLang="zh-CN" sz="1500" kern="0" dirty="0">
                    <a:solidFill>
                      <a:srgbClr val="000000"/>
                    </a:solidFill>
                    <a:latin typeface="微软雅黑" panose="020B0503020204020204" pitchFamily="34" charset="-122"/>
                    <a:ea typeface="微软雅黑" panose="020B0503020204020204" pitchFamily="34" charset="-122"/>
                  </a:rPr>
                  <a:t>4</a:t>
                </a:r>
                <a:r>
                  <a:rPr lang="zh-CN" altLang="en-US" sz="1500" kern="0" dirty="0">
                    <a:solidFill>
                      <a:srgbClr val="000000"/>
                    </a:solidFill>
                    <a:latin typeface="微软雅黑" panose="020B0503020204020204" pitchFamily="34" charset="-122"/>
                    <a:ea typeface="微软雅黑" panose="020B0503020204020204" pitchFamily="34" charset="-122"/>
                  </a:rPr>
                  <a:t>～</a:t>
                </a:r>
                <a:r>
                  <a:rPr lang="en-US" altLang="zh-CN" sz="1500" kern="0" dirty="0">
                    <a:solidFill>
                      <a:srgbClr val="000000"/>
                    </a:solidFill>
                    <a:latin typeface="微软雅黑" panose="020B0503020204020204" pitchFamily="34" charset="-122"/>
                    <a:ea typeface="微软雅黑" panose="020B0503020204020204" pitchFamily="34" charset="-122"/>
                  </a:rPr>
                  <a:t>5</a:t>
                </a:r>
                <a:r>
                  <a:rPr lang="zh-CN" altLang="en-US" sz="1500" kern="0" dirty="0">
                    <a:solidFill>
                      <a:srgbClr val="000000"/>
                    </a:solidFill>
                    <a:latin typeface="微软雅黑" panose="020B0503020204020204" pitchFamily="34" charset="-122"/>
                    <a:ea typeface="微软雅黑" panose="020B0503020204020204" pitchFamily="34" charset="-122"/>
                  </a:rPr>
                  <a:t>层</a:t>
                </a:r>
                <a:endParaRPr lang="en-US" altLang="zh-CN" sz="1500" kern="0" dirty="0">
                  <a:solidFill>
                    <a:srgbClr val="000000"/>
                  </a:solidFill>
                  <a:latin typeface="微软雅黑" panose="020B0503020204020204" pitchFamily="34" charset="-122"/>
                  <a:ea typeface="微软雅黑" panose="020B0503020204020204" pitchFamily="34" charset="-122"/>
                </a:endParaRPr>
              </a:p>
              <a:p>
                <a:pPr marL="514350" lvl="1" indent="-198120" defTabSz="685800">
                  <a:lnSpc>
                    <a:spcPct val="150000"/>
                  </a:lnSpc>
                  <a:spcBef>
                    <a:spcPts val="0"/>
                  </a:spcBef>
                  <a:buFont typeface="Arial" panose="020B0604020202020204" pitchFamily="34" charset="0"/>
                  <a:buChar char="•"/>
                </a:pPr>
                <a:r>
                  <a:rPr lang="en-US" altLang="zh-CN" sz="1500" kern="0" dirty="0">
                    <a:solidFill>
                      <a:srgbClr val="000000"/>
                    </a:solidFill>
                    <a:latin typeface="微软雅黑" panose="020B0503020204020204" pitchFamily="34" charset="-122"/>
                    <a:ea typeface="微软雅黑" panose="020B0503020204020204" pitchFamily="34" charset="-122"/>
                  </a:rPr>
                  <a:t>I/O</a:t>
                </a:r>
                <a:r>
                  <a:rPr lang="zh-CN" altLang="en-US" sz="1500" kern="0" dirty="0">
                    <a:solidFill>
                      <a:srgbClr val="000000"/>
                    </a:solidFill>
                    <a:latin typeface="微软雅黑" panose="020B0503020204020204" pitchFamily="34" charset="-122"/>
                    <a:ea typeface="微软雅黑" panose="020B0503020204020204" pitchFamily="34" charset="-122"/>
                  </a:rPr>
                  <a:t>次数少</a:t>
                </a:r>
              </a:p>
            </p:txBody>
          </p:sp>
        </mc:Choice>
        <mc:Fallback xmlns="">
          <p:sp>
            <p:nvSpPr>
              <p:cNvPr id="8" name="内容占位符 3"/>
              <p:cNvSpPr txBox="1">
                <a:spLocks noRot="1" noChangeAspect="1" noMove="1" noResize="1" noEditPoints="1" noAdjustHandles="1" noChangeArrowheads="1" noChangeShapeType="1" noTextEdit="1"/>
              </p:cNvSpPr>
              <p:nvPr/>
            </p:nvSpPr>
            <p:spPr bwMode="auto">
              <a:xfrm>
                <a:off x="152977" y="1714326"/>
                <a:ext cx="4418876" cy="3730228"/>
              </a:xfrm>
              <a:prstGeom prst="rect">
                <a:avLst/>
              </a:prstGeom>
              <a:blipFill rotWithShape="1">
                <a:blip r:embed="rId4"/>
                <a:stretch>
                  <a:fillRect l="-13" t="-12" r="11" b="-18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5" name="图片 4"/>
          <p:cNvPicPr>
            <a:picLocks noChangeAspect="1"/>
          </p:cNvPicPr>
          <p:nvPr/>
        </p:nvPicPr>
        <p:blipFill>
          <a:blip r:embed="rId5"/>
          <a:stretch>
            <a:fillRect/>
          </a:stretch>
        </p:blipFill>
        <p:spPr>
          <a:xfrm>
            <a:off x="4640357" y="2162251"/>
            <a:ext cx="4177229" cy="166470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39"/>
          <p:cNvSpPr/>
          <p:nvPr/>
        </p:nvSpPr>
        <p:spPr bwMode="auto">
          <a:xfrm>
            <a:off x="534169" y="1637240"/>
            <a:ext cx="8075663" cy="1508085"/>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defTabSz="685800">
              <a:spcBef>
                <a:spcPct val="50000"/>
              </a:spcBef>
            </a:pPr>
            <a:endParaRPr kumimoji="1" lang="zh-CN" altLang="en-US" sz="2400" dirty="0">
              <a:solidFill>
                <a:srgbClr val="000000"/>
              </a:solidFill>
              <a:latin typeface="Times New Roman" panose="02020603050405020304" pitchFamily="18" charset="0"/>
              <a:ea typeface="华文楷体" panose="02010600040101010101" pitchFamily="2" charset="-122"/>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18</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查找算法</a:t>
            </a:r>
            <a:r>
              <a:rPr lang="en-US" altLang="zh-CN" sz="2700">
                <a:solidFill>
                  <a:srgbClr val="FF0000"/>
                </a:solidFill>
                <a:latin typeface="微软雅黑" panose="020B0503020204020204" pitchFamily="82" charset="2"/>
                <a:ea typeface="微软雅黑" panose="020B0503020204020204" pitchFamily="82" charset="2"/>
              </a:rPr>
              <a:t>2025-10-14</a:t>
            </a:r>
            <a:endParaRPr lang="zh-CN" altLang="en-US" sz="2700" dirty="0">
              <a:solidFill>
                <a:srgbClr val="FF0000"/>
              </a:solidFill>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601702" y="1582198"/>
            <a:ext cx="8124631" cy="1657601"/>
          </a:xfrm>
        </p:spPr>
        <p:txBody>
          <a:bodyPr/>
          <a:lstStyle/>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点查询</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从根节点逐层加载索引页面到缓冲区，直到叶子节点</a:t>
            </a:r>
            <a:endParaRPr lang="en-US" altLang="zh-CN" sz="1500" dirty="0">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注意只判断存在性时，也要访问到叶子节点</a:t>
            </a:r>
            <a:endParaRPr lang="en-US" altLang="zh-CN" sz="1500" dirty="0">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内部节点存在的键，叶子节点中不一定存在</a:t>
            </a:r>
          </a:p>
        </p:txBody>
      </p:sp>
      <p:grpSp>
        <p:nvGrpSpPr>
          <p:cNvPr id="6" name="组合 5"/>
          <p:cNvGrpSpPr/>
          <p:nvPr/>
        </p:nvGrpSpPr>
        <p:grpSpPr>
          <a:xfrm>
            <a:off x="952148" y="3145324"/>
            <a:ext cx="7121202" cy="2331142"/>
            <a:chOff x="679578" y="3135963"/>
            <a:chExt cx="10832842" cy="3546159"/>
          </a:xfrm>
        </p:grpSpPr>
        <p:pic>
          <p:nvPicPr>
            <p:cNvPr id="8" name="图片 7"/>
            <p:cNvPicPr>
              <a:picLocks noChangeAspect="1"/>
            </p:cNvPicPr>
            <p:nvPr/>
          </p:nvPicPr>
          <p:blipFill>
            <a:blip r:embed="rId2"/>
            <a:stretch>
              <a:fillRect/>
            </a:stretch>
          </p:blipFill>
          <p:spPr>
            <a:xfrm>
              <a:off x="679578" y="3135963"/>
              <a:ext cx="10832842" cy="3045653"/>
            </a:xfrm>
            <a:prstGeom prst="rect">
              <a:avLst/>
            </a:prstGeom>
          </p:spPr>
        </p:pic>
        <p:sp>
          <p:nvSpPr>
            <p:cNvPr id="9" name="文本框 8"/>
            <p:cNvSpPr txBox="1"/>
            <p:nvPr/>
          </p:nvSpPr>
          <p:spPr>
            <a:xfrm>
              <a:off x="4667397" y="4069732"/>
              <a:ext cx="1246563" cy="456488"/>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FF0000"/>
                  </a:solidFill>
                  <a:latin typeface="微软雅黑" panose="020B0503020204020204" pitchFamily="82" charset="2"/>
                  <a:ea typeface="微软雅黑" panose="020B0503020204020204" pitchFamily="82" charset="2"/>
                </a:rPr>
                <a:t>59</a:t>
              </a:r>
              <a:r>
                <a:rPr kumimoji="1" lang="zh-CN" altLang="en-US" sz="1350" dirty="0">
                  <a:solidFill>
                    <a:srgbClr val="FF0000"/>
                  </a:solidFill>
                  <a:latin typeface="微软雅黑" panose="020B0503020204020204" pitchFamily="82" charset="2"/>
                  <a:ea typeface="微软雅黑" panose="020B0503020204020204" pitchFamily="82" charset="2"/>
                </a:rPr>
                <a:t> </a:t>
              </a:r>
              <a:r>
                <a:rPr kumimoji="1" lang="en-US" altLang="zh-CN" sz="1350" dirty="0">
                  <a:solidFill>
                    <a:srgbClr val="FF0000"/>
                  </a:solidFill>
                  <a:latin typeface="微软雅黑" panose="020B0503020204020204" pitchFamily="82" charset="2"/>
                  <a:ea typeface="微软雅黑" panose="020B0503020204020204" pitchFamily="82" charset="2"/>
                </a:rPr>
                <a:t>&lt; 61</a:t>
              </a:r>
              <a:endParaRPr kumimoji="1" lang="zh-CN" altLang="en-US" sz="1350" dirty="0">
                <a:solidFill>
                  <a:srgbClr val="FF0000"/>
                </a:solidFill>
                <a:latin typeface="微软雅黑" panose="020B0503020204020204" pitchFamily="82" charset="2"/>
                <a:ea typeface="微软雅黑" panose="020B0503020204020204" pitchFamily="82" charset="2"/>
              </a:endParaRPr>
            </a:p>
          </p:txBody>
        </p:sp>
        <p:sp>
          <p:nvSpPr>
            <p:cNvPr id="10" name="文本框 9"/>
            <p:cNvSpPr txBox="1"/>
            <p:nvPr/>
          </p:nvSpPr>
          <p:spPr>
            <a:xfrm>
              <a:off x="2188566" y="4803406"/>
              <a:ext cx="1441643" cy="456488"/>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FF0000"/>
                  </a:solidFill>
                  <a:latin typeface="微软雅黑" panose="020B0503020204020204" pitchFamily="82" charset="2"/>
                  <a:ea typeface="微软雅黑" panose="020B0503020204020204" pitchFamily="82" charset="2"/>
                </a:rPr>
                <a:t>59 &gt;= 43</a:t>
              </a:r>
              <a:endParaRPr kumimoji="1" lang="zh-CN" altLang="en-US" sz="1350" dirty="0">
                <a:solidFill>
                  <a:srgbClr val="FF0000"/>
                </a:solidFill>
                <a:latin typeface="微软雅黑" panose="020B0503020204020204" pitchFamily="82" charset="2"/>
                <a:ea typeface="微软雅黑" panose="020B0503020204020204" pitchFamily="82" charset="2"/>
              </a:endParaRPr>
            </a:p>
          </p:txBody>
        </p:sp>
        <p:sp>
          <p:nvSpPr>
            <p:cNvPr id="11" name="文本框 10"/>
            <p:cNvSpPr txBox="1"/>
            <p:nvPr/>
          </p:nvSpPr>
          <p:spPr>
            <a:xfrm>
              <a:off x="4618672" y="6225634"/>
              <a:ext cx="3485110" cy="456488"/>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701988"/>
                  </a:solidFill>
                  <a:latin typeface="微软雅黑" panose="020B0503020204020204" pitchFamily="82" charset="2"/>
                  <a:ea typeface="微软雅黑" panose="020B0503020204020204" pitchFamily="82" charset="2"/>
                </a:rPr>
                <a:t>找到</a:t>
              </a:r>
              <a:r>
                <a:rPr kumimoji="1" lang="en-US" altLang="zh-CN" sz="1350" dirty="0">
                  <a:solidFill>
                    <a:srgbClr val="701988"/>
                  </a:solidFill>
                  <a:latin typeface="微软雅黑" panose="020B0503020204020204" pitchFamily="82" charset="2"/>
                  <a:ea typeface="微软雅黑" panose="020B0503020204020204" pitchFamily="82" charset="2"/>
                </a:rPr>
                <a:t>59</a:t>
              </a:r>
              <a:r>
                <a:rPr kumimoji="1" lang="zh-CN" altLang="en-US" sz="1350" dirty="0">
                  <a:solidFill>
                    <a:srgbClr val="701988"/>
                  </a:solidFill>
                  <a:latin typeface="微软雅黑" panose="020B0503020204020204" pitchFamily="82" charset="2"/>
                  <a:ea typeface="微软雅黑" panose="020B0503020204020204" pitchFamily="82" charset="2"/>
                </a:rPr>
                <a:t>，获得数据记录位置</a:t>
              </a:r>
            </a:p>
          </p:txBody>
        </p:sp>
        <p:sp>
          <p:nvSpPr>
            <p:cNvPr id="12" name="文本框 11"/>
            <p:cNvSpPr txBox="1"/>
            <p:nvPr/>
          </p:nvSpPr>
          <p:spPr>
            <a:xfrm>
              <a:off x="6944568" y="3423394"/>
              <a:ext cx="1114884" cy="456488"/>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701988"/>
                  </a:solidFill>
                  <a:latin typeface="微软雅黑" panose="020B0503020204020204" pitchFamily="82" charset="2"/>
                  <a:ea typeface="微软雅黑" panose="020B0503020204020204" pitchFamily="82" charset="2"/>
                </a:rPr>
                <a:t>查找</a:t>
              </a:r>
              <a:r>
                <a:rPr kumimoji="1" lang="en-US" altLang="zh-CN" sz="1350" dirty="0">
                  <a:solidFill>
                    <a:srgbClr val="701988"/>
                  </a:solidFill>
                  <a:latin typeface="微软雅黑" panose="020B0503020204020204" pitchFamily="82" charset="2"/>
                  <a:ea typeface="微软雅黑" panose="020B0503020204020204" pitchFamily="82" charset="2"/>
                </a:rPr>
                <a:t>59</a:t>
              </a:r>
              <a:endParaRPr kumimoji="1" lang="zh-CN" altLang="en-US" sz="1350" dirty="0">
                <a:solidFill>
                  <a:srgbClr val="701988"/>
                </a:solidFill>
                <a:latin typeface="微软雅黑" panose="020B0503020204020204" pitchFamily="82" charset="2"/>
                <a:ea typeface="微软雅黑" panose="020B0503020204020204" pitchFamily="82" charset="2"/>
              </a:endParaRPr>
            </a:p>
          </p:txBody>
        </p:sp>
      </p:gr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9"/>
          <p:cNvSpPr/>
          <p:nvPr/>
        </p:nvSpPr>
        <p:spPr>
          <a:xfrm>
            <a:off x="622573" y="1601718"/>
            <a:ext cx="7923914" cy="145004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19</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查找算法</a:t>
            </a:r>
          </a:p>
        </p:txBody>
      </p:sp>
      <p:sp>
        <p:nvSpPr>
          <p:cNvPr id="7" name="页脚占位符 6"/>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787914" y="1500056"/>
            <a:ext cx="8124631" cy="1727596"/>
          </a:xfrm>
        </p:spPr>
        <p:txBody>
          <a:bodyPr/>
          <a:lstStyle/>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区间查询（范围查询）</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叶节点兄弟之间有指针</a:t>
            </a:r>
            <a:endParaRPr lang="en-US" altLang="zh-CN" sz="1500" dirty="0">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首先根据查找键查找左端点</a:t>
            </a:r>
            <a:endParaRPr lang="en-US" altLang="zh-CN" sz="1500" dirty="0">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然后按照节点指针向右线性扫描</a:t>
            </a:r>
            <a:endParaRPr lang="en-US" altLang="zh-CN" sz="1500" dirty="0">
              <a:latin typeface="微软雅黑" panose="020B0503020204020204" pitchFamily="82" charset="2"/>
              <a:ea typeface="微软雅黑" panose="020B0503020204020204" pitchFamily="82" charset="2"/>
            </a:endParaRPr>
          </a:p>
        </p:txBody>
      </p:sp>
      <p:grpSp>
        <p:nvGrpSpPr>
          <p:cNvPr id="11" name="组合 10"/>
          <p:cNvGrpSpPr/>
          <p:nvPr/>
        </p:nvGrpSpPr>
        <p:grpSpPr>
          <a:xfrm>
            <a:off x="595410" y="2976729"/>
            <a:ext cx="7611331" cy="2760116"/>
            <a:chOff x="679579" y="2654282"/>
            <a:chExt cx="10832842" cy="3928341"/>
          </a:xfrm>
        </p:grpSpPr>
        <p:pic>
          <p:nvPicPr>
            <p:cNvPr id="8" name="图片 7"/>
            <p:cNvPicPr>
              <a:picLocks noChangeAspect="1"/>
            </p:cNvPicPr>
            <p:nvPr/>
          </p:nvPicPr>
          <p:blipFill>
            <a:blip r:embed="rId2"/>
            <a:stretch>
              <a:fillRect/>
            </a:stretch>
          </p:blipFill>
          <p:spPr>
            <a:xfrm>
              <a:off x="679579" y="2654282"/>
              <a:ext cx="10832842" cy="3045655"/>
            </a:xfrm>
            <a:prstGeom prst="rect">
              <a:avLst/>
            </a:prstGeom>
          </p:spPr>
        </p:pic>
        <p:sp>
          <p:nvSpPr>
            <p:cNvPr id="9" name="文本框 8"/>
            <p:cNvSpPr txBox="1"/>
            <p:nvPr/>
          </p:nvSpPr>
          <p:spPr>
            <a:xfrm>
              <a:off x="4982028" y="4069733"/>
              <a:ext cx="1166291" cy="427092"/>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FF0000"/>
                  </a:solidFill>
                  <a:latin typeface="微软雅黑" panose="020B0503020204020204" pitchFamily="82" charset="2"/>
                  <a:ea typeface="微软雅黑" panose="020B0503020204020204" pitchFamily="82" charset="2"/>
                </a:rPr>
                <a:t>21</a:t>
              </a:r>
              <a:r>
                <a:rPr kumimoji="1" lang="zh-CN" altLang="en-US" sz="1350" dirty="0">
                  <a:solidFill>
                    <a:srgbClr val="FF0000"/>
                  </a:solidFill>
                  <a:latin typeface="微软雅黑" panose="020B0503020204020204" pitchFamily="82" charset="2"/>
                  <a:ea typeface="微软雅黑" panose="020B0503020204020204" pitchFamily="82" charset="2"/>
                </a:rPr>
                <a:t> </a:t>
              </a:r>
              <a:r>
                <a:rPr kumimoji="1" lang="en-US" altLang="zh-CN" sz="1350" dirty="0">
                  <a:solidFill>
                    <a:srgbClr val="FF0000"/>
                  </a:solidFill>
                  <a:latin typeface="微软雅黑" panose="020B0503020204020204" pitchFamily="82" charset="2"/>
                  <a:ea typeface="微软雅黑" panose="020B0503020204020204" pitchFamily="82" charset="2"/>
                </a:rPr>
                <a:t>&lt; 61</a:t>
              </a:r>
              <a:endParaRPr kumimoji="1" lang="zh-CN" altLang="en-US" sz="1350" dirty="0">
                <a:solidFill>
                  <a:srgbClr val="FF0000"/>
                </a:solidFill>
                <a:latin typeface="微软雅黑" panose="020B0503020204020204" pitchFamily="82" charset="2"/>
                <a:ea typeface="微软雅黑" panose="020B0503020204020204" pitchFamily="82" charset="2"/>
              </a:endParaRPr>
            </a:p>
          </p:txBody>
        </p:sp>
        <p:sp>
          <p:nvSpPr>
            <p:cNvPr id="10" name="文本框 9"/>
            <p:cNvSpPr txBox="1"/>
            <p:nvPr/>
          </p:nvSpPr>
          <p:spPr>
            <a:xfrm>
              <a:off x="2503197" y="4803407"/>
              <a:ext cx="1166291" cy="427092"/>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FF0000"/>
                  </a:solidFill>
                  <a:latin typeface="微软雅黑" panose="020B0503020204020204" pitchFamily="82" charset="2"/>
                  <a:ea typeface="微软雅黑" panose="020B0503020204020204" pitchFamily="82" charset="2"/>
                </a:rPr>
                <a:t>21 &lt; 27</a:t>
              </a:r>
              <a:endParaRPr kumimoji="1" lang="zh-CN" altLang="en-US" sz="1350" dirty="0">
                <a:solidFill>
                  <a:srgbClr val="FF0000"/>
                </a:solidFill>
                <a:latin typeface="微软雅黑" panose="020B0503020204020204" pitchFamily="82" charset="2"/>
                <a:ea typeface="微软雅黑" panose="020B0503020204020204" pitchFamily="82" charset="2"/>
              </a:endParaRPr>
            </a:p>
          </p:txBody>
        </p:sp>
        <p:sp>
          <p:nvSpPr>
            <p:cNvPr id="12" name="文本框 11"/>
            <p:cNvSpPr txBox="1"/>
            <p:nvPr/>
          </p:nvSpPr>
          <p:spPr>
            <a:xfrm>
              <a:off x="6944569" y="2959701"/>
              <a:ext cx="2003594" cy="42709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701988"/>
                  </a:solidFill>
                  <a:latin typeface="微软雅黑" panose="020B0503020204020204" pitchFamily="82" charset="2"/>
                  <a:ea typeface="微软雅黑" panose="020B0503020204020204" pitchFamily="82" charset="2"/>
                </a:rPr>
                <a:t>查找</a:t>
              </a:r>
              <a:r>
                <a:rPr kumimoji="1" lang="en-US" altLang="zh-CN" sz="1350" dirty="0">
                  <a:solidFill>
                    <a:srgbClr val="701988"/>
                  </a:solidFill>
                  <a:latin typeface="微软雅黑" panose="020B0503020204020204" pitchFamily="82" charset="2"/>
                  <a:ea typeface="微软雅黑" panose="020B0503020204020204" pitchFamily="82" charset="2"/>
                </a:rPr>
                <a:t>21&lt;=x&lt;61</a:t>
              </a:r>
              <a:endParaRPr kumimoji="1" lang="zh-CN" altLang="en-US" sz="1350" dirty="0">
                <a:solidFill>
                  <a:srgbClr val="701988"/>
                </a:solidFill>
                <a:latin typeface="微软雅黑" panose="020B0503020204020204" pitchFamily="82" charset="2"/>
                <a:ea typeface="微软雅黑" panose="020B0503020204020204" pitchFamily="82" charset="2"/>
              </a:endParaRPr>
            </a:p>
          </p:txBody>
        </p:sp>
        <p:sp>
          <p:nvSpPr>
            <p:cNvPr id="14" name="椭圆 13"/>
            <p:cNvSpPr/>
            <p:nvPr/>
          </p:nvSpPr>
          <p:spPr bwMode="auto">
            <a:xfrm>
              <a:off x="1418252" y="5704862"/>
              <a:ext cx="354563" cy="877761"/>
            </a:xfrm>
            <a:prstGeom prst="ellipse">
              <a:avLst/>
            </a:prstGeom>
            <a:noFill/>
            <a:ln w="3810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a:spcBef>
                  <a:spcPct val="50000"/>
                </a:spcBef>
              </a:pPr>
              <a:endParaRPr kumimoji="1" lang="zh-CN" altLang="en-US" sz="2400">
                <a:solidFill>
                  <a:srgbClr val="000000"/>
                </a:solidFill>
                <a:latin typeface="Times New Roman" panose="02020603050405020304" pitchFamily="18" charset="0"/>
                <a:ea typeface="华文楷体" panose="02010600040101010101" pitchFamily="2" charset="-122"/>
              </a:endParaRPr>
            </a:p>
          </p:txBody>
        </p:sp>
        <p:sp>
          <p:nvSpPr>
            <p:cNvPr id="15" name="左中括号 14"/>
            <p:cNvSpPr/>
            <p:nvPr/>
          </p:nvSpPr>
          <p:spPr bwMode="auto">
            <a:xfrm rot="16200000">
              <a:off x="4595793" y="5808687"/>
              <a:ext cx="45719" cy="624213"/>
            </a:xfrm>
            <a:prstGeom prst="leftBracket">
              <a:avLst/>
            </a:prstGeom>
            <a:noFill/>
            <a:ln w="3810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a:spcBef>
                  <a:spcPct val="50000"/>
                </a:spcBef>
              </a:pPr>
              <a:endParaRPr kumimoji="1" lang="zh-CN" altLang="en-US" sz="2400">
                <a:solidFill>
                  <a:srgbClr val="000000"/>
                </a:solidFill>
                <a:latin typeface="Times New Roman" panose="02020603050405020304" pitchFamily="18" charset="0"/>
                <a:ea typeface="华文楷体" panose="02010600040101010101" pitchFamily="2" charset="-122"/>
              </a:endParaRPr>
            </a:p>
          </p:txBody>
        </p:sp>
        <p:sp>
          <p:nvSpPr>
            <p:cNvPr id="16" name="文本框 15"/>
            <p:cNvSpPr txBox="1"/>
            <p:nvPr/>
          </p:nvSpPr>
          <p:spPr>
            <a:xfrm>
              <a:off x="3427446" y="5781109"/>
              <a:ext cx="2726821" cy="42709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701988"/>
                  </a:solidFill>
                  <a:latin typeface="微软雅黑" panose="020B0503020204020204" pitchFamily="82" charset="2"/>
                  <a:ea typeface="微软雅黑" panose="020B0503020204020204" pitchFamily="82" charset="2"/>
                </a:rPr>
                <a:t>沿叶节点指针线性扫描</a:t>
              </a: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p:cNvSpPr/>
          <p:nvPr/>
        </p:nvSpPr>
        <p:spPr>
          <a:xfrm>
            <a:off x="610042" y="1601480"/>
            <a:ext cx="7923914" cy="402453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20</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插入算法</a:t>
            </a: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938109" y="1524932"/>
                <a:ext cx="6983195" cy="3216175"/>
              </a:xfrm>
            </p:spPr>
            <p:txBody>
              <a:bodyPr/>
              <a:lstStyle/>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34" charset="-122"/>
                    <a:ea typeface="微软雅黑" panose="020B0503020204020204" pitchFamily="34" charset="-122"/>
                  </a:rPr>
                  <a:t>找到应插入的叶子节点</a:t>
                </a:r>
                <a14:m>
                  <m:oMath xmlns:m="http://schemas.openxmlformats.org/officeDocument/2006/math">
                    <m:r>
                      <a:rPr lang="en-US" altLang="zh-CN" sz="1800" b="1" i="1">
                        <a:solidFill>
                          <a:srgbClr val="701988"/>
                        </a:solidFill>
                        <a:latin typeface="Cambria Math" panose="02040503050406030204" pitchFamily="18" charset="0"/>
                      </a:rPr>
                      <m:t>𝑳</m:t>
                    </m:r>
                  </m:oMath>
                </a14:m>
                <a:endParaRPr lang="en-US" altLang="zh-CN" sz="1800" b="1" dirty="0">
                  <a:solidFill>
                    <a:srgbClr val="701988"/>
                  </a:solidFill>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34" charset="-122"/>
                    <a:ea typeface="微软雅黑" panose="020B0503020204020204" pitchFamily="34" charset="-122"/>
                  </a:rPr>
                  <a:t>将索引记录插入到</a:t>
                </a:r>
                <a14:m>
                  <m:oMath xmlns:m="http://schemas.openxmlformats.org/officeDocument/2006/math">
                    <m:r>
                      <a:rPr lang="en-US" altLang="zh-CN" sz="1800" b="1" i="1">
                        <a:solidFill>
                          <a:srgbClr val="701988"/>
                        </a:solidFill>
                        <a:latin typeface="Cambria Math" panose="02040503050406030204" pitchFamily="18" charset="0"/>
                      </a:rPr>
                      <m:t>𝑳</m:t>
                    </m:r>
                    <m:r>
                      <a:rPr lang="zh-CN" altLang="en-US" sz="1800" b="1" i="1">
                        <a:solidFill>
                          <a:srgbClr val="701988"/>
                        </a:solidFill>
                        <a:latin typeface="Cambria Math" panose="02040503050406030204" pitchFamily="18" charset="0"/>
                      </a:rPr>
                      <m:t>中</m:t>
                    </m:r>
                  </m:oMath>
                </a14:m>
                <a:endParaRPr lang="en-US" altLang="zh-CN" sz="1800" b="1" dirty="0">
                  <a:solidFill>
                    <a:srgbClr val="701988"/>
                  </a:solidFill>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34" charset="-122"/>
                    <a:ea typeface="微软雅黑" panose="020B0503020204020204" pitchFamily="34" charset="-122"/>
                  </a:rPr>
                  <a:t>如果</a:t>
                </a:r>
                <a14:m>
                  <m:oMath xmlns:m="http://schemas.openxmlformats.org/officeDocument/2006/math">
                    <m:r>
                      <a:rPr lang="en-US" altLang="zh-CN" sz="1800" b="1" i="1">
                        <a:solidFill>
                          <a:srgbClr val="701988"/>
                        </a:solidFill>
                        <a:latin typeface="Cambria Math" panose="02040503050406030204" pitchFamily="18" charset="0"/>
                      </a:rPr>
                      <m:t>𝑳</m:t>
                    </m:r>
                  </m:oMath>
                </a14:m>
                <a:r>
                  <a:rPr lang="zh-CN" altLang="en-US" sz="1800" b="1" dirty="0">
                    <a:solidFill>
                      <a:srgbClr val="701988"/>
                    </a:solidFill>
                    <a:latin typeface="微软雅黑" panose="020B0503020204020204" pitchFamily="34" charset="-122"/>
                    <a:ea typeface="微软雅黑" panose="020B0503020204020204" pitchFamily="34" charset="-122"/>
                  </a:rPr>
                  <a:t>有多余空间，结束</a:t>
                </a:r>
                <a:endParaRPr lang="en-US" altLang="zh-CN" sz="1800" b="1" dirty="0">
                  <a:solidFill>
                    <a:srgbClr val="701988"/>
                  </a:solidFill>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34" charset="-122"/>
                    <a:ea typeface="微软雅黑" panose="020B0503020204020204" pitchFamily="34" charset="-122"/>
                  </a:rPr>
                  <a:t>否则，需要分裂</a:t>
                </a:r>
                <a14:m>
                  <m:oMath xmlns:m="http://schemas.openxmlformats.org/officeDocument/2006/math">
                    <m:r>
                      <a:rPr lang="en-US" altLang="zh-CN" sz="1800" b="1" i="1">
                        <a:solidFill>
                          <a:srgbClr val="701988"/>
                        </a:solidFill>
                        <a:latin typeface="Cambria Math" panose="02040503050406030204" pitchFamily="18" charset="0"/>
                      </a:rPr>
                      <m:t>𝑳</m:t>
                    </m:r>
                  </m:oMath>
                </a14:m>
                <a:endParaRPr lang="en-US" altLang="zh-CN" sz="1800" b="1" dirty="0">
                  <a:solidFill>
                    <a:srgbClr val="701988"/>
                  </a:solidFill>
                  <a:latin typeface="微软雅黑" panose="020B0503020204020204" pitchFamily="34" charset="-122"/>
                  <a:ea typeface="微软雅黑" panose="020B0503020204020204" pitchFamily="34" charset="-12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34" charset="-122"/>
                    <a:ea typeface="微软雅黑" panose="020B0503020204020204" pitchFamily="34" charset="-122"/>
                  </a:rPr>
                  <a:t>将节点内容均分为两部分，假设</a:t>
                </a:r>
                <a14:m>
                  <m:oMath xmlns:m="http://schemas.openxmlformats.org/officeDocument/2006/math">
                    <m:r>
                      <a:rPr lang="en-US" altLang="zh-CN" sz="1500" b="1" i="1">
                        <a:solidFill>
                          <a:srgbClr val="3B20FF"/>
                        </a:solidFill>
                        <a:latin typeface="Cambria Math" panose="02040503050406030204" pitchFamily="18" charset="0"/>
                      </a:rPr>
                      <m:t>𝑳</m:t>
                    </m:r>
                  </m:oMath>
                </a14:m>
                <a:r>
                  <a:rPr lang="zh-CN" altLang="en-US" sz="1500" b="1" dirty="0">
                    <a:solidFill>
                      <a:srgbClr val="3B20FF"/>
                    </a:solidFill>
                    <a:latin typeface="微软雅黑" panose="020B0503020204020204" pitchFamily="34" charset="-122"/>
                    <a:ea typeface="微软雅黑" panose="020B0503020204020204" pitchFamily="34" charset="-122"/>
                  </a:rPr>
                  <a:t>中间键为</a:t>
                </a:r>
                <a14:m>
                  <m:oMath xmlns:m="http://schemas.openxmlformats.org/officeDocument/2006/math">
                    <m:r>
                      <m:rPr>
                        <m:sty m:val="p"/>
                      </m:rPr>
                      <a:rPr lang="en-US" altLang="zh-CN" sz="1500" i="1" dirty="0">
                        <a:latin typeface="Cambria Math" panose="02040503050406030204" pitchFamily="18" charset="0"/>
                        <a:ea typeface="微软雅黑" panose="020B0503020204020204" pitchFamily="34" charset="-122"/>
                      </a:rPr>
                      <m:t>K</m:t>
                    </m:r>
                    <m:r>
                      <a:rPr lang="en-US" altLang="zh-CN" sz="1500" i="1" dirty="0">
                        <a:latin typeface="Cambria Math" panose="02040503050406030204" pitchFamily="18" charset="0"/>
                        <a:ea typeface="微软雅黑" panose="020B0503020204020204" pitchFamily="34" charset="-122"/>
                      </a:rPr>
                      <m:t>′</m:t>
                    </m:r>
                  </m:oMath>
                </a14:m>
                <a:endParaRPr lang="en-US" altLang="zh-CN" sz="1500" b="1" dirty="0">
                  <a:solidFill>
                    <a:srgbClr val="3B20FF"/>
                  </a:solidFill>
                  <a:latin typeface="微软雅黑" panose="020B0503020204020204" pitchFamily="34" charset="-122"/>
                  <a:ea typeface="微软雅黑" panose="020B0503020204020204" pitchFamily="34" charset="-122"/>
                </a:endParaRPr>
              </a:p>
              <a:p>
                <a:pPr lvl="1">
                  <a:lnSpc>
                    <a:spcPct val="150000"/>
                  </a:lnSpc>
                  <a:spcBef>
                    <a:spcPts val="0"/>
                  </a:spcBef>
                  <a:buFont typeface="Arial" panose="020B0604020202020204" pitchFamily="34" charset="0"/>
                  <a:buChar char="•"/>
                </a:pPr>
                <a14:m>
                  <m:oMath xmlns:m="http://schemas.openxmlformats.org/officeDocument/2006/math">
                    <m:r>
                      <a:rPr lang="en-US" altLang="zh-CN" sz="1500" i="1">
                        <a:latin typeface="Cambria Math" panose="02040503050406030204" pitchFamily="18" charset="0"/>
                      </a:rPr>
                      <m:t>𝐿</m:t>
                    </m:r>
                  </m:oMath>
                </a14:m>
                <a:r>
                  <a:rPr lang="zh-CN" altLang="en-US" sz="1500" dirty="0">
                    <a:latin typeface="微软雅黑" panose="020B0503020204020204" pitchFamily="34" charset="-122"/>
                    <a:ea typeface="微软雅黑" panose="020B0503020204020204" pitchFamily="34" charset="-122"/>
                  </a:rPr>
                  <a:t>中小于</a:t>
                </a:r>
                <a14:m>
                  <m:oMath xmlns:m="http://schemas.openxmlformats.org/officeDocument/2006/math">
                    <m:r>
                      <m:rPr>
                        <m:sty m:val="p"/>
                      </m:rPr>
                      <a:rPr lang="en-US" altLang="zh-CN" sz="1500" i="1" dirty="0">
                        <a:latin typeface="Cambria Math" panose="02040503050406030204" pitchFamily="18" charset="0"/>
                        <a:ea typeface="微软雅黑" panose="020B0503020204020204" pitchFamily="34" charset="-122"/>
                      </a:rPr>
                      <m:t>K</m:t>
                    </m:r>
                    <m:r>
                      <a:rPr lang="en-US" altLang="zh-CN" sz="1500" i="1" dirty="0">
                        <a:latin typeface="Cambria Math" panose="02040503050406030204" pitchFamily="18" charset="0"/>
                        <a:ea typeface="微软雅黑" panose="020B0503020204020204" pitchFamily="34" charset="-122"/>
                      </a:rPr>
                      <m:t>′</m:t>
                    </m:r>
                  </m:oMath>
                </a14:m>
                <a:r>
                  <a:rPr lang="zh-CN" altLang="en-US" sz="1500" dirty="0">
                    <a:latin typeface="微软雅黑" panose="020B0503020204020204" pitchFamily="34" charset="-122"/>
                    <a:ea typeface="微软雅黑" panose="020B0503020204020204" pitchFamily="34" charset="-122"/>
                  </a:rPr>
                  <a:t>的保存在</a:t>
                </a:r>
                <a14:m>
                  <m:oMath xmlns:m="http://schemas.openxmlformats.org/officeDocument/2006/math">
                    <m:r>
                      <a:rPr lang="en-US" altLang="zh-CN" sz="1500" i="1">
                        <a:latin typeface="Cambria Math" panose="02040503050406030204" pitchFamily="18" charset="0"/>
                      </a:rPr>
                      <m:t>𝐿</m:t>
                    </m:r>
                    <m:r>
                      <a:rPr lang="en-US" altLang="zh-CN" sz="1500" i="1">
                        <a:latin typeface="Cambria Math" panose="02040503050406030204" pitchFamily="18" charset="0"/>
                      </a:rPr>
                      <m:t>′</m:t>
                    </m:r>
                  </m:oMath>
                </a14:m>
                <a:r>
                  <a:rPr lang="zh-CN" altLang="en-US" sz="1500" dirty="0">
                    <a:latin typeface="微软雅黑" panose="020B0503020204020204" pitchFamily="34" charset="-122"/>
                    <a:ea typeface="微软雅黑" panose="020B0503020204020204" pitchFamily="34" charset="-122"/>
                  </a:rPr>
                  <a:t>；大于等于</a:t>
                </a:r>
                <a14:m>
                  <m:oMath xmlns:m="http://schemas.openxmlformats.org/officeDocument/2006/math">
                    <m:r>
                      <m:rPr>
                        <m:sty m:val="p"/>
                      </m:rPr>
                      <a:rPr lang="en-US" altLang="zh-CN" sz="1500" i="1" dirty="0">
                        <a:latin typeface="Cambria Math" panose="02040503050406030204" pitchFamily="18" charset="0"/>
                        <a:ea typeface="微软雅黑" panose="020B0503020204020204" pitchFamily="34" charset="-122"/>
                      </a:rPr>
                      <m:t>K</m:t>
                    </m:r>
                    <m:r>
                      <a:rPr lang="en-US" altLang="zh-CN" sz="1500" i="1" dirty="0">
                        <a:latin typeface="Cambria Math" panose="02040503050406030204" pitchFamily="18" charset="0"/>
                        <a:ea typeface="微软雅黑" panose="020B0503020204020204" pitchFamily="34" charset="-122"/>
                      </a:rPr>
                      <m:t>′</m:t>
                    </m:r>
                    <m:r>
                      <a:rPr lang="zh-CN" altLang="en-US" sz="1500" i="1">
                        <a:latin typeface="Cambria Math" panose="02040503050406030204" pitchFamily="18" charset="0"/>
                      </a:rPr>
                      <m:t>的移动到</m:t>
                    </m:r>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𝐿</m:t>
                        </m:r>
                      </m:e>
                      <m:sub>
                        <m:r>
                          <a:rPr lang="en-US" altLang="zh-CN" sz="1500" i="1">
                            <a:latin typeface="Cambria Math" panose="02040503050406030204" pitchFamily="18" charset="0"/>
                          </a:rPr>
                          <m:t>𝑛𝑒𝑤</m:t>
                        </m:r>
                      </m:sub>
                    </m:sSub>
                  </m:oMath>
                </a14:m>
                <a:r>
                  <a:rPr lang="zh-CN" altLang="en-US" sz="1500" dirty="0">
                    <a:latin typeface="微软雅黑" panose="020B0503020204020204" pitchFamily="34" charset="-122"/>
                    <a:ea typeface="微软雅黑" panose="020B0503020204020204" pitchFamily="34" charset="-122"/>
                  </a:rPr>
                  <a:t>，</a:t>
                </a:r>
                <a:endParaRPr lang="en-US" altLang="zh-CN" sz="1500" dirty="0">
                  <a:latin typeface="微软雅黑" panose="020B0503020204020204" pitchFamily="34" charset="-122"/>
                  <a:ea typeface="微软雅黑" panose="020B0503020204020204" pitchFamily="34" charset="-12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34" charset="-122"/>
                    <a:ea typeface="微软雅黑" panose="020B0503020204020204" pitchFamily="34" charset="-122"/>
                  </a:rPr>
                  <a:t>将</a:t>
                </a:r>
                <a14:m>
                  <m:oMath xmlns:m="http://schemas.openxmlformats.org/officeDocument/2006/math">
                    <m:r>
                      <m:rPr>
                        <m:sty m:val="p"/>
                      </m:rPr>
                      <a:rPr lang="en-US" altLang="zh-CN" sz="1500" i="1" dirty="0">
                        <a:latin typeface="Cambria Math" panose="02040503050406030204" pitchFamily="18" charset="0"/>
                        <a:ea typeface="微软雅黑" panose="020B0503020204020204" pitchFamily="34" charset="-122"/>
                      </a:rPr>
                      <m:t>K</m:t>
                    </m:r>
                    <m:r>
                      <a:rPr lang="en-US" altLang="zh-CN" sz="1500" i="1" dirty="0">
                        <a:latin typeface="Cambria Math" panose="02040503050406030204" pitchFamily="18" charset="0"/>
                        <a:ea typeface="微软雅黑" panose="020B0503020204020204" pitchFamily="34" charset="-122"/>
                      </a:rPr>
                      <m:t>′</m:t>
                    </m:r>
                  </m:oMath>
                </a14:m>
                <a:r>
                  <a:rPr lang="zh-CN" altLang="en-US" sz="1500" dirty="0">
                    <a:latin typeface="微软雅黑" panose="020B0503020204020204" pitchFamily="34" charset="-122"/>
                    <a:ea typeface="微软雅黑" panose="020B0503020204020204" pitchFamily="34" charset="-122"/>
                  </a:rPr>
                  <a:t>插入</a:t>
                </a:r>
                <a14:m>
                  <m:oMath xmlns:m="http://schemas.openxmlformats.org/officeDocument/2006/math">
                    <m:r>
                      <a:rPr lang="en-US" altLang="zh-CN" sz="1500" i="1">
                        <a:latin typeface="Cambria Math" panose="02040503050406030204" pitchFamily="18" charset="0"/>
                      </a:rPr>
                      <m:t>𝐿</m:t>
                    </m:r>
                  </m:oMath>
                </a14:m>
                <a:r>
                  <a:rPr lang="zh-CN" altLang="en-US" sz="1500" dirty="0">
                    <a:latin typeface="微软雅黑" panose="020B0503020204020204" pitchFamily="34" charset="-122"/>
                    <a:ea typeface="微软雅黑" panose="020B0503020204020204" pitchFamily="34" charset="-122"/>
                  </a:rPr>
                  <a:t>父节点</a:t>
                </a:r>
                <a14:m>
                  <m:oMath xmlns:m="http://schemas.openxmlformats.org/officeDocument/2006/math">
                    <m:r>
                      <a:rPr lang="zh-CN" altLang="en-US" sz="1500" dirty="0">
                        <a:latin typeface="Cambria Math" panose="02040503050406030204" pitchFamily="18" charset="0"/>
                      </a:rPr>
                      <m:t>，</m:t>
                    </m:r>
                    <m:r>
                      <a:rPr lang="zh-CN" altLang="en-US" sz="1500" i="1" dirty="0">
                        <a:latin typeface="Cambria Math" panose="02040503050406030204" pitchFamily="18" charset="0"/>
                      </a:rPr>
                      <m:t>并更新指向</m:t>
                    </m:r>
                    <m:r>
                      <a:rPr lang="en-US" altLang="zh-CN" sz="1500" i="1">
                        <a:latin typeface="Cambria Math" panose="02040503050406030204" pitchFamily="18" charset="0"/>
                      </a:rPr>
                      <m:t>𝐿</m:t>
                    </m:r>
                    <m:r>
                      <a:rPr lang="en-US" altLang="zh-CN" sz="1500" i="1">
                        <a:latin typeface="Cambria Math" panose="02040503050406030204" pitchFamily="18" charset="0"/>
                      </a:rPr>
                      <m:t>′</m:t>
                    </m:r>
                    <m:r>
                      <a:rPr lang="zh-CN" altLang="en-US" sz="1500" i="1" dirty="0">
                        <a:latin typeface="Cambria Math" panose="02040503050406030204" pitchFamily="18" charset="0"/>
                      </a:rPr>
                      <m:t>和</m:t>
                    </m:r>
                  </m:oMath>
                </a14:m>
                <a:r>
                  <a:rPr lang="zh-CN" altLang="en-US" sz="15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1500" i="1">
                            <a:latin typeface="Cambria Math" panose="02040503050406030204" pitchFamily="18" charset="0"/>
                          </a:rPr>
                        </m:ctrlPr>
                      </m:sSubPr>
                      <m:e>
                        <m:r>
                          <a:rPr lang="en-US" altLang="zh-CN" sz="1500" i="1">
                            <a:latin typeface="Cambria Math" panose="02040503050406030204" pitchFamily="18" charset="0"/>
                          </a:rPr>
                          <m:t>𝐿</m:t>
                        </m:r>
                      </m:e>
                      <m:sub>
                        <m:r>
                          <a:rPr lang="en-US" altLang="zh-CN" sz="1500" i="1">
                            <a:latin typeface="Cambria Math" panose="02040503050406030204" pitchFamily="18" charset="0"/>
                          </a:rPr>
                          <m:t>𝑛𝑒𝑤</m:t>
                        </m:r>
                      </m:sub>
                    </m:sSub>
                  </m:oMath>
                </a14:m>
                <a:r>
                  <a:rPr lang="zh-CN" altLang="en-US" sz="1500" dirty="0">
                    <a:latin typeface="微软雅黑" panose="020B0503020204020204" pitchFamily="34" charset="-122"/>
                    <a:ea typeface="微软雅黑" panose="020B0503020204020204" pitchFamily="34" charset="-122"/>
                  </a:rPr>
                  <a:t> 的指针</a:t>
                </a:r>
                <a:endParaRPr lang="en-US" altLang="zh-CN" sz="1500" dirty="0">
                  <a:latin typeface="微软雅黑" panose="020B0503020204020204" pitchFamily="34" charset="-122"/>
                  <a:ea typeface="微软雅黑" panose="020B0503020204020204" pitchFamily="34" charset="-12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34" charset="-122"/>
                    <a:ea typeface="微软雅黑" panose="020B0503020204020204" pitchFamily="34" charset="-122"/>
                  </a:rPr>
                  <a:t>如果</a:t>
                </a:r>
                <a:r>
                  <a:rPr lang="en-US" altLang="zh-CN" sz="1500" dirty="0">
                    <a:latin typeface="微软雅黑" panose="020B0503020204020204" pitchFamily="34" charset="-122"/>
                    <a:ea typeface="微软雅黑" panose="020B0503020204020204" pitchFamily="34" charset="-122"/>
                  </a:rPr>
                  <a:t>L</a:t>
                </a:r>
                <a:r>
                  <a:rPr lang="zh-CN" altLang="en-US" sz="1500" dirty="0">
                    <a:latin typeface="微软雅黑" panose="020B0503020204020204" pitchFamily="34" charset="-122"/>
                    <a:ea typeface="微软雅黑" panose="020B0503020204020204" pitchFamily="34" charset="-122"/>
                  </a:rPr>
                  <a:t>父节点溢出，继续分裂</a:t>
                </a:r>
                <a:endParaRPr lang="en-US" altLang="zh-CN" sz="1500" dirty="0">
                  <a:latin typeface="微软雅黑" panose="020B0503020204020204" pitchFamily="34" charset="-122"/>
                  <a:ea typeface="微软雅黑" panose="020B0503020204020204" pitchFamily="34" charset="-122"/>
                </a:endParaRPr>
              </a:p>
            </p:txBody>
          </p:sp>
        </mc:Choice>
        <mc:Fallback xmlns="">
          <p:sp>
            <p:nvSpPr>
              <p:cNvPr id="4" name="内容占位符 3"/>
              <p:cNvSpPr>
                <a:spLocks noRot="1" noChangeAspect="1" noMove="1" noResize="1" noEditPoints="1" noAdjustHandles="1" noChangeArrowheads="1" noChangeShapeType="1" noTextEdit="1"/>
              </p:cNvSpPr>
              <p:nvPr>
                <p:ph idx="1"/>
              </p:nvPr>
            </p:nvSpPr>
            <p:spPr>
              <a:xfrm>
                <a:off x="938109" y="1524932"/>
                <a:ext cx="6983195" cy="3216175"/>
              </a:xfrm>
              <a:blipFill rotWithShape="1">
                <a:blip r:embed="rId2"/>
                <a:stretch>
                  <a:fillRect l="-3" t="-9" r="4" b="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3"/>
              <p:cNvSpPr txBox="1"/>
              <p:nvPr/>
            </p:nvSpPr>
            <p:spPr bwMode="auto">
              <a:xfrm>
                <a:off x="963608" y="4633145"/>
                <a:ext cx="7629525" cy="93801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内部节点（非叶结点）分裂：</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514350" lvl="1" indent="-198120" defTabSz="685800">
                  <a:buFont typeface="Arial" panose="020B0604020202020204" pitchFamily="34" charset="0"/>
                  <a:buChar char="•"/>
                </a:pPr>
                <a:r>
                  <a:rPr lang="zh-CN" altLang="en-US" sz="1500" kern="0" dirty="0">
                    <a:solidFill>
                      <a:srgbClr val="000000"/>
                    </a:solidFill>
                    <a:latin typeface="微软雅黑" panose="020B0503020204020204" pitchFamily="34" charset="-122"/>
                    <a:ea typeface="微软雅黑" panose="020B0503020204020204" pitchFamily="34" charset="-122"/>
                  </a:rPr>
                  <a:t>中间键</a:t>
                </a:r>
                <a14:m>
                  <m:oMath xmlns:m="http://schemas.openxmlformats.org/officeDocument/2006/math">
                    <m:r>
                      <m:rPr>
                        <m:sty m:val="p"/>
                      </m:rPr>
                      <a:rPr lang="en-US" altLang="zh-CN" sz="1500" i="1" dirty="0">
                        <a:solidFill>
                          <a:srgbClr val="000000"/>
                        </a:solidFill>
                        <a:latin typeface="Cambria Math" panose="02040503050406030204" pitchFamily="18" charset="0"/>
                        <a:ea typeface="微软雅黑" panose="020B0503020204020204" pitchFamily="34" charset="-122"/>
                      </a:rPr>
                      <m:t>K</m:t>
                    </m:r>
                    <m:r>
                      <a:rPr lang="en-US" altLang="zh-CN" sz="1500" i="1" dirty="0">
                        <a:solidFill>
                          <a:srgbClr val="000000"/>
                        </a:solidFill>
                        <a:latin typeface="Cambria Math" panose="02040503050406030204" pitchFamily="18" charset="0"/>
                        <a:ea typeface="微软雅黑" panose="020B0503020204020204" pitchFamily="34" charset="-122"/>
                      </a:rPr>
                      <m:t>′</m:t>
                    </m:r>
                    <m:r>
                      <a:rPr lang="zh-CN" altLang="en-US" sz="1500" i="1" dirty="0">
                        <a:solidFill>
                          <a:srgbClr val="000000"/>
                        </a:solidFill>
                        <a:latin typeface="Cambria Math" panose="02040503050406030204" pitchFamily="18" charset="0"/>
                      </a:rPr>
                      <m:t>不放在新节点中</m:t>
                    </m:r>
                    <m:d>
                      <m:dPr>
                        <m:begChr m:val="（"/>
                        <m:endChr m:val="）"/>
                        <m:ctrlPr>
                          <a:rPr lang="zh-CN" altLang="en-US" sz="1500" i="1" dirty="0">
                            <a:solidFill>
                              <a:srgbClr val="000000"/>
                            </a:solidFill>
                            <a:latin typeface="Cambria Math" panose="02040503050406030204" pitchFamily="18" charset="0"/>
                          </a:rPr>
                        </m:ctrlPr>
                      </m:dPr>
                      <m:e>
                        <m:sSup>
                          <m:sSupPr>
                            <m:ctrlPr>
                              <a:rPr lang="en-US" altLang="zh-CN" sz="1500" i="1" dirty="0">
                                <a:solidFill>
                                  <a:srgbClr val="000000"/>
                                </a:solidFill>
                                <a:latin typeface="Cambria Math" panose="02040503050406030204" pitchFamily="18" charset="0"/>
                              </a:rPr>
                            </m:ctrlPr>
                          </m:sSupPr>
                          <m:e>
                            <m:r>
                              <a:rPr lang="en-US" altLang="zh-CN" sz="1500" i="1">
                                <a:solidFill>
                                  <a:srgbClr val="000000"/>
                                </a:solidFill>
                                <a:latin typeface="Cambria Math" panose="02040503050406030204" pitchFamily="18" charset="0"/>
                              </a:rPr>
                              <m:t>𝐿</m:t>
                            </m:r>
                          </m:e>
                          <m:sup>
                            <m:r>
                              <a:rPr lang="en-US" altLang="zh-CN" sz="1500" i="1">
                                <a:solidFill>
                                  <a:srgbClr val="000000"/>
                                </a:solidFill>
                                <a:latin typeface="Cambria Math" panose="02040503050406030204" pitchFamily="18" charset="0"/>
                              </a:rPr>
                              <m:t>′</m:t>
                            </m:r>
                          </m:sup>
                        </m:sSup>
                        <m:r>
                          <a:rPr lang="zh-CN" altLang="en-US" sz="1500" i="1" dirty="0">
                            <a:solidFill>
                              <a:srgbClr val="000000"/>
                            </a:solidFill>
                            <a:latin typeface="Cambria Math" panose="02040503050406030204" pitchFamily="18" charset="0"/>
                          </a:rPr>
                          <m:t>和</m:t>
                        </m:r>
                        <m:sSub>
                          <m:sSubPr>
                            <m:ctrlPr>
                              <a:rPr lang="en-US" altLang="zh-CN" sz="1500" i="1">
                                <a:solidFill>
                                  <a:srgbClr val="000000"/>
                                </a:solidFill>
                                <a:latin typeface="Cambria Math" panose="02040503050406030204" pitchFamily="18" charset="0"/>
                              </a:rPr>
                            </m:ctrlPr>
                          </m:sSubPr>
                          <m:e>
                            <m:r>
                              <a:rPr lang="en-US" altLang="zh-CN" sz="1500" i="1">
                                <a:solidFill>
                                  <a:srgbClr val="000000"/>
                                </a:solidFill>
                                <a:latin typeface="Cambria Math" panose="02040503050406030204" pitchFamily="18" charset="0"/>
                              </a:rPr>
                              <m:t>𝐿</m:t>
                            </m:r>
                          </m:e>
                          <m:sub>
                            <m:r>
                              <a:rPr lang="en-US" altLang="zh-CN" sz="1500" i="1">
                                <a:solidFill>
                                  <a:srgbClr val="000000"/>
                                </a:solidFill>
                                <a:latin typeface="Cambria Math" panose="02040503050406030204" pitchFamily="18" charset="0"/>
                              </a:rPr>
                              <m:t>𝑛𝑒𝑤</m:t>
                            </m:r>
                          </m:sub>
                        </m:sSub>
                      </m:e>
                    </m:d>
                    <m:r>
                      <a:rPr lang="zh-CN" altLang="en-US" sz="1500" i="1" dirty="0">
                        <a:solidFill>
                          <a:srgbClr val="000000"/>
                        </a:solidFill>
                        <a:latin typeface="Cambria Math" panose="02040503050406030204" pitchFamily="18" charset="0"/>
                      </a:rPr>
                      <m:t>，仅插入</m:t>
                    </m:r>
                  </m:oMath>
                </a14:m>
                <a:r>
                  <a:rPr lang="zh-CN" altLang="en-US" sz="1500" kern="0" dirty="0">
                    <a:solidFill>
                      <a:srgbClr val="000000"/>
                    </a:solidFill>
                    <a:latin typeface="微软雅黑" panose="020B0503020204020204" pitchFamily="34" charset="-122"/>
                    <a:ea typeface="微软雅黑" panose="020B0503020204020204" pitchFamily="34" charset="-122"/>
                  </a:rPr>
                  <a:t>父节点</a:t>
                </a:r>
                <a:endParaRPr lang="en-US" altLang="zh-CN" sz="1500" kern="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6" name="内容占位符 3"/>
              <p:cNvSpPr txBox="1">
                <a:spLocks noRot="1" noChangeAspect="1" noMove="1" noResize="1" noEditPoints="1" noAdjustHandles="1" noChangeArrowheads="1" noChangeShapeType="1" noTextEdit="1"/>
              </p:cNvSpPr>
              <p:nvPr/>
            </p:nvSpPr>
            <p:spPr bwMode="auto">
              <a:xfrm>
                <a:off x="963608" y="4633145"/>
                <a:ext cx="7629525" cy="938012"/>
              </a:xfrm>
              <a:prstGeom prst="rect">
                <a:avLst/>
              </a:prstGeom>
              <a:blipFill rotWithShape="1">
                <a:blip r:embed="rId3"/>
                <a:stretch>
                  <a:fillRect l="-4" t="-20" r="4" b="3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4"/>
          <a:stretch>
            <a:fillRect/>
          </a:stretch>
        </p:blipFill>
        <p:spPr>
          <a:xfrm>
            <a:off x="4114338" y="1976345"/>
            <a:ext cx="4537973" cy="1051557"/>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p:cNvSpPr/>
          <p:nvPr/>
        </p:nvSpPr>
        <p:spPr>
          <a:xfrm>
            <a:off x="610043" y="1741278"/>
            <a:ext cx="8068273" cy="363973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10" name="Shape18"/>
          <p:cNvSpPr/>
          <p:nvPr/>
        </p:nvSpPr>
        <p:spPr>
          <a:xfrm>
            <a:off x="821771" y="2737608"/>
            <a:ext cx="7555023" cy="203934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21</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插入算法</a:t>
            </a:r>
          </a:p>
        </p:txBody>
      </p:sp>
      <p:pic>
        <p:nvPicPr>
          <p:cNvPr id="7" name="内容占位符 6"/>
          <p:cNvPicPr>
            <a:picLocks noGrp="1" noChangeAspect="1"/>
          </p:cNvPicPr>
          <p:nvPr>
            <p:ph idx="1"/>
          </p:nvPr>
        </p:nvPicPr>
        <p:blipFill>
          <a:blip r:embed="rId2"/>
          <a:stretch>
            <a:fillRect/>
          </a:stretch>
        </p:blipFill>
        <p:spPr>
          <a:xfrm>
            <a:off x="1347952" y="3224306"/>
            <a:ext cx="6822522" cy="1045386"/>
          </a:xfrm>
        </p:spPr>
      </p:pic>
      <p:sp>
        <p:nvSpPr>
          <p:cNvPr id="5" name="内容占位符 3"/>
          <p:cNvSpPr txBox="1"/>
          <p:nvPr/>
        </p:nvSpPr>
        <p:spPr bwMode="auto">
          <a:xfrm>
            <a:off x="715996" y="1652776"/>
            <a:ext cx="5022074" cy="961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寻找应插入的节点</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800" kern="0" dirty="0">
                <a:solidFill>
                  <a:srgbClr val="000000"/>
                </a:solidFill>
                <a:latin typeface="微软雅黑" panose="020B0503020204020204" pitchFamily="82" charset="2"/>
                <a:ea typeface="微软雅黑" panose="020B0503020204020204" pitchFamily="82" charset="2"/>
              </a:rPr>
              <a:t>若叶节点有空余空间，则直接插入</a:t>
            </a:r>
            <a:endParaRPr lang="en-US" altLang="zh-CN" sz="1800" kern="0" dirty="0">
              <a:solidFill>
                <a:srgbClr val="000000"/>
              </a:solidFill>
              <a:latin typeface="微软雅黑" panose="020B0503020204020204" pitchFamily="82" charset="2"/>
              <a:ea typeface="微软雅黑" panose="020B0503020204020204" pitchFamily="82" charset="2"/>
            </a:endParaRPr>
          </a:p>
        </p:txBody>
      </p:sp>
      <p:sp>
        <p:nvSpPr>
          <p:cNvPr id="6" name="文本框 5"/>
          <p:cNvSpPr txBox="1"/>
          <p:nvPr/>
        </p:nvSpPr>
        <p:spPr>
          <a:xfrm>
            <a:off x="3142095" y="3224305"/>
            <a:ext cx="819455" cy="300082"/>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701988"/>
                </a:solidFill>
                <a:latin typeface="微软雅黑" panose="020B0503020204020204" pitchFamily="82" charset="2"/>
                <a:ea typeface="微软雅黑" panose="020B0503020204020204" pitchFamily="82" charset="2"/>
              </a:rPr>
              <a:t>35 &lt; 43</a:t>
            </a:r>
            <a:endParaRPr kumimoji="1" lang="zh-CN" altLang="en-US" sz="1350" dirty="0">
              <a:solidFill>
                <a:srgbClr val="701988"/>
              </a:solidFill>
              <a:latin typeface="微软雅黑" panose="020B0503020204020204" pitchFamily="82" charset="2"/>
              <a:ea typeface="微软雅黑" panose="020B0503020204020204" pitchFamily="82" charset="2"/>
            </a:endParaRPr>
          </a:p>
        </p:txBody>
      </p:sp>
      <p:sp>
        <p:nvSpPr>
          <p:cNvPr id="8" name="文本框 7"/>
          <p:cNvSpPr txBox="1"/>
          <p:nvPr/>
        </p:nvSpPr>
        <p:spPr>
          <a:xfrm>
            <a:off x="1278608" y="4308989"/>
            <a:ext cx="1050288" cy="30008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701988"/>
                </a:solidFill>
                <a:latin typeface="微软雅黑" panose="020B0503020204020204" pitchFamily="82" charset="2"/>
                <a:ea typeface="微软雅黑" panose="020B0503020204020204" pitchFamily="82" charset="2"/>
              </a:rPr>
              <a:t>应插入节点</a:t>
            </a:r>
          </a:p>
        </p:txBody>
      </p:sp>
      <p:sp>
        <p:nvSpPr>
          <p:cNvPr id="9" name="文本框 8"/>
          <p:cNvSpPr txBox="1"/>
          <p:nvPr/>
        </p:nvSpPr>
        <p:spPr>
          <a:xfrm>
            <a:off x="4339660" y="2884522"/>
            <a:ext cx="732893" cy="30008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701988"/>
                </a:solidFill>
                <a:latin typeface="微软雅黑" panose="020B0503020204020204" pitchFamily="82" charset="2"/>
                <a:ea typeface="微软雅黑" panose="020B0503020204020204" pitchFamily="82" charset="2"/>
              </a:rPr>
              <a:t>插入</a:t>
            </a:r>
            <a:r>
              <a:rPr kumimoji="1" lang="en-US" altLang="zh-CN" sz="1350" dirty="0">
                <a:solidFill>
                  <a:srgbClr val="701988"/>
                </a:solidFill>
                <a:latin typeface="微软雅黑" panose="020B0503020204020204" pitchFamily="82" charset="2"/>
                <a:ea typeface="微软雅黑" panose="020B0503020204020204" pitchFamily="82" charset="2"/>
              </a:rPr>
              <a:t>35</a:t>
            </a:r>
            <a:endParaRPr kumimoji="1" lang="zh-CN" altLang="en-US" sz="1350" dirty="0">
              <a:solidFill>
                <a:srgbClr val="701988"/>
              </a:solidFill>
              <a:latin typeface="微软雅黑" panose="020B0503020204020204" pitchFamily="82" charset="2"/>
              <a:ea typeface="微软雅黑" panose="020B0503020204020204" pitchFamily="82" charset="2"/>
            </a:endParaRPr>
          </a:p>
        </p:txBody>
      </p:sp>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p:cNvSpPr/>
          <p:nvPr/>
        </p:nvSpPr>
        <p:spPr>
          <a:xfrm>
            <a:off x="610043" y="1741278"/>
            <a:ext cx="8185814" cy="372782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7" name="Shape18"/>
          <p:cNvSpPr/>
          <p:nvPr/>
        </p:nvSpPr>
        <p:spPr>
          <a:xfrm>
            <a:off x="1153693" y="2411883"/>
            <a:ext cx="6969490" cy="229553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22</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插入算法</a:t>
            </a:r>
          </a:p>
        </p:txBody>
      </p:sp>
      <p:pic>
        <p:nvPicPr>
          <p:cNvPr id="6" name="内容占位符 5"/>
          <p:cNvPicPr>
            <a:picLocks noGrp="1" noChangeAspect="1"/>
          </p:cNvPicPr>
          <p:nvPr>
            <p:ph idx="1"/>
          </p:nvPr>
        </p:nvPicPr>
        <p:blipFill>
          <a:blip r:embed="rId2"/>
          <a:stretch>
            <a:fillRect/>
          </a:stretch>
        </p:blipFill>
        <p:spPr>
          <a:xfrm>
            <a:off x="1460285" y="2927630"/>
            <a:ext cx="6526921" cy="1149278"/>
          </a:xfrm>
        </p:spPr>
      </p:pic>
      <p:sp>
        <p:nvSpPr>
          <p:cNvPr id="5" name="内容占位符 3"/>
          <p:cNvSpPr txBox="1"/>
          <p:nvPr/>
        </p:nvSpPr>
        <p:spPr bwMode="auto">
          <a:xfrm>
            <a:off x="923624" y="1849052"/>
            <a:ext cx="8596563" cy="1605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叶节点溢出，则分裂节点</a:t>
            </a:r>
            <a:endParaRPr lang="en-US" altLang="zh-CN" sz="1800" b="1" kern="0" dirty="0">
              <a:solidFill>
                <a:srgbClr val="701988"/>
              </a:solidFill>
              <a:latin typeface="微软雅黑" panose="020B0503020204020204" pitchFamily="82" charset="2"/>
              <a:ea typeface="微软雅黑" panose="020B0503020204020204" pitchFamily="82" charset="2"/>
            </a:endParaRPr>
          </a:p>
        </p:txBody>
      </p:sp>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p:cNvSpPr/>
          <p:nvPr/>
        </p:nvSpPr>
        <p:spPr>
          <a:xfrm>
            <a:off x="610043" y="1650010"/>
            <a:ext cx="8068273" cy="397828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9" name="Shape18"/>
          <p:cNvSpPr/>
          <p:nvPr/>
        </p:nvSpPr>
        <p:spPr>
          <a:xfrm>
            <a:off x="1153991" y="3011750"/>
            <a:ext cx="6943725" cy="249443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23</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插入算法</a:t>
            </a:r>
          </a:p>
        </p:txBody>
      </p:sp>
      <p:pic>
        <p:nvPicPr>
          <p:cNvPr id="7" name="内容占位符 6"/>
          <p:cNvPicPr>
            <a:picLocks noGrp="1" noChangeAspect="1"/>
          </p:cNvPicPr>
          <p:nvPr>
            <p:ph idx="1"/>
          </p:nvPr>
        </p:nvPicPr>
        <p:blipFill>
          <a:blip r:embed="rId2"/>
          <a:stretch>
            <a:fillRect/>
          </a:stretch>
        </p:blipFill>
        <p:spPr>
          <a:xfrm>
            <a:off x="1315162" y="4278322"/>
            <a:ext cx="6699466" cy="1089386"/>
          </a:xfrm>
        </p:spPr>
      </p:pic>
      <p:pic>
        <p:nvPicPr>
          <p:cNvPr id="5" name="内容占位符 5"/>
          <p:cNvPicPr>
            <a:picLocks noChangeAspect="1"/>
          </p:cNvPicPr>
          <p:nvPr/>
        </p:nvPicPr>
        <p:blipFill>
          <a:blip r:embed="rId3"/>
          <a:stretch>
            <a:fillRect/>
          </a:stretch>
        </p:blipFill>
        <p:spPr bwMode="auto">
          <a:xfrm>
            <a:off x="1585959" y="3137519"/>
            <a:ext cx="6254581" cy="1101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内容占位符 3"/>
              <p:cNvSpPr txBox="1"/>
              <p:nvPr/>
            </p:nvSpPr>
            <p:spPr bwMode="auto">
              <a:xfrm>
                <a:off x="1153991" y="1531932"/>
                <a:ext cx="8596563" cy="105723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叶节点从中间分裂</a:t>
                </a:r>
                <a:endParaRPr lang="en-US" altLang="zh-CN" sz="1800" b="1" kern="0" dirty="0">
                  <a:solidFill>
                    <a:srgbClr val="701988"/>
                  </a:solidFill>
                  <a:latin typeface="微软雅黑" panose="020B0503020204020204" pitchFamily="34" charset="-122"/>
                  <a:ea typeface="微软雅黑" panose="020B0503020204020204" pitchFamily="34" charset="-122"/>
                </a:endParaRPr>
              </a:p>
              <a:p>
                <a:pPr marL="237490" indent="-237490" defTabSz="685800">
                  <a:lnSpc>
                    <a:spcPct val="150000"/>
                  </a:lnSpc>
                  <a:buFont typeface="Wingdings" panose="05000000000000000000" pitchFamily="2" charset="2"/>
                  <a:buChar char="Ø"/>
                </a:pPr>
                <a14:m>
                  <m:oMath xmlns:m="http://schemas.openxmlformats.org/officeDocument/2006/math">
                    <m:r>
                      <m:rPr>
                        <m:sty m:val="p"/>
                      </m:rPr>
                      <a:rPr lang="en-US" altLang="zh-CN" sz="1800" i="1" dirty="0">
                        <a:solidFill>
                          <a:srgbClr val="7030A0"/>
                        </a:solidFill>
                        <a:latin typeface="Cambria Math" panose="02040503050406030204" pitchFamily="18" charset="0"/>
                        <a:ea typeface="微软雅黑" panose="020B0503020204020204" pitchFamily="34" charset="-122"/>
                      </a:rPr>
                      <m:t>K</m:t>
                    </m:r>
                    <m:r>
                      <a:rPr lang="en-US" altLang="zh-CN" sz="1800" i="1" dirty="0">
                        <a:solidFill>
                          <a:srgbClr val="7030A0"/>
                        </a:solidFill>
                        <a:latin typeface="Cambria Math" panose="02040503050406030204" pitchFamily="18" charset="0"/>
                        <a:ea typeface="微软雅黑" panose="020B0503020204020204" pitchFamily="34" charset="-122"/>
                      </a:rPr>
                      <m:t>′ </m:t>
                    </m:r>
                  </m:oMath>
                </a14:m>
                <a:r>
                  <a:rPr lang="en-US" altLang="zh-CN" sz="1800" b="1" kern="0" dirty="0">
                    <a:solidFill>
                      <a:srgbClr val="7030A0"/>
                    </a:solidFill>
                    <a:latin typeface="微软雅黑" panose="020B0503020204020204" pitchFamily="34" charset="-122"/>
                    <a:ea typeface="微软雅黑" panose="020B0503020204020204" pitchFamily="34" charset="-122"/>
                  </a:rPr>
                  <a:t>=27</a:t>
                </a:r>
                <a14:m>
                  <m:oMath xmlns:m="http://schemas.openxmlformats.org/officeDocument/2006/math">
                    <m:r>
                      <a:rPr lang="en-US" altLang="zh-CN" sz="1800" b="1" i="1" kern="0">
                        <a:solidFill>
                          <a:srgbClr val="7030A0"/>
                        </a:solidFill>
                        <a:latin typeface="Cambria Math" panose="02040503050406030204" pitchFamily="18" charset="0"/>
                      </a:rPr>
                      <m:t> </m:t>
                    </m:r>
                  </m:oMath>
                </a14:m>
                <a:r>
                  <a:rPr lang="zh-CN" altLang="en-US" sz="1800" b="1" kern="0" dirty="0">
                    <a:solidFill>
                      <a:srgbClr val="7030A0"/>
                    </a:solidFill>
                    <a:latin typeface="微软雅黑" panose="020B0503020204020204" pitchFamily="34" charset="-122"/>
                    <a:ea typeface="微软雅黑" panose="020B0503020204020204" pitchFamily="34" charset="-122"/>
                  </a:rPr>
                  <a:t>向上插入父节点</a:t>
                </a:r>
                <a:endParaRPr lang="en-US" altLang="zh-CN" sz="1800" b="1" kern="0" dirty="0">
                  <a:solidFill>
                    <a:srgbClr val="7030A0"/>
                  </a:solidFill>
                  <a:latin typeface="微软雅黑" panose="020B0503020204020204" pitchFamily="34" charset="-122"/>
                  <a:ea typeface="微软雅黑" panose="020B0503020204020204" pitchFamily="34" charset="-122"/>
                </a:endParaRPr>
              </a:p>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34" charset="-122"/>
                    <a:ea typeface="微软雅黑" panose="020B0503020204020204" pitchFamily="34" charset="-122"/>
                  </a:rPr>
                  <a:t>若父节点不溢出，则结束</a:t>
                </a:r>
                <a:endParaRPr lang="en-US" altLang="zh-CN" sz="1800" b="1" kern="0" dirty="0">
                  <a:solidFill>
                    <a:srgbClr val="701988"/>
                  </a:solidFill>
                  <a:latin typeface="微软雅黑" panose="020B0503020204020204" pitchFamily="34" charset="-122"/>
                  <a:ea typeface="微软雅黑" panose="020B0503020204020204" pitchFamily="34" charset="-122"/>
                </a:endParaRPr>
              </a:p>
            </p:txBody>
          </p:sp>
        </mc:Choice>
        <mc:Fallback xmlns="">
          <p:sp>
            <p:nvSpPr>
              <p:cNvPr id="6" name="内容占位符 3"/>
              <p:cNvSpPr txBox="1">
                <a:spLocks noRot="1" noChangeAspect="1" noMove="1" noResize="1" noEditPoints="1" noAdjustHandles="1" noChangeArrowheads="1" noChangeShapeType="1" noTextEdit="1"/>
              </p:cNvSpPr>
              <p:nvPr/>
            </p:nvSpPr>
            <p:spPr bwMode="auto">
              <a:xfrm>
                <a:off x="1153991" y="1531932"/>
                <a:ext cx="8596563" cy="1057232"/>
              </a:xfrm>
              <a:prstGeom prst="rect">
                <a:avLst/>
              </a:prstGeom>
              <a:blipFill rotWithShape="1">
                <a:blip r:embed="rId4"/>
                <a:stretch>
                  <a:fillRect l="-2" t="-30" r="2" b="-3030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975917" y="4691887"/>
                <a:ext cx="574837" cy="300082"/>
              </a:xfrm>
              <a:prstGeom prst="rect">
                <a:avLst/>
              </a:prstGeom>
              <a:noFill/>
            </p:spPr>
            <p:txBody>
              <a:bodyPr wrap="none" rtlCol="0">
                <a:spAutoFit/>
              </a:bodyPr>
              <a:lstStyle/>
              <a:p>
                <a:pPr defTabSz="685800" fontAlgn="auto">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altLang="zh-CN" sz="1350" i="1" kern="0">
                              <a:solidFill>
                                <a:srgbClr val="3B20FF"/>
                              </a:solidFill>
                              <a:latin typeface="Cambria Math" panose="02040503050406030204" pitchFamily="18" charset="0"/>
                            </a:rPr>
                          </m:ctrlPr>
                        </m:sSubPr>
                        <m:e>
                          <m:r>
                            <a:rPr lang="en-US" altLang="zh-CN" sz="1350" i="1" kern="0">
                              <a:solidFill>
                                <a:srgbClr val="3B20FF"/>
                              </a:solidFill>
                              <a:latin typeface="Cambria Math" panose="02040503050406030204" pitchFamily="18" charset="0"/>
                            </a:rPr>
                            <m:t>𝑃</m:t>
                          </m:r>
                        </m:e>
                        <m:sub>
                          <m:r>
                            <a:rPr lang="en-US" altLang="zh-CN" sz="1350" i="1" kern="0">
                              <a:solidFill>
                                <a:srgbClr val="3B20FF"/>
                              </a:solidFill>
                              <a:latin typeface="Cambria Math" panose="02040503050406030204" pitchFamily="18" charset="0"/>
                            </a:rPr>
                            <m:t>𝑛𝑒𝑤</m:t>
                          </m:r>
                        </m:sub>
                      </m:sSub>
                    </m:oMath>
                  </m:oMathPara>
                </a14:m>
                <a:endParaRPr kumimoji="1" lang="zh-CN" altLang="en-US" sz="1350" dirty="0">
                  <a:solidFill>
                    <a:srgbClr val="3B20FF"/>
                  </a:solidFill>
                  <a:latin typeface="微软雅黑" panose="020B0503020204020204" pitchFamily="82" charset="2"/>
                  <a:ea typeface="微软雅黑" panose="020B0503020204020204" pitchFamily="82" charset="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975917" y="4691887"/>
                <a:ext cx="574837" cy="300082"/>
              </a:xfrm>
              <a:prstGeom prst="rect">
                <a:avLst/>
              </a:prstGeom>
              <a:blipFill rotWithShape="1">
                <a:blip r:embed="rId5"/>
                <a:stretch>
                  <a:fillRect l="-32" t="-169" r="60" b="78"/>
                </a:stretch>
              </a:blipFill>
            </p:spPr>
            <p:txBody>
              <a:bodyPr/>
              <a:lstStyle/>
              <a:p>
                <a:r>
                  <a:rPr lang="zh-CN" altLang="en-US">
                    <a:noFill/>
                  </a:rPr>
                  <a:t> </a:t>
                </a:r>
              </a:p>
            </p:txBody>
          </p:sp>
        </mc:Fallback>
      </mc:AlternateContent>
      <p:sp>
        <p:nvSpPr>
          <p:cNvPr id="8" name="页脚占位符 7"/>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p:cNvSpPr/>
          <p:nvPr/>
        </p:nvSpPr>
        <p:spPr>
          <a:xfrm>
            <a:off x="610043" y="1606182"/>
            <a:ext cx="8068273" cy="402159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9" name="Shape18"/>
          <p:cNvSpPr/>
          <p:nvPr/>
        </p:nvSpPr>
        <p:spPr>
          <a:xfrm>
            <a:off x="1160584" y="2611316"/>
            <a:ext cx="7141553" cy="2828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24</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插入算法</a:t>
            </a:r>
          </a:p>
        </p:txBody>
      </p:sp>
      <p:pic>
        <p:nvPicPr>
          <p:cNvPr id="6" name="内容占位符 5"/>
          <p:cNvPicPr>
            <a:picLocks noGrp="1" noChangeAspect="1"/>
          </p:cNvPicPr>
          <p:nvPr>
            <p:ph idx="1"/>
          </p:nvPr>
        </p:nvPicPr>
        <p:blipFill>
          <a:blip r:embed="rId2"/>
          <a:stretch>
            <a:fillRect/>
          </a:stretch>
        </p:blipFill>
        <p:spPr>
          <a:xfrm>
            <a:off x="1317929" y="3950657"/>
            <a:ext cx="6568772" cy="1301162"/>
          </a:xfrm>
        </p:spPr>
      </p:pic>
      <mc:AlternateContent xmlns:mc="http://schemas.openxmlformats.org/markup-compatibility/2006" xmlns:a14="http://schemas.microsoft.com/office/drawing/2010/main">
        <mc:Choice Requires="a14">
          <p:sp>
            <p:nvSpPr>
              <p:cNvPr id="5" name="内容占位符 3"/>
              <p:cNvSpPr txBox="1"/>
              <p:nvPr/>
            </p:nvSpPr>
            <p:spPr bwMode="auto">
              <a:xfrm>
                <a:off x="787913" y="1570291"/>
                <a:ext cx="8801100" cy="105723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内部节点溢出，从中间分裂，</a:t>
                </a:r>
                <a:r>
                  <a:rPr lang="en-US" altLang="zh-CN" sz="1800" b="1" kern="0" dirty="0">
                    <a:solidFill>
                      <a:srgbClr val="701988"/>
                    </a:solidFill>
                    <a:latin typeface="微软雅黑" panose="020B0503020204020204" pitchFamily="82" charset="2"/>
                    <a:ea typeface="微软雅黑" panose="020B0503020204020204" pitchFamily="82" charset="2"/>
                  </a:rPr>
                  <a:t> </a:t>
                </a:r>
                <a14:m>
                  <m:oMath xmlns:m="http://schemas.openxmlformats.org/officeDocument/2006/math">
                    <m:r>
                      <m:rPr>
                        <m:sty m:val="p"/>
                      </m:rPr>
                      <a:rPr lang="en-US" altLang="zh-CN" sz="1800" i="1" dirty="0">
                        <a:solidFill>
                          <a:srgbClr val="7030A0"/>
                        </a:solidFill>
                        <a:latin typeface="Cambria Math" panose="02040503050406030204" pitchFamily="18" charset="0"/>
                        <a:ea typeface="微软雅黑" panose="020B0503020204020204" pitchFamily="34" charset="-122"/>
                      </a:rPr>
                      <m:t>K</m:t>
                    </m:r>
                    <m:r>
                      <a:rPr lang="en-US" altLang="zh-CN" sz="1800" i="1" dirty="0">
                        <a:solidFill>
                          <a:srgbClr val="7030A0"/>
                        </a:solidFill>
                        <a:latin typeface="Cambria Math" panose="02040503050406030204" pitchFamily="18" charset="0"/>
                        <a:ea typeface="微软雅黑" panose="020B0503020204020204" pitchFamily="34" charset="-122"/>
                      </a:rPr>
                      <m:t>′</m:t>
                    </m:r>
                  </m:oMath>
                </a14:m>
                <a:r>
                  <a:rPr lang="zh-CN" altLang="en-US" sz="1800" b="1" kern="0" dirty="0">
                    <a:solidFill>
                      <a:srgbClr val="701988"/>
                    </a:solidFill>
                    <a:latin typeface="微软雅黑" panose="020B0503020204020204" pitchFamily="82" charset="2"/>
                    <a:ea typeface="微软雅黑" panose="020B0503020204020204" pitchFamily="82" charset="2"/>
                  </a:rPr>
                  <a:t>不保留在分裂后的</a:t>
                </a:r>
                <a:r>
                  <a:rPr lang="zh-CN" altLang="en-US" sz="1800" b="1" u="sng" kern="0" dirty="0">
                    <a:solidFill>
                      <a:srgbClr val="701988"/>
                    </a:solidFill>
                    <a:latin typeface="微软雅黑" panose="020B0503020204020204" pitchFamily="82" charset="2"/>
                    <a:ea typeface="微软雅黑" panose="020B0503020204020204" pitchFamily="82" charset="2"/>
                  </a:rPr>
                  <a:t>非</a:t>
                </a:r>
                <a:r>
                  <a:rPr lang="zh-CN" altLang="en-US" sz="1800" b="1" kern="0" dirty="0">
                    <a:solidFill>
                      <a:srgbClr val="701988"/>
                    </a:solidFill>
                    <a:latin typeface="微软雅黑" panose="020B0503020204020204" pitchFamily="82" charset="2"/>
                    <a:ea typeface="微软雅黑" panose="020B0503020204020204" pitchFamily="82" charset="2"/>
                  </a:rPr>
                  <a:t>页节点中</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237490" indent="-237490" defTabSz="685800">
                  <a:lnSpc>
                    <a:spcPct val="150000"/>
                  </a:lnSpc>
                  <a:buFont typeface="Wingdings" panose="05000000000000000000" pitchFamily="2" charset="2"/>
                  <a:buChar char="Ø"/>
                </a:pPr>
                <a14:m>
                  <m:oMath xmlns:m="http://schemas.openxmlformats.org/officeDocument/2006/math">
                    <m:r>
                      <m:rPr>
                        <m:sty m:val="p"/>
                      </m:rPr>
                      <a:rPr lang="en-US" altLang="zh-CN" sz="1800" i="1" dirty="0">
                        <a:solidFill>
                          <a:srgbClr val="7030A0"/>
                        </a:solidFill>
                        <a:latin typeface="Cambria Math" panose="02040503050406030204" pitchFamily="18" charset="0"/>
                        <a:ea typeface="微软雅黑" panose="020B0503020204020204" pitchFamily="34" charset="-122"/>
                      </a:rPr>
                      <m:t>K</m:t>
                    </m:r>
                    <m:r>
                      <a:rPr lang="en-US" altLang="zh-CN" sz="1800" i="1" dirty="0">
                        <a:solidFill>
                          <a:srgbClr val="7030A0"/>
                        </a:solidFill>
                        <a:latin typeface="Cambria Math" panose="02040503050406030204" pitchFamily="18" charset="0"/>
                        <a:ea typeface="微软雅黑" panose="020B0503020204020204" pitchFamily="34" charset="-122"/>
                      </a:rPr>
                      <m:t>′ </m:t>
                    </m:r>
                  </m:oMath>
                </a14:m>
                <a:r>
                  <a:rPr lang="en-US" altLang="zh-CN" sz="1800" b="1" kern="0" dirty="0">
                    <a:solidFill>
                      <a:srgbClr val="701988"/>
                    </a:solidFill>
                    <a:latin typeface="微软雅黑" panose="020B0503020204020204" pitchFamily="82" charset="2"/>
                    <a:ea typeface="微软雅黑" panose="020B0503020204020204" pitchFamily="82" charset="2"/>
                  </a:rPr>
                  <a:t>=61</a:t>
                </a:r>
                <a14:m>
                  <m:oMath xmlns:m="http://schemas.openxmlformats.org/officeDocument/2006/math">
                    <m:r>
                      <a:rPr lang="en-US" altLang="zh-CN" sz="1800" b="1" i="1" kern="0">
                        <a:solidFill>
                          <a:srgbClr val="701988"/>
                        </a:solidFill>
                        <a:latin typeface="Cambria Math" panose="02040503050406030204" pitchFamily="18" charset="0"/>
                      </a:rPr>
                      <m:t> </m:t>
                    </m:r>
                  </m:oMath>
                </a14:m>
                <a:r>
                  <a:rPr lang="zh-CN" altLang="en-US" sz="1800" b="1" kern="0" dirty="0">
                    <a:solidFill>
                      <a:srgbClr val="701988"/>
                    </a:solidFill>
                    <a:latin typeface="微软雅黑" panose="020B0503020204020204" pitchFamily="82" charset="2"/>
                    <a:ea typeface="微软雅黑" panose="020B0503020204020204" pitchFamily="82" charset="2"/>
                  </a:rPr>
                  <a:t>向上插入父节点（无父节点则分配新根节点）</a:t>
                </a:r>
                <a:endParaRPr lang="en-US" altLang="zh-CN" sz="1800" b="1" kern="0" dirty="0">
                  <a:solidFill>
                    <a:srgbClr val="701988"/>
                  </a:solidFill>
                  <a:latin typeface="微软雅黑" panose="020B0503020204020204" pitchFamily="82" charset="2"/>
                  <a:ea typeface="微软雅黑" panose="020B0503020204020204" pitchFamily="82" charset="2"/>
                </a:endParaRPr>
              </a:p>
            </p:txBody>
          </p:sp>
        </mc:Choice>
        <mc:Fallback xmlns="">
          <p:sp>
            <p:nvSpPr>
              <p:cNvPr id="5" name="内容占位符 3"/>
              <p:cNvSpPr txBox="1">
                <a:spLocks noRot="1" noChangeAspect="1" noMove="1" noResize="1" noEditPoints="1" noAdjustHandles="1" noChangeArrowheads="1" noChangeShapeType="1" noTextEdit="1"/>
              </p:cNvSpPr>
              <p:nvPr/>
            </p:nvSpPr>
            <p:spPr bwMode="auto">
              <a:xfrm>
                <a:off x="787913" y="1570291"/>
                <a:ext cx="8801100" cy="1057232"/>
              </a:xfrm>
              <a:prstGeom prst="rect">
                <a:avLst/>
              </a:prstGeom>
              <a:blipFill rotWithShape="1">
                <a:blip r:embed="rId3"/>
                <a:stretch>
                  <a:fillRect l="-6" t="-54" r="6" b="5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7" name="内容占位符 6"/>
          <p:cNvPicPr>
            <a:picLocks noChangeAspect="1"/>
          </p:cNvPicPr>
          <p:nvPr/>
        </p:nvPicPr>
        <p:blipFill>
          <a:blip r:embed="rId4"/>
          <a:stretch>
            <a:fillRect/>
          </a:stretch>
        </p:blipFill>
        <p:spPr bwMode="auto">
          <a:xfrm>
            <a:off x="1469137" y="2661133"/>
            <a:ext cx="6568772" cy="1068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文本框 7"/>
              <p:cNvSpPr txBox="1"/>
              <p:nvPr/>
            </p:nvSpPr>
            <p:spPr>
              <a:xfrm>
                <a:off x="5103825" y="4242966"/>
                <a:ext cx="458215" cy="300082"/>
              </a:xfrm>
              <a:prstGeom prst="rect">
                <a:avLst/>
              </a:prstGeom>
              <a:noFill/>
            </p:spPr>
            <p:txBody>
              <a:bodyPr wrap="square" rtlCol="0">
                <a:spAutoFit/>
              </a:bodyPr>
              <a:lstStyle/>
              <a:p>
                <a:pPr defTabSz="685800" fontAlgn="auto">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altLang="zh-CN" sz="1350" i="1" kern="0">
                              <a:solidFill>
                                <a:srgbClr val="3B20FF"/>
                              </a:solidFill>
                              <a:latin typeface="Cambria Math" panose="02040503050406030204" pitchFamily="18" charset="0"/>
                            </a:rPr>
                          </m:ctrlPr>
                        </m:sSubPr>
                        <m:e>
                          <m:r>
                            <a:rPr lang="en-US" altLang="zh-CN" sz="1350" i="1" kern="0">
                              <a:solidFill>
                                <a:srgbClr val="3B20FF"/>
                              </a:solidFill>
                              <a:latin typeface="Cambria Math" panose="02040503050406030204" pitchFamily="18" charset="0"/>
                            </a:rPr>
                            <m:t>𝑃</m:t>
                          </m:r>
                        </m:e>
                        <m:sub>
                          <m:r>
                            <a:rPr lang="en-US" altLang="zh-CN" sz="1350" i="1" kern="0">
                              <a:solidFill>
                                <a:srgbClr val="3B20FF"/>
                              </a:solidFill>
                              <a:latin typeface="Cambria Math" panose="02040503050406030204" pitchFamily="18" charset="0"/>
                            </a:rPr>
                            <m:t>𝑛𝑒𝑤</m:t>
                          </m:r>
                        </m:sub>
                      </m:sSub>
                    </m:oMath>
                  </m:oMathPara>
                </a14:m>
                <a:endParaRPr kumimoji="1" lang="zh-CN" altLang="en-US" sz="1350" dirty="0">
                  <a:solidFill>
                    <a:srgbClr val="3B20FF"/>
                  </a:solidFill>
                  <a:latin typeface="微软雅黑" panose="020B0503020204020204" pitchFamily="82" charset="2"/>
                  <a:ea typeface="微软雅黑" panose="020B0503020204020204" pitchFamily="82" charset="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5103825" y="4242966"/>
                <a:ext cx="458215" cy="300082"/>
              </a:xfrm>
              <a:prstGeom prst="rect">
                <a:avLst/>
              </a:prstGeom>
              <a:blipFill rotWithShape="1">
                <a:blip r:embed="rId5"/>
                <a:stretch>
                  <a:fillRect l="-72" t="-177" r="16" b="86"/>
                </a:stretch>
              </a:blipFill>
            </p:spPr>
            <p:txBody>
              <a:bodyPr/>
              <a:lstStyle/>
              <a:p>
                <a:r>
                  <a:rPr lang="zh-CN" altLang="en-US">
                    <a:noFill/>
                  </a:rPr>
                  <a:t> </a:t>
                </a:r>
              </a:p>
            </p:txBody>
          </p:sp>
        </mc:Fallback>
      </mc:AlternateContent>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298" name="Group 7"/>
          <p:cNvGrpSpPr/>
          <p:nvPr/>
        </p:nvGrpSpPr>
        <p:grpSpPr>
          <a:xfrm>
            <a:off x="3157538" y="1870075"/>
            <a:ext cx="1238250" cy="695325"/>
            <a:chOff x="856" y="1440"/>
            <a:chExt cx="1291" cy="667"/>
          </a:xfrm>
        </p:grpSpPr>
        <p:sp>
          <p:nvSpPr>
            <p:cNvPr id="55417" name="Rectangle 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418" name="Line 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419" name="Line 1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420" name="Line 1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421" name="Line 1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422" name="Line 1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423" name="Line 1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5299" name="Text Box 15"/>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55300" name="Group 16"/>
          <p:cNvGrpSpPr/>
          <p:nvPr/>
        </p:nvGrpSpPr>
        <p:grpSpPr>
          <a:xfrm>
            <a:off x="1844675" y="3032125"/>
            <a:ext cx="1238250" cy="695325"/>
            <a:chOff x="856" y="1440"/>
            <a:chExt cx="1291" cy="667"/>
          </a:xfrm>
        </p:grpSpPr>
        <p:sp>
          <p:nvSpPr>
            <p:cNvPr id="55410" name="Rectangle 1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411" name="Line 18"/>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412" name="Line 19"/>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413" name="Line 20"/>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414" name="Line 21"/>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415" name="Line 22"/>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416" name="Line 23"/>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1" name="Group 24"/>
          <p:cNvGrpSpPr/>
          <p:nvPr/>
        </p:nvGrpSpPr>
        <p:grpSpPr>
          <a:xfrm>
            <a:off x="5392738" y="3032125"/>
            <a:ext cx="1238250" cy="695325"/>
            <a:chOff x="856" y="1440"/>
            <a:chExt cx="1291" cy="667"/>
          </a:xfrm>
        </p:grpSpPr>
        <p:sp>
          <p:nvSpPr>
            <p:cNvPr id="55403" name="Rectangle 2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404" name="Line 2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405" name="Line 2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406" name="Line 2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407" name="Line 2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408" name="Line 3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409" name="Line 3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2" name="Group 32"/>
          <p:cNvGrpSpPr/>
          <p:nvPr/>
        </p:nvGrpSpPr>
        <p:grpSpPr>
          <a:xfrm>
            <a:off x="185738" y="4308475"/>
            <a:ext cx="1238250" cy="695325"/>
            <a:chOff x="856" y="1440"/>
            <a:chExt cx="1291" cy="667"/>
          </a:xfrm>
        </p:grpSpPr>
        <p:sp>
          <p:nvSpPr>
            <p:cNvPr id="55396" name="Rectangle 3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397" name="Line 3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398" name="Line 3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399" name="Line 3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400" name="Line 3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401" name="Line 3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402" name="Line 3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3" name="Group 40"/>
          <p:cNvGrpSpPr/>
          <p:nvPr/>
        </p:nvGrpSpPr>
        <p:grpSpPr>
          <a:xfrm>
            <a:off x="1671638" y="4308475"/>
            <a:ext cx="1238250" cy="695325"/>
            <a:chOff x="856" y="1440"/>
            <a:chExt cx="1291" cy="667"/>
          </a:xfrm>
        </p:grpSpPr>
        <p:sp>
          <p:nvSpPr>
            <p:cNvPr id="55389" name="Rectangle 4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390" name="Line 42"/>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391" name="Line 43"/>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392" name="Line 44"/>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393" name="Line 45"/>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394" name="Line 46"/>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395" name="Line 47"/>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4" name="Group 48"/>
          <p:cNvGrpSpPr/>
          <p:nvPr/>
        </p:nvGrpSpPr>
        <p:grpSpPr>
          <a:xfrm>
            <a:off x="3157538" y="4308475"/>
            <a:ext cx="1238250" cy="695325"/>
            <a:chOff x="856" y="1440"/>
            <a:chExt cx="1291" cy="667"/>
          </a:xfrm>
        </p:grpSpPr>
        <p:sp>
          <p:nvSpPr>
            <p:cNvPr id="55382" name="Rectangle 49"/>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383" name="Line 50"/>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384" name="Line 51"/>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385" name="Line 52"/>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386" name="Line 53"/>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387" name="Line 54"/>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388" name="Line 55"/>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5" name="Group 56"/>
          <p:cNvGrpSpPr/>
          <p:nvPr/>
        </p:nvGrpSpPr>
        <p:grpSpPr>
          <a:xfrm>
            <a:off x="4643438" y="4308475"/>
            <a:ext cx="1238250" cy="695325"/>
            <a:chOff x="856" y="1440"/>
            <a:chExt cx="1291" cy="667"/>
          </a:xfrm>
        </p:grpSpPr>
        <p:sp>
          <p:nvSpPr>
            <p:cNvPr id="55375" name="Rectangle 5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376" name="Line 58"/>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377" name="Line 59"/>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378" name="Line 60"/>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379" name="Line 61"/>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380" name="Line 62"/>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381" name="Line 63"/>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6" name="Group 64"/>
          <p:cNvGrpSpPr/>
          <p:nvPr/>
        </p:nvGrpSpPr>
        <p:grpSpPr>
          <a:xfrm>
            <a:off x="6129338" y="4308475"/>
            <a:ext cx="1238250" cy="695325"/>
            <a:chOff x="856" y="1440"/>
            <a:chExt cx="1291" cy="667"/>
          </a:xfrm>
        </p:grpSpPr>
        <p:sp>
          <p:nvSpPr>
            <p:cNvPr id="55368" name="Rectangle 6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369" name="Line 6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370" name="Line 6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371" name="Line 6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372" name="Line 6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373" name="Line 7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374" name="Line 7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5307" name="Group 72"/>
          <p:cNvGrpSpPr/>
          <p:nvPr/>
        </p:nvGrpSpPr>
        <p:grpSpPr>
          <a:xfrm>
            <a:off x="7616825" y="4308475"/>
            <a:ext cx="1238250" cy="695325"/>
            <a:chOff x="856" y="1440"/>
            <a:chExt cx="1291" cy="667"/>
          </a:xfrm>
        </p:grpSpPr>
        <p:sp>
          <p:nvSpPr>
            <p:cNvPr id="55361" name="Rectangle 7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362" name="Line 7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5363" name="Line 7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5364" name="Line 7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5365" name="Line 7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5366" name="Line 7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5367" name="Line 7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5308" name="Text Box 80"/>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5309" name="Text Box 81"/>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5310" name="Text Box 82"/>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5311" name="Text Box 83"/>
          <p:cNvSpPr txBox="1"/>
          <p:nvPr/>
        </p:nvSpPr>
        <p:spPr>
          <a:xfrm>
            <a:off x="1027113" y="4279900"/>
            <a:ext cx="400050"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55312" name="Text Box 84"/>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5313" name="Text Box 85"/>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55314" name="Text Box 86"/>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55315" name="Text Box 87"/>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55316" name="Text Box 88"/>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55317" name="Text Box 89"/>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5318" name="Text Box 90"/>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55319" name="Text Box 91"/>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5320" name="Text Box 92"/>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55321" name="Text Box 93"/>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55322" name="Text Box 94"/>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5323" name="Text Box 95"/>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55324" name="Text Box 96"/>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5325" name="Text Box 97"/>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5326" name="Text Box 98"/>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grpSp>
        <p:nvGrpSpPr>
          <p:cNvPr id="55327" name="Group 130"/>
          <p:cNvGrpSpPr/>
          <p:nvPr/>
        </p:nvGrpSpPr>
        <p:grpSpPr>
          <a:xfrm>
            <a:off x="3749675" y="3587750"/>
            <a:ext cx="4154488" cy="730250"/>
            <a:chOff x="2362" y="2511"/>
            <a:chExt cx="2617" cy="625"/>
          </a:xfrm>
        </p:grpSpPr>
        <p:sp>
          <p:nvSpPr>
            <p:cNvPr id="55357" name="Line 99"/>
            <p:cNvSpPr/>
            <p:nvPr/>
          </p:nvSpPr>
          <p:spPr>
            <a:xfrm>
              <a:off x="4115" y="2519"/>
              <a:ext cx="864" cy="601"/>
            </a:xfrm>
            <a:prstGeom prst="line">
              <a:avLst/>
            </a:prstGeom>
            <a:ln w="9525" cap="flat" cmpd="sng">
              <a:solidFill>
                <a:srgbClr val="FF0066"/>
              </a:solidFill>
              <a:prstDash val="solid"/>
              <a:headEnd type="none" w="med" len="med"/>
              <a:tailEnd type="triangle" w="med" len="med"/>
            </a:ln>
          </p:spPr>
        </p:sp>
        <p:sp>
          <p:nvSpPr>
            <p:cNvPr id="55358" name="Line 100"/>
            <p:cNvSpPr/>
            <p:nvPr/>
          </p:nvSpPr>
          <p:spPr>
            <a:xfrm>
              <a:off x="3884" y="2511"/>
              <a:ext cx="173" cy="625"/>
            </a:xfrm>
            <a:prstGeom prst="line">
              <a:avLst/>
            </a:prstGeom>
            <a:ln w="9525" cap="flat" cmpd="sng">
              <a:solidFill>
                <a:srgbClr val="FF0066"/>
              </a:solidFill>
              <a:prstDash val="solid"/>
              <a:headEnd type="none" w="med" len="med"/>
              <a:tailEnd type="triangle" w="med" len="med"/>
            </a:ln>
          </p:spPr>
        </p:sp>
        <p:sp>
          <p:nvSpPr>
            <p:cNvPr id="55359" name="Line 101"/>
            <p:cNvSpPr/>
            <p:nvPr/>
          </p:nvSpPr>
          <p:spPr>
            <a:xfrm flipH="1">
              <a:off x="3136" y="2519"/>
              <a:ext cx="559" cy="601"/>
            </a:xfrm>
            <a:prstGeom prst="line">
              <a:avLst/>
            </a:prstGeom>
            <a:ln w="9525" cap="flat" cmpd="sng">
              <a:solidFill>
                <a:srgbClr val="FF0066"/>
              </a:solidFill>
              <a:prstDash val="solid"/>
              <a:headEnd type="none" w="med" len="med"/>
              <a:tailEnd type="triangle" w="med" len="med"/>
            </a:ln>
          </p:spPr>
        </p:sp>
        <p:sp>
          <p:nvSpPr>
            <p:cNvPr id="55360" name="Line 102"/>
            <p:cNvSpPr/>
            <p:nvPr/>
          </p:nvSpPr>
          <p:spPr>
            <a:xfrm flipH="1">
              <a:off x="2362" y="2527"/>
              <a:ext cx="1078" cy="593"/>
            </a:xfrm>
            <a:prstGeom prst="line">
              <a:avLst/>
            </a:prstGeom>
            <a:ln w="9525" cap="flat" cmpd="sng">
              <a:solidFill>
                <a:srgbClr val="FF0066"/>
              </a:solidFill>
              <a:prstDash val="solid"/>
              <a:headEnd type="none" w="med" len="med"/>
              <a:tailEnd type="triangle" w="med" len="med"/>
            </a:ln>
          </p:spPr>
        </p:sp>
      </p:grpSp>
      <p:grpSp>
        <p:nvGrpSpPr>
          <p:cNvPr id="55328" name="Group 131"/>
          <p:cNvGrpSpPr/>
          <p:nvPr/>
        </p:nvGrpSpPr>
        <p:grpSpPr>
          <a:xfrm>
            <a:off x="666750" y="3600450"/>
            <a:ext cx="1606550" cy="704850"/>
            <a:chOff x="420" y="2502"/>
            <a:chExt cx="1012" cy="626"/>
          </a:xfrm>
        </p:grpSpPr>
        <p:sp>
          <p:nvSpPr>
            <p:cNvPr id="55355" name="Line 103"/>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55356" name="Line 104"/>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55329" name="Group 132"/>
          <p:cNvGrpSpPr/>
          <p:nvPr/>
        </p:nvGrpSpPr>
        <p:grpSpPr>
          <a:xfrm>
            <a:off x="2338388" y="2403475"/>
            <a:ext cx="3227387" cy="627063"/>
            <a:chOff x="1473" y="1700"/>
            <a:chExt cx="2033" cy="625"/>
          </a:xfrm>
        </p:grpSpPr>
        <p:sp>
          <p:nvSpPr>
            <p:cNvPr id="55353" name="Line 105"/>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55354" name="Line 106"/>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55330" name="Line 107"/>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55331" name="Line 110"/>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55332" name="Line 111"/>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55333" name="Line 112"/>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55334" name="Line 113"/>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55335" name="Line 114"/>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55336" name="Line 115"/>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55337" name="Line 116"/>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55338" name="Line 117"/>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55339" name="Line 118"/>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55340" name="Line 119"/>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55341" name="Line 120"/>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55342" name="Line 121"/>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55343" name="Line 122"/>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55344" name="Line 123"/>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55345" name="Line 124"/>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55346" name="Line 125"/>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55347" name="Line 126"/>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55348" name="Line 127"/>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55349" name="Line 128"/>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55350" name="Line 129"/>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55351" name="Text Box 161"/>
          <p:cNvSpPr txBox="1"/>
          <p:nvPr/>
        </p:nvSpPr>
        <p:spPr>
          <a:xfrm>
            <a:off x="1216025" y="1116013"/>
            <a:ext cx="664527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：在下列</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树中插入键值为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 </a:t>
            </a:r>
          </a:p>
        </p:txBody>
      </p:sp>
      <p:sp>
        <p:nvSpPr>
          <p:cNvPr id="55352"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B+树之键值插入与结点分裂过程示意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问题</a:t>
            </a: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
          <p:cNvGrpSpPr/>
          <p:nvPr/>
        </p:nvGrpSpPr>
        <p:grpSpPr>
          <a:xfrm>
            <a:off x="3157538" y="1870075"/>
            <a:ext cx="1238250" cy="695325"/>
            <a:chOff x="856" y="1440"/>
            <a:chExt cx="1291" cy="667"/>
          </a:xfrm>
        </p:grpSpPr>
        <p:sp>
          <p:nvSpPr>
            <p:cNvPr id="56470"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71" name="Line 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72" name="Line 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73" name="Line 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74" name="Line 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75" name="Line 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76" name="Line 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6323" name="Text Box 10"/>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56324" name="Group 11"/>
          <p:cNvGrpSpPr/>
          <p:nvPr/>
        </p:nvGrpSpPr>
        <p:grpSpPr>
          <a:xfrm>
            <a:off x="1844675" y="3032125"/>
            <a:ext cx="1238250" cy="695325"/>
            <a:chOff x="856" y="1440"/>
            <a:chExt cx="1291" cy="667"/>
          </a:xfrm>
        </p:grpSpPr>
        <p:sp>
          <p:nvSpPr>
            <p:cNvPr id="56463"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64" name="Line 1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65" name="Line 1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66" name="Line 1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67" name="Line 1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68" name="Line 1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69" name="Line 1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25" name="Group 19"/>
          <p:cNvGrpSpPr/>
          <p:nvPr/>
        </p:nvGrpSpPr>
        <p:grpSpPr>
          <a:xfrm>
            <a:off x="5392738" y="3032125"/>
            <a:ext cx="1238250" cy="695325"/>
            <a:chOff x="856" y="1440"/>
            <a:chExt cx="1291" cy="667"/>
          </a:xfrm>
        </p:grpSpPr>
        <p:sp>
          <p:nvSpPr>
            <p:cNvPr id="56456"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57" name="Line 2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58" name="Line 2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59" name="Line 2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60" name="Line 2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61" name="Line 2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62" name="Line 2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26" name="Group 27"/>
          <p:cNvGrpSpPr/>
          <p:nvPr/>
        </p:nvGrpSpPr>
        <p:grpSpPr>
          <a:xfrm>
            <a:off x="185738" y="4308475"/>
            <a:ext cx="1238250" cy="695325"/>
            <a:chOff x="856" y="1440"/>
            <a:chExt cx="1291" cy="667"/>
          </a:xfrm>
        </p:grpSpPr>
        <p:sp>
          <p:nvSpPr>
            <p:cNvPr id="56449"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50" name="Line 2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51" name="Line 3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52" name="Line 3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53" name="Line 3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54" name="Line 3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55" name="Line 3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27" name="Group 35"/>
          <p:cNvGrpSpPr/>
          <p:nvPr/>
        </p:nvGrpSpPr>
        <p:grpSpPr>
          <a:xfrm>
            <a:off x="1671638" y="4308475"/>
            <a:ext cx="1238250" cy="695325"/>
            <a:chOff x="856" y="1440"/>
            <a:chExt cx="1291" cy="667"/>
          </a:xfrm>
        </p:grpSpPr>
        <p:sp>
          <p:nvSpPr>
            <p:cNvPr id="56442"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43" name="Line 3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44" name="Line 3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45" name="Line 3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46" name="Line 4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47" name="Line 4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48" name="Line 4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28" name="Group 43"/>
          <p:cNvGrpSpPr/>
          <p:nvPr/>
        </p:nvGrpSpPr>
        <p:grpSpPr>
          <a:xfrm>
            <a:off x="3157538" y="4308475"/>
            <a:ext cx="1238250" cy="695325"/>
            <a:chOff x="856" y="1440"/>
            <a:chExt cx="1291" cy="667"/>
          </a:xfrm>
        </p:grpSpPr>
        <p:sp>
          <p:nvSpPr>
            <p:cNvPr id="56435"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36" name="Line 4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37" name="Line 4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38" name="Line 4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39" name="Line 4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40" name="Line 4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41" name="Line 5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29" name="Group 51"/>
          <p:cNvGrpSpPr/>
          <p:nvPr/>
        </p:nvGrpSpPr>
        <p:grpSpPr>
          <a:xfrm>
            <a:off x="4643438" y="4308475"/>
            <a:ext cx="1238250" cy="695325"/>
            <a:chOff x="856" y="1440"/>
            <a:chExt cx="1291" cy="667"/>
          </a:xfrm>
        </p:grpSpPr>
        <p:sp>
          <p:nvSpPr>
            <p:cNvPr id="56428"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29" name="Line 5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30" name="Line 5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31" name="Line 5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32" name="Line 5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33" name="Line 5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34" name="Line 5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30" name="Group 59"/>
          <p:cNvGrpSpPr/>
          <p:nvPr/>
        </p:nvGrpSpPr>
        <p:grpSpPr>
          <a:xfrm>
            <a:off x="6129338" y="4308475"/>
            <a:ext cx="1238250" cy="695325"/>
            <a:chOff x="856" y="1440"/>
            <a:chExt cx="1291" cy="667"/>
          </a:xfrm>
        </p:grpSpPr>
        <p:sp>
          <p:nvSpPr>
            <p:cNvPr id="56421"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22" name="Line 6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23" name="Line 6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24" name="Line 6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25" name="Line 6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26" name="Line 6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27" name="Line 6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6331" name="Group 67"/>
          <p:cNvGrpSpPr/>
          <p:nvPr/>
        </p:nvGrpSpPr>
        <p:grpSpPr>
          <a:xfrm>
            <a:off x="7616825" y="4308475"/>
            <a:ext cx="1238250" cy="695325"/>
            <a:chOff x="856" y="1440"/>
            <a:chExt cx="1291" cy="667"/>
          </a:xfrm>
        </p:grpSpPr>
        <p:sp>
          <p:nvSpPr>
            <p:cNvPr id="56414" name="Rectangle 6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15" name="Line 6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6416" name="Line 7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6417" name="Line 7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6418" name="Line 7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6419" name="Line 7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6420" name="Line 7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6332" name="Text Box 75"/>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6333" name="Text Box 76"/>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6334" name="Text Box 77"/>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6335" name="Text Box 78"/>
          <p:cNvSpPr txBox="1"/>
          <p:nvPr/>
        </p:nvSpPr>
        <p:spPr>
          <a:xfrm>
            <a:off x="1027113" y="4279900"/>
            <a:ext cx="400050"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56336" name="Text Box 79"/>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6337" name="Text Box 80"/>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56338" name="Text Box 81"/>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56339" name="Text Box 82"/>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56340" name="Text Box 83"/>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56341" name="Text Box 84"/>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6342" name="Text Box 85"/>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56343" name="Text Box 86"/>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6344" name="Text Box 87"/>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56345" name="Text Box 88"/>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56346" name="Text Box 89"/>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6347" name="Text Box 90"/>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56348" name="Text Box 91"/>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6349" name="Text Box 92"/>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6350" name="Text Box 93"/>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grpSp>
        <p:nvGrpSpPr>
          <p:cNvPr id="56351" name="Group 94"/>
          <p:cNvGrpSpPr/>
          <p:nvPr/>
        </p:nvGrpSpPr>
        <p:grpSpPr>
          <a:xfrm>
            <a:off x="3749675" y="3587750"/>
            <a:ext cx="4154488" cy="730250"/>
            <a:chOff x="2362" y="2511"/>
            <a:chExt cx="2617" cy="625"/>
          </a:xfrm>
        </p:grpSpPr>
        <p:sp>
          <p:nvSpPr>
            <p:cNvPr id="56410" name="Line 95"/>
            <p:cNvSpPr/>
            <p:nvPr/>
          </p:nvSpPr>
          <p:spPr>
            <a:xfrm>
              <a:off x="4115" y="2519"/>
              <a:ext cx="864" cy="601"/>
            </a:xfrm>
            <a:prstGeom prst="line">
              <a:avLst/>
            </a:prstGeom>
            <a:ln w="9525" cap="flat" cmpd="sng">
              <a:solidFill>
                <a:srgbClr val="FF0066"/>
              </a:solidFill>
              <a:prstDash val="solid"/>
              <a:headEnd type="none" w="med" len="med"/>
              <a:tailEnd type="triangle" w="med" len="med"/>
            </a:ln>
          </p:spPr>
        </p:sp>
        <p:sp>
          <p:nvSpPr>
            <p:cNvPr id="56411" name="Line 96"/>
            <p:cNvSpPr/>
            <p:nvPr/>
          </p:nvSpPr>
          <p:spPr>
            <a:xfrm>
              <a:off x="3884" y="2511"/>
              <a:ext cx="173" cy="625"/>
            </a:xfrm>
            <a:prstGeom prst="line">
              <a:avLst/>
            </a:prstGeom>
            <a:ln w="9525" cap="flat" cmpd="sng">
              <a:solidFill>
                <a:srgbClr val="FF0066"/>
              </a:solidFill>
              <a:prstDash val="solid"/>
              <a:headEnd type="none" w="med" len="med"/>
              <a:tailEnd type="triangle" w="med" len="med"/>
            </a:ln>
          </p:spPr>
        </p:sp>
        <p:sp>
          <p:nvSpPr>
            <p:cNvPr id="56412" name="Line 97"/>
            <p:cNvSpPr/>
            <p:nvPr/>
          </p:nvSpPr>
          <p:spPr>
            <a:xfrm flipH="1">
              <a:off x="3136" y="2519"/>
              <a:ext cx="559" cy="601"/>
            </a:xfrm>
            <a:prstGeom prst="line">
              <a:avLst/>
            </a:prstGeom>
            <a:ln w="9525" cap="flat" cmpd="sng">
              <a:solidFill>
                <a:srgbClr val="FF0066"/>
              </a:solidFill>
              <a:prstDash val="solid"/>
              <a:headEnd type="none" w="med" len="med"/>
              <a:tailEnd type="triangle" w="med" len="med"/>
            </a:ln>
          </p:spPr>
        </p:sp>
        <p:sp>
          <p:nvSpPr>
            <p:cNvPr id="56413" name="Line 98"/>
            <p:cNvSpPr/>
            <p:nvPr/>
          </p:nvSpPr>
          <p:spPr>
            <a:xfrm flipH="1">
              <a:off x="2362" y="2527"/>
              <a:ext cx="1078" cy="593"/>
            </a:xfrm>
            <a:prstGeom prst="line">
              <a:avLst/>
            </a:prstGeom>
            <a:ln w="9525" cap="flat" cmpd="sng">
              <a:solidFill>
                <a:srgbClr val="FF0066"/>
              </a:solidFill>
              <a:prstDash val="solid"/>
              <a:headEnd type="none" w="med" len="med"/>
              <a:tailEnd type="triangle" w="med" len="med"/>
            </a:ln>
          </p:spPr>
        </p:sp>
      </p:grpSp>
      <p:grpSp>
        <p:nvGrpSpPr>
          <p:cNvPr id="56352" name="Group 99"/>
          <p:cNvGrpSpPr/>
          <p:nvPr/>
        </p:nvGrpSpPr>
        <p:grpSpPr>
          <a:xfrm>
            <a:off x="666750" y="3600450"/>
            <a:ext cx="1606550" cy="704850"/>
            <a:chOff x="420" y="2502"/>
            <a:chExt cx="1012" cy="626"/>
          </a:xfrm>
        </p:grpSpPr>
        <p:sp>
          <p:nvSpPr>
            <p:cNvPr id="56408" name="Line 100"/>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56409" name="Line 101"/>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56353" name="Group 102"/>
          <p:cNvGrpSpPr/>
          <p:nvPr/>
        </p:nvGrpSpPr>
        <p:grpSpPr>
          <a:xfrm>
            <a:off x="2338388" y="2403475"/>
            <a:ext cx="3227387" cy="627063"/>
            <a:chOff x="1473" y="1700"/>
            <a:chExt cx="2033" cy="625"/>
          </a:xfrm>
        </p:grpSpPr>
        <p:sp>
          <p:nvSpPr>
            <p:cNvPr id="56406" name="Line 103"/>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56407" name="Line 104"/>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56354" name="Line 105"/>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56355" name="Line 106"/>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56356" name="Line 107"/>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56357" name="Line 108"/>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56358" name="Line 109"/>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56359" name="Line 110"/>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56360" name="Line 111"/>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56361" name="Line 112"/>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56362" name="Line 113"/>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56363" name="Line 114"/>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56364" name="Line 115"/>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56365" name="Line 116"/>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56366" name="Line 117"/>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56367" name="Line 118"/>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56368" name="Line 119"/>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56369" name="Line 120"/>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56370" name="Line 121"/>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56371" name="Line 122"/>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56372" name="Line 123"/>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56373" name="Line 124"/>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56374" name="Line 125"/>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grpSp>
        <p:nvGrpSpPr>
          <p:cNvPr id="14" name="Group 126"/>
          <p:cNvGrpSpPr/>
          <p:nvPr/>
        </p:nvGrpSpPr>
        <p:grpSpPr>
          <a:xfrm>
            <a:off x="5353050" y="5530850"/>
            <a:ext cx="1238250" cy="695325"/>
            <a:chOff x="856" y="1440"/>
            <a:chExt cx="1291" cy="667"/>
          </a:xfrm>
        </p:grpSpPr>
        <p:sp>
          <p:nvSpPr>
            <p:cNvPr id="56399" name="Rectangle 127"/>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400" name="Line 128"/>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6401" name="Line 129"/>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6402" name="Line 130"/>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6403" name="Line 131"/>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6404" name="Line 132"/>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6405" name="Line 133"/>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29542" name="Text Box 134"/>
          <p:cNvSpPr txBox="1"/>
          <p:nvPr/>
        </p:nvSpPr>
        <p:spPr>
          <a:xfrm>
            <a:off x="53165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29543" name="Text Box 135"/>
          <p:cNvSpPr txBox="1"/>
          <p:nvPr/>
        </p:nvSpPr>
        <p:spPr>
          <a:xfrm>
            <a:off x="57356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529544" name="Line 136"/>
          <p:cNvSpPr/>
          <p:nvPr/>
        </p:nvSpPr>
        <p:spPr>
          <a:xfrm>
            <a:off x="5519738" y="6089650"/>
            <a:ext cx="0" cy="365125"/>
          </a:xfrm>
          <a:prstGeom prst="line">
            <a:avLst/>
          </a:prstGeom>
          <a:ln w="9525" cap="flat" cmpd="sng">
            <a:solidFill>
              <a:srgbClr val="FF3399"/>
            </a:solidFill>
            <a:prstDash val="solid"/>
            <a:headEnd type="none" w="med" len="med"/>
            <a:tailEnd type="triangle" w="med" len="med"/>
          </a:ln>
        </p:spPr>
      </p:sp>
      <p:sp>
        <p:nvSpPr>
          <p:cNvPr id="529545" name="Line 137"/>
          <p:cNvSpPr/>
          <p:nvPr/>
        </p:nvSpPr>
        <p:spPr>
          <a:xfrm>
            <a:off x="5799138" y="6089650"/>
            <a:ext cx="0" cy="365125"/>
          </a:xfrm>
          <a:prstGeom prst="line">
            <a:avLst/>
          </a:prstGeom>
          <a:ln w="9525" cap="flat" cmpd="sng">
            <a:solidFill>
              <a:srgbClr val="FF3399"/>
            </a:solidFill>
            <a:prstDash val="solid"/>
            <a:headEnd type="none" w="med" len="med"/>
            <a:tailEnd type="triangle" w="med" len="med"/>
          </a:ln>
        </p:spPr>
      </p:sp>
      <p:sp>
        <p:nvSpPr>
          <p:cNvPr id="529546" name="Line 138"/>
          <p:cNvSpPr/>
          <p:nvPr/>
        </p:nvSpPr>
        <p:spPr>
          <a:xfrm>
            <a:off x="6499225" y="6065838"/>
            <a:ext cx="377825" cy="0"/>
          </a:xfrm>
          <a:prstGeom prst="line">
            <a:avLst/>
          </a:prstGeom>
          <a:ln w="38100" cap="flat" cmpd="sng">
            <a:solidFill>
              <a:srgbClr val="6666FF"/>
            </a:solidFill>
            <a:prstDash val="solid"/>
            <a:headEnd type="none" w="med" len="med"/>
            <a:tailEnd type="triangle" w="med" len="med"/>
          </a:ln>
        </p:spPr>
      </p:sp>
      <p:grpSp>
        <p:nvGrpSpPr>
          <p:cNvPr id="15" name="Group 139"/>
          <p:cNvGrpSpPr/>
          <p:nvPr/>
        </p:nvGrpSpPr>
        <p:grpSpPr>
          <a:xfrm>
            <a:off x="6889750" y="5537200"/>
            <a:ext cx="1238250" cy="695325"/>
            <a:chOff x="856" y="1440"/>
            <a:chExt cx="1291" cy="667"/>
          </a:xfrm>
        </p:grpSpPr>
        <p:sp>
          <p:nvSpPr>
            <p:cNvPr id="56392" name="Rectangle 140"/>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393" name="Line 141"/>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6394" name="Line 142"/>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6395" name="Line 143"/>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6396" name="Line 144"/>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6397" name="Line 145"/>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6398" name="Line 146"/>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29555" name="Text Box 147"/>
          <p:cNvSpPr txBox="1"/>
          <p:nvPr/>
        </p:nvSpPr>
        <p:spPr>
          <a:xfrm>
            <a:off x="68532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40</a:t>
            </a:r>
          </a:p>
        </p:txBody>
      </p:sp>
      <p:sp>
        <p:nvSpPr>
          <p:cNvPr id="529556" name="Text Box 148"/>
          <p:cNvSpPr txBox="1"/>
          <p:nvPr/>
        </p:nvSpPr>
        <p:spPr>
          <a:xfrm>
            <a:off x="7272338" y="55356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529557" name="Line 149"/>
          <p:cNvSpPr/>
          <p:nvPr/>
        </p:nvSpPr>
        <p:spPr>
          <a:xfrm>
            <a:off x="7056438" y="6096000"/>
            <a:ext cx="0" cy="365125"/>
          </a:xfrm>
          <a:prstGeom prst="line">
            <a:avLst/>
          </a:prstGeom>
          <a:ln w="38100" cap="flat" cmpd="sng">
            <a:solidFill>
              <a:srgbClr val="6666FF"/>
            </a:solidFill>
            <a:prstDash val="solid"/>
            <a:headEnd type="none" w="med" len="med"/>
            <a:tailEnd type="triangle" w="med" len="med"/>
          </a:ln>
        </p:spPr>
      </p:sp>
      <p:sp>
        <p:nvSpPr>
          <p:cNvPr id="529558" name="Line 150"/>
          <p:cNvSpPr/>
          <p:nvPr/>
        </p:nvSpPr>
        <p:spPr>
          <a:xfrm>
            <a:off x="7335838" y="6096000"/>
            <a:ext cx="0" cy="365125"/>
          </a:xfrm>
          <a:prstGeom prst="line">
            <a:avLst/>
          </a:prstGeom>
          <a:ln w="9525" cap="flat" cmpd="sng">
            <a:solidFill>
              <a:srgbClr val="FF3399"/>
            </a:solidFill>
            <a:prstDash val="solid"/>
            <a:headEnd type="none" w="med" len="med"/>
            <a:tailEnd type="triangle" w="med" len="med"/>
          </a:ln>
        </p:spPr>
      </p:sp>
      <p:sp>
        <p:nvSpPr>
          <p:cNvPr id="56386" name="Text Box 152"/>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进行中</a:t>
            </a:r>
          </a:p>
        </p:txBody>
      </p:sp>
      <p:sp>
        <p:nvSpPr>
          <p:cNvPr id="529561" name="Freeform 153"/>
          <p:cNvSpPr/>
          <p:nvPr/>
        </p:nvSpPr>
        <p:spPr>
          <a:xfrm>
            <a:off x="4891088" y="4846638"/>
            <a:ext cx="1033462" cy="914400"/>
          </a:xfrm>
          <a:custGeom>
            <a:avLst/>
            <a:gdLst/>
            <a:ahLst/>
            <a:cxnLst>
              <a:cxn ang="0">
                <a:pos x="830262" y="0"/>
              </a:cxn>
              <a:cxn ang="0">
                <a:pos x="922337" y="312738"/>
              </a:cxn>
              <a:cxn ang="0">
                <a:pos x="163512" y="600075"/>
              </a:cxn>
              <a:cxn ang="0">
                <a:pos x="46037" y="862013"/>
              </a:cxn>
              <a:cxn ang="0">
                <a:pos x="438150" y="914400"/>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29562" name="Freeform 154"/>
          <p:cNvSpPr/>
          <p:nvPr/>
        </p:nvSpPr>
        <p:spPr>
          <a:xfrm>
            <a:off x="7424738" y="4872038"/>
            <a:ext cx="947737" cy="1198562"/>
          </a:xfrm>
          <a:custGeom>
            <a:avLst/>
            <a:gdLst/>
            <a:ahLst/>
            <a:cxnLst>
              <a:cxn ang="0">
                <a:pos x="549275" y="1198562"/>
              </a:cxn>
              <a:cxn ang="0">
                <a:pos x="922337" y="947737"/>
              </a:cxn>
              <a:cxn ang="0">
                <a:pos x="700087" y="533400"/>
              </a:cxn>
              <a:cxn ang="0">
                <a:pos x="152400" y="411162"/>
              </a:cxn>
              <a:cxn ang="0">
                <a:pos x="7937" y="122237"/>
              </a:cxn>
              <a:cxn ang="0">
                <a:pos x="203200"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29563" name="Freeform 155"/>
          <p:cNvSpPr/>
          <p:nvPr/>
        </p:nvSpPr>
        <p:spPr>
          <a:xfrm>
            <a:off x="5937250" y="3592513"/>
            <a:ext cx="227013" cy="1919287"/>
          </a:xfrm>
          <a:custGeom>
            <a:avLst/>
            <a:gdLst/>
            <a:ahLst/>
            <a:cxnLst>
              <a:cxn ang="0">
                <a:pos x="176213" y="0"/>
              </a:cxn>
              <a:cxn ang="0">
                <a:pos x="201613" y="547687"/>
              </a:cxn>
              <a:cxn ang="0">
                <a:pos x="19050" y="1109662"/>
              </a:cxn>
              <a:cxn ang="0">
                <a:pos x="84138" y="1919287"/>
              </a:cxn>
            </a:cxnLst>
            <a:rect l="0" t="0" r="0" b="0"/>
            <a:pathLst>
              <a:path w="143" h="1209">
                <a:moveTo>
                  <a:pt x="111" y="0"/>
                </a:moveTo>
                <a:cubicBezTo>
                  <a:pt x="127" y="114"/>
                  <a:pt x="143" y="229"/>
                  <a:pt x="127" y="345"/>
                </a:cubicBezTo>
                <a:cubicBezTo>
                  <a:pt x="111" y="461"/>
                  <a:pt x="24" y="555"/>
                  <a:pt x="12" y="699"/>
                </a:cubicBezTo>
                <a:cubicBezTo>
                  <a:pt x="0" y="843"/>
                  <a:pt x="26" y="1026"/>
                  <a:pt x="53" y="1209"/>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6390"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B+树之键值插入与结点分裂过程示意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插入过程及分裂过程示意 </a:t>
            </a:r>
          </a:p>
        </p:txBody>
      </p:sp>
      <p:sp>
        <p:nvSpPr>
          <p:cNvPr id="529565" name="Text Box 157"/>
          <p:cNvSpPr txBox="1"/>
          <p:nvPr/>
        </p:nvSpPr>
        <p:spPr>
          <a:xfrm>
            <a:off x="292100" y="5257800"/>
            <a:ext cx="4679950" cy="155575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寻找保存键值记录的叶子结点</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应插入结点已满，则申请新结点</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同时调整应插入但未插入结点中的键值记录，使其均衡存放于两个叶结点中</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分裂</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调整指针使其指向新叶子结点</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9565">
                                            <p:txEl>
                                              <p:pRg st="0" end="0"/>
                                            </p:txEl>
                                          </p:spTgt>
                                        </p:tgtEl>
                                        <p:attrNameLst>
                                          <p:attrName>style.visibility</p:attrName>
                                        </p:attrNameLst>
                                      </p:cBhvr>
                                      <p:to>
                                        <p:strVal val="visible"/>
                                      </p:to>
                                    </p:set>
                                    <p:anim calcmode="lin" valueType="num">
                                      <p:cBhvr additive="base">
                                        <p:cTn id="7" dur="500" fill="hold"/>
                                        <p:tgtEl>
                                          <p:spTgt spid="52956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956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29565">
                                            <p:txEl>
                                              <p:pRg st="1" end="1"/>
                                            </p:txEl>
                                          </p:spTgt>
                                        </p:tgtEl>
                                        <p:attrNameLst>
                                          <p:attrName>style.visibility</p:attrName>
                                        </p:attrNameLst>
                                      </p:cBhvr>
                                      <p:to>
                                        <p:strVal val="visible"/>
                                      </p:to>
                                    </p:set>
                                    <p:anim calcmode="lin" valueType="num">
                                      <p:cBhvr additive="base">
                                        <p:cTn id="11" dur="500" fill="hold"/>
                                        <p:tgtEl>
                                          <p:spTgt spid="52956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2956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29565">
                                            <p:txEl>
                                              <p:pRg st="2" end="2"/>
                                            </p:txEl>
                                          </p:spTgt>
                                        </p:tgtEl>
                                        <p:attrNameLst>
                                          <p:attrName>style.visibility</p:attrName>
                                        </p:attrNameLst>
                                      </p:cBhvr>
                                      <p:to>
                                        <p:strVal val="visible"/>
                                      </p:to>
                                    </p:set>
                                    <p:anim calcmode="lin" valueType="num">
                                      <p:cBhvr additive="base">
                                        <p:cTn id="15" dur="500" fill="hold"/>
                                        <p:tgtEl>
                                          <p:spTgt spid="52956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2956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29542"/>
                                        </p:tgtEl>
                                        <p:attrNameLst>
                                          <p:attrName>style.visibility</p:attrName>
                                        </p:attrNameLst>
                                      </p:cBhvr>
                                      <p:to>
                                        <p:strVal val="visible"/>
                                      </p:to>
                                    </p:set>
                                    <p:anim calcmode="lin" valueType="num">
                                      <p:cBhvr additive="base">
                                        <p:cTn id="25" dur="500" fill="hold"/>
                                        <p:tgtEl>
                                          <p:spTgt spid="529542"/>
                                        </p:tgtEl>
                                        <p:attrNameLst>
                                          <p:attrName>ppt_x</p:attrName>
                                        </p:attrNameLst>
                                      </p:cBhvr>
                                      <p:tavLst>
                                        <p:tav tm="0">
                                          <p:val>
                                            <p:strVal val="#ppt_x"/>
                                          </p:val>
                                        </p:tav>
                                        <p:tav tm="100000">
                                          <p:val>
                                            <p:strVal val="#ppt_x"/>
                                          </p:val>
                                        </p:tav>
                                      </p:tavLst>
                                    </p:anim>
                                    <p:anim calcmode="lin" valueType="num">
                                      <p:cBhvr additive="base">
                                        <p:cTn id="26" dur="500" fill="hold"/>
                                        <p:tgtEl>
                                          <p:spTgt spid="52954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29543"/>
                                        </p:tgtEl>
                                        <p:attrNameLst>
                                          <p:attrName>style.visibility</p:attrName>
                                        </p:attrNameLst>
                                      </p:cBhvr>
                                      <p:to>
                                        <p:strVal val="visible"/>
                                      </p:to>
                                    </p:set>
                                    <p:anim calcmode="lin" valueType="num">
                                      <p:cBhvr additive="base">
                                        <p:cTn id="29" dur="500" fill="hold"/>
                                        <p:tgtEl>
                                          <p:spTgt spid="529543"/>
                                        </p:tgtEl>
                                        <p:attrNameLst>
                                          <p:attrName>ppt_x</p:attrName>
                                        </p:attrNameLst>
                                      </p:cBhvr>
                                      <p:tavLst>
                                        <p:tav tm="0">
                                          <p:val>
                                            <p:strVal val="#ppt_x"/>
                                          </p:val>
                                        </p:tav>
                                        <p:tav tm="100000">
                                          <p:val>
                                            <p:strVal val="#ppt_x"/>
                                          </p:val>
                                        </p:tav>
                                      </p:tavLst>
                                    </p:anim>
                                    <p:anim calcmode="lin" valueType="num">
                                      <p:cBhvr additive="base">
                                        <p:cTn id="30" dur="500" fill="hold"/>
                                        <p:tgtEl>
                                          <p:spTgt spid="52954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29544"/>
                                        </p:tgtEl>
                                        <p:attrNameLst>
                                          <p:attrName>style.visibility</p:attrName>
                                        </p:attrNameLst>
                                      </p:cBhvr>
                                      <p:to>
                                        <p:strVal val="visible"/>
                                      </p:to>
                                    </p:set>
                                    <p:anim calcmode="lin" valueType="num">
                                      <p:cBhvr additive="base">
                                        <p:cTn id="33" dur="500" fill="hold"/>
                                        <p:tgtEl>
                                          <p:spTgt spid="529544"/>
                                        </p:tgtEl>
                                        <p:attrNameLst>
                                          <p:attrName>ppt_x</p:attrName>
                                        </p:attrNameLst>
                                      </p:cBhvr>
                                      <p:tavLst>
                                        <p:tav tm="0">
                                          <p:val>
                                            <p:strVal val="#ppt_x"/>
                                          </p:val>
                                        </p:tav>
                                        <p:tav tm="100000">
                                          <p:val>
                                            <p:strVal val="#ppt_x"/>
                                          </p:val>
                                        </p:tav>
                                      </p:tavLst>
                                    </p:anim>
                                    <p:anim calcmode="lin" valueType="num">
                                      <p:cBhvr additive="base">
                                        <p:cTn id="34" dur="500" fill="hold"/>
                                        <p:tgtEl>
                                          <p:spTgt spid="52954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29545"/>
                                        </p:tgtEl>
                                        <p:attrNameLst>
                                          <p:attrName>style.visibility</p:attrName>
                                        </p:attrNameLst>
                                      </p:cBhvr>
                                      <p:to>
                                        <p:strVal val="visible"/>
                                      </p:to>
                                    </p:set>
                                    <p:anim calcmode="lin" valueType="num">
                                      <p:cBhvr additive="base">
                                        <p:cTn id="37" dur="500" fill="hold"/>
                                        <p:tgtEl>
                                          <p:spTgt spid="529545"/>
                                        </p:tgtEl>
                                        <p:attrNameLst>
                                          <p:attrName>ppt_x</p:attrName>
                                        </p:attrNameLst>
                                      </p:cBhvr>
                                      <p:tavLst>
                                        <p:tav tm="0">
                                          <p:val>
                                            <p:strVal val="#ppt_x"/>
                                          </p:val>
                                        </p:tav>
                                        <p:tav tm="100000">
                                          <p:val>
                                            <p:strVal val="#ppt_x"/>
                                          </p:val>
                                        </p:tav>
                                      </p:tavLst>
                                    </p:anim>
                                    <p:anim calcmode="lin" valueType="num">
                                      <p:cBhvr additive="base">
                                        <p:cTn id="38" dur="500" fill="hold"/>
                                        <p:tgtEl>
                                          <p:spTgt spid="52954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29555"/>
                                        </p:tgtEl>
                                        <p:attrNameLst>
                                          <p:attrName>style.visibility</p:attrName>
                                        </p:attrNameLst>
                                      </p:cBhvr>
                                      <p:to>
                                        <p:strVal val="visible"/>
                                      </p:to>
                                    </p:set>
                                    <p:anim calcmode="lin" valueType="num">
                                      <p:cBhvr additive="base">
                                        <p:cTn id="45" dur="500" fill="hold"/>
                                        <p:tgtEl>
                                          <p:spTgt spid="529555"/>
                                        </p:tgtEl>
                                        <p:attrNameLst>
                                          <p:attrName>ppt_x</p:attrName>
                                        </p:attrNameLst>
                                      </p:cBhvr>
                                      <p:tavLst>
                                        <p:tav tm="0">
                                          <p:val>
                                            <p:strVal val="#ppt_x"/>
                                          </p:val>
                                        </p:tav>
                                        <p:tav tm="100000">
                                          <p:val>
                                            <p:strVal val="#ppt_x"/>
                                          </p:val>
                                        </p:tav>
                                      </p:tavLst>
                                    </p:anim>
                                    <p:anim calcmode="lin" valueType="num">
                                      <p:cBhvr additive="base">
                                        <p:cTn id="46" dur="500" fill="hold"/>
                                        <p:tgtEl>
                                          <p:spTgt spid="52955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29556"/>
                                        </p:tgtEl>
                                        <p:attrNameLst>
                                          <p:attrName>style.visibility</p:attrName>
                                        </p:attrNameLst>
                                      </p:cBhvr>
                                      <p:to>
                                        <p:strVal val="visible"/>
                                      </p:to>
                                    </p:set>
                                    <p:anim calcmode="lin" valueType="num">
                                      <p:cBhvr additive="base">
                                        <p:cTn id="49" dur="500" fill="hold"/>
                                        <p:tgtEl>
                                          <p:spTgt spid="529556"/>
                                        </p:tgtEl>
                                        <p:attrNameLst>
                                          <p:attrName>ppt_x</p:attrName>
                                        </p:attrNameLst>
                                      </p:cBhvr>
                                      <p:tavLst>
                                        <p:tav tm="0">
                                          <p:val>
                                            <p:strVal val="#ppt_x"/>
                                          </p:val>
                                        </p:tav>
                                        <p:tav tm="100000">
                                          <p:val>
                                            <p:strVal val="#ppt_x"/>
                                          </p:val>
                                        </p:tav>
                                      </p:tavLst>
                                    </p:anim>
                                    <p:anim calcmode="lin" valueType="num">
                                      <p:cBhvr additive="base">
                                        <p:cTn id="50" dur="500" fill="hold"/>
                                        <p:tgtEl>
                                          <p:spTgt spid="52955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29557"/>
                                        </p:tgtEl>
                                        <p:attrNameLst>
                                          <p:attrName>style.visibility</p:attrName>
                                        </p:attrNameLst>
                                      </p:cBhvr>
                                      <p:to>
                                        <p:strVal val="visible"/>
                                      </p:to>
                                    </p:set>
                                    <p:anim calcmode="lin" valueType="num">
                                      <p:cBhvr additive="base">
                                        <p:cTn id="53" dur="500" fill="hold"/>
                                        <p:tgtEl>
                                          <p:spTgt spid="529557"/>
                                        </p:tgtEl>
                                        <p:attrNameLst>
                                          <p:attrName>ppt_x</p:attrName>
                                        </p:attrNameLst>
                                      </p:cBhvr>
                                      <p:tavLst>
                                        <p:tav tm="0">
                                          <p:val>
                                            <p:strVal val="#ppt_x"/>
                                          </p:val>
                                        </p:tav>
                                        <p:tav tm="100000">
                                          <p:val>
                                            <p:strVal val="#ppt_x"/>
                                          </p:val>
                                        </p:tav>
                                      </p:tavLst>
                                    </p:anim>
                                    <p:anim calcmode="lin" valueType="num">
                                      <p:cBhvr additive="base">
                                        <p:cTn id="54" dur="500" fill="hold"/>
                                        <p:tgtEl>
                                          <p:spTgt spid="529557"/>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29558"/>
                                        </p:tgtEl>
                                        <p:attrNameLst>
                                          <p:attrName>style.visibility</p:attrName>
                                        </p:attrNameLst>
                                      </p:cBhvr>
                                      <p:to>
                                        <p:strVal val="visible"/>
                                      </p:to>
                                    </p:set>
                                    <p:anim calcmode="lin" valueType="num">
                                      <p:cBhvr additive="base">
                                        <p:cTn id="57" dur="500" fill="hold"/>
                                        <p:tgtEl>
                                          <p:spTgt spid="529558"/>
                                        </p:tgtEl>
                                        <p:attrNameLst>
                                          <p:attrName>ppt_x</p:attrName>
                                        </p:attrNameLst>
                                      </p:cBhvr>
                                      <p:tavLst>
                                        <p:tav tm="0">
                                          <p:val>
                                            <p:strVal val="#ppt_x"/>
                                          </p:val>
                                        </p:tav>
                                        <p:tav tm="100000">
                                          <p:val>
                                            <p:strVal val="#ppt_x"/>
                                          </p:val>
                                        </p:tav>
                                      </p:tavLst>
                                    </p:anim>
                                    <p:anim calcmode="lin" valueType="num">
                                      <p:cBhvr additive="base">
                                        <p:cTn id="58" dur="500" fill="hold"/>
                                        <p:tgtEl>
                                          <p:spTgt spid="52955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529565">
                                            <p:txEl>
                                              <p:pRg st="3" end="3"/>
                                            </p:txEl>
                                          </p:spTgt>
                                        </p:tgtEl>
                                        <p:attrNameLst>
                                          <p:attrName>style.visibility</p:attrName>
                                        </p:attrNameLst>
                                      </p:cBhvr>
                                      <p:to>
                                        <p:strVal val="visible"/>
                                      </p:to>
                                    </p:set>
                                    <p:anim calcmode="lin" valueType="num">
                                      <p:cBhvr additive="base">
                                        <p:cTn id="63" dur="500" fill="hold"/>
                                        <p:tgtEl>
                                          <p:spTgt spid="529565">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2956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529562"/>
                                        </p:tgtEl>
                                        <p:attrNameLst>
                                          <p:attrName>style.visibility</p:attrName>
                                        </p:attrNameLst>
                                      </p:cBhvr>
                                      <p:to>
                                        <p:strVal val="visible"/>
                                      </p:to>
                                    </p:set>
                                    <p:anim calcmode="lin" valueType="num">
                                      <p:cBhvr additive="base">
                                        <p:cTn id="69" dur="500" fill="hold"/>
                                        <p:tgtEl>
                                          <p:spTgt spid="529562"/>
                                        </p:tgtEl>
                                        <p:attrNameLst>
                                          <p:attrName>ppt_x</p:attrName>
                                        </p:attrNameLst>
                                      </p:cBhvr>
                                      <p:tavLst>
                                        <p:tav tm="0">
                                          <p:val>
                                            <p:strVal val="#ppt_x"/>
                                          </p:val>
                                        </p:tav>
                                        <p:tav tm="100000">
                                          <p:val>
                                            <p:strVal val="#ppt_x"/>
                                          </p:val>
                                        </p:tav>
                                      </p:tavLst>
                                    </p:anim>
                                    <p:anim calcmode="lin" valueType="num">
                                      <p:cBhvr additive="base">
                                        <p:cTn id="70" dur="500" fill="hold"/>
                                        <p:tgtEl>
                                          <p:spTgt spid="529562"/>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529563"/>
                                        </p:tgtEl>
                                        <p:attrNameLst>
                                          <p:attrName>style.visibility</p:attrName>
                                        </p:attrNameLst>
                                      </p:cBhvr>
                                      <p:to>
                                        <p:strVal val="visible"/>
                                      </p:to>
                                    </p:set>
                                    <p:anim calcmode="lin" valueType="num">
                                      <p:cBhvr additive="base">
                                        <p:cTn id="73" dur="500" fill="hold"/>
                                        <p:tgtEl>
                                          <p:spTgt spid="529563"/>
                                        </p:tgtEl>
                                        <p:attrNameLst>
                                          <p:attrName>ppt_x</p:attrName>
                                        </p:attrNameLst>
                                      </p:cBhvr>
                                      <p:tavLst>
                                        <p:tav tm="0">
                                          <p:val>
                                            <p:strVal val="#ppt_x"/>
                                          </p:val>
                                        </p:tav>
                                        <p:tav tm="100000">
                                          <p:val>
                                            <p:strVal val="#ppt_x"/>
                                          </p:val>
                                        </p:tav>
                                      </p:tavLst>
                                    </p:anim>
                                    <p:anim calcmode="lin" valueType="num">
                                      <p:cBhvr additive="base">
                                        <p:cTn id="74" dur="500" fill="hold"/>
                                        <p:tgtEl>
                                          <p:spTgt spid="529563"/>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529561"/>
                                        </p:tgtEl>
                                        <p:attrNameLst>
                                          <p:attrName>style.visibility</p:attrName>
                                        </p:attrNameLst>
                                      </p:cBhvr>
                                      <p:to>
                                        <p:strVal val="visible"/>
                                      </p:to>
                                    </p:set>
                                    <p:anim calcmode="lin" valueType="num">
                                      <p:cBhvr additive="base">
                                        <p:cTn id="77" dur="500" fill="hold"/>
                                        <p:tgtEl>
                                          <p:spTgt spid="529561"/>
                                        </p:tgtEl>
                                        <p:attrNameLst>
                                          <p:attrName>ppt_x</p:attrName>
                                        </p:attrNameLst>
                                      </p:cBhvr>
                                      <p:tavLst>
                                        <p:tav tm="0">
                                          <p:val>
                                            <p:strVal val="#ppt_x"/>
                                          </p:val>
                                        </p:tav>
                                        <p:tav tm="100000">
                                          <p:val>
                                            <p:strVal val="#ppt_x"/>
                                          </p:val>
                                        </p:tav>
                                      </p:tavLst>
                                    </p:anim>
                                    <p:anim calcmode="lin" valueType="num">
                                      <p:cBhvr additive="base">
                                        <p:cTn id="78" dur="500" fill="hold"/>
                                        <p:tgtEl>
                                          <p:spTgt spid="529561"/>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29546"/>
                                        </p:tgtEl>
                                        <p:attrNameLst>
                                          <p:attrName>style.visibility</p:attrName>
                                        </p:attrNameLst>
                                      </p:cBhvr>
                                      <p:to>
                                        <p:strVal val="visible"/>
                                      </p:to>
                                    </p:set>
                                    <p:anim calcmode="lin" valueType="num">
                                      <p:cBhvr additive="base">
                                        <p:cTn id="81" dur="500" fill="hold"/>
                                        <p:tgtEl>
                                          <p:spTgt spid="529546"/>
                                        </p:tgtEl>
                                        <p:attrNameLst>
                                          <p:attrName>ppt_x</p:attrName>
                                        </p:attrNameLst>
                                      </p:cBhvr>
                                      <p:tavLst>
                                        <p:tav tm="0">
                                          <p:val>
                                            <p:strVal val="#ppt_x"/>
                                          </p:val>
                                        </p:tav>
                                        <p:tav tm="100000">
                                          <p:val>
                                            <p:strVal val="#ppt_x"/>
                                          </p:val>
                                        </p:tav>
                                      </p:tavLst>
                                    </p:anim>
                                    <p:anim calcmode="lin" valueType="num">
                                      <p:cBhvr additive="base">
                                        <p:cTn id="82" dur="500" fill="hold"/>
                                        <p:tgtEl>
                                          <p:spTgt spid="5295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542" grpId="0"/>
      <p:bldP spid="529543" grpId="0"/>
      <p:bldP spid="529555" grpId="0"/>
      <p:bldP spid="52955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5"/>
          <p:cNvGrpSpPr/>
          <p:nvPr/>
        </p:nvGrpSpPr>
        <p:grpSpPr>
          <a:xfrm>
            <a:off x="3157538" y="1870075"/>
            <a:ext cx="1238250" cy="695325"/>
            <a:chOff x="856" y="1440"/>
            <a:chExt cx="1291" cy="667"/>
          </a:xfrm>
        </p:grpSpPr>
        <p:sp>
          <p:nvSpPr>
            <p:cNvPr id="57503" name="Rectangle 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504" name="Line 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505" name="Line 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506" name="Line 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507" name="Line 1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508" name="Line 1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509" name="Line 1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7347" name="Text Box 13"/>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57348" name="Group 14"/>
          <p:cNvGrpSpPr/>
          <p:nvPr/>
        </p:nvGrpSpPr>
        <p:grpSpPr>
          <a:xfrm>
            <a:off x="1844675" y="3032125"/>
            <a:ext cx="1238250" cy="695325"/>
            <a:chOff x="856" y="1440"/>
            <a:chExt cx="1291" cy="667"/>
          </a:xfrm>
        </p:grpSpPr>
        <p:sp>
          <p:nvSpPr>
            <p:cNvPr id="57496" name="Rectangle 1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97" name="Line 1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98" name="Line 1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99" name="Line 1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500" name="Line 1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501" name="Line 2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502" name="Line 2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7349" name="Group 22"/>
          <p:cNvGrpSpPr/>
          <p:nvPr/>
        </p:nvGrpSpPr>
        <p:grpSpPr>
          <a:xfrm>
            <a:off x="5392738" y="3032125"/>
            <a:ext cx="1238250" cy="695325"/>
            <a:chOff x="856" y="1440"/>
            <a:chExt cx="1291" cy="667"/>
          </a:xfrm>
        </p:grpSpPr>
        <p:sp>
          <p:nvSpPr>
            <p:cNvPr id="57489" name="Rectangle 2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90" name="Line 2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91" name="Line 2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92" name="Line 2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493" name="Line 2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494" name="Line 2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495" name="Line 2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7350" name="Group 30"/>
          <p:cNvGrpSpPr/>
          <p:nvPr/>
        </p:nvGrpSpPr>
        <p:grpSpPr>
          <a:xfrm>
            <a:off x="185738" y="4308475"/>
            <a:ext cx="1238250" cy="695325"/>
            <a:chOff x="856" y="1440"/>
            <a:chExt cx="1291" cy="667"/>
          </a:xfrm>
        </p:grpSpPr>
        <p:sp>
          <p:nvSpPr>
            <p:cNvPr id="57482" name="Rectangle 3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83" name="Line 32"/>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84" name="Line 33"/>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85" name="Line 34"/>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486" name="Line 35"/>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487" name="Line 36"/>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488" name="Line 37"/>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7351" name="Group 38"/>
          <p:cNvGrpSpPr/>
          <p:nvPr/>
        </p:nvGrpSpPr>
        <p:grpSpPr>
          <a:xfrm>
            <a:off x="1671638" y="4308475"/>
            <a:ext cx="1238250" cy="695325"/>
            <a:chOff x="856" y="1440"/>
            <a:chExt cx="1291" cy="667"/>
          </a:xfrm>
        </p:grpSpPr>
        <p:sp>
          <p:nvSpPr>
            <p:cNvPr id="57475" name="Rectangle 39"/>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76" name="Line 40"/>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77" name="Line 41"/>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78" name="Line 42"/>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479" name="Line 43"/>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480" name="Line 44"/>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481" name="Line 45"/>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7352" name="Group 46"/>
          <p:cNvGrpSpPr/>
          <p:nvPr/>
        </p:nvGrpSpPr>
        <p:grpSpPr>
          <a:xfrm>
            <a:off x="3157538" y="4308475"/>
            <a:ext cx="1238250" cy="695325"/>
            <a:chOff x="856" y="1440"/>
            <a:chExt cx="1291" cy="667"/>
          </a:xfrm>
        </p:grpSpPr>
        <p:sp>
          <p:nvSpPr>
            <p:cNvPr id="57468" name="Rectangle 47"/>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69" name="Line 48"/>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70" name="Line 49"/>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71" name="Line 50"/>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472" name="Line 51"/>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473" name="Line 52"/>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474" name="Line 53"/>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7353" name="Group 54"/>
          <p:cNvGrpSpPr/>
          <p:nvPr/>
        </p:nvGrpSpPr>
        <p:grpSpPr>
          <a:xfrm>
            <a:off x="4643438" y="4308475"/>
            <a:ext cx="1238250" cy="695325"/>
            <a:chOff x="856" y="1440"/>
            <a:chExt cx="1291" cy="667"/>
          </a:xfrm>
        </p:grpSpPr>
        <p:sp>
          <p:nvSpPr>
            <p:cNvPr id="57461" name="Rectangle 5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62" name="Line 5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63" name="Line 5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64" name="Line 5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465" name="Line 5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466" name="Line 6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467" name="Line 6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7354" name="Group 70"/>
          <p:cNvGrpSpPr/>
          <p:nvPr/>
        </p:nvGrpSpPr>
        <p:grpSpPr>
          <a:xfrm>
            <a:off x="7616825" y="4308475"/>
            <a:ext cx="1238250" cy="695325"/>
            <a:chOff x="856" y="1440"/>
            <a:chExt cx="1291" cy="667"/>
          </a:xfrm>
        </p:grpSpPr>
        <p:sp>
          <p:nvSpPr>
            <p:cNvPr id="57454" name="Rectangle 71"/>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55" name="Line 72"/>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7456" name="Line 73"/>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7457" name="Line 74"/>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7458" name="Line 75"/>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7459" name="Line 76"/>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7460" name="Line 77"/>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7355" name="Text Box 78"/>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7356" name="Text Box 79"/>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357" name="Text Box 80"/>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7358" name="Text Box 81"/>
          <p:cNvSpPr txBox="1"/>
          <p:nvPr/>
        </p:nvSpPr>
        <p:spPr>
          <a:xfrm>
            <a:off x="1027113" y="4279900"/>
            <a:ext cx="400050"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57359" name="Text Box 82"/>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7360" name="Text Box 83"/>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57361" name="Text Box 84"/>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57362" name="Text Box 85"/>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57363" name="Text Box 86"/>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57364" name="Text Box 87"/>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7365" name="Text Box 88"/>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57366" name="Text Box 92"/>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7367" name="Text Box 93"/>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57368" name="Text Box 94"/>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7369" name="Text Box 95"/>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7370" name="Text Box 96"/>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7371" name="Line 98"/>
          <p:cNvSpPr/>
          <p:nvPr/>
        </p:nvSpPr>
        <p:spPr>
          <a:xfrm>
            <a:off x="6532563" y="3597275"/>
            <a:ext cx="1371600" cy="701675"/>
          </a:xfrm>
          <a:prstGeom prst="line">
            <a:avLst/>
          </a:prstGeom>
          <a:ln w="9525" cap="flat" cmpd="sng">
            <a:solidFill>
              <a:srgbClr val="FF0066"/>
            </a:solidFill>
            <a:prstDash val="solid"/>
            <a:headEnd type="none" w="med" len="med"/>
            <a:tailEnd type="triangle" w="med" len="med"/>
          </a:ln>
        </p:spPr>
      </p:sp>
      <p:sp>
        <p:nvSpPr>
          <p:cNvPr id="57372" name="Line 100"/>
          <p:cNvSpPr/>
          <p:nvPr/>
        </p:nvSpPr>
        <p:spPr>
          <a:xfrm flipH="1">
            <a:off x="4978400" y="3597275"/>
            <a:ext cx="887413" cy="701675"/>
          </a:xfrm>
          <a:prstGeom prst="line">
            <a:avLst/>
          </a:prstGeom>
          <a:ln w="9525" cap="flat" cmpd="sng">
            <a:solidFill>
              <a:srgbClr val="FF0066"/>
            </a:solidFill>
            <a:prstDash val="solid"/>
            <a:headEnd type="none" w="med" len="med"/>
            <a:tailEnd type="triangle" w="med" len="med"/>
          </a:ln>
        </p:spPr>
      </p:sp>
      <p:sp>
        <p:nvSpPr>
          <p:cNvPr id="57373" name="Line 101"/>
          <p:cNvSpPr/>
          <p:nvPr/>
        </p:nvSpPr>
        <p:spPr>
          <a:xfrm flipH="1">
            <a:off x="3749675" y="3606800"/>
            <a:ext cx="1711325" cy="692150"/>
          </a:xfrm>
          <a:prstGeom prst="line">
            <a:avLst/>
          </a:prstGeom>
          <a:ln w="9525" cap="flat" cmpd="sng">
            <a:solidFill>
              <a:srgbClr val="FF0066"/>
            </a:solidFill>
            <a:prstDash val="solid"/>
            <a:headEnd type="none" w="med" len="med"/>
            <a:tailEnd type="triangle" w="med" len="med"/>
          </a:ln>
        </p:spPr>
      </p:sp>
      <p:grpSp>
        <p:nvGrpSpPr>
          <p:cNvPr id="57374" name="Group 102"/>
          <p:cNvGrpSpPr/>
          <p:nvPr/>
        </p:nvGrpSpPr>
        <p:grpSpPr>
          <a:xfrm>
            <a:off x="666750" y="3600450"/>
            <a:ext cx="1606550" cy="704850"/>
            <a:chOff x="420" y="2502"/>
            <a:chExt cx="1012" cy="626"/>
          </a:xfrm>
        </p:grpSpPr>
        <p:sp>
          <p:nvSpPr>
            <p:cNvPr id="57452" name="Line 103"/>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57453" name="Line 104"/>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57375" name="Group 105"/>
          <p:cNvGrpSpPr/>
          <p:nvPr/>
        </p:nvGrpSpPr>
        <p:grpSpPr>
          <a:xfrm>
            <a:off x="2338388" y="2403475"/>
            <a:ext cx="3227387" cy="627063"/>
            <a:chOff x="1473" y="1700"/>
            <a:chExt cx="2033" cy="625"/>
          </a:xfrm>
        </p:grpSpPr>
        <p:sp>
          <p:nvSpPr>
            <p:cNvPr id="57450" name="Line 106"/>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57451" name="Line 107"/>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57376" name="Line 108"/>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57377" name="Line 109"/>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57378" name="Line 110"/>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57379" name="Line 111"/>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57380" name="Line 112"/>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57381" name="Line 113"/>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57382" name="Line 114"/>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57383" name="Line 115"/>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57384" name="Line 116"/>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57385" name="Line 117"/>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57386" name="Line 118"/>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57387" name="Line 119"/>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57388" name="Line 120"/>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57389" name="Line 121"/>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57390" name="Line 127"/>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57391" name="Line 128"/>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grpSp>
        <p:nvGrpSpPr>
          <p:cNvPr id="57392" name="Group 129"/>
          <p:cNvGrpSpPr/>
          <p:nvPr/>
        </p:nvGrpSpPr>
        <p:grpSpPr>
          <a:xfrm>
            <a:off x="5353050" y="5530850"/>
            <a:ext cx="1238250" cy="695325"/>
            <a:chOff x="856" y="1440"/>
            <a:chExt cx="1291" cy="667"/>
          </a:xfrm>
        </p:grpSpPr>
        <p:sp>
          <p:nvSpPr>
            <p:cNvPr id="57443" name="Rectangle 130"/>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44" name="Line 131"/>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7445" name="Line 132"/>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7446" name="Line 133"/>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7447" name="Line 134"/>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7448" name="Line 135"/>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7449" name="Line 136"/>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7393" name="Text Box 137"/>
          <p:cNvSpPr txBox="1"/>
          <p:nvPr/>
        </p:nvSpPr>
        <p:spPr>
          <a:xfrm>
            <a:off x="53165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7394" name="Text Box 138"/>
          <p:cNvSpPr txBox="1"/>
          <p:nvPr/>
        </p:nvSpPr>
        <p:spPr>
          <a:xfrm>
            <a:off x="57356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57395" name="Line 139"/>
          <p:cNvSpPr/>
          <p:nvPr/>
        </p:nvSpPr>
        <p:spPr>
          <a:xfrm>
            <a:off x="5519738" y="6089650"/>
            <a:ext cx="0" cy="365125"/>
          </a:xfrm>
          <a:prstGeom prst="line">
            <a:avLst/>
          </a:prstGeom>
          <a:ln w="9525" cap="flat" cmpd="sng">
            <a:solidFill>
              <a:srgbClr val="FF3399"/>
            </a:solidFill>
            <a:prstDash val="solid"/>
            <a:headEnd type="none" w="med" len="med"/>
            <a:tailEnd type="triangle" w="med" len="med"/>
          </a:ln>
        </p:spPr>
      </p:sp>
      <p:sp>
        <p:nvSpPr>
          <p:cNvPr id="57396" name="Line 140"/>
          <p:cNvSpPr/>
          <p:nvPr/>
        </p:nvSpPr>
        <p:spPr>
          <a:xfrm>
            <a:off x="5799138" y="6089650"/>
            <a:ext cx="0" cy="365125"/>
          </a:xfrm>
          <a:prstGeom prst="line">
            <a:avLst/>
          </a:prstGeom>
          <a:ln w="9525" cap="flat" cmpd="sng">
            <a:solidFill>
              <a:srgbClr val="FF3399"/>
            </a:solidFill>
            <a:prstDash val="solid"/>
            <a:headEnd type="none" w="med" len="med"/>
            <a:tailEnd type="triangle" w="med" len="med"/>
          </a:ln>
        </p:spPr>
      </p:sp>
      <p:grpSp>
        <p:nvGrpSpPr>
          <p:cNvPr id="57397" name="Group 142"/>
          <p:cNvGrpSpPr/>
          <p:nvPr/>
        </p:nvGrpSpPr>
        <p:grpSpPr>
          <a:xfrm>
            <a:off x="6889750" y="5537200"/>
            <a:ext cx="1238250" cy="695325"/>
            <a:chOff x="856" y="1440"/>
            <a:chExt cx="1291" cy="667"/>
          </a:xfrm>
        </p:grpSpPr>
        <p:sp>
          <p:nvSpPr>
            <p:cNvPr id="57436" name="Rectangle 143"/>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37" name="Line 144"/>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7438" name="Line 145"/>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7439" name="Line 146"/>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7440" name="Line 147"/>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7441" name="Line 148"/>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7442" name="Line 149"/>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7398" name="Text Box 150"/>
          <p:cNvSpPr txBox="1"/>
          <p:nvPr/>
        </p:nvSpPr>
        <p:spPr>
          <a:xfrm>
            <a:off x="68532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57399" name="Text Box 151"/>
          <p:cNvSpPr txBox="1"/>
          <p:nvPr/>
        </p:nvSpPr>
        <p:spPr>
          <a:xfrm>
            <a:off x="72723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57400" name="Line 152"/>
          <p:cNvSpPr/>
          <p:nvPr/>
        </p:nvSpPr>
        <p:spPr>
          <a:xfrm>
            <a:off x="7056438" y="6096000"/>
            <a:ext cx="0" cy="365125"/>
          </a:xfrm>
          <a:prstGeom prst="line">
            <a:avLst/>
          </a:prstGeom>
          <a:ln w="38100" cap="flat" cmpd="sng">
            <a:solidFill>
              <a:srgbClr val="6666FF"/>
            </a:solidFill>
            <a:prstDash val="solid"/>
            <a:headEnd type="none" w="med" len="med"/>
            <a:tailEnd type="triangle" w="med" len="med"/>
          </a:ln>
        </p:spPr>
      </p:sp>
      <p:sp>
        <p:nvSpPr>
          <p:cNvPr id="57401" name="Line 153"/>
          <p:cNvSpPr/>
          <p:nvPr/>
        </p:nvSpPr>
        <p:spPr>
          <a:xfrm>
            <a:off x="7335838" y="6096000"/>
            <a:ext cx="0" cy="365125"/>
          </a:xfrm>
          <a:prstGeom prst="line">
            <a:avLst/>
          </a:prstGeom>
          <a:ln w="9525" cap="flat" cmpd="sng">
            <a:solidFill>
              <a:srgbClr val="FF3399"/>
            </a:solidFill>
            <a:prstDash val="solid"/>
            <a:headEnd type="none" w="med" len="med"/>
            <a:tailEnd type="triangle" w="med" len="med"/>
          </a:ln>
        </p:spPr>
      </p:sp>
      <p:sp>
        <p:nvSpPr>
          <p:cNvPr id="57402" name="Freeform 156"/>
          <p:cNvSpPr/>
          <p:nvPr/>
        </p:nvSpPr>
        <p:spPr>
          <a:xfrm>
            <a:off x="4891088" y="4832350"/>
            <a:ext cx="1033462" cy="914400"/>
          </a:xfrm>
          <a:custGeom>
            <a:avLst/>
            <a:gdLst/>
            <a:ahLst/>
            <a:cxnLst>
              <a:cxn ang="0">
                <a:pos x="830262" y="0"/>
              </a:cxn>
              <a:cxn ang="0">
                <a:pos x="922337" y="312738"/>
              </a:cxn>
              <a:cxn ang="0">
                <a:pos x="163512" y="600075"/>
              </a:cxn>
              <a:cxn ang="0">
                <a:pos x="46037" y="862013"/>
              </a:cxn>
              <a:cxn ang="0">
                <a:pos x="438150" y="914400"/>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7403" name="Freeform 158"/>
          <p:cNvSpPr/>
          <p:nvPr/>
        </p:nvSpPr>
        <p:spPr>
          <a:xfrm>
            <a:off x="5937250" y="3592513"/>
            <a:ext cx="227013" cy="1919287"/>
          </a:xfrm>
          <a:custGeom>
            <a:avLst/>
            <a:gdLst/>
            <a:ahLst/>
            <a:cxnLst>
              <a:cxn ang="0">
                <a:pos x="176213" y="0"/>
              </a:cxn>
              <a:cxn ang="0">
                <a:pos x="201613" y="547687"/>
              </a:cxn>
              <a:cxn ang="0">
                <a:pos x="19050" y="1109662"/>
              </a:cxn>
              <a:cxn ang="0">
                <a:pos x="84138" y="1919287"/>
              </a:cxn>
            </a:cxnLst>
            <a:rect l="0" t="0" r="0" b="0"/>
            <a:pathLst>
              <a:path w="143" h="1209">
                <a:moveTo>
                  <a:pt x="111" y="0"/>
                </a:moveTo>
                <a:cubicBezTo>
                  <a:pt x="127" y="114"/>
                  <a:pt x="143" y="229"/>
                  <a:pt x="127" y="345"/>
                </a:cubicBezTo>
                <a:cubicBezTo>
                  <a:pt x="111" y="461"/>
                  <a:pt x="24" y="555"/>
                  <a:pt x="12" y="699"/>
                </a:cubicBezTo>
                <a:cubicBezTo>
                  <a:pt x="0" y="843"/>
                  <a:pt x="26" y="1026"/>
                  <a:pt x="53" y="1209"/>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4" name="Group 160"/>
          <p:cNvGrpSpPr/>
          <p:nvPr/>
        </p:nvGrpSpPr>
        <p:grpSpPr>
          <a:xfrm>
            <a:off x="6059488" y="1919288"/>
            <a:ext cx="1238250" cy="695325"/>
            <a:chOff x="856" y="1440"/>
            <a:chExt cx="1291" cy="667"/>
          </a:xfrm>
        </p:grpSpPr>
        <p:sp>
          <p:nvSpPr>
            <p:cNvPr id="57429" name="Rectangle 161"/>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30" name="Line 162"/>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7431" name="Line 163"/>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7432" name="Line 164"/>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7433" name="Line 165"/>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7434" name="Line 166"/>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7435" name="Line 167"/>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436392" name="Text Box 168"/>
          <p:cNvSpPr txBox="1"/>
          <p:nvPr/>
        </p:nvSpPr>
        <p:spPr>
          <a:xfrm>
            <a:off x="6022975" y="19034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436393" name="Text Box 169"/>
          <p:cNvSpPr txBox="1"/>
          <p:nvPr/>
        </p:nvSpPr>
        <p:spPr>
          <a:xfrm>
            <a:off x="6442075" y="19034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grpSp>
        <p:nvGrpSpPr>
          <p:cNvPr id="15" name="Group 173"/>
          <p:cNvGrpSpPr/>
          <p:nvPr/>
        </p:nvGrpSpPr>
        <p:grpSpPr>
          <a:xfrm>
            <a:off x="7596188" y="1925638"/>
            <a:ext cx="1238250" cy="695325"/>
            <a:chOff x="856" y="1440"/>
            <a:chExt cx="1291" cy="667"/>
          </a:xfrm>
        </p:grpSpPr>
        <p:sp>
          <p:nvSpPr>
            <p:cNvPr id="57422" name="Rectangle 174"/>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423" name="Line 175"/>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7424" name="Line 176"/>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7425" name="Line 177"/>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7426" name="Line 178"/>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7427" name="Line 179"/>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7428" name="Line 180"/>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436405" name="Text Box 181"/>
          <p:cNvSpPr txBox="1"/>
          <p:nvPr/>
        </p:nvSpPr>
        <p:spPr>
          <a:xfrm>
            <a:off x="7559675" y="19097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436409" name="Freeform 185"/>
          <p:cNvSpPr/>
          <p:nvPr/>
        </p:nvSpPr>
        <p:spPr>
          <a:xfrm>
            <a:off x="3670300" y="2443163"/>
            <a:ext cx="2495550" cy="1854200"/>
          </a:xfrm>
          <a:custGeom>
            <a:avLst/>
            <a:gdLst/>
            <a:ahLst/>
            <a:cxnLst>
              <a:cxn ang="0">
                <a:pos x="2495550" y="0"/>
              </a:cxn>
              <a:cxn ang="0">
                <a:pos x="2286000" y="207963"/>
              </a:cxn>
              <a:cxn ang="0">
                <a:pos x="1658938" y="274638"/>
              </a:cxn>
              <a:cxn ang="0">
                <a:pos x="1136650" y="757238"/>
              </a:cxn>
              <a:cxn ang="0">
                <a:pos x="0" y="1854200"/>
              </a:cxn>
            </a:cxnLst>
            <a:rect l="0" t="0" r="0" b="0"/>
            <a:pathLst>
              <a:path w="1572" h="1168">
                <a:moveTo>
                  <a:pt x="1572" y="0"/>
                </a:moveTo>
                <a:cubicBezTo>
                  <a:pt x="1550" y="53"/>
                  <a:pt x="1528" y="102"/>
                  <a:pt x="1440" y="131"/>
                </a:cubicBezTo>
                <a:cubicBezTo>
                  <a:pt x="1352" y="160"/>
                  <a:pt x="1166" y="115"/>
                  <a:pt x="1045" y="173"/>
                </a:cubicBezTo>
                <a:cubicBezTo>
                  <a:pt x="924" y="231"/>
                  <a:pt x="890" y="311"/>
                  <a:pt x="716" y="477"/>
                </a:cubicBezTo>
                <a:cubicBezTo>
                  <a:pt x="542" y="643"/>
                  <a:pt x="149" y="1024"/>
                  <a:pt x="0" y="1168"/>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6411" name="Freeform 187"/>
          <p:cNvSpPr/>
          <p:nvPr/>
        </p:nvSpPr>
        <p:spPr>
          <a:xfrm>
            <a:off x="4833938" y="2443163"/>
            <a:ext cx="1671637" cy="1854200"/>
          </a:xfrm>
          <a:custGeom>
            <a:avLst/>
            <a:gdLst/>
            <a:ahLst/>
            <a:cxnLst>
              <a:cxn ang="0">
                <a:pos x="1671637" y="0"/>
              </a:cxn>
              <a:cxn ang="0">
                <a:pos x="1489075" y="258494"/>
              </a:cxn>
              <a:cxn ang="0">
                <a:pos x="587375" y="354601"/>
              </a:cxn>
              <a:cxn ang="0">
                <a:pos x="234950" y="763884"/>
              </a:cxn>
              <a:cxn ang="0">
                <a:pos x="0" y="1854200"/>
              </a:cxn>
            </a:cxnLst>
            <a:rect l="0" t="0" r="0" b="0"/>
            <a:pathLst>
              <a:path w="1053" h="1119">
                <a:moveTo>
                  <a:pt x="1053" y="0"/>
                </a:moveTo>
                <a:cubicBezTo>
                  <a:pt x="1052" y="60"/>
                  <a:pt x="1052" y="120"/>
                  <a:pt x="938" y="156"/>
                </a:cubicBezTo>
                <a:cubicBezTo>
                  <a:pt x="824" y="192"/>
                  <a:pt x="502" y="163"/>
                  <a:pt x="370" y="214"/>
                </a:cubicBezTo>
                <a:cubicBezTo>
                  <a:pt x="238" y="265"/>
                  <a:pt x="210" y="310"/>
                  <a:pt x="148" y="461"/>
                </a:cubicBezTo>
                <a:cubicBezTo>
                  <a:pt x="86" y="612"/>
                  <a:pt x="43" y="865"/>
                  <a:pt x="0" y="1119"/>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6412" name="Freeform 188"/>
          <p:cNvSpPr/>
          <p:nvPr/>
        </p:nvSpPr>
        <p:spPr>
          <a:xfrm>
            <a:off x="6243638" y="2481263"/>
            <a:ext cx="655637" cy="3017837"/>
          </a:xfrm>
          <a:custGeom>
            <a:avLst/>
            <a:gdLst/>
            <a:ahLst/>
            <a:cxnLst>
              <a:cxn ang="0">
                <a:pos x="561975" y="0"/>
              </a:cxn>
              <a:cxn ang="0">
                <a:pos x="641350" y="434094"/>
              </a:cxn>
              <a:cxn ang="0">
                <a:pos x="471487" y="1608232"/>
              </a:cxn>
              <a:cxn ang="0">
                <a:pos x="0" y="3017837"/>
              </a:cxn>
            </a:cxnLst>
            <a:rect l="0" t="0" r="0" b="0"/>
            <a:pathLst>
              <a:path w="413" h="1884">
                <a:moveTo>
                  <a:pt x="354" y="0"/>
                </a:moveTo>
                <a:cubicBezTo>
                  <a:pt x="383" y="52"/>
                  <a:pt x="413" y="104"/>
                  <a:pt x="404" y="271"/>
                </a:cubicBezTo>
                <a:cubicBezTo>
                  <a:pt x="395" y="438"/>
                  <a:pt x="364" y="735"/>
                  <a:pt x="297" y="1004"/>
                </a:cubicBezTo>
                <a:cubicBezTo>
                  <a:pt x="230" y="1273"/>
                  <a:pt x="115" y="1578"/>
                  <a:pt x="0" y="1884"/>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6413" name="Freeform 189"/>
          <p:cNvSpPr/>
          <p:nvPr/>
        </p:nvSpPr>
        <p:spPr>
          <a:xfrm>
            <a:off x="7045325" y="2481263"/>
            <a:ext cx="701675" cy="3044825"/>
          </a:xfrm>
          <a:custGeom>
            <a:avLst/>
            <a:gdLst/>
            <a:ahLst/>
            <a:cxnLst>
              <a:cxn ang="0">
                <a:pos x="701675" y="0"/>
              </a:cxn>
              <a:cxn ang="0">
                <a:pos x="361950" y="901700"/>
              </a:cxn>
              <a:cxn ang="0">
                <a:pos x="34925" y="1998663"/>
              </a:cxn>
              <a:cxn ang="0">
                <a:pos x="152400" y="3044825"/>
              </a:cxn>
            </a:cxnLst>
            <a:rect l="0" t="0" r="0" b="0"/>
            <a:pathLst>
              <a:path w="442" h="1918">
                <a:moveTo>
                  <a:pt x="442" y="0"/>
                </a:moveTo>
                <a:cubicBezTo>
                  <a:pt x="370" y="179"/>
                  <a:pt x="298" y="358"/>
                  <a:pt x="228" y="568"/>
                </a:cubicBezTo>
                <a:cubicBezTo>
                  <a:pt x="158" y="778"/>
                  <a:pt x="44" y="1034"/>
                  <a:pt x="22" y="1259"/>
                </a:cubicBezTo>
                <a:cubicBezTo>
                  <a:pt x="0" y="1484"/>
                  <a:pt x="48" y="1701"/>
                  <a:pt x="96" y="1918"/>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6414" name="Freeform 190"/>
          <p:cNvSpPr/>
          <p:nvPr/>
        </p:nvSpPr>
        <p:spPr>
          <a:xfrm>
            <a:off x="8072438" y="2468563"/>
            <a:ext cx="133350" cy="1828800"/>
          </a:xfrm>
          <a:custGeom>
            <a:avLst/>
            <a:gdLst/>
            <a:ahLst/>
            <a:cxnLst>
              <a:cxn ang="0">
                <a:pos x="0" y="0"/>
              </a:cxn>
              <a:cxn ang="0">
                <a:pos x="117475" y="784225"/>
              </a:cxn>
              <a:cxn ang="0">
                <a:pos x="92075" y="1501775"/>
              </a:cxn>
              <a:cxn ang="0">
                <a:pos x="52388" y="1828800"/>
              </a:cxn>
            </a:cxnLst>
            <a:rect l="0" t="0" r="0" b="0"/>
            <a:pathLst>
              <a:path w="84" h="1152">
                <a:moveTo>
                  <a:pt x="0" y="0"/>
                </a:moveTo>
                <a:cubicBezTo>
                  <a:pt x="32" y="168"/>
                  <a:pt x="64" y="336"/>
                  <a:pt x="74" y="494"/>
                </a:cubicBezTo>
                <a:cubicBezTo>
                  <a:pt x="84" y="652"/>
                  <a:pt x="65" y="836"/>
                  <a:pt x="58" y="946"/>
                </a:cubicBezTo>
                <a:cubicBezTo>
                  <a:pt x="51" y="1056"/>
                  <a:pt x="42" y="1104"/>
                  <a:pt x="33" y="1152"/>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6415" name="Text Box 191"/>
          <p:cNvSpPr txBox="1"/>
          <p:nvPr/>
        </p:nvSpPr>
        <p:spPr>
          <a:xfrm>
            <a:off x="3525838" y="18446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40</a:t>
            </a:r>
          </a:p>
        </p:txBody>
      </p:sp>
      <p:sp>
        <p:nvSpPr>
          <p:cNvPr id="436416" name="Freeform 192"/>
          <p:cNvSpPr/>
          <p:nvPr/>
        </p:nvSpPr>
        <p:spPr>
          <a:xfrm>
            <a:off x="3656013" y="1589088"/>
            <a:ext cx="2992437" cy="1052512"/>
          </a:xfrm>
          <a:custGeom>
            <a:avLst/>
            <a:gdLst/>
            <a:ahLst/>
            <a:cxnLst>
              <a:cxn ang="0">
                <a:pos x="0" y="762000"/>
              </a:cxn>
              <a:cxn ang="0">
                <a:pos x="1096962" y="944562"/>
              </a:cxn>
              <a:cxn ang="0">
                <a:pos x="2547937" y="109537"/>
              </a:cxn>
              <a:cxn ang="0">
                <a:pos x="2992437" y="292100"/>
              </a:cxn>
            </a:cxnLst>
            <a:rect l="0" t="0" r="0" b="0"/>
            <a:pathLst>
              <a:path w="1885" h="663">
                <a:moveTo>
                  <a:pt x="0" y="480"/>
                </a:moveTo>
                <a:cubicBezTo>
                  <a:pt x="115" y="499"/>
                  <a:pt x="424" y="663"/>
                  <a:pt x="691" y="595"/>
                </a:cubicBezTo>
                <a:cubicBezTo>
                  <a:pt x="958" y="527"/>
                  <a:pt x="1406" y="138"/>
                  <a:pt x="1605" y="69"/>
                </a:cubicBezTo>
                <a:cubicBezTo>
                  <a:pt x="1804" y="0"/>
                  <a:pt x="1850" y="89"/>
                  <a:pt x="1885" y="184"/>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6417" name="Freeform 193"/>
          <p:cNvSpPr/>
          <p:nvPr/>
        </p:nvSpPr>
        <p:spPr>
          <a:xfrm>
            <a:off x="3970338" y="1389063"/>
            <a:ext cx="3932237" cy="1123950"/>
          </a:xfrm>
          <a:custGeom>
            <a:avLst/>
            <a:gdLst/>
            <a:ahLst/>
            <a:cxnLst>
              <a:cxn ang="0">
                <a:pos x="0" y="884238"/>
              </a:cxn>
              <a:cxn ang="0">
                <a:pos x="536575" y="989013"/>
              </a:cxn>
              <a:cxn ang="0">
                <a:pos x="2405062" y="74613"/>
              </a:cxn>
              <a:cxn ang="0">
                <a:pos x="3932237" y="544513"/>
              </a:cxn>
            </a:cxnLst>
            <a:rect l="0" t="0" r="0" b="0"/>
            <a:pathLst>
              <a:path w="2477" h="708">
                <a:moveTo>
                  <a:pt x="0" y="557"/>
                </a:moveTo>
                <a:cubicBezTo>
                  <a:pt x="42" y="632"/>
                  <a:pt x="85" y="708"/>
                  <a:pt x="338" y="623"/>
                </a:cubicBezTo>
                <a:cubicBezTo>
                  <a:pt x="591" y="538"/>
                  <a:pt x="1159" y="94"/>
                  <a:pt x="1515" y="47"/>
                </a:cubicBezTo>
                <a:cubicBezTo>
                  <a:pt x="1871" y="0"/>
                  <a:pt x="2174" y="171"/>
                  <a:pt x="2477" y="343"/>
                </a:cubicBezTo>
              </a:path>
            </a:pathLst>
          </a:custGeom>
          <a:noFill/>
          <a:ln w="9525"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7417" name="Text Box 195"/>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进行中</a:t>
            </a:r>
          </a:p>
        </p:txBody>
      </p:sp>
      <p:sp>
        <p:nvSpPr>
          <p:cNvPr id="436420" name="Text Box 196"/>
          <p:cNvSpPr txBox="1"/>
          <p:nvPr/>
        </p:nvSpPr>
        <p:spPr>
          <a:xfrm>
            <a:off x="292100" y="5257800"/>
            <a:ext cx="4725988" cy="155575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寻找指向新叶子结点的非叶结点</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应插入结点已满，则申请新结点</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同时调整应插入但未插入结点的键值记录，使其均衡存放于两个非叶结点中</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分裂</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(8)</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调整各结点指针使其指向正确</a:t>
            </a:r>
          </a:p>
        </p:txBody>
      </p:sp>
      <p:sp>
        <p:nvSpPr>
          <p:cNvPr id="57419" name="Line 197"/>
          <p:cNvSpPr/>
          <p:nvPr/>
        </p:nvSpPr>
        <p:spPr>
          <a:xfrm>
            <a:off x="6499225" y="6065838"/>
            <a:ext cx="377825" cy="0"/>
          </a:xfrm>
          <a:prstGeom prst="line">
            <a:avLst/>
          </a:prstGeom>
          <a:ln w="38100" cap="flat" cmpd="sng">
            <a:solidFill>
              <a:srgbClr val="6666FF"/>
            </a:solidFill>
            <a:prstDash val="solid"/>
            <a:headEnd type="none" w="med" len="med"/>
            <a:tailEnd type="triangle" w="med" len="med"/>
          </a:ln>
        </p:spPr>
      </p:sp>
      <p:sp>
        <p:nvSpPr>
          <p:cNvPr id="57420" name="Freeform 198"/>
          <p:cNvSpPr/>
          <p:nvPr/>
        </p:nvSpPr>
        <p:spPr>
          <a:xfrm>
            <a:off x="7424738" y="4872038"/>
            <a:ext cx="947737" cy="1198562"/>
          </a:xfrm>
          <a:custGeom>
            <a:avLst/>
            <a:gdLst/>
            <a:ahLst/>
            <a:cxnLst>
              <a:cxn ang="0">
                <a:pos x="549275" y="1198562"/>
              </a:cxn>
              <a:cxn ang="0">
                <a:pos x="922337" y="947737"/>
              </a:cxn>
              <a:cxn ang="0">
                <a:pos x="700087" y="533400"/>
              </a:cxn>
              <a:cxn ang="0">
                <a:pos x="152400" y="411162"/>
              </a:cxn>
              <a:cxn ang="0">
                <a:pos x="7937" y="122237"/>
              </a:cxn>
              <a:cxn ang="0">
                <a:pos x="203200"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7421"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B+树之键值插入与结点分裂过程示意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插入过程及分裂过程示意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6420">
                                            <p:txEl>
                                              <p:pRg st="0" end="0"/>
                                            </p:txEl>
                                          </p:spTgt>
                                        </p:tgtEl>
                                        <p:attrNameLst>
                                          <p:attrName>style.visibility</p:attrName>
                                        </p:attrNameLst>
                                      </p:cBhvr>
                                      <p:to>
                                        <p:strVal val="visible"/>
                                      </p:to>
                                    </p:set>
                                    <p:anim calcmode="lin" valueType="num">
                                      <p:cBhvr additive="base">
                                        <p:cTn id="7" dur="500" fill="hold"/>
                                        <p:tgtEl>
                                          <p:spTgt spid="4364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642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6420">
                                            <p:txEl>
                                              <p:pRg st="1" end="1"/>
                                            </p:txEl>
                                          </p:spTgt>
                                        </p:tgtEl>
                                        <p:attrNameLst>
                                          <p:attrName>style.visibility</p:attrName>
                                        </p:attrNameLst>
                                      </p:cBhvr>
                                      <p:to>
                                        <p:strVal val="visible"/>
                                      </p:to>
                                    </p:set>
                                    <p:anim calcmode="lin" valueType="num">
                                      <p:cBhvr additive="base">
                                        <p:cTn id="11" dur="500" fill="hold"/>
                                        <p:tgtEl>
                                          <p:spTgt spid="43642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642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36420">
                                            <p:txEl>
                                              <p:pRg st="2" end="2"/>
                                            </p:txEl>
                                          </p:spTgt>
                                        </p:tgtEl>
                                        <p:attrNameLst>
                                          <p:attrName>style.visibility</p:attrName>
                                        </p:attrNameLst>
                                      </p:cBhvr>
                                      <p:to>
                                        <p:strVal val="visible"/>
                                      </p:to>
                                    </p:set>
                                    <p:anim calcmode="lin" valueType="num">
                                      <p:cBhvr additive="base">
                                        <p:cTn id="15" dur="500" fill="hold"/>
                                        <p:tgtEl>
                                          <p:spTgt spid="43642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364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36392"/>
                                        </p:tgtEl>
                                        <p:attrNameLst>
                                          <p:attrName>style.visibility</p:attrName>
                                        </p:attrNameLst>
                                      </p:cBhvr>
                                      <p:to>
                                        <p:strVal val="visible"/>
                                      </p:to>
                                    </p:set>
                                    <p:anim calcmode="lin" valueType="num">
                                      <p:cBhvr additive="base">
                                        <p:cTn id="25" dur="500" fill="hold"/>
                                        <p:tgtEl>
                                          <p:spTgt spid="436392"/>
                                        </p:tgtEl>
                                        <p:attrNameLst>
                                          <p:attrName>ppt_x</p:attrName>
                                        </p:attrNameLst>
                                      </p:cBhvr>
                                      <p:tavLst>
                                        <p:tav tm="0">
                                          <p:val>
                                            <p:strVal val="#ppt_x"/>
                                          </p:val>
                                        </p:tav>
                                        <p:tav tm="100000">
                                          <p:val>
                                            <p:strVal val="#ppt_x"/>
                                          </p:val>
                                        </p:tav>
                                      </p:tavLst>
                                    </p:anim>
                                    <p:anim calcmode="lin" valueType="num">
                                      <p:cBhvr additive="base">
                                        <p:cTn id="26" dur="500" fill="hold"/>
                                        <p:tgtEl>
                                          <p:spTgt spid="43639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36393"/>
                                        </p:tgtEl>
                                        <p:attrNameLst>
                                          <p:attrName>style.visibility</p:attrName>
                                        </p:attrNameLst>
                                      </p:cBhvr>
                                      <p:to>
                                        <p:strVal val="visible"/>
                                      </p:to>
                                    </p:set>
                                    <p:anim calcmode="lin" valueType="num">
                                      <p:cBhvr additive="base">
                                        <p:cTn id="29" dur="500" fill="hold"/>
                                        <p:tgtEl>
                                          <p:spTgt spid="436393"/>
                                        </p:tgtEl>
                                        <p:attrNameLst>
                                          <p:attrName>ppt_x</p:attrName>
                                        </p:attrNameLst>
                                      </p:cBhvr>
                                      <p:tavLst>
                                        <p:tav tm="0">
                                          <p:val>
                                            <p:strVal val="#ppt_x"/>
                                          </p:val>
                                        </p:tav>
                                        <p:tav tm="100000">
                                          <p:val>
                                            <p:strVal val="#ppt_x"/>
                                          </p:val>
                                        </p:tav>
                                      </p:tavLst>
                                    </p:anim>
                                    <p:anim calcmode="lin" valueType="num">
                                      <p:cBhvr additive="base">
                                        <p:cTn id="30" dur="500" fill="hold"/>
                                        <p:tgtEl>
                                          <p:spTgt spid="43639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36405"/>
                                        </p:tgtEl>
                                        <p:attrNameLst>
                                          <p:attrName>style.visibility</p:attrName>
                                        </p:attrNameLst>
                                      </p:cBhvr>
                                      <p:to>
                                        <p:strVal val="visible"/>
                                      </p:to>
                                    </p:set>
                                    <p:anim calcmode="lin" valueType="num">
                                      <p:cBhvr additive="base">
                                        <p:cTn id="37" dur="500" fill="hold"/>
                                        <p:tgtEl>
                                          <p:spTgt spid="436405"/>
                                        </p:tgtEl>
                                        <p:attrNameLst>
                                          <p:attrName>ppt_x</p:attrName>
                                        </p:attrNameLst>
                                      </p:cBhvr>
                                      <p:tavLst>
                                        <p:tav tm="0">
                                          <p:val>
                                            <p:strVal val="#ppt_x"/>
                                          </p:val>
                                        </p:tav>
                                        <p:tav tm="100000">
                                          <p:val>
                                            <p:strVal val="#ppt_x"/>
                                          </p:val>
                                        </p:tav>
                                      </p:tavLst>
                                    </p:anim>
                                    <p:anim calcmode="lin" valueType="num">
                                      <p:cBhvr additive="base">
                                        <p:cTn id="38" dur="500" fill="hold"/>
                                        <p:tgtEl>
                                          <p:spTgt spid="43640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36417"/>
                                        </p:tgtEl>
                                        <p:attrNameLst>
                                          <p:attrName>style.visibility</p:attrName>
                                        </p:attrNameLst>
                                      </p:cBhvr>
                                      <p:to>
                                        <p:strVal val="visible"/>
                                      </p:to>
                                    </p:set>
                                    <p:anim calcmode="lin" valueType="num">
                                      <p:cBhvr additive="base">
                                        <p:cTn id="43" dur="500" fill="hold"/>
                                        <p:tgtEl>
                                          <p:spTgt spid="436417"/>
                                        </p:tgtEl>
                                        <p:attrNameLst>
                                          <p:attrName>ppt_x</p:attrName>
                                        </p:attrNameLst>
                                      </p:cBhvr>
                                      <p:tavLst>
                                        <p:tav tm="0">
                                          <p:val>
                                            <p:strVal val="#ppt_x"/>
                                          </p:val>
                                        </p:tav>
                                        <p:tav tm="100000">
                                          <p:val>
                                            <p:strVal val="#ppt_x"/>
                                          </p:val>
                                        </p:tav>
                                      </p:tavLst>
                                    </p:anim>
                                    <p:anim calcmode="lin" valueType="num">
                                      <p:cBhvr additive="base">
                                        <p:cTn id="44" dur="500" fill="hold"/>
                                        <p:tgtEl>
                                          <p:spTgt spid="436417"/>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36416"/>
                                        </p:tgtEl>
                                        <p:attrNameLst>
                                          <p:attrName>style.visibility</p:attrName>
                                        </p:attrNameLst>
                                      </p:cBhvr>
                                      <p:to>
                                        <p:strVal val="visible"/>
                                      </p:to>
                                    </p:set>
                                    <p:anim calcmode="lin" valueType="num">
                                      <p:cBhvr additive="base">
                                        <p:cTn id="47" dur="500" fill="hold"/>
                                        <p:tgtEl>
                                          <p:spTgt spid="436416"/>
                                        </p:tgtEl>
                                        <p:attrNameLst>
                                          <p:attrName>ppt_x</p:attrName>
                                        </p:attrNameLst>
                                      </p:cBhvr>
                                      <p:tavLst>
                                        <p:tav tm="0">
                                          <p:val>
                                            <p:strVal val="#ppt_x"/>
                                          </p:val>
                                        </p:tav>
                                        <p:tav tm="100000">
                                          <p:val>
                                            <p:strVal val="#ppt_x"/>
                                          </p:val>
                                        </p:tav>
                                      </p:tavLst>
                                    </p:anim>
                                    <p:anim calcmode="lin" valueType="num">
                                      <p:cBhvr additive="base">
                                        <p:cTn id="48" dur="500" fill="hold"/>
                                        <p:tgtEl>
                                          <p:spTgt spid="43641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6415"/>
                                        </p:tgtEl>
                                        <p:attrNameLst>
                                          <p:attrName>style.visibility</p:attrName>
                                        </p:attrNameLst>
                                      </p:cBhvr>
                                      <p:to>
                                        <p:strVal val="visible"/>
                                      </p:to>
                                    </p:set>
                                    <p:anim calcmode="lin" valueType="num">
                                      <p:cBhvr additive="base">
                                        <p:cTn id="51" dur="500" fill="hold"/>
                                        <p:tgtEl>
                                          <p:spTgt spid="436415"/>
                                        </p:tgtEl>
                                        <p:attrNameLst>
                                          <p:attrName>ppt_x</p:attrName>
                                        </p:attrNameLst>
                                      </p:cBhvr>
                                      <p:tavLst>
                                        <p:tav tm="0">
                                          <p:val>
                                            <p:strVal val="#ppt_x"/>
                                          </p:val>
                                        </p:tav>
                                        <p:tav tm="100000">
                                          <p:val>
                                            <p:strVal val="#ppt_x"/>
                                          </p:val>
                                        </p:tav>
                                      </p:tavLst>
                                    </p:anim>
                                    <p:anim calcmode="lin" valueType="num">
                                      <p:cBhvr additive="base">
                                        <p:cTn id="52" dur="500" fill="hold"/>
                                        <p:tgtEl>
                                          <p:spTgt spid="43641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36420">
                                            <p:txEl>
                                              <p:pRg st="3" end="3"/>
                                            </p:txEl>
                                          </p:spTgt>
                                        </p:tgtEl>
                                        <p:attrNameLst>
                                          <p:attrName>style.visibility</p:attrName>
                                        </p:attrNameLst>
                                      </p:cBhvr>
                                      <p:to>
                                        <p:strVal val="visible"/>
                                      </p:to>
                                    </p:set>
                                    <p:anim calcmode="lin" valueType="num">
                                      <p:cBhvr additive="base">
                                        <p:cTn id="57" dur="500" fill="hold"/>
                                        <p:tgtEl>
                                          <p:spTgt spid="436420">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3642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36412"/>
                                        </p:tgtEl>
                                        <p:attrNameLst>
                                          <p:attrName>style.visibility</p:attrName>
                                        </p:attrNameLst>
                                      </p:cBhvr>
                                      <p:to>
                                        <p:strVal val="visible"/>
                                      </p:to>
                                    </p:set>
                                    <p:anim calcmode="lin" valueType="num">
                                      <p:cBhvr additive="base">
                                        <p:cTn id="63" dur="500" fill="hold"/>
                                        <p:tgtEl>
                                          <p:spTgt spid="436412"/>
                                        </p:tgtEl>
                                        <p:attrNameLst>
                                          <p:attrName>ppt_x</p:attrName>
                                        </p:attrNameLst>
                                      </p:cBhvr>
                                      <p:tavLst>
                                        <p:tav tm="0">
                                          <p:val>
                                            <p:strVal val="#ppt_x"/>
                                          </p:val>
                                        </p:tav>
                                        <p:tav tm="100000">
                                          <p:val>
                                            <p:strVal val="#ppt_x"/>
                                          </p:val>
                                        </p:tav>
                                      </p:tavLst>
                                    </p:anim>
                                    <p:anim calcmode="lin" valueType="num">
                                      <p:cBhvr additive="base">
                                        <p:cTn id="64" dur="500" fill="hold"/>
                                        <p:tgtEl>
                                          <p:spTgt spid="436412"/>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36411"/>
                                        </p:tgtEl>
                                        <p:attrNameLst>
                                          <p:attrName>style.visibility</p:attrName>
                                        </p:attrNameLst>
                                      </p:cBhvr>
                                      <p:to>
                                        <p:strVal val="visible"/>
                                      </p:to>
                                    </p:set>
                                    <p:anim calcmode="lin" valueType="num">
                                      <p:cBhvr additive="base">
                                        <p:cTn id="67" dur="500" fill="hold"/>
                                        <p:tgtEl>
                                          <p:spTgt spid="436411"/>
                                        </p:tgtEl>
                                        <p:attrNameLst>
                                          <p:attrName>ppt_x</p:attrName>
                                        </p:attrNameLst>
                                      </p:cBhvr>
                                      <p:tavLst>
                                        <p:tav tm="0">
                                          <p:val>
                                            <p:strVal val="#ppt_x"/>
                                          </p:val>
                                        </p:tav>
                                        <p:tav tm="100000">
                                          <p:val>
                                            <p:strVal val="#ppt_x"/>
                                          </p:val>
                                        </p:tav>
                                      </p:tavLst>
                                    </p:anim>
                                    <p:anim calcmode="lin" valueType="num">
                                      <p:cBhvr additive="base">
                                        <p:cTn id="68" dur="500" fill="hold"/>
                                        <p:tgtEl>
                                          <p:spTgt spid="436411"/>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36409"/>
                                        </p:tgtEl>
                                        <p:attrNameLst>
                                          <p:attrName>style.visibility</p:attrName>
                                        </p:attrNameLst>
                                      </p:cBhvr>
                                      <p:to>
                                        <p:strVal val="visible"/>
                                      </p:to>
                                    </p:set>
                                    <p:anim calcmode="lin" valueType="num">
                                      <p:cBhvr additive="base">
                                        <p:cTn id="71" dur="500" fill="hold"/>
                                        <p:tgtEl>
                                          <p:spTgt spid="436409"/>
                                        </p:tgtEl>
                                        <p:attrNameLst>
                                          <p:attrName>ppt_x</p:attrName>
                                        </p:attrNameLst>
                                      </p:cBhvr>
                                      <p:tavLst>
                                        <p:tav tm="0">
                                          <p:val>
                                            <p:strVal val="#ppt_x"/>
                                          </p:val>
                                        </p:tav>
                                        <p:tav tm="100000">
                                          <p:val>
                                            <p:strVal val="#ppt_x"/>
                                          </p:val>
                                        </p:tav>
                                      </p:tavLst>
                                    </p:anim>
                                    <p:anim calcmode="lin" valueType="num">
                                      <p:cBhvr additive="base">
                                        <p:cTn id="72" dur="500" fill="hold"/>
                                        <p:tgtEl>
                                          <p:spTgt spid="43640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436414"/>
                                        </p:tgtEl>
                                        <p:attrNameLst>
                                          <p:attrName>style.visibility</p:attrName>
                                        </p:attrNameLst>
                                      </p:cBhvr>
                                      <p:to>
                                        <p:strVal val="visible"/>
                                      </p:to>
                                    </p:set>
                                    <p:anim calcmode="lin" valueType="num">
                                      <p:cBhvr additive="base">
                                        <p:cTn id="77" dur="500" fill="hold"/>
                                        <p:tgtEl>
                                          <p:spTgt spid="436414"/>
                                        </p:tgtEl>
                                        <p:attrNameLst>
                                          <p:attrName>ppt_x</p:attrName>
                                        </p:attrNameLst>
                                      </p:cBhvr>
                                      <p:tavLst>
                                        <p:tav tm="0">
                                          <p:val>
                                            <p:strVal val="#ppt_x"/>
                                          </p:val>
                                        </p:tav>
                                        <p:tav tm="100000">
                                          <p:val>
                                            <p:strVal val="#ppt_x"/>
                                          </p:val>
                                        </p:tav>
                                      </p:tavLst>
                                    </p:anim>
                                    <p:anim calcmode="lin" valueType="num">
                                      <p:cBhvr additive="base">
                                        <p:cTn id="78" dur="500" fill="hold"/>
                                        <p:tgtEl>
                                          <p:spTgt spid="436414"/>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436413"/>
                                        </p:tgtEl>
                                        <p:attrNameLst>
                                          <p:attrName>style.visibility</p:attrName>
                                        </p:attrNameLst>
                                      </p:cBhvr>
                                      <p:to>
                                        <p:strVal val="visible"/>
                                      </p:to>
                                    </p:set>
                                    <p:anim calcmode="lin" valueType="num">
                                      <p:cBhvr additive="base">
                                        <p:cTn id="81" dur="500" fill="hold"/>
                                        <p:tgtEl>
                                          <p:spTgt spid="436413"/>
                                        </p:tgtEl>
                                        <p:attrNameLst>
                                          <p:attrName>ppt_x</p:attrName>
                                        </p:attrNameLst>
                                      </p:cBhvr>
                                      <p:tavLst>
                                        <p:tav tm="0">
                                          <p:val>
                                            <p:strVal val="#ppt_x"/>
                                          </p:val>
                                        </p:tav>
                                        <p:tav tm="100000">
                                          <p:val>
                                            <p:strVal val="#ppt_x"/>
                                          </p:val>
                                        </p:tav>
                                      </p:tavLst>
                                    </p:anim>
                                    <p:anim calcmode="lin" valueType="num">
                                      <p:cBhvr additive="base">
                                        <p:cTn id="82" dur="500" fill="hold"/>
                                        <p:tgtEl>
                                          <p:spTgt spid="436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392" grpId="0"/>
      <p:bldP spid="436393" grpId="0"/>
      <p:bldP spid="436405" grpId="0"/>
      <p:bldP spid="4364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4"/>
          <p:cNvGrpSpPr/>
          <p:nvPr/>
        </p:nvGrpSpPr>
        <p:grpSpPr>
          <a:xfrm>
            <a:off x="3157538" y="1870075"/>
            <a:ext cx="1238250" cy="695325"/>
            <a:chOff x="856" y="1440"/>
            <a:chExt cx="1291" cy="667"/>
          </a:xfrm>
        </p:grpSpPr>
        <p:sp>
          <p:nvSpPr>
            <p:cNvPr id="58509"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510" name="Line 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511" name="Line 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512" name="Line 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513" name="Line 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514" name="Line 1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515" name="Line 1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8371" name="Text Box 12"/>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58372" name="Group 13"/>
          <p:cNvGrpSpPr/>
          <p:nvPr/>
        </p:nvGrpSpPr>
        <p:grpSpPr>
          <a:xfrm>
            <a:off x="1844675" y="3032125"/>
            <a:ext cx="1238250" cy="695325"/>
            <a:chOff x="856" y="1440"/>
            <a:chExt cx="1291" cy="667"/>
          </a:xfrm>
        </p:grpSpPr>
        <p:sp>
          <p:nvSpPr>
            <p:cNvPr id="58502"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503" name="Line 1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504" name="Line 1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505" name="Line 1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506" name="Line 1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507" name="Line 1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508" name="Line 2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8373" name="Group 29"/>
          <p:cNvGrpSpPr/>
          <p:nvPr/>
        </p:nvGrpSpPr>
        <p:grpSpPr>
          <a:xfrm>
            <a:off x="185738" y="4308475"/>
            <a:ext cx="1238250" cy="695325"/>
            <a:chOff x="856" y="1440"/>
            <a:chExt cx="1291" cy="667"/>
          </a:xfrm>
        </p:grpSpPr>
        <p:sp>
          <p:nvSpPr>
            <p:cNvPr id="58495"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96" name="Line 3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497" name="Line 3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498" name="Line 3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499" name="Line 3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500" name="Line 3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501" name="Line 3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8374" name="Group 37"/>
          <p:cNvGrpSpPr/>
          <p:nvPr/>
        </p:nvGrpSpPr>
        <p:grpSpPr>
          <a:xfrm>
            <a:off x="1671638" y="4308475"/>
            <a:ext cx="1238250" cy="695325"/>
            <a:chOff x="856" y="1440"/>
            <a:chExt cx="1291" cy="667"/>
          </a:xfrm>
        </p:grpSpPr>
        <p:sp>
          <p:nvSpPr>
            <p:cNvPr id="58488"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89" name="Line 3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490" name="Line 4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491" name="Line 4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492" name="Line 4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493" name="Line 4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494" name="Line 4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8375" name="Group 45"/>
          <p:cNvGrpSpPr/>
          <p:nvPr/>
        </p:nvGrpSpPr>
        <p:grpSpPr>
          <a:xfrm>
            <a:off x="3157538" y="4308475"/>
            <a:ext cx="1238250" cy="695325"/>
            <a:chOff x="856" y="1440"/>
            <a:chExt cx="1291" cy="667"/>
          </a:xfrm>
        </p:grpSpPr>
        <p:sp>
          <p:nvSpPr>
            <p:cNvPr id="58481"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82" name="Line 4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483" name="Line 4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484" name="Line 4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485" name="Line 5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486" name="Line 5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487" name="Line 5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8376" name="Group 53"/>
          <p:cNvGrpSpPr/>
          <p:nvPr/>
        </p:nvGrpSpPr>
        <p:grpSpPr>
          <a:xfrm>
            <a:off x="4643438" y="4308475"/>
            <a:ext cx="1238250" cy="695325"/>
            <a:chOff x="856" y="1440"/>
            <a:chExt cx="1291" cy="667"/>
          </a:xfrm>
        </p:grpSpPr>
        <p:sp>
          <p:nvSpPr>
            <p:cNvPr id="58474"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75" name="Line 5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476" name="Line 5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477" name="Line 5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478" name="Line 5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479" name="Line 5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480" name="Line 6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8377" name="Group 61"/>
          <p:cNvGrpSpPr/>
          <p:nvPr/>
        </p:nvGrpSpPr>
        <p:grpSpPr>
          <a:xfrm>
            <a:off x="7616825" y="4308475"/>
            <a:ext cx="1238250" cy="695325"/>
            <a:chOff x="856" y="1440"/>
            <a:chExt cx="1291" cy="667"/>
          </a:xfrm>
        </p:grpSpPr>
        <p:sp>
          <p:nvSpPr>
            <p:cNvPr id="58467"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68" name="Line 6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8469" name="Line 6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8470" name="Line 6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8471" name="Line 6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8472" name="Line 6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8473" name="Line 6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8378" name="Text Box 69"/>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8379" name="Text Box 70"/>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8380" name="Text Box 71"/>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8381" name="Text Box 72"/>
          <p:cNvSpPr txBox="1"/>
          <p:nvPr/>
        </p:nvSpPr>
        <p:spPr>
          <a:xfrm>
            <a:off x="1027113" y="4279900"/>
            <a:ext cx="400050"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58382" name="Text Box 73"/>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8383" name="Text Box 74"/>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58384" name="Text Box 75"/>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58385" name="Text Box 76"/>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58386" name="Text Box 77"/>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58387" name="Text Box 78"/>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8388" name="Text Box 79"/>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58389" name="Text Box 80"/>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8390" name="Text Box 81"/>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grpSp>
        <p:nvGrpSpPr>
          <p:cNvPr id="58391" name="Group 88"/>
          <p:cNvGrpSpPr/>
          <p:nvPr/>
        </p:nvGrpSpPr>
        <p:grpSpPr>
          <a:xfrm>
            <a:off x="666750" y="3600450"/>
            <a:ext cx="1606550" cy="704850"/>
            <a:chOff x="420" y="2502"/>
            <a:chExt cx="1012" cy="626"/>
          </a:xfrm>
        </p:grpSpPr>
        <p:sp>
          <p:nvSpPr>
            <p:cNvPr id="58465" name="Line 89"/>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58466" name="Line 90"/>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sp>
        <p:nvSpPr>
          <p:cNvPr id="58392" name="Line 92"/>
          <p:cNvSpPr/>
          <p:nvPr/>
        </p:nvSpPr>
        <p:spPr>
          <a:xfrm flipH="1">
            <a:off x="2338388" y="2403475"/>
            <a:ext cx="941387" cy="627063"/>
          </a:xfrm>
          <a:prstGeom prst="line">
            <a:avLst/>
          </a:prstGeom>
          <a:ln w="9525" cap="flat" cmpd="sng">
            <a:solidFill>
              <a:srgbClr val="FF0066"/>
            </a:solidFill>
            <a:prstDash val="solid"/>
            <a:headEnd type="none" w="med" len="med"/>
            <a:tailEnd type="triangle" w="med" len="med"/>
          </a:ln>
        </p:spPr>
      </p:sp>
      <p:sp>
        <p:nvSpPr>
          <p:cNvPr id="58393" name="Line 94"/>
          <p:cNvSpPr/>
          <p:nvPr/>
        </p:nvSpPr>
        <p:spPr>
          <a:xfrm>
            <a:off x="153988" y="3833813"/>
            <a:ext cx="8699500" cy="0"/>
          </a:xfrm>
          <a:prstGeom prst="line">
            <a:avLst/>
          </a:prstGeom>
          <a:ln w="9525" cap="flat" cmpd="sng">
            <a:solidFill>
              <a:srgbClr val="FF0066"/>
            </a:solidFill>
            <a:prstDash val="dash"/>
            <a:headEnd type="none" w="med" len="med"/>
            <a:tailEnd type="none" w="med" len="med"/>
          </a:ln>
        </p:spPr>
      </p:sp>
      <p:sp>
        <p:nvSpPr>
          <p:cNvPr id="58394" name="Line 95"/>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58395" name="Line 96"/>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58396" name="Line 97"/>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58397" name="Line 98"/>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58398" name="Line 99"/>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58399" name="Line 100"/>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58400" name="Line 101"/>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58401" name="Line 102"/>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58402" name="Line 103"/>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58403" name="Line 104"/>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58404" name="Line 105"/>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58405" name="Line 106"/>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58406" name="Line 107"/>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58407" name="Line 108"/>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58408" name="Line 109"/>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grpSp>
        <p:nvGrpSpPr>
          <p:cNvPr id="58409" name="Group 110"/>
          <p:cNvGrpSpPr/>
          <p:nvPr/>
        </p:nvGrpSpPr>
        <p:grpSpPr>
          <a:xfrm>
            <a:off x="5353050" y="5530850"/>
            <a:ext cx="1238250" cy="695325"/>
            <a:chOff x="856" y="1440"/>
            <a:chExt cx="1291" cy="667"/>
          </a:xfrm>
        </p:grpSpPr>
        <p:sp>
          <p:nvSpPr>
            <p:cNvPr id="58458" name="Rectangle 111"/>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59" name="Line 112"/>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8460" name="Line 113"/>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8461" name="Line 114"/>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8462" name="Line 115"/>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8463" name="Line 116"/>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8464" name="Line 117"/>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8410" name="Text Box 118"/>
          <p:cNvSpPr txBox="1"/>
          <p:nvPr/>
        </p:nvSpPr>
        <p:spPr>
          <a:xfrm>
            <a:off x="53165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8411" name="Text Box 119"/>
          <p:cNvSpPr txBox="1"/>
          <p:nvPr/>
        </p:nvSpPr>
        <p:spPr>
          <a:xfrm>
            <a:off x="57356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58412" name="Line 120"/>
          <p:cNvSpPr/>
          <p:nvPr/>
        </p:nvSpPr>
        <p:spPr>
          <a:xfrm>
            <a:off x="5519738" y="6089650"/>
            <a:ext cx="0" cy="365125"/>
          </a:xfrm>
          <a:prstGeom prst="line">
            <a:avLst/>
          </a:prstGeom>
          <a:ln w="9525" cap="flat" cmpd="sng">
            <a:solidFill>
              <a:srgbClr val="CC0000"/>
            </a:solidFill>
            <a:prstDash val="solid"/>
            <a:headEnd type="none" w="med" len="med"/>
            <a:tailEnd type="triangle" w="med" len="med"/>
          </a:ln>
        </p:spPr>
      </p:sp>
      <p:sp>
        <p:nvSpPr>
          <p:cNvPr id="58413" name="Line 121"/>
          <p:cNvSpPr/>
          <p:nvPr/>
        </p:nvSpPr>
        <p:spPr>
          <a:xfrm>
            <a:off x="5799138" y="6089650"/>
            <a:ext cx="0" cy="365125"/>
          </a:xfrm>
          <a:prstGeom prst="line">
            <a:avLst/>
          </a:prstGeom>
          <a:ln w="9525" cap="flat" cmpd="sng">
            <a:solidFill>
              <a:srgbClr val="CC0000"/>
            </a:solidFill>
            <a:prstDash val="solid"/>
            <a:headEnd type="none" w="med" len="med"/>
            <a:tailEnd type="triangle" w="med" len="med"/>
          </a:ln>
        </p:spPr>
      </p:sp>
      <p:grpSp>
        <p:nvGrpSpPr>
          <p:cNvPr id="58414" name="Group 123"/>
          <p:cNvGrpSpPr/>
          <p:nvPr/>
        </p:nvGrpSpPr>
        <p:grpSpPr>
          <a:xfrm>
            <a:off x="6889750" y="5537200"/>
            <a:ext cx="1238250" cy="695325"/>
            <a:chOff x="856" y="1440"/>
            <a:chExt cx="1291" cy="667"/>
          </a:xfrm>
        </p:grpSpPr>
        <p:sp>
          <p:nvSpPr>
            <p:cNvPr id="58451" name="Rectangle 124"/>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52" name="Line 125"/>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8453" name="Line 126"/>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8454" name="Line 127"/>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8455" name="Line 128"/>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8456" name="Line 129"/>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8457" name="Line 130"/>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8415" name="Text Box 131"/>
          <p:cNvSpPr txBox="1"/>
          <p:nvPr/>
        </p:nvSpPr>
        <p:spPr>
          <a:xfrm>
            <a:off x="68532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40</a:t>
            </a:r>
          </a:p>
        </p:txBody>
      </p:sp>
      <p:sp>
        <p:nvSpPr>
          <p:cNvPr id="58416" name="Text Box 132"/>
          <p:cNvSpPr txBox="1"/>
          <p:nvPr/>
        </p:nvSpPr>
        <p:spPr>
          <a:xfrm>
            <a:off x="72723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58417" name="Line 133"/>
          <p:cNvSpPr/>
          <p:nvPr/>
        </p:nvSpPr>
        <p:spPr>
          <a:xfrm>
            <a:off x="7056438" y="6096000"/>
            <a:ext cx="0" cy="365125"/>
          </a:xfrm>
          <a:prstGeom prst="line">
            <a:avLst/>
          </a:prstGeom>
          <a:ln w="38100" cap="flat" cmpd="sng">
            <a:solidFill>
              <a:srgbClr val="6666FF"/>
            </a:solidFill>
            <a:prstDash val="solid"/>
            <a:headEnd type="none" w="med" len="med"/>
            <a:tailEnd type="triangle" w="med" len="med"/>
          </a:ln>
        </p:spPr>
      </p:sp>
      <p:sp>
        <p:nvSpPr>
          <p:cNvPr id="58418" name="Line 134"/>
          <p:cNvSpPr/>
          <p:nvPr/>
        </p:nvSpPr>
        <p:spPr>
          <a:xfrm>
            <a:off x="7335838" y="6096000"/>
            <a:ext cx="0" cy="365125"/>
          </a:xfrm>
          <a:prstGeom prst="line">
            <a:avLst/>
          </a:prstGeom>
          <a:ln w="9525" cap="flat" cmpd="sng">
            <a:solidFill>
              <a:srgbClr val="CC0000"/>
            </a:solidFill>
            <a:prstDash val="solid"/>
            <a:headEnd type="none" w="med" len="med"/>
            <a:tailEnd type="triangle" w="med" len="med"/>
          </a:ln>
        </p:spPr>
      </p:sp>
      <p:sp>
        <p:nvSpPr>
          <p:cNvPr id="58419" name="Freeform 136"/>
          <p:cNvSpPr/>
          <p:nvPr/>
        </p:nvSpPr>
        <p:spPr>
          <a:xfrm>
            <a:off x="4891088" y="4846638"/>
            <a:ext cx="1033462" cy="914400"/>
          </a:xfrm>
          <a:custGeom>
            <a:avLst/>
            <a:gdLst/>
            <a:ahLst/>
            <a:cxnLst>
              <a:cxn ang="0">
                <a:pos x="830262" y="0"/>
              </a:cxn>
              <a:cxn ang="0">
                <a:pos x="922337" y="312738"/>
              </a:cxn>
              <a:cxn ang="0">
                <a:pos x="163512" y="600075"/>
              </a:cxn>
              <a:cxn ang="0">
                <a:pos x="46037" y="862013"/>
              </a:cxn>
              <a:cxn ang="0">
                <a:pos x="438150" y="914400"/>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58420" name="Group 139"/>
          <p:cNvGrpSpPr/>
          <p:nvPr/>
        </p:nvGrpSpPr>
        <p:grpSpPr>
          <a:xfrm>
            <a:off x="5437188" y="2909888"/>
            <a:ext cx="1238250" cy="695325"/>
            <a:chOff x="856" y="1440"/>
            <a:chExt cx="1291" cy="667"/>
          </a:xfrm>
        </p:grpSpPr>
        <p:sp>
          <p:nvSpPr>
            <p:cNvPr id="58444" name="Rectangle 140"/>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45" name="Line 141"/>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8446" name="Line 142"/>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8447" name="Line 143"/>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8448" name="Line 144"/>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8449" name="Line 145"/>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8450" name="Line 146"/>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8421" name="Text Box 147"/>
          <p:cNvSpPr txBox="1"/>
          <p:nvPr/>
        </p:nvSpPr>
        <p:spPr>
          <a:xfrm>
            <a:off x="5400675" y="28940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8422" name="Text Box 148"/>
          <p:cNvSpPr txBox="1"/>
          <p:nvPr/>
        </p:nvSpPr>
        <p:spPr>
          <a:xfrm>
            <a:off x="5819775" y="28940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grpSp>
        <p:nvGrpSpPr>
          <p:cNvPr id="58423" name="Group 150"/>
          <p:cNvGrpSpPr/>
          <p:nvPr/>
        </p:nvGrpSpPr>
        <p:grpSpPr>
          <a:xfrm>
            <a:off x="6973888" y="2916238"/>
            <a:ext cx="1238250" cy="695325"/>
            <a:chOff x="856" y="1440"/>
            <a:chExt cx="1291" cy="667"/>
          </a:xfrm>
        </p:grpSpPr>
        <p:sp>
          <p:nvSpPr>
            <p:cNvPr id="58437" name="Rectangle 151"/>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438" name="Line 152"/>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8439" name="Line 153"/>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8440" name="Line 154"/>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8441" name="Line 155"/>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8442" name="Line 156"/>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8443" name="Line 157"/>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8424" name="Text Box 158"/>
          <p:cNvSpPr txBox="1"/>
          <p:nvPr/>
        </p:nvSpPr>
        <p:spPr>
          <a:xfrm>
            <a:off x="6937375" y="29003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8425" name="Freeform 159"/>
          <p:cNvSpPr/>
          <p:nvPr/>
        </p:nvSpPr>
        <p:spPr>
          <a:xfrm>
            <a:off x="3640138" y="3502025"/>
            <a:ext cx="1893887" cy="782638"/>
          </a:xfrm>
          <a:custGeom>
            <a:avLst/>
            <a:gdLst/>
            <a:ahLst/>
            <a:cxnLst>
              <a:cxn ang="0">
                <a:pos x="1893887" y="0"/>
              </a:cxn>
              <a:cxn ang="0">
                <a:pos x="1266825" y="469900"/>
              </a:cxn>
              <a:cxn ang="0">
                <a:pos x="0" y="782638"/>
              </a:cxn>
            </a:cxnLst>
            <a:rect l="0" t="0" r="0" b="0"/>
            <a:pathLst>
              <a:path w="1193" h="493">
                <a:moveTo>
                  <a:pt x="1193" y="0"/>
                </a:moveTo>
                <a:cubicBezTo>
                  <a:pt x="1127" y="51"/>
                  <a:pt x="997" y="214"/>
                  <a:pt x="798" y="296"/>
                </a:cubicBezTo>
                <a:cubicBezTo>
                  <a:pt x="599" y="378"/>
                  <a:pt x="166" y="452"/>
                  <a:pt x="0" y="493"/>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26" name="Freeform 160"/>
          <p:cNvSpPr/>
          <p:nvPr/>
        </p:nvSpPr>
        <p:spPr>
          <a:xfrm>
            <a:off x="4819650" y="3502025"/>
            <a:ext cx="1077913" cy="809625"/>
          </a:xfrm>
          <a:custGeom>
            <a:avLst/>
            <a:gdLst/>
            <a:ahLst/>
            <a:cxnLst>
              <a:cxn ang="0">
                <a:pos x="1069975" y="0"/>
              </a:cxn>
              <a:cxn ang="0">
                <a:pos x="900113" y="457200"/>
              </a:cxn>
              <a:cxn ang="0">
                <a:pos x="0" y="809625"/>
              </a:cxn>
            </a:cxnLst>
            <a:rect l="0" t="0" r="0" b="0"/>
            <a:pathLst>
              <a:path w="679" h="510">
                <a:moveTo>
                  <a:pt x="674" y="0"/>
                </a:moveTo>
                <a:cubicBezTo>
                  <a:pt x="656" y="48"/>
                  <a:pt x="679" y="203"/>
                  <a:pt x="567" y="288"/>
                </a:cubicBezTo>
                <a:cubicBezTo>
                  <a:pt x="455" y="373"/>
                  <a:pt x="118" y="464"/>
                  <a:pt x="0" y="510"/>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27" name="Freeform 161"/>
          <p:cNvSpPr/>
          <p:nvPr/>
        </p:nvSpPr>
        <p:spPr>
          <a:xfrm>
            <a:off x="6203950" y="3475038"/>
            <a:ext cx="501650" cy="2024062"/>
          </a:xfrm>
          <a:custGeom>
            <a:avLst/>
            <a:gdLst/>
            <a:ahLst/>
            <a:cxnLst>
              <a:cxn ang="0">
                <a:pos x="0" y="0"/>
              </a:cxn>
              <a:cxn ang="0">
                <a:pos x="496888" y="614362"/>
              </a:cxn>
              <a:cxn ang="0">
                <a:pos x="25400" y="2024062"/>
              </a:cxn>
            </a:cxnLst>
            <a:rect l="0" t="0" r="0" b="0"/>
            <a:pathLst>
              <a:path w="316" h="1275">
                <a:moveTo>
                  <a:pt x="0" y="0"/>
                </a:moveTo>
                <a:cubicBezTo>
                  <a:pt x="52" y="63"/>
                  <a:pt x="310" y="175"/>
                  <a:pt x="313" y="387"/>
                </a:cubicBezTo>
                <a:cubicBezTo>
                  <a:pt x="316" y="599"/>
                  <a:pt x="131" y="966"/>
                  <a:pt x="16" y="1275"/>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28" name="Freeform 162"/>
          <p:cNvSpPr/>
          <p:nvPr/>
        </p:nvSpPr>
        <p:spPr>
          <a:xfrm>
            <a:off x="7026275" y="3448050"/>
            <a:ext cx="171450" cy="2078038"/>
          </a:xfrm>
          <a:custGeom>
            <a:avLst/>
            <a:gdLst/>
            <a:ahLst/>
            <a:cxnLst>
              <a:cxn ang="0">
                <a:pos x="66675" y="0"/>
              </a:cxn>
              <a:cxn ang="0">
                <a:pos x="1588" y="549275"/>
              </a:cxn>
              <a:cxn ang="0">
                <a:pos x="53975" y="1031875"/>
              </a:cxn>
              <a:cxn ang="0">
                <a:pos x="171450" y="2078038"/>
              </a:cxn>
            </a:cxnLst>
            <a:rect l="0" t="0" r="0" b="0"/>
            <a:pathLst>
              <a:path w="108" h="1309">
                <a:moveTo>
                  <a:pt x="42" y="0"/>
                </a:moveTo>
                <a:cubicBezTo>
                  <a:pt x="35" y="59"/>
                  <a:pt x="2" y="238"/>
                  <a:pt x="1" y="346"/>
                </a:cubicBezTo>
                <a:cubicBezTo>
                  <a:pt x="0" y="454"/>
                  <a:pt x="16" y="490"/>
                  <a:pt x="34" y="650"/>
                </a:cubicBezTo>
                <a:cubicBezTo>
                  <a:pt x="52" y="810"/>
                  <a:pt x="60" y="1092"/>
                  <a:pt x="108" y="1309"/>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29" name="Freeform 163"/>
          <p:cNvSpPr/>
          <p:nvPr/>
        </p:nvSpPr>
        <p:spPr>
          <a:xfrm>
            <a:off x="7419975" y="3435350"/>
            <a:ext cx="463550" cy="862013"/>
          </a:xfrm>
          <a:custGeom>
            <a:avLst/>
            <a:gdLst/>
            <a:ahLst/>
            <a:cxnLst>
              <a:cxn ang="0">
                <a:pos x="0" y="0"/>
              </a:cxn>
              <a:cxn ang="0">
                <a:pos x="265113" y="369888"/>
              </a:cxn>
              <a:cxn ang="0">
                <a:pos x="444500" y="587375"/>
              </a:cxn>
              <a:cxn ang="0">
                <a:pos x="377825" y="862013"/>
              </a:cxn>
            </a:cxnLst>
            <a:rect l="0" t="0" r="0" b="0"/>
            <a:pathLst>
              <a:path w="292" h="543">
                <a:moveTo>
                  <a:pt x="0" y="0"/>
                </a:moveTo>
                <a:cubicBezTo>
                  <a:pt x="72" y="79"/>
                  <a:pt x="120" y="171"/>
                  <a:pt x="167" y="233"/>
                </a:cubicBezTo>
                <a:cubicBezTo>
                  <a:pt x="214" y="295"/>
                  <a:pt x="268" y="318"/>
                  <a:pt x="280" y="370"/>
                </a:cubicBezTo>
                <a:cubicBezTo>
                  <a:pt x="292" y="422"/>
                  <a:pt x="247" y="507"/>
                  <a:pt x="238" y="543"/>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30" name="Text Box 164"/>
          <p:cNvSpPr txBox="1"/>
          <p:nvPr/>
        </p:nvSpPr>
        <p:spPr>
          <a:xfrm>
            <a:off x="3525838" y="18446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40</a:t>
            </a:r>
          </a:p>
        </p:txBody>
      </p:sp>
      <p:sp>
        <p:nvSpPr>
          <p:cNvPr id="58431" name="Freeform 165"/>
          <p:cNvSpPr/>
          <p:nvPr/>
        </p:nvSpPr>
        <p:spPr>
          <a:xfrm>
            <a:off x="3670300" y="2351088"/>
            <a:ext cx="1711325" cy="739775"/>
          </a:xfrm>
          <a:custGeom>
            <a:avLst/>
            <a:gdLst/>
            <a:ahLst/>
            <a:cxnLst>
              <a:cxn ang="0">
                <a:pos x="0" y="0"/>
              </a:cxn>
              <a:cxn ang="0">
                <a:pos x="927100" y="627063"/>
              </a:cxn>
              <a:cxn ang="0">
                <a:pos x="1711325" y="679450"/>
              </a:cxn>
            </a:cxnLst>
            <a:rect l="0" t="0" r="0" b="0"/>
            <a:pathLst>
              <a:path w="1078" h="466">
                <a:moveTo>
                  <a:pt x="0" y="0"/>
                </a:moveTo>
                <a:cubicBezTo>
                  <a:pt x="97" y="66"/>
                  <a:pt x="404" y="324"/>
                  <a:pt x="584" y="395"/>
                </a:cubicBezTo>
                <a:cubicBezTo>
                  <a:pt x="764" y="466"/>
                  <a:pt x="975" y="421"/>
                  <a:pt x="1078" y="428"/>
                </a:cubicBezTo>
              </a:path>
            </a:pathLst>
          </a:custGeom>
          <a:noFill/>
          <a:ln w="28575"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32" name="Freeform 166"/>
          <p:cNvSpPr/>
          <p:nvPr/>
        </p:nvSpPr>
        <p:spPr>
          <a:xfrm>
            <a:off x="3956050" y="2325688"/>
            <a:ext cx="3149600" cy="600075"/>
          </a:xfrm>
          <a:custGeom>
            <a:avLst/>
            <a:gdLst/>
            <a:ahLst/>
            <a:cxnLst>
              <a:cxn ang="0">
                <a:pos x="0" y="11457"/>
              </a:cxn>
              <a:cxn ang="0">
                <a:pos x="536575" y="105980"/>
              </a:cxn>
              <a:cxn ang="0">
                <a:pos x="1803400" y="81633"/>
              </a:cxn>
              <a:cxn ang="0">
                <a:pos x="3149600" y="600075"/>
              </a:cxn>
            </a:cxnLst>
            <a:rect l="0" t="0" r="0" b="0"/>
            <a:pathLst>
              <a:path w="1984" h="419">
                <a:moveTo>
                  <a:pt x="0" y="8"/>
                </a:moveTo>
                <a:cubicBezTo>
                  <a:pt x="42" y="83"/>
                  <a:pt x="149" y="66"/>
                  <a:pt x="338" y="74"/>
                </a:cubicBezTo>
                <a:cubicBezTo>
                  <a:pt x="527" y="82"/>
                  <a:pt x="862" y="0"/>
                  <a:pt x="1136" y="57"/>
                </a:cubicBezTo>
                <a:cubicBezTo>
                  <a:pt x="1410" y="114"/>
                  <a:pt x="1807" y="344"/>
                  <a:pt x="1984" y="419"/>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33" name="Line 169"/>
          <p:cNvSpPr/>
          <p:nvPr/>
        </p:nvSpPr>
        <p:spPr>
          <a:xfrm>
            <a:off x="6499225" y="6065838"/>
            <a:ext cx="377825" cy="0"/>
          </a:xfrm>
          <a:prstGeom prst="line">
            <a:avLst/>
          </a:prstGeom>
          <a:ln w="38100" cap="flat" cmpd="sng">
            <a:solidFill>
              <a:srgbClr val="6666FF"/>
            </a:solidFill>
            <a:prstDash val="solid"/>
            <a:headEnd type="none" w="med" len="med"/>
            <a:tailEnd type="triangle" w="med" len="med"/>
          </a:ln>
        </p:spPr>
      </p:sp>
      <p:sp>
        <p:nvSpPr>
          <p:cNvPr id="58434" name="Freeform 170"/>
          <p:cNvSpPr/>
          <p:nvPr/>
        </p:nvSpPr>
        <p:spPr>
          <a:xfrm>
            <a:off x="7424738" y="4872038"/>
            <a:ext cx="947737" cy="1198562"/>
          </a:xfrm>
          <a:custGeom>
            <a:avLst/>
            <a:gdLst/>
            <a:ahLst/>
            <a:cxnLst>
              <a:cxn ang="0">
                <a:pos x="549275" y="1198562"/>
              </a:cxn>
              <a:cxn ang="0">
                <a:pos x="922337" y="947737"/>
              </a:cxn>
              <a:cxn ang="0">
                <a:pos x="700087" y="533400"/>
              </a:cxn>
              <a:cxn ang="0">
                <a:pos x="152400" y="411162"/>
              </a:cxn>
              <a:cxn ang="0">
                <a:pos x="7937" y="122237"/>
              </a:cxn>
              <a:cxn ang="0">
                <a:pos x="203200"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8435" name="Text Box 171"/>
          <p:cNvSpPr txBox="1"/>
          <p:nvPr/>
        </p:nvSpPr>
        <p:spPr>
          <a:xfrm>
            <a:off x="180975" y="1071563"/>
            <a:ext cx="4668838"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最终状态</a:t>
            </a:r>
          </a:p>
        </p:txBody>
      </p:sp>
      <p:sp>
        <p:nvSpPr>
          <p:cNvPr id="58436"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B+树之键值插入与结点分裂过程示意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插入及分裂完成后</a:t>
            </a: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4" name="Group 2"/>
          <p:cNvGrpSpPr/>
          <p:nvPr/>
        </p:nvGrpSpPr>
        <p:grpSpPr>
          <a:xfrm>
            <a:off x="3157538" y="1870075"/>
            <a:ext cx="1238250" cy="695325"/>
            <a:chOff x="856" y="1440"/>
            <a:chExt cx="1291" cy="667"/>
          </a:xfrm>
        </p:grpSpPr>
        <p:sp>
          <p:nvSpPr>
            <p:cNvPr id="59553"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54" name="Line 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55" name="Line 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56" name="Line 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57" name="Line 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58" name="Line 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59" name="Line 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9395" name="Text Box 10"/>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59396" name="Group 11"/>
          <p:cNvGrpSpPr/>
          <p:nvPr/>
        </p:nvGrpSpPr>
        <p:grpSpPr>
          <a:xfrm>
            <a:off x="1844675" y="3032125"/>
            <a:ext cx="1238250" cy="695325"/>
            <a:chOff x="856" y="1440"/>
            <a:chExt cx="1291" cy="667"/>
          </a:xfrm>
        </p:grpSpPr>
        <p:sp>
          <p:nvSpPr>
            <p:cNvPr id="59546"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47" name="Line 1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48" name="Line 1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49" name="Line 1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50" name="Line 1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51" name="Line 1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52" name="Line 1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9397" name="Group 19"/>
          <p:cNvGrpSpPr/>
          <p:nvPr/>
        </p:nvGrpSpPr>
        <p:grpSpPr>
          <a:xfrm>
            <a:off x="185738" y="4308475"/>
            <a:ext cx="1238250" cy="695325"/>
            <a:chOff x="856" y="1440"/>
            <a:chExt cx="1291" cy="667"/>
          </a:xfrm>
        </p:grpSpPr>
        <p:sp>
          <p:nvSpPr>
            <p:cNvPr id="59539"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40" name="Line 2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41" name="Line 2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42" name="Line 2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43" name="Line 2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44" name="Line 2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45" name="Line 2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9398" name="Group 27"/>
          <p:cNvGrpSpPr/>
          <p:nvPr/>
        </p:nvGrpSpPr>
        <p:grpSpPr>
          <a:xfrm>
            <a:off x="1671638" y="4308475"/>
            <a:ext cx="1238250" cy="695325"/>
            <a:chOff x="856" y="1440"/>
            <a:chExt cx="1291" cy="667"/>
          </a:xfrm>
        </p:grpSpPr>
        <p:sp>
          <p:nvSpPr>
            <p:cNvPr id="59532"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33" name="Line 2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34" name="Line 3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35" name="Line 3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36" name="Line 3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37" name="Line 3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38" name="Line 3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9399" name="Group 35"/>
          <p:cNvGrpSpPr/>
          <p:nvPr/>
        </p:nvGrpSpPr>
        <p:grpSpPr>
          <a:xfrm>
            <a:off x="3157538" y="4308475"/>
            <a:ext cx="1238250" cy="695325"/>
            <a:chOff x="856" y="1440"/>
            <a:chExt cx="1291" cy="667"/>
          </a:xfrm>
        </p:grpSpPr>
        <p:sp>
          <p:nvSpPr>
            <p:cNvPr id="59525"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26" name="Line 3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27" name="Line 3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28" name="Line 3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29" name="Line 4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30" name="Line 4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31" name="Line 4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9400" name="Group 43"/>
          <p:cNvGrpSpPr/>
          <p:nvPr/>
        </p:nvGrpSpPr>
        <p:grpSpPr>
          <a:xfrm>
            <a:off x="4643438" y="4308475"/>
            <a:ext cx="1238250" cy="695325"/>
            <a:chOff x="856" y="1440"/>
            <a:chExt cx="1291" cy="667"/>
          </a:xfrm>
        </p:grpSpPr>
        <p:sp>
          <p:nvSpPr>
            <p:cNvPr id="59518"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19" name="Line 4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20" name="Line 4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21" name="Line 4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22" name="Line 4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23" name="Line 4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24" name="Line 5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59401" name="Group 51"/>
          <p:cNvGrpSpPr/>
          <p:nvPr/>
        </p:nvGrpSpPr>
        <p:grpSpPr>
          <a:xfrm>
            <a:off x="7616825" y="4308475"/>
            <a:ext cx="1238250" cy="695325"/>
            <a:chOff x="856" y="1440"/>
            <a:chExt cx="1291" cy="667"/>
          </a:xfrm>
        </p:grpSpPr>
        <p:sp>
          <p:nvSpPr>
            <p:cNvPr id="59511"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12" name="Line 5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59513" name="Line 5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59514" name="Line 5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59515" name="Line 5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59516" name="Line 5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59517" name="Line 5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59402" name="Text Box 59"/>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9403" name="Text Box 60"/>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9404" name="Text Box 61"/>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9405" name="Text Box 62"/>
          <p:cNvSpPr txBox="1"/>
          <p:nvPr/>
        </p:nvSpPr>
        <p:spPr>
          <a:xfrm>
            <a:off x="1027113" y="4279900"/>
            <a:ext cx="400050"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59406" name="Text Box 63"/>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59407" name="Text Box 64"/>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59408" name="Text Box 65"/>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59409" name="Text Box 66"/>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59410" name="Text Box 67"/>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59411" name="Text Box 68"/>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9412" name="Text Box 69"/>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59413" name="Text Box 70"/>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9414" name="Text Box 71"/>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grpSp>
        <p:nvGrpSpPr>
          <p:cNvPr id="59415" name="Group 72"/>
          <p:cNvGrpSpPr/>
          <p:nvPr/>
        </p:nvGrpSpPr>
        <p:grpSpPr>
          <a:xfrm>
            <a:off x="666750" y="3600450"/>
            <a:ext cx="1606550" cy="704850"/>
            <a:chOff x="420" y="2502"/>
            <a:chExt cx="1012" cy="626"/>
          </a:xfrm>
        </p:grpSpPr>
        <p:sp>
          <p:nvSpPr>
            <p:cNvPr id="59509" name="Line 73"/>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59510" name="Line 74"/>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sp>
        <p:nvSpPr>
          <p:cNvPr id="59416" name="Line 75"/>
          <p:cNvSpPr/>
          <p:nvPr/>
        </p:nvSpPr>
        <p:spPr>
          <a:xfrm flipH="1">
            <a:off x="2338388" y="2403475"/>
            <a:ext cx="941387" cy="627063"/>
          </a:xfrm>
          <a:prstGeom prst="line">
            <a:avLst/>
          </a:prstGeom>
          <a:ln w="9525" cap="flat" cmpd="sng">
            <a:solidFill>
              <a:srgbClr val="FF0066"/>
            </a:solidFill>
            <a:prstDash val="solid"/>
            <a:headEnd type="none" w="med" len="med"/>
            <a:tailEnd type="triangle" w="med" len="med"/>
          </a:ln>
        </p:spPr>
      </p:sp>
      <p:sp>
        <p:nvSpPr>
          <p:cNvPr id="59417" name="Line 76"/>
          <p:cNvSpPr/>
          <p:nvPr/>
        </p:nvSpPr>
        <p:spPr>
          <a:xfrm>
            <a:off x="153988" y="3833813"/>
            <a:ext cx="8699500" cy="0"/>
          </a:xfrm>
          <a:prstGeom prst="line">
            <a:avLst/>
          </a:prstGeom>
          <a:ln w="9525" cap="flat" cmpd="sng">
            <a:solidFill>
              <a:srgbClr val="FF0066"/>
            </a:solidFill>
            <a:prstDash val="dash"/>
            <a:headEnd type="none" w="med" len="med"/>
            <a:tailEnd type="none" w="med" len="med"/>
          </a:ln>
        </p:spPr>
      </p:sp>
      <p:sp>
        <p:nvSpPr>
          <p:cNvPr id="59418" name="Line 77"/>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59419" name="Line 78"/>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59420" name="Line 79"/>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59421" name="Line 80"/>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59422" name="Line 81"/>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59423" name="Line 82"/>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59424" name="Line 83"/>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59425" name="Line 84"/>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59426" name="Line 85"/>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59427" name="Line 86"/>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59428" name="Line 87"/>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59429" name="Line 88"/>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59430" name="Line 89"/>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59431" name="Line 90"/>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59432" name="Line 91"/>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grpSp>
        <p:nvGrpSpPr>
          <p:cNvPr id="59433" name="Group 92"/>
          <p:cNvGrpSpPr/>
          <p:nvPr/>
        </p:nvGrpSpPr>
        <p:grpSpPr>
          <a:xfrm>
            <a:off x="5353050" y="5530850"/>
            <a:ext cx="1238250" cy="695325"/>
            <a:chOff x="856" y="1440"/>
            <a:chExt cx="1291" cy="667"/>
          </a:xfrm>
        </p:grpSpPr>
        <p:sp>
          <p:nvSpPr>
            <p:cNvPr id="59502" name="Rectangle 93"/>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503" name="Line 94"/>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9504" name="Line 95"/>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9505" name="Line 96"/>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9506" name="Line 97"/>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9507" name="Line 98"/>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9508" name="Line 99"/>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9434" name="Text Box 100"/>
          <p:cNvSpPr txBox="1"/>
          <p:nvPr/>
        </p:nvSpPr>
        <p:spPr>
          <a:xfrm>
            <a:off x="53165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59435" name="Text Box 101"/>
          <p:cNvSpPr txBox="1"/>
          <p:nvPr/>
        </p:nvSpPr>
        <p:spPr>
          <a:xfrm>
            <a:off x="5735638" y="55149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59436" name="Line 102"/>
          <p:cNvSpPr/>
          <p:nvPr/>
        </p:nvSpPr>
        <p:spPr>
          <a:xfrm>
            <a:off x="5519738" y="6089650"/>
            <a:ext cx="0" cy="365125"/>
          </a:xfrm>
          <a:prstGeom prst="line">
            <a:avLst/>
          </a:prstGeom>
          <a:ln w="9525" cap="flat" cmpd="sng">
            <a:solidFill>
              <a:srgbClr val="CC0000"/>
            </a:solidFill>
            <a:prstDash val="solid"/>
            <a:headEnd type="none" w="med" len="med"/>
            <a:tailEnd type="triangle" w="med" len="med"/>
          </a:ln>
        </p:spPr>
      </p:sp>
      <p:sp>
        <p:nvSpPr>
          <p:cNvPr id="59437" name="Line 103"/>
          <p:cNvSpPr/>
          <p:nvPr/>
        </p:nvSpPr>
        <p:spPr>
          <a:xfrm>
            <a:off x="5799138" y="6089650"/>
            <a:ext cx="0" cy="365125"/>
          </a:xfrm>
          <a:prstGeom prst="line">
            <a:avLst/>
          </a:prstGeom>
          <a:ln w="9525" cap="flat" cmpd="sng">
            <a:solidFill>
              <a:srgbClr val="CC0000"/>
            </a:solidFill>
            <a:prstDash val="solid"/>
            <a:headEnd type="none" w="med" len="med"/>
            <a:tailEnd type="triangle" w="med" len="med"/>
          </a:ln>
        </p:spPr>
      </p:sp>
      <p:grpSp>
        <p:nvGrpSpPr>
          <p:cNvPr id="59438" name="Group 104"/>
          <p:cNvGrpSpPr/>
          <p:nvPr/>
        </p:nvGrpSpPr>
        <p:grpSpPr>
          <a:xfrm>
            <a:off x="6889750" y="5537200"/>
            <a:ext cx="1238250" cy="695325"/>
            <a:chOff x="856" y="1440"/>
            <a:chExt cx="1291" cy="667"/>
          </a:xfrm>
        </p:grpSpPr>
        <p:sp>
          <p:nvSpPr>
            <p:cNvPr id="59495" name="Rectangle 105"/>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96" name="Line 106"/>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9497" name="Line 107"/>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9498" name="Line 108"/>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9499" name="Line 109"/>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9500" name="Line 110"/>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9501" name="Line 111"/>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9439" name="Text Box 112"/>
          <p:cNvSpPr txBox="1"/>
          <p:nvPr/>
        </p:nvSpPr>
        <p:spPr>
          <a:xfrm>
            <a:off x="68532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40</a:t>
            </a:r>
          </a:p>
        </p:txBody>
      </p:sp>
      <p:sp>
        <p:nvSpPr>
          <p:cNvPr id="59440" name="Text Box 113"/>
          <p:cNvSpPr txBox="1"/>
          <p:nvPr/>
        </p:nvSpPr>
        <p:spPr>
          <a:xfrm>
            <a:off x="7272338" y="552132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59441" name="Line 114"/>
          <p:cNvSpPr/>
          <p:nvPr/>
        </p:nvSpPr>
        <p:spPr>
          <a:xfrm>
            <a:off x="7056438" y="6096000"/>
            <a:ext cx="0" cy="365125"/>
          </a:xfrm>
          <a:prstGeom prst="line">
            <a:avLst/>
          </a:prstGeom>
          <a:ln w="38100" cap="flat" cmpd="sng">
            <a:solidFill>
              <a:srgbClr val="6666FF"/>
            </a:solidFill>
            <a:prstDash val="solid"/>
            <a:headEnd type="none" w="med" len="med"/>
            <a:tailEnd type="triangle" w="med" len="med"/>
          </a:ln>
        </p:spPr>
      </p:sp>
      <p:sp>
        <p:nvSpPr>
          <p:cNvPr id="59442" name="Line 115"/>
          <p:cNvSpPr/>
          <p:nvPr/>
        </p:nvSpPr>
        <p:spPr>
          <a:xfrm>
            <a:off x="7335838" y="6096000"/>
            <a:ext cx="0" cy="365125"/>
          </a:xfrm>
          <a:prstGeom prst="line">
            <a:avLst/>
          </a:prstGeom>
          <a:ln w="9525" cap="flat" cmpd="sng">
            <a:solidFill>
              <a:srgbClr val="CC0000"/>
            </a:solidFill>
            <a:prstDash val="solid"/>
            <a:headEnd type="none" w="med" len="med"/>
            <a:tailEnd type="triangle" w="med" len="med"/>
          </a:ln>
        </p:spPr>
      </p:sp>
      <p:sp>
        <p:nvSpPr>
          <p:cNvPr id="59443" name="Freeform 116"/>
          <p:cNvSpPr/>
          <p:nvPr/>
        </p:nvSpPr>
        <p:spPr>
          <a:xfrm>
            <a:off x="4891088" y="4846638"/>
            <a:ext cx="1033462" cy="914400"/>
          </a:xfrm>
          <a:custGeom>
            <a:avLst/>
            <a:gdLst/>
            <a:ahLst/>
            <a:cxnLst>
              <a:cxn ang="0">
                <a:pos x="830262" y="0"/>
              </a:cxn>
              <a:cxn ang="0">
                <a:pos x="922337" y="312738"/>
              </a:cxn>
              <a:cxn ang="0">
                <a:pos x="163512" y="600075"/>
              </a:cxn>
              <a:cxn ang="0">
                <a:pos x="46037" y="862013"/>
              </a:cxn>
              <a:cxn ang="0">
                <a:pos x="438150" y="914400"/>
              </a:cxn>
            </a:cxnLst>
            <a:rect l="0" t="0" r="0" b="0"/>
            <a:pathLst>
              <a:path w="651" h="576">
                <a:moveTo>
                  <a:pt x="523" y="0"/>
                </a:moveTo>
                <a:cubicBezTo>
                  <a:pt x="533" y="33"/>
                  <a:pt x="651" y="134"/>
                  <a:pt x="581" y="197"/>
                </a:cubicBezTo>
                <a:cubicBezTo>
                  <a:pt x="511" y="260"/>
                  <a:pt x="195" y="320"/>
                  <a:pt x="103" y="378"/>
                </a:cubicBezTo>
                <a:cubicBezTo>
                  <a:pt x="11" y="436"/>
                  <a:pt x="0" y="510"/>
                  <a:pt x="29" y="543"/>
                </a:cubicBezTo>
                <a:cubicBezTo>
                  <a:pt x="58" y="576"/>
                  <a:pt x="225" y="569"/>
                  <a:pt x="276" y="576"/>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59444" name="Group 117"/>
          <p:cNvGrpSpPr/>
          <p:nvPr/>
        </p:nvGrpSpPr>
        <p:grpSpPr>
          <a:xfrm>
            <a:off x="5437188" y="2909888"/>
            <a:ext cx="1238250" cy="695325"/>
            <a:chOff x="856" y="1440"/>
            <a:chExt cx="1291" cy="667"/>
          </a:xfrm>
        </p:grpSpPr>
        <p:sp>
          <p:nvSpPr>
            <p:cNvPr id="59488" name="Rectangle 118"/>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89" name="Line 119"/>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9490" name="Line 120"/>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9491" name="Line 121"/>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9492" name="Line 122"/>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9493" name="Line 123"/>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9494" name="Line 124"/>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9445" name="Text Box 125"/>
          <p:cNvSpPr txBox="1"/>
          <p:nvPr/>
        </p:nvSpPr>
        <p:spPr>
          <a:xfrm>
            <a:off x="5400675" y="28940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59446" name="Text Box 126"/>
          <p:cNvSpPr txBox="1"/>
          <p:nvPr/>
        </p:nvSpPr>
        <p:spPr>
          <a:xfrm>
            <a:off x="5819775" y="289401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grpSp>
        <p:nvGrpSpPr>
          <p:cNvPr id="59447" name="Group 127"/>
          <p:cNvGrpSpPr/>
          <p:nvPr/>
        </p:nvGrpSpPr>
        <p:grpSpPr>
          <a:xfrm>
            <a:off x="6973888" y="2916238"/>
            <a:ext cx="1238250" cy="695325"/>
            <a:chOff x="856" y="1440"/>
            <a:chExt cx="1291" cy="667"/>
          </a:xfrm>
        </p:grpSpPr>
        <p:sp>
          <p:nvSpPr>
            <p:cNvPr id="59481" name="Rectangle 128"/>
            <p:cNvSpPr/>
            <p:nvPr/>
          </p:nvSpPr>
          <p:spPr>
            <a:xfrm>
              <a:off x="856" y="1440"/>
              <a:ext cx="1291" cy="667"/>
            </a:xfrm>
            <a:prstGeom prst="rect">
              <a:avLst/>
            </a:prstGeom>
            <a:solidFill>
              <a:srgbClr val="EAEAEA"/>
            </a:solidFill>
            <a:ln w="12700" cap="flat" cmpd="sng">
              <a:solidFill>
                <a:srgbClr val="6666FF"/>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82" name="Line 129"/>
            <p:cNvSpPr/>
            <p:nvPr/>
          </p:nvSpPr>
          <p:spPr>
            <a:xfrm>
              <a:off x="864" y="1769"/>
              <a:ext cx="1266" cy="0"/>
            </a:xfrm>
            <a:prstGeom prst="line">
              <a:avLst/>
            </a:prstGeom>
            <a:ln w="12700" cap="flat" cmpd="sng">
              <a:solidFill>
                <a:srgbClr val="6666FF"/>
              </a:solidFill>
              <a:prstDash val="solid"/>
              <a:headEnd type="none" w="med" len="med"/>
              <a:tailEnd type="none" w="med" len="med"/>
            </a:ln>
          </p:spPr>
        </p:sp>
        <p:sp>
          <p:nvSpPr>
            <p:cNvPr id="59483" name="Line 130"/>
            <p:cNvSpPr/>
            <p:nvPr/>
          </p:nvSpPr>
          <p:spPr>
            <a:xfrm>
              <a:off x="1292" y="1440"/>
              <a:ext cx="0" cy="321"/>
            </a:xfrm>
            <a:prstGeom prst="line">
              <a:avLst/>
            </a:prstGeom>
            <a:ln w="12700" cap="flat" cmpd="sng">
              <a:solidFill>
                <a:srgbClr val="6666FF"/>
              </a:solidFill>
              <a:prstDash val="solid"/>
              <a:headEnd type="none" w="med" len="med"/>
              <a:tailEnd type="none" w="med" len="med"/>
            </a:ln>
          </p:spPr>
        </p:sp>
        <p:sp>
          <p:nvSpPr>
            <p:cNvPr id="59484" name="Line 131"/>
            <p:cNvSpPr/>
            <p:nvPr/>
          </p:nvSpPr>
          <p:spPr>
            <a:xfrm>
              <a:off x="1732" y="1448"/>
              <a:ext cx="0" cy="321"/>
            </a:xfrm>
            <a:prstGeom prst="line">
              <a:avLst/>
            </a:prstGeom>
            <a:ln w="12700" cap="flat" cmpd="sng">
              <a:solidFill>
                <a:srgbClr val="6666FF"/>
              </a:solidFill>
              <a:prstDash val="solid"/>
              <a:headEnd type="none" w="med" len="med"/>
              <a:tailEnd type="none" w="med" len="med"/>
            </a:ln>
          </p:spPr>
        </p:sp>
        <p:sp>
          <p:nvSpPr>
            <p:cNvPr id="59485" name="Line 132"/>
            <p:cNvSpPr/>
            <p:nvPr/>
          </p:nvSpPr>
          <p:spPr>
            <a:xfrm>
              <a:off x="1167" y="1761"/>
              <a:ext cx="0" cy="346"/>
            </a:xfrm>
            <a:prstGeom prst="line">
              <a:avLst/>
            </a:prstGeom>
            <a:ln w="12700" cap="flat" cmpd="sng">
              <a:solidFill>
                <a:srgbClr val="6666FF"/>
              </a:solidFill>
              <a:prstDash val="solid"/>
              <a:headEnd type="none" w="med" len="med"/>
              <a:tailEnd type="none" w="med" len="med"/>
            </a:ln>
          </p:spPr>
        </p:sp>
        <p:sp>
          <p:nvSpPr>
            <p:cNvPr id="59486" name="Line 133"/>
            <p:cNvSpPr/>
            <p:nvPr/>
          </p:nvSpPr>
          <p:spPr>
            <a:xfrm>
              <a:off x="1499" y="1761"/>
              <a:ext cx="0" cy="346"/>
            </a:xfrm>
            <a:prstGeom prst="line">
              <a:avLst/>
            </a:prstGeom>
            <a:ln w="12700" cap="flat" cmpd="sng">
              <a:solidFill>
                <a:srgbClr val="6666FF"/>
              </a:solidFill>
              <a:prstDash val="solid"/>
              <a:headEnd type="none" w="med" len="med"/>
              <a:tailEnd type="none" w="med" len="med"/>
            </a:ln>
          </p:spPr>
        </p:sp>
        <p:sp>
          <p:nvSpPr>
            <p:cNvPr id="59487" name="Line 134"/>
            <p:cNvSpPr/>
            <p:nvPr/>
          </p:nvSpPr>
          <p:spPr>
            <a:xfrm>
              <a:off x="1831" y="1761"/>
              <a:ext cx="0" cy="346"/>
            </a:xfrm>
            <a:prstGeom prst="line">
              <a:avLst/>
            </a:prstGeom>
            <a:ln w="12700" cap="flat" cmpd="sng">
              <a:solidFill>
                <a:srgbClr val="6666FF"/>
              </a:solidFill>
              <a:prstDash val="solid"/>
              <a:headEnd type="none" w="med" len="med"/>
              <a:tailEnd type="none" w="med" len="med"/>
            </a:ln>
          </p:spPr>
        </p:sp>
      </p:grpSp>
      <p:sp>
        <p:nvSpPr>
          <p:cNvPr id="59448" name="Text Box 135"/>
          <p:cNvSpPr txBox="1"/>
          <p:nvPr/>
        </p:nvSpPr>
        <p:spPr>
          <a:xfrm>
            <a:off x="6937375" y="29003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59449" name="Freeform 136"/>
          <p:cNvSpPr/>
          <p:nvPr/>
        </p:nvSpPr>
        <p:spPr>
          <a:xfrm>
            <a:off x="3640138" y="3502025"/>
            <a:ext cx="1893887" cy="782638"/>
          </a:xfrm>
          <a:custGeom>
            <a:avLst/>
            <a:gdLst/>
            <a:ahLst/>
            <a:cxnLst>
              <a:cxn ang="0">
                <a:pos x="1893887" y="0"/>
              </a:cxn>
              <a:cxn ang="0">
                <a:pos x="1266825" y="469900"/>
              </a:cxn>
              <a:cxn ang="0">
                <a:pos x="0" y="782638"/>
              </a:cxn>
            </a:cxnLst>
            <a:rect l="0" t="0" r="0" b="0"/>
            <a:pathLst>
              <a:path w="1193" h="493">
                <a:moveTo>
                  <a:pt x="1193" y="0"/>
                </a:moveTo>
                <a:cubicBezTo>
                  <a:pt x="1127" y="51"/>
                  <a:pt x="997" y="214"/>
                  <a:pt x="798" y="296"/>
                </a:cubicBezTo>
                <a:cubicBezTo>
                  <a:pt x="599" y="378"/>
                  <a:pt x="166" y="452"/>
                  <a:pt x="0" y="493"/>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0" name="Freeform 137"/>
          <p:cNvSpPr/>
          <p:nvPr/>
        </p:nvSpPr>
        <p:spPr>
          <a:xfrm>
            <a:off x="4819650" y="3502025"/>
            <a:ext cx="1077913" cy="809625"/>
          </a:xfrm>
          <a:custGeom>
            <a:avLst/>
            <a:gdLst/>
            <a:ahLst/>
            <a:cxnLst>
              <a:cxn ang="0">
                <a:pos x="1069975" y="0"/>
              </a:cxn>
              <a:cxn ang="0">
                <a:pos x="900113" y="457200"/>
              </a:cxn>
              <a:cxn ang="0">
                <a:pos x="0" y="809625"/>
              </a:cxn>
            </a:cxnLst>
            <a:rect l="0" t="0" r="0" b="0"/>
            <a:pathLst>
              <a:path w="679" h="510">
                <a:moveTo>
                  <a:pt x="674" y="0"/>
                </a:moveTo>
                <a:cubicBezTo>
                  <a:pt x="656" y="48"/>
                  <a:pt x="679" y="203"/>
                  <a:pt x="567" y="288"/>
                </a:cubicBezTo>
                <a:cubicBezTo>
                  <a:pt x="455" y="373"/>
                  <a:pt x="118" y="464"/>
                  <a:pt x="0" y="510"/>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1" name="Freeform 138"/>
          <p:cNvSpPr/>
          <p:nvPr/>
        </p:nvSpPr>
        <p:spPr>
          <a:xfrm>
            <a:off x="6203950" y="3475038"/>
            <a:ext cx="501650" cy="2024062"/>
          </a:xfrm>
          <a:custGeom>
            <a:avLst/>
            <a:gdLst/>
            <a:ahLst/>
            <a:cxnLst>
              <a:cxn ang="0">
                <a:pos x="0" y="0"/>
              </a:cxn>
              <a:cxn ang="0">
                <a:pos x="496888" y="614362"/>
              </a:cxn>
              <a:cxn ang="0">
                <a:pos x="25400" y="2024062"/>
              </a:cxn>
            </a:cxnLst>
            <a:rect l="0" t="0" r="0" b="0"/>
            <a:pathLst>
              <a:path w="316" h="1275">
                <a:moveTo>
                  <a:pt x="0" y="0"/>
                </a:moveTo>
                <a:cubicBezTo>
                  <a:pt x="52" y="63"/>
                  <a:pt x="310" y="175"/>
                  <a:pt x="313" y="387"/>
                </a:cubicBezTo>
                <a:cubicBezTo>
                  <a:pt x="316" y="599"/>
                  <a:pt x="131" y="966"/>
                  <a:pt x="16" y="1275"/>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2" name="Freeform 139"/>
          <p:cNvSpPr/>
          <p:nvPr/>
        </p:nvSpPr>
        <p:spPr>
          <a:xfrm>
            <a:off x="7026275" y="3448050"/>
            <a:ext cx="171450" cy="2078038"/>
          </a:xfrm>
          <a:custGeom>
            <a:avLst/>
            <a:gdLst/>
            <a:ahLst/>
            <a:cxnLst>
              <a:cxn ang="0">
                <a:pos x="66675" y="0"/>
              </a:cxn>
              <a:cxn ang="0">
                <a:pos x="1588" y="549275"/>
              </a:cxn>
              <a:cxn ang="0">
                <a:pos x="53975" y="1031875"/>
              </a:cxn>
              <a:cxn ang="0">
                <a:pos x="171450" y="2078038"/>
              </a:cxn>
            </a:cxnLst>
            <a:rect l="0" t="0" r="0" b="0"/>
            <a:pathLst>
              <a:path w="108" h="1309">
                <a:moveTo>
                  <a:pt x="42" y="0"/>
                </a:moveTo>
                <a:cubicBezTo>
                  <a:pt x="35" y="59"/>
                  <a:pt x="2" y="238"/>
                  <a:pt x="1" y="346"/>
                </a:cubicBezTo>
                <a:cubicBezTo>
                  <a:pt x="0" y="454"/>
                  <a:pt x="16" y="490"/>
                  <a:pt x="34" y="650"/>
                </a:cubicBezTo>
                <a:cubicBezTo>
                  <a:pt x="52" y="810"/>
                  <a:pt x="60" y="1092"/>
                  <a:pt x="108" y="1309"/>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3" name="Freeform 140"/>
          <p:cNvSpPr/>
          <p:nvPr/>
        </p:nvSpPr>
        <p:spPr>
          <a:xfrm>
            <a:off x="7419975" y="3435350"/>
            <a:ext cx="463550" cy="862013"/>
          </a:xfrm>
          <a:custGeom>
            <a:avLst/>
            <a:gdLst/>
            <a:ahLst/>
            <a:cxnLst>
              <a:cxn ang="0">
                <a:pos x="0" y="0"/>
              </a:cxn>
              <a:cxn ang="0">
                <a:pos x="265113" y="369888"/>
              </a:cxn>
              <a:cxn ang="0">
                <a:pos x="444500" y="587375"/>
              </a:cxn>
              <a:cxn ang="0">
                <a:pos x="377825" y="862013"/>
              </a:cxn>
            </a:cxnLst>
            <a:rect l="0" t="0" r="0" b="0"/>
            <a:pathLst>
              <a:path w="292" h="543">
                <a:moveTo>
                  <a:pt x="0" y="0"/>
                </a:moveTo>
                <a:cubicBezTo>
                  <a:pt x="72" y="79"/>
                  <a:pt x="120" y="171"/>
                  <a:pt x="167" y="233"/>
                </a:cubicBezTo>
                <a:cubicBezTo>
                  <a:pt x="214" y="295"/>
                  <a:pt x="268" y="318"/>
                  <a:pt x="280" y="370"/>
                </a:cubicBezTo>
                <a:cubicBezTo>
                  <a:pt x="292" y="422"/>
                  <a:pt x="247" y="507"/>
                  <a:pt x="238" y="543"/>
                </a:cubicBezTo>
              </a:path>
            </a:pathLst>
          </a:custGeom>
          <a:noFill/>
          <a:ln w="38100"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4" name="Text Box 141"/>
          <p:cNvSpPr txBox="1"/>
          <p:nvPr/>
        </p:nvSpPr>
        <p:spPr>
          <a:xfrm>
            <a:off x="3525838" y="18446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40</a:t>
            </a:r>
          </a:p>
        </p:txBody>
      </p:sp>
      <p:sp>
        <p:nvSpPr>
          <p:cNvPr id="59455" name="Freeform 142"/>
          <p:cNvSpPr/>
          <p:nvPr/>
        </p:nvSpPr>
        <p:spPr>
          <a:xfrm>
            <a:off x="3670300" y="2351088"/>
            <a:ext cx="1711325" cy="739775"/>
          </a:xfrm>
          <a:custGeom>
            <a:avLst/>
            <a:gdLst/>
            <a:ahLst/>
            <a:cxnLst>
              <a:cxn ang="0">
                <a:pos x="0" y="0"/>
              </a:cxn>
              <a:cxn ang="0">
                <a:pos x="927100" y="627063"/>
              </a:cxn>
              <a:cxn ang="0">
                <a:pos x="1711325" y="679450"/>
              </a:cxn>
            </a:cxnLst>
            <a:rect l="0" t="0" r="0" b="0"/>
            <a:pathLst>
              <a:path w="1078" h="466">
                <a:moveTo>
                  <a:pt x="0" y="0"/>
                </a:moveTo>
                <a:cubicBezTo>
                  <a:pt x="97" y="66"/>
                  <a:pt x="404" y="324"/>
                  <a:pt x="584" y="395"/>
                </a:cubicBezTo>
                <a:cubicBezTo>
                  <a:pt x="764" y="466"/>
                  <a:pt x="975" y="421"/>
                  <a:pt x="1078" y="428"/>
                </a:cubicBezTo>
              </a:path>
            </a:pathLst>
          </a:custGeom>
          <a:noFill/>
          <a:ln w="28575" cap="flat" cmpd="sng">
            <a:solidFill>
              <a:srgbClr val="CC0000">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6" name="Freeform 143"/>
          <p:cNvSpPr/>
          <p:nvPr/>
        </p:nvSpPr>
        <p:spPr>
          <a:xfrm>
            <a:off x="3956050" y="2325688"/>
            <a:ext cx="3149600" cy="600075"/>
          </a:xfrm>
          <a:custGeom>
            <a:avLst/>
            <a:gdLst/>
            <a:ahLst/>
            <a:cxnLst>
              <a:cxn ang="0">
                <a:pos x="0" y="11457"/>
              </a:cxn>
              <a:cxn ang="0">
                <a:pos x="536575" y="105980"/>
              </a:cxn>
              <a:cxn ang="0">
                <a:pos x="1803400" y="81633"/>
              </a:cxn>
              <a:cxn ang="0">
                <a:pos x="3149600" y="600075"/>
              </a:cxn>
            </a:cxnLst>
            <a:rect l="0" t="0" r="0" b="0"/>
            <a:pathLst>
              <a:path w="1984" h="419">
                <a:moveTo>
                  <a:pt x="0" y="8"/>
                </a:moveTo>
                <a:cubicBezTo>
                  <a:pt x="42" y="83"/>
                  <a:pt x="149" y="66"/>
                  <a:pt x="338" y="74"/>
                </a:cubicBezTo>
                <a:cubicBezTo>
                  <a:pt x="527" y="82"/>
                  <a:pt x="862" y="0"/>
                  <a:pt x="1136" y="57"/>
                </a:cubicBezTo>
                <a:cubicBezTo>
                  <a:pt x="1410" y="114"/>
                  <a:pt x="1807" y="344"/>
                  <a:pt x="1984" y="419"/>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7" name="Line 144"/>
          <p:cNvSpPr/>
          <p:nvPr/>
        </p:nvSpPr>
        <p:spPr>
          <a:xfrm>
            <a:off x="6499225" y="6065838"/>
            <a:ext cx="377825" cy="0"/>
          </a:xfrm>
          <a:prstGeom prst="line">
            <a:avLst/>
          </a:prstGeom>
          <a:ln w="38100" cap="flat" cmpd="sng">
            <a:solidFill>
              <a:srgbClr val="6666FF"/>
            </a:solidFill>
            <a:prstDash val="solid"/>
            <a:headEnd type="none" w="med" len="med"/>
            <a:tailEnd type="triangle" w="med" len="med"/>
          </a:ln>
        </p:spPr>
      </p:sp>
      <p:sp>
        <p:nvSpPr>
          <p:cNvPr id="59458" name="Freeform 145"/>
          <p:cNvSpPr/>
          <p:nvPr/>
        </p:nvSpPr>
        <p:spPr>
          <a:xfrm>
            <a:off x="7424738" y="4872038"/>
            <a:ext cx="947737" cy="1198562"/>
          </a:xfrm>
          <a:custGeom>
            <a:avLst/>
            <a:gdLst/>
            <a:ahLst/>
            <a:cxnLst>
              <a:cxn ang="0">
                <a:pos x="549275" y="1198562"/>
              </a:cxn>
              <a:cxn ang="0">
                <a:pos x="922337" y="947737"/>
              </a:cxn>
              <a:cxn ang="0">
                <a:pos x="700087" y="533400"/>
              </a:cxn>
              <a:cxn ang="0">
                <a:pos x="152400" y="411162"/>
              </a:cxn>
              <a:cxn ang="0">
                <a:pos x="7937" y="122237"/>
              </a:cxn>
              <a:cxn ang="0">
                <a:pos x="203200" y="0"/>
              </a:cxn>
            </a:cxnLst>
            <a:rect l="0" t="0" r="0" b="0"/>
            <a:pathLst>
              <a:path w="597" h="755">
                <a:moveTo>
                  <a:pt x="346" y="755"/>
                </a:moveTo>
                <a:cubicBezTo>
                  <a:pt x="383" y="729"/>
                  <a:pt x="565" y="667"/>
                  <a:pt x="581" y="597"/>
                </a:cubicBezTo>
                <a:cubicBezTo>
                  <a:pt x="597" y="527"/>
                  <a:pt x="522" y="393"/>
                  <a:pt x="441" y="336"/>
                </a:cubicBezTo>
                <a:cubicBezTo>
                  <a:pt x="360" y="280"/>
                  <a:pt x="169" y="302"/>
                  <a:pt x="96" y="259"/>
                </a:cubicBezTo>
                <a:cubicBezTo>
                  <a:pt x="23" y="216"/>
                  <a:pt x="0" y="120"/>
                  <a:pt x="5" y="77"/>
                </a:cubicBezTo>
                <a:cubicBezTo>
                  <a:pt x="10" y="35"/>
                  <a:pt x="69" y="17"/>
                  <a:pt x="128" y="0"/>
                </a:cubicBezTo>
              </a:path>
            </a:pathLst>
          </a:custGeom>
          <a:noFill/>
          <a:ln w="38100" cap="flat" cmpd="sng">
            <a:solidFill>
              <a:srgbClr val="6666FF">
                <a:alpha val="100000"/>
              </a:srgbClr>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59" name="Text Box 146"/>
          <p:cNvSpPr txBox="1"/>
          <p:nvPr/>
        </p:nvSpPr>
        <p:spPr>
          <a:xfrm>
            <a:off x="180975" y="1071563"/>
            <a:ext cx="4668838"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最终状态</a:t>
            </a:r>
          </a:p>
        </p:txBody>
      </p:sp>
      <p:sp>
        <p:nvSpPr>
          <p:cNvPr id="59460"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B+树之键值插入与结点分裂过程示意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插入及分裂完成后</a:t>
            </a:r>
          </a:p>
        </p:txBody>
      </p:sp>
      <p:grpSp>
        <p:nvGrpSpPr>
          <p:cNvPr id="29" name="Group 148"/>
          <p:cNvGrpSpPr/>
          <p:nvPr/>
        </p:nvGrpSpPr>
        <p:grpSpPr>
          <a:xfrm>
            <a:off x="2622550" y="5349875"/>
            <a:ext cx="1681163" cy="1193800"/>
            <a:chOff x="3368" y="3555"/>
            <a:chExt cx="836" cy="705"/>
          </a:xfrm>
        </p:grpSpPr>
        <p:sp>
          <p:nvSpPr>
            <p:cNvPr id="2"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9479"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9480" name="Text Box 84"/>
            <p:cNvSpPr txBox="1"/>
            <p:nvPr/>
          </p:nvSpPr>
          <p:spPr>
            <a:xfrm>
              <a:off x="3440" y="3686"/>
              <a:ext cx="692" cy="414"/>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关键点</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：指针调整</a:t>
              </a:r>
            </a:p>
          </p:txBody>
        </p:sp>
      </p:grpSp>
      <p:grpSp>
        <p:nvGrpSpPr>
          <p:cNvPr id="30" name="Group 152"/>
          <p:cNvGrpSpPr/>
          <p:nvPr/>
        </p:nvGrpSpPr>
        <p:grpSpPr>
          <a:xfrm>
            <a:off x="6615113" y="954088"/>
            <a:ext cx="2486025" cy="1406525"/>
            <a:chOff x="1265" y="3268"/>
            <a:chExt cx="1154" cy="629"/>
          </a:xfrm>
        </p:grpSpPr>
        <p:sp>
          <p:nvSpPr>
            <p:cNvPr id="59475"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76"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77" name="Text Box 84"/>
            <p:cNvSpPr/>
            <p:nvPr/>
          </p:nvSpPr>
          <p:spPr>
            <a:xfrm>
              <a:off x="1269" y="3299"/>
              <a:ext cx="1150" cy="568"/>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能够自动保持与主文件大小相适应的树的层次</a:t>
              </a:r>
            </a:p>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每个索引块的指针利用率都在</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50%-100%</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之间</a:t>
              </a:r>
            </a:p>
          </p:txBody>
        </p:sp>
      </p:grpSp>
      <p:grpSp>
        <p:nvGrpSpPr>
          <p:cNvPr id="59463" name="Group 156"/>
          <p:cNvGrpSpPr/>
          <p:nvPr/>
        </p:nvGrpSpPr>
        <p:grpSpPr>
          <a:xfrm>
            <a:off x="866775" y="1700213"/>
            <a:ext cx="1681163" cy="1193800"/>
            <a:chOff x="3368" y="3555"/>
            <a:chExt cx="836" cy="705"/>
          </a:xfrm>
        </p:grpSpPr>
        <p:sp>
          <p:nvSpPr>
            <p:cNvPr id="8"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9473"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9474" name="Text Box 84"/>
            <p:cNvSpPr txBox="1"/>
            <p:nvPr/>
          </p:nvSpPr>
          <p:spPr>
            <a:xfrm>
              <a:off x="3440" y="3686"/>
              <a:ext cx="692" cy="414"/>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关键点</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：分裂</a:t>
              </a:r>
            </a:p>
          </p:txBody>
        </p:sp>
      </p:grpSp>
      <p:grpSp>
        <p:nvGrpSpPr>
          <p:cNvPr id="665748" name="Group 160"/>
          <p:cNvGrpSpPr/>
          <p:nvPr/>
        </p:nvGrpSpPr>
        <p:grpSpPr>
          <a:xfrm>
            <a:off x="4652963" y="830263"/>
            <a:ext cx="2176462" cy="1638300"/>
            <a:chOff x="3368" y="3555"/>
            <a:chExt cx="836" cy="705"/>
          </a:xfrm>
        </p:grpSpPr>
        <p:sp>
          <p:nvSpPr>
            <p:cNvPr id="11"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9470"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59471" name="Text Box 84"/>
            <p:cNvSpPr txBox="1"/>
            <p:nvPr/>
          </p:nvSpPr>
          <p:spPr>
            <a:xfrm>
              <a:off x="3440" y="3686"/>
              <a:ext cx="691" cy="43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关键点</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：由叶结点向根结点逐层处理</a:t>
              </a:r>
            </a:p>
          </p:txBody>
        </p:sp>
      </p:grpSp>
      <p:grpSp>
        <p:nvGrpSpPr>
          <p:cNvPr id="665749" name="Group 164"/>
          <p:cNvGrpSpPr/>
          <p:nvPr/>
        </p:nvGrpSpPr>
        <p:grpSpPr>
          <a:xfrm>
            <a:off x="414338" y="2482850"/>
            <a:ext cx="1373187" cy="784225"/>
            <a:chOff x="1089" y="3236"/>
            <a:chExt cx="1506" cy="668"/>
          </a:xfrm>
        </p:grpSpPr>
        <p:sp>
          <p:nvSpPr>
            <p:cNvPr id="59466" name="AutoShape 39"/>
            <p:cNvSpPr/>
            <p:nvPr/>
          </p:nvSpPr>
          <p:spPr>
            <a:xfrm>
              <a:off x="1265" y="3268"/>
              <a:ext cx="1153" cy="629"/>
            </a:xfrm>
            <a:prstGeom prst="ellipse">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67" name="Oval 40"/>
            <p:cNvSpPr/>
            <p:nvPr/>
          </p:nvSpPr>
          <p:spPr>
            <a:xfrm>
              <a:off x="1310" y="3308"/>
              <a:ext cx="1069" cy="549"/>
            </a:xfrm>
            <a:prstGeom prst="ellipse">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68" name="Text Box 84"/>
            <p:cNvSpPr/>
            <p:nvPr/>
          </p:nvSpPr>
          <p:spPr>
            <a:xfrm>
              <a:off x="1089" y="3236"/>
              <a:ext cx="1506" cy="668"/>
            </a:xfrm>
            <a:prstGeom prst="ellipse">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当全满时分裂</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749"/>
                                        </p:tgtEl>
                                        <p:attrNameLst>
                                          <p:attrName>style.visibility</p:attrName>
                                        </p:attrNameLst>
                                      </p:cBhvr>
                                      <p:to>
                                        <p:strVal val="visible"/>
                                      </p:to>
                                    </p:set>
                                    <p:anim calcmode="lin" valueType="num">
                                      <p:cBhvr additive="base">
                                        <p:cTn id="7" dur="500" fill="hold"/>
                                        <p:tgtEl>
                                          <p:spTgt spid="665749"/>
                                        </p:tgtEl>
                                        <p:attrNameLst>
                                          <p:attrName>ppt_x</p:attrName>
                                        </p:attrNameLst>
                                      </p:cBhvr>
                                      <p:tavLst>
                                        <p:tav tm="0">
                                          <p:val>
                                            <p:strVal val="#ppt_x"/>
                                          </p:val>
                                        </p:tav>
                                        <p:tav tm="100000">
                                          <p:val>
                                            <p:strVal val="#ppt_x"/>
                                          </p:val>
                                        </p:tav>
                                      </p:tavLst>
                                    </p:anim>
                                    <p:anim calcmode="lin" valueType="num">
                                      <p:cBhvr additive="base">
                                        <p:cTn id="8" dur="500" fill="hold"/>
                                        <p:tgtEl>
                                          <p:spTgt spid="66574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65748"/>
                                        </p:tgtEl>
                                        <p:attrNameLst>
                                          <p:attrName>style.visibility</p:attrName>
                                        </p:attrNameLst>
                                      </p:cBhvr>
                                      <p:to>
                                        <p:strVal val="visible"/>
                                      </p:to>
                                    </p:set>
                                    <p:anim calcmode="lin" valueType="num">
                                      <p:cBhvr additive="base">
                                        <p:cTn id="13" dur="500" fill="hold"/>
                                        <p:tgtEl>
                                          <p:spTgt spid="665748"/>
                                        </p:tgtEl>
                                        <p:attrNameLst>
                                          <p:attrName>ppt_x</p:attrName>
                                        </p:attrNameLst>
                                      </p:cBhvr>
                                      <p:tavLst>
                                        <p:tav tm="0">
                                          <p:val>
                                            <p:strVal val="#ppt_x"/>
                                          </p:val>
                                        </p:tav>
                                        <p:tav tm="100000">
                                          <p:val>
                                            <p:strVal val="#ppt_x"/>
                                          </p:val>
                                        </p:tav>
                                      </p:tavLst>
                                    </p:anim>
                                    <p:anim calcmode="lin" valueType="num">
                                      <p:cBhvr additive="base">
                                        <p:cTn id="14" dur="500" fill="hold"/>
                                        <p:tgtEl>
                                          <p:spTgt spid="66574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B+树之键值插入与结点分裂过程示意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相关的算法表达</a:t>
            </a:r>
          </a:p>
        </p:txBody>
      </p:sp>
      <p:sp>
        <p:nvSpPr>
          <p:cNvPr id="60419" name="Text Box 164"/>
          <p:cNvSpPr txBox="1"/>
          <p:nvPr/>
        </p:nvSpPr>
        <p:spPr>
          <a:xfrm>
            <a:off x="180975" y="1071563"/>
            <a:ext cx="4668838"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将算法表达出来</a:t>
            </a:r>
          </a:p>
        </p:txBody>
      </p:sp>
      <p:pic>
        <p:nvPicPr>
          <p:cNvPr id="60420" name="Picture 166"/>
          <p:cNvPicPr>
            <a:picLocks noChangeAspect="1"/>
          </p:cNvPicPr>
          <p:nvPr/>
        </p:nvPicPr>
        <p:blipFill>
          <a:blip r:embed="rId2"/>
          <a:stretch>
            <a:fillRect/>
          </a:stretch>
        </p:blipFill>
        <p:spPr>
          <a:xfrm>
            <a:off x="3073400" y="55563"/>
            <a:ext cx="5757863" cy="6699250"/>
          </a:xfrm>
          <a:prstGeom prst="rect">
            <a:avLst/>
          </a:prstGeom>
          <a:noFill/>
          <a:ln w="9525" cap="flat" cmpd="sng">
            <a:solidFill>
              <a:srgbClr val="FF0066"/>
            </a:solidFill>
            <a:prstDash val="solid"/>
            <a:miter/>
            <a:headEnd type="none" w="med" len="med"/>
            <a:tailEnd type="none" w="med" len="med"/>
          </a:ln>
        </p:spPr>
      </p:pic>
      <p:grpSp>
        <p:nvGrpSpPr>
          <p:cNvPr id="60421" name="Group 168"/>
          <p:cNvGrpSpPr/>
          <p:nvPr/>
        </p:nvGrpSpPr>
        <p:grpSpPr>
          <a:xfrm>
            <a:off x="7278688" y="5586413"/>
            <a:ext cx="1500187" cy="1104900"/>
            <a:chOff x="3368" y="3555"/>
            <a:chExt cx="836" cy="705"/>
          </a:xfrm>
        </p:grpSpPr>
        <p:sp>
          <p:nvSpPr>
            <p:cNvPr id="20"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0423"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0424" name="Text Box 84"/>
            <p:cNvSpPr txBox="1"/>
            <p:nvPr/>
          </p:nvSpPr>
          <p:spPr>
            <a:xfrm>
              <a:off x="3440" y="3686"/>
              <a:ext cx="691" cy="449"/>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此算法可参见教材</a:t>
              </a:r>
            </a:p>
          </p:txBody>
        </p:sp>
      </p:gr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p:cNvSpPr/>
          <p:nvPr/>
        </p:nvSpPr>
        <p:spPr>
          <a:xfrm>
            <a:off x="610043" y="1528044"/>
            <a:ext cx="7923914" cy="392834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8" name="Shape18"/>
          <p:cNvSpPr/>
          <p:nvPr/>
        </p:nvSpPr>
        <p:spPr>
          <a:xfrm>
            <a:off x="787913" y="4300592"/>
            <a:ext cx="7568173" cy="105587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31</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703413" y="1502492"/>
                <a:ext cx="8746486" cy="3754040"/>
              </a:xfrm>
            </p:spPr>
            <p:txBody>
              <a:bodyPr/>
              <a:lstStyle/>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找到待删除索引记录所在叶子节点</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从叶子节点中删除索引记录</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如果节点中键数目大于等于</a:t>
                </a:r>
                <a14:m>
                  <m:oMath xmlns:m="http://schemas.openxmlformats.org/officeDocument/2006/math">
                    <m:d>
                      <m:dPr>
                        <m:begChr m:val="⌈"/>
                        <m:endChr m:val="⌉"/>
                        <m:ctrlPr>
                          <a:rPr lang="zh-CN" altLang="zh-CN" sz="1800" b="1" i="1">
                            <a:solidFill>
                              <a:srgbClr val="701988"/>
                            </a:solidFill>
                            <a:latin typeface="Cambria Math" panose="02040503050406030204" pitchFamily="18" charset="0"/>
                          </a:rPr>
                        </m:ctrlPr>
                      </m:dPr>
                      <m:e>
                        <m:f>
                          <m:fPr>
                            <m:ctrlPr>
                              <a:rPr lang="zh-CN" altLang="zh-CN" sz="1800" b="1" i="1">
                                <a:solidFill>
                                  <a:srgbClr val="701988"/>
                                </a:solidFill>
                                <a:latin typeface="Cambria Math" panose="02040503050406030204" pitchFamily="18" charset="0"/>
                              </a:rPr>
                            </m:ctrlPr>
                          </m:fPr>
                          <m:num>
                            <m:r>
                              <a:rPr lang="en-US" altLang="zh-CN" sz="1800" b="1" i="1">
                                <a:solidFill>
                                  <a:srgbClr val="701988"/>
                                </a:solidFill>
                                <a:latin typeface="Cambria Math" panose="02040503050406030204" pitchFamily="18" charset="0"/>
                              </a:rPr>
                              <m:t>𝒎</m:t>
                            </m:r>
                          </m:num>
                          <m:den>
                            <m:r>
                              <a:rPr lang="en-US" altLang="zh-CN" sz="1800" b="1" i="1">
                                <a:solidFill>
                                  <a:srgbClr val="701988"/>
                                </a:solidFill>
                                <a:latin typeface="Cambria Math" panose="02040503050406030204" pitchFamily="18" charset="0"/>
                              </a:rPr>
                              <m:t>𝟐</m:t>
                            </m:r>
                          </m:den>
                        </m:f>
                      </m:e>
                    </m:d>
                    <m:r>
                      <a:rPr lang="en-US" altLang="zh-CN" sz="1800" b="1" i="1">
                        <a:solidFill>
                          <a:srgbClr val="701988"/>
                        </a:solidFill>
                        <a:latin typeface="Cambria Math" panose="02040503050406030204" pitchFamily="18" charset="0"/>
                      </a:rPr>
                      <m:t>−</m:t>
                    </m:r>
                    <m:r>
                      <a:rPr lang="en-US" altLang="zh-CN" sz="1800" b="1" i="1">
                        <a:solidFill>
                          <a:srgbClr val="701988"/>
                        </a:solidFill>
                        <a:latin typeface="Cambria Math" panose="02040503050406030204" pitchFamily="18" charset="0"/>
                      </a:rPr>
                      <m:t>𝟏</m:t>
                    </m:r>
                  </m:oMath>
                </a14:m>
                <a:r>
                  <a:rPr lang="en-US" altLang="zh-CN" sz="1800" b="1" dirty="0">
                    <a:solidFill>
                      <a:srgbClr val="701988"/>
                    </a:solidFill>
                    <a:latin typeface="微软雅黑" panose="020B0503020204020204" pitchFamily="82" charset="2"/>
                    <a:ea typeface="微软雅黑" panose="020B0503020204020204" pitchFamily="82" charset="2"/>
                  </a:rPr>
                  <a:t>,</a:t>
                </a:r>
                <a:r>
                  <a:rPr lang="zh-CN" altLang="en-US" sz="1800" b="1" dirty="0">
                    <a:solidFill>
                      <a:srgbClr val="701988"/>
                    </a:solidFill>
                    <a:latin typeface="微软雅黑" panose="020B0503020204020204" pitchFamily="82" charset="2"/>
                    <a:ea typeface="微软雅黑" panose="020B0503020204020204" pitchFamily="82" charset="2"/>
                  </a:rPr>
                  <a:t>则结束</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如果节点中键数目小于等于</a:t>
                </a:r>
                <a14:m>
                  <m:oMath xmlns:m="http://schemas.openxmlformats.org/officeDocument/2006/math">
                    <m:d>
                      <m:dPr>
                        <m:begChr m:val="⌈"/>
                        <m:endChr m:val="⌉"/>
                        <m:ctrlPr>
                          <a:rPr lang="zh-CN" altLang="zh-CN" sz="1800" b="1" i="1">
                            <a:solidFill>
                              <a:srgbClr val="701988"/>
                            </a:solidFill>
                            <a:latin typeface="Cambria Math" panose="02040503050406030204" pitchFamily="18" charset="0"/>
                          </a:rPr>
                        </m:ctrlPr>
                      </m:dPr>
                      <m:e>
                        <m:f>
                          <m:fPr>
                            <m:ctrlPr>
                              <a:rPr lang="zh-CN" altLang="zh-CN" sz="1800" b="1" i="1">
                                <a:solidFill>
                                  <a:srgbClr val="701988"/>
                                </a:solidFill>
                                <a:latin typeface="Cambria Math" panose="02040503050406030204" pitchFamily="18" charset="0"/>
                              </a:rPr>
                            </m:ctrlPr>
                          </m:fPr>
                          <m:num>
                            <m:r>
                              <a:rPr lang="en-US" altLang="zh-CN" sz="1800" b="1" i="1">
                                <a:solidFill>
                                  <a:srgbClr val="701988"/>
                                </a:solidFill>
                                <a:latin typeface="Cambria Math" panose="02040503050406030204" pitchFamily="18" charset="0"/>
                              </a:rPr>
                              <m:t>𝒎</m:t>
                            </m:r>
                          </m:num>
                          <m:den>
                            <m:r>
                              <a:rPr lang="en-US" altLang="zh-CN" sz="1800" b="1" i="1">
                                <a:solidFill>
                                  <a:srgbClr val="701988"/>
                                </a:solidFill>
                                <a:latin typeface="Cambria Math" panose="02040503050406030204" pitchFamily="18" charset="0"/>
                              </a:rPr>
                              <m:t>𝟐</m:t>
                            </m:r>
                          </m:den>
                        </m:f>
                      </m:e>
                    </m:d>
                    <m:r>
                      <a:rPr lang="en-US" altLang="zh-CN" sz="1800" b="1" i="1">
                        <a:solidFill>
                          <a:srgbClr val="701988"/>
                        </a:solidFill>
                        <a:latin typeface="Cambria Math" panose="02040503050406030204" pitchFamily="18" charset="0"/>
                      </a:rPr>
                      <m:t>−</m:t>
                    </m:r>
                    <m:r>
                      <a:rPr lang="en-US" altLang="zh-CN" sz="1800" b="1" i="1">
                        <a:solidFill>
                          <a:srgbClr val="701988"/>
                        </a:solidFill>
                        <a:latin typeface="Cambria Math" panose="02040503050406030204" pitchFamily="18" charset="0"/>
                      </a:rPr>
                      <m:t>𝟐</m:t>
                    </m:r>
                  </m:oMath>
                </a14:m>
                <a:r>
                  <a:rPr lang="zh-CN" altLang="en-US" sz="1800" b="1" dirty="0">
                    <a:solidFill>
                      <a:srgbClr val="701988"/>
                    </a:solidFill>
                    <a:latin typeface="微软雅黑" panose="020B0503020204020204" pitchFamily="82" charset="2"/>
                    <a:ea typeface="微软雅黑" panose="020B0503020204020204" pitchFamily="82" charset="2"/>
                  </a:rPr>
                  <a:t>，发生下溢</a:t>
                </a: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尝试从兄弟节点借入索引记录</a:t>
                </a:r>
                <a:r>
                  <a:rPr lang="en-US" altLang="zh-CN" sz="1500" dirty="0">
                    <a:latin typeface="微软雅黑" panose="020B0503020204020204" pitchFamily="82" charset="2"/>
                    <a:ea typeface="微软雅黑" panose="020B0503020204020204" pitchFamily="82" charset="2"/>
                  </a:rPr>
                  <a:t>,</a:t>
                </a:r>
                <a:r>
                  <a:rPr lang="zh-CN" altLang="en-US" sz="1500" dirty="0">
                    <a:latin typeface="微软雅黑" panose="020B0503020204020204" pitchFamily="82" charset="2"/>
                    <a:ea typeface="微软雅黑" panose="020B0503020204020204" pitchFamily="82" charset="2"/>
                  </a:rPr>
                  <a:t>并更新父节点的键值</a:t>
                </a:r>
                <a:endParaRPr lang="en-US" altLang="zh-CN" sz="1500" dirty="0">
                  <a:latin typeface="微软雅黑" panose="020B0503020204020204" pitchFamily="82" charset="2"/>
                  <a:ea typeface="微软雅黑" panose="020B0503020204020204" pitchFamily="82" charset="2"/>
                </a:endParaRPr>
              </a:p>
              <a:p>
                <a:pPr lvl="1">
                  <a:lnSpc>
                    <a:spcPct val="150000"/>
                  </a:lnSpc>
                  <a:spcBef>
                    <a:spcPts val="0"/>
                  </a:spcBef>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若兄弟节点无法借入节点，则与兄弟节点合并，并从父节点删除兄弟节点的键值和指针</a:t>
                </a:r>
                <a:endParaRPr lang="en-US" altLang="zh-CN" sz="1500" dirty="0">
                  <a:latin typeface="微软雅黑" panose="020B0503020204020204" pitchFamily="82" charset="2"/>
                  <a:ea typeface="微软雅黑" panose="020B0503020204020204" pitchFamily="82" charset="2"/>
                </a:endParaRPr>
              </a:p>
            </p:txBody>
          </p:sp>
        </mc:Choice>
        <mc:Fallback xmlns="">
          <p:sp>
            <p:nvSpPr>
              <p:cNvPr id="4" name="内容占位符 3"/>
              <p:cNvSpPr>
                <a:spLocks noRot="1" noChangeAspect="1" noMove="1" noResize="1" noEditPoints="1" noAdjustHandles="1" noChangeArrowheads="1" noChangeShapeType="1" noTextEdit="1"/>
              </p:cNvSpPr>
              <p:nvPr>
                <p:ph idx="1"/>
              </p:nvPr>
            </p:nvSpPr>
            <p:spPr>
              <a:xfrm>
                <a:off x="703413" y="1502492"/>
                <a:ext cx="8746486" cy="3754040"/>
              </a:xfrm>
              <a:blipFill rotWithShape="1">
                <a:blip r:embed="rId2"/>
                <a:stretch>
                  <a:fillRect l="-5" t="-2" r="5"/>
                </a:stretch>
              </a:blipFill>
            </p:spPr>
            <p:txBody>
              <a:bodyPr/>
              <a:lstStyle/>
              <a:p>
                <a:r>
                  <a:rPr lang="zh-CN" altLang="en-US">
                    <a:noFill/>
                  </a:rPr>
                  <a:t> </a:t>
                </a:r>
              </a:p>
            </p:txBody>
          </p:sp>
        </mc:Fallback>
      </mc:AlternateContent>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3"/>
          <a:stretch>
            <a:fillRect/>
          </a:stretch>
        </p:blipFill>
        <p:spPr>
          <a:xfrm>
            <a:off x="898636" y="4461972"/>
            <a:ext cx="3704387" cy="729566"/>
          </a:xfrm>
          <a:prstGeom prst="rect">
            <a:avLst/>
          </a:prstGeom>
        </p:spPr>
      </p:pic>
      <p:pic>
        <p:nvPicPr>
          <p:cNvPr id="7" name="图片 6"/>
          <p:cNvPicPr>
            <a:picLocks noChangeAspect="1"/>
          </p:cNvPicPr>
          <p:nvPr/>
        </p:nvPicPr>
        <p:blipFill>
          <a:blip r:embed="rId4"/>
          <a:stretch>
            <a:fillRect/>
          </a:stretch>
        </p:blipFill>
        <p:spPr>
          <a:xfrm>
            <a:off x="4732351" y="4446056"/>
            <a:ext cx="3458303" cy="724375"/>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9"/>
          <p:cNvSpPr/>
          <p:nvPr/>
        </p:nvSpPr>
        <p:spPr>
          <a:xfrm>
            <a:off x="434130" y="1642775"/>
            <a:ext cx="8305101" cy="400249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15" name="Shape18"/>
          <p:cNvSpPr/>
          <p:nvPr/>
        </p:nvSpPr>
        <p:spPr>
          <a:xfrm>
            <a:off x="1180367" y="3045278"/>
            <a:ext cx="7175719" cy="232345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32</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547437" y="1632364"/>
            <a:ext cx="8596563" cy="1605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寻找删除操作发生的叶节点</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如果不存在该查找键，直接结束</a:t>
            </a:r>
            <a:endParaRPr lang="en-US" altLang="zh-CN" sz="1500" kern="0" dirty="0">
              <a:solidFill>
                <a:srgbClr val="000000"/>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如果删除操作不会发生下溢，删除索引记录后结束</a:t>
            </a:r>
            <a:endParaRPr lang="en-US" altLang="zh-CN" sz="1500" kern="0" dirty="0">
              <a:solidFill>
                <a:srgbClr val="000000"/>
              </a:solidFill>
              <a:latin typeface="微软雅黑" panose="020B0503020204020204" pitchFamily="82" charset="2"/>
              <a:ea typeface="微软雅黑" panose="020B0503020204020204" pitchFamily="82" charset="2"/>
            </a:endParaRPr>
          </a:p>
        </p:txBody>
      </p:sp>
      <p:pic>
        <p:nvPicPr>
          <p:cNvPr id="10" name="图片 9"/>
          <p:cNvPicPr>
            <a:picLocks noChangeAspect="1"/>
          </p:cNvPicPr>
          <p:nvPr/>
        </p:nvPicPr>
        <p:blipFill>
          <a:blip r:embed="rId2"/>
          <a:stretch>
            <a:fillRect/>
          </a:stretch>
        </p:blipFill>
        <p:spPr>
          <a:xfrm>
            <a:off x="1447809" y="3547539"/>
            <a:ext cx="6637190" cy="1314715"/>
          </a:xfrm>
          <a:prstGeom prst="rect">
            <a:avLst/>
          </a:prstGeom>
        </p:spPr>
      </p:pic>
      <p:sp>
        <p:nvSpPr>
          <p:cNvPr id="11" name="文本框 10"/>
          <p:cNvSpPr txBox="1"/>
          <p:nvPr/>
        </p:nvSpPr>
        <p:spPr>
          <a:xfrm>
            <a:off x="3980510" y="3528052"/>
            <a:ext cx="819455" cy="300082"/>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FF0000"/>
                </a:solidFill>
                <a:latin typeface="微软雅黑" panose="020B0503020204020204" pitchFamily="82" charset="2"/>
                <a:ea typeface="微软雅黑" panose="020B0503020204020204" pitchFamily="82" charset="2"/>
              </a:rPr>
              <a:t>43</a:t>
            </a:r>
            <a:r>
              <a:rPr kumimoji="1" lang="zh-CN" altLang="en-US" sz="1350" dirty="0">
                <a:solidFill>
                  <a:srgbClr val="FF0000"/>
                </a:solidFill>
                <a:latin typeface="微软雅黑" panose="020B0503020204020204" pitchFamily="82" charset="2"/>
                <a:ea typeface="微软雅黑" panose="020B0503020204020204" pitchFamily="82" charset="2"/>
              </a:rPr>
              <a:t> </a:t>
            </a:r>
            <a:r>
              <a:rPr kumimoji="1" lang="en-US" altLang="zh-CN" sz="1350" dirty="0">
                <a:solidFill>
                  <a:srgbClr val="FF0000"/>
                </a:solidFill>
                <a:latin typeface="微软雅黑" panose="020B0503020204020204" pitchFamily="82" charset="2"/>
                <a:ea typeface="微软雅黑" panose="020B0503020204020204" pitchFamily="82" charset="2"/>
              </a:rPr>
              <a:t>&lt; 61</a:t>
            </a:r>
            <a:endParaRPr kumimoji="1" lang="zh-CN" altLang="en-US" sz="1350" dirty="0">
              <a:solidFill>
                <a:srgbClr val="FF0000"/>
              </a:solidFill>
              <a:latin typeface="微软雅黑" panose="020B0503020204020204" pitchFamily="82" charset="2"/>
              <a:ea typeface="微软雅黑" panose="020B0503020204020204" pitchFamily="82" charset="2"/>
            </a:endParaRPr>
          </a:p>
        </p:txBody>
      </p:sp>
      <p:sp>
        <p:nvSpPr>
          <p:cNvPr id="12" name="文本框 11"/>
          <p:cNvSpPr txBox="1"/>
          <p:nvPr/>
        </p:nvSpPr>
        <p:spPr>
          <a:xfrm>
            <a:off x="5183056" y="3196876"/>
            <a:ext cx="732893" cy="30008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3B20FF"/>
                </a:solidFill>
                <a:latin typeface="微软雅黑" panose="020B0503020204020204" pitchFamily="82" charset="2"/>
                <a:ea typeface="微软雅黑" panose="020B0503020204020204" pitchFamily="82" charset="2"/>
              </a:rPr>
              <a:t>删除</a:t>
            </a:r>
            <a:r>
              <a:rPr kumimoji="1" lang="en-US" altLang="zh-CN" sz="1350" dirty="0">
                <a:solidFill>
                  <a:srgbClr val="3B20FF"/>
                </a:solidFill>
                <a:latin typeface="微软雅黑" panose="020B0503020204020204" pitchFamily="82" charset="2"/>
                <a:ea typeface="微软雅黑" panose="020B0503020204020204" pitchFamily="82" charset="2"/>
              </a:rPr>
              <a:t>43</a:t>
            </a:r>
            <a:endParaRPr kumimoji="1" lang="zh-CN" altLang="en-US" sz="1350" dirty="0">
              <a:solidFill>
                <a:srgbClr val="3B20FF"/>
              </a:solidFill>
              <a:latin typeface="微软雅黑" panose="020B0503020204020204" pitchFamily="82" charset="2"/>
              <a:ea typeface="微软雅黑" panose="020B0503020204020204" pitchFamily="82" charset="2"/>
            </a:endParaRPr>
          </a:p>
        </p:txBody>
      </p:sp>
      <p:sp>
        <p:nvSpPr>
          <p:cNvPr id="13" name="文本框 12"/>
          <p:cNvSpPr txBox="1"/>
          <p:nvPr/>
        </p:nvSpPr>
        <p:spPr>
          <a:xfrm>
            <a:off x="2251723" y="4078048"/>
            <a:ext cx="947695" cy="300082"/>
          </a:xfrm>
          <a:prstGeom prst="rect">
            <a:avLst/>
          </a:prstGeom>
          <a:noFill/>
        </p:spPr>
        <p:txBody>
          <a:bodyPr wrap="none" rtlCol="0">
            <a:spAutoFit/>
          </a:bodyPr>
          <a:lstStyle/>
          <a:p>
            <a:pPr defTabSz="685800" fontAlgn="auto">
              <a:spcBef>
                <a:spcPts val="0"/>
              </a:spcBef>
              <a:spcAft>
                <a:spcPts val="0"/>
              </a:spcAft>
            </a:pPr>
            <a:r>
              <a:rPr kumimoji="1" lang="en-US" altLang="zh-CN" sz="1350" dirty="0">
                <a:solidFill>
                  <a:srgbClr val="FF0000"/>
                </a:solidFill>
                <a:latin typeface="微软雅黑" panose="020B0503020204020204" pitchFamily="82" charset="2"/>
                <a:ea typeface="微软雅黑" panose="020B0503020204020204" pitchFamily="82" charset="2"/>
              </a:rPr>
              <a:t>43</a:t>
            </a:r>
            <a:r>
              <a:rPr kumimoji="1" lang="zh-CN" altLang="en-US" sz="1350" dirty="0">
                <a:solidFill>
                  <a:srgbClr val="FF0000"/>
                </a:solidFill>
                <a:latin typeface="微软雅黑" panose="020B0503020204020204" pitchFamily="82" charset="2"/>
                <a:ea typeface="微软雅黑" panose="020B0503020204020204" pitchFamily="82" charset="2"/>
              </a:rPr>
              <a:t> </a:t>
            </a:r>
            <a:r>
              <a:rPr kumimoji="1" lang="en-US" altLang="zh-CN" sz="1350" dirty="0">
                <a:solidFill>
                  <a:srgbClr val="FF0000"/>
                </a:solidFill>
                <a:latin typeface="微软雅黑" panose="020B0503020204020204" pitchFamily="82" charset="2"/>
                <a:ea typeface="微软雅黑" panose="020B0503020204020204" pitchFamily="82" charset="2"/>
              </a:rPr>
              <a:t>&lt;= 43</a:t>
            </a:r>
            <a:endParaRPr kumimoji="1" lang="zh-CN" altLang="en-US" sz="1350" dirty="0">
              <a:solidFill>
                <a:srgbClr val="FF0000"/>
              </a:solidFill>
              <a:latin typeface="微软雅黑" panose="020B0503020204020204" pitchFamily="82" charset="2"/>
              <a:ea typeface="微软雅黑" panose="020B0503020204020204" pitchFamily="82" charset="2"/>
            </a:endParaRPr>
          </a:p>
        </p:txBody>
      </p:sp>
      <p:sp>
        <p:nvSpPr>
          <p:cNvPr id="14" name="文本框 13"/>
          <p:cNvSpPr txBox="1"/>
          <p:nvPr/>
        </p:nvSpPr>
        <p:spPr>
          <a:xfrm>
            <a:off x="4352059" y="4938226"/>
            <a:ext cx="877163" cy="30008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srgbClr val="3B20FF"/>
                </a:solidFill>
                <a:latin typeface="微软雅黑" panose="020B0503020204020204" pitchFamily="82" charset="2"/>
                <a:ea typeface="微软雅黑" panose="020B0503020204020204" pitchFamily="82" charset="2"/>
              </a:rPr>
              <a:t>执行删除</a:t>
            </a:r>
          </a:p>
        </p:txBody>
      </p:sp>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p:cNvSpPr/>
          <p:nvPr/>
        </p:nvSpPr>
        <p:spPr>
          <a:xfrm>
            <a:off x="610043" y="1741278"/>
            <a:ext cx="7923914" cy="354975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7" name="Shape18"/>
          <p:cNvSpPr/>
          <p:nvPr/>
        </p:nvSpPr>
        <p:spPr>
          <a:xfrm>
            <a:off x="1164894" y="3029967"/>
            <a:ext cx="7018547" cy="189695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33</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703412" y="1741278"/>
            <a:ext cx="8596563" cy="1213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如果发生下溢</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800" kern="0" dirty="0">
                <a:solidFill>
                  <a:srgbClr val="000000"/>
                </a:solidFill>
                <a:latin typeface="微软雅黑" panose="020B0503020204020204" pitchFamily="82" charset="2"/>
                <a:ea typeface="微软雅黑" panose="020B0503020204020204" pitchFamily="82" charset="2"/>
              </a:rPr>
              <a:t>尝试从兄弟节点借入索引记录</a:t>
            </a:r>
            <a:endParaRPr lang="en-US" altLang="zh-CN" sz="1800" kern="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stretch>
            <a:fillRect/>
          </a:stretch>
        </p:blipFill>
        <p:spPr>
          <a:xfrm>
            <a:off x="1512886" y="3262319"/>
            <a:ext cx="6461483" cy="1543118"/>
          </a:xfrm>
          <a:prstGeom prst="rect">
            <a:avLst/>
          </a:prstGeom>
        </p:spPr>
      </p:pic>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p:cNvSpPr/>
          <p:nvPr/>
        </p:nvSpPr>
        <p:spPr>
          <a:xfrm>
            <a:off x="610043" y="1741278"/>
            <a:ext cx="7923914" cy="354975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8" name="Shape18"/>
          <p:cNvSpPr/>
          <p:nvPr/>
        </p:nvSpPr>
        <p:spPr>
          <a:xfrm>
            <a:off x="1190075" y="3079506"/>
            <a:ext cx="6896723" cy="186402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34</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787913" y="1719767"/>
            <a:ext cx="8596563" cy="121324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如果发生下溢</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800" kern="0" dirty="0">
                <a:solidFill>
                  <a:srgbClr val="000000"/>
                </a:solidFill>
                <a:latin typeface="微软雅黑" panose="020B0503020204020204" pitchFamily="82" charset="2"/>
                <a:ea typeface="微软雅黑" panose="020B0503020204020204" pitchFamily="82" charset="2"/>
              </a:rPr>
              <a:t>尝试从兄弟节点借入索引记录</a:t>
            </a:r>
            <a:endParaRPr lang="en-US" altLang="zh-CN" sz="1800" kern="0" dirty="0">
              <a:solidFill>
                <a:srgbClr val="000000"/>
              </a:solidFill>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2"/>
          <a:stretch>
            <a:fillRect/>
          </a:stretch>
        </p:blipFill>
        <p:spPr>
          <a:xfrm>
            <a:off x="1560005" y="3289419"/>
            <a:ext cx="6314126" cy="1346543"/>
          </a:xfrm>
          <a:prstGeom prst="rect">
            <a:avLst/>
          </a:prstGeom>
        </p:spPr>
      </p:pic>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p:cNvSpPr/>
          <p:nvPr/>
        </p:nvSpPr>
        <p:spPr>
          <a:xfrm>
            <a:off x="610043" y="1741278"/>
            <a:ext cx="7923914" cy="354975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7" name="Shape18"/>
          <p:cNvSpPr/>
          <p:nvPr/>
        </p:nvSpPr>
        <p:spPr>
          <a:xfrm>
            <a:off x="1191271" y="3336681"/>
            <a:ext cx="6847142" cy="185062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35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655957" y="1666209"/>
            <a:ext cx="8596563" cy="1213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如果发生下溢</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800" kern="0" dirty="0">
                <a:solidFill>
                  <a:srgbClr val="000000"/>
                </a:solidFill>
                <a:latin typeface="微软雅黑" panose="020B0503020204020204" pitchFamily="82" charset="2"/>
                <a:ea typeface="微软雅黑" panose="020B0503020204020204" pitchFamily="82" charset="2"/>
              </a:rPr>
              <a:t>尝试从兄弟节点借入索引记录</a:t>
            </a:r>
            <a:endParaRPr lang="en-US" altLang="zh-CN" sz="1800" kern="0" dirty="0">
              <a:solidFill>
                <a:srgbClr val="000000"/>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800" kern="0" dirty="0">
                <a:solidFill>
                  <a:srgbClr val="000000"/>
                </a:solidFill>
                <a:latin typeface="微软雅黑" panose="020B0503020204020204" pitchFamily="82" charset="2"/>
                <a:ea typeface="微软雅黑" panose="020B0503020204020204" pitchFamily="82" charset="2"/>
              </a:rPr>
              <a:t>如果兄弟节点无法借入（删除</a:t>
            </a:r>
            <a:r>
              <a:rPr lang="en-US" altLang="zh-CN" sz="1800" kern="0" dirty="0">
                <a:solidFill>
                  <a:srgbClr val="000000"/>
                </a:solidFill>
                <a:latin typeface="微软雅黑" panose="020B0503020204020204" pitchFamily="82" charset="2"/>
                <a:ea typeface="微软雅黑" panose="020B0503020204020204" pitchFamily="82" charset="2"/>
              </a:rPr>
              <a:t>61</a:t>
            </a:r>
            <a:r>
              <a:rPr lang="zh-CN" altLang="en-US" sz="1800" kern="0" dirty="0">
                <a:solidFill>
                  <a:srgbClr val="000000"/>
                </a:solidFill>
                <a:latin typeface="微软雅黑" panose="020B0503020204020204" pitchFamily="82" charset="2"/>
                <a:ea typeface="微软雅黑" panose="020B0503020204020204" pitchFamily="82" charset="2"/>
              </a:rPr>
              <a:t>后），则与兄弟节点合并</a:t>
            </a:r>
            <a:endParaRPr lang="en-US" altLang="zh-CN" sz="1800" kern="0" dirty="0">
              <a:solidFill>
                <a:srgbClr val="000000"/>
              </a:solidFill>
              <a:latin typeface="微软雅黑" panose="020B0503020204020204" pitchFamily="82" charset="2"/>
              <a:ea typeface="微软雅黑" panose="020B0503020204020204" pitchFamily="82" charset="2"/>
            </a:endParaRPr>
          </a:p>
        </p:txBody>
      </p:sp>
      <p:pic>
        <p:nvPicPr>
          <p:cNvPr id="9" name="图片 8"/>
          <p:cNvPicPr>
            <a:picLocks noChangeAspect="1"/>
          </p:cNvPicPr>
          <p:nvPr/>
        </p:nvPicPr>
        <p:blipFill>
          <a:blip r:embed="rId2"/>
          <a:stretch>
            <a:fillRect/>
          </a:stretch>
        </p:blipFill>
        <p:spPr>
          <a:xfrm>
            <a:off x="1318344" y="3560460"/>
            <a:ext cx="6655603" cy="1387874"/>
          </a:xfrm>
          <a:prstGeom prst="rect">
            <a:avLst/>
          </a:prstGeom>
        </p:spPr>
      </p:pic>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p:cNvSpPr/>
          <p:nvPr/>
        </p:nvSpPr>
        <p:spPr>
          <a:xfrm>
            <a:off x="610043" y="1741278"/>
            <a:ext cx="7923914" cy="370373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7" name="Shape18"/>
          <p:cNvSpPr/>
          <p:nvPr/>
        </p:nvSpPr>
        <p:spPr>
          <a:xfrm>
            <a:off x="1025280" y="3351023"/>
            <a:ext cx="6927423" cy="18723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Times New Roman" panose="02020603050405020304"/>
                <a:ea typeface="华文楷体" panose="02010600040101010101" pitchFamily="2" charset="-122"/>
              </a:rPr>
              <a:t>36</a:t>
            </a:fld>
            <a:endParaRPr lang="zh-CN" altLang="en-US" sz="1350">
              <a:solidFill>
                <a:srgbClr val="000000"/>
              </a:solidFill>
              <a:latin typeface="Times New Roman" panose="02020603050405020304"/>
              <a:ea typeface="华文楷体" panose="02010600040101010101" pitchFamily="2" charset="-12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703412" y="1708886"/>
            <a:ext cx="8596563" cy="1529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如果发生下溢</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尝试从兄弟节点借入索引记录</a:t>
            </a:r>
            <a:endParaRPr lang="en-US" altLang="zh-CN" sz="1500" kern="0" dirty="0">
              <a:solidFill>
                <a:srgbClr val="000000"/>
              </a:solidFill>
              <a:latin typeface="微软雅黑" panose="020B0503020204020204" pitchFamily="82" charset="2"/>
              <a:ea typeface="微软雅黑" panose="020B0503020204020204" pitchFamily="82" charset="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如果兄弟节点无法借入（删除</a:t>
            </a:r>
            <a:r>
              <a:rPr lang="en-US" altLang="zh-CN" sz="1500" kern="0" dirty="0">
                <a:solidFill>
                  <a:srgbClr val="000000"/>
                </a:solidFill>
                <a:latin typeface="微软雅黑" panose="020B0503020204020204" pitchFamily="82" charset="2"/>
                <a:ea typeface="微软雅黑" panose="020B0503020204020204" pitchFamily="82" charset="2"/>
              </a:rPr>
              <a:t>61</a:t>
            </a:r>
            <a:r>
              <a:rPr lang="zh-CN" altLang="en-US" sz="1500" kern="0" dirty="0">
                <a:solidFill>
                  <a:srgbClr val="000000"/>
                </a:solidFill>
                <a:latin typeface="微软雅黑" panose="020B0503020204020204" pitchFamily="82" charset="2"/>
                <a:ea typeface="微软雅黑" panose="020B0503020204020204" pitchFamily="82" charset="2"/>
              </a:rPr>
              <a:t>后），则与兄弟节点合并</a:t>
            </a:r>
            <a:endParaRPr lang="en-US" altLang="zh-CN" sz="1500" kern="0" dirty="0">
              <a:solidFill>
                <a:srgbClr val="000000"/>
              </a:solidFill>
              <a:latin typeface="微软雅黑" panose="020B0503020204020204" pitchFamily="82" charset="2"/>
              <a:ea typeface="微软雅黑" panose="020B0503020204020204" pitchFamily="82" charset="2"/>
            </a:endParaRPr>
          </a:p>
          <a:p>
            <a:pPr marL="791210" lvl="2" indent="-158115" defTabSz="685800">
              <a:lnSpc>
                <a:spcPct val="150000"/>
              </a:lnSpc>
              <a:spcBef>
                <a:spcPts val="0"/>
              </a:spcBef>
              <a:buSzPct val="50000"/>
              <a:buFont typeface="Wingdings" panose="05000000000000000000" pitchFamily="2" charset="2"/>
              <a:buChar char="p"/>
            </a:pPr>
            <a:r>
              <a:rPr lang="zh-CN" altLang="en-US" sz="1500" kern="0" dirty="0">
                <a:solidFill>
                  <a:srgbClr val="000000"/>
                </a:solidFill>
                <a:latin typeface="微软雅黑" panose="020B0503020204020204" pitchFamily="82" charset="2"/>
                <a:ea typeface="微软雅黑" panose="020B0503020204020204" pitchFamily="82" charset="2"/>
              </a:rPr>
              <a:t>从父节点拉取下溢节点与兄弟节点之间的查找键</a:t>
            </a:r>
            <a:endParaRPr lang="en-US" altLang="zh-CN" sz="1500" kern="0" dirty="0">
              <a:solidFill>
                <a:srgbClr val="000000"/>
              </a:solidFill>
              <a:latin typeface="微软雅黑" panose="020B0503020204020204" pitchFamily="82" charset="2"/>
              <a:ea typeface="微软雅黑" panose="020B0503020204020204" pitchFamily="82" charset="2"/>
            </a:endParaRPr>
          </a:p>
        </p:txBody>
      </p:sp>
      <p:pic>
        <p:nvPicPr>
          <p:cNvPr id="9" name="图片 8"/>
          <p:cNvPicPr>
            <a:picLocks noChangeAspect="1"/>
          </p:cNvPicPr>
          <p:nvPr/>
        </p:nvPicPr>
        <p:blipFill>
          <a:blip r:embed="rId2"/>
          <a:stretch>
            <a:fillRect/>
          </a:stretch>
        </p:blipFill>
        <p:spPr>
          <a:xfrm>
            <a:off x="1279518" y="3594737"/>
            <a:ext cx="6517674" cy="1359112"/>
          </a:xfrm>
          <a:prstGeom prst="rect">
            <a:avLst/>
          </a:prstGeom>
        </p:spPr>
      </p:pic>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Times New Roman" panose="02020603050405020304"/>
                <a:ea typeface="华文楷体" panose="02010600040101010101" pitchFamily="2" charset="-122"/>
              </a:rPr>
              <a:t>数据库系统</a:t>
            </a:r>
            <a:r>
              <a:rPr lang="en-US" altLang="zh-CN" sz="1350">
                <a:solidFill>
                  <a:srgbClr val="000000"/>
                </a:solidFill>
                <a:latin typeface="Times New Roman" panose="02020603050405020304"/>
                <a:ea typeface="华文楷体" panose="02010600040101010101" pitchFamily="2" charset="-122"/>
              </a:rPr>
              <a:t>—</a:t>
            </a:r>
            <a:r>
              <a:rPr lang="zh-CN" altLang="en-US" sz="1350">
                <a:solidFill>
                  <a:srgbClr val="000000"/>
                </a:solidFill>
                <a:latin typeface="Times New Roman" panose="02020603050405020304"/>
                <a:ea typeface="华文楷体" panose="02010600040101010101" pitchFamily="2" charset="-122"/>
              </a:rPr>
              <a:t>索引</a:t>
            </a:r>
            <a:endParaRPr lang="en-US" altLang="zh-CN" sz="900" dirty="0">
              <a:solidFill>
                <a:srgbClr val="000000"/>
              </a:solidFill>
              <a:latin typeface="Times New Roman" panose="02020603050405020304"/>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p:cNvSpPr/>
          <p:nvPr/>
        </p:nvSpPr>
        <p:spPr>
          <a:xfrm>
            <a:off x="610043" y="1741279"/>
            <a:ext cx="7923914" cy="36564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7" name="Shape18"/>
          <p:cNvSpPr/>
          <p:nvPr/>
        </p:nvSpPr>
        <p:spPr>
          <a:xfrm>
            <a:off x="1130791" y="3224944"/>
            <a:ext cx="7225295" cy="203992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37</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655957" y="1717675"/>
            <a:ext cx="8596563" cy="1529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spcBef>
                <a:spcPts val="0"/>
              </a:spcBef>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如果发生下溢</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尝试从兄弟节点借入索引记录</a:t>
            </a:r>
            <a:endParaRPr lang="en-US" altLang="zh-CN" sz="1500" kern="0" dirty="0">
              <a:solidFill>
                <a:srgbClr val="000000"/>
              </a:solidFill>
              <a:latin typeface="微软雅黑" panose="020B0503020204020204" pitchFamily="82" charset="2"/>
              <a:ea typeface="微软雅黑" panose="020B0503020204020204" pitchFamily="82" charset="2"/>
            </a:endParaRPr>
          </a:p>
          <a:p>
            <a:pPr marL="514350" lvl="1" indent="-198120" defTabSz="685800">
              <a:lnSpc>
                <a:spcPct val="150000"/>
              </a:lnSpc>
              <a:spcBef>
                <a:spcPts val="0"/>
              </a:spcBef>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如果兄弟节点无法借入（删除</a:t>
            </a:r>
            <a:r>
              <a:rPr lang="en-US" altLang="zh-CN" sz="1500" kern="0" dirty="0">
                <a:solidFill>
                  <a:srgbClr val="000000"/>
                </a:solidFill>
                <a:latin typeface="微软雅黑" panose="020B0503020204020204" pitchFamily="82" charset="2"/>
                <a:ea typeface="微软雅黑" panose="020B0503020204020204" pitchFamily="82" charset="2"/>
              </a:rPr>
              <a:t>61</a:t>
            </a:r>
            <a:r>
              <a:rPr lang="zh-CN" altLang="en-US" sz="1500" kern="0" dirty="0">
                <a:solidFill>
                  <a:srgbClr val="000000"/>
                </a:solidFill>
                <a:latin typeface="微软雅黑" panose="020B0503020204020204" pitchFamily="82" charset="2"/>
                <a:ea typeface="微软雅黑" panose="020B0503020204020204" pitchFamily="82" charset="2"/>
              </a:rPr>
              <a:t>后），则与兄弟节点合并</a:t>
            </a:r>
            <a:endParaRPr lang="en-US" altLang="zh-CN" sz="1500" kern="0" dirty="0">
              <a:solidFill>
                <a:srgbClr val="000000"/>
              </a:solidFill>
              <a:latin typeface="微软雅黑" panose="020B0503020204020204" pitchFamily="82" charset="2"/>
              <a:ea typeface="微软雅黑" panose="020B0503020204020204" pitchFamily="82" charset="2"/>
            </a:endParaRPr>
          </a:p>
          <a:p>
            <a:pPr marL="791210" lvl="2" indent="-158115" defTabSz="685800">
              <a:lnSpc>
                <a:spcPct val="150000"/>
              </a:lnSpc>
              <a:spcBef>
                <a:spcPts val="0"/>
              </a:spcBef>
            </a:pPr>
            <a:r>
              <a:rPr lang="zh-CN" altLang="en-US" sz="1500" kern="0" dirty="0">
                <a:solidFill>
                  <a:srgbClr val="000000"/>
                </a:solidFill>
                <a:latin typeface="微软雅黑" panose="020B0503020204020204" pitchFamily="82" charset="2"/>
                <a:ea typeface="微软雅黑" panose="020B0503020204020204" pitchFamily="82" charset="2"/>
              </a:rPr>
              <a:t>从父节点拉取下溢节点与兄弟节点之间的查找键</a:t>
            </a:r>
            <a:endParaRPr lang="en-US" altLang="zh-CN" sz="1500" kern="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stretch>
            <a:fillRect/>
          </a:stretch>
        </p:blipFill>
        <p:spPr>
          <a:xfrm>
            <a:off x="1206809" y="3380345"/>
            <a:ext cx="6881280" cy="1689661"/>
          </a:xfrm>
          <a:prstGeom prst="rect">
            <a:avLst/>
          </a:prstGeom>
        </p:spPr>
      </p:pic>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p:cNvSpPr/>
          <p:nvPr/>
        </p:nvSpPr>
        <p:spPr>
          <a:xfrm>
            <a:off x="610043" y="1650011"/>
            <a:ext cx="7997061" cy="376119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zh-CN" altLang="en-US" sz="1500" b="1" dirty="0">
              <a:solidFill>
                <a:srgbClr val="FFFFFF"/>
              </a:solidFill>
              <a:latin typeface="OPPOSans M" panose="00020600040101010101" pitchFamily="18" charset="-122"/>
              <a:ea typeface="OPPOSans M" panose="00020600040101010101" pitchFamily="18" charset="-122"/>
            </a:endParaRPr>
          </a:p>
        </p:txBody>
      </p:sp>
      <p:sp>
        <p:nvSpPr>
          <p:cNvPr id="8" name="Shape18"/>
          <p:cNvSpPr/>
          <p:nvPr/>
        </p:nvSpPr>
        <p:spPr>
          <a:xfrm>
            <a:off x="787913" y="3027139"/>
            <a:ext cx="7465751" cy="2263890"/>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Times New Roman" panose="02020603050405020304"/>
                <a:ea typeface="华文楷体" panose="02010600040101010101" pitchFamily="2" charset="-122"/>
              </a:rPr>
              <a:t>38</a:t>
            </a:fld>
            <a:endParaRPr lang="zh-CN" altLang="en-US" sz="1350">
              <a:solidFill>
                <a:srgbClr val="000000"/>
              </a:solidFill>
              <a:latin typeface="Times New Roman" panose="02020603050405020304"/>
              <a:ea typeface="华文楷体" panose="02010600040101010101" pitchFamily="2" charset="-122"/>
            </a:endParaRPr>
          </a:p>
        </p:txBody>
      </p:sp>
      <p:sp>
        <p:nvSpPr>
          <p:cNvPr id="3" name="标题 2"/>
          <p:cNvSpPr>
            <a:spLocks noGrp="1"/>
          </p:cNvSpPr>
          <p:nvPr>
            <p:ph type="title"/>
          </p:nvPr>
        </p:nvSpPr>
        <p:spPr/>
        <p:txBody>
          <a:bodyPr/>
          <a:lstStyle/>
          <a:p>
            <a:r>
              <a:rPr lang="en-US" altLang="zh-CN" sz="2700" dirty="0">
                <a:solidFill>
                  <a:srgbClr val="FF0000"/>
                </a:solidFill>
                <a:latin typeface="微软雅黑" panose="020B0503020204020204" pitchFamily="82" charset="2"/>
                <a:ea typeface="微软雅黑" panose="020B0503020204020204" pitchFamily="82" charset="2"/>
              </a:rPr>
              <a:t>B+</a:t>
            </a:r>
            <a:r>
              <a:rPr lang="zh-CN" altLang="en-US" sz="2700" dirty="0">
                <a:solidFill>
                  <a:srgbClr val="FF0000"/>
                </a:solidFill>
                <a:latin typeface="微软雅黑" panose="020B0503020204020204" pitchFamily="82" charset="2"/>
                <a:ea typeface="微软雅黑" panose="020B0503020204020204" pitchFamily="82" charset="2"/>
              </a:rPr>
              <a:t>删除算法</a:t>
            </a:r>
          </a:p>
        </p:txBody>
      </p:sp>
      <p:sp>
        <p:nvSpPr>
          <p:cNvPr id="5" name="内容占位符 3"/>
          <p:cNvSpPr txBox="1"/>
          <p:nvPr/>
        </p:nvSpPr>
        <p:spPr bwMode="auto">
          <a:xfrm>
            <a:off x="787913" y="1599362"/>
            <a:ext cx="8801100" cy="11655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lstStyle>
            <a:lvl1pPr marL="316230" indent="-316230" algn="l" rtl="0" eaLnBrk="1" fontAlgn="base" hangingPunct="1">
              <a:spcBef>
                <a:spcPct val="20000"/>
              </a:spcBef>
              <a:spcAft>
                <a:spcPct val="0"/>
              </a:spcAft>
              <a:buFont typeface="Wingdings" panose="05000000000000000000" pitchFamily="2" charset="2"/>
              <a:buChar char="p"/>
              <a:defRPr kumimoji="1" sz="3200" b="0">
                <a:solidFill>
                  <a:schemeClr val="tx1"/>
                </a:solidFill>
                <a:effectLst/>
                <a:latin typeface="黑体" panose="02010609060101010101" pitchFamily="49" charset="-122"/>
                <a:ea typeface="黑体" panose="02010609060101010101" pitchFamily="49" charset="-122"/>
                <a:cs typeface="Arial" panose="020B0604020202020204"/>
              </a:defRPr>
            </a:lvl1pPr>
            <a:lvl2pPr marL="685800" indent="-263525" algn="l" rtl="0" eaLnBrk="1" fontAlgn="base" hangingPunct="1">
              <a:spcBef>
                <a:spcPct val="20000"/>
              </a:spcBef>
              <a:spcAft>
                <a:spcPct val="0"/>
              </a:spcAft>
              <a:buChar char="–"/>
              <a:defRPr kumimoji="1" sz="2800" b="0">
                <a:solidFill>
                  <a:schemeClr val="tx1"/>
                </a:solidFill>
                <a:effectLst/>
                <a:latin typeface="黑体" panose="02010609060101010101" pitchFamily="49" charset="-122"/>
                <a:ea typeface="黑体" panose="02010609060101010101" pitchFamily="49" charset="-122"/>
                <a:cs typeface="Arial" panose="020B0604020202020204"/>
              </a:defRPr>
            </a:lvl2pPr>
            <a:lvl3pPr marL="1055370" indent="-210820" algn="l" rtl="0" eaLnBrk="1" fontAlgn="base" hangingPunct="1">
              <a:spcBef>
                <a:spcPct val="20000"/>
              </a:spcBef>
              <a:spcAft>
                <a:spcPct val="0"/>
              </a:spcAft>
              <a:buChar char="•"/>
              <a:defRPr kumimoji="1" sz="2400" b="0">
                <a:solidFill>
                  <a:schemeClr val="tx1"/>
                </a:solidFill>
                <a:effectLst/>
                <a:latin typeface="黑体" panose="02010609060101010101" pitchFamily="49" charset="-122"/>
                <a:ea typeface="黑体" panose="02010609060101010101" pitchFamily="49" charset="-122"/>
                <a:cs typeface="Arial" panose="020B0604020202020204"/>
              </a:defRPr>
            </a:lvl3pPr>
            <a:lvl4pPr marL="147701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4pPr>
            <a:lvl5pPr marL="189928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黑体" panose="02010609060101010101" pitchFamily="49" charset="-122"/>
                <a:ea typeface="黑体" panose="02010609060101010101" pitchFamily="49" charset="-122"/>
              </a:defRPr>
            </a:lvl5pPr>
            <a:lvl6pPr marL="232092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6pPr>
            <a:lvl7pPr marL="2743200"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7pPr>
            <a:lvl8pPr marL="316547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8pPr>
            <a:lvl9pPr marL="3587115" indent="-210820" algn="l" rtl="0" eaLnBrk="1" fontAlgn="base" hangingPunct="1">
              <a:spcBef>
                <a:spcPct val="20000"/>
              </a:spcBef>
              <a:spcAft>
                <a:spcPct val="0"/>
              </a:spcAft>
              <a:buChar char="»"/>
              <a:defRPr kumimoji="1" sz="1845">
                <a:solidFill>
                  <a:schemeClr val="tx1"/>
                </a:solidFill>
                <a:effectLst>
                  <a:outerShdw blurRad="38100" dist="38100" dir="2700000" algn="tl">
                    <a:srgbClr val="C0C0C0"/>
                  </a:outerShdw>
                </a:effectLst>
                <a:latin typeface="+mn-lt"/>
                <a:ea typeface="+mn-ea"/>
              </a:defRPr>
            </a:lvl9pPr>
          </a:lstStyle>
          <a:p>
            <a:pPr marL="237490" indent="-237490" defTabSz="685800">
              <a:lnSpc>
                <a:spcPct val="150000"/>
              </a:lnSpc>
              <a:buFont typeface="Wingdings" panose="05000000000000000000" pitchFamily="2" charset="2"/>
              <a:buChar char="Ø"/>
            </a:pPr>
            <a:r>
              <a:rPr lang="zh-CN" altLang="en-US" sz="1800" b="1" kern="0" dirty="0">
                <a:solidFill>
                  <a:srgbClr val="701988"/>
                </a:solidFill>
                <a:latin typeface="微软雅黑" panose="020B0503020204020204" pitchFamily="82" charset="2"/>
                <a:ea typeface="微软雅黑" panose="020B0503020204020204" pitchFamily="82" charset="2"/>
              </a:rPr>
              <a:t>父节点发生下溢出，同样方法进行解决</a:t>
            </a:r>
            <a:endParaRPr lang="en-US" altLang="zh-CN" sz="1800" b="1" kern="0" dirty="0">
              <a:solidFill>
                <a:srgbClr val="701988"/>
              </a:solidFill>
              <a:latin typeface="微软雅黑" panose="020B0503020204020204" pitchFamily="82" charset="2"/>
              <a:ea typeface="微软雅黑" panose="020B0503020204020204" pitchFamily="82" charset="2"/>
            </a:endParaRPr>
          </a:p>
          <a:p>
            <a:pPr marL="514350" lvl="1" indent="-198120" defTabSz="685800">
              <a:lnSpc>
                <a:spcPct val="150000"/>
              </a:lnSpc>
              <a:buFont typeface="Arial" panose="020B0604020202020204" pitchFamily="34" charset="0"/>
              <a:buChar char="•"/>
            </a:pPr>
            <a:r>
              <a:rPr lang="zh-CN" altLang="en-US" sz="1500" kern="0" dirty="0">
                <a:solidFill>
                  <a:srgbClr val="000000"/>
                </a:solidFill>
                <a:latin typeface="微软雅黑" panose="020B0503020204020204" pitchFamily="82" charset="2"/>
                <a:ea typeface="微软雅黑" panose="020B0503020204020204" pitchFamily="82" charset="2"/>
              </a:rPr>
              <a:t>此处为从兄弟节点借入节点</a:t>
            </a:r>
            <a:endParaRPr lang="en-US" altLang="zh-CN" sz="1500" kern="0" dirty="0">
              <a:solidFill>
                <a:srgbClr val="000000"/>
              </a:solidFill>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2"/>
          <a:stretch>
            <a:fillRect/>
          </a:stretch>
        </p:blipFill>
        <p:spPr>
          <a:xfrm>
            <a:off x="1041566" y="3231223"/>
            <a:ext cx="6942365" cy="1855880"/>
          </a:xfrm>
          <a:prstGeom prst="rect">
            <a:avLst/>
          </a:prstGeom>
        </p:spPr>
      </p:pic>
      <p:sp>
        <p:nvSpPr>
          <p:cNvPr id="4" name="页脚占位符 3"/>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Times New Roman" panose="02020603050405020304"/>
                <a:ea typeface="华文楷体" panose="02010600040101010101" pitchFamily="2" charset="-122"/>
              </a:rPr>
              <a:t>数据库系统</a:t>
            </a:r>
            <a:r>
              <a:rPr lang="en-US" altLang="zh-CN" sz="1350">
                <a:solidFill>
                  <a:srgbClr val="000000"/>
                </a:solidFill>
                <a:latin typeface="Times New Roman" panose="02020603050405020304"/>
                <a:ea typeface="华文楷体" panose="02010600040101010101" pitchFamily="2" charset="-122"/>
              </a:rPr>
              <a:t>—</a:t>
            </a:r>
            <a:r>
              <a:rPr lang="zh-CN" altLang="en-US" sz="1350">
                <a:solidFill>
                  <a:srgbClr val="000000"/>
                </a:solidFill>
                <a:latin typeface="Times New Roman" panose="02020603050405020304"/>
                <a:ea typeface="华文楷体" panose="02010600040101010101" pitchFamily="2" charset="-122"/>
              </a:rPr>
              <a:t>索引</a:t>
            </a:r>
            <a:endParaRPr lang="en-US" altLang="zh-CN" sz="900" dirty="0">
              <a:solidFill>
                <a:srgbClr val="000000"/>
              </a:solidFill>
              <a:latin typeface="Times New Roman" panose="02020603050405020304"/>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4"/>
          <p:cNvGrpSpPr/>
          <p:nvPr/>
        </p:nvGrpSpPr>
        <p:grpSpPr>
          <a:xfrm>
            <a:off x="3157538" y="1870075"/>
            <a:ext cx="1238250" cy="695325"/>
            <a:chOff x="856" y="1440"/>
            <a:chExt cx="1291" cy="667"/>
          </a:xfrm>
        </p:grpSpPr>
        <p:sp>
          <p:nvSpPr>
            <p:cNvPr id="63609"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610" name="Line 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611" name="Line 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612" name="Line 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613" name="Line 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614" name="Line 1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615" name="Line 1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3491" name="Text Box 12"/>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63492" name="Group 13"/>
          <p:cNvGrpSpPr/>
          <p:nvPr/>
        </p:nvGrpSpPr>
        <p:grpSpPr>
          <a:xfrm>
            <a:off x="1844675" y="3032125"/>
            <a:ext cx="1238250" cy="695325"/>
            <a:chOff x="856" y="1440"/>
            <a:chExt cx="1291" cy="667"/>
          </a:xfrm>
        </p:grpSpPr>
        <p:sp>
          <p:nvSpPr>
            <p:cNvPr id="63602"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603" name="Line 1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604" name="Line 1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605" name="Line 1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606" name="Line 1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607" name="Line 1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608" name="Line 2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3" name="Group 21"/>
          <p:cNvGrpSpPr/>
          <p:nvPr/>
        </p:nvGrpSpPr>
        <p:grpSpPr>
          <a:xfrm>
            <a:off x="5392738" y="3032125"/>
            <a:ext cx="1238250" cy="695325"/>
            <a:chOff x="856" y="1440"/>
            <a:chExt cx="1291" cy="667"/>
          </a:xfrm>
        </p:grpSpPr>
        <p:sp>
          <p:nvSpPr>
            <p:cNvPr id="63595"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96" name="Line 2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97" name="Line 2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98" name="Line 2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99" name="Line 2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600" name="Line 2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601" name="Line 2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4" name="Group 29"/>
          <p:cNvGrpSpPr/>
          <p:nvPr/>
        </p:nvGrpSpPr>
        <p:grpSpPr>
          <a:xfrm>
            <a:off x="185738" y="4308475"/>
            <a:ext cx="1238250" cy="695325"/>
            <a:chOff x="856" y="1440"/>
            <a:chExt cx="1291" cy="667"/>
          </a:xfrm>
        </p:grpSpPr>
        <p:sp>
          <p:nvSpPr>
            <p:cNvPr id="63588"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89" name="Line 3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90" name="Line 3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91" name="Line 3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92" name="Line 3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593" name="Line 3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594" name="Line 3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5" name="Group 37"/>
          <p:cNvGrpSpPr/>
          <p:nvPr/>
        </p:nvGrpSpPr>
        <p:grpSpPr>
          <a:xfrm>
            <a:off x="1671638" y="4308475"/>
            <a:ext cx="1238250" cy="695325"/>
            <a:chOff x="856" y="1440"/>
            <a:chExt cx="1291" cy="667"/>
          </a:xfrm>
        </p:grpSpPr>
        <p:sp>
          <p:nvSpPr>
            <p:cNvPr id="63581"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82" name="Line 3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83" name="Line 4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84" name="Line 4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85" name="Line 4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586" name="Line 4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587" name="Line 4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6" name="Group 45"/>
          <p:cNvGrpSpPr/>
          <p:nvPr/>
        </p:nvGrpSpPr>
        <p:grpSpPr>
          <a:xfrm>
            <a:off x="3157538" y="4308475"/>
            <a:ext cx="1238250" cy="695325"/>
            <a:chOff x="856" y="1440"/>
            <a:chExt cx="1291" cy="667"/>
          </a:xfrm>
        </p:grpSpPr>
        <p:sp>
          <p:nvSpPr>
            <p:cNvPr id="63574"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75" name="Line 4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76" name="Line 4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77" name="Line 4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78" name="Line 5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579" name="Line 5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580" name="Line 5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7" name="Group 53"/>
          <p:cNvGrpSpPr/>
          <p:nvPr/>
        </p:nvGrpSpPr>
        <p:grpSpPr>
          <a:xfrm>
            <a:off x="4643438" y="4308475"/>
            <a:ext cx="1238250" cy="695325"/>
            <a:chOff x="856" y="1440"/>
            <a:chExt cx="1291" cy="667"/>
          </a:xfrm>
        </p:grpSpPr>
        <p:sp>
          <p:nvSpPr>
            <p:cNvPr id="63567"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68" name="Line 5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69" name="Line 5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70" name="Line 5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71" name="Line 5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572" name="Line 5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573" name="Line 6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8" name="Group 61"/>
          <p:cNvGrpSpPr/>
          <p:nvPr/>
        </p:nvGrpSpPr>
        <p:grpSpPr>
          <a:xfrm>
            <a:off x="6129338" y="4308475"/>
            <a:ext cx="1238250" cy="695325"/>
            <a:chOff x="856" y="1440"/>
            <a:chExt cx="1291" cy="667"/>
          </a:xfrm>
        </p:grpSpPr>
        <p:sp>
          <p:nvSpPr>
            <p:cNvPr id="63560"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61" name="Line 6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62" name="Line 6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63" name="Line 6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64" name="Line 6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565" name="Line 6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566" name="Line 6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3499" name="Group 69"/>
          <p:cNvGrpSpPr/>
          <p:nvPr/>
        </p:nvGrpSpPr>
        <p:grpSpPr>
          <a:xfrm>
            <a:off x="7616825" y="4308475"/>
            <a:ext cx="1238250" cy="695325"/>
            <a:chOff x="856" y="1440"/>
            <a:chExt cx="1291" cy="667"/>
          </a:xfrm>
        </p:grpSpPr>
        <p:sp>
          <p:nvSpPr>
            <p:cNvPr id="63553"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3554" name="Line 7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3555" name="Line 7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3556" name="Line 7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3557" name="Line 7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3558" name="Line 7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3559" name="Line 7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3500" name="Text Box 77"/>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63501" name="Text Box 78"/>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3502" name="Text Box 79"/>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3503" name="Text Box 80"/>
          <p:cNvSpPr txBox="1"/>
          <p:nvPr/>
        </p:nvSpPr>
        <p:spPr>
          <a:xfrm>
            <a:off x="1027113" y="4279900"/>
            <a:ext cx="400050"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63504" name="Text Box 81"/>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63505" name="Text Box 82"/>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63506" name="Text Box 83"/>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3507" name="Text Box 84"/>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3508" name="Text Box 85"/>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3509" name="Text Box 86"/>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3510" name="Text Box 87"/>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3511" name="Text Box 88"/>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3512" name="Text Box 89"/>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3513" name="Text Box 90"/>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3514" name="Text Box 91"/>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3515" name="Text Box 92"/>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3516" name="Text Box 93"/>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3517" name="Text Box 94"/>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3518" name="Text Box 95"/>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grpSp>
        <p:nvGrpSpPr>
          <p:cNvPr id="63519" name="Group 96"/>
          <p:cNvGrpSpPr/>
          <p:nvPr/>
        </p:nvGrpSpPr>
        <p:grpSpPr>
          <a:xfrm>
            <a:off x="3749675" y="3587750"/>
            <a:ext cx="4154488" cy="730250"/>
            <a:chOff x="2362" y="2511"/>
            <a:chExt cx="2617" cy="625"/>
          </a:xfrm>
        </p:grpSpPr>
        <p:sp>
          <p:nvSpPr>
            <p:cNvPr id="63549" name="Line 97"/>
            <p:cNvSpPr/>
            <p:nvPr/>
          </p:nvSpPr>
          <p:spPr>
            <a:xfrm>
              <a:off x="4115" y="2519"/>
              <a:ext cx="864" cy="601"/>
            </a:xfrm>
            <a:prstGeom prst="line">
              <a:avLst/>
            </a:prstGeom>
            <a:ln w="9525" cap="flat" cmpd="sng">
              <a:solidFill>
                <a:srgbClr val="FF0066"/>
              </a:solidFill>
              <a:prstDash val="solid"/>
              <a:headEnd type="none" w="med" len="med"/>
              <a:tailEnd type="triangle" w="med" len="med"/>
            </a:ln>
          </p:spPr>
        </p:sp>
        <p:sp>
          <p:nvSpPr>
            <p:cNvPr id="63550" name="Line 98"/>
            <p:cNvSpPr/>
            <p:nvPr/>
          </p:nvSpPr>
          <p:spPr>
            <a:xfrm>
              <a:off x="3884" y="2511"/>
              <a:ext cx="173" cy="625"/>
            </a:xfrm>
            <a:prstGeom prst="line">
              <a:avLst/>
            </a:prstGeom>
            <a:ln w="9525" cap="flat" cmpd="sng">
              <a:solidFill>
                <a:srgbClr val="FF0066"/>
              </a:solidFill>
              <a:prstDash val="solid"/>
              <a:headEnd type="none" w="med" len="med"/>
              <a:tailEnd type="triangle" w="med" len="med"/>
            </a:ln>
          </p:spPr>
        </p:sp>
        <p:sp>
          <p:nvSpPr>
            <p:cNvPr id="63551" name="Line 99"/>
            <p:cNvSpPr/>
            <p:nvPr/>
          </p:nvSpPr>
          <p:spPr>
            <a:xfrm flipH="1">
              <a:off x="3136" y="2519"/>
              <a:ext cx="559" cy="601"/>
            </a:xfrm>
            <a:prstGeom prst="line">
              <a:avLst/>
            </a:prstGeom>
            <a:ln w="9525" cap="flat" cmpd="sng">
              <a:solidFill>
                <a:srgbClr val="FF0066"/>
              </a:solidFill>
              <a:prstDash val="solid"/>
              <a:headEnd type="none" w="med" len="med"/>
              <a:tailEnd type="triangle" w="med" len="med"/>
            </a:ln>
          </p:spPr>
        </p:sp>
        <p:sp>
          <p:nvSpPr>
            <p:cNvPr id="63552" name="Line 100"/>
            <p:cNvSpPr/>
            <p:nvPr/>
          </p:nvSpPr>
          <p:spPr>
            <a:xfrm flipH="1">
              <a:off x="2362" y="2527"/>
              <a:ext cx="1078" cy="593"/>
            </a:xfrm>
            <a:prstGeom prst="line">
              <a:avLst/>
            </a:prstGeom>
            <a:ln w="9525" cap="flat" cmpd="sng">
              <a:solidFill>
                <a:srgbClr val="FF0066"/>
              </a:solidFill>
              <a:prstDash val="solid"/>
              <a:headEnd type="none" w="med" len="med"/>
              <a:tailEnd type="triangle" w="med" len="med"/>
            </a:ln>
          </p:spPr>
        </p:sp>
      </p:grpSp>
      <p:grpSp>
        <p:nvGrpSpPr>
          <p:cNvPr id="63520" name="Group 101"/>
          <p:cNvGrpSpPr/>
          <p:nvPr/>
        </p:nvGrpSpPr>
        <p:grpSpPr>
          <a:xfrm>
            <a:off x="666750" y="3600450"/>
            <a:ext cx="1606550" cy="704850"/>
            <a:chOff x="420" y="2502"/>
            <a:chExt cx="1012" cy="626"/>
          </a:xfrm>
        </p:grpSpPr>
        <p:sp>
          <p:nvSpPr>
            <p:cNvPr id="63547" name="Line 102"/>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63548" name="Line 103"/>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63521" name="Group 104"/>
          <p:cNvGrpSpPr/>
          <p:nvPr/>
        </p:nvGrpSpPr>
        <p:grpSpPr>
          <a:xfrm>
            <a:off x="2338388" y="2403475"/>
            <a:ext cx="3227387" cy="627063"/>
            <a:chOff x="1473" y="1700"/>
            <a:chExt cx="2033" cy="625"/>
          </a:xfrm>
        </p:grpSpPr>
        <p:sp>
          <p:nvSpPr>
            <p:cNvPr id="63545" name="Line 105"/>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3546" name="Line 106"/>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3522" name="Line 107"/>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3523" name="Line 108"/>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3524" name="Line 109"/>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63525" name="Line 110"/>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63526" name="Line 111"/>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63527" name="Line 112"/>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63528" name="Line 113"/>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63529" name="Line 114"/>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63530" name="Line 115"/>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3531" name="Line 116"/>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3532" name="Line 117"/>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3533" name="Line 118"/>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3534" name="Line 119"/>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3535" name="Line 120"/>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3536" name="Line 121"/>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3537" name="Line 122"/>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3538" name="Line 123"/>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3539" name="Line 124"/>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3540" name="Line 125"/>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3541" name="Line 126"/>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3542" name="Line 127"/>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3543" name="Text Box 131"/>
          <p:cNvSpPr txBox="1"/>
          <p:nvPr/>
        </p:nvSpPr>
        <p:spPr>
          <a:xfrm>
            <a:off x="1216025" y="1116013"/>
            <a:ext cx="664527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：在下列</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树中删除键值为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 </a:t>
            </a:r>
          </a:p>
        </p:txBody>
      </p:sp>
      <p:sp>
        <p:nvSpPr>
          <p:cNvPr id="63544"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问题</a:t>
            </a:r>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4" name="Group 2"/>
          <p:cNvGrpSpPr/>
          <p:nvPr/>
        </p:nvGrpSpPr>
        <p:grpSpPr>
          <a:xfrm>
            <a:off x="3157538" y="1870075"/>
            <a:ext cx="1238250" cy="695325"/>
            <a:chOff x="856" y="1440"/>
            <a:chExt cx="1291" cy="667"/>
          </a:xfrm>
        </p:grpSpPr>
        <p:sp>
          <p:nvSpPr>
            <p:cNvPr id="64636"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637" name="Line 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638" name="Line 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639" name="Line 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640" name="Line 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641" name="Line 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42" name="Line 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4515" name="Text Box 10"/>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64516" name="Group 11"/>
          <p:cNvGrpSpPr/>
          <p:nvPr/>
        </p:nvGrpSpPr>
        <p:grpSpPr>
          <a:xfrm>
            <a:off x="1844675" y="3032125"/>
            <a:ext cx="1238250" cy="695325"/>
            <a:chOff x="856" y="1440"/>
            <a:chExt cx="1291" cy="667"/>
          </a:xfrm>
        </p:grpSpPr>
        <p:sp>
          <p:nvSpPr>
            <p:cNvPr id="64629"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630" name="Line 1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631" name="Line 1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632" name="Line 1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633" name="Line 1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634" name="Line 1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35" name="Line 1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17" name="Group 19"/>
          <p:cNvGrpSpPr/>
          <p:nvPr/>
        </p:nvGrpSpPr>
        <p:grpSpPr>
          <a:xfrm>
            <a:off x="5392738" y="3032125"/>
            <a:ext cx="1238250" cy="695325"/>
            <a:chOff x="856" y="1440"/>
            <a:chExt cx="1291" cy="667"/>
          </a:xfrm>
        </p:grpSpPr>
        <p:sp>
          <p:nvSpPr>
            <p:cNvPr id="64622"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623" name="Line 2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624" name="Line 2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625" name="Line 2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626" name="Line 2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627" name="Line 2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28" name="Line 2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18" name="Group 27"/>
          <p:cNvGrpSpPr/>
          <p:nvPr/>
        </p:nvGrpSpPr>
        <p:grpSpPr>
          <a:xfrm>
            <a:off x="185738" y="4322763"/>
            <a:ext cx="1238250" cy="695325"/>
            <a:chOff x="856" y="1440"/>
            <a:chExt cx="1291" cy="667"/>
          </a:xfrm>
        </p:grpSpPr>
        <p:sp>
          <p:nvSpPr>
            <p:cNvPr id="64615"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616" name="Line 2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617" name="Line 3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618" name="Line 3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619" name="Line 3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620" name="Line 3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21" name="Line 3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19" name="Group 35"/>
          <p:cNvGrpSpPr/>
          <p:nvPr/>
        </p:nvGrpSpPr>
        <p:grpSpPr>
          <a:xfrm>
            <a:off x="1671638" y="4308475"/>
            <a:ext cx="1238250" cy="695325"/>
            <a:chOff x="856" y="1440"/>
            <a:chExt cx="1291" cy="667"/>
          </a:xfrm>
        </p:grpSpPr>
        <p:sp>
          <p:nvSpPr>
            <p:cNvPr id="64608"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609" name="Line 3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610" name="Line 3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611" name="Line 3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612" name="Line 4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613" name="Line 4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14" name="Line 4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20" name="Group 43"/>
          <p:cNvGrpSpPr/>
          <p:nvPr/>
        </p:nvGrpSpPr>
        <p:grpSpPr>
          <a:xfrm>
            <a:off x="3157538" y="4308475"/>
            <a:ext cx="1238250" cy="695325"/>
            <a:chOff x="856" y="1440"/>
            <a:chExt cx="1291" cy="667"/>
          </a:xfrm>
        </p:grpSpPr>
        <p:sp>
          <p:nvSpPr>
            <p:cNvPr id="64601"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602" name="Line 4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603" name="Line 4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604" name="Line 4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605" name="Line 4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606" name="Line 4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07" name="Line 5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21" name="Group 51"/>
          <p:cNvGrpSpPr/>
          <p:nvPr/>
        </p:nvGrpSpPr>
        <p:grpSpPr>
          <a:xfrm>
            <a:off x="4643438" y="4308475"/>
            <a:ext cx="1238250" cy="695325"/>
            <a:chOff x="856" y="1440"/>
            <a:chExt cx="1291" cy="667"/>
          </a:xfrm>
        </p:grpSpPr>
        <p:sp>
          <p:nvSpPr>
            <p:cNvPr id="64594"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595" name="Line 5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596" name="Line 5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597" name="Line 5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598" name="Line 5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599" name="Line 5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600" name="Line 5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22" name="Group 59"/>
          <p:cNvGrpSpPr/>
          <p:nvPr/>
        </p:nvGrpSpPr>
        <p:grpSpPr>
          <a:xfrm>
            <a:off x="6129338" y="4308475"/>
            <a:ext cx="1238250" cy="695325"/>
            <a:chOff x="856" y="1440"/>
            <a:chExt cx="1291" cy="667"/>
          </a:xfrm>
        </p:grpSpPr>
        <p:sp>
          <p:nvSpPr>
            <p:cNvPr id="64587"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588" name="Line 6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589" name="Line 6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590" name="Line 6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591" name="Line 6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592" name="Line 6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593" name="Line 6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4523" name="Group 67"/>
          <p:cNvGrpSpPr/>
          <p:nvPr/>
        </p:nvGrpSpPr>
        <p:grpSpPr>
          <a:xfrm>
            <a:off x="7616825" y="4308475"/>
            <a:ext cx="1238250" cy="695325"/>
            <a:chOff x="856" y="1440"/>
            <a:chExt cx="1291" cy="667"/>
          </a:xfrm>
        </p:grpSpPr>
        <p:sp>
          <p:nvSpPr>
            <p:cNvPr id="64580" name="Rectangle 6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4581" name="Line 6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4582" name="Line 7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4583" name="Line 7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4584" name="Line 7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4585" name="Line 7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4586" name="Line 7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60555" name="Text Box 75"/>
          <p:cNvSpPr txBox="1"/>
          <p:nvPr/>
        </p:nvSpPr>
        <p:spPr>
          <a:xfrm>
            <a:off x="1787525" y="3013075"/>
            <a:ext cx="542925" cy="457200"/>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6666FF"/>
                </a:solidFill>
                <a:effectLst/>
                <a:uLnTx/>
                <a:uFillTx/>
                <a:latin typeface="Arial" panose="020B0604020202020204" pitchFamily="34" charset="0"/>
                <a:ea typeface="宋体" panose="02010600030101010101" pitchFamily="2" charset="-122"/>
                <a:cs typeface="+mn-cs"/>
              </a:rPr>
              <a:t>7</a:t>
            </a:r>
          </a:p>
        </p:txBody>
      </p:sp>
      <p:sp>
        <p:nvSpPr>
          <p:cNvPr id="64525" name="Text Box 76"/>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4526" name="Text Box 77"/>
          <p:cNvSpPr txBox="1"/>
          <p:nvPr/>
        </p:nvSpPr>
        <p:spPr>
          <a:xfrm>
            <a:off x="514350"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60558" name="Text Box 78"/>
          <p:cNvSpPr txBox="1"/>
          <p:nvPr/>
        </p:nvSpPr>
        <p:spPr>
          <a:xfrm>
            <a:off x="1012825" y="4264025"/>
            <a:ext cx="400050" cy="457200"/>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5</a:t>
            </a:r>
          </a:p>
        </p:txBody>
      </p:sp>
      <p:sp>
        <p:nvSpPr>
          <p:cNvPr id="660559" name="Text Box 79"/>
          <p:cNvSpPr txBox="1"/>
          <p:nvPr/>
        </p:nvSpPr>
        <p:spPr>
          <a:xfrm>
            <a:off x="1595438" y="4279900"/>
            <a:ext cx="542925" cy="457200"/>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6666FF"/>
                </a:solidFill>
                <a:effectLst/>
                <a:uLnTx/>
                <a:uFillTx/>
                <a:latin typeface="Arial" panose="020B0604020202020204" pitchFamily="34" charset="0"/>
                <a:ea typeface="宋体" panose="02010600030101010101" pitchFamily="2" charset="-122"/>
                <a:cs typeface="+mn-cs"/>
              </a:rPr>
              <a:t>7</a:t>
            </a:r>
          </a:p>
        </p:txBody>
      </p:sp>
      <p:sp>
        <p:nvSpPr>
          <p:cNvPr id="64529" name="Text Box 80"/>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64530" name="Text Box 81"/>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4531" name="Text Box 82"/>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4532" name="Text Box 83"/>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4533" name="Text Box 84"/>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4534" name="Text Box 85"/>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4535" name="Text Box 86"/>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4536" name="Text Box 87"/>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4537" name="Text Box 88"/>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4538" name="Text Box 89"/>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4539" name="Text Box 90"/>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4540" name="Text Box 91"/>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4541" name="Text Box 92"/>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4542" name="Text Box 93"/>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grpSp>
        <p:nvGrpSpPr>
          <p:cNvPr id="64543" name="Group 94"/>
          <p:cNvGrpSpPr/>
          <p:nvPr/>
        </p:nvGrpSpPr>
        <p:grpSpPr>
          <a:xfrm>
            <a:off x="3749675" y="3587750"/>
            <a:ext cx="4154488" cy="730250"/>
            <a:chOff x="2362" y="2511"/>
            <a:chExt cx="2617" cy="625"/>
          </a:xfrm>
        </p:grpSpPr>
        <p:sp>
          <p:nvSpPr>
            <p:cNvPr id="64576" name="Line 95"/>
            <p:cNvSpPr/>
            <p:nvPr/>
          </p:nvSpPr>
          <p:spPr>
            <a:xfrm>
              <a:off x="4115" y="2519"/>
              <a:ext cx="864" cy="601"/>
            </a:xfrm>
            <a:prstGeom prst="line">
              <a:avLst/>
            </a:prstGeom>
            <a:ln w="9525" cap="flat" cmpd="sng">
              <a:solidFill>
                <a:srgbClr val="FF0066"/>
              </a:solidFill>
              <a:prstDash val="solid"/>
              <a:headEnd type="none" w="med" len="med"/>
              <a:tailEnd type="triangle" w="med" len="med"/>
            </a:ln>
          </p:spPr>
        </p:sp>
        <p:sp>
          <p:nvSpPr>
            <p:cNvPr id="64577" name="Line 96"/>
            <p:cNvSpPr/>
            <p:nvPr/>
          </p:nvSpPr>
          <p:spPr>
            <a:xfrm>
              <a:off x="3884" y="2511"/>
              <a:ext cx="173" cy="625"/>
            </a:xfrm>
            <a:prstGeom prst="line">
              <a:avLst/>
            </a:prstGeom>
            <a:ln w="9525" cap="flat" cmpd="sng">
              <a:solidFill>
                <a:srgbClr val="FF0066"/>
              </a:solidFill>
              <a:prstDash val="solid"/>
              <a:headEnd type="none" w="med" len="med"/>
              <a:tailEnd type="triangle" w="med" len="med"/>
            </a:ln>
          </p:spPr>
        </p:sp>
        <p:sp>
          <p:nvSpPr>
            <p:cNvPr id="64578" name="Line 97"/>
            <p:cNvSpPr/>
            <p:nvPr/>
          </p:nvSpPr>
          <p:spPr>
            <a:xfrm flipH="1">
              <a:off x="3136" y="2519"/>
              <a:ext cx="559" cy="601"/>
            </a:xfrm>
            <a:prstGeom prst="line">
              <a:avLst/>
            </a:prstGeom>
            <a:ln w="9525" cap="flat" cmpd="sng">
              <a:solidFill>
                <a:srgbClr val="FF0066"/>
              </a:solidFill>
              <a:prstDash val="solid"/>
              <a:headEnd type="none" w="med" len="med"/>
              <a:tailEnd type="triangle" w="med" len="med"/>
            </a:ln>
          </p:spPr>
        </p:sp>
        <p:sp>
          <p:nvSpPr>
            <p:cNvPr id="64579" name="Line 98"/>
            <p:cNvSpPr/>
            <p:nvPr/>
          </p:nvSpPr>
          <p:spPr>
            <a:xfrm flipH="1">
              <a:off x="2362" y="2527"/>
              <a:ext cx="1078" cy="593"/>
            </a:xfrm>
            <a:prstGeom prst="line">
              <a:avLst/>
            </a:prstGeom>
            <a:ln w="9525" cap="flat" cmpd="sng">
              <a:solidFill>
                <a:srgbClr val="FF0066"/>
              </a:solidFill>
              <a:prstDash val="solid"/>
              <a:headEnd type="none" w="med" len="med"/>
              <a:tailEnd type="triangle" w="med" len="med"/>
            </a:ln>
          </p:spPr>
        </p:sp>
      </p:grpSp>
      <p:grpSp>
        <p:nvGrpSpPr>
          <p:cNvPr id="64544" name="Group 99"/>
          <p:cNvGrpSpPr/>
          <p:nvPr/>
        </p:nvGrpSpPr>
        <p:grpSpPr>
          <a:xfrm>
            <a:off x="666750" y="3600450"/>
            <a:ext cx="1606550" cy="704850"/>
            <a:chOff x="420" y="2502"/>
            <a:chExt cx="1012" cy="626"/>
          </a:xfrm>
        </p:grpSpPr>
        <p:sp>
          <p:nvSpPr>
            <p:cNvPr id="64574" name="Line 100"/>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64575" name="Line 101"/>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64545" name="Group 102"/>
          <p:cNvGrpSpPr/>
          <p:nvPr/>
        </p:nvGrpSpPr>
        <p:grpSpPr>
          <a:xfrm>
            <a:off x="2338388" y="2403475"/>
            <a:ext cx="3227387" cy="627063"/>
            <a:chOff x="1473" y="1700"/>
            <a:chExt cx="2033" cy="625"/>
          </a:xfrm>
        </p:grpSpPr>
        <p:sp>
          <p:nvSpPr>
            <p:cNvPr id="64572" name="Line 103"/>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4573" name="Line 104"/>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4546" name="Line 105"/>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4547" name="Line 106"/>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4548" name="Line 107"/>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660588" name="Line 108"/>
          <p:cNvSpPr/>
          <p:nvPr/>
        </p:nvSpPr>
        <p:spPr>
          <a:xfrm>
            <a:off x="936625" y="4867275"/>
            <a:ext cx="0" cy="365125"/>
          </a:xfrm>
          <a:prstGeom prst="line">
            <a:avLst/>
          </a:prstGeom>
          <a:ln w="9525" cap="flat" cmpd="sng">
            <a:solidFill>
              <a:srgbClr val="FF0066"/>
            </a:solidFill>
            <a:prstDash val="solid"/>
            <a:headEnd type="none" w="med" len="med"/>
            <a:tailEnd type="triangle" w="med" len="med"/>
          </a:ln>
        </p:spPr>
      </p:sp>
      <p:sp>
        <p:nvSpPr>
          <p:cNvPr id="64550" name="Line 109"/>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660590" name="Line 110"/>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64552" name="Line 111"/>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64553" name="Line 112"/>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64554" name="Line 113"/>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4555" name="Line 114"/>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4556" name="Line 115"/>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4557" name="Line 116"/>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4558" name="Line 117"/>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4559" name="Line 118"/>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4560" name="Line 119"/>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4561" name="Line 120"/>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4562" name="Line 121"/>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4563" name="Line 122"/>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4564" name="Line 123"/>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4565" name="Line 124"/>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4566" name="Line 125"/>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4567"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删除过程与合并过程示意 </a:t>
            </a:r>
          </a:p>
        </p:txBody>
      </p:sp>
      <p:sp>
        <p:nvSpPr>
          <p:cNvPr id="64568" name="Text Box 129"/>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进行中</a:t>
            </a:r>
          </a:p>
        </p:txBody>
      </p:sp>
      <p:sp>
        <p:nvSpPr>
          <p:cNvPr id="660610" name="Text Box 130"/>
          <p:cNvSpPr txBox="1"/>
          <p:nvPr/>
        </p:nvSpPr>
        <p:spPr>
          <a:xfrm>
            <a:off x="292100" y="5257800"/>
            <a:ext cx="8453438" cy="119062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叶子结点中寻找等于键值的记录，删除相应的指针及主文件中对应的记录</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调整其左侧</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或右侧</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结点及本结点中的键值记录</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使其均衡存放于两个叶结点中</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如有调整，则进一步调整其上层非叶结点，重新确定其键值，以满足大于等于键值的记录都在其右侧</a:t>
            </a:r>
          </a:p>
        </p:txBody>
      </p:sp>
      <p:sp>
        <p:nvSpPr>
          <p:cNvPr id="660612" name="Text Box 132"/>
          <p:cNvSpPr txBox="1"/>
          <p:nvPr/>
        </p:nvSpPr>
        <p:spPr>
          <a:xfrm>
            <a:off x="1603375" y="4271963"/>
            <a:ext cx="542925" cy="457200"/>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5</a:t>
            </a:r>
          </a:p>
        </p:txBody>
      </p:sp>
      <p:sp>
        <p:nvSpPr>
          <p:cNvPr id="660613" name="Text Box 133"/>
          <p:cNvSpPr txBox="1"/>
          <p:nvPr/>
        </p:nvSpPr>
        <p:spPr>
          <a:xfrm>
            <a:off x="1801813" y="2973388"/>
            <a:ext cx="542925" cy="457200"/>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5</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0610">
                                            <p:txEl>
                                              <p:pRg st="0" end="0"/>
                                            </p:txEl>
                                          </p:spTgt>
                                        </p:tgtEl>
                                        <p:attrNameLst>
                                          <p:attrName>style.visibility</p:attrName>
                                        </p:attrNameLst>
                                      </p:cBhvr>
                                      <p:to>
                                        <p:strVal val="visible"/>
                                      </p:to>
                                    </p:set>
                                    <p:anim calcmode="lin" valueType="num">
                                      <p:cBhvr additive="base">
                                        <p:cTn id="7" dur="500" fill="hold"/>
                                        <p:tgtEl>
                                          <p:spTgt spid="6606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06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xit" presetSubtype="16" fill="hold" grpId="0" nodeType="clickEffect">
                                  <p:stCondLst>
                                    <p:cond delay="0"/>
                                  </p:stCondLst>
                                  <p:childTnLst>
                                    <p:animEffect transition="out" filter="box(in)">
                                      <p:cBhvr>
                                        <p:cTn id="12" dur="500"/>
                                        <p:tgtEl>
                                          <p:spTgt spid="660559"/>
                                        </p:tgtEl>
                                      </p:cBhvr>
                                    </p:animEffect>
                                    <p:set>
                                      <p:cBhvr>
                                        <p:cTn id="13" dur="1" fill="hold">
                                          <p:stCondLst>
                                            <p:cond delay="499"/>
                                          </p:stCondLst>
                                        </p:cTn>
                                        <p:tgtEl>
                                          <p:spTgt spid="660559"/>
                                        </p:tgtEl>
                                        <p:attrNameLst>
                                          <p:attrName>style.visibility</p:attrName>
                                        </p:attrNameLst>
                                      </p:cBhvr>
                                      <p:to>
                                        <p:strVal val="hidden"/>
                                      </p:to>
                                    </p:set>
                                  </p:childTnLst>
                                </p:cTn>
                              </p:par>
                              <p:par>
                                <p:cTn id="14" presetID="4" presetClass="exit" presetSubtype="16" fill="hold" nodeType="withEffect">
                                  <p:stCondLst>
                                    <p:cond delay="0"/>
                                  </p:stCondLst>
                                  <p:childTnLst>
                                    <p:animEffect transition="out" filter="box(in)">
                                      <p:cBhvr>
                                        <p:cTn id="15" dur="500"/>
                                        <p:tgtEl>
                                          <p:spTgt spid="660590"/>
                                        </p:tgtEl>
                                      </p:cBhvr>
                                    </p:animEffect>
                                    <p:set>
                                      <p:cBhvr>
                                        <p:cTn id="16" dur="1" fill="hold">
                                          <p:stCondLst>
                                            <p:cond delay="499"/>
                                          </p:stCondLst>
                                        </p:cTn>
                                        <p:tgtEl>
                                          <p:spTgt spid="66059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60610">
                                            <p:txEl>
                                              <p:pRg st="1" end="1"/>
                                            </p:txEl>
                                          </p:spTgt>
                                        </p:tgtEl>
                                        <p:attrNameLst>
                                          <p:attrName>style.visibility</p:attrName>
                                        </p:attrNameLst>
                                      </p:cBhvr>
                                      <p:to>
                                        <p:strVal val="visible"/>
                                      </p:to>
                                    </p:set>
                                    <p:anim calcmode="lin" valueType="num">
                                      <p:cBhvr additive="base">
                                        <p:cTn id="21" dur="500" fill="hold"/>
                                        <p:tgtEl>
                                          <p:spTgt spid="660610">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606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0" nodeType="clickEffect">
                                  <p:stCondLst>
                                    <p:cond delay="0"/>
                                  </p:stCondLst>
                                  <p:childTnLst>
                                    <p:animEffect transition="out" filter="box(in)">
                                      <p:cBhvr>
                                        <p:cTn id="26" dur="500"/>
                                        <p:tgtEl>
                                          <p:spTgt spid="660558"/>
                                        </p:tgtEl>
                                      </p:cBhvr>
                                    </p:animEffect>
                                    <p:set>
                                      <p:cBhvr>
                                        <p:cTn id="27" dur="1" fill="hold">
                                          <p:stCondLst>
                                            <p:cond delay="499"/>
                                          </p:stCondLst>
                                        </p:cTn>
                                        <p:tgtEl>
                                          <p:spTgt spid="660558"/>
                                        </p:tgtEl>
                                        <p:attrNameLst>
                                          <p:attrName>style.visibility</p:attrName>
                                        </p:attrNameLst>
                                      </p:cBhvr>
                                      <p:to>
                                        <p:strVal val="hidden"/>
                                      </p:to>
                                    </p:set>
                                  </p:childTnLst>
                                </p:cTn>
                              </p:par>
                              <p:par>
                                <p:cTn id="28" presetID="4" presetClass="exit" presetSubtype="16" fill="hold" nodeType="withEffect">
                                  <p:stCondLst>
                                    <p:cond delay="0"/>
                                  </p:stCondLst>
                                  <p:childTnLst>
                                    <p:animEffect transition="out" filter="box(in)">
                                      <p:cBhvr>
                                        <p:cTn id="29" dur="500"/>
                                        <p:tgtEl>
                                          <p:spTgt spid="660588"/>
                                        </p:tgtEl>
                                      </p:cBhvr>
                                    </p:animEffect>
                                    <p:set>
                                      <p:cBhvr>
                                        <p:cTn id="30" dur="1" fill="hold">
                                          <p:stCondLst>
                                            <p:cond delay="499"/>
                                          </p:stCondLst>
                                        </p:cTn>
                                        <p:tgtEl>
                                          <p:spTgt spid="660588"/>
                                        </p:tgtEl>
                                        <p:attrNameLst>
                                          <p:attrName>style.visibility</p:attrName>
                                        </p:attrNameLst>
                                      </p:cBhvr>
                                      <p:to>
                                        <p:strVal val="hidden"/>
                                      </p:to>
                                    </p:set>
                                  </p:childTnLst>
                                </p:cTn>
                              </p:par>
                              <p:par>
                                <p:cTn id="31" presetID="4" presetClass="entr" presetSubtype="16" fill="hold" grpId="0" nodeType="withEffect">
                                  <p:stCondLst>
                                    <p:cond delay="0"/>
                                  </p:stCondLst>
                                  <p:childTnLst>
                                    <p:set>
                                      <p:cBhvr>
                                        <p:cTn id="32" dur="1" fill="hold">
                                          <p:stCondLst>
                                            <p:cond delay="0"/>
                                          </p:stCondLst>
                                        </p:cTn>
                                        <p:tgtEl>
                                          <p:spTgt spid="660612"/>
                                        </p:tgtEl>
                                        <p:attrNameLst>
                                          <p:attrName>style.visibility</p:attrName>
                                        </p:attrNameLst>
                                      </p:cBhvr>
                                      <p:to>
                                        <p:strVal val="visible"/>
                                      </p:to>
                                    </p:set>
                                    <p:animEffect transition="in" filter="box(in)">
                                      <p:cBhvr>
                                        <p:cTn id="33" dur="500"/>
                                        <p:tgtEl>
                                          <p:spTgt spid="660612"/>
                                        </p:tgtEl>
                                      </p:cBhvr>
                                    </p:animEffect>
                                  </p:childTnLst>
                                </p:cTn>
                              </p:par>
                              <p:par>
                                <p:cTn id="34" presetID="4" presetClass="entr" presetSubtype="16" fill="hold" nodeType="withEffect">
                                  <p:stCondLst>
                                    <p:cond delay="0"/>
                                  </p:stCondLst>
                                  <p:childTnLst>
                                    <p:set>
                                      <p:cBhvr>
                                        <p:cTn id="35" dur="1" fill="hold">
                                          <p:stCondLst>
                                            <p:cond delay="0"/>
                                          </p:stCondLst>
                                        </p:cTn>
                                        <p:tgtEl>
                                          <p:spTgt spid="660590"/>
                                        </p:tgtEl>
                                        <p:attrNameLst>
                                          <p:attrName>style.visibility</p:attrName>
                                        </p:attrNameLst>
                                      </p:cBhvr>
                                      <p:to>
                                        <p:strVal val="visible"/>
                                      </p:to>
                                    </p:set>
                                    <p:animEffect transition="in" filter="box(in)">
                                      <p:cBhvr>
                                        <p:cTn id="36" dur="500"/>
                                        <p:tgtEl>
                                          <p:spTgt spid="660590"/>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60610">
                                            <p:txEl>
                                              <p:pRg st="2" end="2"/>
                                            </p:txEl>
                                          </p:spTgt>
                                        </p:tgtEl>
                                        <p:attrNameLst>
                                          <p:attrName>style.visibility</p:attrName>
                                        </p:attrNameLst>
                                      </p:cBhvr>
                                      <p:to>
                                        <p:strVal val="visible"/>
                                      </p:to>
                                    </p:set>
                                    <p:anim calcmode="lin" valueType="num">
                                      <p:cBhvr additive="base">
                                        <p:cTn id="41" dur="500" fill="hold"/>
                                        <p:tgtEl>
                                          <p:spTgt spid="660610">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606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 presetClass="exit" presetSubtype="16" fill="hold" grpId="0" nodeType="clickEffect">
                                  <p:stCondLst>
                                    <p:cond delay="0"/>
                                  </p:stCondLst>
                                  <p:childTnLst>
                                    <p:animEffect transition="out" filter="box(in)">
                                      <p:cBhvr>
                                        <p:cTn id="46" dur="500"/>
                                        <p:tgtEl>
                                          <p:spTgt spid="660555"/>
                                        </p:tgtEl>
                                      </p:cBhvr>
                                    </p:animEffect>
                                    <p:set>
                                      <p:cBhvr>
                                        <p:cTn id="47" dur="1" fill="hold">
                                          <p:stCondLst>
                                            <p:cond delay="499"/>
                                          </p:stCondLst>
                                        </p:cTn>
                                        <p:tgtEl>
                                          <p:spTgt spid="660555"/>
                                        </p:tgtEl>
                                        <p:attrNameLst>
                                          <p:attrName>style.visibility</p:attrName>
                                        </p:attrNameLst>
                                      </p:cBhvr>
                                      <p:to>
                                        <p:strVal val="hidden"/>
                                      </p:to>
                                    </p:set>
                                  </p:childTnLst>
                                </p:cTn>
                              </p:par>
                              <p:par>
                                <p:cTn id="48" presetID="4" presetClass="entr" presetSubtype="16" fill="hold" grpId="0" nodeType="withEffect">
                                  <p:stCondLst>
                                    <p:cond delay="0"/>
                                  </p:stCondLst>
                                  <p:childTnLst>
                                    <p:set>
                                      <p:cBhvr>
                                        <p:cTn id="49" dur="1" fill="hold">
                                          <p:stCondLst>
                                            <p:cond delay="0"/>
                                          </p:stCondLst>
                                        </p:cTn>
                                        <p:tgtEl>
                                          <p:spTgt spid="660613"/>
                                        </p:tgtEl>
                                        <p:attrNameLst>
                                          <p:attrName>style.visibility</p:attrName>
                                        </p:attrNameLst>
                                      </p:cBhvr>
                                      <p:to>
                                        <p:strVal val="visible"/>
                                      </p:to>
                                    </p:set>
                                    <p:animEffect transition="in" filter="box(in)">
                                      <p:cBhvr>
                                        <p:cTn id="50" dur="500"/>
                                        <p:tgtEl>
                                          <p:spTgt spid="660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555" grpId="0"/>
      <p:bldP spid="660558" grpId="0"/>
      <p:bldP spid="660559" grpId="0"/>
      <p:bldP spid="660612" grpId="0"/>
      <p:bldP spid="6606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4"/>
          <p:cNvGrpSpPr/>
          <p:nvPr/>
        </p:nvGrpSpPr>
        <p:grpSpPr>
          <a:xfrm>
            <a:off x="3157538" y="1870075"/>
            <a:ext cx="1238250" cy="695325"/>
            <a:chOff x="856" y="1440"/>
            <a:chExt cx="1291" cy="667"/>
          </a:xfrm>
        </p:grpSpPr>
        <p:sp>
          <p:nvSpPr>
            <p:cNvPr id="65656"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57" name="Line 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58" name="Line 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59" name="Line 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60" name="Line 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61" name="Line 1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62" name="Line 1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5539" name="Text Box 12"/>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65540" name="Group 13"/>
          <p:cNvGrpSpPr/>
          <p:nvPr/>
        </p:nvGrpSpPr>
        <p:grpSpPr>
          <a:xfrm>
            <a:off x="1844675" y="3032125"/>
            <a:ext cx="1238250" cy="695325"/>
            <a:chOff x="856" y="1440"/>
            <a:chExt cx="1291" cy="667"/>
          </a:xfrm>
        </p:grpSpPr>
        <p:sp>
          <p:nvSpPr>
            <p:cNvPr id="65649"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50" name="Line 1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51" name="Line 1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52" name="Line 1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53" name="Line 1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54" name="Line 1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55" name="Line 2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1" name="Group 21"/>
          <p:cNvGrpSpPr/>
          <p:nvPr/>
        </p:nvGrpSpPr>
        <p:grpSpPr>
          <a:xfrm>
            <a:off x="5392738" y="3032125"/>
            <a:ext cx="1238250" cy="695325"/>
            <a:chOff x="856" y="1440"/>
            <a:chExt cx="1291" cy="667"/>
          </a:xfrm>
        </p:grpSpPr>
        <p:sp>
          <p:nvSpPr>
            <p:cNvPr id="65642"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43" name="Line 2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44" name="Line 2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45" name="Line 2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46" name="Line 2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47" name="Line 2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48" name="Line 2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2" name="Group 29"/>
          <p:cNvGrpSpPr/>
          <p:nvPr/>
        </p:nvGrpSpPr>
        <p:grpSpPr>
          <a:xfrm>
            <a:off x="185738" y="4308475"/>
            <a:ext cx="1238250" cy="695325"/>
            <a:chOff x="856" y="1440"/>
            <a:chExt cx="1291" cy="667"/>
          </a:xfrm>
        </p:grpSpPr>
        <p:sp>
          <p:nvSpPr>
            <p:cNvPr id="65635"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36" name="Line 3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37" name="Line 3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38" name="Line 3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39" name="Line 3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40" name="Line 3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41" name="Line 3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3" name="Group 37"/>
          <p:cNvGrpSpPr/>
          <p:nvPr/>
        </p:nvGrpSpPr>
        <p:grpSpPr>
          <a:xfrm>
            <a:off x="1671638" y="4308475"/>
            <a:ext cx="1238250" cy="695325"/>
            <a:chOff x="856" y="1440"/>
            <a:chExt cx="1291" cy="667"/>
          </a:xfrm>
        </p:grpSpPr>
        <p:sp>
          <p:nvSpPr>
            <p:cNvPr id="65628"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29" name="Line 3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30" name="Line 4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31" name="Line 4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32" name="Line 4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33" name="Line 4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34" name="Line 4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4" name="Group 45"/>
          <p:cNvGrpSpPr/>
          <p:nvPr/>
        </p:nvGrpSpPr>
        <p:grpSpPr>
          <a:xfrm>
            <a:off x="3157538" y="4308475"/>
            <a:ext cx="1238250" cy="695325"/>
            <a:chOff x="856" y="1440"/>
            <a:chExt cx="1291" cy="667"/>
          </a:xfrm>
        </p:grpSpPr>
        <p:sp>
          <p:nvSpPr>
            <p:cNvPr id="65621"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22" name="Line 4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23" name="Line 4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24" name="Line 4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25" name="Line 5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26" name="Line 5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27" name="Line 5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5" name="Group 53"/>
          <p:cNvGrpSpPr/>
          <p:nvPr/>
        </p:nvGrpSpPr>
        <p:grpSpPr>
          <a:xfrm>
            <a:off x="4643438" y="4308475"/>
            <a:ext cx="1238250" cy="695325"/>
            <a:chOff x="856" y="1440"/>
            <a:chExt cx="1291" cy="667"/>
          </a:xfrm>
        </p:grpSpPr>
        <p:sp>
          <p:nvSpPr>
            <p:cNvPr id="65614"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15" name="Line 5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16" name="Line 5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17" name="Line 5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18" name="Line 5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19" name="Line 5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20" name="Line 6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6" name="Group 61"/>
          <p:cNvGrpSpPr/>
          <p:nvPr/>
        </p:nvGrpSpPr>
        <p:grpSpPr>
          <a:xfrm>
            <a:off x="6129338" y="4308475"/>
            <a:ext cx="1238250" cy="695325"/>
            <a:chOff x="856" y="1440"/>
            <a:chExt cx="1291" cy="667"/>
          </a:xfrm>
        </p:grpSpPr>
        <p:sp>
          <p:nvSpPr>
            <p:cNvPr id="65607"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08" name="Line 6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09" name="Line 6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10" name="Line 6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11" name="Line 6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12" name="Line 6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13" name="Line 6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5547" name="Group 69"/>
          <p:cNvGrpSpPr/>
          <p:nvPr/>
        </p:nvGrpSpPr>
        <p:grpSpPr>
          <a:xfrm>
            <a:off x="7616825" y="4308475"/>
            <a:ext cx="1238250" cy="695325"/>
            <a:chOff x="856" y="1440"/>
            <a:chExt cx="1291" cy="667"/>
          </a:xfrm>
        </p:grpSpPr>
        <p:sp>
          <p:nvSpPr>
            <p:cNvPr id="65600"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5601" name="Line 7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5602" name="Line 7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5603" name="Line 7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5604" name="Line 7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5605" name="Line 7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5606" name="Line 7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5548" name="Text Box 77"/>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65549" name="Text Box 78"/>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5550" name="Text Box 79"/>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5551" name="Text Box 81"/>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65552" name="Text Box 82"/>
          <p:cNvSpPr txBox="1"/>
          <p:nvPr/>
        </p:nvSpPr>
        <p:spPr>
          <a:xfrm>
            <a:off x="1976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65553" name="Text Box 83"/>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5554" name="Text Box 84"/>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5555" name="Text Box 85"/>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5556" name="Text Box 86"/>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5557" name="Text Box 87"/>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5558" name="Text Box 88"/>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5559" name="Text Box 89"/>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5560" name="Text Box 90"/>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5561" name="Text Box 91"/>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5562" name="Text Box 92"/>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5563" name="Text Box 93"/>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5564" name="Text Box 94"/>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5565" name="Text Box 95"/>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grpSp>
        <p:nvGrpSpPr>
          <p:cNvPr id="65566" name="Group 96"/>
          <p:cNvGrpSpPr/>
          <p:nvPr/>
        </p:nvGrpSpPr>
        <p:grpSpPr>
          <a:xfrm>
            <a:off x="3749675" y="3587750"/>
            <a:ext cx="4154488" cy="730250"/>
            <a:chOff x="2362" y="2511"/>
            <a:chExt cx="2617" cy="625"/>
          </a:xfrm>
        </p:grpSpPr>
        <p:sp>
          <p:nvSpPr>
            <p:cNvPr id="65596" name="Line 97"/>
            <p:cNvSpPr/>
            <p:nvPr/>
          </p:nvSpPr>
          <p:spPr>
            <a:xfrm>
              <a:off x="4115" y="2519"/>
              <a:ext cx="864" cy="601"/>
            </a:xfrm>
            <a:prstGeom prst="line">
              <a:avLst/>
            </a:prstGeom>
            <a:ln w="9525" cap="flat" cmpd="sng">
              <a:solidFill>
                <a:srgbClr val="FF0066"/>
              </a:solidFill>
              <a:prstDash val="solid"/>
              <a:headEnd type="none" w="med" len="med"/>
              <a:tailEnd type="triangle" w="med" len="med"/>
            </a:ln>
          </p:spPr>
        </p:sp>
        <p:sp>
          <p:nvSpPr>
            <p:cNvPr id="65597" name="Line 98"/>
            <p:cNvSpPr/>
            <p:nvPr/>
          </p:nvSpPr>
          <p:spPr>
            <a:xfrm>
              <a:off x="3884" y="2511"/>
              <a:ext cx="173" cy="625"/>
            </a:xfrm>
            <a:prstGeom prst="line">
              <a:avLst/>
            </a:prstGeom>
            <a:ln w="9525" cap="flat" cmpd="sng">
              <a:solidFill>
                <a:srgbClr val="FF0066"/>
              </a:solidFill>
              <a:prstDash val="solid"/>
              <a:headEnd type="none" w="med" len="med"/>
              <a:tailEnd type="triangle" w="med" len="med"/>
            </a:ln>
          </p:spPr>
        </p:sp>
        <p:sp>
          <p:nvSpPr>
            <p:cNvPr id="65598" name="Line 99"/>
            <p:cNvSpPr/>
            <p:nvPr/>
          </p:nvSpPr>
          <p:spPr>
            <a:xfrm flipH="1">
              <a:off x="3136" y="2519"/>
              <a:ext cx="559" cy="601"/>
            </a:xfrm>
            <a:prstGeom prst="line">
              <a:avLst/>
            </a:prstGeom>
            <a:ln w="9525" cap="flat" cmpd="sng">
              <a:solidFill>
                <a:srgbClr val="FF0066"/>
              </a:solidFill>
              <a:prstDash val="solid"/>
              <a:headEnd type="none" w="med" len="med"/>
              <a:tailEnd type="triangle" w="med" len="med"/>
            </a:ln>
          </p:spPr>
        </p:sp>
        <p:sp>
          <p:nvSpPr>
            <p:cNvPr id="65599" name="Line 100"/>
            <p:cNvSpPr/>
            <p:nvPr/>
          </p:nvSpPr>
          <p:spPr>
            <a:xfrm flipH="1">
              <a:off x="2362" y="2527"/>
              <a:ext cx="1078" cy="593"/>
            </a:xfrm>
            <a:prstGeom prst="line">
              <a:avLst/>
            </a:prstGeom>
            <a:ln w="9525" cap="flat" cmpd="sng">
              <a:solidFill>
                <a:srgbClr val="FF0066"/>
              </a:solidFill>
              <a:prstDash val="solid"/>
              <a:headEnd type="none" w="med" len="med"/>
              <a:tailEnd type="triangle" w="med" len="med"/>
            </a:ln>
          </p:spPr>
        </p:sp>
      </p:grpSp>
      <p:grpSp>
        <p:nvGrpSpPr>
          <p:cNvPr id="65567" name="Group 101"/>
          <p:cNvGrpSpPr/>
          <p:nvPr/>
        </p:nvGrpSpPr>
        <p:grpSpPr>
          <a:xfrm>
            <a:off x="666750" y="3600450"/>
            <a:ext cx="1606550" cy="704850"/>
            <a:chOff x="420" y="2502"/>
            <a:chExt cx="1012" cy="626"/>
          </a:xfrm>
        </p:grpSpPr>
        <p:sp>
          <p:nvSpPr>
            <p:cNvPr id="65594" name="Line 102"/>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65595" name="Line 103"/>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65568" name="Group 104"/>
          <p:cNvGrpSpPr/>
          <p:nvPr/>
        </p:nvGrpSpPr>
        <p:grpSpPr>
          <a:xfrm>
            <a:off x="2338388" y="2403475"/>
            <a:ext cx="3227387" cy="627063"/>
            <a:chOff x="1473" y="1700"/>
            <a:chExt cx="2033" cy="625"/>
          </a:xfrm>
        </p:grpSpPr>
        <p:sp>
          <p:nvSpPr>
            <p:cNvPr id="65592" name="Line 105"/>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5593" name="Line 106"/>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5569" name="Line 107"/>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5570" name="Line 108"/>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5571" name="Line 109"/>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65572" name="Line 111"/>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65573" name="Line 112"/>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65574" name="Line 113"/>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65575" name="Line 114"/>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65576" name="Line 115"/>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5577" name="Line 116"/>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5578" name="Line 117"/>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5579" name="Line 118"/>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5580" name="Line 119"/>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5581" name="Line 120"/>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5582" name="Line 121"/>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5583" name="Line 122"/>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5584" name="Line 123"/>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5585" name="Line 124"/>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5586" name="Line 125"/>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5587" name="Line 126"/>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5588" name="Line 127"/>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5589" name="Text Box 160"/>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7</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最终状态</a:t>
            </a:r>
          </a:p>
        </p:txBody>
      </p:sp>
      <p:sp>
        <p:nvSpPr>
          <p:cNvPr id="439457" name="Text Box 161"/>
          <p:cNvSpPr txBox="1"/>
          <p:nvPr/>
        </p:nvSpPr>
        <p:spPr>
          <a:xfrm>
            <a:off x="1860550" y="5703888"/>
            <a:ext cx="664527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：在此</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树中删除键值为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 </a:t>
            </a:r>
          </a:p>
        </p:txBody>
      </p:sp>
      <p:sp>
        <p:nvSpPr>
          <p:cNvPr id="65591"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删除过程与合并过程示意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9457"/>
                                        </p:tgtEl>
                                        <p:attrNameLst>
                                          <p:attrName>style.visibility</p:attrName>
                                        </p:attrNameLst>
                                      </p:cBhvr>
                                      <p:to>
                                        <p:strVal val="visible"/>
                                      </p:to>
                                    </p:set>
                                    <p:anim calcmode="lin" valueType="num">
                                      <p:cBhvr additive="base">
                                        <p:cTn id="7" dur="500" fill="hold"/>
                                        <p:tgtEl>
                                          <p:spTgt spid="439457"/>
                                        </p:tgtEl>
                                        <p:attrNameLst>
                                          <p:attrName>ppt_x</p:attrName>
                                        </p:attrNameLst>
                                      </p:cBhvr>
                                      <p:tavLst>
                                        <p:tav tm="0">
                                          <p:val>
                                            <p:strVal val="#ppt_x"/>
                                          </p:val>
                                        </p:tav>
                                        <p:tav tm="100000">
                                          <p:val>
                                            <p:strVal val="#ppt_x"/>
                                          </p:val>
                                        </p:tav>
                                      </p:tavLst>
                                    </p:anim>
                                    <p:anim calcmode="lin" valueType="num">
                                      <p:cBhvr additive="base">
                                        <p:cTn id="8" dur="500" fill="hold"/>
                                        <p:tgtEl>
                                          <p:spTgt spid="4394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45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Group 4"/>
          <p:cNvGrpSpPr/>
          <p:nvPr/>
        </p:nvGrpSpPr>
        <p:grpSpPr>
          <a:xfrm>
            <a:off x="3157538" y="1870075"/>
            <a:ext cx="1238250" cy="695325"/>
            <a:chOff x="856" y="1440"/>
            <a:chExt cx="1291" cy="667"/>
          </a:xfrm>
        </p:grpSpPr>
        <p:sp>
          <p:nvSpPr>
            <p:cNvPr id="66683"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84" name="Line 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85" name="Line 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86" name="Line 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87" name="Line 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88" name="Line 1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89" name="Line 1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6563" name="Text Box 12"/>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66564" name="Group 13"/>
          <p:cNvGrpSpPr/>
          <p:nvPr/>
        </p:nvGrpSpPr>
        <p:grpSpPr>
          <a:xfrm>
            <a:off x="1844675" y="3032125"/>
            <a:ext cx="1238250" cy="695325"/>
            <a:chOff x="856" y="1440"/>
            <a:chExt cx="1291" cy="667"/>
          </a:xfrm>
        </p:grpSpPr>
        <p:sp>
          <p:nvSpPr>
            <p:cNvPr id="66676"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77" name="Line 1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78" name="Line 1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79" name="Line 1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80" name="Line 1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81" name="Line 1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82" name="Line 2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6565" name="Group 21"/>
          <p:cNvGrpSpPr/>
          <p:nvPr/>
        </p:nvGrpSpPr>
        <p:grpSpPr>
          <a:xfrm>
            <a:off x="5392738" y="3032125"/>
            <a:ext cx="1238250" cy="695325"/>
            <a:chOff x="856" y="1440"/>
            <a:chExt cx="1291" cy="667"/>
          </a:xfrm>
        </p:grpSpPr>
        <p:sp>
          <p:nvSpPr>
            <p:cNvPr id="66669"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70" name="Line 2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71" name="Line 2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72" name="Line 2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73" name="Line 2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74" name="Line 2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75" name="Line 2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6566" name="Group 29"/>
          <p:cNvGrpSpPr/>
          <p:nvPr/>
        </p:nvGrpSpPr>
        <p:grpSpPr>
          <a:xfrm>
            <a:off x="200025" y="4308475"/>
            <a:ext cx="1238250" cy="695325"/>
            <a:chOff x="856" y="1440"/>
            <a:chExt cx="1291" cy="667"/>
          </a:xfrm>
        </p:grpSpPr>
        <p:sp>
          <p:nvSpPr>
            <p:cNvPr id="66662"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63" name="Line 3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64" name="Line 3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65" name="Line 3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66" name="Line 3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67" name="Line 3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68" name="Line 3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 name="Group 37"/>
          <p:cNvGrpSpPr/>
          <p:nvPr/>
        </p:nvGrpSpPr>
        <p:grpSpPr>
          <a:xfrm>
            <a:off x="1671638" y="4308475"/>
            <a:ext cx="1238250" cy="695325"/>
            <a:chOff x="856" y="1440"/>
            <a:chExt cx="1291" cy="667"/>
          </a:xfrm>
        </p:grpSpPr>
        <p:sp>
          <p:nvSpPr>
            <p:cNvPr id="66655"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56" name="Line 3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57" name="Line 4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58" name="Line 4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59" name="Line 4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60" name="Line 4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61" name="Line 4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6568" name="Group 45"/>
          <p:cNvGrpSpPr/>
          <p:nvPr/>
        </p:nvGrpSpPr>
        <p:grpSpPr>
          <a:xfrm>
            <a:off x="3157538" y="4308475"/>
            <a:ext cx="1238250" cy="695325"/>
            <a:chOff x="856" y="1440"/>
            <a:chExt cx="1291" cy="667"/>
          </a:xfrm>
        </p:grpSpPr>
        <p:sp>
          <p:nvSpPr>
            <p:cNvPr id="66648"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49" name="Line 4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50" name="Line 4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51" name="Line 4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52" name="Line 5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53" name="Line 5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54" name="Line 5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6569" name="Group 53"/>
          <p:cNvGrpSpPr/>
          <p:nvPr/>
        </p:nvGrpSpPr>
        <p:grpSpPr>
          <a:xfrm>
            <a:off x="4643438" y="4308475"/>
            <a:ext cx="1238250" cy="695325"/>
            <a:chOff x="856" y="1440"/>
            <a:chExt cx="1291" cy="667"/>
          </a:xfrm>
        </p:grpSpPr>
        <p:sp>
          <p:nvSpPr>
            <p:cNvPr id="66641"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42" name="Line 5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43" name="Line 5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44" name="Line 5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45" name="Line 5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46" name="Line 5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47" name="Line 6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6570" name="Group 61"/>
          <p:cNvGrpSpPr/>
          <p:nvPr/>
        </p:nvGrpSpPr>
        <p:grpSpPr>
          <a:xfrm>
            <a:off x="6129338" y="4308475"/>
            <a:ext cx="1238250" cy="695325"/>
            <a:chOff x="856" y="1440"/>
            <a:chExt cx="1291" cy="667"/>
          </a:xfrm>
        </p:grpSpPr>
        <p:sp>
          <p:nvSpPr>
            <p:cNvPr id="66634"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35" name="Line 6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36" name="Line 6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37" name="Line 6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38" name="Line 6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39" name="Line 6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40" name="Line 6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6571" name="Group 69"/>
          <p:cNvGrpSpPr/>
          <p:nvPr/>
        </p:nvGrpSpPr>
        <p:grpSpPr>
          <a:xfrm>
            <a:off x="7616825" y="4308475"/>
            <a:ext cx="1238250" cy="695325"/>
            <a:chOff x="856" y="1440"/>
            <a:chExt cx="1291" cy="667"/>
          </a:xfrm>
        </p:grpSpPr>
        <p:sp>
          <p:nvSpPr>
            <p:cNvPr id="66627" name="Rectangle 7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628" name="Line 7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6629" name="Line 7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6630" name="Line 7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6631" name="Line 7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6632" name="Line 7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6633" name="Line 7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6572" name="Text Box 77"/>
          <p:cNvSpPr txBox="1"/>
          <p:nvPr/>
        </p:nvSpPr>
        <p:spPr>
          <a:xfrm>
            <a:off x="1787525" y="3013075"/>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5</a:t>
            </a:r>
          </a:p>
        </p:txBody>
      </p:sp>
      <p:sp>
        <p:nvSpPr>
          <p:cNvPr id="66573" name="Text Box 78"/>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6574" name="Text Box 79"/>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441424" name="Text Box 80"/>
          <p:cNvSpPr txBox="1"/>
          <p:nvPr/>
        </p:nvSpPr>
        <p:spPr>
          <a:xfrm>
            <a:off x="15954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5</a:t>
            </a:r>
          </a:p>
        </p:txBody>
      </p:sp>
      <p:sp>
        <p:nvSpPr>
          <p:cNvPr id="441425" name="Text Box 81"/>
          <p:cNvSpPr txBox="1"/>
          <p:nvPr/>
        </p:nvSpPr>
        <p:spPr>
          <a:xfrm>
            <a:off x="1962150"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11</a:t>
            </a:r>
          </a:p>
        </p:txBody>
      </p:sp>
      <p:sp>
        <p:nvSpPr>
          <p:cNvPr id="66577" name="Text Box 82"/>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6578" name="Text Box 83"/>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6579" name="Text Box 84"/>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6580" name="Text Box 85"/>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6581" name="Text Box 86"/>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6582" name="Text Box 87"/>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6583" name="Text Box 88"/>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6584" name="Text Box 89"/>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6585" name="Text Box 90"/>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6586" name="Text Box 91"/>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6587" name="Text Box 92"/>
          <p:cNvSpPr txBox="1"/>
          <p:nvPr/>
        </p:nvSpPr>
        <p:spPr>
          <a:xfrm>
            <a:off x="53244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6588" name="Text Box 93"/>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6589" name="Text Box 94"/>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grpSp>
        <p:nvGrpSpPr>
          <p:cNvPr id="66590" name="Group 95"/>
          <p:cNvGrpSpPr/>
          <p:nvPr/>
        </p:nvGrpSpPr>
        <p:grpSpPr>
          <a:xfrm>
            <a:off x="3749675" y="3587750"/>
            <a:ext cx="4154488" cy="730250"/>
            <a:chOff x="2362" y="2511"/>
            <a:chExt cx="2617" cy="625"/>
          </a:xfrm>
        </p:grpSpPr>
        <p:sp>
          <p:nvSpPr>
            <p:cNvPr id="66623" name="Line 96"/>
            <p:cNvSpPr/>
            <p:nvPr/>
          </p:nvSpPr>
          <p:spPr>
            <a:xfrm>
              <a:off x="4115" y="2519"/>
              <a:ext cx="864" cy="601"/>
            </a:xfrm>
            <a:prstGeom prst="line">
              <a:avLst/>
            </a:prstGeom>
            <a:ln w="9525" cap="flat" cmpd="sng">
              <a:solidFill>
                <a:srgbClr val="FF0066"/>
              </a:solidFill>
              <a:prstDash val="solid"/>
              <a:headEnd type="none" w="med" len="med"/>
              <a:tailEnd type="triangle" w="med" len="med"/>
            </a:ln>
          </p:spPr>
        </p:sp>
        <p:sp>
          <p:nvSpPr>
            <p:cNvPr id="66624" name="Line 97"/>
            <p:cNvSpPr/>
            <p:nvPr/>
          </p:nvSpPr>
          <p:spPr>
            <a:xfrm>
              <a:off x="3884" y="2511"/>
              <a:ext cx="173" cy="625"/>
            </a:xfrm>
            <a:prstGeom prst="line">
              <a:avLst/>
            </a:prstGeom>
            <a:ln w="9525" cap="flat" cmpd="sng">
              <a:solidFill>
                <a:srgbClr val="FF0066"/>
              </a:solidFill>
              <a:prstDash val="solid"/>
              <a:headEnd type="none" w="med" len="med"/>
              <a:tailEnd type="triangle" w="med" len="med"/>
            </a:ln>
          </p:spPr>
        </p:sp>
        <p:sp>
          <p:nvSpPr>
            <p:cNvPr id="66625" name="Line 98"/>
            <p:cNvSpPr/>
            <p:nvPr/>
          </p:nvSpPr>
          <p:spPr>
            <a:xfrm flipH="1">
              <a:off x="3136" y="2519"/>
              <a:ext cx="559" cy="601"/>
            </a:xfrm>
            <a:prstGeom prst="line">
              <a:avLst/>
            </a:prstGeom>
            <a:ln w="9525" cap="flat" cmpd="sng">
              <a:solidFill>
                <a:srgbClr val="FF0066"/>
              </a:solidFill>
              <a:prstDash val="solid"/>
              <a:headEnd type="none" w="med" len="med"/>
              <a:tailEnd type="triangle" w="med" len="med"/>
            </a:ln>
          </p:spPr>
        </p:sp>
        <p:sp>
          <p:nvSpPr>
            <p:cNvPr id="66626" name="Line 99"/>
            <p:cNvSpPr/>
            <p:nvPr/>
          </p:nvSpPr>
          <p:spPr>
            <a:xfrm flipH="1">
              <a:off x="2362" y="2527"/>
              <a:ext cx="1078" cy="593"/>
            </a:xfrm>
            <a:prstGeom prst="line">
              <a:avLst/>
            </a:prstGeom>
            <a:ln w="9525" cap="flat" cmpd="sng">
              <a:solidFill>
                <a:srgbClr val="FF0066"/>
              </a:solidFill>
              <a:prstDash val="solid"/>
              <a:headEnd type="none" w="med" len="med"/>
              <a:tailEnd type="triangle" w="med" len="med"/>
            </a:ln>
          </p:spPr>
        </p:sp>
      </p:grpSp>
      <p:grpSp>
        <p:nvGrpSpPr>
          <p:cNvPr id="66591" name="Group 100"/>
          <p:cNvGrpSpPr/>
          <p:nvPr/>
        </p:nvGrpSpPr>
        <p:grpSpPr>
          <a:xfrm>
            <a:off x="666750" y="3600450"/>
            <a:ext cx="1606550" cy="704850"/>
            <a:chOff x="420" y="2502"/>
            <a:chExt cx="1012" cy="626"/>
          </a:xfrm>
        </p:grpSpPr>
        <p:sp>
          <p:nvSpPr>
            <p:cNvPr id="66621" name="Line 101"/>
            <p:cNvSpPr/>
            <p:nvPr/>
          </p:nvSpPr>
          <p:spPr>
            <a:xfrm flipH="1">
              <a:off x="1276" y="2519"/>
              <a:ext cx="156" cy="601"/>
            </a:xfrm>
            <a:prstGeom prst="line">
              <a:avLst/>
            </a:prstGeom>
            <a:ln w="9525" cap="flat" cmpd="sng">
              <a:solidFill>
                <a:srgbClr val="FF0066"/>
              </a:solidFill>
              <a:prstDash val="solid"/>
              <a:headEnd type="none" w="med" len="med"/>
              <a:tailEnd type="triangle" w="med" len="med"/>
            </a:ln>
          </p:spPr>
        </p:sp>
        <p:sp>
          <p:nvSpPr>
            <p:cNvPr id="66622" name="Line 102"/>
            <p:cNvSpPr/>
            <p:nvPr/>
          </p:nvSpPr>
          <p:spPr>
            <a:xfrm flipH="1">
              <a:off x="420" y="2502"/>
              <a:ext cx="848" cy="626"/>
            </a:xfrm>
            <a:prstGeom prst="line">
              <a:avLst/>
            </a:prstGeom>
            <a:ln w="9525" cap="flat" cmpd="sng">
              <a:solidFill>
                <a:srgbClr val="FF0066"/>
              </a:solidFill>
              <a:prstDash val="solid"/>
              <a:headEnd type="none" w="med" len="med"/>
              <a:tailEnd type="triangle" w="med" len="med"/>
            </a:ln>
          </p:spPr>
        </p:sp>
      </p:grpSp>
      <p:grpSp>
        <p:nvGrpSpPr>
          <p:cNvPr id="66592" name="Group 103"/>
          <p:cNvGrpSpPr/>
          <p:nvPr/>
        </p:nvGrpSpPr>
        <p:grpSpPr>
          <a:xfrm>
            <a:off x="2338388" y="2403475"/>
            <a:ext cx="3227387" cy="627063"/>
            <a:chOff x="1473" y="1700"/>
            <a:chExt cx="2033" cy="625"/>
          </a:xfrm>
        </p:grpSpPr>
        <p:sp>
          <p:nvSpPr>
            <p:cNvPr id="66619" name="Line 104"/>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6620" name="Line 105"/>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6593" name="Line 106"/>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6594" name="Line 107"/>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6595" name="Line 108"/>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441453" name="Line 109"/>
          <p:cNvSpPr/>
          <p:nvPr/>
        </p:nvSpPr>
        <p:spPr>
          <a:xfrm>
            <a:off x="1293813" y="4840288"/>
            <a:ext cx="377825" cy="0"/>
          </a:xfrm>
          <a:prstGeom prst="line">
            <a:avLst/>
          </a:prstGeom>
          <a:ln w="9525" cap="flat" cmpd="sng">
            <a:solidFill>
              <a:srgbClr val="FF0066"/>
            </a:solidFill>
            <a:prstDash val="solid"/>
            <a:headEnd type="none" w="med" len="med"/>
            <a:tailEnd type="triangle" w="med" len="med"/>
          </a:ln>
        </p:spPr>
      </p:sp>
      <p:sp>
        <p:nvSpPr>
          <p:cNvPr id="441454" name="Line 110"/>
          <p:cNvSpPr/>
          <p:nvPr/>
        </p:nvSpPr>
        <p:spPr>
          <a:xfrm>
            <a:off x="1812925" y="4867275"/>
            <a:ext cx="0" cy="365125"/>
          </a:xfrm>
          <a:prstGeom prst="line">
            <a:avLst/>
          </a:prstGeom>
          <a:ln w="9525" cap="flat" cmpd="sng">
            <a:solidFill>
              <a:srgbClr val="FF0066"/>
            </a:solidFill>
            <a:prstDash val="solid"/>
            <a:headEnd type="none" w="med" len="med"/>
            <a:tailEnd type="triangle" w="med" len="med"/>
          </a:ln>
        </p:spPr>
      </p:sp>
      <p:sp>
        <p:nvSpPr>
          <p:cNvPr id="441455" name="Line 111"/>
          <p:cNvSpPr/>
          <p:nvPr/>
        </p:nvSpPr>
        <p:spPr>
          <a:xfrm>
            <a:off x="2092325" y="4867275"/>
            <a:ext cx="0" cy="365125"/>
          </a:xfrm>
          <a:prstGeom prst="line">
            <a:avLst/>
          </a:prstGeom>
          <a:ln w="9525" cap="flat" cmpd="sng">
            <a:solidFill>
              <a:srgbClr val="FF0066"/>
            </a:solidFill>
            <a:prstDash val="solid"/>
            <a:headEnd type="none" w="med" len="med"/>
            <a:tailEnd type="triangle" w="med" len="med"/>
          </a:ln>
        </p:spPr>
      </p:sp>
      <p:sp>
        <p:nvSpPr>
          <p:cNvPr id="441456" name="Line 112"/>
          <p:cNvSpPr/>
          <p:nvPr/>
        </p:nvSpPr>
        <p:spPr>
          <a:xfrm>
            <a:off x="2767013" y="4852988"/>
            <a:ext cx="377825" cy="0"/>
          </a:xfrm>
          <a:prstGeom prst="line">
            <a:avLst/>
          </a:prstGeom>
          <a:ln w="9525" cap="flat" cmpd="sng">
            <a:solidFill>
              <a:srgbClr val="FF0066"/>
            </a:solidFill>
            <a:prstDash val="solid"/>
            <a:headEnd type="none" w="med" len="med"/>
            <a:tailEnd type="triangle" w="med" len="med"/>
          </a:ln>
        </p:spPr>
      </p:sp>
      <p:sp>
        <p:nvSpPr>
          <p:cNvPr id="66600" name="Line 113"/>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6601" name="Line 114"/>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6602" name="Line 115"/>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6603" name="Line 116"/>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6604" name="Line 117"/>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6605" name="Line 118"/>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6606" name="Line 119"/>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6607" name="Line 120"/>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6608" name="Line 121"/>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6609" name="Line 122"/>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6610" name="Line 123"/>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6611" name="Line 124"/>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6612" name="Line 125"/>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6613" name="Text Box 128"/>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进行中</a:t>
            </a:r>
          </a:p>
        </p:txBody>
      </p:sp>
      <p:sp>
        <p:nvSpPr>
          <p:cNvPr id="441473" name="Text Box 129"/>
          <p:cNvSpPr txBox="1"/>
          <p:nvPr/>
        </p:nvSpPr>
        <p:spPr>
          <a:xfrm>
            <a:off x="412750" y="5287963"/>
            <a:ext cx="8440738" cy="915987"/>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叶子结点中寻找等于键值的记录，删除相应的指针及主文件中对应的记录</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将本结点的剩余键值</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移动到左侧</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或右侧</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结点。此空结点将被删除。调整叶结点指针</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441474" name="Text Box 130"/>
          <p:cNvSpPr txBox="1"/>
          <p:nvPr/>
        </p:nvSpPr>
        <p:spPr>
          <a:xfrm>
            <a:off x="973138" y="4295775"/>
            <a:ext cx="542925"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5</a:t>
            </a:r>
          </a:p>
        </p:txBody>
      </p:sp>
      <p:sp>
        <p:nvSpPr>
          <p:cNvPr id="441475" name="Line 131"/>
          <p:cNvSpPr/>
          <p:nvPr/>
        </p:nvSpPr>
        <p:spPr>
          <a:xfrm>
            <a:off x="977900" y="4868863"/>
            <a:ext cx="0" cy="365125"/>
          </a:xfrm>
          <a:prstGeom prst="line">
            <a:avLst/>
          </a:prstGeom>
          <a:ln w="9525" cap="flat" cmpd="sng">
            <a:solidFill>
              <a:srgbClr val="FF0066"/>
            </a:solidFill>
            <a:prstDash val="solid"/>
            <a:headEnd type="none" w="med" len="med"/>
            <a:tailEnd type="triangle" w="med" len="med"/>
          </a:ln>
        </p:spPr>
      </p:sp>
      <p:sp>
        <p:nvSpPr>
          <p:cNvPr id="441476" name="Line 132"/>
          <p:cNvSpPr/>
          <p:nvPr/>
        </p:nvSpPr>
        <p:spPr>
          <a:xfrm>
            <a:off x="1395413" y="4751388"/>
            <a:ext cx="1766887" cy="0"/>
          </a:xfrm>
          <a:prstGeom prst="line">
            <a:avLst/>
          </a:prstGeom>
          <a:ln w="38100" cap="flat" cmpd="sng">
            <a:solidFill>
              <a:schemeClr val="accent2"/>
            </a:solidFill>
            <a:prstDash val="solid"/>
            <a:headEnd type="none" w="med" len="med"/>
            <a:tailEnd type="triangle" w="med" len="med"/>
          </a:ln>
        </p:spPr>
      </p:sp>
      <p:sp>
        <p:nvSpPr>
          <p:cNvPr id="66618"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删除过程与合并过程示意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1473">
                                            <p:txEl>
                                              <p:pRg st="0" end="0"/>
                                            </p:txEl>
                                          </p:spTgt>
                                        </p:tgtEl>
                                        <p:attrNameLst>
                                          <p:attrName>style.visibility</p:attrName>
                                        </p:attrNameLst>
                                      </p:cBhvr>
                                      <p:to>
                                        <p:strVal val="visible"/>
                                      </p:to>
                                    </p:set>
                                    <p:anim calcmode="lin" valueType="num">
                                      <p:cBhvr additive="base">
                                        <p:cTn id="7" dur="500" fill="hold"/>
                                        <p:tgtEl>
                                          <p:spTgt spid="44147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147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xit" presetSubtype="16" fill="hold" grpId="0" nodeType="clickEffect">
                                  <p:stCondLst>
                                    <p:cond delay="0"/>
                                  </p:stCondLst>
                                  <p:childTnLst>
                                    <p:animEffect transition="out" filter="box(in)">
                                      <p:cBhvr>
                                        <p:cTn id="12" dur="500"/>
                                        <p:tgtEl>
                                          <p:spTgt spid="441425"/>
                                        </p:tgtEl>
                                      </p:cBhvr>
                                    </p:animEffect>
                                    <p:set>
                                      <p:cBhvr>
                                        <p:cTn id="13" dur="1" fill="hold">
                                          <p:stCondLst>
                                            <p:cond delay="499"/>
                                          </p:stCondLst>
                                        </p:cTn>
                                        <p:tgtEl>
                                          <p:spTgt spid="441425"/>
                                        </p:tgtEl>
                                        <p:attrNameLst>
                                          <p:attrName>style.visibility</p:attrName>
                                        </p:attrNameLst>
                                      </p:cBhvr>
                                      <p:to>
                                        <p:strVal val="hidden"/>
                                      </p:to>
                                    </p:set>
                                  </p:childTnLst>
                                </p:cTn>
                              </p:par>
                              <p:par>
                                <p:cTn id="14" presetID="4" presetClass="exit" presetSubtype="16" fill="hold" nodeType="withEffect">
                                  <p:stCondLst>
                                    <p:cond delay="0"/>
                                  </p:stCondLst>
                                  <p:childTnLst>
                                    <p:animEffect transition="out" filter="box(in)">
                                      <p:cBhvr>
                                        <p:cTn id="15" dur="500"/>
                                        <p:tgtEl>
                                          <p:spTgt spid="441455"/>
                                        </p:tgtEl>
                                      </p:cBhvr>
                                    </p:animEffect>
                                    <p:set>
                                      <p:cBhvr>
                                        <p:cTn id="16" dur="1" fill="hold">
                                          <p:stCondLst>
                                            <p:cond delay="499"/>
                                          </p:stCondLst>
                                        </p:cTn>
                                        <p:tgtEl>
                                          <p:spTgt spid="44145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41473">
                                            <p:txEl>
                                              <p:pRg st="1" end="1"/>
                                            </p:txEl>
                                          </p:spTgt>
                                        </p:tgtEl>
                                        <p:attrNameLst>
                                          <p:attrName>style.visibility</p:attrName>
                                        </p:attrNameLst>
                                      </p:cBhvr>
                                      <p:to>
                                        <p:strVal val="visible"/>
                                      </p:to>
                                    </p:set>
                                    <p:anim calcmode="lin" valueType="num">
                                      <p:cBhvr additive="base">
                                        <p:cTn id="21" dur="500" fill="hold"/>
                                        <p:tgtEl>
                                          <p:spTgt spid="44147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4147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0" nodeType="clickEffect">
                                  <p:stCondLst>
                                    <p:cond delay="0"/>
                                  </p:stCondLst>
                                  <p:childTnLst>
                                    <p:animEffect transition="out" filter="box(in)">
                                      <p:cBhvr>
                                        <p:cTn id="26" dur="500"/>
                                        <p:tgtEl>
                                          <p:spTgt spid="441424"/>
                                        </p:tgtEl>
                                      </p:cBhvr>
                                    </p:animEffect>
                                    <p:set>
                                      <p:cBhvr>
                                        <p:cTn id="27" dur="1" fill="hold">
                                          <p:stCondLst>
                                            <p:cond delay="499"/>
                                          </p:stCondLst>
                                        </p:cTn>
                                        <p:tgtEl>
                                          <p:spTgt spid="441424"/>
                                        </p:tgtEl>
                                        <p:attrNameLst>
                                          <p:attrName>style.visibility</p:attrName>
                                        </p:attrNameLst>
                                      </p:cBhvr>
                                      <p:to>
                                        <p:strVal val="hidden"/>
                                      </p:to>
                                    </p:set>
                                  </p:childTnLst>
                                </p:cTn>
                              </p:par>
                              <p:par>
                                <p:cTn id="28" presetID="4" presetClass="exit" presetSubtype="16" fill="hold" nodeType="withEffect">
                                  <p:stCondLst>
                                    <p:cond delay="0"/>
                                  </p:stCondLst>
                                  <p:childTnLst>
                                    <p:animEffect transition="out" filter="box(in)">
                                      <p:cBhvr>
                                        <p:cTn id="29" dur="500"/>
                                        <p:tgtEl>
                                          <p:spTgt spid="441454"/>
                                        </p:tgtEl>
                                      </p:cBhvr>
                                    </p:animEffect>
                                    <p:set>
                                      <p:cBhvr>
                                        <p:cTn id="30" dur="1" fill="hold">
                                          <p:stCondLst>
                                            <p:cond delay="499"/>
                                          </p:stCondLst>
                                        </p:cTn>
                                        <p:tgtEl>
                                          <p:spTgt spid="441454"/>
                                        </p:tgtEl>
                                        <p:attrNameLst>
                                          <p:attrName>style.visibility</p:attrName>
                                        </p:attrNameLst>
                                      </p:cBhvr>
                                      <p:to>
                                        <p:strVal val="hidden"/>
                                      </p:to>
                                    </p:set>
                                  </p:childTnLst>
                                </p:cTn>
                              </p:par>
                              <p:par>
                                <p:cTn id="31" presetID="4" presetClass="entr" presetSubtype="16" fill="hold" nodeType="withEffect">
                                  <p:stCondLst>
                                    <p:cond delay="0"/>
                                  </p:stCondLst>
                                  <p:childTnLst>
                                    <p:set>
                                      <p:cBhvr>
                                        <p:cTn id="32" dur="1" fill="hold">
                                          <p:stCondLst>
                                            <p:cond delay="0"/>
                                          </p:stCondLst>
                                        </p:cTn>
                                        <p:tgtEl>
                                          <p:spTgt spid="441475"/>
                                        </p:tgtEl>
                                        <p:attrNameLst>
                                          <p:attrName>style.visibility</p:attrName>
                                        </p:attrNameLst>
                                      </p:cBhvr>
                                      <p:to>
                                        <p:strVal val="visible"/>
                                      </p:to>
                                    </p:set>
                                    <p:animEffect transition="in" filter="box(in)">
                                      <p:cBhvr>
                                        <p:cTn id="33" dur="500"/>
                                        <p:tgtEl>
                                          <p:spTgt spid="441475"/>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441474"/>
                                        </p:tgtEl>
                                        <p:attrNameLst>
                                          <p:attrName>style.visibility</p:attrName>
                                        </p:attrNameLst>
                                      </p:cBhvr>
                                      <p:to>
                                        <p:strVal val="visible"/>
                                      </p:to>
                                    </p:set>
                                    <p:animEffect transition="in" filter="box(in)">
                                      <p:cBhvr>
                                        <p:cTn id="36" dur="500"/>
                                        <p:tgtEl>
                                          <p:spTgt spid="441474"/>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xit" presetSubtype="16" fill="hold" nodeType="clickEffect">
                                  <p:stCondLst>
                                    <p:cond delay="0"/>
                                  </p:stCondLst>
                                  <p:childTnLst>
                                    <p:animEffect transition="out" filter="box(in)">
                                      <p:cBhvr>
                                        <p:cTn id="40" dur="500"/>
                                        <p:tgtEl>
                                          <p:spTgt spid="6"/>
                                        </p:tgtEl>
                                      </p:cBhvr>
                                    </p:animEffect>
                                    <p:set>
                                      <p:cBhvr>
                                        <p:cTn id="41" dur="1" fill="hold">
                                          <p:stCondLst>
                                            <p:cond delay="499"/>
                                          </p:stCondLst>
                                        </p:cTn>
                                        <p:tgtEl>
                                          <p:spTgt spid="6"/>
                                        </p:tgtEl>
                                        <p:attrNameLst>
                                          <p:attrName>style.visibility</p:attrName>
                                        </p:attrNameLst>
                                      </p:cBhvr>
                                      <p:to>
                                        <p:strVal val="hidden"/>
                                      </p:to>
                                    </p:set>
                                  </p:childTnLst>
                                </p:cTn>
                              </p:par>
                              <p:par>
                                <p:cTn id="42" presetID="4" presetClass="exit" presetSubtype="16" fill="hold" nodeType="withEffect">
                                  <p:stCondLst>
                                    <p:cond delay="0"/>
                                  </p:stCondLst>
                                  <p:childTnLst>
                                    <p:animEffect transition="out" filter="box(in)">
                                      <p:cBhvr>
                                        <p:cTn id="43" dur="500"/>
                                        <p:tgtEl>
                                          <p:spTgt spid="441456"/>
                                        </p:tgtEl>
                                      </p:cBhvr>
                                    </p:animEffect>
                                    <p:set>
                                      <p:cBhvr>
                                        <p:cTn id="44" dur="1" fill="hold">
                                          <p:stCondLst>
                                            <p:cond delay="499"/>
                                          </p:stCondLst>
                                        </p:cTn>
                                        <p:tgtEl>
                                          <p:spTgt spid="441456"/>
                                        </p:tgtEl>
                                        <p:attrNameLst>
                                          <p:attrName>style.visibility</p:attrName>
                                        </p:attrNameLst>
                                      </p:cBhvr>
                                      <p:to>
                                        <p:strVal val="hidden"/>
                                      </p:to>
                                    </p:set>
                                  </p:childTnLst>
                                </p:cTn>
                              </p:par>
                              <p:par>
                                <p:cTn id="45" presetID="4" presetClass="exit" presetSubtype="16" fill="hold" nodeType="withEffect">
                                  <p:stCondLst>
                                    <p:cond delay="0"/>
                                  </p:stCondLst>
                                  <p:childTnLst>
                                    <p:animEffect transition="out" filter="box(in)">
                                      <p:cBhvr>
                                        <p:cTn id="46" dur="500"/>
                                        <p:tgtEl>
                                          <p:spTgt spid="441453"/>
                                        </p:tgtEl>
                                      </p:cBhvr>
                                    </p:animEffect>
                                    <p:set>
                                      <p:cBhvr>
                                        <p:cTn id="47" dur="1" fill="hold">
                                          <p:stCondLst>
                                            <p:cond delay="499"/>
                                          </p:stCondLst>
                                        </p:cTn>
                                        <p:tgtEl>
                                          <p:spTgt spid="441453"/>
                                        </p:tgtEl>
                                        <p:attrNameLst>
                                          <p:attrName>style.visibility</p:attrName>
                                        </p:attrNameLst>
                                      </p:cBhvr>
                                      <p:to>
                                        <p:strVal val="hidden"/>
                                      </p:to>
                                    </p:set>
                                  </p:childTnLst>
                                </p:cTn>
                              </p:par>
                              <p:par>
                                <p:cTn id="48" presetID="4" presetClass="entr" presetSubtype="16" fill="hold" nodeType="withEffect">
                                  <p:stCondLst>
                                    <p:cond delay="0"/>
                                  </p:stCondLst>
                                  <p:childTnLst>
                                    <p:set>
                                      <p:cBhvr>
                                        <p:cTn id="49" dur="1" fill="hold">
                                          <p:stCondLst>
                                            <p:cond delay="0"/>
                                          </p:stCondLst>
                                        </p:cTn>
                                        <p:tgtEl>
                                          <p:spTgt spid="441476"/>
                                        </p:tgtEl>
                                        <p:attrNameLst>
                                          <p:attrName>style.visibility</p:attrName>
                                        </p:attrNameLst>
                                      </p:cBhvr>
                                      <p:to>
                                        <p:strVal val="visible"/>
                                      </p:to>
                                    </p:set>
                                    <p:animEffect transition="in" filter="box(in)">
                                      <p:cBhvr>
                                        <p:cTn id="50" dur="500"/>
                                        <p:tgtEl>
                                          <p:spTgt spid="441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424" grpId="0"/>
      <p:bldP spid="441425" grpId="0"/>
      <p:bldP spid="44147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6" name="Group 2"/>
          <p:cNvGrpSpPr/>
          <p:nvPr/>
        </p:nvGrpSpPr>
        <p:grpSpPr>
          <a:xfrm>
            <a:off x="3157538" y="1870075"/>
            <a:ext cx="1238250" cy="695325"/>
            <a:chOff x="856" y="1440"/>
            <a:chExt cx="1291" cy="667"/>
          </a:xfrm>
        </p:grpSpPr>
        <p:sp>
          <p:nvSpPr>
            <p:cNvPr id="67696"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97" name="Line 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98" name="Line 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99" name="Line 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700" name="Line 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701" name="Line 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702" name="Line 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62538" name="Text Box 10"/>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grpSp>
        <p:nvGrpSpPr>
          <p:cNvPr id="67588" name="Group 11"/>
          <p:cNvGrpSpPr/>
          <p:nvPr/>
        </p:nvGrpSpPr>
        <p:grpSpPr>
          <a:xfrm>
            <a:off x="1844675" y="3032125"/>
            <a:ext cx="1238250" cy="695325"/>
            <a:chOff x="856" y="1440"/>
            <a:chExt cx="1291" cy="667"/>
          </a:xfrm>
        </p:grpSpPr>
        <p:sp>
          <p:nvSpPr>
            <p:cNvPr id="67689"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90" name="Line 1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91" name="Line 1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92" name="Line 1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93" name="Line 1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94" name="Line 1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95" name="Line 1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7589" name="Group 19"/>
          <p:cNvGrpSpPr/>
          <p:nvPr/>
        </p:nvGrpSpPr>
        <p:grpSpPr>
          <a:xfrm>
            <a:off x="5392738" y="3032125"/>
            <a:ext cx="1238250" cy="695325"/>
            <a:chOff x="856" y="1440"/>
            <a:chExt cx="1291" cy="667"/>
          </a:xfrm>
        </p:grpSpPr>
        <p:sp>
          <p:nvSpPr>
            <p:cNvPr id="67682"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83" name="Line 2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84" name="Line 2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85" name="Line 2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86" name="Line 2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87" name="Line 2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88" name="Line 2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7590" name="Group 27"/>
          <p:cNvGrpSpPr/>
          <p:nvPr/>
        </p:nvGrpSpPr>
        <p:grpSpPr>
          <a:xfrm>
            <a:off x="200025" y="4308475"/>
            <a:ext cx="1238250" cy="695325"/>
            <a:chOff x="856" y="1440"/>
            <a:chExt cx="1291" cy="667"/>
          </a:xfrm>
        </p:grpSpPr>
        <p:sp>
          <p:nvSpPr>
            <p:cNvPr id="67675"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76" name="Line 2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77" name="Line 3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78" name="Line 3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79" name="Line 3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80" name="Line 3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81" name="Line 3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7591" name="Group 35"/>
          <p:cNvGrpSpPr/>
          <p:nvPr/>
        </p:nvGrpSpPr>
        <p:grpSpPr>
          <a:xfrm>
            <a:off x="3157538" y="4308475"/>
            <a:ext cx="1238250" cy="695325"/>
            <a:chOff x="856" y="1440"/>
            <a:chExt cx="1291" cy="667"/>
          </a:xfrm>
        </p:grpSpPr>
        <p:sp>
          <p:nvSpPr>
            <p:cNvPr id="67668"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69" name="Line 3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70" name="Line 3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71" name="Line 3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72" name="Line 4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73" name="Line 4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74" name="Line 4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7592" name="Group 43"/>
          <p:cNvGrpSpPr/>
          <p:nvPr/>
        </p:nvGrpSpPr>
        <p:grpSpPr>
          <a:xfrm>
            <a:off x="4643438" y="4308475"/>
            <a:ext cx="1238250" cy="695325"/>
            <a:chOff x="856" y="1440"/>
            <a:chExt cx="1291" cy="667"/>
          </a:xfrm>
        </p:grpSpPr>
        <p:sp>
          <p:nvSpPr>
            <p:cNvPr id="67661"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62" name="Line 4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63" name="Line 4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64" name="Line 4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65" name="Line 4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66" name="Line 4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67" name="Line 5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7593" name="Group 51"/>
          <p:cNvGrpSpPr/>
          <p:nvPr/>
        </p:nvGrpSpPr>
        <p:grpSpPr>
          <a:xfrm>
            <a:off x="6129338" y="4308475"/>
            <a:ext cx="1238250" cy="695325"/>
            <a:chOff x="856" y="1440"/>
            <a:chExt cx="1291" cy="667"/>
          </a:xfrm>
        </p:grpSpPr>
        <p:sp>
          <p:nvSpPr>
            <p:cNvPr id="67654"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55" name="Line 5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56" name="Line 5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57" name="Line 5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58" name="Line 5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59" name="Line 5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60" name="Line 5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7594" name="Group 59"/>
          <p:cNvGrpSpPr/>
          <p:nvPr/>
        </p:nvGrpSpPr>
        <p:grpSpPr>
          <a:xfrm>
            <a:off x="7616825" y="4308475"/>
            <a:ext cx="1238250" cy="695325"/>
            <a:chOff x="856" y="1440"/>
            <a:chExt cx="1291" cy="667"/>
          </a:xfrm>
        </p:grpSpPr>
        <p:sp>
          <p:nvSpPr>
            <p:cNvPr id="67647"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648" name="Line 6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7649" name="Line 6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7650" name="Line 6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7651" name="Line 6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7652" name="Line 6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7653" name="Line 6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7595" name="Text Box 68"/>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7596" name="Text Box 69"/>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7597" name="Text Box 70"/>
          <p:cNvSpPr txBox="1"/>
          <p:nvPr/>
        </p:nvSpPr>
        <p:spPr>
          <a:xfrm>
            <a:off x="3081338" y="4298950"/>
            <a:ext cx="542925"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13</a:t>
            </a:r>
          </a:p>
        </p:txBody>
      </p:sp>
      <p:sp>
        <p:nvSpPr>
          <p:cNvPr id="67598" name="Text Box 71"/>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7599" name="Text Box 72"/>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7600" name="Text Box 73"/>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62602" name="Text Box 74"/>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7602" name="Text Box 75"/>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7603" name="Text Box 76"/>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7604" name="Text Box 77"/>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7605" name="Text Box 78"/>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7606" name="Text Box 79"/>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62608" name="Text Box 80"/>
          <p:cNvSpPr txBox="1"/>
          <p:nvPr/>
        </p:nvSpPr>
        <p:spPr>
          <a:xfrm>
            <a:off x="53371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62609" name="Text Box 81"/>
          <p:cNvSpPr txBox="1"/>
          <p:nvPr/>
        </p:nvSpPr>
        <p:spPr>
          <a:xfrm>
            <a:off x="57435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62610" name="Text Box 82"/>
          <p:cNvSpPr txBox="1"/>
          <p:nvPr/>
        </p:nvSpPr>
        <p:spPr>
          <a:xfrm>
            <a:off x="62039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62611" name="Line 83"/>
          <p:cNvSpPr/>
          <p:nvPr/>
        </p:nvSpPr>
        <p:spPr>
          <a:xfrm>
            <a:off x="6532563" y="3597275"/>
            <a:ext cx="1371600" cy="701675"/>
          </a:xfrm>
          <a:prstGeom prst="line">
            <a:avLst/>
          </a:prstGeom>
          <a:ln w="9525" cap="flat" cmpd="sng">
            <a:solidFill>
              <a:srgbClr val="FF0066"/>
            </a:solidFill>
            <a:prstDash val="solid"/>
            <a:headEnd type="none" w="med" len="med"/>
            <a:tailEnd type="triangle" w="med" len="med"/>
          </a:ln>
        </p:spPr>
      </p:sp>
      <p:sp>
        <p:nvSpPr>
          <p:cNvPr id="662612" name="Line 84"/>
          <p:cNvSpPr/>
          <p:nvPr/>
        </p:nvSpPr>
        <p:spPr>
          <a:xfrm>
            <a:off x="6165850" y="3587750"/>
            <a:ext cx="274638" cy="730250"/>
          </a:xfrm>
          <a:prstGeom prst="line">
            <a:avLst/>
          </a:prstGeom>
          <a:ln w="9525" cap="flat" cmpd="sng">
            <a:solidFill>
              <a:srgbClr val="FF0066"/>
            </a:solidFill>
            <a:prstDash val="solid"/>
            <a:headEnd type="none" w="med" len="med"/>
            <a:tailEnd type="triangle" w="med" len="med"/>
          </a:ln>
        </p:spPr>
      </p:sp>
      <p:sp>
        <p:nvSpPr>
          <p:cNvPr id="662613" name="Line 85"/>
          <p:cNvSpPr/>
          <p:nvPr/>
        </p:nvSpPr>
        <p:spPr>
          <a:xfrm flipH="1">
            <a:off x="4978400" y="3597275"/>
            <a:ext cx="887413" cy="701675"/>
          </a:xfrm>
          <a:prstGeom prst="line">
            <a:avLst/>
          </a:prstGeom>
          <a:ln w="9525" cap="flat" cmpd="sng">
            <a:solidFill>
              <a:srgbClr val="FF0066"/>
            </a:solidFill>
            <a:prstDash val="solid"/>
            <a:headEnd type="none" w="med" len="med"/>
            <a:tailEnd type="triangle" w="med" len="med"/>
          </a:ln>
        </p:spPr>
      </p:sp>
      <p:sp>
        <p:nvSpPr>
          <p:cNvPr id="67613" name="Line 88"/>
          <p:cNvSpPr/>
          <p:nvPr/>
        </p:nvSpPr>
        <p:spPr>
          <a:xfrm flipH="1">
            <a:off x="666750" y="3600450"/>
            <a:ext cx="1346200" cy="704850"/>
          </a:xfrm>
          <a:prstGeom prst="line">
            <a:avLst/>
          </a:prstGeom>
          <a:ln w="9525" cap="flat" cmpd="sng">
            <a:solidFill>
              <a:srgbClr val="FF0066"/>
            </a:solidFill>
            <a:prstDash val="solid"/>
            <a:headEnd type="none" w="med" len="med"/>
            <a:tailEnd type="triangle" w="med" len="med"/>
          </a:ln>
        </p:spPr>
      </p:sp>
      <p:grpSp>
        <p:nvGrpSpPr>
          <p:cNvPr id="67614" name="Group 89"/>
          <p:cNvGrpSpPr/>
          <p:nvPr/>
        </p:nvGrpSpPr>
        <p:grpSpPr>
          <a:xfrm>
            <a:off x="2368550" y="2433638"/>
            <a:ext cx="3227388" cy="627062"/>
            <a:chOff x="1473" y="1700"/>
            <a:chExt cx="2033" cy="625"/>
          </a:xfrm>
        </p:grpSpPr>
        <p:sp>
          <p:nvSpPr>
            <p:cNvPr id="67645" name="Line 90"/>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7646" name="Line 91"/>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7615" name="Line 92"/>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7616" name="Line 93"/>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7617" name="Line 94"/>
          <p:cNvSpPr/>
          <p:nvPr/>
        </p:nvSpPr>
        <p:spPr>
          <a:xfrm>
            <a:off x="619125" y="4867275"/>
            <a:ext cx="0" cy="365125"/>
          </a:xfrm>
          <a:prstGeom prst="line">
            <a:avLst/>
          </a:prstGeom>
          <a:ln w="9525" cap="flat" cmpd="sng">
            <a:solidFill>
              <a:srgbClr val="FF0066"/>
            </a:solidFill>
            <a:prstDash val="solid"/>
            <a:headEnd type="none" w="med" len="med"/>
            <a:tailEnd type="triangle" w="med" len="med"/>
          </a:ln>
        </p:spPr>
      </p:sp>
      <p:sp>
        <p:nvSpPr>
          <p:cNvPr id="67618" name="Line 95"/>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7619" name="Line 96"/>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7620" name="Line 97"/>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7621" name="Line 98"/>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7622" name="Line 99"/>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7623" name="Line 100"/>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7624" name="Line 101"/>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7625" name="Line 102"/>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7626" name="Line 103"/>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7627" name="Line 104"/>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7628" name="Line 105"/>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7629" name="Line 106"/>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7630" name="Line 107"/>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7631" name="Text Box 109"/>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进行中</a:t>
            </a:r>
          </a:p>
        </p:txBody>
      </p:sp>
      <p:sp>
        <p:nvSpPr>
          <p:cNvPr id="67632" name="Text Box 110"/>
          <p:cNvSpPr txBox="1"/>
          <p:nvPr/>
        </p:nvSpPr>
        <p:spPr>
          <a:xfrm>
            <a:off x="412750" y="5287963"/>
            <a:ext cx="8440738" cy="64135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如有调整，则进一步调整其上层非叶结点，重新确定其键值，以满足大于等于键值的记录都在其右侧。依次向上调整，直到根结点。</a:t>
            </a:r>
          </a:p>
        </p:txBody>
      </p:sp>
      <p:sp>
        <p:nvSpPr>
          <p:cNvPr id="67633" name="Text Box 111"/>
          <p:cNvSpPr txBox="1"/>
          <p:nvPr/>
        </p:nvSpPr>
        <p:spPr>
          <a:xfrm>
            <a:off x="973138" y="4295775"/>
            <a:ext cx="542925"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5</a:t>
            </a:r>
          </a:p>
        </p:txBody>
      </p:sp>
      <p:sp>
        <p:nvSpPr>
          <p:cNvPr id="67634" name="Line 112"/>
          <p:cNvSpPr/>
          <p:nvPr/>
        </p:nvSpPr>
        <p:spPr>
          <a:xfrm>
            <a:off x="977900" y="4868863"/>
            <a:ext cx="0" cy="365125"/>
          </a:xfrm>
          <a:prstGeom prst="line">
            <a:avLst/>
          </a:prstGeom>
          <a:ln w="9525" cap="flat" cmpd="sng">
            <a:solidFill>
              <a:srgbClr val="FF0066"/>
            </a:solidFill>
            <a:prstDash val="solid"/>
            <a:headEnd type="none" w="med" len="med"/>
            <a:tailEnd type="triangle" w="med" len="med"/>
          </a:ln>
        </p:spPr>
      </p:sp>
      <p:sp>
        <p:nvSpPr>
          <p:cNvPr id="67635" name="Line 113"/>
          <p:cNvSpPr/>
          <p:nvPr/>
        </p:nvSpPr>
        <p:spPr>
          <a:xfrm>
            <a:off x="1395413" y="4751388"/>
            <a:ext cx="1766887" cy="0"/>
          </a:xfrm>
          <a:prstGeom prst="line">
            <a:avLst/>
          </a:prstGeom>
          <a:ln w="38100" cap="flat" cmpd="sng">
            <a:solidFill>
              <a:schemeClr val="accent2"/>
            </a:solidFill>
            <a:prstDash val="solid"/>
            <a:headEnd type="none" w="med" len="med"/>
            <a:tailEnd type="triangle" w="med" len="med"/>
          </a:ln>
        </p:spPr>
      </p:sp>
      <p:sp>
        <p:nvSpPr>
          <p:cNvPr id="67636" name="Line 114"/>
          <p:cNvSpPr/>
          <p:nvPr/>
        </p:nvSpPr>
        <p:spPr>
          <a:xfrm>
            <a:off x="2338388" y="3613150"/>
            <a:ext cx="1063625" cy="674688"/>
          </a:xfrm>
          <a:prstGeom prst="line">
            <a:avLst/>
          </a:prstGeom>
          <a:ln w="38100" cap="flat" cmpd="sng">
            <a:solidFill>
              <a:schemeClr val="accent2"/>
            </a:solidFill>
            <a:prstDash val="solid"/>
            <a:headEnd type="none" w="med" len="med"/>
            <a:tailEnd type="triangle" w="med" len="med"/>
          </a:ln>
        </p:spPr>
      </p:sp>
      <p:sp>
        <p:nvSpPr>
          <p:cNvPr id="67637" name="Text Box 115"/>
          <p:cNvSpPr txBox="1"/>
          <p:nvPr/>
        </p:nvSpPr>
        <p:spPr>
          <a:xfrm>
            <a:off x="1768475" y="3011488"/>
            <a:ext cx="542925"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13</a:t>
            </a:r>
          </a:p>
        </p:txBody>
      </p:sp>
      <p:sp>
        <p:nvSpPr>
          <p:cNvPr id="662645" name="Line 117"/>
          <p:cNvSpPr/>
          <p:nvPr/>
        </p:nvSpPr>
        <p:spPr>
          <a:xfrm flipH="1">
            <a:off x="4991100" y="3536950"/>
            <a:ext cx="539750" cy="750888"/>
          </a:xfrm>
          <a:prstGeom prst="line">
            <a:avLst/>
          </a:prstGeom>
          <a:ln w="9525" cap="flat" cmpd="sng">
            <a:solidFill>
              <a:schemeClr val="tx1"/>
            </a:solidFill>
            <a:prstDash val="solid"/>
            <a:headEnd type="none" w="med" len="med"/>
            <a:tailEnd type="triangle" w="med" len="med"/>
          </a:ln>
        </p:spPr>
      </p:sp>
      <p:sp>
        <p:nvSpPr>
          <p:cNvPr id="662646" name="Line 118"/>
          <p:cNvSpPr/>
          <p:nvPr/>
        </p:nvSpPr>
        <p:spPr>
          <a:xfrm>
            <a:off x="5800725" y="3492500"/>
            <a:ext cx="598488" cy="795338"/>
          </a:xfrm>
          <a:prstGeom prst="line">
            <a:avLst/>
          </a:prstGeom>
          <a:ln w="9525" cap="flat" cmpd="sng">
            <a:solidFill>
              <a:schemeClr val="tx1"/>
            </a:solidFill>
            <a:prstDash val="solid"/>
            <a:headEnd type="none" w="med" len="med"/>
            <a:tailEnd type="triangle" w="med" len="med"/>
          </a:ln>
        </p:spPr>
      </p:sp>
      <p:sp>
        <p:nvSpPr>
          <p:cNvPr id="662647" name="Line 119"/>
          <p:cNvSpPr/>
          <p:nvPr/>
        </p:nvSpPr>
        <p:spPr>
          <a:xfrm>
            <a:off x="6145213" y="3508375"/>
            <a:ext cx="1754187" cy="808038"/>
          </a:xfrm>
          <a:prstGeom prst="line">
            <a:avLst/>
          </a:prstGeom>
          <a:ln w="9525" cap="flat" cmpd="sng">
            <a:solidFill>
              <a:schemeClr val="tx1"/>
            </a:solidFill>
            <a:prstDash val="solid"/>
            <a:headEnd type="none" w="med" len="med"/>
            <a:tailEnd type="triangle" w="med" len="med"/>
          </a:ln>
        </p:spPr>
      </p:sp>
      <p:sp>
        <p:nvSpPr>
          <p:cNvPr id="662648" name="Text Box 120"/>
          <p:cNvSpPr txBox="1"/>
          <p:nvPr/>
        </p:nvSpPr>
        <p:spPr>
          <a:xfrm>
            <a:off x="5357813" y="2994025"/>
            <a:ext cx="542925"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31</a:t>
            </a:r>
          </a:p>
        </p:txBody>
      </p:sp>
      <p:sp>
        <p:nvSpPr>
          <p:cNvPr id="662649" name="Text Box 121"/>
          <p:cNvSpPr txBox="1"/>
          <p:nvPr/>
        </p:nvSpPr>
        <p:spPr>
          <a:xfrm>
            <a:off x="5718175" y="2995613"/>
            <a:ext cx="569913"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43</a:t>
            </a:r>
          </a:p>
        </p:txBody>
      </p:sp>
      <p:sp>
        <p:nvSpPr>
          <p:cNvPr id="662650" name="Text Box 122"/>
          <p:cNvSpPr txBox="1"/>
          <p:nvPr/>
        </p:nvSpPr>
        <p:spPr>
          <a:xfrm>
            <a:off x="3119438" y="1839913"/>
            <a:ext cx="542925" cy="3968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23</a:t>
            </a:r>
          </a:p>
        </p:txBody>
      </p:sp>
      <p:sp>
        <p:nvSpPr>
          <p:cNvPr id="67644"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删除过程与合并过程示意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662602"/>
                                        </p:tgtEl>
                                      </p:cBhvr>
                                    </p:animEffect>
                                    <p:set>
                                      <p:cBhvr>
                                        <p:cTn id="7" dur="1" fill="hold">
                                          <p:stCondLst>
                                            <p:cond delay="499"/>
                                          </p:stCondLst>
                                        </p:cTn>
                                        <p:tgtEl>
                                          <p:spTgt spid="662602"/>
                                        </p:tgtEl>
                                        <p:attrNameLst>
                                          <p:attrName>style.visibility</p:attrName>
                                        </p:attrNameLst>
                                      </p:cBhvr>
                                      <p:to>
                                        <p:strVal val="hidden"/>
                                      </p:to>
                                    </p:set>
                                  </p:childTnLst>
                                </p:cTn>
                              </p:par>
                              <p:par>
                                <p:cTn id="8" presetID="4" presetClass="exit" presetSubtype="16" fill="hold" grpId="0" nodeType="withEffect">
                                  <p:stCondLst>
                                    <p:cond delay="0"/>
                                  </p:stCondLst>
                                  <p:childTnLst>
                                    <p:animEffect transition="out" filter="box(in)">
                                      <p:cBhvr>
                                        <p:cTn id="9" dur="500"/>
                                        <p:tgtEl>
                                          <p:spTgt spid="662608"/>
                                        </p:tgtEl>
                                      </p:cBhvr>
                                    </p:animEffect>
                                    <p:set>
                                      <p:cBhvr>
                                        <p:cTn id="10" dur="1" fill="hold">
                                          <p:stCondLst>
                                            <p:cond delay="499"/>
                                          </p:stCondLst>
                                        </p:cTn>
                                        <p:tgtEl>
                                          <p:spTgt spid="662608"/>
                                        </p:tgtEl>
                                        <p:attrNameLst>
                                          <p:attrName>style.visibility</p:attrName>
                                        </p:attrNameLst>
                                      </p:cBhvr>
                                      <p:to>
                                        <p:strVal val="hidden"/>
                                      </p:to>
                                    </p:set>
                                  </p:childTnLst>
                                </p:cTn>
                              </p:par>
                              <p:par>
                                <p:cTn id="11" presetID="4" presetClass="exit" presetSubtype="16" fill="hold" grpId="0" nodeType="withEffect">
                                  <p:stCondLst>
                                    <p:cond delay="0"/>
                                  </p:stCondLst>
                                  <p:childTnLst>
                                    <p:animEffect transition="out" filter="box(in)">
                                      <p:cBhvr>
                                        <p:cTn id="12" dur="500"/>
                                        <p:tgtEl>
                                          <p:spTgt spid="662609"/>
                                        </p:tgtEl>
                                      </p:cBhvr>
                                    </p:animEffect>
                                    <p:set>
                                      <p:cBhvr>
                                        <p:cTn id="13" dur="1" fill="hold">
                                          <p:stCondLst>
                                            <p:cond delay="499"/>
                                          </p:stCondLst>
                                        </p:cTn>
                                        <p:tgtEl>
                                          <p:spTgt spid="662609"/>
                                        </p:tgtEl>
                                        <p:attrNameLst>
                                          <p:attrName>style.visibility</p:attrName>
                                        </p:attrNameLst>
                                      </p:cBhvr>
                                      <p:to>
                                        <p:strVal val="hidden"/>
                                      </p:to>
                                    </p:set>
                                  </p:childTnLst>
                                </p:cTn>
                              </p:par>
                              <p:par>
                                <p:cTn id="14" presetID="4" presetClass="exit" presetSubtype="16" fill="hold" grpId="0" nodeType="withEffect">
                                  <p:stCondLst>
                                    <p:cond delay="0"/>
                                  </p:stCondLst>
                                  <p:childTnLst>
                                    <p:animEffect transition="out" filter="box(in)">
                                      <p:cBhvr>
                                        <p:cTn id="15" dur="500"/>
                                        <p:tgtEl>
                                          <p:spTgt spid="662610"/>
                                        </p:tgtEl>
                                      </p:cBhvr>
                                    </p:animEffect>
                                    <p:set>
                                      <p:cBhvr>
                                        <p:cTn id="16" dur="1" fill="hold">
                                          <p:stCondLst>
                                            <p:cond delay="499"/>
                                          </p:stCondLst>
                                        </p:cTn>
                                        <p:tgtEl>
                                          <p:spTgt spid="662610"/>
                                        </p:tgtEl>
                                        <p:attrNameLst>
                                          <p:attrName>style.visibility</p:attrName>
                                        </p:attrNameLst>
                                      </p:cBhvr>
                                      <p:to>
                                        <p:strVal val="hidden"/>
                                      </p:to>
                                    </p:set>
                                  </p:childTnLst>
                                </p:cTn>
                              </p:par>
                              <p:par>
                                <p:cTn id="17" presetID="4" presetClass="exit" presetSubtype="16" fill="hold" nodeType="withEffect">
                                  <p:stCondLst>
                                    <p:cond delay="0"/>
                                  </p:stCondLst>
                                  <p:childTnLst>
                                    <p:animEffect transition="out" filter="box(in)">
                                      <p:cBhvr>
                                        <p:cTn id="18" dur="500"/>
                                        <p:tgtEl>
                                          <p:spTgt spid="662611"/>
                                        </p:tgtEl>
                                      </p:cBhvr>
                                    </p:animEffect>
                                    <p:set>
                                      <p:cBhvr>
                                        <p:cTn id="19" dur="1" fill="hold">
                                          <p:stCondLst>
                                            <p:cond delay="499"/>
                                          </p:stCondLst>
                                        </p:cTn>
                                        <p:tgtEl>
                                          <p:spTgt spid="662611"/>
                                        </p:tgtEl>
                                        <p:attrNameLst>
                                          <p:attrName>style.visibility</p:attrName>
                                        </p:attrNameLst>
                                      </p:cBhvr>
                                      <p:to>
                                        <p:strVal val="hidden"/>
                                      </p:to>
                                    </p:set>
                                  </p:childTnLst>
                                </p:cTn>
                              </p:par>
                              <p:par>
                                <p:cTn id="20" presetID="4" presetClass="exit" presetSubtype="16" fill="hold" nodeType="withEffect">
                                  <p:stCondLst>
                                    <p:cond delay="0"/>
                                  </p:stCondLst>
                                  <p:childTnLst>
                                    <p:animEffect transition="out" filter="box(in)">
                                      <p:cBhvr>
                                        <p:cTn id="21" dur="500"/>
                                        <p:tgtEl>
                                          <p:spTgt spid="662612"/>
                                        </p:tgtEl>
                                      </p:cBhvr>
                                    </p:animEffect>
                                    <p:set>
                                      <p:cBhvr>
                                        <p:cTn id="22" dur="1" fill="hold">
                                          <p:stCondLst>
                                            <p:cond delay="499"/>
                                          </p:stCondLst>
                                        </p:cTn>
                                        <p:tgtEl>
                                          <p:spTgt spid="662612"/>
                                        </p:tgtEl>
                                        <p:attrNameLst>
                                          <p:attrName>style.visibility</p:attrName>
                                        </p:attrNameLst>
                                      </p:cBhvr>
                                      <p:to>
                                        <p:strVal val="hidden"/>
                                      </p:to>
                                    </p:set>
                                  </p:childTnLst>
                                </p:cTn>
                              </p:par>
                              <p:par>
                                <p:cTn id="23" presetID="4" presetClass="exit" presetSubtype="16" fill="hold" nodeType="withEffect">
                                  <p:stCondLst>
                                    <p:cond delay="0"/>
                                  </p:stCondLst>
                                  <p:childTnLst>
                                    <p:animEffect transition="out" filter="box(in)">
                                      <p:cBhvr>
                                        <p:cTn id="24" dur="500"/>
                                        <p:tgtEl>
                                          <p:spTgt spid="662613"/>
                                        </p:tgtEl>
                                      </p:cBhvr>
                                    </p:animEffect>
                                    <p:set>
                                      <p:cBhvr>
                                        <p:cTn id="25" dur="1" fill="hold">
                                          <p:stCondLst>
                                            <p:cond delay="499"/>
                                          </p:stCondLst>
                                        </p:cTn>
                                        <p:tgtEl>
                                          <p:spTgt spid="662613"/>
                                        </p:tgtEl>
                                        <p:attrNameLst>
                                          <p:attrName>style.visibility</p:attrName>
                                        </p:attrNameLst>
                                      </p:cBhvr>
                                      <p:to>
                                        <p:strVal val="hidden"/>
                                      </p:to>
                                    </p:set>
                                  </p:childTnLst>
                                </p:cTn>
                              </p:par>
                              <p:par>
                                <p:cTn id="26" presetID="4" presetClass="entr" presetSubtype="16" fill="hold" grpId="0" nodeType="withEffect">
                                  <p:stCondLst>
                                    <p:cond delay="0"/>
                                  </p:stCondLst>
                                  <p:childTnLst>
                                    <p:set>
                                      <p:cBhvr>
                                        <p:cTn id="27" dur="1" fill="hold">
                                          <p:stCondLst>
                                            <p:cond delay="0"/>
                                          </p:stCondLst>
                                        </p:cTn>
                                        <p:tgtEl>
                                          <p:spTgt spid="662649"/>
                                        </p:tgtEl>
                                        <p:attrNameLst>
                                          <p:attrName>style.visibility</p:attrName>
                                        </p:attrNameLst>
                                      </p:cBhvr>
                                      <p:to>
                                        <p:strVal val="visible"/>
                                      </p:to>
                                    </p:set>
                                    <p:animEffect transition="in" filter="box(in)">
                                      <p:cBhvr>
                                        <p:cTn id="28" dur="500"/>
                                        <p:tgtEl>
                                          <p:spTgt spid="662649"/>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662648"/>
                                        </p:tgtEl>
                                        <p:attrNameLst>
                                          <p:attrName>style.visibility</p:attrName>
                                        </p:attrNameLst>
                                      </p:cBhvr>
                                      <p:to>
                                        <p:strVal val="visible"/>
                                      </p:to>
                                    </p:set>
                                    <p:animEffect transition="in" filter="box(in)">
                                      <p:cBhvr>
                                        <p:cTn id="31" dur="500"/>
                                        <p:tgtEl>
                                          <p:spTgt spid="662648"/>
                                        </p:tgtEl>
                                      </p:cBhvr>
                                    </p:animEffect>
                                  </p:childTnLst>
                                </p:cTn>
                              </p:par>
                              <p:par>
                                <p:cTn id="32" presetID="2" presetClass="entr" presetSubtype="4" fill="hold" nodeType="withEffect">
                                  <p:stCondLst>
                                    <p:cond delay="0"/>
                                  </p:stCondLst>
                                  <p:childTnLst>
                                    <p:set>
                                      <p:cBhvr>
                                        <p:cTn id="33" dur="1" fill="hold">
                                          <p:stCondLst>
                                            <p:cond delay="0"/>
                                          </p:stCondLst>
                                        </p:cTn>
                                        <p:tgtEl>
                                          <p:spTgt spid="662645"/>
                                        </p:tgtEl>
                                        <p:attrNameLst>
                                          <p:attrName>style.visibility</p:attrName>
                                        </p:attrNameLst>
                                      </p:cBhvr>
                                      <p:to>
                                        <p:strVal val="visible"/>
                                      </p:to>
                                    </p:set>
                                    <p:anim calcmode="lin" valueType="num">
                                      <p:cBhvr additive="base">
                                        <p:cTn id="34" dur="500" fill="hold"/>
                                        <p:tgtEl>
                                          <p:spTgt spid="662645"/>
                                        </p:tgtEl>
                                        <p:attrNameLst>
                                          <p:attrName>ppt_x</p:attrName>
                                        </p:attrNameLst>
                                      </p:cBhvr>
                                      <p:tavLst>
                                        <p:tav tm="0">
                                          <p:val>
                                            <p:strVal val="#ppt_x"/>
                                          </p:val>
                                        </p:tav>
                                        <p:tav tm="100000">
                                          <p:val>
                                            <p:strVal val="#ppt_x"/>
                                          </p:val>
                                        </p:tav>
                                      </p:tavLst>
                                    </p:anim>
                                    <p:anim calcmode="lin" valueType="num">
                                      <p:cBhvr additive="base">
                                        <p:cTn id="35" dur="500" fill="hold"/>
                                        <p:tgtEl>
                                          <p:spTgt spid="662645"/>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662646"/>
                                        </p:tgtEl>
                                        <p:attrNameLst>
                                          <p:attrName>style.visibility</p:attrName>
                                        </p:attrNameLst>
                                      </p:cBhvr>
                                      <p:to>
                                        <p:strVal val="visible"/>
                                      </p:to>
                                    </p:set>
                                    <p:anim calcmode="lin" valueType="num">
                                      <p:cBhvr additive="base">
                                        <p:cTn id="38" dur="500" fill="hold"/>
                                        <p:tgtEl>
                                          <p:spTgt spid="662646"/>
                                        </p:tgtEl>
                                        <p:attrNameLst>
                                          <p:attrName>ppt_x</p:attrName>
                                        </p:attrNameLst>
                                      </p:cBhvr>
                                      <p:tavLst>
                                        <p:tav tm="0">
                                          <p:val>
                                            <p:strVal val="#ppt_x"/>
                                          </p:val>
                                        </p:tav>
                                        <p:tav tm="100000">
                                          <p:val>
                                            <p:strVal val="#ppt_x"/>
                                          </p:val>
                                        </p:tav>
                                      </p:tavLst>
                                    </p:anim>
                                    <p:anim calcmode="lin" valueType="num">
                                      <p:cBhvr additive="base">
                                        <p:cTn id="39" dur="500" fill="hold"/>
                                        <p:tgtEl>
                                          <p:spTgt spid="662646"/>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662647"/>
                                        </p:tgtEl>
                                        <p:attrNameLst>
                                          <p:attrName>style.visibility</p:attrName>
                                        </p:attrNameLst>
                                      </p:cBhvr>
                                      <p:to>
                                        <p:strVal val="visible"/>
                                      </p:to>
                                    </p:set>
                                    <p:anim calcmode="lin" valueType="num">
                                      <p:cBhvr additive="base">
                                        <p:cTn id="42" dur="500" fill="hold"/>
                                        <p:tgtEl>
                                          <p:spTgt spid="662647"/>
                                        </p:tgtEl>
                                        <p:attrNameLst>
                                          <p:attrName>ppt_x</p:attrName>
                                        </p:attrNameLst>
                                      </p:cBhvr>
                                      <p:tavLst>
                                        <p:tav tm="0">
                                          <p:val>
                                            <p:strVal val="#ppt_x"/>
                                          </p:val>
                                        </p:tav>
                                        <p:tav tm="100000">
                                          <p:val>
                                            <p:strVal val="#ppt_x"/>
                                          </p:val>
                                        </p:tav>
                                      </p:tavLst>
                                    </p:anim>
                                    <p:anim calcmode="lin" valueType="num">
                                      <p:cBhvr additive="base">
                                        <p:cTn id="43" dur="500" fill="hold"/>
                                        <p:tgtEl>
                                          <p:spTgt spid="662647"/>
                                        </p:tgtEl>
                                        <p:attrNameLst>
                                          <p:attrName>ppt_y</p:attrName>
                                        </p:attrNameLst>
                                      </p:cBhvr>
                                      <p:tavLst>
                                        <p:tav tm="0">
                                          <p:val>
                                            <p:strVal val="1+#ppt_h/2"/>
                                          </p:val>
                                        </p:tav>
                                        <p:tav tm="100000">
                                          <p:val>
                                            <p:strVal val="#ppt_y"/>
                                          </p:val>
                                        </p:tav>
                                      </p:tavLst>
                                    </p:anim>
                                  </p:childTnLst>
                                </p:cTn>
                              </p:par>
                              <p:par>
                                <p:cTn id="44" presetID="4" presetClass="exit" presetSubtype="16" fill="hold" grpId="0" nodeType="withEffect">
                                  <p:stCondLst>
                                    <p:cond delay="0"/>
                                  </p:stCondLst>
                                  <p:childTnLst>
                                    <p:animEffect transition="out" filter="box(in)">
                                      <p:cBhvr>
                                        <p:cTn id="45" dur="500"/>
                                        <p:tgtEl>
                                          <p:spTgt spid="662538"/>
                                        </p:tgtEl>
                                      </p:cBhvr>
                                    </p:animEffect>
                                    <p:set>
                                      <p:cBhvr>
                                        <p:cTn id="46" dur="1" fill="hold">
                                          <p:stCondLst>
                                            <p:cond delay="499"/>
                                          </p:stCondLst>
                                        </p:cTn>
                                        <p:tgtEl>
                                          <p:spTgt spid="662538"/>
                                        </p:tgtEl>
                                        <p:attrNameLst>
                                          <p:attrName>style.visibility</p:attrName>
                                        </p:attrNameLst>
                                      </p:cBhvr>
                                      <p:to>
                                        <p:strVal val="hidden"/>
                                      </p:to>
                                    </p:set>
                                  </p:childTnLst>
                                </p:cTn>
                              </p:par>
                              <p:par>
                                <p:cTn id="47" presetID="4" presetClass="entr" presetSubtype="16" fill="hold" grpId="0" nodeType="withEffect">
                                  <p:stCondLst>
                                    <p:cond delay="0"/>
                                  </p:stCondLst>
                                  <p:childTnLst>
                                    <p:set>
                                      <p:cBhvr>
                                        <p:cTn id="48" dur="1" fill="hold">
                                          <p:stCondLst>
                                            <p:cond delay="0"/>
                                          </p:stCondLst>
                                        </p:cTn>
                                        <p:tgtEl>
                                          <p:spTgt spid="662650"/>
                                        </p:tgtEl>
                                        <p:attrNameLst>
                                          <p:attrName>style.visibility</p:attrName>
                                        </p:attrNameLst>
                                      </p:cBhvr>
                                      <p:to>
                                        <p:strVal val="visible"/>
                                      </p:to>
                                    </p:set>
                                    <p:animEffect transition="in" filter="box(in)">
                                      <p:cBhvr>
                                        <p:cTn id="49" dur="500"/>
                                        <p:tgtEl>
                                          <p:spTgt spid="662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8" grpId="0"/>
      <p:bldP spid="662602" grpId="0"/>
      <p:bldP spid="662608" grpId="0"/>
      <p:bldP spid="662609" grpId="0"/>
      <p:bldP spid="662610" grpId="0"/>
      <p:bldP spid="662648" grpId="0"/>
      <p:bldP spid="662649" grpId="0"/>
      <p:bldP spid="66265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4"/>
          <p:cNvGrpSpPr/>
          <p:nvPr/>
        </p:nvGrpSpPr>
        <p:grpSpPr>
          <a:xfrm>
            <a:off x="3157538" y="1870075"/>
            <a:ext cx="1238250" cy="695325"/>
            <a:chOff x="856" y="1440"/>
            <a:chExt cx="1291" cy="667"/>
          </a:xfrm>
        </p:grpSpPr>
        <p:sp>
          <p:nvSpPr>
            <p:cNvPr id="68712" name="Rectangle 5"/>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713" name="Line 6"/>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714" name="Line 7"/>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715" name="Line 8"/>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716" name="Line 9"/>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717" name="Line 10"/>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718" name="Line 11"/>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8611" name="Text Box 12"/>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grpSp>
        <p:nvGrpSpPr>
          <p:cNvPr id="68612" name="Group 13"/>
          <p:cNvGrpSpPr/>
          <p:nvPr/>
        </p:nvGrpSpPr>
        <p:grpSpPr>
          <a:xfrm>
            <a:off x="1844675" y="3032125"/>
            <a:ext cx="1238250" cy="695325"/>
            <a:chOff x="856" y="1440"/>
            <a:chExt cx="1291" cy="667"/>
          </a:xfrm>
        </p:grpSpPr>
        <p:sp>
          <p:nvSpPr>
            <p:cNvPr id="68705" name="Rectangle 1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706" name="Line 1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707" name="Line 1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708" name="Line 1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709" name="Line 1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710" name="Line 1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711" name="Line 2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8613" name="Group 21"/>
          <p:cNvGrpSpPr/>
          <p:nvPr/>
        </p:nvGrpSpPr>
        <p:grpSpPr>
          <a:xfrm>
            <a:off x="5392738" y="3032125"/>
            <a:ext cx="1238250" cy="695325"/>
            <a:chOff x="856" y="1440"/>
            <a:chExt cx="1291" cy="667"/>
          </a:xfrm>
        </p:grpSpPr>
        <p:sp>
          <p:nvSpPr>
            <p:cNvPr id="68698" name="Rectangle 2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699" name="Line 2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700" name="Line 2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701" name="Line 2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702" name="Line 2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703" name="Line 2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704" name="Line 2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8614" name="Group 29"/>
          <p:cNvGrpSpPr/>
          <p:nvPr/>
        </p:nvGrpSpPr>
        <p:grpSpPr>
          <a:xfrm>
            <a:off x="185738" y="4308475"/>
            <a:ext cx="1238250" cy="695325"/>
            <a:chOff x="856" y="1440"/>
            <a:chExt cx="1291" cy="667"/>
          </a:xfrm>
        </p:grpSpPr>
        <p:sp>
          <p:nvSpPr>
            <p:cNvPr id="68691" name="Rectangle 3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692" name="Line 3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693" name="Line 3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694" name="Line 3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695" name="Line 3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696" name="Line 3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697" name="Line 3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8615" name="Group 37"/>
          <p:cNvGrpSpPr/>
          <p:nvPr/>
        </p:nvGrpSpPr>
        <p:grpSpPr>
          <a:xfrm>
            <a:off x="3157538" y="4308475"/>
            <a:ext cx="1238250" cy="695325"/>
            <a:chOff x="856" y="1440"/>
            <a:chExt cx="1291" cy="667"/>
          </a:xfrm>
        </p:grpSpPr>
        <p:sp>
          <p:nvSpPr>
            <p:cNvPr id="68684" name="Rectangle 3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685" name="Line 3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686" name="Line 4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687" name="Line 4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688" name="Line 4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689" name="Line 4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690" name="Line 4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8616" name="Group 45"/>
          <p:cNvGrpSpPr/>
          <p:nvPr/>
        </p:nvGrpSpPr>
        <p:grpSpPr>
          <a:xfrm>
            <a:off x="4643438" y="4308475"/>
            <a:ext cx="1238250" cy="695325"/>
            <a:chOff x="856" y="1440"/>
            <a:chExt cx="1291" cy="667"/>
          </a:xfrm>
        </p:grpSpPr>
        <p:sp>
          <p:nvSpPr>
            <p:cNvPr id="68677" name="Rectangle 4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678" name="Line 4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679" name="Line 4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680" name="Line 4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681" name="Line 5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682" name="Line 5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683" name="Line 5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8617" name="Group 53"/>
          <p:cNvGrpSpPr/>
          <p:nvPr/>
        </p:nvGrpSpPr>
        <p:grpSpPr>
          <a:xfrm>
            <a:off x="6129338" y="4308475"/>
            <a:ext cx="1238250" cy="695325"/>
            <a:chOff x="856" y="1440"/>
            <a:chExt cx="1291" cy="667"/>
          </a:xfrm>
        </p:grpSpPr>
        <p:sp>
          <p:nvSpPr>
            <p:cNvPr id="68670" name="Rectangle 5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671" name="Line 5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672" name="Line 5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673" name="Line 5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674" name="Line 5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675" name="Line 5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676" name="Line 6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8618" name="Group 61"/>
          <p:cNvGrpSpPr/>
          <p:nvPr/>
        </p:nvGrpSpPr>
        <p:grpSpPr>
          <a:xfrm>
            <a:off x="7616825" y="4308475"/>
            <a:ext cx="1238250" cy="695325"/>
            <a:chOff x="856" y="1440"/>
            <a:chExt cx="1291" cy="667"/>
          </a:xfrm>
        </p:grpSpPr>
        <p:sp>
          <p:nvSpPr>
            <p:cNvPr id="68663" name="Rectangle 6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8664" name="Line 6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8665" name="Line 6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8666" name="Line 6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8667" name="Line 6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8668" name="Line 6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8669" name="Line 6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8619" name="Text Box 69"/>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8620" name="Text Box 70"/>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8621" name="Text Box 71"/>
          <p:cNvSpPr txBox="1"/>
          <p:nvPr/>
        </p:nvSpPr>
        <p:spPr>
          <a:xfrm>
            <a:off x="9731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68622" name="Text Box 72"/>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8623" name="Text Box 73"/>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8624" name="Text Box 74"/>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8625" name="Text Box 75"/>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8626" name="Text Box 76"/>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8627" name="Text Box 77"/>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8628" name="Text Box 78"/>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8629" name="Text Box 79"/>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8630" name="Text Box 80"/>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8631" name="Text Box 81"/>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8632" name="Text Box 83"/>
          <p:cNvSpPr txBox="1"/>
          <p:nvPr/>
        </p:nvSpPr>
        <p:spPr>
          <a:xfrm>
            <a:off x="53371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8633" name="Text Box 84"/>
          <p:cNvSpPr txBox="1"/>
          <p:nvPr/>
        </p:nvSpPr>
        <p:spPr>
          <a:xfrm>
            <a:off x="57975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8634" name="Line 86"/>
          <p:cNvSpPr/>
          <p:nvPr/>
        </p:nvSpPr>
        <p:spPr>
          <a:xfrm>
            <a:off x="6153150" y="3557588"/>
            <a:ext cx="1751013" cy="741362"/>
          </a:xfrm>
          <a:prstGeom prst="line">
            <a:avLst/>
          </a:prstGeom>
          <a:ln w="9525" cap="flat" cmpd="sng">
            <a:solidFill>
              <a:srgbClr val="FF0066"/>
            </a:solidFill>
            <a:prstDash val="solid"/>
            <a:headEnd type="none" w="med" len="med"/>
            <a:tailEnd type="triangle" w="med" len="med"/>
          </a:ln>
        </p:spPr>
      </p:sp>
      <p:sp>
        <p:nvSpPr>
          <p:cNvPr id="68635" name="Line 87"/>
          <p:cNvSpPr/>
          <p:nvPr/>
        </p:nvSpPr>
        <p:spPr>
          <a:xfrm>
            <a:off x="5853113" y="3560763"/>
            <a:ext cx="587375" cy="757237"/>
          </a:xfrm>
          <a:prstGeom prst="line">
            <a:avLst/>
          </a:prstGeom>
          <a:ln w="9525" cap="flat" cmpd="sng">
            <a:solidFill>
              <a:srgbClr val="FF0066"/>
            </a:solidFill>
            <a:prstDash val="solid"/>
            <a:headEnd type="none" w="med" len="med"/>
            <a:tailEnd type="triangle" w="med" len="med"/>
          </a:ln>
        </p:spPr>
      </p:sp>
      <p:sp>
        <p:nvSpPr>
          <p:cNvPr id="68636" name="Line 88"/>
          <p:cNvSpPr/>
          <p:nvPr/>
        </p:nvSpPr>
        <p:spPr>
          <a:xfrm flipH="1">
            <a:off x="4978400" y="3584575"/>
            <a:ext cx="547688" cy="714375"/>
          </a:xfrm>
          <a:prstGeom prst="line">
            <a:avLst/>
          </a:prstGeom>
          <a:ln w="9525" cap="flat" cmpd="sng">
            <a:solidFill>
              <a:srgbClr val="FF0066"/>
            </a:solidFill>
            <a:prstDash val="solid"/>
            <a:headEnd type="none" w="med" len="med"/>
            <a:tailEnd type="triangle" w="med" len="med"/>
          </a:ln>
        </p:spPr>
      </p:sp>
      <p:sp>
        <p:nvSpPr>
          <p:cNvPr id="68637" name="Line 89"/>
          <p:cNvSpPr/>
          <p:nvPr/>
        </p:nvSpPr>
        <p:spPr>
          <a:xfrm>
            <a:off x="2298700" y="3554413"/>
            <a:ext cx="1450975" cy="744537"/>
          </a:xfrm>
          <a:prstGeom prst="line">
            <a:avLst/>
          </a:prstGeom>
          <a:ln w="9525" cap="flat" cmpd="sng">
            <a:solidFill>
              <a:srgbClr val="FF0066"/>
            </a:solidFill>
            <a:prstDash val="solid"/>
            <a:headEnd type="none" w="med" len="med"/>
            <a:tailEnd type="triangle" w="med" len="med"/>
          </a:ln>
        </p:spPr>
      </p:sp>
      <p:sp>
        <p:nvSpPr>
          <p:cNvPr id="68638" name="Line 90"/>
          <p:cNvSpPr/>
          <p:nvPr/>
        </p:nvSpPr>
        <p:spPr>
          <a:xfrm flipH="1">
            <a:off x="666750" y="3600450"/>
            <a:ext cx="1346200" cy="704850"/>
          </a:xfrm>
          <a:prstGeom prst="line">
            <a:avLst/>
          </a:prstGeom>
          <a:ln w="9525" cap="flat" cmpd="sng">
            <a:solidFill>
              <a:srgbClr val="FF0066"/>
            </a:solidFill>
            <a:prstDash val="solid"/>
            <a:headEnd type="none" w="med" len="med"/>
            <a:tailEnd type="triangle" w="med" len="med"/>
          </a:ln>
        </p:spPr>
      </p:sp>
      <p:grpSp>
        <p:nvGrpSpPr>
          <p:cNvPr id="68639" name="Group 91"/>
          <p:cNvGrpSpPr/>
          <p:nvPr/>
        </p:nvGrpSpPr>
        <p:grpSpPr>
          <a:xfrm>
            <a:off x="2338388" y="2403475"/>
            <a:ext cx="3227387" cy="627063"/>
            <a:chOff x="1473" y="1700"/>
            <a:chExt cx="2033" cy="625"/>
          </a:xfrm>
        </p:grpSpPr>
        <p:sp>
          <p:nvSpPr>
            <p:cNvPr id="68661" name="Line 92"/>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8662" name="Line 93"/>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8640" name="Line 94"/>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8641" name="Line 95"/>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8642" name="Line 96"/>
          <p:cNvSpPr/>
          <p:nvPr/>
        </p:nvSpPr>
        <p:spPr>
          <a:xfrm>
            <a:off x="644525" y="4867275"/>
            <a:ext cx="0" cy="365125"/>
          </a:xfrm>
          <a:prstGeom prst="line">
            <a:avLst/>
          </a:prstGeom>
          <a:ln w="9525" cap="flat" cmpd="sng">
            <a:solidFill>
              <a:srgbClr val="FF0066"/>
            </a:solidFill>
            <a:prstDash val="solid"/>
            <a:headEnd type="none" w="med" len="med"/>
            <a:tailEnd type="triangle" w="med" len="med"/>
          </a:ln>
        </p:spPr>
      </p:sp>
      <p:sp>
        <p:nvSpPr>
          <p:cNvPr id="68643" name="Line 97"/>
          <p:cNvSpPr/>
          <p:nvPr/>
        </p:nvSpPr>
        <p:spPr>
          <a:xfrm>
            <a:off x="1293813" y="4840288"/>
            <a:ext cx="1866900" cy="0"/>
          </a:xfrm>
          <a:prstGeom prst="line">
            <a:avLst/>
          </a:prstGeom>
          <a:ln w="9525" cap="flat" cmpd="sng">
            <a:solidFill>
              <a:srgbClr val="FF0066"/>
            </a:solidFill>
            <a:prstDash val="solid"/>
            <a:headEnd type="none" w="med" len="med"/>
            <a:tailEnd type="triangle" w="med" len="med"/>
          </a:ln>
        </p:spPr>
      </p:sp>
      <p:sp>
        <p:nvSpPr>
          <p:cNvPr id="68644" name="Line 98"/>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8645" name="Line 99"/>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8646" name="Line 100"/>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8647" name="Line 101"/>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8648" name="Line 102"/>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8649" name="Line 103"/>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8650" name="Line 104"/>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8651" name="Line 105"/>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8652" name="Line 106"/>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8653" name="Line 107"/>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8654" name="Line 108"/>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8655" name="Line 109"/>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8656" name="Line 110"/>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8657" name="Line 112"/>
          <p:cNvSpPr/>
          <p:nvPr/>
        </p:nvSpPr>
        <p:spPr>
          <a:xfrm>
            <a:off x="949325" y="4854575"/>
            <a:ext cx="0" cy="365125"/>
          </a:xfrm>
          <a:prstGeom prst="line">
            <a:avLst/>
          </a:prstGeom>
          <a:ln w="9525" cap="flat" cmpd="sng">
            <a:solidFill>
              <a:srgbClr val="FF0066"/>
            </a:solidFill>
            <a:prstDash val="solid"/>
            <a:headEnd type="none" w="med" len="med"/>
            <a:tailEnd type="triangle" w="med" len="med"/>
          </a:ln>
        </p:spPr>
      </p:sp>
      <p:sp>
        <p:nvSpPr>
          <p:cNvPr id="68658" name="Text Box 114"/>
          <p:cNvSpPr txBox="1"/>
          <p:nvPr/>
        </p:nvSpPr>
        <p:spPr>
          <a:xfrm>
            <a:off x="1781175" y="301148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8659" name="Text Box 116"/>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最终状态</a:t>
            </a:r>
          </a:p>
        </p:txBody>
      </p:sp>
      <p:sp>
        <p:nvSpPr>
          <p:cNvPr id="68660"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删除过程与合并过程完成之后 </a:t>
            </a:r>
          </a:p>
        </p:txBody>
      </p:sp>
    </p:spTree>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4" name="Group 2"/>
          <p:cNvGrpSpPr/>
          <p:nvPr/>
        </p:nvGrpSpPr>
        <p:grpSpPr>
          <a:xfrm>
            <a:off x="3157538" y="1870075"/>
            <a:ext cx="1238250" cy="695325"/>
            <a:chOff x="856" y="1440"/>
            <a:chExt cx="1291" cy="667"/>
          </a:xfrm>
        </p:grpSpPr>
        <p:sp>
          <p:nvSpPr>
            <p:cNvPr id="69756" name="Rectangle 3"/>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57" name="Line 4"/>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58" name="Line 5"/>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59" name="Line 6"/>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60" name="Line 7"/>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61" name="Line 8"/>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62" name="Line 9"/>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9635" name="Text Box 10"/>
          <p:cNvSpPr txBox="1"/>
          <p:nvPr/>
        </p:nvSpPr>
        <p:spPr>
          <a:xfrm>
            <a:off x="3086100" y="1846263"/>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grpSp>
        <p:nvGrpSpPr>
          <p:cNvPr id="69636" name="Group 11"/>
          <p:cNvGrpSpPr/>
          <p:nvPr/>
        </p:nvGrpSpPr>
        <p:grpSpPr>
          <a:xfrm>
            <a:off x="1844675" y="3032125"/>
            <a:ext cx="1238250" cy="695325"/>
            <a:chOff x="856" y="1440"/>
            <a:chExt cx="1291" cy="667"/>
          </a:xfrm>
        </p:grpSpPr>
        <p:sp>
          <p:nvSpPr>
            <p:cNvPr id="69749" name="Rectangle 1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50" name="Line 1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51" name="Line 1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52" name="Line 1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53" name="Line 1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54" name="Line 1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55" name="Line 1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9637" name="Group 19"/>
          <p:cNvGrpSpPr/>
          <p:nvPr/>
        </p:nvGrpSpPr>
        <p:grpSpPr>
          <a:xfrm>
            <a:off x="5392738" y="3032125"/>
            <a:ext cx="1238250" cy="695325"/>
            <a:chOff x="856" y="1440"/>
            <a:chExt cx="1291" cy="667"/>
          </a:xfrm>
        </p:grpSpPr>
        <p:sp>
          <p:nvSpPr>
            <p:cNvPr id="69742" name="Rectangle 2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43" name="Line 2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44" name="Line 2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45" name="Line 2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46" name="Line 2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47" name="Line 2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48" name="Line 2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9638" name="Group 27"/>
          <p:cNvGrpSpPr/>
          <p:nvPr/>
        </p:nvGrpSpPr>
        <p:grpSpPr>
          <a:xfrm>
            <a:off x="185738" y="4308475"/>
            <a:ext cx="1238250" cy="695325"/>
            <a:chOff x="856" y="1440"/>
            <a:chExt cx="1291" cy="667"/>
          </a:xfrm>
        </p:grpSpPr>
        <p:sp>
          <p:nvSpPr>
            <p:cNvPr id="69735" name="Rectangle 28"/>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36" name="Line 29"/>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37" name="Line 30"/>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38" name="Line 31"/>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39" name="Line 32"/>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40" name="Line 33"/>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41" name="Line 34"/>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9639" name="Group 35"/>
          <p:cNvGrpSpPr/>
          <p:nvPr/>
        </p:nvGrpSpPr>
        <p:grpSpPr>
          <a:xfrm>
            <a:off x="3157538" y="4308475"/>
            <a:ext cx="1238250" cy="695325"/>
            <a:chOff x="856" y="1440"/>
            <a:chExt cx="1291" cy="667"/>
          </a:xfrm>
        </p:grpSpPr>
        <p:sp>
          <p:nvSpPr>
            <p:cNvPr id="69728" name="Rectangle 36"/>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29" name="Line 37"/>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30" name="Line 38"/>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31" name="Line 39"/>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32" name="Line 40"/>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33" name="Line 41"/>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34" name="Line 42"/>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9640" name="Group 43"/>
          <p:cNvGrpSpPr/>
          <p:nvPr/>
        </p:nvGrpSpPr>
        <p:grpSpPr>
          <a:xfrm>
            <a:off x="4643438" y="4308475"/>
            <a:ext cx="1238250" cy="695325"/>
            <a:chOff x="856" y="1440"/>
            <a:chExt cx="1291" cy="667"/>
          </a:xfrm>
        </p:grpSpPr>
        <p:sp>
          <p:nvSpPr>
            <p:cNvPr id="69721" name="Rectangle 44"/>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22" name="Line 45"/>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23" name="Line 46"/>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24" name="Line 47"/>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25" name="Line 48"/>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26" name="Line 49"/>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27" name="Line 50"/>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9641" name="Group 51"/>
          <p:cNvGrpSpPr/>
          <p:nvPr/>
        </p:nvGrpSpPr>
        <p:grpSpPr>
          <a:xfrm>
            <a:off x="6129338" y="4308475"/>
            <a:ext cx="1238250" cy="695325"/>
            <a:chOff x="856" y="1440"/>
            <a:chExt cx="1291" cy="667"/>
          </a:xfrm>
        </p:grpSpPr>
        <p:sp>
          <p:nvSpPr>
            <p:cNvPr id="69714" name="Rectangle 52"/>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15" name="Line 53"/>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16" name="Line 54"/>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17" name="Line 55"/>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18" name="Line 56"/>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19" name="Line 57"/>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20" name="Line 58"/>
            <p:cNvSpPr/>
            <p:nvPr/>
          </p:nvSpPr>
          <p:spPr>
            <a:xfrm>
              <a:off x="1831" y="1761"/>
              <a:ext cx="0" cy="346"/>
            </a:xfrm>
            <a:prstGeom prst="line">
              <a:avLst/>
            </a:prstGeom>
            <a:ln w="12700" cap="flat" cmpd="sng">
              <a:solidFill>
                <a:srgbClr val="FF0066"/>
              </a:solidFill>
              <a:prstDash val="solid"/>
              <a:headEnd type="none" w="med" len="med"/>
              <a:tailEnd type="none" w="med" len="med"/>
            </a:ln>
          </p:spPr>
        </p:sp>
      </p:grpSp>
      <p:grpSp>
        <p:nvGrpSpPr>
          <p:cNvPr id="69642" name="Group 59"/>
          <p:cNvGrpSpPr/>
          <p:nvPr/>
        </p:nvGrpSpPr>
        <p:grpSpPr>
          <a:xfrm>
            <a:off x="7616825" y="4308475"/>
            <a:ext cx="1238250" cy="695325"/>
            <a:chOff x="856" y="1440"/>
            <a:chExt cx="1291" cy="667"/>
          </a:xfrm>
        </p:grpSpPr>
        <p:sp>
          <p:nvSpPr>
            <p:cNvPr id="69707" name="Rectangle 60"/>
            <p:cNvSpPr/>
            <p:nvPr/>
          </p:nvSpPr>
          <p:spPr>
            <a:xfrm>
              <a:off x="856" y="1440"/>
              <a:ext cx="1291" cy="667"/>
            </a:xfrm>
            <a:prstGeom prst="rect">
              <a:avLst/>
            </a:prstGeom>
            <a:solidFill>
              <a:srgbClr val="EAEAEA"/>
            </a:solidFill>
            <a:ln w="12700" cap="flat" cmpd="sng">
              <a:solidFill>
                <a:srgbClr val="FF0066"/>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9708" name="Line 61"/>
            <p:cNvSpPr/>
            <p:nvPr/>
          </p:nvSpPr>
          <p:spPr>
            <a:xfrm>
              <a:off x="864" y="1769"/>
              <a:ext cx="1266" cy="0"/>
            </a:xfrm>
            <a:prstGeom prst="line">
              <a:avLst/>
            </a:prstGeom>
            <a:ln w="12700" cap="flat" cmpd="sng">
              <a:solidFill>
                <a:srgbClr val="FF0066"/>
              </a:solidFill>
              <a:prstDash val="solid"/>
              <a:headEnd type="none" w="med" len="med"/>
              <a:tailEnd type="none" w="med" len="med"/>
            </a:ln>
          </p:spPr>
        </p:sp>
        <p:sp>
          <p:nvSpPr>
            <p:cNvPr id="69709" name="Line 62"/>
            <p:cNvSpPr/>
            <p:nvPr/>
          </p:nvSpPr>
          <p:spPr>
            <a:xfrm>
              <a:off x="1292" y="1440"/>
              <a:ext cx="0" cy="321"/>
            </a:xfrm>
            <a:prstGeom prst="line">
              <a:avLst/>
            </a:prstGeom>
            <a:ln w="12700" cap="flat" cmpd="sng">
              <a:solidFill>
                <a:srgbClr val="FF0066"/>
              </a:solidFill>
              <a:prstDash val="solid"/>
              <a:headEnd type="none" w="med" len="med"/>
              <a:tailEnd type="none" w="med" len="med"/>
            </a:ln>
          </p:spPr>
        </p:sp>
        <p:sp>
          <p:nvSpPr>
            <p:cNvPr id="69710" name="Line 63"/>
            <p:cNvSpPr/>
            <p:nvPr/>
          </p:nvSpPr>
          <p:spPr>
            <a:xfrm>
              <a:off x="1732" y="1448"/>
              <a:ext cx="0" cy="321"/>
            </a:xfrm>
            <a:prstGeom prst="line">
              <a:avLst/>
            </a:prstGeom>
            <a:ln w="12700" cap="flat" cmpd="sng">
              <a:solidFill>
                <a:srgbClr val="FF0066"/>
              </a:solidFill>
              <a:prstDash val="solid"/>
              <a:headEnd type="none" w="med" len="med"/>
              <a:tailEnd type="none" w="med" len="med"/>
            </a:ln>
          </p:spPr>
        </p:sp>
        <p:sp>
          <p:nvSpPr>
            <p:cNvPr id="69711" name="Line 64"/>
            <p:cNvSpPr/>
            <p:nvPr/>
          </p:nvSpPr>
          <p:spPr>
            <a:xfrm>
              <a:off x="1167" y="1761"/>
              <a:ext cx="0" cy="346"/>
            </a:xfrm>
            <a:prstGeom prst="line">
              <a:avLst/>
            </a:prstGeom>
            <a:ln w="12700" cap="flat" cmpd="sng">
              <a:solidFill>
                <a:srgbClr val="FF0066"/>
              </a:solidFill>
              <a:prstDash val="solid"/>
              <a:headEnd type="none" w="med" len="med"/>
              <a:tailEnd type="none" w="med" len="med"/>
            </a:ln>
          </p:spPr>
        </p:sp>
        <p:sp>
          <p:nvSpPr>
            <p:cNvPr id="69712" name="Line 65"/>
            <p:cNvSpPr/>
            <p:nvPr/>
          </p:nvSpPr>
          <p:spPr>
            <a:xfrm>
              <a:off x="1499" y="1761"/>
              <a:ext cx="0" cy="346"/>
            </a:xfrm>
            <a:prstGeom prst="line">
              <a:avLst/>
            </a:prstGeom>
            <a:ln w="12700" cap="flat" cmpd="sng">
              <a:solidFill>
                <a:srgbClr val="FF0066"/>
              </a:solidFill>
              <a:prstDash val="solid"/>
              <a:headEnd type="none" w="med" len="med"/>
              <a:tailEnd type="none" w="med" len="med"/>
            </a:ln>
          </p:spPr>
        </p:sp>
        <p:sp>
          <p:nvSpPr>
            <p:cNvPr id="69713" name="Line 66"/>
            <p:cNvSpPr/>
            <p:nvPr/>
          </p:nvSpPr>
          <p:spPr>
            <a:xfrm>
              <a:off x="1831" y="1761"/>
              <a:ext cx="0" cy="346"/>
            </a:xfrm>
            <a:prstGeom prst="line">
              <a:avLst/>
            </a:prstGeom>
            <a:ln w="12700" cap="flat" cmpd="sng">
              <a:solidFill>
                <a:srgbClr val="FF0066"/>
              </a:solidFill>
              <a:prstDash val="solid"/>
              <a:headEnd type="none" w="med" len="med"/>
              <a:tailEnd type="none" w="med" len="med"/>
            </a:ln>
          </p:spPr>
        </p:sp>
      </p:grpSp>
      <p:sp>
        <p:nvSpPr>
          <p:cNvPr id="69643" name="Text Box 67"/>
          <p:cNvSpPr txBox="1"/>
          <p:nvPr/>
        </p:nvSpPr>
        <p:spPr>
          <a:xfrm>
            <a:off x="147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9644" name="Text Box 68"/>
          <p:cNvSpPr txBox="1"/>
          <p:nvPr/>
        </p:nvSpPr>
        <p:spPr>
          <a:xfrm>
            <a:off x="5286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9645" name="Text Box 69"/>
          <p:cNvSpPr txBox="1"/>
          <p:nvPr/>
        </p:nvSpPr>
        <p:spPr>
          <a:xfrm>
            <a:off x="973138" y="42799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p>
        </p:txBody>
      </p:sp>
      <p:sp>
        <p:nvSpPr>
          <p:cNvPr id="69646" name="Text Box 70"/>
          <p:cNvSpPr txBox="1"/>
          <p:nvPr/>
        </p:nvSpPr>
        <p:spPr>
          <a:xfrm>
            <a:off x="30813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9647" name="Text Box 71"/>
          <p:cNvSpPr txBox="1"/>
          <p:nvPr/>
        </p:nvSpPr>
        <p:spPr>
          <a:xfrm>
            <a:off x="3500438" y="42989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17</a:t>
            </a:r>
          </a:p>
        </p:txBody>
      </p:sp>
      <p:sp>
        <p:nvSpPr>
          <p:cNvPr id="69648" name="Text Box 72"/>
          <p:cNvSpPr txBox="1"/>
          <p:nvPr/>
        </p:nvSpPr>
        <p:spPr>
          <a:xfrm>
            <a:off x="3960813" y="4298950"/>
            <a:ext cx="439737"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69649" name="Text Box 73"/>
          <p:cNvSpPr txBox="1"/>
          <p:nvPr/>
        </p:nvSpPr>
        <p:spPr>
          <a:xfrm>
            <a:off x="45799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69650" name="Text Box 74"/>
          <p:cNvSpPr txBox="1"/>
          <p:nvPr/>
        </p:nvSpPr>
        <p:spPr>
          <a:xfrm>
            <a:off x="4999038" y="428625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29</a:t>
            </a:r>
          </a:p>
        </p:txBody>
      </p:sp>
      <p:sp>
        <p:nvSpPr>
          <p:cNvPr id="69651" name="Text Box 75"/>
          <p:cNvSpPr txBox="1"/>
          <p:nvPr/>
        </p:nvSpPr>
        <p:spPr>
          <a:xfrm>
            <a:off x="60928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9652" name="Text Box 76"/>
          <p:cNvSpPr txBox="1"/>
          <p:nvPr/>
        </p:nvSpPr>
        <p:spPr>
          <a:xfrm>
            <a:off x="6511925"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37</a:t>
            </a:r>
          </a:p>
        </p:txBody>
      </p:sp>
      <p:sp>
        <p:nvSpPr>
          <p:cNvPr id="69653" name="Text Box 77"/>
          <p:cNvSpPr txBox="1"/>
          <p:nvPr/>
        </p:nvSpPr>
        <p:spPr>
          <a:xfrm>
            <a:off x="6972300" y="4292600"/>
            <a:ext cx="439738"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41</a:t>
            </a:r>
          </a:p>
        </p:txBody>
      </p:sp>
      <p:sp>
        <p:nvSpPr>
          <p:cNvPr id="69654" name="Text Box 78"/>
          <p:cNvSpPr txBox="1"/>
          <p:nvPr/>
        </p:nvSpPr>
        <p:spPr>
          <a:xfrm>
            <a:off x="75565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9655" name="Text Box 79"/>
          <p:cNvSpPr txBox="1"/>
          <p:nvPr/>
        </p:nvSpPr>
        <p:spPr>
          <a:xfrm>
            <a:off x="7975600" y="4292600"/>
            <a:ext cx="542925" cy="3667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47</a:t>
            </a:r>
          </a:p>
        </p:txBody>
      </p:sp>
      <p:sp>
        <p:nvSpPr>
          <p:cNvPr id="69656" name="Text Box 80"/>
          <p:cNvSpPr txBox="1"/>
          <p:nvPr/>
        </p:nvSpPr>
        <p:spPr>
          <a:xfrm>
            <a:off x="5337175" y="300513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a:t>
            </a:r>
          </a:p>
        </p:txBody>
      </p:sp>
      <p:sp>
        <p:nvSpPr>
          <p:cNvPr id="69657" name="Text Box 81"/>
          <p:cNvSpPr txBox="1"/>
          <p:nvPr/>
        </p:nvSpPr>
        <p:spPr>
          <a:xfrm>
            <a:off x="5797550" y="3005138"/>
            <a:ext cx="439738"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43</a:t>
            </a:r>
          </a:p>
        </p:txBody>
      </p:sp>
      <p:sp>
        <p:nvSpPr>
          <p:cNvPr id="69658" name="Line 82"/>
          <p:cNvSpPr/>
          <p:nvPr/>
        </p:nvSpPr>
        <p:spPr>
          <a:xfrm>
            <a:off x="6153150" y="3557588"/>
            <a:ext cx="1751013" cy="741362"/>
          </a:xfrm>
          <a:prstGeom prst="line">
            <a:avLst/>
          </a:prstGeom>
          <a:ln w="9525" cap="flat" cmpd="sng">
            <a:solidFill>
              <a:srgbClr val="FF0066"/>
            </a:solidFill>
            <a:prstDash val="solid"/>
            <a:headEnd type="none" w="med" len="med"/>
            <a:tailEnd type="triangle" w="med" len="med"/>
          </a:ln>
        </p:spPr>
      </p:sp>
      <p:sp>
        <p:nvSpPr>
          <p:cNvPr id="69659" name="Line 83"/>
          <p:cNvSpPr/>
          <p:nvPr/>
        </p:nvSpPr>
        <p:spPr>
          <a:xfrm>
            <a:off x="5853113" y="3560763"/>
            <a:ext cx="587375" cy="757237"/>
          </a:xfrm>
          <a:prstGeom prst="line">
            <a:avLst/>
          </a:prstGeom>
          <a:ln w="9525" cap="flat" cmpd="sng">
            <a:solidFill>
              <a:srgbClr val="FF0066"/>
            </a:solidFill>
            <a:prstDash val="solid"/>
            <a:headEnd type="none" w="med" len="med"/>
            <a:tailEnd type="triangle" w="med" len="med"/>
          </a:ln>
        </p:spPr>
      </p:sp>
      <p:sp>
        <p:nvSpPr>
          <p:cNvPr id="69660" name="Line 84"/>
          <p:cNvSpPr/>
          <p:nvPr/>
        </p:nvSpPr>
        <p:spPr>
          <a:xfrm flipH="1">
            <a:off x="4978400" y="3584575"/>
            <a:ext cx="547688" cy="714375"/>
          </a:xfrm>
          <a:prstGeom prst="line">
            <a:avLst/>
          </a:prstGeom>
          <a:ln w="9525" cap="flat" cmpd="sng">
            <a:solidFill>
              <a:srgbClr val="FF0066"/>
            </a:solidFill>
            <a:prstDash val="solid"/>
            <a:headEnd type="none" w="med" len="med"/>
            <a:tailEnd type="triangle" w="med" len="med"/>
          </a:ln>
        </p:spPr>
      </p:sp>
      <p:sp>
        <p:nvSpPr>
          <p:cNvPr id="69661" name="Line 85"/>
          <p:cNvSpPr/>
          <p:nvPr/>
        </p:nvSpPr>
        <p:spPr>
          <a:xfrm>
            <a:off x="2298700" y="3554413"/>
            <a:ext cx="1450975" cy="744537"/>
          </a:xfrm>
          <a:prstGeom prst="line">
            <a:avLst/>
          </a:prstGeom>
          <a:ln w="9525" cap="flat" cmpd="sng">
            <a:solidFill>
              <a:srgbClr val="FF0066"/>
            </a:solidFill>
            <a:prstDash val="solid"/>
            <a:headEnd type="none" w="med" len="med"/>
            <a:tailEnd type="triangle" w="med" len="med"/>
          </a:ln>
        </p:spPr>
      </p:sp>
      <p:sp>
        <p:nvSpPr>
          <p:cNvPr id="69662" name="Line 86"/>
          <p:cNvSpPr/>
          <p:nvPr/>
        </p:nvSpPr>
        <p:spPr>
          <a:xfrm flipH="1">
            <a:off x="666750" y="3600450"/>
            <a:ext cx="1346200" cy="704850"/>
          </a:xfrm>
          <a:prstGeom prst="line">
            <a:avLst/>
          </a:prstGeom>
          <a:ln w="9525" cap="flat" cmpd="sng">
            <a:solidFill>
              <a:srgbClr val="FF0066"/>
            </a:solidFill>
            <a:prstDash val="solid"/>
            <a:headEnd type="none" w="med" len="med"/>
            <a:tailEnd type="triangle" w="med" len="med"/>
          </a:ln>
        </p:spPr>
      </p:sp>
      <p:grpSp>
        <p:nvGrpSpPr>
          <p:cNvPr id="69663" name="Group 87"/>
          <p:cNvGrpSpPr/>
          <p:nvPr/>
        </p:nvGrpSpPr>
        <p:grpSpPr>
          <a:xfrm>
            <a:off x="2338388" y="2403475"/>
            <a:ext cx="3227387" cy="627063"/>
            <a:chOff x="1473" y="1700"/>
            <a:chExt cx="2033" cy="625"/>
          </a:xfrm>
        </p:grpSpPr>
        <p:sp>
          <p:nvSpPr>
            <p:cNvPr id="69705" name="Line 88"/>
            <p:cNvSpPr/>
            <p:nvPr/>
          </p:nvSpPr>
          <p:spPr>
            <a:xfrm flipH="1">
              <a:off x="1473" y="1700"/>
              <a:ext cx="593" cy="625"/>
            </a:xfrm>
            <a:prstGeom prst="line">
              <a:avLst/>
            </a:prstGeom>
            <a:ln w="9525" cap="flat" cmpd="sng">
              <a:solidFill>
                <a:srgbClr val="FF0066"/>
              </a:solidFill>
              <a:prstDash val="solid"/>
              <a:headEnd type="none" w="med" len="med"/>
              <a:tailEnd type="triangle" w="med" len="med"/>
            </a:ln>
          </p:spPr>
        </p:sp>
        <p:sp>
          <p:nvSpPr>
            <p:cNvPr id="69706" name="Line 89"/>
            <p:cNvSpPr/>
            <p:nvPr/>
          </p:nvSpPr>
          <p:spPr>
            <a:xfrm>
              <a:off x="2272" y="1716"/>
              <a:ext cx="1234" cy="601"/>
            </a:xfrm>
            <a:prstGeom prst="line">
              <a:avLst/>
            </a:prstGeom>
            <a:ln w="9525" cap="flat" cmpd="sng">
              <a:solidFill>
                <a:srgbClr val="FF0066"/>
              </a:solidFill>
              <a:prstDash val="solid"/>
              <a:headEnd type="none" w="med" len="med"/>
              <a:tailEnd type="triangle" w="med" len="med"/>
            </a:ln>
          </p:spPr>
        </p:sp>
      </p:grpSp>
      <p:sp>
        <p:nvSpPr>
          <p:cNvPr id="69664" name="Line 90"/>
          <p:cNvSpPr/>
          <p:nvPr/>
        </p:nvSpPr>
        <p:spPr>
          <a:xfrm>
            <a:off x="184150" y="3833813"/>
            <a:ext cx="8699500" cy="0"/>
          </a:xfrm>
          <a:prstGeom prst="line">
            <a:avLst/>
          </a:prstGeom>
          <a:ln w="9525" cap="flat" cmpd="sng">
            <a:solidFill>
              <a:srgbClr val="FF0066"/>
            </a:solidFill>
            <a:prstDash val="dash"/>
            <a:headEnd type="none" w="med" len="med"/>
            <a:tailEnd type="none" w="med" len="med"/>
          </a:ln>
        </p:spPr>
      </p:sp>
      <p:sp>
        <p:nvSpPr>
          <p:cNvPr id="69665" name="Line 91"/>
          <p:cNvSpPr/>
          <p:nvPr/>
        </p:nvSpPr>
        <p:spPr>
          <a:xfrm>
            <a:off x="339725" y="4867275"/>
            <a:ext cx="0" cy="365125"/>
          </a:xfrm>
          <a:prstGeom prst="line">
            <a:avLst/>
          </a:prstGeom>
          <a:ln w="9525" cap="flat" cmpd="sng">
            <a:solidFill>
              <a:srgbClr val="FF0066"/>
            </a:solidFill>
            <a:prstDash val="solid"/>
            <a:headEnd type="none" w="med" len="med"/>
            <a:tailEnd type="triangle" w="med" len="med"/>
          </a:ln>
        </p:spPr>
      </p:sp>
      <p:sp>
        <p:nvSpPr>
          <p:cNvPr id="69666" name="Line 92"/>
          <p:cNvSpPr/>
          <p:nvPr/>
        </p:nvSpPr>
        <p:spPr>
          <a:xfrm>
            <a:off x="644525" y="4867275"/>
            <a:ext cx="0" cy="365125"/>
          </a:xfrm>
          <a:prstGeom prst="line">
            <a:avLst/>
          </a:prstGeom>
          <a:ln w="9525" cap="flat" cmpd="sng">
            <a:solidFill>
              <a:srgbClr val="FF0066"/>
            </a:solidFill>
            <a:prstDash val="solid"/>
            <a:headEnd type="none" w="med" len="med"/>
            <a:tailEnd type="triangle" w="med" len="med"/>
          </a:ln>
        </p:spPr>
      </p:sp>
      <p:sp>
        <p:nvSpPr>
          <p:cNvPr id="69667" name="Line 93"/>
          <p:cNvSpPr/>
          <p:nvPr/>
        </p:nvSpPr>
        <p:spPr>
          <a:xfrm>
            <a:off x="1293813" y="4840288"/>
            <a:ext cx="1866900" cy="0"/>
          </a:xfrm>
          <a:prstGeom prst="line">
            <a:avLst/>
          </a:prstGeom>
          <a:ln w="9525" cap="flat" cmpd="sng">
            <a:solidFill>
              <a:srgbClr val="FF0066"/>
            </a:solidFill>
            <a:prstDash val="solid"/>
            <a:headEnd type="none" w="med" len="med"/>
            <a:tailEnd type="triangle" w="med" len="med"/>
          </a:ln>
        </p:spPr>
      </p:sp>
      <p:sp>
        <p:nvSpPr>
          <p:cNvPr id="69668" name="Line 94"/>
          <p:cNvSpPr/>
          <p:nvPr/>
        </p:nvSpPr>
        <p:spPr>
          <a:xfrm>
            <a:off x="3311525" y="4867275"/>
            <a:ext cx="0" cy="365125"/>
          </a:xfrm>
          <a:prstGeom prst="line">
            <a:avLst/>
          </a:prstGeom>
          <a:ln w="9525" cap="flat" cmpd="sng">
            <a:solidFill>
              <a:srgbClr val="FF0066"/>
            </a:solidFill>
            <a:prstDash val="solid"/>
            <a:headEnd type="none" w="med" len="med"/>
            <a:tailEnd type="triangle" w="med" len="med"/>
          </a:ln>
        </p:spPr>
      </p:sp>
      <p:sp>
        <p:nvSpPr>
          <p:cNvPr id="69669" name="Line 95"/>
          <p:cNvSpPr/>
          <p:nvPr/>
        </p:nvSpPr>
        <p:spPr>
          <a:xfrm>
            <a:off x="3603625" y="4867275"/>
            <a:ext cx="0" cy="365125"/>
          </a:xfrm>
          <a:prstGeom prst="line">
            <a:avLst/>
          </a:prstGeom>
          <a:ln w="9525" cap="flat" cmpd="sng">
            <a:solidFill>
              <a:srgbClr val="FF0066"/>
            </a:solidFill>
            <a:prstDash val="solid"/>
            <a:headEnd type="none" w="med" len="med"/>
            <a:tailEnd type="triangle" w="med" len="med"/>
          </a:ln>
        </p:spPr>
      </p:sp>
      <p:sp>
        <p:nvSpPr>
          <p:cNvPr id="69670" name="Line 96"/>
          <p:cNvSpPr/>
          <p:nvPr/>
        </p:nvSpPr>
        <p:spPr>
          <a:xfrm>
            <a:off x="3908425" y="4867275"/>
            <a:ext cx="0" cy="365125"/>
          </a:xfrm>
          <a:prstGeom prst="line">
            <a:avLst/>
          </a:prstGeom>
          <a:ln w="9525" cap="flat" cmpd="sng">
            <a:solidFill>
              <a:srgbClr val="FF0066"/>
            </a:solidFill>
            <a:prstDash val="solid"/>
            <a:headEnd type="none" w="med" len="med"/>
            <a:tailEnd type="triangle" w="med" len="med"/>
          </a:ln>
        </p:spPr>
      </p:sp>
      <p:sp>
        <p:nvSpPr>
          <p:cNvPr id="69671" name="Line 97"/>
          <p:cNvSpPr/>
          <p:nvPr/>
        </p:nvSpPr>
        <p:spPr>
          <a:xfrm>
            <a:off x="4265613" y="4852988"/>
            <a:ext cx="377825" cy="0"/>
          </a:xfrm>
          <a:prstGeom prst="line">
            <a:avLst/>
          </a:prstGeom>
          <a:ln w="9525" cap="flat" cmpd="sng">
            <a:solidFill>
              <a:srgbClr val="FF0066"/>
            </a:solidFill>
            <a:prstDash val="solid"/>
            <a:headEnd type="none" w="med" len="med"/>
            <a:tailEnd type="triangle" w="med" len="med"/>
          </a:ln>
        </p:spPr>
      </p:sp>
      <p:sp>
        <p:nvSpPr>
          <p:cNvPr id="69672" name="Line 98"/>
          <p:cNvSpPr/>
          <p:nvPr/>
        </p:nvSpPr>
        <p:spPr>
          <a:xfrm>
            <a:off x="4784725" y="4867275"/>
            <a:ext cx="0" cy="365125"/>
          </a:xfrm>
          <a:prstGeom prst="line">
            <a:avLst/>
          </a:prstGeom>
          <a:ln w="9525" cap="flat" cmpd="sng">
            <a:solidFill>
              <a:srgbClr val="FF0066"/>
            </a:solidFill>
            <a:prstDash val="solid"/>
            <a:headEnd type="none" w="med" len="med"/>
            <a:tailEnd type="triangle" w="med" len="med"/>
          </a:ln>
        </p:spPr>
      </p:sp>
      <p:sp>
        <p:nvSpPr>
          <p:cNvPr id="69673" name="Line 99"/>
          <p:cNvSpPr/>
          <p:nvPr/>
        </p:nvSpPr>
        <p:spPr>
          <a:xfrm>
            <a:off x="5064125" y="4867275"/>
            <a:ext cx="0" cy="365125"/>
          </a:xfrm>
          <a:prstGeom prst="line">
            <a:avLst/>
          </a:prstGeom>
          <a:ln w="9525" cap="flat" cmpd="sng">
            <a:solidFill>
              <a:srgbClr val="FF0066"/>
            </a:solidFill>
            <a:prstDash val="solid"/>
            <a:headEnd type="none" w="med" len="med"/>
            <a:tailEnd type="triangle" w="med" len="med"/>
          </a:ln>
        </p:spPr>
      </p:sp>
      <p:sp>
        <p:nvSpPr>
          <p:cNvPr id="69674" name="Line 100"/>
          <p:cNvSpPr/>
          <p:nvPr/>
        </p:nvSpPr>
        <p:spPr>
          <a:xfrm>
            <a:off x="5738813" y="4852988"/>
            <a:ext cx="377825" cy="0"/>
          </a:xfrm>
          <a:prstGeom prst="line">
            <a:avLst/>
          </a:prstGeom>
          <a:ln w="9525" cap="flat" cmpd="sng">
            <a:solidFill>
              <a:srgbClr val="FF0066"/>
            </a:solidFill>
            <a:prstDash val="solid"/>
            <a:headEnd type="none" w="med" len="med"/>
            <a:tailEnd type="triangle" w="med" len="med"/>
          </a:ln>
        </p:spPr>
      </p:sp>
      <p:sp>
        <p:nvSpPr>
          <p:cNvPr id="69675" name="Line 101"/>
          <p:cNvSpPr/>
          <p:nvPr/>
        </p:nvSpPr>
        <p:spPr>
          <a:xfrm>
            <a:off x="6296025" y="4867275"/>
            <a:ext cx="0" cy="365125"/>
          </a:xfrm>
          <a:prstGeom prst="line">
            <a:avLst/>
          </a:prstGeom>
          <a:ln w="9525" cap="flat" cmpd="sng">
            <a:solidFill>
              <a:srgbClr val="FF0066"/>
            </a:solidFill>
            <a:prstDash val="solid"/>
            <a:headEnd type="none" w="med" len="med"/>
            <a:tailEnd type="triangle" w="med" len="med"/>
          </a:ln>
        </p:spPr>
      </p:sp>
      <p:sp>
        <p:nvSpPr>
          <p:cNvPr id="69676" name="Line 102"/>
          <p:cNvSpPr/>
          <p:nvPr/>
        </p:nvSpPr>
        <p:spPr>
          <a:xfrm>
            <a:off x="6575425" y="4867275"/>
            <a:ext cx="0" cy="365125"/>
          </a:xfrm>
          <a:prstGeom prst="line">
            <a:avLst/>
          </a:prstGeom>
          <a:ln w="9525" cap="flat" cmpd="sng">
            <a:solidFill>
              <a:srgbClr val="FF0066"/>
            </a:solidFill>
            <a:prstDash val="solid"/>
            <a:headEnd type="none" w="med" len="med"/>
            <a:tailEnd type="triangle" w="med" len="med"/>
          </a:ln>
        </p:spPr>
      </p:sp>
      <p:sp>
        <p:nvSpPr>
          <p:cNvPr id="69677" name="Line 103"/>
          <p:cNvSpPr/>
          <p:nvPr/>
        </p:nvSpPr>
        <p:spPr>
          <a:xfrm>
            <a:off x="6892925" y="4867275"/>
            <a:ext cx="0" cy="365125"/>
          </a:xfrm>
          <a:prstGeom prst="line">
            <a:avLst/>
          </a:prstGeom>
          <a:ln w="9525" cap="flat" cmpd="sng">
            <a:solidFill>
              <a:srgbClr val="FF0066"/>
            </a:solidFill>
            <a:prstDash val="solid"/>
            <a:headEnd type="none" w="med" len="med"/>
            <a:tailEnd type="triangle" w="med" len="med"/>
          </a:ln>
        </p:spPr>
      </p:sp>
      <p:sp>
        <p:nvSpPr>
          <p:cNvPr id="69678" name="Line 104"/>
          <p:cNvSpPr/>
          <p:nvPr/>
        </p:nvSpPr>
        <p:spPr>
          <a:xfrm>
            <a:off x="7250113" y="4852988"/>
            <a:ext cx="377825" cy="0"/>
          </a:xfrm>
          <a:prstGeom prst="line">
            <a:avLst/>
          </a:prstGeom>
          <a:ln w="9525" cap="flat" cmpd="sng">
            <a:solidFill>
              <a:srgbClr val="FF0066"/>
            </a:solidFill>
            <a:prstDash val="solid"/>
            <a:headEnd type="none" w="med" len="med"/>
            <a:tailEnd type="triangle" w="med" len="med"/>
          </a:ln>
        </p:spPr>
      </p:sp>
      <p:sp>
        <p:nvSpPr>
          <p:cNvPr id="69679" name="Line 105"/>
          <p:cNvSpPr/>
          <p:nvPr/>
        </p:nvSpPr>
        <p:spPr>
          <a:xfrm>
            <a:off x="7769225" y="4854575"/>
            <a:ext cx="0" cy="365125"/>
          </a:xfrm>
          <a:prstGeom prst="line">
            <a:avLst/>
          </a:prstGeom>
          <a:ln w="9525" cap="flat" cmpd="sng">
            <a:solidFill>
              <a:srgbClr val="FF0066"/>
            </a:solidFill>
            <a:prstDash val="solid"/>
            <a:headEnd type="none" w="med" len="med"/>
            <a:tailEnd type="triangle" w="med" len="med"/>
          </a:ln>
        </p:spPr>
      </p:sp>
      <p:sp>
        <p:nvSpPr>
          <p:cNvPr id="69680" name="Line 106"/>
          <p:cNvSpPr/>
          <p:nvPr/>
        </p:nvSpPr>
        <p:spPr>
          <a:xfrm>
            <a:off x="8048625" y="4854575"/>
            <a:ext cx="0" cy="365125"/>
          </a:xfrm>
          <a:prstGeom prst="line">
            <a:avLst/>
          </a:prstGeom>
          <a:ln w="9525" cap="flat" cmpd="sng">
            <a:solidFill>
              <a:srgbClr val="FF0066"/>
            </a:solidFill>
            <a:prstDash val="solid"/>
            <a:headEnd type="none" w="med" len="med"/>
            <a:tailEnd type="triangle" w="med" len="med"/>
          </a:ln>
        </p:spPr>
      </p:sp>
      <p:sp>
        <p:nvSpPr>
          <p:cNvPr id="69681" name="Line 107"/>
          <p:cNvSpPr/>
          <p:nvPr/>
        </p:nvSpPr>
        <p:spPr>
          <a:xfrm>
            <a:off x="949325" y="4854575"/>
            <a:ext cx="0" cy="365125"/>
          </a:xfrm>
          <a:prstGeom prst="line">
            <a:avLst/>
          </a:prstGeom>
          <a:ln w="9525" cap="flat" cmpd="sng">
            <a:solidFill>
              <a:srgbClr val="FF0066"/>
            </a:solidFill>
            <a:prstDash val="solid"/>
            <a:headEnd type="none" w="med" len="med"/>
            <a:tailEnd type="triangle" w="med" len="med"/>
          </a:ln>
        </p:spPr>
      </p:sp>
      <p:sp>
        <p:nvSpPr>
          <p:cNvPr id="69682" name="Text Box 108"/>
          <p:cNvSpPr txBox="1"/>
          <p:nvPr/>
        </p:nvSpPr>
        <p:spPr>
          <a:xfrm>
            <a:off x="1781175" y="3011488"/>
            <a:ext cx="542925" cy="36671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69683" name="Text Box 109"/>
          <p:cNvSpPr txBox="1"/>
          <p:nvPr/>
        </p:nvSpPr>
        <p:spPr>
          <a:xfrm>
            <a:off x="180975" y="1071563"/>
            <a:ext cx="44291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最终状态</a:t>
            </a:r>
          </a:p>
        </p:txBody>
      </p:sp>
      <p:grpSp>
        <p:nvGrpSpPr>
          <p:cNvPr id="26" name="Group 111"/>
          <p:cNvGrpSpPr/>
          <p:nvPr/>
        </p:nvGrpSpPr>
        <p:grpSpPr>
          <a:xfrm>
            <a:off x="2622550" y="5349875"/>
            <a:ext cx="1681163" cy="1193800"/>
            <a:chOff x="3368" y="3555"/>
            <a:chExt cx="836" cy="705"/>
          </a:xfrm>
        </p:grpSpPr>
        <p:sp>
          <p:nvSpPr>
            <p:cNvPr id="2"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9703"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9704" name="Text Box 84"/>
            <p:cNvSpPr txBox="1"/>
            <p:nvPr/>
          </p:nvSpPr>
          <p:spPr>
            <a:xfrm>
              <a:off x="3440" y="3686"/>
              <a:ext cx="692" cy="414"/>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关键点</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：指针调整</a:t>
              </a:r>
            </a:p>
          </p:txBody>
        </p:sp>
      </p:grpSp>
      <p:grpSp>
        <p:nvGrpSpPr>
          <p:cNvPr id="27" name="Group 115"/>
          <p:cNvGrpSpPr/>
          <p:nvPr/>
        </p:nvGrpSpPr>
        <p:grpSpPr>
          <a:xfrm>
            <a:off x="6657975" y="954088"/>
            <a:ext cx="2486025" cy="1406525"/>
            <a:chOff x="1265" y="3268"/>
            <a:chExt cx="1154" cy="629"/>
          </a:xfrm>
        </p:grpSpPr>
        <p:sp>
          <p:nvSpPr>
            <p:cNvPr id="69699"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9700"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9701" name="Text Box 84"/>
            <p:cNvSpPr/>
            <p:nvPr/>
          </p:nvSpPr>
          <p:spPr>
            <a:xfrm>
              <a:off x="1269" y="3299"/>
              <a:ext cx="1150" cy="568"/>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能够自动保持与主文件大小相适应的树的层次</a:t>
              </a:r>
            </a:p>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每个索引块的指针利用率都在</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50%-100%</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之间</a:t>
              </a:r>
            </a:p>
          </p:txBody>
        </p:sp>
      </p:grpSp>
      <p:grpSp>
        <p:nvGrpSpPr>
          <p:cNvPr id="69686" name="Group 119"/>
          <p:cNvGrpSpPr/>
          <p:nvPr/>
        </p:nvGrpSpPr>
        <p:grpSpPr>
          <a:xfrm>
            <a:off x="866775" y="1700213"/>
            <a:ext cx="1681163" cy="1193800"/>
            <a:chOff x="3368" y="3555"/>
            <a:chExt cx="836" cy="705"/>
          </a:xfrm>
        </p:grpSpPr>
        <p:sp>
          <p:nvSpPr>
            <p:cNvPr id="8"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9697"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9698" name="Text Box 84"/>
            <p:cNvSpPr txBox="1"/>
            <p:nvPr/>
          </p:nvSpPr>
          <p:spPr>
            <a:xfrm>
              <a:off x="3440" y="3686"/>
              <a:ext cx="692" cy="414"/>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关键点</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：合并</a:t>
              </a:r>
            </a:p>
          </p:txBody>
        </p:sp>
      </p:grpSp>
      <p:grpSp>
        <p:nvGrpSpPr>
          <p:cNvPr id="29" name="Group 123"/>
          <p:cNvGrpSpPr/>
          <p:nvPr/>
        </p:nvGrpSpPr>
        <p:grpSpPr>
          <a:xfrm>
            <a:off x="4652963" y="830263"/>
            <a:ext cx="2176462" cy="1638300"/>
            <a:chOff x="3368" y="3555"/>
            <a:chExt cx="836" cy="705"/>
          </a:xfrm>
        </p:grpSpPr>
        <p:sp>
          <p:nvSpPr>
            <p:cNvPr id="11"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9694"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69695" name="Text Box 84"/>
            <p:cNvSpPr txBox="1"/>
            <p:nvPr/>
          </p:nvSpPr>
          <p:spPr>
            <a:xfrm>
              <a:off x="3440" y="3686"/>
              <a:ext cx="691" cy="43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关键点</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：由叶结点向根结点逐层处理</a:t>
              </a:r>
            </a:p>
          </p:txBody>
        </p:sp>
      </p:grpSp>
      <p:grpSp>
        <p:nvGrpSpPr>
          <p:cNvPr id="30" name="Group 127"/>
          <p:cNvGrpSpPr/>
          <p:nvPr/>
        </p:nvGrpSpPr>
        <p:grpSpPr>
          <a:xfrm>
            <a:off x="414338" y="2482850"/>
            <a:ext cx="1360487" cy="1128713"/>
            <a:chOff x="1089" y="3229"/>
            <a:chExt cx="1508" cy="716"/>
          </a:xfrm>
        </p:grpSpPr>
        <p:sp>
          <p:nvSpPr>
            <p:cNvPr id="69690" name="AutoShape 39"/>
            <p:cNvSpPr/>
            <p:nvPr/>
          </p:nvSpPr>
          <p:spPr>
            <a:xfrm>
              <a:off x="1265" y="3268"/>
              <a:ext cx="1153" cy="629"/>
            </a:xfrm>
            <a:prstGeom prst="ellipse">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9691" name="Oval 40"/>
            <p:cNvSpPr/>
            <p:nvPr/>
          </p:nvSpPr>
          <p:spPr>
            <a:xfrm>
              <a:off x="1310" y="3308"/>
              <a:ext cx="1069" cy="549"/>
            </a:xfrm>
            <a:prstGeom prst="ellipse">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9692" name="Text Box 84"/>
            <p:cNvSpPr/>
            <p:nvPr/>
          </p:nvSpPr>
          <p:spPr>
            <a:xfrm>
              <a:off x="1089" y="3229"/>
              <a:ext cx="1508" cy="716"/>
            </a:xfrm>
            <a:prstGeom prst="ellipse">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当指针数目少于规定数目</a:t>
              </a:r>
            </a:p>
          </p:txBody>
        </p:sp>
      </p:grpSp>
      <p:sp>
        <p:nvSpPr>
          <p:cNvPr id="69689"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删除过程与合并过程完成之后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ppt_x"/>
                                          </p:val>
                                        </p:tav>
                                        <p:tav tm="100000">
                                          <p:val>
                                            <p:strVal val="#ppt_x"/>
                                          </p:val>
                                        </p:tav>
                                      </p:tavLst>
                                    </p:anim>
                                    <p:anim calcmode="lin" valueType="num">
                                      <p:cBhvr additive="base">
                                        <p:cTn id="2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0" descr="B+树删除结点算法示意图"/>
          <p:cNvPicPr>
            <a:picLocks noChangeAspect="1"/>
          </p:cNvPicPr>
          <p:nvPr/>
        </p:nvPicPr>
        <p:blipFill>
          <a:blip r:embed="rId2"/>
          <a:stretch>
            <a:fillRect/>
          </a:stretch>
        </p:blipFill>
        <p:spPr>
          <a:xfrm>
            <a:off x="3454400" y="0"/>
            <a:ext cx="5508625" cy="6858000"/>
          </a:xfrm>
          <a:prstGeom prst="rect">
            <a:avLst/>
          </a:prstGeom>
          <a:noFill/>
          <a:ln w="9525" cap="flat" cmpd="sng">
            <a:solidFill>
              <a:srgbClr val="CC0000"/>
            </a:solidFill>
            <a:prstDash val="solid"/>
            <a:miter/>
            <a:headEnd type="none" w="med" len="med"/>
            <a:tailEnd type="none" w="med" len="med"/>
          </a:ln>
        </p:spPr>
      </p:pic>
      <p:sp>
        <p:nvSpPr>
          <p:cNvPr id="70659"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B+树之键值删除与结点合并过程示意</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相关的算法表达</a:t>
            </a:r>
          </a:p>
        </p:txBody>
      </p:sp>
      <p:sp>
        <p:nvSpPr>
          <p:cNvPr id="70660" name="Text Box 3"/>
          <p:cNvSpPr txBox="1"/>
          <p:nvPr/>
        </p:nvSpPr>
        <p:spPr>
          <a:xfrm>
            <a:off x="180975" y="1071563"/>
            <a:ext cx="4668838"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将算法表达出来</a:t>
            </a:r>
          </a:p>
        </p:txBody>
      </p:sp>
      <p:grpSp>
        <p:nvGrpSpPr>
          <p:cNvPr id="70661" name="Group 5"/>
          <p:cNvGrpSpPr/>
          <p:nvPr/>
        </p:nvGrpSpPr>
        <p:grpSpPr>
          <a:xfrm>
            <a:off x="7278688" y="5586413"/>
            <a:ext cx="1500187" cy="1104900"/>
            <a:chOff x="3368" y="3555"/>
            <a:chExt cx="836" cy="705"/>
          </a:xfrm>
        </p:grpSpPr>
        <p:sp>
          <p:nvSpPr>
            <p:cNvPr id="20"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70663"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70664" name="Text Box 84"/>
            <p:cNvSpPr txBox="1"/>
            <p:nvPr/>
          </p:nvSpPr>
          <p:spPr>
            <a:xfrm>
              <a:off x="3440" y="3686"/>
              <a:ext cx="691" cy="449"/>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此算法可参见教材</a:t>
              </a:r>
            </a:p>
          </p:txBody>
        </p:sp>
      </p:grpSp>
    </p:spTree>
  </p:cSld>
  <p:clrMapOvr>
    <a:masterClrMapping/>
  </p:clrMapOvr>
  <p:transition>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0436" name="Group 4"/>
          <p:cNvGraphicFramePr>
            <a:graphicFrameLocks noGrp="1"/>
          </p:cNvGraphicFramePr>
          <p:nvPr>
            <p:extLst>
              <p:ext uri="{D42A27DB-BD31-4B8C-83A1-F6EECF244321}">
                <p14:modId xmlns:p14="http://schemas.microsoft.com/office/powerpoint/2010/main" val="419430215"/>
              </p:ext>
            </p:extLst>
          </p:nvPr>
        </p:nvGraphicFramePr>
        <p:xfrm>
          <a:off x="3568700" y="1916832"/>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0458" name="Group 26"/>
          <p:cNvGraphicFramePr>
            <a:graphicFrameLocks noGrp="1"/>
          </p:cNvGraphicFramePr>
          <p:nvPr>
            <p:extLst>
              <p:ext uri="{D42A27DB-BD31-4B8C-83A1-F6EECF244321}">
                <p14:modId xmlns:p14="http://schemas.microsoft.com/office/powerpoint/2010/main" val="1896144673"/>
              </p:ext>
            </p:extLst>
          </p:nvPr>
        </p:nvGraphicFramePr>
        <p:xfrm>
          <a:off x="1739900" y="2831232"/>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0480" name="Group 48"/>
          <p:cNvGraphicFramePr>
            <a:graphicFrameLocks noGrp="1"/>
          </p:cNvGraphicFramePr>
          <p:nvPr>
            <p:extLst>
              <p:ext uri="{D42A27DB-BD31-4B8C-83A1-F6EECF244321}">
                <p14:modId xmlns:p14="http://schemas.microsoft.com/office/powerpoint/2010/main" val="2762190824"/>
              </p:ext>
            </p:extLst>
          </p:nvPr>
        </p:nvGraphicFramePr>
        <p:xfrm>
          <a:off x="5168900" y="2831232"/>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0502" name="Group 70"/>
          <p:cNvGraphicFramePr>
            <a:graphicFrameLocks noGrp="1"/>
          </p:cNvGraphicFramePr>
          <p:nvPr>
            <p:extLst>
              <p:ext uri="{D42A27DB-BD31-4B8C-83A1-F6EECF244321}">
                <p14:modId xmlns:p14="http://schemas.microsoft.com/office/powerpoint/2010/main" val="279841416"/>
              </p:ext>
            </p:extLst>
          </p:nvPr>
        </p:nvGraphicFramePr>
        <p:xfrm>
          <a:off x="825500" y="4279032"/>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0524" name="Group 92"/>
          <p:cNvGraphicFramePr>
            <a:graphicFrameLocks noGrp="1"/>
          </p:cNvGraphicFramePr>
          <p:nvPr>
            <p:extLst>
              <p:ext uri="{D42A27DB-BD31-4B8C-83A1-F6EECF244321}">
                <p14:modId xmlns:p14="http://schemas.microsoft.com/office/powerpoint/2010/main" val="4071861371"/>
              </p:ext>
            </p:extLst>
          </p:nvPr>
        </p:nvGraphicFramePr>
        <p:xfrm>
          <a:off x="2654300" y="4279032"/>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0546" name="Group 114"/>
          <p:cNvGraphicFramePr>
            <a:graphicFrameLocks noGrp="1"/>
          </p:cNvGraphicFramePr>
          <p:nvPr>
            <p:extLst>
              <p:ext uri="{D42A27DB-BD31-4B8C-83A1-F6EECF244321}">
                <p14:modId xmlns:p14="http://schemas.microsoft.com/office/powerpoint/2010/main" val="1318779909"/>
              </p:ext>
            </p:extLst>
          </p:nvPr>
        </p:nvGraphicFramePr>
        <p:xfrm>
          <a:off x="4406900" y="4279032"/>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0568" name="Group 136"/>
          <p:cNvGraphicFramePr>
            <a:graphicFrameLocks noGrp="1"/>
          </p:cNvGraphicFramePr>
          <p:nvPr>
            <p:extLst>
              <p:ext uri="{D42A27DB-BD31-4B8C-83A1-F6EECF244321}">
                <p14:modId xmlns:p14="http://schemas.microsoft.com/office/powerpoint/2010/main" val="763626476"/>
              </p:ext>
            </p:extLst>
          </p:nvPr>
        </p:nvGraphicFramePr>
        <p:xfrm>
          <a:off x="6159500" y="4279032"/>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3884" name="Line 158"/>
          <p:cNvSpPr/>
          <p:nvPr/>
        </p:nvSpPr>
        <p:spPr>
          <a:xfrm flipH="1">
            <a:off x="1739900" y="2450232"/>
            <a:ext cx="1981200" cy="381000"/>
          </a:xfrm>
          <a:prstGeom prst="line">
            <a:avLst/>
          </a:prstGeom>
          <a:ln w="9525" cap="flat" cmpd="sng">
            <a:solidFill>
              <a:schemeClr val="tx1"/>
            </a:solidFill>
            <a:prstDash val="solid"/>
            <a:headEnd type="none" w="med" len="med"/>
            <a:tailEnd type="triangle" w="med" len="med"/>
          </a:ln>
        </p:spPr>
      </p:sp>
      <p:sp>
        <p:nvSpPr>
          <p:cNvPr id="73885" name="Line 159"/>
          <p:cNvSpPr/>
          <p:nvPr/>
        </p:nvSpPr>
        <p:spPr>
          <a:xfrm>
            <a:off x="4102100" y="2450232"/>
            <a:ext cx="1066800" cy="381000"/>
          </a:xfrm>
          <a:prstGeom prst="line">
            <a:avLst/>
          </a:prstGeom>
          <a:ln w="9525" cap="flat" cmpd="sng">
            <a:solidFill>
              <a:schemeClr val="tx1"/>
            </a:solidFill>
            <a:prstDash val="solid"/>
            <a:headEnd type="none" w="med" len="med"/>
            <a:tailEnd type="triangle" w="med" len="med"/>
          </a:ln>
        </p:spPr>
      </p:sp>
      <p:sp>
        <p:nvSpPr>
          <p:cNvPr id="73886" name="Line 160"/>
          <p:cNvSpPr/>
          <p:nvPr/>
        </p:nvSpPr>
        <p:spPr>
          <a:xfrm flipH="1">
            <a:off x="825500" y="3364632"/>
            <a:ext cx="1066800" cy="914400"/>
          </a:xfrm>
          <a:prstGeom prst="line">
            <a:avLst/>
          </a:prstGeom>
          <a:ln w="9525" cap="flat" cmpd="sng">
            <a:solidFill>
              <a:schemeClr val="tx1"/>
            </a:solidFill>
            <a:prstDash val="solid"/>
            <a:headEnd type="none" w="med" len="med"/>
            <a:tailEnd type="triangle" w="med" len="med"/>
          </a:ln>
        </p:spPr>
      </p:sp>
      <p:sp>
        <p:nvSpPr>
          <p:cNvPr id="73887" name="Line 161"/>
          <p:cNvSpPr/>
          <p:nvPr/>
        </p:nvSpPr>
        <p:spPr>
          <a:xfrm>
            <a:off x="2273300" y="3364632"/>
            <a:ext cx="381000" cy="914400"/>
          </a:xfrm>
          <a:prstGeom prst="line">
            <a:avLst/>
          </a:prstGeom>
          <a:ln w="9525" cap="flat" cmpd="sng">
            <a:solidFill>
              <a:schemeClr val="tx1"/>
            </a:solidFill>
            <a:prstDash val="solid"/>
            <a:headEnd type="none" w="med" len="med"/>
            <a:tailEnd type="triangle" w="med" len="med"/>
          </a:ln>
        </p:spPr>
      </p:sp>
      <p:sp>
        <p:nvSpPr>
          <p:cNvPr id="73888" name="Line 162"/>
          <p:cNvSpPr/>
          <p:nvPr/>
        </p:nvSpPr>
        <p:spPr>
          <a:xfrm>
            <a:off x="2730500" y="3364632"/>
            <a:ext cx="1676400" cy="914400"/>
          </a:xfrm>
          <a:prstGeom prst="line">
            <a:avLst/>
          </a:prstGeom>
          <a:ln w="9525" cap="flat" cmpd="sng">
            <a:solidFill>
              <a:schemeClr val="tx1"/>
            </a:solidFill>
            <a:prstDash val="solid"/>
            <a:headEnd type="none" w="med" len="med"/>
            <a:tailEnd type="triangle" w="med" len="med"/>
          </a:ln>
        </p:spPr>
      </p:sp>
      <p:sp>
        <p:nvSpPr>
          <p:cNvPr id="73889" name="Line 163"/>
          <p:cNvSpPr/>
          <p:nvPr/>
        </p:nvSpPr>
        <p:spPr>
          <a:xfrm>
            <a:off x="5321300" y="3364632"/>
            <a:ext cx="838200" cy="914400"/>
          </a:xfrm>
          <a:prstGeom prst="line">
            <a:avLst/>
          </a:prstGeom>
          <a:ln w="9525" cap="flat" cmpd="sng">
            <a:solidFill>
              <a:schemeClr val="tx1"/>
            </a:solidFill>
            <a:prstDash val="solid"/>
            <a:headEnd type="none" w="med" len="med"/>
            <a:tailEnd type="triangle" w="med" len="med"/>
          </a:ln>
        </p:spPr>
      </p:sp>
      <p:sp>
        <p:nvSpPr>
          <p:cNvPr id="73890" name="Line 164"/>
          <p:cNvSpPr/>
          <p:nvPr/>
        </p:nvSpPr>
        <p:spPr>
          <a:xfrm>
            <a:off x="5702300" y="3364632"/>
            <a:ext cx="2438400" cy="838200"/>
          </a:xfrm>
          <a:prstGeom prst="line">
            <a:avLst/>
          </a:prstGeom>
          <a:ln w="9525" cap="flat" cmpd="sng">
            <a:solidFill>
              <a:schemeClr val="tx1"/>
            </a:solidFill>
            <a:prstDash val="solid"/>
            <a:headEnd type="none" w="med" len="med"/>
            <a:tailEnd type="triangle" w="med" len="med"/>
          </a:ln>
        </p:spPr>
      </p:sp>
      <p:sp>
        <p:nvSpPr>
          <p:cNvPr id="73891" name="Line 165"/>
          <p:cNvSpPr/>
          <p:nvPr/>
        </p:nvSpPr>
        <p:spPr>
          <a:xfrm>
            <a:off x="6311900" y="3440832"/>
            <a:ext cx="2362200" cy="838200"/>
          </a:xfrm>
          <a:prstGeom prst="line">
            <a:avLst/>
          </a:prstGeom>
          <a:ln w="9525" cap="flat" cmpd="sng">
            <a:solidFill>
              <a:schemeClr val="tx1"/>
            </a:solidFill>
            <a:prstDash val="solid"/>
            <a:headEnd type="none" w="med" len="med"/>
            <a:tailEnd type="triangle" w="med" len="med"/>
          </a:ln>
        </p:spPr>
      </p:sp>
      <p:sp>
        <p:nvSpPr>
          <p:cNvPr id="73892" name="Line 166"/>
          <p:cNvSpPr/>
          <p:nvPr/>
        </p:nvSpPr>
        <p:spPr>
          <a:xfrm>
            <a:off x="6845300" y="3364632"/>
            <a:ext cx="2209800" cy="838200"/>
          </a:xfrm>
          <a:prstGeom prst="line">
            <a:avLst/>
          </a:prstGeom>
          <a:ln w="9525" cap="flat" cmpd="sng">
            <a:solidFill>
              <a:schemeClr val="tx1"/>
            </a:solidFill>
            <a:prstDash val="solid"/>
            <a:headEnd type="none" w="med" len="med"/>
            <a:tailEnd type="triangle" w="med" len="med"/>
          </a:ln>
        </p:spPr>
      </p:sp>
      <p:sp>
        <p:nvSpPr>
          <p:cNvPr id="73893" name="Line 167"/>
          <p:cNvSpPr/>
          <p:nvPr/>
        </p:nvSpPr>
        <p:spPr>
          <a:xfrm>
            <a:off x="2349500" y="4812432"/>
            <a:ext cx="304800" cy="0"/>
          </a:xfrm>
          <a:prstGeom prst="line">
            <a:avLst/>
          </a:prstGeom>
          <a:ln w="9525" cap="flat" cmpd="sng">
            <a:solidFill>
              <a:schemeClr val="tx1"/>
            </a:solidFill>
            <a:prstDash val="solid"/>
            <a:headEnd type="none" w="med" len="med"/>
            <a:tailEnd type="triangle" w="med" len="med"/>
          </a:ln>
        </p:spPr>
      </p:sp>
      <p:sp>
        <p:nvSpPr>
          <p:cNvPr id="73894" name="Line 168"/>
          <p:cNvSpPr/>
          <p:nvPr/>
        </p:nvSpPr>
        <p:spPr>
          <a:xfrm>
            <a:off x="4102100" y="4812432"/>
            <a:ext cx="304800" cy="0"/>
          </a:xfrm>
          <a:prstGeom prst="line">
            <a:avLst/>
          </a:prstGeom>
          <a:ln w="9525" cap="flat" cmpd="sng">
            <a:solidFill>
              <a:schemeClr val="tx1"/>
            </a:solidFill>
            <a:prstDash val="solid"/>
            <a:headEnd type="none" w="med" len="med"/>
            <a:tailEnd type="triangle" w="med" len="med"/>
          </a:ln>
        </p:spPr>
      </p:sp>
      <p:sp>
        <p:nvSpPr>
          <p:cNvPr id="73895" name="Line 169"/>
          <p:cNvSpPr/>
          <p:nvPr/>
        </p:nvSpPr>
        <p:spPr>
          <a:xfrm>
            <a:off x="5930900" y="4812432"/>
            <a:ext cx="228600" cy="0"/>
          </a:xfrm>
          <a:prstGeom prst="line">
            <a:avLst/>
          </a:prstGeom>
          <a:ln w="9525" cap="flat" cmpd="sng">
            <a:solidFill>
              <a:schemeClr val="tx1"/>
            </a:solidFill>
            <a:prstDash val="solid"/>
            <a:headEnd type="none" w="med" len="med"/>
            <a:tailEnd type="triangle" w="med" len="med"/>
          </a:ln>
        </p:spPr>
      </p:sp>
      <p:sp>
        <p:nvSpPr>
          <p:cNvPr id="73896" name="Rectangle 170"/>
          <p:cNvSpPr/>
          <p:nvPr/>
        </p:nvSpPr>
        <p:spPr>
          <a:xfrm>
            <a:off x="8255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73897" name="Rectangle 171"/>
          <p:cNvSpPr/>
          <p:nvPr/>
        </p:nvSpPr>
        <p:spPr>
          <a:xfrm>
            <a:off x="13589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73898" name="Rectangle 172"/>
          <p:cNvSpPr/>
          <p:nvPr/>
        </p:nvSpPr>
        <p:spPr>
          <a:xfrm>
            <a:off x="18923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73899" name="Rectangle 173"/>
          <p:cNvSpPr/>
          <p:nvPr/>
        </p:nvSpPr>
        <p:spPr>
          <a:xfrm>
            <a:off x="25019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73900" name="Rectangle 174"/>
          <p:cNvSpPr/>
          <p:nvPr/>
        </p:nvSpPr>
        <p:spPr>
          <a:xfrm>
            <a:off x="31115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30</a:t>
            </a:r>
          </a:p>
        </p:txBody>
      </p:sp>
      <p:sp>
        <p:nvSpPr>
          <p:cNvPr id="73901" name="Rectangle 175"/>
          <p:cNvSpPr/>
          <p:nvPr/>
        </p:nvSpPr>
        <p:spPr>
          <a:xfrm>
            <a:off x="35687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73902" name="Rectangle 176"/>
          <p:cNvSpPr/>
          <p:nvPr/>
        </p:nvSpPr>
        <p:spPr>
          <a:xfrm>
            <a:off x="41021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73903" name="Rectangle 177"/>
          <p:cNvSpPr/>
          <p:nvPr/>
        </p:nvSpPr>
        <p:spPr>
          <a:xfrm>
            <a:off x="45593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73904" name="Rectangle 178"/>
          <p:cNvSpPr/>
          <p:nvPr/>
        </p:nvSpPr>
        <p:spPr>
          <a:xfrm>
            <a:off x="50165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73905" name="Rectangle 179"/>
          <p:cNvSpPr/>
          <p:nvPr/>
        </p:nvSpPr>
        <p:spPr>
          <a:xfrm>
            <a:off x="54737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73906" name="Rectangle 180"/>
          <p:cNvSpPr/>
          <p:nvPr/>
        </p:nvSpPr>
        <p:spPr>
          <a:xfrm>
            <a:off x="60071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73907" name="Rectangle 181"/>
          <p:cNvSpPr/>
          <p:nvPr/>
        </p:nvSpPr>
        <p:spPr>
          <a:xfrm>
            <a:off x="6540500" y="5650632"/>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73908" name="Line 182"/>
          <p:cNvSpPr/>
          <p:nvPr/>
        </p:nvSpPr>
        <p:spPr>
          <a:xfrm flipH="1">
            <a:off x="825500" y="4812432"/>
            <a:ext cx="152400" cy="838200"/>
          </a:xfrm>
          <a:prstGeom prst="line">
            <a:avLst/>
          </a:prstGeom>
          <a:ln w="9525" cap="flat" cmpd="sng">
            <a:solidFill>
              <a:schemeClr val="tx1"/>
            </a:solidFill>
            <a:prstDash val="solid"/>
            <a:headEnd type="none" w="med" len="med"/>
            <a:tailEnd type="triangle" w="med" len="med"/>
          </a:ln>
        </p:spPr>
      </p:sp>
      <p:sp>
        <p:nvSpPr>
          <p:cNvPr id="73909" name="Line 183"/>
          <p:cNvSpPr/>
          <p:nvPr/>
        </p:nvSpPr>
        <p:spPr>
          <a:xfrm>
            <a:off x="1282700" y="4812432"/>
            <a:ext cx="76200" cy="838200"/>
          </a:xfrm>
          <a:prstGeom prst="line">
            <a:avLst/>
          </a:prstGeom>
          <a:ln w="9525" cap="flat" cmpd="sng">
            <a:solidFill>
              <a:schemeClr val="tx1"/>
            </a:solidFill>
            <a:prstDash val="solid"/>
            <a:headEnd type="none" w="med" len="med"/>
            <a:tailEnd type="triangle" w="med" len="med"/>
          </a:ln>
        </p:spPr>
      </p:sp>
      <p:sp>
        <p:nvSpPr>
          <p:cNvPr id="73910" name="Line 184"/>
          <p:cNvSpPr/>
          <p:nvPr/>
        </p:nvSpPr>
        <p:spPr>
          <a:xfrm>
            <a:off x="1663700" y="4812432"/>
            <a:ext cx="228600" cy="838200"/>
          </a:xfrm>
          <a:prstGeom prst="line">
            <a:avLst/>
          </a:prstGeom>
          <a:ln w="9525" cap="flat" cmpd="sng">
            <a:solidFill>
              <a:schemeClr val="tx1"/>
            </a:solidFill>
            <a:prstDash val="solid"/>
            <a:headEnd type="none" w="med" len="med"/>
            <a:tailEnd type="triangle" w="med" len="med"/>
          </a:ln>
        </p:spPr>
      </p:sp>
      <p:sp>
        <p:nvSpPr>
          <p:cNvPr id="73911" name="Line 185"/>
          <p:cNvSpPr/>
          <p:nvPr/>
        </p:nvSpPr>
        <p:spPr>
          <a:xfrm flipH="1">
            <a:off x="2501900" y="4812432"/>
            <a:ext cx="304800" cy="838200"/>
          </a:xfrm>
          <a:prstGeom prst="line">
            <a:avLst/>
          </a:prstGeom>
          <a:ln w="9525" cap="flat" cmpd="sng">
            <a:solidFill>
              <a:schemeClr val="tx1"/>
            </a:solidFill>
            <a:prstDash val="solid"/>
            <a:headEnd type="none" w="med" len="med"/>
            <a:tailEnd type="triangle" w="med" len="med"/>
          </a:ln>
        </p:spPr>
      </p:sp>
      <p:sp>
        <p:nvSpPr>
          <p:cNvPr id="73912" name="Line 186"/>
          <p:cNvSpPr/>
          <p:nvPr/>
        </p:nvSpPr>
        <p:spPr>
          <a:xfrm>
            <a:off x="3111500" y="4812432"/>
            <a:ext cx="0" cy="838200"/>
          </a:xfrm>
          <a:prstGeom prst="line">
            <a:avLst/>
          </a:prstGeom>
          <a:ln w="9525" cap="flat" cmpd="sng">
            <a:solidFill>
              <a:schemeClr val="tx1"/>
            </a:solidFill>
            <a:prstDash val="solid"/>
            <a:headEnd type="none" w="med" len="med"/>
            <a:tailEnd type="triangle" w="med" len="med"/>
          </a:ln>
        </p:spPr>
      </p:sp>
      <p:sp>
        <p:nvSpPr>
          <p:cNvPr id="73913" name="Line 187"/>
          <p:cNvSpPr/>
          <p:nvPr/>
        </p:nvSpPr>
        <p:spPr>
          <a:xfrm>
            <a:off x="3416300" y="4812432"/>
            <a:ext cx="152400" cy="838200"/>
          </a:xfrm>
          <a:prstGeom prst="line">
            <a:avLst/>
          </a:prstGeom>
          <a:ln w="9525" cap="flat" cmpd="sng">
            <a:solidFill>
              <a:schemeClr val="tx1"/>
            </a:solidFill>
            <a:prstDash val="solid"/>
            <a:headEnd type="none" w="med" len="med"/>
            <a:tailEnd type="triangle" w="med" len="med"/>
          </a:ln>
        </p:spPr>
      </p:sp>
      <p:sp>
        <p:nvSpPr>
          <p:cNvPr id="73914" name="Line 188"/>
          <p:cNvSpPr/>
          <p:nvPr/>
        </p:nvSpPr>
        <p:spPr>
          <a:xfrm>
            <a:off x="3797300" y="4812432"/>
            <a:ext cx="304800" cy="838200"/>
          </a:xfrm>
          <a:prstGeom prst="line">
            <a:avLst/>
          </a:prstGeom>
          <a:ln w="9525" cap="flat" cmpd="sng">
            <a:solidFill>
              <a:schemeClr val="tx1"/>
            </a:solidFill>
            <a:prstDash val="solid"/>
            <a:headEnd type="none" w="med" len="med"/>
            <a:tailEnd type="triangle" w="med" len="med"/>
          </a:ln>
        </p:spPr>
      </p:sp>
      <p:sp>
        <p:nvSpPr>
          <p:cNvPr id="73915" name="Line 189"/>
          <p:cNvSpPr/>
          <p:nvPr/>
        </p:nvSpPr>
        <p:spPr>
          <a:xfrm>
            <a:off x="4559300" y="4812432"/>
            <a:ext cx="0" cy="838200"/>
          </a:xfrm>
          <a:prstGeom prst="line">
            <a:avLst/>
          </a:prstGeom>
          <a:ln w="9525" cap="flat" cmpd="sng">
            <a:solidFill>
              <a:schemeClr val="tx1"/>
            </a:solidFill>
            <a:prstDash val="solid"/>
            <a:headEnd type="none" w="med" len="med"/>
            <a:tailEnd type="triangle" w="med" len="med"/>
          </a:ln>
        </p:spPr>
      </p:sp>
      <p:sp>
        <p:nvSpPr>
          <p:cNvPr id="73916" name="Line 190"/>
          <p:cNvSpPr/>
          <p:nvPr/>
        </p:nvSpPr>
        <p:spPr>
          <a:xfrm>
            <a:off x="4787900" y="4736232"/>
            <a:ext cx="228600" cy="914400"/>
          </a:xfrm>
          <a:prstGeom prst="line">
            <a:avLst/>
          </a:prstGeom>
          <a:ln w="9525" cap="flat" cmpd="sng">
            <a:solidFill>
              <a:schemeClr val="tx1"/>
            </a:solidFill>
            <a:prstDash val="solid"/>
            <a:headEnd type="none" w="med" len="med"/>
            <a:tailEnd type="triangle" w="med" len="med"/>
          </a:ln>
        </p:spPr>
      </p:sp>
      <p:sp>
        <p:nvSpPr>
          <p:cNvPr id="73917" name="Line 191"/>
          <p:cNvSpPr/>
          <p:nvPr/>
        </p:nvSpPr>
        <p:spPr>
          <a:xfrm flipH="1">
            <a:off x="5473700" y="4812432"/>
            <a:ext cx="838200" cy="838200"/>
          </a:xfrm>
          <a:prstGeom prst="line">
            <a:avLst/>
          </a:prstGeom>
          <a:ln w="9525" cap="flat" cmpd="sng">
            <a:solidFill>
              <a:schemeClr val="tx1"/>
            </a:solidFill>
            <a:prstDash val="solid"/>
            <a:headEnd type="none" w="med" len="med"/>
            <a:tailEnd type="triangle" w="med" len="med"/>
          </a:ln>
        </p:spPr>
      </p:sp>
      <p:sp>
        <p:nvSpPr>
          <p:cNvPr id="73918" name="Line 192"/>
          <p:cNvSpPr/>
          <p:nvPr/>
        </p:nvSpPr>
        <p:spPr>
          <a:xfrm flipH="1">
            <a:off x="6007100" y="4812432"/>
            <a:ext cx="609600" cy="838200"/>
          </a:xfrm>
          <a:prstGeom prst="line">
            <a:avLst/>
          </a:prstGeom>
          <a:ln w="9525" cap="flat" cmpd="sng">
            <a:solidFill>
              <a:schemeClr val="tx1"/>
            </a:solidFill>
            <a:prstDash val="solid"/>
            <a:headEnd type="none" w="med" len="med"/>
            <a:tailEnd type="triangle" w="med" len="med"/>
          </a:ln>
        </p:spPr>
      </p:sp>
      <p:sp>
        <p:nvSpPr>
          <p:cNvPr id="73919" name="Line 193"/>
          <p:cNvSpPr/>
          <p:nvPr/>
        </p:nvSpPr>
        <p:spPr>
          <a:xfrm flipH="1">
            <a:off x="6540500" y="4812432"/>
            <a:ext cx="457200" cy="838200"/>
          </a:xfrm>
          <a:prstGeom prst="line">
            <a:avLst/>
          </a:prstGeom>
          <a:ln w="9525" cap="flat" cmpd="sng">
            <a:solidFill>
              <a:schemeClr val="tx1"/>
            </a:solidFill>
            <a:prstDash val="solid"/>
            <a:headEnd type="none" w="med" len="med"/>
            <a:tailEnd type="triangle" w="med" len="med"/>
          </a:ln>
        </p:spPr>
      </p:sp>
      <p:sp>
        <p:nvSpPr>
          <p:cNvPr id="73920" name="Line 194"/>
          <p:cNvSpPr/>
          <p:nvPr/>
        </p:nvSpPr>
        <p:spPr>
          <a:xfrm>
            <a:off x="7683500" y="4812432"/>
            <a:ext cx="304800" cy="0"/>
          </a:xfrm>
          <a:prstGeom prst="line">
            <a:avLst/>
          </a:prstGeom>
          <a:ln w="9525" cap="flat" cmpd="sng">
            <a:solidFill>
              <a:schemeClr val="tx1"/>
            </a:solidFill>
            <a:prstDash val="solid"/>
            <a:headEnd type="none" w="med" len="med"/>
            <a:tailEnd type="triangle" w="med" len="med"/>
          </a:ln>
        </p:spPr>
      </p:sp>
      <p:sp>
        <p:nvSpPr>
          <p:cNvPr id="73921"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背景</a:t>
            </a:r>
          </a:p>
        </p:txBody>
      </p:sp>
      <p:sp>
        <p:nvSpPr>
          <p:cNvPr id="73922" name="Text Box 198"/>
          <p:cNvSpPr txBox="1"/>
          <p:nvPr/>
        </p:nvSpPr>
        <p:spPr>
          <a:xfrm>
            <a:off x="257175" y="1009650"/>
            <a:ext cx="2452688"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示例：初始</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树</a:t>
            </a:r>
          </a:p>
        </p:txBody>
      </p:sp>
      <p:sp>
        <p:nvSpPr>
          <p:cNvPr id="73923" name="Line 204"/>
          <p:cNvSpPr/>
          <p:nvPr/>
        </p:nvSpPr>
        <p:spPr>
          <a:xfrm>
            <a:off x="0" y="3874220"/>
            <a:ext cx="9144000" cy="28575"/>
          </a:xfrm>
          <a:prstGeom prst="line">
            <a:avLst/>
          </a:prstGeom>
          <a:ln w="38100" cap="flat" cmpd="dbl">
            <a:solidFill>
              <a:srgbClr val="CC0000"/>
            </a:solidFill>
            <a:prstDash val="dash"/>
            <a:headEnd type="none" w="med" len="med"/>
            <a:tailEnd type="none" w="med" len="med"/>
          </a:ln>
        </p:spPr>
      </p:sp>
      <p:sp>
        <p:nvSpPr>
          <p:cNvPr id="73924" name="Line 205"/>
          <p:cNvSpPr/>
          <p:nvPr/>
        </p:nvSpPr>
        <p:spPr>
          <a:xfrm>
            <a:off x="-14287" y="5353770"/>
            <a:ext cx="9144000" cy="28575"/>
          </a:xfrm>
          <a:prstGeom prst="line">
            <a:avLst/>
          </a:prstGeom>
          <a:ln w="38100" cap="flat" cmpd="dbl">
            <a:solidFill>
              <a:srgbClr val="CC0000"/>
            </a:solidFill>
            <a:prstDash val="dash"/>
            <a:headEnd type="none" w="med" len="med"/>
            <a:tailEnd type="none" w="med" len="med"/>
          </a:ln>
        </p:spPr>
      </p:sp>
      <p:sp>
        <p:nvSpPr>
          <p:cNvPr id="73925" name="Text Box 206"/>
          <p:cNvSpPr txBox="1"/>
          <p:nvPr/>
        </p:nvSpPr>
        <p:spPr>
          <a:xfrm>
            <a:off x="7856538" y="342337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73926" name="Text Box 207"/>
          <p:cNvSpPr txBox="1"/>
          <p:nvPr/>
        </p:nvSpPr>
        <p:spPr>
          <a:xfrm>
            <a:off x="7872413" y="3910732"/>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73927" name="Text Box 208"/>
          <p:cNvSpPr txBox="1"/>
          <p:nvPr/>
        </p:nvSpPr>
        <p:spPr>
          <a:xfrm>
            <a:off x="7986713" y="5391870"/>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Tree>
  </p:cSld>
  <p:clrMapOvr>
    <a:masterClrMapping/>
  </p:clrMapOvr>
  <p:transition>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9698"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69720" name="Group 24"/>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69742"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69764" name="Group 68"/>
          <p:cNvGraphicFramePr>
            <a:graphicFrameLocks noGrp="1"/>
          </p:cNvGraphicFramePr>
          <p:nvPr/>
        </p:nvGraphicFramePr>
        <p:xfrm>
          <a:off x="825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69786" name="Group 90"/>
          <p:cNvGraphicFramePr>
            <a:graphicFrameLocks noGrp="1"/>
          </p:cNvGraphicFramePr>
          <p:nvPr/>
        </p:nvGraphicFramePr>
        <p:xfrm>
          <a:off x="26543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69808" name="Group 112"/>
          <p:cNvGraphicFramePr>
            <a:graphicFrameLocks noGrp="1"/>
          </p:cNvGraphicFramePr>
          <p:nvPr/>
        </p:nvGraphicFramePr>
        <p:xfrm>
          <a:off x="44069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69830" name="Group 134"/>
          <p:cNvGraphicFramePr>
            <a:graphicFrameLocks noGrp="1"/>
          </p:cNvGraphicFramePr>
          <p:nvPr/>
        </p:nvGraphicFramePr>
        <p:xfrm>
          <a:off x="6159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4908"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74909"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74910"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74911"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74912" name="Line 160"/>
          <p:cNvSpPr/>
          <p:nvPr/>
        </p:nvSpPr>
        <p:spPr>
          <a:xfrm>
            <a:off x="2730500" y="3873500"/>
            <a:ext cx="1676400" cy="914400"/>
          </a:xfrm>
          <a:prstGeom prst="line">
            <a:avLst/>
          </a:prstGeom>
          <a:ln w="9525" cap="flat" cmpd="sng">
            <a:solidFill>
              <a:schemeClr val="tx1"/>
            </a:solidFill>
            <a:prstDash val="solid"/>
            <a:headEnd type="none" w="med" len="med"/>
            <a:tailEnd type="triangle" w="med" len="med"/>
          </a:ln>
        </p:spPr>
      </p:sp>
      <p:sp>
        <p:nvSpPr>
          <p:cNvPr id="74913" name="Line 161"/>
          <p:cNvSpPr/>
          <p:nvPr/>
        </p:nvSpPr>
        <p:spPr>
          <a:xfrm>
            <a:off x="5321300" y="3873500"/>
            <a:ext cx="838200" cy="914400"/>
          </a:xfrm>
          <a:prstGeom prst="line">
            <a:avLst/>
          </a:prstGeom>
          <a:ln w="9525" cap="flat" cmpd="sng">
            <a:solidFill>
              <a:schemeClr val="tx1"/>
            </a:solidFill>
            <a:prstDash val="solid"/>
            <a:headEnd type="none" w="med" len="med"/>
            <a:tailEnd type="triangle" w="med" len="med"/>
          </a:ln>
        </p:spPr>
      </p:sp>
      <p:sp>
        <p:nvSpPr>
          <p:cNvPr id="74914"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74915"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74916"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74917" name="Line 165"/>
          <p:cNvSpPr/>
          <p:nvPr/>
        </p:nvSpPr>
        <p:spPr>
          <a:xfrm>
            <a:off x="2349500" y="5321300"/>
            <a:ext cx="304800" cy="0"/>
          </a:xfrm>
          <a:prstGeom prst="line">
            <a:avLst/>
          </a:prstGeom>
          <a:ln w="9525" cap="flat" cmpd="sng">
            <a:solidFill>
              <a:schemeClr val="tx1"/>
            </a:solidFill>
            <a:prstDash val="solid"/>
            <a:headEnd type="none" w="med" len="med"/>
            <a:tailEnd type="triangle" w="med" len="med"/>
          </a:ln>
        </p:spPr>
      </p:sp>
      <p:sp>
        <p:nvSpPr>
          <p:cNvPr id="74918" name="Line 166"/>
          <p:cNvSpPr/>
          <p:nvPr/>
        </p:nvSpPr>
        <p:spPr>
          <a:xfrm>
            <a:off x="4102100" y="5321300"/>
            <a:ext cx="304800" cy="0"/>
          </a:xfrm>
          <a:prstGeom prst="line">
            <a:avLst/>
          </a:prstGeom>
          <a:ln w="9525" cap="flat" cmpd="sng">
            <a:solidFill>
              <a:schemeClr val="tx1"/>
            </a:solidFill>
            <a:prstDash val="solid"/>
            <a:headEnd type="none" w="med" len="med"/>
            <a:tailEnd type="triangle" w="med" len="med"/>
          </a:ln>
        </p:spPr>
      </p:sp>
      <p:sp>
        <p:nvSpPr>
          <p:cNvPr id="74919" name="Line 167"/>
          <p:cNvSpPr/>
          <p:nvPr/>
        </p:nvSpPr>
        <p:spPr>
          <a:xfrm>
            <a:off x="5930900" y="5321300"/>
            <a:ext cx="228600" cy="0"/>
          </a:xfrm>
          <a:prstGeom prst="line">
            <a:avLst/>
          </a:prstGeom>
          <a:ln w="9525" cap="flat" cmpd="sng">
            <a:solidFill>
              <a:schemeClr val="tx1"/>
            </a:solidFill>
            <a:prstDash val="solid"/>
            <a:headEnd type="none" w="med" len="med"/>
            <a:tailEnd type="triangle" w="med" len="med"/>
          </a:ln>
        </p:spPr>
      </p:sp>
      <p:sp>
        <p:nvSpPr>
          <p:cNvPr id="74920" name="Rectangle 168"/>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74921" name="Rectangle 169"/>
          <p:cNvSpPr/>
          <p:nvPr/>
        </p:nvSpPr>
        <p:spPr>
          <a:xfrm>
            <a:off x="1358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74922" name="Rectangle 170"/>
          <p:cNvSpPr/>
          <p:nvPr/>
        </p:nvSpPr>
        <p:spPr>
          <a:xfrm>
            <a:off x="1892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74923" name="Rectangle 171"/>
          <p:cNvSpPr/>
          <p:nvPr/>
        </p:nvSpPr>
        <p:spPr>
          <a:xfrm>
            <a:off x="2501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74924" name="Rectangle 172"/>
          <p:cNvSpPr/>
          <p:nvPr/>
        </p:nvSpPr>
        <p:spPr>
          <a:xfrm>
            <a:off x="3111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30</a:t>
            </a:r>
          </a:p>
        </p:txBody>
      </p:sp>
      <p:sp>
        <p:nvSpPr>
          <p:cNvPr id="74925" name="Rectangle 173"/>
          <p:cNvSpPr/>
          <p:nvPr/>
        </p:nvSpPr>
        <p:spPr>
          <a:xfrm>
            <a:off x="3568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74926" name="Rectangle 174"/>
          <p:cNvSpPr/>
          <p:nvPr/>
        </p:nvSpPr>
        <p:spPr>
          <a:xfrm>
            <a:off x="410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74927" name="Rectangle 175"/>
          <p:cNvSpPr/>
          <p:nvPr/>
        </p:nvSpPr>
        <p:spPr>
          <a:xfrm>
            <a:off x="4559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74928" name="Rectangle 176"/>
          <p:cNvSpPr/>
          <p:nvPr/>
        </p:nvSpPr>
        <p:spPr>
          <a:xfrm>
            <a:off x="5016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74929" name="Rectangle 177"/>
          <p:cNvSpPr/>
          <p:nvPr/>
        </p:nvSpPr>
        <p:spPr>
          <a:xfrm>
            <a:off x="5473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74930" name="Rectangle 178"/>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74931" name="Rectangle 179"/>
          <p:cNvSpPr/>
          <p:nvPr/>
        </p:nvSpPr>
        <p:spPr>
          <a:xfrm>
            <a:off x="6540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74932" name="Line 180"/>
          <p:cNvSpPr/>
          <p:nvPr/>
        </p:nvSpPr>
        <p:spPr>
          <a:xfrm flipH="1">
            <a:off x="825500" y="5321300"/>
            <a:ext cx="152400" cy="838200"/>
          </a:xfrm>
          <a:prstGeom prst="line">
            <a:avLst/>
          </a:prstGeom>
          <a:ln w="9525" cap="flat" cmpd="sng">
            <a:solidFill>
              <a:schemeClr val="tx1"/>
            </a:solidFill>
            <a:prstDash val="solid"/>
            <a:headEnd type="none" w="med" len="med"/>
            <a:tailEnd type="triangle" w="med" len="med"/>
          </a:ln>
        </p:spPr>
      </p:sp>
      <p:sp>
        <p:nvSpPr>
          <p:cNvPr id="74933" name="Line 181"/>
          <p:cNvSpPr/>
          <p:nvPr/>
        </p:nvSpPr>
        <p:spPr>
          <a:xfrm>
            <a:off x="1282700" y="5321300"/>
            <a:ext cx="76200" cy="838200"/>
          </a:xfrm>
          <a:prstGeom prst="line">
            <a:avLst/>
          </a:prstGeom>
          <a:ln w="9525" cap="flat" cmpd="sng">
            <a:solidFill>
              <a:schemeClr val="tx1"/>
            </a:solidFill>
            <a:prstDash val="solid"/>
            <a:headEnd type="none" w="med" len="med"/>
            <a:tailEnd type="triangle" w="med" len="med"/>
          </a:ln>
        </p:spPr>
      </p:sp>
      <p:sp>
        <p:nvSpPr>
          <p:cNvPr id="74934" name="Line 182"/>
          <p:cNvSpPr/>
          <p:nvPr/>
        </p:nvSpPr>
        <p:spPr>
          <a:xfrm>
            <a:off x="1663700" y="5321300"/>
            <a:ext cx="228600" cy="838200"/>
          </a:xfrm>
          <a:prstGeom prst="line">
            <a:avLst/>
          </a:prstGeom>
          <a:ln w="9525" cap="flat" cmpd="sng">
            <a:solidFill>
              <a:schemeClr val="tx1"/>
            </a:solidFill>
            <a:prstDash val="solid"/>
            <a:headEnd type="none" w="med" len="med"/>
            <a:tailEnd type="triangle" w="med" len="med"/>
          </a:ln>
        </p:spPr>
      </p:sp>
      <p:sp>
        <p:nvSpPr>
          <p:cNvPr id="74935" name="Line 183"/>
          <p:cNvSpPr/>
          <p:nvPr/>
        </p:nvSpPr>
        <p:spPr>
          <a:xfrm flipH="1">
            <a:off x="2501900" y="5321300"/>
            <a:ext cx="304800" cy="838200"/>
          </a:xfrm>
          <a:prstGeom prst="line">
            <a:avLst/>
          </a:prstGeom>
          <a:ln w="9525" cap="flat" cmpd="sng">
            <a:solidFill>
              <a:schemeClr val="tx1"/>
            </a:solidFill>
            <a:prstDash val="solid"/>
            <a:headEnd type="none" w="med" len="med"/>
            <a:tailEnd type="triangle" w="med" len="med"/>
          </a:ln>
        </p:spPr>
      </p:sp>
      <p:sp>
        <p:nvSpPr>
          <p:cNvPr id="74936" name="Line 184"/>
          <p:cNvSpPr/>
          <p:nvPr/>
        </p:nvSpPr>
        <p:spPr>
          <a:xfrm>
            <a:off x="3111500" y="5321300"/>
            <a:ext cx="0" cy="838200"/>
          </a:xfrm>
          <a:prstGeom prst="line">
            <a:avLst/>
          </a:prstGeom>
          <a:ln w="9525" cap="flat" cmpd="sng">
            <a:solidFill>
              <a:schemeClr val="tx1"/>
            </a:solidFill>
            <a:prstDash val="solid"/>
            <a:headEnd type="none" w="med" len="med"/>
            <a:tailEnd type="triangle" w="med" len="med"/>
          </a:ln>
        </p:spPr>
      </p:sp>
      <p:sp>
        <p:nvSpPr>
          <p:cNvPr id="74937" name="Line 185"/>
          <p:cNvSpPr/>
          <p:nvPr/>
        </p:nvSpPr>
        <p:spPr>
          <a:xfrm>
            <a:off x="3416300" y="5321300"/>
            <a:ext cx="152400" cy="838200"/>
          </a:xfrm>
          <a:prstGeom prst="line">
            <a:avLst/>
          </a:prstGeom>
          <a:ln w="9525" cap="flat" cmpd="sng">
            <a:solidFill>
              <a:schemeClr val="tx1"/>
            </a:solidFill>
            <a:prstDash val="solid"/>
            <a:headEnd type="none" w="med" len="med"/>
            <a:tailEnd type="triangle" w="med" len="med"/>
          </a:ln>
        </p:spPr>
      </p:sp>
      <p:sp>
        <p:nvSpPr>
          <p:cNvPr id="74938" name="Line 186"/>
          <p:cNvSpPr/>
          <p:nvPr/>
        </p:nvSpPr>
        <p:spPr>
          <a:xfrm>
            <a:off x="3797300" y="5321300"/>
            <a:ext cx="304800" cy="838200"/>
          </a:xfrm>
          <a:prstGeom prst="line">
            <a:avLst/>
          </a:prstGeom>
          <a:ln w="9525" cap="flat" cmpd="sng">
            <a:solidFill>
              <a:schemeClr val="tx1"/>
            </a:solidFill>
            <a:prstDash val="solid"/>
            <a:headEnd type="none" w="med" len="med"/>
            <a:tailEnd type="triangle" w="med" len="med"/>
          </a:ln>
        </p:spPr>
      </p:sp>
      <p:sp>
        <p:nvSpPr>
          <p:cNvPr id="74939" name="Line 187"/>
          <p:cNvSpPr/>
          <p:nvPr/>
        </p:nvSpPr>
        <p:spPr>
          <a:xfrm>
            <a:off x="4559300" y="5321300"/>
            <a:ext cx="0" cy="838200"/>
          </a:xfrm>
          <a:prstGeom prst="line">
            <a:avLst/>
          </a:prstGeom>
          <a:ln w="9525" cap="flat" cmpd="sng">
            <a:solidFill>
              <a:schemeClr val="tx1"/>
            </a:solidFill>
            <a:prstDash val="solid"/>
            <a:headEnd type="none" w="med" len="med"/>
            <a:tailEnd type="triangle" w="med" len="med"/>
          </a:ln>
        </p:spPr>
      </p:sp>
      <p:sp>
        <p:nvSpPr>
          <p:cNvPr id="74940" name="Line 188"/>
          <p:cNvSpPr/>
          <p:nvPr/>
        </p:nvSpPr>
        <p:spPr>
          <a:xfrm>
            <a:off x="4787900" y="5245100"/>
            <a:ext cx="228600" cy="914400"/>
          </a:xfrm>
          <a:prstGeom prst="line">
            <a:avLst/>
          </a:prstGeom>
          <a:ln w="9525" cap="flat" cmpd="sng">
            <a:solidFill>
              <a:schemeClr val="tx1"/>
            </a:solidFill>
            <a:prstDash val="solid"/>
            <a:headEnd type="none" w="med" len="med"/>
            <a:tailEnd type="triangle" w="med" len="med"/>
          </a:ln>
        </p:spPr>
      </p:sp>
      <p:sp>
        <p:nvSpPr>
          <p:cNvPr id="74941" name="Line 189"/>
          <p:cNvSpPr/>
          <p:nvPr/>
        </p:nvSpPr>
        <p:spPr>
          <a:xfrm flipH="1">
            <a:off x="5473700" y="5321300"/>
            <a:ext cx="838200" cy="838200"/>
          </a:xfrm>
          <a:prstGeom prst="line">
            <a:avLst/>
          </a:prstGeom>
          <a:ln w="9525" cap="flat" cmpd="sng">
            <a:solidFill>
              <a:schemeClr val="tx1"/>
            </a:solidFill>
            <a:prstDash val="solid"/>
            <a:headEnd type="none" w="med" len="med"/>
            <a:tailEnd type="triangle" w="med" len="med"/>
          </a:ln>
        </p:spPr>
      </p:sp>
      <p:sp>
        <p:nvSpPr>
          <p:cNvPr id="74942" name="Line 190"/>
          <p:cNvSpPr/>
          <p:nvPr/>
        </p:nvSpPr>
        <p:spPr>
          <a:xfrm flipH="1">
            <a:off x="6007100" y="5321300"/>
            <a:ext cx="609600" cy="838200"/>
          </a:xfrm>
          <a:prstGeom prst="line">
            <a:avLst/>
          </a:prstGeom>
          <a:ln w="9525" cap="flat" cmpd="sng">
            <a:solidFill>
              <a:schemeClr val="tx1"/>
            </a:solidFill>
            <a:prstDash val="solid"/>
            <a:headEnd type="none" w="med" len="med"/>
            <a:tailEnd type="triangle" w="med" len="med"/>
          </a:ln>
        </p:spPr>
      </p:sp>
      <p:sp>
        <p:nvSpPr>
          <p:cNvPr id="74943" name="Line 191"/>
          <p:cNvSpPr/>
          <p:nvPr/>
        </p:nvSpPr>
        <p:spPr>
          <a:xfrm flipH="1">
            <a:off x="6540500" y="5321300"/>
            <a:ext cx="457200" cy="838200"/>
          </a:xfrm>
          <a:prstGeom prst="line">
            <a:avLst/>
          </a:prstGeom>
          <a:ln w="9525" cap="flat" cmpd="sng">
            <a:solidFill>
              <a:schemeClr val="tx1"/>
            </a:solidFill>
            <a:prstDash val="solid"/>
            <a:headEnd type="none" w="med" len="med"/>
            <a:tailEnd type="triangle" w="med" len="med"/>
          </a:ln>
        </p:spPr>
      </p:sp>
      <p:sp>
        <p:nvSpPr>
          <p:cNvPr id="74944" name="Line 192"/>
          <p:cNvSpPr/>
          <p:nvPr/>
        </p:nvSpPr>
        <p:spPr>
          <a:xfrm>
            <a:off x="7683500" y="5321300"/>
            <a:ext cx="304800" cy="0"/>
          </a:xfrm>
          <a:prstGeom prst="line">
            <a:avLst/>
          </a:prstGeom>
          <a:ln w="9525" cap="flat" cmpd="sng">
            <a:solidFill>
              <a:schemeClr val="tx1"/>
            </a:solidFill>
            <a:prstDash val="solid"/>
            <a:headEnd type="none" w="med" len="med"/>
            <a:tailEnd type="triangle" w="med" len="med"/>
          </a:ln>
        </p:spPr>
      </p:sp>
      <p:sp>
        <p:nvSpPr>
          <p:cNvPr id="74945" name="Rectangle 195"/>
          <p:cNvSpPr/>
          <p:nvPr/>
        </p:nvSpPr>
        <p:spPr>
          <a:xfrm>
            <a:off x="273050" y="958850"/>
            <a:ext cx="39116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19</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p>
        </p:txBody>
      </p:sp>
      <p:grpSp>
        <p:nvGrpSpPr>
          <p:cNvPr id="2" name="Group 196"/>
          <p:cNvGrpSpPr/>
          <p:nvPr/>
        </p:nvGrpSpPr>
        <p:grpSpPr>
          <a:xfrm>
            <a:off x="5164138" y="881063"/>
            <a:ext cx="3371850" cy="1406525"/>
            <a:chOff x="1265" y="3268"/>
            <a:chExt cx="1154" cy="629"/>
          </a:xfrm>
        </p:grpSpPr>
        <p:sp>
          <p:nvSpPr>
            <p:cNvPr id="74954"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4955"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4956" name="Text Box 84"/>
            <p:cNvSpPr/>
            <p:nvPr/>
          </p:nvSpPr>
          <p:spPr>
            <a:xfrm>
              <a:off x="1269" y="3299"/>
              <a:ext cx="1150" cy="574"/>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先定位待插入键值的叶子结点：从根结点开始向下；</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检查叶子结点是否已满？</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如未满，则可直接插入</a:t>
              </a:r>
            </a:p>
          </p:txBody>
        </p:sp>
      </p:grpSp>
      <p:sp>
        <p:nvSpPr>
          <p:cNvPr id="74947" name="Line 200"/>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74948" name="Line 201"/>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74949" name="Text Box 202"/>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74950" name="Text Box 203"/>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74951" name="Text Box 204"/>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669901" name="Rectangle 205"/>
          <p:cNvSpPr/>
          <p:nvPr/>
        </p:nvSpPr>
        <p:spPr>
          <a:xfrm>
            <a:off x="784225" y="4775200"/>
            <a:ext cx="1654175"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4953"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简单插入</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669901"/>
                                        </p:tgtEl>
                                        <p:attrNameLst>
                                          <p:attrName>style.visibility</p:attrName>
                                        </p:attrNameLst>
                                      </p:cBhvr>
                                      <p:to>
                                        <p:strVal val="visible"/>
                                      </p:to>
                                    </p:set>
                                    <p:animEffect transition="in" filter="checkerboard(across)">
                                      <p:cBhvr>
                                        <p:cTn id="13" dur="500"/>
                                        <p:tgtEl>
                                          <p:spTgt spid="669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901"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1650" name="Group 194"/>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1672" name="Group 216"/>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1694" name="Group 238"/>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1716" name="Group 260"/>
          <p:cNvGraphicFramePr>
            <a:graphicFrameLocks noGrp="1"/>
          </p:cNvGraphicFramePr>
          <p:nvPr/>
        </p:nvGraphicFramePr>
        <p:xfrm>
          <a:off x="825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rgbClr val="CC0000"/>
                          </a:solidFill>
                          <a:effectLst/>
                          <a:latin typeface="Arial" panose="020B0604020202020204" pitchFamily="34" charset="0"/>
                          <a:ea typeface="宋体" panose="02010600030101010101" pitchFamily="2" charset="-122"/>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1738" name="Group 282"/>
          <p:cNvGraphicFramePr>
            <a:graphicFrameLocks noGrp="1"/>
          </p:cNvGraphicFramePr>
          <p:nvPr/>
        </p:nvGraphicFramePr>
        <p:xfrm>
          <a:off x="26543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1760" name="Group 304"/>
          <p:cNvGraphicFramePr>
            <a:graphicFrameLocks noGrp="1"/>
          </p:cNvGraphicFramePr>
          <p:nvPr/>
        </p:nvGraphicFramePr>
        <p:xfrm>
          <a:off x="44069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1782" name="Group 326"/>
          <p:cNvGraphicFramePr>
            <a:graphicFrameLocks noGrp="1"/>
          </p:cNvGraphicFramePr>
          <p:nvPr/>
        </p:nvGraphicFramePr>
        <p:xfrm>
          <a:off x="6159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5932" name="Line 348"/>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75933" name="Line 349"/>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75934" name="Line 350"/>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75935" name="Line 351"/>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75936" name="Line 352"/>
          <p:cNvSpPr/>
          <p:nvPr/>
        </p:nvSpPr>
        <p:spPr>
          <a:xfrm>
            <a:off x="2730500" y="3873500"/>
            <a:ext cx="1676400" cy="914400"/>
          </a:xfrm>
          <a:prstGeom prst="line">
            <a:avLst/>
          </a:prstGeom>
          <a:ln w="9525" cap="flat" cmpd="sng">
            <a:solidFill>
              <a:schemeClr val="tx1"/>
            </a:solidFill>
            <a:prstDash val="solid"/>
            <a:headEnd type="none" w="med" len="med"/>
            <a:tailEnd type="triangle" w="med" len="med"/>
          </a:ln>
        </p:spPr>
      </p:sp>
      <p:sp>
        <p:nvSpPr>
          <p:cNvPr id="75937" name="Line 353"/>
          <p:cNvSpPr/>
          <p:nvPr/>
        </p:nvSpPr>
        <p:spPr>
          <a:xfrm>
            <a:off x="5321300" y="3873500"/>
            <a:ext cx="838200" cy="914400"/>
          </a:xfrm>
          <a:prstGeom prst="line">
            <a:avLst/>
          </a:prstGeom>
          <a:ln w="9525" cap="flat" cmpd="sng">
            <a:solidFill>
              <a:schemeClr val="tx1"/>
            </a:solidFill>
            <a:prstDash val="solid"/>
            <a:headEnd type="none" w="med" len="med"/>
            <a:tailEnd type="triangle" w="med" len="med"/>
          </a:ln>
        </p:spPr>
      </p:sp>
      <p:sp>
        <p:nvSpPr>
          <p:cNvPr id="75938" name="Line 354"/>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75939" name="Line 355"/>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75940" name="Line 356"/>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75941" name="Line 357"/>
          <p:cNvSpPr/>
          <p:nvPr/>
        </p:nvSpPr>
        <p:spPr>
          <a:xfrm>
            <a:off x="2349500" y="5321300"/>
            <a:ext cx="304800" cy="0"/>
          </a:xfrm>
          <a:prstGeom prst="line">
            <a:avLst/>
          </a:prstGeom>
          <a:ln w="9525" cap="flat" cmpd="sng">
            <a:solidFill>
              <a:schemeClr val="tx1"/>
            </a:solidFill>
            <a:prstDash val="solid"/>
            <a:headEnd type="none" w="med" len="med"/>
            <a:tailEnd type="triangle" w="med" len="med"/>
          </a:ln>
        </p:spPr>
      </p:sp>
      <p:sp>
        <p:nvSpPr>
          <p:cNvPr id="75942" name="Line 358"/>
          <p:cNvSpPr/>
          <p:nvPr/>
        </p:nvSpPr>
        <p:spPr>
          <a:xfrm>
            <a:off x="4102100" y="5321300"/>
            <a:ext cx="304800" cy="0"/>
          </a:xfrm>
          <a:prstGeom prst="line">
            <a:avLst/>
          </a:prstGeom>
          <a:ln w="9525" cap="flat" cmpd="sng">
            <a:solidFill>
              <a:schemeClr val="tx1"/>
            </a:solidFill>
            <a:prstDash val="solid"/>
            <a:headEnd type="none" w="med" len="med"/>
            <a:tailEnd type="triangle" w="med" len="med"/>
          </a:ln>
        </p:spPr>
      </p:sp>
      <p:sp>
        <p:nvSpPr>
          <p:cNvPr id="75943" name="Line 359"/>
          <p:cNvSpPr/>
          <p:nvPr/>
        </p:nvSpPr>
        <p:spPr>
          <a:xfrm>
            <a:off x="5930900" y="5321300"/>
            <a:ext cx="228600" cy="0"/>
          </a:xfrm>
          <a:prstGeom prst="line">
            <a:avLst/>
          </a:prstGeom>
          <a:ln w="9525" cap="flat" cmpd="sng">
            <a:solidFill>
              <a:schemeClr val="tx1"/>
            </a:solidFill>
            <a:prstDash val="solid"/>
            <a:headEnd type="none" w="med" len="med"/>
            <a:tailEnd type="triangle" w="med" len="med"/>
          </a:ln>
        </p:spPr>
      </p:sp>
      <p:sp>
        <p:nvSpPr>
          <p:cNvPr id="75944" name="Rectangle 360"/>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75945" name="Rectangle 361"/>
          <p:cNvSpPr/>
          <p:nvPr/>
        </p:nvSpPr>
        <p:spPr>
          <a:xfrm>
            <a:off x="1358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75946" name="Rectangle 362"/>
          <p:cNvSpPr/>
          <p:nvPr/>
        </p:nvSpPr>
        <p:spPr>
          <a:xfrm>
            <a:off x="1816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75947" name="Rectangle 363"/>
          <p:cNvSpPr/>
          <p:nvPr/>
        </p:nvSpPr>
        <p:spPr>
          <a:xfrm>
            <a:off x="265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75948" name="Rectangle 364"/>
          <p:cNvSpPr/>
          <p:nvPr/>
        </p:nvSpPr>
        <p:spPr>
          <a:xfrm>
            <a:off x="3111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30</a:t>
            </a:r>
          </a:p>
        </p:txBody>
      </p:sp>
      <p:sp>
        <p:nvSpPr>
          <p:cNvPr id="75949" name="Rectangle 365"/>
          <p:cNvSpPr/>
          <p:nvPr/>
        </p:nvSpPr>
        <p:spPr>
          <a:xfrm>
            <a:off x="3568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75950" name="Rectangle 366"/>
          <p:cNvSpPr/>
          <p:nvPr/>
        </p:nvSpPr>
        <p:spPr>
          <a:xfrm>
            <a:off x="410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75951" name="Rectangle 367"/>
          <p:cNvSpPr/>
          <p:nvPr/>
        </p:nvSpPr>
        <p:spPr>
          <a:xfrm>
            <a:off x="4559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75952" name="Rectangle 368"/>
          <p:cNvSpPr/>
          <p:nvPr/>
        </p:nvSpPr>
        <p:spPr>
          <a:xfrm>
            <a:off x="5016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75953" name="Rectangle 369"/>
          <p:cNvSpPr/>
          <p:nvPr/>
        </p:nvSpPr>
        <p:spPr>
          <a:xfrm>
            <a:off x="5473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75954" name="Rectangle 370"/>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75955" name="Rectangle 371"/>
          <p:cNvSpPr/>
          <p:nvPr/>
        </p:nvSpPr>
        <p:spPr>
          <a:xfrm>
            <a:off x="6540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75956" name="Line 372"/>
          <p:cNvSpPr/>
          <p:nvPr/>
        </p:nvSpPr>
        <p:spPr>
          <a:xfrm flipH="1">
            <a:off x="825500" y="5321300"/>
            <a:ext cx="152400" cy="838200"/>
          </a:xfrm>
          <a:prstGeom prst="line">
            <a:avLst/>
          </a:prstGeom>
          <a:ln w="9525" cap="flat" cmpd="sng">
            <a:solidFill>
              <a:schemeClr val="tx1"/>
            </a:solidFill>
            <a:prstDash val="solid"/>
            <a:headEnd type="none" w="med" len="med"/>
            <a:tailEnd type="triangle" w="med" len="med"/>
          </a:ln>
        </p:spPr>
      </p:sp>
      <p:sp>
        <p:nvSpPr>
          <p:cNvPr id="75957" name="Line 373"/>
          <p:cNvSpPr/>
          <p:nvPr/>
        </p:nvSpPr>
        <p:spPr>
          <a:xfrm>
            <a:off x="1282700" y="5321300"/>
            <a:ext cx="76200" cy="838200"/>
          </a:xfrm>
          <a:prstGeom prst="line">
            <a:avLst/>
          </a:prstGeom>
          <a:ln w="9525" cap="flat" cmpd="sng">
            <a:solidFill>
              <a:schemeClr val="tx1"/>
            </a:solidFill>
            <a:prstDash val="solid"/>
            <a:headEnd type="none" w="med" len="med"/>
            <a:tailEnd type="triangle" w="med" len="med"/>
          </a:ln>
        </p:spPr>
      </p:sp>
      <p:sp>
        <p:nvSpPr>
          <p:cNvPr id="75958" name="Line 374"/>
          <p:cNvSpPr/>
          <p:nvPr/>
        </p:nvSpPr>
        <p:spPr>
          <a:xfrm>
            <a:off x="1663700" y="5321300"/>
            <a:ext cx="228600" cy="838200"/>
          </a:xfrm>
          <a:prstGeom prst="line">
            <a:avLst/>
          </a:prstGeom>
          <a:ln w="9525" cap="flat" cmpd="sng">
            <a:solidFill>
              <a:schemeClr val="tx1"/>
            </a:solidFill>
            <a:prstDash val="solid"/>
            <a:headEnd type="none" w="med" len="med"/>
            <a:tailEnd type="triangle" w="med" len="med"/>
          </a:ln>
        </p:spPr>
      </p:sp>
      <p:sp>
        <p:nvSpPr>
          <p:cNvPr id="75959" name="Line 375"/>
          <p:cNvSpPr/>
          <p:nvPr/>
        </p:nvSpPr>
        <p:spPr>
          <a:xfrm flipH="1">
            <a:off x="2730500" y="5321300"/>
            <a:ext cx="76200" cy="838200"/>
          </a:xfrm>
          <a:prstGeom prst="line">
            <a:avLst/>
          </a:prstGeom>
          <a:ln w="9525" cap="flat" cmpd="sng">
            <a:solidFill>
              <a:schemeClr val="tx1"/>
            </a:solidFill>
            <a:prstDash val="solid"/>
            <a:headEnd type="none" w="med" len="med"/>
            <a:tailEnd type="triangle" w="med" len="med"/>
          </a:ln>
        </p:spPr>
      </p:sp>
      <p:sp>
        <p:nvSpPr>
          <p:cNvPr id="75960" name="Line 376"/>
          <p:cNvSpPr/>
          <p:nvPr/>
        </p:nvSpPr>
        <p:spPr>
          <a:xfrm>
            <a:off x="3111500" y="5321300"/>
            <a:ext cx="0" cy="838200"/>
          </a:xfrm>
          <a:prstGeom prst="line">
            <a:avLst/>
          </a:prstGeom>
          <a:ln w="9525" cap="flat" cmpd="sng">
            <a:solidFill>
              <a:schemeClr val="tx1"/>
            </a:solidFill>
            <a:prstDash val="solid"/>
            <a:headEnd type="none" w="med" len="med"/>
            <a:tailEnd type="triangle" w="med" len="med"/>
          </a:ln>
        </p:spPr>
      </p:sp>
      <p:sp>
        <p:nvSpPr>
          <p:cNvPr id="75961" name="Line 377"/>
          <p:cNvSpPr/>
          <p:nvPr/>
        </p:nvSpPr>
        <p:spPr>
          <a:xfrm>
            <a:off x="3416300" y="5321300"/>
            <a:ext cx="152400" cy="838200"/>
          </a:xfrm>
          <a:prstGeom prst="line">
            <a:avLst/>
          </a:prstGeom>
          <a:ln w="9525" cap="flat" cmpd="sng">
            <a:solidFill>
              <a:schemeClr val="tx1"/>
            </a:solidFill>
            <a:prstDash val="solid"/>
            <a:headEnd type="none" w="med" len="med"/>
            <a:tailEnd type="triangle" w="med" len="med"/>
          </a:ln>
        </p:spPr>
      </p:sp>
      <p:sp>
        <p:nvSpPr>
          <p:cNvPr id="75962" name="Line 378"/>
          <p:cNvSpPr/>
          <p:nvPr/>
        </p:nvSpPr>
        <p:spPr>
          <a:xfrm>
            <a:off x="3797300" y="5321300"/>
            <a:ext cx="304800" cy="838200"/>
          </a:xfrm>
          <a:prstGeom prst="line">
            <a:avLst/>
          </a:prstGeom>
          <a:ln w="9525" cap="flat" cmpd="sng">
            <a:solidFill>
              <a:schemeClr val="tx1"/>
            </a:solidFill>
            <a:prstDash val="solid"/>
            <a:headEnd type="none" w="med" len="med"/>
            <a:tailEnd type="triangle" w="med" len="med"/>
          </a:ln>
        </p:spPr>
      </p:sp>
      <p:sp>
        <p:nvSpPr>
          <p:cNvPr id="75963" name="Line 379"/>
          <p:cNvSpPr/>
          <p:nvPr/>
        </p:nvSpPr>
        <p:spPr>
          <a:xfrm>
            <a:off x="4559300" y="5321300"/>
            <a:ext cx="0" cy="838200"/>
          </a:xfrm>
          <a:prstGeom prst="line">
            <a:avLst/>
          </a:prstGeom>
          <a:ln w="9525" cap="flat" cmpd="sng">
            <a:solidFill>
              <a:schemeClr val="tx1"/>
            </a:solidFill>
            <a:prstDash val="solid"/>
            <a:headEnd type="none" w="med" len="med"/>
            <a:tailEnd type="triangle" w="med" len="med"/>
          </a:ln>
        </p:spPr>
      </p:sp>
      <p:sp>
        <p:nvSpPr>
          <p:cNvPr id="75964" name="Line 380"/>
          <p:cNvSpPr/>
          <p:nvPr/>
        </p:nvSpPr>
        <p:spPr>
          <a:xfrm>
            <a:off x="4787900" y="5245100"/>
            <a:ext cx="228600" cy="914400"/>
          </a:xfrm>
          <a:prstGeom prst="line">
            <a:avLst/>
          </a:prstGeom>
          <a:ln w="9525" cap="flat" cmpd="sng">
            <a:solidFill>
              <a:schemeClr val="tx1"/>
            </a:solidFill>
            <a:prstDash val="solid"/>
            <a:headEnd type="none" w="med" len="med"/>
            <a:tailEnd type="triangle" w="med" len="med"/>
          </a:ln>
        </p:spPr>
      </p:sp>
      <p:sp>
        <p:nvSpPr>
          <p:cNvPr id="75965" name="Line 381"/>
          <p:cNvSpPr/>
          <p:nvPr/>
        </p:nvSpPr>
        <p:spPr>
          <a:xfrm flipH="1">
            <a:off x="5473700" y="5321300"/>
            <a:ext cx="838200" cy="838200"/>
          </a:xfrm>
          <a:prstGeom prst="line">
            <a:avLst/>
          </a:prstGeom>
          <a:ln w="9525" cap="flat" cmpd="sng">
            <a:solidFill>
              <a:schemeClr val="tx1"/>
            </a:solidFill>
            <a:prstDash val="solid"/>
            <a:headEnd type="none" w="med" len="med"/>
            <a:tailEnd type="triangle" w="med" len="med"/>
          </a:ln>
        </p:spPr>
      </p:sp>
      <p:sp>
        <p:nvSpPr>
          <p:cNvPr id="75966" name="Line 382"/>
          <p:cNvSpPr/>
          <p:nvPr/>
        </p:nvSpPr>
        <p:spPr>
          <a:xfrm flipH="1">
            <a:off x="6007100" y="5321300"/>
            <a:ext cx="609600" cy="838200"/>
          </a:xfrm>
          <a:prstGeom prst="line">
            <a:avLst/>
          </a:prstGeom>
          <a:ln w="9525" cap="flat" cmpd="sng">
            <a:solidFill>
              <a:schemeClr val="tx1"/>
            </a:solidFill>
            <a:prstDash val="solid"/>
            <a:headEnd type="none" w="med" len="med"/>
            <a:tailEnd type="triangle" w="med" len="med"/>
          </a:ln>
        </p:spPr>
      </p:sp>
      <p:sp>
        <p:nvSpPr>
          <p:cNvPr id="75967" name="Line 383"/>
          <p:cNvSpPr/>
          <p:nvPr/>
        </p:nvSpPr>
        <p:spPr>
          <a:xfrm flipH="1">
            <a:off x="6540500" y="5321300"/>
            <a:ext cx="457200" cy="838200"/>
          </a:xfrm>
          <a:prstGeom prst="line">
            <a:avLst/>
          </a:prstGeom>
          <a:ln w="9525" cap="flat" cmpd="sng">
            <a:solidFill>
              <a:schemeClr val="tx1"/>
            </a:solidFill>
            <a:prstDash val="solid"/>
            <a:headEnd type="none" w="med" len="med"/>
            <a:tailEnd type="triangle" w="med" len="med"/>
          </a:ln>
        </p:spPr>
      </p:sp>
      <p:sp>
        <p:nvSpPr>
          <p:cNvPr id="75968" name="Line 384"/>
          <p:cNvSpPr/>
          <p:nvPr/>
        </p:nvSpPr>
        <p:spPr>
          <a:xfrm>
            <a:off x="7683500" y="5321300"/>
            <a:ext cx="304800" cy="0"/>
          </a:xfrm>
          <a:prstGeom prst="line">
            <a:avLst/>
          </a:prstGeom>
          <a:ln w="9525" cap="flat" cmpd="sng">
            <a:solidFill>
              <a:schemeClr val="tx1"/>
            </a:solidFill>
            <a:prstDash val="solid"/>
            <a:headEnd type="none" w="med" len="med"/>
            <a:tailEnd type="triangle" w="med" len="med"/>
          </a:ln>
        </p:spPr>
      </p:sp>
      <p:sp>
        <p:nvSpPr>
          <p:cNvPr id="75969" name="Rectangle 385"/>
          <p:cNvSpPr/>
          <p:nvPr/>
        </p:nvSpPr>
        <p:spPr>
          <a:xfrm>
            <a:off x="2225675" y="6159500"/>
            <a:ext cx="390525" cy="314325"/>
          </a:xfrm>
          <a:prstGeom prst="rect">
            <a:avLst/>
          </a:prstGeom>
          <a:solidFill>
            <a:srgbClr val="DDDDDD"/>
          </a:solidFill>
          <a:ln w="9525" cap="flat" cmpd="sng">
            <a:solidFill>
              <a:srgbClr val="CC0000"/>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19</a:t>
            </a:r>
          </a:p>
        </p:txBody>
      </p:sp>
      <p:sp>
        <p:nvSpPr>
          <p:cNvPr id="75970" name="Line 386"/>
          <p:cNvSpPr/>
          <p:nvPr/>
        </p:nvSpPr>
        <p:spPr>
          <a:xfrm>
            <a:off x="2044700" y="5321300"/>
            <a:ext cx="228600" cy="762000"/>
          </a:xfrm>
          <a:prstGeom prst="line">
            <a:avLst/>
          </a:prstGeom>
          <a:ln w="9525" cap="flat" cmpd="sng">
            <a:solidFill>
              <a:schemeClr val="tx1"/>
            </a:solidFill>
            <a:prstDash val="solid"/>
            <a:headEnd type="none" w="med" len="med"/>
            <a:tailEnd type="triangle" w="med" len="med"/>
          </a:ln>
        </p:spPr>
      </p:sp>
      <p:sp>
        <p:nvSpPr>
          <p:cNvPr id="75971" name="Rectangle 391"/>
          <p:cNvSpPr/>
          <p:nvPr/>
        </p:nvSpPr>
        <p:spPr>
          <a:xfrm>
            <a:off x="185738" y="973138"/>
            <a:ext cx="33020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19</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的记录插入后</a:t>
            </a:r>
          </a:p>
        </p:txBody>
      </p:sp>
      <p:sp>
        <p:nvSpPr>
          <p:cNvPr id="75972" name="Line 392"/>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75973" name="Line 393"/>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75974" name="Text Box 394"/>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75975" name="Text Box 395"/>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75976" name="Text Box 396"/>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531853" name="Rectangle 397"/>
          <p:cNvSpPr/>
          <p:nvPr/>
        </p:nvSpPr>
        <p:spPr>
          <a:xfrm>
            <a:off x="200025" y="1482725"/>
            <a:ext cx="42164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问题：再插入键值为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p>
        </p:txBody>
      </p:sp>
      <p:grpSp>
        <p:nvGrpSpPr>
          <p:cNvPr id="2" name="Group 398"/>
          <p:cNvGrpSpPr/>
          <p:nvPr/>
        </p:nvGrpSpPr>
        <p:grpSpPr>
          <a:xfrm>
            <a:off x="5164138" y="881063"/>
            <a:ext cx="3371850" cy="1406525"/>
            <a:chOff x="1265" y="3268"/>
            <a:chExt cx="1154" cy="629"/>
          </a:xfrm>
        </p:grpSpPr>
        <p:sp>
          <p:nvSpPr>
            <p:cNvPr id="75981"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598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5983" name="Text Box 84"/>
            <p:cNvSpPr/>
            <p:nvPr/>
          </p:nvSpPr>
          <p:spPr>
            <a:xfrm>
              <a:off x="1269" y="3299"/>
              <a:ext cx="1150" cy="574"/>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先定位待插入键值的叶子结点：从根结点开始向下；</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检查叶子结点是否已满？</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如已满，则需分裂该结点为两个</a:t>
              </a:r>
            </a:p>
          </p:txBody>
        </p:sp>
      </p:grpSp>
      <p:sp>
        <p:nvSpPr>
          <p:cNvPr id="531859" name="Rectangle 403"/>
          <p:cNvSpPr/>
          <p:nvPr/>
        </p:nvSpPr>
        <p:spPr>
          <a:xfrm>
            <a:off x="2627313" y="4775200"/>
            <a:ext cx="1654175"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5980"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复杂插入</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1853"/>
                                        </p:tgtEl>
                                        <p:attrNameLst>
                                          <p:attrName>style.visibility</p:attrName>
                                        </p:attrNameLst>
                                      </p:cBhvr>
                                      <p:to>
                                        <p:strVal val="visible"/>
                                      </p:to>
                                    </p:set>
                                    <p:anim calcmode="lin" valueType="num">
                                      <p:cBhvr additive="base">
                                        <p:cTn id="7" dur="500" fill="hold"/>
                                        <p:tgtEl>
                                          <p:spTgt spid="531853"/>
                                        </p:tgtEl>
                                        <p:attrNameLst>
                                          <p:attrName>ppt_x</p:attrName>
                                        </p:attrNameLst>
                                      </p:cBhvr>
                                      <p:tavLst>
                                        <p:tav tm="0">
                                          <p:val>
                                            <p:strVal val="#ppt_x"/>
                                          </p:val>
                                        </p:tav>
                                        <p:tav tm="100000">
                                          <p:val>
                                            <p:strVal val="#ppt_x"/>
                                          </p:val>
                                        </p:tav>
                                      </p:tavLst>
                                    </p:anim>
                                    <p:anim calcmode="lin" valueType="num">
                                      <p:cBhvr additive="base">
                                        <p:cTn id="8" dur="500" fill="hold"/>
                                        <p:tgtEl>
                                          <p:spTgt spid="5318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531859"/>
                                        </p:tgtEl>
                                        <p:attrNameLst>
                                          <p:attrName>style.visibility</p:attrName>
                                        </p:attrNameLst>
                                      </p:cBhvr>
                                      <p:to>
                                        <p:strVal val="visible"/>
                                      </p:to>
                                    </p:set>
                                    <p:animEffect transition="in" filter="checkerboard(across)">
                                      <p:cBhvr>
                                        <p:cTn id="19" dur="500"/>
                                        <p:tgtEl>
                                          <p:spTgt spid="531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853" grpId="0"/>
      <p:bldP spid="531859"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5554"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5576" name="Group 24"/>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rgbClr val="CC0000"/>
                          </a:solidFill>
                          <a:effectLst/>
                          <a:latin typeface="Arial" panose="020B0604020202020204" pitchFamily="34" charset="0"/>
                          <a:ea typeface="宋体" panose="02010600030101010101"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5598"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5620"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5787" name="Group 235"/>
          <p:cNvGraphicFramePr>
            <a:graphicFrameLocks noGrp="1"/>
          </p:cNvGraphicFramePr>
          <p:nvPr/>
        </p:nvGraphicFramePr>
        <p:xfrm>
          <a:off x="2120900" y="4787900"/>
          <a:ext cx="1595444" cy="685800"/>
        </p:xfrm>
        <a:graphic>
          <a:graphicData uri="http://schemas.openxmlformats.org/drawingml/2006/table">
            <a:tbl>
              <a:tblPr/>
              <a:tblGrid>
                <a:gridCol w="223794">
                  <a:extLst>
                    <a:ext uri="{9D8B030D-6E8A-4147-A177-3AD203B41FA5}">
                      <a16:colId xmlns:a16="http://schemas.microsoft.com/office/drawing/2014/main" val="20000"/>
                    </a:ext>
                  </a:extLst>
                </a:gridCol>
                <a:gridCol w="185700">
                  <a:extLst>
                    <a:ext uri="{9D8B030D-6E8A-4147-A177-3AD203B41FA5}">
                      <a16:colId xmlns:a16="http://schemas.microsoft.com/office/drawing/2014/main" val="20001"/>
                    </a:ext>
                  </a:extLst>
                </a:gridCol>
                <a:gridCol w="185701">
                  <a:extLst>
                    <a:ext uri="{9D8B030D-6E8A-4147-A177-3AD203B41FA5}">
                      <a16:colId xmlns:a16="http://schemas.microsoft.com/office/drawing/2014/main" val="20002"/>
                    </a:ext>
                  </a:extLst>
                </a:gridCol>
                <a:gridCol w="244426">
                  <a:extLst>
                    <a:ext uri="{9D8B030D-6E8A-4147-A177-3AD203B41FA5}">
                      <a16:colId xmlns:a16="http://schemas.microsoft.com/office/drawing/2014/main" val="20003"/>
                    </a:ext>
                  </a:extLst>
                </a:gridCol>
                <a:gridCol w="182526">
                  <a:extLst>
                    <a:ext uri="{9D8B030D-6E8A-4147-A177-3AD203B41FA5}">
                      <a16:colId xmlns:a16="http://schemas.microsoft.com/office/drawing/2014/main" val="20004"/>
                    </a:ext>
                  </a:extLst>
                </a:gridCol>
                <a:gridCol w="182527">
                  <a:extLst>
                    <a:ext uri="{9D8B030D-6E8A-4147-A177-3AD203B41FA5}">
                      <a16:colId xmlns:a16="http://schemas.microsoft.com/office/drawing/2014/main" val="20005"/>
                    </a:ext>
                  </a:extLst>
                </a:gridCol>
                <a:gridCol w="182526">
                  <a:extLst>
                    <a:ext uri="{9D8B030D-6E8A-4147-A177-3AD203B41FA5}">
                      <a16:colId xmlns:a16="http://schemas.microsoft.com/office/drawing/2014/main" val="20006"/>
                    </a:ext>
                  </a:extLst>
                </a:gridCol>
                <a:gridCol w="208244">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L="91422" marR="914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rgbClr val="CC0000"/>
                          </a:solidFill>
                          <a:effectLst/>
                          <a:latin typeface="Arial" panose="020B0604020202020204" pitchFamily="34" charset="0"/>
                          <a:ea typeface="宋体" panose="02010600030101010101" pitchFamily="2" charset="-122"/>
                        </a:rPr>
                        <a:t>25</a:t>
                      </a:r>
                    </a:p>
                  </a:txBody>
                  <a:tcPr marL="91422" marR="914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2" marR="914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5664"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5686"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6956"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76957"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76958"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76959"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76960" name="Line 160"/>
          <p:cNvSpPr/>
          <p:nvPr/>
        </p:nvSpPr>
        <p:spPr>
          <a:xfrm>
            <a:off x="3263900" y="3873500"/>
            <a:ext cx="2133600" cy="914400"/>
          </a:xfrm>
          <a:prstGeom prst="line">
            <a:avLst/>
          </a:prstGeom>
          <a:ln w="9525" cap="flat" cmpd="sng">
            <a:solidFill>
              <a:schemeClr val="tx1"/>
            </a:solidFill>
            <a:prstDash val="solid"/>
            <a:headEnd type="none" w="med" len="med"/>
            <a:tailEnd type="triangle" w="med" len="med"/>
          </a:ln>
        </p:spPr>
      </p:sp>
      <p:sp>
        <p:nvSpPr>
          <p:cNvPr id="76961"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76962"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76963"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76964"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76965"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76966"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76967"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76968"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76969"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76970"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76971" name="Rectangle 172"/>
          <p:cNvSpPr/>
          <p:nvPr/>
        </p:nvSpPr>
        <p:spPr>
          <a:xfrm>
            <a:off x="2568575" y="6159500"/>
            <a:ext cx="390525" cy="314325"/>
          </a:xfrm>
          <a:prstGeom prst="rect">
            <a:avLst/>
          </a:prstGeom>
          <a:noFill/>
          <a:ln w="9525" cap="flat" cmpd="sng">
            <a:solidFill>
              <a:srgbClr val="CC0000"/>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25</a:t>
            </a:r>
          </a:p>
        </p:txBody>
      </p:sp>
      <p:sp>
        <p:nvSpPr>
          <p:cNvPr id="76972" name="Rectangle 173"/>
          <p:cNvSpPr/>
          <p:nvPr/>
        </p:nvSpPr>
        <p:spPr>
          <a:xfrm>
            <a:off x="3035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30</a:t>
            </a:r>
          </a:p>
        </p:txBody>
      </p:sp>
      <p:sp>
        <p:nvSpPr>
          <p:cNvPr id="76973" name="Rectangle 174"/>
          <p:cNvSpPr/>
          <p:nvPr/>
        </p:nvSpPr>
        <p:spPr>
          <a:xfrm>
            <a:off x="3492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76974" name="Rectangle 175"/>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76975" name="Rectangle 176"/>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76976" name="Rectangle 177"/>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76977" name="Rectangle 178"/>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76978" name="Rectangle 179"/>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76979" name="Line 180"/>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76980" name="Line 181"/>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76981" name="Line 182"/>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76982" name="Line 183"/>
          <p:cNvSpPr/>
          <p:nvPr/>
        </p:nvSpPr>
        <p:spPr>
          <a:xfrm flipH="1">
            <a:off x="2197100" y="5321300"/>
            <a:ext cx="76200" cy="838200"/>
          </a:xfrm>
          <a:prstGeom prst="line">
            <a:avLst/>
          </a:prstGeom>
          <a:ln w="9525" cap="flat" cmpd="sng">
            <a:solidFill>
              <a:schemeClr val="tx1"/>
            </a:solidFill>
            <a:prstDash val="solid"/>
            <a:headEnd type="none" w="med" len="med"/>
            <a:tailEnd type="triangle" w="med" len="med"/>
          </a:ln>
        </p:spPr>
      </p:sp>
      <p:sp>
        <p:nvSpPr>
          <p:cNvPr id="76983" name="Line 184"/>
          <p:cNvSpPr/>
          <p:nvPr/>
        </p:nvSpPr>
        <p:spPr>
          <a:xfrm>
            <a:off x="2578100" y="5321300"/>
            <a:ext cx="0" cy="838200"/>
          </a:xfrm>
          <a:prstGeom prst="line">
            <a:avLst/>
          </a:prstGeom>
          <a:ln w="9525" cap="flat" cmpd="sng">
            <a:solidFill>
              <a:schemeClr val="tx1"/>
            </a:solidFill>
            <a:prstDash val="solid"/>
            <a:headEnd type="none" w="med" len="med"/>
            <a:tailEnd type="triangle" w="med" len="med"/>
          </a:ln>
        </p:spPr>
      </p:sp>
      <p:sp>
        <p:nvSpPr>
          <p:cNvPr id="76984" name="Line 185"/>
          <p:cNvSpPr/>
          <p:nvPr/>
        </p:nvSpPr>
        <p:spPr>
          <a:xfrm flipH="1">
            <a:off x="3035300" y="5321300"/>
            <a:ext cx="914400" cy="838200"/>
          </a:xfrm>
          <a:prstGeom prst="line">
            <a:avLst/>
          </a:prstGeom>
          <a:ln w="9525" cap="flat" cmpd="sng">
            <a:solidFill>
              <a:schemeClr val="tx1"/>
            </a:solidFill>
            <a:prstDash val="solid"/>
            <a:headEnd type="none" w="med" len="med"/>
            <a:tailEnd type="triangle" w="med" len="med"/>
          </a:ln>
        </p:spPr>
      </p:sp>
      <p:sp>
        <p:nvSpPr>
          <p:cNvPr id="76985" name="Line 186"/>
          <p:cNvSpPr/>
          <p:nvPr/>
        </p:nvSpPr>
        <p:spPr>
          <a:xfrm flipH="1">
            <a:off x="3568700" y="5321300"/>
            <a:ext cx="685800" cy="838200"/>
          </a:xfrm>
          <a:prstGeom prst="line">
            <a:avLst/>
          </a:prstGeom>
          <a:ln w="9525" cap="flat" cmpd="sng">
            <a:solidFill>
              <a:schemeClr val="tx1"/>
            </a:solidFill>
            <a:prstDash val="solid"/>
            <a:headEnd type="none" w="med" len="med"/>
            <a:tailEnd type="triangle" w="med" len="med"/>
          </a:ln>
        </p:spPr>
      </p:sp>
      <p:sp>
        <p:nvSpPr>
          <p:cNvPr id="76986" name="Line 187"/>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76987" name="Line 188"/>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76988" name="Line 189"/>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76989" name="Line 190"/>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76990" name="Line 191"/>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76991" name="Line 192"/>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76992" name="Rectangle 193"/>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76993" name="Line 194"/>
          <p:cNvSpPr/>
          <p:nvPr/>
        </p:nvSpPr>
        <p:spPr>
          <a:xfrm>
            <a:off x="1511300" y="5321300"/>
            <a:ext cx="228600" cy="762000"/>
          </a:xfrm>
          <a:prstGeom prst="line">
            <a:avLst/>
          </a:prstGeom>
          <a:ln w="9525" cap="flat" cmpd="sng">
            <a:solidFill>
              <a:schemeClr val="tx1"/>
            </a:solidFill>
            <a:prstDash val="solid"/>
            <a:headEnd type="none" w="med" len="med"/>
            <a:tailEnd type="triangle" w="med" len="med"/>
          </a:ln>
        </p:spPr>
      </p:sp>
      <p:sp>
        <p:nvSpPr>
          <p:cNvPr id="76994" name="Rectangle 196"/>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76995" name="Line 197"/>
          <p:cNvSpPr/>
          <p:nvPr/>
        </p:nvSpPr>
        <p:spPr>
          <a:xfrm>
            <a:off x="4559300" y="5321300"/>
            <a:ext cx="685800" cy="838200"/>
          </a:xfrm>
          <a:prstGeom prst="line">
            <a:avLst/>
          </a:prstGeom>
          <a:ln w="9525" cap="flat" cmpd="sng">
            <a:solidFill>
              <a:schemeClr val="tx1"/>
            </a:solidFill>
            <a:prstDash val="solid"/>
            <a:headEnd type="none" w="med" len="med"/>
            <a:tailEnd type="triangle" w="med" len="med"/>
          </a:ln>
        </p:spPr>
      </p:sp>
      <p:graphicFrame>
        <p:nvGraphicFramePr>
          <p:cNvPr id="535750" name="Group 198"/>
          <p:cNvGraphicFramePr>
            <a:graphicFrameLocks noGrp="1"/>
          </p:cNvGraphicFramePr>
          <p:nvPr/>
        </p:nvGraphicFramePr>
        <p:xfrm>
          <a:off x="3797300" y="4757738"/>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7018" name="Line 220"/>
          <p:cNvSpPr/>
          <p:nvPr/>
        </p:nvSpPr>
        <p:spPr>
          <a:xfrm>
            <a:off x="5245100" y="5321300"/>
            <a:ext cx="228600" cy="0"/>
          </a:xfrm>
          <a:prstGeom prst="line">
            <a:avLst/>
          </a:prstGeom>
          <a:ln w="9525" cap="flat" cmpd="sng">
            <a:solidFill>
              <a:schemeClr val="tx1"/>
            </a:solidFill>
            <a:prstDash val="solid"/>
            <a:headEnd type="none" w="med" len="med"/>
            <a:tailEnd type="triangle" w="med" len="med"/>
          </a:ln>
        </p:spPr>
      </p:sp>
      <p:sp>
        <p:nvSpPr>
          <p:cNvPr id="77019" name="Line 221"/>
          <p:cNvSpPr/>
          <p:nvPr/>
        </p:nvSpPr>
        <p:spPr>
          <a:xfrm>
            <a:off x="2806700" y="3873500"/>
            <a:ext cx="990600" cy="914400"/>
          </a:xfrm>
          <a:prstGeom prst="line">
            <a:avLst/>
          </a:prstGeom>
          <a:ln w="38100" cap="flat" cmpd="sng">
            <a:solidFill>
              <a:schemeClr val="accent2"/>
            </a:solidFill>
            <a:prstDash val="solid"/>
            <a:headEnd type="none" w="med" len="med"/>
            <a:tailEnd type="triangle" w="med" len="med"/>
          </a:ln>
        </p:spPr>
      </p:sp>
      <p:sp>
        <p:nvSpPr>
          <p:cNvPr id="77020" name="Line 224"/>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77021" name="Line 225"/>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77022" name="Text Box 226"/>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77023" name="Text Box 227"/>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77024" name="Text Box 228"/>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535783" name="Rectangle 231"/>
          <p:cNvSpPr/>
          <p:nvPr/>
        </p:nvSpPr>
        <p:spPr>
          <a:xfrm>
            <a:off x="2132013" y="4760913"/>
            <a:ext cx="1522412"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35784" name="Rectangle 232"/>
          <p:cNvSpPr/>
          <p:nvPr/>
        </p:nvSpPr>
        <p:spPr>
          <a:xfrm>
            <a:off x="3781425" y="4759325"/>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7027" name="Line 166"/>
          <p:cNvSpPr/>
          <p:nvPr/>
        </p:nvSpPr>
        <p:spPr>
          <a:xfrm>
            <a:off x="3568700" y="5321300"/>
            <a:ext cx="304800" cy="0"/>
          </a:xfrm>
          <a:prstGeom prst="line">
            <a:avLst/>
          </a:prstGeom>
          <a:ln w="38100" cap="flat" cmpd="sng">
            <a:solidFill>
              <a:schemeClr val="accent2"/>
            </a:solidFill>
            <a:prstDash val="solid"/>
            <a:headEnd type="none" w="med" len="med"/>
            <a:tailEnd type="triangle" w="med" len="med"/>
          </a:ln>
        </p:spPr>
      </p:sp>
      <p:grpSp>
        <p:nvGrpSpPr>
          <p:cNvPr id="77028" name="Group 236"/>
          <p:cNvGrpSpPr/>
          <p:nvPr/>
        </p:nvGrpSpPr>
        <p:grpSpPr>
          <a:xfrm>
            <a:off x="4684713" y="822325"/>
            <a:ext cx="4197350" cy="1828800"/>
            <a:chOff x="1265" y="3268"/>
            <a:chExt cx="1154" cy="629"/>
          </a:xfrm>
        </p:grpSpPr>
        <p:sp>
          <p:nvSpPr>
            <p:cNvPr id="77034"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7035"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7036" name="Text Box 84"/>
            <p:cNvSpPr/>
            <p:nvPr/>
          </p:nvSpPr>
          <p:spPr>
            <a:xfrm>
              <a:off x="1268" y="3301"/>
              <a:ext cx="1151" cy="591"/>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分裂结点，将所涉及的键值 准均分为两个结点中存储</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包含待插入的</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插入键值为</a:t>
              </a:r>
              <a:r>
                <a:rPr kumimoji="0" lang="en-US" altLang="zh-CN"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25</a:t>
              </a: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的键值并指向主文件记录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调整父结点的指针及键值：在父结点中插入键值为</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30</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的索引项</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建立叶结点之间的指针</a:t>
              </a:r>
            </a:p>
          </p:txBody>
        </p:sp>
      </p:grpSp>
      <p:grpSp>
        <p:nvGrpSpPr>
          <p:cNvPr id="6" name="Group 240"/>
          <p:cNvGrpSpPr/>
          <p:nvPr/>
        </p:nvGrpSpPr>
        <p:grpSpPr>
          <a:xfrm>
            <a:off x="171450" y="1589088"/>
            <a:ext cx="3336925" cy="1371600"/>
            <a:chOff x="1265" y="3268"/>
            <a:chExt cx="1153" cy="629"/>
          </a:xfrm>
        </p:grpSpPr>
        <p:sp>
          <p:nvSpPr>
            <p:cNvPr id="77031"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703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7033" name="Text Box 84"/>
            <p:cNvSpPr/>
            <p:nvPr/>
          </p:nvSpPr>
          <p:spPr>
            <a:xfrm>
              <a:off x="1275" y="3301"/>
              <a:ext cx="1139" cy="540"/>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如父结点已满，则如此继续将其分裂为两个结点，保存相应键值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一直到根结点。如根结点也满，则再生成新的根结点，结束。</a:t>
              </a:r>
            </a:p>
          </p:txBody>
        </p:sp>
      </p:grpSp>
      <p:sp>
        <p:nvSpPr>
          <p:cNvPr id="77030"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分裂条件与分裂过程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535783"/>
                                        </p:tgtEl>
                                        <p:attrNameLst>
                                          <p:attrName>style.visibility</p:attrName>
                                        </p:attrNameLst>
                                      </p:cBhvr>
                                      <p:to>
                                        <p:strVal val="visible"/>
                                      </p:to>
                                    </p:set>
                                    <p:animEffect transition="in" filter="checkerboard(across)">
                                      <p:cBhvr>
                                        <p:cTn id="7" dur="500"/>
                                        <p:tgtEl>
                                          <p:spTgt spid="53578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35784"/>
                                        </p:tgtEl>
                                        <p:attrNameLst>
                                          <p:attrName>style.visibility</p:attrName>
                                        </p:attrNameLst>
                                      </p:cBhvr>
                                      <p:to>
                                        <p:strVal val="visible"/>
                                      </p:to>
                                    </p:set>
                                    <p:animEffect transition="in" filter="checkerboard(across)">
                                      <p:cBhvr>
                                        <p:cTn id="10" dur="500"/>
                                        <p:tgtEl>
                                          <p:spTgt spid="535784"/>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783" grpId="0" bldLvl="0" animBg="1"/>
      <p:bldP spid="535784"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6578"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6817" name="Group 241"/>
          <p:cNvGraphicFramePr>
            <a:graphicFrameLocks noGrp="1"/>
          </p:cNvGraphicFramePr>
          <p:nvPr/>
        </p:nvGraphicFramePr>
        <p:xfrm>
          <a:off x="1739900" y="3340100"/>
          <a:ext cx="2133600" cy="739775"/>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9658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T="45759" marB="4575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accent2"/>
                          </a:solidFill>
                          <a:effectLst/>
                          <a:latin typeface="Arial" panose="020B0604020202020204" pitchFamily="34" charset="0"/>
                          <a:ea typeface="宋体" panose="02010600030101010101" pitchFamily="2" charset="-122"/>
                        </a:rPr>
                        <a:t>30</a:t>
                      </a: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3195">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6622"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6644"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6666" name="Group 90"/>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6688"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6710"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7980"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77981"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77982"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77983"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77984" name="Line 160"/>
          <p:cNvSpPr/>
          <p:nvPr/>
        </p:nvSpPr>
        <p:spPr>
          <a:xfrm>
            <a:off x="3263900" y="3873500"/>
            <a:ext cx="2133600" cy="914400"/>
          </a:xfrm>
          <a:prstGeom prst="line">
            <a:avLst/>
          </a:prstGeom>
          <a:ln w="9525" cap="flat" cmpd="sng">
            <a:solidFill>
              <a:schemeClr val="tx1"/>
            </a:solidFill>
            <a:prstDash val="solid"/>
            <a:headEnd type="none" w="med" len="med"/>
            <a:tailEnd type="triangle" w="med" len="med"/>
          </a:ln>
        </p:spPr>
      </p:sp>
      <p:sp>
        <p:nvSpPr>
          <p:cNvPr id="77985"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77986"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77987"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77988"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77989"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77990" name="Line 166"/>
          <p:cNvSpPr/>
          <p:nvPr/>
        </p:nvSpPr>
        <p:spPr>
          <a:xfrm>
            <a:off x="3568700" y="5321300"/>
            <a:ext cx="304800" cy="0"/>
          </a:xfrm>
          <a:prstGeom prst="line">
            <a:avLst/>
          </a:prstGeom>
          <a:ln w="9525" cap="flat" cmpd="sng">
            <a:solidFill>
              <a:schemeClr val="tx1"/>
            </a:solidFill>
            <a:prstDash val="solid"/>
            <a:headEnd type="none" w="med" len="med"/>
            <a:tailEnd type="triangle" w="med" len="med"/>
          </a:ln>
        </p:spPr>
      </p:sp>
      <p:sp>
        <p:nvSpPr>
          <p:cNvPr id="77991"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77992"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77993"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77994"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77995"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77996" name="Rectangle 172"/>
          <p:cNvSpPr/>
          <p:nvPr/>
        </p:nvSpPr>
        <p:spPr>
          <a:xfrm>
            <a:off x="2578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25</a:t>
            </a:r>
          </a:p>
        </p:txBody>
      </p:sp>
      <p:sp>
        <p:nvSpPr>
          <p:cNvPr id="77997" name="Rectangle 173"/>
          <p:cNvSpPr/>
          <p:nvPr/>
        </p:nvSpPr>
        <p:spPr>
          <a:xfrm>
            <a:off x="3035300" y="6159500"/>
            <a:ext cx="371475" cy="314325"/>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30</a:t>
            </a:r>
          </a:p>
        </p:txBody>
      </p:sp>
      <p:sp>
        <p:nvSpPr>
          <p:cNvPr id="77998" name="Rectangle 174"/>
          <p:cNvSpPr/>
          <p:nvPr/>
        </p:nvSpPr>
        <p:spPr>
          <a:xfrm>
            <a:off x="3492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77999" name="Rectangle 175"/>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78000" name="Rectangle 176"/>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78001" name="Rectangle 177"/>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78002" name="Rectangle 178"/>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78003" name="Rectangle 179"/>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78004" name="Line 180"/>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78005" name="Line 181"/>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78006" name="Line 182"/>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78007" name="Line 183"/>
          <p:cNvSpPr/>
          <p:nvPr/>
        </p:nvSpPr>
        <p:spPr>
          <a:xfrm flipH="1">
            <a:off x="2197100" y="5321300"/>
            <a:ext cx="76200" cy="838200"/>
          </a:xfrm>
          <a:prstGeom prst="line">
            <a:avLst/>
          </a:prstGeom>
          <a:ln w="9525" cap="flat" cmpd="sng">
            <a:solidFill>
              <a:schemeClr val="tx1"/>
            </a:solidFill>
            <a:prstDash val="solid"/>
            <a:headEnd type="none" w="med" len="med"/>
            <a:tailEnd type="triangle" w="med" len="med"/>
          </a:ln>
        </p:spPr>
      </p:sp>
      <p:sp>
        <p:nvSpPr>
          <p:cNvPr id="78008" name="Line 184"/>
          <p:cNvSpPr/>
          <p:nvPr/>
        </p:nvSpPr>
        <p:spPr>
          <a:xfrm>
            <a:off x="2578100" y="5321300"/>
            <a:ext cx="0" cy="838200"/>
          </a:xfrm>
          <a:prstGeom prst="line">
            <a:avLst/>
          </a:prstGeom>
          <a:ln w="9525" cap="flat" cmpd="sng">
            <a:solidFill>
              <a:schemeClr val="tx1"/>
            </a:solidFill>
            <a:prstDash val="solid"/>
            <a:headEnd type="none" w="med" len="med"/>
            <a:tailEnd type="triangle" w="med" len="med"/>
          </a:ln>
        </p:spPr>
      </p:sp>
      <p:sp>
        <p:nvSpPr>
          <p:cNvPr id="78009" name="Line 185"/>
          <p:cNvSpPr/>
          <p:nvPr/>
        </p:nvSpPr>
        <p:spPr>
          <a:xfrm flipH="1">
            <a:off x="3035300" y="5321300"/>
            <a:ext cx="914400" cy="838200"/>
          </a:xfrm>
          <a:prstGeom prst="line">
            <a:avLst/>
          </a:prstGeom>
          <a:ln w="9525" cap="flat" cmpd="sng">
            <a:solidFill>
              <a:schemeClr val="tx1"/>
            </a:solidFill>
            <a:prstDash val="solid"/>
            <a:headEnd type="none" w="med" len="med"/>
            <a:tailEnd type="triangle" w="med" len="med"/>
          </a:ln>
        </p:spPr>
      </p:sp>
      <p:sp>
        <p:nvSpPr>
          <p:cNvPr id="78010" name="Line 186"/>
          <p:cNvSpPr/>
          <p:nvPr/>
        </p:nvSpPr>
        <p:spPr>
          <a:xfrm flipH="1">
            <a:off x="3568700" y="5321300"/>
            <a:ext cx="685800" cy="838200"/>
          </a:xfrm>
          <a:prstGeom prst="line">
            <a:avLst/>
          </a:prstGeom>
          <a:ln w="9525" cap="flat" cmpd="sng">
            <a:solidFill>
              <a:schemeClr val="tx1"/>
            </a:solidFill>
            <a:prstDash val="solid"/>
            <a:headEnd type="none" w="med" len="med"/>
            <a:tailEnd type="triangle" w="med" len="med"/>
          </a:ln>
        </p:spPr>
      </p:sp>
      <p:sp>
        <p:nvSpPr>
          <p:cNvPr id="78011" name="Line 187"/>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78012" name="Line 188"/>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78013" name="Line 189"/>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78014" name="Line 190"/>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78015" name="Line 191"/>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78016" name="Line 192"/>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78017" name="Rectangle 193"/>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78018" name="Line 194"/>
          <p:cNvSpPr/>
          <p:nvPr/>
        </p:nvSpPr>
        <p:spPr>
          <a:xfrm>
            <a:off x="1511300" y="5321300"/>
            <a:ext cx="228600" cy="762000"/>
          </a:xfrm>
          <a:prstGeom prst="line">
            <a:avLst/>
          </a:prstGeom>
          <a:ln w="9525" cap="flat" cmpd="sng">
            <a:solidFill>
              <a:schemeClr val="tx1"/>
            </a:solidFill>
            <a:prstDash val="solid"/>
            <a:headEnd type="none" w="med" len="med"/>
            <a:tailEnd type="triangle" w="med" len="med"/>
          </a:ln>
        </p:spPr>
      </p:sp>
      <p:sp>
        <p:nvSpPr>
          <p:cNvPr id="78019" name="Rectangle 196"/>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78020" name="Line 197"/>
          <p:cNvSpPr/>
          <p:nvPr/>
        </p:nvSpPr>
        <p:spPr>
          <a:xfrm>
            <a:off x="4559300" y="5321300"/>
            <a:ext cx="685800" cy="838200"/>
          </a:xfrm>
          <a:prstGeom prst="line">
            <a:avLst/>
          </a:prstGeom>
          <a:ln w="9525" cap="flat" cmpd="sng">
            <a:solidFill>
              <a:schemeClr val="tx1"/>
            </a:solidFill>
            <a:prstDash val="solid"/>
            <a:headEnd type="none" w="med" len="med"/>
            <a:tailEnd type="triangle" w="med" len="med"/>
          </a:ln>
        </p:spPr>
      </p:sp>
      <p:graphicFrame>
        <p:nvGraphicFramePr>
          <p:cNvPr id="536774" name="Group 198"/>
          <p:cNvGraphicFramePr>
            <a:graphicFrameLocks noGrp="1"/>
          </p:cNvGraphicFramePr>
          <p:nvPr/>
        </p:nvGraphicFramePr>
        <p:xfrm>
          <a:off x="37973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30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8043" name="Line 220"/>
          <p:cNvSpPr/>
          <p:nvPr/>
        </p:nvSpPr>
        <p:spPr>
          <a:xfrm>
            <a:off x="5245100" y="5321300"/>
            <a:ext cx="228600" cy="0"/>
          </a:xfrm>
          <a:prstGeom prst="line">
            <a:avLst/>
          </a:prstGeom>
          <a:ln w="9525" cap="flat" cmpd="sng">
            <a:solidFill>
              <a:schemeClr val="tx1"/>
            </a:solidFill>
            <a:prstDash val="solid"/>
            <a:headEnd type="none" w="med" len="med"/>
            <a:tailEnd type="triangle" w="med" len="med"/>
          </a:ln>
        </p:spPr>
      </p:sp>
      <p:sp>
        <p:nvSpPr>
          <p:cNvPr id="78044" name="Line 221"/>
          <p:cNvSpPr/>
          <p:nvPr/>
        </p:nvSpPr>
        <p:spPr>
          <a:xfrm>
            <a:off x="2806700" y="3873500"/>
            <a:ext cx="990600" cy="914400"/>
          </a:xfrm>
          <a:prstGeom prst="line">
            <a:avLst/>
          </a:prstGeom>
          <a:ln w="9525" cap="flat" cmpd="sng">
            <a:solidFill>
              <a:schemeClr val="tx1"/>
            </a:solidFill>
            <a:prstDash val="solid"/>
            <a:headEnd type="none" w="med" len="med"/>
            <a:tailEnd type="triangle" w="med" len="med"/>
          </a:ln>
        </p:spPr>
      </p:sp>
      <p:sp>
        <p:nvSpPr>
          <p:cNvPr id="536798" name="Text Box 222"/>
          <p:cNvSpPr txBox="1"/>
          <p:nvPr/>
        </p:nvSpPr>
        <p:spPr>
          <a:xfrm>
            <a:off x="214313" y="1431925"/>
            <a:ext cx="40100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p>
        </p:txBody>
      </p:sp>
      <p:sp>
        <p:nvSpPr>
          <p:cNvPr id="78046" name="Line 224"/>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78047" name="Line 225"/>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78048" name="Text Box 226"/>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78049" name="Text Box 227"/>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78050" name="Text Box 228"/>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78051" name="Rectangle 230"/>
          <p:cNvSpPr/>
          <p:nvPr/>
        </p:nvSpPr>
        <p:spPr>
          <a:xfrm>
            <a:off x="200025" y="958850"/>
            <a:ext cx="33020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的记录插入后</a:t>
            </a:r>
          </a:p>
        </p:txBody>
      </p:sp>
      <p:grpSp>
        <p:nvGrpSpPr>
          <p:cNvPr id="2" name="Group 235"/>
          <p:cNvGrpSpPr/>
          <p:nvPr/>
        </p:nvGrpSpPr>
        <p:grpSpPr>
          <a:xfrm>
            <a:off x="4702175" y="852488"/>
            <a:ext cx="4441825" cy="1747837"/>
            <a:chOff x="1265" y="3268"/>
            <a:chExt cx="1154" cy="629"/>
          </a:xfrm>
        </p:grpSpPr>
        <p:sp>
          <p:nvSpPr>
            <p:cNvPr id="78056"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8057"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8058" name="Text Box 84"/>
            <p:cNvSpPr/>
            <p:nvPr/>
          </p:nvSpPr>
          <p:spPr>
            <a:xfrm>
              <a:off x="1269" y="3300"/>
              <a:ext cx="1150" cy="579"/>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先定位待删除键值的叶子结点：从根结点开始向下；</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删除键值及其主文件记录？</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如指针数目不少于规定数目，则可以结束</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如是第一个，则要更新父结点的相应键值</a:t>
              </a:r>
            </a:p>
          </p:txBody>
        </p:sp>
      </p:grpSp>
      <p:sp>
        <p:nvSpPr>
          <p:cNvPr id="536815" name="Rectangle 239"/>
          <p:cNvSpPr/>
          <p:nvPr/>
        </p:nvSpPr>
        <p:spPr>
          <a:xfrm>
            <a:off x="3781425" y="4759325"/>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36816" name="Rectangle 240"/>
          <p:cNvSpPr/>
          <p:nvPr/>
        </p:nvSpPr>
        <p:spPr>
          <a:xfrm>
            <a:off x="1703388" y="3306763"/>
            <a:ext cx="2219325" cy="752475"/>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8055"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(5)</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简单删除</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6798"/>
                                        </p:tgtEl>
                                        <p:attrNameLst>
                                          <p:attrName>style.visibility</p:attrName>
                                        </p:attrNameLst>
                                      </p:cBhvr>
                                      <p:to>
                                        <p:strVal val="visible"/>
                                      </p:to>
                                    </p:set>
                                    <p:anim calcmode="lin" valueType="num">
                                      <p:cBhvr additive="base">
                                        <p:cTn id="7" dur="500" fill="hold"/>
                                        <p:tgtEl>
                                          <p:spTgt spid="536798"/>
                                        </p:tgtEl>
                                        <p:attrNameLst>
                                          <p:attrName>ppt_x</p:attrName>
                                        </p:attrNameLst>
                                      </p:cBhvr>
                                      <p:tavLst>
                                        <p:tav tm="0">
                                          <p:val>
                                            <p:strVal val="#ppt_x"/>
                                          </p:val>
                                        </p:tav>
                                        <p:tav tm="100000">
                                          <p:val>
                                            <p:strVal val="#ppt_x"/>
                                          </p:val>
                                        </p:tav>
                                      </p:tavLst>
                                    </p:anim>
                                    <p:anim calcmode="lin" valueType="num">
                                      <p:cBhvr additive="base">
                                        <p:cTn id="8" dur="500" fill="hold"/>
                                        <p:tgtEl>
                                          <p:spTgt spid="5367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5" presetClass="entr" presetSubtype="10" fill="hold" grpId="0" nodeType="withEffect">
                                  <p:stCondLst>
                                    <p:cond delay="0"/>
                                  </p:stCondLst>
                                  <p:childTnLst>
                                    <p:set>
                                      <p:cBhvr>
                                        <p:cTn id="16" dur="1" fill="hold">
                                          <p:stCondLst>
                                            <p:cond delay="0"/>
                                          </p:stCondLst>
                                        </p:cTn>
                                        <p:tgtEl>
                                          <p:spTgt spid="536815"/>
                                        </p:tgtEl>
                                        <p:attrNameLst>
                                          <p:attrName>style.visibility</p:attrName>
                                        </p:attrNameLst>
                                      </p:cBhvr>
                                      <p:to>
                                        <p:strVal val="visible"/>
                                      </p:to>
                                    </p:set>
                                    <p:animEffect transition="in" filter="checkerboard(across)">
                                      <p:cBhvr>
                                        <p:cTn id="17" dur="500"/>
                                        <p:tgtEl>
                                          <p:spTgt spid="53681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36816"/>
                                        </p:tgtEl>
                                        <p:attrNameLst>
                                          <p:attrName>style.visibility</p:attrName>
                                        </p:attrNameLst>
                                      </p:cBhvr>
                                      <p:to>
                                        <p:strVal val="visible"/>
                                      </p:to>
                                    </p:set>
                                    <p:animEffect transition="in" filter="checkerboard(across)">
                                      <p:cBhvr>
                                        <p:cTn id="22" dur="500"/>
                                        <p:tgtEl>
                                          <p:spTgt spid="5368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798" grpId="0"/>
      <p:bldP spid="536815" grpId="0" bldLvl="0" animBg="1"/>
      <p:bldP spid="536816"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7602"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7624" name="Group 24"/>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7646"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7668"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7690" name="Group 90"/>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25</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7712"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7734"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9004"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79005"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79006"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79007"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79008" name="Line 160"/>
          <p:cNvSpPr/>
          <p:nvPr/>
        </p:nvSpPr>
        <p:spPr>
          <a:xfrm>
            <a:off x="3263900" y="3873500"/>
            <a:ext cx="2133600" cy="914400"/>
          </a:xfrm>
          <a:prstGeom prst="line">
            <a:avLst/>
          </a:prstGeom>
          <a:ln w="9525" cap="flat" cmpd="sng">
            <a:solidFill>
              <a:schemeClr val="tx1"/>
            </a:solidFill>
            <a:prstDash val="solid"/>
            <a:headEnd type="none" w="med" len="med"/>
            <a:tailEnd type="triangle" w="med" len="med"/>
          </a:ln>
        </p:spPr>
      </p:sp>
      <p:sp>
        <p:nvSpPr>
          <p:cNvPr id="79009"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79010"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79011"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79012"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79013"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79014" name="Line 166"/>
          <p:cNvSpPr/>
          <p:nvPr/>
        </p:nvSpPr>
        <p:spPr>
          <a:xfrm>
            <a:off x="3568700" y="5321300"/>
            <a:ext cx="304800" cy="0"/>
          </a:xfrm>
          <a:prstGeom prst="line">
            <a:avLst/>
          </a:prstGeom>
          <a:ln w="9525" cap="flat" cmpd="sng">
            <a:solidFill>
              <a:schemeClr val="tx1"/>
            </a:solidFill>
            <a:prstDash val="solid"/>
            <a:headEnd type="none" w="med" len="med"/>
            <a:tailEnd type="triangle" w="med" len="med"/>
          </a:ln>
        </p:spPr>
      </p:sp>
      <p:sp>
        <p:nvSpPr>
          <p:cNvPr id="79015"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79016"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79017"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79018"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79019"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79020" name="Rectangle 172"/>
          <p:cNvSpPr/>
          <p:nvPr/>
        </p:nvSpPr>
        <p:spPr>
          <a:xfrm>
            <a:off x="2578100" y="6159500"/>
            <a:ext cx="371475" cy="314325"/>
          </a:xfrm>
          <a:prstGeom prst="rect">
            <a:avLst/>
          </a:prstGeom>
          <a:noFill/>
          <a:ln w="9525" cap="flat" cmpd="sng">
            <a:solidFill>
              <a:srgbClr val="CC0000"/>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25</a:t>
            </a:r>
          </a:p>
        </p:txBody>
      </p:sp>
      <p:sp>
        <p:nvSpPr>
          <p:cNvPr id="79021" name="Rectangle 173"/>
          <p:cNvSpPr/>
          <p:nvPr/>
        </p:nvSpPr>
        <p:spPr>
          <a:xfrm>
            <a:off x="3492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79022" name="Rectangle 174"/>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79023" name="Rectangle 175"/>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79024" name="Rectangle 176"/>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79025" name="Rectangle 177"/>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79026" name="Rectangle 178"/>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79027" name="Line 179"/>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79028" name="Line 180"/>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79029" name="Line 181"/>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79030" name="Line 182"/>
          <p:cNvSpPr/>
          <p:nvPr/>
        </p:nvSpPr>
        <p:spPr>
          <a:xfrm flipH="1">
            <a:off x="2197100" y="5321300"/>
            <a:ext cx="76200" cy="838200"/>
          </a:xfrm>
          <a:prstGeom prst="line">
            <a:avLst/>
          </a:prstGeom>
          <a:ln w="9525" cap="flat" cmpd="sng">
            <a:solidFill>
              <a:schemeClr val="tx1"/>
            </a:solidFill>
            <a:prstDash val="solid"/>
            <a:headEnd type="none" w="med" len="med"/>
            <a:tailEnd type="triangle" w="med" len="med"/>
          </a:ln>
        </p:spPr>
      </p:sp>
      <p:sp>
        <p:nvSpPr>
          <p:cNvPr id="79031" name="Line 183"/>
          <p:cNvSpPr/>
          <p:nvPr/>
        </p:nvSpPr>
        <p:spPr>
          <a:xfrm>
            <a:off x="2578100" y="5321300"/>
            <a:ext cx="0" cy="838200"/>
          </a:xfrm>
          <a:prstGeom prst="line">
            <a:avLst/>
          </a:prstGeom>
          <a:ln w="9525" cap="flat" cmpd="sng">
            <a:solidFill>
              <a:schemeClr val="tx1"/>
            </a:solidFill>
            <a:prstDash val="solid"/>
            <a:headEnd type="none" w="med" len="med"/>
            <a:tailEnd type="triangle" w="med" len="med"/>
          </a:ln>
        </p:spPr>
      </p:sp>
      <p:sp>
        <p:nvSpPr>
          <p:cNvPr id="79032" name="Line 184"/>
          <p:cNvSpPr/>
          <p:nvPr/>
        </p:nvSpPr>
        <p:spPr>
          <a:xfrm flipH="1">
            <a:off x="3568700" y="5321300"/>
            <a:ext cx="381000" cy="838200"/>
          </a:xfrm>
          <a:prstGeom prst="line">
            <a:avLst/>
          </a:prstGeom>
          <a:ln w="9525" cap="flat" cmpd="sng">
            <a:solidFill>
              <a:schemeClr val="tx1"/>
            </a:solidFill>
            <a:prstDash val="solid"/>
            <a:headEnd type="none" w="med" len="med"/>
            <a:tailEnd type="triangle" w="med" len="med"/>
          </a:ln>
        </p:spPr>
      </p:sp>
      <p:sp>
        <p:nvSpPr>
          <p:cNvPr id="79033" name="Line 185"/>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79034" name="Line 186"/>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79035" name="Line 187"/>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79036" name="Line 188"/>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79037" name="Line 189"/>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79038" name="Line 190"/>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79039" name="Rectangle 191"/>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79040" name="Line 192"/>
          <p:cNvSpPr/>
          <p:nvPr/>
        </p:nvSpPr>
        <p:spPr>
          <a:xfrm>
            <a:off x="1511300" y="5321300"/>
            <a:ext cx="228600" cy="762000"/>
          </a:xfrm>
          <a:prstGeom prst="line">
            <a:avLst/>
          </a:prstGeom>
          <a:ln w="9525" cap="flat" cmpd="sng">
            <a:solidFill>
              <a:schemeClr val="tx1"/>
            </a:solidFill>
            <a:prstDash val="solid"/>
            <a:headEnd type="none" w="med" len="med"/>
            <a:tailEnd type="triangle" w="med" len="med"/>
          </a:ln>
        </p:spPr>
      </p:sp>
      <p:sp>
        <p:nvSpPr>
          <p:cNvPr id="79041" name="Rectangle 194"/>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79042" name="Line 195"/>
          <p:cNvSpPr/>
          <p:nvPr/>
        </p:nvSpPr>
        <p:spPr>
          <a:xfrm>
            <a:off x="4178300" y="5321300"/>
            <a:ext cx="1066800" cy="838200"/>
          </a:xfrm>
          <a:prstGeom prst="line">
            <a:avLst/>
          </a:prstGeom>
          <a:ln w="9525" cap="flat" cmpd="sng">
            <a:solidFill>
              <a:schemeClr val="tx1"/>
            </a:solidFill>
            <a:prstDash val="solid"/>
            <a:headEnd type="none" w="med" len="med"/>
            <a:tailEnd type="triangle" w="med" len="med"/>
          </a:ln>
        </p:spPr>
      </p:sp>
      <p:graphicFrame>
        <p:nvGraphicFramePr>
          <p:cNvPr id="537796" name="Group 196"/>
          <p:cNvGraphicFramePr>
            <a:graphicFrameLocks noGrp="1"/>
          </p:cNvGraphicFramePr>
          <p:nvPr/>
        </p:nvGraphicFramePr>
        <p:xfrm>
          <a:off x="37973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9065" name="Line 218"/>
          <p:cNvSpPr/>
          <p:nvPr/>
        </p:nvSpPr>
        <p:spPr>
          <a:xfrm>
            <a:off x="5245100" y="5321300"/>
            <a:ext cx="228600" cy="0"/>
          </a:xfrm>
          <a:prstGeom prst="line">
            <a:avLst/>
          </a:prstGeom>
          <a:ln w="9525" cap="flat" cmpd="sng">
            <a:solidFill>
              <a:schemeClr val="tx1"/>
            </a:solidFill>
            <a:prstDash val="solid"/>
            <a:headEnd type="none" w="med" len="med"/>
            <a:tailEnd type="triangle" w="med" len="med"/>
          </a:ln>
        </p:spPr>
      </p:sp>
      <p:sp>
        <p:nvSpPr>
          <p:cNvPr id="79066" name="Line 219"/>
          <p:cNvSpPr/>
          <p:nvPr/>
        </p:nvSpPr>
        <p:spPr>
          <a:xfrm>
            <a:off x="2806700" y="3873500"/>
            <a:ext cx="990600" cy="914400"/>
          </a:xfrm>
          <a:prstGeom prst="line">
            <a:avLst/>
          </a:prstGeom>
          <a:ln w="9525" cap="flat" cmpd="sng">
            <a:solidFill>
              <a:schemeClr val="tx1"/>
            </a:solidFill>
            <a:prstDash val="solid"/>
            <a:headEnd type="none" w="med" len="med"/>
            <a:tailEnd type="triangle" w="med" len="med"/>
          </a:ln>
        </p:spPr>
      </p:sp>
      <p:sp>
        <p:nvSpPr>
          <p:cNvPr id="79067" name="Line 223"/>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79068" name="Line 224"/>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79069" name="Text Box 225"/>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79070" name="Text Box 226"/>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79071" name="Text Box 227"/>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537828" name="Text Box 228"/>
          <p:cNvSpPr txBox="1"/>
          <p:nvPr/>
        </p:nvSpPr>
        <p:spPr>
          <a:xfrm>
            <a:off x="214313" y="1431925"/>
            <a:ext cx="4010025"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p>
        </p:txBody>
      </p:sp>
      <p:sp>
        <p:nvSpPr>
          <p:cNvPr id="79073" name="Rectangle 229"/>
          <p:cNvSpPr/>
          <p:nvPr/>
        </p:nvSpPr>
        <p:spPr>
          <a:xfrm>
            <a:off x="200025" y="958850"/>
            <a:ext cx="33020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的记录删除后</a:t>
            </a:r>
          </a:p>
        </p:txBody>
      </p:sp>
      <p:grpSp>
        <p:nvGrpSpPr>
          <p:cNvPr id="2" name="Group 230"/>
          <p:cNvGrpSpPr/>
          <p:nvPr/>
        </p:nvGrpSpPr>
        <p:grpSpPr>
          <a:xfrm>
            <a:off x="5619750" y="1041400"/>
            <a:ext cx="2914650" cy="1081088"/>
            <a:chOff x="1265" y="3268"/>
            <a:chExt cx="1153" cy="629"/>
          </a:xfrm>
        </p:grpSpPr>
        <p:sp>
          <p:nvSpPr>
            <p:cNvPr id="79077"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9078"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9079" name="Text Box 84"/>
            <p:cNvSpPr/>
            <p:nvPr/>
          </p:nvSpPr>
          <p:spPr>
            <a:xfrm>
              <a:off x="1271" y="3304"/>
              <a:ext cx="1146" cy="526"/>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先定位待删除键值的叶子结点：从根结点开始向下；</a:t>
              </a: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删除键值及其主文件记录？</a:t>
              </a:r>
            </a:p>
          </p:txBody>
        </p:sp>
      </p:grpSp>
      <p:sp>
        <p:nvSpPr>
          <p:cNvPr id="537834" name="Rectangle 234"/>
          <p:cNvSpPr/>
          <p:nvPr/>
        </p:nvSpPr>
        <p:spPr>
          <a:xfrm>
            <a:off x="2111375" y="4773613"/>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9076"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(6)</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复杂删除</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7828"/>
                                        </p:tgtEl>
                                        <p:attrNameLst>
                                          <p:attrName>style.visibility</p:attrName>
                                        </p:attrNameLst>
                                      </p:cBhvr>
                                      <p:to>
                                        <p:strVal val="visible"/>
                                      </p:to>
                                    </p:set>
                                    <p:anim calcmode="lin" valueType="num">
                                      <p:cBhvr additive="base">
                                        <p:cTn id="7" dur="500" fill="hold"/>
                                        <p:tgtEl>
                                          <p:spTgt spid="537828"/>
                                        </p:tgtEl>
                                        <p:attrNameLst>
                                          <p:attrName>ppt_x</p:attrName>
                                        </p:attrNameLst>
                                      </p:cBhvr>
                                      <p:tavLst>
                                        <p:tav tm="0">
                                          <p:val>
                                            <p:strVal val="#ppt_x"/>
                                          </p:val>
                                        </p:tav>
                                        <p:tav tm="100000">
                                          <p:val>
                                            <p:strVal val="#ppt_x"/>
                                          </p:val>
                                        </p:tav>
                                      </p:tavLst>
                                    </p:anim>
                                    <p:anim calcmode="lin" valueType="num">
                                      <p:cBhvr additive="base">
                                        <p:cTn id="8" dur="500" fill="hold"/>
                                        <p:tgtEl>
                                          <p:spTgt spid="5378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par>
                                <p:cTn id="15" presetID="5" presetClass="entr" presetSubtype="10" fill="hold" grpId="0" nodeType="withEffect">
                                  <p:stCondLst>
                                    <p:cond delay="0"/>
                                  </p:stCondLst>
                                  <p:childTnLst>
                                    <p:set>
                                      <p:cBhvr>
                                        <p:cTn id="16" dur="1" fill="hold">
                                          <p:stCondLst>
                                            <p:cond delay="0"/>
                                          </p:stCondLst>
                                        </p:cTn>
                                        <p:tgtEl>
                                          <p:spTgt spid="537834"/>
                                        </p:tgtEl>
                                        <p:attrNameLst>
                                          <p:attrName>style.visibility</p:attrName>
                                        </p:attrNameLst>
                                      </p:cBhvr>
                                      <p:to>
                                        <p:strVal val="visible"/>
                                      </p:to>
                                    </p:set>
                                    <p:animEffect transition="in" filter="checkerboard(across)">
                                      <p:cBhvr>
                                        <p:cTn id="17" dur="500"/>
                                        <p:tgtEl>
                                          <p:spTgt spid="537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828" grpId="0"/>
      <p:bldP spid="537834"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9868" name="Group 220"/>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9890" name="Group 242"/>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9912" name="Group 264"/>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9934" name="Group 286"/>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9956" name="Group 308"/>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39978" name="Group 330"/>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000" name="Group 352"/>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0028" name="Line 374"/>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80029" name="Line 375"/>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80030" name="Line 376"/>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80031" name="Line 377"/>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80032" name="Line 378"/>
          <p:cNvSpPr/>
          <p:nvPr/>
        </p:nvSpPr>
        <p:spPr>
          <a:xfrm>
            <a:off x="3263900" y="3873500"/>
            <a:ext cx="2133600" cy="914400"/>
          </a:xfrm>
          <a:prstGeom prst="line">
            <a:avLst/>
          </a:prstGeom>
          <a:ln w="9525" cap="flat" cmpd="sng">
            <a:solidFill>
              <a:schemeClr val="tx1"/>
            </a:solidFill>
            <a:prstDash val="solid"/>
            <a:headEnd type="none" w="med" len="med"/>
            <a:tailEnd type="triangle" w="med" len="med"/>
          </a:ln>
        </p:spPr>
      </p:sp>
      <p:sp>
        <p:nvSpPr>
          <p:cNvPr id="80033" name="Line 379"/>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80034" name="Line 380"/>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80035" name="Line 381"/>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80036" name="Line 382"/>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80037" name="Line 383"/>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80038" name="Line 384"/>
          <p:cNvSpPr/>
          <p:nvPr/>
        </p:nvSpPr>
        <p:spPr>
          <a:xfrm>
            <a:off x="3568700" y="5321300"/>
            <a:ext cx="304800" cy="0"/>
          </a:xfrm>
          <a:prstGeom prst="line">
            <a:avLst/>
          </a:prstGeom>
          <a:ln w="9525" cap="flat" cmpd="sng">
            <a:solidFill>
              <a:schemeClr val="tx1"/>
            </a:solidFill>
            <a:prstDash val="solid"/>
            <a:headEnd type="none" w="med" len="med"/>
            <a:tailEnd type="triangle" w="med" len="med"/>
          </a:ln>
        </p:spPr>
      </p:sp>
      <p:sp>
        <p:nvSpPr>
          <p:cNvPr id="80039" name="Line 385"/>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80040" name="Rectangle 386"/>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80041" name="Rectangle 387"/>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80042" name="Rectangle 388"/>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80043" name="Rectangle 389"/>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80044" name="Rectangle 390"/>
          <p:cNvSpPr/>
          <p:nvPr/>
        </p:nvSpPr>
        <p:spPr>
          <a:xfrm>
            <a:off x="3492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40</a:t>
            </a:r>
          </a:p>
        </p:txBody>
      </p:sp>
      <p:sp>
        <p:nvSpPr>
          <p:cNvPr id="80045" name="Rectangle 391"/>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80046" name="Rectangle 392"/>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80047" name="Rectangle 393"/>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80048" name="Rectangle 394"/>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80049" name="Rectangle 395"/>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80050" name="Line 396"/>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80051" name="Line 397"/>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80052" name="Line 398"/>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80053" name="Line 399"/>
          <p:cNvSpPr/>
          <p:nvPr/>
        </p:nvSpPr>
        <p:spPr>
          <a:xfrm flipH="1">
            <a:off x="2197100" y="5321300"/>
            <a:ext cx="76200" cy="838200"/>
          </a:xfrm>
          <a:prstGeom prst="line">
            <a:avLst/>
          </a:prstGeom>
          <a:ln w="9525" cap="flat" cmpd="sng">
            <a:solidFill>
              <a:schemeClr val="tx1"/>
            </a:solidFill>
            <a:prstDash val="solid"/>
            <a:headEnd type="none" w="med" len="med"/>
            <a:tailEnd type="triangle" w="med" len="med"/>
          </a:ln>
        </p:spPr>
      </p:sp>
      <p:sp>
        <p:nvSpPr>
          <p:cNvPr id="80054" name="Line 400"/>
          <p:cNvSpPr/>
          <p:nvPr/>
        </p:nvSpPr>
        <p:spPr>
          <a:xfrm flipH="1">
            <a:off x="3568700" y="5321300"/>
            <a:ext cx="381000" cy="838200"/>
          </a:xfrm>
          <a:prstGeom prst="line">
            <a:avLst/>
          </a:prstGeom>
          <a:ln w="9525" cap="flat" cmpd="sng">
            <a:solidFill>
              <a:schemeClr val="tx1"/>
            </a:solidFill>
            <a:prstDash val="solid"/>
            <a:headEnd type="none" w="med" len="med"/>
            <a:tailEnd type="triangle" w="med" len="med"/>
          </a:ln>
        </p:spPr>
      </p:sp>
      <p:sp>
        <p:nvSpPr>
          <p:cNvPr id="80055" name="Line 401"/>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80056" name="Line 402"/>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80057" name="Line 403"/>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80058" name="Line 404"/>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80059" name="Line 405"/>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80060" name="Line 406"/>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80061" name="Rectangle 407"/>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80062" name="Line 408"/>
          <p:cNvSpPr/>
          <p:nvPr/>
        </p:nvSpPr>
        <p:spPr>
          <a:xfrm>
            <a:off x="1511300" y="5321300"/>
            <a:ext cx="228600" cy="762000"/>
          </a:xfrm>
          <a:prstGeom prst="line">
            <a:avLst/>
          </a:prstGeom>
          <a:ln w="9525" cap="flat" cmpd="sng">
            <a:solidFill>
              <a:schemeClr val="tx1"/>
            </a:solidFill>
            <a:prstDash val="solid"/>
            <a:headEnd type="none" w="med" len="med"/>
            <a:tailEnd type="triangle" w="med" len="med"/>
          </a:ln>
        </p:spPr>
      </p:sp>
      <p:sp>
        <p:nvSpPr>
          <p:cNvPr id="80063" name="Rectangle 410"/>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80064" name="Line 411"/>
          <p:cNvSpPr/>
          <p:nvPr/>
        </p:nvSpPr>
        <p:spPr>
          <a:xfrm>
            <a:off x="4178300" y="5321300"/>
            <a:ext cx="1066800" cy="838200"/>
          </a:xfrm>
          <a:prstGeom prst="line">
            <a:avLst/>
          </a:prstGeom>
          <a:ln w="9525" cap="flat" cmpd="sng">
            <a:solidFill>
              <a:schemeClr val="tx1"/>
            </a:solidFill>
            <a:prstDash val="solid"/>
            <a:headEnd type="none" w="med" len="med"/>
            <a:tailEnd type="triangle" w="med" len="med"/>
          </a:ln>
        </p:spPr>
      </p:sp>
      <p:graphicFrame>
        <p:nvGraphicFramePr>
          <p:cNvPr id="540060" name="Group 412"/>
          <p:cNvGraphicFramePr>
            <a:graphicFrameLocks noGrp="1"/>
          </p:cNvGraphicFramePr>
          <p:nvPr/>
        </p:nvGraphicFramePr>
        <p:xfrm>
          <a:off x="37973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0087" name="Line 434"/>
          <p:cNvSpPr/>
          <p:nvPr/>
        </p:nvSpPr>
        <p:spPr>
          <a:xfrm>
            <a:off x="5245100" y="5321300"/>
            <a:ext cx="228600" cy="0"/>
          </a:xfrm>
          <a:prstGeom prst="line">
            <a:avLst/>
          </a:prstGeom>
          <a:ln w="9525" cap="flat" cmpd="sng">
            <a:solidFill>
              <a:schemeClr val="tx1"/>
            </a:solidFill>
            <a:prstDash val="solid"/>
            <a:headEnd type="none" w="med" len="med"/>
            <a:tailEnd type="triangle" w="med" len="med"/>
          </a:ln>
        </p:spPr>
      </p:sp>
      <p:sp>
        <p:nvSpPr>
          <p:cNvPr id="80088" name="Line 435"/>
          <p:cNvSpPr/>
          <p:nvPr/>
        </p:nvSpPr>
        <p:spPr>
          <a:xfrm>
            <a:off x="2806700" y="3873500"/>
            <a:ext cx="990600" cy="914400"/>
          </a:xfrm>
          <a:prstGeom prst="line">
            <a:avLst/>
          </a:prstGeom>
          <a:ln w="9525" cap="flat" cmpd="sng">
            <a:solidFill>
              <a:schemeClr val="tx1"/>
            </a:solidFill>
            <a:prstDash val="solid"/>
            <a:headEnd type="none" w="med" len="med"/>
            <a:tailEnd type="triangle" w="med" len="med"/>
          </a:ln>
        </p:spPr>
      </p:sp>
      <p:sp>
        <p:nvSpPr>
          <p:cNvPr id="540084" name="AutoShape 436"/>
          <p:cNvSpPr/>
          <p:nvPr/>
        </p:nvSpPr>
        <p:spPr>
          <a:xfrm>
            <a:off x="1587500" y="4102100"/>
            <a:ext cx="1062038" cy="685800"/>
          </a:xfrm>
          <a:prstGeom prst="curvedDownArrow">
            <a:avLst>
              <a:gd name="adj1" fmla="val 21465"/>
              <a:gd name="adj2" fmla="val 61543"/>
              <a:gd name="adj3" fmla="val 41541"/>
            </a:avLst>
          </a:prstGeom>
          <a:solidFill>
            <a:srgbClr val="CC0000"/>
          </a:solidFill>
          <a:ln w="9525" cap="flat" cmpd="sng">
            <a:solidFill>
              <a:schemeClr val="tx1"/>
            </a:solidFill>
            <a:prstDash val="solid"/>
            <a:miter/>
            <a:headEnd type="none" w="med" len="med"/>
            <a:tailEnd type="none" w="med" len="med"/>
          </a:ln>
        </p:spPr>
        <p:txBody>
          <a:bodyPr wrap="none" anchor="ctr" anchorCtr="0"/>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0090" name="Line 439"/>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80091" name="Line 440"/>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80092" name="Text Box 441"/>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80093" name="Text Box 442"/>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80094" name="Text Box 443"/>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grpSp>
        <p:nvGrpSpPr>
          <p:cNvPr id="2" name="Group 444"/>
          <p:cNvGrpSpPr/>
          <p:nvPr/>
        </p:nvGrpSpPr>
        <p:grpSpPr>
          <a:xfrm>
            <a:off x="4298950" y="893763"/>
            <a:ext cx="4497388" cy="1393825"/>
            <a:chOff x="1265" y="3268"/>
            <a:chExt cx="1155" cy="629"/>
          </a:xfrm>
        </p:grpSpPr>
        <p:sp>
          <p:nvSpPr>
            <p:cNvPr id="80100"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0101"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0102" name="Text Box 84"/>
            <p:cNvSpPr/>
            <p:nvPr/>
          </p:nvSpPr>
          <p:spPr>
            <a:xfrm>
              <a:off x="1268" y="3304"/>
              <a:ext cx="1152" cy="555"/>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键值删除后，</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如指针数目少于规定数目，则需要合并</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从相邻结点能否转移一些键值到该结点，如可以，则转移；并更新父结点之相应键值</a:t>
              </a:r>
            </a:p>
          </p:txBody>
        </p:sp>
      </p:grpSp>
      <p:sp>
        <p:nvSpPr>
          <p:cNvPr id="80096" name="Rectangle 449"/>
          <p:cNvSpPr/>
          <p:nvPr/>
        </p:nvSpPr>
        <p:spPr>
          <a:xfrm>
            <a:off x="200025" y="958850"/>
            <a:ext cx="33020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的记录删除后</a:t>
            </a:r>
          </a:p>
        </p:txBody>
      </p:sp>
      <p:sp>
        <p:nvSpPr>
          <p:cNvPr id="540099" name="Rectangle 451"/>
          <p:cNvSpPr/>
          <p:nvPr/>
        </p:nvSpPr>
        <p:spPr>
          <a:xfrm>
            <a:off x="2111375" y="4773613"/>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40100" name="Rectangle 452"/>
          <p:cNvSpPr/>
          <p:nvPr/>
        </p:nvSpPr>
        <p:spPr>
          <a:xfrm>
            <a:off x="1717675" y="3319463"/>
            <a:ext cx="2174875"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0099"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(7)</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键值之合并</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540099"/>
                                        </p:tgtEl>
                                        <p:attrNameLst>
                                          <p:attrName>style.visibility</p:attrName>
                                        </p:attrNameLst>
                                      </p:cBhvr>
                                      <p:to>
                                        <p:strVal val="visible"/>
                                      </p:to>
                                    </p:set>
                                    <p:animEffect transition="in" filter="checkerboard(across)">
                                      <p:cBhvr>
                                        <p:cTn id="13" dur="500"/>
                                        <p:tgtEl>
                                          <p:spTgt spid="540099"/>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40100"/>
                                        </p:tgtEl>
                                        <p:attrNameLst>
                                          <p:attrName>style.visibility</p:attrName>
                                        </p:attrNameLst>
                                      </p:cBhvr>
                                      <p:to>
                                        <p:strVal val="visible"/>
                                      </p:to>
                                    </p:set>
                                    <p:animEffect transition="in" filter="checkerboard(across)">
                                      <p:cBhvr>
                                        <p:cTn id="16" dur="500"/>
                                        <p:tgtEl>
                                          <p:spTgt spid="540100"/>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540084"/>
                                        </p:tgtEl>
                                        <p:attrNameLst>
                                          <p:attrName>style.visibility</p:attrName>
                                        </p:attrNameLst>
                                      </p:cBhvr>
                                      <p:to>
                                        <p:strVal val="visible"/>
                                      </p:to>
                                    </p:set>
                                    <p:anim calcmode="lin" valueType="num">
                                      <p:cBhvr additive="base">
                                        <p:cTn id="19" dur="500" fill="hold"/>
                                        <p:tgtEl>
                                          <p:spTgt spid="540084"/>
                                        </p:tgtEl>
                                        <p:attrNameLst>
                                          <p:attrName>ppt_x</p:attrName>
                                        </p:attrNameLst>
                                      </p:cBhvr>
                                      <p:tavLst>
                                        <p:tav tm="0">
                                          <p:val>
                                            <p:strVal val="#ppt_x"/>
                                          </p:val>
                                        </p:tav>
                                        <p:tav tm="100000">
                                          <p:val>
                                            <p:strVal val="#ppt_x"/>
                                          </p:val>
                                        </p:tav>
                                      </p:tavLst>
                                    </p:anim>
                                    <p:anim calcmode="lin" valueType="num">
                                      <p:cBhvr additive="base">
                                        <p:cTn id="20" dur="500" fill="hold"/>
                                        <p:tgtEl>
                                          <p:spTgt spid="5400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084" grpId="0" bldLvl="0" animBg="1"/>
      <p:bldP spid="540099" grpId="0" bldLvl="0" animBg="1"/>
      <p:bldP spid="540100"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0674"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908" name="Group 236"/>
          <p:cNvGraphicFramePr>
            <a:graphicFrameLocks noGrp="1"/>
          </p:cNvGraphicFramePr>
          <p:nvPr/>
        </p:nvGraphicFramePr>
        <p:xfrm>
          <a:off x="1739900" y="3340100"/>
          <a:ext cx="2133600" cy="739775"/>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9658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45759" marB="4575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rgbClr val="CC0000"/>
                          </a:solidFill>
                          <a:effectLst/>
                          <a:latin typeface="Arial" panose="020B0604020202020204" pitchFamily="34" charset="0"/>
                          <a:ea typeface="宋体" panose="02010600030101010101" pitchFamily="2" charset="-122"/>
                        </a:rPr>
                        <a:t>40</a:t>
                      </a: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3195">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718"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740"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762" name="Group 90"/>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784"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0806"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1052"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81053"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81054"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81055"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81056" name="Line 160"/>
          <p:cNvSpPr/>
          <p:nvPr/>
        </p:nvSpPr>
        <p:spPr>
          <a:xfrm>
            <a:off x="3263900" y="3873500"/>
            <a:ext cx="2133600" cy="914400"/>
          </a:xfrm>
          <a:prstGeom prst="line">
            <a:avLst/>
          </a:prstGeom>
          <a:ln w="9525" cap="flat" cmpd="sng">
            <a:solidFill>
              <a:schemeClr val="tx1"/>
            </a:solidFill>
            <a:prstDash val="solid"/>
            <a:headEnd type="none" w="med" len="med"/>
            <a:tailEnd type="triangle" w="med" len="med"/>
          </a:ln>
        </p:spPr>
      </p:sp>
      <p:sp>
        <p:nvSpPr>
          <p:cNvPr id="81057"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81058"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81059"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81060"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81061"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81062" name="Line 166"/>
          <p:cNvSpPr/>
          <p:nvPr/>
        </p:nvSpPr>
        <p:spPr>
          <a:xfrm>
            <a:off x="3568700" y="5321300"/>
            <a:ext cx="304800" cy="0"/>
          </a:xfrm>
          <a:prstGeom prst="line">
            <a:avLst/>
          </a:prstGeom>
          <a:ln w="9525" cap="flat" cmpd="sng">
            <a:solidFill>
              <a:schemeClr val="tx1"/>
            </a:solidFill>
            <a:prstDash val="solid"/>
            <a:headEnd type="none" w="med" len="med"/>
            <a:tailEnd type="triangle" w="med" len="med"/>
          </a:ln>
        </p:spPr>
      </p:sp>
      <p:sp>
        <p:nvSpPr>
          <p:cNvPr id="81063"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81064"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81065"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81066"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81067"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81068" name="Rectangle 172"/>
          <p:cNvSpPr/>
          <p:nvPr/>
        </p:nvSpPr>
        <p:spPr>
          <a:xfrm>
            <a:off x="3492500" y="6159500"/>
            <a:ext cx="371475" cy="314325"/>
          </a:xfrm>
          <a:prstGeom prst="rect">
            <a:avLst/>
          </a:prstGeom>
          <a:solidFill>
            <a:srgbClr val="DDDDDD"/>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CC0000"/>
                </a:solidFill>
                <a:effectLst/>
                <a:uLnTx/>
                <a:uFillTx/>
                <a:latin typeface="Times New Roman" panose="02020603050405020304" pitchFamily="18" charset="0"/>
                <a:ea typeface="宋体" panose="02010600030101010101" pitchFamily="2" charset="-122"/>
                <a:cs typeface="+mn-cs"/>
              </a:rPr>
              <a:t>40</a:t>
            </a:r>
          </a:p>
        </p:txBody>
      </p:sp>
      <p:sp>
        <p:nvSpPr>
          <p:cNvPr id="81069" name="Rectangle 173"/>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81070" name="Rectangle 174"/>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81071" name="Rectangle 175"/>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81072" name="Rectangle 176"/>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81073" name="Rectangle 177"/>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81074" name="Line 178"/>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81075" name="Line 179"/>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81076" name="Line 180"/>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81077" name="Line 181"/>
          <p:cNvSpPr/>
          <p:nvPr/>
        </p:nvSpPr>
        <p:spPr>
          <a:xfrm flipH="1">
            <a:off x="2197100" y="5321300"/>
            <a:ext cx="304800" cy="838200"/>
          </a:xfrm>
          <a:prstGeom prst="line">
            <a:avLst/>
          </a:prstGeom>
          <a:ln w="9525" cap="flat" cmpd="sng">
            <a:solidFill>
              <a:schemeClr val="tx1"/>
            </a:solidFill>
            <a:prstDash val="solid"/>
            <a:headEnd type="none" w="med" len="med"/>
            <a:tailEnd type="triangle" w="med" len="med"/>
          </a:ln>
        </p:spPr>
      </p:sp>
      <p:sp>
        <p:nvSpPr>
          <p:cNvPr id="81078" name="Line 182"/>
          <p:cNvSpPr/>
          <p:nvPr/>
        </p:nvSpPr>
        <p:spPr>
          <a:xfrm flipH="1">
            <a:off x="3568700" y="5321300"/>
            <a:ext cx="381000" cy="838200"/>
          </a:xfrm>
          <a:prstGeom prst="line">
            <a:avLst/>
          </a:prstGeom>
          <a:ln w="9525" cap="flat" cmpd="sng">
            <a:solidFill>
              <a:schemeClr val="tx1"/>
            </a:solidFill>
            <a:prstDash val="solid"/>
            <a:headEnd type="none" w="med" len="med"/>
            <a:tailEnd type="triangle" w="med" len="med"/>
          </a:ln>
        </p:spPr>
      </p:sp>
      <p:sp>
        <p:nvSpPr>
          <p:cNvPr id="81079" name="Line 183"/>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81080" name="Line 184"/>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81081" name="Line 185"/>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81082" name="Line 186"/>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81083" name="Line 187"/>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81084" name="Line 188"/>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81085" name="Rectangle 189"/>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81086" name="Line 190"/>
          <p:cNvSpPr/>
          <p:nvPr/>
        </p:nvSpPr>
        <p:spPr>
          <a:xfrm flipH="1">
            <a:off x="1739900" y="5321300"/>
            <a:ext cx="533400" cy="762000"/>
          </a:xfrm>
          <a:prstGeom prst="line">
            <a:avLst/>
          </a:prstGeom>
          <a:ln w="9525" cap="flat" cmpd="sng">
            <a:solidFill>
              <a:schemeClr val="tx1"/>
            </a:solidFill>
            <a:prstDash val="solid"/>
            <a:headEnd type="none" w="med" len="med"/>
            <a:tailEnd type="triangle" w="med" len="med"/>
          </a:ln>
        </p:spPr>
      </p:sp>
      <p:sp>
        <p:nvSpPr>
          <p:cNvPr id="81087" name="Rectangle 192"/>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81088" name="Line 193"/>
          <p:cNvSpPr/>
          <p:nvPr/>
        </p:nvSpPr>
        <p:spPr>
          <a:xfrm>
            <a:off x="4178300" y="5321300"/>
            <a:ext cx="1066800" cy="838200"/>
          </a:xfrm>
          <a:prstGeom prst="line">
            <a:avLst/>
          </a:prstGeom>
          <a:ln w="9525" cap="flat" cmpd="sng">
            <a:solidFill>
              <a:schemeClr val="tx1"/>
            </a:solidFill>
            <a:prstDash val="solid"/>
            <a:headEnd type="none" w="med" len="med"/>
            <a:tailEnd type="triangle" w="med" len="med"/>
          </a:ln>
        </p:spPr>
      </p:sp>
      <p:graphicFrame>
        <p:nvGraphicFramePr>
          <p:cNvPr id="540866" name="Group 194"/>
          <p:cNvGraphicFramePr>
            <a:graphicFrameLocks noGrp="1"/>
          </p:cNvGraphicFramePr>
          <p:nvPr/>
        </p:nvGraphicFramePr>
        <p:xfrm>
          <a:off x="37973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40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1111" name="Line 216"/>
          <p:cNvSpPr/>
          <p:nvPr/>
        </p:nvSpPr>
        <p:spPr>
          <a:xfrm>
            <a:off x="5245100" y="5321300"/>
            <a:ext cx="228600" cy="0"/>
          </a:xfrm>
          <a:prstGeom prst="line">
            <a:avLst/>
          </a:prstGeom>
          <a:ln w="9525" cap="flat" cmpd="sng">
            <a:solidFill>
              <a:schemeClr val="tx1"/>
            </a:solidFill>
            <a:prstDash val="solid"/>
            <a:headEnd type="none" w="med" len="med"/>
            <a:tailEnd type="triangle" w="med" len="med"/>
          </a:ln>
        </p:spPr>
      </p:sp>
      <p:sp>
        <p:nvSpPr>
          <p:cNvPr id="81112" name="Line 217"/>
          <p:cNvSpPr/>
          <p:nvPr/>
        </p:nvSpPr>
        <p:spPr>
          <a:xfrm>
            <a:off x="2806700" y="3873500"/>
            <a:ext cx="990600" cy="914400"/>
          </a:xfrm>
          <a:prstGeom prst="line">
            <a:avLst/>
          </a:prstGeom>
          <a:ln w="9525" cap="flat" cmpd="sng">
            <a:solidFill>
              <a:schemeClr val="tx1"/>
            </a:solidFill>
            <a:prstDash val="solid"/>
            <a:headEnd type="none" w="med" len="med"/>
            <a:tailEnd type="triangle" w="med" len="med"/>
          </a:ln>
        </p:spPr>
      </p:sp>
      <p:sp>
        <p:nvSpPr>
          <p:cNvPr id="540891" name="Text Box 219"/>
          <p:cNvSpPr txBox="1"/>
          <p:nvPr/>
        </p:nvSpPr>
        <p:spPr>
          <a:xfrm>
            <a:off x="190500" y="1500188"/>
            <a:ext cx="4081463" cy="45720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问题：删除键值为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p>
        </p:txBody>
      </p:sp>
      <p:sp>
        <p:nvSpPr>
          <p:cNvPr id="81114" name="Line 221"/>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81115" name="Line 222"/>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81116" name="Text Box 223"/>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81117" name="Text Box 224"/>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81118" name="Text Box 225"/>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81119" name="Rectangle 230"/>
          <p:cNvSpPr/>
          <p:nvPr/>
        </p:nvSpPr>
        <p:spPr>
          <a:xfrm>
            <a:off x="200025" y="958850"/>
            <a:ext cx="17081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转移键值后</a:t>
            </a:r>
          </a:p>
        </p:txBody>
      </p:sp>
      <p:grpSp>
        <p:nvGrpSpPr>
          <p:cNvPr id="2" name="Group 231"/>
          <p:cNvGrpSpPr/>
          <p:nvPr/>
        </p:nvGrpSpPr>
        <p:grpSpPr>
          <a:xfrm>
            <a:off x="4529138" y="1027113"/>
            <a:ext cx="4205287" cy="1052512"/>
            <a:chOff x="1265" y="3268"/>
            <a:chExt cx="1153" cy="629"/>
          </a:xfrm>
        </p:grpSpPr>
        <p:sp>
          <p:nvSpPr>
            <p:cNvPr id="81123"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1124"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1125" name="Text Box 84"/>
            <p:cNvSpPr/>
            <p:nvPr/>
          </p:nvSpPr>
          <p:spPr>
            <a:xfrm>
              <a:off x="1269" y="3302"/>
              <a:ext cx="1149" cy="573"/>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先定位待删除键值的叶子结点：从根结点开始向下；</a:t>
              </a: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删除键值及其主文件记录？</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如是第一个，则需调整父结点的键值</a:t>
              </a:r>
            </a:p>
          </p:txBody>
        </p:sp>
      </p:grpSp>
      <p:sp>
        <p:nvSpPr>
          <p:cNvPr id="540907" name="Rectangle 235"/>
          <p:cNvSpPr/>
          <p:nvPr/>
        </p:nvSpPr>
        <p:spPr>
          <a:xfrm>
            <a:off x="3810000" y="4759325"/>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1122"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(8)</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更复杂之删除</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0891"/>
                                        </p:tgtEl>
                                        <p:attrNameLst>
                                          <p:attrName>style.visibility</p:attrName>
                                        </p:attrNameLst>
                                      </p:cBhvr>
                                      <p:to>
                                        <p:strVal val="visible"/>
                                      </p:to>
                                    </p:set>
                                    <p:anim calcmode="lin" valueType="num">
                                      <p:cBhvr additive="base">
                                        <p:cTn id="7" dur="500" fill="hold"/>
                                        <p:tgtEl>
                                          <p:spTgt spid="540891"/>
                                        </p:tgtEl>
                                        <p:attrNameLst>
                                          <p:attrName>ppt_x</p:attrName>
                                        </p:attrNameLst>
                                      </p:cBhvr>
                                      <p:tavLst>
                                        <p:tav tm="0">
                                          <p:val>
                                            <p:strVal val="#ppt_x"/>
                                          </p:val>
                                        </p:tav>
                                        <p:tav tm="100000">
                                          <p:val>
                                            <p:strVal val="#ppt_x"/>
                                          </p:val>
                                        </p:tav>
                                      </p:tavLst>
                                    </p:anim>
                                    <p:anim calcmode="lin" valueType="num">
                                      <p:cBhvr additive="base">
                                        <p:cTn id="8" dur="500" fill="hold"/>
                                        <p:tgtEl>
                                          <p:spTgt spid="5408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540907"/>
                                        </p:tgtEl>
                                        <p:attrNameLst>
                                          <p:attrName>style.visibility</p:attrName>
                                        </p:attrNameLst>
                                      </p:cBhvr>
                                      <p:to>
                                        <p:strVal val="visible"/>
                                      </p:to>
                                    </p:set>
                                    <p:animEffect transition="in" filter="checkerboard(across)">
                                      <p:cBhvr>
                                        <p:cTn id="19" dur="500"/>
                                        <p:tgtEl>
                                          <p:spTgt spid="540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891" grpId="0"/>
      <p:bldP spid="540907"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1698"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1927" name="Group 231"/>
          <p:cNvGraphicFramePr>
            <a:graphicFrameLocks noGrp="1"/>
          </p:cNvGraphicFramePr>
          <p:nvPr/>
        </p:nvGraphicFramePr>
        <p:xfrm>
          <a:off x="1739900" y="3340100"/>
          <a:ext cx="2133600" cy="739775"/>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9658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45759" marB="4575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rgbClr val="CC0000"/>
                          </a:solidFill>
                          <a:effectLst/>
                          <a:latin typeface="Arial" panose="020B0604020202020204" pitchFamily="34" charset="0"/>
                          <a:ea typeface="宋体" panose="02010600030101010101" pitchFamily="2" charset="-122"/>
                        </a:rPr>
                        <a:t>50</a:t>
                      </a: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3195">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59" marB="4575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1742"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1764"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1786" name="Group 90"/>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1808"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1830"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2076"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82077"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82078"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82079"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82080" name="Line 160"/>
          <p:cNvSpPr/>
          <p:nvPr/>
        </p:nvSpPr>
        <p:spPr>
          <a:xfrm>
            <a:off x="3263900" y="3873500"/>
            <a:ext cx="2133600" cy="914400"/>
          </a:xfrm>
          <a:prstGeom prst="line">
            <a:avLst/>
          </a:prstGeom>
          <a:ln w="9525" cap="flat" cmpd="sng">
            <a:solidFill>
              <a:schemeClr val="tx1"/>
            </a:solidFill>
            <a:prstDash val="solid"/>
            <a:headEnd type="none" w="med" len="med"/>
            <a:tailEnd type="triangle" w="med" len="med"/>
          </a:ln>
        </p:spPr>
      </p:sp>
      <p:sp>
        <p:nvSpPr>
          <p:cNvPr id="82081"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82082"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82083"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82084"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82085"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82086"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82087"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82088"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82089"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82090"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82091" name="Rectangle 172"/>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82092" name="Rectangle 173"/>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82093" name="Rectangle 174"/>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82094" name="Rectangle 175"/>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82095" name="Rectangle 176"/>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82096" name="Line 177"/>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82097" name="Line 178"/>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82098" name="Line 179"/>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82099" name="Line 180"/>
          <p:cNvSpPr/>
          <p:nvPr/>
        </p:nvSpPr>
        <p:spPr>
          <a:xfrm flipH="1">
            <a:off x="2197100" y="5321300"/>
            <a:ext cx="304800" cy="838200"/>
          </a:xfrm>
          <a:prstGeom prst="line">
            <a:avLst/>
          </a:prstGeom>
          <a:ln w="9525" cap="flat" cmpd="sng">
            <a:solidFill>
              <a:schemeClr val="tx1"/>
            </a:solidFill>
            <a:prstDash val="solid"/>
            <a:headEnd type="none" w="med" len="med"/>
            <a:tailEnd type="triangle" w="med" len="med"/>
          </a:ln>
        </p:spPr>
      </p:sp>
      <p:sp>
        <p:nvSpPr>
          <p:cNvPr id="82100" name="Line 181"/>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82101" name="Line 182"/>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82102" name="Line 183"/>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82103" name="Line 184"/>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82104" name="Line 185"/>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82105" name="Line 186"/>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82106" name="Rectangle 187"/>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82107" name="Line 188"/>
          <p:cNvSpPr/>
          <p:nvPr/>
        </p:nvSpPr>
        <p:spPr>
          <a:xfrm flipH="1">
            <a:off x="1739900" y="5321300"/>
            <a:ext cx="533400" cy="762000"/>
          </a:xfrm>
          <a:prstGeom prst="line">
            <a:avLst/>
          </a:prstGeom>
          <a:ln w="9525" cap="flat" cmpd="sng">
            <a:solidFill>
              <a:schemeClr val="tx1"/>
            </a:solidFill>
            <a:prstDash val="solid"/>
            <a:headEnd type="none" w="med" len="med"/>
            <a:tailEnd type="triangle" w="med" len="med"/>
          </a:ln>
        </p:spPr>
      </p:sp>
      <p:sp>
        <p:nvSpPr>
          <p:cNvPr id="82108" name="Rectangle 190"/>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82109" name="Line 191"/>
          <p:cNvSpPr/>
          <p:nvPr/>
        </p:nvSpPr>
        <p:spPr>
          <a:xfrm>
            <a:off x="3949700" y="5321300"/>
            <a:ext cx="1295400" cy="838200"/>
          </a:xfrm>
          <a:prstGeom prst="line">
            <a:avLst/>
          </a:prstGeom>
          <a:ln w="9525" cap="flat" cmpd="sng">
            <a:solidFill>
              <a:schemeClr val="tx1"/>
            </a:solidFill>
            <a:prstDash val="solid"/>
            <a:headEnd type="none" w="med" len="med"/>
            <a:tailEnd type="triangle" w="med" len="med"/>
          </a:ln>
        </p:spPr>
      </p:sp>
      <p:graphicFrame>
        <p:nvGraphicFramePr>
          <p:cNvPr id="541888" name="Group 192"/>
          <p:cNvGraphicFramePr>
            <a:graphicFrameLocks noGrp="1"/>
          </p:cNvGraphicFramePr>
          <p:nvPr/>
        </p:nvGraphicFramePr>
        <p:xfrm>
          <a:off x="37973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50</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2132" name="Line 214"/>
          <p:cNvSpPr/>
          <p:nvPr/>
        </p:nvSpPr>
        <p:spPr>
          <a:xfrm>
            <a:off x="5245100" y="5321300"/>
            <a:ext cx="228600" cy="0"/>
          </a:xfrm>
          <a:prstGeom prst="line">
            <a:avLst/>
          </a:prstGeom>
          <a:ln w="9525" cap="flat" cmpd="sng">
            <a:solidFill>
              <a:schemeClr val="tx1"/>
            </a:solidFill>
            <a:prstDash val="solid"/>
            <a:headEnd type="none" w="med" len="med"/>
            <a:tailEnd type="triangle" w="med" len="med"/>
          </a:ln>
        </p:spPr>
      </p:sp>
      <p:sp>
        <p:nvSpPr>
          <p:cNvPr id="82133" name="Line 215"/>
          <p:cNvSpPr/>
          <p:nvPr/>
        </p:nvSpPr>
        <p:spPr>
          <a:xfrm>
            <a:off x="2806700" y="3859213"/>
            <a:ext cx="990600" cy="914400"/>
          </a:xfrm>
          <a:prstGeom prst="line">
            <a:avLst/>
          </a:prstGeom>
          <a:ln w="57150" cap="flat" cmpd="sng">
            <a:solidFill>
              <a:schemeClr val="accent2"/>
            </a:solidFill>
            <a:prstDash val="solid"/>
            <a:headEnd type="none" w="med" len="med"/>
            <a:tailEnd type="triangle" w="med" len="med"/>
          </a:ln>
        </p:spPr>
      </p:sp>
      <p:sp>
        <p:nvSpPr>
          <p:cNvPr id="82134" name="Line 219"/>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82135" name="Line 220"/>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82136" name="Text Box 221"/>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82137" name="Text Box 222"/>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82138" name="Text Box 223"/>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grpSp>
        <p:nvGrpSpPr>
          <p:cNvPr id="2" name="Group 224"/>
          <p:cNvGrpSpPr/>
          <p:nvPr/>
        </p:nvGrpSpPr>
        <p:grpSpPr>
          <a:xfrm>
            <a:off x="4386263" y="908050"/>
            <a:ext cx="4494212" cy="1719263"/>
            <a:chOff x="1265" y="3268"/>
            <a:chExt cx="1154" cy="629"/>
          </a:xfrm>
        </p:grpSpPr>
        <p:sp>
          <p:nvSpPr>
            <p:cNvPr id="82145"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146"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2147" name="Text Box 84"/>
            <p:cNvSpPr/>
            <p:nvPr/>
          </p:nvSpPr>
          <p:spPr>
            <a:xfrm>
              <a:off x="1269" y="3303"/>
              <a:ext cx="1150" cy="569"/>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键值删除后，</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如指针数目少于规定数目，则需要合并</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如不能从相邻结点转移键值到该结点，则考虑结点合并。合并后调整父结点键值及次序。</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调整叶子结点的指针链接</a:t>
              </a:r>
            </a:p>
          </p:txBody>
        </p:sp>
      </p:grpSp>
      <p:sp>
        <p:nvSpPr>
          <p:cNvPr id="82140" name="Rectangle 228"/>
          <p:cNvSpPr/>
          <p:nvPr/>
        </p:nvSpPr>
        <p:spPr>
          <a:xfrm>
            <a:off x="198438" y="971550"/>
            <a:ext cx="330200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键值为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a:t>
            </a: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的记录删除后</a:t>
            </a:r>
          </a:p>
        </p:txBody>
      </p:sp>
      <p:sp>
        <p:nvSpPr>
          <p:cNvPr id="541925" name="Rectangle 229"/>
          <p:cNvSpPr/>
          <p:nvPr/>
        </p:nvSpPr>
        <p:spPr>
          <a:xfrm>
            <a:off x="2111375" y="4773613"/>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41926" name="Rectangle 230"/>
          <p:cNvSpPr/>
          <p:nvPr/>
        </p:nvSpPr>
        <p:spPr>
          <a:xfrm>
            <a:off x="3806825" y="4772025"/>
            <a:ext cx="1522413" cy="723900"/>
          </a:xfrm>
          <a:prstGeom prst="rect">
            <a:avLst/>
          </a:prstGeom>
          <a:noFill/>
          <a:ln w="76200" cap="flat" cmpd="sng">
            <a:solidFill>
              <a:srgbClr val="CC0000"/>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2143" name="Line 166"/>
          <p:cNvSpPr/>
          <p:nvPr/>
        </p:nvSpPr>
        <p:spPr>
          <a:xfrm>
            <a:off x="3554413" y="5307013"/>
            <a:ext cx="304800" cy="0"/>
          </a:xfrm>
          <a:prstGeom prst="line">
            <a:avLst/>
          </a:prstGeom>
          <a:ln w="38100" cap="flat" cmpd="sng">
            <a:solidFill>
              <a:schemeClr val="accent2"/>
            </a:solidFill>
            <a:prstDash val="solid"/>
            <a:headEnd type="none" w="med" len="med"/>
            <a:tailEnd type="triangle" w="med" len="med"/>
          </a:ln>
        </p:spPr>
      </p:sp>
      <p:sp>
        <p:nvSpPr>
          <p:cNvPr id="82144"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(9)</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结点之合并</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541925"/>
                                        </p:tgtEl>
                                        <p:attrNameLst>
                                          <p:attrName>style.visibility</p:attrName>
                                        </p:attrNameLst>
                                      </p:cBhvr>
                                      <p:to>
                                        <p:strVal val="visible"/>
                                      </p:to>
                                    </p:set>
                                    <p:animEffect transition="in" filter="checkerboard(across)">
                                      <p:cBhvr>
                                        <p:cTn id="13" dur="500"/>
                                        <p:tgtEl>
                                          <p:spTgt spid="54192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541926"/>
                                        </p:tgtEl>
                                        <p:attrNameLst>
                                          <p:attrName>style.visibility</p:attrName>
                                        </p:attrNameLst>
                                      </p:cBhvr>
                                      <p:to>
                                        <p:strVal val="visible"/>
                                      </p:to>
                                    </p:set>
                                    <p:animEffect transition="in" filter="checkerboard(across)">
                                      <p:cBhvr>
                                        <p:cTn id="18" dur="500"/>
                                        <p:tgtEl>
                                          <p:spTgt spid="541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925" grpId="0" bldLvl="0" animBg="1"/>
      <p:bldP spid="541926"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22"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2744" name="Group 24"/>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2766"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2788"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2810" name="Group 90"/>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2832"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2854"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3100"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83101"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83102"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83103"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83104" name="Line 160"/>
          <p:cNvSpPr/>
          <p:nvPr/>
        </p:nvSpPr>
        <p:spPr>
          <a:xfrm>
            <a:off x="2806700" y="3873500"/>
            <a:ext cx="2590800" cy="914400"/>
          </a:xfrm>
          <a:prstGeom prst="line">
            <a:avLst/>
          </a:prstGeom>
          <a:ln w="9525" cap="flat" cmpd="sng">
            <a:solidFill>
              <a:schemeClr val="tx1"/>
            </a:solidFill>
            <a:prstDash val="solid"/>
            <a:headEnd type="none" w="med" len="med"/>
            <a:tailEnd type="triangle" w="med" len="med"/>
          </a:ln>
        </p:spPr>
      </p:sp>
      <p:sp>
        <p:nvSpPr>
          <p:cNvPr id="83105"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83106"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83107"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83108"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83109"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83110" name="Line 166"/>
          <p:cNvSpPr/>
          <p:nvPr/>
        </p:nvSpPr>
        <p:spPr>
          <a:xfrm>
            <a:off x="3568700" y="5321300"/>
            <a:ext cx="1981200" cy="0"/>
          </a:xfrm>
          <a:prstGeom prst="line">
            <a:avLst/>
          </a:prstGeom>
          <a:ln w="9525" cap="flat" cmpd="sng">
            <a:solidFill>
              <a:schemeClr val="tx1"/>
            </a:solidFill>
            <a:prstDash val="solid"/>
            <a:headEnd type="none" w="med" len="med"/>
            <a:tailEnd type="triangle" w="med" len="med"/>
          </a:ln>
        </p:spPr>
      </p:sp>
      <p:sp>
        <p:nvSpPr>
          <p:cNvPr id="83111"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83112"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83113"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83114"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83115"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83116" name="Rectangle 172"/>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83117" name="Rectangle 173"/>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83118" name="Rectangle 174"/>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83119" name="Rectangle 175"/>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83120" name="Rectangle 176"/>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83121" name="Line 177"/>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83122" name="Line 178"/>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83123" name="Line 179"/>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83124" name="Line 180"/>
          <p:cNvSpPr/>
          <p:nvPr/>
        </p:nvSpPr>
        <p:spPr>
          <a:xfrm flipH="1">
            <a:off x="2197100" y="5321300"/>
            <a:ext cx="304800" cy="838200"/>
          </a:xfrm>
          <a:prstGeom prst="line">
            <a:avLst/>
          </a:prstGeom>
          <a:ln w="9525" cap="flat" cmpd="sng">
            <a:solidFill>
              <a:schemeClr val="tx1"/>
            </a:solidFill>
            <a:prstDash val="solid"/>
            <a:headEnd type="none" w="med" len="med"/>
            <a:tailEnd type="triangle" w="med" len="med"/>
          </a:ln>
        </p:spPr>
      </p:sp>
      <p:sp>
        <p:nvSpPr>
          <p:cNvPr id="83125" name="Line 181"/>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83126" name="Line 182"/>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83127" name="Line 183"/>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83128" name="Line 184"/>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83129" name="Line 185"/>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83130" name="Line 186"/>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83131" name="Rectangle 187"/>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83132" name="Line 188"/>
          <p:cNvSpPr/>
          <p:nvPr/>
        </p:nvSpPr>
        <p:spPr>
          <a:xfrm flipH="1">
            <a:off x="1739900" y="5321300"/>
            <a:ext cx="533400" cy="762000"/>
          </a:xfrm>
          <a:prstGeom prst="line">
            <a:avLst/>
          </a:prstGeom>
          <a:ln w="9525" cap="flat" cmpd="sng">
            <a:solidFill>
              <a:schemeClr val="tx1"/>
            </a:solidFill>
            <a:prstDash val="solid"/>
            <a:headEnd type="none" w="med" len="med"/>
            <a:tailEnd type="triangle" w="med" len="med"/>
          </a:ln>
        </p:spPr>
      </p:sp>
      <p:sp>
        <p:nvSpPr>
          <p:cNvPr id="83133" name="Rectangle 190"/>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83134" name="Line 191"/>
          <p:cNvSpPr/>
          <p:nvPr/>
        </p:nvSpPr>
        <p:spPr>
          <a:xfrm>
            <a:off x="2882900" y="5321300"/>
            <a:ext cx="2362200" cy="838200"/>
          </a:xfrm>
          <a:prstGeom prst="line">
            <a:avLst/>
          </a:prstGeom>
          <a:ln w="9525" cap="flat" cmpd="sng">
            <a:solidFill>
              <a:schemeClr val="tx1"/>
            </a:solidFill>
            <a:prstDash val="solid"/>
            <a:headEnd type="none" w="med" len="med"/>
            <a:tailEnd type="triangle" w="med" len="med"/>
          </a:ln>
        </p:spPr>
      </p:sp>
      <p:sp>
        <p:nvSpPr>
          <p:cNvPr id="83135" name="Line 194"/>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83136" name="Line 195"/>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83137" name="Text Box 196"/>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83138" name="Text Box 197"/>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83139" name="Text Box 198"/>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83140" name="Rectangle 199"/>
          <p:cNvSpPr/>
          <p:nvPr/>
        </p:nvSpPr>
        <p:spPr>
          <a:xfrm>
            <a:off x="200025" y="958850"/>
            <a:ext cx="1798638"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结点合并后 </a:t>
            </a:r>
          </a:p>
        </p:txBody>
      </p:sp>
      <p:grpSp>
        <p:nvGrpSpPr>
          <p:cNvPr id="2" name="Group 200"/>
          <p:cNvGrpSpPr/>
          <p:nvPr/>
        </p:nvGrpSpPr>
        <p:grpSpPr>
          <a:xfrm>
            <a:off x="4371975" y="908050"/>
            <a:ext cx="4491038" cy="1384300"/>
            <a:chOff x="1265" y="3268"/>
            <a:chExt cx="1153" cy="629"/>
          </a:xfrm>
        </p:grpSpPr>
        <p:sp>
          <p:nvSpPr>
            <p:cNvPr id="83143"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3144"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3145" name="Text Box 84"/>
            <p:cNvSpPr/>
            <p:nvPr/>
          </p:nvSpPr>
          <p:spPr>
            <a:xfrm>
              <a:off x="1271" y="3304"/>
              <a:ext cx="1147" cy="559"/>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父结点，如在删除掉索引项及指针后，指针数目小于规定的数目，则继续前面的步骤处理，直至根结点；</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如指针不小于规定的数目，则结束。</a:t>
              </a:r>
            </a:p>
          </p:txBody>
        </p:sp>
      </p:grpSp>
      <p:sp>
        <p:nvSpPr>
          <p:cNvPr id="83142"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(10)</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合并之连锁反应</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0722" name="Group 2"/>
          <p:cNvGraphicFramePr>
            <a:graphicFrameLocks noGrp="1"/>
          </p:cNvGraphicFramePr>
          <p:nvPr/>
        </p:nvGraphicFramePr>
        <p:xfrm>
          <a:off x="3568700" y="24257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0744" name="Group 24"/>
          <p:cNvGraphicFramePr>
            <a:graphicFrameLocks noGrp="1"/>
          </p:cNvGraphicFramePr>
          <p:nvPr/>
        </p:nvGraphicFramePr>
        <p:xfrm>
          <a:off x="1739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0766" name="Group 46"/>
          <p:cNvGraphicFramePr>
            <a:graphicFrameLocks noGrp="1"/>
          </p:cNvGraphicFramePr>
          <p:nvPr/>
        </p:nvGraphicFramePr>
        <p:xfrm>
          <a:off x="5168900" y="3340100"/>
          <a:ext cx="2133600" cy="685800"/>
        </p:xfrm>
        <a:graphic>
          <a:graphicData uri="http://schemas.openxmlformats.org/drawingml/2006/table">
            <a:tbl>
              <a:tblPr/>
              <a:tblGrid>
                <a:gridCol w="298450">
                  <a:extLst>
                    <a:ext uri="{9D8B030D-6E8A-4147-A177-3AD203B41FA5}">
                      <a16:colId xmlns:a16="http://schemas.microsoft.com/office/drawing/2014/main" val="20000"/>
                    </a:ext>
                  </a:extLst>
                </a:gridCol>
                <a:gridCol w="246063">
                  <a:extLst>
                    <a:ext uri="{9D8B030D-6E8A-4147-A177-3AD203B41FA5}">
                      <a16:colId xmlns:a16="http://schemas.microsoft.com/office/drawing/2014/main" val="20001"/>
                    </a:ext>
                  </a:extLst>
                </a:gridCol>
                <a:gridCol w="249237">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98450">
                  <a:extLst>
                    <a:ext uri="{9D8B030D-6E8A-4147-A177-3AD203B41FA5}">
                      <a16:colId xmlns:a16="http://schemas.microsoft.com/office/drawing/2014/main" val="20004"/>
                    </a:ext>
                  </a:extLst>
                </a:gridCol>
                <a:gridCol w="249238">
                  <a:extLst>
                    <a:ext uri="{9D8B030D-6E8A-4147-A177-3AD203B41FA5}">
                      <a16:colId xmlns:a16="http://schemas.microsoft.com/office/drawing/2014/main" val="20005"/>
                    </a:ext>
                  </a:extLst>
                </a:gridCol>
                <a:gridCol w="246062">
                  <a:extLst>
                    <a:ext uri="{9D8B030D-6E8A-4147-A177-3AD203B41FA5}">
                      <a16:colId xmlns:a16="http://schemas.microsoft.com/office/drawing/2014/main" val="20006"/>
                    </a:ext>
                  </a:extLst>
                </a:gridCol>
                <a:gridCol w="298450">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0788" name="Group 68"/>
          <p:cNvGraphicFramePr>
            <a:graphicFrameLocks noGrp="1"/>
          </p:cNvGraphicFramePr>
          <p:nvPr/>
        </p:nvGraphicFramePr>
        <p:xfrm>
          <a:off x="292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0810" name="Group 90"/>
          <p:cNvGraphicFramePr>
            <a:graphicFrameLocks noGrp="1"/>
          </p:cNvGraphicFramePr>
          <p:nvPr/>
        </p:nvGraphicFramePr>
        <p:xfrm>
          <a:off x="2120900" y="4787900"/>
          <a:ext cx="1536706" cy="685800"/>
        </p:xfrm>
        <a:graphic>
          <a:graphicData uri="http://schemas.openxmlformats.org/drawingml/2006/table">
            <a:tbl>
              <a:tblPr/>
              <a:tblGrid>
                <a:gridCol w="223792">
                  <a:extLst>
                    <a:ext uri="{9D8B030D-6E8A-4147-A177-3AD203B41FA5}">
                      <a16:colId xmlns:a16="http://schemas.microsoft.com/office/drawing/2014/main" val="20000"/>
                    </a:ext>
                  </a:extLst>
                </a:gridCol>
                <a:gridCol w="185699">
                  <a:extLst>
                    <a:ext uri="{9D8B030D-6E8A-4147-A177-3AD203B41FA5}">
                      <a16:colId xmlns:a16="http://schemas.microsoft.com/office/drawing/2014/main" val="20001"/>
                    </a:ext>
                  </a:extLst>
                </a:gridCol>
                <a:gridCol w="185700">
                  <a:extLst>
                    <a:ext uri="{9D8B030D-6E8A-4147-A177-3AD203B41FA5}">
                      <a16:colId xmlns:a16="http://schemas.microsoft.com/office/drawing/2014/main" val="20002"/>
                    </a:ext>
                  </a:extLst>
                </a:gridCol>
                <a:gridCol w="185699">
                  <a:extLst>
                    <a:ext uri="{9D8B030D-6E8A-4147-A177-3AD203B41FA5}">
                      <a16:colId xmlns:a16="http://schemas.microsoft.com/office/drawing/2014/main" val="20003"/>
                    </a:ext>
                  </a:extLst>
                </a:gridCol>
                <a:gridCol w="182525">
                  <a:extLst>
                    <a:ext uri="{9D8B030D-6E8A-4147-A177-3AD203B41FA5}">
                      <a16:colId xmlns:a16="http://schemas.microsoft.com/office/drawing/2014/main" val="20004"/>
                    </a:ext>
                  </a:extLst>
                </a:gridCol>
                <a:gridCol w="182524">
                  <a:extLst>
                    <a:ext uri="{9D8B030D-6E8A-4147-A177-3AD203B41FA5}">
                      <a16:colId xmlns:a16="http://schemas.microsoft.com/office/drawing/2014/main" val="20005"/>
                    </a:ext>
                  </a:extLst>
                </a:gridCol>
                <a:gridCol w="182525">
                  <a:extLst>
                    <a:ext uri="{9D8B030D-6E8A-4147-A177-3AD203B41FA5}">
                      <a16:colId xmlns:a16="http://schemas.microsoft.com/office/drawing/2014/main" val="20006"/>
                    </a:ext>
                  </a:extLst>
                </a:gridCol>
                <a:gridCol w="208242">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1" lang="en-US" altLang="zh-CN" sz="14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21" marR="914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0832" name="Group 112"/>
          <p:cNvGraphicFramePr>
            <a:graphicFrameLocks noGrp="1"/>
          </p:cNvGraphicFramePr>
          <p:nvPr/>
        </p:nvGraphicFramePr>
        <p:xfrm>
          <a:off x="53975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0854" name="Group 134"/>
          <p:cNvGraphicFramePr>
            <a:graphicFrameLocks noGrp="1"/>
          </p:cNvGraphicFramePr>
          <p:nvPr/>
        </p:nvGraphicFramePr>
        <p:xfrm>
          <a:off x="7150100" y="4787900"/>
          <a:ext cx="1600200" cy="685800"/>
        </p:xfrm>
        <a:graphic>
          <a:graphicData uri="http://schemas.openxmlformats.org/drawingml/2006/table">
            <a:tbl>
              <a:tblPr/>
              <a:tblGrid>
                <a:gridCol w="223838">
                  <a:extLst>
                    <a:ext uri="{9D8B030D-6E8A-4147-A177-3AD203B41FA5}">
                      <a16:colId xmlns:a16="http://schemas.microsoft.com/office/drawing/2014/main" val="20000"/>
                    </a:ext>
                  </a:extLst>
                </a:gridCol>
                <a:gridCol w="185737">
                  <a:extLst>
                    <a:ext uri="{9D8B030D-6E8A-4147-A177-3AD203B41FA5}">
                      <a16:colId xmlns:a16="http://schemas.microsoft.com/office/drawing/2014/main" val="20001"/>
                    </a:ext>
                  </a:extLst>
                </a:gridCol>
                <a:gridCol w="185738">
                  <a:extLst>
                    <a:ext uri="{9D8B030D-6E8A-4147-A177-3AD203B41FA5}">
                      <a16:colId xmlns:a16="http://schemas.microsoft.com/office/drawing/2014/main" val="20002"/>
                    </a:ext>
                  </a:extLst>
                </a:gridCol>
                <a:gridCol w="185737">
                  <a:extLst>
                    <a:ext uri="{9D8B030D-6E8A-4147-A177-3AD203B41FA5}">
                      <a16:colId xmlns:a16="http://schemas.microsoft.com/office/drawing/2014/main" val="20003"/>
                    </a:ext>
                  </a:extLst>
                </a:gridCol>
                <a:gridCol w="223838">
                  <a:extLst>
                    <a:ext uri="{9D8B030D-6E8A-4147-A177-3AD203B41FA5}">
                      <a16:colId xmlns:a16="http://schemas.microsoft.com/office/drawing/2014/main" val="20004"/>
                    </a:ext>
                  </a:extLst>
                </a:gridCol>
                <a:gridCol w="185737">
                  <a:extLst>
                    <a:ext uri="{9D8B030D-6E8A-4147-A177-3AD203B41FA5}">
                      <a16:colId xmlns:a16="http://schemas.microsoft.com/office/drawing/2014/main" val="20005"/>
                    </a:ext>
                  </a:extLst>
                </a:gridCol>
                <a:gridCol w="185738">
                  <a:extLst>
                    <a:ext uri="{9D8B030D-6E8A-4147-A177-3AD203B41FA5}">
                      <a16:colId xmlns:a16="http://schemas.microsoft.com/office/drawing/2014/main" val="20006"/>
                    </a:ext>
                  </a:extLst>
                </a:gridCol>
                <a:gridCol w="223837">
                  <a:extLst>
                    <a:ext uri="{9D8B030D-6E8A-4147-A177-3AD203B41FA5}">
                      <a16:colId xmlns:a16="http://schemas.microsoft.com/office/drawing/2014/main" val="20007"/>
                    </a:ext>
                  </a:extLst>
                </a:gridCol>
              </a:tblGrid>
              <a:tr h="342900">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4124" name="Line 156"/>
          <p:cNvSpPr/>
          <p:nvPr/>
        </p:nvSpPr>
        <p:spPr>
          <a:xfrm flipH="1">
            <a:off x="1739900" y="2959100"/>
            <a:ext cx="1981200" cy="381000"/>
          </a:xfrm>
          <a:prstGeom prst="line">
            <a:avLst/>
          </a:prstGeom>
          <a:ln w="9525" cap="flat" cmpd="sng">
            <a:solidFill>
              <a:schemeClr val="tx1"/>
            </a:solidFill>
            <a:prstDash val="solid"/>
            <a:headEnd type="none" w="med" len="med"/>
            <a:tailEnd type="triangle" w="med" len="med"/>
          </a:ln>
        </p:spPr>
      </p:sp>
      <p:sp>
        <p:nvSpPr>
          <p:cNvPr id="84125" name="Line 157"/>
          <p:cNvSpPr/>
          <p:nvPr/>
        </p:nvSpPr>
        <p:spPr>
          <a:xfrm>
            <a:off x="4102100" y="2959100"/>
            <a:ext cx="1066800" cy="381000"/>
          </a:xfrm>
          <a:prstGeom prst="line">
            <a:avLst/>
          </a:prstGeom>
          <a:ln w="9525" cap="flat" cmpd="sng">
            <a:solidFill>
              <a:schemeClr val="tx1"/>
            </a:solidFill>
            <a:prstDash val="solid"/>
            <a:headEnd type="none" w="med" len="med"/>
            <a:tailEnd type="triangle" w="med" len="med"/>
          </a:ln>
        </p:spPr>
      </p:sp>
      <p:sp>
        <p:nvSpPr>
          <p:cNvPr id="84126" name="Line 158"/>
          <p:cNvSpPr/>
          <p:nvPr/>
        </p:nvSpPr>
        <p:spPr>
          <a:xfrm flipH="1">
            <a:off x="825500" y="3873500"/>
            <a:ext cx="1066800" cy="914400"/>
          </a:xfrm>
          <a:prstGeom prst="line">
            <a:avLst/>
          </a:prstGeom>
          <a:ln w="9525" cap="flat" cmpd="sng">
            <a:solidFill>
              <a:schemeClr val="tx1"/>
            </a:solidFill>
            <a:prstDash val="solid"/>
            <a:headEnd type="none" w="med" len="med"/>
            <a:tailEnd type="triangle" w="med" len="med"/>
          </a:ln>
        </p:spPr>
      </p:sp>
      <p:sp>
        <p:nvSpPr>
          <p:cNvPr id="84127" name="Line 159"/>
          <p:cNvSpPr/>
          <p:nvPr/>
        </p:nvSpPr>
        <p:spPr>
          <a:xfrm>
            <a:off x="2273300" y="3873500"/>
            <a:ext cx="381000" cy="914400"/>
          </a:xfrm>
          <a:prstGeom prst="line">
            <a:avLst/>
          </a:prstGeom>
          <a:ln w="9525" cap="flat" cmpd="sng">
            <a:solidFill>
              <a:schemeClr val="tx1"/>
            </a:solidFill>
            <a:prstDash val="solid"/>
            <a:headEnd type="none" w="med" len="med"/>
            <a:tailEnd type="triangle" w="med" len="med"/>
          </a:ln>
        </p:spPr>
      </p:sp>
      <p:sp>
        <p:nvSpPr>
          <p:cNvPr id="84128" name="Line 160"/>
          <p:cNvSpPr/>
          <p:nvPr/>
        </p:nvSpPr>
        <p:spPr>
          <a:xfrm>
            <a:off x="2806700" y="3873500"/>
            <a:ext cx="2590800" cy="914400"/>
          </a:xfrm>
          <a:prstGeom prst="line">
            <a:avLst/>
          </a:prstGeom>
          <a:ln w="9525" cap="flat" cmpd="sng">
            <a:solidFill>
              <a:schemeClr val="tx1"/>
            </a:solidFill>
            <a:prstDash val="solid"/>
            <a:headEnd type="none" w="med" len="med"/>
            <a:tailEnd type="triangle" w="med" len="med"/>
          </a:ln>
        </p:spPr>
      </p:sp>
      <p:sp>
        <p:nvSpPr>
          <p:cNvPr id="84129" name="Line 161"/>
          <p:cNvSpPr/>
          <p:nvPr/>
        </p:nvSpPr>
        <p:spPr>
          <a:xfrm>
            <a:off x="5321300" y="3873500"/>
            <a:ext cx="1828800" cy="914400"/>
          </a:xfrm>
          <a:prstGeom prst="line">
            <a:avLst/>
          </a:prstGeom>
          <a:ln w="9525" cap="flat" cmpd="sng">
            <a:solidFill>
              <a:schemeClr val="tx1"/>
            </a:solidFill>
            <a:prstDash val="solid"/>
            <a:headEnd type="none" w="med" len="med"/>
            <a:tailEnd type="triangle" w="med" len="med"/>
          </a:ln>
        </p:spPr>
      </p:sp>
      <p:sp>
        <p:nvSpPr>
          <p:cNvPr id="84130" name="Line 162"/>
          <p:cNvSpPr/>
          <p:nvPr/>
        </p:nvSpPr>
        <p:spPr>
          <a:xfrm>
            <a:off x="5702300" y="3873500"/>
            <a:ext cx="2438400" cy="838200"/>
          </a:xfrm>
          <a:prstGeom prst="line">
            <a:avLst/>
          </a:prstGeom>
          <a:ln w="9525" cap="flat" cmpd="sng">
            <a:solidFill>
              <a:schemeClr val="tx1"/>
            </a:solidFill>
            <a:prstDash val="solid"/>
            <a:headEnd type="none" w="med" len="med"/>
            <a:tailEnd type="triangle" w="med" len="med"/>
          </a:ln>
        </p:spPr>
      </p:sp>
      <p:sp>
        <p:nvSpPr>
          <p:cNvPr id="84131" name="Line 163"/>
          <p:cNvSpPr/>
          <p:nvPr/>
        </p:nvSpPr>
        <p:spPr>
          <a:xfrm>
            <a:off x="6311900" y="3949700"/>
            <a:ext cx="2362200" cy="838200"/>
          </a:xfrm>
          <a:prstGeom prst="line">
            <a:avLst/>
          </a:prstGeom>
          <a:ln w="9525" cap="flat" cmpd="sng">
            <a:solidFill>
              <a:schemeClr val="tx1"/>
            </a:solidFill>
            <a:prstDash val="solid"/>
            <a:headEnd type="none" w="med" len="med"/>
            <a:tailEnd type="triangle" w="med" len="med"/>
          </a:ln>
        </p:spPr>
      </p:sp>
      <p:sp>
        <p:nvSpPr>
          <p:cNvPr id="84132" name="Line 164"/>
          <p:cNvSpPr/>
          <p:nvPr/>
        </p:nvSpPr>
        <p:spPr>
          <a:xfrm>
            <a:off x="6845300" y="3873500"/>
            <a:ext cx="2209800" cy="838200"/>
          </a:xfrm>
          <a:prstGeom prst="line">
            <a:avLst/>
          </a:prstGeom>
          <a:ln w="9525" cap="flat" cmpd="sng">
            <a:solidFill>
              <a:schemeClr val="tx1"/>
            </a:solidFill>
            <a:prstDash val="solid"/>
            <a:headEnd type="none" w="med" len="med"/>
            <a:tailEnd type="triangle" w="med" len="med"/>
          </a:ln>
        </p:spPr>
      </p:sp>
      <p:sp>
        <p:nvSpPr>
          <p:cNvPr id="84133" name="Line 165"/>
          <p:cNvSpPr/>
          <p:nvPr/>
        </p:nvSpPr>
        <p:spPr>
          <a:xfrm>
            <a:off x="1816100" y="5321300"/>
            <a:ext cx="304800" cy="0"/>
          </a:xfrm>
          <a:prstGeom prst="line">
            <a:avLst/>
          </a:prstGeom>
          <a:ln w="9525" cap="flat" cmpd="sng">
            <a:solidFill>
              <a:schemeClr val="tx1"/>
            </a:solidFill>
            <a:prstDash val="solid"/>
            <a:headEnd type="none" w="med" len="med"/>
            <a:tailEnd type="triangle" w="med" len="med"/>
          </a:ln>
        </p:spPr>
      </p:sp>
      <p:sp>
        <p:nvSpPr>
          <p:cNvPr id="84134" name="Line 166"/>
          <p:cNvSpPr/>
          <p:nvPr/>
        </p:nvSpPr>
        <p:spPr>
          <a:xfrm>
            <a:off x="3568700" y="5321300"/>
            <a:ext cx="1981200" cy="0"/>
          </a:xfrm>
          <a:prstGeom prst="line">
            <a:avLst/>
          </a:prstGeom>
          <a:ln w="9525" cap="flat" cmpd="sng">
            <a:solidFill>
              <a:schemeClr val="tx1"/>
            </a:solidFill>
            <a:prstDash val="solid"/>
            <a:headEnd type="none" w="med" len="med"/>
            <a:tailEnd type="triangle" w="med" len="med"/>
          </a:ln>
        </p:spPr>
      </p:sp>
      <p:sp>
        <p:nvSpPr>
          <p:cNvPr id="84135" name="Line 167"/>
          <p:cNvSpPr/>
          <p:nvPr/>
        </p:nvSpPr>
        <p:spPr>
          <a:xfrm>
            <a:off x="6311900" y="5321300"/>
            <a:ext cx="228600" cy="0"/>
          </a:xfrm>
          <a:prstGeom prst="line">
            <a:avLst/>
          </a:prstGeom>
          <a:ln w="9525" cap="flat" cmpd="sng">
            <a:solidFill>
              <a:schemeClr val="tx1"/>
            </a:solidFill>
            <a:prstDash val="solid"/>
            <a:headEnd type="none" w="med" len="med"/>
            <a:tailEnd type="triangle" w="med" len="med"/>
          </a:ln>
        </p:spPr>
      </p:sp>
      <p:sp>
        <p:nvSpPr>
          <p:cNvPr id="84136" name="Rectangle 168"/>
          <p:cNvSpPr/>
          <p:nvPr/>
        </p:nvSpPr>
        <p:spPr>
          <a:xfrm>
            <a:off x="292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84137" name="Rectangle 169"/>
          <p:cNvSpPr/>
          <p:nvPr/>
        </p:nvSpPr>
        <p:spPr>
          <a:xfrm>
            <a:off x="8255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15</a:t>
            </a:r>
          </a:p>
        </p:txBody>
      </p:sp>
      <p:sp>
        <p:nvSpPr>
          <p:cNvPr id="84138" name="Rectangle 170"/>
          <p:cNvSpPr/>
          <p:nvPr/>
        </p:nvSpPr>
        <p:spPr>
          <a:xfrm>
            <a:off x="128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18</a:t>
            </a:r>
          </a:p>
        </p:txBody>
      </p:sp>
      <p:sp>
        <p:nvSpPr>
          <p:cNvPr id="84139" name="Rectangle 171"/>
          <p:cNvSpPr/>
          <p:nvPr/>
        </p:nvSpPr>
        <p:spPr>
          <a:xfrm>
            <a:off x="2120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20</a:t>
            </a:r>
          </a:p>
        </p:txBody>
      </p:sp>
      <p:sp>
        <p:nvSpPr>
          <p:cNvPr id="84140" name="Rectangle 172"/>
          <p:cNvSpPr/>
          <p:nvPr/>
        </p:nvSpPr>
        <p:spPr>
          <a:xfrm>
            <a:off x="55499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60</a:t>
            </a:r>
          </a:p>
        </p:txBody>
      </p:sp>
      <p:sp>
        <p:nvSpPr>
          <p:cNvPr id="84141" name="Rectangle 173"/>
          <p:cNvSpPr/>
          <p:nvPr/>
        </p:nvSpPr>
        <p:spPr>
          <a:xfrm>
            <a:off x="6007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65</a:t>
            </a:r>
          </a:p>
        </p:txBody>
      </p:sp>
      <p:sp>
        <p:nvSpPr>
          <p:cNvPr id="84142" name="Rectangle 174"/>
          <p:cNvSpPr/>
          <p:nvPr/>
        </p:nvSpPr>
        <p:spPr>
          <a:xfrm>
            <a:off x="64643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80</a:t>
            </a:r>
          </a:p>
        </p:txBody>
      </p:sp>
      <p:sp>
        <p:nvSpPr>
          <p:cNvPr id="84143" name="Rectangle 175"/>
          <p:cNvSpPr/>
          <p:nvPr/>
        </p:nvSpPr>
        <p:spPr>
          <a:xfrm>
            <a:off x="6997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85</a:t>
            </a:r>
          </a:p>
        </p:txBody>
      </p:sp>
      <p:sp>
        <p:nvSpPr>
          <p:cNvPr id="84144" name="Rectangle 176"/>
          <p:cNvSpPr/>
          <p:nvPr/>
        </p:nvSpPr>
        <p:spPr>
          <a:xfrm>
            <a:off x="75311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90</a:t>
            </a:r>
          </a:p>
        </p:txBody>
      </p:sp>
      <p:sp>
        <p:nvSpPr>
          <p:cNvPr id="84145" name="Line 177"/>
          <p:cNvSpPr/>
          <p:nvPr/>
        </p:nvSpPr>
        <p:spPr>
          <a:xfrm flipH="1">
            <a:off x="292100" y="5321300"/>
            <a:ext cx="152400" cy="838200"/>
          </a:xfrm>
          <a:prstGeom prst="line">
            <a:avLst/>
          </a:prstGeom>
          <a:ln w="9525" cap="flat" cmpd="sng">
            <a:solidFill>
              <a:schemeClr val="tx1"/>
            </a:solidFill>
            <a:prstDash val="solid"/>
            <a:headEnd type="none" w="med" len="med"/>
            <a:tailEnd type="triangle" w="med" len="med"/>
          </a:ln>
        </p:spPr>
      </p:sp>
      <p:sp>
        <p:nvSpPr>
          <p:cNvPr id="84146" name="Line 178"/>
          <p:cNvSpPr/>
          <p:nvPr/>
        </p:nvSpPr>
        <p:spPr>
          <a:xfrm>
            <a:off x="749300" y="5321300"/>
            <a:ext cx="76200" cy="838200"/>
          </a:xfrm>
          <a:prstGeom prst="line">
            <a:avLst/>
          </a:prstGeom>
          <a:ln w="9525" cap="flat" cmpd="sng">
            <a:solidFill>
              <a:schemeClr val="tx1"/>
            </a:solidFill>
            <a:prstDash val="solid"/>
            <a:headEnd type="none" w="med" len="med"/>
            <a:tailEnd type="triangle" w="med" len="med"/>
          </a:ln>
        </p:spPr>
      </p:sp>
      <p:sp>
        <p:nvSpPr>
          <p:cNvPr id="84147" name="Line 179"/>
          <p:cNvSpPr/>
          <p:nvPr/>
        </p:nvSpPr>
        <p:spPr>
          <a:xfrm>
            <a:off x="1130300" y="5321300"/>
            <a:ext cx="228600" cy="838200"/>
          </a:xfrm>
          <a:prstGeom prst="line">
            <a:avLst/>
          </a:prstGeom>
          <a:ln w="9525" cap="flat" cmpd="sng">
            <a:solidFill>
              <a:schemeClr val="tx1"/>
            </a:solidFill>
            <a:prstDash val="solid"/>
            <a:headEnd type="none" w="med" len="med"/>
            <a:tailEnd type="triangle" w="med" len="med"/>
          </a:ln>
        </p:spPr>
      </p:sp>
      <p:sp>
        <p:nvSpPr>
          <p:cNvPr id="84148" name="Line 180"/>
          <p:cNvSpPr/>
          <p:nvPr/>
        </p:nvSpPr>
        <p:spPr>
          <a:xfrm flipH="1">
            <a:off x="2197100" y="5321300"/>
            <a:ext cx="304800" cy="838200"/>
          </a:xfrm>
          <a:prstGeom prst="line">
            <a:avLst/>
          </a:prstGeom>
          <a:ln w="9525" cap="flat" cmpd="sng">
            <a:solidFill>
              <a:schemeClr val="tx1"/>
            </a:solidFill>
            <a:prstDash val="solid"/>
            <a:headEnd type="none" w="med" len="med"/>
            <a:tailEnd type="triangle" w="med" len="med"/>
          </a:ln>
        </p:spPr>
      </p:sp>
      <p:sp>
        <p:nvSpPr>
          <p:cNvPr id="84149" name="Line 181"/>
          <p:cNvSpPr/>
          <p:nvPr/>
        </p:nvSpPr>
        <p:spPr>
          <a:xfrm>
            <a:off x="5549900" y="5321300"/>
            <a:ext cx="0" cy="838200"/>
          </a:xfrm>
          <a:prstGeom prst="line">
            <a:avLst/>
          </a:prstGeom>
          <a:ln w="9525" cap="flat" cmpd="sng">
            <a:solidFill>
              <a:schemeClr val="tx1"/>
            </a:solidFill>
            <a:prstDash val="solid"/>
            <a:headEnd type="none" w="med" len="med"/>
            <a:tailEnd type="triangle" w="med" len="med"/>
          </a:ln>
        </p:spPr>
      </p:sp>
      <p:sp>
        <p:nvSpPr>
          <p:cNvPr id="84150" name="Line 182"/>
          <p:cNvSpPr/>
          <p:nvPr/>
        </p:nvSpPr>
        <p:spPr>
          <a:xfrm>
            <a:off x="5778500" y="5245100"/>
            <a:ext cx="228600" cy="914400"/>
          </a:xfrm>
          <a:prstGeom prst="line">
            <a:avLst/>
          </a:prstGeom>
          <a:ln w="9525" cap="flat" cmpd="sng">
            <a:solidFill>
              <a:schemeClr val="tx1"/>
            </a:solidFill>
            <a:prstDash val="solid"/>
            <a:headEnd type="none" w="med" len="med"/>
            <a:tailEnd type="triangle" w="med" len="med"/>
          </a:ln>
        </p:spPr>
      </p:sp>
      <p:sp>
        <p:nvSpPr>
          <p:cNvPr id="84151" name="Line 183"/>
          <p:cNvSpPr/>
          <p:nvPr/>
        </p:nvSpPr>
        <p:spPr>
          <a:xfrm flipH="1">
            <a:off x="6464300" y="5321300"/>
            <a:ext cx="838200" cy="838200"/>
          </a:xfrm>
          <a:prstGeom prst="line">
            <a:avLst/>
          </a:prstGeom>
          <a:ln w="9525" cap="flat" cmpd="sng">
            <a:solidFill>
              <a:schemeClr val="tx1"/>
            </a:solidFill>
            <a:prstDash val="solid"/>
            <a:headEnd type="none" w="med" len="med"/>
            <a:tailEnd type="triangle" w="med" len="med"/>
          </a:ln>
        </p:spPr>
      </p:sp>
      <p:sp>
        <p:nvSpPr>
          <p:cNvPr id="84152" name="Line 184"/>
          <p:cNvSpPr/>
          <p:nvPr/>
        </p:nvSpPr>
        <p:spPr>
          <a:xfrm flipH="1">
            <a:off x="6997700" y="5321300"/>
            <a:ext cx="609600" cy="838200"/>
          </a:xfrm>
          <a:prstGeom prst="line">
            <a:avLst/>
          </a:prstGeom>
          <a:ln w="9525" cap="flat" cmpd="sng">
            <a:solidFill>
              <a:schemeClr val="tx1"/>
            </a:solidFill>
            <a:prstDash val="solid"/>
            <a:headEnd type="none" w="med" len="med"/>
            <a:tailEnd type="triangle" w="med" len="med"/>
          </a:ln>
        </p:spPr>
      </p:sp>
      <p:sp>
        <p:nvSpPr>
          <p:cNvPr id="84153" name="Line 185"/>
          <p:cNvSpPr/>
          <p:nvPr/>
        </p:nvSpPr>
        <p:spPr>
          <a:xfrm flipH="1">
            <a:off x="7531100" y="5321300"/>
            <a:ext cx="457200" cy="838200"/>
          </a:xfrm>
          <a:prstGeom prst="line">
            <a:avLst/>
          </a:prstGeom>
          <a:ln w="9525" cap="flat" cmpd="sng">
            <a:solidFill>
              <a:schemeClr val="tx1"/>
            </a:solidFill>
            <a:prstDash val="solid"/>
            <a:headEnd type="none" w="med" len="med"/>
            <a:tailEnd type="triangle" w="med" len="med"/>
          </a:ln>
        </p:spPr>
      </p:sp>
      <p:sp>
        <p:nvSpPr>
          <p:cNvPr id="84154" name="Line 186"/>
          <p:cNvSpPr/>
          <p:nvPr/>
        </p:nvSpPr>
        <p:spPr>
          <a:xfrm>
            <a:off x="8064500" y="5321300"/>
            <a:ext cx="304800" cy="0"/>
          </a:xfrm>
          <a:prstGeom prst="line">
            <a:avLst/>
          </a:prstGeom>
          <a:ln w="9525" cap="flat" cmpd="sng">
            <a:solidFill>
              <a:schemeClr val="tx1"/>
            </a:solidFill>
            <a:prstDash val="solid"/>
            <a:headEnd type="none" w="med" len="med"/>
            <a:tailEnd type="triangle" w="med" len="med"/>
          </a:ln>
        </p:spPr>
      </p:sp>
      <p:sp>
        <p:nvSpPr>
          <p:cNvPr id="84155" name="Rectangle 187"/>
          <p:cNvSpPr/>
          <p:nvPr/>
        </p:nvSpPr>
        <p:spPr>
          <a:xfrm>
            <a:off x="17018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84156" name="Line 188"/>
          <p:cNvSpPr/>
          <p:nvPr/>
        </p:nvSpPr>
        <p:spPr>
          <a:xfrm flipH="1">
            <a:off x="1739900" y="5321300"/>
            <a:ext cx="533400" cy="762000"/>
          </a:xfrm>
          <a:prstGeom prst="line">
            <a:avLst/>
          </a:prstGeom>
          <a:ln w="9525" cap="flat" cmpd="sng">
            <a:solidFill>
              <a:schemeClr val="tx1"/>
            </a:solidFill>
            <a:prstDash val="solid"/>
            <a:headEnd type="none" w="med" len="med"/>
            <a:tailEnd type="triangle" w="med" len="med"/>
          </a:ln>
        </p:spPr>
      </p:sp>
      <p:sp>
        <p:nvSpPr>
          <p:cNvPr id="84157" name="Rectangle 189"/>
          <p:cNvSpPr/>
          <p:nvPr/>
        </p:nvSpPr>
        <p:spPr>
          <a:xfrm>
            <a:off x="5092700" y="6159500"/>
            <a:ext cx="371475" cy="314325"/>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50</a:t>
            </a:r>
          </a:p>
        </p:txBody>
      </p:sp>
      <p:sp>
        <p:nvSpPr>
          <p:cNvPr id="84158" name="Line 190"/>
          <p:cNvSpPr/>
          <p:nvPr/>
        </p:nvSpPr>
        <p:spPr>
          <a:xfrm>
            <a:off x="2882900" y="5321300"/>
            <a:ext cx="2362200" cy="838200"/>
          </a:xfrm>
          <a:prstGeom prst="line">
            <a:avLst/>
          </a:prstGeom>
          <a:ln w="9525" cap="flat" cmpd="sng">
            <a:solidFill>
              <a:schemeClr val="tx1"/>
            </a:solidFill>
            <a:prstDash val="solid"/>
            <a:headEnd type="none" w="med" len="med"/>
            <a:tailEnd type="triangle" w="med" len="med"/>
          </a:ln>
        </p:spPr>
      </p:sp>
      <p:sp>
        <p:nvSpPr>
          <p:cNvPr id="84159" name="Line 192"/>
          <p:cNvSpPr/>
          <p:nvPr/>
        </p:nvSpPr>
        <p:spPr>
          <a:xfrm>
            <a:off x="0" y="4383088"/>
            <a:ext cx="9144000" cy="28575"/>
          </a:xfrm>
          <a:prstGeom prst="line">
            <a:avLst/>
          </a:prstGeom>
          <a:ln w="38100" cap="flat" cmpd="dbl">
            <a:solidFill>
              <a:srgbClr val="CC0000"/>
            </a:solidFill>
            <a:prstDash val="dash"/>
            <a:headEnd type="none" w="med" len="med"/>
            <a:tailEnd type="none" w="med" len="med"/>
          </a:ln>
        </p:spPr>
      </p:sp>
      <p:sp>
        <p:nvSpPr>
          <p:cNvPr id="84160" name="Line 193"/>
          <p:cNvSpPr/>
          <p:nvPr/>
        </p:nvSpPr>
        <p:spPr>
          <a:xfrm>
            <a:off x="-14287" y="5862638"/>
            <a:ext cx="9144000" cy="28575"/>
          </a:xfrm>
          <a:prstGeom prst="line">
            <a:avLst/>
          </a:prstGeom>
          <a:ln w="38100" cap="flat" cmpd="dbl">
            <a:solidFill>
              <a:srgbClr val="CC0000"/>
            </a:solidFill>
            <a:prstDash val="dash"/>
            <a:headEnd type="none" w="med" len="med"/>
            <a:tailEnd type="none" w="med" len="med"/>
          </a:ln>
        </p:spPr>
      </p:sp>
      <p:sp>
        <p:nvSpPr>
          <p:cNvPr id="84161" name="Text Box 194"/>
          <p:cNvSpPr txBox="1"/>
          <p:nvPr/>
        </p:nvSpPr>
        <p:spPr>
          <a:xfrm>
            <a:off x="7856538" y="3932238"/>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非叶结点</a:t>
            </a:r>
          </a:p>
        </p:txBody>
      </p:sp>
      <p:sp>
        <p:nvSpPr>
          <p:cNvPr id="84162" name="Text Box 195"/>
          <p:cNvSpPr txBox="1"/>
          <p:nvPr/>
        </p:nvSpPr>
        <p:spPr>
          <a:xfrm>
            <a:off x="7872413" y="4419600"/>
            <a:ext cx="1200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叶子结点</a:t>
            </a:r>
          </a:p>
        </p:txBody>
      </p:sp>
      <p:sp>
        <p:nvSpPr>
          <p:cNvPr id="84163" name="Text Box 196"/>
          <p:cNvSpPr txBox="1"/>
          <p:nvPr/>
        </p:nvSpPr>
        <p:spPr>
          <a:xfrm>
            <a:off x="7986713" y="5900738"/>
            <a:ext cx="1025525" cy="7016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微软雅黑" panose="020B0503020204020204" pitchFamily="34" charset="-122"/>
                <a:cs typeface="+mn-cs"/>
              </a:rPr>
              <a:t>主文件的记录</a:t>
            </a:r>
          </a:p>
        </p:txBody>
      </p:sp>
      <p:sp>
        <p:nvSpPr>
          <p:cNvPr id="84164" name="Rectangle 210"/>
          <p:cNvSpPr/>
          <p:nvPr/>
        </p:nvSpPr>
        <p:spPr>
          <a:xfrm>
            <a:off x="0" y="871538"/>
            <a:ext cx="9144000" cy="5986462"/>
          </a:xfrm>
          <a:prstGeom prst="rect">
            <a:avLst/>
          </a:prstGeom>
          <a:solidFill>
            <a:srgbClr val="FFFFFF">
              <a:alpha val="70195"/>
            </a:srgbClr>
          </a:solidFill>
          <a:ln w="9525">
            <a:noFill/>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5" name="Group 202"/>
          <p:cNvGrpSpPr/>
          <p:nvPr/>
        </p:nvGrpSpPr>
        <p:grpSpPr>
          <a:xfrm>
            <a:off x="654050" y="1677988"/>
            <a:ext cx="4794250" cy="1997075"/>
            <a:chOff x="1265" y="3268"/>
            <a:chExt cx="1153" cy="629"/>
          </a:xfrm>
        </p:grpSpPr>
        <p:sp>
          <p:nvSpPr>
            <p:cNvPr id="84171"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4172"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4173" name="Text Box 84"/>
            <p:cNvSpPr/>
            <p:nvPr/>
          </p:nvSpPr>
          <p:spPr>
            <a:xfrm>
              <a:off x="1272" y="3303"/>
              <a:ext cx="1145" cy="567"/>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插入记录时：</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可能需要分裂：当索引块充满时，需要分裂。</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分裂可能引发连锁反应，由叶结点直至根结点。</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分裂后需要仔细调整索引键值及指针。</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注意叶子结点之间链接关系的调整。</a:t>
              </a:r>
            </a:p>
          </p:txBody>
        </p:sp>
      </p:grpSp>
      <p:grpSp>
        <p:nvGrpSpPr>
          <p:cNvPr id="6" name="Group 206"/>
          <p:cNvGrpSpPr/>
          <p:nvPr/>
        </p:nvGrpSpPr>
        <p:grpSpPr>
          <a:xfrm>
            <a:off x="3421063" y="3763963"/>
            <a:ext cx="5156200" cy="2660650"/>
            <a:chOff x="1265" y="3268"/>
            <a:chExt cx="1153" cy="629"/>
          </a:xfrm>
        </p:grpSpPr>
        <p:sp>
          <p:nvSpPr>
            <p:cNvPr id="84168"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4169"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4170" name="Text Box 84"/>
            <p:cNvSpPr/>
            <p:nvPr/>
          </p:nvSpPr>
          <p:spPr>
            <a:xfrm>
              <a:off x="1277" y="3304"/>
              <a:ext cx="1137" cy="566"/>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删除记录时：</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可能需要合并：合并记录</a:t>
              </a:r>
              <a:r>
                <a:rPr kumimoji="0" lang="en-US" altLang="zh-CN" sz="16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从相邻结点中转移索引项（仍旧是两个结点块）</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可能需要合并：两个结点块合并成一个结点块。</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合并可能引发连锁反应，由叶结点直至根结点。</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合并后需要仔细调整索引键值及指针。</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注意叶子结点之间链接关系的调整。</a:t>
              </a:r>
            </a:p>
          </p:txBody>
        </p:sp>
      </p:grpSp>
      <p:sp>
        <p:nvSpPr>
          <p:cNvPr id="84167" name="Text Box 16"/>
          <p:cNvSpPr txBox="1"/>
          <p:nvPr/>
        </p:nvSpPr>
        <p:spPr>
          <a:xfrm>
            <a:off x="163513" y="0"/>
            <a:ext cx="5878512" cy="822325"/>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B+树之分裂与合并过程再示例</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要点概括</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2261570" y="1736429"/>
            <a:ext cx="4714667" cy="342480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58</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目录</a:t>
            </a:r>
          </a:p>
        </p:txBody>
      </p:sp>
      <p:sp>
        <p:nvSpPr>
          <p:cNvPr id="4" name="内容占位符 3"/>
          <p:cNvSpPr>
            <a:spLocks noGrp="1"/>
          </p:cNvSpPr>
          <p:nvPr>
            <p:ph idx="1"/>
          </p:nvPr>
        </p:nvSpPr>
        <p:spPr>
          <a:xfrm>
            <a:off x="2484300" y="1942678"/>
            <a:ext cx="4355960" cy="3143768"/>
          </a:xfrm>
        </p:spPr>
        <p:txBody>
          <a:bodyPr/>
          <a:lstStyle/>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索引概述</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b="1" dirty="0">
                <a:solidFill>
                  <a:srgbClr val="701988"/>
                </a:solidFill>
                <a:latin typeface="微软雅黑" panose="020B0503020204020204" pitchFamily="82" charset="2"/>
                <a:ea typeface="微软雅黑" panose="020B0503020204020204" pitchFamily="82" charset="2"/>
              </a:rPr>
              <a:t>哈希索引</a:t>
            </a:r>
            <a:endParaRPr lang="en-US" altLang="zh-CN" b="1" dirty="0">
              <a:solidFill>
                <a:srgbClr val="701988"/>
              </a:solidFill>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err="1">
                <a:latin typeface="微软雅黑" panose="020B0503020204020204" pitchFamily="82" charset="2"/>
                <a:ea typeface="微软雅黑" panose="020B0503020204020204" pitchFamily="82" charset="2"/>
              </a:rPr>
              <a:t>SkipList</a:t>
            </a:r>
            <a:r>
              <a:rPr lang="zh-CN" altLang="en-US" dirty="0">
                <a:latin typeface="微软雅黑" panose="020B0503020204020204" pitchFamily="82" charset="2"/>
                <a:ea typeface="微软雅黑" panose="020B0503020204020204" pitchFamily="82" charset="2"/>
              </a:rPr>
              <a:t>跳表索引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LSM</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位图索引</a:t>
            </a:r>
            <a:endParaRPr lang="en-US" altLang="zh-CN" dirty="0">
              <a:latin typeface="微软雅黑" panose="020B0503020204020204" pitchFamily="82" charset="2"/>
              <a:ea typeface="微软雅黑" panose="020B0503020204020204" pitchFamily="82" charset="2"/>
            </a:endParaRPr>
          </a:p>
          <a:p>
            <a:pPr marL="0" indent="0">
              <a:buNone/>
            </a:pPr>
            <a:r>
              <a:rPr lang="en-US" altLang="zh-CN" sz="1800" dirty="0" smtClean="0">
                <a:latin typeface="微软雅黑" panose="020B0503020204020204" pitchFamily="82" charset="2"/>
                <a:ea typeface="微软雅黑" panose="020B0503020204020204" pitchFamily="82" charset="2"/>
              </a:rPr>
              <a:t>     </a:t>
            </a:r>
            <a:endParaRPr lang="zh-CN" altLang="en-US" sz="18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30715480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哈希的基本概念 </a:t>
            </a:r>
          </a:p>
        </p:txBody>
      </p:sp>
      <p:sp>
        <p:nvSpPr>
          <p:cNvPr id="546832" name="Text Box 16"/>
          <p:cNvSpPr txBox="1"/>
          <p:nvPr/>
        </p:nvSpPr>
        <p:spPr>
          <a:xfrm>
            <a:off x="239713" y="898525"/>
            <a:ext cx="8847137" cy="178911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哈希</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（参见</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数据结构</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课程）</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有</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个桶，每个桶是有相同容量的存储</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可以是内存页，也可以是磁盘块</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哈希函数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，可以将键值</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映射到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0, 1, …, M-1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中的某一个值</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将具有键值</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Record(k)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存储在对应</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h(k)</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编号的桶中</a:t>
            </a:r>
          </a:p>
        </p:txBody>
      </p:sp>
      <p:sp>
        <p:nvSpPr>
          <p:cNvPr id="546890" name="Text Box 74"/>
          <p:cNvSpPr txBox="1"/>
          <p:nvPr/>
        </p:nvSpPr>
        <p:spPr>
          <a:xfrm>
            <a:off x="282575" y="4217988"/>
            <a:ext cx="1776413"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 Record(k) } </a:t>
            </a:r>
          </a:p>
        </p:txBody>
      </p:sp>
      <p:sp>
        <p:nvSpPr>
          <p:cNvPr id="546891" name="Text Box 75"/>
          <p:cNvSpPr txBox="1"/>
          <p:nvPr/>
        </p:nvSpPr>
        <p:spPr>
          <a:xfrm>
            <a:off x="4778375" y="4217988"/>
            <a:ext cx="1370013"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Record(k)</a:t>
            </a:r>
          </a:p>
        </p:txBody>
      </p:sp>
      <p:grpSp>
        <p:nvGrpSpPr>
          <p:cNvPr id="2" name="Group 86"/>
          <p:cNvGrpSpPr/>
          <p:nvPr/>
        </p:nvGrpSpPr>
        <p:grpSpPr>
          <a:xfrm>
            <a:off x="4030663" y="2719388"/>
            <a:ext cx="2360612" cy="2925762"/>
            <a:chOff x="2269" y="1713"/>
            <a:chExt cx="1487" cy="1843"/>
          </a:xfrm>
        </p:grpSpPr>
        <p:sp>
          <p:nvSpPr>
            <p:cNvPr id="87065" name="Rectangle 66"/>
            <p:cNvSpPr/>
            <p:nvPr/>
          </p:nvSpPr>
          <p:spPr>
            <a:xfrm>
              <a:off x="2654" y="1713"/>
              <a:ext cx="1102" cy="268"/>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7066" name="Rectangle 67"/>
            <p:cNvSpPr/>
            <p:nvPr/>
          </p:nvSpPr>
          <p:spPr>
            <a:xfrm>
              <a:off x="2654" y="2024"/>
              <a:ext cx="1102" cy="268"/>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7067" name="Rectangle 68"/>
            <p:cNvSpPr/>
            <p:nvPr/>
          </p:nvSpPr>
          <p:spPr>
            <a:xfrm>
              <a:off x="2654" y="3288"/>
              <a:ext cx="1102" cy="268"/>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7068" name="Rectangle 69"/>
            <p:cNvSpPr/>
            <p:nvPr/>
          </p:nvSpPr>
          <p:spPr>
            <a:xfrm>
              <a:off x="2654" y="2656"/>
              <a:ext cx="1102" cy="268"/>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7069" name="Line 71"/>
            <p:cNvSpPr/>
            <p:nvPr/>
          </p:nvSpPr>
          <p:spPr>
            <a:xfrm>
              <a:off x="3205" y="2335"/>
              <a:ext cx="0" cy="278"/>
            </a:xfrm>
            <a:prstGeom prst="line">
              <a:avLst/>
            </a:prstGeom>
            <a:ln w="76200" cap="flat" cmpd="sng">
              <a:solidFill>
                <a:schemeClr val="tx1"/>
              </a:solidFill>
              <a:prstDash val="sysDot"/>
              <a:headEnd type="none" w="med" len="med"/>
              <a:tailEnd type="none" w="med" len="med"/>
            </a:ln>
          </p:spPr>
        </p:sp>
        <p:sp>
          <p:nvSpPr>
            <p:cNvPr id="87070" name="Line 72"/>
            <p:cNvSpPr/>
            <p:nvPr/>
          </p:nvSpPr>
          <p:spPr>
            <a:xfrm>
              <a:off x="3205" y="2967"/>
              <a:ext cx="0" cy="278"/>
            </a:xfrm>
            <a:prstGeom prst="line">
              <a:avLst/>
            </a:prstGeom>
            <a:ln w="76200" cap="flat" cmpd="sng">
              <a:solidFill>
                <a:schemeClr val="tx1"/>
              </a:solidFill>
              <a:prstDash val="sysDot"/>
              <a:headEnd type="none" w="med" len="med"/>
              <a:tailEnd type="none" w="med" len="med"/>
            </a:ln>
          </p:spPr>
        </p:sp>
        <p:sp>
          <p:nvSpPr>
            <p:cNvPr id="87071" name="Text Box 76"/>
            <p:cNvSpPr txBox="1"/>
            <p:nvPr/>
          </p:nvSpPr>
          <p:spPr>
            <a:xfrm>
              <a:off x="2345" y="1731"/>
              <a:ext cx="196"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rPr>
                <a:t>0</a:t>
              </a:r>
            </a:p>
          </p:txBody>
        </p:sp>
        <p:sp>
          <p:nvSpPr>
            <p:cNvPr id="87072" name="Text Box 77"/>
            <p:cNvSpPr txBox="1"/>
            <p:nvPr/>
          </p:nvSpPr>
          <p:spPr>
            <a:xfrm>
              <a:off x="2342" y="2033"/>
              <a:ext cx="205"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1</a:t>
              </a:r>
            </a:p>
          </p:txBody>
        </p:sp>
        <p:sp>
          <p:nvSpPr>
            <p:cNvPr id="87073" name="Text Box 78"/>
            <p:cNvSpPr txBox="1"/>
            <p:nvPr/>
          </p:nvSpPr>
          <p:spPr>
            <a:xfrm>
              <a:off x="2269" y="2666"/>
              <a:ext cx="409"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h(k)</a:t>
              </a:r>
            </a:p>
          </p:txBody>
        </p:sp>
        <p:sp>
          <p:nvSpPr>
            <p:cNvPr id="87074" name="Text Box 79"/>
            <p:cNvSpPr txBox="1"/>
            <p:nvPr/>
          </p:nvSpPr>
          <p:spPr>
            <a:xfrm>
              <a:off x="2277" y="3279"/>
              <a:ext cx="391"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M-1</a:t>
              </a:r>
            </a:p>
          </p:txBody>
        </p:sp>
      </p:grpSp>
      <p:sp>
        <p:nvSpPr>
          <p:cNvPr id="546899" name="Line 83"/>
          <p:cNvSpPr/>
          <p:nvPr/>
        </p:nvSpPr>
        <p:spPr>
          <a:xfrm>
            <a:off x="6403975" y="4424363"/>
            <a:ext cx="614363" cy="0"/>
          </a:xfrm>
          <a:prstGeom prst="line">
            <a:avLst/>
          </a:prstGeom>
          <a:ln w="9525" cap="flat" cmpd="sng">
            <a:solidFill>
              <a:schemeClr val="tx1"/>
            </a:solidFill>
            <a:prstDash val="solid"/>
            <a:headEnd type="none" w="med" len="med"/>
            <a:tailEnd type="triangle" w="med" len="med"/>
          </a:ln>
        </p:spPr>
      </p:sp>
      <p:sp>
        <p:nvSpPr>
          <p:cNvPr id="546900" name="Rectangle 84"/>
          <p:cNvSpPr/>
          <p:nvPr/>
        </p:nvSpPr>
        <p:spPr>
          <a:xfrm>
            <a:off x="7000875" y="4217988"/>
            <a:ext cx="1749425" cy="425450"/>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46901" name="Rectangle 85"/>
          <p:cNvSpPr/>
          <p:nvPr/>
        </p:nvSpPr>
        <p:spPr>
          <a:xfrm>
            <a:off x="360363" y="5661025"/>
            <a:ext cx="8404225" cy="10064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目标：选择一个合适的哈希函数，将一个</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Record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集合</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每个</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Record</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都包含一个关键字</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均匀地映射到</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个桶中。即：对于集合中任一个关键字，经哈希函数映射到地址集合中任何一个地址的概率是近乎相等的。</a:t>
            </a:r>
          </a:p>
        </p:txBody>
      </p:sp>
      <p:grpSp>
        <p:nvGrpSpPr>
          <p:cNvPr id="3" name="Group 96"/>
          <p:cNvGrpSpPr/>
          <p:nvPr/>
        </p:nvGrpSpPr>
        <p:grpSpPr>
          <a:xfrm>
            <a:off x="1893888" y="2927350"/>
            <a:ext cx="2208212" cy="2365375"/>
            <a:chOff x="1193" y="1844"/>
            <a:chExt cx="1391" cy="1490"/>
          </a:xfrm>
        </p:grpSpPr>
        <p:sp>
          <p:nvSpPr>
            <p:cNvPr id="87058" name="Line 65"/>
            <p:cNvSpPr/>
            <p:nvPr/>
          </p:nvSpPr>
          <p:spPr>
            <a:xfrm>
              <a:off x="2017" y="2787"/>
              <a:ext cx="517" cy="0"/>
            </a:xfrm>
            <a:prstGeom prst="line">
              <a:avLst/>
            </a:prstGeom>
            <a:ln w="9525" cap="flat" cmpd="sng">
              <a:solidFill>
                <a:schemeClr val="tx1"/>
              </a:solidFill>
              <a:prstDash val="solid"/>
              <a:headEnd type="none" w="med" len="med"/>
              <a:tailEnd type="triangle" w="med" len="med"/>
            </a:ln>
          </p:spPr>
        </p:sp>
        <p:sp>
          <p:nvSpPr>
            <p:cNvPr id="87059" name="Line 80"/>
            <p:cNvSpPr/>
            <p:nvPr/>
          </p:nvSpPr>
          <p:spPr>
            <a:xfrm flipV="1">
              <a:off x="2157" y="1844"/>
              <a:ext cx="427" cy="933"/>
            </a:xfrm>
            <a:prstGeom prst="line">
              <a:avLst/>
            </a:prstGeom>
            <a:ln w="9525" cap="flat" cmpd="sng">
              <a:solidFill>
                <a:schemeClr val="tx1"/>
              </a:solidFill>
              <a:prstDash val="solid"/>
              <a:headEnd type="none" w="med" len="med"/>
              <a:tailEnd type="triangle" w="med" len="med"/>
            </a:ln>
          </p:spPr>
        </p:sp>
        <p:sp>
          <p:nvSpPr>
            <p:cNvPr id="87060" name="Line 81"/>
            <p:cNvSpPr/>
            <p:nvPr/>
          </p:nvSpPr>
          <p:spPr>
            <a:xfrm flipV="1">
              <a:off x="2157" y="2221"/>
              <a:ext cx="427" cy="576"/>
            </a:xfrm>
            <a:prstGeom prst="line">
              <a:avLst/>
            </a:prstGeom>
            <a:ln w="9525" cap="flat" cmpd="sng">
              <a:solidFill>
                <a:schemeClr val="tx1"/>
              </a:solidFill>
              <a:prstDash val="solid"/>
              <a:headEnd type="none" w="med" len="med"/>
              <a:tailEnd type="triangle" w="med" len="med"/>
            </a:ln>
          </p:spPr>
        </p:sp>
        <p:sp>
          <p:nvSpPr>
            <p:cNvPr id="87061" name="Line 82"/>
            <p:cNvSpPr/>
            <p:nvPr/>
          </p:nvSpPr>
          <p:spPr>
            <a:xfrm>
              <a:off x="2167" y="2807"/>
              <a:ext cx="377" cy="527"/>
            </a:xfrm>
            <a:prstGeom prst="line">
              <a:avLst/>
            </a:prstGeom>
            <a:ln w="9525" cap="flat" cmpd="sng">
              <a:solidFill>
                <a:schemeClr val="tx1"/>
              </a:solidFill>
              <a:prstDash val="solid"/>
              <a:headEnd type="none" w="med" len="med"/>
              <a:tailEnd type="triangle" w="med" len="med"/>
            </a:ln>
          </p:spPr>
        </p:sp>
        <p:sp>
          <p:nvSpPr>
            <p:cNvPr id="87062" name="Text Box 87"/>
            <p:cNvSpPr txBox="1"/>
            <p:nvPr/>
          </p:nvSpPr>
          <p:spPr>
            <a:xfrm>
              <a:off x="1603" y="2655"/>
              <a:ext cx="415" cy="256"/>
            </a:xfrm>
            <a:prstGeom prst="rect">
              <a:avLst/>
            </a:prstGeom>
            <a:noFill/>
            <a:ln w="9525" cap="flat" cmpd="sng">
              <a:solidFill>
                <a:schemeClr val="tx1"/>
              </a:solidFill>
              <a:prstDash val="solid"/>
              <a:miter/>
              <a:headEnd type="none" w="med" len="med"/>
              <a:tailEnd type="none" w="med" len="me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h(k)</a:t>
              </a:r>
            </a:p>
          </p:txBody>
        </p:sp>
        <p:sp>
          <p:nvSpPr>
            <p:cNvPr id="87063" name="Line 89"/>
            <p:cNvSpPr/>
            <p:nvPr/>
          </p:nvSpPr>
          <p:spPr>
            <a:xfrm>
              <a:off x="1193" y="2800"/>
              <a:ext cx="417" cy="0"/>
            </a:xfrm>
            <a:prstGeom prst="line">
              <a:avLst/>
            </a:prstGeom>
            <a:ln w="9525" cap="flat" cmpd="sng">
              <a:solidFill>
                <a:schemeClr val="tx1"/>
              </a:solidFill>
              <a:prstDash val="solid"/>
              <a:headEnd type="none" w="med" len="med"/>
              <a:tailEnd type="triangle" w="med" len="med"/>
            </a:ln>
          </p:spPr>
        </p:sp>
        <p:sp>
          <p:nvSpPr>
            <p:cNvPr id="87064" name="Rectangle 91"/>
            <p:cNvSpPr/>
            <p:nvPr/>
          </p:nvSpPr>
          <p:spPr>
            <a:xfrm>
              <a:off x="1268" y="2552"/>
              <a:ext cx="205"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k</a:t>
              </a:r>
            </a:p>
          </p:txBody>
        </p:sp>
      </p:grpSp>
      <p:sp>
        <p:nvSpPr>
          <p:cNvPr id="546909" name="Text Box 93"/>
          <p:cNvSpPr txBox="1"/>
          <p:nvPr/>
        </p:nvSpPr>
        <p:spPr>
          <a:xfrm>
            <a:off x="6421438" y="2654300"/>
            <a:ext cx="895350" cy="519113"/>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mn-cs"/>
              </a:rPr>
              <a:t>主桶</a:t>
            </a:r>
          </a:p>
        </p:txBody>
      </p:sp>
      <p:sp>
        <p:nvSpPr>
          <p:cNvPr id="546910" name="Text Box 94"/>
          <p:cNvSpPr txBox="1"/>
          <p:nvPr/>
        </p:nvSpPr>
        <p:spPr>
          <a:xfrm>
            <a:off x="7550150" y="3627438"/>
            <a:ext cx="1250950" cy="519112"/>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mn-cs"/>
              </a:rPr>
              <a:t>溢出桶</a:t>
            </a:r>
          </a:p>
        </p:txBody>
      </p:sp>
      <p:sp>
        <p:nvSpPr>
          <p:cNvPr id="546911" name="Rectangle 95"/>
          <p:cNvSpPr/>
          <p:nvPr/>
        </p:nvSpPr>
        <p:spPr>
          <a:xfrm>
            <a:off x="957263" y="4803775"/>
            <a:ext cx="2678112" cy="366713"/>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例如：</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h(k) = k mod M</a:t>
            </a:r>
          </a:p>
        </p:txBody>
      </p:sp>
      <p:grpSp>
        <p:nvGrpSpPr>
          <p:cNvPr id="4" name="Group 98"/>
          <p:cNvGrpSpPr/>
          <p:nvPr/>
        </p:nvGrpSpPr>
        <p:grpSpPr>
          <a:xfrm>
            <a:off x="1839913" y="2884488"/>
            <a:ext cx="1216025" cy="1106487"/>
            <a:chOff x="3368" y="3555"/>
            <a:chExt cx="836" cy="705"/>
          </a:xfrm>
        </p:grpSpPr>
        <p:sp>
          <p:nvSpPr>
            <p:cNvPr id="20"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87056"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87057" name="Text Box 84"/>
            <p:cNvSpPr txBox="1"/>
            <p:nvPr/>
          </p:nvSpPr>
          <p:spPr>
            <a:xfrm>
              <a:off x="3440" y="3686"/>
              <a:ext cx="691" cy="447"/>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快速 定位</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6832">
                                            <p:txEl>
                                              <p:charRg st="15" end="50"/>
                                            </p:txEl>
                                          </p:spTgt>
                                        </p:tgtEl>
                                        <p:attrNameLst>
                                          <p:attrName>style.visibility</p:attrName>
                                        </p:attrNameLst>
                                      </p:cBhvr>
                                      <p:to>
                                        <p:strVal val="visible"/>
                                      </p:to>
                                    </p:set>
                                    <p:anim calcmode="lin" valueType="num">
                                      <p:cBhvr additive="base">
                                        <p:cTn id="7" dur="500" fill="hold"/>
                                        <p:tgtEl>
                                          <p:spTgt spid="546832">
                                            <p:txEl>
                                              <p:charRg st="15" end="5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6832">
                                            <p:txEl>
                                              <p:charRg st="15" end="5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46832">
                                            <p:txEl>
                                              <p:charRg st="50" end="93"/>
                                            </p:txEl>
                                          </p:spTgt>
                                        </p:tgtEl>
                                        <p:attrNameLst>
                                          <p:attrName>style.visibility</p:attrName>
                                        </p:attrNameLst>
                                      </p:cBhvr>
                                      <p:to>
                                        <p:strVal val="visible"/>
                                      </p:to>
                                    </p:set>
                                    <p:anim calcmode="lin" valueType="num">
                                      <p:cBhvr additive="base">
                                        <p:cTn id="17" dur="500" fill="hold"/>
                                        <p:tgtEl>
                                          <p:spTgt spid="546832">
                                            <p:txEl>
                                              <p:charRg st="50" end="9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46832">
                                            <p:txEl>
                                              <p:charRg st="50" end="9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46911"/>
                                        </p:tgtEl>
                                        <p:attrNameLst>
                                          <p:attrName>style.visibility</p:attrName>
                                        </p:attrNameLst>
                                      </p:cBhvr>
                                      <p:to>
                                        <p:strVal val="visible"/>
                                      </p:to>
                                    </p:set>
                                    <p:anim calcmode="lin" valueType="num">
                                      <p:cBhvr additive="base">
                                        <p:cTn id="27" dur="500" fill="hold"/>
                                        <p:tgtEl>
                                          <p:spTgt spid="546911"/>
                                        </p:tgtEl>
                                        <p:attrNameLst>
                                          <p:attrName>ppt_x</p:attrName>
                                        </p:attrNameLst>
                                      </p:cBhvr>
                                      <p:tavLst>
                                        <p:tav tm="0">
                                          <p:val>
                                            <p:strVal val="#ppt_x"/>
                                          </p:val>
                                        </p:tav>
                                        <p:tav tm="100000">
                                          <p:val>
                                            <p:strVal val="#ppt_x"/>
                                          </p:val>
                                        </p:tav>
                                      </p:tavLst>
                                    </p:anim>
                                    <p:anim calcmode="lin" valueType="num">
                                      <p:cBhvr additive="base">
                                        <p:cTn id="28" dur="500" fill="hold"/>
                                        <p:tgtEl>
                                          <p:spTgt spid="54691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46832">
                                            <p:txEl>
                                              <p:charRg st="93" end="126"/>
                                            </p:txEl>
                                          </p:spTgt>
                                        </p:tgtEl>
                                        <p:attrNameLst>
                                          <p:attrName>style.visibility</p:attrName>
                                        </p:attrNameLst>
                                      </p:cBhvr>
                                      <p:to>
                                        <p:strVal val="visible"/>
                                      </p:to>
                                    </p:set>
                                    <p:anim calcmode="lin" valueType="num">
                                      <p:cBhvr additive="base">
                                        <p:cTn id="33" dur="500" fill="hold"/>
                                        <p:tgtEl>
                                          <p:spTgt spid="546832">
                                            <p:txEl>
                                              <p:charRg st="93" end="12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46832">
                                            <p:txEl>
                                              <p:charRg st="93" end="12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46890"/>
                                        </p:tgtEl>
                                        <p:attrNameLst>
                                          <p:attrName>style.visibility</p:attrName>
                                        </p:attrNameLst>
                                      </p:cBhvr>
                                      <p:to>
                                        <p:strVal val="visible"/>
                                      </p:to>
                                    </p:set>
                                    <p:anim calcmode="lin" valueType="num">
                                      <p:cBhvr additive="base">
                                        <p:cTn id="39" dur="500" fill="hold"/>
                                        <p:tgtEl>
                                          <p:spTgt spid="546890"/>
                                        </p:tgtEl>
                                        <p:attrNameLst>
                                          <p:attrName>ppt_x</p:attrName>
                                        </p:attrNameLst>
                                      </p:cBhvr>
                                      <p:tavLst>
                                        <p:tav tm="0">
                                          <p:val>
                                            <p:strVal val="#ppt_x"/>
                                          </p:val>
                                        </p:tav>
                                        <p:tav tm="100000">
                                          <p:val>
                                            <p:strVal val="#ppt_x"/>
                                          </p:val>
                                        </p:tav>
                                      </p:tavLst>
                                    </p:anim>
                                    <p:anim calcmode="lin" valueType="num">
                                      <p:cBhvr additive="base">
                                        <p:cTn id="40" dur="500" fill="hold"/>
                                        <p:tgtEl>
                                          <p:spTgt spid="54689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46891"/>
                                        </p:tgtEl>
                                        <p:attrNameLst>
                                          <p:attrName>style.visibility</p:attrName>
                                        </p:attrNameLst>
                                      </p:cBhvr>
                                      <p:to>
                                        <p:strVal val="visible"/>
                                      </p:to>
                                    </p:set>
                                    <p:anim calcmode="lin" valueType="num">
                                      <p:cBhvr additive="base">
                                        <p:cTn id="43" dur="500" fill="hold"/>
                                        <p:tgtEl>
                                          <p:spTgt spid="546891"/>
                                        </p:tgtEl>
                                        <p:attrNameLst>
                                          <p:attrName>ppt_x</p:attrName>
                                        </p:attrNameLst>
                                      </p:cBhvr>
                                      <p:tavLst>
                                        <p:tav tm="0">
                                          <p:val>
                                            <p:strVal val="#ppt_x"/>
                                          </p:val>
                                        </p:tav>
                                        <p:tav tm="100000">
                                          <p:val>
                                            <p:strVal val="#ppt_x"/>
                                          </p:val>
                                        </p:tav>
                                      </p:tavLst>
                                    </p:anim>
                                    <p:anim calcmode="lin" valueType="num">
                                      <p:cBhvr additive="base">
                                        <p:cTn id="44" dur="500" fill="hold"/>
                                        <p:tgtEl>
                                          <p:spTgt spid="54689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46909"/>
                                        </p:tgtEl>
                                        <p:attrNameLst>
                                          <p:attrName>style.visibility</p:attrName>
                                        </p:attrNameLst>
                                      </p:cBhvr>
                                      <p:to>
                                        <p:strVal val="visible"/>
                                      </p:to>
                                    </p:set>
                                    <p:anim calcmode="lin" valueType="num">
                                      <p:cBhvr additive="base">
                                        <p:cTn id="49" dur="500" fill="hold"/>
                                        <p:tgtEl>
                                          <p:spTgt spid="546909"/>
                                        </p:tgtEl>
                                        <p:attrNameLst>
                                          <p:attrName>ppt_x</p:attrName>
                                        </p:attrNameLst>
                                      </p:cBhvr>
                                      <p:tavLst>
                                        <p:tav tm="0">
                                          <p:val>
                                            <p:strVal val="#ppt_x"/>
                                          </p:val>
                                        </p:tav>
                                        <p:tav tm="100000">
                                          <p:val>
                                            <p:strVal val="#ppt_x"/>
                                          </p:val>
                                        </p:tav>
                                      </p:tavLst>
                                    </p:anim>
                                    <p:anim calcmode="lin" valueType="num">
                                      <p:cBhvr additive="base">
                                        <p:cTn id="50" dur="500" fill="hold"/>
                                        <p:tgtEl>
                                          <p:spTgt spid="54690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46899"/>
                                        </p:tgtEl>
                                        <p:attrNameLst>
                                          <p:attrName>style.visibility</p:attrName>
                                        </p:attrNameLst>
                                      </p:cBhvr>
                                      <p:to>
                                        <p:strVal val="visible"/>
                                      </p:to>
                                    </p:set>
                                    <p:anim calcmode="lin" valueType="num">
                                      <p:cBhvr additive="base">
                                        <p:cTn id="55" dur="500" fill="hold"/>
                                        <p:tgtEl>
                                          <p:spTgt spid="546899"/>
                                        </p:tgtEl>
                                        <p:attrNameLst>
                                          <p:attrName>ppt_x</p:attrName>
                                        </p:attrNameLst>
                                      </p:cBhvr>
                                      <p:tavLst>
                                        <p:tav tm="0">
                                          <p:val>
                                            <p:strVal val="#ppt_x"/>
                                          </p:val>
                                        </p:tav>
                                        <p:tav tm="100000">
                                          <p:val>
                                            <p:strVal val="#ppt_x"/>
                                          </p:val>
                                        </p:tav>
                                      </p:tavLst>
                                    </p:anim>
                                    <p:anim calcmode="lin" valueType="num">
                                      <p:cBhvr additive="base">
                                        <p:cTn id="56" dur="500" fill="hold"/>
                                        <p:tgtEl>
                                          <p:spTgt spid="54689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46900"/>
                                        </p:tgtEl>
                                        <p:attrNameLst>
                                          <p:attrName>style.visibility</p:attrName>
                                        </p:attrNameLst>
                                      </p:cBhvr>
                                      <p:to>
                                        <p:strVal val="visible"/>
                                      </p:to>
                                    </p:set>
                                    <p:anim calcmode="lin" valueType="num">
                                      <p:cBhvr additive="base">
                                        <p:cTn id="59" dur="500" fill="hold"/>
                                        <p:tgtEl>
                                          <p:spTgt spid="546900"/>
                                        </p:tgtEl>
                                        <p:attrNameLst>
                                          <p:attrName>ppt_x</p:attrName>
                                        </p:attrNameLst>
                                      </p:cBhvr>
                                      <p:tavLst>
                                        <p:tav tm="0">
                                          <p:val>
                                            <p:strVal val="#ppt_x"/>
                                          </p:val>
                                        </p:tav>
                                        <p:tav tm="100000">
                                          <p:val>
                                            <p:strVal val="#ppt_x"/>
                                          </p:val>
                                        </p:tav>
                                      </p:tavLst>
                                    </p:anim>
                                    <p:anim calcmode="lin" valueType="num">
                                      <p:cBhvr additive="base">
                                        <p:cTn id="60" dur="500" fill="hold"/>
                                        <p:tgtEl>
                                          <p:spTgt spid="546900"/>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46910"/>
                                        </p:tgtEl>
                                        <p:attrNameLst>
                                          <p:attrName>style.visibility</p:attrName>
                                        </p:attrNameLst>
                                      </p:cBhvr>
                                      <p:to>
                                        <p:strVal val="visible"/>
                                      </p:to>
                                    </p:set>
                                    <p:anim calcmode="lin" valueType="num">
                                      <p:cBhvr additive="base">
                                        <p:cTn id="63" dur="500" fill="hold"/>
                                        <p:tgtEl>
                                          <p:spTgt spid="546910"/>
                                        </p:tgtEl>
                                        <p:attrNameLst>
                                          <p:attrName>ppt_x</p:attrName>
                                        </p:attrNameLst>
                                      </p:cBhvr>
                                      <p:tavLst>
                                        <p:tav tm="0">
                                          <p:val>
                                            <p:strVal val="#ppt_x"/>
                                          </p:val>
                                        </p:tav>
                                        <p:tav tm="100000">
                                          <p:val>
                                            <p:strVal val="#ppt_x"/>
                                          </p:val>
                                        </p:tav>
                                      </p:tavLst>
                                    </p:anim>
                                    <p:anim calcmode="lin" valueType="num">
                                      <p:cBhvr additive="base">
                                        <p:cTn id="64" dur="500" fill="hold"/>
                                        <p:tgtEl>
                                          <p:spTgt spid="546910"/>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546901"/>
                                        </p:tgtEl>
                                        <p:attrNameLst>
                                          <p:attrName>style.visibility</p:attrName>
                                        </p:attrNameLst>
                                      </p:cBhvr>
                                      <p:to>
                                        <p:strVal val="visible"/>
                                      </p:to>
                                    </p:set>
                                    <p:anim calcmode="lin" valueType="num">
                                      <p:cBhvr additive="base">
                                        <p:cTn id="69" dur="500" fill="hold"/>
                                        <p:tgtEl>
                                          <p:spTgt spid="546901"/>
                                        </p:tgtEl>
                                        <p:attrNameLst>
                                          <p:attrName>ppt_x</p:attrName>
                                        </p:attrNameLst>
                                      </p:cBhvr>
                                      <p:tavLst>
                                        <p:tav tm="0">
                                          <p:val>
                                            <p:strVal val="#ppt_x"/>
                                          </p:val>
                                        </p:tav>
                                        <p:tav tm="100000">
                                          <p:val>
                                            <p:strVal val="#ppt_x"/>
                                          </p:val>
                                        </p:tav>
                                      </p:tavLst>
                                    </p:anim>
                                    <p:anim calcmode="lin" valueType="num">
                                      <p:cBhvr additive="base">
                                        <p:cTn id="70" dur="500" fill="hold"/>
                                        <p:tgtEl>
                                          <p:spTgt spid="546901"/>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anim calcmode="lin" valueType="num">
                                      <p:cBhvr additive="base">
                                        <p:cTn id="75" dur="500" fill="hold"/>
                                        <p:tgtEl>
                                          <p:spTgt spid="4"/>
                                        </p:tgtEl>
                                        <p:attrNameLst>
                                          <p:attrName>ppt_x</p:attrName>
                                        </p:attrNameLst>
                                      </p:cBhvr>
                                      <p:tavLst>
                                        <p:tav tm="0">
                                          <p:val>
                                            <p:strVal val="#ppt_x"/>
                                          </p:val>
                                        </p:tav>
                                        <p:tav tm="100000">
                                          <p:val>
                                            <p:strVal val="#ppt_x"/>
                                          </p:val>
                                        </p:tav>
                                      </p:tavLst>
                                    </p:anim>
                                    <p:anim calcmode="lin" valueType="num">
                                      <p:cBhvr additive="base">
                                        <p:cTn id="7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90" grpId="0"/>
      <p:bldP spid="546891" grpId="0"/>
      <p:bldP spid="546900" grpId="0" bldLvl="0" animBg="1"/>
      <p:bldP spid="546901" grpId="0"/>
      <p:bldP spid="546909" grpId="0"/>
      <p:bldP spid="546910" grpId="0"/>
      <p:bldP spid="5469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2226252" y="2594034"/>
            <a:ext cx="4504487" cy="3085027"/>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60</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3430" y="365163"/>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哈希函数</a:t>
            </a:r>
          </a:p>
        </p:txBody>
      </p:sp>
      <p:sp>
        <p:nvSpPr>
          <p:cNvPr id="4" name="内容占位符 3"/>
          <p:cNvSpPr>
            <a:spLocks noGrp="1"/>
          </p:cNvSpPr>
          <p:nvPr>
            <p:ph idx="1"/>
          </p:nvPr>
        </p:nvSpPr>
        <p:spPr>
          <a:xfrm>
            <a:off x="1096879" y="1340768"/>
            <a:ext cx="8155641" cy="1577578"/>
          </a:xfrm>
        </p:spPr>
        <p:txBody>
          <a:bodyPr/>
          <a:lstStyle/>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给定查找键，返回一个整数表示（哈希值）</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哈希值用于确定查找键在哈希表中的位置</a:t>
            </a:r>
            <a:endParaRPr lang="en-US" altLang="zh-CN" sz="1800" b="1" dirty="0">
              <a:solidFill>
                <a:srgbClr val="701988"/>
              </a:solidFill>
              <a:latin typeface="微软雅黑" panose="020B0503020204020204" pitchFamily="82" charset="2"/>
              <a:ea typeface="微软雅黑" panose="020B0503020204020204" pitchFamily="82" charset="2"/>
            </a:endParaRPr>
          </a:p>
          <a:p>
            <a:endParaRPr lang="zh-CN" altLang="en-US" sz="2100" b="1" dirty="0">
              <a:solidFill>
                <a:srgbClr val="701988"/>
              </a:solidFill>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9130" y="2663126"/>
            <a:ext cx="3936775" cy="287225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形状 39"/>
          <p:cNvSpPr/>
          <p:nvPr/>
        </p:nvSpPr>
        <p:spPr bwMode="auto">
          <a:xfrm>
            <a:off x="534169" y="1747054"/>
            <a:ext cx="8075663" cy="3472450"/>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endParaRPr>
          </a:p>
        </p:txBody>
      </p:sp>
      <p:sp>
        <p:nvSpPr>
          <p:cNvPr id="2" name="灯片编号占位符 1"/>
          <p:cNvSpPr>
            <a:spLocks noGrp="1"/>
          </p:cNvSpPr>
          <p:nvPr>
            <p:ph type="sldNum" sz="quarter" idx="10"/>
          </p:nvPr>
        </p:nvSpPr>
        <p:spPr/>
        <p:txBody>
          <a:bodyPr/>
          <a:lstStyle/>
          <a:p>
            <a:fld id="{87BBDC00-B9E2-4EFD-9306-2934E87247C6}" type="slidenum">
              <a:rPr lang="zh-CN" altLang="en-US" sz="100" smtClean="0">
                <a:latin typeface="微软雅黑" panose="020B0503020204020204" pitchFamily="82" charset="2"/>
                <a:ea typeface="微软雅黑" panose="020B0503020204020204" pitchFamily="82" charset="2"/>
              </a:rPr>
              <a:t>61</a:t>
            </a:fld>
            <a:endParaRPr lang="zh-CN" altLang="en-US" sz="100">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513162"/>
            <a:ext cx="7568173" cy="678470"/>
          </a:xfrm>
          <a:noFill/>
          <a:ln>
            <a:noFill/>
          </a:ln>
          <a:effectLst/>
        </p:spPr>
        <p:txBody>
          <a:bodyPr vert="horz" wrap="square" lIns="91440" tIns="45720" rIns="91440" bIns="45720" numCol="1" anchor="ctr" anchorCtr="0" compatLnSpc="1"/>
          <a:lstStyle/>
          <a:p>
            <a:r>
              <a:rPr lang="zh-CN" altLang="en-US" sz="2700" dirty="0">
                <a:solidFill>
                  <a:srgbClr val="FF0000"/>
                </a:solidFill>
                <a:latin typeface="微软雅黑" panose="020B0503020204020204" pitchFamily="82" charset="2"/>
                <a:ea typeface="微软雅黑" panose="020B0503020204020204" pitchFamily="82" charset="2"/>
              </a:rPr>
              <a:t>哈希函数</a:t>
            </a:r>
          </a:p>
        </p:txBody>
      </p:sp>
      <p:sp>
        <p:nvSpPr>
          <p:cNvPr id="4" name="内容占位符 3"/>
          <p:cNvSpPr>
            <a:spLocks noGrp="1"/>
          </p:cNvSpPr>
          <p:nvPr>
            <p:ph idx="1"/>
          </p:nvPr>
        </p:nvSpPr>
        <p:spPr>
          <a:xfrm>
            <a:off x="725855" y="1952184"/>
            <a:ext cx="8155641" cy="3754040"/>
          </a:xfrm>
        </p:spPr>
        <p:txBody>
          <a:bodyPr/>
          <a:lstStyle/>
          <a:p>
            <a:pPr>
              <a:lnSpc>
                <a:spcPct val="150000"/>
              </a:lnSpc>
              <a:spcBef>
                <a:spcPts val="0"/>
              </a:spcBef>
              <a:buFont typeface="Wingdings" panose="05000000000000000000" pitchFamily="2" charset="2"/>
              <a:buChar char="Ø"/>
            </a:pPr>
            <a:r>
              <a:rPr lang="en-US" altLang="zh-CN" sz="1500" b="1" dirty="0">
                <a:solidFill>
                  <a:srgbClr val="701988"/>
                </a:solidFill>
                <a:latin typeface="微软雅黑" panose="020B0503020204020204" pitchFamily="82" charset="2"/>
                <a:ea typeface="微软雅黑" panose="020B0503020204020204" pitchFamily="82" charset="2"/>
              </a:rPr>
              <a:t>MD5</a:t>
            </a:r>
          </a:p>
          <a:p>
            <a:pPr>
              <a:lnSpc>
                <a:spcPct val="150000"/>
              </a:lnSpc>
              <a:spcBef>
                <a:spcPts val="0"/>
              </a:spcBef>
              <a:buFont typeface="Wingdings" panose="05000000000000000000" pitchFamily="2" charset="2"/>
              <a:buChar char="Ø"/>
            </a:pPr>
            <a:r>
              <a:rPr lang="en-US" altLang="zh-CN" sz="1500" b="1" dirty="0">
                <a:solidFill>
                  <a:srgbClr val="701988"/>
                </a:solidFill>
                <a:latin typeface="微软雅黑" panose="020B0503020204020204" pitchFamily="82" charset="2"/>
                <a:ea typeface="微软雅黑" panose="020B0503020204020204" pitchFamily="82" charset="2"/>
              </a:rPr>
              <a:t>SHA256</a:t>
            </a:r>
          </a:p>
          <a:p>
            <a:pPr>
              <a:lnSpc>
                <a:spcPct val="150000"/>
              </a:lnSpc>
              <a:spcBef>
                <a:spcPts val="0"/>
              </a:spcBef>
              <a:buFont typeface="Wingdings" panose="05000000000000000000" pitchFamily="2" charset="2"/>
              <a:buChar char="Ø"/>
            </a:pPr>
            <a:r>
              <a:rPr lang="en-US" altLang="zh-CN" sz="1500" b="1" dirty="0">
                <a:solidFill>
                  <a:srgbClr val="701988"/>
                </a:solidFill>
                <a:latin typeface="微软雅黑" panose="020B0503020204020204" pitchFamily="82" charset="2"/>
                <a:ea typeface="微软雅黑" panose="020B0503020204020204" pitchFamily="82" charset="2"/>
              </a:rPr>
              <a:t>CRC-64(1975)</a:t>
            </a:r>
          </a:p>
          <a:p>
            <a:pPr>
              <a:lnSpc>
                <a:spcPct val="150000"/>
              </a:lnSpc>
              <a:spcBef>
                <a:spcPts val="0"/>
              </a:spcBef>
              <a:buFont typeface="Wingdings" panose="05000000000000000000" pitchFamily="2" charset="2"/>
              <a:buChar char="Ø"/>
            </a:pPr>
            <a:r>
              <a:rPr lang="en-US" altLang="zh-CN" sz="1500" b="1" dirty="0">
                <a:solidFill>
                  <a:srgbClr val="701988"/>
                </a:solidFill>
                <a:latin typeface="微软雅黑" panose="020B0503020204020204" pitchFamily="82" charset="2"/>
                <a:ea typeface="微软雅黑" panose="020B0503020204020204" pitchFamily="82" charset="2"/>
              </a:rPr>
              <a:t>PostgreSQL Lookup3Hash(2006)</a:t>
            </a:r>
          </a:p>
          <a:p>
            <a:pPr>
              <a:lnSpc>
                <a:spcPct val="150000"/>
              </a:lnSpc>
              <a:spcBef>
                <a:spcPts val="0"/>
              </a:spcBef>
              <a:buFont typeface="Wingdings" panose="05000000000000000000" pitchFamily="2" charset="2"/>
              <a:buChar char="Ø"/>
            </a:pPr>
            <a:r>
              <a:rPr lang="en-US" altLang="zh-CN" sz="1500" b="1" dirty="0" err="1">
                <a:solidFill>
                  <a:srgbClr val="701988"/>
                </a:solidFill>
                <a:latin typeface="微软雅黑" panose="020B0503020204020204" pitchFamily="82" charset="2"/>
                <a:ea typeface="微软雅黑" panose="020B0503020204020204" pitchFamily="82" charset="2"/>
              </a:rPr>
              <a:t>MurmurHash</a:t>
            </a:r>
            <a:r>
              <a:rPr lang="en-US" altLang="zh-CN" sz="1500" b="1" dirty="0">
                <a:solidFill>
                  <a:srgbClr val="701988"/>
                </a:solidFill>
                <a:latin typeface="微软雅黑" panose="020B0503020204020204" pitchFamily="82" charset="2"/>
                <a:ea typeface="微软雅黑" panose="020B0503020204020204" pitchFamily="82" charset="2"/>
              </a:rPr>
              <a:t>(2008)</a:t>
            </a:r>
          </a:p>
          <a:p>
            <a:pPr>
              <a:lnSpc>
                <a:spcPct val="150000"/>
              </a:lnSpc>
              <a:spcBef>
                <a:spcPts val="0"/>
              </a:spcBef>
              <a:buFont typeface="Wingdings" panose="05000000000000000000" pitchFamily="2" charset="2"/>
              <a:buChar char="Ø"/>
            </a:pPr>
            <a:r>
              <a:rPr lang="en-US" altLang="zh-CN" sz="1500" b="1" dirty="0">
                <a:solidFill>
                  <a:srgbClr val="701988"/>
                </a:solidFill>
                <a:latin typeface="微软雅黑" panose="020B0503020204020204" pitchFamily="82" charset="2"/>
                <a:ea typeface="微软雅黑" panose="020B0503020204020204" pitchFamily="82" charset="2"/>
              </a:rPr>
              <a:t>Google </a:t>
            </a:r>
            <a:r>
              <a:rPr lang="en-US" altLang="zh-CN" sz="1500" b="1" dirty="0" err="1">
                <a:solidFill>
                  <a:srgbClr val="701988"/>
                </a:solidFill>
                <a:latin typeface="微软雅黑" panose="020B0503020204020204" pitchFamily="82" charset="2"/>
                <a:ea typeface="微软雅黑" panose="020B0503020204020204" pitchFamily="82" charset="2"/>
              </a:rPr>
              <a:t>CityHash</a:t>
            </a:r>
            <a:r>
              <a:rPr lang="en-US" altLang="zh-CN" sz="1500" b="1" dirty="0">
                <a:solidFill>
                  <a:srgbClr val="701988"/>
                </a:solidFill>
                <a:latin typeface="微软雅黑" panose="020B0503020204020204" pitchFamily="82" charset="2"/>
                <a:ea typeface="微软雅黑" panose="020B0503020204020204" pitchFamily="82" charset="2"/>
              </a:rPr>
              <a:t>(2011)</a:t>
            </a:r>
          </a:p>
          <a:p>
            <a:pPr>
              <a:lnSpc>
                <a:spcPct val="150000"/>
              </a:lnSpc>
              <a:spcBef>
                <a:spcPts val="0"/>
              </a:spcBef>
              <a:buFont typeface="Wingdings" panose="05000000000000000000" pitchFamily="2" charset="2"/>
              <a:buChar char="Ø"/>
            </a:pPr>
            <a:r>
              <a:rPr lang="en-US" altLang="zh-CN" sz="1500" b="1" dirty="0">
                <a:solidFill>
                  <a:srgbClr val="701988"/>
                </a:solidFill>
                <a:latin typeface="微软雅黑" panose="020B0503020204020204" pitchFamily="82" charset="2"/>
                <a:ea typeface="微软雅黑" panose="020B0503020204020204" pitchFamily="82" charset="2"/>
              </a:rPr>
              <a:t>Facebook </a:t>
            </a:r>
            <a:r>
              <a:rPr lang="en-US" altLang="zh-CN" sz="1500" b="1" dirty="0" err="1">
                <a:solidFill>
                  <a:srgbClr val="701988"/>
                </a:solidFill>
                <a:latin typeface="微软雅黑" panose="020B0503020204020204" pitchFamily="82" charset="2"/>
                <a:ea typeface="微软雅黑" panose="020B0503020204020204" pitchFamily="82" charset="2"/>
              </a:rPr>
              <a:t>RocksDB</a:t>
            </a:r>
            <a:r>
              <a:rPr lang="en-US" altLang="zh-CN" sz="1500" b="1" dirty="0">
                <a:solidFill>
                  <a:srgbClr val="701988"/>
                </a:solidFill>
                <a:latin typeface="微软雅黑" panose="020B0503020204020204" pitchFamily="82" charset="2"/>
                <a:ea typeface="微软雅黑" panose="020B0503020204020204" pitchFamily="82" charset="2"/>
              </a:rPr>
              <a:t> </a:t>
            </a:r>
            <a:r>
              <a:rPr lang="en-US" altLang="zh-CN" sz="1500" b="1" dirty="0" err="1">
                <a:solidFill>
                  <a:srgbClr val="701988"/>
                </a:solidFill>
                <a:latin typeface="微软雅黑" panose="020B0503020204020204" pitchFamily="82" charset="2"/>
                <a:ea typeface="微软雅黑" panose="020B0503020204020204" pitchFamily="82" charset="2"/>
              </a:rPr>
              <a:t>XXHash</a:t>
            </a:r>
            <a:r>
              <a:rPr lang="en-US" altLang="zh-CN" sz="1500" b="1" dirty="0">
                <a:solidFill>
                  <a:srgbClr val="701988"/>
                </a:solidFill>
                <a:latin typeface="微软雅黑" panose="020B0503020204020204" pitchFamily="82" charset="2"/>
                <a:ea typeface="微软雅黑" panose="020B0503020204020204" pitchFamily="82" charset="2"/>
              </a:rPr>
              <a:t>(2012)</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a:defRPr/>
            </a:pPr>
            <a:r>
              <a:rPr lang="zh-CN" altLang="en-US" sz="100">
                <a:latin typeface="微软雅黑" panose="020B0503020204020204" pitchFamily="82" charset="2"/>
                <a:ea typeface="微软雅黑" panose="020B0503020204020204" pitchFamily="82" charset="2"/>
              </a:rPr>
              <a:t>数据库系统</a:t>
            </a:r>
            <a:r>
              <a:rPr lang="en-US" altLang="zh-CN" sz="100">
                <a:latin typeface="微软雅黑" panose="020B0503020204020204" pitchFamily="82" charset="2"/>
                <a:ea typeface="微软雅黑" panose="020B0503020204020204" pitchFamily="82" charset="2"/>
              </a:rPr>
              <a:t>—</a:t>
            </a:r>
            <a:r>
              <a:rPr lang="zh-CN" altLang="en-US" sz="100">
                <a:latin typeface="微软雅黑" panose="020B0503020204020204" pitchFamily="82" charset="2"/>
                <a:ea typeface="微软雅黑" panose="020B0503020204020204" pitchFamily="82" charset="2"/>
              </a:rPr>
              <a:t>索引</a:t>
            </a:r>
            <a:endParaRPr lang="en-US" altLang="zh-CN" sz="900" dirty="0">
              <a:latin typeface="微软雅黑" panose="020B0503020204020204" pitchFamily="82" charset="2"/>
              <a:ea typeface="微软雅黑" panose="020B0503020204020204" pitchFamily="82" charset="2"/>
            </a:endParaRPr>
          </a:p>
        </p:txBody>
      </p:sp>
      <p:sp>
        <p:nvSpPr>
          <p:cNvPr id="6" name="右大括号 5"/>
          <p:cNvSpPr/>
          <p:nvPr/>
        </p:nvSpPr>
        <p:spPr bwMode="auto">
          <a:xfrm>
            <a:off x="1919632" y="2080526"/>
            <a:ext cx="257175" cy="450067"/>
          </a:xfrm>
          <a:prstGeom prst="rightBrace">
            <a:avLst/>
          </a:prstGeom>
          <a:noFill/>
          <a:ln w="38100" cap="flat" cmpd="sng" algn="ctr">
            <a:solidFill>
              <a:schemeClr val="accent2"/>
            </a:solidFill>
            <a:prstDash val="solid"/>
            <a:round/>
            <a:headEnd type="none" w="med" len="med"/>
            <a:tailEnd type="none" w="med" len="med"/>
          </a:ln>
          <a:effectLst/>
        </p:spPr>
        <p:txBody>
          <a:bodyPr vert="horz" wrap="square" lIns="68580" tIns="34290" rIns="68580" bIns="34290" numCol="1" rtlCol="0" anchor="t" anchorCtr="0" compatLnSpc="1">
            <a:spAutoFit/>
          </a:bodyPr>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4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7" name="文本框 6"/>
          <p:cNvSpPr txBox="1"/>
          <p:nvPr/>
        </p:nvSpPr>
        <p:spPr>
          <a:xfrm>
            <a:off x="2287458" y="2148710"/>
            <a:ext cx="5707380" cy="321945"/>
          </a:xfrm>
          <a:prstGeom prst="rect">
            <a:avLst/>
          </a:prstGeom>
          <a:noFill/>
        </p:spPr>
        <p:txBody>
          <a:bodyPr wrap="none" rtlCol="0">
            <a:spAutoFit/>
          </a:bodyPr>
          <a:lstStyle/>
          <a:p>
            <a:r>
              <a:rPr kumimoji="1" lang="zh-CN" altLang="en-US" sz="1500" dirty="0">
                <a:latin typeface="微软雅黑" panose="020B0503020204020204" pitchFamily="82" charset="2"/>
                <a:ea typeface="微软雅黑" panose="020B0503020204020204" pitchFamily="82" charset="2"/>
              </a:rPr>
              <a:t>加密哈希，防止构造哈希碰撞，用于认证、防篡改等情况，速度慢</a:t>
            </a:r>
          </a:p>
        </p:txBody>
      </p:sp>
      <p:sp>
        <p:nvSpPr>
          <p:cNvPr id="8" name="文本框 7"/>
          <p:cNvSpPr txBox="1"/>
          <p:nvPr/>
        </p:nvSpPr>
        <p:spPr>
          <a:xfrm>
            <a:off x="2357283" y="2691839"/>
            <a:ext cx="1325880" cy="321945"/>
          </a:xfrm>
          <a:prstGeom prst="rect">
            <a:avLst/>
          </a:prstGeom>
          <a:noFill/>
        </p:spPr>
        <p:txBody>
          <a:bodyPr wrap="none" rtlCol="0">
            <a:spAutoFit/>
          </a:bodyPr>
          <a:lstStyle/>
          <a:p>
            <a:r>
              <a:rPr kumimoji="1" lang="zh-CN" altLang="en-US" sz="1500" dirty="0">
                <a:latin typeface="微软雅黑" panose="020B0503020204020204" pitchFamily="82" charset="2"/>
                <a:ea typeface="微软雅黑" panose="020B0503020204020204" pitchFamily="82" charset="2"/>
              </a:rPr>
              <a:t>用于错误校验</a:t>
            </a:r>
          </a:p>
        </p:txBody>
      </p:sp>
      <p:sp>
        <p:nvSpPr>
          <p:cNvPr id="9" name="文本框 8"/>
          <p:cNvSpPr txBox="1"/>
          <p:nvPr/>
        </p:nvSpPr>
        <p:spPr>
          <a:xfrm>
            <a:off x="2937674" y="3379015"/>
            <a:ext cx="2087880" cy="321945"/>
          </a:xfrm>
          <a:prstGeom prst="rect">
            <a:avLst/>
          </a:prstGeom>
          <a:noFill/>
        </p:spPr>
        <p:txBody>
          <a:bodyPr wrap="none" rtlCol="0">
            <a:spAutoFit/>
          </a:bodyPr>
          <a:lstStyle/>
          <a:p>
            <a:r>
              <a:rPr kumimoji="1" lang="zh-CN" altLang="en-US" sz="1500" dirty="0">
                <a:latin typeface="微软雅黑" panose="020B0503020204020204" pitchFamily="82" charset="2"/>
                <a:ea typeface="微软雅黑" panose="020B0503020204020204" pitchFamily="82" charset="2"/>
              </a:rPr>
              <a:t>快速、通用的哈希函数</a:t>
            </a:r>
          </a:p>
        </p:txBody>
      </p:sp>
      <p:sp>
        <p:nvSpPr>
          <p:cNvPr id="10" name="文本框 9"/>
          <p:cNvSpPr txBox="1"/>
          <p:nvPr/>
        </p:nvSpPr>
        <p:spPr>
          <a:xfrm>
            <a:off x="4288105" y="4068966"/>
            <a:ext cx="944880" cy="321945"/>
          </a:xfrm>
          <a:prstGeom prst="rect">
            <a:avLst/>
          </a:prstGeom>
          <a:noFill/>
        </p:spPr>
        <p:txBody>
          <a:bodyPr wrap="none" rtlCol="0">
            <a:spAutoFit/>
          </a:bodyPr>
          <a:lstStyle/>
          <a:p>
            <a:r>
              <a:rPr kumimoji="1" lang="zh-CN" altLang="en-US" sz="1500" dirty="0">
                <a:latin typeface="微软雅黑" panose="020B0503020204020204" pitchFamily="82" charset="2"/>
                <a:ea typeface="微软雅黑" panose="020B0503020204020204" pitchFamily="82" charset="2"/>
              </a:rPr>
              <a:t>速度最快</a:t>
            </a:r>
          </a:p>
        </p:txBody>
      </p:sp>
      <p:sp>
        <p:nvSpPr>
          <p:cNvPr id="11" name="文本框 10"/>
          <p:cNvSpPr txBox="1"/>
          <p:nvPr/>
        </p:nvSpPr>
        <p:spPr>
          <a:xfrm>
            <a:off x="3270877" y="3724190"/>
            <a:ext cx="2468880" cy="321945"/>
          </a:xfrm>
          <a:prstGeom prst="rect">
            <a:avLst/>
          </a:prstGeom>
          <a:noFill/>
        </p:spPr>
        <p:txBody>
          <a:bodyPr wrap="none" rtlCol="0">
            <a:spAutoFit/>
          </a:bodyPr>
          <a:lstStyle/>
          <a:p>
            <a:r>
              <a:rPr kumimoji="1" lang="zh-CN" altLang="en-US" sz="1500" dirty="0">
                <a:latin typeface="微软雅黑" panose="020B0503020204020204" pitchFamily="82" charset="2"/>
                <a:ea typeface="微软雅黑" panose="020B0503020204020204" pitchFamily="82" charset="2"/>
              </a:rPr>
              <a:t>更适用于长度较短的查找键</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哈希索引 </a:t>
            </a:r>
          </a:p>
        </p:txBody>
      </p:sp>
      <p:sp>
        <p:nvSpPr>
          <p:cNvPr id="88067" name="Text Box 3"/>
          <p:cNvSpPr txBox="1"/>
          <p:nvPr/>
        </p:nvSpPr>
        <p:spPr>
          <a:xfrm>
            <a:off x="296863" y="898525"/>
            <a:ext cx="8847137" cy="1916113"/>
          </a:xfrm>
          <a:prstGeom prst="rect">
            <a:avLst/>
          </a:prstGeom>
          <a:noFill/>
          <a:ln w="9525">
            <a:noFill/>
          </a:ln>
        </p:spPr>
        <p:txBody>
          <a:bodyPr>
            <a:spAutoFit/>
          </a:body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哈希索引</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p>
          <a:p>
            <a:pPr marL="0" marR="0" lvl="0" indent="0" algn="l" defTabSz="914400" rtl="0" eaLnBrk="1" fontAlgn="base" latinLnBrk="0" hangingPunct="1">
              <a:lnSpc>
                <a:spcPct val="13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内存数据</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可采用哈希确定</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存储页</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主文件</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可采用哈希确定</a:t>
            </a:r>
            <a:r>
              <a:rPr kumimoji="0" lang="zh-CN" altLang="en-US"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存储块</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索引</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亦可采用哈希确定</a:t>
            </a:r>
            <a:r>
              <a:rPr kumimoji="0" lang="zh-CN" altLang="en-US" sz="20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索引项的存储块</a:t>
            </a:r>
          </a:p>
          <a:p>
            <a:pPr marL="0" marR="0" lvl="0" indent="0" algn="l" defTabSz="914400" rtl="0" eaLnBrk="1" fontAlgn="base" latinLnBrk="0" hangingPunct="1">
              <a:lnSpc>
                <a:spcPct val="130000"/>
              </a:lnSpc>
              <a:spcBef>
                <a:spcPct val="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Ｍ个桶</a:t>
            </a:r>
            <a:r>
              <a:rPr lang="zh-CN" altLang="en-US" sz="2000" dirty="0">
                <a:solidFill>
                  <a:srgbClr val="000000"/>
                </a:solidFill>
                <a:latin typeface="微软雅黑" panose="020B0503020204020204" pitchFamily="34" charset="-122"/>
                <a:ea typeface="微软雅黑" panose="020B0503020204020204" pitchFamily="34" charset="-122"/>
              </a:rPr>
              <a:t>，</a:t>
            </a:r>
            <a:r>
              <a:rPr kumimoji="0" lang="zh-CN" altLang="en-US"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一个桶可以是一个存储块，亦可是若干个连续的存储块。</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p>
        </p:txBody>
      </p:sp>
      <p:graphicFrame>
        <p:nvGraphicFramePr>
          <p:cNvPr id="82948" name="表格 82947"/>
          <p:cNvGraphicFramePr/>
          <p:nvPr/>
        </p:nvGraphicFramePr>
        <p:xfrm>
          <a:off x="6388100" y="3402013"/>
          <a:ext cx="2057400" cy="30940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13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71812" name="Text Box 68"/>
          <p:cNvSpPr txBox="1"/>
          <p:nvPr/>
        </p:nvSpPr>
        <p:spPr>
          <a:xfrm>
            <a:off x="5927725" y="3554413"/>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671813" name="Text Box 69"/>
          <p:cNvSpPr txBox="1"/>
          <p:nvPr/>
        </p:nvSpPr>
        <p:spPr>
          <a:xfrm>
            <a:off x="5927725" y="4278313"/>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71814" name="Text Box 70"/>
          <p:cNvSpPr txBox="1"/>
          <p:nvPr/>
        </p:nvSpPr>
        <p:spPr>
          <a:xfrm>
            <a:off x="5927725" y="500380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671815" name="Text Box 71"/>
          <p:cNvSpPr txBox="1"/>
          <p:nvPr/>
        </p:nvSpPr>
        <p:spPr>
          <a:xfrm>
            <a:off x="5927725" y="5729288"/>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671816" name="Rectangle 72"/>
          <p:cNvSpPr/>
          <p:nvPr/>
        </p:nvSpPr>
        <p:spPr>
          <a:xfrm>
            <a:off x="239713" y="3136900"/>
            <a:ext cx="5686425" cy="3375025"/>
          </a:xfrm>
          <a:prstGeom prst="rect">
            <a:avLst/>
          </a:prstGeom>
          <a:noFill/>
          <a:ln w="9525">
            <a:noFill/>
          </a:ln>
        </p:spPr>
        <p:txBody>
          <a:bodyPr>
            <a:spAutoFit/>
          </a:bodyPr>
          <a:lstStyle/>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None/>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示例：假设 </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存储块可存放</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个键值及其指针</a:t>
            </a:r>
          </a:p>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None/>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M=4; 1</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个桶为１个存储块</a:t>
            </a:r>
          </a:p>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None/>
              <a:defRPr/>
            </a:pP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h(x)</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满足：</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pt-BR" altLang="zh-CN"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h(e)=0 </a:t>
            </a:r>
            <a:r>
              <a:rPr kumimoji="0" lang="zh-CN" altLang="pt-BR"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  </a:t>
            </a:r>
            <a:r>
              <a:rPr kumimoji="0" lang="pt-BR" altLang="zh-CN"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h(b)=h(f)=h(s)=1</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pt-BR" altLang="zh-CN"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h(g)=2 </a:t>
            </a:r>
            <a:r>
              <a:rPr kumimoji="0" lang="zh-CN" altLang="pt-BR"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  </a:t>
            </a:r>
            <a:r>
              <a:rPr kumimoji="0" lang="pt-BR" altLang="zh-CN"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h(a)=h(c)=3</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endPar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问：如何查询键值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的索引项？</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计算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h(a)=3</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读取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号桶，获得键值</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的索引项</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None/>
              <a:defRPr/>
            </a:pPr>
            <a:r>
              <a:rPr kumimoji="0" lang="zh-CN" altLang="en-US" sz="16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需要</a:t>
            </a:r>
            <a:r>
              <a:rPr kumimoji="0" lang="en-US" altLang="zh-CN" sz="16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个磁盘块读取</a:t>
            </a:r>
            <a:endParaRPr kumimoji="0" lang="pt-BR" altLang="zh-CN" sz="16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1816">
                                            <p:txEl>
                                              <p:pRg st="0" end="0"/>
                                            </p:txEl>
                                          </p:spTgt>
                                        </p:tgtEl>
                                        <p:attrNameLst>
                                          <p:attrName>style.visibility</p:attrName>
                                        </p:attrNameLst>
                                      </p:cBhvr>
                                      <p:to>
                                        <p:strVal val="visible"/>
                                      </p:to>
                                    </p:set>
                                    <p:anim calcmode="lin" valueType="num">
                                      <p:cBhvr additive="base">
                                        <p:cTn id="7" dur="500" fill="hold"/>
                                        <p:tgtEl>
                                          <p:spTgt spid="6718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18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1816">
                                            <p:txEl>
                                              <p:pRg st="1" end="1"/>
                                            </p:txEl>
                                          </p:spTgt>
                                        </p:tgtEl>
                                        <p:attrNameLst>
                                          <p:attrName>style.visibility</p:attrName>
                                        </p:attrNameLst>
                                      </p:cBhvr>
                                      <p:to>
                                        <p:strVal val="visible"/>
                                      </p:to>
                                    </p:set>
                                    <p:anim calcmode="lin" valueType="num">
                                      <p:cBhvr additive="base">
                                        <p:cTn id="11" dur="500" fill="hold"/>
                                        <p:tgtEl>
                                          <p:spTgt spid="6718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18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1816">
                                            <p:txEl>
                                              <p:pRg st="2" end="2"/>
                                            </p:txEl>
                                          </p:spTgt>
                                        </p:tgtEl>
                                        <p:attrNameLst>
                                          <p:attrName>style.visibility</p:attrName>
                                        </p:attrNameLst>
                                      </p:cBhvr>
                                      <p:to>
                                        <p:strVal val="visible"/>
                                      </p:to>
                                    </p:set>
                                    <p:anim calcmode="lin" valueType="num">
                                      <p:cBhvr additive="base">
                                        <p:cTn id="15" dur="500" fill="hold"/>
                                        <p:tgtEl>
                                          <p:spTgt spid="6718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18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71816">
                                            <p:txEl>
                                              <p:pRg st="3" end="3"/>
                                            </p:txEl>
                                          </p:spTgt>
                                        </p:tgtEl>
                                        <p:attrNameLst>
                                          <p:attrName>style.visibility</p:attrName>
                                        </p:attrNameLst>
                                      </p:cBhvr>
                                      <p:to>
                                        <p:strVal val="visible"/>
                                      </p:to>
                                    </p:set>
                                    <p:anim calcmode="lin" valueType="num">
                                      <p:cBhvr additive="base">
                                        <p:cTn id="19" dur="500" fill="hold"/>
                                        <p:tgtEl>
                                          <p:spTgt spid="6718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18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71816">
                                            <p:txEl>
                                              <p:pRg st="4" end="4"/>
                                            </p:txEl>
                                          </p:spTgt>
                                        </p:tgtEl>
                                        <p:attrNameLst>
                                          <p:attrName>style.visibility</p:attrName>
                                        </p:attrNameLst>
                                      </p:cBhvr>
                                      <p:to>
                                        <p:strVal val="visible"/>
                                      </p:to>
                                    </p:set>
                                    <p:anim calcmode="lin" valueType="num">
                                      <p:cBhvr additive="base">
                                        <p:cTn id="23" dur="500" fill="hold"/>
                                        <p:tgtEl>
                                          <p:spTgt spid="6718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718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2948"/>
                                        </p:tgtEl>
                                        <p:attrNameLst>
                                          <p:attrName>style.visibility</p:attrName>
                                        </p:attrNameLst>
                                      </p:cBhvr>
                                      <p:to>
                                        <p:strVal val="visible"/>
                                      </p:to>
                                    </p:set>
                                    <p:anim calcmode="lin" valueType="num">
                                      <p:cBhvr additive="base">
                                        <p:cTn id="27" dur="500" fill="hold"/>
                                        <p:tgtEl>
                                          <p:spTgt spid="82948"/>
                                        </p:tgtEl>
                                        <p:attrNameLst>
                                          <p:attrName>ppt_x</p:attrName>
                                        </p:attrNameLst>
                                      </p:cBhvr>
                                      <p:tavLst>
                                        <p:tav tm="0">
                                          <p:val>
                                            <p:strVal val="#ppt_x"/>
                                          </p:val>
                                        </p:tav>
                                        <p:tav tm="100000">
                                          <p:val>
                                            <p:strVal val="#ppt_x"/>
                                          </p:val>
                                        </p:tav>
                                      </p:tavLst>
                                    </p:anim>
                                    <p:anim calcmode="lin" valueType="num">
                                      <p:cBhvr additive="base">
                                        <p:cTn id="28" dur="500" fill="hold"/>
                                        <p:tgtEl>
                                          <p:spTgt spid="8294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71812"/>
                                        </p:tgtEl>
                                        <p:attrNameLst>
                                          <p:attrName>style.visibility</p:attrName>
                                        </p:attrNameLst>
                                      </p:cBhvr>
                                      <p:to>
                                        <p:strVal val="visible"/>
                                      </p:to>
                                    </p:set>
                                    <p:anim calcmode="lin" valueType="num">
                                      <p:cBhvr additive="base">
                                        <p:cTn id="31" dur="500" fill="hold"/>
                                        <p:tgtEl>
                                          <p:spTgt spid="671812"/>
                                        </p:tgtEl>
                                        <p:attrNameLst>
                                          <p:attrName>ppt_x</p:attrName>
                                        </p:attrNameLst>
                                      </p:cBhvr>
                                      <p:tavLst>
                                        <p:tav tm="0">
                                          <p:val>
                                            <p:strVal val="#ppt_x"/>
                                          </p:val>
                                        </p:tav>
                                        <p:tav tm="100000">
                                          <p:val>
                                            <p:strVal val="#ppt_x"/>
                                          </p:val>
                                        </p:tav>
                                      </p:tavLst>
                                    </p:anim>
                                    <p:anim calcmode="lin" valueType="num">
                                      <p:cBhvr additive="base">
                                        <p:cTn id="32" dur="500" fill="hold"/>
                                        <p:tgtEl>
                                          <p:spTgt spid="6718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71813"/>
                                        </p:tgtEl>
                                        <p:attrNameLst>
                                          <p:attrName>style.visibility</p:attrName>
                                        </p:attrNameLst>
                                      </p:cBhvr>
                                      <p:to>
                                        <p:strVal val="visible"/>
                                      </p:to>
                                    </p:set>
                                    <p:anim calcmode="lin" valueType="num">
                                      <p:cBhvr additive="base">
                                        <p:cTn id="35" dur="500" fill="hold"/>
                                        <p:tgtEl>
                                          <p:spTgt spid="671813"/>
                                        </p:tgtEl>
                                        <p:attrNameLst>
                                          <p:attrName>ppt_x</p:attrName>
                                        </p:attrNameLst>
                                      </p:cBhvr>
                                      <p:tavLst>
                                        <p:tav tm="0">
                                          <p:val>
                                            <p:strVal val="#ppt_x"/>
                                          </p:val>
                                        </p:tav>
                                        <p:tav tm="100000">
                                          <p:val>
                                            <p:strVal val="#ppt_x"/>
                                          </p:val>
                                        </p:tav>
                                      </p:tavLst>
                                    </p:anim>
                                    <p:anim calcmode="lin" valueType="num">
                                      <p:cBhvr additive="base">
                                        <p:cTn id="36" dur="500" fill="hold"/>
                                        <p:tgtEl>
                                          <p:spTgt spid="6718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71814"/>
                                        </p:tgtEl>
                                        <p:attrNameLst>
                                          <p:attrName>style.visibility</p:attrName>
                                        </p:attrNameLst>
                                      </p:cBhvr>
                                      <p:to>
                                        <p:strVal val="visible"/>
                                      </p:to>
                                    </p:set>
                                    <p:anim calcmode="lin" valueType="num">
                                      <p:cBhvr additive="base">
                                        <p:cTn id="39" dur="500" fill="hold"/>
                                        <p:tgtEl>
                                          <p:spTgt spid="671814"/>
                                        </p:tgtEl>
                                        <p:attrNameLst>
                                          <p:attrName>ppt_x</p:attrName>
                                        </p:attrNameLst>
                                      </p:cBhvr>
                                      <p:tavLst>
                                        <p:tav tm="0">
                                          <p:val>
                                            <p:strVal val="#ppt_x"/>
                                          </p:val>
                                        </p:tav>
                                        <p:tav tm="100000">
                                          <p:val>
                                            <p:strVal val="#ppt_x"/>
                                          </p:val>
                                        </p:tav>
                                      </p:tavLst>
                                    </p:anim>
                                    <p:anim calcmode="lin" valueType="num">
                                      <p:cBhvr additive="base">
                                        <p:cTn id="40" dur="500" fill="hold"/>
                                        <p:tgtEl>
                                          <p:spTgt spid="671814"/>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71815"/>
                                        </p:tgtEl>
                                        <p:attrNameLst>
                                          <p:attrName>style.visibility</p:attrName>
                                        </p:attrNameLst>
                                      </p:cBhvr>
                                      <p:to>
                                        <p:strVal val="visible"/>
                                      </p:to>
                                    </p:set>
                                    <p:anim calcmode="lin" valueType="num">
                                      <p:cBhvr additive="base">
                                        <p:cTn id="43" dur="500" fill="hold"/>
                                        <p:tgtEl>
                                          <p:spTgt spid="671815"/>
                                        </p:tgtEl>
                                        <p:attrNameLst>
                                          <p:attrName>ppt_x</p:attrName>
                                        </p:attrNameLst>
                                      </p:cBhvr>
                                      <p:tavLst>
                                        <p:tav tm="0">
                                          <p:val>
                                            <p:strVal val="#ppt_x"/>
                                          </p:val>
                                        </p:tav>
                                        <p:tav tm="100000">
                                          <p:val>
                                            <p:strVal val="#ppt_x"/>
                                          </p:val>
                                        </p:tav>
                                      </p:tavLst>
                                    </p:anim>
                                    <p:anim calcmode="lin" valueType="num">
                                      <p:cBhvr additive="base">
                                        <p:cTn id="44" dur="500" fill="hold"/>
                                        <p:tgtEl>
                                          <p:spTgt spid="6718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71816">
                                            <p:txEl>
                                              <p:pRg st="6" end="6"/>
                                            </p:txEl>
                                          </p:spTgt>
                                        </p:tgtEl>
                                        <p:attrNameLst>
                                          <p:attrName>style.visibility</p:attrName>
                                        </p:attrNameLst>
                                      </p:cBhvr>
                                      <p:to>
                                        <p:strVal val="visible"/>
                                      </p:to>
                                    </p:set>
                                    <p:anim calcmode="lin" valueType="num">
                                      <p:cBhvr additive="base">
                                        <p:cTn id="49" dur="500" fill="hold"/>
                                        <p:tgtEl>
                                          <p:spTgt spid="671816">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718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71816">
                                            <p:txEl>
                                              <p:pRg st="7" end="7"/>
                                            </p:txEl>
                                          </p:spTgt>
                                        </p:tgtEl>
                                        <p:attrNameLst>
                                          <p:attrName>style.visibility</p:attrName>
                                        </p:attrNameLst>
                                      </p:cBhvr>
                                      <p:to>
                                        <p:strVal val="visible"/>
                                      </p:to>
                                    </p:set>
                                    <p:anim calcmode="lin" valueType="num">
                                      <p:cBhvr additive="base">
                                        <p:cTn id="55" dur="500" fill="hold"/>
                                        <p:tgtEl>
                                          <p:spTgt spid="671816">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718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671816">
                                            <p:txEl>
                                              <p:pRg st="8" end="8"/>
                                            </p:txEl>
                                          </p:spTgt>
                                        </p:tgtEl>
                                        <p:attrNameLst>
                                          <p:attrName>style.visibility</p:attrName>
                                        </p:attrNameLst>
                                      </p:cBhvr>
                                      <p:to>
                                        <p:strVal val="visible"/>
                                      </p:to>
                                    </p:set>
                                    <p:anim calcmode="lin" valueType="num">
                                      <p:cBhvr additive="base">
                                        <p:cTn id="61" dur="500" fill="hold"/>
                                        <p:tgtEl>
                                          <p:spTgt spid="671816">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71816">
                                            <p:txEl>
                                              <p:pRg st="8" end="8"/>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671816">
                                            <p:txEl>
                                              <p:pRg st="9" end="9"/>
                                            </p:txEl>
                                          </p:spTgt>
                                        </p:tgtEl>
                                        <p:attrNameLst>
                                          <p:attrName>style.visibility</p:attrName>
                                        </p:attrNameLst>
                                      </p:cBhvr>
                                      <p:to>
                                        <p:strVal val="visible"/>
                                      </p:to>
                                    </p:set>
                                    <p:anim calcmode="lin" valueType="num">
                                      <p:cBhvr additive="base">
                                        <p:cTn id="65" dur="500" fill="hold"/>
                                        <p:tgtEl>
                                          <p:spTgt spid="671816">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7181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812" grpId="0"/>
      <p:bldP spid="671813" grpId="0"/>
      <p:bldP spid="671814" grpId="0"/>
      <p:bldP spid="67181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44" name="Rectangle 28"/>
          <p:cNvSpPr/>
          <p:nvPr/>
        </p:nvSpPr>
        <p:spPr>
          <a:xfrm>
            <a:off x="214313" y="1023938"/>
            <a:ext cx="8382000" cy="2101850"/>
          </a:xfrm>
          <a:prstGeom prst="rect">
            <a:avLst/>
          </a:prstGeom>
          <a:noFill/>
          <a:ln w="9525">
            <a:noFill/>
          </a:ln>
        </p:spPr>
        <p:txBody>
          <a:bodyPr>
            <a:spAutoFit/>
          </a:bodyPr>
          <a:lstStyle/>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Char char="l"/>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问：如何插入键值</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的索引项</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计算</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h(d)=2</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号桶有空间，则将索引项</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号桶中</a:t>
            </a: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问：如何插入键值</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的索引项？</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计算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h(s)=1</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号桶无空间，则申请一溢出桶，插入</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t>
            </a:r>
          </a:p>
        </p:txBody>
      </p:sp>
      <p:graphicFrame>
        <p:nvGraphicFramePr>
          <p:cNvPr id="83971" name="表格 83970"/>
          <p:cNvGraphicFramePr/>
          <p:nvPr/>
        </p:nvGraphicFramePr>
        <p:xfrm>
          <a:off x="3992563" y="3619500"/>
          <a:ext cx="2057400" cy="3032125"/>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d</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5"/>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72493" name="Text Box 77"/>
          <p:cNvSpPr txBox="1"/>
          <p:nvPr/>
        </p:nvSpPr>
        <p:spPr>
          <a:xfrm>
            <a:off x="3516313" y="377190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572494" name="Text Box 78"/>
          <p:cNvSpPr txBox="1"/>
          <p:nvPr/>
        </p:nvSpPr>
        <p:spPr>
          <a:xfrm>
            <a:off x="3516313" y="449580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572495" name="Text Box 79"/>
          <p:cNvSpPr txBox="1"/>
          <p:nvPr/>
        </p:nvSpPr>
        <p:spPr>
          <a:xfrm>
            <a:off x="3516313" y="5221288"/>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2496" name="Text Box 80"/>
          <p:cNvSpPr txBox="1"/>
          <p:nvPr/>
        </p:nvSpPr>
        <p:spPr>
          <a:xfrm>
            <a:off x="3516313" y="59467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72497" name="Rectangle 81"/>
          <p:cNvSpPr>
            <a:spLocks noChangeAspect="1"/>
          </p:cNvSpPr>
          <p:nvPr/>
        </p:nvSpPr>
        <p:spPr>
          <a:xfrm>
            <a:off x="6049963" y="4381500"/>
            <a:ext cx="309562" cy="309563"/>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3996" name="表格 83995"/>
          <p:cNvGraphicFramePr/>
          <p:nvPr/>
        </p:nvGraphicFramePr>
        <p:xfrm>
          <a:off x="6735763" y="4381500"/>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s</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2508" name="Line 92"/>
          <p:cNvSpPr/>
          <p:nvPr/>
        </p:nvSpPr>
        <p:spPr>
          <a:xfrm>
            <a:off x="6202363" y="4533900"/>
            <a:ext cx="533400" cy="0"/>
          </a:xfrm>
          <a:prstGeom prst="line">
            <a:avLst/>
          </a:prstGeom>
          <a:ln w="9525" cap="flat" cmpd="sng">
            <a:solidFill>
              <a:schemeClr val="tx1"/>
            </a:solidFill>
            <a:prstDash val="solid"/>
            <a:headEnd type="none" w="med" len="med"/>
            <a:tailEnd type="triangle" w="med" len="med"/>
          </a:ln>
        </p:spPr>
      </p:sp>
      <p:sp>
        <p:nvSpPr>
          <p:cNvPr id="89125"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哈希索引的插入和删除</a:t>
            </a:r>
          </a:p>
        </p:txBody>
      </p:sp>
      <p:graphicFrame>
        <p:nvGraphicFramePr>
          <p:cNvPr id="84006" name="表格 84005"/>
          <p:cNvGraphicFramePr/>
          <p:nvPr/>
        </p:nvGraphicFramePr>
        <p:xfrm>
          <a:off x="676275" y="3619500"/>
          <a:ext cx="2057400" cy="30940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13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9146" name="Text Box 116"/>
          <p:cNvSpPr txBox="1"/>
          <p:nvPr/>
        </p:nvSpPr>
        <p:spPr>
          <a:xfrm>
            <a:off x="215900" y="377190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89147" name="Text Box 117"/>
          <p:cNvSpPr txBox="1"/>
          <p:nvPr/>
        </p:nvSpPr>
        <p:spPr>
          <a:xfrm>
            <a:off x="215900" y="449580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89148" name="Text Box 118"/>
          <p:cNvSpPr txBox="1"/>
          <p:nvPr/>
        </p:nvSpPr>
        <p:spPr>
          <a:xfrm>
            <a:off x="215900" y="5221288"/>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89149" name="Text Box 119"/>
          <p:cNvSpPr txBox="1"/>
          <p:nvPr/>
        </p:nvSpPr>
        <p:spPr>
          <a:xfrm>
            <a:off x="215900" y="59467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72536" name="AutoShape 120"/>
          <p:cNvSpPr/>
          <p:nvPr/>
        </p:nvSpPr>
        <p:spPr>
          <a:xfrm>
            <a:off x="2947988" y="4919663"/>
            <a:ext cx="520700" cy="425450"/>
          </a:xfrm>
          <a:prstGeom prst="rightArrow">
            <a:avLst>
              <a:gd name="adj1" fmla="val 50000"/>
              <a:gd name="adj2" fmla="val 30574"/>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2444">
                                            <p:txEl>
                                              <p:pRg st="1" end="1"/>
                                            </p:txEl>
                                          </p:spTgt>
                                        </p:tgtEl>
                                        <p:attrNameLst>
                                          <p:attrName>style.visibility</p:attrName>
                                        </p:attrNameLst>
                                      </p:cBhvr>
                                      <p:to>
                                        <p:strVal val="visible"/>
                                      </p:to>
                                    </p:set>
                                    <p:anim calcmode="lin" valueType="num">
                                      <p:cBhvr additive="base">
                                        <p:cTn id="7" dur="500" fill="hold"/>
                                        <p:tgtEl>
                                          <p:spTgt spid="57244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244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72444">
                                            <p:txEl>
                                              <p:pRg st="2" end="2"/>
                                            </p:txEl>
                                          </p:spTgt>
                                        </p:tgtEl>
                                        <p:attrNameLst>
                                          <p:attrName>style.visibility</p:attrName>
                                        </p:attrNameLst>
                                      </p:cBhvr>
                                      <p:to>
                                        <p:strVal val="visible"/>
                                      </p:to>
                                    </p:set>
                                    <p:anim calcmode="lin" valueType="num">
                                      <p:cBhvr additive="base">
                                        <p:cTn id="13" dur="500" fill="hold"/>
                                        <p:tgtEl>
                                          <p:spTgt spid="57244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24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3971"/>
                                        </p:tgtEl>
                                        <p:attrNameLst>
                                          <p:attrName>style.visibility</p:attrName>
                                        </p:attrNameLst>
                                      </p:cBhvr>
                                      <p:to>
                                        <p:strVal val="visible"/>
                                      </p:to>
                                    </p:set>
                                    <p:anim calcmode="lin" valueType="num">
                                      <p:cBhvr additive="base">
                                        <p:cTn id="19" dur="500" fill="hold"/>
                                        <p:tgtEl>
                                          <p:spTgt spid="83971"/>
                                        </p:tgtEl>
                                        <p:attrNameLst>
                                          <p:attrName>ppt_x</p:attrName>
                                        </p:attrNameLst>
                                      </p:cBhvr>
                                      <p:tavLst>
                                        <p:tav tm="0">
                                          <p:val>
                                            <p:strVal val="#ppt_x"/>
                                          </p:val>
                                        </p:tav>
                                        <p:tav tm="100000">
                                          <p:val>
                                            <p:strVal val="#ppt_x"/>
                                          </p:val>
                                        </p:tav>
                                      </p:tavLst>
                                    </p:anim>
                                    <p:anim calcmode="lin" valueType="num">
                                      <p:cBhvr additive="base">
                                        <p:cTn id="20" dur="500" fill="hold"/>
                                        <p:tgtEl>
                                          <p:spTgt spid="8397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2493"/>
                                        </p:tgtEl>
                                        <p:attrNameLst>
                                          <p:attrName>style.visibility</p:attrName>
                                        </p:attrNameLst>
                                      </p:cBhvr>
                                      <p:to>
                                        <p:strVal val="visible"/>
                                      </p:to>
                                    </p:set>
                                    <p:anim calcmode="lin" valueType="num">
                                      <p:cBhvr additive="base">
                                        <p:cTn id="23" dur="500" fill="hold"/>
                                        <p:tgtEl>
                                          <p:spTgt spid="572493"/>
                                        </p:tgtEl>
                                        <p:attrNameLst>
                                          <p:attrName>ppt_x</p:attrName>
                                        </p:attrNameLst>
                                      </p:cBhvr>
                                      <p:tavLst>
                                        <p:tav tm="0">
                                          <p:val>
                                            <p:strVal val="#ppt_x"/>
                                          </p:val>
                                        </p:tav>
                                        <p:tav tm="100000">
                                          <p:val>
                                            <p:strVal val="#ppt_x"/>
                                          </p:val>
                                        </p:tav>
                                      </p:tavLst>
                                    </p:anim>
                                    <p:anim calcmode="lin" valueType="num">
                                      <p:cBhvr additive="base">
                                        <p:cTn id="24" dur="500" fill="hold"/>
                                        <p:tgtEl>
                                          <p:spTgt spid="57249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72494"/>
                                        </p:tgtEl>
                                        <p:attrNameLst>
                                          <p:attrName>style.visibility</p:attrName>
                                        </p:attrNameLst>
                                      </p:cBhvr>
                                      <p:to>
                                        <p:strVal val="visible"/>
                                      </p:to>
                                    </p:set>
                                    <p:anim calcmode="lin" valueType="num">
                                      <p:cBhvr additive="base">
                                        <p:cTn id="27" dur="500" fill="hold"/>
                                        <p:tgtEl>
                                          <p:spTgt spid="572494"/>
                                        </p:tgtEl>
                                        <p:attrNameLst>
                                          <p:attrName>ppt_x</p:attrName>
                                        </p:attrNameLst>
                                      </p:cBhvr>
                                      <p:tavLst>
                                        <p:tav tm="0">
                                          <p:val>
                                            <p:strVal val="#ppt_x"/>
                                          </p:val>
                                        </p:tav>
                                        <p:tav tm="100000">
                                          <p:val>
                                            <p:strVal val="#ppt_x"/>
                                          </p:val>
                                        </p:tav>
                                      </p:tavLst>
                                    </p:anim>
                                    <p:anim calcmode="lin" valueType="num">
                                      <p:cBhvr additive="base">
                                        <p:cTn id="28" dur="500" fill="hold"/>
                                        <p:tgtEl>
                                          <p:spTgt spid="57249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72495"/>
                                        </p:tgtEl>
                                        <p:attrNameLst>
                                          <p:attrName>style.visibility</p:attrName>
                                        </p:attrNameLst>
                                      </p:cBhvr>
                                      <p:to>
                                        <p:strVal val="visible"/>
                                      </p:to>
                                    </p:set>
                                    <p:anim calcmode="lin" valueType="num">
                                      <p:cBhvr additive="base">
                                        <p:cTn id="31" dur="500" fill="hold"/>
                                        <p:tgtEl>
                                          <p:spTgt spid="572495"/>
                                        </p:tgtEl>
                                        <p:attrNameLst>
                                          <p:attrName>ppt_x</p:attrName>
                                        </p:attrNameLst>
                                      </p:cBhvr>
                                      <p:tavLst>
                                        <p:tav tm="0">
                                          <p:val>
                                            <p:strVal val="#ppt_x"/>
                                          </p:val>
                                        </p:tav>
                                        <p:tav tm="100000">
                                          <p:val>
                                            <p:strVal val="#ppt_x"/>
                                          </p:val>
                                        </p:tav>
                                      </p:tavLst>
                                    </p:anim>
                                    <p:anim calcmode="lin" valueType="num">
                                      <p:cBhvr additive="base">
                                        <p:cTn id="32" dur="500" fill="hold"/>
                                        <p:tgtEl>
                                          <p:spTgt spid="57249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72496"/>
                                        </p:tgtEl>
                                        <p:attrNameLst>
                                          <p:attrName>style.visibility</p:attrName>
                                        </p:attrNameLst>
                                      </p:cBhvr>
                                      <p:to>
                                        <p:strVal val="visible"/>
                                      </p:to>
                                    </p:set>
                                    <p:anim calcmode="lin" valueType="num">
                                      <p:cBhvr additive="base">
                                        <p:cTn id="35" dur="500" fill="hold"/>
                                        <p:tgtEl>
                                          <p:spTgt spid="572496"/>
                                        </p:tgtEl>
                                        <p:attrNameLst>
                                          <p:attrName>ppt_x</p:attrName>
                                        </p:attrNameLst>
                                      </p:cBhvr>
                                      <p:tavLst>
                                        <p:tav tm="0">
                                          <p:val>
                                            <p:strVal val="#ppt_x"/>
                                          </p:val>
                                        </p:tav>
                                        <p:tav tm="100000">
                                          <p:val>
                                            <p:strVal val="#ppt_x"/>
                                          </p:val>
                                        </p:tav>
                                      </p:tavLst>
                                    </p:anim>
                                    <p:anim calcmode="lin" valueType="num">
                                      <p:cBhvr additive="base">
                                        <p:cTn id="36" dur="500" fill="hold"/>
                                        <p:tgtEl>
                                          <p:spTgt spid="57249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72536"/>
                                        </p:tgtEl>
                                        <p:attrNameLst>
                                          <p:attrName>style.visibility</p:attrName>
                                        </p:attrNameLst>
                                      </p:cBhvr>
                                      <p:to>
                                        <p:strVal val="visible"/>
                                      </p:to>
                                    </p:set>
                                    <p:anim calcmode="lin" valueType="num">
                                      <p:cBhvr additive="base">
                                        <p:cTn id="39" dur="500" fill="hold"/>
                                        <p:tgtEl>
                                          <p:spTgt spid="572536"/>
                                        </p:tgtEl>
                                        <p:attrNameLst>
                                          <p:attrName>ppt_x</p:attrName>
                                        </p:attrNameLst>
                                      </p:cBhvr>
                                      <p:tavLst>
                                        <p:tav tm="0">
                                          <p:val>
                                            <p:strVal val="#ppt_x"/>
                                          </p:val>
                                        </p:tav>
                                        <p:tav tm="100000">
                                          <p:val>
                                            <p:strVal val="#ppt_x"/>
                                          </p:val>
                                        </p:tav>
                                      </p:tavLst>
                                    </p:anim>
                                    <p:anim calcmode="lin" valueType="num">
                                      <p:cBhvr additive="base">
                                        <p:cTn id="40" dur="500" fill="hold"/>
                                        <p:tgtEl>
                                          <p:spTgt spid="57253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72444">
                                            <p:txEl>
                                              <p:pRg st="3" end="3"/>
                                            </p:txEl>
                                          </p:spTgt>
                                        </p:tgtEl>
                                        <p:attrNameLst>
                                          <p:attrName>style.visibility</p:attrName>
                                        </p:attrNameLst>
                                      </p:cBhvr>
                                      <p:to>
                                        <p:strVal val="visible"/>
                                      </p:to>
                                    </p:set>
                                    <p:anim calcmode="lin" valueType="num">
                                      <p:cBhvr additive="base">
                                        <p:cTn id="45" dur="500" fill="hold"/>
                                        <p:tgtEl>
                                          <p:spTgt spid="57244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7244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572444">
                                            <p:txEl>
                                              <p:pRg st="4" end="4"/>
                                            </p:txEl>
                                          </p:spTgt>
                                        </p:tgtEl>
                                        <p:attrNameLst>
                                          <p:attrName>style.visibility</p:attrName>
                                        </p:attrNameLst>
                                      </p:cBhvr>
                                      <p:to>
                                        <p:strVal val="visible"/>
                                      </p:to>
                                    </p:set>
                                    <p:anim calcmode="lin" valueType="num">
                                      <p:cBhvr additive="base">
                                        <p:cTn id="51" dur="500" fill="hold"/>
                                        <p:tgtEl>
                                          <p:spTgt spid="572444">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7244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72444">
                                            <p:txEl>
                                              <p:pRg st="5" end="5"/>
                                            </p:txEl>
                                          </p:spTgt>
                                        </p:tgtEl>
                                        <p:attrNameLst>
                                          <p:attrName>style.visibility</p:attrName>
                                        </p:attrNameLst>
                                      </p:cBhvr>
                                      <p:to>
                                        <p:strVal val="visible"/>
                                      </p:to>
                                    </p:set>
                                    <p:anim calcmode="lin" valueType="num">
                                      <p:cBhvr additive="base">
                                        <p:cTn id="57" dur="500" fill="hold"/>
                                        <p:tgtEl>
                                          <p:spTgt spid="572444">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7244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72497"/>
                                        </p:tgtEl>
                                        <p:attrNameLst>
                                          <p:attrName>style.visibility</p:attrName>
                                        </p:attrNameLst>
                                      </p:cBhvr>
                                      <p:to>
                                        <p:strVal val="visible"/>
                                      </p:to>
                                    </p:set>
                                    <p:anim calcmode="lin" valueType="num">
                                      <p:cBhvr additive="base">
                                        <p:cTn id="63" dur="500" fill="hold"/>
                                        <p:tgtEl>
                                          <p:spTgt spid="572497"/>
                                        </p:tgtEl>
                                        <p:attrNameLst>
                                          <p:attrName>ppt_x</p:attrName>
                                        </p:attrNameLst>
                                      </p:cBhvr>
                                      <p:tavLst>
                                        <p:tav tm="0">
                                          <p:val>
                                            <p:strVal val="#ppt_x"/>
                                          </p:val>
                                        </p:tav>
                                        <p:tav tm="100000">
                                          <p:val>
                                            <p:strVal val="#ppt_x"/>
                                          </p:val>
                                        </p:tav>
                                      </p:tavLst>
                                    </p:anim>
                                    <p:anim calcmode="lin" valueType="num">
                                      <p:cBhvr additive="base">
                                        <p:cTn id="64" dur="500" fill="hold"/>
                                        <p:tgtEl>
                                          <p:spTgt spid="572497"/>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83996"/>
                                        </p:tgtEl>
                                        <p:attrNameLst>
                                          <p:attrName>style.visibility</p:attrName>
                                        </p:attrNameLst>
                                      </p:cBhvr>
                                      <p:to>
                                        <p:strVal val="visible"/>
                                      </p:to>
                                    </p:set>
                                    <p:anim calcmode="lin" valueType="num">
                                      <p:cBhvr additive="base">
                                        <p:cTn id="67" dur="500" fill="hold"/>
                                        <p:tgtEl>
                                          <p:spTgt spid="83996"/>
                                        </p:tgtEl>
                                        <p:attrNameLst>
                                          <p:attrName>ppt_x</p:attrName>
                                        </p:attrNameLst>
                                      </p:cBhvr>
                                      <p:tavLst>
                                        <p:tav tm="0">
                                          <p:val>
                                            <p:strVal val="#ppt_x"/>
                                          </p:val>
                                        </p:tav>
                                        <p:tav tm="100000">
                                          <p:val>
                                            <p:strVal val="#ppt_x"/>
                                          </p:val>
                                        </p:tav>
                                      </p:tavLst>
                                    </p:anim>
                                    <p:anim calcmode="lin" valueType="num">
                                      <p:cBhvr additive="base">
                                        <p:cTn id="68" dur="500" fill="hold"/>
                                        <p:tgtEl>
                                          <p:spTgt spid="83996"/>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572508"/>
                                        </p:tgtEl>
                                        <p:attrNameLst>
                                          <p:attrName>style.visibility</p:attrName>
                                        </p:attrNameLst>
                                      </p:cBhvr>
                                      <p:to>
                                        <p:strVal val="visible"/>
                                      </p:to>
                                    </p:set>
                                    <p:anim calcmode="lin" valueType="num">
                                      <p:cBhvr additive="base">
                                        <p:cTn id="71" dur="500" fill="hold"/>
                                        <p:tgtEl>
                                          <p:spTgt spid="572508"/>
                                        </p:tgtEl>
                                        <p:attrNameLst>
                                          <p:attrName>ppt_x</p:attrName>
                                        </p:attrNameLst>
                                      </p:cBhvr>
                                      <p:tavLst>
                                        <p:tav tm="0">
                                          <p:val>
                                            <p:strVal val="#ppt_x"/>
                                          </p:val>
                                        </p:tav>
                                        <p:tav tm="100000">
                                          <p:val>
                                            <p:strVal val="#ppt_x"/>
                                          </p:val>
                                        </p:tav>
                                      </p:tavLst>
                                    </p:anim>
                                    <p:anim calcmode="lin" valueType="num">
                                      <p:cBhvr additive="base">
                                        <p:cTn id="72" dur="500" fill="hold"/>
                                        <p:tgtEl>
                                          <p:spTgt spid="572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93" grpId="0"/>
      <p:bldP spid="572494" grpId="0"/>
      <p:bldP spid="572495" grpId="0"/>
      <p:bldP spid="572496" grpId="0"/>
      <p:bldP spid="572497" grpId="0" bldLvl="0" animBg="1"/>
      <p:bldP spid="572536"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p:nvPr/>
        </p:nvSpPr>
        <p:spPr>
          <a:xfrm>
            <a:off x="214313" y="1023938"/>
            <a:ext cx="8382000" cy="1431925"/>
          </a:xfrm>
          <a:prstGeom prst="rect">
            <a:avLst/>
          </a:prstGeom>
          <a:noFill/>
          <a:ln w="9525">
            <a:noFill/>
          </a:ln>
        </p:spPr>
        <p:txBody>
          <a:bodyPr>
            <a:spAutoFit/>
          </a:bodyPr>
          <a:lstStyle/>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Char char="l"/>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问：如何删除键值</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f.</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计算</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h(f)=1</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删除</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号桶中的键值</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f</a:t>
            </a:r>
          </a:p>
          <a:p>
            <a:pPr marL="457200" marR="0" lvl="1" indent="0" algn="l" defTabSz="914400" rtl="0" eaLnBrk="1" fontAlgn="base" latinLnBrk="0" hangingPunct="1">
              <a:lnSpc>
                <a:spcPct val="110000"/>
              </a:lnSpc>
              <a:spcBef>
                <a:spcPct val="0"/>
              </a:spcBef>
              <a:spcAft>
                <a:spcPct val="0"/>
              </a:spcAft>
              <a:buClrTx/>
              <a:buSzTx/>
              <a:buFont typeface="Wingdings" panose="05000000000000000000" pitchFamily="2" charset="2"/>
              <a:buChar char="ü"/>
              <a:defRPr/>
            </a:pP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将溢出桶中的</a:t>
            </a:r>
            <a:r>
              <a:rPr kumimoji="0" lang="pt-BR"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t>
            </a:r>
            <a:r>
              <a:rPr kumimoji="0" lang="zh-CN" altLang="pt-BR"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合并到主桶中，删除溢出桶</a:t>
            </a:r>
          </a:p>
        </p:txBody>
      </p:sp>
      <p:graphicFrame>
        <p:nvGraphicFramePr>
          <p:cNvPr id="84995" name="表格 84994"/>
          <p:cNvGraphicFramePr/>
          <p:nvPr/>
        </p:nvGraphicFramePr>
        <p:xfrm>
          <a:off x="706438" y="3292475"/>
          <a:ext cx="2057400" cy="3032125"/>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f</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d</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0135" name="Text Box 51"/>
          <p:cNvSpPr txBox="1"/>
          <p:nvPr/>
        </p:nvSpPr>
        <p:spPr>
          <a:xfrm>
            <a:off x="230188" y="34448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90136" name="Text Box 52"/>
          <p:cNvSpPr txBox="1"/>
          <p:nvPr/>
        </p:nvSpPr>
        <p:spPr>
          <a:xfrm>
            <a:off x="230188" y="41687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0137" name="Text Box 53"/>
          <p:cNvSpPr txBox="1"/>
          <p:nvPr/>
        </p:nvSpPr>
        <p:spPr>
          <a:xfrm>
            <a:off x="230188" y="4894263"/>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90138" name="Text Box 54"/>
          <p:cNvSpPr txBox="1"/>
          <p:nvPr/>
        </p:nvSpPr>
        <p:spPr>
          <a:xfrm>
            <a:off x="230188" y="561975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90139" name="Rectangle 55"/>
          <p:cNvSpPr>
            <a:spLocks noChangeAspect="1"/>
          </p:cNvSpPr>
          <p:nvPr/>
        </p:nvSpPr>
        <p:spPr>
          <a:xfrm>
            <a:off x="2763838" y="4054475"/>
            <a:ext cx="309562" cy="309563"/>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5020" name="表格 85019"/>
          <p:cNvGraphicFramePr/>
          <p:nvPr/>
        </p:nvGraphicFramePr>
        <p:xfrm>
          <a:off x="3449638" y="4054475"/>
          <a:ext cx="2057400" cy="746125"/>
        </p:xfrm>
        <a:graphic>
          <a:graphicData uri="http://schemas.openxmlformats.org/drawingml/2006/table">
            <a:tbl>
              <a:tblPr/>
              <a:tblGrid>
                <a:gridCol w="2057400">
                  <a:extLst>
                    <a:ext uri="{9D8B030D-6E8A-4147-A177-3AD203B41FA5}">
                      <a16:colId xmlns:a16="http://schemas.microsoft.com/office/drawing/2014/main" val="20000"/>
                    </a:ext>
                  </a:extLst>
                </a:gridCol>
              </a:tblGrid>
              <a:tr h="379898">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s</a:t>
                      </a:r>
                    </a:p>
                  </a:txBody>
                  <a:tcPr marT="45778" marB="45778"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66227">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marT="45778" marB="45778"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0148" name="Line 66"/>
          <p:cNvSpPr/>
          <p:nvPr/>
        </p:nvSpPr>
        <p:spPr>
          <a:xfrm>
            <a:off x="2916238" y="4206875"/>
            <a:ext cx="533400" cy="0"/>
          </a:xfrm>
          <a:prstGeom prst="line">
            <a:avLst/>
          </a:prstGeom>
          <a:ln w="9525" cap="flat" cmpd="sng">
            <a:solidFill>
              <a:schemeClr val="tx1"/>
            </a:solidFill>
            <a:prstDash val="solid"/>
            <a:headEnd type="none" w="med" len="med"/>
            <a:tailEnd type="triangle" w="med" len="med"/>
          </a:ln>
        </p:spPr>
      </p:sp>
      <p:graphicFrame>
        <p:nvGraphicFramePr>
          <p:cNvPr id="85029" name="表格 85028"/>
          <p:cNvGraphicFramePr/>
          <p:nvPr/>
        </p:nvGraphicFramePr>
        <p:xfrm>
          <a:off x="6354763" y="3228975"/>
          <a:ext cx="2057400" cy="3032125"/>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e</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endParaRPr lang="zh-CN" altLang="zh-CN" sz="1800" b="0" dirty="0">
                        <a:latin typeface="Times New Roman" panose="02020603050405020304" pitchFamily="18" charset="0"/>
                        <a:ea typeface="宋体" panose="02010600030101010101" pitchFamily="2" charset="-122"/>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b</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s</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g</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d</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a</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b="0" dirty="0">
                          <a:latin typeface="Times New Roman" panose="02020603050405020304" pitchFamily="18" charset="0"/>
                          <a:ea typeface="宋体" panose="02010600030101010101" pitchFamily="2" charset="-122"/>
                        </a:rPr>
                        <a:t>c</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573531" name="Text Box 91"/>
          <p:cNvSpPr txBox="1"/>
          <p:nvPr/>
        </p:nvSpPr>
        <p:spPr>
          <a:xfrm>
            <a:off x="5878513" y="33813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573532" name="Text Box 92"/>
          <p:cNvSpPr txBox="1"/>
          <p:nvPr/>
        </p:nvSpPr>
        <p:spPr>
          <a:xfrm>
            <a:off x="5878513" y="41052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573533" name="Text Box 93"/>
          <p:cNvSpPr txBox="1"/>
          <p:nvPr/>
        </p:nvSpPr>
        <p:spPr>
          <a:xfrm>
            <a:off x="5878513" y="4830763"/>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3534" name="Text Box 94"/>
          <p:cNvSpPr txBox="1"/>
          <p:nvPr/>
        </p:nvSpPr>
        <p:spPr>
          <a:xfrm>
            <a:off x="5878513" y="555625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90173"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哈希索引的插入和删除</a:t>
            </a:r>
          </a:p>
        </p:txBody>
      </p:sp>
      <p:sp>
        <p:nvSpPr>
          <p:cNvPr id="573536" name="AutoShape 96"/>
          <p:cNvSpPr/>
          <p:nvPr/>
        </p:nvSpPr>
        <p:spPr>
          <a:xfrm>
            <a:off x="4840288" y="5186363"/>
            <a:ext cx="803275" cy="550862"/>
          </a:xfrm>
          <a:prstGeom prst="rightArrow">
            <a:avLst>
              <a:gd name="adj1" fmla="val 50000"/>
              <a:gd name="adj2" fmla="val 36428"/>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42">
                                            <p:txEl>
                                              <p:pRg st="1" end="1"/>
                                            </p:txEl>
                                          </p:spTgt>
                                        </p:tgtEl>
                                        <p:attrNameLst>
                                          <p:attrName>style.visibility</p:attrName>
                                        </p:attrNameLst>
                                      </p:cBhvr>
                                      <p:to>
                                        <p:strVal val="visible"/>
                                      </p:to>
                                    </p:set>
                                    <p:anim calcmode="lin" valueType="num">
                                      <p:cBhvr additive="base">
                                        <p:cTn id="7" dur="500" fill="hold"/>
                                        <p:tgtEl>
                                          <p:spTgt spid="5734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4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73442">
                                            <p:txEl>
                                              <p:pRg st="2" end="2"/>
                                            </p:txEl>
                                          </p:spTgt>
                                        </p:tgtEl>
                                        <p:attrNameLst>
                                          <p:attrName>style.visibility</p:attrName>
                                        </p:attrNameLst>
                                      </p:cBhvr>
                                      <p:to>
                                        <p:strVal val="visible"/>
                                      </p:to>
                                    </p:set>
                                    <p:anim calcmode="lin" valueType="num">
                                      <p:cBhvr additive="base">
                                        <p:cTn id="13" dur="500" fill="hold"/>
                                        <p:tgtEl>
                                          <p:spTgt spid="57344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4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73442">
                                            <p:txEl>
                                              <p:pRg st="3" end="3"/>
                                            </p:txEl>
                                          </p:spTgt>
                                        </p:tgtEl>
                                        <p:attrNameLst>
                                          <p:attrName>style.visibility</p:attrName>
                                        </p:attrNameLst>
                                      </p:cBhvr>
                                      <p:to>
                                        <p:strVal val="visible"/>
                                      </p:to>
                                    </p:set>
                                    <p:anim calcmode="lin" valueType="num">
                                      <p:cBhvr additive="base">
                                        <p:cTn id="19" dur="500" fill="hold"/>
                                        <p:tgtEl>
                                          <p:spTgt spid="57344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44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029"/>
                                        </p:tgtEl>
                                        <p:attrNameLst>
                                          <p:attrName>style.visibility</p:attrName>
                                        </p:attrNameLst>
                                      </p:cBhvr>
                                      <p:to>
                                        <p:strVal val="visible"/>
                                      </p:to>
                                    </p:set>
                                    <p:anim calcmode="lin" valueType="num">
                                      <p:cBhvr additive="base">
                                        <p:cTn id="25" dur="500" fill="hold"/>
                                        <p:tgtEl>
                                          <p:spTgt spid="85029"/>
                                        </p:tgtEl>
                                        <p:attrNameLst>
                                          <p:attrName>ppt_x</p:attrName>
                                        </p:attrNameLst>
                                      </p:cBhvr>
                                      <p:tavLst>
                                        <p:tav tm="0">
                                          <p:val>
                                            <p:strVal val="#ppt_x"/>
                                          </p:val>
                                        </p:tav>
                                        <p:tav tm="100000">
                                          <p:val>
                                            <p:strVal val="#ppt_x"/>
                                          </p:val>
                                        </p:tav>
                                      </p:tavLst>
                                    </p:anim>
                                    <p:anim calcmode="lin" valueType="num">
                                      <p:cBhvr additive="base">
                                        <p:cTn id="26" dur="500" fill="hold"/>
                                        <p:tgtEl>
                                          <p:spTgt spid="8502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73531"/>
                                        </p:tgtEl>
                                        <p:attrNameLst>
                                          <p:attrName>style.visibility</p:attrName>
                                        </p:attrNameLst>
                                      </p:cBhvr>
                                      <p:to>
                                        <p:strVal val="visible"/>
                                      </p:to>
                                    </p:set>
                                    <p:anim calcmode="lin" valueType="num">
                                      <p:cBhvr additive="base">
                                        <p:cTn id="29" dur="500" fill="hold"/>
                                        <p:tgtEl>
                                          <p:spTgt spid="573531"/>
                                        </p:tgtEl>
                                        <p:attrNameLst>
                                          <p:attrName>ppt_x</p:attrName>
                                        </p:attrNameLst>
                                      </p:cBhvr>
                                      <p:tavLst>
                                        <p:tav tm="0">
                                          <p:val>
                                            <p:strVal val="#ppt_x"/>
                                          </p:val>
                                        </p:tav>
                                        <p:tav tm="100000">
                                          <p:val>
                                            <p:strVal val="#ppt_x"/>
                                          </p:val>
                                        </p:tav>
                                      </p:tavLst>
                                    </p:anim>
                                    <p:anim calcmode="lin" valueType="num">
                                      <p:cBhvr additive="base">
                                        <p:cTn id="30" dur="500" fill="hold"/>
                                        <p:tgtEl>
                                          <p:spTgt spid="573531"/>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73532"/>
                                        </p:tgtEl>
                                        <p:attrNameLst>
                                          <p:attrName>style.visibility</p:attrName>
                                        </p:attrNameLst>
                                      </p:cBhvr>
                                      <p:to>
                                        <p:strVal val="visible"/>
                                      </p:to>
                                    </p:set>
                                    <p:anim calcmode="lin" valueType="num">
                                      <p:cBhvr additive="base">
                                        <p:cTn id="33" dur="500" fill="hold"/>
                                        <p:tgtEl>
                                          <p:spTgt spid="573532"/>
                                        </p:tgtEl>
                                        <p:attrNameLst>
                                          <p:attrName>ppt_x</p:attrName>
                                        </p:attrNameLst>
                                      </p:cBhvr>
                                      <p:tavLst>
                                        <p:tav tm="0">
                                          <p:val>
                                            <p:strVal val="#ppt_x"/>
                                          </p:val>
                                        </p:tav>
                                        <p:tav tm="100000">
                                          <p:val>
                                            <p:strVal val="#ppt_x"/>
                                          </p:val>
                                        </p:tav>
                                      </p:tavLst>
                                    </p:anim>
                                    <p:anim calcmode="lin" valueType="num">
                                      <p:cBhvr additive="base">
                                        <p:cTn id="34" dur="500" fill="hold"/>
                                        <p:tgtEl>
                                          <p:spTgt spid="57353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73533"/>
                                        </p:tgtEl>
                                        <p:attrNameLst>
                                          <p:attrName>style.visibility</p:attrName>
                                        </p:attrNameLst>
                                      </p:cBhvr>
                                      <p:to>
                                        <p:strVal val="visible"/>
                                      </p:to>
                                    </p:set>
                                    <p:anim calcmode="lin" valueType="num">
                                      <p:cBhvr additive="base">
                                        <p:cTn id="37" dur="500" fill="hold"/>
                                        <p:tgtEl>
                                          <p:spTgt spid="573533"/>
                                        </p:tgtEl>
                                        <p:attrNameLst>
                                          <p:attrName>ppt_x</p:attrName>
                                        </p:attrNameLst>
                                      </p:cBhvr>
                                      <p:tavLst>
                                        <p:tav tm="0">
                                          <p:val>
                                            <p:strVal val="#ppt_x"/>
                                          </p:val>
                                        </p:tav>
                                        <p:tav tm="100000">
                                          <p:val>
                                            <p:strVal val="#ppt_x"/>
                                          </p:val>
                                        </p:tav>
                                      </p:tavLst>
                                    </p:anim>
                                    <p:anim calcmode="lin" valueType="num">
                                      <p:cBhvr additive="base">
                                        <p:cTn id="38" dur="500" fill="hold"/>
                                        <p:tgtEl>
                                          <p:spTgt spid="57353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73534"/>
                                        </p:tgtEl>
                                        <p:attrNameLst>
                                          <p:attrName>style.visibility</p:attrName>
                                        </p:attrNameLst>
                                      </p:cBhvr>
                                      <p:to>
                                        <p:strVal val="visible"/>
                                      </p:to>
                                    </p:set>
                                    <p:anim calcmode="lin" valueType="num">
                                      <p:cBhvr additive="base">
                                        <p:cTn id="41" dur="500" fill="hold"/>
                                        <p:tgtEl>
                                          <p:spTgt spid="573534"/>
                                        </p:tgtEl>
                                        <p:attrNameLst>
                                          <p:attrName>ppt_x</p:attrName>
                                        </p:attrNameLst>
                                      </p:cBhvr>
                                      <p:tavLst>
                                        <p:tav tm="0">
                                          <p:val>
                                            <p:strVal val="#ppt_x"/>
                                          </p:val>
                                        </p:tav>
                                        <p:tav tm="100000">
                                          <p:val>
                                            <p:strVal val="#ppt_x"/>
                                          </p:val>
                                        </p:tav>
                                      </p:tavLst>
                                    </p:anim>
                                    <p:anim calcmode="lin" valueType="num">
                                      <p:cBhvr additive="base">
                                        <p:cTn id="42" dur="500" fill="hold"/>
                                        <p:tgtEl>
                                          <p:spTgt spid="573534"/>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73536"/>
                                        </p:tgtEl>
                                        <p:attrNameLst>
                                          <p:attrName>style.visibility</p:attrName>
                                        </p:attrNameLst>
                                      </p:cBhvr>
                                      <p:to>
                                        <p:strVal val="visible"/>
                                      </p:to>
                                    </p:set>
                                    <p:anim calcmode="lin" valueType="num">
                                      <p:cBhvr additive="base">
                                        <p:cTn id="45" dur="500" fill="hold"/>
                                        <p:tgtEl>
                                          <p:spTgt spid="573536"/>
                                        </p:tgtEl>
                                        <p:attrNameLst>
                                          <p:attrName>ppt_x</p:attrName>
                                        </p:attrNameLst>
                                      </p:cBhvr>
                                      <p:tavLst>
                                        <p:tav tm="0">
                                          <p:val>
                                            <p:strVal val="#ppt_x"/>
                                          </p:val>
                                        </p:tav>
                                        <p:tav tm="100000">
                                          <p:val>
                                            <p:strVal val="#ppt_x"/>
                                          </p:val>
                                        </p:tav>
                                      </p:tavLst>
                                    </p:anim>
                                    <p:anim calcmode="lin" valueType="num">
                                      <p:cBhvr additive="base">
                                        <p:cTn id="46" dur="500" fill="hold"/>
                                        <p:tgtEl>
                                          <p:spTgt spid="5735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1" grpId="0"/>
      <p:bldP spid="573532" grpId="0"/>
      <p:bldP spid="573533" grpId="0"/>
      <p:bldP spid="573534" grpId="0"/>
      <p:bldP spid="573536"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哈希的问题 </a:t>
            </a:r>
          </a:p>
        </p:txBody>
      </p:sp>
      <p:sp>
        <p:nvSpPr>
          <p:cNvPr id="551944" name="Rectangle 8"/>
          <p:cNvSpPr/>
          <p:nvPr/>
        </p:nvSpPr>
        <p:spPr>
          <a:xfrm>
            <a:off x="228600" y="960438"/>
            <a:ext cx="8550275" cy="2883866"/>
          </a:xfrm>
          <a:prstGeom prst="rect">
            <a:avLst/>
          </a:prstGeom>
          <a:noFill/>
          <a:ln w="9525">
            <a:noFill/>
          </a:ln>
        </p:spPr>
        <p:txBody>
          <a:bodyPr>
            <a:spAutoFit/>
          </a:bodyPr>
          <a:lstStyle/>
          <a:p>
            <a:pPr marL="0" marR="0" lvl="0" indent="0" algn="l" defTabSz="914400" rtl="0" eaLnBrk="1" fontAlgn="base" latinLnBrk="0" hangingPunct="1">
              <a:lnSpc>
                <a:spcPct val="130000"/>
              </a:lnSpc>
              <a:spcBef>
                <a:spcPct val="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哈希索引的目标</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：最好是没有溢出桶，每一个哈希值仅有一个桶。读写每一个键值都只读写一个存储块。</a:t>
            </a:r>
          </a:p>
          <a:p>
            <a:pPr marL="0" marR="0" lvl="0" indent="0" algn="l" defTabSz="914400" rtl="0" eaLnBrk="1" fontAlgn="base" latinLnBrk="0" hangingPunct="1">
              <a:lnSpc>
                <a:spcPct val="110000"/>
              </a:lnSpc>
              <a:spcBef>
                <a:spcPct val="0"/>
              </a:spcBef>
              <a:spcAft>
                <a:spcPct val="0"/>
              </a:spcAft>
              <a:buClrTx/>
              <a:buSzTx/>
              <a:buFont typeface="Wingdings" panose="05000000000000000000" pitchFamily="2" charset="2"/>
              <a:buChar char="Ø"/>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均匀分布如何做到？</a:t>
            </a:r>
            <a:r>
              <a:rPr kumimoji="0" lang="zh-CN" altLang="en-US"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 期望将所有数据分布均匀地存储于</a:t>
            </a:r>
            <a:r>
              <a:rPr kumimoji="0" lang="en-US" altLang="zh-CN"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M</a:t>
            </a:r>
            <a:r>
              <a:rPr kumimoji="0" lang="zh-CN" altLang="en-US"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个桶中，使每一个桶的数据成为具有某种特征值</a:t>
            </a:r>
            <a:r>
              <a:rPr kumimoji="0" lang="en-US" altLang="zh-CN"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h(k)</a:t>
            </a:r>
            <a:r>
              <a:rPr kumimoji="0" lang="zh-CN" altLang="en-US"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的数据集合。</a:t>
            </a:r>
            <a:r>
              <a:rPr kumimoji="0" lang="en-US" altLang="zh-CN"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哈希函数的选择。</a:t>
            </a:r>
          </a:p>
          <a:p>
            <a:pPr marL="0" marR="0" lvl="0" indent="0" algn="l" defTabSz="914400" rtl="0" eaLnBrk="1" fontAlgn="base" latinLnBrk="0" hangingPunct="1">
              <a:lnSpc>
                <a:spcPct val="130000"/>
              </a:lnSpc>
              <a:spcBef>
                <a:spcPct val="0"/>
              </a:spcBef>
              <a:spcAft>
                <a:spcPct val="0"/>
              </a:spcAft>
              <a:buClrTx/>
              <a:buSzTx/>
              <a:buFont typeface="Wingdings" panose="05000000000000000000" pitchFamily="2" charset="2"/>
              <a:buChar char="ü"/>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桶的数目Ｍ如何确定？</a:t>
            </a:r>
            <a:r>
              <a:rPr kumimoji="0" lang="zh-CN" altLang="en-US"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在键值几倍于桶的数目时，每个哈希值都可能多于一个桶，形成一个主桶和多个溢出桶的列表，此时需要二次检索：先哈希找到主桶号，再依据链表逐一找到每个溢出桶。</a:t>
            </a:r>
            <a:r>
              <a:rPr kumimoji="0" lang="en-US" altLang="zh-CN"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rPr>
              <a:t>桶的数目的确定。</a:t>
            </a:r>
            <a:endParaRPr kumimoji="0" lang="zh-CN" altLang="pt-BR" sz="1800" b="0" i="0" u="none" strike="noStrike" kern="120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mn-cs"/>
            </a:endParaRPr>
          </a:p>
        </p:txBody>
      </p:sp>
      <p:sp>
        <p:nvSpPr>
          <p:cNvPr id="551946" name="Freeform 10"/>
          <p:cNvSpPr/>
          <p:nvPr/>
        </p:nvSpPr>
        <p:spPr>
          <a:xfrm>
            <a:off x="5002213" y="4579938"/>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1141" name="Freeform 11"/>
          <p:cNvSpPr/>
          <p:nvPr/>
        </p:nvSpPr>
        <p:spPr>
          <a:xfrm>
            <a:off x="1790700" y="5019675"/>
            <a:ext cx="962025" cy="536575"/>
          </a:xfrm>
          <a:custGeom>
            <a:avLst/>
            <a:gdLst/>
            <a:ahLst/>
            <a:cxnLst>
              <a:cxn ang="0">
                <a:pos x="956825" y="265870"/>
              </a:cxn>
              <a:cxn ang="0">
                <a:pos x="915224" y="161939"/>
              </a:cxn>
              <a:cxn ang="0">
                <a:pos x="811221" y="77344"/>
              </a:cxn>
              <a:cxn ang="0">
                <a:pos x="660417" y="19336"/>
              </a:cxn>
              <a:cxn ang="0">
                <a:pos x="478412" y="0"/>
              </a:cxn>
              <a:cxn ang="0">
                <a:pos x="291208" y="19336"/>
              </a:cxn>
              <a:cxn ang="0">
                <a:pos x="140404" y="77344"/>
              </a:cxn>
              <a:cxn ang="0">
                <a:pos x="36401" y="161939"/>
              </a:cxn>
              <a:cxn ang="0">
                <a:pos x="0" y="265870"/>
              </a:cxn>
              <a:cxn ang="0">
                <a:pos x="36401" y="369802"/>
              </a:cxn>
              <a:cxn ang="0">
                <a:pos x="140404" y="454397"/>
              </a:cxn>
              <a:cxn ang="0">
                <a:pos x="291208" y="512405"/>
              </a:cxn>
              <a:cxn ang="0">
                <a:pos x="478412" y="534158"/>
              </a:cxn>
              <a:cxn ang="0">
                <a:pos x="660417" y="512405"/>
              </a:cxn>
              <a:cxn ang="0">
                <a:pos x="811221" y="454397"/>
              </a:cxn>
              <a:cxn ang="0">
                <a:pos x="915224" y="369802"/>
              </a:cxn>
              <a:cxn ang="0">
                <a:pos x="956825" y="265870"/>
              </a:cxn>
            </a:cxnLst>
            <a:rect l="0" t="0" r="0" b="0"/>
            <a:pathLst>
              <a:path w="185" h="222">
                <a:moveTo>
                  <a:pt x="184" y="110"/>
                </a:moveTo>
                <a:lnTo>
                  <a:pt x="176" y="67"/>
                </a:lnTo>
                <a:lnTo>
                  <a:pt x="156" y="32"/>
                </a:lnTo>
                <a:lnTo>
                  <a:pt x="127" y="8"/>
                </a:lnTo>
                <a:lnTo>
                  <a:pt x="92" y="0"/>
                </a:lnTo>
                <a:lnTo>
                  <a:pt x="56" y="8"/>
                </a:lnTo>
                <a:lnTo>
                  <a:pt x="27" y="32"/>
                </a:lnTo>
                <a:lnTo>
                  <a:pt x="7" y="67"/>
                </a:lnTo>
                <a:lnTo>
                  <a:pt x="0" y="110"/>
                </a:lnTo>
                <a:lnTo>
                  <a:pt x="7" y="153"/>
                </a:lnTo>
                <a:lnTo>
                  <a:pt x="27" y="188"/>
                </a:lnTo>
                <a:lnTo>
                  <a:pt x="56" y="212"/>
                </a:lnTo>
                <a:lnTo>
                  <a:pt x="92" y="221"/>
                </a:lnTo>
                <a:lnTo>
                  <a:pt x="127" y="212"/>
                </a:lnTo>
                <a:lnTo>
                  <a:pt x="156" y="188"/>
                </a:lnTo>
                <a:lnTo>
                  <a:pt x="176" y="153"/>
                </a:lnTo>
                <a:lnTo>
                  <a:pt x="184" y="110"/>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1142" name="Freeform 12"/>
          <p:cNvSpPr/>
          <p:nvPr/>
        </p:nvSpPr>
        <p:spPr>
          <a:xfrm>
            <a:off x="3481388" y="4251325"/>
            <a:ext cx="784225" cy="2357438"/>
          </a:xfrm>
          <a:custGeom>
            <a:avLst/>
            <a:gdLst/>
            <a:ahLst/>
            <a:cxnLst>
              <a:cxn ang="0">
                <a:pos x="0" y="2355850"/>
              </a:cxn>
              <a:cxn ang="0">
                <a:pos x="0" y="0"/>
              </a:cxn>
              <a:cxn ang="0">
                <a:pos x="782638" y="0"/>
              </a:cxn>
              <a:cxn ang="0">
                <a:pos x="782638" y="2355850"/>
              </a:cxn>
              <a:cxn ang="0">
                <a:pos x="0" y="2355850"/>
              </a:cxn>
            </a:cxnLst>
            <a:rect l="0" t="0" r="0" b="0"/>
            <a:pathLst>
              <a:path w="494" h="1485">
                <a:moveTo>
                  <a:pt x="0" y="1484"/>
                </a:moveTo>
                <a:lnTo>
                  <a:pt x="0" y="0"/>
                </a:lnTo>
                <a:lnTo>
                  <a:pt x="493" y="0"/>
                </a:lnTo>
                <a:lnTo>
                  <a:pt x="493" y="1484"/>
                </a:lnTo>
                <a:lnTo>
                  <a:pt x="0" y="1484"/>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1143" name="Rectangle 13"/>
          <p:cNvSpPr/>
          <p:nvPr/>
        </p:nvSpPr>
        <p:spPr>
          <a:xfrm>
            <a:off x="1673225" y="4564063"/>
            <a:ext cx="1212850"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3333CC"/>
                </a:solidFill>
                <a:effectLst/>
                <a:uLnTx/>
                <a:uFillTx/>
                <a:latin typeface="Arial" panose="020B0604020202020204" pitchFamily="34" charset="0"/>
                <a:ea typeface="宋体" panose="02010600030101010101" pitchFamily="2" charset="-122"/>
                <a:cs typeface="+mn-cs"/>
              </a:rPr>
              <a:t>k mod M</a:t>
            </a:r>
          </a:p>
        </p:txBody>
      </p:sp>
      <p:sp>
        <p:nvSpPr>
          <p:cNvPr id="551950" name="Freeform 14"/>
          <p:cNvSpPr/>
          <p:nvPr/>
        </p:nvSpPr>
        <p:spPr>
          <a:xfrm>
            <a:off x="7192963" y="4743450"/>
            <a:ext cx="49212" cy="26988"/>
          </a:xfrm>
          <a:custGeom>
            <a:avLst/>
            <a:gdLst/>
            <a:ahLst/>
            <a:cxnLst>
              <a:cxn ang="0">
                <a:pos x="47625" y="12700"/>
              </a:cxn>
              <a:cxn ang="0">
                <a:pos x="23812" y="0"/>
              </a:cxn>
              <a:cxn ang="0">
                <a:pos x="0" y="12700"/>
              </a:cxn>
              <a:cxn ang="0">
                <a:pos x="23812" y="25400"/>
              </a:cxn>
              <a:cxn ang="0">
                <a:pos x="47625" y="12700"/>
              </a:cxn>
            </a:cxnLst>
            <a:rect l="0" t="0" r="0" b="0"/>
            <a:pathLst>
              <a:path w="31" h="17">
                <a:moveTo>
                  <a:pt x="30" y="8"/>
                </a:moveTo>
                <a:lnTo>
                  <a:pt x="15" y="0"/>
                </a:lnTo>
                <a:lnTo>
                  <a:pt x="0" y="8"/>
                </a:lnTo>
                <a:lnTo>
                  <a:pt x="15" y="16"/>
                </a:lnTo>
                <a:lnTo>
                  <a:pt x="30"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57" name="Freeform 21"/>
          <p:cNvSpPr/>
          <p:nvPr/>
        </p:nvSpPr>
        <p:spPr>
          <a:xfrm>
            <a:off x="7370763" y="4743450"/>
            <a:ext cx="50800" cy="26988"/>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58" name="Freeform 22"/>
          <p:cNvSpPr/>
          <p:nvPr/>
        </p:nvSpPr>
        <p:spPr>
          <a:xfrm>
            <a:off x="7548563" y="4743450"/>
            <a:ext cx="50800" cy="26988"/>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1147" name="Rectangle 26"/>
          <p:cNvSpPr/>
          <p:nvPr/>
        </p:nvSpPr>
        <p:spPr>
          <a:xfrm>
            <a:off x="1911350" y="5029200"/>
            <a:ext cx="742950" cy="457200"/>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h(k)</a:t>
            </a:r>
          </a:p>
        </p:txBody>
      </p:sp>
      <p:sp>
        <p:nvSpPr>
          <p:cNvPr id="91148" name="Rectangle 27"/>
          <p:cNvSpPr/>
          <p:nvPr/>
        </p:nvSpPr>
        <p:spPr>
          <a:xfrm>
            <a:off x="1363663" y="4902200"/>
            <a:ext cx="325437"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k</a:t>
            </a:r>
          </a:p>
        </p:txBody>
      </p:sp>
      <p:sp>
        <p:nvSpPr>
          <p:cNvPr id="91149" name="Rectangle 28"/>
          <p:cNvSpPr/>
          <p:nvPr/>
        </p:nvSpPr>
        <p:spPr>
          <a:xfrm>
            <a:off x="3492500" y="5514975"/>
            <a:ext cx="692150"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Courier New" panose="02070309020205020404" pitchFamily="49" charset="0"/>
                <a:ea typeface="微软雅黑" panose="020B0503020204020204" pitchFamily="34" charset="-122"/>
                <a:cs typeface="+mn-cs"/>
              </a:rPr>
              <a:t>主桶</a:t>
            </a:r>
          </a:p>
        </p:txBody>
      </p:sp>
      <p:sp>
        <p:nvSpPr>
          <p:cNvPr id="551965" name="Rectangle 29"/>
          <p:cNvSpPr/>
          <p:nvPr/>
        </p:nvSpPr>
        <p:spPr>
          <a:xfrm>
            <a:off x="4895850" y="5514975"/>
            <a:ext cx="946150"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CC0000"/>
                </a:solidFill>
                <a:effectLst/>
                <a:uLnTx/>
                <a:uFillTx/>
                <a:latin typeface="Courier New" panose="02070309020205020404" pitchFamily="49" charset="0"/>
                <a:ea typeface="微软雅黑" panose="020B0503020204020204" pitchFamily="34" charset="-122"/>
                <a:cs typeface="+mn-cs"/>
              </a:rPr>
              <a:t>溢出桶</a:t>
            </a:r>
          </a:p>
        </p:txBody>
      </p:sp>
      <p:sp>
        <p:nvSpPr>
          <p:cNvPr id="91151" name="Rectangle 30"/>
          <p:cNvSpPr/>
          <p:nvPr/>
        </p:nvSpPr>
        <p:spPr>
          <a:xfrm>
            <a:off x="3652838" y="4545013"/>
            <a:ext cx="325437"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91152" name="Rectangle 31"/>
          <p:cNvSpPr/>
          <p:nvPr/>
        </p:nvSpPr>
        <p:spPr>
          <a:xfrm>
            <a:off x="3652838" y="4235450"/>
            <a:ext cx="325437"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a:t>
            </a:r>
          </a:p>
        </p:txBody>
      </p:sp>
      <p:sp>
        <p:nvSpPr>
          <p:cNvPr id="91153" name="Rectangle 32"/>
          <p:cNvSpPr/>
          <p:nvPr/>
        </p:nvSpPr>
        <p:spPr>
          <a:xfrm>
            <a:off x="3505200" y="6226175"/>
            <a:ext cx="620713" cy="396875"/>
          </a:xfrm>
          <a:prstGeom prst="rect">
            <a:avLst/>
          </a:prstGeom>
          <a:noFill/>
          <a:ln w="9525">
            <a:noFill/>
          </a:ln>
        </p:spPr>
        <p:txBody>
          <a:bodyPr wrap="none" lIns="92075" tIns="46038" rIns="92075" bIns="46038">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M-1</a:t>
            </a:r>
          </a:p>
        </p:txBody>
      </p:sp>
      <p:sp>
        <p:nvSpPr>
          <p:cNvPr id="91154" name="Line 33"/>
          <p:cNvSpPr/>
          <p:nvPr/>
        </p:nvSpPr>
        <p:spPr>
          <a:xfrm flipV="1">
            <a:off x="2717800" y="4787900"/>
            <a:ext cx="762000" cy="457200"/>
          </a:xfrm>
          <a:prstGeom prst="line">
            <a:avLst/>
          </a:prstGeom>
          <a:ln w="12700" cap="flat" cmpd="sng">
            <a:solidFill>
              <a:schemeClr val="tx2"/>
            </a:solidFill>
            <a:prstDash val="solid"/>
            <a:headEnd type="none" w="sm" len="sm"/>
            <a:tailEnd type="stealth" w="med" len="lg"/>
          </a:ln>
        </p:spPr>
      </p:sp>
      <p:sp>
        <p:nvSpPr>
          <p:cNvPr id="91155" name="Line 34"/>
          <p:cNvSpPr/>
          <p:nvPr/>
        </p:nvSpPr>
        <p:spPr>
          <a:xfrm flipV="1">
            <a:off x="2700338" y="4483100"/>
            <a:ext cx="779462" cy="776288"/>
          </a:xfrm>
          <a:prstGeom prst="line">
            <a:avLst/>
          </a:prstGeom>
          <a:ln w="12700" cap="flat" cmpd="sng">
            <a:solidFill>
              <a:schemeClr val="tx2"/>
            </a:solidFill>
            <a:prstDash val="solid"/>
            <a:headEnd type="none" w="sm" len="sm"/>
            <a:tailEnd type="stealth" w="med" len="lg"/>
          </a:ln>
        </p:spPr>
      </p:sp>
      <p:sp>
        <p:nvSpPr>
          <p:cNvPr id="91156" name="Line 35"/>
          <p:cNvSpPr/>
          <p:nvPr/>
        </p:nvSpPr>
        <p:spPr>
          <a:xfrm>
            <a:off x="1155700" y="5321300"/>
            <a:ext cx="685800" cy="0"/>
          </a:xfrm>
          <a:prstGeom prst="line">
            <a:avLst/>
          </a:prstGeom>
          <a:ln w="12700" cap="flat" cmpd="sng">
            <a:solidFill>
              <a:schemeClr val="tx2"/>
            </a:solidFill>
            <a:prstDash val="solid"/>
            <a:headEnd type="none" w="sm" len="sm"/>
            <a:tailEnd type="stealth" w="med" len="lg"/>
          </a:ln>
        </p:spPr>
      </p:sp>
      <p:sp>
        <p:nvSpPr>
          <p:cNvPr id="91157" name="Line 36"/>
          <p:cNvSpPr/>
          <p:nvPr/>
        </p:nvSpPr>
        <p:spPr>
          <a:xfrm>
            <a:off x="2700338" y="5259388"/>
            <a:ext cx="779462" cy="1128712"/>
          </a:xfrm>
          <a:prstGeom prst="line">
            <a:avLst/>
          </a:prstGeom>
          <a:ln w="12700" cap="flat" cmpd="sng">
            <a:solidFill>
              <a:schemeClr val="tx2"/>
            </a:solidFill>
            <a:prstDash val="solid"/>
            <a:headEnd type="none" w="sm" len="sm"/>
            <a:tailEnd type="stealth" w="med" len="lg"/>
          </a:ln>
        </p:spPr>
      </p:sp>
      <p:sp>
        <p:nvSpPr>
          <p:cNvPr id="551973" name="Line 37"/>
          <p:cNvSpPr/>
          <p:nvPr/>
        </p:nvSpPr>
        <p:spPr>
          <a:xfrm>
            <a:off x="4149725" y="4348163"/>
            <a:ext cx="838200" cy="0"/>
          </a:xfrm>
          <a:prstGeom prst="line">
            <a:avLst/>
          </a:prstGeom>
          <a:ln w="12700" cap="flat" cmpd="sng">
            <a:solidFill>
              <a:schemeClr val="tx2"/>
            </a:solidFill>
            <a:prstDash val="solid"/>
            <a:headEnd type="none" w="sm" len="sm"/>
            <a:tailEnd type="stealth" w="med" len="lg"/>
          </a:ln>
        </p:spPr>
      </p:sp>
      <p:sp>
        <p:nvSpPr>
          <p:cNvPr id="551974" name="Line 38"/>
          <p:cNvSpPr/>
          <p:nvPr/>
        </p:nvSpPr>
        <p:spPr>
          <a:xfrm>
            <a:off x="4149725" y="4756150"/>
            <a:ext cx="838200" cy="0"/>
          </a:xfrm>
          <a:prstGeom prst="line">
            <a:avLst/>
          </a:prstGeom>
          <a:ln w="12700" cap="flat" cmpd="sng">
            <a:solidFill>
              <a:schemeClr val="tx2"/>
            </a:solidFill>
            <a:prstDash val="solid"/>
            <a:headEnd type="none" w="sm" len="sm"/>
            <a:tailEnd type="stealth" w="med" len="lg"/>
          </a:ln>
        </p:spPr>
      </p:sp>
      <p:sp>
        <p:nvSpPr>
          <p:cNvPr id="551975" name="Line 39"/>
          <p:cNvSpPr/>
          <p:nvPr/>
        </p:nvSpPr>
        <p:spPr>
          <a:xfrm>
            <a:off x="4149725" y="5203825"/>
            <a:ext cx="838200" cy="0"/>
          </a:xfrm>
          <a:prstGeom prst="line">
            <a:avLst/>
          </a:prstGeom>
          <a:ln w="12700" cap="flat" cmpd="sng">
            <a:solidFill>
              <a:schemeClr val="tx2"/>
            </a:solidFill>
            <a:prstDash val="solid"/>
            <a:headEnd type="none" w="sm" len="sm"/>
            <a:tailEnd type="stealth" w="med" len="lg"/>
          </a:ln>
        </p:spPr>
      </p:sp>
      <p:sp>
        <p:nvSpPr>
          <p:cNvPr id="551976" name="Line 40"/>
          <p:cNvSpPr/>
          <p:nvPr/>
        </p:nvSpPr>
        <p:spPr>
          <a:xfrm>
            <a:off x="4225925" y="6410325"/>
            <a:ext cx="838200" cy="0"/>
          </a:xfrm>
          <a:prstGeom prst="line">
            <a:avLst/>
          </a:prstGeom>
          <a:ln w="12700" cap="flat" cmpd="sng">
            <a:solidFill>
              <a:schemeClr val="tx2"/>
            </a:solidFill>
            <a:prstDash val="solid"/>
            <a:headEnd type="none" w="sm" len="sm"/>
            <a:tailEnd type="stealth" w="med" len="lg"/>
          </a:ln>
        </p:spPr>
      </p:sp>
      <p:sp>
        <p:nvSpPr>
          <p:cNvPr id="551977" name="Line 41"/>
          <p:cNvSpPr/>
          <p:nvPr/>
        </p:nvSpPr>
        <p:spPr>
          <a:xfrm>
            <a:off x="5578475" y="4756150"/>
            <a:ext cx="457200" cy="0"/>
          </a:xfrm>
          <a:prstGeom prst="line">
            <a:avLst/>
          </a:prstGeom>
          <a:ln w="12700" cap="flat" cmpd="sng">
            <a:solidFill>
              <a:schemeClr val="tx2"/>
            </a:solidFill>
            <a:prstDash val="solid"/>
            <a:headEnd type="none" w="sm" len="sm"/>
            <a:tailEnd type="stealth" w="med" len="lg"/>
          </a:ln>
        </p:spPr>
      </p:sp>
      <p:sp>
        <p:nvSpPr>
          <p:cNvPr id="91163" name="Line 42"/>
          <p:cNvSpPr/>
          <p:nvPr/>
        </p:nvSpPr>
        <p:spPr>
          <a:xfrm>
            <a:off x="3482975" y="4568825"/>
            <a:ext cx="785813" cy="0"/>
          </a:xfrm>
          <a:prstGeom prst="line">
            <a:avLst/>
          </a:prstGeom>
          <a:ln w="12700" cap="flat" cmpd="sng">
            <a:solidFill>
              <a:schemeClr val="tx2"/>
            </a:solidFill>
            <a:prstDash val="solid"/>
            <a:headEnd type="none" w="sm" len="sm"/>
            <a:tailEnd type="none" w="sm" len="sm"/>
          </a:ln>
        </p:spPr>
      </p:sp>
      <p:sp>
        <p:nvSpPr>
          <p:cNvPr id="91164" name="Line 43"/>
          <p:cNvSpPr/>
          <p:nvPr/>
        </p:nvSpPr>
        <p:spPr>
          <a:xfrm>
            <a:off x="3481388" y="4922838"/>
            <a:ext cx="785812" cy="0"/>
          </a:xfrm>
          <a:prstGeom prst="line">
            <a:avLst/>
          </a:prstGeom>
          <a:ln w="12700" cap="flat" cmpd="sng">
            <a:solidFill>
              <a:schemeClr val="tx2"/>
            </a:solidFill>
            <a:prstDash val="solid"/>
            <a:headEnd type="none" w="sm" len="sm"/>
            <a:tailEnd type="none" w="sm" len="sm"/>
          </a:ln>
        </p:spPr>
      </p:sp>
      <p:sp>
        <p:nvSpPr>
          <p:cNvPr id="91165" name="Line 44"/>
          <p:cNvSpPr/>
          <p:nvPr/>
        </p:nvSpPr>
        <p:spPr>
          <a:xfrm>
            <a:off x="3479800" y="5289550"/>
            <a:ext cx="785813" cy="0"/>
          </a:xfrm>
          <a:prstGeom prst="line">
            <a:avLst/>
          </a:prstGeom>
          <a:ln w="12700" cap="flat" cmpd="sng">
            <a:solidFill>
              <a:schemeClr val="tx2"/>
            </a:solidFill>
            <a:prstDash val="solid"/>
            <a:headEnd type="none" w="sm" len="sm"/>
            <a:tailEnd type="none" w="sm" len="sm"/>
          </a:ln>
        </p:spPr>
      </p:sp>
      <p:sp>
        <p:nvSpPr>
          <p:cNvPr id="91166" name="Line 45"/>
          <p:cNvSpPr/>
          <p:nvPr/>
        </p:nvSpPr>
        <p:spPr>
          <a:xfrm>
            <a:off x="3478213" y="6234113"/>
            <a:ext cx="785812" cy="0"/>
          </a:xfrm>
          <a:prstGeom prst="line">
            <a:avLst/>
          </a:prstGeom>
          <a:ln w="12700" cap="flat" cmpd="sng">
            <a:solidFill>
              <a:schemeClr val="tx2"/>
            </a:solidFill>
            <a:prstDash val="solid"/>
            <a:headEnd type="none" w="sm" len="sm"/>
            <a:tailEnd type="none" w="sm" len="sm"/>
          </a:ln>
        </p:spPr>
      </p:sp>
      <p:sp>
        <p:nvSpPr>
          <p:cNvPr id="551982" name="Freeform 46"/>
          <p:cNvSpPr/>
          <p:nvPr/>
        </p:nvSpPr>
        <p:spPr>
          <a:xfrm>
            <a:off x="6026150" y="4579938"/>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84" name="Line 48"/>
          <p:cNvSpPr/>
          <p:nvPr/>
        </p:nvSpPr>
        <p:spPr>
          <a:xfrm>
            <a:off x="6602413" y="4756150"/>
            <a:ext cx="457200" cy="0"/>
          </a:xfrm>
          <a:prstGeom prst="line">
            <a:avLst/>
          </a:prstGeom>
          <a:ln w="12700" cap="flat" cmpd="sng">
            <a:solidFill>
              <a:schemeClr val="tx2"/>
            </a:solidFill>
            <a:prstDash val="solid"/>
            <a:headEnd type="none" w="sm" len="sm"/>
            <a:tailEnd type="stealth" w="med" len="lg"/>
          </a:ln>
        </p:spPr>
      </p:sp>
      <p:sp>
        <p:nvSpPr>
          <p:cNvPr id="551985" name="Freeform 49"/>
          <p:cNvSpPr/>
          <p:nvPr/>
        </p:nvSpPr>
        <p:spPr>
          <a:xfrm>
            <a:off x="4975225" y="4171950"/>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86" name="Freeform 50"/>
          <p:cNvSpPr/>
          <p:nvPr/>
        </p:nvSpPr>
        <p:spPr>
          <a:xfrm>
            <a:off x="7165975" y="4335463"/>
            <a:ext cx="49213" cy="26987"/>
          </a:xfrm>
          <a:custGeom>
            <a:avLst/>
            <a:gdLst/>
            <a:ahLst/>
            <a:cxnLst>
              <a:cxn ang="0">
                <a:pos x="47625" y="12700"/>
              </a:cxn>
              <a:cxn ang="0">
                <a:pos x="23813" y="0"/>
              </a:cxn>
              <a:cxn ang="0">
                <a:pos x="0" y="12700"/>
              </a:cxn>
              <a:cxn ang="0">
                <a:pos x="23813" y="25400"/>
              </a:cxn>
              <a:cxn ang="0">
                <a:pos x="47625" y="12700"/>
              </a:cxn>
            </a:cxnLst>
            <a:rect l="0" t="0" r="0" b="0"/>
            <a:pathLst>
              <a:path w="31" h="17">
                <a:moveTo>
                  <a:pt x="30" y="8"/>
                </a:moveTo>
                <a:lnTo>
                  <a:pt x="15" y="0"/>
                </a:lnTo>
                <a:lnTo>
                  <a:pt x="0" y="8"/>
                </a:lnTo>
                <a:lnTo>
                  <a:pt x="15" y="16"/>
                </a:lnTo>
                <a:lnTo>
                  <a:pt x="30"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87" name="Freeform 51"/>
          <p:cNvSpPr/>
          <p:nvPr/>
        </p:nvSpPr>
        <p:spPr>
          <a:xfrm>
            <a:off x="7343775" y="4335463"/>
            <a:ext cx="50800" cy="26987"/>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88" name="Freeform 52"/>
          <p:cNvSpPr/>
          <p:nvPr/>
        </p:nvSpPr>
        <p:spPr>
          <a:xfrm>
            <a:off x="7521575" y="4335463"/>
            <a:ext cx="50800" cy="26987"/>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89" name="Line 53"/>
          <p:cNvSpPr/>
          <p:nvPr/>
        </p:nvSpPr>
        <p:spPr>
          <a:xfrm>
            <a:off x="5551488" y="4348163"/>
            <a:ext cx="457200" cy="0"/>
          </a:xfrm>
          <a:prstGeom prst="line">
            <a:avLst/>
          </a:prstGeom>
          <a:ln w="12700" cap="flat" cmpd="sng">
            <a:solidFill>
              <a:schemeClr val="tx2"/>
            </a:solidFill>
            <a:prstDash val="solid"/>
            <a:headEnd type="none" w="sm" len="sm"/>
            <a:tailEnd type="stealth" w="med" len="lg"/>
          </a:ln>
        </p:spPr>
      </p:sp>
      <p:sp>
        <p:nvSpPr>
          <p:cNvPr id="551990" name="Freeform 54"/>
          <p:cNvSpPr/>
          <p:nvPr/>
        </p:nvSpPr>
        <p:spPr>
          <a:xfrm>
            <a:off x="5999163" y="4171950"/>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91" name="Line 55"/>
          <p:cNvSpPr/>
          <p:nvPr/>
        </p:nvSpPr>
        <p:spPr>
          <a:xfrm>
            <a:off x="6575425" y="4348163"/>
            <a:ext cx="457200" cy="0"/>
          </a:xfrm>
          <a:prstGeom prst="line">
            <a:avLst/>
          </a:prstGeom>
          <a:ln w="12700" cap="flat" cmpd="sng">
            <a:solidFill>
              <a:schemeClr val="tx2"/>
            </a:solidFill>
            <a:prstDash val="solid"/>
            <a:headEnd type="none" w="sm" len="sm"/>
            <a:tailEnd type="stealth" w="med" len="lg"/>
          </a:ln>
        </p:spPr>
      </p:sp>
      <p:sp>
        <p:nvSpPr>
          <p:cNvPr id="551992" name="Freeform 56"/>
          <p:cNvSpPr/>
          <p:nvPr/>
        </p:nvSpPr>
        <p:spPr>
          <a:xfrm>
            <a:off x="4992688" y="5027613"/>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93" name="Freeform 57"/>
          <p:cNvSpPr/>
          <p:nvPr/>
        </p:nvSpPr>
        <p:spPr>
          <a:xfrm>
            <a:off x="7183438" y="5191125"/>
            <a:ext cx="49212" cy="26988"/>
          </a:xfrm>
          <a:custGeom>
            <a:avLst/>
            <a:gdLst/>
            <a:ahLst/>
            <a:cxnLst>
              <a:cxn ang="0">
                <a:pos x="47625" y="12700"/>
              </a:cxn>
              <a:cxn ang="0">
                <a:pos x="23812" y="0"/>
              </a:cxn>
              <a:cxn ang="0">
                <a:pos x="0" y="12700"/>
              </a:cxn>
              <a:cxn ang="0">
                <a:pos x="23812" y="25400"/>
              </a:cxn>
              <a:cxn ang="0">
                <a:pos x="47625" y="12700"/>
              </a:cxn>
            </a:cxnLst>
            <a:rect l="0" t="0" r="0" b="0"/>
            <a:pathLst>
              <a:path w="31" h="17">
                <a:moveTo>
                  <a:pt x="30" y="8"/>
                </a:moveTo>
                <a:lnTo>
                  <a:pt x="15" y="0"/>
                </a:lnTo>
                <a:lnTo>
                  <a:pt x="0" y="8"/>
                </a:lnTo>
                <a:lnTo>
                  <a:pt x="15" y="16"/>
                </a:lnTo>
                <a:lnTo>
                  <a:pt x="30"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94" name="Freeform 58"/>
          <p:cNvSpPr/>
          <p:nvPr/>
        </p:nvSpPr>
        <p:spPr>
          <a:xfrm>
            <a:off x="7361238" y="5191125"/>
            <a:ext cx="50800" cy="26988"/>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95" name="Freeform 59"/>
          <p:cNvSpPr/>
          <p:nvPr/>
        </p:nvSpPr>
        <p:spPr>
          <a:xfrm>
            <a:off x="7539038" y="5191125"/>
            <a:ext cx="50800" cy="26988"/>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96" name="Line 60"/>
          <p:cNvSpPr/>
          <p:nvPr/>
        </p:nvSpPr>
        <p:spPr>
          <a:xfrm>
            <a:off x="5568950" y="5203825"/>
            <a:ext cx="457200" cy="0"/>
          </a:xfrm>
          <a:prstGeom prst="line">
            <a:avLst/>
          </a:prstGeom>
          <a:ln w="12700" cap="flat" cmpd="sng">
            <a:solidFill>
              <a:schemeClr val="tx2"/>
            </a:solidFill>
            <a:prstDash val="solid"/>
            <a:headEnd type="none" w="sm" len="sm"/>
            <a:tailEnd type="stealth" w="med" len="lg"/>
          </a:ln>
        </p:spPr>
      </p:sp>
      <p:sp>
        <p:nvSpPr>
          <p:cNvPr id="551997" name="Freeform 61"/>
          <p:cNvSpPr/>
          <p:nvPr/>
        </p:nvSpPr>
        <p:spPr>
          <a:xfrm>
            <a:off x="6016625" y="5027613"/>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1998" name="Line 62"/>
          <p:cNvSpPr/>
          <p:nvPr/>
        </p:nvSpPr>
        <p:spPr>
          <a:xfrm>
            <a:off x="6592888" y="5203825"/>
            <a:ext cx="457200" cy="0"/>
          </a:xfrm>
          <a:prstGeom prst="line">
            <a:avLst/>
          </a:prstGeom>
          <a:ln w="12700" cap="flat" cmpd="sng">
            <a:solidFill>
              <a:schemeClr val="tx2"/>
            </a:solidFill>
            <a:prstDash val="solid"/>
            <a:headEnd type="none" w="sm" len="sm"/>
            <a:tailEnd type="stealth" w="med" len="lg"/>
          </a:ln>
        </p:spPr>
      </p:sp>
      <p:sp>
        <p:nvSpPr>
          <p:cNvPr id="551999" name="Freeform 63"/>
          <p:cNvSpPr/>
          <p:nvPr/>
        </p:nvSpPr>
        <p:spPr>
          <a:xfrm>
            <a:off x="5041900" y="6234113"/>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2000" name="Freeform 64"/>
          <p:cNvSpPr/>
          <p:nvPr/>
        </p:nvSpPr>
        <p:spPr>
          <a:xfrm>
            <a:off x="7232650" y="6396038"/>
            <a:ext cx="49213" cy="26987"/>
          </a:xfrm>
          <a:custGeom>
            <a:avLst/>
            <a:gdLst/>
            <a:ahLst/>
            <a:cxnLst>
              <a:cxn ang="0">
                <a:pos x="47625" y="12700"/>
              </a:cxn>
              <a:cxn ang="0">
                <a:pos x="23813" y="0"/>
              </a:cxn>
              <a:cxn ang="0">
                <a:pos x="0" y="12700"/>
              </a:cxn>
              <a:cxn ang="0">
                <a:pos x="23813" y="25400"/>
              </a:cxn>
              <a:cxn ang="0">
                <a:pos x="47625" y="12700"/>
              </a:cxn>
            </a:cxnLst>
            <a:rect l="0" t="0" r="0" b="0"/>
            <a:pathLst>
              <a:path w="31" h="17">
                <a:moveTo>
                  <a:pt x="30" y="8"/>
                </a:moveTo>
                <a:lnTo>
                  <a:pt x="15" y="0"/>
                </a:lnTo>
                <a:lnTo>
                  <a:pt x="0" y="8"/>
                </a:lnTo>
                <a:lnTo>
                  <a:pt x="15" y="16"/>
                </a:lnTo>
                <a:lnTo>
                  <a:pt x="30"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2001" name="Freeform 65"/>
          <p:cNvSpPr/>
          <p:nvPr/>
        </p:nvSpPr>
        <p:spPr>
          <a:xfrm>
            <a:off x="7410450" y="6396038"/>
            <a:ext cx="50800" cy="26987"/>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2002" name="Freeform 66"/>
          <p:cNvSpPr/>
          <p:nvPr/>
        </p:nvSpPr>
        <p:spPr>
          <a:xfrm>
            <a:off x="7588250" y="6396038"/>
            <a:ext cx="50800" cy="26987"/>
          </a:xfrm>
          <a:custGeom>
            <a:avLst/>
            <a:gdLst/>
            <a:ahLst/>
            <a:cxnLst>
              <a:cxn ang="0">
                <a:pos x="49213" y="12700"/>
              </a:cxn>
              <a:cxn ang="0">
                <a:pos x="23813" y="0"/>
              </a:cxn>
              <a:cxn ang="0">
                <a:pos x="0" y="12700"/>
              </a:cxn>
              <a:cxn ang="0">
                <a:pos x="23813" y="25400"/>
              </a:cxn>
              <a:cxn ang="0">
                <a:pos x="49213" y="12700"/>
              </a:cxn>
            </a:cxnLst>
            <a:rect l="0" t="0" r="0" b="0"/>
            <a:pathLst>
              <a:path w="32" h="17">
                <a:moveTo>
                  <a:pt x="31" y="8"/>
                </a:moveTo>
                <a:lnTo>
                  <a:pt x="15" y="0"/>
                </a:lnTo>
                <a:lnTo>
                  <a:pt x="0" y="8"/>
                </a:lnTo>
                <a:lnTo>
                  <a:pt x="15" y="16"/>
                </a:lnTo>
                <a:lnTo>
                  <a:pt x="31" y="8"/>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2003" name="Line 67"/>
          <p:cNvSpPr/>
          <p:nvPr/>
        </p:nvSpPr>
        <p:spPr>
          <a:xfrm>
            <a:off x="5618163" y="6410325"/>
            <a:ext cx="457200" cy="0"/>
          </a:xfrm>
          <a:prstGeom prst="line">
            <a:avLst/>
          </a:prstGeom>
          <a:ln w="12700" cap="flat" cmpd="sng">
            <a:solidFill>
              <a:schemeClr val="tx2"/>
            </a:solidFill>
            <a:prstDash val="solid"/>
            <a:headEnd type="none" w="sm" len="sm"/>
            <a:tailEnd type="stealth" w="med" len="lg"/>
          </a:ln>
        </p:spPr>
      </p:sp>
      <p:sp>
        <p:nvSpPr>
          <p:cNvPr id="552004" name="Freeform 68"/>
          <p:cNvSpPr/>
          <p:nvPr/>
        </p:nvSpPr>
        <p:spPr>
          <a:xfrm>
            <a:off x="6065838" y="6234113"/>
            <a:ext cx="746125" cy="352425"/>
          </a:xfrm>
          <a:custGeom>
            <a:avLst/>
            <a:gdLst/>
            <a:ahLst/>
            <a:cxnLst>
              <a:cxn ang="0">
                <a:pos x="0" y="350838"/>
              </a:cxn>
              <a:cxn ang="0">
                <a:pos x="0" y="0"/>
              </a:cxn>
              <a:cxn ang="0">
                <a:pos x="744538" y="0"/>
              </a:cxn>
              <a:cxn ang="0">
                <a:pos x="744538" y="350838"/>
              </a:cxn>
              <a:cxn ang="0">
                <a:pos x="0" y="350838"/>
              </a:cxn>
            </a:cxnLst>
            <a:rect l="0" t="0" r="0" b="0"/>
            <a:pathLst>
              <a:path w="470" h="222">
                <a:moveTo>
                  <a:pt x="0" y="221"/>
                </a:moveTo>
                <a:lnTo>
                  <a:pt x="0" y="0"/>
                </a:lnTo>
                <a:lnTo>
                  <a:pt x="469" y="0"/>
                </a:lnTo>
                <a:lnTo>
                  <a:pt x="469" y="221"/>
                </a:lnTo>
                <a:lnTo>
                  <a:pt x="0" y="221"/>
                </a:lnTo>
              </a:path>
            </a:pathLst>
          </a:custGeom>
          <a:noFill/>
          <a:ln w="12700" cap="rnd" cmpd="sng">
            <a:solidFill>
              <a:srgbClr val="000000">
                <a:alpha val="100000"/>
              </a:srgbClr>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52005" name="Line 69"/>
          <p:cNvSpPr/>
          <p:nvPr/>
        </p:nvSpPr>
        <p:spPr>
          <a:xfrm>
            <a:off x="6642100" y="6410325"/>
            <a:ext cx="457200" cy="0"/>
          </a:xfrm>
          <a:prstGeom prst="line">
            <a:avLst/>
          </a:prstGeom>
          <a:ln w="12700" cap="flat" cmpd="sng">
            <a:solidFill>
              <a:schemeClr val="tx2"/>
            </a:solidFill>
            <a:prstDash val="solid"/>
            <a:headEnd type="none" w="sm" len="sm"/>
            <a:tailEnd type="stealth" w="med" len="lg"/>
          </a:ln>
        </p:spPr>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1944">
                                            <p:txEl>
                                              <p:pRg st="2" end="2"/>
                                            </p:txEl>
                                          </p:spTgt>
                                        </p:tgtEl>
                                        <p:attrNameLst>
                                          <p:attrName>style.visibility</p:attrName>
                                        </p:attrNameLst>
                                      </p:cBhvr>
                                      <p:to>
                                        <p:strVal val="visible"/>
                                      </p:to>
                                    </p:set>
                                    <p:anim calcmode="lin" valueType="num">
                                      <p:cBhvr additive="base">
                                        <p:cTn id="7" dur="500" fill="hold"/>
                                        <p:tgtEl>
                                          <p:spTgt spid="55194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19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1946"/>
                                        </p:tgtEl>
                                        <p:attrNameLst>
                                          <p:attrName>style.visibility</p:attrName>
                                        </p:attrNameLst>
                                      </p:cBhvr>
                                      <p:to>
                                        <p:strVal val="visible"/>
                                      </p:to>
                                    </p:set>
                                    <p:anim calcmode="lin" valueType="num">
                                      <p:cBhvr additive="base">
                                        <p:cTn id="13" dur="500" fill="hold"/>
                                        <p:tgtEl>
                                          <p:spTgt spid="551946"/>
                                        </p:tgtEl>
                                        <p:attrNameLst>
                                          <p:attrName>ppt_x</p:attrName>
                                        </p:attrNameLst>
                                      </p:cBhvr>
                                      <p:tavLst>
                                        <p:tav tm="0">
                                          <p:val>
                                            <p:strVal val="#ppt_x"/>
                                          </p:val>
                                        </p:tav>
                                        <p:tav tm="100000">
                                          <p:val>
                                            <p:strVal val="#ppt_x"/>
                                          </p:val>
                                        </p:tav>
                                      </p:tavLst>
                                    </p:anim>
                                    <p:anim calcmode="lin" valueType="num">
                                      <p:cBhvr additive="base">
                                        <p:cTn id="14" dur="500" fill="hold"/>
                                        <p:tgtEl>
                                          <p:spTgt spid="55194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51950"/>
                                        </p:tgtEl>
                                        <p:attrNameLst>
                                          <p:attrName>style.visibility</p:attrName>
                                        </p:attrNameLst>
                                      </p:cBhvr>
                                      <p:to>
                                        <p:strVal val="visible"/>
                                      </p:to>
                                    </p:set>
                                    <p:anim calcmode="lin" valueType="num">
                                      <p:cBhvr additive="base">
                                        <p:cTn id="17" dur="500" fill="hold"/>
                                        <p:tgtEl>
                                          <p:spTgt spid="551950"/>
                                        </p:tgtEl>
                                        <p:attrNameLst>
                                          <p:attrName>ppt_x</p:attrName>
                                        </p:attrNameLst>
                                      </p:cBhvr>
                                      <p:tavLst>
                                        <p:tav tm="0">
                                          <p:val>
                                            <p:strVal val="#ppt_x"/>
                                          </p:val>
                                        </p:tav>
                                        <p:tav tm="100000">
                                          <p:val>
                                            <p:strVal val="#ppt_x"/>
                                          </p:val>
                                        </p:tav>
                                      </p:tavLst>
                                    </p:anim>
                                    <p:anim calcmode="lin" valueType="num">
                                      <p:cBhvr additive="base">
                                        <p:cTn id="18" dur="500" fill="hold"/>
                                        <p:tgtEl>
                                          <p:spTgt spid="55195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51957"/>
                                        </p:tgtEl>
                                        <p:attrNameLst>
                                          <p:attrName>style.visibility</p:attrName>
                                        </p:attrNameLst>
                                      </p:cBhvr>
                                      <p:to>
                                        <p:strVal val="visible"/>
                                      </p:to>
                                    </p:set>
                                    <p:anim calcmode="lin" valueType="num">
                                      <p:cBhvr additive="base">
                                        <p:cTn id="21" dur="500" fill="hold"/>
                                        <p:tgtEl>
                                          <p:spTgt spid="551957"/>
                                        </p:tgtEl>
                                        <p:attrNameLst>
                                          <p:attrName>ppt_x</p:attrName>
                                        </p:attrNameLst>
                                      </p:cBhvr>
                                      <p:tavLst>
                                        <p:tav tm="0">
                                          <p:val>
                                            <p:strVal val="#ppt_x"/>
                                          </p:val>
                                        </p:tav>
                                        <p:tav tm="100000">
                                          <p:val>
                                            <p:strVal val="#ppt_x"/>
                                          </p:val>
                                        </p:tav>
                                      </p:tavLst>
                                    </p:anim>
                                    <p:anim calcmode="lin" valueType="num">
                                      <p:cBhvr additive="base">
                                        <p:cTn id="22" dur="500" fill="hold"/>
                                        <p:tgtEl>
                                          <p:spTgt spid="55195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51958"/>
                                        </p:tgtEl>
                                        <p:attrNameLst>
                                          <p:attrName>style.visibility</p:attrName>
                                        </p:attrNameLst>
                                      </p:cBhvr>
                                      <p:to>
                                        <p:strVal val="visible"/>
                                      </p:to>
                                    </p:set>
                                    <p:anim calcmode="lin" valueType="num">
                                      <p:cBhvr additive="base">
                                        <p:cTn id="25" dur="500" fill="hold"/>
                                        <p:tgtEl>
                                          <p:spTgt spid="551958"/>
                                        </p:tgtEl>
                                        <p:attrNameLst>
                                          <p:attrName>ppt_x</p:attrName>
                                        </p:attrNameLst>
                                      </p:cBhvr>
                                      <p:tavLst>
                                        <p:tav tm="0">
                                          <p:val>
                                            <p:strVal val="#ppt_x"/>
                                          </p:val>
                                        </p:tav>
                                        <p:tav tm="100000">
                                          <p:val>
                                            <p:strVal val="#ppt_x"/>
                                          </p:val>
                                        </p:tav>
                                      </p:tavLst>
                                    </p:anim>
                                    <p:anim calcmode="lin" valueType="num">
                                      <p:cBhvr additive="base">
                                        <p:cTn id="26" dur="500" fill="hold"/>
                                        <p:tgtEl>
                                          <p:spTgt spid="55195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51965"/>
                                        </p:tgtEl>
                                        <p:attrNameLst>
                                          <p:attrName>style.visibility</p:attrName>
                                        </p:attrNameLst>
                                      </p:cBhvr>
                                      <p:to>
                                        <p:strVal val="visible"/>
                                      </p:to>
                                    </p:set>
                                    <p:anim calcmode="lin" valueType="num">
                                      <p:cBhvr additive="base">
                                        <p:cTn id="29" dur="500" fill="hold"/>
                                        <p:tgtEl>
                                          <p:spTgt spid="551965"/>
                                        </p:tgtEl>
                                        <p:attrNameLst>
                                          <p:attrName>ppt_x</p:attrName>
                                        </p:attrNameLst>
                                      </p:cBhvr>
                                      <p:tavLst>
                                        <p:tav tm="0">
                                          <p:val>
                                            <p:strVal val="#ppt_x"/>
                                          </p:val>
                                        </p:tav>
                                        <p:tav tm="100000">
                                          <p:val>
                                            <p:strVal val="#ppt_x"/>
                                          </p:val>
                                        </p:tav>
                                      </p:tavLst>
                                    </p:anim>
                                    <p:anim calcmode="lin" valueType="num">
                                      <p:cBhvr additive="base">
                                        <p:cTn id="30" dur="500" fill="hold"/>
                                        <p:tgtEl>
                                          <p:spTgt spid="55196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51973"/>
                                        </p:tgtEl>
                                        <p:attrNameLst>
                                          <p:attrName>style.visibility</p:attrName>
                                        </p:attrNameLst>
                                      </p:cBhvr>
                                      <p:to>
                                        <p:strVal val="visible"/>
                                      </p:to>
                                    </p:set>
                                    <p:anim calcmode="lin" valueType="num">
                                      <p:cBhvr additive="base">
                                        <p:cTn id="33" dur="500" fill="hold"/>
                                        <p:tgtEl>
                                          <p:spTgt spid="551973"/>
                                        </p:tgtEl>
                                        <p:attrNameLst>
                                          <p:attrName>ppt_x</p:attrName>
                                        </p:attrNameLst>
                                      </p:cBhvr>
                                      <p:tavLst>
                                        <p:tav tm="0">
                                          <p:val>
                                            <p:strVal val="#ppt_x"/>
                                          </p:val>
                                        </p:tav>
                                        <p:tav tm="100000">
                                          <p:val>
                                            <p:strVal val="#ppt_x"/>
                                          </p:val>
                                        </p:tav>
                                      </p:tavLst>
                                    </p:anim>
                                    <p:anim calcmode="lin" valueType="num">
                                      <p:cBhvr additive="base">
                                        <p:cTn id="34" dur="500" fill="hold"/>
                                        <p:tgtEl>
                                          <p:spTgt spid="55197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51974"/>
                                        </p:tgtEl>
                                        <p:attrNameLst>
                                          <p:attrName>style.visibility</p:attrName>
                                        </p:attrNameLst>
                                      </p:cBhvr>
                                      <p:to>
                                        <p:strVal val="visible"/>
                                      </p:to>
                                    </p:set>
                                    <p:anim calcmode="lin" valueType="num">
                                      <p:cBhvr additive="base">
                                        <p:cTn id="37" dur="500" fill="hold"/>
                                        <p:tgtEl>
                                          <p:spTgt spid="551974"/>
                                        </p:tgtEl>
                                        <p:attrNameLst>
                                          <p:attrName>ppt_x</p:attrName>
                                        </p:attrNameLst>
                                      </p:cBhvr>
                                      <p:tavLst>
                                        <p:tav tm="0">
                                          <p:val>
                                            <p:strVal val="#ppt_x"/>
                                          </p:val>
                                        </p:tav>
                                        <p:tav tm="100000">
                                          <p:val>
                                            <p:strVal val="#ppt_x"/>
                                          </p:val>
                                        </p:tav>
                                      </p:tavLst>
                                    </p:anim>
                                    <p:anim calcmode="lin" valueType="num">
                                      <p:cBhvr additive="base">
                                        <p:cTn id="38" dur="500" fill="hold"/>
                                        <p:tgtEl>
                                          <p:spTgt spid="551974"/>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51975"/>
                                        </p:tgtEl>
                                        <p:attrNameLst>
                                          <p:attrName>style.visibility</p:attrName>
                                        </p:attrNameLst>
                                      </p:cBhvr>
                                      <p:to>
                                        <p:strVal val="visible"/>
                                      </p:to>
                                    </p:set>
                                    <p:anim calcmode="lin" valueType="num">
                                      <p:cBhvr additive="base">
                                        <p:cTn id="41" dur="500" fill="hold"/>
                                        <p:tgtEl>
                                          <p:spTgt spid="551975"/>
                                        </p:tgtEl>
                                        <p:attrNameLst>
                                          <p:attrName>ppt_x</p:attrName>
                                        </p:attrNameLst>
                                      </p:cBhvr>
                                      <p:tavLst>
                                        <p:tav tm="0">
                                          <p:val>
                                            <p:strVal val="#ppt_x"/>
                                          </p:val>
                                        </p:tav>
                                        <p:tav tm="100000">
                                          <p:val>
                                            <p:strVal val="#ppt_x"/>
                                          </p:val>
                                        </p:tav>
                                      </p:tavLst>
                                    </p:anim>
                                    <p:anim calcmode="lin" valueType="num">
                                      <p:cBhvr additive="base">
                                        <p:cTn id="42" dur="500" fill="hold"/>
                                        <p:tgtEl>
                                          <p:spTgt spid="551975"/>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51976"/>
                                        </p:tgtEl>
                                        <p:attrNameLst>
                                          <p:attrName>style.visibility</p:attrName>
                                        </p:attrNameLst>
                                      </p:cBhvr>
                                      <p:to>
                                        <p:strVal val="visible"/>
                                      </p:to>
                                    </p:set>
                                    <p:anim calcmode="lin" valueType="num">
                                      <p:cBhvr additive="base">
                                        <p:cTn id="45" dur="500" fill="hold"/>
                                        <p:tgtEl>
                                          <p:spTgt spid="551976"/>
                                        </p:tgtEl>
                                        <p:attrNameLst>
                                          <p:attrName>ppt_x</p:attrName>
                                        </p:attrNameLst>
                                      </p:cBhvr>
                                      <p:tavLst>
                                        <p:tav tm="0">
                                          <p:val>
                                            <p:strVal val="#ppt_x"/>
                                          </p:val>
                                        </p:tav>
                                        <p:tav tm="100000">
                                          <p:val>
                                            <p:strVal val="#ppt_x"/>
                                          </p:val>
                                        </p:tav>
                                      </p:tavLst>
                                    </p:anim>
                                    <p:anim calcmode="lin" valueType="num">
                                      <p:cBhvr additive="base">
                                        <p:cTn id="46" dur="500" fill="hold"/>
                                        <p:tgtEl>
                                          <p:spTgt spid="55197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51977"/>
                                        </p:tgtEl>
                                        <p:attrNameLst>
                                          <p:attrName>style.visibility</p:attrName>
                                        </p:attrNameLst>
                                      </p:cBhvr>
                                      <p:to>
                                        <p:strVal val="visible"/>
                                      </p:to>
                                    </p:set>
                                    <p:anim calcmode="lin" valueType="num">
                                      <p:cBhvr additive="base">
                                        <p:cTn id="49" dur="500" fill="hold"/>
                                        <p:tgtEl>
                                          <p:spTgt spid="551977"/>
                                        </p:tgtEl>
                                        <p:attrNameLst>
                                          <p:attrName>ppt_x</p:attrName>
                                        </p:attrNameLst>
                                      </p:cBhvr>
                                      <p:tavLst>
                                        <p:tav tm="0">
                                          <p:val>
                                            <p:strVal val="#ppt_x"/>
                                          </p:val>
                                        </p:tav>
                                        <p:tav tm="100000">
                                          <p:val>
                                            <p:strVal val="#ppt_x"/>
                                          </p:val>
                                        </p:tav>
                                      </p:tavLst>
                                    </p:anim>
                                    <p:anim calcmode="lin" valueType="num">
                                      <p:cBhvr additive="base">
                                        <p:cTn id="50" dur="500" fill="hold"/>
                                        <p:tgtEl>
                                          <p:spTgt spid="55197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51982"/>
                                        </p:tgtEl>
                                        <p:attrNameLst>
                                          <p:attrName>style.visibility</p:attrName>
                                        </p:attrNameLst>
                                      </p:cBhvr>
                                      <p:to>
                                        <p:strVal val="visible"/>
                                      </p:to>
                                    </p:set>
                                    <p:anim calcmode="lin" valueType="num">
                                      <p:cBhvr additive="base">
                                        <p:cTn id="53" dur="500" fill="hold"/>
                                        <p:tgtEl>
                                          <p:spTgt spid="551982"/>
                                        </p:tgtEl>
                                        <p:attrNameLst>
                                          <p:attrName>ppt_x</p:attrName>
                                        </p:attrNameLst>
                                      </p:cBhvr>
                                      <p:tavLst>
                                        <p:tav tm="0">
                                          <p:val>
                                            <p:strVal val="#ppt_x"/>
                                          </p:val>
                                        </p:tav>
                                        <p:tav tm="100000">
                                          <p:val>
                                            <p:strVal val="#ppt_x"/>
                                          </p:val>
                                        </p:tav>
                                      </p:tavLst>
                                    </p:anim>
                                    <p:anim calcmode="lin" valueType="num">
                                      <p:cBhvr additive="base">
                                        <p:cTn id="54" dur="500" fill="hold"/>
                                        <p:tgtEl>
                                          <p:spTgt spid="551982"/>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51984"/>
                                        </p:tgtEl>
                                        <p:attrNameLst>
                                          <p:attrName>style.visibility</p:attrName>
                                        </p:attrNameLst>
                                      </p:cBhvr>
                                      <p:to>
                                        <p:strVal val="visible"/>
                                      </p:to>
                                    </p:set>
                                    <p:anim calcmode="lin" valueType="num">
                                      <p:cBhvr additive="base">
                                        <p:cTn id="57" dur="500" fill="hold"/>
                                        <p:tgtEl>
                                          <p:spTgt spid="551984"/>
                                        </p:tgtEl>
                                        <p:attrNameLst>
                                          <p:attrName>ppt_x</p:attrName>
                                        </p:attrNameLst>
                                      </p:cBhvr>
                                      <p:tavLst>
                                        <p:tav tm="0">
                                          <p:val>
                                            <p:strVal val="#ppt_x"/>
                                          </p:val>
                                        </p:tav>
                                        <p:tav tm="100000">
                                          <p:val>
                                            <p:strVal val="#ppt_x"/>
                                          </p:val>
                                        </p:tav>
                                      </p:tavLst>
                                    </p:anim>
                                    <p:anim calcmode="lin" valueType="num">
                                      <p:cBhvr additive="base">
                                        <p:cTn id="58" dur="500" fill="hold"/>
                                        <p:tgtEl>
                                          <p:spTgt spid="551984"/>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551985"/>
                                        </p:tgtEl>
                                        <p:attrNameLst>
                                          <p:attrName>style.visibility</p:attrName>
                                        </p:attrNameLst>
                                      </p:cBhvr>
                                      <p:to>
                                        <p:strVal val="visible"/>
                                      </p:to>
                                    </p:set>
                                    <p:anim calcmode="lin" valueType="num">
                                      <p:cBhvr additive="base">
                                        <p:cTn id="61" dur="500" fill="hold"/>
                                        <p:tgtEl>
                                          <p:spTgt spid="551985"/>
                                        </p:tgtEl>
                                        <p:attrNameLst>
                                          <p:attrName>ppt_x</p:attrName>
                                        </p:attrNameLst>
                                      </p:cBhvr>
                                      <p:tavLst>
                                        <p:tav tm="0">
                                          <p:val>
                                            <p:strVal val="#ppt_x"/>
                                          </p:val>
                                        </p:tav>
                                        <p:tav tm="100000">
                                          <p:val>
                                            <p:strVal val="#ppt_x"/>
                                          </p:val>
                                        </p:tav>
                                      </p:tavLst>
                                    </p:anim>
                                    <p:anim calcmode="lin" valueType="num">
                                      <p:cBhvr additive="base">
                                        <p:cTn id="62" dur="500" fill="hold"/>
                                        <p:tgtEl>
                                          <p:spTgt spid="551985"/>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551986"/>
                                        </p:tgtEl>
                                        <p:attrNameLst>
                                          <p:attrName>style.visibility</p:attrName>
                                        </p:attrNameLst>
                                      </p:cBhvr>
                                      <p:to>
                                        <p:strVal val="visible"/>
                                      </p:to>
                                    </p:set>
                                    <p:anim calcmode="lin" valueType="num">
                                      <p:cBhvr additive="base">
                                        <p:cTn id="65" dur="500" fill="hold"/>
                                        <p:tgtEl>
                                          <p:spTgt spid="551986"/>
                                        </p:tgtEl>
                                        <p:attrNameLst>
                                          <p:attrName>ppt_x</p:attrName>
                                        </p:attrNameLst>
                                      </p:cBhvr>
                                      <p:tavLst>
                                        <p:tav tm="0">
                                          <p:val>
                                            <p:strVal val="#ppt_x"/>
                                          </p:val>
                                        </p:tav>
                                        <p:tav tm="100000">
                                          <p:val>
                                            <p:strVal val="#ppt_x"/>
                                          </p:val>
                                        </p:tav>
                                      </p:tavLst>
                                    </p:anim>
                                    <p:anim calcmode="lin" valueType="num">
                                      <p:cBhvr additive="base">
                                        <p:cTn id="66" dur="500" fill="hold"/>
                                        <p:tgtEl>
                                          <p:spTgt spid="551986"/>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551987"/>
                                        </p:tgtEl>
                                        <p:attrNameLst>
                                          <p:attrName>style.visibility</p:attrName>
                                        </p:attrNameLst>
                                      </p:cBhvr>
                                      <p:to>
                                        <p:strVal val="visible"/>
                                      </p:to>
                                    </p:set>
                                    <p:anim calcmode="lin" valueType="num">
                                      <p:cBhvr additive="base">
                                        <p:cTn id="69" dur="500" fill="hold"/>
                                        <p:tgtEl>
                                          <p:spTgt spid="551987"/>
                                        </p:tgtEl>
                                        <p:attrNameLst>
                                          <p:attrName>ppt_x</p:attrName>
                                        </p:attrNameLst>
                                      </p:cBhvr>
                                      <p:tavLst>
                                        <p:tav tm="0">
                                          <p:val>
                                            <p:strVal val="#ppt_x"/>
                                          </p:val>
                                        </p:tav>
                                        <p:tav tm="100000">
                                          <p:val>
                                            <p:strVal val="#ppt_x"/>
                                          </p:val>
                                        </p:tav>
                                      </p:tavLst>
                                    </p:anim>
                                    <p:anim calcmode="lin" valueType="num">
                                      <p:cBhvr additive="base">
                                        <p:cTn id="70" dur="500" fill="hold"/>
                                        <p:tgtEl>
                                          <p:spTgt spid="551987"/>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551988"/>
                                        </p:tgtEl>
                                        <p:attrNameLst>
                                          <p:attrName>style.visibility</p:attrName>
                                        </p:attrNameLst>
                                      </p:cBhvr>
                                      <p:to>
                                        <p:strVal val="visible"/>
                                      </p:to>
                                    </p:set>
                                    <p:anim calcmode="lin" valueType="num">
                                      <p:cBhvr additive="base">
                                        <p:cTn id="73" dur="500" fill="hold"/>
                                        <p:tgtEl>
                                          <p:spTgt spid="551988"/>
                                        </p:tgtEl>
                                        <p:attrNameLst>
                                          <p:attrName>ppt_x</p:attrName>
                                        </p:attrNameLst>
                                      </p:cBhvr>
                                      <p:tavLst>
                                        <p:tav tm="0">
                                          <p:val>
                                            <p:strVal val="#ppt_x"/>
                                          </p:val>
                                        </p:tav>
                                        <p:tav tm="100000">
                                          <p:val>
                                            <p:strVal val="#ppt_x"/>
                                          </p:val>
                                        </p:tav>
                                      </p:tavLst>
                                    </p:anim>
                                    <p:anim calcmode="lin" valueType="num">
                                      <p:cBhvr additive="base">
                                        <p:cTn id="74" dur="500" fill="hold"/>
                                        <p:tgtEl>
                                          <p:spTgt spid="551988"/>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551989"/>
                                        </p:tgtEl>
                                        <p:attrNameLst>
                                          <p:attrName>style.visibility</p:attrName>
                                        </p:attrNameLst>
                                      </p:cBhvr>
                                      <p:to>
                                        <p:strVal val="visible"/>
                                      </p:to>
                                    </p:set>
                                    <p:anim calcmode="lin" valueType="num">
                                      <p:cBhvr additive="base">
                                        <p:cTn id="77" dur="500" fill="hold"/>
                                        <p:tgtEl>
                                          <p:spTgt spid="551989"/>
                                        </p:tgtEl>
                                        <p:attrNameLst>
                                          <p:attrName>ppt_x</p:attrName>
                                        </p:attrNameLst>
                                      </p:cBhvr>
                                      <p:tavLst>
                                        <p:tav tm="0">
                                          <p:val>
                                            <p:strVal val="#ppt_x"/>
                                          </p:val>
                                        </p:tav>
                                        <p:tav tm="100000">
                                          <p:val>
                                            <p:strVal val="#ppt_x"/>
                                          </p:val>
                                        </p:tav>
                                      </p:tavLst>
                                    </p:anim>
                                    <p:anim calcmode="lin" valueType="num">
                                      <p:cBhvr additive="base">
                                        <p:cTn id="78" dur="500" fill="hold"/>
                                        <p:tgtEl>
                                          <p:spTgt spid="551989"/>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51990"/>
                                        </p:tgtEl>
                                        <p:attrNameLst>
                                          <p:attrName>style.visibility</p:attrName>
                                        </p:attrNameLst>
                                      </p:cBhvr>
                                      <p:to>
                                        <p:strVal val="visible"/>
                                      </p:to>
                                    </p:set>
                                    <p:anim calcmode="lin" valueType="num">
                                      <p:cBhvr additive="base">
                                        <p:cTn id="81" dur="500" fill="hold"/>
                                        <p:tgtEl>
                                          <p:spTgt spid="551990"/>
                                        </p:tgtEl>
                                        <p:attrNameLst>
                                          <p:attrName>ppt_x</p:attrName>
                                        </p:attrNameLst>
                                      </p:cBhvr>
                                      <p:tavLst>
                                        <p:tav tm="0">
                                          <p:val>
                                            <p:strVal val="#ppt_x"/>
                                          </p:val>
                                        </p:tav>
                                        <p:tav tm="100000">
                                          <p:val>
                                            <p:strVal val="#ppt_x"/>
                                          </p:val>
                                        </p:tav>
                                      </p:tavLst>
                                    </p:anim>
                                    <p:anim calcmode="lin" valueType="num">
                                      <p:cBhvr additive="base">
                                        <p:cTn id="82" dur="500" fill="hold"/>
                                        <p:tgtEl>
                                          <p:spTgt spid="551990"/>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551991"/>
                                        </p:tgtEl>
                                        <p:attrNameLst>
                                          <p:attrName>style.visibility</p:attrName>
                                        </p:attrNameLst>
                                      </p:cBhvr>
                                      <p:to>
                                        <p:strVal val="visible"/>
                                      </p:to>
                                    </p:set>
                                    <p:anim calcmode="lin" valueType="num">
                                      <p:cBhvr additive="base">
                                        <p:cTn id="85" dur="500" fill="hold"/>
                                        <p:tgtEl>
                                          <p:spTgt spid="551991"/>
                                        </p:tgtEl>
                                        <p:attrNameLst>
                                          <p:attrName>ppt_x</p:attrName>
                                        </p:attrNameLst>
                                      </p:cBhvr>
                                      <p:tavLst>
                                        <p:tav tm="0">
                                          <p:val>
                                            <p:strVal val="#ppt_x"/>
                                          </p:val>
                                        </p:tav>
                                        <p:tav tm="100000">
                                          <p:val>
                                            <p:strVal val="#ppt_x"/>
                                          </p:val>
                                        </p:tav>
                                      </p:tavLst>
                                    </p:anim>
                                    <p:anim calcmode="lin" valueType="num">
                                      <p:cBhvr additive="base">
                                        <p:cTn id="86" dur="500" fill="hold"/>
                                        <p:tgtEl>
                                          <p:spTgt spid="551991"/>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551992"/>
                                        </p:tgtEl>
                                        <p:attrNameLst>
                                          <p:attrName>style.visibility</p:attrName>
                                        </p:attrNameLst>
                                      </p:cBhvr>
                                      <p:to>
                                        <p:strVal val="visible"/>
                                      </p:to>
                                    </p:set>
                                    <p:anim calcmode="lin" valueType="num">
                                      <p:cBhvr additive="base">
                                        <p:cTn id="89" dur="500" fill="hold"/>
                                        <p:tgtEl>
                                          <p:spTgt spid="551992"/>
                                        </p:tgtEl>
                                        <p:attrNameLst>
                                          <p:attrName>ppt_x</p:attrName>
                                        </p:attrNameLst>
                                      </p:cBhvr>
                                      <p:tavLst>
                                        <p:tav tm="0">
                                          <p:val>
                                            <p:strVal val="#ppt_x"/>
                                          </p:val>
                                        </p:tav>
                                        <p:tav tm="100000">
                                          <p:val>
                                            <p:strVal val="#ppt_x"/>
                                          </p:val>
                                        </p:tav>
                                      </p:tavLst>
                                    </p:anim>
                                    <p:anim calcmode="lin" valueType="num">
                                      <p:cBhvr additive="base">
                                        <p:cTn id="90" dur="500" fill="hold"/>
                                        <p:tgtEl>
                                          <p:spTgt spid="551992"/>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551993"/>
                                        </p:tgtEl>
                                        <p:attrNameLst>
                                          <p:attrName>style.visibility</p:attrName>
                                        </p:attrNameLst>
                                      </p:cBhvr>
                                      <p:to>
                                        <p:strVal val="visible"/>
                                      </p:to>
                                    </p:set>
                                    <p:anim calcmode="lin" valueType="num">
                                      <p:cBhvr additive="base">
                                        <p:cTn id="93" dur="500" fill="hold"/>
                                        <p:tgtEl>
                                          <p:spTgt spid="551993"/>
                                        </p:tgtEl>
                                        <p:attrNameLst>
                                          <p:attrName>ppt_x</p:attrName>
                                        </p:attrNameLst>
                                      </p:cBhvr>
                                      <p:tavLst>
                                        <p:tav tm="0">
                                          <p:val>
                                            <p:strVal val="#ppt_x"/>
                                          </p:val>
                                        </p:tav>
                                        <p:tav tm="100000">
                                          <p:val>
                                            <p:strVal val="#ppt_x"/>
                                          </p:val>
                                        </p:tav>
                                      </p:tavLst>
                                    </p:anim>
                                    <p:anim calcmode="lin" valueType="num">
                                      <p:cBhvr additive="base">
                                        <p:cTn id="94" dur="500" fill="hold"/>
                                        <p:tgtEl>
                                          <p:spTgt spid="551993"/>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551994"/>
                                        </p:tgtEl>
                                        <p:attrNameLst>
                                          <p:attrName>style.visibility</p:attrName>
                                        </p:attrNameLst>
                                      </p:cBhvr>
                                      <p:to>
                                        <p:strVal val="visible"/>
                                      </p:to>
                                    </p:set>
                                    <p:anim calcmode="lin" valueType="num">
                                      <p:cBhvr additive="base">
                                        <p:cTn id="97" dur="500" fill="hold"/>
                                        <p:tgtEl>
                                          <p:spTgt spid="551994"/>
                                        </p:tgtEl>
                                        <p:attrNameLst>
                                          <p:attrName>ppt_x</p:attrName>
                                        </p:attrNameLst>
                                      </p:cBhvr>
                                      <p:tavLst>
                                        <p:tav tm="0">
                                          <p:val>
                                            <p:strVal val="#ppt_x"/>
                                          </p:val>
                                        </p:tav>
                                        <p:tav tm="100000">
                                          <p:val>
                                            <p:strVal val="#ppt_x"/>
                                          </p:val>
                                        </p:tav>
                                      </p:tavLst>
                                    </p:anim>
                                    <p:anim calcmode="lin" valueType="num">
                                      <p:cBhvr additive="base">
                                        <p:cTn id="98" dur="500" fill="hold"/>
                                        <p:tgtEl>
                                          <p:spTgt spid="551994"/>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551995"/>
                                        </p:tgtEl>
                                        <p:attrNameLst>
                                          <p:attrName>style.visibility</p:attrName>
                                        </p:attrNameLst>
                                      </p:cBhvr>
                                      <p:to>
                                        <p:strVal val="visible"/>
                                      </p:to>
                                    </p:set>
                                    <p:anim calcmode="lin" valueType="num">
                                      <p:cBhvr additive="base">
                                        <p:cTn id="101" dur="500" fill="hold"/>
                                        <p:tgtEl>
                                          <p:spTgt spid="551995"/>
                                        </p:tgtEl>
                                        <p:attrNameLst>
                                          <p:attrName>ppt_x</p:attrName>
                                        </p:attrNameLst>
                                      </p:cBhvr>
                                      <p:tavLst>
                                        <p:tav tm="0">
                                          <p:val>
                                            <p:strVal val="#ppt_x"/>
                                          </p:val>
                                        </p:tav>
                                        <p:tav tm="100000">
                                          <p:val>
                                            <p:strVal val="#ppt_x"/>
                                          </p:val>
                                        </p:tav>
                                      </p:tavLst>
                                    </p:anim>
                                    <p:anim calcmode="lin" valueType="num">
                                      <p:cBhvr additive="base">
                                        <p:cTn id="102" dur="500" fill="hold"/>
                                        <p:tgtEl>
                                          <p:spTgt spid="551995"/>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551996"/>
                                        </p:tgtEl>
                                        <p:attrNameLst>
                                          <p:attrName>style.visibility</p:attrName>
                                        </p:attrNameLst>
                                      </p:cBhvr>
                                      <p:to>
                                        <p:strVal val="visible"/>
                                      </p:to>
                                    </p:set>
                                    <p:anim calcmode="lin" valueType="num">
                                      <p:cBhvr additive="base">
                                        <p:cTn id="105" dur="500" fill="hold"/>
                                        <p:tgtEl>
                                          <p:spTgt spid="551996"/>
                                        </p:tgtEl>
                                        <p:attrNameLst>
                                          <p:attrName>ppt_x</p:attrName>
                                        </p:attrNameLst>
                                      </p:cBhvr>
                                      <p:tavLst>
                                        <p:tav tm="0">
                                          <p:val>
                                            <p:strVal val="#ppt_x"/>
                                          </p:val>
                                        </p:tav>
                                        <p:tav tm="100000">
                                          <p:val>
                                            <p:strVal val="#ppt_x"/>
                                          </p:val>
                                        </p:tav>
                                      </p:tavLst>
                                    </p:anim>
                                    <p:anim calcmode="lin" valueType="num">
                                      <p:cBhvr additive="base">
                                        <p:cTn id="106" dur="500" fill="hold"/>
                                        <p:tgtEl>
                                          <p:spTgt spid="551996"/>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551997"/>
                                        </p:tgtEl>
                                        <p:attrNameLst>
                                          <p:attrName>style.visibility</p:attrName>
                                        </p:attrNameLst>
                                      </p:cBhvr>
                                      <p:to>
                                        <p:strVal val="visible"/>
                                      </p:to>
                                    </p:set>
                                    <p:anim calcmode="lin" valueType="num">
                                      <p:cBhvr additive="base">
                                        <p:cTn id="109" dur="500" fill="hold"/>
                                        <p:tgtEl>
                                          <p:spTgt spid="551997"/>
                                        </p:tgtEl>
                                        <p:attrNameLst>
                                          <p:attrName>ppt_x</p:attrName>
                                        </p:attrNameLst>
                                      </p:cBhvr>
                                      <p:tavLst>
                                        <p:tav tm="0">
                                          <p:val>
                                            <p:strVal val="#ppt_x"/>
                                          </p:val>
                                        </p:tav>
                                        <p:tav tm="100000">
                                          <p:val>
                                            <p:strVal val="#ppt_x"/>
                                          </p:val>
                                        </p:tav>
                                      </p:tavLst>
                                    </p:anim>
                                    <p:anim calcmode="lin" valueType="num">
                                      <p:cBhvr additive="base">
                                        <p:cTn id="110" dur="500" fill="hold"/>
                                        <p:tgtEl>
                                          <p:spTgt spid="551997"/>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551998"/>
                                        </p:tgtEl>
                                        <p:attrNameLst>
                                          <p:attrName>style.visibility</p:attrName>
                                        </p:attrNameLst>
                                      </p:cBhvr>
                                      <p:to>
                                        <p:strVal val="visible"/>
                                      </p:to>
                                    </p:set>
                                    <p:anim calcmode="lin" valueType="num">
                                      <p:cBhvr additive="base">
                                        <p:cTn id="113" dur="500" fill="hold"/>
                                        <p:tgtEl>
                                          <p:spTgt spid="551998"/>
                                        </p:tgtEl>
                                        <p:attrNameLst>
                                          <p:attrName>ppt_x</p:attrName>
                                        </p:attrNameLst>
                                      </p:cBhvr>
                                      <p:tavLst>
                                        <p:tav tm="0">
                                          <p:val>
                                            <p:strVal val="#ppt_x"/>
                                          </p:val>
                                        </p:tav>
                                        <p:tav tm="100000">
                                          <p:val>
                                            <p:strVal val="#ppt_x"/>
                                          </p:val>
                                        </p:tav>
                                      </p:tavLst>
                                    </p:anim>
                                    <p:anim calcmode="lin" valueType="num">
                                      <p:cBhvr additive="base">
                                        <p:cTn id="114" dur="500" fill="hold"/>
                                        <p:tgtEl>
                                          <p:spTgt spid="551998"/>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551999"/>
                                        </p:tgtEl>
                                        <p:attrNameLst>
                                          <p:attrName>style.visibility</p:attrName>
                                        </p:attrNameLst>
                                      </p:cBhvr>
                                      <p:to>
                                        <p:strVal val="visible"/>
                                      </p:to>
                                    </p:set>
                                    <p:anim calcmode="lin" valueType="num">
                                      <p:cBhvr additive="base">
                                        <p:cTn id="117" dur="500" fill="hold"/>
                                        <p:tgtEl>
                                          <p:spTgt spid="551999"/>
                                        </p:tgtEl>
                                        <p:attrNameLst>
                                          <p:attrName>ppt_x</p:attrName>
                                        </p:attrNameLst>
                                      </p:cBhvr>
                                      <p:tavLst>
                                        <p:tav tm="0">
                                          <p:val>
                                            <p:strVal val="#ppt_x"/>
                                          </p:val>
                                        </p:tav>
                                        <p:tav tm="100000">
                                          <p:val>
                                            <p:strVal val="#ppt_x"/>
                                          </p:val>
                                        </p:tav>
                                      </p:tavLst>
                                    </p:anim>
                                    <p:anim calcmode="lin" valueType="num">
                                      <p:cBhvr additive="base">
                                        <p:cTn id="118" dur="500" fill="hold"/>
                                        <p:tgtEl>
                                          <p:spTgt spid="551999"/>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552000"/>
                                        </p:tgtEl>
                                        <p:attrNameLst>
                                          <p:attrName>style.visibility</p:attrName>
                                        </p:attrNameLst>
                                      </p:cBhvr>
                                      <p:to>
                                        <p:strVal val="visible"/>
                                      </p:to>
                                    </p:set>
                                    <p:anim calcmode="lin" valueType="num">
                                      <p:cBhvr additive="base">
                                        <p:cTn id="121" dur="500" fill="hold"/>
                                        <p:tgtEl>
                                          <p:spTgt spid="552000"/>
                                        </p:tgtEl>
                                        <p:attrNameLst>
                                          <p:attrName>ppt_x</p:attrName>
                                        </p:attrNameLst>
                                      </p:cBhvr>
                                      <p:tavLst>
                                        <p:tav tm="0">
                                          <p:val>
                                            <p:strVal val="#ppt_x"/>
                                          </p:val>
                                        </p:tav>
                                        <p:tav tm="100000">
                                          <p:val>
                                            <p:strVal val="#ppt_x"/>
                                          </p:val>
                                        </p:tav>
                                      </p:tavLst>
                                    </p:anim>
                                    <p:anim calcmode="lin" valueType="num">
                                      <p:cBhvr additive="base">
                                        <p:cTn id="122" dur="500" fill="hold"/>
                                        <p:tgtEl>
                                          <p:spTgt spid="552000"/>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552001"/>
                                        </p:tgtEl>
                                        <p:attrNameLst>
                                          <p:attrName>style.visibility</p:attrName>
                                        </p:attrNameLst>
                                      </p:cBhvr>
                                      <p:to>
                                        <p:strVal val="visible"/>
                                      </p:to>
                                    </p:set>
                                    <p:anim calcmode="lin" valueType="num">
                                      <p:cBhvr additive="base">
                                        <p:cTn id="125" dur="500" fill="hold"/>
                                        <p:tgtEl>
                                          <p:spTgt spid="552001"/>
                                        </p:tgtEl>
                                        <p:attrNameLst>
                                          <p:attrName>ppt_x</p:attrName>
                                        </p:attrNameLst>
                                      </p:cBhvr>
                                      <p:tavLst>
                                        <p:tav tm="0">
                                          <p:val>
                                            <p:strVal val="#ppt_x"/>
                                          </p:val>
                                        </p:tav>
                                        <p:tav tm="100000">
                                          <p:val>
                                            <p:strVal val="#ppt_x"/>
                                          </p:val>
                                        </p:tav>
                                      </p:tavLst>
                                    </p:anim>
                                    <p:anim calcmode="lin" valueType="num">
                                      <p:cBhvr additive="base">
                                        <p:cTn id="126" dur="500" fill="hold"/>
                                        <p:tgtEl>
                                          <p:spTgt spid="552001"/>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552002"/>
                                        </p:tgtEl>
                                        <p:attrNameLst>
                                          <p:attrName>style.visibility</p:attrName>
                                        </p:attrNameLst>
                                      </p:cBhvr>
                                      <p:to>
                                        <p:strVal val="visible"/>
                                      </p:to>
                                    </p:set>
                                    <p:anim calcmode="lin" valueType="num">
                                      <p:cBhvr additive="base">
                                        <p:cTn id="129" dur="500" fill="hold"/>
                                        <p:tgtEl>
                                          <p:spTgt spid="552002"/>
                                        </p:tgtEl>
                                        <p:attrNameLst>
                                          <p:attrName>ppt_x</p:attrName>
                                        </p:attrNameLst>
                                      </p:cBhvr>
                                      <p:tavLst>
                                        <p:tav tm="0">
                                          <p:val>
                                            <p:strVal val="#ppt_x"/>
                                          </p:val>
                                        </p:tav>
                                        <p:tav tm="100000">
                                          <p:val>
                                            <p:strVal val="#ppt_x"/>
                                          </p:val>
                                        </p:tav>
                                      </p:tavLst>
                                    </p:anim>
                                    <p:anim calcmode="lin" valueType="num">
                                      <p:cBhvr additive="base">
                                        <p:cTn id="130" dur="500" fill="hold"/>
                                        <p:tgtEl>
                                          <p:spTgt spid="552002"/>
                                        </p:tgtEl>
                                        <p:attrNameLst>
                                          <p:attrName>ppt_y</p:attrName>
                                        </p:attrNameLst>
                                      </p:cBhvr>
                                      <p:tavLst>
                                        <p:tav tm="0">
                                          <p:val>
                                            <p:strVal val="1+#ppt_h/2"/>
                                          </p:val>
                                        </p:tav>
                                        <p:tav tm="100000">
                                          <p:val>
                                            <p:strVal val="#ppt_y"/>
                                          </p:val>
                                        </p:tav>
                                      </p:tavLst>
                                    </p:anim>
                                  </p:childTnLst>
                                </p:cTn>
                              </p:par>
                              <p:par>
                                <p:cTn id="131" presetID="2" presetClass="entr" presetSubtype="4" fill="hold" nodeType="withEffect">
                                  <p:stCondLst>
                                    <p:cond delay="0"/>
                                  </p:stCondLst>
                                  <p:childTnLst>
                                    <p:set>
                                      <p:cBhvr>
                                        <p:cTn id="132" dur="1" fill="hold">
                                          <p:stCondLst>
                                            <p:cond delay="0"/>
                                          </p:stCondLst>
                                        </p:cTn>
                                        <p:tgtEl>
                                          <p:spTgt spid="552003"/>
                                        </p:tgtEl>
                                        <p:attrNameLst>
                                          <p:attrName>style.visibility</p:attrName>
                                        </p:attrNameLst>
                                      </p:cBhvr>
                                      <p:to>
                                        <p:strVal val="visible"/>
                                      </p:to>
                                    </p:set>
                                    <p:anim calcmode="lin" valueType="num">
                                      <p:cBhvr additive="base">
                                        <p:cTn id="133" dur="500" fill="hold"/>
                                        <p:tgtEl>
                                          <p:spTgt spid="552003"/>
                                        </p:tgtEl>
                                        <p:attrNameLst>
                                          <p:attrName>ppt_x</p:attrName>
                                        </p:attrNameLst>
                                      </p:cBhvr>
                                      <p:tavLst>
                                        <p:tav tm="0">
                                          <p:val>
                                            <p:strVal val="#ppt_x"/>
                                          </p:val>
                                        </p:tav>
                                        <p:tav tm="100000">
                                          <p:val>
                                            <p:strVal val="#ppt_x"/>
                                          </p:val>
                                        </p:tav>
                                      </p:tavLst>
                                    </p:anim>
                                    <p:anim calcmode="lin" valueType="num">
                                      <p:cBhvr additive="base">
                                        <p:cTn id="134" dur="500" fill="hold"/>
                                        <p:tgtEl>
                                          <p:spTgt spid="552003"/>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552004"/>
                                        </p:tgtEl>
                                        <p:attrNameLst>
                                          <p:attrName>style.visibility</p:attrName>
                                        </p:attrNameLst>
                                      </p:cBhvr>
                                      <p:to>
                                        <p:strVal val="visible"/>
                                      </p:to>
                                    </p:set>
                                    <p:anim calcmode="lin" valueType="num">
                                      <p:cBhvr additive="base">
                                        <p:cTn id="137" dur="500" fill="hold"/>
                                        <p:tgtEl>
                                          <p:spTgt spid="552004"/>
                                        </p:tgtEl>
                                        <p:attrNameLst>
                                          <p:attrName>ppt_x</p:attrName>
                                        </p:attrNameLst>
                                      </p:cBhvr>
                                      <p:tavLst>
                                        <p:tav tm="0">
                                          <p:val>
                                            <p:strVal val="#ppt_x"/>
                                          </p:val>
                                        </p:tav>
                                        <p:tav tm="100000">
                                          <p:val>
                                            <p:strVal val="#ppt_x"/>
                                          </p:val>
                                        </p:tav>
                                      </p:tavLst>
                                    </p:anim>
                                    <p:anim calcmode="lin" valueType="num">
                                      <p:cBhvr additive="base">
                                        <p:cTn id="138" dur="500" fill="hold"/>
                                        <p:tgtEl>
                                          <p:spTgt spid="552004"/>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552005"/>
                                        </p:tgtEl>
                                        <p:attrNameLst>
                                          <p:attrName>style.visibility</p:attrName>
                                        </p:attrNameLst>
                                      </p:cBhvr>
                                      <p:to>
                                        <p:strVal val="visible"/>
                                      </p:to>
                                    </p:set>
                                    <p:anim calcmode="lin" valueType="num">
                                      <p:cBhvr additive="base">
                                        <p:cTn id="141" dur="500" fill="hold"/>
                                        <p:tgtEl>
                                          <p:spTgt spid="552005"/>
                                        </p:tgtEl>
                                        <p:attrNameLst>
                                          <p:attrName>ppt_x</p:attrName>
                                        </p:attrNameLst>
                                      </p:cBhvr>
                                      <p:tavLst>
                                        <p:tav tm="0">
                                          <p:val>
                                            <p:strVal val="#ppt_x"/>
                                          </p:val>
                                        </p:tav>
                                        <p:tav tm="100000">
                                          <p:val>
                                            <p:strVal val="#ppt_x"/>
                                          </p:val>
                                        </p:tav>
                                      </p:tavLst>
                                    </p:anim>
                                    <p:anim calcmode="lin" valueType="num">
                                      <p:cBhvr additive="base">
                                        <p:cTn id="142" dur="500" fill="hold"/>
                                        <p:tgtEl>
                                          <p:spTgt spid="5520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6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3"/>
          <p:cNvSpPr txBox="1"/>
          <p:nvPr/>
        </p:nvSpPr>
        <p:spPr>
          <a:xfrm>
            <a:off x="182563" y="941388"/>
            <a:ext cx="8632825" cy="2529923"/>
          </a:xfrm>
          <a:prstGeom prst="rect">
            <a:avLst/>
          </a:prstGeom>
          <a:noFill/>
          <a:ln w="9525">
            <a:noFill/>
          </a:ln>
        </p:spPr>
        <p:txBody>
          <a:bodyPr>
            <a:spAutoFit/>
          </a:bodyPr>
          <a:lstStyle/>
          <a:p>
            <a:pPr marL="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桶的数目</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是固定值</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3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静态哈希索引</a:t>
            </a:r>
          </a:p>
          <a:p>
            <a:pPr marL="0" marR="0" lvl="0" indent="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如果桶的数目</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不变：</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过大，则浪费；</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过小，则将产生更多的溢出桶，增加哈希索引检索的时间。</a:t>
            </a:r>
          </a:p>
          <a:p>
            <a:pPr marL="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桶的数目随键值增多，动态增加</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3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动态哈希索引</a:t>
            </a:r>
          </a:p>
          <a:p>
            <a:pPr marL="0" marR="0" lvl="0" indent="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h(k)</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是和桶的数目</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相关的。</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的变化会否影响原来存储的内容呢？</a:t>
            </a:r>
          </a:p>
          <a:p>
            <a:pPr marL="0" marR="0" lvl="0" indent="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是否需要将原来已经哈希</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存储的数据按新的桶数重新进行哈希</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存储呢？</a:t>
            </a:r>
          </a:p>
        </p:txBody>
      </p:sp>
      <p:sp>
        <p:nvSpPr>
          <p:cNvPr id="92163"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哈希的问题 </a:t>
            </a:r>
          </a:p>
        </p:txBody>
      </p:sp>
      <p:grpSp>
        <p:nvGrpSpPr>
          <p:cNvPr id="5" name="Group 7"/>
          <p:cNvGrpSpPr/>
          <p:nvPr/>
        </p:nvGrpSpPr>
        <p:grpSpPr>
          <a:xfrm>
            <a:off x="5783263" y="3481388"/>
            <a:ext cx="1665287" cy="1265237"/>
            <a:chOff x="3368" y="3555"/>
            <a:chExt cx="836" cy="705"/>
          </a:xfrm>
        </p:grpSpPr>
        <p:sp>
          <p:nvSpPr>
            <p:cNvPr id="2"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92171"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92172" name="Text Box 84"/>
            <p:cNvSpPr txBox="1"/>
            <p:nvPr/>
          </p:nvSpPr>
          <p:spPr>
            <a:xfrm>
              <a:off x="3440" y="3686"/>
              <a:ext cx="691" cy="391"/>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这个如何处理呢？</a:t>
              </a:r>
            </a:p>
          </p:txBody>
        </p:sp>
      </p:grpSp>
      <p:grpSp>
        <p:nvGrpSpPr>
          <p:cNvPr id="6" name="Group 11"/>
          <p:cNvGrpSpPr/>
          <p:nvPr/>
        </p:nvGrpSpPr>
        <p:grpSpPr>
          <a:xfrm>
            <a:off x="6969125" y="3987800"/>
            <a:ext cx="1665288" cy="1265238"/>
            <a:chOff x="3368" y="3555"/>
            <a:chExt cx="836" cy="705"/>
          </a:xfrm>
        </p:grpSpPr>
        <p:sp>
          <p:nvSpPr>
            <p:cNvPr id="20" name="AutoShape 39"/>
            <p:cNvSpPr>
              <a:spLocks noChangeArrowheads="1"/>
            </p:cNvSpPr>
            <p:nvPr/>
          </p:nvSpPr>
          <p:spPr bwMode="gray">
            <a:xfrm>
              <a:off x="3368" y="3555"/>
              <a:ext cx="836" cy="705"/>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92168" name="Oval 40"/>
            <p:cNvSpPr/>
            <p:nvPr/>
          </p:nvSpPr>
          <p:spPr>
            <a:xfrm>
              <a:off x="3437" y="3613"/>
              <a:ext cx="698" cy="588"/>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92169" name="Text Box 84"/>
            <p:cNvSpPr txBox="1"/>
            <p:nvPr/>
          </p:nvSpPr>
          <p:spPr>
            <a:xfrm>
              <a:off x="3440" y="3686"/>
              <a:ext cx="691" cy="391"/>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cs"/>
                </a:rPr>
                <a:t>且听下回分解？</a:t>
              </a:r>
            </a:p>
          </p:txBody>
        </p:sp>
      </p:grpSp>
      <p:pic>
        <p:nvPicPr>
          <p:cNvPr id="92166" name="Picture 15"/>
          <p:cNvPicPr>
            <a:picLocks noChangeAspect="1"/>
          </p:cNvPicPr>
          <p:nvPr/>
        </p:nvPicPr>
        <p:blipFill>
          <a:blip r:embed="rId2">
            <a:clrChange>
              <a:clrFrom>
                <a:srgbClr val="FFFFFF"/>
              </a:clrFrom>
              <a:clrTo>
                <a:srgbClr val="FFFFFF">
                  <a:alpha val="0"/>
                </a:srgbClr>
              </a:clrTo>
            </a:clrChange>
          </a:blip>
          <a:stretch>
            <a:fillRect/>
          </a:stretch>
        </p:blipFill>
        <p:spPr>
          <a:xfrm>
            <a:off x="633413" y="4256088"/>
            <a:ext cx="5353050" cy="2000250"/>
          </a:xfrm>
          <a:prstGeom prst="rect">
            <a:avLst/>
          </a:prstGeom>
          <a:noFill/>
          <a:ln w="9525" cap="flat" cmpd="sng">
            <a:solidFill>
              <a:schemeClr val="tx1"/>
            </a:solidFill>
            <a:prstDash val="solid"/>
            <a:miter/>
            <a:headEnd type="none" w="med" len="med"/>
            <a:tailEnd type="none" w="med" len="med"/>
          </a:ln>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16"/>
          <p:cNvSpPr txBox="1"/>
          <p:nvPr/>
        </p:nvSpPr>
        <p:spPr>
          <a:xfrm>
            <a:off x="122238" y="85725"/>
            <a:ext cx="5878512" cy="83026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拟解决问题</a:t>
            </a:r>
          </a:p>
        </p:txBody>
      </p:sp>
      <p:sp>
        <p:nvSpPr>
          <p:cNvPr id="95235" name="Text Box 10"/>
          <p:cNvSpPr txBox="1"/>
          <p:nvPr/>
        </p:nvSpPr>
        <p:spPr>
          <a:xfrm>
            <a:off x="255588" y="935038"/>
            <a:ext cx="8632825" cy="3776980"/>
          </a:xfrm>
          <a:prstGeom prst="rect">
            <a:avLst/>
          </a:prstGeom>
          <a:noFill/>
          <a:ln w="9525">
            <a:noFill/>
          </a:ln>
        </p:spPr>
        <p:txBody>
          <a:bodyPr>
            <a:spAutoFit/>
          </a:bodyPr>
          <a:lstStyle/>
          <a:p>
            <a:pPr marL="342900" marR="0" lvl="0" indent="-34290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桶的数目</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是固定值</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3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静态哈希索引</a:t>
            </a:r>
          </a:p>
          <a:p>
            <a:pPr marL="342900" marR="0" lvl="0" indent="-34290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过大，则浪费；</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过小，则将产生更多溢出桶，增加哈希索引检索时间。</a:t>
            </a:r>
          </a:p>
          <a:p>
            <a:pPr marL="0" marR="0" lvl="0" indent="0" algn="l" defTabSz="914400" rtl="0" eaLnBrk="1" fontAlgn="base" latinLnBrk="0" hangingPunct="1">
              <a:lnSpc>
                <a:spcPct val="11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a:p>
            <a:pPr marL="342900" marR="0" lvl="0" indent="-342900" algn="l" defTabSz="914400" rtl="0" eaLnBrk="1" fontAlgn="base" latinLnBrk="0" hangingPunct="1">
              <a:lnSpc>
                <a:spcPct val="13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桶的数目随键值增多，动态增加</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3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动态哈希索引</a:t>
            </a:r>
          </a:p>
          <a:p>
            <a:pPr marL="342900" marR="0" lvl="0" indent="-34290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h(k)</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是和桶的数目</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相关的。</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M</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的变化会否影响原来存储的内容呢？</a:t>
            </a:r>
          </a:p>
          <a:p>
            <a:pPr marL="342900" marR="0" lvl="0" indent="-34290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是否需要将原来已经哈希</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存储的数据按新的桶数重新进行哈希</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存储呢？</a:t>
            </a:r>
          </a:p>
          <a:p>
            <a:pPr marL="914400" marR="0" lvl="2" indent="0" algn="l" defTabSz="914400" rtl="0" eaLnBrk="1" fontAlgn="base" latinLnBrk="0" hangingPunct="1">
              <a:lnSpc>
                <a:spcPct val="110000"/>
              </a:lnSpc>
              <a:spcBef>
                <a:spcPct val="0"/>
              </a:spcBef>
              <a:spcAft>
                <a:spcPct val="0"/>
              </a:spcAft>
              <a:buClrTx/>
              <a:buSzTx/>
              <a:buFont typeface="Wingdings" panose="05000000000000000000" pitchFamily="2" charset="2"/>
              <a:buChar char="n"/>
              <a:defRPr/>
            </a:pPr>
            <a:r>
              <a:rPr kumimoji="0" lang="zh-CN" altLang="en-US" sz="2800" b="0" i="0" u="none" strike="noStrike" kern="1200" cap="none" spc="0" normalizeH="0" baseline="0" noProof="0" dirty="0">
                <a:ln>
                  <a:noFill/>
                </a:ln>
                <a:solidFill>
                  <a:srgbClr val="CC0000"/>
                </a:solidFill>
                <a:effectLst/>
                <a:uLnTx/>
                <a:uFillTx/>
                <a:latin typeface="Arial" panose="020B0604020202020204" pitchFamily="34" charset="0"/>
                <a:ea typeface="微软雅黑" panose="020B0503020204020204" pitchFamily="34" charset="-122"/>
                <a:cs typeface="+mn-cs"/>
              </a:rPr>
              <a:t>可扩展哈希索引</a:t>
            </a:r>
          </a:p>
          <a:p>
            <a:pPr marL="914400" marR="0" lvl="2" indent="0" algn="l" defTabSz="914400" rtl="0" eaLnBrk="1" fontAlgn="base" latinLnBrk="0" hangingPunct="1">
              <a:lnSpc>
                <a:spcPct val="110000"/>
              </a:lnSpc>
              <a:spcBef>
                <a:spcPct val="0"/>
              </a:spcBef>
              <a:spcAft>
                <a:spcPct val="0"/>
              </a:spcAft>
              <a:buClrTx/>
              <a:buSzTx/>
              <a:buFont typeface="Wingdings" panose="05000000000000000000" pitchFamily="2" charset="2"/>
              <a:buChar char="n"/>
              <a:defRPr/>
            </a:pPr>
            <a:r>
              <a:rPr kumimoji="0" lang="zh-CN" altLang="en-US" sz="2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线性哈希索引</a:t>
            </a:r>
          </a:p>
        </p:txBody>
      </p:sp>
    </p:spTree>
  </p:cSld>
  <p:clrMapOvr>
    <a:masterClrMapping/>
  </p:clrMapOvr>
  <p:transition>
    <p:zo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16"/>
          <p:cNvSpPr txBox="1"/>
          <p:nvPr/>
        </p:nvSpPr>
        <p:spPr>
          <a:xfrm>
            <a:off x="163513" y="152400"/>
            <a:ext cx="5878512" cy="83026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基本思想</a:t>
            </a:r>
          </a:p>
        </p:txBody>
      </p:sp>
      <p:sp>
        <p:nvSpPr>
          <p:cNvPr id="574467" name="Text Box 3"/>
          <p:cNvSpPr txBox="1"/>
          <p:nvPr/>
        </p:nvSpPr>
        <p:spPr>
          <a:xfrm>
            <a:off x="163513" y="928688"/>
            <a:ext cx="8847138" cy="5073650"/>
          </a:xfrm>
          <a:prstGeom prst="rect">
            <a:avLst/>
          </a:prstGeom>
          <a:noFill/>
          <a:ln w="9525">
            <a:noFill/>
          </a:ln>
        </p:spPr>
        <p:txBody>
          <a:bodyPr>
            <a:spAutoFit/>
          </a:bodyPr>
          <a:lstStyle/>
          <a:p>
            <a:pPr marL="342900" marR="0" lvl="0" indent="-34290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为桶引入一间接层，即用一个指向块的指针数组来表示桶，而不是用数据块本身组成的数组来表示桶。</a:t>
            </a:r>
            <a:endPar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指针数组能增长，其长度总是</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的幂。因而数组每增长一次，桶的数目就翻倍。不过，并非每个桶都有一个数据块；如果某些桶中的所有记录可以放在一个块中，则这些桶可能共享一个块。</a:t>
            </a:r>
          </a:p>
          <a:p>
            <a:pPr marL="342900" marR="0" lvl="0" indent="-34290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哈希函数</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h</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为每个键计算出一个</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位二进制序列，该</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足够大，比如</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32</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，但是桶的数目总是使用从序列第一位或最后一位算起的若干位，此位数小于</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比如说</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位。也就是说，当</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是使用的位数时，桶数组将有</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400" b="0" i="0" u="none" strike="noStrike" kern="1200" cap="none" spc="0" normalizeH="0" baseline="3000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个项。</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4467"/>
                                        </p:tgtEl>
                                        <p:attrNameLst>
                                          <p:attrName>style.visibility</p:attrName>
                                        </p:attrNameLst>
                                      </p:cBhvr>
                                      <p:to>
                                        <p:strVal val="visible"/>
                                      </p:to>
                                    </p:set>
                                    <p:anim calcmode="lin" valueType="num">
                                      <p:cBhvr additive="base">
                                        <p:cTn id="7" dur="500" fill="hold"/>
                                        <p:tgtEl>
                                          <p:spTgt spid="574467"/>
                                        </p:tgtEl>
                                        <p:attrNameLst>
                                          <p:attrName>ppt_x</p:attrName>
                                        </p:attrNameLst>
                                      </p:cBhvr>
                                      <p:tavLst>
                                        <p:tav tm="0">
                                          <p:val>
                                            <p:strVal val="#ppt_x"/>
                                          </p:val>
                                        </p:tav>
                                        <p:tav tm="100000">
                                          <p:val>
                                            <p:strVal val="#ppt_x"/>
                                          </p:val>
                                        </p:tav>
                                      </p:tavLst>
                                    </p:anim>
                                    <p:anim calcmode="lin" valueType="num">
                                      <p:cBhvr additive="base">
                                        <p:cTn id="8" dur="500" fill="hold"/>
                                        <p:tgtEl>
                                          <p:spTgt spid="5744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4028" name="Group 44"/>
          <p:cNvGraphicFramePr>
            <a:graphicFrameLocks noGrp="1"/>
          </p:cNvGraphicFramePr>
          <p:nvPr/>
        </p:nvGraphicFramePr>
        <p:xfrm>
          <a:off x="5368925" y="28908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54038" name="Group 54"/>
          <p:cNvGraphicFramePr>
            <a:graphicFrameLocks noGrp="1"/>
          </p:cNvGraphicFramePr>
          <p:nvPr/>
        </p:nvGraphicFramePr>
        <p:xfrm>
          <a:off x="5368925" y="41862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54048" name="Group 64"/>
          <p:cNvGraphicFramePr>
            <a:graphicFrameLocks noGrp="1"/>
          </p:cNvGraphicFramePr>
          <p:nvPr/>
        </p:nvGraphicFramePr>
        <p:xfrm>
          <a:off x="3387725" y="3805238"/>
          <a:ext cx="914400" cy="757237"/>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54056" name="Group 72"/>
          <p:cNvGraphicFramePr>
            <a:graphicFrameLocks noGrp="1"/>
          </p:cNvGraphicFramePr>
          <p:nvPr/>
        </p:nvGraphicFramePr>
        <p:xfrm>
          <a:off x="3387725" y="2890838"/>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7312" name="Line 78"/>
          <p:cNvSpPr/>
          <p:nvPr/>
        </p:nvSpPr>
        <p:spPr>
          <a:xfrm flipV="1">
            <a:off x="3844925" y="3043238"/>
            <a:ext cx="1524000" cy="990600"/>
          </a:xfrm>
          <a:prstGeom prst="line">
            <a:avLst/>
          </a:prstGeom>
          <a:ln w="9525" cap="flat" cmpd="sng">
            <a:solidFill>
              <a:schemeClr val="tx1"/>
            </a:solidFill>
            <a:prstDash val="solid"/>
            <a:headEnd type="none" w="med" len="med"/>
            <a:tailEnd type="triangle" w="med" len="med"/>
          </a:ln>
        </p:spPr>
      </p:sp>
      <p:sp>
        <p:nvSpPr>
          <p:cNvPr id="97313" name="Line 79"/>
          <p:cNvSpPr/>
          <p:nvPr/>
        </p:nvSpPr>
        <p:spPr>
          <a:xfrm>
            <a:off x="3844925" y="4338638"/>
            <a:ext cx="1524000" cy="457200"/>
          </a:xfrm>
          <a:prstGeom prst="line">
            <a:avLst/>
          </a:prstGeom>
          <a:ln w="9525" cap="flat" cmpd="sng">
            <a:solidFill>
              <a:schemeClr val="tx1"/>
            </a:solidFill>
            <a:prstDash val="solid"/>
            <a:headEnd type="none" w="med" len="med"/>
            <a:tailEnd type="triangle" w="med" len="med"/>
          </a:ln>
        </p:spPr>
      </p:sp>
      <p:sp>
        <p:nvSpPr>
          <p:cNvPr id="97314" name="Rectangle 80"/>
          <p:cNvSpPr>
            <a:spLocks noChangeAspect="1"/>
          </p:cNvSpPr>
          <p:nvPr/>
        </p:nvSpPr>
        <p:spPr>
          <a:xfrm>
            <a:off x="7426325" y="28908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7315" name="Rectangle 81"/>
          <p:cNvSpPr>
            <a:spLocks noChangeAspect="1"/>
          </p:cNvSpPr>
          <p:nvPr/>
        </p:nvSpPr>
        <p:spPr>
          <a:xfrm>
            <a:off x="7426325" y="41862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7316" name="Text Box 82"/>
          <p:cNvSpPr txBox="1"/>
          <p:nvPr/>
        </p:nvSpPr>
        <p:spPr>
          <a:xfrm>
            <a:off x="2838450" y="3694113"/>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97317" name="Text Box 83"/>
          <p:cNvSpPr txBox="1"/>
          <p:nvPr/>
        </p:nvSpPr>
        <p:spPr>
          <a:xfrm>
            <a:off x="2854325" y="4110038"/>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7318" name="Rectangle 85"/>
          <p:cNvSpPr/>
          <p:nvPr/>
        </p:nvSpPr>
        <p:spPr>
          <a:xfrm>
            <a:off x="320675" y="1466850"/>
            <a:ext cx="1751013" cy="15446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参数</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k</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参数</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i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参数</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n=2</a:t>
            </a:r>
            <a:r>
              <a:rPr kumimoji="0" lang="en-US" altLang="zh-CN" sz="2800" b="0" i="0" u="none" strike="noStrike" kern="1200" cap="none" spc="0" normalizeH="0" baseline="30000" noProof="0" dirty="0">
                <a:ln>
                  <a:noFill/>
                </a:ln>
                <a:solidFill>
                  <a:srgbClr val="000000"/>
                </a:solidFill>
                <a:effectLst/>
                <a:uLnTx/>
                <a:uFillTx/>
                <a:latin typeface="Arial" panose="020B0604020202020204" pitchFamily="34" charset="0"/>
                <a:ea typeface="宋体" panose="02010600030101010101" pitchFamily="2" charset="-122"/>
                <a:cs typeface="+mn-cs"/>
              </a:rPr>
              <a:t>i</a:t>
            </a:r>
            <a:endPar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97319" name="Group 145"/>
          <p:cNvGrpSpPr/>
          <p:nvPr/>
        </p:nvGrpSpPr>
        <p:grpSpPr>
          <a:xfrm>
            <a:off x="5037138" y="5492750"/>
            <a:ext cx="1641475" cy="1416050"/>
            <a:chOff x="475" y="3180"/>
            <a:chExt cx="917" cy="892"/>
          </a:xfrm>
        </p:grpSpPr>
        <p:grpSp>
          <p:nvGrpSpPr>
            <p:cNvPr id="97351" name="Group 139"/>
            <p:cNvGrpSpPr/>
            <p:nvPr/>
          </p:nvGrpSpPr>
          <p:grpSpPr>
            <a:xfrm>
              <a:off x="718" y="3581"/>
              <a:ext cx="588" cy="274"/>
              <a:chOff x="682" y="3428"/>
              <a:chExt cx="588" cy="274"/>
            </a:xfrm>
          </p:grpSpPr>
          <p:sp>
            <p:nvSpPr>
              <p:cNvPr id="97357" name="Rectangle 133"/>
              <p:cNvSpPr/>
              <p:nvPr/>
            </p:nvSpPr>
            <p:spPr>
              <a:xfrm>
                <a:off x="68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7358" name="Rectangle 134"/>
              <p:cNvSpPr/>
              <p:nvPr/>
            </p:nvSpPr>
            <p:spPr>
              <a:xfrm>
                <a:off x="827"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7359" name="Rectangle 135"/>
              <p:cNvSpPr/>
              <p:nvPr/>
            </p:nvSpPr>
            <p:spPr>
              <a:xfrm>
                <a:off x="97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7360" name="Rectangle 136"/>
              <p:cNvSpPr/>
              <p:nvPr/>
            </p:nvSpPr>
            <p:spPr>
              <a:xfrm>
                <a:off x="1119"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97352" name="Text Box 140"/>
            <p:cNvSpPr txBox="1"/>
            <p:nvPr/>
          </p:nvSpPr>
          <p:spPr>
            <a:xfrm>
              <a:off x="665" y="3555"/>
              <a:ext cx="673" cy="28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1 0 1 1</a:t>
              </a:r>
            </a:p>
          </p:txBody>
        </p:sp>
        <p:sp>
          <p:nvSpPr>
            <p:cNvPr id="97353" name="Line 141"/>
            <p:cNvSpPr/>
            <p:nvPr/>
          </p:nvSpPr>
          <p:spPr>
            <a:xfrm>
              <a:off x="701" y="3413"/>
              <a:ext cx="585" cy="0"/>
            </a:xfrm>
            <a:prstGeom prst="line">
              <a:avLst/>
            </a:prstGeom>
            <a:ln w="9525" cap="flat" cmpd="sng">
              <a:solidFill>
                <a:srgbClr val="FF0066"/>
              </a:solidFill>
              <a:prstDash val="solid"/>
              <a:headEnd type="none" w="med" len="med"/>
              <a:tailEnd type="triangle" w="med" len="med"/>
            </a:ln>
          </p:spPr>
        </p:sp>
        <p:sp>
          <p:nvSpPr>
            <p:cNvPr id="97354" name="Text Box 142"/>
            <p:cNvSpPr txBox="1"/>
            <p:nvPr/>
          </p:nvSpPr>
          <p:spPr>
            <a:xfrm>
              <a:off x="475" y="3180"/>
              <a:ext cx="479" cy="212"/>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的位次</a:t>
              </a:r>
            </a:p>
          </p:txBody>
        </p:sp>
        <p:sp>
          <p:nvSpPr>
            <p:cNvPr id="97355" name="Text Box 143"/>
            <p:cNvSpPr txBox="1"/>
            <p:nvPr/>
          </p:nvSpPr>
          <p:spPr>
            <a:xfrm>
              <a:off x="620" y="3860"/>
              <a:ext cx="772" cy="212"/>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位二进制位 </a:t>
              </a:r>
            </a:p>
          </p:txBody>
        </p:sp>
        <p:sp>
          <p:nvSpPr>
            <p:cNvPr id="97356" name="Text Box 144"/>
            <p:cNvSpPr txBox="1"/>
            <p:nvPr/>
          </p:nvSpPr>
          <p:spPr>
            <a:xfrm>
              <a:off x="684" y="3401"/>
              <a:ext cx="653" cy="212"/>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1   2  3   4</a:t>
              </a:r>
            </a:p>
          </p:txBody>
        </p:sp>
      </p:grpSp>
      <p:graphicFrame>
        <p:nvGraphicFramePr>
          <p:cNvPr id="554133" name="Group 149"/>
          <p:cNvGraphicFramePr>
            <a:graphicFrameLocks noGrp="1"/>
          </p:cNvGraphicFramePr>
          <p:nvPr/>
        </p:nvGraphicFramePr>
        <p:xfrm>
          <a:off x="3390900" y="5367338"/>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7332" name="Text Box 161"/>
          <p:cNvSpPr txBox="1"/>
          <p:nvPr/>
        </p:nvSpPr>
        <p:spPr>
          <a:xfrm>
            <a:off x="2841625" y="52562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a:t>
            </a:r>
          </a:p>
        </p:txBody>
      </p:sp>
      <p:sp>
        <p:nvSpPr>
          <p:cNvPr id="97333" name="Text Box 162"/>
          <p:cNvSpPr txBox="1"/>
          <p:nvPr/>
        </p:nvSpPr>
        <p:spPr>
          <a:xfrm>
            <a:off x="2841625" y="56372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a:t>
            </a:r>
          </a:p>
        </p:txBody>
      </p:sp>
      <p:sp>
        <p:nvSpPr>
          <p:cNvPr id="97334" name="Text Box 163"/>
          <p:cNvSpPr txBox="1"/>
          <p:nvPr/>
        </p:nvSpPr>
        <p:spPr>
          <a:xfrm>
            <a:off x="2841625" y="60182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97335" name="Text Box 164"/>
          <p:cNvSpPr txBox="1"/>
          <p:nvPr/>
        </p:nvSpPr>
        <p:spPr>
          <a:xfrm>
            <a:off x="2841625" y="63992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97336" name="Text Box 16"/>
          <p:cNvSpPr txBox="1"/>
          <p:nvPr/>
        </p:nvSpPr>
        <p:spPr>
          <a:xfrm>
            <a:off x="123825" y="106363"/>
            <a:ext cx="5878513" cy="830262"/>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基本思想示例</a:t>
            </a:r>
          </a:p>
        </p:txBody>
      </p:sp>
      <p:grpSp>
        <p:nvGrpSpPr>
          <p:cNvPr id="97337" name="Group 180"/>
          <p:cNvGrpSpPr/>
          <p:nvPr/>
        </p:nvGrpSpPr>
        <p:grpSpPr>
          <a:xfrm>
            <a:off x="144463" y="5376862"/>
            <a:ext cx="2638425" cy="1606549"/>
            <a:chOff x="8" y="2996"/>
            <a:chExt cx="1662" cy="1012"/>
          </a:xfrm>
        </p:grpSpPr>
        <p:sp>
          <p:nvSpPr>
            <p:cNvPr id="97348" name="AutoShape 39"/>
            <p:cNvSpPr/>
            <p:nvPr/>
          </p:nvSpPr>
          <p:spPr>
            <a:xfrm>
              <a:off x="8" y="2996"/>
              <a:ext cx="1662" cy="99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349" name="Oval 40"/>
            <p:cNvSpPr/>
            <p:nvPr/>
          </p:nvSpPr>
          <p:spPr>
            <a:xfrm>
              <a:off x="75" y="3059"/>
              <a:ext cx="1527" cy="873"/>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350" name="AutoShape 172"/>
            <p:cNvSpPr/>
            <p:nvPr/>
          </p:nvSpPr>
          <p:spPr>
            <a:xfrm>
              <a:off x="70" y="3000"/>
              <a:ext cx="1537" cy="1008"/>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k</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为哈希函数所可能使用的最多位数。即</a:t>
              </a:r>
              <a:r>
                <a:rPr kumimoji="0" lang="zh-CN" altLang="en-US" sz="20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可能的最大桶的数目</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为</a:t>
              </a:r>
              <a:r>
                <a:rPr kumimoji="0" lang="en-US" altLang="zh-CN" sz="24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2</a:t>
              </a:r>
              <a:r>
                <a:rPr kumimoji="0" lang="en-US" altLang="zh-CN" sz="2400" b="0" i="0" u="none" strike="noStrike" kern="1200" cap="none" spc="0" normalizeH="0" baseline="30000" noProof="0" dirty="0">
                  <a:ln>
                    <a:noFill/>
                  </a:ln>
                  <a:solidFill>
                    <a:srgbClr val="3333CC"/>
                  </a:solidFill>
                  <a:effectLst/>
                  <a:uLnTx/>
                  <a:uFillTx/>
                  <a:latin typeface="Arial" panose="020B0604020202020204" pitchFamily="34" charset="0"/>
                  <a:ea typeface="微软雅黑" panose="020B0503020204020204" pitchFamily="34" charset="-122"/>
                  <a:cs typeface="+mn-cs"/>
                </a:rPr>
                <a:t>k</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，逐渐被使用。</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97338" name="Group 181"/>
          <p:cNvGrpSpPr/>
          <p:nvPr/>
        </p:nvGrpSpPr>
        <p:grpSpPr>
          <a:xfrm>
            <a:off x="2522538" y="1306513"/>
            <a:ext cx="2638425" cy="1323975"/>
            <a:chOff x="1598" y="270"/>
            <a:chExt cx="1662" cy="834"/>
          </a:xfrm>
        </p:grpSpPr>
        <p:sp>
          <p:nvSpPr>
            <p:cNvPr id="97345" name="AutoShape 39"/>
            <p:cNvSpPr/>
            <p:nvPr/>
          </p:nvSpPr>
          <p:spPr>
            <a:xfrm>
              <a:off x="1598" y="270"/>
              <a:ext cx="1662" cy="834"/>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346" name="Oval 40"/>
            <p:cNvSpPr/>
            <p:nvPr/>
          </p:nvSpPr>
          <p:spPr>
            <a:xfrm>
              <a:off x="1665" y="323"/>
              <a:ext cx="1527" cy="728"/>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347" name="AutoShape 179"/>
            <p:cNvSpPr/>
            <p:nvPr/>
          </p:nvSpPr>
          <p:spPr>
            <a:xfrm>
              <a:off x="1668" y="318"/>
              <a:ext cx="1523" cy="751"/>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为哈希函数当前已经使用到的最多位数。即当前的桶数为</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p:txBody>
        </p:sp>
      </p:grpSp>
      <p:grpSp>
        <p:nvGrpSpPr>
          <p:cNvPr id="97339" name="Group 182"/>
          <p:cNvGrpSpPr/>
          <p:nvPr/>
        </p:nvGrpSpPr>
        <p:grpSpPr>
          <a:xfrm>
            <a:off x="6905625" y="1673225"/>
            <a:ext cx="1970088" cy="1063625"/>
            <a:chOff x="1598" y="270"/>
            <a:chExt cx="1662" cy="834"/>
          </a:xfrm>
        </p:grpSpPr>
        <p:sp>
          <p:nvSpPr>
            <p:cNvPr id="97342" name="AutoShape 39"/>
            <p:cNvSpPr/>
            <p:nvPr/>
          </p:nvSpPr>
          <p:spPr>
            <a:xfrm>
              <a:off x="1598" y="270"/>
              <a:ext cx="1662" cy="834"/>
            </a:xfrm>
            <a:prstGeom prst="roundRect">
              <a:avLst>
                <a:gd name="adj" fmla="val 16667"/>
              </a:avLst>
            </a:prstGeom>
            <a:solidFill>
              <a:schemeClr val="accent2"/>
            </a:solidFill>
            <a:ln w="9525">
              <a:noFill/>
            </a:ln>
          </p:spPr>
          <p:txBody>
            <a:bodyPr wrap="none" anchor="ctr" anchorCtr="0"/>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343" name="Oval 40"/>
            <p:cNvSpPr/>
            <p:nvPr/>
          </p:nvSpPr>
          <p:spPr>
            <a:xfrm>
              <a:off x="1665" y="323"/>
              <a:ext cx="1527" cy="728"/>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7344" name="AutoShape 185"/>
            <p:cNvSpPr/>
            <p:nvPr/>
          </p:nvSpPr>
          <p:spPr>
            <a:xfrm>
              <a:off x="1667" y="319"/>
              <a:ext cx="1524" cy="721"/>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右上角标记本块</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哈希</a:t>
              </a:r>
              <a:r>
                <a:rPr kumimoji="0" lang="zh-CN"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函数使用位数。--局部 </a:t>
              </a:r>
              <a:endPar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sp>
        <p:nvSpPr>
          <p:cNvPr id="97340" name="Text Box 186"/>
          <p:cNvSpPr txBox="1"/>
          <p:nvPr/>
        </p:nvSpPr>
        <p:spPr>
          <a:xfrm>
            <a:off x="7148513" y="4986338"/>
            <a:ext cx="1657350" cy="119062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索引块</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取前</a:t>
            </a:r>
            <a:r>
              <a:rPr kumimoji="0" lang="en-US" altLang="zh-CN" sz="1600" b="0" i="1"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位，按照前</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位的值找到对应的索引块</a:t>
            </a:r>
          </a:p>
        </p:txBody>
      </p:sp>
      <p:sp>
        <p:nvSpPr>
          <p:cNvPr id="97341" name="Text Box 187"/>
          <p:cNvSpPr txBox="1"/>
          <p:nvPr/>
        </p:nvSpPr>
        <p:spPr>
          <a:xfrm>
            <a:off x="649288" y="3432175"/>
            <a:ext cx="2278062" cy="13112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可变的桶</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指针数组</a:t>
            </a: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由</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2</a:t>
            </a:r>
            <a:r>
              <a:rPr kumimoji="0" lang="en-US" altLang="zh-CN" sz="1600" b="0" i="0" u="none" strike="noStrike" kern="1200" cap="none" spc="0" normalizeH="0" baseline="3000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0</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个，</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2</a:t>
            </a:r>
            <a:r>
              <a:rPr kumimoji="0" lang="en-US" altLang="zh-CN" sz="1600" b="0" i="0" u="none" strike="noStrike" kern="1200" cap="none" spc="0" normalizeH="0" baseline="3000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1</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个，</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2</a:t>
            </a:r>
            <a:r>
              <a:rPr kumimoji="0" lang="en-US" altLang="zh-CN" sz="1600" b="0" i="0" u="none" strike="noStrike" kern="1200" cap="none" spc="0" normalizeH="0" baseline="3000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2</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个</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逐渐增加至</a:t>
            </a: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2</a:t>
            </a:r>
            <a:r>
              <a:rPr kumimoji="0" lang="en-US" altLang="zh-CN" sz="1600" b="0" i="0" u="none" strike="noStrike" kern="1200" cap="none" spc="0" normalizeH="0" baseline="3000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k</a:t>
            </a:r>
            <a:r>
              <a:rPr kumimoji="0" lang="zh-CN" alt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个</a:t>
            </a:r>
          </a:p>
        </p:txBody>
      </p:sp>
    </p:spTree>
  </p:cSld>
  <p:clrMapOvr>
    <a:masterClrMapping/>
  </p:clrMapOvr>
  <p:transition>
    <p:zo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2770" name="Group 2"/>
          <p:cNvGraphicFramePr>
            <a:graphicFrameLocks noGrp="1"/>
          </p:cNvGraphicFramePr>
          <p:nvPr/>
        </p:nvGraphicFramePr>
        <p:xfrm>
          <a:off x="6362700" y="1416050"/>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2780" name="Group 12"/>
          <p:cNvGraphicFramePr>
            <a:graphicFrameLocks noGrp="1"/>
          </p:cNvGraphicFramePr>
          <p:nvPr/>
        </p:nvGraphicFramePr>
        <p:xfrm>
          <a:off x="6362700" y="2711450"/>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2790" name="Group 22"/>
          <p:cNvGraphicFramePr>
            <a:graphicFrameLocks noGrp="1"/>
          </p:cNvGraphicFramePr>
          <p:nvPr/>
        </p:nvGraphicFramePr>
        <p:xfrm>
          <a:off x="4381500" y="2330450"/>
          <a:ext cx="914400" cy="75723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2798" name="Group 30"/>
          <p:cNvGraphicFramePr>
            <a:graphicFrameLocks noGrp="1"/>
          </p:cNvGraphicFramePr>
          <p:nvPr/>
        </p:nvGraphicFramePr>
        <p:xfrm>
          <a:off x="4381500" y="1416050"/>
          <a:ext cx="914400" cy="37941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8336" name="Line 36"/>
          <p:cNvSpPr/>
          <p:nvPr/>
        </p:nvSpPr>
        <p:spPr>
          <a:xfrm flipV="1">
            <a:off x="4838700" y="1568450"/>
            <a:ext cx="1524000" cy="990600"/>
          </a:xfrm>
          <a:prstGeom prst="line">
            <a:avLst/>
          </a:prstGeom>
          <a:ln w="9525" cap="flat" cmpd="sng">
            <a:solidFill>
              <a:schemeClr val="tx1"/>
            </a:solidFill>
            <a:prstDash val="solid"/>
            <a:headEnd type="none" w="med" len="med"/>
            <a:tailEnd type="triangle" w="med" len="med"/>
          </a:ln>
        </p:spPr>
      </p:sp>
      <p:sp>
        <p:nvSpPr>
          <p:cNvPr id="98337" name="Line 37"/>
          <p:cNvSpPr/>
          <p:nvPr/>
        </p:nvSpPr>
        <p:spPr>
          <a:xfrm>
            <a:off x="4838700" y="2863850"/>
            <a:ext cx="1524000" cy="457200"/>
          </a:xfrm>
          <a:prstGeom prst="line">
            <a:avLst/>
          </a:prstGeom>
          <a:ln w="9525" cap="flat" cmpd="sng">
            <a:solidFill>
              <a:schemeClr val="tx1"/>
            </a:solidFill>
            <a:prstDash val="solid"/>
            <a:headEnd type="none" w="med" len="med"/>
            <a:tailEnd type="triangle" w="med" len="med"/>
          </a:ln>
        </p:spPr>
      </p:sp>
      <p:sp>
        <p:nvSpPr>
          <p:cNvPr id="98338" name="Rectangle 38"/>
          <p:cNvSpPr>
            <a:spLocks noChangeAspect="1"/>
          </p:cNvSpPr>
          <p:nvPr/>
        </p:nvSpPr>
        <p:spPr>
          <a:xfrm>
            <a:off x="8420100" y="141605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8339" name="Rectangle 39"/>
          <p:cNvSpPr>
            <a:spLocks noChangeAspect="1"/>
          </p:cNvSpPr>
          <p:nvPr/>
        </p:nvSpPr>
        <p:spPr>
          <a:xfrm>
            <a:off x="8420100" y="271145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8340" name="Text Box 40"/>
          <p:cNvSpPr txBox="1"/>
          <p:nvPr/>
        </p:nvSpPr>
        <p:spPr>
          <a:xfrm>
            <a:off x="3832225" y="221932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98341" name="Text Box 41"/>
          <p:cNvSpPr txBox="1"/>
          <p:nvPr/>
        </p:nvSpPr>
        <p:spPr>
          <a:xfrm>
            <a:off x="3848100" y="263525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graphicFrame>
        <p:nvGraphicFramePr>
          <p:cNvPr id="672811" name="Group 43"/>
          <p:cNvGraphicFramePr>
            <a:graphicFrameLocks noGrp="1"/>
          </p:cNvGraphicFramePr>
          <p:nvPr/>
        </p:nvGraphicFramePr>
        <p:xfrm>
          <a:off x="6373813" y="46561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2821" name="Group 53"/>
          <p:cNvGraphicFramePr>
            <a:graphicFrameLocks noGrp="1"/>
          </p:cNvGraphicFramePr>
          <p:nvPr/>
        </p:nvGraphicFramePr>
        <p:xfrm>
          <a:off x="6373813" y="59515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rPr>
                        <a:t>1(110)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672831" name="Group 63"/>
          <p:cNvGraphicFramePr>
            <a:graphicFrameLocks noGrp="1"/>
          </p:cNvGraphicFramePr>
          <p:nvPr/>
        </p:nvGraphicFramePr>
        <p:xfrm>
          <a:off x="4392613" y="5570538"/>
          <a:ext cx="914400" cy="757237"/>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2839" name="Group 71"/>
          <p:cNvGraphicFramePr>
            <a:graphicFrameLocks noGrp="1"/>
          </p:cNvGraphicFramePr>
          <p:nvPr/>
        </p:nvGraphicFramePr>
        <p:xfrm>
          <a:off x="4392613" y="4656138"/>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72845" name="Line 77"/>
          <p:cNvSpPr/>
          <p:nvPr/>
        </p:nvSpPr>
        <p:spPr>
          <a:xfrm flipV="1">
            <a:off x="4849813" y="4808538"/>
            <a:ext cx="1524000" cy="990600"/>
          </a:xfrm>
          <a:prstGeom prst="line">
            <a:avLst/>
          </a:prstGeom>
          <a:ln w="9525" cap="flat" cmpd="sng">
            <a:solidFill>
              <a:schemeClr val="tx1"/>
            </a:solidFill>
            <a:prstDash val="solid"/>
            <a:headEnd type="none" w="med" len="med"/>
            <a:tailEnd type="triangle" w="med" len="med"/>
          </a:ln>
        </p:spPr>
      </p:sp>
      <p:sp>
        <p:nvSpPr>
          <p:cNvPr id="672846" name="Line 78"/>
          <p:cNvSpPr/>
          <p:nvPr/>
        </p:nvSpPr>
        <p:spPr>
          <a:xfrm>
            <a:off x="4849813" y="6103938"/>
            <a:ext cx="1524000" cy="457200"/>
          </a:xfrm>
          <a:prstGeom prst="line">
            <a:avLst/>
          </a:prstGeom>
          <a:ln w="9525" cap="flat" cmpd="sng">
            <a:solidFill>
              <a:schemeClr val="tx1"/>
            </a:solidFill>
            <a:prstDash val="solid"/>
            <a:headEnd type="none" w="med" len="med"/>
            <a:tailEnd type="triangle" w="med" len="med"/>
          </a:ln>
        </p:spPr>
      </p:sp>
      <p:sp>
        <p:nvSpPr>
          <p:cNvPr id="672847" name="Rectangle 79"/>
          <p:cNvSpPr>
            <a:spLocks noChangeAspect="1"/>
          </p:cNvSpPr>
          <p:nvPr/>
        </p:nvSpPr>
        <p:spPr>
          <a:xfrm>
            <a:off x="8431213" y="46561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72848" name="Rectangle 80"/>
          <p:cNvSpPr>
            <a:spLocks noChangeAspect="1"/>
          </p:cNvSpPr>
          <p:nvPr/>
        </p:nvSpPr>
        <p:spPr>
          <a:xfrm>
            <a:off x="8431213" y="59515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72849" name="Text Box 81"/>
          <p:cNvSpPr txBox="1"/>
          <p:nvPr/>
        </p:nvSpPr>
        <p:spPr>
          <a:xfrm>
            <a:off x="3843338" y="5459413"/>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672850" name="Text Box 82"/>
          <p:cNvSpPr txBox="1"/>
          <p:nvPr/>
        </p:nvSpPr>
        <p:spPr>
          <a:xfrm>
            <a:off x="3859213" y="5875338"/>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72851" name="Rectangle 83"/>
          <p:cNvSpPr/>
          <p:nvPr/>
        </p:nvSpPr>
        <p:spPr>
          <a:xfrm>
            <a:off x="588963" y="4137025"/>
            <a:ext cx="1830387" cy="57943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3200" b="0" i="0" u="none" strike="noStrike" kern="120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1</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110</a:t>
            </a:r>
          </a:p>
        </p:txBody>
      </p:sp>
      <p:sp>
        <p:nvSpPr>
          <p:cNvPr id="672852" name="Line 84"/>
          <p:cNvSpPr/>
          <p:nvPr/>
        </p:nvSpPr>
        <p:spPr>
          <a:xfrm flipV="1">
            <a:off x="3238500" y="3992563"/>
            <a:ext cx="5470525" cy="0"/>
          </a:xfrm>
          <a:prstGeom prst="line">
            <a:avLst/>
          </a:prstGeom>
          <a:ln w="9525" cap="flat" cmpd="sng">
            <a:solidFill>
              <a:schemeClr val="tx1"/>
            </a:solidFill>
            <a:prstDash val="solid"/>
            <a:headEnd type="none" w="med" len="med"/>
            <a:tailEnd type="none" w="med" len="med"/>
          </a:ln>
        </p:spPr>
      </p:sp>
      <p:sp>
        <p:nvSpPr>
          <p:cNvPr id="98380" name="Text Box 16"/>
          <p:cNvSpPr txBox="1"/>
          <p:nvPr/>
        </p:nvSpPr>
        <p:spPr>
          <a:xfrm>
            <a:off x="163513" y="131763"/>
            <a:ext cx="5878512" cy="830262"/>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
        <p:nvSpPr>
          <p:cNvPr id="98381" name="Rectangle 102"/>
          <p:cNvSpPr/>
          <p:nvPr/>
        </p:nvSpPr>
        <p:spPr>
          <a:xfrm>
            <a:off x="900113" y="1530350"/>
            <a:ext cx="1751012" cy="15446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k=4</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i=1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n=2</a:t>
            </a:r>
            <a:r>
              <a:rPr kumimoji="0" lang="en-US" altLang="zh-CN" sz="2800" b="0" i="0" u="none" strike="noStrike" kern="1200" cap="none" spc="0" normalizeH="0" baseline="30000" noProof="0" dirty="0">
                <a:ln>
                  <a:noFill/>
                </a:ln>
                <a:solidFill>
                  <a:srgbClr val="000000"/>
                </a:solidFill>
                <a:effectLst/>
                <a:uLnTx/>
                <a:uFillTx/>
                <a:latin typeface="Arial" panose="020B0604020202020204" pitchFamily="34" charset="0"/>
                <a:ea typeface="宋体" panose="02010600030101010101" pitchFamily="2" charset="-122"/>
                <a:cs typeface="+mn-cs"/>
              </a:rPr>
              <a:t>i</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=2</a:t>
            </a:r>
          </a:p>
        </p:txBody>
      </p:sp>
      <p:grpSp>
        <p:nvGrpSpPr>
          <p:cNvPr id="2" name="Group 104"/>
          <p:cNvGrpSpPr/>
          <p:nvPr/>
        </p:nvGrpSpPr>
        <p:grpSpPr>
          <a:xfrm>
            <a:off x="420688" y="5151438"/>
            <a:ext cx="2900362" cy="847725"/>
            <a:chOff x="1265" y="3268"/>
            <a:chExt cx="1153" cy="629"/>
          </a:xfrm>
        </p:grpSpPr>
        <p:sp>
          <p:nvSpPr>
            <p:cNvPr id="98383"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8384"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8385" name="Text Box 84"/>
            <p:cNvSpPr/>
            <p:nvPr/>
          </p:nvSpPr>
          <p:spPr>
            <a:xfrm>
              <a:off x="1274" y="3303"/>
              <a:ext cx="1140" cy="512"/>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取前</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位，确定索引块。</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如有空间，则存储</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2851"/>
                                        </p:tgtEl>
                                        <p:attrNameLst>
                                          <p:attrName>style.visibility</p:attrName>
                                        </p:attrNameLst>
                                      </p:cBhvr>
                                      <p:to>
                                        <p:strVal val="visible"/>
                                      </p:to>
                                    </p:set>
                                    <p:anim calcmode="lin" valueType="num">
                                      <p:cBhvr additive="base">
                                        <p:cTn id="7" dur="500" fill="hold"/>
                                        <p:tgtEl>
                                          <p:spTgt spid="672851"/>
                                        </p:tgtEl>
                                        <p:attrNameLst>
                                          <p:attrName>ppt_x</p:attrName>
                                        </p:attrNameLst>
                                      </p:cBhvr>
                                      <p:tavLst>
                                        <p:tav tm="0">
                                          <p:val>
                                            <p:strVal val="#ppt_x"/>
                                          </p:val>
                                        </p:tav>
                                        <p:tav tm="100000">
                                          <p:val>
                                            <p:strVal val="#ppt_x"/>
                                          </p:val>
                                        </p:tav>
                                      </p:tavLst>
                                    </p:anim>
                                    <p:anim calcmode="lin" valueType="num">
                                      <p:cBhvr additive="base">
                                        <p:cTn id="8" dur="500" fill="hold"/>
                                        <p:tgtEl>
                                          <p:spTgt spid="6728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2811"/>
                                        </p:tgtEl>
                                        <p:attrNameLst>
                                          <p:attrName>style.visibility</p:attrName>
                                        </p:attrNameLst>
                                      </p:cBhvr>
                                      <p:to>
                                        <p:strVal val="visible"/>
                                      </p:to>
                                    </p:set>
                                    <p:anim calcmode="lin" valueType="num">
                                      <p:cBhvr additive="base">
                                        <p:cTn id="19" dur="500" fill="hold"/>
                                        <p:tgtEl>
                                          <p:spTgt spid="672811"/>
                                        </p:tgtEl>
                                        <p:attrNameLst>
                                          <p:attrName>ppt_x</p:attrName>
                                        </p:attrNameLst>
                                      </p:cBhvr>
                                      <p:tavLst>
                                        <p:tav tm="0">
                                          <p:val>
                                            <p:strVal val="#ppt_x"/>
                                          </p:val>
                                        </p:tav>
                                        <p:tav tm="100000">
                                          <p:val>
                                            <p:strVal val="#ppt_x"/>
                                          </p:val>
                                        </p:tav>
                                      </p:tavLst>
                                    </p:anim>
                                    <p:anim calcmode="lin" valueType="num">
                                      <p:cBhvr additive="base">
                                        <p:cTn id="20" dur="500" fill="hold"/>
                                        <p:tgtEl>
                                          <p:spTgt spid="67281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72821"/>
                                        </p:tgtEl>
                                        <p:attrNameLst>
                                          <p:attrName>style.visibility</p:attrName>
                                        </p:attrNameLst>
                                      </p:cBhvr>
                                      <p:to>
                                        <p:strVal val="visible"/>
                                      </p:to>
                                    </p:set>
                                    <p:anim calcmode="lin" valueType="num">
                                      <p:cBhvr additive="base">
                                        <p:cTn id="23" dur="500" fill="hold"/>
                                        <p:tgtEl>
                                          <p:spTgt spid="672821"/>
                                        </p:tgtEl>
                                        <p:attrNameLst>
                                          <p:attrName>ppt_x</p:attrName>
                                        </p:attrNameLst>
                                      </p:cBhvr>
                                      <p:tavLst>
                                        <p:tav tm="0">
                                          <p:val>
                                            <p:strVal val="#ppt_x"/>
                                          </p:val>
                                        </p:tav>
                                        <p:tav tm="100000">
                                          <p:val>
                                            <p:strVal val="#ppt_x"/>
                                          </p:val>
                                        </p:tav>
                                      </p:tavLst>
                                    </p:anim>
                                    <p:anim calcmode="lin" valueType="num">
                                      <p:cBhvr additive="base">
                                        <p:cTn id="24" dur="500" fill="hold"/>
                                        <p:tgtEl>
                                          <p:spTgt spid="6728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72831"/>
                                        </p:tgtEl>
                                        <p:attrNameLst>
                                          <p:attrName>style.visibility</p:attrName>
                                        </p:attrNameLst>
                                      </p:cBhvr>
                                      <p:to>
                                        <p:strVal val="visible"/>
                                      </p:to>
                                    </p:set>
                                    <p:anim calcmode="lin" valueType="num">
                                      <p:cBhvr additive="base">
                                        <p:cTn id="27" dur="500" fill="hold"/>
                                        <p:tgtEl>
                                          <p:spTgt spid="672831"/>
                                        </p:tgtEl>
                                        <p:attrNameLst>
                                          <p:attrName>ppt_x</p:attrName>
                                        </p:attrNameLst>
                                      </p:cBhvr>
                                      <p:tavLst>
                                        <p:tav tm="0">
                                          <p:val>
                                            <p:strVal val="#ppt_x"/>
                                          </p:val>
                                        </p:tav>
                                        <p:tav tm="100000">
                                          <p:val>
                                            <p:strVal val="#ppt_x"/>
                                          </p:val>
                                        </p:tav>
                                      </p:tavLst>
                                    </p:anim>
                                    <p:anim calcmode="lin" valueType="num">
                                      <p:cBhvr additive="base">
                                        <p:cTn id="28" dur="500" fill="hold"/>
                                        <p:tgtEl>
                                          <p:spTgt spid="67283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72839"/>
                                        </p:tgtEl>
                                        <p:attrNameLst>
                                          <p:attrName>style.visibility</p:attrName>
                                        </p:attrNameLst>
                                      </p:cBhvr>
                                      <p:to>
                                        <p:strVal val="visible"/>
                                      </p:to>
                                    </p:set>
                                    <p:anim calcmode="lin" valueType="num">
                                      <p:cBhvr additive="base">
                                        <p:cTn id="31" dur="500" fill="hold"/>
                                        <p:tgtEl>
                                          <p:spTgt spid="672839"/>
                                        </p:tgtEl>
                                        <p:attrNameLst>
                                          <p:attrName>ppt_x</p:attrName>
                                        </p:attrNameLst>
                                      </p:cBhvr>
                                      <p:tavLst>
                                        <p:tav tm="0">
                                          <p:val>
                                            <p:strVal val="#ppt_x"/>
                                          </p:val>
                                        </p:tav>
                                        <p:tav tm="100000">
                                          <p:val>
                                            <p:strVal val="#ppt_x"/>
                                          </p:val>
                                        </p:tav>
                                      </p:tavLst>
                                    </p:anim>
                                    <p:anim calcmode="lin" valueType="num">
                                      <p:cBhvr additive="base">
                                        <p:cTn id="32" dur="500" fill="hold"/>
                                        <p:tgtEl>
                                          <p:spTgt spid="67283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72845"/>
                                        </p:tgtEl>
                                        <p:attrNameLst>
                                          <p:attrName>style.visibility</p:attrName>
                                        </p:attrNameLst>
                                      </p:cBhvr>
                                      <p:to>
                                        <p:strVal val="visible"/>
                                      </p:to>
                                    </p:set>
                                    <p:anim calcmode="lin" valueType="num">
                                      <p:cBhvr additive="base">
                                        <p:cTn id="35" dur="500" fill="hold"/>
                                        <p:tgtEl>
                                          <p:spTgt spid="672845"/>
                                        </p:tgtEl>
                                        <p:attrNameLst>
                                          <p:attrName>ppt_x</p:attrName>
                                        </p:attrNameLst>
                                      </p:cBhvr>
                                      <p:tavLst>
                                        <p:tav tm="0">
                                          <p:val>
                                            <p:strVal val="#ppt_x"/>
                                          </p:val>
                                        </p:tav>
                                        <p:tav tm="100000">
                                          <p:val>
                                            <p:strVal val="#ppt_x"/>
                                          </p:val>
                                        </p:tav>
                                      </p:tavLst>
                                    </p:anim>
                                    <p:anim calcmode="lin" valueType="num">
                                      <p:cBhvr additive="base">
                                        <p:cTn id="36" dur="500" fill="hold"/>
                                        <p:tgtEl>
                                          <p:spTgt spid="672845"/>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72846"/>
                                        </p:tgtEl>
                                        <p:attrNameLst>
                                          <p:attrName>style.visibility</p:attrName>
                                        </p:attrNameLst>
                                      </p:cBhvr>
                                      <p:to>
                                        <p:strVal val="visible"/>
                                      </p:to>
                                    </p:set>
                                    <p:anim calcmode="lin" valueType="num">
                                      <p:cBhvr additive="base">
                                        <p:cTn id="39" dur="500" fill="hold"/>
                                        <p:tgtEl>
                                          <p:spTgt spid="672846"/>
                                        </p:tgtEl>
                                        <p:attrNameLst>
                                          <p:attrName>ppt_x</p:attrName>
                                        </p:attrNameLst>
                                      </p:cBhvr>
                                      <p:tavLst>
                                        <p:tav tm="0">
                                          <p:val>
                                            <p:strVal val="#ppt_x"/>
                                          </p:val>
                                        </p:tav>
                                        <p:tav tm="100000">
                                          <p:val>
                                            <p:strVal val="#ppt_x"/>
                                          </p:val>
                                        </p:tav>
                                      </p:tavLst>
                                    </p:anim>
                                    <p:anim calcmode="lin" valueType="num">
                                      <p:cBhvr additive="base">
                                        <p:cTn id="40" dur="500" fill="hold"/>
                                        <p:tgtEl>
                                          <p:spTgt spid="67284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72847"/>
                                        </p:tgtEl>
                                        <p:attrNameLst>
                                          <p:attrName>style.visibility</p:attrName>
                                        </p:attrNameLst>
                                      </p:cBhvr>
                                      <p:to>
                                        <p:strVal val="visible"/>
                                      </p:to>
                                    </p:set>
                                    <p:anim calcmode="lin" valueType="num">
                                      <p:cBhvr additive="base">
                                        <p:cTn id="43" dur="500" fill="hold"/>
                                        <p:tgtEl>
                                          <p:spTgt spid="672847"/>
                                        </p:tgtEl>
                                        <p:attrNameLst>
                                          <p:attrName>ppt_x</p:attrName>
                                        </p:attrNameLst>
                                      </p:cBhvr>
                                      <p:tavLst>
                                        <p:tav tm="0">
                                          <p:val>
                                            <p:strVal val="#ppt_x"/>
                                          </p:val>
                                        </p:tav>
                                        <p:tav tm="100000">
                                          <p:val>
                                            <p:strVal val="#ppt_x"/>
                                          </p:val>
                                        </p:tav>
                                      </p:tavLst>
                                    </p:anim>
                                    <p:anim calcmode="lin" valueType="num">
                                      <p:cBhvr additive="base">
                                        <p:cTn id="44" dur="500" fill="hold"/>
                                        <p:tgtEl>
                                          <p:spTgt spid="672847"/>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72848"/>
                                        </p:tgtEl>
                                        <p:attrNameLst>
                                          <p:attrName>style.visibility</p:attrName>
                                        </p:attrNameLst>
                                      </p:cBhvr>
                                      <p:to>
                                        <p:strVal val="visible"/>
                                      </p:to>
                                    </p:set>
                                    <p:anim calcmode="lin" valueType="num">
                                      <p:cBhvr additive="base">
                                        <p:cTn id="47" dur="500" fill="hold"/>
                                        <p:tgtEl>
                                          <p:spTgt spid="672848"/>
                                        </p:tgtEl>
                                        <p:attrNameLst>
                                          <p:attrName>ppt_x</p:attrName>
                                        </p:attrNameLst>
                                      </p:cBhvr>
                                      <p:tavLst>
                                        <p:tav tm="0">
                                          <p:val>
                                            <p:strVal val="#ppt_x"/>
                                          </p:val>
                                        </p:tav>
                                        <p:tav tm="100000">
                                          <p:val>
                                            <p:strVal val="#ppt_x"/>
                                          </p:val>
                                        </p:tav>
                                      </p:tavLst>
                                    </p:anim>
                                    <p:anim calcmode="lin" valueType="num">
                                      <p:cBhvr additive="base">
                                        <p:cTn id="48" dur="500" fill="hold"/>
                                        <p:tgtEl>
                                          <p:spTgt spid="67284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72849"/>
                                        </p:tgtEl>
                                        <p:attrNameLst>
                                          <p:attrName>style.visibility</p:attrName>
                                        </p:attrNameLst>
                                      </p:cBhvr>
                                      <p:to>
                                        <p:strVal val="visible"/>
                                      </p:to>
                                    </p:set>
                                    <p:anim calcmode="lin" valueType="num">
                                      <p:cBhvr additive="base">
                                        <p:cTn id="51" dur="500" fill="hold"/>
                                        <p:tgtEl>
                                          <p:spTgt spid="672849"/>
                                        </p:tgtEl>
                                        <p:attrNameLst>
                                          <p:attrName>ppt_x</p:attrName>
                                        </p:attrNameLst>
                                      </p:cBhvr>
                                      <p:tavLst>
                                        <p:tav tm="0">
                                          <p:val>
                                            <p:strVal val="#ppt_x"/>
                                          </p:val>
                                        </p:tav>
                                        <p:tav tm="100000">
                                          <p:val>
                                            <p:strVal val="#ppt_x"/>
                                          </p:val>
                                        </p:tav>
                                      </p:tavLst>
                                    </p:anim>
                                    <p:anim calcmode="lin" valueType="num">
                                      <p:cBhvr additive="base">
                                        <p:cTn id="52" dur="500" fill="hold"/>
                                        <p:tgtEl>
                                          <p:spTgt spid="67284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72850"/>
                                        </p:tgtEl>
                                        <p:attrNameLst>
                                          <p:attrName>style.visibility</p:attrName>
                                        </p:attrNameLst>
                                      </p:cBhvr>
                                      <p:to>
                                        <p:strVal val="visible"/>
                                      </p:to>
                                    </p:set>
                                    <p:anim calcmode="lin" valueType="num">
                                      <p:cBhvr additive="base">
                                        <p:cTn id="55" dur="500" fill="hold"/>
                                        <p:tgtEl>
                                          <p:spTgt spid="672850"/>
                                        </p:tgtEl>
                                        <p:attrNameLst>
                                          <p:attrName>ppt_x</p:attrName>
                                        </p:attrNameLst>
                                      </p:cBhvr>
                                      <p:tavLst>
                                        <p:tav tm="0">
                                          <p:val>
                                            <p:strVal val="#ppt_x"/>
                                          </p:val>
                                        </p:tav>
                                        <p:tav tm="100000">
                                          <p:val>
                                            <p:strVal val="#ppt_x"/>
                                          </p:val>
                                        </p:tav>
                                      </p:tavLst>
                                    </p:anim>
                                    <p:anim calcmode="lin" valueType="num">
                                      <p:cBhvr additive="base">
                                        <p:cTn id="56" dur="500" fill="hold"/>
                                        <p:tgtEl>
                                          <p:spTgt spid="672850"/>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672852"/>
                                        </p:tgtEl>
                                        <p:attrNameLst>
                                          <p:attrName>style.visibility</p:attrName>
                                        </p:attrNameLst>
                                      </p:cBhvr>
                                      <p:to>
                                        <p:strVal val="visible"/>
                                      </p:to>
                                    </p:set>
                                    <p:anim calcmode="lin" valueType="num">
                                      <p:cBhvr additive="base">
                                        <p:cTn id="59" dur="500" fill="hold"/>
                                        <p:tgtEl>
                                          <p:spTgt spid="672852"/>
                                        </p:tgtEl>
                                        <p:attrNameLst>
                                          <p:attrName>ppt_x</p:attrName>
                                        </p:attrNameLst>
                                      </p:cBhvr>
                                      <p:tavLst>
                                        <p:tav tm="0">
                                          <p:val>
                                            <p:strVal val="#ppt_x"/>
                                          </p:val>
                                        </p:tav>
                                        <p:tav tm="100000">
                                          <p:val>
                                            <p:strVal val="#ppt_x"/>
                                          </p:val>
                                        </p:tav>
                                      </p:tavLst>
                                    </p:anim>
                                    <p:anim calcmode="lin" valueType="num">
                                      <p:cBhvr additive="base">
                                        <p:cTn id="60" dur="500" fill="hold"/>
                                        <p:tgtEl>
                                          <p:spTgt spid="6728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847" grpId="0" bldLvl="0" animBg="1"/>
      <p:bldP spid="672848" grpId="0" bldLvl="0" animBg="1"/>
      <p:bldP spid="672849" grpId="0"/>
      <p:bldP spid="672850" grpId="0"/>
      <p:bldP spid="67285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5572" name="Group 84"/>
          <p:cNvGraphicFramePr>
            <a:graphicFrameLocks noGrp="1"/>
          </p:cNvGraphicFramePr>
          <p:nvPr/>
        </p:nvGraphicFramePr>
        <p:xfrm>
          <a:off x="6388100" y="1190625"/>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75582" name="Group 94"/>
          <p:cNvGraphicFramePr>
            <a:graphicFrameLocks noGrp="1"/>
          </p:cNvGraphicFramePr>
          <p:nvPr/>
        </p:nvGraphicFramePr>
        <p:xfrm>
          <a:off x="6388100" y="2486025"/>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endParaRPr kumimoji="1" lang="en-US" altLang="zh-CN" sz="1800" b="1" i="0" u="none" strike="noStrike" cap="none" normalizeH="0" baseline="0">
                        <a:ln>
                          <a:noFill/>
                        </a:ln>
                        <a:solidFill>
                          <a:srgbClr val="FF0066"/>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575592" name="Group 104"/>
          <p:cNvGraphicFramePr>
            <a:graphicFrameLocks noGrp="1"/>
          </p:cNvGraphicFramePr>
          <p:nvPr/>
        </p:nvGraphicFramePr>
        <p:xfrm>
          <a:off x="4406900" y="2105025"/>
          <a:ext cx="914400" cy="75723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75600" name="Group 112"/>
          <p:cNvGraphicFramePr>
            <a:graphicFrameLocks noGrp="1"/>
          </p:cNvGraphicFramePr>
          <p:nvPr/>
        </p:nvGraphicFramePr>
        <p:xfrm>
          <a:off x="4406900" y="1190625"/>
          <a:ext cx="914400" cy="37941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360" name="Line 118"/>
          <p:cNvSpPr/>
          <p:nvPr/>
        </p:nvSpPr>
        <p:spPr>
          <a:xfrm flipV="1">
            <a:off x="4864100" y="1343025"/>
            <a:ext cx="1524000" cy="990600"/>
          </a:xfrm>
          <a:prstGeom prst="line">
            <a:avLst/>
          </a:prstGeom>
          <a:ln w="9525" cap="flat" cmpd="sng">
            <a:solidFill>
              <a:schemeClr val="tx1"/>
            </a:solidFill>
            <a:prstDash val="solid"/>
            <a:headEnd type="none" w="med" len="med"/>
            <a:tailEnd type="triangle" w="med" len="med"/>
          </a:ln>
        </p:spPr>
      </p:sp>
      <p:sp>
        <p:nvSpPr>
          <p:cNvPr id="99361" name="Line 119"/>
          <p:cNvSpPr/>
          <p:nvPr/>
        </p:nvSpPr>
        <p:spPr>
          <a:xfrm>
            <a:off x="4864100" y="2638425"/>
            <a:ext cx="1524000" cy="457200"/>
          </a:xfrm>
          <a:prstGeom prst="line">
            <a:avLst/>
          </a:prstGeom>
          <a:ln w="9525" cap="flat" cmpd="sng">
            <a:solidFill>
              <a:schemeClr val="tx1"/>
            </a:solidFill>
            <a:prstDash val="solid"/>
            <a:headEnd type="none" w="med" len="med"/>
            <a:tailEnd type="triangle" w="med" len="med"/>
          </a:ln>
        </p:spPr>
      </p:sp>
      <p:sp>
        <p:nvSpPr>
          <p:cNvPr id="99362" name="Rectangle 120"/>
          <p:cNvSpPr>
            <a:spLocks noChangeAspect="1"/>
          </p:cNvSpPr>
          <p:nvPr/>
        </p:nvSpPr>
        <p:spPr>
          <a:xfrm>
            <a:off x="8445500" y="11906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9363" name="Rectangle 121"/>
          <p:cNvSpPr>
            <a:spLocks noChangeAspect="1"/>
          </p:cNvSpPr>
          <p:nvPr/>
        </p:nvSpPr>
        <p:spPr>
          <a:xfrm>
            <a:off x="8445500" y="24860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9364" name="Text Box 122"/>
          <p:cNvSpPr txBox="1"/>
          <p:nvPr/>
        </p:nvSpPr>
        <p:spPr>
          <a:xfrm>
            <a:off x="3984625" y="2009775"/>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p>
        </p:txBody>
      </p:sp>
      <p:sp>
        <p:nvSpPr>
          <p:cNvPr id="99365" name="Text Box 123"/>
          <p:cNvSpPr txBox="1"/>
          <p:nvPr/>
        </p:nvSpPr>
        <p:spPr>
          <a:xfrm>
            <a:off x="4000500" y="2425700"/>
            <a:ext cx="3365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99366" name="Rectangle 124"/>
          <p:cNvSpPr/>
          <p:nvPr/>
        </p:nvSpPr>
        <p:spPr>
          <a:xfrm>
            <a:off x="182563" y="1042988"/>
            <a:ext cx="3265487" cy="579437"/>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3200" b="0" i="0" u="none" strike="noStrike" kern="1200" cap="none" spc="0" normalizeH="0" baseline="0" noProof="0" dirty="0">
                <a:ln>
                  <a:noFill/>
                </a:ln>
                <a:solidFill>
                  <a:srgbClr val="FF0066"/>
                </a:solidFill>
                <a:effectLst/>
                <a:uLnTx/>
                <a:uFillTx/>
                <a:latin typeface="微软雅黑" panose="020B0503020204020204" pitchFamily="34" charset="-122"/>
                <a:ea typeface="微软雅黑" panose="020B0503020204020204" pitchFamily="34" charset="-122"/>
                <a:cs typeface="+mn-cs"/>
              </a:rPr>
              <a:t>1</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010</a:t>
            </a:r>
          </a:p>
        </p:txBody>
      </p:sp>
      <p:graphicFrame>
        <p:nvGraphicFramePr>
          <p:cNvPr id="575613" name="Group 125"/>
          <p:cNvGraphicFramePr>
            <a:graphicFrameLocks noGrp="1"/>
          </p:cNvGraphicFramePr>
          <p:nvPr/>
        </p:nvGraphicFramePr>
        <p:xfrm>
          <a:off x="6419850" y="35861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75623" name="Group 135"/>
          <p:cNvGraphicFramePr>
            <a:graphicFrameLocks noGrp="1"/>
          </p:cNvGraphicFramePr>
          <p:nvPr/>
        </p:nvGraphicFramePr>
        <p:xfrm>
          <a:off x="6419850" y="48815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575633" name="Group 145"/>
          <p:cNvGraphicFramePr>
            <a:graphicFrameLocks noGrp="1"/>
          </p:cNvGraphicFramePr>
          <p:nvPr/>
        </p:nvGraphicFramePr>
        <p:xfrm>
          <a:off x="4438650" y="4500563"/>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75645" name="Group 157"/>
          <p:cNvGraphicFramePr>
            <a:graphicFrameLocks noGrp="1"/>
          </p:cNvGraphicFramePr>
          <p:nvPr/>
        </p:nvGraphicFramePr>
        <p:xfrm>
          <a:off x="4438650" y="3586163"/>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75651" name="Line 163"/>
          <p:cNvSpPr/>
          <p:nvPr/>
        </p:nvSpPr>
        <p:spPr>
          <a:xfrm flipV="1">
            <a:off x="4895850" y="3738563"/>
            <a:ext cx="1524000" cy="990600"/>
          </a:xfrm>
          <a:prstGeom prst="line">
            <a:avLst/>
          </a:prstGeom>
          <a:ln w="9525" cap="flat" cmpd="sng">
            <a:solidFill>
              <a:schemeClr val="tx1"/>
            </a:solidFill>
            <a:prstDash val="solid"/>
            <a:headEnd type="none" w="med" len="med"/>
            <a:tailEnd type="triangle" w="med" len="med"/>
          </a:ln>
        </p:spPr>
      </p:sp>
      <p:sp>
        <p:nvSpPr>
          <p:cNvPr id="575652" name="Line 164"/>
          <p:cNvSpPr/>
          <p:nvPr/>
        </p:nvSpPr>
        <p:spPr>
          <a:xfrm>
            <a:off x="4895850" y="5491163"/>
            <a:ext cx="1524000" cy="0"/>
          </a:xfrm>
          <a:prstGeom prst="line">
            <a:avLst/>
          </a:prstGeom>
          <a:ln w="9525" cap="flat" cmpd="sng">
            <a:solidFill>
              <a:schemeClr val="tx1"/>
            </a:solidFill>
            <a:prstDash val="solid"/>
            <a:headEnd type="none" w="med" len="med"/>
            <a:tailEnd type="triangle" w="med" len="med"/>
          </a:ln>
        </p:spPr>
      </p:sp>
      <p:sp>
        <p:nvSpPr>
          <p:cNvPr id="575653" name="Rectangle 165"/>
          <p:cNvSpPr>
            <a:spLocks noChangeAspect="1"/>
          </p:cNvSpPr>
          <p:nvPr/>
        </p:nvSpPr>
        <p:spPr>
          <a:xfrm>
            <a:off x="8477250" y="35861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575654" name="Rectangle 166"/>
          <p:cNvSpPr>
            <a:spLocks noChangeAspect="1"/>
          </p:cNvSpPr>
          <p:nvPr/>
        </p:nvSpPr>
        <p:spPr>
          <a:xfrm>
            <a:off x="8477250" y="48815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5655" name="Text Box 167"/>
          <p:cNvSpPr txBox="1"/>
          <p:nvPr/>
        </p:nvSpPr>
        <p:spPr>
          <a:xfrm>
            <a:off x="3889375" y="43894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a:t>
            </a:r>
          </a:p>
        </p:txBody>
      </p:sp>
      <p:sp>
        <p:nvSpPr>
          <p:cNvPr id="575656" name="Text Box 168"/>
          <p:cNvSpPr txBox="1"/>
          <p:nvPr/>
        </p:nvSpPr>
        <p:spPr>
          <a:xfrm>
            <a:off x="3889375" y="47704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a:t>
            </a:r>
          </a:p>
        </p:txBody>
      </p:sp>
      <p:sp>
        <p:nvSpPr>
          <p:cNvPr id="575657" name="Text Box 169"/>
          <p:cNvSpPr txBox="1"/>
          <p:nvPr/>
        </p:nvSpPr>
        <p:spPr>
          <a:xfrm>
            <a:off x="3889375" y="51514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575658" name="Text Box 170"/>
          <p:cNvSpPr txBox="1"/>
          <p:nvPr/>
        </p:nvSpPr>
        <p:spPr>
          <a:xfrm>
            <a:off x="3889375" y="55324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graphicFrame>
        <p:nvGraphicFramePr>
          <p:cNvPr id="575659" name="Group 171"/>
          <p:cNvGraphicFramePr>
            <a:graphicFrameLocks noGrp="1"/>
          </p:cNvGraphicFramePr>
          <p:nvPr/>
        </p:nvGraphicFramePr>
        <p:xfrm>
          <a:off x="6419850" y="59483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5669" name="Rectangle 181"/>
          <p:cNvSpPr>
            <a:spLocks noChangeAspect="1"/>
          </p:cNvSpPr>
          <p:nvPr/>
        </p:nvSpPr>
        <p:spPr>
          <a:xfrm>
            <a:off x="8477250" y="59483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5670" name="Line 182"/>
          <p:cNvSpPr/>
          <p:nvPr/>
        </p:nvSpPr>
        <p:spPr>
          <a:xfrm>
            <a:off x="4895850" y="5795963"/>
            <a:ext cx="1524000" cy="152400"/>
          </a:xfrm>
          <a:prstGeom prst="line">
            <a:avLst/>
          </a:prstGeom>
          <a:ln w="9525" cap="flat" cmpd="sng">
            <a:solidFill>
              <a:schemeClr val="tx1"/>
            </a:solidFill>
            <a:prstDash val="solid"/>
            <a:headEnd type="none" w="med" len="med"/>
            <a:tailEnd type="triangle" w="med" len="med"/>
          </a:ln>
        </p:spPr>
      </p:sp>
      <p:sp>
        <p:nvSpPr>
          <p:cNvPr id="575671" name="Line 183"/>
          <p:cNvSpPr/>
          <p:nvPr/>
        </p:nvSpPr>
        <p:spPr>
          <a:xfrm flipV="1">
            <a:off x="4972050" y="3814763"/>
            <a:ext cx="1447800" cy="1295400"/>
          </a:xfrm>
          <a:prstGeom prst="line">
            <a:avLst/>
          </a:prstGeom>
          <a:ln w="9525" cap="flat" cmpd="sng">
            <a:solidFill>
              <a:schemeClr val="tx1"/>
            </a:solidFill>
            <a:prstDash val="solid"/>
            <a:headEnd type="none" w="med" len="med"/>
            <a:tailEnd type="triangle" w="med" len="med"/>
          </a:ln>
        </p:spPr>
      </p:sp>
      <p:sp>
        <p:nvSpPr>
          <p:cNvPr id="575672" name="Line 184"/>
          <p:cNvSpPr/>
          <p:nvPr/>
        </p:nvSpPr>
        <p:spPr>
          <a:xfrm flipV="1">
            <a:off x="3354388" y="3413125"/>
            <a:ext cx="5470525" cy="0"/>
          </a:xfrm>
          <a:prstGeom prst="line">
            <a:avLst/>
          </a:prstGeom>
          <a:ln w="9525" cap="flat" cmpd="sng">
            <a:solidFill>
              <a:schemeClr val="tx1"/>
            </a:solidFill>
            <a:prstDash val="solid"/>
            <a:headEnd type="none" w="med" len="med"/>
            <a:tailEnd type="none" w="med" len="med"/>
          </a:ln>
        </p:spPr>
      </p:sp>
      <p:grpSp>
        <p:nvGrpSpPr>
          <p:cNvPr id="99421" name="Group 187"/>
          <p:cNvGrpSpPr/>
          <p:nvPr/>
        </p:nvGrpSpPr>
        <p:grpSpPr>
          <a:xfrm>
            <a:off x="260350" y="1779588"/>
            <a:ext cx="3290888" cy="2071687"/>
            <a:chOff x="1265" y="3268"/>
            <a:chExt cx="1153" cy="629"/>
          </a:xfrm>
        </p:grpSpPr>
        <p:sp>
          <p:nvSpPr>
            <p:cNvPr id="99427"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9428"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99429" name="Text Box 84"/>
            <p:cNvSpPr/>
            <p:nvPr/>
          </p:nvSpPr>
          <p:spPr>
            <a:xfrm>
              <a:off x="1282" y="3302"/>
              <a:ext cx="1125" cy="577"/>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取前</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位，确定索引块。</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如已满，则需要扩展哈希桶，进行分裂：</a:t>
              </a:r>
            </a:p>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 </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增加</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1</a:t>
              </a:r>
            </a:p>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重新哈希该块的数据到两个块中。其他不变</a:t>
              </a:r>
            </a:p>
          </p:txBody>
        </p:sp>
      </p:grpSp>
      <p:grpSp>
        <p:nvGrpSpPr>
          <p:cNvPr id="3" name="Group 194"/>
          <p:cNvGrpSpPr/>
          <p:nvPr/>
        </p:nvGrpSpPr>
        <p:grpSpPr>
          <a:xfrm>
            <a:off x="7407275" y="2868613"/>
            <a:ext cx="844550" cy="366712"/>
            <a:chOff x="4666" y="1807"/>
            <a:chExt cx="532" cy="231"/>
          </a:xfrm>
        </p:grpSpPr>
        <p:sp>
          <p:nvSpPr>
            <p:cNvPr id="99425" name="Rectangle 192"/>
            <p:cNvSpPr/>
            <p:nvPr/>
          </p:nvSpPr>
          <p:spPr>
            <a:xfrm>
              <a:off x="4666" y="1807"/>
              <a:ext cx="532" cy="231"/>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0066"/>
                  </a:solidFill>
                  <a:effectLst/>
                  <a:uLnTx/>
                  <a:uFillTx/>
                  <a:latin typeface="Arial" panose="020B0604020202020204" pitchFamily="34" charset="0"/>
                  <a:ea typeface="宋体" panose="02010600030101010101" pitchFamily="2" charset="-122"/>
                  <a:cs typeface="+mn-cs"/>
                </a:rPr>
                <a:t>1(010)</a:t>
              </a:r>
            </a:p>
          </p:txBody>
        </p:sp>
        <p:sp>
          <p:nvSpPr>
            <p:cNvPr id="99426" name="Line 193"/>
            <p:cNvSpPr/>
            <p:nvPr/>
          </p:nvSpPr>
          <p:spPr>
            <a:xfrm flipV="1">
              <a:off x="4717" y="1920"/>
              <a:ext cx="448" cy="9"/>
            </a:xfrm>
            <a:prstGeom prst="line">
              <a:avLst/>
            </a:prstGeom>
            <a:ln w="9525" cap="flat" cmpd="sng">
              <a:solidFill>
                <a:schemeClr val="tx1"/>
              </a:solidFill>
              <a:prstDash val="solid"/>
              <a:headEnd type="none" w="med" len="med"/>
              <a:tailEnd type="none" w="med" len="med"/>
            </a:ln>
          </p:spPr>
        </p:sp>
      </p:grpSp>
      <p:sp>
        <p:nvSpPr>
          <p:cNvPr id="99423" name="Rectangle 195"/>
          <p:cNvSpPr/>
          <p:nvPr/>
        </p:nvSpPr>
        <p:spPr>
          <a:xfrm>
            <a:off x="1755775" y="4416425"/>
            <a:ext cx="1751013" cy="1544638"/>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k=4</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i=2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n=2</a:t>
            </a:r>
            <a:r>
              <a:rPr kumimoji="0" lang="en-US" altLang="zh-CN" sz="2800" b="0" i="0" u="none" strike="noStrike" kern="1200" cap="none" spc="0" normalizeH="0" baseline="30000" noProof="0" dirty="0">
                <a:ln>
                  <a:noFill/>
                </a:ln>
                <a:solidFill>
                  <a:srgbClr val="000000"/>
                </a:solidFill>
                <a:effectLst/>
                <a:uLnTx/>
                <a:uFillTx/>
                <a:latin typeface="Arial" panose="020B0604020202020204" pitchFamily="34" charset="0"/>
                <a:ea typeface="宋体" panose="02010600030101010101" pitchFamily="2" charset="-122"/>
                <a:cs typeface="+mn-cs"/>
              </a:rPr>
              <a:t>i</a:t>
            </a:r>
            <a:r>
              <a:rPr kumimoji="0" lang="en-US" altLang="zh-CN" sz="28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=4</a:t>
            </a:r>
          </a:p>
        </p:txBody>
      </p:sp>
      <p:sp>
        <p:nvSpPr>
          <p:cNvPr id="99424" name="Text Box 16"/>
          <p:cNvSpPr txBox="1"/>
          <p:nvPr/>
        </p:nvSpPr>
        <p:spPr>
          <a:xfrm>
            <a:off x="163513" y="0"/>
            <a:ext cx="5878512" cy="83026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75613"/>
                                        </p:tgtEl>
                                        <p:attrNameLst>
                                          <p:attrName>style.visibility</p:attrName>
                                        </p:attrNameLst>
                                      </p:cBhvr>
                                      <p:to>
                                        <p:strVal val="visible"/>
                                      </p:to>
                                    </p:set>
                                    <p:anim calcmode="lin" valueType="num">
                                      <p:cBhvr additive="base">
                                        <p:cTn id="12" dur="500" fill="hold"/>
                                        <p:tgtEl>
                                          <p:spTgt spid="575613"/>
                                        </p:tgtEl>
                                        <p:attrNameLst>
                                          <p:attrName>ppt_x</p:attrName>
                                        </p:attrNameLst>
                                      </p:cBhvr>
                                      <p:tavLst>
                                        <p:tav tm="0">
                                          <p:val>
                                            <p:strVal val="#ppt_x"/>
                                          </p:val>
                                        </p:tav>
                                        <p:tav tm="100000">
                                          <p:val>
                                            <p:strVal val="#ppt_x"/>
                                          </p:val>
                                        </p:tav>
                                      </p:tavLst>
                                    </p:anim>
                                    <p:anim calcmode="lin" valueType="num">
                                      <p:cBhvr additive="base">
                                        <p:cTn id="13" dur="500" fill="hold"/>
                                        <p:tgtEl>
                                          <p:spTgt spid="575613"/>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75623"/>
                                        </p:tgtEl>
                                        <p:attrNameLst>
                                          <p:attrName>style.visibility</p:attrName>
                                        </p:attrNameLst>
                                      </p:cBhvr>
                                      <p:to>
                                        <p:strVal val="visible"/>
                                      </p:to>
                                    </p:set>
                                    <p:anim calcmode="lin" valueType="num">
                                      <p:cBhvr additive="base">
                                        <p:cTn id="16" dur="500" fill="hold"/>
                                        <p:tgtEl>
                                          <p:spTgt spid="575623"/>
                                        </p:tgtEl>
                                        <p:attrNameLst>
                                          <p:attrName>ppt_x</p:attrName>
                                        </p:attrNameLst>
                                      </p:cBhvr>
                                      <p:tavLst>
                                        <p:tav tm="0">
                                          <p:val>
                                            <p:strVal val="#ppt_x"/>
                                          </p:val>
                                        </p:tav>
                                        <p:tav tm="100000">
                                          <p:val>
                                            <p:strVal val="#ppt_x"/>
                                          </p:val>
                                        </p:tav>
                                      </p:tavLst>
                                    </p:anim>
                                    <p:anim calcmode="lin" valueType="num">
                                      <p:cBhvr additive="base">
                                        <p:cTn id="17" dur="500" fill="hold"/>
                                        <p:tgtEl>
                                          <p:spTgt spid="575623"/>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75633"/>
                                        </p:tgtEl>
                                        <p:attrNameLst>
                                          <p:attrName>style.visibility</p:attrName>
                                        </p:attrNameLst>
                                      </p:cBhvr>
                                      <p:to>
                                        <p:strVal val="visible"/>
                                      </p:to>
                                    </p:set>
                                    <p:anim calcmode="lin" valueType="num">
                                      <p:cBhvr additive="base">
                                        <p:cTn id="20" dur="500" fill="hold"/>
                                        <p:tgtEl>
                                          <p:spTgt spid="575633"/>
                                        </p:tgtEl>
                                        <p:attrNameLst>
                                          <p:attrName>ppt_x</p:attrName>
                                        </p:attrNameLst>
                                      </p:cBhvr>
                                      <p:tavLst>
                                        <p:tav tm="0">
                                          <p:val>
                                            <p:strVal val="#ppt_x"/>
                                          </p:val>
                                        </p:tav>
                                        <p:tav tm="100000">
                                          <p:val>
                                            <p:strVal val="#ppt_x"/>
                                          </p:val>
                                        </p:tav>
                                      </p:tavLst>
                                    </p:anim>
                                    <p:anim calcmode="lin" valueType="num">
                                      <p:cBhvr additive="base">
                                        <p:cTn id="21" dur="500" fill="hold"/>
                                        <p:tgtEl>
                                          <p:spTgt spid="575633"/>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575645"/>
                                        </p:tgtEl>
                                        <p:attrNameLst>
                                          <p:attrName>style.visibility</p:attrName>
                                        </p:attrNameLst>
                                      </p:cBhvr>
                                      <p:to>
                                        <p:strVal val="visible"/>
                                      </p:to>
                                    </p:set>
                                    <p:anim calcmode="lin" valueType="num">
                                      <p:cBhvr additive="base">
                                        <p:cTn id="24" dur="500" fill="hold"/>
                                        <p:tgtEl>
                                          <p:spTgt spid="575645"/>
                                        </p:tgtEl>
                                        <p:attrNameLst>
                                          <p:attrName>ppt_x</p:attrName>
                                        </p:attrNameLst>
                                      </p:cBhvr>
                                      <p:tavLst>
                                        <p:tav tm="0">
                                          <p:val>
                                            <p:strVal val="#ppt_x"/>
                                          </p:val>
                                        </p:tav>
                                        <p:tav tm="100000">
                                          <p:val>
                                            <p:strVal val="#ppt_x"/>
                                          </p:val>
                                        </p:tav>
                                      </p:tavLst>
                                    </p:anim>
                                    <p:anim calcmode="lin" valueType="num">
                                      <p:cBhvr additive="base">
                                        <p:cTn id="25" dur="500" fill="hold"/>
                                        <p:tgtEl>
                                          <p:spTgt spid="575645"/>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75651"/>
                                        </p:tgtEl>
                                        <p:attrNameLst>
                                          <p:attrName>style.visibility</p:attrName>
                                        </p:attrNameLst>
                                      </p:cBhvr>
                                      <p:to>
                                        <p:strVal val="visible"/>
                                      </p:to>
                                    </p:set>
                                    <p:anim calcmode="lin" valueType="num">
                                      <p:cBhvr additive="base">
                                        <p:cTn id="28" dur="500" fill="hold"/>
                                        <p:tgtEl>
                                          <p:spTgt spid="575651"/>
                                        </p:tgtEl>
                                        <p:attrNameLst>
                                          <p:attrName>ppt_x</p:attrName>
                                        </p:attrNameLst>
                                      </p:cBhvr>
                                      <p:tavLst>
                                        <p:tav tm="0">
                                          <p:val>
                                            <p:strVal val="#ppt_x"/>
                                          </p:val>
                                        </p:tav>
                                        <p:tav tm="100000">
                                          <p:val>
                                            <p:strVal val="#ppt_x"/>
                                          </p:val>
                                        </p:tav>
                                      </p:tavLst>
                                    </p:anim>
                                    <p:anim calcmode="lin" valueType="num">
                                      <p:cBhvr additive="base">
                                        <p:cTn id="29" dur="500" fill="hold"/>
                                        <p:tgtEl>
                                          <p:spTgt spid="575651"/>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575652"/>
                                        </p:tgtEl>
                                        <p:attrNameLst>
                                          <p:attrName>style.visibility</p:attrName>
                                        </p:attrNameLst>
                                      </p:cBhvr>
                                      <p:to>
                                        <p:strVal val="visible"/>
                                      </p:to>
                                    </p:set>
                                    <p:anim calcmode="lin" valueType="num">
                                      <p:cBhvr additive="base">
                                        <p:cTn id="32" dur="500" fill="hold"/>
                                        <p:tgtEl>
                                          <p:spTgt spid="575652"/>
                                        </p:tgtEl>
                                        <p:attrNameLst>
                                          <p:attrName>ppt_x</p:attrName>
                                        </p:attrNameLst>
                                      </p:cBhvr>
                                      <p:tavLst>
                                        <p:tav tm="0">
                                          <p:val>
                                            <p:strVal val="#ppt_x"/>
                                          </p:val>
                                        </p:tav>
                                        <p:tav tm="100000">
                                          <p:val>
                                            <p:strVal val="#ppt_x"/>
                                          </p:val>
                                        </p:tav>
                                      </p:tavLst>
                                    </p:anim>
                                    <p:anim calcmode="lin" valueType="num">
                                      <p:cBhvr additive="base">
                                        <p:cTn id="33" dur="500" fill="hold"/>
                                        <p:tgtEl>
                                          <p:spTgt spid="57565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75653"/>
                                        </p:tgtEl>
                                        <p:attrNameLst>
                                          <p:attrName>style.visibility</p:attrName>
                                        </p:attrNameLst>
                                      </p:cBhvr>
                                      <p:to>
                                        <p:strVal val="visible"/>
                                      </p:to>
                                    </p:set>
                                    <p:anim calcmode="lin" valueType="num">
                                      <p:cBhvr additive="base">
                                        <p:cTn id="36" dur="500" fill="hold"/>
                                        <p:tgtEl>
                                          <p:spTgt spid="575653"/>
                                        </p:tgtEl>
                                        <p:attrNameLst>
                                          <p:attrName>ppt_x</p:attrName>
                                        </p:attrNameLst>
                                      </p:cBhvr>
                                      <p:tavLst>
                                        <p:tav tm="0">
                                          <p:val>
                                            <p:strVal val="#ppt_x"/>
                                          </p:val>
                                        </p:tav>
                                        <p:tav tm="100000">
                                          <p:val>
                                            <p:strVal val="#ppt_x"/>
                                          </p:val>
                                        </p:tav>
                                      </p:tavLst>
                                    </p:anim>
                                    <p:anim calcmode="lin" valueType="num">
                                      <p:cBhvr additive="base">
                                        <p:cTn id="37" dur="500" fill="hold"/>
                                        <p:tgtEl>
                                          <p:spTgt spid="57565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575654"/>
                                        </p:tgtEl>
                                        <p:attrNameLst>
                                          <p:attrName>style.visibility</p:attrName>
                                        </p:attrNameLst>
                                      </p:cBhvr>
                                      <p:to>
                                        <p:strVal val="visible"/>
                                      </p:to>
                                    </p:set>
                                    <p:anim calcmode="lin" valueType="num">
                                      <p:cBhvr additive="base">
                                        <p:cTn id="40" dur="500" fill="hold"/>
                                        <p:tgtEl>
                                          <p:spTgt spid="575654"/>
                                        </p:tgtEl>
                                        <p:attrNameLst>
                                          <p:attrName>ppt_x</p:attrName>
                                        </p:attrNameLst>
                                      </p:cBhvr>
                                      <p:tavLst>
                                        <p:tav tm="0">
                                          <p:val>
                                            <p:strVal val="#ppt_x"/>
                                          </p:val>
                                        </p:tav>
                                        <p:tav tm="100000">
                                          <p:val>
                                            <p:strVal val="#ppt_x"/>
                                          </p:val>
                                        </p:tav>
                                      </p:tavLst>
                                    </p:anim>
                                    <p:anim calcmode="lin" valueType="num">
                                      <p:cBhvr additive="base">
                                        <p:cTn id="41" dur="500" fill="hold"/>
                                        <p:tgtEl>
                                          <p:spTgt spid="575654"/>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575655"/>
                                        </p:tgtEl>
                                        <p:attrNameLst>
                                          <p:attrName>style.visibility</p:attrName>
                                        </p:attrNameLst>
                                      </p:cBhvr>
                                      <p:to>
                                        <p:strVal val="visible"/>
                                      </p:to>
                                    </p:set>
                                    <p:anim calcmode="lin" valueType="num">
                                      <p:cBhvr additive="base">
                                        <p:cTn id="44" dur="500" fill="hold"/>
                                        <p:tgtEl>
                                          <p:spTgt spid="575655"/>
                                        </p:tgtEl>
                                        <p:attrNameLst>
                                          <p:attrName>ppt_x</p:attrName>
                                        </p:attrNameLst>
                                      </p:cBhvr>
                                      <p:tavLst>
                                        <p:tav tm="0">
                                          <p:val>
                                            <p:strVal val="#ppt_x"/>
                                          </p:val>
                                        </p:tav>
                                        <p:tav tm="100000">
                                          <p:val>
                                            <p:strVal val="#ppt_x"/>
                                          </p:val>
                                        </p:tav>
                                      </p:tavLst>
                                    </p:anim>
                                    <p:anim calcmode="lin" valueType="num">
                                      <p:cBhvr additive="base">
                                        <p:cTn id="45" dur="500" fill="hold"/>
                                        <p:tgtEl>
                                          <p:spTgt spid="575655"/>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575656"/>
                                        </p:tgtEl>
                                        <p:attrNameLst>
                                          <p:attrName>style.visibility</p:attrName>
                                        </p:attrNameLst>
                                      </p:cBhvr>
                                      <p:to>
                                        <p:strVal val="visible"/>
                                      </p:to>
                                    </p:set>
                                    <p:anim calcmode="lin" valueType="num">
                                      <p:cBhvr additive="base">
                                        <p:cTn id="48" dur="500" fill="hold"/>
                                        <p:tgtEl>
                                          <p:spTgt spid="575656"/>
                                        </p:tgtEl>
                                        <p:attrNameLst>
                                          <p:attrName>ppt_x</p:attrName>
                                        </p:attrNameLst>
                                      </p:cBhvr>
                                      <p:tavLst>
                                        <p:tav tm="0">
                                          <p:val>
                                            <p:strVal val="#ppt_x"/>
                                          </p:val>
                                        </p:tav>
                                        <p:tav tm="100000">
                                          <p:val>
                                            <p:strVal val="#ppt_x"/>
                                          </p:val>
                                        </p:tav>
                                      </p:tavLst>
                                    </p:anim>
                                    <p:anim calcmode="lin" valueType="num">
                                      <p:cBhvr additive="base">
                                        <p:cTn id="49" dur="500" fill="hold"/>
                                        <p:tgtEl>
                                          <p:spTgt spid="575656"/>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575657"/>
                                        </p:tgtEl>
                                        <p:attrNameLst>
                                          <p:attrName>style.visibility</p:attrName>
                                        </p:attrNameLst>
                                      </p:cBhvr>
                                      <p:to>
                                        <p:strVal val="visible"/>
                                      </p:to>
                                    </p:set>
                                    <p:anim calcmode="lin" valueType="num">
                                      <p:cBhvr additive="base">
                                        <p:cTn id="52" dur="500" fill="hold"/>
                                        <p:tgtEl>
                                          <p:spTgt spid="575657"/>
                                        </p:tgtEl>
                                        <p:attrNameLst>
                                          <p:attrName>ppt_x</p:attrName>
                                        </p:attrNameLst>
                                      </p:cBhvr>
                                      <p:tavLst>
                                        <p:tav tm="0">
                                          <p:val>
                                            <p:strVal val="#ppt_x"/>
                                          </p:val>
                                        </p:tav>
                                        <p:tav tm="100000">
                                          <p:val>
                                            <p:strVal val="#ppt_x"/>
                                          </p:val>
                                        </p:tav>
                                      </p:tavLst>
                                    </p:anim>
                                    <p:anim calcmode="lin" valueType="num">
                                      <p:cBhvr additive="base">
                                        <p:cTn id="53" dur="500" fill="hold"/>
                                        <p:tgtEl>
                                          <p:spTgt spid="575657"/>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575658"/>
                                        </p:tgtEl>
                                        <p:attrNameLst>
                                          <p:attrName>style.visibility</p:attrName>
                                        </p:attrNameLst>
                                      </p:cBhvr>
                                      <p:to>
                                        <p:strVal val="visible"/>
                                      </p:to>
                                    </p:set>
                                    <p:anim calcmode="lin" valueType="num">
                                      <p:cBhvr additive="base">
                                        <p:cTn id="56" dur="500" fill="hold"/>
                                        <p:tgtEl>
                                          <p:spTgt spid="575658"/>
                                        </p:tgtEl>
                                        <p:attrNameLst>
                                          <p:attrName>ppt_x</p:attrName>
                                        </p:attrNameLst>
                                      </p:cBhvr>
                                      <p:tavLst>
                                        <p:tav tm="0">
                                          <p:val>
                                            <p:strVal val="#ppt_x"/>
                                          </p:val>
                                        </p:tav>
                                        <p:tav tm="100000">
                                          <p:val>
                                            <p:strVal val="#ppt_x"/>
                                          </p:val>
                                        </p:tav>
                                      </p:tavLst>
                                    </p:anim>
                                    <p:anim calcmode="lin" valueType="num">
                                      <p:cBhvr additive="base">
                                        <p:cTn id="57" dur="500" fill="hold"/>
                                        <p:tgtEl>
                                          <p:spTgt spid="575658"/>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575659"/>
                                        </p:tgtEl>
                                        <p:attrNameLst>
                                          <p:attrName>style.visibility</p:attrName>
                                        </p:attrNameLst>
                                      </p:cBhvr>
                                      <p:to>
                                        <p:strVal val="visible"/>
                                      </p:to>
                                    </p:set>
                                    <p:anim calcmode="lin" valueType="num">
                                      <p:cBhvr additive="base">
                                        <p:cTn id="60" dur="500" fill="hold"/>
                                        <p:tgtEl>
                                          <p:spTgt spid="575659"/>
                                        </p:tgtEl>
                                        <p:attrNameLst>
                                          <p:attrName>ppt_x</p:attrName>
                                        </p:attrNameLst>
                                      </p:cBhvr>
                                      <p:tavLst>
                                        <p:tav tm="0">
                                          <p:val>
                                            <p:strVal val="#ppt_x"/>
                                          </p:val>
                                        </p:tav>
                                        <p:tav tm="100000">
                                          <p:val>
                                            <p:strVal val="#ppt_x"/>
                                          </p:val>
                                        </p:tav>
                                      </p:tavLst>
                                    </p:anim>
                                    <p:anim calcmode="lin" valueType="num">
                                      <p:cBhvr additive="base">
                                        <p:cTn id="61" dur="500" fill="hold"/>
                                        <p:tgtEl>
                                          <p:spTgt spid="575659"/>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575669"/>
                                        </p:tgtEl>
                                        <p:attrNameLst>
                                          <p:attrName>style.visibility</p:attrName>
                                        </p:attrNameLst>
                                      </p:cBhvr>
                                      <p:to>
                                        <p:strVal val="visible"/>
                                      </p:to>
                                    </p:set>
                                    <p:anim calcmode="lin" valueType="num">
                                      <p:cBhvr additive="base">
                                        <p:cTn id="64" dur="500" fill="hold"/>
                                        <p:tgtEl>
                                          <p:spTgt spid="575669"/>
                                        </p:tgtEl>
                                        <p:attrNameLst>
                                          <p:attrName>ppt_x</p:attrName>
                                        </p:attrNameLst>
                                      </p:cBhvr>
                                      <p:tavLst>
                                        <p:tav tm="0">
                                          <p:val>
                                            <p:strVal val="#ppt_x"/>
                                          </p:val>
                                        </p:tav>
                                        <p:tav tm="100000">
                                          <p:val>
                                            <p:strVal val="#ppt_x"/>
                                          </p:val>
                                        </p:tav>
                                      </p:tavLst>
                                    </p:anim>
                                    <p:anim calcmode="lin" valueType="num">
                                      <p:cBhvr additive="base">
                                        <p:cTn id="65" dur="500" fill="hold"/>
                                        <p:tgtEl>
                                          <p:spTgt spid="575669"/>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575670"/>
                                        </p:tgtEl>
                                        <p:attrNameLst>
                                          <p:attrName>style.visibility</p:attrName>
                                        </p:attrNameLst>
                                      </p:cBhvr>
                                      <p:to>
                                        <p:strVal val="visible"/>
                                      </p:to>
                                    </p:set>
                                    <p:anim calcmode="lin" valueType="num">
                                      <p:cBhvr additive="base">
                                        <p:cTn id="68" dur="500" fill="hold"/>
                                        <p:tgtEl>
                                          <p:spTgt spid="575670"/>
                                        </p:tgtEl>
                                        <p:attrNameLst>
                                          <p:attrName>ppt_x</p:attrName>
                                        </p:attrNameLst>
                                      </p:cBhvr>
                                      <p:tavLst>
                                        <p:tav tm="0">
                                          <p:val>
                                            <p:strVal val="#ppt_x"/>
                                          </p:val>
                                        </p:tav>
                                        <p:tav tm="100000">
                                          <p:val>
                                            <p:strVal val="#ppt_x"/>
                                          </p:val>
                                        </p:tav>
                                      </p:tavLst>
                                    </p:anim>
                                    <p:anim calcmode="lin" valueType="num">
                                      <p:cBhvr additive="base">
                                        <p:cTn id="69" dur="500" fill="hold"/>
                                        <p:tgtEl>
                                          <p:spTgt spid="575670"/>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575671"/>
                                        </p:tgtEl>
                                        <p:attrNameLst>
                                          <p:attrName>style.visibility</p:attrName>
                                        </p:attrNameLst>
                                      </p:cBhvr>
                                      <p:to>
                                        <p:strVal val="visible"/>
                                      </p:to>
                                    </p:set>
                                    <p:anim calcmode="lin" valueType="num">
                                      <p:cBhvr additive="base">
                                        <p:cTn id="72" dur="500" fill="hold"/>
                                        <p:tgtEl>
                                          <p:spTgt spid="575671"/>
                                        </p:tgtEl>
                                        <p:attrNameLst>
                                          <p:attrName>ppt_x</p:attrName>
                                        </p:attrNameLst>
                                      </p:cBhvr>
                                      <p:tavLst>
                                        <p:tav tm="0">
                                          <p:val>
                                            <p:strVal val="#ppt_x"/>
                                          </p:val>
                                        </p:tav>
                                        <p:tav tm="100000">
                                          <p:val>
                                            <p:strVal val="#ppt_x"/>
                                          </p:val>
                                        </p:tav>
                                      </p:tavLst>
                                    </p:anim>
                                    <p:anim calcmode="lin" valueType="num">
                                      <p:cBhvr additive="base">
                                        <p:cTn id="73" dur="500" fill="hold"/>
                                        <p:tgtEl>
                                          <p:spTgt spid="575671"/>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575672"/>
                                        </p:tgtEl>
                                        <p:attrNameLst>
                                          <p:attrName>style.visibility</p:attrName>
                                        </p:attrNameLst>
                                      </p:cBhvr>
                                      <p:to>
                                        <p:strVal val="visible"/>
                                      </p:to>
                                    </p:set>
                                    <p:anim calcmode="lin" valueType="num">
                                      <p:cBhvr additive="base">
                                        <p:cTn id="76" dur="500" fill="hold"/>
                                        <p:tgtEl>
                                          <p:spTgt spid="575672"/>
                                        </p:tgtEl>
                                        <p:attrNameLst>
                                          <p:attrName>ppt_x</p:attrName>
                                        </p:attrNameLst>
                                      </p:cBhvr>
                                      <p:tavLst>
                                        <p:tav tm="0">
                                          <p:val>
                                            <p:strVal val="#ppt_x"/>
                                          </p:val>
                                        </p:tav>
                                        <p:tav tm="100000">
                                          <p:val>
                                            <p:strVal val="#ppt_x"/>
                                          </p:val>
                                        </p:tav>
                                      </p:tavLst>
                                    </p:anim>
                                    <p:anim calcmode="lin" valueType="num">
                                      <p:cBhvr additive="base">
                                        <p:cTn id="77" dur="500" fill="hold"/>
                                        <p:tgtEl>
                                          <p:spTgt spid="5756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653" grpId="0" bldLvl="0" animBg="1"/>
      <p:bldP spid="575654" grpId="0" bldLvl="0" animBg="1"/>
      <p:bldP spid="575655" grpId="0"/>
      <p:bldP spid="575656" grpId="0"/>
      <p:bldP spid="575657" grpId="0"/>
      <p:bldP spid="575658" grpId="0"/>
      <p:bldP spid="575669"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54" name="Rectangle 42"/>
          <p:cNvSpPr/>
          <p:nvPr/>
        </p:nvSpPr>
        <p:spPr>
          <a:xfrm>
            <a:off x="241300" y="1049338"/>
            <a:ext cx="2103438" cy="89535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0000</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再插入 </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0101</a:t>
            </a:r>
          </a:p>
        </p:txBody>
      </p:sp>
      <p:graphicFrame>
        <p:nvGraphicFramePr>
          <p:cNvPr id="576615" name="Group 103"/>
          <p:cNvGraphicFramePr>
            <a:graphicFrameLocks noGrp="1"/>
          </p:cNvGraphicFramePr>
          <p:nvPr/>
        </p:nvGraphicFramePr>
        <p:xfrm>
          <a:off x="6480175" y="9318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576625" name="Group 113"/>
          <p:cNvGraphicFramePr>
            <a:graphicFrameLocks noGrp="1"/>
          </p:cNvGraphicFramePr>
          <p:nvPr/>
        </p:nvGraphicFramePr>
        <p:xfrm>
          <a:off x="6480175" y="22272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76635" name="Group 123"/>
          <p:cNvGraphicFramePr>
            <a:graphicFrameLocks noGrp="1"/>
          </p:cNvGraphicFramePr>
          <p:nvPr/>
        </p:nvGraphicFramePr>
        <p:xfrm>
          <a:off x="4498975" y="1846263"/>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76647" name="Group 135"/>
          <p:cNvGraphicFramePr>
            <a:graphicFrameLocks noGrp="1"/>
          </p:cNvGraphicFramePr>
          <p:nvPr/>
        </p:nvGraphicFramePr>
        <p:xfrm>
          <a:off x="4498975" y="931863"/>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0389" name="Line 141"/>
          <p:cNvSpPr/>
          <p:nvPr/>
        </p:nvSpPr>
        <p:spPr>
          <a:xfrm flipV="1">
            <a:off x="4956175" y="1084263"/>
            <a:ext cx="1524000" cy="990600"/>
          </a:xfrm>
          <a:prstGeom prst="line">
            <a:avLst/>
          </a:prstGeom>
          <a:ln w="9525" cap="flat" cmpd="sng">
            <a:solidFill>
              <a:schemeClr val="tx1"/>
            </a:solidFill>
            <a:prstDash val="solid"/>
            <a:headEnd type="none" w="med" len="med"/>
            <a:tailEnd type="triangle" w="med" len="med"/>
          </a:ln>
        </p:spPr>
      </p:sp>
      <p:sp>
        <p:nvSpPr>
          <p:cNvPr id="100390" name="Line 142"/>
          <p:cNvSpPr/>
          <p:nvPr/>
        </p:nvSpPr>
        <p:spPr>
          <a:xfrm>
            <a:off x="4956175" y="2836863"/>
            <a:ext cx="1524000" cy="0"/>
          </a:xfrm>
          <a:prstGeom prst="line">
            <a:avLst/>
          </a:prstGeom>
          <a:ln w="9525" cap="flat" cmpd="sng">
            <a:solidFill>
              <a:schemeClr val="tx1"/>
            </a:solidFill>
            <a:prstDash val="solid"/>
            <a:headEnd type="none" w="med" len="med"/>
            <a:tailEnd type="triangle" w="med" len="med"/>
          </a:ln>
        </p:spPr>
      </p:sp>
      <p:sp>
        <p:nvSpPr>
          <p:cNvPr id="100391" name="Rectangle 143"/>
          <p:cNvSpPr>
            <a:spLocks noChangeAspect="1"/>
          </p:cNvSpPr>
          <p:nvPr/>
        </p:nvSpPr>
        <p:spPr>
          <a:xfrm>
            <a:off x="8537575" y="9318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100392" name="Rectangle 144"/>
          <p:cNvSpPr>
            <a:spLocks noChangeAspect="1"/>
          </p:cNvSpPr>
          <p:nvPr/>
        </p:nvSpPr>
        <p:spPr>
          <a:xfrm>
            <a:off x="8537575" y="22272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100393" name="Text Box 145"/>
          <p:cNvSpPr txBox="1"/>
          <p:nvPr/>
        </p:nvSpPr>
        <p:spPr>
          <a:xfrm>
            <a:off x="3949700" y="17351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a:t>
            </a:r>
          </a:p>
        </p:txBody>
      </p:sp>
      <p:sp>
        <p:nvSpPr>
          <p:cNvPr id="100394" name="Text Box 146"/>
          <p:cNvSpPr txBox="1"/>
          <p:nvPr/>
        </p:nvSpPr>
        <p:spPr>
          <a:xfrm>
            <a:off x="3949700" y="21161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a:t>
            </a:r>
          </a:p>
        </p:txBody>
      </p:sp>
      <p:sp>
        <p:nvSpPr>
          <p:cNvPr id="100395" name="Text Box 147"/>
          <p:cNvSpPr txBox="1"/>
          <p:nvPr/>
        </p:nvSpPr>
        <p:spPr>
          <a:xfrm>
            <a:off x="3949700" y="24971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100396" name="Text Box 148"/>
          <p:cNvSpPr txBox="1"/>
          <p:nvPr/>
        </p:nvSpPr>
        <p:spPr>
          <a:xfrm>
            <a:off x="3949700" y="2878138"/>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graphicFrame>
        <p:nvGraphicFramePr>
          <p:cNvPr id="576661" name="Group 149"/>
          <p:cNvGraphicFramePr>
            <a:graphicFrameLocks noGrp="1"/>
          </p:cNvGraphicFramePr>
          <p:nvPr/>
        </p:nvGraphicFramePr>
        <p:xfrm>
          <a:off x="6480175" y="32940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0405" name="Rectangle 159"/>
          <p:cNvSpPr>
            <a:spLocks noChangeAspect="1"/>
          </p:cNvSpPr>
          <p:nvPr/>
        </p:nvSpPr>
        <p:spPr>
          <a:xfrm>
            <a:off x="8537575" y="32940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100406" name="Line 160"/>
          <p:cNvSpPr/>
          <p:nvPr/>
        </p:nvSpPr>
        <p:spPr>
          <a:xfrm>
            <a:off x="4956175" y="3141663"/>
            <a:ext cx="1524000" cy="152400"/>
          </a:xfrm>
          <a:prstGeom prst="line">
            <a:avLst/>
          </a:prstGeom>
          <a:ln w="9525" cap="flat" cmpd="sng">
            <a:solidFill>
              <a:schemeClr val="tx1"/>
            </a:solidFill>
            <a:prstDash val="solid"/>
            <a:headEnd type="none" w="med" len="med"/>
            <a:tailEnd type="triangle" w="med" len="med"/>
          </a:ln>
        </p:spPr>
      </p:sp>
      <p:sp>
        <p:nvSpPr>
          <p:cNvPr id="100407" name="Line 161"/>
          <p:cNvSpPr/>
          <p:nvPr/>
        </p:nvSpPr>
        <p:spPr>
          <a:xfrm flipV="1">
            <a:off x="5032375" y="1160463"/>
            <a:ext cx="1447800" cy="1295400"/>
          </a:xfrm>
          <a:prstGeom prst="line">
            <a:avLst/>
          </a:prstGeom>
          <a:ln w="9525" cap="flat" cmpd="sng">
            <a:solidFill>
              <a:schemeClr val="tx1"/>
            </a:solidFill>
            <a:prstDash val="solid"/>
            <a:headEnd type="none" w="med" len="med"/>
            <a:tailEnd type="triangle" w="med" len="med"/>
          </a:ln>
        </p:spPr>
      </p:sp>
      <p:graphicFrame>
        <p:nvGraphicFramePr>
          <p:cNvPr id="576674" name="Group 162"/>
          <p:cNvGraphicFramePr>
            <a:graphicFrameLocks noGrp="1"/>
          </p:cNvGraphicFramePr>
          <p:nvPr/>
        </p:nvGraphicFramePr>
        <p:xfrm>
          <a:off x="2727325" y="354171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576684" name="Group 172"/>
          <p:cNvGraphicFramePr>
            <a:graphicFrameLocks noGrp="1"/>
          </p:cNvGraphicFramePr>
          <p:nvPr/>
        </p:nvGraphicFramePr>
        <p:xfrm>
          <a:off x="2727325" y="521811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76694" name="Group 182"/>
          <p:cNvGraphicFramePr>
            <a:graphicFrameLocks noGrp="1"/>
          </p:cNvGraphicFramePr>
          <p:nvPr/>
        </p:nvGraphicFramePr>
        <p:xfrm>
          <a:off x="777875" y="4618038"/>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76706" name="Group 194"/>
          <p:cNvGraphicFramePr>
            <a:graphicFrameLocks noGrp="1"/>
          </p:cNvGraphicFramePr>
          <p:nvPr/>
        </p:nvGraphicFramePr>
        <p:xfrm>
          <a:off x="777875" y="3703638"/>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76712" name="Line 200"/>
          <p:cNvSpPr/>
          <p:nvPr/>
        </p:nvSpPr>
        <p:spPr>
          <a:xfrm flipV="1">
            <a:off x="1235075" y="3856038"/>
            <a:ext cx="1524000" cy="990600"/>
          </a:xfrm>
          <a:prstGeom prst="line">
            <a:avLst/>
          </a:prstGeom>
          <a:ln w="9525" cap="flat" cmpd="sng">
            <a:solidFill>
              <a:schemeClr val="tx1"/>
            </a:solidFill>
            <a:prstDash val="solid"/>
            <a:headEnd type="none" w="med" len="med"/>
            <a:tailEnd type="triangle" w="med" len="med"/>
          </a:ln>
        </p:spPr>
      </p:sp>
      <p:sp>
        <p:nvSpPr>
          <p:cNvPr id="576713" name="Line 201"/>
          <p:cNvSpPr/>
          <p:nvPr/>
        </p:nvSpPr>
        <p:spPr>
          <a:xfrm>
            <a:off x="1235075" y="5608638"/>
            <a:ext cx="1524000" cy="0"/>
          </a:xfrm>
          <a:prstGeom prst="line">
            <a:avLst/>
          </a:prstGeom>
          <a:ln w="9525" cap="flat" cmpd="sng">
            <a:solidFill>
              <a:schemeClr val="tx1"/>
            </a:solidFill>
            <a:prstDash val="solid"/>
            <a:headEnd type="none" w="med" len="med"/>
            <a:tailEnd type="triangle" w="med" len="med"/>
          </a:ln>
        </p:spPr>
      </p:sp>
      <p:sp>
        <p:nvSpPr>
          <p:cNvPr id="576714" name="Rectangle 202"/>
          <p:cNvSpPr>
            <a:spLocks noChangeAspect="1"/>
          </p:cNvSpPr>
          <p:nvPr/>
        </p:nvSpPr>
        <p:spPr>
          <a:xfrm>
            <a:off x="4784725" y="354171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6715" name="Rectangle 203"/>
          <p:cNvSpPr>
            <a:spLocks noChangeAspect="1"/>
          </p:cNvSpPr>
          <p:nvPr/>
        </p:nvSpPr>
        <p:spPr>
          <a:xfrm>
            <a:off x="4784725" y="521811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6716" name="Text Box 204"/>
          <p:cNvSpPr txBox="1"/>
          <p:nvPr/>
        </p:nvSpPr>
        <p:spPr>
          <a:xfrm>
            <a:off x="228600" y="45069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a:t>
            </a:r>
          </a:p>
        </p:txBody>
      </p:sp>
      <p:sp>
        <p:nvSpPr>
          <p:cNvPr id="576717" name="Text Box 205"/>
          <p:cNvSpPr txBox="1"/>
          <p:nvPr/>
        </p:nvSpPr>
        <p:spPr>
          <a:xfrm>
            <a:off x="228600" y="48879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a:t>
            </a:r>
          </a:p>
        </p:txBody>
      </p:sp>
      <p:sp>
        <p:nvSpPr>
          <p:cNvPr id="576718" name="Text Box 206"/>
          <p:cNvSpPr txBox="1"/>
          <p:nvPr/>
        </p:nvSpPr>
        <p:spPr>
          <a:xfrm>
            <a:off x="228600" y="52689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576719" name="Text Box 207"/>
          <p:cNvSpPr txBox="1"/>
          <p:nvPr/>
        </p:nvSpPr>
        <p:spPr>
          <a:xfrm>
            <a:off x="228600" y="5649913"/>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graphicFrame>
        <p:nvGraphicFramePr>
          <p:cNvPr id="576720" name="Group 208"/>
          <p:cNvGraphicFramePr>
            <a:graphicFrameLocks noGrp="1"/>
          </p:cNvGraphicFramePr>
          <p:nvPr/>
        </p:nvGraphicFramePr>
        <p:xfrm>
          <a:off x="2759075" y="60658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6730" name="Rectangle 218"/>
          <p:cNvSpPr>
            <a:spLocks noChangeAspect="1"/>
          </p:cNvSpPr>
          <p:nvPr/>
        </p:nvSpPr>
        <p:spPr>
          <a:xfrm>
            <a:off x="4816475" y="60658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76731" name="Line 219"/>
          <p:cNvSpPr/>
          <p:nvPr/>
        </p:nvSpPr>
        <p:spPr>
          <a:xfrm>
            <a:off x="1235075" y="5913438"/>
            <a:ext cx="1524000" cy="152400"/>
          </a:xfrm>
          <a:prstGeom prst="line">
            <a:avLst/>
          </a:prstGeom>
          <a:ln w="9525" cap="flat" cmpd="sng">
            <a:solidFill>
              <a:schemeClr val="tx1"/>
            </a:solidFill>
            <a:prstDash val="solid"/>
            <a:headEnd type="none" w="med" len="med"/>
            <a:tailEnd type="triangle" w="med" len="med"/>
          </a:ln>
        </p:spPr>
      </p:sp>
      <p:sp>
        <p:nvSpPr>
          <p:cNvPr id="576732" name="Line 220"/>
          <p:cNvSpPr/>
          <p:nvPr/>
        </p:nvSpPr>
        <p:spPr>
          <a:xfrm flipV="1">
            <a:off x="1311275" y="4389438"/>
            <a:ext cx="1447800" cy="838200"/>
          </a:xfrm>
          <a:prstGeom prst="line">
            <a:avLst/>
          </a:prstGeom>
          <a:ln w="9525" cap="flat" cmpd="sng">
            <a:solidFill>
              <a:schemeClr val="tx1"/>
            </a:solidFill>
            <a:prstDash val="solid"/>
            <a:headEnd type="none" w="med" len="med"/>
            <a:tailEnd type="triangle" w="med" len="med"/>
          </a:ln>
        </p:spPr>
      </p:sp>
      <p:graphicFrame>
        <p:nvGraphicFramePr>
          <p:cNvPr id="576733" name="Group 221"/>
          <p:cNvGraphicFramePr>
            <a:graphicFrameLocks noGrp="1"/>
          </p:cNvGraphicFramePr>
          <p:nvPr/>
        </p:nvGraphicFramePr>
        <p:xfrm>
          <a:off x="2727325" y="437991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6743" name="Rectangle 231"/>
          <p:cNvSpPr>
            <a:spLocks noChangeAspect="1"/>
          </p:cNvSpPr>
          <p:nvPr/>
        </p:nvSpPr>
        <p:spPr>
          <a:xfrm>
            <a:off x="4784725" y="437991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grpSp>
        <p:nvGrpSpPr>
          <p:cNvPr id="100470" name="Group 233"/>
          <p:cNvGrpSpPr/>
          <p:nvPr/>
        </p:nvGrpSpPr>
        <p:grpSpPr>
          <a:xfrm>
            <a:off x="5456238" y="4249738"/>
            <a:ext cx="3435350" cy="2508250"/>
            <a:chOff x="1265" y="3268"/>
            <a:chExt cx="1153" cy="629"/>
          </a:xfrm>
        </p:grpSpPr>
        <p:sp>
          <p:nvSpPr>
            <p:cNvPr id="100476"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0477"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0478" name="Text Box 84"/>
            <p:cNvSpPr/>
            <p:nvPr/>
          </p:nvSpPr>
          <p:spPr>
            <a:xfrm>
              <a:off x="1285" y="3303"/>
              <a:ext cx="1119" cy="558"/>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取前</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位，确定索引块。</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如未满，则存入。</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如已满，则需要扩展哈希桶，进行分裂：</a:t>
              </a:r>
            </a:p>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暂时</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可能无需增加</a:t>
              </a:r>
            </a:p>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重新哈希该块的数据到两个块中。其他不变</a:t>
              </a:r>
            </a:p>
          </p:txBody>
        </p:sp>
      </p:grpSp>
      <p:sp>
        <p:nvSpPr>
          <p:cNvPr id="576751" name="Rectangle 239"/>
          <p:cNvSpPr/>
          <p:nvPr/>
        </p:nvSpPr>
        <p:spPr>
          <a:xfrm>
            <a:off x="6451600" y="1282700"/>
            <a:ext cx="917575"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0(000)</a:t>
            </a:r>
          </a:p>
        </p:txBody>
      </p:sp>
      <p:grpSp>
        <p:nvGrpSpPr>
          <p:cNvPr id="3" name="Group 241"/>
          <p:cNvGrpSpPr/>
          <p:nvPr/>
        </p:nvGrpSpPr>
        <p:grpSpPr>
          <a:xfrm>
            <a:off x="7515225" y="1289050"/>
            <a:ext cx="917575" cy="396875"/>
            <a:chOff x="1351" y="1571"/>
            <a:chExt cx="578" cy="250"/>
          </a:xfrm>
        </p:grpSpPr>
        <p:sp>
          <p:nvSpPr>
            <p:cNvPr id="100474" name="Rectangle 238"/>
            <p:cNvSpPr/>
            <p:nvPr/>
          </p:nvSpPr>
          <p:spPr>
            <a:xfrm>
              <a:off x="1351" y="1571"/>
              <a:ext cx="578"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0(101)</a:t>
              </a:r>
            </a:p>
          </p:txBody>
        </p:sp>
        <p:sp>
          <p:nvSpPr>
            <p:cNvPr id="100475" name="Line 240"/>
            <p:cNvSpPr/>
            <p:nvPr/>
          </p:nvSpPr>
          <p:spPr>
            <a:xfrm>
              <a:off x="1353" y="1700"/>
              <a:ext cx="576" cy="0"/>
            </a:xfrm>
            <a:prstGeom prst="line">
              <a:avLst/>
            </a:prstGeom>
            <a:ln w="9525" cap="flat" cmpd="sng">
              <a:solidFill>
                <a:schemeClr val="tx1"/>
              </a:solidFill>
              <a:prstDash val="solid"/>
              <a:headEnd type="none" w="med" len="med"/>
              <a:tailEnd type="none" w="med" len="med"/>
            </a:ln>
          </p:spPr>
        </p:sp>
      </p:grpSp>
      <p:sp>
        <p:nvSpPr>
          <p:cNvPr id="100473" name="Text Box 16"/>
          <p:cNvSpPr txBox="1"/>
          <p:nvPr/>
        </p:nvSpPr>
        <p:spPr>
          <a:xfrm>
            <a:off x="163513" y="0"/>
            <a:ext cx="5878512" cy="83026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76751"/>
                                        </p:tgtEl>
                                        <p:attrNameLst>
                                          <p:attrName>style.visibility</p:attrName>
                                        </p:attrNameLst>
                                      </p:cBhvr>
                                      <p:to>
                                        <p:strVal val="visible"/>
                                      </p:to>
                                    </p:set>
                                    <p:animEffect transition="in" filter="box(in)">
                                      <p:cBhvr>
                                        <p:cTn id="7" dur="500"/>
                                        <p:tgtEl>
                                          <p:spTgt spid="57675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76554">
                                            <p:txEl>
                                              <p:pRg st="1" end="1"/>
                                            </p:txEl>
                                          </p:spTgt>
                                        </p:tgtEl>
                                        <p:attrNameLst>
                                          <p:attrName>style.visibility</p:attrName>
                                        </p:attrNameLst>
                                      </p:cBhvr>
                                      <p:to>
                                        <p:strVal val="visible"/>
                                      </p:to>
                                    </p:set>
                                    <p:anim calcmode="lin" valueType="num">
                                      <p:cBhvr additive="base">
                                        <p:cTn id="12" dur="500" fill="hold"/>
                                        <p:tgtEl>
                                          <p:spTgt spid="576554">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765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ox(in)">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76674"/>
                                        </p:tgtEl>
                                        <p:attrNameLst>
                                          <p:attrName>style.visibility</p:attrName>
                                        </p:attrNameLst>
                                      </p:cBhvr>
                                      <p:to>
                                        <p:strVal val="visible"/>
                                      </p:to>
                                    </p:set>
                                    <p:anim calcmode="lin" valueType="num">
                                      <p:cBhvr additive="base">
                                        <p:cTn id="23" dur="500" fill="hold"/>
                                        <p:tgtEl>
                                          <p:spTgt spid="576674"/>
                                        </p:tgtEl>
                                        <p:attrNameLst>
                                          <p:attrName>ppt_x</p:attrName>
                                        </p:attrNameLst>
                                      </p:cBhvr>
                                      <p:tavLst>
                                        <p:tav tm="0">
                                          <p:val>
                                            <p:strVal val="#ppt_x"/>
                                          </p:val>
                                        </p:tav>
                                        <p:tav tm="100000">
                                          <p:val>
                                            <p:strVal val="#ppt_x"/>
                                          </p:val>
                                        </p:tav>
                                      </p:tavLst>
                                    </p:anim>
                                    <p:anim calcmode="lin" valueType="num">
                                      <p:cBhvr additive="base">
                                        <p:cTn id="24" dur="500" fill="hold"/>
                                        <p:tgtEl>
                                          <p:spTgt spid="57667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76684"/>
                                        </p:tgtEl>
                                        <p:attrNameLst>
                                          <p:attrName>style.visibility</p:attrName>
                                        </p:attrNameLst>
                                      </p:cBhvr>
                                      <p:to>
                                        <p:strVal val="visible"/>
                                      </p:to>
                                    </p:set>
                                    <p:anim calcmode="lin" valueType="num">
                                      <p:cBhvr additive="base">
                                        <p:cTn id="27" dur="500" fill="hold"/>
                                        <p:tgtEl>
                                          <p:spTgt spid="576684"/>
                                        </p:tgtEl>
                                        <p:attrNameLst>
                                          <p:attrName>ppt_x</p:attrName>
                                        </p:attrNameLst>
                                      </p:cBhvr>
                                      <p:tavLst>
                                        <p:tav tm="0">
                                          <p:val>
                                            <p:strVal val="#ppt_x"/>
                                          </p:val>
                                        </p:tav>
                                        <p:tav tm="100000">
                                          <p:val>
                                            <p:strVal val="#ppt_x"/>
                                          </p:val>
                                        </p:tav>
                                      </p:tavLst>
                                    </p:anim>
                                    <p:anim calcmode="lin" valueType="num">
                                      <p:cBhvr additive="base">
                                        <p:cTn id="28" dur="500" fill="hold"/>
                                        <p:tgtEl>
                                          <p:spTgt spid="57668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76694"/>
                                        </p:tgtEl>
                                        <p:attrNameLst>
                                          <p:attrName>style.visibility</p:attrName>
                                        </p:attrNameLst>
                                      </p:cBhvr>
                                      <p:to>
                                        <p:strVal val="visible"/>
                                      </p:to>
                                    </p:set>
                                    <p:anim calcmode="lin" valueType="num">
                                      <p:cBhvr additive="base">
                                        <p:cTn id="31" dur="500" fill="hold"/>
                                        <p:tgtEl>
                                          <p:spTgt spid="576694"/>
                                        </p:tgtEl>
                                        <p:attrNameLst>
                                          <p:attrName>ppt_x</p:attrName>
                                        </p:attrNameLst>
                                      </p:cBhvr>
                                      <p:tavLst>
                                        <p:tav tm="0">
                                          <p:val>
                                            <p:strVal val="#ppt_x"/>
                                          </p:val>
                                        </p:tav>
                                        <p:tav tm="100000">
                                          <p:val>
                                            <p:strVal val="#ppt_x"/>
                                          </p:val>
                                        </p:tav>
                                      </p:tavLst>
                                    </p:anim>
                                    <p:anim calcmode="lin" valueType="num">
                                      <p:cBhvr additive="base">
                                        <p:cTn id="32" dur="500" fill="hold"/>
                                        <p:tgtEl>
                                          <p:spTgt spid="57669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76706"/>
                                        </p:tgtEl>
                                        <p:attrNameLst>
                                          <p:attrName>style.visibility</p:attrName>
                                        </p:attrNameLst>
                                      </p:cBhvr>
                                      <p:to>
                                        <p:strVal val="visible"/>
                                      </p:to>
                                    </p:set>
                                    <p:anim calcmode="lin" valueType="num">
                                      <p:cBhvr additive="base">
                                        <p:cTn id="35" dur="500" fill="hold"/>
                                        <p:tgtEl>
                                          <p:spTgt spid="576706"/>
                                        </p:tgtEl>
                                        <p:attrNameLst>
                                          <p:attrName>ppt_x</p:attrName>
                                        </p:attrNameLst>
                                      </p:cBhvr>
                                      <p:tavLst>
                                        <p:tav tm="0">
                                          <p:val>
                                            <p:strVal val="#ppt_x"/>
                                          </p:val>
                                        </p:tav>
                                        <p:tav tm="100000">
                                          <p:val>
                                            <p:strVal val="#ppt_x"/>
                                          </p:val>
                                        </p:tav>
                                      </p:tavLst>
                                    </p:anim>
                                    <p:anim calcmode="lin" valueType="num">
                                      <p:cBhvr additive="base">
                                        <p:cTn id="36" dur="500" fill="hold"/>
                                        <p:tgtEl>
                                          <p:spTgt spid="576706"/>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76712"/>
                                        </p:tgtEl>
                                        <p:attrNameLst>
                                          <p:attrName>style.visibility</p:attrName>
                                        </p:attrNameLst>
                                      </p:cBhvr>
                                      <p:to>
                                        <p:strVal val="visible"/>
                                      </p:to>
                                    </p:set>
                                    <p:anim calcmode="lin" valueType="num">
                                      <p:cBhvr additive="base">
                                        <p:cTn id="39" dur="500" fill="hold"/>
                                        <p:tgtEl>
                                          <p:spTgt spid="576712"/>
                                        </p:tgtEl>
                                        <p:attrNameLst>
                                          <p:attrName>ppt_x</p:attrName>
                                        </p:attrNameLst>
                                      </p:cBhvr>
                                      <p:tavLst>
                                        <p:tav tm="0">
                                          <p:val>
                                            <p:strVal val="#ppt_x"/>
                                          </p:val>
                                        </p:tav>
                                        <p:tav tm="100000">
                                          <p:val>
                                            <p:strVal val="#ppt_x"/>
                                          </p:val>
                                        </p:tav>
                                      </p:tavLst>
                                    </p:anim>
                                    <p:anim calcmode="lin" valueType="num">
                                      <p:cBhvr additive="base">
                                        <p:cTn id="40" dur="500" fill="hold"/>
                                        <p:tgtEl>
                                          <p:spTgt spid="57671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76713"/>
                                        </p:tgtEl>
                                        <p:attrNameLst>
                                          <p:attrName>style.visibility</p:attrName>
                                        </p:attrNameLst>
                                      </p:cBhvr>
                                      <p:to>
                                        <p:strVal val="visible"/>
                                      </p:to>
                                    </p:set>
                                    <p:anim calcmode="lin" valueType="num">
                                      <p:cBhvr additive="base">
                                        <p:cTn id="43" dur="500" fill="hold"/>
                                        <p:tgtEl>
                                          <p:spTgt spid="576713"/>
                                        </p:tgtEl>
                                        <p:attrNameLst>
                                          <p:attrName>ppt_x</p:attrName>
                                        </p:attrNameLst>
                                      </p:cBhvr>
                                      <p:tavLst>
                                        <p:tav tm="0">
                                          <p:val>
                                            <p:strVal val="#ppt_x"/>
                                          </p:val>
                                        </p:tav>
                                        <p:tav tm="100000">
                                          <p:val>
                                            <p:strVal val="#ppt_x"/>
                                          </p:val>
                                        </p:tav>
                                      </p:tavLst>
                                    </p:anim>
                                    <p:anim calcmode="lin" valueType="num">
                                      <p:cBhvr additive="base">
                                        <p:cTn id="44" dur="500" fill="hold"/>
                                        <p:tgtEl>
                                          <p:spTgt spid="5767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76714"/>
                                        </p:tgtEl>
                                        <p:attrNameLst>
                                          <p:attrName>style.visibility</p:attrName>
                                        </p:attrNameLst>
                                      </p:cBhvr>
                                      <p:to>
                                        <p:strVal val="visible"/>
                                      </p:to>
                                    </p:set>
                                    <p:anim calcmode="lin" valueType="num">
                                      <p:cBhvr additive="base">
                                        <p:cTn id="47" dur="500" fill="hold"/>
                                        <p:tgtEl>
                                          <p:spTgt spid="576714"/>
                                        </p:tgtEl>
                                        <p:attrNameLst>
                                          <p:attrName>ppt_x</p:attrName>
                                        </p:attrNameLst>
                                      </p:cBhvr>
                                      <p:tavLst>
                                        <p:tav tm="0">
                                          <p:val>
                                            <p:strVal val="#ppt_x"/>
                                          </p:val>
                                        </p:tav>
                                        <p:tav tm="100000">
                                          <p:val>
                                            <p:strVal val="#ppt_x"/>
                                          </p:val>
                                        </p:tav>
                                      </p:tavLst>
                                    </p:anim>
                                    <p:anim calcmode="lin" valueType="num">
                                      <p:cBhvr additive="base">
                                        <p:cTn id="48" dur="500" fill="hold"/>
                                        <p:tgtEl>
                                          <p:spTgt spid="5767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76715"/>
                                        </p:tgtEl>
                                        <p:attrNameLst>
                                          <p:attrName>style.visibility</p:attrName>
                                        </p:attrNameLst>
                                      </p:cBhvr>
                                      <p:to>
                                        <p:strVal val="visible"/>
                                      </p:to>
                                    </p:set>
                                    <p:anim calcmode="lin" valueType="num">
                                      <p:cBhvr additive="base">
                                        <p:cTn id="51" dur="500" fill="hold"/>
                                        <p:tgtEl>
                                          <p:spTgt spid="576715"/>
                                        </p:tgtEl>
                                        <p:attrNameLst>
                                          <p:attrName>ppt_x</p:attrName>
                                        </p:attrNameLst>
                                      </p:cBhvr>
                                      <p:tavLst>
                                        <p:tav tm="0">
                                          <p:val>
                                            <p:strVal val="#ppt_x"/>
                                          </p:val>
                                        </p:tav>
                                        <p:tav tm="100000">
                                          <p:val>
                                            <p:strVal val="#ppt_x"/>
                                          </p:val>
                                        </p:tav>
                                      </p:tavLst>
                                    </p:anim>
                                    <p:anim calcmode="lin" valueType="num">
                                      <p:cBhvr additive="base">
                                        <p:cTn id="52" dur="500" fill="hold"/>
                                        <p:tgtEl>
                                          <p:spTgt spid="5767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76716"/>
                                        </p:tgtEl>
                                        <p:attrNameLst>
                                          <p:attrName>style.visibility</p:attrName>
                                        </p:attrNameLst>
                                      </p:cBhvr>
                                      <p:to>
                                        <p:strVal val="visible"/>
                                      </p:to>
                                    </p:set>
                                    <p:anim calcmode="lin" valueType="num">
                                      <p:cBhvr additive="base">
                                        <p:cTn id="55" dur="500" fill="hold"/>
                                        <p:tgtEl>
                                          <p:spTgt spid="576716"/>
                                        </p:tgtEl>
                                        <p:attrNameLst>
                                          <p:attrName>ppt_x</p:attrName>
                                        </p:attrNameLst>
                                      </p:cBhvr>
                                      <p:tavLst>
                                        <p:tav tm="0">
                                          <p:val>
                                            <p:strVal val="#ppt_x"/>
                                          </p:val>
                                        </p:tav>
                                        <p:tav tm="100000">
                                          <p:val>
                                            <p:strVal val="#ppt_x"/>
                                          </p:val>
                                        </p:tav>
                                      </p:tavLst>
                                    </p:anim>
                                    <p:anim calcmode="lin" valueType="num">
                                      <p:cBhvr additive="base">
                                        <p:cTn id="56" dur="500" fill="hold"/>
                                        <p:tgtEl>
                                          <p:spTgt spid="5767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76717"/>
                                        </p:tgtEl>
                                        <p:attrNameLst>
                                          <p:attrName>style.visibility</p:attrName>
                                        </p:attrNameLst>
                                      </p:cBhvr>
                                      <p:to>
                                        <p:strVal val="visible"/>
                                      </p:to>
                                    </p:set>
                                    <p:anim calcmode="lin" valueType="num">
                                      <p:cBhvr additive="base">
                                        <p:cTn id="59" dur="500" fill="hold"/>
                                        <p:tgtEl>
                                          <p:spTgt spid="576717"/>
                                        </p:tgtEl>
                                        <p:attrNameLst>
                                          <p:attrName>ppt_x</p:attrName>
                                        </p:attrNameLst>
                                      </p:cBhvr>
                                      <p:tavLst>
                                        <p:tav tm="0">
                                          <p:val>
                                            <p:strVal val="#ppt_x"/>
                                          </p:val>
                                        </p:tav>
                                        <p:tav tm="100000">
                                          <p:val>
                                            <p:strVal val="#ppt_x"/>
                                          </p:val>
                                        </p:tav>
                                      </p:tavLst>
                                    </p:anim>
                                    <p:anim calcmode="lin" valueType="num">
                                      <p:cBhvr additive="base">
                                        <p:cTn id="60" dur="500" fill="hold"/>
                                        <p:tgtEl>
                                          <p:spTgt spid="57671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76718"/>
                                        </p:tgtEl>
                                        <p:attrNameLst>
                                          <p:attrName>style.visibility</p:attrName>
                                        </p:attrNameLst>
                                      </p:cBhvr>
                                      <p:to>
                                        <p:strVal val="visible"/>
                                      </p:to>
                                    </p:set>
                                    <p:anim calcmode="lin" valueType="num">
                                      <p:cBhvr additive="base">
                                        <p:cTn id="63" dur="500" fill="hold"/>
                                        <p:tgtEl>
                                          <p:spTgt spid="576718"/>
                                        </p:tgtEl>
                                        <p:attrNameLst>
                                          <p:attrName>ppt_x</p:attrName>
                                        </p:attrNameLst>
                                      </p:cBhvr>
                                      <p:tavLst>
                                        <p:tav tm="0">
                                          <p:val>
                                            <p:strVal val="#ppt_x"/>
                                          </p:val>
                                        </p:tav>
                                        <p:tav tm="100000">
                                          <p:val>
                                            <p:strVal val="#ppt_x"/>
                                          </p:val>
                                        </p:tav>
                                      </p:tavLst>
                                    </p:anim>
                                    <p:anim calcmode="lin" valueType="num">
                                      <p:cBhvr additive="base">
                                        <p:cTn id="64" dur="500" fill="hold"/>
                                        <p:tgtEl>
                                          <p:spTgt spid="5767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76719"/>
                                        </p:tgtEl>
                                        <p:attrNameLst>
                                          <p:attrName>style.visibility</p:attrName>
                                        </p:attrNameLst>
                                      </p:cBhvr>
                                      <p:to>
                                        <p:strVal val="visible"/>
                                      </p:to>
                                    </p:set>
                                    <p:anim calcmode="lin" valueType="num">
                                      <p:cBhvr additive="base">
                                        <p:cTn id="67" dur="500" fill="hold"/>
                                        <p:tgtEl>
                                          <p:spTgt spid="576719"/>
                                        </p:tgtEl>
                                        <p:attrNameLst>
                                          <p:attrName>ppt_x</p:attrName>
                                        </p:attrNameLst>
                                      </p:cBhvr>
                                      <p:tavLst>
                                        <p:tav tm="0">
                                          <p:val>
                                            <p:strVal val="#ppt_x"/>
                                          </p:val>
                                        </p:tav>
                                        <p:tav tm="100000">
                                          <p:val>
                                            <p:strVal val="#ppt_x"/>
                                          </p:val>
                                        </p:tav>
                                      </p:tavLst>
                                    </p:anim>
                                    <p:anim calcmode="lin" valueType="num">
                                      <p:cBhvr additive="base">
                                        <p:cTn id="68" dur="500" fill="hold"/>
                                        <p:tgtEl>
                                          <p:spTgt spid="576719"/>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576720"/>
                                        </p:tgtEl>
                                        <p:attrNameLst>
                                          <p:attrName>style.visibility</p:attrName>
                                        </p:attrNameLst>
                                      </p:cBhvr>
                                      <p:to>
                                        <p:strVal val="visible"/>
                                      </p:to>
                                    </p:set>
                                    <p:anim calcmode="lin" valueType="num">
                                      <p:cBhvr additive="base">
                                        <p:cTn id="71" dur="500" fill="hold"/>
                                        <p:tgtEl>
                                          <p:spTgt spid="576720"/>
                                        </p:tgtEl>
                                        <p:attrNameLst>
                                          <p:attrName>ppt_x</p:attrName>
                                        </p:attrNameLst>
                                      </p:cBhvr>
                                      <p:tavLst>
                                        <p:tav tm="0">
                                          <p:val>
                                            <p:strVal val="#ppt_x"/>
                                          </p:val>
                                        </p:tav>
                                        <p:tav tm="100000">
                                          <p:val>
                                            <p:strVal val="#ppt_x"/>
                                          </p:val>
                                        </p:tav>
                                      </p:tavLst>
                                    </p:anim>
                                    <p:anim calcmode="lin" valueType="num">
                                      <p:cBhvr additive="base">
                                        <p:cTn id="72" dur="500" fill="hold"/>
                                        <p:tgtEl>
                                          <p:spTgt spid="57672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76730"/>
                                        </p:tgtEl>
                                        <p:attrNameLst>
                                          <p:attrName>style.visibility</p:attrName>
                                        </p:attrNameLst>
                                      </p:cBhvr>
                                      <p:to>
                                        <p:strVal val="visible"/>
                                      </p:to>
                                    </p:set>
                                    <p:anim calcmode="lin" valueType="num">
                                      <p:cBhvr additive="base">
                                        <p:cTn id="75" dur="500" fill="hold"/>
                                        <p:tgtEl>
                                          <p:spTgt spid="576730"/>
                                        </p:tgtEl>
                                        <p:attrNameLst>
                                          <p:attrName>ppt_x</p:attrName>
                                        </p:attrNameLst>
                                      </p:cBhvr>
                                      <p:tavLst>
                                        <p:tav tm="0">
                                          <p:val>
                                            <p:strVal val="#ppt_x"/>
                                          </p:val>
                                        </p:tav>
                                        <p:tav tm="100000">
                                          <p:val>
                                            <p:strVal val="#ppt_x"/>
                                          </p:val>
                                        </p:tav>
                                      </p:tavLst>
                                    </p:anim>
                                    <p:anim calcmode="lin" valueType="num">
                                      <p:cBhvr additive="base">
                                        <p:cTn id="76" dur="500" fill="hold"/>
                                        <p:tgtEl>
                                          <p:spTgt spid="57673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576731"/>
                                        </p:tgtEl>
                                        <p:attrNameLst>
                                          <p:attrName>style.visibility</p:attrName>
                                        </p:attrNameLst>
                                      </p:cBhvr>
                                      <p:to>
                                        <p:strVal val="visible"/>
                                      </p:to>
                                    </p:set>
                                    <p:anim calcmode="lin" valueType="num">
                                      <p:cBhvr additive="base">
                                        <p:cTn id="79" dur="500" fill="hold"/>
                                        <p:tgtEl>
                                          <p:spTgt spid="576731"/>
                                        </p:tgtEl>
                                        <p:attrNameLst>
                                          <p:attrName>ppt_x</p:attrName>
                                        </p:attrNameLst>
                                      </p:cBhvr>
                                      <p:tavLst>
                                        <p:tav tm="0">
                                          <p:val>
                                            <p:strVal val="#ppt_x"/>
                                          </p:val>
                                        </p:tav>
                                        <p:tav tm="100000">
                                          <p:val>
                                            <p:strVal val="#ppt_x"/>
                                          </p:val>
                                        </p:tav>
                                      </p:tavLst>
                                    </p:anim>
                                    <p:anim calcmode="lin" valueType="num">
                                      <p:cBhvr additive="base">
                                        <p:cTn id="80" dur="500" fill="hold"/>
                                        <p:tgtEl>
                                          <p:spTgt spid="576731"/>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576732"/>
                                        </p:tgtEl>
                                        <p:attrNameLst>
                                          <p:attrName>style.visibility</p:attrName>
                                        </p:attrNameLst>
                                      </p:cBhvr>
                                      <p:to>
                                        <p:strVal val="visible"/>
                                      </p:to>
                                    </p:set>
                                    <p:anim calcmode="lin" valueType="num">
                                      <p:cBhvr additive="base">
                                        <p:cTn id="83" dur="500" fill="hold"/>
                                        <p:tgtEl>
                                          <p:spTgt spid="576732"/>
                                        </p:tgtEl>
                                        <p:attrNameLst>
                                          <p:attrName>ppt_x</p:attrName>
                                        </p:attrNameLst>
                                      </p:cBhvr>
                                      <p:tavLst>
                                        <p:tav tm="0">
                                          <p:val>
                                            <p:strVal val="#ppt_x"/>
                                          </p:val>
                                        </p:tav>
                                        <p:tav tm="100000">
                                          <p:val>
                                            <p:strVal val="#ppt_x"/>
                                          </p:val>
                                        </p:tav>
                                      </p:tavLst>
                                    </p:anim>
                                    <p:anim calcmode="lin" valueType="num">
                                      <p:cBhvr additive="base">
                                        <p:cTn id="84" dur="500" fill="hold"/>
                                        <p:tgtEl>
                                          <p:spTgt spid="576732"/>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576733"/>
                                        </p:tgtEl>
                                        <p:attrNameLst>
                                          <p:attrName>style.visibility</p:attrName>
                                        </p:attrNameLst>
                                      </p:cBhvr>
                                      <p:to>
                                        <p:strVal val="visible"/>
                                      </p:to>
                                    </p:set>
                                    <p:anim calcmode="lin" valueType="num">
                                      <p:cBhvr additive="base">
                                        <p:cTn id="87" dur="500" fill="hold"/>
                                        <p:tgtEl>
                                          <p:spTgt spid="576733"/>
                                        </p:tgtEl>
                                        <p:attrNameLst>
                                          <p:attrName>ppt_x</p:attrName>
                                        </p:attrNameLst>
                                      </p:cBhvr>
                                      <p:tavLst>
                                        <p:tav tm="0">
                                          <p:val>
                                            <p:strVal val="#ppt_x"/>
                                          </p:val>
                                        </p:tav>
                                        <p:tav tm="100000">
                                          <p:val>
                                            <p:strVal val="#ppt_x"/>
                                          </p:val>
                                        </p:tav>
                                      </p:tavLst>
                                    </p:anim>
                                    <p:anim calcmode="lin" valueType="num">
                                      <p:cBhvr additive="base">
                                        <p:cTn id="88" dur="500" fill="hold"/>
                                        <p:tgtEl>
                                          <p:spTgt spid="57673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576743"/>
                                        </p:tgtEl>
                                        <p:attrNameLst>
                                          <p:attrName>style.visibility</p:attrName>
                                        </p:attrNameLst>
                                      </p:cBhvr>
                                      <p:to>
                                        <p:strVal val="visible"/>
                                      </p:to>
                                    </p:set>
                                    <p:anim calcmode="lin" valueType="num">
                                      <p:cBhvr additive="base">
                                        <p:cTn id="91" dur="500" fill="hold"/>
                                        <p:tgtEl>
                                          <p:spTgt spid="576743"/>
                                        </p:tgtEl>
                                        <p:attrNameLst>
                                          <p:attrName>ppt_x</p:attrName>
                                        </p:attrNameLst>
                                      </p:cBhvr>
                                      <p:tavLst>
                                        <p:tav tm="0">
                                          <p:val>
                                            <p:strVal val="#ppt_x"/>
                                          </p:val>
                                        </p:tav>
                                        <p:tav tm="100000">
                                          <p:val>
                                            <p:strVal val="#ppt_x"/>
                                          </p:val>
                                        </p:tav>
                                      </p:tavLst>
                                    </p:anim>
                                    <p:anim calcmode="lin" valueType="num">
                                      <p:cBhvr additive="base">
                                        <p:cTn id="92" dur="500" fill="hold"/>
                                        <p:tgtEl>
                                          <p:spTgt spid="5767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714" grpId="0" bldLvl="0" animBg="1"/>
      <p:bldP spid="576715" grpId="0" bldLvl="0" animBg="1"/>
      <p:bldP spid="576716" grpId="0"/>
      <p:bldP spid="576717" grpId="0"/>
      <p:bldP spid="576718" grpId="0"/>
      <p:bldP spid="576719" grpId="0"/>
      <p:bldP spid="576730" grpId="0" bldLvl="0" animBg="1"/>
      <p:bldP spid="576743" grpId="0" bldLvl="0" animBg="1"/>
      <p:bldP spid="57675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6078" name="Group 46"/>
          <p:cNvGraphicFramePr>
            <a:graphicFrameLocks noGrp="1"/>
          </p:cNvGraphicFramePr>
          <p:nvPr/>
        </p:nvGraphicFramePr>
        <p:xfrm>
          <a:off x="2054225" y="1038225"/>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00(00)</a:t>
                      </a:r>
                      <a:endPar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556088" name="Group 56"/>
          <p:cNvGraphicFramePr>
            <a:graphicFrameLocks noGrp="1"/>
          </p:cNvGraphicFramePr>
          <p:nvPr/>
        </p:nvGraphicFramePr>
        <p:xfrm>
          <a:off x="2054225" y="2714625"/>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56098" name="Group 66"/>
          <p:cNvGraphicFramePr>
            <a:graphicFrameLocks noGrp="1"/>
          </p:cNvGraphicFramePr>
          <p:nvPr/>
        </p:nvGraphicFramePr>
        <p:xfrm>
          <a:off x="549275" y="2257425"/>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56110" name="Group 78"/>
          <p:cNvGraphicFramePr>
            <a:graphicFrameLocks noGrp="1"/>
          </p:cNvGraphicFramePr>
          <p:nvPr/>
        </p:nvGraphicFramePr>
        <p:xfrm>
          <a:off x="549275" y="1343025"/>
          <a:ext cx="914400" cy="37941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1412" name="Rectangle 86"/>
          <p:cNvSpPr>
            <a:spLocks noChangeAspect="1"/>
          </p:cNvSpPr>
          <p:nvPr/>
        </p:nvSpPr>
        <p:spPr>
          <a:xfrm>
            <a:off x="4111625" y="10382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101413" name="Rectangle 87"/>
          <p:cNvSpPr>
            <a:spLocks noChangeAspect="1"/>
          </p:cNvSpPr>
          <p:nvPr/>
        </p:nvSpPr>
        <p:spPr>
          <a:xfrm>
            <a:off x="4111625" y="27146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101414" name="Text Box 88"/>
          <p:cNvSpPr txBox="1"/>
          <p:nvPr/>
        </p:nvSpPr>
        <p:spPr>
          <a:xfrm>
            <a:off x="0" y="2146300"/>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a:t>
            </a:r>
          </a:p>
        </p:txBody>
      </p:sp>
      <p:sp>
        <p:nvSpPr>
          <p:cNvPr id="101415" name="Text Box 89"/>
          <p:cNvSpPr txBox="1"/>
          <p:nvPr/>
        </p:nvSpPr>
        <p:spPr>
          <a:xfrm>
            <a:off x="0" y="2527300"/>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a:t>
            </a:r>
          </a:p>
        </p:txBody>
      </p:sp>
      <p:sp>
        <p:nvSpPr>
          <p:cNvPr id="101416" name="Text Box 90"/>
          <p:cNvSpPr txBox="1"/>
          <p:nvPr/>
        </p:nvSpPr>
        <p:spPr>
          <a:xfrm>
            <a:off x="0" y="2908300"/>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101417" name="Text Box 91"/>
          <p:cNvSpPr txBox="1"/>
          <p:nvPr/>
        </p:nvSpPr>
        <p:spPr>
          <a:xfrm>
            <a:off x="0" y="3289300"/>
            <a:ext cx="4889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graphicFrame>
        <p:nvGraphicFramePr>
          <p:cNvPr id="556124" name="Group 92"/>
          <p:cNvGraphicFramePr>
            <a:graphicFrameLocks noGrp="1"/>
          </p:cNvGraphicFramePr>
          <p:nvPr/>
        </p:nvGraphicFramePr>
        <p:xfrm>
          <a:off x="2054225" y="3705225"/>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1426" name="Rectangle 102"/>
          <p:cNvSpPr>
            <a:spLocks noChangeAspect="1"/>
          </p:cNvSpPr>
          <p:nvPr/>
        </p:nvSpPr>
        <p:spPr>
          <a:xfrm>
            <a:off x="4111625" y="37052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grpSp>
        <p:nvGrpSpPr>
          <p:cNvPr id="101427" name="Group 186"/>
          <p:cNvGrpSpPr/>
          <p:nvPr/>
        </p:nvGrpSpPr>
        <p:grpSpPr>
          <a:xfrm>
            <a:off x="1006475" y="1495425"/>
            <a:ext cx="1050925" cy="2209800"/>
            <a:chOff x="634" y="942"/>
            <a:chExt cx="960" cy="1392"/>
          </a:xfrm>
        </p:grpSpPr>
        <p:sp>
          <p:nvSpPr>
            <p:cNvPr id="101537" name="Line 84"/>
            <p:cNvSpPr/>
            <p:nvPr/>
          </p:nvSpPr>
          <p:spPr>
            <a:xfrm flipV="1">
              <a:off x="634" y="942"/>
              <a:ext cx="960" cy="624"/>
            </a:xfrm>
            <a:prstGeom prst="line">
              <a:avLst/>
            </a:prstGeom>
            <a:ln w="9525" cap="flat" cmpd="sng">
              <a:solidFill>
                <a:schemeClr val="tx1"/>
              </a:solidFill>
              <a:prstDash val="solid"/>
              <a:headEnd type="none" w="med" len="med"/>
              <a:tailEnd type="triangle" w="med" len="med"/>
            </a:ln>
          </p:spPr>
        </p:sp>
        <p:sp>
          <p:nvSpPr>
            <p:cNvPr id="101538" name="Line 85"/>
            <p:cNvSpPr/>
            <p:nvPr/>
          </p:nvSpPr>
          <p:spPr>
            <a:xfrm>
              <a:off x="634" y="2046"/>
              <a:ext cx="960" cy="0"/>
            </a:xfrm>
            <a:prstGeom prst="line">
              <a:avLst/>
            </a:prstGeom>
            <a:ln w="9525" cap="flat" cmpd="sng">
              <a:solidFill>
                <a:schemeClr val="tx1"/>
              </a:solidFill>
              <a:prstDash val="solid"/>
              <a:headEnd type="none" w="med" len="med"/>
              <a:tailEnd type="triangle" w="med" len="med"/>
            </a:ln>
          </p:spPr>
        </p:sp>
        <p:sp>
          <p:nvSpPr>
            <p:cNvPr id="101539" name="Line 103"/>
            <p:cNvSpPr/>
            <p:nvPr/>
          </p:nvSpPr>
          <p:spPr>
            <a:xfrm>
              <a:off x="634" y="2238"/>
              <a:ext cx="960" cy="96"/>
            </a:xfrm>
            <a:prstGeom prst="line">
              <a:avLst/>
            </a:prstGeom>
            <a:ln w="9525" cap="flat" cmpd="sng">
              <a:solidFill>
                <a:schemeClr val="tx1"/>
              </a:solidFill>
              <a:prstDash val="solid"/>
              <a:headEnd type="none" w="med" len="med"/>
              <a:tailEnd type="triangle" w="med" len="med"/>
            </a:ln>
          </p:spPr>
        </p:sp>
        <p:sp>
          <p:nvSpPr>
            <p:cNvPr id="101540" name="Line 104"/>
            <p:cNvSpPr/>
            <p:nvPr/>
          </p:nvSpPr>
          <p:spPr>
            <a:xfrm flipV="1">
              <a:off x="682" y="1278"/>
              <a:ext cx="912" cy="528"/>
            </a:xfrm>
            <a:prstGeom prst="line">
              <a:avLst/>
            </a:prstGeom>
            <a:ln w="9525" cap="flat" cmpd="sng">
              <a:solidFill>
                <a:schemeClr val="tx1"/>
              </a:solidFill>
              <a:prstDash val="solid"/>
              <a:headEnd type="none" w="med" len="med"/>
              <a:tailEnd type="triangle" w="med" len="med"/>
            </a:ln>
          </p:spPr>
        </p:sp>
      </p:grpSp>
      <p:graphicFrame>
        <p:nvGraphicFramePr>
          <p:cNvPr id="556137" name="Group 105"/>
          <p:cNvGraphicFramePr>
            <a:graphicFrameLocks noGrp="1"/>
          </p:cNvGraphicFramePr>
          <p:nvPr/>
        </p:nvGraphicFramePr>
        <p:xfrm>
          <a:off x="2054225" y="1876425"/>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1436" name="Rectangle 115"/>
          <p:cNvSpPr>
            <a:spLocks noChangeAspect="1"/>
          </p:cNvSpPr>
          <p:nvPr/>
        </p:nvSpPr>
        <p:spPr>
          <a:xfrm>
            <a:off x="4111625" y="18764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graphicFrame>
        <p:nvGraphicFramePr>
          <p:cNvPr id="556252" name="Group 220"/>
          <p:cNvGraphicFramePr>
            <a:graphicFrameLocks noGrp="1"/>
          </p:cNvGraphicFramePr>
          <p:nvPr/>
        </p:nvGraphicFramePr>
        <p:xfrm>
          <a:off x="6499225" y="33226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56158" name="Group 126"/>
          <p:cNvGraphicFramePr>
            <a:graphicFrameLocks noGrp="1"/>
          </p:cNvGraphicFramePr>
          <p:nvPr/>
        </p:nvGraphicFramePr>
        <p:xfrm>
          <a:off x="6499225" y="49990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56168" name="Group 136"/>
          <p:cNvGraphicFramePr>
            <a:graphicFrameLocks noGrp="1"/>
          </p:cNvGraphicFramePr>
          <p:nvPr/>
        </p:nvGraphicFramePr>
        <p:xfrm>
          <a:off x="5200650" y="4541838"/>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56180" name="Group 148"/>
          <p:cNvGraphicFramePr>
            <a:graphicFrameLocks noGrp="1"/>
          </p:cNvGraphicFramePr>
          <p:nvPr/>
        </p:nvGraphicFramePr>
        <p:xfrm>
          <a:off x="5186363" y="6202363"/>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56188" name="Rectangle 156"/>
          <p:cNvSpPr>
            <a:spLocks noChangeAspect="1"/>
          </p:cNvSpPr>
          <p:nvPr/>
        </p:nvSpPr>
        <p:spPr>
          <a:xfrm>
            <a:off x="8556625" y="33226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56189" name="Rectangle 157"/>
          <p:cNvSpPr>
            <a:spLocks noChangeAspect="1"/>
          </p:cNvSpPr>
          <p:nvPr/>
        </p:nvSpPr>
        <p:spPr>
          <a:xfrm>
            <a:off x="8556625" y="49990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56190" name="Text Box 158"/>
          <p:cNvSpPr txBox="1"/>
          <p:nvPr/>
        </p:nvSpPr>
        <p:spPr>
          <a:xfrm>
            <a:off x="4651375" y="4430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100</a:t>
            </a:r>
          </a:p>
        </p:txBody>
      </p:sp>
      <p:sp>
        <p:nvSpPr>
          <p:cNvPr id="556191" name="Text Box 159"/>
          <p:cNvSpPr txBox="1"/>
          <p:nvPr/>
        </p:nvSpPr>
        <p:spPr>
          <a:xfrm>
            <a:off x="4651375" y="4811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101</a:t>
            </a:r>
          </a:p>
        </p:txBody>
      </p:sp>
      <p:sp>
        <p:nvSpPr>
          <p:cNvPr id="556192" name="Text Box 160"/>
          <p:cNvSpPr txBox="1"/>
          <p:nvPr/>
        </p:nvSpPr>
        <p:spPr>
          <a:xfrm>
            <a:off x="4651375" y="5192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110</a:t>
            </a:r>
          </a:p>
        </p:txBody>
      </p:sp>
      <p:sp>
        <p:nvSpPr>
          <p:cNvPr id="556193" name="Text Box 161"/>
          <p:cNvSpPr txBox="1"/>
          <p:nvPr/>
        </p:nvSpPr>
        <p:spPr>
          <a:xfrm>
            <a:off x="4651375" y="5573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111</a:t>
            </a:r>
          </a:p>
        </p:txBody>
      </p:sp>
      <p:graphicFrame>
        <p:nvGraphicFramePr>
          <p:cNvPr id="556194" name="Group 162"/>
          <p:cNvGraphicFramePr>
            <a:graphicFrameLocks noGrp="1"/>
          </p:cNvGraphicFramePr>
          <p:nvPr/>
        </p:nvGraphicFramePr>
        <p:xfrm>
          <a:off x="6499225" y="59896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56204" name="Rectangle 172"/>
          <p:cNvSpPr>
            <a:spLocks noChangeAspect="1"/>
          </p:cNvSpPr>
          <p:nvPr/>
        </p:nvSpPr>
        <p:spPr>
          <a:xfrm>
            <a:off x="8556625" y="59896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sp>
        <p:nvSpPr>
          <p:cNvPr id="556186" name="Line 154"/>
          <p:cNvSpPr/>
          <p:nvPr/>
        </p:nvSpPr>
        <p:spPr>
          <a:xfrm>
            <a:off x="5657850" y="4770438"/>
            <a:ext cx="823913" cy="444500"/>
          </a:xfrm>
          <a:prstGeom prst="line">
            <a:avLst/>
          </a:prstGeom>
          <a:ln w="9525" cap="flat" cmpd="sng">
            <a:solidFill>
              <a:schemeClr val="tx1"/>
            </a:solidFill>
            <a:prstDash val="solid"/>
            <a:headEnd type="none" w="med" len="med"/>
            <a:tailEnd type="triangle" w="med" len="med"/>
          </a:ln>
        </p:spPr>
      </p:sp>
      <p:sp>
        <p:nvSpPr>
          <p:cNvPr id="556187" name="Line 155"/>
          <p:cNvSpPr/>
          <p:nvPr/>
        </p:nvSpPr>
        <p:spPr>
          <a:xfrm>
            <a:off x="5657850" y="5532438"/>
            <a:ext cx="839788" cy="471487"/>
          </a:xfrm>
          <a:prstGeom prst="line">
            <a:avLst/>
          </a:prstGeom>
          <a:ln w="9525" cap="flat" cmpd="sng">
            <a:solidFill>
              <a:schemeClr val="tx1"/>
            </a:solidFill>
            <a:prstDash val="solid"/>
            <a:headEnd type="none" w="med" len="med"/>
            <a:tailEnd type="triangle" w="med" len="med"/>
          </a:ln>
        </p:spPr>
      </p:sp>
      <p:sp>
        <p:nvSpPr>
          <p:cNvPr id="556205" name="Line 173"/>
          <p:cNvSpPr/>
          <p:nvPr/>
        </p:nvSpPr>
        <p:spPr>
          <a:xfrm>
            <a:off x="5657850" y="5837238"/>
            <a:ext cx="885825" cy="365125"/>
          </a:xfrm>
          <a:prstGeom prst="line">
            <a:avLst/>
          </a:prstGeom>
          <a:ln w="9525" cap="flat" cmpd="sng">
            <a:solidFill>
              <a:schemeClr val="tx1"/>
            </a:solidFill>
            <a:prstDash val="solid"/>
            <a:headEnd type="none" w="med" len="med"/>
            <a:tailEnd type="triangle" w="med" len="med"/>
          </a:ln>
        </p:spPr>
      </p:sp>
      <p:sp>
        <p:nvSpPr>
          <p:cNvPr id="556206" name="Line 174"/>
          <p:cNvSpPr/>
          <p:nvPr/>
        </p:nvSpPr>
        <p:spPr>
          <a:xfrm>
            <a:off x="5700713" y="5151438"/>
            <a:ext cx="811212" cy="274637"/>
          </a:xfrm>
          <a:prstGeom prst="line">
            <a:avLst/>
          </a:prstGeom>
          <a:ln w="9525" cap="flat" cmpd="sng">
            <a:solidFill>
              <a:schemeClr val="tx1"/>
            </a:solidFill>
            <a:prstDash val="solid"/>
            <a:headEnd type="none" w="med" len="med"/>
            <a:tailEnd type="triangle" w="med" len="med"/>
          </a:ln>
        </p:spPr>
      </p:sp>
      <p:graphicFrame>
        <p:nvGraphicFramePr>
          <p:cNvPr id="556207" name="Group 175"/>
          <p:cNvGraphicFramePr>
            <a:graphicFrameLocks noGrp="1"/>
          </p:cNvGraphicFramePr>
          <p:nvPr/>
        </p:nvGraphicFramePr>
        <p:xfrm>
          <a:off x="6499225" y="416083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rgbClr val="CC0000"/>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56217" name="Rectangle 185"/>
          <p:cNvSpPr>
            <a:spLocks noChangeAspect="1"/>
          </p:cNvSpPr>
          <p:nvPr/>
        </p:nvSpPr>
        <p:spPr>
          <a:xfrm>
            <a:off x="8556625" y="41608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p>
        </p:txBody>
      </p:sp>
      <p:graphicFrame>
        <p:nvGraphicFramePr>
          <p:cNvPr id="556220" name="Group 188"/>
          <p:cNvGraphicFramePr>
            <a:graphicFrameLocks noGrp="1"/>
          </p:cNvGraphicFramePr>
          <p:nvPr/>
        </p:nvGraphicFramePr>
        <p:xfrm>
          <a:off x="5203825" y="3017838"/>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56232" name="Text Box 200"/>
          <p:cNvSpPr txBox="1"/>
          <p:nvPr/>
        </p:nvSpPr>
        <p:spPr>
          <a:xfrm>
            <a:off x="4654550" y="2906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000</a:t>
            </a:r>
          </a:p>
        </p:txBody>
      </p:sp>
      <p:sp>
        <p:nvSpPr>
          <p:cNvPr id="556233" name="Text Box 201"/>
          <p:cNvSpPr txBox="1"/>
          <p:nvPr/>
        </p:nvSpPr>
        <p:spPr>
          <a:xfrm>
            <a:off x="4654550" y="3287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001</a:t>
            </a:r>
          </a:p>
        </p:txBody>
      </p:sp>
      <p:sp>
        <p:nvSpPr>
          <p:cNvPr id="556234" name="Text Box 202"/>
          <p:cNvSpPr txBox="1"/>
          <p:nvPr/>
        </p:nvSpPr>
        <p:spPr>
          <a:xfrm>
            <a:off x="4654550" y="3668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010</a:t>
            </a:r>
          </a:p>
        </p:txBody>
      </p:sp>
      <p:sp>
        <p:nvSpPr>
          <p:cNvPr id="556235" name="Text Box 203"/>
          <p:cNvSpPr txBox="1"/>
          <p:nvPr/>
        </p:nvSpPr>
        <p:spPr>
          <a:xfrm>
            <a:off x="4654550" y="4049713"/>
            <a:ext cx="641350"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011</a:t>
            </a:r>
          </a:p>
        </p:txBody>
      </p:sp>
      <p:sp>
        <p:nvSpPr>
          <p:cNvPr id="556236" name="Line 204"/>
          <p:cNvSpPr/>
          <p:nvPr/>
        </p:nvSpPr>
        <p:spPr>
          <a:xfrm>
            <a:off x="5730875" y="4283075"/>
            <a:ext cx="762000" cy="182563"/>
          </a:xfrm>
          <a:prstGeom prst="line">
            <a:avLst/>
          </a:prstGeom>
          <a:ln w="9525" cap="flat" cmpd="sng">
            <a:solidFill>
              <a:schemeClr val="tx1"/>
            </a:solidFill>
            <a:prstDash val="solid"/>
            <a:headEnd type="none" w="med" len="med"/>
            <a:tailEnd type="triangle" w="med" len="med"/>
          </a:ln>
        </p:spPr>
      </p:sp>
      <p:sp>
        <p:nvSpPr>
          <p:cNvPr id="556237" name="Line 205"/>
          <p:cNvSpPr/>
          <p:nvPr/>
        </p:nvSpPr>
        <p:spPr>
          <a:xfrm>
            <a:off x="5807075" y="3902075"/>
            <a:ext cx="685800" cy="381000"/>
          </a:xfrm>
          <a:prstGeom prst="line">
            <a:avLst/>
          </a:prstGeom>
          <a:ln w="9525" cap="flat" cmpd="sng">
            <a:solidFill>
              <a:schemeClr val="tx1"/>
            </a:solidFill>
            <a:prstDash val="solid"/>
            <a:headEnd type="none" w="med" len="med"/>
            <a:tailEnd type="triangle" w="med" len="med"/>
          </a:ln>
        </p:spPr>
      </p:sp>
      <p:graphicFrame>
        <p:nvGraphicFramePr>
          <p:cNvPr id="556238" name="Group 206"/>
          <p:cNvGraphicFramePr>
            <a:graphicFrameLocks noGrp="1"/>
          </p:cNvGraphicFramePr>
          <p:nvPr/>
        </p:nvGraphicFramePr>
        <p:xfrm>
          <a:off x="6488113" y="2443163"/>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000(0)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sp>
        <p:nvSpPr>
          <p:cNvPr id="556248" name="Rectangle 216"/>
          <p:cNvSpPr>
            <a:spLocks noChangeAspect="1"/>
          </p:cNvSpPr>
          <p:nvPr/>
        </p:nvSpPr>
        <p:spPr>
          <a:xfrm>
            <a:off x="8545513" y="24431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p>
        </p:txBody>
      </p:sp>
      <p:sp>
        <p:nvSpPr>
          <p:cNvPr id="556250" name="Line 218"/>
          <p:cNvSpPr/>
          <p:nvPr/>
        </p:nvSpPr>
        <p:spPr>
          <a:xfrm flipV="1">
            <a:off x="5867400" y="2636838"/>
            <a:ext cx="609600" cy="547687"/>
          </a:xfrm>
          <a:prstGeom prst="line">
            <a:avLst/>
          </a:prstGeom>
          <a:ln w="9525" cap="flat" cmpd="sng">
            <a:solidFill>
              <a:schemeClr val="tx1"/>
            </a:solidFill>
            <a:prstDash val="solid"/>
            <a:headEnd type="none" w="med" len="med"/>
            <a:tailEnd type="triangle" w="med" len="med"/>
          </a:ln>
        </p:spPr>
      </p:sp>
      <p:sp>
        <p:nvSpPr>
          <p:cNvPr id="556251" name="Line 219"/>
          <p:cNvSpPr/>
          <p:nvPr/>
        </p:nvSpPr>
        <p:spPr>
          <a:xfrm>
            <a:off x="5837238" y="3551238"/>
            <a:ext cx="655637" cy="166687"/>
          </a:xfrm>
          <a:prstGeom prst="line">
            <a:avLst/>
          </a:prstGeom>
          <a:ln w="9525" cap="flat" cmpd="sng">
            <a:solidFill>
              <a:schemeClr val="tx1"/>
            </a:solidFill>
            <a:prstDash val="solid"/>
            <a:headEnd type="none" w="med" len="med"/>
            <a:tailEnd type="triangle" w="med" len="med"/>
          </a:ln>
        </p:spPr>
      </p:sp>
      <p:grpSp>
        <p:nvGrpSpPr>
          <p:cNvPr id="101528" name="Group 222"/>
          <p:cNvGrpSpPr/>
          <p:nvPr/>
        </p:nvGrpSpPr>
        <p:grpSpPr>
          <a:xfrm>
            <a:off x="563563" y="4497390"/>
            <a:ext cx="3435350" cy="2347171"/>
            <a:chOff x="1265" y="3268"/>
            <a:chExt cx="1153" cy="641"/>
          </a:xfrm>
        </p:grpSpPr>
        <p:sp>
          <p:nvSpPr>
            <p:cNvPr id="101534" name="AutoShape 39"/>
            <p:cNvSpPr/>
            <p:nvPr/>
          </p:nvSpPr>
          <p:spPr>
            <a:xfrm>
              <a:off x="1265" y="3268"/>
              <a:ext cx="1153" cy="62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1535" name="Oval 40"/>
            <p:cNvSpPr/>
            <p:nvPr/>
          </p:nvSpPr>
          <p:spPr>
            <a:xfrm>
              <a:off x="1310" y="3308"/>
              <a:ext cx="1069" cy="549"/>
            </a:xfrm>
            <a:prstGeom prst="roundRect">
              <a:avLst>
                <a:gd name="adj" fmla="val 16667"/>
              </a:avLst>
            </a:prstGeom>
            <a:solidFill>
              <a:srgbClr val="FFFF66"/>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1536" name="Text Box 84"/>
            <p:cNvSpPr/>
            <p:nvPr/>
          </p:nvSpPr>
          <p:spPr>
            <a:xfrm>
              <a:off x="1283" y="3301"/>
              <a:ext cx="1124" cy="608"/>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取前</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位，确定索引块。</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如未满，则存入。</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如已满，则需要扩展哈希桶，进行分裂：</a:t>
              </a:r>
            </a:p>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此时</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需增加</a:t>
              </a:r>
              <a:r>
                <a:rPr kumimoji="0" lang="en-US" altLang="zh-CN"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1</a:t>
              </a:r>
            </a:p>
            <a:p>
              <a:pPr marL="0" marR="0" lvl="0" indent="0" algn="l" defTabSz="914400" rtl="0" eaLnBrk="1" fontAlgn="base" latinLnBrk="0" hangingPunct="1">
                <a:lnSpc>
                  <a:spcPct val="100000"/>
                </a:lnSpc>
                <a:spcBef>
                  <a:spcPct val="20000"/>
                </a:spcBef>
                <a:spcAft>
                  <a:spcPct val="0"/>
                </a:spcAft>
                <a:buClrTx/>
                <a:buSzTx/>
                <a:buFont typeface="Wingdings" panose="05000000000000000000" pitchFamily="2" charset="2"/>
                <a:buChar char="ü"/>
                <a:defRPr/>
              </a:pPr>
              <a:r>
                <a:rPr kumimoji="0" lang="zh-CN" altLang="en-US" sz="1600" b="0" i="0" u="none" strike="noStrike" kern="1200" cap="none" spc="0" normalizeH="0" baseline="0" noProof="0" dirty="0">
                  <a:ln>
                    <a:noFill/>
                  </a:ln>
                  <a:solidFill>
                    <a:srgbClr val="3333CC"/>
                  </a:solidFill>
                  <a:effectLst/>
                  <a:uLnTx/>
                  <a:uFillTx/>
                  <a:latin typeface="Arial" panose="020B0604020202020204" pitchFamily="34" charset="0"/>
                  <a:ea typeface="微软雅黑" panose="020B0503020204020204" pitchFamily="34" charset="-122"/>
                  <a:cs typeface="+mn-cs"/>
                </a:rPr>
                <a:t>重新哈希该块的数据到两个块中。其他不变</a:t>
              </a:r>
            </a:p>
          </p:txBody>
        </p:sp>
      </p:grpSp>
      <p:sp>
        <p:nvSpPr>
          <p:cNvPr id="101529" name="Rectangle 227"/>
          <p:cNvSpPr/>
          <p:nvPr/>
        </p:nvSpPr>
        <p:spPr>
          <a:xfrm>
            <a:off x="4905375" y="898525"/>
            <a:ext cx="1633538"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0001</a:t>
            </a:r>
          </a:p>
        </p:txBody>
      </p:sp>
      <p:grpSp>
        <p:nvGrpSpPr>
          <p:cNvPr id="4" name="Group 230"/>
          <p:cNvGrpSpPr/>
          <p:nvPr/>
        </p:nvGrpSpPr>
        <p:grpSpPr>
          <a:xfrm>
            <a:off x="3003550" y="1384300"/>
            <a:ext cx="1016000" cy="396875"/>
            <a:chOff x="3118" y="1210"/>
            <a:chExt cx="640" cy="250"/>
          </a:xfrm>
        </p:grpSpPr>
        <p:sp>
          <p:nvSpPr>
            <p:cNvPr id="101532" name="Rectangle 228"/>
            <p:cNvSpPr/>
            <p:nvPr/>
          </p:nvSpPr>
          <p:spPr>
            <a:xfrm>
              <a:off x="3151" y="1210"/>
              <a:ext cx="578" cy="25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0066"/>
                  </a:solidFill>
                  <a:effectLst/>
                  <a:uLnTx/>
                  <a:uFillTx/>
                  <a:latin typeface="Arial" panose="020B0604020202020204" pitchFamily="34" charset="0"/>
                  <a:ea typeface="宋体" panose="02010600030101010101" pitchFamily="2" charset="-122"/>
                  <a:cs typeface="+mn-cs"/>
                </a:rPr>
                <a:t>(00)01</a:t>
              </a:r>
            </a:p>
          </p:txBody>
        </p:sp>
        <p:sp>
          <p:nvSpPr>
            <p:cNvPr id="101533" name="Line 229"/>
            <p:cNvSpPr/>
            <p:nvPr/>
          </p:nvSpPr>
          <p:spPr>
            <a:xfrm>
              <a:off x="3118" y="1326"/>
              <a:ext cx="640" cy="9"/>
            </a:xfrm>
            <a:prstGeom prst="line">
              <a:avLst/>
            </a:prstGeom>
            <a:ln w="9525" cap="flat" cmpd="sng">
              <a:solidFill>
                <a:schemeClr val="tx1"/>
              </a:solidFill>
              <a:prstDash val="solid"/>
              <a:headEnd type="none" w="med" len="med"/>
              <a:tailEnd type="none" w="med" len="med"/>
            </a:ln>
          </p:spPr>
        </p:sp>
      </p:grpSp>
      <p:sp>
        <p:nvSpPr>
          <p:cNvPr id="101531" name="Text Box 16"/>
          <p:cNvSpPr txBox="1"/>
          <p:nvPr/>
        </p:nvSpPr>
        <p:spPr>
          <a:xfrm>
            <a:off x="163513" y="0"/>
            <a:ext cx="5878512" cy="83026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56252"/>
                                        </p:tgtEl>
                                        <p:attrNameLst>
                                          <p:attrName>style.visibility</p:attrName>
                                        </p:attrNameLst>
                                      </p:cBhvr>
                                      <p:to>
                                        <p:strVal val="visible"/>
                                      </p:to>
                                    </p:set>
                                    <p:anim calcmode="lin" valueType="num">
                                      <p:cBhvr additive="base">
                                        <p:cTn id="12" dur="500" fill="hold"/>
                                        <p:tgtEl>
                                          <p:spTgt spid="556252"/>
                                        </p:tgtEl>
                                        <p:attrNameLst>
                                          <p:attrName>ppt_x</p:attrName>
                                        </p:attrNameLst>
                                      </p:cBhvr>
                                      <p:tavLst>
                                        <p:tav tm="0">
                                          <p:val>
                                            <p:strVal val="#ppt_x"/>
                                          </p:val>
                                        </p:tav>
                                        <p:tav tm="100000">
                                          <p:val>
                                            <p:strVal val="#ppt_x"/>
                                          </p:val>
                                        </p:tav>
                                      </p:tavLst>
                                    </p:anim>
                                    <p:anim calcmode="lin" valueType="num">
                                      <p:cBhvr additive="base">
                                        <p:cTn id="13" dur="500" fill="hold"/>
                                        <p:tgtEl>
                                          <p:spTgt spid="556252"/>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56158"/>
                                        </p:tgtEl>
                                        <p:attrNameLst>
                                          <p:attrName>style.visibility</p:attrName>
                                        </p:attrNameLst>
                                      </p:cBhvr>
                                      <p:to>
                                        <p:strVal val="visible"/>
                                      </p:to>
                                    </p:set>
                                    <p:anim calcmode="lin" valueType="num">
                                      <p:cBhvr additive="base">
                                        <p:cTn id="16" dur="500" fill="hold"/>
                                        <p:tgtEl>
                                          <p:spTgt spid="556158"/>
                                        </p:tgtEl>
                                        <p:attrNameLst>
                                          <p:attrName>ppt_x</p:attrName>
                                        </p:attrNameLst>
                                      </p:cBhvr>
                                      <p:tavLst>
                                        <p:tav tm="0">
                                          <p:val>
                                            <p:strVal val="#ppt_x"/>
                                          </p:val>
                                        </p:tav>
                                        <p:tav tm="100000">
                                          <p:val>
                                            <p:strVal val="#ppt_x"/>
                                          </p:val>
                                        </p:tav>
                                      </p:tavLst>
                                    </p:anim>
                                    <p:anim calcmode="lin" valueType="num">
                                      <p:cBhvr additive="base">
                                        <p:cTn id="17" dur="500" fill="hold"/>
                                        <p:tgtEl>
                                          <p:spTgt spid="55615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56168"/>
                                        </p:tgtEl>
                                        <p:attrNameLst>
                                          <p:attrName>style.visibility</p:attrName>
                                        </p:attrNameLst>
                                      </p:cBhvr>
                                      <p:to>
                                        <p:strVal val="visible"/>
                                      </p:to>
                                    </p:set>
                                    <p:anim calcmode="lin" valueType="num">
                                      <p:cBhvr additive="base">
                                        <p:cTn id="20" dur="500" fill="hold"/>
                                        <p:tgtEl>
                                          <p:spTgt spid="556168"/>
                                        </p:tgtEl>
                                        <p:attrNameLst>
                                          <p:attrName>ppt_x</p:attrName>
                                        </p:attrNameLst>
                                      </p:cBhvr>
                                      <p:tavLst>
                                        <p:tav tm="0">
                                          <p:val>
                                            <p:strVal val="#ppt_x"/>
                                          </p:val>
                                        </p:tav>
                                        <p:tav tm="100000">
                                          <p:val>
                                            <p:strVal val="#ppt_x"/>
                                          </p:val>
                                        </p:tav>
                                      </p:tavLst>
                                    </p:anim>
                                    <p:anim calcmode="lin" valueType="num">
                                      <p:cBhvr additive="base">
                                        <p:cTn id="21" dur="500" fill="hold"/>
                                        <p:tgtEl>
                                          <p:spTgt spid="556168"/>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556180"/>
                                        </p:tgtEl>
                                        <p:attrNameLst>
                                          <p:attrName>style.visibility</p:attrName>
                                        </p:attrNameLst>
                                      </p:cBhvr>
                                      <p:to>
                                        <p:strVal val="visible"/>
                                      </p:to>
                                    </p:set>
                                    <p:anim calcmode="lin" valueType="num">
                                      <p:cBhvr additive="base">
                                        <p:cTn id="24" dur="500" fill="hold"/>
                                        <p:tgtEl>
                                          <p:spTgt spid="556180"/>
                                        </p:tgtEl>
                                        <p:attrNameLst>
                                          <p:attrName>ppt_x</p:attrName>
                                        </p:attrNameLst>
                                      </p:cBhvr>
                                      <p:tavLst>
                                        <p:tav tm="0">
                                          <p:val>
                                            <p:strVal val="#ppt_x"/>
                                          </p:val>
                                        </p:tav>
                                        <p:tav tm="100000">
                                          <p:val>
                                            <p:strVal val="#ppt_x"/>
                                          </p:val>
                                        </p:tav>
                                      </p:tavLst>
                                    </p:anim>
                                    <p:anim calcmode="lin" valueType="num">
                                      <p:cBhvr additive="base">
                                        <p:cTn id="25" dur="500" fill="hold"/>
                                        <p:tgtEl>
                                          <p:spTgt spid="556180"/>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56188"/>
                                        </p:tgtEl>
                                        <p:attrNameLst>
                                          <p:attrName>style.visibility</p:attrName>
                                        </p:attrNameLst>
                                      </p:cBhvr>
                                      <p:to>
                                        <p:strVal val="visible"/>
                                      </p:to>
                                    </p:set>
                                    <p:anim calcmode="lin" valueType="num">
                                      <p:cBhvr additive="base">
                                        <p:cTn id="28" dur="500" fill="hold"/>
                                        <p:tgtEl>
                                          <p:spTgt spid="556188"/>
                                        </p:tgtEl>
                                        <p:attrNameLst>
                                          <p:attrName>ppt_x</p:attrName>
                                        </p:attrNameLst>
                                      </p:cBhvr>
                                      <p:tavLst>
                                        <p:tav tm="0">
                                          <p:val>
                                            <p:strVal val="#ppt_x"/>
                                          </p:val>
                                        </p:tav>
                                        <p:tav tm="100000">
                                          <p:val>
                                            <p:strVal val="#ppt_x"/>
                                          </p:val>
                                        </p:tav>
                                      </p:tavLst>
                                    </p:anim>
                                    <p:anim calcmode="lin" valueType="num">
                                      <p:cBhvr additive="base">
                                        <p:cTn id="29" dur="500" fill="hold"/>
                                        <p:tgtEl>
                                          <p:spTgt spid="556188"/>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556189"/>
                                        </p:tgtEl>
                                        <p:attrNameLst>
                                          <p:attrName>style.visibility</p:attrName>
                                        </p:attrNameLst>
                                      </p:cBhvr>
                                      <p:to>
                                        <p:strVal val="visible"/>
                                      </p:to>
                                    </p:set>
                                    <p:anim calcmode="lin" valueType="num">
                                      <p:cBhvr additive="base">
                                        <p:cTn id="32" dur="500" fill="hold"/>
                                        <p:tgtEl>
                                          <p:spTgt spid="556189"/>
                                        </p:tgtEl>
                                        <p:attrNameLst>
                                          <p:attrName>ppt_x</p:attrName>
                                        </p:attrNameLst>
                                      </p:cBhvr>
                                      <p:tavLst>
                                        <p:tav tm="0">
                                          <p:val>
                                            <p:strVal val="#ppt_x"/>
                                          </p:val>
                                        </p:tav>
                                        <p:tav tm="100000">
                                          <p:val>
                                            <p:strVal val="#ppt_x"/>
                                          </p:val>
                                        </p:tav>
                                      </p:tavLst>
                                    </p:anim>
                                    <p:anim calcmode="lin" valueType="num">
                                      <p:cBhvr additive="base">
                                        <p:cTn id="33" dur="500" fill="hold"/>
                                        <p:tgtEl>
                                          <p:spTgt spid="556189"/>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56190"/>
                                        </p:tgtEl>
                                        <p:attrNameLst>
                                          <p:attrName>style.visibility</p:attrName>
                                        </p:attrNameLst>
                                      </p:cBhvr>
                                      <p:to>
                                        <p:strVal val="visible"/>
                                      </p:to>
                                    </p:set>
                                    <p:anim calcmode="lin" valueType="num">
                                      <p:cBhvr additive="base">
                                        <p:cTn id="36" dur="500" fill="hold"/>
                                        <p:tgtEl>
                                          <p:spTgt spid="556190"/>
                                        </p:tgtEl>
                                        <p:attrNameLst>
                                          <p:attrName>ppt_x</p:attrName>
                                        </p:attrNameLst>
                                      </p:cBhvr>
                                      <p:tavLst>
                                        <p:tav tm="0">
                                          <p:val>
                                            <p:strVal val="#ppt_x"/>
                                          </p:val>
                                        </p:tav>
                                        <p:tav tm="100000">
                                          <p:val>
                                            <p:strVal val="#ppt_x"/>
                                          </p:val>
                                        </p:tav>
                                      </p:tavLst>
                                    </p:anim>
                                    <p:anim calcmode="lin" valueType="num">
                                      <p:cBhvr additive="base">
                                        <p:cTn id="37" dur="500" fill="hold"/>
                                        <p:tgtEl>
                                          <p:spTgt spid="556190"/>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556191"/>
                                        </p:tgtEl>
                                        <p:attrNameLst>
                                          <p:attrName>style.visibility</p:attrName>
                                        </p:attrNameLst>
                                      </p:cBhvr>
                                      <p:to>
                                        <p:strVal val="visible"/>
                                      </p:to>
                                    </p:set>
                                    <p:anim calcmode="lin" valueType="num">
                                      <p:cBhvr additive="base">
                                        <p:cTn id="40" dur="500" fill="hold"/>
                                        <p:tgtEl>
                                          <p:spTgt spid="556191"/>
                                        </p:tgtEl>
                                        <p:attrNameLst>
                                          <p:attrName>ppt_x</p:attrName>
                                        </p:attrNameLst>
                                      </p:cBhvr>
                                      <p:tavLst>
                                        <p:tav tm="0">
                                          <p:val>
                                            <p:strVal val="#ppt_x"/>
                                          </p:val>
                                        </p:tav>
                                        <p:tav tm="100000">
                                          <p:val>
                                            <p:strVal val="#ppt_x"/>
                                          </p:val>
                                        </p:tav>
                                      </p:tavLst>
                                    </p:anim>
                                    <p:anim calcmode="lin" valueType="num">
                                      <p:cBhvr additive="base">
                                        <p:cTn id="41" dur="500" fill="hold"/>
                                        <p:tgtEl>
                                          <p:spTgt spid="556191"/>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556192"/>
                                        </p:tgtEl>
                                        <p:attrNameLst>
                                          <p:attrName>style.visibility</p:attrName>
                                        </p:attrNameLst>
                                      </p:cBhvr>
                                      <p:to>
                                        <p:strVal val="visible"/>
                                      </p:to>
                                    </p:set>
                                    <p:anim calcmode="lin" valueType="num">
                                      <p:cBhvr additive="base">
                                        <p:cTn id="44" dur="500" fill="hold"/>
                                        <p:tgtEl>
                                          <p:spTgt spid="556192"/>
                                        </p:tgtEl>
                                        <p:attrNameLst>
                                          <p:attrName>ppt_x</p:attrName>
                                        </p:attrNameLst>
                                      </p:cBhvr>
                                      <p:tavLst>
                                        <p:tav tm="0">
                                          <p:val>
                                            <p:strVal val="#ppt_x"/>
                                          </p:val>
                                        </p:tav>
                                        <p:tav tm="100000">
                                          <p:val>
                                            <p:strVal val="#ppt_x"/>
                                          </p:val>
                                        </p:tav>
                                      </p:tavLst>
                                    </p:anim>
                                    <p:anim calcmode="lin" valueType="num">
                                      <p:cBhvr additive="base">
                                        <p:cTn id="45" dur="500" fill="hold"/>
                                        <p:tgtEl>
                                          <p:spTgt spid="556192"/>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556193"/>
                                        </p:tgtEl>
                                        <p:attrNameLst>
                                          <p:attrName>style.visibility</p:attrName>
                                        </p:attrNameLst>
                                      </p:cBhvr>
                                      <p:to>
                                        <p:strVal val="visible"/>
                                      </p:to>
                                    </p:set>
                                    <p:anim calcmode="lin" valueType="num">
                                      <p:cBhvr additive="base">
                                        <p:cTn id="48" dur="500" fill="hold"/>
                                        <p:tgtEl>
                                          <p:spTgt spid="556193"/>
                                        </p:tgtEl>
                                        <p:attrNameLst>
                                          <p:attrName>ppt_x</p:attrName>
                                        </p:attrNameLst>
                                      </p:cBhvr>
                                      <p:tavLst>
                                        <p:tav tm="0">
                                          <p:val>
                                            <p:strVal val="#ppt_x"/>
                                          </p:val>
                                        </p:tav>
                                        <p:tav tm="100000">
                                          <p:val>
                                            <p:strVal val="#ppt_x"/>
                                          </p:val>
                                        </p:tav>
                                      </p:tavLst>
                                    </p:anim>
                                    <p:anim calcmode="lin" valueType="num">
                                      <p:cBhvr additive="base">
                                        <p:cTn id="49" dur="500" fill="hold"/>
                                        <p:tgtEl>
                                          <p:spTgt spid="556193"/>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556194"/>
                                        </p:tgtEl>
                                        <p:attrNameLst>
                                          <p:attrName>style.visibility</p:attrName>
                                        </p:attrNameLst>
                                      </p:cBhvr>
                                      <p:to>
                                        <p:strVal val="visible"/>
                                      </p:to>
                                    </p:set>
                                    <p:anim calcmode="lin" valueType="num">
                                      <p:cBhvr additive="base">
                                        <p:cTn id="52" dur="500" fill="hold"/>
                                        <p:tgtEl>
                                          <p:spTgt spid="556194"/>
                                        </p:tgtEl>
                                        <p:attrNameLst>
                                          <p:attrName>ppt_x</p:attrName>
                                        </p:attrNameLst>
                                      </p:cBhvr>
                                      <p:tavLst>
                                        <p:tav tm="0">
                                          <p:val>
                                            <p:strVal val="#ppt_x"/>
                                          </p:val>
                                        </p:tav>
                                        <p:tav tm="100000">
                                          <p:val>
                                            <p:strVal val="#ppt_x"/>
                                          </p:val>
                                        </p:tav>
                                      </p:tavLst>
                                    </p:anim>
                                    <p:anim calcmode="lin" valueType="num">
                                      <p:cBhvr additive="base">
                                        <p:cTn id="53" dur="500" fill="hold"/>
                                        <p:tgtEl>
                                          <p:spTgt spid="556194"/>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556204"/>
                                        </p:tgtEl>
                                        <p:attrNameLst>
                                          <p:attrName>style.visibility</p:attrName>
                                        </p:attrNameLst>
                                      </p:cBhvr>
                                      <p:to>
                                        <p:strVal val="visible"/>
                                      </p:to>
                                    </p:set>
                                    <p:anim calcmode="lin" valueType="num">
                                      <p:cBhvr additive="base">
                                        <p:cTn id="56" dur="500" fill="hold"/>
                                        <p:tgtEl>
                                          <p:spTgt spid="556204"/>
                                        </p:tgtEl>
                                        <p:attrNameLst>
                                          <p:attrName>ppt_x</p:attrName>
                                        </p:attrNameLst>
                                      </p:cBhvr>
                                      <p:tavLst>
                                        <p:tav tm="0">
                                          <p:val>
                                            <p:strVal val="#ppt_x"/>
                                          </p:val>
                                        </p:tav>
                                        <p:tav tm="100000">
                                          <p:val>
                                            <p:strVal val="#ppt_x"/>
                                          </p:val>
                                        </p:tav>
                                      </p:tavLst>
                                    </p:anim>
                                    <p:anim calcmode="lin" valueType="num">
                                      <p:cBhvr additive="base">
                                        <p:cTn id="57" dur="500" fill="hold"/>
                                        <p:tgtEl>
                                          <p:spTgt spid="556204"/>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556186"/>
                                        </p:tgtEl>
                                        <p:attrNameLst>
                                          <p:attrName>style.visibility</p:attrName>
                                        </p:attrNameLst>
                                      </p:cBhvr>
                                      <p:to>
                                        <p:strVal val="visible"/>
                                      </p:to>
                                    </p:set>
                                    <p:anim calcmode="lin" valueType="num">
                                      <p:cBhvr additive="base">
                                        <p:cTn id="60" dur="500" fill="hold"/>
                                        <p:tgtEl>
                                          <p:spTgt spid="556186"/>
                                        </p:tgtEl>
                                        <p:attrNameLst>
                                          <p:attrName>ppt_x</p:attrName>
                                        </p:attrNameLst>
                                      </p:cBhvr>
                                      <p:tavLst>
                                        <p:tav tm="0">
                                          <p:val>
                                            <p:strVal val="#ppt_x"/>
                                          </p:val>
                                        </p:tav>
                                        <p:tav tm="100000">
                                          <p:val>
                                            <p:strVal val="#ppt_x"/>
                                          </p:val>
                                        </p:tav>
                                      </p:tavLst>
                                    </p:anim>
                                    <p:anim calcmode="lin" valueType="num">
                                      <p:cBhvr additive="base">
                                        <p:cTn id="61" dur="500" fill="hold"/>
                                        <p:tgtEl>
                                          <p:spTgt spid="556186"/>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556187"/>
                                        </p:tgtEl>
                                        <p:attrNameLst>
                                          <p:attrName>style.visibility</p:attrName>
                                        </p:attrNameLst>
                                      </p:cBhvr>
                                      <p:to>
                                        <p:strVal val="visible"/>
                                      </p:to>
                                    </p:set>
                                    <p:anim calcmode="lin" valueType="num">
                                      <p:cBhvr additive="base">
                                        <p:cTn id="64" dur="500" fill="hold"/>
                                        <p:tgtEl>
                                          <p:spTgt spid="556187"/>
                                        </p:tgtEl>
                                        <p:attrNameLst>
                                          <p:attrName>ppt_x</p:attrName>
                                        </p:attrNameLst>
                                      </p:cBhvr>
                                      <p:tavLst>
                                        <p:tav tm="0">
                                          <p:val>
                                            <p:strVal val="#ppt_x"/>
                                          </p:val>
                                        </p:tav>
                                        <p:tav tm="100000">
                                          <p:val>
                                            <p:strVal val="#ppt_x"/>
                                          </p:val>
                                        </p:tav>
                                      </p:tavLst>
                                    </p:anim>
                                    <p:anim calcmode="lin" valueType="num">
                                      <p:cBhvr additive="base">
                                        <p:cTn id="65" dur="500" fill="hold"/>
                                        <p:tgtEl>
                                          <p:spTgt spid="556187"/>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556205"/>
                                        </p:tgtEl>
                                        <p:attrNameLst>
                                          <p:attrName>style.visibility</p:attrName>
                                        </p:attrNameLst>
                                      </p:cBhvr>
                                      <p:to>
                                        <p:strVal val="visible"/>
                                      </p:to>
                                    </p:set>
                                    <p:anim calcmode="lin" valueType="num">
                                      <p:cBhvr additive="base">
                                        <p:cTn id="68" dur="500" fill="hold"/>
                                        <p:tgtEl>
                                          <p:spTgt spid="556205"/>
                                        </p:tgtEl>
                                        <p:attrNameLst>
                                          <p:attrName>ppt_x</p:attrName>
                                        </p:attrNameLst>
                                      </p:cBhvr>
                                      <p:tavLst>
                                        <p:tav tm="0">
                                          <p:val>
                                            <p:strVal val="#ppt_x"/>
                                          </p:val>
                                        </p:tav>
                                        <p:tav tm="100000">
                                          <p:val>
                                            <p:strVal val="#ppt_x"/>
                                          </p:val>
                                        </p:tav>
                                      </p:tavLst>
                                    </p:anim>
                                    <p:anim calcmode="lin" valueType="num">
                                      <p:cBhvr additive="base">
                                        <p:cTn id="69" dur="500" fill="hold"/>
                                        <p:tgtEl>
                                          <p:spTgt spid="556205"/>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556206"/>
                                        </p:tgtEl>
                                        <p:attrNameLst>
                                          <p:attrName>style.visibility</p:attrName>
                                        </p:attrNameLst>
                                      </p:cBhvr>
                                      <p:to>
                                        <p:strVal val="visible"/>
                                      </p:to>
                                    </p:set>
                                    <p:anim calcmode="lin" valueType="num">
                                      <p:cBhvr additive="base">
                                        <p:cTn id="72" dur="500" fill="hold"/>
                                        <p:tgtEl>
                                          <p:spTgt spid="556206"/>
                                        </p:tgtEl>
                                        <p:attrNameLst>
                                          <p:attrName>ppt_x</p:attrName>
                                        </p:attrNameLst>
                                      </p:cBhvr>
                                      <p:tavLst>
                                        <p:tav tm="0">
                                          <p:val>
                                            <p:strVal val="#ppt_x"/>
                                          </p:val>
                                        </p:tav>
                                        <p:tav tm="100000">
                                          <p:val>
                                            <p:strVal val="#ppt_x"/>
                                          </p:val>
                                        </p:tav>
                                      </p:tavLst>
                                    </p:anim>
                                    <p:anim calcmode="lin" valueType="num">
                                      <p:cBhvr additive="base">
                                        <p:cTn id="73" dur="500" fill="hold"/>
                                        <p:tgtEl>
                                          <p:spTgt spid="556206"/>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556207"/>
                                        </p:tgtEl>
                                        <p:attrNameLst>
                                          <p:attrName>style.visibility</p:attrName>
                                        </p:attrNameLst>
                                      </p:cBhvr>
                                      <p:to>
                                        <p:strVal val="visible"/>
                                      </p:to>
                                    </p:set>
                                    <p:anim calcmode="lin" valueType="num">
                                      <p:cBhvr additive="base">
                                        <p:cTn id="76" dur="500" fill="hold"/>
                                        <p:tgtEl>
                                          <p:spTgt spid="556207"/>
                                        </p:tgtEl>
                                        <p:attrNameLst>
                                          <p:attrName>ppt_x</p:attrName>
                                        </p:attrNameLst>
                                      </p:cBhvr>
                                      <p:tavLst>
                                        <p:tav tm="0">
                                          <p:val>
                                            <p:strVal val="#ppt_x"/>
                                          </p:val>
                                        </p:tav>
                                        <p:tav tm="100000">
                                          <p:val>
                                            <p:strVal val="#ppt_x"/>
                                          </p:val>
                                        </p:tav>
                                      </p:tavLst>
                                    </p:anim>
                                    <p:anim calcmode="lin" valueType="num">
                                      <p:cBhvr additive="base">
                                        <p:cTn id="77" dur="500" fill="hold"/>
                                        <p:tgtEl>
                                          <p:spTgt spid="556207"/>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556217"/>
                                        </p:tgtEl>
                                        <p:attrNameLst>
                                          <p:attrName>style.visibility</p:attrName>
                                        </p:attrNameLst>
                                      </p:cBhvr>
                                      <p:to>
                                        <p:strVal val="visible"/>
                                      </p:to>
                                    </p:set>
                                    <p:anim calcmode="lin" valueType="num">
                                      <p:cBhvr additive="base">
                                        <p:cTn id="80" dur="500" fill="hold"/>
                                        <p:tgtEl>
                                          <p:spTgt spid="556217"/>
                                        </p:tgtEl>
                                        <p:attrNameLst>
                                          <p:attrName>ppt_x</p:attrName>
                                        </p:attrNameLst>
                                      </p:cBhvr>
                                      <p:tavLst>
                                        <p:tav tm="0">
                                          <p:val>
                                            <p:strVal val="#ppt_x"/>
                                          </p:val>
                                        </p:tav>
                                        <p:tav tm="100000">
                                          <p:val>
                                            <p:strVal val="#ppt_x"/>
                                          </p:val>
                                        </p:tav>
                                      </p:tavLst>
                                    </p:anim>
                                    <p:anim calcmode="lin" valueType="num">
                                      <p:cBhvr additive="base">
                                        <p:cTn id="81" dur="500" fill="hold"/>
                                        <p:tgtEl>
                                          <p:spTgt spid="556217"/>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556220"/>
                                        </p:tgtEl>
                                        <p:attrNameLst>
                                          <p:attrName>style.visibility</p:attrName>
                                        </p:attrNameLst>
                                      </p:cBhvr>
                                      <p:to>
                                        <p:strVal val="visible"/>
                                      </p:to>
                                    </p:set>
                                    <p:anim calcmode="lin" valueType="num">
                                      <p:cBhvr additive="base">
                                        <p:cTn id="84" dur="500" fill="hold"/>
                                        <p:tgtEl>
                                          <p:spTgt spid="556220"/>
                                        </p:tgtEl>
                                        <p:attrNameLst>
                                          <p:attrName>ppt_x</p:attrName>
                                        </p:attrNameLst>
                                      </p:cBhvr>
                                      <p:tavLst>
                                        <p:tav tm="0">
                                          <p:val>
                                            <p:strVal val="#ppt_x"/>
                                          </p:val>
                                        </p:tav>
                                        <p:tav tm="100000">
                                          <p:val>
                                            <p:strVal val="#ppt_x"/>
                                          </p:val>
                                        </p:tav>
                                      </p:tavLst>
                                    </p:anim>
                                    <p:anim calcmode="lin" valueType="num">
                                      <p:cBhvr additive="base">
                                        <p:cTn id="85" dur="500" fill="hold"/>
                                        <p:tgtEl>
                                          <p:spTgt spid="556220"/>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556232"/>
                                        </p:tgtEl>
                                        <p:attrNameLst>
                                          <p:attrName>style.visibility</p:attrName>
                                        </p:attrNameLst>
                                      </p:cBhvr>
                                      <p:to>
                                        <p:strVal val="visible"/>
                                      </p:to>
                                    </p:set>
                                    <p:anim calcmode="lin" valueType="num">
                                      <p:cBhvr additive="base">
                                        <p:cTn id="88" dur="500" fill="hold"/>
                                        <p:tgtEl>
                                          <p:spTgt spid="556232"/>
                                        </p:tgtEl>
                                        <p:attrNameLst>
                                          <p:attrName>ppt_x</p:attrName>
                                        </p:attrNameLst>
                                      </p:cBhvr>
                                      <p:tavLst>
                                        <p:tav tm="0">
                                          <p:val>
                                            <p:strVal val="#ppt_x"/>
                                          </p:val>
                                        </p:tav>
                                        <p:tav tm="100000">
                                          <p:val>
                                            <p:strVal val="#ppt_x"/>
                                          </p:val>
                                        </p:tav>
                                      </p:tavLst>
                                    </p:anim>
                                    <p:anim calcmode="lin" valueType="num">
                                      <p:cBhvr additive="base">
                                        <p:cTn id="89" dur="500" fill="hold"/>
                                        <p:tgtEl>
                                          <p:spTgt spid="556232"/>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556233"/>
                                        </p:tgtEl>
                                        <p:attrNameLst>
                                          <p:attrName>style.visibility</p:attrName>
                                        </p:attrNameLst>
                                      </p:cBhvr>
                                      <p:to>
                                        <p:strVal val="visible"/>
                                      </p:to>
                                    </p:set>
                                    <p:anim calcmode="lin" valueType="num">
                                      <p:cBhvr additive="base">
                                        <p:cTn id="92" dur="500" fill="hold"/>
                                        <p:tgtEl>
                                          <p:spTgt spid="556233"/>
                                        </p:tgtEl>
                                        <p:attrNameLst>
                                          <p:attrName>ppt_x</p:attrName>
                                        </p:attrNameLst>
                                      </p:cBhvr>
                                      <p:tavLst>
                                        <p:tav tm="0">
                                          <p:val>
                                            <p:strVal val="#ppt_x"/>
                                          </p:val>
                                        </p:tav>
                                        <p:tav tm="100000">
                                          <p:val>
                                            <p:strVal val="#ppt_x"/>
                                          </p:val>
                                        </p:tav>
                                      </p:tavLst>
                                    </p:anim>
                                    <p:anim calcmode="lin" valueType="num">
                                      <p:cBhvr additive="base">
                                        <p:cTn id="93" dur="500" fill="hold"/>
                                        <p:tgtEl>
                                          <p:spTgt spid="556233"/>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556234"/>
                                        </p:tgtEl>
                                        <p:attrNameLst>
                                          <p:attrName>style.visibility</p:attrName>
                                        </p:attrNameLst>
                                      </p:cBhvr>
                                      <p:to>
                                        <p:strVal val="visible"/>
                                      </p:to>
                                    </p:set>
                                    <p:anim calcmode="lin" valueType="num">
                                      <p:cBhvr additive="base">
                                        <p:cTn id="96" dur="500" fill="hold"/>
                                        <p:tgtEl>
                                          <p:spTgt spid="556234"/>
                                        </p:tgtEl>
                                        <p:attrNameLst>
                                          <p:attrName>ppt_x</p:attrName>
                                        </p:attrNameLst>
                                      </p:cBhvr>
                                      <p:tavLst>
                                        <p:tav tm="0">
                                          <p:val>
                                            <p:strVal val="#ppt_x"/>
                                          </p:val>
                                        </p:tav>
                                        <p:tav tm="100000">
                                          <p:val>
                                            <p:strVal val="#ppt_x"/>
                                          </p:val>
                                        </p:tav>
                                      </p:tavLst>
                                    </p:anim>
                                    <p:anim calcmode="lin" valueType="num">
                                      <p:cBhvr additive="base">
                                        <p:cTn id="97" dur="500" fill="hold"/>
                                        <p:tgtEl>
                                          <p:spTgt spid="556234"/>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0"/>
                                  </p:stCondLst>
                                  <p:childTnLst>
                                    <p:set>
                                      <p:cBhvr>
                                        <p:cTn id="99" dur="1" fill="hold">
                                          <p:stCondLst>
                                            <p:cond delay="0"/>
                                          </p:stCondLst>
                                        </p:cTn>
                                        <p:tgtEl>
                                          <p:spTgt spid="556235"/>
                                        </p:tgtEl>
                                        <p:attrNameLst>
                                          <p:attrName>style.visibility</p:attrName>
                                        </p:attrNameLst>
                                      </p:cBhvr>
                                      <p:to>
                                        <p:strVal val="visible"/>
                                      </p:to>
                                    </p:set>
                                    <p:anim calcmode="lin" valueType="num">
                                      <p:cBhvr additive="base">
                                        <p:cTn id="100" dur="500" fill="hold"/>
                                        <p:tgtEl>
                                          <p:spTgt spid="556235"/>
                                        </p:tgtEl>
                                        <p:attrNameLst>
                                          <p:attrName>ppt_x</p:attrName>
                                        </p:attrNameLst>
                                      </p:cBhvr>
                                      <p:tavLst>
                                        <p:tav tm="0">
                                          <p:val>
                                            <p:strVal val="#ppt_x"/>
                                          </p:val>
                                        </p:tav>
                                        <p:tav tm="100000">
                                          <p:val>
                                            <p:strVal val="#ppt_x"/>
                                          </p:val>
                                        </p:tav>
                                      </p:tavLst>
                                    </p:anim>
                                    <p:anim calcmode="lin" valueType="num">
                                      <p:cBhvr additive="base">
                                        <p:cTn id="101" dur="500" fill="hold"/>
                                        <p:tgtEl>
                                          <p:spTgt spid="556235"/>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556236"/>
                                        </p:tgtEl>
                                        <p:attrNameLst>
                                          <p:attrName>style.visibility</p:attrName>
                                        </p:attrNameLst>
                                      </p:cBhvr>
                                      <p:to>
                                        <p:strVal val="visible"/>
                                      </p:to>
                                    </p:set>
                                    <p:anim calcmode="lin" valueType="num">
                                      <p:cBhvr additive="base">
                                        <p:cTn id="104" dur="500" fill="hold"/>
                                        <p:tgtEl>
                                          <p:spTgt spid="556236"/>
                                        </p:tgtEl>
                                        <p:attrNameLst>
                                          <p:attrName>ppt_x</p:attrName>
                                        </p:attrNameLst>
                                      </p:cBhvr>
                                      <p:tavLst>
                                        <p:tav tm="0">
                                          <p:val>
                                            <p:strVal val="#ppt_x"/>
                                          </p:val>
                                        </p:tav>
                                        <p:tav tm="100000">
                                          <p:val>
                                            <p:strVal val="#ppt_x"/>
                                          </p:val>
                                        </p:tav>
                                      </p:tavLst>
                                    </p:anim>
                                    <p:anim calcmode="lin" valueType="num">
                                      <p:cBhvr additive="base">
                                        <p:cTn id="105" dur="500" fill="hold"/>
                                        <p:tgtEl>
                                          <p:spTgt spid="556236"/>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556237"/>
                                        </p:tgtEl>
                                        <p:attrNameLst>
                                          <p:attrName>style.visibility</p:attrName>
                                        </p:attrNameLst>
                                      </p:cBhvr>
                                      <p:to>
                                        <p:strVal val="visible"/>
                                      </p:to>
                                    </p:set>
                                    <p:anim calcmode="lin" valueType="num">
                                      <p:cBhvr additive="base">
                                        <p:cTn id="108" dur="500" fill="hold"/>
                                        <p:tgtEl>
                                          <p:spTgt spid="556237"/>
                                        </p:tgtEl>
                                        <p:attrNameLst>
                                          <p:attrName>ppt_x</p:attrName>
                                        </p:attrNameLst>
                                      </p:cBhvr>
                                      <p:tavLst>
                                        <p:tav tm="0">
                                          <p:val>
                                            <p:strVal val="#ppt_x"/>
                                          </p:val>
                                        </p:tav>
                                        <p:tav tm="100000">
                                          <p:val>
                                            <p:strVal val="#ppt_x"/>
                                          </p:val>
                                        </p:tav>
                                      </p:tavLst>
                                    </p:anim>
                                    <p:anim calcmode="lin" valueType="num">
                                      <p:cBhvr additive="base">
                                        <p:cTn id="109" dur="500" fill="hold"/>
                                        <p:tgtEl>
                                          <p:spTgt spid="556237"/>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556238"/>
                                        </p:tgtEl>
                                        <p:attrNameLst>
                                          <p:attrName>style.visibility</p:attrName>
                                        </p:attrNameLst>
                                      </p:cBhvr>
                                      <p:to>
                                        <p:strVal val="visible"/>
                                      </p:to>
                                    </p:set>
                                    <p:anim calcmode="lin" valueType="num">
                                      <p:cBhvr additive="base">
                                        <p:cTn id="112" dur="500" fill="hold"/>
                                        <p:tgtEl>
                                          <p:spTgt spid="556238"/>
                                        </p:tgtEl>
                                        <p:attrNameLst>
                                          <p:attrName>ppt_x</p:attrName>
                                        </p:attrNameLst>
                                      </p:cBhvr>
                                      <p:tavLst>
                                        <p:tav tm="0">
                                          <p:val>
                                            <p:strVal val="#ppt_x"/>
                                          </p:val>
                                        </p:tav>
                                        <p:tav tm="100000">
                                          <p:val>
                                            <p:strVal val="#ppt_x"/>
                                          </p:val>
                                        </p:tav>
                                      </p:tavLst>
                                    </p:anim>
                                    <p:anim calcmode="lin" valueType="num">
                                      <p:cBhvr additive="base">
                                        <p:cTn id="113" dur="500" fill="hold"/>
                                        <p:tgtEl>
                                          <p:spTgt spid="556238"/>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556248"/>
                                        </p:tgtEl>
                                        <p:attrNameLst>
                                          <p:attrName>style.visibility</p:attrName>
                                        </p:attrNameLst>
                                      </p:cBhvr>
                                      <p:to>
                                        <p:strVal val="visible"/>
                                      </p:to>
                                    </p:set>
                                    <p:anim calcmode="lin" valueType="num">
                                      <p:cBhvr additive="base">
                                        <p:cTn id="116" dur="500" fill="hold"/>
                                        <p:tgtEl>
                                          <p:spTgt spid="556248"/>
                                        </p:tgtEl>
                                        <p:attrNameLst>
                                          <p:attrName>ppt_x</p:attrName>
                                        </p:attrNameLst>
                                      </p:cBhvr>
                                      <p:tavLst>
                                        <p:tav tm="0">
                                          <p:val>
                                            <p:strVal val="#ppt_x"/>
                                          </p:val>
                                        </p:tav>
                                        <p:tav tm="100000">
                                          <p:val>
                                            <p:strVal val="#ppt_x"/>
                                          </p:val>
                                        </p:tav>
                                      </p:tavLst>
                                    </p:anim>
                                    <p:anim calcmode="lin" valueType="num">
                                      <p:cBhvr additive="base">
                                        <p:cTn id="117" dur="500" fill="hold"/>
                                        <p:tgtEl>
                                          <p:spTgt spid="556248"/>
                                        </p:tgtEl>
                                        <p:attrNameLst>
                                          <p:attrName>ppt_y</p:attrName>
                                        </p:attrNameLst>
                                      </p:cBhvr>
                                      <p:tavLst>
                                        <p:tav tm="0">
                                          <p:val>
                                            <p:strVal val="1+#ppt_h/2"/>
                                          </p:val>
                                        </p:tav>
                                        <p:tav tm="100000">
                                          <p:val>
                                            <p:strVal val="#ppt_y"/>
                                          </p:val>
                                        </p:tav>
                                      </p:tavLst>
                                    </p:anim>
                                  </p:childTnLst>
                                </p:cTn>
                              </p:par>
                              <p:par>
                                <p:cTn id="118" presetID="2" presetClass="entr" presetSubtype="4" fill="hold" nodeType="withEffect">
                                  <p:stCondLst>
                                    <p:cond delay="0"/>
                                  </p:stCondLst>
                                  <p:childTnLst>
                                    <p:set>
                                      <p:cBhvr>
                                        <p:cTn id="119" dur="1" fill="hold">
                                          <p:stCondLst>
                                            <p:cond delay="0"/>
                                          </p:stCondLst>
                                        </p:cTn>
                                        <p:tgtEl>
                                          <p:spTgt spid="556250"/>
                                        </p:tgtEl>
                                        <p:attrNameLst>
                                          <p:attrName>style.visibility</p:attrName>
                                        </p:attrNameLst>
                                      </p:cBhvr>
                                      <p:to>
                                        <p:strVal val="visible"/>
                                      </p:to>
                                    </p:set>
                                    <p:anim calcmode="lin" valueType="num">
                                      <p:cBhvr additive="base">
                                        <p:cTn id="120" dur="500" fill="hold"/>
                                        <p:tgtEl>
                                          <p:spTgt spid="556250"/>
                                        </p:tgtEl>
                                        <p:attrNameLst>
                                          <p:attrName>ppt_x</p:attrName>
                                        </p:attrNameLst>
                                      </p:cBhvr>
                                      <p:tavLst>
                                        <p:tav tm="0">
                                          <p:val>
                                            <p:strVal val="#ppt_x"/>
                                          </p:val>
                                        </p:tav>
                                        <p:tav tm="100000">
                                          <p:val>
                                            <p:strVal val="#ppt_x"/>
                                          </p:val>
                                        </p:tav>
                                      </p:tavLst>
                                    </p:anim>
                                    <p:anim calcmode="lin" valueType="num">
                                      <p:cBhvr additive="base">
                                        <p:cTn id="121" dur="500" fill="hold"/>
                                        <p:tgtEl>
                                          <p:spTgt spid="556250"/>
                                        </p:tgtEl>
                                        <p:attrNameLst>
                                          <p:attrName>ppt_y</p:attrName>
                                        </p:attrNameLst>
                                      </p:cBhvr>
                                      <p:tavLst>
                                        <p:tav tm="0">
                                          <p:val>
                                            <p:strVal val="1+#ppt_h/2"/>
                                          </p:val>
                                        </p:tav>
                                        <p:tav tm="100000">
                                          <p:val>
                                            <p:strVal val="#ppt_y"/>
                                          </p:val>
                                        </p:tav>
                                      </p:tavLst>
                                    </p:anim>
                                  </p:childTnLst>
                                </p:cTn>
                              </p:par>
                              <p:par>
                                <p:cTn id="122" presetID="2" presetClass="entr" presetSubtype="4" fill="hold" nodeType="withEffect">
                                  <p:stCondLst>
                                    <p:cond delay="0"/>
                                  </p:stCondLst>
                                  <p:childTnLst>
                                    <p:set>
                                      <p:cBhvr>
                                        <p:cTn id="123" dur="1" fill="hold">
                                          <p:stCondLst>
                                            <p:cond delay="0"/>
                                          </p:stCondLst>
                                        </p:cTn>
                                        <p:tgtEl>
                                          <p:spTgt spid="556251"/>
                                        </p:tgtEl>
                                        <p:attrNameLst>
                                          <p:attrName>style.visibility</p:attrName>
                                        </p:attrNameLst>
                                      </p:cBhvr>
                                      <p:to>
                                        <p:strVal val="visible"/>
                                      </p:to>
                                    </p:set>
                                    <p:anim calcmode="lin" valueType="num">
                                      <p:cBhvr additive="base">
                                        <p:cTn id="124" dur="500" fill="hold"/>
                                        <p:tgtEl>
                                          <p:spTgt spid="556251"/>
                                        </p:tgtEl>
                                        <p:attrNameLst>
                                          <p:attrName>ppt_x</p:attrName>
                                        </p:attrNameLst>
                                      </p:cBhvr>
                                      <p:tavLst>
                                        <p:tav tm="0">
                                          <p:val>
                                            <p:strVal val="#ppt_x"/>
                                          </p:val>
                                        </p:tav>
                                        <p:tav tm="100000">
                                          <p:val>
                                            <p:strVal val="#ppt_x"/>
                                          </p:val>
                                        </p:tav>
                                      </p:tavLst>
                                    </p:anim>
                                    <p:anim calcmode="lin" valueType="num">
                                      <p:cBhvr additive="base">
                                        <p:cTn id="125" dur="500" fill="hold"/>
                                        <p:tgtEl>
                                          <p:spTgt spid="5562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188" grpId="0" bldLvl="0" animBg="1"/>
      <p:bldP spid="556189" grpId="0" bldLvl="0" animBg="1"/>
      <p:bldP spid="556190" grpId="0"/>
      <p:bldP spid="556191" grpId="0"/>
      <p:bldP spid="556192" grpId="0"/>
      <p:bldP spid="556193" grpId="0"/>
      <p:bldP spid="556204" grpId="0" bldLvl="0" animBg="1"/>
      <p:bldP spid="556217" grpId="0" bldLvl="0" animBg="1"/>
      <p:bldP spid="556232" grpId="0"/>
      <p:bldP spid="556233" grpId="0"/>
      <p:bldP spid="556234" grpId="0"/>
      <p:bldP spid="556235" grpId="0"/>
      <p:bldP spid="556248"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3" name="Text Box 3"/>
          <p:cNvSpPr txBox="1"/>
          <p:nvPr/>
        </p:nvSpPr>
        <p:spPr>
          <a:xfrm>
            <a:off x="90488" y="914400"/>
            <a:ext cx="8847138" cy="3498215"/>
          </a:xfrm>
          <a:prstGeom prst="rect">
            <a:avLst/>
          </a:prstGeom>
          <a:noFill/>
          <a:ln w="9525">
            <a:noFill/>
          </a:ln>
        </p:spPr>
        <p:txBody>
          <a:bodyPr>
            <a:spAutoFit/>
          </a:body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问题</a:t>
            </a:r>
          </a:p>
          <a:p>
            <a:pPr marL="132080" marR="0" lvl="0" indent="-13208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当桶数组需要翻倍时，要做大量的工作</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当</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很大时</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132080" marR="0" lvl="0" indent="-13208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当桶数翻倍后，其在主存中可能就装不下了，或者要占用更大的空间</a:t>
            </a:r>
          </a:p>
          <a:p>
            <a:pPr marL="132080" marR="0" lvl="0" indent="-13208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如果每块的记录数很少，那么很有可能某一块的分裂比在逻辑上需要的分裂时间提前很多。</a:t>
            </a:r>
          </a:p>
          <a:p>
            <a:pPr marL="132080" marR="0" lvl="0" indent="-13208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例如：块中存放</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个记录，即使记录总数远小于</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000" b="0" i="0" u="none" strike="noStrike" kern="1200" cap="none" spc="0" normalizeH="0" baseline="30000" noProof="1">
                <a:ln>
                  <a:noFill/>
                </a:ln>
                <a:solidFill>
                  <a:srgbClr val="000000"/>
                </a:solidFill>
                <a:effectLst/>
                <a:uLnTx/>
                <a:uFillTx/>
                <a:latin typeface="微软雅黑" panose="020B0503020204020204" pitchFamily="34" charset="-122"/>
                <a:ea typeface="微软雅黑" panose="020B0503020204020204" pitchFamily="34" charset="-122"/>
                <a:cs typeface="+mn-cs"/>
              </a:rPr>
              <a:t>20</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但也可能出现三个记录的前</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20</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位二进制位序列一样，在这种情况下，将不得不使用</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i=20</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和</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100</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万个桶数组。</a:t>
            </a:r>
          </a:p>
        </p:txBody>
      </p:sp>
      <p:graphicFrame>
        <p:nvGraphicFramePr>
          <p:cNvPr id="588804" name="Group 4"/>
          <p:cNvGraphicFramePr>
            <a:graphicFrameLocks noGrp="1"/>
          </p:cNvGraphicFramePr>
          <p:nvPr/>
        </p:nvGraphicFramePr>
        <p:xfrm>
          <a:off x="6034088" y="3997960"/>
          <a:ext cx="2057400" cy="757238"/>
        </p:xfrm>
        <a:graphic>
          <a:graphicData uri="http://schemas.openxmlformats.org/drawingml/2006/table">
            <a:tbl>
              <a:tblPr/>
              <a:tblGrid>
                <a:gridCol w="2057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88846" name="Group 46"/>
          <p:cNvGraphicFramePr>
            <a:graphicFrameLocks noGrp="1"/>
          </p:cNvGraphicFramePr>
          <p:nvPr/>
        </p:nvGraphicFramePr>
        <p:xfrm>
          <a:off x="6034088" y="5293360"/>
          <a:ext cx="2057400" cy="1019347"/>
        </p:xfrm>
        <a:graphic>
          <a:graphicData uri="http://schemas.openxmlformats.org/drawingml/2006/table">
            <a:tbl>
              <a:tblPr/>
              <a:tblGrid>
                <a:gridCol w="2057400">
                  <a:extLst>
                    <a:ext uri="{9D8B030D-6E8A-4147-A177-3AD203B41FA5}">
                      <a16:colId xmlns:a16="http://schemas.microsoft.com/office/drawing/2014/main" val="20000"/>
                    </a:ext>
                  </a:extLst>
                </a:gridCol>
              </a:tblGrid>
              <a:tr h="37929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1111(11111)</a:t>
                      </a:r>
                    </a:p>
                  </a:txBody>
                  <a:tcPr marT="45706" marB="4570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6398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1111(11110), </a:t>
                      </a:r>
                      <a:r>
                        <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1111(11101)</a:t>
                      </a:r>
                    </a:p>
                  </a:txBody>
                  <a:tcPr marT="45706" marB="4570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588832" name="Group 32"/>
          <p:cNvGraphicFramePr>
            <a:graphicFrameLocks noGrp="1"/>
          </p:cNvGraphicFramePr>
          <p:nvPr/>
        </p:nvGraphicFramePr>
        <p:xfrm>
          <a:off x="4052888" y="3997960"/>
          <a:ext cx="914400" cy="37941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88838" name="Line 38"/>
          <p:cNvSpPr/>
          <p:nvPr/>
        </p:nvSpPr>
        <p:spPr>
          <a:xfrm flipV="1">
            <a:off x="4814888" y="4150360"/>
            <a:ext cx="1219200" cy="425450"/>
          </a:xfrm>
          <a:prstGeom prst="line">
            <a:avLst/>
          </a:prstGeom>
          <a:ln w="9525" cap="flat" cmpd="sng">
            <a:solidFill>
              <a:schemeClr val="tx1"/>
            </a:solidFill>
            <a:prstDash val="solid"/>
            <a:headEnd type="none" w="med" len="med"/>
            <a:tailEnd type="triangle" w="med" len="med"/>
          </a:ln>
        </p:spPr>
      </p:sp>
      <p:sp>
        <p:nvSpPr>
          <p:cNvPr id="588839" name="Line 39"/>
          <p:cNvSpPr/>
          <p:nvPr/>
        </p:nvSpPr>
        <p:spPr>
          <a:xfrm flipV="1">
            <a:off x="4872038" y="5902960"/>
            <a:ext cx="1162050" cy="849313"/>
          </a:xfrm>
          <a:prstGeom prst="line">
            <a:avLst/>
          </a:prstGeom>
          <a:ln w="38100" cap="flat" cmpd="sng">
            <a:solidFill>
              <a:srgbClr val="CC0000"/>
            </a:solidFill>
            <a:prstDash val="solid"/>
            <a:headEnd type="none" w="med" len="med"/>
            <a:tailEnd type="triangle" w="med" len="med"/>
          </a:ln>
        </p:spPr>
      </p:sp>
      <p:sp>
        <p:nvSpPr>
          <p:cNvPr id="588840" name="Rectangle 40"/>
          <p:cNvSpPr>
            <a:spLocks noChangeAspect="1"/>
          </p:cNvSpPr>
          <p:nvPr/>
        </p:nvSpPr>
        <p:spPr>
          <a:xfrm>
            <a:off x="8091488" y="399796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588841" name="Rectangle 41"/>
          <p:cNvSpPr>
            <a:spLocks noChangeAspect="1"/>
          </p:cNvSpPr>
          <p:nvPr/>
        </p:nvSpPr>
        <p:spPr>
          <a:xfrm>
            <a:off x="8091488" y="529336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p>
        </p:txBody>
      </p:sp>
      <p:grpSp>
        <p:nvGrpSpPr>
          <p:cNvPr id="5" name="Group 53"/>
          <p:cNvGrpSpPr/>
          <p:nvPr/>
        </p:nvGrpSpPr>
        <p:grpSpPr>
          <a:xfrm>
            <a:off x="781050" y="4412298"/>
            <a:ext cx="2787650" cy="2108200"/>
            <a:chOff x="373" y="2662"/>
            <a:chExt cx="1756" cy="1328"/>
          </a:xfrm>
        </p:grpSpPr>
        <p:sp>
          <p:nvSpPr>
            <p:cNvPr id="102441" name="AutoShape 39"/>
            <p:cNvSpPr/>
            <p:nvPr/>
          </p:nvSpPr>
          <p:spPr>
            <a:xfrm>
              <a:off x="373" y="2662"/>
              <a:ext cx="1756" cy="1328"/>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2442" name="Oval 40"/>
            <p:cNvSpPr/>
            <p:nvPr/>
          </p:nvSpPr>
          <p:spPr>
            <a:xfrm>
              <a:off x="438" y="2722"/>
              <a:ext cx="1639" cy="1207"/>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2443" name="Text Box 84"/>
            <p:cNvSpPr/>
            <p:nvPr/>
          </p:nvSpPr>
          <p:spPr>
            <a:xfrm>
              <a:off x="479" y="2698"/>
              <a:ext cx="1540" cy="1254"/>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i=1</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时</a:t>
              </a: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个数组在一个桶中；要分裂；则</a:t>
              </a: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个桶</a:t>
              </a:r>
            </a:p>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i=2</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时三个数组仍旧在一个桶中；要分裂，则</a:t>
              </a: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r>
                <a:rPr kumimoji="0" lang="en-US" altLang="zh-CN" sz="1400" b="0" i="0" u="none" strike="noStrike" kern="1200" cap="none" spc="0" normalizeH="0" baseline="3000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个桶</a:t>
              </a:r>
            </a:p>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i=3</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时三个数组仍旧在一个桶中；要分裂，则</a:t>
              </a: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r>
                <a:rPr kumimoji="0" lang="en-US" altLang="zh-CN" sz="1400" b="0" i="0" u="none" strike="noStrike" kern="1200" cap="none" spc="0" normalizeH="0" baseline="3000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r>
                <a:rPr kumimoji="0" lang="zh-CN" altLang="en-US"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个桶</a:t>
              </a:r>
            </a:p>
            <a:p>
              <a:pPr marL="0" marR="0" lvl="0" indent="0" algn="l"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en-US" altLang="zh-CN" sz="14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p>
          </p:txBody>
        </p:sp>
      </p:grpSp>
      <p:grpSp>
        <p:nvGrpSpPr>
          <p:cNvPr id="6" name="Group 54"/>
          <p:cNvGrpSpPr/>
          <p:nvPr/>
        </p:nvGrpSpPr>
        <p:grpSpPr>
          <a:xfrm>
            <a:off x="6646863" y="1052513"/>
            <a:ext cx="1479550" cy="823912"/>
            <a:chOff x="3312" y="2123"/>
            <a:chExt cx="932" cy="519"/>
          </a:xfrm>
        </p:grpSpPr>
        <p:sp>
          <p:nvSpPr>
            <p:cNvPr id="102438" name="AutoShape 39"/>
            <p:cNvSpPr/>
            <p:nvPr/>
          </p:nvSpPr>
          <p:spPr>
            <a:xfrm>
              <a:off x="3312" y="2123"/>
              <a:ext cx="932" cy="519"/>
            </a:xfrm>
            <a:custGeom>
              <a:avLst/>
              <a:gdLst/>
              <a:ahLst/>
              <a:cxnLst>
                <a:cxn ang="0">
                  <a:pos x="0" y="260"/>
                </a:cxn>
                <a:cxn ang="0">
                  <a:pos x="466" y="0"/>
                </a:cxn>
                <a:cxn ang="0">
                  <a:pos x="932" y="260"/>
                </a:cxn>
                <a:cxn ang="0">
                  <a:pos x="466" y="519"/>
                </a:cxn>
                <a:cxn ang="0">
                  <a:pos x="0" y="260"/>
                </a:cxn>
                <a:cxn ang="0">
                  <a:pos x="83" y="260"/>
                </a:cxn>
                <a:cxn ang="0">
                  <a:pos x="466" y="473"/>
                </a:cxn>
                <a:cxn ang="0">
                  <a:pos x="849" y="260"/>
                </a:cxn>
                <a:cxn ang="0">
                  <a:pos x="466" y="46"/>
                </a:cxn>
                <a:cxn ang="0">
                  <a:pos x="83" y="260"/>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alpha val="100000"/>
              </a:srgbClr>
            </a:solidFill>
            <a:ln w="9525">
              <a:noFill/>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2439" name="Oval 40"/>
            <p:cNvSpPr/>
            <p:nvPr/>
          </p:nvSpPr>
          <p:spPr>
            <a:xfrm>
              <a:off x="3389" y="2166"/>
              <a:ext cx="778" cy="434"/>
            </a:xfrm>
            <a:prstGeom prst="ellipse">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2440" name="Text Box 84"/>
            <p:cNvSpPr txBox="1"/>
            <p:nvPr/>
          </p:nvSpPr>
          <p:spPr>
            <a:xfrm>
              <a:off x="3392" y="2162"/>
              <a:ext cx="771" cy="44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如何    解决</a:t>
              </a:r>
              <a:r>
                <a:rPr kumimoji="0" lang="en-US" altLang="zh-CN"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p>
          </p:txBody>
        </p:sp>
      </p:grpSp>
      <p:sp>
        <p:nvSpPr>
          <p:cNvPr id="102431" name="Text Box 16"/>
          <p:cNvSpPr txBox="1"/>
          <p:nvPr/>
        </p:nvSpPr>
        <p:spPr>
          <a:xfrm>
            <a:off x="163513" y="0"/>
            <a:ext cx="5878512" cy="830263"/>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可扩展</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存在的问题</a:t>
            </a:r>
          </a:p>
        </p:txBody>
      </p:sp>
      <p:pic>
        <p:nvPicPr>
          <p:cNvPr id="588906" name="Picture 106"/>
          <p:cNvPicPr>
            <a:picLocks noChangeAspect="1"/>
          </p:cNvPicPr>
          <p:nvPr/>
        </p:nvPicPr>
        <p:blipFill>
          <a:blip r:embed="rId2">
            <a:clrChange>
              <a:clrFrom>
                <a:srgbClr val="FFFFFF"/>
              </a:clrFrom>
              <a:clrTo>
                <a:srgbClr val="FFFFFF">
                  <a:alpha val="0"/>
                </a:srgbClr>
              </a:clrTo>
            </a:clrChange>
          </a:blip>
          <a:stretch>
            <a:fillRect/>
          </a:stretch>
        </p:blipFill>
        <p:spPr>
          <a:xfrm>
            <a:off x="3894138" y="4474210"/>
            <a:ext cx="1181100" cy="2368550"/>
          </a:xfrm>
          <a:prstGeom prst="rect">
            <a:avLst/>
          </a:prstGeom>
          <a:noFill/>
          <a:ln w="9525">
            <a:noFill/>
          </a:ln>
        </p:spPr>
      </p:pic>
      <p:sp>
        <p:nvSpPr>
          <p:cNvPr id="588907" name="Line 107"/>
          <p:cNvSpPr/>
          <p:nvPr/>
        </p:nvSpPr>
        <p:spPr>
          <a:xfrm flipV="1">
            <a:off x="4905375" y="4537710"/>
            <a:ext cx="1103313" cy="2046288"/>
          </a:xfrm>
          <a:prstGeom prst="line">
            <a:avLst/>
          </a:prstGeom>
          <a:ln w="9525" cap="flat" cmpd="sng">
            <a:solidFill>
              <a:schemeClr val="tx1"/>
            </a:solidFill>
            <a:prstDash val="solid"/>
            <a:headEnd type="none" w="med" len="med"/>
            <a:tailEnd type="triangle" w="med" len="med"/>
          </a:ln>
        </p:spPr>
      </p:sp>
      <p:sp>
        <p:nvSpPr>
          <p:cNvPr id="588908" name="Line 108"/>
          <p:cNvSpPr/>
          <p:nvPr/>
        </p:nvSpPr>
        <p:spPr>
          <a:xfrm flipV="1">
            <a:off x="4921250" y="4393248"/>
            <a:ext cx="1101725" cy="944562"/>
          </a:xfrm>
          <a:prstGeom prst="line">
            <a:avLst/>
          </a:prstGeom>
          <a:ln w="9525" cap="flat" cmpd="sng">
            <a:solidFill>
              <a:schemeClr val="tx1"/>
            </a:solidFill>
            <a:prstDash val="solid"/>
            <a:headEnd type="none" w="med" len="med"/>
            <a:tailEnd type="triangle" w="med" len="med"/>
          </a:ln>
        </p:spPr>
      </p:sp>
      <p:sp>
        <p:nvSpPr>
          <p:cNvPr id="588909" name="Line 109"/>
          <p:cNvSpPr/>
          <p:nvPr/>
        </p:nvSpPr>
        <p:spPr>
          <a:xfrm>
            <a:off x="5413375" y="4450398"/>
            <a:ext cx="0" cy="334962"/>
          </a:xfrm>
          <a:prstGeom prst="line">
            <a:avLst/>
          </a:prstGeom>
          <a:ln w="28575" cap="flat" cmpd="sng">
            <a:solidFill>
              <a:schemeClr val="tx1"/>
            </a:solidFill>
            <a:prstDash val="sysDot"/>
            <a:headEnd type="none" w="med" len="med"/>
            <a:tailEnd type="none" w="med" len="med"/>
          </a:ln>
        </p:spPr>
      </p:sp>
      <p:sp>
        <p:nvSpPr>
          <p:cNvPr id="588910" name="Line 110"/>
          <p:cNvSpPr/>
          <p:nvPr/>
        </p:nvSpPr>
        <p:spPr>
          <a:xfrm>
            <a:off x="5414963" y="5023485"/>
            <a:ext cx="0" cy="334963"/>
          </a:xfrm>
          <a:prstGeom prst="line">
            <a:avLst/>
          </a:prstGeom>
          <a:ln w="28575" cap="flat" cmpd="sng">
            <a:solidFill>
              <a:schemeClr val="tx1"/>
            </a:solidFill>
            <a:prstDash val="sysDot"/>
            <a:headEnd type="none" w="med" len="med"/>
            <a:tailEnd type="none" w="med" len="med"/>
          </a:ln>
        </p:spPr>
      </p:sp>
      <p:sp>
        <p:nvSpPr>
          <p:cNvPr id="102437" name="Text Box 111"/>
          <p:cNvSpPr txBox="1"/>
          <p:nvPr/>
        </p:nvSpPr>
        <p:spPr>
          <a:xfrm>
            <a:off x="5627688" y="6499860"/>
            <a:ext cx="2978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可扩展哈希表的较坏情况</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8803">
                                            <p:txEl>
                                              <p:charRg st="41" end="72"/>
                                            </p:txEl>
                                          </p:spTgt>
                                        </p:tgtEl>
                                        <p:attrNameLst>
                                          <p:attrName>style.visibility</p:attrName>
                                        </p:attrNameLst>
                                      </p:cBhvr>
                                      <p:to>
                                        <p:strVal val="visible"/>
                                      </p:to>
                                    </p:set>
                                    <p:anim calcmode="lin" valueType="num">
                                      <p:cBhvr additive="base">
                                        <p:cTn id="7" dur="500" fill="hold"/>
                                        <p:tgtEl>
                                          <p:spTgt spid="588803">
                                            <p:txEl>
                                              <p:charRg st="41" end="7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8803">
                                            <p:txEl>
                                              <p:charRg st="41" end="7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88803">
                                            <p:txEl>
                                              <p:charRg st="72" end="178"/>
                                            </p:txEl>
                                          </p:spTgt>
                                        </p:tgtEl>
                                        <p:attrNameLst>
                                          <p:attrName>style.visibility</p:attrName>
                                        </p:attrNameLst>
                                      </p:cBhvr>
                                      <p:to>
                                        <p:strVal val="visible"/>
                                      </p:to>
                                    </p:set>
                                    <p:anim calcmode="lin" valueType="num">
                                      <p:cBhvr additive="base">
                                        <p:cTn id="13" dur="500" fill="hold"/>
                                        <p:tgtEl>
                                          <p:spTgt spid="588803">
                                            <p:txEl>
                                              <p:charRg st="72" end="17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8803">
                                            <p:txEl>
                                              <p:charRg st="72" end="178"/>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88804"/>
                                        </p:tgtEl>
                                        <p:attrNameLst>
                                          <p:attrName>style.visibility</p:attrName>
                                        </p:attrNameLst>
                                      </p:cBhvr>
                                      <p:to>
                                        <p:strVal val="visible"/>
                                      </p:to>
                                    </p:set>
                                    <p:anim calcmode="lin" valueType="num">
                                      <p:cBhvr additive="base">
                                        <p:cTn id="17" dur="500" fill="hold"/>
                                        <p:tgtEl>
                                          <p:spTgt spid="588804"/>
                                        </p:tgtEl>
                                        <p:attrNameLst>
                                          <p:attrName>ppt_x</p:attrName>
                                        </p:attrNameLst>
                                      </p:cBhvr>
                                      <p:tavLst>
                                        <p:tav tm="0">
                                          <p:val>
                                            <p:strVal val="#ppt_x"/>
                                          </p:val>
                                        </p:tav>
                                        <p:tav tm="100000">
                                          <p:val>
                                            <p:strVal val="#ppt_x"/>
                                          </p:val>
                                        </p:tav>
                                      </p:tavLst>
                                    </p:anim>
                                    <p:anim calcmode="lin" valueType="num">
                                      <p:cBhvr additive="base">
                                        <p:cTn id="18" dur="500" fill="hold"/>
                                        <p:tgtEl>
                                          <p:spTgt spid="58880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88846"/>
                                        </p:tgtEl>
                                        <p:attrNameLst>
                                          <p:attrName>style.visibility</p:attrName>
                                        </p:attrNameLst>
                                      </p:cBhvr>
                                      <p:to>
                                        <p:strVal val="visible"/>
                                      </p:to>
                                    </p:set>
                                    <p:anim calcmode="lin" valueType="num">
                                      <p:cBhvr additive="base">
                                        <p:cTn id="21" dur="500" fill="hold"/>
                                        <p:tgtEl>
                                          <p:spTgt spid="588846"/>
                                        </p:tgtEl>
                                        <p:attrNameLst>
                                          <p:attrName>ppt_x</p:attrName>
                                        </p:attrNameLst>
                                      </p:cBhvr>
                                      <p:tavLst>
                                        <p:tav tm="0">
                                          <p:val>
                                            <p:strVal val="#ppt_x"/>
                                          </p:val>
                                        </p:tav>
                                        <p:tav tm="100000">
                                          <p:val>
                                            <p:strVal val="#ppt_x"/>
                                          </p:val>
                                        </p:tav>
                                      </p:tavLst>
                                    </p:anim>
                                    <p:anim calcmode="lin" valueType="num">
                                      <p:cBhvr additive="base">
                                        <p:cTn id="22" dur="500" fill="hold"/>
                                        <p:tgtEl>
                                          <p:spTgt spid="58884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88832"/>
                                        </p:tgtEl>
                                        <p:attrNameLst>
                                          <p:attrName>style.visibility</p:attrName>
                                        </p:attrNameLst>
                                      </p:cBhvr>
                                      <p:to>
                                        <p:strVal val="visible"/>
                                      </p:to>
                                    </p:set>
                                    <p:anim calcmode="lin" valueType="num">
                                      <p:cBhvr additive="base">
                                        <p:cTn id="25" dur="500" fill="hold"/>
                                        <p:tgtEl>
                                          <p:spTgt spid="588832"/>
                                        </p:tgtEl>
                                        <p:attrNameLst>
                                          <p:attrName>ppt_x</p:attrName>
                                        </p:attrNameLst>
                                      </p:cBhvr>
                                      <p:tavLst>
                                        <p:tav tm="0">
                                          <p:val>
                                            <p:strVal val="#ppt_x"/>
                                          </p:val>
                                        </p:tav>
                                        <p:tav tm="100000">
                                          <p:val>
                                            <p:strVal val="#ppt_x"/>
                                          </p:val>
                                        </p:tav>
                                      </p:tavLst>
                                    </p:anim>
                                    <p:anim calcmode="lin" valueType="num">
                                      <p:cBhvr additive="base">
                                        <p:cTn id="26" dur="500" fill="hold"/>
                                        <p:tgtEl>
                                          <p:spTgt spid="58883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88838"/>
                                        </p:tgtEl>
                                        <p:attrNameLst>
                                          <p:attrName>style.visibility</p:attrName>
                                        </p:attrNameLst>
                                      </p:cBhvr>
                                      <p:to>
                                        <p:strVal val="visible"/>
                                      </p:to>
                                    </p:set>
                                    <p:anim calcmode="lin" valueType="num">
                                      <p:cBhvr additive="base">
                                        <p:cTn id="29" dur="500" fill="hold"/>
                                        <p:tgtEl>
                                          <p:spTgt spid="588838"/>
                                        </p:tgtEl>
                                        <p:attrNameLst>
                                          <p:attrName>ppt_x</p:attrName>
                                        </p:attrNameLst>
                                      </p:cBhvr>
                                      <p:tavLst>
                                        <p:tav tm="0">
                                          <p:val>
                                            <p:strVal val="#ppt_x"/>
                                          </p:val>
                                        </p:tav>
                                        <p:tav tm="100000">
                                          <p:val>
                                            <p:strVal val="#ppt_x"/>
                                          </p:val>
                                        </p:tav>
                                      </p:tavLst>
                                    </p:anim>
                                    <p:anim calcmode="lin" valueType="num">
                                      <p:cBhvr additive="base">
                                        <p:cTn id="30" dur="500" fill="hold"/>
                                        <p:tgtEl>
                                          <p:spTgt spid="58883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88839"/>
                                        </p:tgtEl>
                                        <p:attrNameLst>
                                          <p:attrName>style.visibility</p:attrName>
                                        </p:attrNameLst>
                                      </p:cBhvr>
                                      <p:to>
                                        <p:strVal val="visible"/>
                                      </p:to>
                                    </p:set>
                                    <p:anim calcmode="lin" valueType="num">
                                      <p:cBhvr additive="base">
                                        <p:cTn id="33" dur="500" fill="hold"/>
                                        <p:tgtEl>
                                          <p:spTgt spid="588839"/>
                                        </p:tgtEl>
                                        <p:attrNameLst>
                                          <p:attrName>ppt_x</p:attrName>
                                        </p:attrNameLst>
                                      </p:cBhvr>
                                      <p:tavLst>
                                        <p:tav tm="0">
                                          <p:val>
                                            <p:strVal val="#ppt_x"/>
                                          </p:val>
                                        </p:tav>
                                        <p:tav tm="100000">
                                          <p:val>
                                            <p:strVal val="#ppt_x"/>
                                          </p:val>
                                        </p:tav>
                                      </p:tavLst>
                                    </p:anim>
                                    <p:anim calcmode="lin" valueType="num">
                                      <p:cBhvr additive="base">
                                        <p:cTn id="34" dur="500" fill="hold"/>
                                        <p:tgtEl>
                                          <p:spTgt spid="58883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88840"/>
                                        </p:tgtEl>
                                        <p:attrNameLst>
                                          <p:attrName>style.visibility</p:attrName>
                                        </p:attrNameLst>
                                      </p:cBhvr>
                                      <p:to>
                                        <p:strVal val="visible"/>
                                      </p:to>
                                    </p:set>
                                    <p:anim calcmode="lin" valueType="num">
                                      <p:cBhvr additive="base">
                                        <p:cTn id="37" dur="500" fill="hold"/>
                                        <p:tgtEl>
                                          <p:spTgt spid="588840"/>
                                        </p:tgtEl>
                                        <p:attrNameLst>
                                          <p:attrName>ppt_x</p:attrName>
                                        </p:attrNameLst>
                                      </p:cBhvr>
                                      <p:tavLst>
                                        <p:tav tm="0">
                                          <p:val>
                                            <p:strVal val="#ppt_x"/>
                                          </p:val>
                                        </p:tav>
                                        <p:tav tm="100000">
                                          <p:val>
                                            <p:strVal val="#ppt_x"/>
                                          </p:val>
                                        </p:tav>
                                      </p:tavLst>
                                    </p:anim>
                                    <p:anim calcmode="lin" valueType="num">
                                      <p:cBhvr additive="base">
                                        <p:cTn id="38" dur="500" fill="hold"/>
                                        <p:tgtEl>
                                          <p:spTgt spid="58884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88841"/>
                                        </p:tgtEl>
                                        <p:attrNameLst>
                                          <p:attrName>style.visibility</p:attrName>
                                        </p:attrNameLst>
                                      </p:cBhvr>
                                      <p:to>
                                        <p:strVal val="visible"/>
                                      </p:to>
                                    </p:set>
                                    <p:anim calcmode="lin" valueType="num">
                                      <p:cBhvr additive="base">
                                        <p:cTn id="41" dur="500" fill="hold"/>
                                        <p:tgtEl>
                                          <p:spTgt spid="588841"/>
                                        </p:tgtEl>
                                        <p:attrNameLst>
                                          <p:attrName>ppt_x</p:attrName>
                                        </p:attrNameLst>
                                      </p:cBhvr>
                                      <p:tavLst>
                                        <p:tav tm="0">
                                          <p:val>
                                            <p:strVal val="#ppt_x"/>
                                          </p:val>
                                        </p:tav>
                                        <p:tav tm="100000">
                                          <p:val>
                                            <p:strVal val="#ppt_x"/>
                                          </p:val>
                                        </p:tav>
                                      </p:tavLst>
                                    </p:anim>
                                    <p:anim calcmode="lin" valueType="num">
                                      <p:cBhvr additive="base">
                                        <p:cTn id="42" dur="500" fill="hold"/>
                                        <p:tgtEl>
                                          <p:spTgt spid="58884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ppt_x"/>
                                          </p:val>
                                        </p:tav>
                                        <p:tav tm="100000">
                                          <p:val>
                                            <p:strVal val="#ppt_x"/>
                                          </p:val>
                                        </p:tav>
                                      </p:tavLst>
                                    </p:anim>
                                    <p:anim calcmode="lin" valueType="num">
                                      <p:cBhvr additive="base">
                                        <p:cTn id="46" dur="500" fill="hold"/>
                                        <p:tgtEl>
                                          <p:spTgt spid="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88906"/>
                                        </p:tgtEl>
                                        <p:attrNameLst>
                                          <p:attrName>style.visibility</p:attrName>
                                        </p:attrNameLst>
                                      </p:cBhvr>
                                      <p:to>
                                        <p:strVal val="visible"/>
                                      </p:to>
                                    </p:set>
                                    <p:anim calcmode="lin" valueType="num">
                                      <p:cBhvr additive="base">
                                        <p:cTn id="49" dur="500" fill="hold"/>
                                        <p:tgtEl>
                                          <p:spTgt spid="588906"/>
                                        </p:tgtEl>
                                        <p:attrNameLst>
                                          <p:attrName>ppt_x</p:attrName>
                                        </p:attrNameLst>
                                      </p:cBhvr>
                                      <p:tavLst>
                                        <p:tav tm="0">
                                          <p:val>
                                            <p:strVal val="#ppt_x"/>
                                          </p:val>
                                        </p:tav>
                                        <p:tav tm="100000">
                                          <p:val>
                                            <p:strVal val="#ppt_x"/>
                                          </p:val>
                                        </p:tav>
                                      </p:tavLst>
                                    </p:anim>
                                    <p:anim calcmode="lin" valueType="num">
                                      <p:cBhvr additive="base">
                                        <p:cTn id="50" dur="500" fill="hold"/>
                                        <p:tgtEl>
                                          <p:spTgt spid="58890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88907"/>
                                        </p:tgtEl>
                                        <p:attrNameLst>
                                          <p:attrName>style.visibility</p:attrName>
                                        </p:attrNameLst>
                                      </p:cBhvr>
                                      <p:to>
                                        <p:strVal val="visible"/>
                                      </p:to>
                                    </p:set>
                                    <p:anim calcmode="lin" valueType="num">
                                      <p:cBhvr additive="base">
                                        <p:cTn id="53" dur="500" fill="hold"/>
                                        <p:tgtEl>
                                          <p:spTgt spid="588907"/>
                                        </p:tgtEl>
                                        <p:attrNameLst>
                                          <p:attrName>ppt_x</p:attrName>
                                        </p:attrNameLst>
                                      </p:cBhvr>
                                      <p:tavLst>
                                        <p:tav tm="0">
                                          <p:val>
                                            <p:strVal val="#ppt_x"/>
                                          </p:val>
                                        </p:tav>
                                        <p:tav tm="100000">
                                          <p:val>
                                            <p:strVal val="#ppt_x"/>
                                          </p:val>
                                        </p:tav>
                                      </p:tavLst>
                                    </p:anim>
                                    <p:anim calcmode="lin" valueType="num">
                                      <p:cBhvr additive="base">
                                        <p:cTn id="54" dur="500" fill="hold"/>
                                        <p:tgtEl>
                                          <p:spTgt spid="588907"/>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88908"/>
                                        </p:tgtEl>
                                        <p:attrNameLst>
                                          <p:attrName>style.visibility</p:attrName>
                                        </p:attrNameLst>
                                      </p:cBhvr>
                                      <p:to>
                                        <p:strVal val="visible"/>
                                      </p:to>
                                    </p:set>
                                    <p:anim calcmode="lin" valueType="num">
                                      <p:cBhvr additive="base">
                                        <p:cTn id="57" dur="500" fill="hold"/>
                                        <p:tgtEl>
                                          <p:spTgt spid="588908"/>
                                        </p:tgtEl>
                                        <p:attrNameLst>
                                          <p:attrName>ppt_x</p:attrName>
                                        </p:attrNameLst>
                                      </p:cBhvr>
                                      <p:tavLst>
                                        <p:tav tm="0">
                                          <p:val>
                                            <p:strVal val="#ppt_x"/>
                                          </p:val>
                                        </p:tav>
                                        <p:tav tm="100000">
                                          <p:val>
                                            <p:strVal val="#ppt_x"/>
                                          </p:val>
                                        </p:tav>
                                      </p:tavLst>
                                    </p:anim>
                                    <p:anim calcmode="lin" valueType="num">
                                      <p:cBhvr additive="base">
                                        <p:cTn id="58" dur="500" fill="hold"/>
                                        <p:tgtEl>
                                          <p:spTgt spid="588908"/>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588909"/>
                                        </p:tgtEl>
                                        <p:attrNameLst>
                                          <p:attrName>style.visibility</p:attrName>
                                        </p:attrNameLst>
                                      </p:cBhvr>
                                      <p:to>
                                        <p:strVal val="visible"/>
                                      </p:to>
                                    </p:set>
                                    <p:anim calcmode="lin" valueType="num">
                                      <p:cBhvr additive="base">
                                        <p:cTn id="61" dur="500" fill="hold"/>
                                        <p:tgtEl>
                                          <p:spTgt spid="588909"/>
                                        </p:tgtEl>
                                        <p:attrNameLst>
                                          <p:attrName>ppt_x</p:attrName>
                                        </p:attrNameLst>
                                      </p:cBhvr>
                                      <p:tavLst>
                                        <p:tav tm="0">
                                          <p:val>
                                            <p:strVal val="#ppt_x"/>
                                          </p:val>
                                        </p:tav>
                                        <p:tav tm="100000">
                                          <p:val>
                                            <p:strVal val="#ppt_x"/>
                                          </p:val>
                                        </p:tav>
                                      </p:tavLst>
                                    </p:anim>
                                    <p:anim calcmode="lin" valueType="num">
                                      <p:cBhvr additive="base">
                                        <p:cTn id="62" dur="500" fill="hold"/>
                                        <p:tgtEl>
                                          <p:spTgt spid="588909"/>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588910"/>
                                        </p:tgtEl>
                                        <p:attrNameLst>
                                          <p:attrName>style.visibility</p:attrName>
                                        </p:attrNameLst>
                                      </p:cBhvr>
                                      <p:to>
                                        <p:strVal val="visible"/>
                                      </p:to>
                                    </p:set>
                                    <p:anim calcmode="lin" valueType="num">
                                      <p:cBhvr additive="base">
                                        <p:cTn id="65" dur="500" fill="hold"/>
                                        <p:tgtEl>
                                          <p:spTgt spid="588910"/>
                                        </p:tgtEl>
                                        <p:attrNameLst>
                                          <p:attrName>ppt_x</p:attrName>
                                        </p:attrNameLst>
                                      </p:cBhvr>
                                      <p:tavLst>
                                        <p:tav tm="0">
                                          <p:val>
                                            <p:strVal val="#ppt_x"/>
                                          </p:val>
                                        </p:tav>
                                        <p:tav tm="100000">
                                          <p:val>
                                            <p:strVal val="#ppt_x"/>
                                          </p:val>
                                        </p:tav>
                                      </p:tavLst>
                                    </p:anim>
                                    <p:anim calcmode="lin" valueType="num">
                                      <p:cBhvr additive="base">
                                        <p:cTn id="66" dur="500" fill="hold"/>
                                        <p:tgtEl>
                                          <p:spTgt spid="588910"/>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additive="base">
                                        <p:cTn id="71" dur="500" fill="hold"/>
                                        <p:tgtEl>
                                          <p:spTgt spid="6"/>
                                        </p:tgtEl>
                                        <p:attrNameLst>
                                          <p:attrName>ppt_x</p:attrName>
                                        </p:attrNameLst>
                                      </p:cBhvr>
                                      <p:tavLst>
                                        <p:tav tm="0">
                                          <p:val>
                                            <p:strVal val="#ppt_x"/>
                                          </p:val>
                                        </p:tav>
                                        <p:tav tm="100000">
                                          <p:val>
                                            <p:strVal val="#ppt_x"/>
                                          </p:val>
                                        </p:tav>
                                      </p:tavLst>
                                    </p:anim>
                                    <p:anim calcmode="lin" valueType="num">
                                      <p:cBhvr additive="base">
                                        <p:cTn id="7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40" grpId="0" bldLvl="0" animBg="1"/>
      <p:bldP spid="588841"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Text Box 2"/>
          <p:cNvSpPr txBox="1"/>
          <p:nvPr/>
        </p:nvSpPr>
        <p:spPr>
          <a:xfrm>
            <a:off x="161925" y="914400"/>
            <a:ext cx="8847138" cy="1752600"/>
          </a:xfrm>
          <a:prstGeom prst="rect">
            <a:avLst/>
          </a:prstGeom>
          <a:noFill/>
          <a:ln w="9525">
            <a:noFill/>
          </a:ln>
        </p:spPr>
        <p:txBody>
          <a:bodyPr>
            <a:spAutoFit/>
          </a:bodyPr>
          <a:lstStyle/>
          <a:p>
            <a:pPr marL="193675" marR="0" lvl="0" indent="-193675"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桶的数目过快增长，但其利用率不足</a:t>
            </a:r>
          </a:p>
          <a:p>
            <a:pPr marL="193675" marR="0" lvl="0" indent="-193675"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例如：块中存放</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个记录，即使记录总数远小于</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0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但也可能出现三个记录的前</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位二进制位序列一样，在这种情况下，将不得不使用</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i=20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和</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万个桶数组。但大部分桶都空闲未用。</a:t>
            </a:r>
          </a:p>
        </p:txBody>
      </p:sp>
      <p:graphicFrame>
        <p:nvGraphicFramePr>
          <p:cNvPr id="673795" name="Group 3"/>
          <p:cNvGraphicFramePr>
            <a:graphicFrameLocks noGrp="1"/>
          </p:cNvGraphicFramePr>
          <p:nvPr/>
        </p:nvGraphicFramePr>
        <p:xfrm>
          <a:off x="4946650" y="3405188"/>
          <a:ext cx="2057400" cy="757237"/>
        </p:xfrm>
        <a:graphic>
          <a:graphicData uri="http://schemas.openxmlformats.org/drawingml/2006/table">
            <a:tbl>
              <a:tblPr/>
              <a:tblGrid>
                <a:gridCol w="2057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3805" name="Group 13"/>
          <p:cNvGraphicFramePr>
            <a:graphicFrameLocks noGrp="1"/>
          </p:cNvGraphicFramePr>
          <p:nvPr/>
        </p:nvGraphicFramePr>
        <p:xfrm>
          <a:off x="4946650" y="4700588"/>
          <a:ext cx="2057400" cy="1019347"/>
        </p:xfrm>
        <a:graphic>
          <a:graphicData uri="http://schemas.openxmlformats.org/drawingml/2006/table">
            <a:tbl>
              <a:tblPr/>
              <a:tblGrid>
                <a:gridCol w="2057400">
                  <a:extLst>
                    <a:ext uri="{9D8B030D-6E8A-4147-A177-3AD203B41FA5}">
                      <a16:colId xmlns:a16="http://schemas.microsoft.com/office/drawing/2014/main" val="20000"/>
                    </a:ext>
                  </a:extLst>
                </a:gridCol>
              </a:tblGrid>
              <a:tr h="37929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1111(11111)</a:t>
                      </a:r>
                    </a:p>
                  </a:txBody>
                  <a:tcPr marT="45706" marB="4570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63988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1111(11110), </a:t>
                      </a:r>
                      <a:r>
                        <a:rPr kumimoji="1" lang="en-US" altLang="zh-CN" sz="1800" b="1"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1111(11101)</a:t>
                      </a:r>
                    </a:p>
                  </a:txBody>
                  <a:tcPr marT="45706" marB="4570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bl>
          </a:graphicData>
        </a:graphic>
      </p:graphicFrame>
      <p:graphicFrame>
        <p:nvGraphicFramePr>
          <p:cNvPr id="673815" name="Group 23"/>
          <p:cNvGraphicFramePr>
            <a:graphicFrameLocks noGrp="1"/>
          </p:cNvGraphicFramePr>
          <p:nvPr/>
        </p:nvGraphicFramePr>
        <p:xfrm>
          <a:off x="2965450" y="3405188"/>
          <a:ext cx="914400" cy="379412"/>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673821" name="Line 29"/>
          <p:cNvSpPr/>
          <p:nvPr/>
        </p:nvSpPr>
        <p:spPr>
          <a:xfrm flipV="1">
            <a:off x="3727450" y="3557588"/>
            <a:ext cx="1219200" cy="425450"/>
          </a:xfrm>
          <a:prstGeom prst="line">
            <a:avLst/>
          </a:prstGeom>
          <a:ln w="9525" cap="flat" cmpd="sng">
            <a:solidFill>
              <a:schemeClr val="tx1"/>
            </a:solidFill>
            <a:prstDash val="solid"/>
            <a:headEnd type="none" w="med" len="med"/>
            <a:tailEnd type="triangle" w="med" len="med"/>
          </a:ln>
        </p:spPr>
      </p:sp>
      <p:sp>
        <p:nvSpPr>
          <p:cNvPr id="673822" name="Line 30"/>
          <p:cNvSpPr/>
          <p:nvPr/>
        </p:nvSpPr>
        <p:spPr>
          <a:xfrm flipV="1">
            <a:off x="3784600" y="5310188"/>
            <a:ext cx="1162050" cy="849312"/>
          </a:xfrm>
          <a:prstGeom prst="line">
            <a:avLst/>
          </a:prstGeom>
          <a:ln w="38100" cap="flat" cmpd="sng">
            <a:solidFill>
              <a:srgbClr val="CC0000"/>
            </a:solidFill>
            <a:prstDash val="solid"/>
            <a:headEnd type="none" w="med" len="med"/>
            <a:tailEnd type="triangle" w="med" len="med"/>
          </a:ln>
        </p:spPr>
      </p:sp>
      <p:sp>
        <p:nvSpPr>
          <p:cNvPr id="673823" name="Rectangle 31"/>
          <p:cNvSpPr>
            <a:spLocks noChangeAspect="1"/>
          </p:cNvSpPr>
          <p:nvPr/>
        </p:nvSpPr>
        <p:spPr>
          <a:xfrm>
            <a:off x="7004050" y="340518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673824" name="Rectangle 32"/>
          <p:cNvSpPr>
            <a:spLocks noChangeAspect="1"/>
          </p:cNvSpPr>
          <p:nvPr/>
        </p:nvSpPr>
        <p:spPr>
          <a:xfrm>
            <a:off x="7004050" y="470058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p>
        </p:txBody>
      </p:sp>
      <p:sp>
        <p:nvSpPr>
          <p:cNvPr id="105501"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拟解决的问题</a:t>
            </a:r>
          </a:p>
        </p:txBody>
      </p:sp>
      <p:pic>
        <p:nvPicPr>
          <p:cNvPr id="673834" name="Picture 42"/>
          <p:cNvPicPr>
            <a:picLocks noChangeAspect="1"/>
          </p:cNvPicPr>
          <p:nvPr/>
        </p:nvPicPr>
        <p:blipFill>
          <a:blip r:embed="rId2">
            <a:clrChange>
              <a:clrFrom>
                <a:srgbClr val="FFFFFF"/>
              </a:clrFrom>
              <a:clrTo>
                <a:srgbClr val="FFFFFF">
                  <a:alpha val="0"/>
                </a:srgbClr>
              </a:clrTo>
            </a:clrChange>
          </a:blip>
          <a:stretch>
            <a:fillRect/>
          </a:stretch>
        </p:blipFill>
        <p:spPr>
          <a:xfrm>
            <a:off x="2806700" y="3881438"/>
            <a:ext cx="1181100" cy="2368550"/>
          </a:xfrm>
          <a:prstGeom prst="rect">
            <a:avLst/>
          </a:prstGeom>
          <a:noFill/>
          <a:ln w="9525">
            <a:noFill/>
          </a:ln>
        </p:spPr>
      </p:pic>
      <p:sp>
        <p:nvSpPr>
          <p:cNvPr id="673835" name="Line 43"/>
          <p:cNvSpPr/>
          <p:nvPr/>
        </p:nvSpPr>
        <p:spPr>
          <a:xfrm flipV="1">
            <a:off x="3817938" y="3944938"/>
            <a:ext cx="1103312" cy="2046287"/>
          </a:xfrm>
          <a:prstGeom prst="line">
            <a:avLst/>
          </a:prstGeom>
          <a:ln w="9525" cap="flat" cmpd="sng">
            <a:solidFill>
              <a:schemeClr val="tx1"/>
            </a:solidFill>
            <a:prstDash val="solid"/>
            <a:headEnd type="none" w="med" len="med"/>
            <a:tailEnd type="triangle" w="med" len="med"/>
          </a:ln>
        </p:spPr>
      </p:sp>
      <p:sp>
        <p:nvSpPr>
          <p:cNvPr id="673836" name="Line 44"/>
          <p:cNvSpPr/>
          <p:nvPr/>
        </p:nvSpPr>
        <p:spPr>
          <a:xfrm flipV="1">
            <a:off x="3833813" y="3800475"/>
            <a:ext cx="1101725" cy="944563"/>
          </a:xfrm>
          <a:prstGeom prst="line">
            <a:avLst/>
          </a:prstGeom>
          <a:ln w="9525" cap="flat" cmpd="sng">
            <a:solidFill>
              <a:schemeClr val="tx1"/>
            </a:solidFill>
            <a:prstDash val="solid"/>
            <a:headEnd type="none" w="med" len="med"/>
            <a:tailEnd type="triangle" w="med" len="med"/>
          </a:ln>
        </p:spPr>
      </p:sp>
      <p:sp>
        <p:nvSpPr>
          <p:cNvPr id="673837" name="Line 45"/>
          <p:cNvSpPr/>
          <p:nvPr/>
        </p:nvSpPr>
        <p:spPr>
          <a:xfrm>
            <a:off x="4325938" y="3857625"/>
            <a:ext cx="0" cy="334963"/>
          </a:xfrm>
          <a:prstGeom prst="line">
            <a:avLst/>
          </a:prstGeom>
          <a:ln w="28575" cap="flat" cmpd="sng">
            <a:solidFill>
              <a:schemeClr val="tx1"/>
            </a:solidFill>
            <a:prstDash val="sysDot"/>
            <a:headEnd type="none" w="med" len="med"/>
            <a:tailEnd type="none" w="med" len="med"/>
          </a:ln>
        </p:spPr>
      </p:sp>
      <p:sp>
        <p:nvSpPr>
          <p:cNvPr id="673838" name="Line 46"/>
          <p:cNvSpPr/>
          <p:nvPr/>
        </p:nvSpPr>
        <p:spPr>
          <a:xfrm>
            <a:off x="4327525" y="4430713"/>
            <a:ext cx="0" cy="334962"/>
          </a:xfrm>
          <a:prstGeom prst="line">
            <a:avLst/>
          </a:prstGeom>
          <a:ln w="28575" cap="flat" cmpd="sng">
            <a:solidFill>
              <a:schemeClr val="tx1"/>
            </a:solidFill>
            <a:prstDash val="sysDot"/>
            <a:headEnd type="none" w="med" len="med"/>
            <a:tailEnd type="none" w="med" len="med"/>
          </a:ln>
        </p:spPr>
      </p:sp>
      <p:grpSp>
        <p:nvGrpSpPr>
          <p:cNvPr id="2" name="Group 47"/>
          <p:cNvGrpSpPr/>
          <p:nvPr/>
        </p:nvGrpSpPr>
        <p:grpSpPr>
          <a:xfrm>
            <a:off x="885825" y="4406900"/>
            <a:ext cx="1682750" cy="925513"/>
            <a:chOff x="3312" y="2123"/>
            <a:chExt cx="932" cy="519"/>
          </a:xfrm>
        </p:grpSpPr>
        <p:sp>
          <p:nvSpPr>
            <p:cNvPr id="105509" name="AutoShape 39"/>
            <p:cNvSpPr/>
            <p:nvPr/>
          </p:nvSpPr>
          <p:spPr>
            <a:xfrm>
              <a:off x="3312" y="2123"/>
              <a:ext cx="932" cy="519"/>
            </a:xfrm>
            <a:custGeom>
              <a:avLst/>
              <a:gdLst/>
              <a:ahLst/>
              <a:cxnLst>
                <a:cxn ang="0">
                  <a:pos x="0" y="260"/>
                </a:cxn>
                <a:cxn ang="0">
                  <a:pos x="466" y="0"/>
                </a:cxn>
                <a:cxn ang="0">
                  <a:pos x="932" y="260"/>
                </a:cxn>
                <a:cxn ang="0">
                  <a:pos x="466" y="519"/>
                </a:cxn>
                <a:cxn ang="0">
                  <a:pos x="0" y="260"/>
                </a:cxn>
                <a:cxn ang="0">
                  <a:pos x="83" y="260"/>
                </a:cxn>
                <a:cxn ang="0">
                  <a:pos x="466" y="473"/>
                </a:cxn>
                <a:cxn ang="0">
                  <a:pos x="849" y="260"/>
                </a:cxn>
                <a:cxn ang="0">
                  <a:pos x="466" y="46"/>
                </a:cxn>
                <a:cxn ang="0">
                  <a:pos x="83" y="260"/>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rgbClr val="CC0000">
                <a:alpha val="100000"/>
              </a:srgbClr>
            </a:solidFill>
            <a:ln w="9525">
              <a:noFill/>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5510" name="Oval 40"/>
            <p:cNvSpPr/>
            <p:nvPr/>
          </p:nvSpPr>
          <p:spPr>
            <a:xfrm>
              <a:off x="3389" y="2166"/>
              <a:ext cx="778" cy="434"/>
            </a:xfrm>
            <a:prstGeom prst="ellipse">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5511" name="Text Box 84"/>
            <p:cNvSpPr txBox="1"/>
            <p:nvPr/>
          </p:nvSpPr>
          <p:spPr>
            <a:xfrm>
              <a:off x="3392" y="2162"/>
              <a:ext cx="771" cy="393"/>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控制桶的过快增长</a:t>
              </a:r>
            </a:p>
          </p:txBody>
        </p:sp>
      </p:grpSp>
      <p:sp>
        <p:nvSpPr>
          <p:cNvPr id="105508" name="Text Box 51"/>
          <p:cNvSpPr txBox="1"/>
          <p:nvPr/>
        </p:nvSpPr>
        <p:spPr>
          <a:xfrm>
            <a:off x="4479925" y="6197600"/>
            <a:ext cx="2978150" cy="39687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mn-cs"/>
              </a:rPr>
              <a:t>可扩展哈希表的较坏情况</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3794">
                                            <p:txEl>
                                              <p:charRg st="20" end="106"/>
                                            </p:txEl>
                                          </p:spTgt>
                                        </p:tgtEl>
                                        <p:attrNameLst>
                                          <p:attrName>style.visibility</p:attrName>
                                        </p:attrNameLst>
                                      </p:cBhvr>
                                      <p:to>
                                        <p:strVal val="visible"/>
                                      </p:to>
                                    </p:set>
                                    <p:anim calcmode="lin" valueType="num">
                                      <p:cBhvr additive="base">
                                        <p:cTn id="7" dur="500" fill="hold"/>
                                        <p:tgtEl>
                                          <p:spTgt spid="673794">
                                            <p:txEl>
                                              <p:charRg st="20" end="10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3794">
                                            <p:txEl>
                                              <p:charRg st="20" end="10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3795"/>
                                        </p:tgtEl>
                                        <p:attrNameLst>
                                          <p:attrName>style.visibility</p:attrName>
                                        </p:attrNameLst>
                                      </p:cBhvr>
                                      <p:to>
                                        <p:strVal val="visible"/>
                                      </p:to>
                                    </p:set>
                                    <p:anim calcmode="lin" valueType="num">
                                      <p:cBhvr additive="base">
                                        <p:cTn id="11" dur="500" fill="hold"/>
                                        <p:tgtEl>
                                          <p:spTgt spid="673795"/>
                                        </p:tgtEl>
                                        <p:attrNameLst>
                                          <p:attrName>ppt_x</p:attrName>
                                        </p:attrNameLst>
                                      </p:cBhvr>
                                      <p:tavLst>
                                        <p:tav tm="0">
                                          <p:val>
                                            <p:strVal val="#ppt_x"/>
                                          </p:val>
                                        </p:tav>
                                        <p:tav tm="100000">
                                          <p:val>
                                            <p:strVal val="#ppt_x"/>
                                          </p:val>
                                        </p:tav>
                                      </p:tavLst>
                                    </p:anim>
                                    <p:anim calcmode="lin" valueType="num">
                                      <p:cBhvr additive="base">
                                        <p:cTn id="12" dur="500" fill="hold"/>
                                        <p:tgtEl>
                                          <p:spTgt spid="67379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3805"/>
                                        </p:tgtEl>
                                        <p:attrNameLst>
                                          <p:attrName>style.visibility</p:attrName>
                                        </p:attrNameLst>
                                      </p:cBhvr>
                                      <p:to>
                                        <p:strVal val="visible"/>
                                      </p:to>
                                    </p:set>
                                    <p:anim calcmode="lin" valueType="num">
                                      <p:cBhvr additive="base">
                                        <p:cTn id="15" dur="500" fill="hold"/>
                                        <p:tgtEl>
                                          <p:spTgt spid="673805"/>
                                        </p:tgtEl>
                                        <p:attrNameLst>
                                          <p:attrName>ppt_x</p:attrName>
                                        </p:attrNameLst>
                                      </p:cBhvr>
                                      <p:tavLst>
                                        <p:tav tm="0">
                                          <p:val>
                                            <p:strVal val="#ppt_x"/>
                                          </p:val>
                                        </p:tav>
                                        <p:tav tm="100000">
                                          <p:val>
                                            <p:strVal val="#ppt_x"/>
                                          </p:val>
                                        </p:tav>
                                      </p:tavLst>
                                    </p:anim>
                                    <p:anim calcmode="lin" valueType="num">
                                      <p:cBhvr additive="base">
                                        <p:cTn id="16" dur="500" fill="hold"/>
                                        <p:tgtEl>
                                          <p:spTgt spid="67380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73815"/>
                                        </p:tgtEl>
                                        <p:attrNameLst>
                                          <p:attrName>style.visibility</p:attrName>
                                        </p:attrNameLst>
                                      </p:cBhvr>
                                      <p:to>
                                        <p:strVal val="visible"/>
                                      </p:to>
                                    </p:set>
                                    <p:anim calcmode="lin" valueType="num">
                                      <p:cBhvr additive="base">
                                        <p:cTn id="19" dur="500" fill="hold"/>
                                        <p:tgtEl>
                                          <p:spTgt spid="673815"/>
                                        </p:tgtEl>
                                        <p:attrNameLst>
                                          <p:attrName>ppt_x</p:attrName>
                                        </p:attrNameLst>
                                      </p:cBhvr>
                                      <p:tavLst>
                                        <p:tav tm="0">
                                          <p:val>
                                            <p:strVal val="#ppt_x"/>
                                          </p:val>
                                        </p:tav>
                                        <p:tav tm="100000">
                                          <p:val>
                                            <p:strVal val="#ppt_x"/>
                                          </p:val>
                                        </p:tav>
                                      </p:tavLst>
                                    </p:anim>
                                    <p:anim calcmode="lin" valueType="num">
                                      <p:cBhvr additive="base">
                                        <p:cTn id="20" dur="500" fill="hold"/>
                                        <p:tgtEl>
                                          <p:spTgt spid="67381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73821"/>
                                        </p:tgtEl>
                                        <p:attrNameLst>
                                          <p:attrName>style.visibility</p:attrName>
                                        </p:attrNameLst>
                                      </p:cBhvr>
                                      <p:to>
                                        <p:strVal val="visible"/>
                                      </p:to>
                                    </p:set>
                                    <p:anim calcmode="lin" valueType="num">
                                      <p:cBhvr additive="base">
                                        <p:cTn id="23" dur="500" fill="hold"/>
                                        <p:tgtEl>
                                          <p:spTgt spid="673821"/>
                                        </p:tgtEl>
                                        <p:attrNameLst>
                                          <p:attrName>ppt_x</p:attrName>
                                        </p:attrNameLst>
                                      </p:cBhvr>
                                      <p:tavLst>
                                        <p:tav tm="0">
                                          <p:val>
                                            <p:strVal val="#ppt_x"/>
                                          </p:val>
                                        </p:tav>
                                        <p:tav tm="100000">
                                          <p:val>
                                            <p:strVal val="#ppt_x"/>
                                          </p:val>
                                        </p:tav>
                                      </p:tavLst>
                                    </p:anim>
                                    <p:anim calcmode="lin" valueType="num">
                                      <p:cBhvr additive="base">
                                        <p:cTn id="24" dur="500" fill="hold"/>
                                        <p:tgtEl>
                                          <p:spTgt spid="6738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73822"/>
                                        </p:tgtEl>
                                        <p:attrNameLst>
                                          <p:attrName>style.visibility</p:attrName>
                                        </p:attrNameLst>
                                      </p:cBhvr>
                                      <p:to>
                                        <p:strVal val="visible"/>
                                      </p:to>
                                    </p:set>
                                    <p:anim calcmode="lin" valueType="num">
                                      <p:cBhvr additive="base">
                                        <p:cTn id="27" dur="500" fill="hold"/>
                                        <p:tgtEl>
                                          <p:spTgt spid="673822"/>
                                        </p:tgtEl>
                                        <p:attrNameLst>
                                          <p:attrName>ppt_x</p:attrName>
                                        </p:attrNameLst>
                                      </p:cBhvr>
                                      <p:tavLst>
                                        <p:tav tm="0">
                                          <p:val>
                                            <p:strVal val="#ppt_x"/>
                                          </p:val>
                                        </p:tav>
                                        <p:tav tm="100000">
                                          <p:val>
                                            <p:strVal val="#ppt_x"/>
                                          </p:val>
                                        </p:tav>
                                      </p:tavLst>
                                    </p:anim>
                                    <p:anim calcmode="lin" valueType="num">
                                      <p:cBhvr additive="base">
                                        <p:cTn id="28" dur="500" fill="hold"/>
                                        <p:tgtEl>
                                          <p:spTgt spid="67382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73823"/>
                                        </p:tgtEl>
                                        <p:attrNameLst>
                                          <p:attrName>style.visibility</p:attrName>
                                        </p:attrNameLst>
                                      </p:cBhvr>
                                      <p:to>
                                        <p:strVal val="visible"/>
                                      </p:to>
                                    </p:set>
                                    <p:anim calcmode="lin" valueType="num">
                                      <p:cBhvr additive="base">
                                        <p:cTn id="31" dur="500" fill="hold"/>
                                        <p:tgtEl>
                                          <p:spTgt spid="673823"/>
                                        </p:tgtEl>
                                        <p:attrNameLst>
                                          <p:attrName>ppt_x</p:attrName>
                                        </p:attrNameLst>
                                      </p:cBhvr>
                                      <p:tavLst>
                                        <p:tav tm="0">
                                          <p:val>
                                            <p:strVal val="#ppt_x"/>
                                          </p:val>
                                        </p:tav>
                                        <p:tav tm="100000">
                                          <p:val>
                                            <p:strVal val="#ppt_x"/>
                                          </p:val>
                                        </p:tav>
                                      </p:tavLst>
                                    </p:anim>
                                    <p:anim calcmode="lin" valueType="num">
                                      <p:cBhvr additive="base">
                                        <p:cTn id="32" dur="500" fill="hold"/>
                                        <p:tgtEl>
                                          <p:spTgt spid="67382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673824"/>
                                        </p:tgtEl>
                                        <p:attrNameLst>
                                          <p:attrName>style.visibility</p:attrName>
                                        </p:attrNameLst>
                                      </p:cBhvr>
                                      <p:to>
                                        <p:strVal val="visible"/>
                                      </p:to>
                                    </p:set>
                                    <p:anim calcmode="lin" valueType="num">
                                      <p:cBhvr additive="base">
                                        <p:cTn id="35" dur="500" fill="hold"/>
                                        <p:tgtEl>
                                          <p:spTgt spid="673824"/>
                                        </p:tgtEl>
                                        <p:attrNameLst>
                                          <p:attrName>ppt_x</p:attrName>
                                        </p:attrNameLst>
                                      </p:cBhvr>
                                      <p:tavLst>
                                        <p:tav tm="0">
                                          <p:val>
                                            <p:strVal val="#ppt_x"/>
                                          </p:val>
                                        </p:tav>
                                        <p:tav tm="100000">
                                          <p:val>
                                            <p:strVal val="#ppt_x"/>
                                          </p:val>
                                        </p:tav>
                                      </p:tavLst>
                                    </p:anim>
                                    <p:anim calcmode="lin" valueType="num">
                                      <p:cBhvr additive="base">
                                        <p:cTn id="36" dur="500" fill="hold"/>
                                        <p:tgtEl>
                                          <p:spTgt spid="67382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73834"/>
                                        </p:tgtEl>
                                        <p:attrNameLst>
                                          <p:attrName>style.visibility</p:attrName>
                                        </p:attrNameLst>
                                      </p:cBhvr>
                                      <p:to>
                                        <p:strVal val="visible"/>
                                      </p:to>
                                    </p:set>
                                    <p:anim calcmode="lin" valueType="num">
                                      <p:cBhvr additive="base">
                                        <p:cTn id="39" dur="500" fill="hold"/>
                                        <p:tgtEl>
                                          <p:spTgt spid="673834"/>
                                        </p:tgtEl>
                                        <p:attrNameLst>
                                          <p:attrName>ppt_x</p:attrName>
                                        </p:attrNameLst>
                                      </p:cBhvr>
                                      <p:tavLst>
                                        <p:tav tm="0">
                                          <p:val>
                                            <p:strVal val="#ppt_x"/>
                                          </p:val>
                                        </p:tav>
                                        <p:tav tm="100000">
                                          <p:val>
                                            <p:strVal val="#ppt_x"/>
                                          </p:val>
                                        </p:tav>
                                      </p:tavLst>
                                    </p:anim>
                                    <p:anim calcmode="lin" valueType="num">
                                      <p:cBhvr additive="base">
                                        <p:cTn id="40" dur="500" fill="hold"/>
                                        <p:tgtEl>
                                          <p:spTgt spid="673834"/>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73835"/>
                                        </p:tgtEl>
                                        <p:attrNameLst>
                                          <p:attrName>style.visibility</p:attrName>
                                        </p:attrNameLst>
                                      </p:cBhvr>
                                      <p:to>
                                        <p:strVal val="visible"/>
                                      </p:to>
                                    </p:set>
                                    <p:anim calcmode="lin" valueType="num">
                                      <p:cBhvr additive="base">
                                        <p:cTn id="43" dur="500" fill="hold"/>
                                        <p:tgtEl>
                                          <p:spTgt spid="673835"/>
                                        </p:tgtEl>
                                        <p:attrNameLst>
                                          <p:attrName>ppt_x</p:attrName>
                                        </p:attrNameLst>
                                      </p:cBhvr>
                                      <p:tavLst>
                                        <p:tav tm="0">
                                          <p:val>
                                            <p:strVal val="#ppt_x"/>
                                          </p:val>
                                        </p:tav>
                                        <p:tav tm="100000">
                                          <p:val>
                                            <p:strVal val="#ppt_x"/>
                                          </p:val>
                                        </p:tav>
                                      </p:tavLst>
                                    </p:anim>
                                    <p:anim calcmode="lin" valueType="num">
                                      <p:cBhvr additive="base">
                                        <p:cTn id="44" dur="500" fill="hold"/>
                                        <p:tgtEl>
                                          <p:spTgt spid="67383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73836"/>
                                        </p:tgtEl>
                                        <p:attrNameLst>
                                          <p:attrName>style.visibility</p:attrName>
                                        </p:attrNameLst>
                                      </p:cBhvr>
                                      <p:to>
                                        <p:strVal val="visible"/>
                                      </p:to>
                                    </p:set>
                                    <p:anim calcmode="lin" valueType="num">
                                      <p:cBhvr additive="base">
                                        <p:cTn id="47" dur="500" fill="hold"/>
                                        <p:tgtEl>
                                          <p:spTgt spid="673836"/>
                                        </p:tgtEl>
                                        <p:attrNameLst>
                                          <p:attrName>ppt_x</p:attrName>
                                        </p:attrNameLst>
                                      </p:cBhvr>
                                      <p:tavLst>
                                        <p:tav tm="0">
                                          <p:val>
                                            <p:strVal val="#ppt_x"/>
                                          </p:val>
                                        </p:tav>
                                        <p:tav tm="100000">
                                          <p:val>
                                            <p:strVal val="#ppt_x"/>
                                          </p:val>
                                        </p:tav>
                                      </p:tavLst>
                                    </p:anim>
                                    <p:anim calcmode="lin" valueType="num">
                                      <p:cBhvr additive="base">
                                        <p:cTn id="48" dur="500" fill="hold"/>
                                        <p:tgtEl>
                                          <p:spTgt spid="67383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73837"/>
                                        </p:tgtEl>
                                        <p:attrNameLst>
                                          <p:attrName>style.visibility</p:attrName>
                                        </p:attrNameLst>
                                      </p:cBhvr>
                                      <p:to>
                                        <p:strVal val="visible"/>
                                      </p:to>
                                    </p:set>
                                    <p:anim calcmode="lin" valueType="num">
                                      <p:cBhvr additive="base">
                                        <p:cTn id="51" dur="500" fill="hold"/>
                                        <p:tgtEl>
                                          <p:spTgt spid="673837"/>
                                        </p:tgtEl>
                                        <p:attrNameLst>
                                          <p:attrName>ppt_x</p:attrName>
                                        </p:attrNameLst>
                                      </p:cBhvr>
                                      <p:tavLst>
                                        <p:tav tm="0">
                                          <p:val>
                                            <p:strVal val="#ppt_x"/>
                                          </p:val>
                                        </p:tav>
                                        <p:tav tm="100000">
                                          <p:val>
                                            <p:strVal val="#ppt_x"/>
                                          </p:val>
                                        </p:tav>
                                      </p:tavLst>
                                    </p:anim>
                                    <p:anim calcmode="lin" valueType="num">
                                      <p:cBhvr additive="base">
                                        <p:cTn id="52" dur="500" fill="hold"/>
                                        <p:tgtEl>
                                          <p:spTgt spid="67383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673838"/>
                                        </p:tgtEl>
                                        <p:attrNameLst>
                                          <p:attrName>style.visibility</p:attrName>
                                        </p:attrNameLst>
                                      </p:cBhvr>
                                      <p:to>
                                        <p:strVal val="visible"/>
                                      </p:to>
                                    </p:set>
                                    <p:anim calcmode="lin" valueType="num">
                                      <p:cBhvr additive="base">
                                        <p:cTn id="55" dur="500" fill="hold"/>
                                        <p:tgtEl>
                                          <p:spTgt spid="673838"/>
                                        </p:tgtEl>
                                        <p:attrNameLst>
                                          <p:attrName>ppt_x</p:attrName>
                                        </p:attrNameLst>
                                      </p:cBhvr>
                                      <p:tavLst>
                                        <p:tav tm="0">
                                          <p:val>
                                            <p:strVal val="#ppt_x"/>
                                          </p:val>
                                        </p:tav>
                                        <p:tav tm="100000">
                                          <p:val>
                                            <p:strVal val="#ppt_x"/>
                                          </p:val>
                                        </p:tav>
                                      </p:tavLst>
                                    </p:anim>
                                    <p:anim calcmode="lin" valueType="num">
                                      <p:cBhvr additive="base">
                                        <p:cTn id="56" dur="500" fill="hold"/>
                                        <p:tgtEl>
                                          <p:spTgt spid="67383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additive="base">
                                        <p:cTn id="61" dur="500" fill="hold"/>
                                        <p:tgtEl>
                                          <p:spTgt spid="2"/>
                                        </p:tgtEl>
                                        <p:attrNameLst>
                                          <p:attrName>ppt_x</p:attrName>
                                        </p:attrNameLst>
                                      </p:cBhvr>
                                      <p:tavLst>
                                        <p:tav tm="0">
                                          <p:val>
                                            <p:strVal val="#ppt_x"/>
                                          </p:val>
                                        </p:tav>
                                        <p:tav tm="100000">
                                          <p:val>
                                            <p:strVal val="#ppt_x"/>
                                          </p:val>
                                        </p:tav>
                                      </p:tavLst>
                                    </p:anim>
                                    <p:anim calcmode="lin" valueType="num">
                                      <p:cBhvr additive="base">
                                        <p:cTn id="6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823" grpId="0" bldLvl="0" animBg="1"/>
      <p:bldP spid="673824"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7" name="Text Box 3"/>
          <p:cNvSpPr txBox="1"/>
          <p:nvPr/>
        </p:nvSpPr>
        <p:spPr>
          <a:xfrm>
            <a:off x="90488" y="914400"/>
            <a:ext cx="8847138" cy="3082925"/>
          </a:xfrm>
          <a:prstGeom prst="rect">
            <a:avLst/>
          </a:prstGeom>
          <a:noFill/>
          <a:ln w="9525">
            <a:noFill/>
          </a:ln>
        </p:spPr>
        <p:txBody>
          <a:bodyPr>
            <a:spAutoFit/>
          </a:bodyPr>
          <a:lstStyle/>
          <a:p>
            <a:pPr marL="342900" marR="0" lvl="0" indent="-34290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桶数</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n</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的选择总是使存储块的平均记录数保持与存储块所能容纳的记录总数成一个固定的比例，例如</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80%</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。超过此比例，则桶数增长</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块，分裂。 </a:t>
            </a:r>
            <a:r>
              <a:rPr kumimoji="0" lang="en-US" altLang="zh-CN"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线性增长，每次增</a:t>
            </a:r>
            <a:r>
              <a:rPr kumimoji="0" lang="en-US" altLang="zh-CN"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1</a:t>
            </a:r>
            <a:r>
              <a:rPr kumimoji="0" lang="zh-CN" altLang="en-US"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a:t>
            </a:r>
          </a:p>
          <a:p>
            <a:pPr marL="273050" marR="0" lvl="0" indent="-20447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存储块并不总是可以分裂，所以允许有溢出块，尽管每个桶的平均溢出块数远小于</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273050" marR="0" lvl="0" indent="-20447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用来做桶数组项序号的二进制位数是</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log</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2</a:t>
            </a:r>
            <a:r>
              <a:rPr kumimoji="0" lang="en-US" altLang="zh-CN" sz="24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n</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，其中</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n</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是当前的桶数。</a:t>
            </a:r>
            <a:r>
              <a:rPr kumimoji="0" lang="zh-CN" altLang="en-US"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这些位总是从哈希函数得到的位序列的右端</a:t>
            </a:r>
            <a:r>
              <a:rPr kumimoji="0" lang="en-US" altLang="zh-CN"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即低位</a:t>
            </a:r>
            <a:r>
              <a:rPr kumimoji="0" lang="en-US" altLang="zh-CN"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1">
                <a:ln>
                  <a:noFill/>
                </a:ln>
                <a:solidFill>
                  <a:srgbClr val="CC0000"/>
                </a:solidFill>
                <a:effectLst/>
                <a:uLnTx/>
                <a:uFillTx/>
                <a:latin typeface="微软雅黑" panose="020B0503020204020204" pitchFamily="34" charset="-122"/>
                <a:ea typeface="微软雅黑" panose="020B0503020204020204" pitchFamily="34" charset="-122"/>
                <a:cs typeface="+mn-cs"/>
              </a:rPr>
              <a:t>开始取。</a:t>
            </a:r>
          </a:p>
        </p:txBody>
      </p:sp>
      <p:sp>
        <p:nvSpPr>
          <p:cNvPr id="106499"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基本思想</a:t>
            </a:r>
          </a:p>
        </p:txBody>
      </p:sp>
      <p:grpSp>
        <p:nvGrpSpPr>
          <p:cNvPr id="2" name="Group 16"/>
          <p:cNvGrpSpPr/>
          <p:nvPr/>
        </p:nvGrpSpPr>
        <p:grpSpPr>
          <a:xfrm>
            <a:off x="5878513" y="4929188"/>
            <a:ext cx="1641475" cy="1416050"/>
            <a:chOff x="3219" y="3160"/>
            <a:chExt cx="1034" cy="892"/>
          </a:xfrm>
        </p:grpSpPr>
        <p:grpSp>
          <p:nvGrpSpPr>
            <p:cNvPr id="106501" name="Group 6"/>
            <p:cNvGrpSpPr/>
            <p:nvPr/>
          </p:nvGrpSpPr>
          <p:grpSpPr>
            <a:xfrm>
              <a:off x="3493" y="3561"/>
              <a:ext cx="663" cy="274"/>
              <a:chOff x="682" y="3428"/>
              <a:chExt cx="588" cy="274"/>
            </a:xfrm>
          </p:grpSpPr>
          <p:sp>
            <p:nvSpPr>
              <p:cNvPr id="106507" name="Rectangle 7"/>
              <p:cNvSpPr/>
              <p:nvPr/>
            </p:nvSpPr>
            <p:spPr>
              <a:xfrm>
                <a:off x="68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6508" name="Rectangle 8"/>
              <p:cNvSpPr/>
              <p:nvPr/>
            </p:nvSpPr>
            <p:spPr>
              <a:xfrm>
                <a:off x="827"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6509" name="Rectangle 9"/>
              <p:cNvSpPr/>
              <p:nvPr/>
            </p:nvSpPr>
            <p:spPr>
              <a:xfrm>
                <a:off x="972"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6510" name="Rectangle 10"/>
              <p:cNvSpPr/>
              <p:nvPr/>
            </p:nvSpPr>
            <p:spPr>
              <a:xfrm>
                <a:off x="1119" y="3428"/>
                <a:ext cx="151" cy="27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06502" name="Text Box 11"/>
            <p:cNvSpPr txBox="1"/>
            <p:nvPr/>
          </p:nvSpPr>
          <p:spPr>
            <a:xfrm>
              <a:off x="3433" y="3535"/>
              <a:ext cx="759" cy="28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1 0 1 1</a:t>
              </a:r>
            </a:p>
          </p:txBody>
        </p:sp>
        <p:sp>
          <p:nvSpPr>
            <p:cNvPr id="106503" name="Line 12"/>
            <p:cNvSpPr/>
            <p:nvPr/>
          </p:nvSpPr>
          <p:spPr>
            <a:xfrm>
              <a:off x="3474" y="3393"/>
              <a:ext cx="659" cy="0"/>
            </a:xfrm>
            <a:prstGeom prst="line">
              <a:avLst/>
            </a:prstGeom>
            <a:ln w="9525" cap="flat" cmpd="sng">
              <a:solidFill>
                <a:srgbClr val="FF0066"/>
              </a:solidFill>
              <a:prstDash val="solid"/>
              <a:headEnd type="triangle" w="med" len="med"/>
              <a:tailEnd type="none" w="med" len="med"/>
            </a:ln>
          </p:spPr>
        </p:sp>
        <p:sp>
          <p:nvSpPr>
            <p:cNvPr id="106504" name="Text Box 13"/>
            <p:cNvSpPr txBox="1"/>
            <p:nvPr/>
          </p:nvSpPr>
          <p:spPr>
            <a:xfrm>
              <a:off x="3219" y="3160"/>
              <a:ext cx="540" cy="212"/>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的位次</a:t>
              </a:r>
            </a:p>
          </p:txBody>
        </p:sp>
        <p:sp>
          <p:nvSpPr>
            <p:cNvPr id="106505" name="Text Box 14"/>
            <p:cNvSpPr txBox="1"/>
            <p:nvPr/>
          </p:nvSpPr>
          <p:spPr>
            <a:xfrm>
              <a:off x="3383" y="3840"/>
              <a:ext cx="870" cy="212"/>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位二进制位 </a:t>
              </a:r>
            </a:p>
          </p:txBody>
        </p:sp>
        <p:sp>
          <p:nvSpPr>
            <p:cNvPr id="106506" name="Text Box 15"/>
            <p:cNvSpPr txBox="1"/>
            <p:nvPr/>
          </p:nvSpPr>
          <p:spPr>
            <a:xfrm>
              <a:off x="3455" y="3381"/>
              <a:ext cx="774" cy="212"/>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4   3   2   1</a:t>
              </a:r>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9827">
                                            <p:txEl>
                                              <p:charRg st="87" end="126"/>
                                            </p:txEl>
                                          </p:spTgt>
                                        </p:tgtEl>
                                        <p:attrNameLst>
                                          <p:attrName>style.visibility</p:attrName>
                                        </p:attrNameLst>
                                      </p:cBhvr>
                                      <p:to>
                                        <p:strVal val="visible"/>
                                      </p:to>
                                    </p:set>
                                    <p:anim calcmode="lin" valueType="num">
                                      <p:cBhvr additive="base">
                                        <p:cTn id="7" dur="500" fill="hold"/>
                                        <p:tgtEl>
                                          <p:spTgt spid="589827">
                                            <p:txEl>
                                              <p:charRg st="87" end="12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9827">
                                            <p:txEl>
                                              <p:charRg st="87" end="12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89827">
                                            <p:txEl>
                                              <p:charRg st="126" end="182"/>
                                            </p:txEl>
                                          </p:spTgt>
                                        </p:tgtEl>
                                        <p:attrNameLst>
                                          <p:attrName>style.visibility</p:attrName>
                                        </p:attrNameLst>
                                      </p:cBhvr>
                                      <p:to>
                                        <p:strVal val="visible"/>
                                      </p:to>
                                    </p:set>
                                    <p:anim calcmode="lin" valueType="num">
                                      <p:cBhvr additive="base">
                                        <p:cTn id="13" dur="500" fill="hold"/>
                                        <p:tgtEl>
                                          <p:spTgt spid="589827">
                                            <p:txEl>
                                              <p:charRg st="126" end="18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9827">
                                            <p:txEl>
                                              <p:charRg st="126" end="18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0852" name="Group 4"/>
          <p:cNvGraphicFramePr>
            <a:graphicFrameLocks noGrp="1"/>
          </p:cNvGraphicFramePr>
          <p:nvPr/>
        </p:nvGraphicFramePr>
        <p:xfrm>
          <a:off x="2651125" y="4968875"/>
          <a:ext cx="1244600" cy="757238"/>
        </p:xfrm>
        <a:graphic>
          <a:graphicData uri="http://schemas.openxmlformats.org/drawingml/2006/table">
            <a:tbl>
              <a:tblPr/>
              <a:tblGrid>
                <a:gridCol w="12446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0907" name="Group 59"/>
          <p:cNvGraphicFramePr>
            <a:graphicFrameLocks noGrp="1"/>
          </p:cNvGraphicFramePr>
          <p:nvPr/>
        </p:nvGraphicFramePr>
        <p:xfrm>
          <a:off x="974725" y="5426075"/>
          <a:ext cx="914400" cy="75723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0915" name="Group 67"/>
          <p:cNvGraphicFramePr>
            <a:graphicFrameLocks noGrp="1"/>
          </p:cNvGraphicFramePr>
          <p:nvPr/>
        </p:nvGraphicFramePr>
        <p:xfrm>
          <a:off x="987425" y="4038600"/>
          <a:ext cx="655638" cy="1138239"/>
        </p:xfrm>
        <a:graphic>
          <a:graphicData uri="http://schemas.openxmlformats.org/drawingml/2006/table">
            <a:tbl>
              <a:tblPr/>
              <a:tblGrid>
                <a:gridCol w="655638">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7548" name="Line 40"/>
          <p:cNvSpPr/>
          <p:nvPr/>
        </p:nvSpPr>
        <p:spPr>
          <a:xfrm flipV="1">
            <a:off x="1493838" y="5441950"/>
            <a:ext cx="1204912" cy="212725"/>
          </a:xfrm>
          <a:prstGeom prst="line">
            <a:avLst/>
          </a:prstGeom>
          <a:ln w="9525" cap="flat" cmpd="sng">
            <a:solidFill>
              <a:schemeClr val="tx1"/>
            </a:solidFill>
            <a:prstDash val="solid"/>
            <a:headEnd type="none" w="med" len="med"/>
            <a:tailEnd type="triangle" w="med" len="med"/>
          </a:ln>
        </p:spPr>
      </p:sp>
      <p:sp>
        <p:nvSpPr>
          <p:cNvPr id="107549" name="Rectangle 42"/>
          <p:cNvSpPr>
            <a:spLocks noChangeAspect="1"/>
          </p:cNvSpPr>
          <p:nvPr/>
        </p:nvSpPr>
        <p:spPr>
          <a:xfrm>
            <a:off x="3903663" y="496887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7550" name="Text Box 44"/>
          <p:cNvSpPr txBox="1"/>
          <p:nvPr/>
        </p:nvSpPr>
        <p:spPr>
          <a:xfrm>
            <a:off x="568325" y="5313363"/>
            <a:ext cx="354013"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a:t>
            </a:r>
          </a:p>
        </p:txBody>
      </p:sp>
      <p:sp>
        <p:nvSpPr>
          <p:cNvPr id="107551" name="Text Box 45"/>
          <p:cNvSpPr txBox="1"/>
          <p:nvPr/>
        </p:nvSpPr>
        <p:spPr>
          <a:xfrm>
            <a:off x="568325" y="5694363"/>
            <a:ext cx="354013"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07552" name="Line 47"/>
          <p:cNvSpPr/>
          <p:nvPr/>
        </p:nvSpPr>
        <p:spPr>
          <a:xfrm>
            <a:off x="1508125" y="6035675"/>
            <a:ext cx="1158875" cy="44450"/>
          </a:xfrm>
          <a:prstGeom prst="line">
            <a:avLst/>
          </a:prstGeom>
          <a:ln w="9525" cap="flat" cmpd="sng">
            <a:solidFill>
              <a:schemeClr val="tx1"/>
            </a:solidFill>
            <a:prstDash val="solid"/>
            <a:headEnd type="none" w="med" len="med"/>
            <a:tailEnd type="triangle" w="med" len="med"/>
          </a:ln>
        </p:spPr>
      </p:sp>
      <p:graphicFrame>
        <p:nvGraphicFramePr>
          <p:cNvPr id="590896" name="Group 48"/>
          <p:cNvGraphicFramePr>
            <a:graphicFrameLocks noGrp="1"/>
          </p:cNvGraphicFramePr>
          <p:nvPr/>
        </p:nvGraphicFramePr>
        <p:xfrm>
          <a:off x="2651125" y="5807075"/>
          <a:ext cx="1244600" cy="757238"/>
        </p:xfrm>
        <a:graphic>
          <a:graphicData uri="http://schemas.openxmlformats.org/drawingml/2006/table">
            <a:tbl>
              <a:tblPr/>
              <a:tblGrid>
                <a:gridCol w="12446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7561" name="Rectangle 58"/>
          <p:cNvSpPr>
            <a:spLocks noChangeAspect="1"/>
          </p:cNvSpPr>
          <p:nvPr/>
        </p:nvSpPr>
        <p:spPr>
          <a:xfrm>
            <a:off x="3903663" y="580707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07562" name="Group 72"/>
          <p:cNvGrpSpPr/>
          <p:nvPr/>
        </p:nvGrpSpPr>
        <p:grpSpPr>
          <a:xfrm>
            <a:off x="4794250" y="4443413"/>
            <a:ext cx="3908425" cy="1701800"/>
            <a:chOff x="2621" y="469"/>
            <a:chExt cx="2911" cy="859"/>
          </a:xfrm>
        </p:grpSpPr>
        <p:sp>
          <p:nvSpPr>
            <p:cNvPr id="107565" name="AutoShape 39"/>
            <p:cNvSpPr/>
            <p:nvPr/>
          </p:nvSpPr>
          <p:spPr>
            <a:xfrm>
              <a:off x="2621" y="469"/>
              <a:ext cx="2911" cy="85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7566"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7567" name="Text Box 84"/>
            <p:cNvSpPr/>
            <p:nvPr/>
          </p:nvSpPr>
          <p:spPr>
            <a:xfrm>
              <a:off x="2814" y="540"/>
              <a:ext cx="2521" cy="722"/>
            </a:xfrm>
            <a:prstGeom prst="roundRect">
              <a:avLst>
                <a:gd name="adj" fmla="val 16667"/>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当前使用的哈希函数的位数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n-</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当前的桶数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当前哈希表中的记录总数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要求 </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r&lt;=1.7n</a:t>
              </a:r>
            </a:p>
          </p:txBody>
        </p:sp>
      </p:grpSp>
      <p:sp>
        <p:nvSpPr>
          <p:cNvPr id="2" name="Text Box 120"/>
          <p:cNvSpPr txBox="1"/>
          <p:nvPr/>
        </p:nvSpPr>
        <p:spPr>
          <a:xfrm>
            <a:off x="247650" y="954088"/>
            <a:ext cx="8429625" cy="2892425"/>
          </a:xfrm>
          <a:prstGeom prst="rect">
            <a:avLst/>
          </a:prstGeom>
          <a:noFill/>
          <a:ln w="9525">
            <a:noFill/>
          </a:ln>
        </p:spPr>
        <p:txBody>
          <a:bodyPr>
            <a:spAutoFit/>
          </a:bodyPr>
          <a:lstStyle/>
          <a:p>
            <a:pPr marL="106045" marR="0" lvl="0" indent="-106045"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假定哈希函数值的</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位正在用来给桶数组项编号，且有一个键值为</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K</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的记录想要插入到编号为</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的桶中</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即</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是</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h(K)</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的后</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位。把</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0"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当作二进制整数，设它为</a:t>
            </a:r>
            <a:r>
              <a:rPr kumimoji="0" lang="en-US" altLang="zh-CN"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m</a:t>
            </a:r>
            <a:r>
              <a:rPr kumimoji="0" lang="zh-CN" altLang="en-US" sz="2000" b="0"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711835" marR="0" lvl="1" indent="-225425" algn="l" defTabSz="914400" rtl="0" eaLnBrk="1" fontAlgn="base" latinLnBrk="0" hangingPunct="1">
              <a:lnSpc>
                <a:spcPct val="135000"/>
              </a:lnSpc>
              <a:spcBef>
                <a:spcPct val="0"/>
              </a:spcBef>
              <a:spcAft>
                <a:spcPct val="0"/>
              </a:spcAft>
              <a:buClrTx/>
              <a:buSzTx/>
              <a:buFont typeface="Wingdings" panose="05000000000000000000" pitchFamily="2" charset="2"/>
              <a:buChar char="ü"/>
              <a:defRPr/>
            </a:pP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如果</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m&lt;n</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，则编号为</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m</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的桶存在并把记录存入该桶中。</a:t>
            </a:r>
          </a:p>
          <a:p>
            <a:pPr marL="711835" marR="0" lvl="1" indent="-225425" algn="l" defTabSz="914400" rtl="0" eaLnBrk="1" fontAlgn="base" latinLnBrk="0" hangingPunct="1">
              <a:lnSpc>
                <a:spcPct val="135000"/>
              </a:lnSpc>
              <a:spcBef>
                <a:spcPct val="0"/>
              </a:spcBef>
              <a:spcAft>
                <a:spcPct val="0"/>
              </a:spcAft>
              <a:buClrTx/>
              <a:buSzTx/>
              <a:buFont typeface="Wingdings" panose="05000000000000000000" pitchFamily="2" charset="2"/>
              <a:buChar char="ü"/>
              <a:defRPr/>
            </a:pP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如果</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n</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sym typeface="Symbol" panose="05050102010706020507" pitchFamily="18" charset="2"/>
              </a:rPr>
              <a:t></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m&lt;2</a:t>
            </a:r>
            <a:r>
              <a:rPr kumimoji="0" lang="en-US" altLang="zh-CN" sz="2000" b="1" i="0" u="none" strike="noStrike" kern="1200" cap="none" spc="0" normalizeH="0" baseline="30000" noProof="1">
                <a:ln>
                  <a:noFill/>
                </a:ln>
                <a:solidFill>
                  <a:srgbClr val="000000"/>
                </a:solidFill>
                <a:effectLst/>
                <a:uLnTx/>
                <a:uFillTx/>
                <a:latin typeface="微软雅黑" panose="020B0503020204020204" pitchFamily="34" charset="-122"/>
                <a:ea typeface="微软雅黑" panose="020B0503020204020204" pitchFamily="34" charset="-122"/>
                <a:cs typeface="+mn-cs"/>
              </a:rPr>
              <a:t>i</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那么桶还不存在，因此我们把记录存入桶</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m-2</a:t>
            </a:r>
            <a:r>
              <a:rPr kumimoji="0" lang="en-US" altLang="zh-CN" sz="2000" b="1" i="0" u="none" strike="noStrike" kern="1200" cap="none" spc="0" normalizeH="0" baseline="30000" noProof="1">
                <a:ln>
                  <a:noFill/>
                </a:ln>
                <a:solidFill>
                  <a:srgbClr val="000000"/>
                </a:solidFill>
                <a:effectLst/>
                <a:uLnTx/>
                <a:uFillTx/>
                <a:latin typeface="微软雅黑" panose="020B0503020204020204" pitchFamily="34" charset="-122"/>
                <a:ea typeface="微软雅黑" panose="020B0503020204020204" pitchFamily="34" charset="-122"/>
                <a:cs typeface="+mn-cs"/>
              </a:rPr>
              <a:t>i-1</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也就是当我们把</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en-US" altLang="zh-CN" sz="2000" b="1" i="0" u="none" strike="noStrike" kern="1200" cap="none" spc="0" normalizeH="0" baseline="-2500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它肯定是</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改为</a:t>
            </a:r>
            <a:r>
              <a:rPr kumimoji="0" lang="en-US" altLang="zh-CN"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0</a:t>
            </a:r>
            <a:r>
              <a:rPr kumimoji="0" lang="zh-CN" altLang="en-US" sz="2000" b="1" i="0" u="none" strike="noStrike" kern="1200" cap="none" spc="0" normalizeH="0" baseline="0" noProof="1">
                <a:ln>
                  <a:noFill/>
                </a:ln>
                <a:solidFill>
                  <a:srgbClr val="000000"/>
                </a:solidFill>
                <a:effectLst/>
                <a:uLnTx/>
                <a:uFillTx/>
                <a:latin typeface="微软雅黑" panose="020B0503020204020204" pitchFamily="34" charset="-122"/>
                <a:ea typeface="微软雅黑" panose="020B0503020204020204" pitchFamily="34" charset="-122"/>
                <a:cs typeface="+mn-cs"/>
              </a:rPr>
              <a:t>时对应的桶。</a:t>
            </a:r>
          </a:p>
          <a:p>
            <a:pPr marL="457200" marR="0" lvl="1" indent="0" algn="l" defTabSz="914400" rtl="0" eaLnBrk="1" fontAlgn="base" latinLnBrk="0" hangingPunct="1">
              <a:lnSpc>
                <a:spcPct val="100000"/>
              </a:lnSpc>
              <a:spcBef>
                <a:spcPct val="0"/>
              </a:spcBef>
              <a:spcAft>
                <a:spcPct val="0"/>
              </a:spcAft>
              <a:buClrTx/>
              <a:buSzTx/>
              <a:buFont typeface="Wingdings" panose="05000000000000000000" pitchFamily="2" charset="2"/>
              <a:buChar char="ü"/>
              <a:defRPr/>
            </a:pPr>
            <a:endParaRPr kumimoji="0" lang="en-US" altLang="zh-CN" sz="2000" b="1" i="0" u="none" strike="noStrike" kern="1200" cap="none" spc="0" normalizeH="0" baseline="0" noProof="1">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107564"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基本思想</a:t>
            </a:r>
          </a:p>
        </p:txBody>
      </p:sp>
      <p:sp>
        <p:nvSpPr>
          <p:cNvPr id="3" name="文本框 2"/>
          <p:cNvSpPr txBox="1"/>
          <p:nvPr/>
        </p:nvSpPr>
        <p:spPr>
          <a:xfrm>
            <a:off x="8851265" y="5238115"/>
            <a:ext cx="309880" cy="36830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zo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4819" name="Group 3"/>
          <p:cNvGraphicFramePr>
            <a:graphicFrameLocks noGrp="1"/>
          </p:cNvGraphicFramePr>
          <p:nvPr/>
        </p:nvGraphicFramePr>
        <p:xfrm>
          <a:off x="2681288" y="1993900"/>
          <a:ext cx="1244600" cy="757238"/>
        </p:xfrm>
        <a:graphic>
          <a:graphicData uri="http://schemas.openxmlformats.org/drawingml/2006/table">
            <a:tbl>
              <a:tblPr/>
              <a:tblGrid>
                <a:gridCol w="12446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4829" name="Group 13"/>
          <p:cNvGraphicFramePr>
            <a:graphicFrameLocks noGrp="1"/>
          </p:cNvGraphicFramePr>
          <p:nvPr/>
        </p:nvGraphicFramePr>
        <p:xfrm>
          <a:off x="1004888" y="2451100"/>
          <a:ext cx="914400" cy="75723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4837" name="Group 21"/>
          <p:cNvGraphicFramePr>
            <a:graphicFrameLocks noGrp="1"/>
          </p:cNvGraphicFramePr>
          <p:nvPr/>
        </p:nvGraphicFramePr>
        <p:xfrm>
          <a:off x="1017588" y="1063625"/>
          <a:ext cx="655637" cy="1138239"/>
        </p:xfrm>
        <a:graphic>
          <a:graphicData uri="http://schemas.openxmlformats.org/drawingml/2006/table">
            <a:tbl>
              <a:tblPr/>
              <a:tblGrid>
                <a:gridCol w="655637">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8572" name="Line 31"/>
          <p:cNvSpPr/>
          <p:nvPr/>
        </p:nvSpPr>
        <p:spPr>
          <a:xfrm flipV="1">
            <a:off x="1524000" y="2466975"/>
            <a:ext cx="1204913" cy="212725"/>
          </a:xfrm>
          <a:prstGeom prst="line">
            <a:avLst/>
          </a:prstGeom>
          <a:ln w="9525" cap="flat" cmpd="sng">
            <a:solidFill>
              <a:schemeClr val="tx1"/>
            </a:solidFill>
            <a:prstDash val="solid"/>
            <a:headEnd type="none" w="med" len="med"/>
            <a:tailEnd type="triangle" w="med" len="med"/>
          </a:ln>
        </p:spPr>
      </p:sp>
      <p:sp>
        <p:nvSpPr>
          <p:cNvPr id="108573" name="Rectangle 32"/>
          <p:cNvSpPr>
            <a:spLocks noChangeAspect="1"/>
          </p:cNvSpPr>
          <p:nvPr/>
        </p:nvSpPr>
        <p:spPr>
          <a:xfrm>
            <a:off x="3933825" y="199390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8574" name="Text Box 33"/>
          <p:cNvSpPr txBox="1"/>
          <p:nvPr/>
        </p:nvSpPr>
        <p:spPr>
          <a:xfrm>
            <a:off x="598488" y="2338388"/>
            <a:ext cx="354012"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a:t>
            </a:r>
          </a:p>
        </p:txBody>
      </p:sp>
      <p:sp>
        <p:nvSpPr>
          <p:cNvPr id="108575" name="Text Box 34"/>
          <p:cNvSpPr txBox="1"/>
          <p:nvPr/>
        </p:nvSpPr>
        <p:spPr>
          <a:xfrm>
            <a:off x="598488" y="2719388"/>
            <a:ext cx="354012"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08576" name="Line 35"/>
          <p:cNvSpPr/>
          <p:nvPr/>
        </p:nvSpPr>
        <p:spPr>
          <a:xfrm>
            <a:off x="1538288" y="3060700"/>
            <a:ext cx="1158875" cy="44450"/>
          </a:xfrm>
          <a:prstGeom prst="line">
            <a:avLst/>
          </a:prstGeom>
          <a:ln w="9525" cap="flat" cmpd="sng">
            <a:solidFill>
              <a:schemeClr val="tx1"/>
            </a:solidFill>
            <a:prstDash val="solid"/>
            <a:headEnd type="none" w="med" len="med"/>
            <a:tailEnd type="triangle" w="med" len="med"/>
          </a:ln>
        </p:spPr>
      </p:sp>
      <p:graphicFrame>
        <p:nvGraphicFramePr>
          <p:cNvPr id="674852" name="Group 36"/>
          <p:cNvGraphicFramePr>
            <a:graphicFrameLocks noGrp="1"/>
          </p:cNvGraphicFramePr>
          <p:nvPr/>
        </p:nvGraphicFramePr>
        <p:xfrm>
          <a:off x="2681288" y="2832100"/>
          <a:ext cx="1244600" cy="757238"/>
        </p:xfrm>
        <a:graphic>
          <a:graphicData uri="http://schemas.openxmlformats.org/drawingml/2006/table">
            <a:tbl>
              <a:tblPr/>
              <a:tblGrid>
                <a:gridCol w="12446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8585" name="Rectangle 46"/>
          <p:cNvSpPr>
            <a:spLocks noChangeAspect="1"/>
          </p:cNvSpPr>
          <p:nvPr/>
        </p:nvSpPr>
        <p:spPr>
          <a:xfrm>
            <a:off x="3933825" y="283210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pSp>
        <p:nvGrpSpPr>
          <p:cNvPr id="108586" name="Group 47"/>
          <p:cNvGrpSpPr/>
          <p:nvPr/>
        </p:nvGrpSpPr>
        <p:grpSpPr>
          <a:xfrm>
            <a:off x="5214938" y="889000"/>
            <a:ext cx="3908425" cy="1701800"/>
            <a:chOff x="2621" y="469"/>
            <a:chExt cx="2911" cy="859"/>
          </a:xfrm>
        </p:grpSpPr>
        <p:sp>
          <p:nvSpPr>
            <p:cNvPr id="108630" name="AutoShape 39"/>
            <p:cNvSpPr/>
            <p:nvPr/>
          </p:nvSpPr>
          <p:spPr>
            <a:xfrm>
              <a:off x="2621" y="469"/>
              <a:ext cx="2911" cy="85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8631"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8632" name="Text Box 84"/>
            <p:cNvSpPr/>
            <p:nvPr/>
          </p:nvSpPr>
          <p:spPr>
            <a:xfrm>
              <a:off x="2814" y="540"/>
              <a:ext cx="2521" cy="722"/>
            </a:xfrm>
            <a:prstGeom prst="roundRect">
              <a:avLst>
                <a:gd name="adj" fmla="val 16667"/>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当前使用的哈希函数的位数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n-</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当前的桶数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当前哈希表中的记录总数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要求 </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r&lt;=1.7n</a:t>
              </a:r>
            </a:p>
          </p:txBody>
        </p:sp>
      </p:grpSp>
      <p:sp>
        <p:nvSpPr>
          <p:cNvPr id="108587" name="Text Box 51"/>
          <p:cNvSpPr txBox="1"/>
          <p:nvPr/>
        </p:nvSpPr>
        <p:spPr>
          <a:xfrm>
            <a:off x="1127125" y="4295775"/>
            <a:ext cx="184150" cy="336550"/>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74868" name="Rectangle 52"/>
          <p:cNvSpPr/>
          <p:nvPr/>
        </p:nvSpPr>
        <p:spPr>
          <a:xfrm>
            <a:off x="306388" y="4349750"/>
            <a:ext cx="3667125" cy="2060575"/>
          </a:xfrm>
          <a:prstGeom prst="rect">
            <a:avLst/>
          </a:prstGeom>
          <a:noFill/>
          <a:ln w="9525">
            <a:noFill/>
          </a:ln>
        </p:spPr>
        <p:txBody>
          <a:bodyPr>
            <a:spAutoFit/>
          </a:bodyPr>
          <a:lstStyle/>
          <a:p>
            <a:pPr marL="184150" marR="0" lvl="0" indent="-67945"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0101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如右图。</a:t>
            </a:r>
          </a:p>
          <a:p>
            <a:pPr marL="184150" marR="0" lvl="0" indent="-67945"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r/n=4/2=2&gt;1.7,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桶数需要增</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即要增加一桶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,n=3</a:t>
            </a:r>
          </a:p>
          <a:p>
            <a:pPr marL="184150" marR="0" lvl="0" indent="-67945"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需要分裂。</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桶要由</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桶分裂而来</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CC0000"/>
                </a:solidFill>
                <a:effectLst/>
                <a:uLnTx/>
                <a:uFillTx/>
                <a:latin typeface="微软雅黑" panose="020B0503020204020204" pitchFamily="34" charset="-122"/>
                <a:ea typeface="微软雅黑" panose="020B0503020204020204" pitchFamily="34" charset="-122"/>
                <a:cs typeface="+mn-cs"/>
              </a:rPr>
              <a:t>低位相同而最高位不同的那一个桶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p:txBody>
      </p:sp>
      <p:graphicFrame>
        <p:nvGraphicFramePr>
          <p:cNvPr id="674869" name="Group 53"/>
          <p:cNvGraphicFramePr>
            <a:graphicFrameLocks noGrp="1"/>
          </p:cNvGraphicFramePr>
          <p:nvPr/>
        </p:nvGraphicFramePr>
        <p:xfrm>
          <a:off x="6294438" y="4770438"/>
          <a:ext cx="1346200" cy="757237"/>
        </p:xfrm>
        <a:graphic>
          <a:graphicData uri="http://schemas.openxmlformats.org/drawingml/2006/table">
            <a:tbl>
              <a:tblPr/>
              <a:tblGrid>
                <a:gridCol w="13462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101(0)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4879" name="Group 63"/>
          <p:cNvGraphicFramePr>
            <a:graphicFrameLocks noGrp="1"/>
          </p:cNvGraphicFramePr>
          <p:nvPr/>
        </p:nvGraphicFramePr>
        <p:xfrm>
          <a:off x="4618038" y="5227638"/>
          <a:ext cx="914400" cy="757237"/>
        </p:xfrm>
        <a:graphic>
          <a:graphicData uri="http://schemas.openxmlformats.org/drawingml/2006/table">
            <a:tbl>
              <a:tblPr/>
              <a:tblGrid>
                <a:gridCol w="914400">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74887" name="Group 71"/>
          <p:cNvGraphicFramePr>
            <a:graphicFrameLocks noGrp="1"/>
          </p:cNvGraphicFramePr>
          <p:nvPr/>
        </p:nvGraphicFramePr>
        <p:xfrm>
          <a:off x="4630738" y="3840163"/>
          <a:ext cx="655637" cy="1138236"/>
        </p:xfrm>
        <a:graphic>
          <a:graphicData uri="http://schemas.openxmlformats.org/drawingml/2006/table">
            <a:tbl>
              <a:tblPr/>
              <a:tblGrid>
                <a:gridCol w="655637">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74897" name="Line 81"/>
          <p:cNvSpPr/>
          <p:nvPr/>
        </p:nvSpPr>
        <p:spPr>
          <a:xfrm flipV="1">
            <a:off x="5137150" y="5243513"/>
            <a:ext cx="1204913" cy="212725"/>
          </a:xfrm>
          <a:prstGeom prst="line">
            <a:avLst/>
          </a:prstGeom>
          <a:ln w="9525" cap="flat" cmpd="sng">
            <a:solidFill>
              <a:schemeClr val="tx1"/>
            </a:solidFill>
            <a:prstDash val="solid"/>
            <a:headEnd type="none" w="med" len="med"/>
            <a:tailEnd type="triangle" w="med" len="med"/>
          </a:ln>
        </p:spPr>
      </p:sp>
      <p:sp>
        <p:nvSpPr>
          <p:cNvPr id="674898" name="Rectangle 82"/>
          <p:cNvSpPr>
            <a:spLocks noChangeAspect="1"/>
          </p:cNvSpPr>
          <p:nvPr/>
        </p:nvSpPr>
        <p:spPr>
          <a:xfrm>
            <a:off x="7650163" y="47704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74899" name="Text Box 83"/>
          <p:cNvSpPr txBox="1"/>
          <p:nvPr/>
        </p:nvSpPr>
        <p:spPr>
          <a:xfrm>
            <a:off x="4252913" y="5176838"/>
            <a:ext cx="354012"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a:t>
            </a:r>
          </a:p>
        </p:txBody>
      </p:sp>
      <p:sp>
        <p:nvSpPr>
          <p:cNvPr id="674900" name="Text Box 84"/>
          <p:cNvSpPr txBox="1"/>
          <p:nvPr/>
        </p:nvSpPr>
        <p:spPr>
          <a:xfrm>
            <a:off x="4252913" y="5557838"/>
            <a:ext cx="354012"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674901" name="Line 85"/>
          <p:cNvSpPr/>
          <p:nvPr/>
        </p:nvSpPr>
        <p:spPr>
          <a:xfrm>
            <a:off x="5151438" y="5837238"/>
            <a:ext cx="1158875" cy="44450"/>
          </a:xfrm>
          <a:prstGeom prst="line">
            <a:avLst/>
          </a:prstGeom>
          <a:ln w="9525" cap="flat" cmpd="sng">
            <a:solidFill>
              <a:schemeClr val="tx1"/>
            </a:solidFill>
            <a:prstDash val="solid"/>
            <a:headEnd type="none" w="med" len="med"/>
            <a:tailEnd type="triangle" w="med" len="med"/>
          </a:ln>
        </p:spPr>
      </p:sp>
      <p:graphicFrame>
        <p:nvGraphicFramePr>
          <p:cNvPr id="674902" name="Group 86"/>
          <p:cNvGraphicFramePr>
            <a:graphicFrameLocks noGrp="1"/>
          </p:cNvGraphicFramePr>
          <p:nvPr/>
        </p:nvGraphicFramePr>
        <p:xfrm>
          <a:off x="6294438" y="5608638"/>
          <a:ext cx="1346200" cy="773112"/>
        </p:xfrm>
        <a:graphic>
          <a:graphicData uri="http://schemas.openxmlformats.org/drawingml/2006/table">
            <a:tbl>
              <a:tblPr/>
              <a:tblGrid>
                <a:gridCol w="13462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74912" name="Rectangle 96"/>
          <p:cNvSpPr>
            <a:spLocks noChangeAspect="1"/>
          </p:cNvSpPr>
          <p:nvPr/>
        </p:nvSpPr>
        <p:spPr>
          <a:xfrm>
            <a:off x="7650163" y="56086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8629"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4869"/>
                                        </p:tgtEl>
                                        <p:attrNameLst>
                                          <p:attrName>style.visibility</p:attrName>
                                        </p:attrNameLst>
                                      </p:cBhvr>
                                      <p:to>
                                        <p:strVal val="visible"/>
                                      </p:to>
                                    </p:set>
                                    <p:anim calcmode="lin" valueType="num">
                                      <p:cBhvr additive="base">
                                        <p:cTn id="7" dur="500" fill="hold"/>
                                        <p:tgtEl>
                                          <p:spTgt spid="674869"/>
                                        </p:tgtEl>
                                        <p:attrNameLst>
                                          <p:attrName>ppt_x</p:attrName>
                                        </p:attrNameLst>
                                      </p:cBhvr>
                                      <p:tavLst>
                                        <p:tav tm="0">
                                          <p:val>
                                            <p:strVal val="#ppt_x"/>
                                          </p:val>
                                        </p:tav>
                                        <p:tav tm="100000">
                                          <p:val>
                                            <p:strVal val="#ppt_x"/>
                                          </p:val>
                                        </p:tav>
                                      </p:tavLst>
                                    </p:anim>
                                    <p:anim calcmode="lin" valueType="num">
                                      <p:cBhvr additive="base">
                                        <p:cTn id="8" dur="500" fill="hold"/>
                                        <p:tgtEl>
                                          <p:spTgt spid="67486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4879"/>
                                        </p:tgtEl>
                                        <p:attrNameLst>
                                          <p:attrName>style.visibility</p:attrName>
                                        </p:attrNameLst>
                                      </p:cBhvr>
                                      <p:to>
                                        <p:strVal val="visible"/>
                                      </p:to>
                                    </p:set>
                                    <p:anim calcmode="lin" valueType="num">
                                      <p:cBhvr additive="base">
                                        <p:cTn id="11" dur="500" fill="hold"/>
                                        <p:tgtEl>
                                          <p:spTgt spid="674879"/>
                                        </p:tgtEl>
                                        <p:attrNameLst>
                                          <p:attrName>ppt_x</p:attrName>
                                        </p:attrNameLst>
                                      </p:cBhvr>
                                      <p:tavLst>
                                        <p:tav tm="0">
                                          <p:val>
                                            <p:strVal val="#ppt_x"/>
                                          </p:val>
                                        </p:tav>
                                        <p:tav tm="100000">
                                          <p:val>
                                            <p:strVal val="#ppt_x"/>
                                          </p:val>
                                        </p:tav>
                                      </p:tavLst>
                                    </p:anim>
                                    <p:anim calcmode="lin" valueType="num">
                                      <p:cBhvr additive="base">
                                        <p:cTn id="12" dur="500" fill="hold"/>
                                        <p:tgtEl>
                                          <p:spTgt spid="67487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4887"/>
                                        </p:tgtEl>
                                        <p:attrNameLst>
                                          <p:attrName>style.visibility</p:attrName>
                                        </p:attrNameLst>
                                      </p:cBhvr>
                                      <p:to>
                                        <p:strVal val="visible"/>
                                      </p:to>
                                    </p:set>
                                    <p:anim calcmode="lin" valueType="num">
                                      <p:cBhvr additive="base">
                                        <p:cTn id="15" dur="500" fill="hold"/>
                                        <p:tgtEl>
                                          <p:spTgt spid="674887"/>
                                        </p:tgtEl>
                                        <p:attrNameLst>
                                          <p:attrName>ppt_x</p:attrName>
                                        </p:attrNameLst>
                                      </p:cBhvr>
                                      <p:tavLst>
                                        <p:tav tm="0">
                                          <p:val>
                                            <p:strVal val="#ppt_x"/>
                                          </p:val>
                                        </p:tav>
                                        <p:tav tm="100000">
                                          <p:val>
                                            <p:strVal val="#ppt_x"/>
                                          </p:val>
                                        </p:tav>
                                      </p:tavLst>
                                    </p:anim>
                                    <p:anim calcmode="lin" valueType="num">
                                      <p:cBhvr additive="base">
                                        <p:cTn id="16" dur="500" fill="hold"/>
                                        <p:tgtEl>
                                          <p:spTgt spid="67488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74897"/>
                                        </p:tgtEl>
                                        <p:attrNameLst>
                                          <p:attrName>style.visibility</p:attrName>
                                        </p:attrNameLst>
                                      </p:cBhvr>
                                      <p:to>
                                        <p:strVal val="visible"/>
                                      </p:to>
                                    </p:set>
                                    <p:anim calcmode="lin" valueType="num">
                                      <p:cBhvr additive="base">
                                        <p:cTn id="19" dur="500" fill="hold"/>
                                        <p:tgtEl>
                                          <p:spTgt spid="674897"/>
                                        </p:tgtEl>
                                        <p:attrNameLst>
                                          <p:attrName>ppt_x</p:attrName>
                                        </p:attrNameLst>
                                      </p:cBhvr>
                                      <p:tavLst>
                                        <p:tav tm="0">
                                          <p:val>
                                            <p:strVal val="#ppt_x"/>
                                          </p:val>
                                        </p:tav>
                                        <p:tav tm="100000">
                                          <p:val>
                                            <p:strVal val="#ppt_x"/>
                                          </p:val>
                                        </p:tav>
                                      </p:tavLst>
                                    </p:anim>
                                    <p:anim calcmode="lin" valueType="num">
                                      <p:cBhvr additive="base">
                                        <p:cTn id="20" dur="500" fill="hold"/>
                                        <p:tgtEl>
                                          <p:spTgt spid="67489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74898"/>
                                        </p:tgtEl>
                                        <p:attrNameLst>
                                          <p:attrName>style.visibility</p:attrName>
                                        </p:attrNameLst>
                                      </p:cBhvr>
                                      <p:to>
                                        <p:strVal val="visible"/>
                                      </p:to>
                                    </p:set>
                                    <p:anim calcmode="lin" valueType="num">
                                      <p:cBhvr additive="base">
                                        <p:cTn id="23" dur="500" fill="hold"/>
                                        <p:tgtEl>
                                          <p:spTgt spid="674898"/>
                                        </p:tgtEl>
                                        <p:attrNameLst>
                                          <p:attrName>ppt_x</p:attrName>
                                        </p:attrNameLst>
                                      </p:cBhvr>
                                      <p:tavLst>
                                        <p:tav tm="0">
                                          <p:val>
                                            <p:strVal val="#ppt_x"/>
                                          </p:val>
                                        </p:tav>
                                        <p:tav tm="100000">
                                          <p:val>
                                            <p:strVal val="#ppt_x"/>
                                          </p:val>
                                        </p:tav>
                                      </p:tavLst>
                                    </p:anim>
                                    <p:anim calcmode="lin" valueType="num">
                                      <p:cBhvr additive="base">
                                        <p:cTn id="24" dur="500" fill="hold"/>
                                        <p:tgtEl>
                                          <p:spTgt spid="67489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74899"/>
                                        </p:tgtEl>
                                        <p:attrNameLst>
                                          <p:attrName>style.visibility</p:attrName>
                                        </p:attrNameLst>
                                      </p:cBhvr>
                                      <p:to>
                                        <p:strVal val="visible"/>
                                      </p:to>
                                    </p:set>
                                    <p:anim calcmode="lin" valueType="num">
                                      <p:cBhvr additive="base">
                                        <p:cTn id="27" dur="500" fill="hold"/>
                                        <p:tgtEl>
                                          <p:spTgt spid="674899"/>
                                        </p:tgtEl>
                                        <p:attrNameLst>
                                          <p:attrName>ppt_x</p:attrName>
                                        </p:attrNameLst>
                                      </p:cBhvr>
                                      <p:tavLst>
                                        <p:tav tm="0">
                                          <p:val>
                                            <p:strVal val="#ppt_x"/>
                                          </p:val>
                                        </p:tav>
                                        <p:tav tm="100000">
                                          <p:val>
                                            <p:strVal val="#ppt_x"/>
                                          </p:val>
                                        </p:tav>
                                      </p:tavLst>
                                    </p:anim>
                                    <p:anim calcmode="lin" valueType="num">
                                      <p:cBhvr additive="base">
                                        <p:cTn id="28" dur="500" fill="hold"/>
                                        <p:tgtEl>
                                          <p:spTgt spid="67489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74900"/>
                                        </p:tgtEl>
                                        <p:attrNameLst>
                                          <p:attrName>style.visibility</p:attrName>
                                        </p:attrNameLst>
                                      </p:cBhvr>
                                      <p:to>
                                        <p:strVal val="visible"/>
                                      </p:to>
                                    </p:set>
                                    <p:anim calcmode="lin" valueType="num">
                                      <p:cBhvr additive="base">
                                        <p:cTn id="31" dur="500" fill="hold"/>
                                        <p:tgtEl>
                                          <p:spTgt spid="674900"/>
                                        </p:tgtEl>
                                        <p:attrNameLst>
                                          <p:attrName>ppt_x</p:attrName>
                                        </p:attrNameLst>
                                      </p:cBhvr>
                                      <p:tavLst>
                                        <p:tav tm="0">
                                          <p:val>
                                            <p:strVal val="#ppt_x"/>
                                          </p:val>
                                        </p:tav>
                                        <p:tav tm="100000">
                                          <p:val>
                                            <p:strVal val="#ppt_x"/>
                                          </p:val>
                                        </p:tav>
                                      </p:tavLst>
                                    </p:anim>
                                    <p:anim calcmode="lin" valueType="num">
                                      <p:cBhvr additive="base">
                                        <p:cTn id="32" dur="500" fill="hold"/>
                                        <p:tgtEl>
                                          <p:spTgt spid="67490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74901"/>
                                        </p:tgtEl>
                                        <p:attrNameLst>
                                          <p:attrName>style.visibility</p:attrName>
                                        </p:attrNameLst>
                                      </p:cBhvr>
                                      <p:to>
                                        <p:strVal val="visible"/>
                                      </p:to>
                                    </p:set>
                                    <p:anim calcmode="lin" valueType="num">
                                      <p:cBhvr additive="base">
                                        <p:cTn id="35" dur="500" fill="hold"/>
                                        <p:tgtEl>
                                          <p:spTgt spid="674901"/>
                                        </p:tgtEl>
                                        <p:attrNameLst>
                                          <p:attrName>ppt_x</p:attrName>
                                        </p:attrNameLst>
                                      </p:cBhvr>
                                      <p:tavLst>
                                        <p:tav tm="0">
                                          <p:val>
                                            <p:strVal val="#ppt_x"/>
                                          </p:val>
                                        </p:tav>
                                        <p:tav tm="100000">
                                          <p:val>
                                            <p:strVal val="#ppt_x"/>
                                          </p:val>
                                        </p:tav>
                                      </p:tavLst>
                                    </p:anim>
                                    <p:anim calcmode="lin" valueType="num">
                                      <p:cBhvr additive="base">
                                        <p:cTn id="36" dur="500" fill="hold"/>
                                        <p:tgtEl>
                                          <p:spTgt spid="67490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74902"/>
                                        </p:tgtEl>
                                        <p:attrNameLst>
                                          <p:attrName>style.visibility</p:attrName>
                                        </p:attrNameLst>
                                      </p:cBhvr>
                                      <p:to>
                                        <p:strVal val="visible"/>
                                      </p:to>
                                    </p:set>
                                    <p:anim calcmode="lin" valueType="num">
                                      <p:cBhvr additive="base">
                                        <p:cTn id="39" dur="500" fill="hold"/>
                                        <p:tgtEl>
                                          <p:spTgt spid="674902"/>
                                        </p:tgtEl>
                                        <p:attrNameLst>
                                          <p:attrName>ppt_x</p:attrName>
                                        </p:attrNameLst>
                                      </p:cBhvr>
                                      <p:tavLst>
                                        <p:tav tm="0">
                                          <p:val>
                                            <p:strVal val="#ppt_x"/>
                                          </p:val>
                                        </p:tav>
                                        <p:tav tm="100000">
                                          <p:val>
                                            <p:strVal val="#ppt_x"/>
                                          </p:val>
                                        </p:tav>
                                      </p:tavLst>
                                    </p:anim>
                                    <p:anim calcmode="lin" valueType="num">
                                      <p:cBhvr additive="base">
                                        <p:cTn id="40" dur="500" fill="hold"/>
                                        <p:tgtEl>
                                          <p:spTgt spid="67490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74912"/>
                                        </p:tgtEl>
                                        <p:attrNameLst>
                                          <p:attrName>style.visibility</p:attrName>
                                        </p:attrNameLst>
                                      </p:cBhvr>
                                      <p:to>
                                        <p:strVal val="visible"/>
                                      </p:to>
                                    </p:set>
                                    <p:anim calcmode="lin" valueType="num">
                                      <p:cBhvr additive="base">
                                        <p:cTn id="43" dur="500" fill="hold"/>
                                        <p:tgtEl>
                                          <p:spTgt spid="674912"/>
                                        </p:tgtEl>
                                        <p:attrNameLst>
                                          <p:attrName>ppt_x</p:attrName>
                                        </p:attrNameLst>
                                      </p:cBhvr>
                                      <p:tavLst>
                                        <p:tav tm="0">
                                          <p:val>
                                            <p:strVal val="#ppt_x"/>
                                          </p:val>
                                        </p:tav>
                                        <p:tav tm="100000">
                                          <p:val>
                                            <p:strVal val="#ppt_x"/>
                                          </p:val>
                                        </p:tav>
                                      </p:tavLst>
                                    </p:anim>
                                    <p:anim calcmode="lin" valueType="num">
                                      <p:cBhvr additive="base">
                                        <p:cTn id="44" dur="500" fill="hold"/>
                                        <p:tgtEl>
                                          <p:spTgt spid="6749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74868">
                                            <p:txEl>
                                              <p:pRg st="1" end="1"/>
                                            </p:txEl>
                                          </p:spTgt>
                                        </p:tgtEl>
                                        <p:attrNameLst>
                                          <p:attrName>style.visibility</p:attrName>
                                        </p:attrNameLst>
                                      </p:cBhvr>
                                      <p:to>
                                        <p:strVal val="visible"/>
                                      </p:to>
                                    </p:set>
                                    <p:anim calcmode="lin" valueType="num">
                                      <p:cBhvr additive="base">
                                        <p:cTn id="49" dur="500" fill="hold"/>
                                        <p:tgtEl>
                                          <p:spTgt spid="674868">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74868">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674868">
                                            <p:txEl>
                                              <p:pRg st="2" end="2"/>
                                            </p:txEl>
                                          </p:spTgt>
                                        </p:tgtEl>
                                        <p:attrNameLst>
                                          <p:attrName>style.visibility</p:attrName>
                                        </p:attrNameLst>
                                      </p:cBhvr>
                                      <p:to>
                                        <p:strVal val="visible"/>
                                      </p:to>
                                    </p:set>
                                    <p:anim calcmode="lin" valueType="num">
                                      <p:cBhvr additive="base">
                                        <p:cTn id="53" dur="500" fill="hold"/>
                                        <p:tgtEl>
                                          <p:spTgt spid="674868">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7486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98" grpId="0" bldLvl="0" animBg="1"/>
      <p:bldP spid="674899" grpId="0"/>
      <p:bldP spid="674900" grpId="0"/>
      <p:bldP spid="674912"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Group 47"/>
          <p:cNvGrpSpPr/>
          <p:nvPr/>
        </p:nvGrpSpPr>
        <p:grpSpPr>
          <a:xfrm>
            <a:off x="5235575" y="889000"/>
            <a:ext cx="3908425" cy="1701800"/>
            <a:chOff x="2621" y="469"/>
            <a:chExt cx="2911" cy="859"/>
          </a:xfrm>
        </p:grpSpPr>
        <p:sp>
          <p:nvSpPr>
            <p:cNvPr id="109690" name="AutoShape 39"/>
            <p:cNvSpPr/>
            <p:nvPr/>
          </p:nvSpPr>
          <p:spPr>
            <a:xfrm>
              <a:off x="2621" y="469"/>
              <a:ext cx="2911" cy="85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9691"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9692" name="Text Box 84"/>
            <p:cNvSpPr/>
            <p:nvPr/>
          </p:nvSpPr>
          <p:spPr>
            <a:xfrm>
              <a:off x="2814" y="540"/>
              <a:ext cx="2521" cy="722"/>
            </a:xfrm>
            <a:prstGeom prst="roundRect">
              <a:avLst>
                <a:gd name="adj" fmla="val 16667"/>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当前使用的哈希函数的位数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n-</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当前的桶数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当前哈希表中的记录总数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要求 </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r&lt;=1.7n</a:t>
              </a:r>
            </a:p>
          </p:txBody>
        </p:sp>
      </p:grpSp>
      <p:sp>
        <p:nvSpPr>
          <p:cNvPr id="109571" name="Text Box 51"/>
          <p:cNvSpPr txBox="1"/>
          <p:nvPr/>
        </p:nvSpPr>
        <p:spPr>
          <a:xfrm>
            <a:off x="1127125" y="4295775"/>
            <a:ext cx="184150" cy="336550"/>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1924" name="Rectangle 52"/>
          <p:cNvSpPr/>
          <p:nvPr/>
        </p:nvSpPr>
        <p:spPr>
          <a:xfrm>
            <a:off x="223838" y="4008438"/>
            <a:ext cx="3424237" cy="1076325"/>
          </a:xfrm>
          <a:prstGeom prst="rect">
            <a:avLst/>
          </a:prstGeom>
          <a:noFill/>
          <a:ln w="9525">
            <a:noFill/>
          </a:ln>
        </p:spPr>
        <p:txBody>
          <a:bodyPr>
            <a:spAutoFit/>
          </a:bodyPr>
          <a:lstStyle/>
          <a:p>
            <a:pPr marL="87630" marR="0" lvl="0" indent="-71755"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0001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如右图。</a:t>
            </a:r>
          </a:p>
          <a:p>
            <a:pPr marL="87630" marR="0" lvl="0" indent="-71755"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r/n=5/3=1.66&lt;1.7,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桶数无需增加</a:t>
            </a:r>
          </a:p>
        </p:txBody>
      </p:sp>
      <p:graphicFrame>
        <p:nvGraphicFramePr>
          <p:cNvPr id="102405" name="表格 102404"/>
          <p:cNvGraphicFramePr/>
          <p:nvPr/>
        </p:nvGraphicFramePr>
        <p:xfrm>
          <a:off x="2657475" y="1306513"/>
          <a:ext cx="1325563" cy="757237"/>
        </p:xfrm>
        <a:graphic>
          <a:graphicData uri="http://schemas.openxmlformats.org/drawingml/2006/table">
            <a:tbl>
              <a:tblPr/>
              <a:tblGrid>
                <a:gridCol w="1325563">
                  <a:extLst>
                    <a:ext uri="{9D8B030D-6E8A-4147-A177-3AD203B41FA5}">
                      <a16:colId xmlns:a16="http://schemas.microsoft.com/office/drawing/2014/main" val="20000"/>
                    </a:ext>
                  </a:extLst>
                </a:gridCol>
              </a:tblGrid>
              <a:tr h="379412">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1971" name="Group 99"/>
          <p:cNvGraphicFramePr>
            <a:graphicFrameLocks noGrp="1"/>
          </p:cNvGraphicFramePr>
          <p:nvPr/>
        </p:nvGraphicFramePr>
        <p:xfrm>
          <a:off x="981075" y="2341563"/>
          <a:ext cx="914400" cy="113506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91943" name="Group 71"/>
          <p:cNvGraphicFramePr>
            <a:graphicFrameLocks noGrp="1"/>
          </p:cNvGraphicFramePr>
          <p:nvPr/>
        </p:nvGraphicFramePr>
        <p:xfrm>
          <a:off x="993775" y="954088"/>
          <a:ext cx="655638" cy="1138236"/>
        </p:xfrm>
        <a:graphic>
          <a:graphicData uri="http://schemas.openxmlformats.org/drawingml/2006/table">
            <a:tbl>
              <a:tblPr/>
              <a:tblGrid>
                <a:gridCol w="655638">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9601" name="Line 81"/>
          <p:cNvSpPr/>
          <p:nvPr/>
        </p:nvSpPr>
        <p:spPr>
          <a:xfrm flipV="1">
            <a:off x="1519238" y="1779588"/>
            <a:ext cx="1185862" cy="741362"/>
          </a:xfrm>
          <a:prstGeom prst="line">
            <a:avLst/>
          </a:prstGeom>
          <a:ln w="9525" cap="flat" cmpd="sng">
            <a:solidFill>
              <a:schemeClr val="tx1"/>
            </a:solidFill>
            <a:prstDash val="solid"/>
            <a:headEnd type="none" w="med" len="med"/>
            <a:tailEnd type="triangle" w="med" len="med"/>
          </a:ln>
        </p:spPr>
      </p:sp>
      <p:sp>
        <p:nvSpPr>
          <p:cNvPr id="109602" name="Rectangle 82"/>
          <p:cNvSpPr>
            <a:spLocks noChangeAspect="1"/>
          </p:cNvSpPr>
          <p:nvPr/>
        </p:nvSpPr>
        <p:spPr>
          <a:xfrm>
            <a:off x="4008438" y="130651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9603" name="Text Box 83"/>
          <p:cNvSpPr txBox="1"/>
          <p:nvPr/>
        </p:nvSpPr>
        <p:spPr>
          <a:xfrm>
            <a:off x="471488" y="2228850"/>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00</a:t>
            </a:r>
          </a:p>
        </p:txBody>
      </p:sp>
      <p:sp>
        <p:nvSpPr>
          <p:cNvPr id="109604" name="Text Box 84"/>
          <p:cNvSpPr txBox="1"/>
          <p:nvPr/>
        </p:nvSpPr>
        <p:spPr>
          <a:xfrm>
            <a:off x="471488" y="2609850"/>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p:txBody>
      </p:sp>
      <p:sp>
        <p:nvSpPr>
          <p:cNvPr id="109605" name="Line 85"/>
          <p:cNvSpPr/>
          <p:nvPr/>
        </p:nvSpPr>
        <p:spPr>
          <a:xfrm flipV="1">
            <a:off x="1597025" y="2417763"/>
            <a:ext cx="1076325" cy="463550"/>
          </a:xfrm>
          <a:prstGeom prst="line">
            <a:avLst/>
          </a:prstGeom>
          <a:ln w="9525" cap="flat" cmpd="sng">
            <a:solidFill>
              <a:schemeClr val="tx1"/>
            </a:solidFill>
            <a:prstDash val="solid"/>
            <a:headEnd type="none" w="med" len="med"/>
            <a:tailEnd type="triangle" w="med" len="med"/>
          </a:ln>
        </p:spPr>
      </p:sp>
      <p:graphicFrame>
        <p:nvGraphicFramePr>
          <p:cNvPr id="591958" name="Group 86"/>
          <p:cNvGraphicFramePr>
            <a:graphicFrameLocks noGrp="1"/>
          </p:cNvGraphicFramePr>
          <p:nvPr/>
        </p:nvGraphicFramePr>
        <p:xfrm>
          <a:off x="2657475" y="2144713"/>
          <a:ext cx="1325563" cy="773112"/>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9614" name="Rectangle 96"/>
          <p:cNvSpPr>
            <a:spLocks noChangeAspect="1"/>
          </p:cNvSpPr>
          <p:nvPr/>
        </p:nvSpPr>
        <p:spPr>
          <a:xfrm>
            <a:off x="4008438" y="214471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09615" name="Text Box 100"/>
          <p:cNvSpPr txBox="1"/>
          <p:nvPr/>
        </p:nvSpPr>
        <p:spPr>
          <a:xfrm>
            <a:off x="460375" y="3052763"/>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p:txBody>
      </p:sp>
      <p:sp>
        <p:nvSpPr>
          <p:cNvPr id="109616" name="Line 101"/>
          <p:cNvSpPr/>
          <p:nvPr/>
        </p:nvSpPr>
        <p:spPr>
          <a:xfrm flipV="1">
            <a:off x="1482725" y="3252788"/>
            <a:ext cx="1179513" cy="36512"/>
          </a:xfrm>
          <a:prstGeom prst="line">
            <a:avLst/>
          </a:prstGeom>
          <a:ln w="9525" cap="flat" cmpd="sng">
            <a:solidFill>
              <a:schemeClr val="tx1"/>
            </a:solidFill>
            <a:prstDash val="solid"/>
            <a:headEnd type="none" w="med" len="med"/>
            <a:tailEnd type="triangle" w="med" len="med"/>
          </a:ln>
        </p:spPr>
      </p:sp>
      <p:graphicFrame>
        <p:nvGraphicFramePr>
          <p:cNvPr id="102449" name="表格 102448"/>
          <p:cNvGraphicFramePr/>
          <p:nvPr/>
        </p:nvGraphicFramePr>
        <p:xfrm>
          <a:off x="2646363" y="2979738"/>
          <a:ext cx="1366837" cy="773112"/>
        </p:xfrm>
        <a:graphic>
          <a:graphicData uri="http://schemas.openxmlformats.org/drawingml/2006/table">
            <a:tbl>
              <a:tblPr/>
              <a:tblGrid>
                <a:gridCol w="1366837">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9625" name="Rectangle 112"/>
          <p:cNvSpPr>
            <a:spLocks noChangeAspect="1"/>
          </p:cNvSpPr>
          <p:nvPr/>
        </p:nvSpPr>
        <p:spPr>
          <a:xfrm>
            <a:off x="4006850" y="297973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102458" name="表格 102457"/>
          <p:cNvGraphicFramePr/>
          <p:nvPr/>
        </p:nvGraphicFramePr>
        <p:xfrm>
          <a:off x="5715000" y="4289425"/>
          <a:ext cx="1325563" cy="757238"/>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1995" name="Group 123"/>
          <p:cNvGraphicFramePr>
            <a:graphicFrameLocks noGrp="1"/>
          </p:cNvGraphicFramePr>
          <p:nvPr/>
        </p:nvGraphicFramePr>
        <p:xfrm>
          <a:off x="4265613" y="5324475"/>
          <a:ext cx="914400" cy="113506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92005" name="Group 133"/>
          <p:cNvGraphicFramePr>
            <a:graphicFrameLocks noGrp="1"/>
          </p:cNvGraphicFramePr>
          <p:nvPr/>
        </p:nvGraphicFramePr>
        <p:xfrm>
          <a:off x="4278313" y="3937000"/>
          <a:ext cx="655637" cy="1138239"/>
        </p:xfrm>
        <a:graphic>
          <a:graphicData uri="http://schemas.openxmlformats.org/drawingml/2006/table">
            <a:tbl>
              <a:tblPr/>
              <a:tblGrid>
                <a:gridCol w="655637">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92015" name="Line 143"/>
          <p:cNvSpPr/>
          <p:nvPr/>
        </p:nvSpPr>
        <p:spPr>
          <a:xfrm flipV="1">
            <a:off x="4803775" y="4843463"/>
            <a:ext cx="881063" cy="660400"/>
          </a:xfrm>
          <a:prstGeom prst="line">
            <a:avLst/>
          </a:prstGeom>
          <a:ln w="9525" cap="flat" cmpd="sng">
            <a:solidFill>
              <a:schemeClr val="tx1"/>
            </a:solidFill>
            <a:prstDash val="solid"/>
            <a:headEnd type="none" w="med" len="med"/>
            <a:tailEnd type="triangle" w="med" len="med"/>
          </a:ln>
        </p:spPr>
      </p:sp>
      <p:sp>
        <p:nvSpPr>
          <p:cNvPr id="592016" name="Rectangle 144"/>
          <p:cNvSpPr>
            <a:spLocks noChangeAspect="1"/>
          </p:cNvSpPr>
          <p:nvPr/>
        </p:nvSpPr>
        <p:spPr>
          <a:xfrm>
            <a:off x="7029450" y="42894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2017" name="Text Box 145"/>
          <p:cNvSpPr txBox="1"/>
          <p:nvPr/>
        </p:nvSpPr>
        <p:spPr>
          <a:xfrm>
            <a:off x="3756025" y="5211763"/>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00</a:t>
            </a:r>
          </a:p>
        </p:txBody>
      </p:sp>
      <p:sp>
        <p:nvSpPr>
          <p:cNvPr id="592018" name="Text Box 146"/>
          <p:cNvSpPr txBox="1"/>
          <p:nvPr/>
        </p:nvSpPr>
        <p:spPr>
          <a:xfrm>
            <a:off x="3776663" y="5634038"/>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p:txBody>
      </p:sp>
      <p:sp>
        <p:nvSpPr>
          <p:cNvPr id="592019" name="Line 147"/>
          <p:cNvSpPr/>
          <p:nvPr/>
        </p:nvSpPr>
        <p:spPr>
          <a:xfrm flipV="1">
            <a:off x="4881563" y="5461000"/>
            <a:ext cx="812800" cy="403225"/>
          </a:xfrm>
          <a:prstGeom prst="line">
            <a:avLst/>
          </a:prstGeom>
          <a:ln w="9525" cap="flat" cmpd="sng">
            <a:solidFill>
              <a:schemeClr val="tx1"/>
            </a:solidFill>
            <a:prstDash val="solid"/>
            <a:headEnd type="none" w="med" len="med"/>
            <a:tailEnd type="triangle" w="med" len="med"/>
          </a:ln>
        </p:spPr>
      </p:sp>
      <p:graphicFrame>
        <p:nvGraphicFramePr>
          <p:cNvPr id="592020" name="Group 148"/>
          <p:cNvGraphicFramePr>
            <a:graphicFrameLocks noGrp="1"/>
          </p:cNvGraphicFramePr>
          <p:nvPr/>
        </p:nvGraphicFramePr>
        <p:xfrm>
          <a:off x="5715000" y="5127625"/>
          <a:ext cx="1325563" cy="773113"/>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000(1)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2030" name="Rectangle 158"/>
          <p:cNvSpPr>
            <a:spLocks noChangeAspect="1"/>
          </p:cNvSpPr>
          <p:nvPr/>
        </p:nvSpPr>
        <p:spPr>
          <a:xfrm>
            <a:off x="7029450" y="51276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2031" name="Text Box 159"/>
          <p:cNvSpPr txBox="1"/>
          <p:nvPr/>
        </p:nvSpPr>
        <p:spPr>
          <a:xfrm>
            <a:off x="3744913" y="6035675"/>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p:txBody>
      </p:sp>
      <p:sp>
        <p:nvSpPr>
          <p:cNvPr id="592032" name="Line 160"/>
          <p:cNvSpPr/>
          <p:nvPr/>
        </p:nvSpPr>
        <p:spPr>
          <a:xfrm flipV="1">
            <a:off x="4767263" y="6235700"/>
            <a:ext cx="936625" cy="36513"/>
          </a:xfrm>
          <a:prstGeom prst="line">
            <a:avLst/>
          </a:prstGeom>
          <a:ln w="9525" cap="flat" cmpd="sng">
            <a:solidFill>
              <a:schemeClr val="tx1"/>
            </a:solidFill>
            <a:prstDash val="solid"/>
            <a:headEnd type="none" w="med" len="med"/>
            <a:tailEnd type="triangle" w="med" len="med"/>
          </a:ln>
        </p:spPr>
      </p:sp>
      <p:graphicFrame>
        <p:nvGraphicFramePr>
          <p:cNvPr id="102502" name="表格 102501"/>
          <p:cNvGraphicFramePr/>
          <p:nvPr/>
        </p:nvGraphicFramePr>
        <p:xfrm>
          <a:off x="5724525" y="5962650"/>
          <a:ext cx="1325563" cy="773113"/>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2043" name="Rectangle 171"/>
          <p:cNvSpPr>
            <a:spLocks noChangeAspect="1"/>
          </p:cNvSpPr>
          <p:nvPr/>
        </p:nvSpPr>
        <p:spPr>
          <a:xfrm>
            <a:off x="7018338" y="596265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592044" name="Group 172"/>
          <p:cNvGraphicFramePr>
            <a:graphicFrameLocks noGrp="1"/>
          </p:cNvGraphicFramePr>
          <p:nvPr/>
        </p:nvGraphicFramePr>
        <p:xfrm>
          <a:off x="7504113" y="5119688"/>
          <a:ext cx="1325562" cy="773112"/>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2054" name="Rectangle 182"/>
          <p:cNvSpPr>
            <a:spLocks noChangeAspect="1"/>
          </p:cNvSpPr>
          <p:nvPr/>
        </p:nvSpPr>
        <p:spPr>
          <a:xfrm>
            <a:off x="8818563" y="511968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2055" name="Line 183"/>
          <p:cNvSpPr/>
          <p:nvPr/>
        </p:nvSpPr>
        <p:spPr>
          <a:xfrm>
            <a:off x="7132638" y="5262563"/>
            <a:ext cx="406400" cy="0"/>
          </a:xfrm>
          <a:prstGeom prst="line">
            <a:avLst/>
          </a:prstGeom>
          <a:ln w="9525" cap="flat" cmpd="sng">
            <a:solidFill>
              <a:schemeClr val="tx1"/>
            </a:solidFill>
            <a:prstDash val="solid"/>
            <a:headEnd type="none" w="med" len="med"/>
            <a:tailEnd type="triangle" w="med" len="med"/>
          </a:ln>
        </p:spPr>
      </p:sp>
      <p:sp>
        <p:nvSpPr>
          <p:cNvPr id="109689"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1924">
                                            <p:txEl>
                                              <p:pRg st="0" end="0"/>
                                            </p:txEl>
                                          </p:spTgt>
                                        </p:tgtEl>
                                        <p:attrNameLst>
                                          <p:attrName>style.visibility</p:attrName>
                                        </p:attrNameLst>
                                      </p:cBhvr>
                                      <p:to>
                                        <p:strVal val="visible"/>
                                      </p:to>
                                    </p:set>
                                    <p:anim calcmode="lin" valueType="num">
                                      <p:cBhvr additive="base">
                                        <p:cTn id="7" dur="500" fill="hold"/>
                                        <p:tgtEl>
                                          <p:spTgt spid="5919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19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458"/>
                                        </p:tgtEl>
                                        <p:attrNameLst>
                                          <p:attrName>style.visibility</p:attrName>
                                        </p:attrNameLst>
                                      </p:cBhvr>
                                      <p:to>
                                        <p:strVal val="visible"/>
                                      </p:to>
                                    </p:set>
                                    <p:anim calcmode="lin" valueType="num">
                                      <p:cBhvr additive="base">
                                        <p:cTn id="13" dur="500" fill="hold"/>
                                        <p:tgtEl>
                                          <p:spTgt spid="102458"/>
                                        </p:tgtEl>
                                        <p:attrNameLst>
                                          <p:attrName>ppt_x</p:attrName>
                                        </p:attrNameLst>
                                      </p:cBhvr>
                                      <p:tavLst>
                                        <p:tav tm="0">
                                          <p:val>
                                            <p:strVal val="#ppt_x"/>
                                          </p:val>
                                        </p:tav>
                                        <p:tav tm="100000">
                                          <p:val>
                                            <p:strVal val="#ppt_x"/>
                                          </p:val>
                                        </p:tav>
                                      </p:tavLst>
                                    </p:anim>
                                    <p:anim calcmode="lin" valueType="num">
                                      <p:cBhvr additive="base">
                                        <p:cTn id="14" dur="500" fill="hold"/>
                                        <p:tgtEl>
                                          <p:spTgt spid="10245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91995"/>
                                        </p:tgtEl>
                                        <p:attrNameLst>
                                          <p:attrName>style.visibility</p:attrName>
                                        </p:attrNameLst>
                                      </p:cBhvr>
                                      <p:to>
                                        <p:strVal val="visible"/>
                                      </p:to>
                                    </p:set>
                                    <p:anim calcmode="lin" valueType="num">
                                      <p:cBhvr additive="base">
                                        <p:cTn id="17" dur="500" fill="hold"/>
                                        <p:tgtEl>
                                          <p:spTgt spid="591995"/>
                                        </p:tgtEl>
                                        <p:attrNameLst>
                                          <p:attrName>ppt_x</p:attrName>
                                        </p:attrNameLst>
                                      </p:cBhvr>
                                      <p:tavLst>
                                        <p:tav tm="0">
                                          <p:val>
                                            <p:strVal val="#ppt_x"/>
                                          </p:val>
                                        </p:tav>
                                        <p:tav tm="100000">
                                          <p:val>
                                            <p:strVal val="#ppt_x"/>
                                          </p:val>
                                        </p:tav>
                                      </p:tavLst>
                                    </p:anim>
                                    <p:anim calcmode="lin" valueType="num">
                                      <p:cBhvr additive="base">
                                        <p:cTn id="18" dur="500" fill="hold"/>
                                        <p:tgtEl>
                                          <p:spTgt spid="59199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92005"/>
                                        </p:tgtEl>
                                        <p:attrNameLst>
                                          <p:attrName>style.visibility</p:attrName>
                                        </p:attrNameLst>
                                      </p:cBhvr>
                                      <p:to>
                                        <p:strVal val="visible"/>
                                      </p:to>
                                    </p:set>
                                    <p:anim calcmode="lin" valueType="num">
                                      <p:cBhvr additive="base">
                                        <p:cTn id="21" dur="500" fill="hold"/>
                                        <p:tgtEl>
                                          <p:spTgt spid="592005"/>
                                        </p:tgtEl>
                                        <p:attrNameLst>
                                          <p:attrName>ppt_x</p:attrName>
                                        </p:attrNameLst>
                                      </p:cBhvr>
                                      <p:tavLst>
                                        <p:tav tm="0">
                                          <p:val>
                                            <p:strVal val="#ppt_x"/>
                                          </p:val>
                                        </p:tav>
                                        <p:tav tm="100000">
                                          <p:val>
                                            <p:strVal val="#ppt_x"/>
                                          </p:val>
                                        </p:tav>
                                      </p:tavLst>
                                    </p:anim>
                                    <p:anim calcmode="lin" valueType="num">
                                      <p:cBhvr additive="base">
                                        <p:cTn id="22" dur="500" fill="hold"/>
                                        <p:tgtEl>
                                          <p:spTgt spid="59200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92015"/>
                                        </p:tgtEl>
                                        <p:attrNameLst>
                                          <p:attrName>style.visibility</p:attrName>
                                        </p:attrNameLst>
                                      </p:cBhvr>
                                      <p:to>
                                        <p:strVal val="visible"/>
                                      </p:to>
                                    </p:set>
                                    <p:anim calcmode="lin" valueType="num">
                                      <p:cBhvr additive="base">
                                        <p:cTn id="25" dur="500" fill="hold"/>
                                        <p:tgtEl>
                                          <p:spTgt spid="592015"/>
                                        </p:tgtEl>
                                        <p:attrNameLst>
                                          <p:attrName>ppt_x</p:attrName>
                                        </p:attrNameLst>
                                      </p:cBhvr>
                                      <p:tavLst>
                                        <p:tav tm="0">
                                          <p:val>
                                            <p:strVal val="#ppt_x"/>
                                          </p:val>
                                        </p:tav>
                                        <p:tav tm="100000">
                                          <p:val>
                                            <p:strVal val="#ppt_x"/>
                                          </p:val>
                                        </p:tav>
                                      </p:tavLst>
                                    </p:anim>
                                    <p:anim calcmode="lin" valueType="num">
                                      <p:cBhvr additive="base">
                                        <p:cTn id="26" dur="500" fill="hold"/>
                                        <p:tgtEl>
                                          <p:spTgt spid="59201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92016"/>
                                        </p:tgtEl>
                                        <p:attrNameLst>
                                          <p:attrName>style.visibility</p:attrName>
                                        </p:attrNameLst>
                                      </p:cBhvr>
                                      <p:to>
                                        <p:strVal val="visible"/>
                                      </p:to>
                                    </p:set>
                                    <p:anim calcmode="lin" valueType="num">
                                      <p:cBhvr additive="base">
                                        <p:cTn id="29" dur="500" fill="hold"/>
                                        <p:tgtEl>
                                          <p:spTgt spid="592016"/>
                                        </p:tgtEl>
                                        <p:attrNameLst>
                                          <p:attrName>ppt_x</p:attrName>
                                        </p:attrNameLst>
                                      </p:cBhvr>
                                      <p:tavLst>
                                        <p:tav tm="0">
                                          <p:val>
                                            <p:strVal val="#ppt_x"/>
                                          </p:val>
                                        </p:tav>
                                        <p:tav tm="100000">
                                          <p:val>
                                            <p:strVal val="#ppt_x"/>
                                          </p:val>
                                        </p:tav>
                                      </p:tavLst>
                                    </p:anim>
                                    <p:anim calcmode="lin" valueType="num">
                                      <p:cBhvr additive="base">
                                        <p:cTn id="30" dur="500" fill="hold"/>
                                        <p:tgtEl>
                                          <p:spTgt spid="59201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92017"/>
                                        </p:tgtEl>
                                        <p:attrNameLst>
                                          <p:attrName>style.visibility</p:attrName>
                                        </p:attrNameLst>
                                      </p:cBhvr>
                                      <p:to>
                                        <p:strVal val="visible"/>
                                      </p:to>
                                    </p:set>
                                    <p:anim calcmode="lin" valueType="num">
                                      <p:cBhvr additive="base">
                                        <p:cTn id="33" dur="500" fill="hold"/>
                                        <p:tgtEl>
                                          <p:spTgt spid="592017"/>
                                        </p:tgtEl>
                                        <p:attrNameLst>
                                          <p:attrName>ppt_x</p:attrName>
                                        </p:attrNameLst>
                                      </p:cBhvr>
                                      <p:tavLst>
                                        <p:tav tm="0">
                                          <p:val>
                                            <p:strVal val="#ppt_x"/>
                                          </p:val>
                                        </p:tav>
                                        <p:tav tm="100000">
                                          <p:val>
                                            <p:strVal val="#ppt_x"/>
                                          </p:val>
                                        </p:tav>
                                      </p:tavLst>
                                    </p:anim>
                                    <p:anim calcmode="lin" valueType="num">
                                      <p:cBhvr additive="base">
                                        <p:cTn id="34" dur="500" fill="hold"/>
                                        <p:tgtEl>
                                          <p:spTgt spid="59201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92018"/>
                                        </p:tgtEl>
                                        <p:attrNameLst>
                                          <p:attrName>style.visibility</p:attrName>
                                        </p:attrNameLst>
                                      </p:cBhvr>
                                      <p:to>
                                        <p:strVal val="visible"/>
                                      </p:to>
                                    </p:set>
                                    <p:anim calcmode="lin" valueType="num">
                                      <p:cBhvr additive="base">
                                        <p:cTn id="37" dur="500" fill="hold"/>
                                        <p:tgtEl>
                                          <p:spTgt spid="592018"/>
                                        </p:tgtEl>
                                        <p:attrNameLst>
                                          <p:attrName>ppt_x</p:attrName>
                                        </p:attrNameLst>
                                      </p:cBhvr>
                                      <p:tavLst>
                                        <p:tav tm="0">
                                          <p:val>
                                            <p:strVal val="#ppt_x"/>
                                          </p:val>
                                        </p:tav>
                                        <p:tav tm="100000">
                                          <p:val>
                                            <p:strVal val="#ppt_x"/>
                                          </p:val>
                                        </p:tav>
                                      </p:tavLst>
                                    </p:anim>
                                    <p:anim calcmode="lin" valueType="num">
                                      <p:cBhvr additive="base">
                                        <p:cTn id="38" dur="500" fill="hold"/>
                                        <p:tgtEl>
                                          <p:spTgt spid="592018"/>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92019"/>
                                        </p:tgtEl>
                                        <p:attrNameLst>
                                          <p:attrName>style.visibility</p:attrName>
                                        </p:attrNameLst>
                                      </p:cBhvr>
                                      <p:to>
                                        <p:strVal val="visible"/>
                                      </p:to>
                                    </p:set>
                                    <p:anim calcmode="lin" valueType="num">
                                      <p:cBhvr additive="base">
                                        <p:cTn id="41" dur="500" fill="hold"/>
                                        <p:tgtEl>
                                          <p:spTgt spid="592019"/>
                                        </p:tgtEl>
                                        <p:attrNameLst>
                                          <p:attrName>ppt_x</p:attrName>
                                        </p:attrNameLst>
                                      </p:cBhvr>
                                      <p:tavLst>
                                        <p:tav tm="0">
                                          <p:val>
                                            <p:strVal val="#ppt_x"/>
                                          </p:val>
                                        </p:tav>
                                        <p:tav tm="100000">
                                          <p:val>
                                            <p:strVal val="#ppt_x"/>
                                          </p:val>
                                        </p:tav>
                                      </p:tavLst>
                                    </p:anim>
                                    <p:anim calcmode="lin" valueType="num">
                                      <p:cBhvr additive="base">
                                        <p:cTn id="42" dur="500" fill="hold"/>
                                        <p:tgtEl>
                                          <p:spTgt spid="592019"/>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92020"/>
                                        </p:tgtEl>
                                        <p:attrNameLst>
                                          <p:attrName>style.visibility</p:attrName>
                                        </p:attrNameLst>
                                      </p:cBhvr>
                                      <p:to>
                                        <p:strVal val="visible"/>
                                      </p:to>
                                    </p:set>
                                    <p:anim calcmode="lin" valueType="num">
                                      <p:cBhvr additive="base">
                                        <p:cTn id="45" dur="500" fill="hold"/>
                                        <p:tgtEl>
                                          <p:spTgt spid="592020"/>
                                        </p:tgtEl>
                                        <p:attrNameLst>
                                          <p:attrName>ppt_x</p:attrName>
                                        </p:attrNameLst>
                                      </p:cBhvr>
                                      <p:tavLst>
                                        <p:tav tm="0">
                                          <p:val>
                                            <p:strVal val="#ppt_x"/>
                                          </p:val>
                                        </p:tav>
                                        <p:tav tm="100000">
                                          <p:val>
                                            <p:strVal val="#ppt_x"/>
                                          </p:val>
                                        </p:tav>
                                      </p:tavLst>
                                    </p:anim>
                                    <p:anim calcmode="lin" valueType="num">
                                      <p:cBhvr additive="base">
                                        <p:cTn id="46" dur="500" fill="hold"/>
                                        <p:tgtEl>
                                          <p:spTgt spid="5920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92030"/>
                                        </p:tgtEl>
                                        <p:attrNameLst>
                                          <p:attrName>style.visibility</p:attrName>
                                        </p:attrNameLst>
                                      </p:cBhvr>
                                      <p:to>
                                        <p:strVal val="visible"/>
                                      </p:to>
                                    </p:set>
                                    <p:anim calcmode="lin" valueType="num">
                                      <p:cBhvr additive="base">
                                        <p:cTn id="49" dur="500" fill="hold"/>
                                        <p:tgtEl>
                                          <p:spTgt spid="592030"/>
                                        </p:tgtEl>
                                        <p:attrNameLst>
                                          <p:attrName>ppt_x</p:attrName>
                                        </p:attrNameLst>
                                      </p:cBhvr>
                                      <p:tavLst>
                                        <p:tav tm="0">
                                          <p:val>
                                            <p:strVal val="#ppt_x"/>
                                          </p:val>
                                        </p:tav>
                                        <p:tav tm="100000">
                                          <p:val>
                                            <p:strVal val="#ppt_x"/>
                                          </p:val>
                                        </p:tav>
                                      </p:tavLst>
                                    </p:anim>
                                    <p:anim calcmode="lin" valueType="num">
                                      <p:cBhvr additive="base">
                                        <p:cTn id="50" dur="500" fill="hold"/>
                                        <p:tgtEl>
                                          <p:spTgt spid="59203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92031"/>
                                        </p:tgtEl>
                                        <p:attrNameLst>
                                          <p:attrName>style.visibility</p:attrName>
                                        </p:attrNameLst>
                                      </p:cBhvr>
                                      <p:to>
                                        <p:strVal val="visible"/>
                                      </p:to>
                                    </p:set>
                                    <p:anim calcmode="lin" valueType="num">
                                      <p:cBhvr additive="base">
                                        <p:cTn id="53" dur="500" fill="hold"/>
                                        <p:tgtEl>
                                          <p:spTgt spid="592031"/>
                                        </p:tgtEl>
                                        <p:attrNameLst>
                                          <p:attrName>ppt_x</p:attrName>
                                        </p:attrNameLst>
                                      </p:cBhvr>
                                      <p:tavLst>
                                        <p:tav tm="0">
                                          <p:val>
                                            <p:strVal val="#ppt_x"/>
                                          </p:val>
                                        </p:tav>
                                        <p:tav tm="100000">
                                          <p:val>
                                            <p:strVal val="#ppt_x"/>
                                          </p:val>
                                        </p:tav>
                                      </p:tavLst>
                                    </p:anim>
                                    <p:anim calcmode="lin" valueType="num">
                                      <p:cBhvr additive="base">
                                        <p:cTn id="54" dur="500" fill="hold"/>
                                        <p:tgtEl>
                                          <p:spTgt spid="592031"/>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92032"/>
                                        </p:tgtEl>
                                        <p:attrNameLst>
                                          <p:attrName>style.visibility</p:attrName>
                                        </p:attrNameLst>
                                      </p:cBhvr>
                                      <p:to>
                                        <p:strVal val="visible"/>
                                      </p:to>
                                    </p:set>
                                    <p:anim calcmode="lin" valueType="num">
                                      <p:cBhvr additive="base">
                                        <p:cTn id="57" dur="500" fill="hold"/>
                                        <p:tgtEl>
                                          <p:spTgt spid="592032"/>
                                        </p:tgtEl>
                                        <p:attrNameLst>
                                          <p:attrName>ppt_x</p:attrName>
                                        </p:attrNameLst>
                                      </p:cBhvr>
                                      <p:tavLst>
                                        <p:tav tm="0">
                                          <p:val>
                                            <p:strVal val="#ppt_x"/>
                                          </p:val>
                                        </p:tav>
                                        <p:tav tm="100000">
                                          <p:val>
                                            <p:strVal val="#ppt_x"/>
                                          </p:val>
                                        </p:tav>
                                      </p:tavLst>
                                    </p:anim>
                                    <p:anim calcmode="lin" valueType="num">
                                      <p:cBhvr additive="base">
                                        <p:cTn id="58" dur="500" fill="hold"/>
                                        <p:tgtEl>
                                          <p:spTgt spid="592032"/>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02502"/>
                                        </p:tgtEl>
                                        <p:attrNameLst>
                                          <p:attrName>style.visibility</p:attrName>
                                        </p:attrNameLst>
                                      </p:cBhvr>
                                      <p:to>
                                        <p:strVal val="visible"/>
                                      </p:to>
                                    </p:set>
                                    <p:anim calcmode="lin" valueType="num">
                                      <p:cBhvr additive="base">
                                        <p:cTn id="61" dur="500" fill="hold"/>
                                        <p:tgtEl>
                                          <p:spTgt spid="102502"/>
                                        </p:tgtEl>
                                        <p:attrNameLst>
                                          <p:attrName>ppt_x</p:attrName>
                                        </p:attrNameLst>
                                      </p:cBhvr>
                                      <p:tavLst>
                                        <p:tav tm="0">
                                          <p:val>
                                            <p:strVal val="#ppt_x"/>
                                          </p:val>
                                        </p:tav>
                                        <p:tav tm="100000">
                                          <p:val>
                                            <p:strVal val="#ppt_x"/>
                                          </p:val>
                                        </p:tav>
                                      </p:tavLst>
                                    </p:anim>
                                    <p:anim calcmode="lin" valueType="num">
                                      <p:cBhvr additive="base">
                                        <p:cTn id="62" dur="500" fill="hold"/>
                                        <p:tgtEl>
                                          <p:spTgt spid="102502"/>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92043"/>
                                        </p:tgtEl>
                                        <p:attrNameLst>
                                          <p:attrName>style.visibility</p:attrName>
                                        </p:attrNameLst>
                                      </p:cBhvr>
                                      <p:to>
                                        <p:strVal val="visible"/>
                                      </p:to>
                                    </p:set>
                                    <p:anim calcmode="lin" valueType="num">
                                      <p:cBhvr additive="base">
                                        <p:cTn id="65" dur="500" fill="hold"/>
                                        <p:tgtEl>
                                          <p:spTgt spid="592043"/>
                                        </p:tgtEl>
                                        <p:attrNameLst>
                                          <p:attrName>ppt_x</p:attrName>
                                        </p:attrNameLst>
                                      </p:cBhvr>
                                      <p:tavLst>
                                        <p:tav tm="0">
                                          <p:val>
                                            <p:strVal val="#ppt_x"/>
                                          </p:val>
                                        </p:tav>
                                        <p:tav tm="100000">
                                          <p:val>
                                            <p:strVal val="#ppt_x"/>
                                          </p:val>
                                        </p:tav>
                                      </p:tavLst>
                                    </p:anim>
                                    <p:anim calcmode="lin" valueType="num">
                                      <p:cBhvr additive="base">
                                        <p:cTn id="66" dur="500" fill="hold"/>
                                        <p:tgtEl>
                                          <p:spTgt spid="592043"/>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592044"/>
                                        </p:tgtEl>
                                        <p:attrNameLst>
                                          <p:attrName>style.visibility</p:attrName>
                                        </p:attrNameLst>
                                      </p:cBhvr>
                                      <p:to>
                                        <p:strVal val="visible"/>
                                      </p:to>
                                    </p:set>
                                    <p:anim calcmode="lin" valueType="num">
                                      <p:cBhvr additive="base">
                                        <p:cTn id="69" dur="500" fill="hold"/>
                                        <p:tgtEl>
                                          <p:spTgt spid="592044"/>
                                        </p:tgtEl>
                                        <p:attrNameLst>
                                          <p:attrName>ppt_x</p:attrName>
                                        </p:attrNameLst>
                                      </p:cBhvr>
                                      <p:tavLst>
                                        <p:tav tm="0">
                                          <p:val>
                                            <p:strVal val="#ppt_x"/>
                                          </p:val>
                                        </p:tav>
                                        <p:tav tm="100000">
                                          <p:val>
                                            <p:strVal val="#ppt_x"/>
                                          </p:val>
                                        </p:tav>
                                      </p:tavLst>
                                    </p:anim>
                                    <p:anim calcmode="lin" valueType="num">
                                      <p:cBhvr additive="base">
                                        <p:cTn id="70" dur="500" fill="hold"/>
                                        <p:tgtEl>
                                          <p:spTgt spid="59204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592054"/>
                                        </p:tgtEl>
                                        <p:attrNameLst>
                                          <p:attrName>style.visibility</p:attrName>
                                        </p:attrNameLst>
                                      </p:cBhvr>
                                      <p:to>
                                        <p:strVal val="visible"/>
                                      </p:to>
                                    </p:set>
                                    <p:anim calcmode="lin" valueType="num">
                                      <p:cBhvr additive="base">
                                        <p:cTn id="73" dur="500" fill="hold"/>
                                        <p:tgtEl>
                                          <p:spTgt spid="592054"/>
                                        </p:tgtEl>
                                        <p:attrNameLst>
                                          <p:attrName>ppt_x</p:attrName>
                                        </p:attrNameLst>
                                      </p:cBhvr>
                                      <p:tavLst>
                                        <p:tav tm="0">
                                          <p:val>
                                            <p:strVal val="#ppt_x"/>
                                          </p:val>
                                        </p:tav>
                                        <p:tav tm="100000">
                                          <p:val>
                                            <p:strVal val="#ppt_x"/>
                                          </p:val>
                                        </p:tav>
                                      </p:tavLst>
                                    </p:anim>
                                    <p:anim calcmode="lin" valueType="num">
                                      <p:cBhvr additive="base">
                                        <p:cTn id="74" dur="500" fill="hold"/>
                                        <p:tgtEl>
                                          <p:spTgt spid="592054"/>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592055"/>
                                        </p:tgtEl>
                                        <p:attrNameLst>
                                          <p:attrName>style.visibility</p:attrName>
                                        </p:attrNameLst>
                                      </p:cBhvr>
                                      <p:to>
                                        <p:strVal val="visible"/>
                                      </p:to>
                                    </p:set>
                                    <p:anim calcmode="lin" valueType="num">
                                      <p:cBhvr additive="base">
                                        <p:cTn id="77" dur="500" fill="hold"/>
                                        <p:tgtEl>
                                          <p:spTgt spid="592055"/>
                                        </p:tgtEl>
                                        <p:attrNameLst>
                                          <p:attrName>ppt_x</p:attrName>
                                        </p:attrNameLst>
                                      </p:cBhvr>
                                      <p:tavLst>
                                        <p:tav tm="0">
                                          <p:val>
                                            <p:strVal val="#ppt_x"/>
                                          </p:val>
                                        </p:tav>
                                        <p:tav tm="100000">
                                          <p:val>
                                            <p:strVal val="#ppt_x"/>
                                          </p:val>
                                        </p:tav>
                                      </p:tavLst>
                                    </p:anim>
                                    <p:anim calcmode="lin" valueType="num">
                                      <p:cBhvr additive="base">
                                        <p:cTn id="78" dur="500" fill="hold"/>
                                        <p:tgtEl>
                                          <p:spTgt spid="592055"/>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591924">
                                            <p:txEl>
                                              <p:pRg st="1" end="1"/>
                                            </p:txEl>
                                          </p:spTgt>
                                        </p:tgtEl>
                                        <p:attrNameLst>
                                          <p:attrName>style.visibility</p:attrName>
                                        </p:attrNameLst>
                                      </p:cBhvr>
                                      <p:to>
                                        <p:strVal val="visible"/>
                                      </p:to>
                                    </p:set>
                                    <p:anim calcmode="lin" valueType="num">
                                      <p:cBhvr additive="base">
                                        <p:cTn id="83" dur="500" fill="hold"/>
                                        <p:tgtEl>
                                          <p:spTgt spid="591924">
                                            <p:txEl>
                                              <p:pRg st="1" end="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5919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016" grpId="0" bldLvl="0" animBg="1"/>
      <p:bldP spid="592017" grpId="0"/>
      <p:bldP spid="592018" grpId="0"/>
      <p:bldP spid="592030" grpId="0" bldLvl="0" animBg="1"/>
      <p:bldP spid="592031" grpId="0"/>
      <p:bldP spid="592043" grpId="0" bldLvl="0" animBg="1"/>
      <p:bldP spid="592054"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594" name="Group 3"/>
          <p:cNvGrpSpPr/>
          <p:nvPr/>
        </p:nvGrpSpPr>
        <p:grpSpPr>
          <a:xfrm>
            <a:off x="5235575" y="889000"/>
            <a:ext cx="3908425" cy="1701800"/>
            <a:chOff x="2621" y="469"/>
            <a:chExt cx="2911" cy="859"/>
          </a:xfrm>
        </p:grpSpPr>
        <p:sp>
          <p:nvSpPr>
            <p:cNvPr id="110724" name="AutoShape 39"/>
            <p:cNvSpPr/>
            <p:nvPr/>
          </p:nvSpPr>
          <p:spPr>
            <a:xfrm>
              <a:off x="2621" y="469"/>
              <a:ext cx="2911" cy="85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725"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726" name="Text Box 84"/>
            <p:cNvSpPr/>
            <p:nvPr/>
          </p:nvSpPr>
          <p:spPr>
            <a:xfrm>
              <a:off x="2814" y="540"/>
              <a:ext cx="2521" cy="722"/>
            </a:xfrm>
            <a:prstGeom prst="roundRect">
              <a:avLst>
                <a:gd name="adj" fmla="val 16667"/>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当前使用的哈希函数的位数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n-</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当前的桶数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当前哈希表中的记录总数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要求 </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r&lt;=1.7n</a:t>
              </a:r>
            </a:p>
          </p:txBody>
        </p:sp>
      </p:grpSp>
      <p:sp>
        <p:nvSpPr>
          <p:cNvPr id="110595" name="Text Box 7"/>
          <p:cNvSpPr txBox="1"/>
          <p:nvPr/>
        </p:nvSpPr>
        <p:spPr>
          <a:xfrm>
            <a:off x="1127125" y="4295775"/>
            <a:ext cx="184150" cy="336550"/>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2904" name="Rectangle 8"/>
          <p:cNvSpPr/>
          <p:nvPr/>
        </p:nvSpPr>
        <p:spPr>
          <a:xfrm>
            <a:off x="107950" y="3989388"/>
            <a:ext cx="3598863" cy="2711450"/>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插入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0111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的记录</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如右图。</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因没有</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桶，则插入</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r/n=6/3=2&gt;1.7,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桶数需要增</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 </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即要增加一桶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 n</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仍然为</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需要分裂。</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要由</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01</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桶分裂而来</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低位相同而最高位不同的那一个桶</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p:txBody>
      </p:sp>
      <p:graphicFrame>
        <p:nvGraphicFramePr>
          <p:cNvPr id="103429" name="表格 103428"/>
          <p:cNvGraphicFramePr/>
          <p:nvPr/>
        </p:nvGraphicFramePr>
        <p:xfrm>
          <a:off x="2155825" y="1485900"/>
          <a:ext cx="1325563" cy="757238"/>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2974" name="Group 78"/>
          <p:cNvGraphicFramePr>
            <a:graphicFrameLocks noGrp="1"/>
          </p:cNvGraphicFramePr>
          <p:nvPr/>
        </p:nvGraphicFramePr>
        <p:xfrm>
          <a:off x="706438" y="2520950"/>
          <a:ext cx="914400" cy="113506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92984" name="Group 88"/>
          <p:cNvGraphicFramePr>
            <a:graphicFrameLocks noGrp="1"/>
          </p:cNvGraphicFramePr>
          <p:nvPr/>
        </p:nvGraphicFramePr>
        <p:xfrm>
          <a:off x="719138" y="1133475"/>
          <a:ext cx="655637" cy="1138239"/>
        </p:xfrm>
        <a:graphic>
          <a:graphicData uri="http://schemas.openxmlformats.org/drawingml/2006/table">
            <a:tbl>
              <a:tblPr/>
              <a:tblGrid>
                <a:gridCol w="655637">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0625" name="Line 98"/>
          <p:cNvSpPr/>
          <p:nvPr/>
        </p:nvSpPr>
        <p:spPr>
          <a:xfrm flipV="1">
            <a:off x="1244600" y="2039938"/>
            <a:ext cx="881063" cy="660400"/>
          </a:xfrm>
          <a:prstGeom prst="line">
            <a:avLst/>
          </a:prstGeom>
          <a:ln w="9525" cap="flat" cmpd="sng">
            <a:solidFill>
              <a:schemeClr val="tx1"/>
            </a:solidFill>
            <a:prstDash val="solid"/>
            <a:headEnd type="none" w="med" len="med"/>
            <a:tailEnd type="triangle" w="med" len="med"/>
          </a:ln>
        </p:spPr>
      </p:sp>
      <p:sp>
        <p:nvSpPr>
          <p:cNvPr id="110626" name="Rectangle 99"/>
          <p:cNvSpPr>
            <a:spLocks noChangeAspect="1"/>
          </p:cNvSpPr>
          <p:nvPr/>
        </p:nvSpPr>
        <p:spPr>
          <a:xfrm>
            <a:off x="3470275" y="148590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627" name="Text Box 100"/>
          <p:cNvSpPr txBox="1"/>
          <p:nvPr/>
        </p:nvSpPr>
        <p:spPr>
          <a:xfrm>
            <a:off x="196850" y="2408238"/>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00</a:t>
            </a:r>
          </a:p>
        </p:txBody>
      </p:sp>
      <p:sp>
        <p:nvSpPr>
          <p:cNvPr id="110628" name="Text Box 101"/>
          <p:cNvSpPr txBox="1"/>
          <p:nvPr/>
        </p:nvSpPr>
        <p:spPr>
          <a:xfrm>
            <a:off x="217488" y="2830513"/>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p:txBody>
      </p:sp>
      <p:sp>
        <p:nvSpPr>
          <p:cNvPr id="110629" name="Line 102"/>
          <p:cNvSpPr/>
          <p:nvPr/>
        </p:nvSpPr>
        <p:spPr>
          <a:xfrm flipV="1">
            <a:off x="1322388" y="2657475"/>
            <a:ext cx="812800" cy="403225"/>
          </a:xfrm>
          <a:prstGeom prst="line">
            <a:avLst/>
          </a:prstGeom>
          <a:ln w="9525" cap="flat" cmpd="sng">
            <a:solidFill>
              <a:schemeClr val="tx1"/>
            </a:solidFill>
            <a:prstDash val="solid"/>
            <a:headEnd type="none" w="med" len="med"/>
            <a:tailEnd type="triangle" w="med" len="med"/>
          </a:ln>
        </p:spPr>
      </p:sp>
      <p:graphicFrame>
        <p:nvGraphicFramePr>
          <p:cNvPr id="592999" name="Group 103"/>
          <p:cNvGraphicFramePr>
            <a:graphicFrameLocks noGrp="1"/>
          </p:cNvGraphicFramePr>
          <p:nvPr/>
        </p:nvGraphicFramePr>
        <p:xfrm>
          <a:off x="2155825" y="2324100"/>
          <a:ext cx="1325563" cy="773113"/>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0638" name="Rectangle 113"/>
          <p:cNvSpPr>
            <a:spLocks noChangeAspect="1"/>
          </p:cNvSpPr>
          <p:nvPr/>
        </p:nvSpPr>
        <p:spPr>
          <a:xfrm>
            <a:off x="3470275" y="232410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639" name="Text Box 114"/>
          <p:cNvSpPr txBox="1"/>
          <p:nvPr/>
        </p:nvSpPr>
        <p:spPr>
          <a:xfrm>
            <a:off x="185738" y="3232150"/>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p:txBody>
      </p:sp>
      <p:sp>
        <p:nvSpPr>
          <p:cNvPr id="110640" name="Line 115"/>
          <p:cNvSpPr/>
          <p:nvPr/>
        </p:nvSpPr>
        <p:spPr>
          <a:xfrm flipV="1">
            <a:off x="1208088" y="3432175"/>
            <a:ext cx="936625" cy="36513"/>
          </a:xfrm>
          <a:prstGeom prst="line">
            <a:avLst/>
          </a:prstGeom>
          <a:ln w="9525" cap="flat" cmpd="sng">
            <a:solidFill>
              <a:schemeClr val="tx1"/>
            </a:solidFill>
            <a:prstDash val="solid"/>
            <a:headEnd type="none" w="med" len="med"/>
            <a:tailEnd type="triangle" w="med" len="med"/>
          </a:ln>
        </p:spPr>
      </p:sp>
      <p:graphicFrame>
        <p:nvGraphicFramePr>
          <p:cNvPr id="103473" name="表格 103472"/>
          <p:cNvGraphicFramePr/>
          <p:nvPr/>
        </p:nvGraphicFramePr>
        <p:xfrm>
          <a:off x="2165350" y="3159125"/>
          <a:ext cx="1325563" cy="773113"/>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0649" name="Rectangle 126"/>
          <p:cNvSpPr>
            <a:spLocks noChangeAspect="1"/>
          </p:cNvSpPr>
          <p:nvPr/>
        </p:nvSpPr>
        <p:spPr>
          <a:xfrm>
            <a:off x="3459163" y="31591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593023" name="Group 127"/>
          <p:cNvGraphicFramePr>
            <a:graphicFrameLocks noGrp="1"/>
          </p:cNvGraphicFramePr>
          <p:nvPr/>
        </p:nvGraphicFramePr>
        <p:xfrm>
          <a:off x="3944938" y="2316163"/>
          <a:ext cx="1325562" cy="773112"/>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0658" name="Rectangle 137"/>
          <p:cNvSpPr>
            <a:spLocks noChangeAspect="1"/>
          </p:cNvSpPr>
          <p:nvPr/>
        </p:nvSpPr>
        <p:spPr>
          <a:xfrm>
            <a:off x="5259388" y="231616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659" name="Line 138"/>
          <p:cNvSpPr/>
          <p:nvPr/>
        </p:nvSpPr>
        <p:spPr>
          <a:xfrm>
            <a:off x="3573463" y="2459038"/>
            <a:ext cx="406400" cy="0"/>
          </a:xfrm>
          <a:prstGeom prst="line">
            <a:avLst/>
          </a:prstGeom>
          <a:ln w="9525" cap="flat" cmpd="sng">
            <a:solidFill>
              <a:schemeClr val="tx1"/>
            </a:solidFill>
            <a:prstDash val="solid"/>
            <a:headEnd type="none" w="med" len="med"/>
            <a:tailEnd type="triangle" w="med" len="med"/>
          </a:ln>
        </p:spPr>
      </p:sp>
      <p:graphicFrame>
        <p:nvGraphicFramePr>
          <p:cNvPr id="103492" name="表格 103491"/>
          <p:cNvGraphicFramePr/>
          <p:nvPr/>
        </p:nvGraphicFramePr>
        <p:xfrm>
          <a:off x="5611813" y="4098925"/>
          <a:ext cx="1325562" cy="757238"/>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3045" name="Group 149"/>
          <p:cNvGraphicFramePr>
            <a:graphicFrameLocks noGrp="1"/>
          </p:cNvGraphicFramePr>
          <p:nvPr/>
        </p:nvGraphicFramePr>
        <p:xfrm>
          <a:off x="4162425" y="5133975"/>
          <a:ext cx="914400" cy="113506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93055" name="Group 159"/>
          <p:cNvGraphicFramePr>
            <a:graphicFrameLocks noGrp="1"/>
          </p:cNvGraphicFramePr>
          <p:nvPr/>
        </p:nvGraphicFramePr>
        <p:xfrm>
          <a:off x="4175125" y="3746500"/>
          <a:ext cx="655638" cy="1138239"/>
        </p:xfrm>
        <a:graphic>
          <a:graphicData uri="http://schemas.openxmlformats.org/drawingml/2006/table">
            <a:tbl>
              <a:tblPr/>
              <a:tblGrid>
                <a:gridCol w="655638">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93065" name="Line 169"/>
          <p:cNvSpPr/>
          <p:nvPr/>
        </p:nvSpPr>
        <p:spPr>
          <a:xfrm flipV="1">
            <a:off x="4700588" y="4652963"/>
            <a:ext cx="881062" cy="660400"/>
          </a:xfrm>
          <a:prstGeom prst="line">
            <a:avLst/>
          </a:prstGeom>
          <a:ln w="9525" cap="flat" cmpd="sng">
            <a:solidFill>
              <a:schemeClr val="tx1"/>
            </a:solidFill>
            <a:prstDash val="solid"/>
            <a:headEnd type="none" w="med" len="med"/>
            <a:tailEnd type="triangle" w="med" len="med"/>
          </a:ln>
        </p:spPr>
      </p:sp>
      <p:sp>
        <p:nvSpPr>
          <p:cNvPr id="593066" name="Rectangle 170"/>
          <p:cNvSpPr>
            <a:spLocks noChangeAspect="1"/>
          </p:cNvSpPr>
          <p:nvPr/>
        </p:nvSpPr>
        <p:spPr>
          <a:xfrm>
            <a:off x="6926263" y="40989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3067" name="Text Box 171"/>
          <p:cNvSpPr txBox="1"/>
          <p:nvPr/>
        </p:nvSpPr>
        <p:spPr>
          <a:xfrm>
            <a:off x="3652838" y="5021263"/>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00</a:t>
            </a:r>
          </a:p>
        </p:txBody>
      </p:sp>
      <p:sp>
        <p:nvSpPr>
          <p:cNvPr id="593068" name="Text Box 172"/>
          <p:cNvSpPr txBox="1"/>
          <p:nvPr/>
        </p:nvSpPr>
        <p:spPr>
          <a:xfrm>
            <a:off x="3673475" y="5443538"/>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p:txBody>
      </p:sp>
      <p:sp>
        <p:nvSpPr>
          <p:cNvPr id="593069" name="Line 173"/>
          <p:cNvSpPr/>
          <p:nvPr/>
        </p:nvSpPr>
        <p:spPr>
          <a:xfrm flipV="1">
            <a:off x="4778375" y="5270500"/>
            <a:ext cx="812800" cy="403225"/>
          </a:xfrm>
          <a:prstGeom prst="line">
            <a:avLst/>
          </a:prstGeom>
          <a:ln w="9525" cap="flat" cmpd="sng">
            <a:solidFill>
              <a:schemeClr val="tx1"/>
            </a:solidFill>
            <a:prstDash val="solid"/>
            <a:headEnd type="none" w="med" len="med"/>
            <a:tailEnd type="triangle" w="med" len="med"/>
          </a:ln>
        </p:spPr>
      </p:sp>
      <p:graphicFrame>
        <p:nvGraphicFramePr>
          <p:cNvPr id="593070" name="Group 174"/>
          <p:cNvGraphicFramePr>
            <a:graphicFrameLocks noGrp="1"/>
          </p:cNvGraphicFramePr>
          <p:nvPr/>
        </p:nvGraphicFramePr>
        <p:xfrm>
          <a:off x="5611813" y="4937125"/>
          <a:ext cx="1325562" cy="773113"/>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3080" name="Rectangle 184"/>
          <p:cNvSpPr>
            <a:spLocks noChangeAspect="1"/>
          </p:cNvSpPr>
          <p:nvPr/>
        </p:nvSpPr>
        <p:spPr>
          <a:xfrm>
            <a:off x="6926263" y="49371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3081" name="Text Box 185"/>
          <p:cNvSpPr txBox="1"/>
          <p:nvPr/>
        </p:nvSpPr>
        <p:spPr>
          <a:xfrm>
            <a:off x="3641725" y="5845175"/>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p:txBody>
      </p:sp>
      <p:sp>
        <p:nvSpPr>
          <p:cNvPr id="593082" name="Line 186"/>
          <p:cNvSpPr/>
          <p:nvPr/>
        </p:nvSpPr>
        <p:spPr>
          <a:xfrm flipV="1">
            <a:off x="4664075" y="6045200"/>
            <a:ext cx="936625" cy="36513"/>
          </a:xfrm>
          <a:prstGeom prst="line">
            <a:avLst/>
          </a:prstGeom>
          <a:ln w="9525" cap="flat" cmpd="sng">
            <a:solidFill>
              <a:schemeClr val="tx1"/>
            </a:solidFill>
            <a:prstDash val="solid"/>
            <a:headEnd type="none" w="med" len="med"/>
            <a:tailEnd type="triangle" w="med" len="med"/>
          </a:ln>
        </p:spPr>
      </p:sp>
      <p:graphicFrame>
        <p:nvGraphicFramePr>
          <p:cNvPr id="103536" name="表格 103535"/>
          <p:cNvGraphicFramePr/>
          <p:nvPr/>
        </p:nvGraphicFramePr>
        <p:xfrm>
          <a:off x="5621338" y="5772150"/>
          <a:ext cx="1325562" cy="773113"/>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3093" name="Rectangle 197"/>
          <p:cNvSpPr>
            <a:spLocks noChangeAspect="1"/>
          </p:cNvSpPr>
          <p:nvPr/>
        </p:nvSpPr>
        <p:spPr>
          <a:xfrm>
            <a:off x="6915150" y="577215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593094" name="Group 198"/>
          <p:cNvGraphicFramePr>
            <a:graphicFrameLocks noGrp="1"/>
          </p:cNvGraphicFramePr>
          <p:nvPr/>
        </p:nvGraphicFramePr>
        <p:xfrm>
          <a:off x="7400925" y="4929188"/>
          <a:ext cx="1325563" cy="773112"/>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3104" name="Rectangle 208"/>
          <p:cNvSpPr>
            <a:spLocks noChangeAspect="1"/>
          </p:cNvSpPr>
          <p:nvPr/>
        </p:nvSpPr>
        <p:spPr>
          <a:xfrm>
            <a:off x="8715375" y="492918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3105" name="Line 209"/>
          <p:cNvSpPr/>
          <p:nvPr/>
        </p:nvSpPr>
        <p:spPr>
          <a:xfrm>
            <a:off x="7029450" y="5072063"/>
            <a:ext cx="406400" cy="0"/>
          </a:xfrm>
          <a:prstGeom prst="line">
            <a:avLst/>
          </a:prstGeom>
          <a:ln w="9525" cap="flat" cmpd="sng">
            <a:solidFill>
              <a:schemeClr val="tx1"/>
            </a:solidFill>
            <a:prstDash val="solid"/>
            <a:headEnd type="none" w="med" len="med"/>
            <a:tailEnd type="triangle" w="med" len="med"/>
          </a:ln>
        </p:spPr>
      </p:sp>
      <p:sp>
        <p:nvSpPr>
          <p:cNvPr id="110723"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492"/>
                                        </p:tgtEl>
                                        <p:attrNameLst>
                                          <p:attrName>style.visibility</p:attrName>
                                        </p:attrNameLst>
                                      </p:cBhvr>
                                      <p:to>
                                        <p:strVal val="visible"/>
                                      </p:to>
                                    </p:set>
                                    <p:anim calcmode="lin" valueType="num">
                                      <p:cBhvr additive="base">
                                        <p:cTn id="7" dur="500" fill="hold"/>
                                        <p:tgtEl>
                                          <p:spTgt spid="103492"/>
                                        </p:tgtEl>
                                        <p:attrNameLst>
                                          <p:attrName>ppt_x</p:attrName>
                                        </p:attrNameLst>
                                      </p:cBhvr>
                                      <p:tavLst>
                                        <p:tav tm="0">
                                          <p:val>
                                            <p:strVal val="#ppt_x"/>
                                          </p:val>
                                        </p:tav>
                                        <p:tav tm="100000">
                                          <p:val>
                                            <p:strVal val="#ppt_x"/>
                                          </p:val>
                                        </p:tav>
                                      </p:tavLst>
                                    </p:anim>
                                    <p:anim calcmode="lin" valueType="num">
                                      <p:cBhvr additive="base">
                                        <p:cTn id="8" dur="500" fill="hold"/>
                                        <p:tgtEl>
                                          <p:spTgt spid="10349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3045"/>
                                        </p:tgtEl>
                                        <p:attrNameLst>
                                          <p:attrName>style.visibility</p:attrName>
                                        </p:attrNameLst>
                                      </p:cBhvr>
                                      <p:to>
                                        <p:strVal val="visible"/>
                                      </p:to>
                                    </p:set>
                                    <p:anim calcmode="lin" valueType="num">
                                      <p:cBhvr additive="base">
                                        <p:cTn id="11" dur="500" fill="hold"/>
                                        <p:tgtEl>
                                          <p:spTgt spid="593045"/>
                                        </p:tgtEl>
                                        <p:attrNameLst>
                                          <p:attrName>ppt_x</p:attrName>
                                        </p:attrNameLst>
                                      </p:cBhvr>
                                      <p:tavLst>
                                        <p:tav tm="0">
                                          <p:val>
                                            <p:strVal val="#ppt_x"/>
                                          </p:val>
                                        </p:tav>
                                        <p:tav tm="100000">
                                          <p:val>
                                            <p:strVal val="#ppt_x"/>
                                          </p:val>
                                        </p:tav>
                                      </p:tavLst>
                                    </p:anim>
                                    <p:anim calcmode="lin" valueType="num">
                                      <p:cBhvr additive="base">
                                        <p:cTn id="12" dur="500" fill="hold"/>
                                        <p:tgtEl>
                                          <p:spTgt spid="59304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93055"/>
                                        </p:tgtEl>
                                        <p:attrNameLst>
                                          <p:attrName>style.visibility</p:attrName>
                                        </p:attrNameLst>
                                      </p:cBhvr>
                                      <p:to>
                                        <p:strVal val="visible"/>
                                      </p:to>
                                    </p:set>
                                    <p:anim calcmode="lin" valueType="num">
                                      <p:cBhvr additive="base">
                                        <p:cTn id="15" dur="500" fill="hold"/>
                                        <p:tgtEl>
                                          <p:spTgt spid="593055"/>
                                        </p:tgtEl>
                                        <p:attrNameLst>
                                          <p:attrName>ppt_x</p:attrName>
                                        </p:attrNameLst>
                                      </p:cBhvr>
                                      <p:tavLst>
                                        <p:tav tm="0">
                                          <p:val>
                                            <p:strVal val="#ppt_x"/>
                                          </p:val>
                                        </p:tav>
                                        <p:tav tm="100000">
                                          <p:val>
                                            <p:strVal val="#ppt_x"/>
                                          </p:val>
                                        </p:tav>
                                      </p:tavLst>
                                    </p:anim>
                                    <p:anim calcmode="lin" valueType="num">
                                      <p:cBhvr additive="base">
                                        <p:cTn id="16" dur="500" fill="hold"/>
                                        <p:tgtEl>
                                          <p:spTgt spid="59305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93065"/>
                                        </p:tgtEl>
                                        <p:attrNameLst>
                                          <p:attrName>style.visibility</p:attrName>
                                        </p:attrNameLst>
                                      </p:cBhvr>
                                      <p:to>
                                        <p:strVal val="visible"/>
                                      </p:to>
                                    </p:set>
                                    <p:anim calcmode="lin" valueType="num">
                                      <p:cBhvr additive="base">
                                        <p:cTn id="19" dur="500" fill="hold"/>
                                        <p:tgtEl>
                                          <p:spTgt spid="593065"/>
                                        </p:tgtEl>
                                        <p:attrNameLst>
                                          <p:attrName>ppt_x</p:attrName>
                                        </p:attrNameLst>
                                      </p:cBhvr>
                                      <p:tavLst>
                                        <p:tav tm="0">
                                          <p:val>
                                            <p:strVal val="#ppt_x"/>
                                          </p:val>
                                        </p:tav>
                                        <p:tav tm="100000">
                                          <p:val>
                                            <p:strVal val="#ppt_x"/>
                                          </p:val>
                                        </p:tav>
                                      </p:tavLst>
                                    </p:anim>
                                    <p:anim calcmode="lin" valueType="num">
                                      <p:cBhvr additive="base">
                                        <p:cTn id="20" dur="500" fill="hold"/>
                                        <p:tgtEl>
                                          <p:spTgt spid="59306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93066"/>
                                        </p:tgtEl>
                                        <p:attrNameLst>
                                          <p:attrName>style.visibility</p:attrName>
                                        </p:attrNameLst>
                                      </p:cBhvr>
                                      <p:to>
                                        <p:strVal val="visible"/>
                                      </p:to>
                                    </p:set>
                                    <p:anim calcmode="lin" valueType="num">
                                      <p:cBhvr additive="base">
                                        <p:cTn id="23" dur="500" fill="hold"/>
                                        <p:tgtEl>
                                          <p:spTgt spid="593066"/>
                                        </p:tgtEl>
                                        <p:attrNameLst>
                                          <p:attrName>ppt_x</p:attrName>
                                        </p:attrNameLst>
                                      </p:cBhvr>
                                      <p:tavLst>
                                        <p:tav tm="0">
                                          <p:val>
                                            <p:strVal val="#ppt_x"/>
                                          </p:val>
                                        </p:tav>
                                        <p:tav tm="100000">
                                          <p:val>
                                            <p:strVal val="#ppt_x"/>
                                          </p:val>
                                        </p:tav>
                                      </p:tavLst>
                                    </p:anim>
                                    <p:anim calcmode="lin" valueType="num">
                                      <p:cBhvr additive="base">
                                        <p:cTn id="24" dur="500" fill="hold"/>
                                        <p:tgtEl>
                                          <p:spTgt spid="59306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93067"/>
                                        </p:tgtEl>
                                        <p:attrNameLst>
                                          <p:attrName>style.visibility</p:attrName>
                                        </p:attrNameLst>
                                      </p:cBhvr>
                                      <p:to>
                                        <p:strVal val="visible"/>
                                      </p:to>
                                    </p:set>
                                    <p:anim calcmode="lin" valueType="num">
                                      <p:cBhvr additive="base">
                                        <p:cTn id="27" dur="500" fill="hold"/>
                                        <p:tgtEl>
                                          <p:spTgt spid="593067"/>
                                        </p:tgtEl>
                                        <p:attrNameLst>
                                          <p:attrName>ppt_x</p:attrName>
                                        </p:attrNameLst>
                                      </p:cBhvr>
                                      <p:tavLst>
                                        <p:tav tm="0">
                                          <p:val>
                                            <p:strVal val="#ppt_x"/>
                                          </p:val>
                                        </p:tav>
                                        <p:tav tm="100000">
                                          <p:val>
                                            <p:strVal val="#ppt_x"/>
                                          </p:val>
                                        </p:tav>
                                      </p:tavLst>
                                    </p:anim>
                                    <p:anim calcmode="lin" valueType="num">
                                      <p:cBhvr additive="base">
                                        <p:cTn id="28" dur="500" fill="hold"/>
                                        <p:tgtEl>
                                          <p:spTgt spid="59306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93068"/>
                                        </p:tgtEl>
                                        <p:attrNameLst>
                                          <p:attrName>style.visibility</p:attrName>
                                        </p:attrNameLst>
                                      </p:cBhvr>
                                      <p:to>
                                        <p:strVal val="visible"/>
                                      </p:to>
                                    </p:set>
                                    <p:anim calcmode="lin" valueType="num">
                                      <p:cBhvr additive="base">
                                        <p:cTn id="31" dur="500" fill="hold"/>
                                        <p:tgtEl>
                                          <p:spTgt spid="593068"/>
                                        </p:tgtEl>
                                        <p:attrNameLst>
                                          <p:attrName>ppt_x</p:attrName>
                                        </p:attrNameLst>
                                      </p:cBhvr>
                                      <p:tavLst>
                                        <p:tav tm="0">
                                          <p:val>
                                            <p:strVal val="#ppt_x"/>
                                          </p:val>
                                        </p:tav>
                                        <p:tav tm="100000">
                                          <p:val>
                                            <p:strVal val="#ppt_x"/>
                                          </p:val>
                                        </p:tav>
                                      </p:tavLst>
                                    </p:anim>
                                    <p:anim calcmode="lin" valueType="num">
                                      <p:cBhvr additive="base">
                                        <p:cTn id="32" dur="500" fill="hold"/>
                                        <p:tgtEl>
                                          <p:spTgt spid="59306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93069"/>
                                        </p:tgtEl>
                                        <p:attrNameLst>
                                          <p:attrName>style.visibility</p:attrName>
                                        </p:attrNameLst>
                                      </p:cBhvr>
                                      <p:to>
                                        <p:strVal val="visible"/>
                                      </p:to>
                                    </p:set>
                                    <p:anim calcmode="lin" valueType="num">
                                      <p:cBhvr additive="base">
                                        <p:cTn id="35" dur="500" fill="hold"/>
                                        <p:tgtEl>
                                          <p:spTgt spid="593069"/>
                                        </p:tgtEl>
                                        <p:attrNameLst>
                                          <p:attrName>ppt_x</p:attrName>
                                        </p:attrNameLst>
                                      </p:cBhvr>
                                      <p:tavLst>
                                        <p:tav tm="0">
                                          <p:val>
                                            <p:strVal val="#ppt_x"/>
                                          </p:val>
                                        </p:tav>
                                        <p:tav tm="100000">
                                          <p:val>
                                            <p:strVal val="#ppt_x"/>
                                          </p:val>
                                        </p:tav>
                                      </p:tavLst>
                                    </p:anim>
                                    <p:anim calcmode="lin" valueType="num">
                                      <p:cBhvr additive="base">
                                        <p:cTn id="36" dur="500" fill="hold"/>
                                        <p:tgtEl>
                                          <p:spTgt spid="59306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93070"/>
                                        </p:tgtEl>
                                        <p:attrNameLst>
                                          <p:attrName>style.visibility</p:attrName>
                                        </p:attrNameLst>
                                      </p:cBhvr>
                                      <p:to>
                                        <p:strVal val="visible"/>
                                      </p:to>
                                    </p:set>
                                    <p:anim calcmode="lin" valueType="num">
                                      <p:cBhvr additive="base">
                                        <p:cTn id="39" dur="500" fill="hold"/>
                                        <p:tgtEl>
                                          <p:spTgt spid="593070"/>
                                        </p:tgtEl>
                                        <p:attrNameLst>
                                          <p:attrName>ppt_x</p:attrName>
                                        </p:attrNameLst>
                                      </p:cBhvr>
                                      <p:tavLst>
                                        <p:tav tm="0">
                                          <p:val>
                                            <p:strVal val="#ppt_x"/>
                                          </p:val>
                                        </p:tav>
                                        <p:tav tm="100000">
                                          <p:val>
                                            <p:strVal val="#ppt_x"/>
                                          </p:val>
                                        </p:tav>
                                      </p:tavLst>
                                    </p:anim>
                                    <p:anim calcmode="lin" valueType="num">
                                      <p:cBhvr additive="base">
                                        <p:cTn id="40" dur="500" fill="hold"/>
                                        <p:tgtEl>
                                          <p:spTgt spid="59307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93080"/>
                                        </p:tgtEl>
                                        <p:attrNameLst>
                                          <p:attrName>style.visibility</p:attrName>
                                        </p:attrNameLst>
                                      </p:cBhvr>
                                      <p:to>
                                        <p:strVal val="visible"/>
                                      </p:to>
                                    </p:set>
                                    <p:anim calcmode="lin" valueType="num">
                                      <p:cBhvr additive="base">
                                        <p:cTn id="43" dur="500" fill="hold"/>
                                        <p:tgtEl>
                                          <p:spTgt spid="593080"/>
                                        </p:tgtEl>
                                        <p:attrNameLst>
                                          <p:attrName>ppt_x</p:attrName>
                                        </p:attrNameLst>
                                      </p:cBhvr>
                                      <p:tavLst>
                                        <p:tav tm="0">
                                          <p:val>
                                            <p:strVal val="#ppt_x"/>
                                          </p:val>
                                        </p:tav>
                                        <p:tav tm="100000">
                                          <p:val>
                                            <p:strVal val="#ppt_x"/>
                                          </p:val>
                                        </p:tav>
                                      </p:tavLst>
                                    </p:anim>
                                    <p:anim calcmode="lin" valueType="num">
                                      <p:cBhvr additive="base">
                                        <p:cTn id="44" dur="500" fill="hold"/>
                                        <p:tgtEl>
                                          <p:spTgt spid="593080"/>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93081"/>
                                        </p:tgtEl>
                                        <p:attrNameLst>
                                          <p:attrName>style.visibility</p:attrName>
                                        </p:attrNameLst>
                                      </p:cBhvr>
                                      <p:to>
                                        <p:strVal val="visible"/>
                                      </p:to>
                                    </p:set>
                                    <p:anim calcmode="lin" valueType="num">
                                      <p:cBhvr additive="base">
                                        <p:cTn id="47" dur="500" fill="hold"/>
                                        <p:tgtEl>
                                          <p:spTgt spid="593081"/>
                                        </p:tgtEl>
                                        <p:attrNameLst>
                                          <p:attrName>ppt_x</p:attrName>
                                        </p:attrNameLst>
                                      </p:cBhvr>
                                      <p:tavLst>
                                        <p:tav tm="0">
                                          <p:val>
                                            <p:strVal val="#ppt_x"/>
                                          </p:val>
                                        </p:tav>
                                        <p:tav tm="100000">
                                          <p:val>
                                            <p:strVal val="#ppt_x"/>
                                          </p:val>
                                        </p:tav>
                                      </p:tavLst>
                                    </p:anim>
                                    <p:anim calcmode="lin" valueType="num">
                                      <p:cBhvr additive="base">
                                        <p:cTn id="48" dur="500" fill="hold"/>
                                        <p:tgtEl>
                                          <p:spTgt spid="593081"/>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93082"/>
                                        </p:tgtEl>
                                        <p:attrNameLst>
                                          <p:attrName>style.visibility</p:attrName>
                                        </p:attrNameLst>
                                      </p:cBhvr>
                                      <p:to>
                                        <p:strVal val="visible"/>
                                      </p:to>
                                    </p:set>
                                    <p:anim calcmode="lin" valueType="num">
                                      <p:cBhvr additive="base">
                                        <p:cTn id="51" dur="500" fill="hold"/>
                                        <p:tgtEl>
                                          <p:spTgt spid="593082"/>
                                        </p:tgtEl>
                                        <p:attrNameLst>
                                          <p:attrName>ppt_x</p:attrName>
                                        </p:attrNameLst>
                                      </p:cBhvr>
                                      <p:tavLst>
                                        <p:tav tm="0">
                                          <p:val>
                                            <p:strVal val="#ppt_x"/>
                                          </p:val>
                                        </p:tav>
                                        <p:tav tm="100000">
                                          <p:val>
                                            <p:strVal val="#ppt_x"/>
                                          </p:val>
                                        </p:tav>
                                      </p:tavLst>
                                    </p:anim>
                                    <p:anim calcmode="lin" valueType="num">
                                      <p:cBhvr additive="base">
                                        <p:cTn id="52" dur="500" fill="hold"/>
                                        <p:tgtEl>
                                          <p:spTgt spid="59308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3536"/>
                                        </p:tgtEl>
                                        <p:attrNameLst>
                                          <p:attrName>style.visibility</p:attrName>
                                        </p:attrNameLst>
                                      </p:cBhvr>
                                      <p:to>
                                        <p:strVal val="visible"/>
                                      </p:to>
                                    </p:set>
                                    <p:anim calcmode="lin" valueType="num">
                                      <p:cBhvr additive="base">
                                        <p:cTn id="55" dur="500" fill="hold"/>
                                        <p:tgtEl>
                                          <p:spTgt spid="103536"/>
                                        </p:tgtEl>
                                        <p:attrNameLst>
                                          <p:attrName>ppt_x</p:attrName>
                                        </p:attrNameLst>
                                      </p:cBhvr>
                                      <p:tavLst>
                                        <p:tav tm="0">
                                          <p:val>
                                            <p:strVal val="#ppt_x"/>
                                          </p:val>
                                        </p:tav>
                                        <p:tav tm="100000">
                                          <p:val>
                                            <p:strVal val="#ppt_x"/>
                                          </p:val>
                                        </p:tav>
                                      </p:tavLst>
                                    </p:anim>
                                    <p:anim calcmode="lin" valueType="num">
                                      <p:cBhvr additive="base">
                                        <p:cTn id="56" dur="500" fill="hold"/>
                                        <p:tgtEl>
                                          <p:spTgt spid="10353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93093"/>
                                        </p:tgtEl>
                                        <p:attrNameLst>
                                          <p:attrName>style.visibility</p:attrName>
                                        </p:attrNameLst>
                                      </p:cBhvr>
                                      <p:to>
                                        <p:strVal val="visible"/>
                                      </p:to>
                                    </p:set>
                                    <p:anim calcmode="lin" valueType="num">
                                      <p:cBhvr additive="base">
                                        <p:cTn id="59" dur="500" fill="hold"/>
                                        <p:tgtEl>
                                          <p:spTgt spid="593093"/>
                                        </p:tgtEl>
                                        <p:attrNameLst>
                                          <p:attrName>ppt_x</p:attrName>
                                        </p:attrNameLst>
                                      </p:cBhvr>
                                      <p:tavLst>
                                        <p:tav tm="0">
                                          <p:val>
                                            <p:strVal val="#ppt_x"/>
                                          </p:val>
                                        </p:tav>
                                        <p:tav tm="100000">
                                          <p:val>
                                            <p:strVal val="#ppt_x"/>
                                          </p:val>
                                        </p:tav>
                                      </p:tavLst>
                                    </p:anim>
                                    <p:anim calcmode="lin" valueType="num">
                                      <p:cBhvr additive="base">
                                        <p:cTn id="60" dur="500" fill="hold"/>
                                        <p:tgtEl>
                                          <p:spTgt spid="593093"/>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593094"/>
                                        </p:tgtEl>
                                        <p:attrNameLst>
                                          <p:attrName>style.visibility</p:attrName>
                                        </p:attrNameLst>
                                      </p:cBhvr>
                                      <p:to>
                                        <p:strVal val="visible"/>
                                      </p:to>
                                    </p:set>
                                    <p:anim calcmode="lin" valueType="num">
                                      <p:cBhvr additive="base">
                                        <p:cTn id="63" dur="500" fill="hold"/>
                                        <p:tgtEl>
                                          <p:spTgt spid="593094"/>
                                        </p:tgtEl>
                                        <p:attrNameLst>
                                          <p:attrName>ppt_x</p:attrName>
                                        </p:attrNameLst>
                                      </p:cBhvr>
                                      <p:tavLst>
                                        <p:tav tm="0">
                                          <p:val>
                                            <p:strVal val="#ppt_x"/>
                                          </p:val>
                                        </p:tav>
                                        <p:tav tm="100000">
                                          <p:val>
                                            <p:strVal val="#ppt_x"/>
                                          </p:val>
                                        </p:tav>
                                      </p:tavLst>
                                    </p:anim>
                                    <p:anim calcmode="lin" valueType="num">
                                      <p:cBhvr additive="base">
                                        <p:cTn id="64" dur="500" fill="hold"/>
                                        <p:tgtEl>
                                          <p:spTgt spid="59309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93104"/>
                                        </p:tgtEl>
                                        <p:attrNameLst>
                                          <p:attrName>style.visibility</p:attrName>
                                        </p:attrNameLst>
                                      </p:cBhvr>
                                      <p:to>
                                        <p:strVal val="visible"/>
                                      </p:to>
                                    </p:set>
                                    <p:anim calcmode="lin" valueType="num">
                                      <p:cBhvr additive="base">
                                        <p:cTn id="67" dur="500" fill="hold"/>
                                        <p:tgtEl>
                                          <p:spTgt spid="593104"/>
                                        </p:tgtEl>
                                        <p:attrNameLst>
                                          <p:attrName>ppt_x</p:attrName>
                                        </p:attrNameLst>
                                      </p:cBhvr>
                                      <p:tavLst>
                                        <p:tav tm="0">
                                          <p:val>
                                            <p:strVal val="#ppt_x"/>
                                          </p:val>
                                        </p:tav>
                                        <p:tav tm="100000">
                                          <p:val>
                                            <p:strVal val="#ppt_x"/>
                                          </p:val>
                                        </p:tav>
                                      </p:tavLst>
                                    </p:anim>
                                    <p:anim calcmode="lin" valueType="num">
                                      <p:cBhvr additive="base">
                                        <p:cTn id="68" dur="500" fill="hold"/>
                                        <p:tgtEl>
                                          <p:spTgt spid="593104"/>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593105"/>
                                        </p:tgtEl>
                                        <p:attrNameLst>
                                          <p:attrName>style.visibility</p:attrName>
                                        </p:attrNameLst>
                                      </p:cBhvr>
                                      <p:to>
                                        <p:strVal val="visible"/>
                                      </p:to>
                                    </p:set>
                                    <p:anim calcmode="lin" valueType="num">
                                      <p:cBhvr additive="base">
                                        <p:cTn id="71" dur="500" fill="hold"/>
                                        <p:tgtEl>
                                          <p:spTgt spid="593105"/>
                                        </p:tgtEl>
                                        <p:attrNameLst>
                                          <p:attrName>ppt_x</p:attrName>
                                        </p:attrNameLst>
                                      </p:cBhvr>
                                      <p:tavLst>
                                        <p:tav tm="0">
                                          <p:val>
                                            <p:strVal val="#ppt_x"/>
                                          </p:val>
                                        </p:tav>
                                        <p:tav tm="100000">
                                          <p:val>
                                            <p:strVal val="#ppt_x"/>
                                          </p:val>
                                        </p:tav>
                                      </p:tavLst>
                                    </p:anim>
                                    <p:anim calcmode="lin" valueType="num">
                                      <p:cBhvr additive="base">
                                        <p:cTn id="72" dur="500" fill="hold"/>
                                        <p:tgtEl>
                                          <p:spTgt spid="593105"/>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592904">
                                            <p:txEl>
                                              <p:pRg st="1" end="1"/>
                                            </p:txEl>
                                          </p:spTgt>
                                        </p:tgtEl>
                                        <p:attrNameLst>
                                          <p:attrName>style.visibility</p:attrName>
                                        </p:attrNameLst>
                                      </p:cBhvr>
                                      <p:to>
                                        <p:strVal val="visible"/>
                                      </p:to>
                                    </p:set>
                                    <p:anim calcmode="lin" valueType="num">
                                      <p:cBhvr additive="base">
                                        <p:cTn id="77" dur="500" fill="hold"/>
                                        <p:tgtEl>
                                          <p:spTgt spid="592904">
                                            <p:txEl>
                                              <p:pRg st="1" end="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929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592904">
                                            <p:txEl>
                                              <p:pRg st="2" end="2"/>
                                            </p:txEl>
                                          </p:spTgt>
                                        </p:tgtEl>
                                        <p:attrNameLst>
                                          <p:attrName>style.visibility</p:attrName>
                                        </p:attrNameLst>
                                      </p:cBhvr>
                                      <p:to>
                                        <p:strVal val="visible"/>
                                      </p:to>
                                    </p:set>
                                    <p:anim calcmode="lin" valueType="num">
                                      <p:cBhvr additive="base">
                                        <p:cTn id="83" dur="500" fill="hold"/>
                                        <p:tgtEl>
                                          <p:spTgt spid="592904">
                                            <p:txEl>
                                              <p:pRg st="2" end="2"/>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59290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592904">
                                            <p:txEl>
                                              <p:pRg st="3" end="3"/>
                                            </p:txEl>
                                          </p:spTgt>
                                        </p:tgtEl>
                                        <p:attrNameLst>
                                          <p:attrName>style.visibility</p:attrName>
                                        </p:attrNameLst>
                                      </p:cBhvr>
                                      <p:to>
                                        <p:strVal val="visible"/>
                                      </p:to>
                                    </p:set>
                                    <p:anim calcmode="lin" valueType="num">
                                      <p:cBhvr additive="base">
                                        <p:cTn id="89" dur="500" fill="hold"/>
                                        <p:tgtEl>
                                          <p:spTgt spid="592904">
                                            <p:txEl>
                                              <p:pRg st="3" end="3"/>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59290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066" grpId="0" bldLvl="0" animBg="1"/>
      <p:bldP spid="593067" grpId="0"/>
      <p:bldP spid="593068" grpId="0"/>
      <p:bldP spid="593080" grpId="0" bldLvl="0" animBg="1"/>
      <p:bldP spid="593081" grpId="0"/>
      <p:bldP spid="593093" grpId="0" bldLvl="0" animBg="1"/>
      <p:bldP spid="593104"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618" name="Group 3"/>
          <p:cNvGrpSpPr/>
          <p:nvPr/>
        </p:nvGrpSpPr>
        <p:grpSpPr>
          <a:xfrm>
            <a:off x="5235575" y="889000"/>
            <a:ext cx="3908425" cy="1701800"/>
            <a:chOff x="2621" y="469"/>
            <a:chExt cx="2911" cy="859"/>
          </a:xfrm>
        </p:grpSpPr>
        <p:sp>
          <p:nvSpPr>
            <p:cNvPr id="111758" name="AutoShape 39"/>
            <p:cNvSpPr/>
            <p:nvPr/>
          </p:nvSpPr>
          <p:spPr>
            <a:xfrm>
              <a:off x="2621" y="469"/>
              <a:ext cx="2911" cy="859"/>
            </a:xfrm>
            <a:prstGeom prst="roundRect">
              <a:avLst>
                <a:gd name="adj" fmla="val 16667"/>
              </a:avLst>
            </a:prstGeom>
            <a:solidFill>
              <a:schemeClr val="accent2"/>
            </a:solidFill>
            <a:ln w="9525">
              <a:noFill/>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1759" name="Oval 40"/>
            <p:cNvSpPr/>
            <p:nvPr/>
          </p:nvSpPr>
          <p:spPr>
            <a:xfrm>
              <a:off x="2708" y="540"/>
              <a:ext cx="2736" cy="717"/>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1760" name="Text Box 84"/>
            <p:cNvSpPr/>
            <p:nvPr/>
          </p:nvSpPr>
          <p:spPr>
            <a:xfrm>
              <a:off x="2814" y="540"/>
              <a:ext cx="2521" cy="722"/>
            </a:xfrm>
            <a:prstGeom prst="roundRect">
              <a:avLst>
                <a:gd name="adj" fmla="val 16667"/>
              </a:avLst>
            </a:prstGeom>
            <a:noFill/>
            <a:ln w="9525">
              <a:noFill/>
            </a:ln>
          </p:spPr>
          <p:txBody>
            <a:bodyPr>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当前使用的哈希函数的位数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n-</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当前的桶数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当前哈希表中的记录总数</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要求 </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r&lt;=1.7n</a:t>
              </a:r>
            </a:p>
          </p:txBody>
        </p:sp>
      </p:grpSp>
      <p:sp>
        <p:nvSpPr>
          <p:cNvPr id="111619" name="Text Box 7"/>
          <p:cNvSpPr txBox="1"/>
          <p:nvPr/>
        </p:nvSpPr>
        <p:spPr>
          <a:xfrm>
            <a:off x="1127125" y="4295775"/>
            <a:ext cx="184150" cy="336550"/>
          </a:xfrm>
          <a:prstGeom prst="rect">
            <a:avLst/>
          </a:prstGeom>
          <a:noFill/>
          <a:ln w="9525">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4452" name="表格 104451"/>
          <p:cNvGraphicFramePr/>
          <p:nvPr/>
        </p:nvGraphicFramePr>
        <p:xfrm>
          <a:off x="6791325" y="3400425"/>
          <a:ext cx="1325563" cy="757238"/>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4073" name="Group 153"/>
          <p:cNvGraphicFramePr>
            <a:graphicFrameLocks noGrp="1"/>
          </p:cNvGraphicFramePr>
          <p:nvPr/>
        </p:nvGraphicFramePr>
        <p:xfrm>
          <a:off x="5364163" y="4471988"/>
          <a:ext cx="914400" cy="1512888"/>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94020" name="Group 100"/>
          <p:cNvGraphicFramePr>
            <a:graphicFrameLocks noGrp="1"/>
          </p:cNvGraphicFramePr>
          <p:nvPr/>
        </p:nvGraphicFramePr>
        <p:xfrm>
          <a:off x="5354638" y="3048000"/>
          <a:ext cx="655637" cy="1138239"/>
        </p:xfrm>
        <a:graphic>
          <a:graphicData uri="http://schemas.openxmlformats.org/drawingml/2006/table">
            <a:tbl>
              <a:tblPr/>
              <a:tblGrid>
                <a:gridCol w="655637">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94030" name="Line 110"/>
          <p:cNvSpPr/>
          <p:nvPr/>
        </p:nvSpPr>
        <p:spPr>
          <a:xfrm flipV="1">
            <a:off x="5880100" y="3954463"/>
            <a:ext cx="881063" cy="660400"/>
          </a:xfrm>
          <a:prstGeom prst="line">
            <a:avLst/>
          </a:prstGeom>
          <a:ln w="9525" cap="flat" cmpd="sng">
            <a:solidFill>
              <a:schemeClr val="tx1"/>
            </a:solidFill>
            <a:prstDash val="solid"/>
            <a:headEnd type="none" w="med" len="med"/>
            <a:tailEnd type="triangle" w="med" len="med"/>
          </a:ln>
        </p:spPr>
      </p:sp>
      <p:sp>
        <p:nvSpPr>
          <p:cNvPr id="594031" name="Rectangle 111"/>
          <p:cNvSpPr>
            <a:spLocks noChangeAspect="1"/>
          </p:cNvSpPr>
          <p:nvPr/>
        </p:nvSpPr>
        <p:spPr>
          <a:xfrm>
            <a:off x="8105775" y="34004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032" name="Text Box 112"/>
          <p:cNvSpPr txBox="1"/>
          <p:nvPr/>
        </p:nvSpPr>
        <p:spPr>
          <a:xfrm>
            <a:off x="4832350" y="4322763"/>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00</a:t>
            </a:r>
          </a:p>
        </p:txBody>
      </p:sp>
      <p:sp>
        <p:nvSpPr>
          <p:cNvPr id="594033" name="Text Box 113"/>
          <p:cNvSpPr txBox="1"/>
          <p:nvPr/>
        </p:nvSpPr>
        <p:spPr>
          <a:xfrm>
            <a:off x="4852988" y="4745038"/>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p:txBody>
      </p:sp>
      <p:sp>
        <p:nvSpPr>
          <p:cNvPr id="594034" name="Line 114"/>
          <p:cNvSpPr/>
          <p:nvPr/>
        </p:nvSpPr>
        <p:spPr>
          <a:xfrm flipV="1">
            <a:off x="5957888" y="4572000"/>
            <a:ext cx="812800" cy="403225"/>
          </a:xfrm>
          <a:prstGeom prst="line">
            <a:avLst/>
          </a:prstGeom>
          <a:ln w="9525" cap="flat" cmpd="sng">
            <a:solidFill>
              <a:schemeClr val="tx1"/>
            </a:solidFill>
            <a:prstDash val="solid"/>
            <a:headEnd type="none" w="med" len="med"/>
            <a:tailEnd type="triangle" w="med" len="med"/>
          </a:ln>
        </p:spPr>
      </p:sp>
      <p:graphicFrame>
        <p:nvGraphicFramePr>
          <p:cNvPr id="594035" name="Group 115"/>
          <p:cNvGraphicFramePr>
            <a:graphicFrameLocks noGrp="1"/>
          </p:cNvGraphicFramePr>
          <p:nvPr/>
        </p:nvGraphicFramePr>
        <p:xfrm>
          <a:off x="6791325" y="4238625"/>
          <a:ext cx="1325563" cy="773113"/>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4045" name="Rectangle 125"/>
          <p:cNvSpPr>
            <a:spLocks noChangeAspect="1"/>
          </p:cNvSpPr>
          <p:nvPr/>
        </p:nvSpPr>
        <p:spPr>
          <a:xfrm>
            <a:off x="8105775" y="42386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046" name="Text Box 126"/>
          <p:cNvSpPr txBox="1"/>
          <p:nvPr/>
        </p:nvSpPr>
        <p:spPr>
          <a:xfrm>
            <a:off x="4821238" y="5146675"/>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p:txBody>
      </p:sp>
      <p:sp>
        <p:nvSpPr>
          <p:cNvPr id="594047" name="Line 127"/>
          <p:cNvSpPr/>
          <p:nvPr/>
        </p:nvSpPr>
        <p:spPr>
          <a:xfrm flipV="1">
            <a:off x="5843588" y="5346700"/>
            <a:ext cx="936625" cy="36513"/>
          </a:xfrm>
          <a:prstGeom prst="line">
            <a:avLst/>
          </a:prstGeom>
          <a:ln w="9525" cap="flat" cmpd="sng">
            <a:solidFill>
              <a:schemeClr val="tx1"/>
            </a:solidFill>
            <a:prstDash val="solid"/>
            <a:headEnd type="none" w="med" len="med"/>
            <a:tailEnd type="triangle" w="med" len="med"/>
          </a:ln>
        </p:spPr>
      </p:sp>
      <p:graphicFrame>
        <p:nvGraphicFramePr>
          <p:cNvPr id="104498" name="表格 104497"/>
          <p:cNvGraphicFramePr/>
          <p:nvPr/>
        </p:nvGraphicFramePr>
        <p:xfrm>
          <a:off x="6800850" y="5073650"/>
          <a:ext cx="1325563" cy="792163"/>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4058" name="Rectangle 138"/>
          <p:cNvSpPr>
            <a:spLocks noChangeAspect="1"/>
          </p:cNvSpPr>
          <p:nvPr/>
        </p:nvSpPr>
        <p:spPr>
          <a:xfrm>
            <a:off x="8094663" y="507365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074" name="Text Box 154"/>
          <p:cNvSpPr txBox="1"/>
          <p:nvPr/>
        </p:nvSpPr>
        <p:spPr>
          <a:xfrm>
            <a:off x="4830763" y="5527675"/>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11</a:t>
            </a:r>
          </a:p>
        </p:txBody>
      </p:sp>
      <p:graphicFrame>
        <p:nvGraphicFramePr>
          <p:cNvPr id="104508" name="表格 104507"/>
          <p:cNvGraphicFramePr/>
          <p:nvPr/>
        </p:nvGraphicFramePr>
        <p:xfrm>
          <a:off x="1970088" y="1254125"/>
          <a:ext cx="1325562" cy="757238"/>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00(00)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94086" name="Group 166"/>
          <p:cNvGraphicFramePr>
            <a:graphicFrameLocks noGrp="1"/>
          </p:cNvGraphicFramePr>
          <p:nvPr/>
        </p:nvGraphicFramePr>
        <p:xfrm>
          <a:off x="520700" y="2289175"/>
          <a:ext cx="914400" cy="1135063"/>
        </p:xfrm>
        <a:graphic>
          <a:graphicData uri="http://schemas.openxmlformats.org/drawingml/2006/table">
            <a:tbl>
              <a:tblPr/>
              <a:tblGrid>
                <a:gridCol w="914400">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594096" name="Group 176"/>
          <p:cNvGraphicFramePr>
            <a:graphicFrameLocks noGrp="1"/>
          </p:cNvGraphicFramePr>
          <p:nvPr/>
        </p:nvGraphicFramePr>
        <p:xfrm>
          <a:off x="533400" y="901700"/>
          <a:ext cx="655638" cy="1138239"/>
        </p:xfrm>
        <a:graphic>
          <a:graphicData uri="http://schemas.openxmlformats.org/drawingml/2006/table">
            <a:tbl>
              <a:tblPr/>
              <a:tblGrid>
                <a:gridCol w="655638">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1704" name="Line 186"/>
          <p:cNvSpPr/>
          <p:nvPr/>
        </p:nvSpPr>
        <p:spPr>
          <a:xfrm flipV="1">
            <a:off x="1058863" y="1808163"/>
            <a:ext cx="881062" cy="660400"/>
          </a:xfrm>
          <a:prstGeom prst="line">
            <a:avLst/>
          </a:prstGeom>
          <a:ln w="9525" cap="flat" cmpd="sng">
            <a:solidFill>
              <a:schemeClr val="tx1"/>
            </a:solidFill>
            <a:prstDash val="solid"/>
            <a:headEnd type="none" w="med" len="med"/>
            <a:tailEnd type="triangle" w="med" len="med"/>
          </a:ln>
        </p:spPr>
      </p:sp>
      <p:sp>
        <p:nvSpPr>
          <p:cNvPr id="111705" name="Rectangle 187"/>
          <p:cNvSpPr>
            <a:spLocks noChangeAspect="1"/>
          </p:cNvSpPr>
          <p:nvPr/>
        </p:nvSpPr>
        <p:spPr>
          <a:xfrm>
            <a:off x="3284538" y="12541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1706" name="Text Box 188"/>
          <p:cNvSpPr txBox="1"/>
          <p:nvPr/>
        </p:nvSpPr>
        <p:spPr>
          <a:xfrm>
            <a:off x="11113" y="2176463"/>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00</a:t>
            </a:r>
          </a:p>
        </p:txBody>
      </p:sp>
      <p:sp>
        <p:nvSpPr>
          <p:cNvPr id="111707" name="Text Box 189"/>
          <p:cNvSpPr txBox="1"/>
          <p:nvPr/>
        </p:nvSpPr>
        <p:spPr>
          <a:xfrm>
            <a:off x="31750" y="2598738"/>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p:txBody>
      </p:sp>
      <p:sp>
        <p:nvSpPr>
          <p:cNvPr id="111708" name="Line 190"/>
          <p:cNvSpPr/>
          <p:nvPr/>
        </p:nvSpPr>
        <p:spPr>
          <a:xfrm flipV="1">
            <a:off x="1136650" y="2425700"/>
            <a:ext cx="812800" cy="403225"/>
          </a:xfrm>
          <a:prstGeom prst="line">
            <a:avLst/>
          </a:prstGeom>
          <a:ln w="9525" cap="flat" cmpd="sng">
            <a:solidFill>
              <a:schemeClr val="tx1"/>
            </a:solidFill>
            <a:prstDash val="solid"/>
            <a:headEnd type="none" w="med" len="med"/>
            <a:tailEnd type="triangle" w="med" len="med"/>
          </a:ln>
        </p:spPr>
      </p:sp>
      <p:graphicFrame>
        <p:nvGraphicFramePr>
          <p:cNvPr id="594111" name="Group 191"/>
          <p:cNvGraphicFramePr>
            <a:graphicFrameLocks noGrp="1"/>
          </p:cNvGraphicFramePr>
          <p:nvPr/>
        </p:nvGraphicFramePr>
        <p:xfrm>
          <a:off x="1970088" y="2092325"/>
          <a:ext cx="1325562" cy="773113"/>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010(1)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1717" name="Rectangle 201"/>
          <p:cNvSpPr>
            <a:spLocks noChangeAspect="1"/>
          </p:cNvSpPr>
          <p:nvPr/>
        </p:nvSpPr>
        <p:spPr>
          <a:xfrm>
            <a:off x="3284538" y="2092325"/>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1718" name="Text Box 202"/>
          <p:cNvSpPr txBox="1"/>
          <p:nvPr/>
        </p:nvSpPr>
        <p:spPr>
          <a:xfrm>
            <a:off x="0" y="3000375"/>
            <a:ext cx="523875" cy="45720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p:txBody>
      </p:sp>
      <p:sp>
        <p:nvSpPr>
          <p:cNvPr id="111719" name="Line 203"/>
          <p:cNvSpPr/>
          <p:nvPr/>
        </p:nvSpPr>
        <p:spPr>
          <a:xfrm flipV="1">
            <a:off x="1022350" y="3200400"/>
            <a:ext cx="936625" cy="36513"/>
          </a:xfrm>
          <a:prstGeom prst="line">
            <a:avLst/>
          </a:prstGeom>
          <a:ln w="9525" cap="flat" cmpd="sng">
            <a:solidFill>
              <a:schemeClr val="tx1"/>
            </a:solidFill>
            <a:prstDash val="solid"/>
            <a:headEnd type="none" w="med" len="med"/>
            <a:tailEnd type="triangle" w="med" len="med"/>
          </a:ln>
        </p:spPr>
      </p:sp>
      <p:graphicFrame>
        <p:nvGraphicFramePr>
          <p:cNvPr id="104552" name="表格 104551"/>
          <p:cNvGraphicFramePr/>
          <p:nvPr/>
        </p:nvGraphicFramePr>
        <p:xfrm>
          <a:off x="1979613" y="2927350"/>
          <a:ext cx="1325562" cy="773113"/>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latin typeface="Arial" panose="020B0604020202020204" pitchFamily="34" charset="0"/>
                          <a:ea typeface="宋体" panose="02010600030101010101" pitchFamily="2" charset="-122"/>
                        </a:rPr>
                        <a:t>10(10)</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lgDash"/>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lvl1pPr marL="0" lvl="0" indent="0" algn="l" defTabSz="914400" rtl="0" eaLnBrk="0" fontAlgn="base" latinLnBrk="0" hangingPunct="0">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tx1"/>
                          </a:solidFill>
                          <a:latin typeface="Times New Roman" panose="02020603050405020304" pitchFamily="18" charset="0"/>
                          <a:ea typeface="楷体_GB2312" pitchFamily="49" charset="-122"/>
                          <a:cs typeface="+mn-cs"/>
                        </a:defRPr>
                      </a:lvl5pPr>
                    </a:lstStyle>
                    <a:p>
                      <a:pPr lvl="0" eaLnBrk="1" hangingPunct="1">
                        <a:spcBef>
                          <a:spcPct val="20000"/>
                        </a:spcBef>
                        <a:buNone/>
                      </a:pPr>
                      <a:r>
                        <a:rPr lang="en-US" altLang="zh-CN" sz="1800" dirty="0">
                          <a:solidFill>
                            <a:srgbClr val="CC0000"/>
                          </a:solidFill>
                          <a:latin typeface="Arial" panose="020B0604020202020204" pitchFamily="34" charset="0"/>
                          <a:ea typeface="宋体" panose="02010600030101010101" pitchFamily="2" charset="-122"/>
                        </a:rPr>
                        <a:t> </a:t>
                      </a: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lgDash"/>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1728" name="Rectangle 214"/>
          <p:cNvSpPr>
            <a:spLocks noChangeAspect="1"/>
          </p:cNvSpPr>
          <p:nvPr/>
        </p:nvSpPr>
        <p:spPr>
          <a:xfrm>
            <a:off x="3273425" y="2927350"/>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graphicFrame>
        <p:nvGraphicFramePr>
          <p:cNvPr id="594135" name="Group 215"/>
          <p:cNvGraphicFramePr>
            <a:graphicFrameLocks noGrp="1"/>
          </p:cNvGraphicFramePr>
          <p:nvPr/>
        </p:nvGraphicFramePr>
        <p:xfrm>
          <a:off x="3759200" y="2084388"/>
          <a:ext cx="1325563" cy="773112"/>
        </p:xfrm>
        <a:graphic>
          <a:graphicData uri="http://schemas.openxmlformats.org/drawingml/2006/table">
            <a:tbl>
              <a:tblPr/>
              <a:tblGrid>
                <a:gridCol w="13255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69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011(1)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1737" name="Rectangle 225"/>
          <p:cNvSpPr>
            <a:spLocks noChangeAspect="1"/>
          </p:cNvSpPr>
          <p:nvPr/>
        </p:nvSpPr>
        <p:spPr>
          <a:xfrm>
            <a:off x="5073650" y="2084388"/>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1738" name="Line 226"/>
          <p:cNvSpPr/>
          <p:nvPr/>
        </p:nvSpPr>
        <p:spPr>
          <a:xfrm>
            <a:off x="3387725" y="2227263"/>
            <a:ext cx="406400" cy="0"/>
          </a:xfrm>
          <a:prstGeom prst="line">
            <a:avLst/>
          </a:prstGeom>
          <a:ln w="9525" cap="flat" cmpd="sng">
            <a:solidFill>
              <a:schemeClr val="tx1"/>
            </a:solidFill>
            <a:prstDash val="solid"/>
            <a:headEnd type="none" w="med" len="med"/>
            <a:tailEnd type="triangle" w="med" len="med"/>
          </a:ln>
        </p:spPr>
      </p:sp>
      <p:graphicFrame>
        <p:nvGraphicFramePr>
          <p:cNvPr id="594147" name="Group 227"/>
          <p:cNvGraphicFramePr>
            <a:graphicFrameLocks noGrp="1"/>
          </p:cNvGraphicFramePr>
          <p:nvPr/>
        </p:nvGraphicFramePr>
        <p:xfrm>
          <a:off x="6789738" y="5929313"/>
          <a:ext cx="1325562" cy="792162"/>
        </p:xfrm>
        <a:graphic>
          <a:graphicData uri="http://schemas.openxmlformats.org/drawingml/2006/table">
            <a:tbl>
              <a:tblPr/>
              <a:tblGrid>
                <a:gridCol w="1325562">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01(11)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49">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rgbClr val="CC0000"/>
                          </a:solidFill>
                          <a:effectLst/>
                          <a:latin typeface="Arial" panose="020B0604020202020204" pitchFamily="34" charset="0"/>
                          <a:ea typeface="宋体" panose="02010600030101010101" pitchFamily="2" charset="-122"/>
                        </a:rPr>
                        <a:t>11(11) </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lgDash"/>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94157" name="Rectangle 237"/>
          <p:cNvSpPr>
            <a:spLocks noChangeAspect="1"/>
          </p:cNvSpPr>
          <p:nvPr/>
        </p:nvSpPr>
        <p:spPr>
          <a:xfrm>
            <a:off x="8083550" y="5929313"/>
            <a:ext cx="304800" cy="304800"/>
          </a:xfrm>
          <a:prstGeom prst="rect">
            <a:avLst/>
          </a:prstGeom>
          <a:noFill/>
          <a:ln w="9525" cap="flat" cmpd="sng">
            <a:solidFill>
              <a:schemeClr val="tx1"/>
            </a:solidFill>
            <a:prstDash val="solid"/>
            <a:miter/>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94160" name="Line 240"/>
          <p:cNvSpPr/>
          <p:nvPr/>
        </p:nvSpPr>
        <p:spPr>
          <a:xfrm>
            <a:off x="5913438" y="5749925"/>
            <a:ext cx="893762" cy="406400"/>
          </a:xfrm>
          <a:prstGeom prst="line">
            <a:avLst/>
          </a:prstGeom>
          <a:ln w="9525" cap="flat" cmpd="sng">
            <a:solidFill>
              <a:schemeClr val="tx1"/>
            </a:solidFill>
            <a:prstDash val="solid"/>
            <a:headEnd type="none" w="med" len="med"/>
            <a:tailEnd type="triangle" w="med" len="med"/>
          </a:ln>
        </p:spPr>
      </p:sp>
      <p:grpSp>
        <p:nvGrpSpPr>
          <p:cNvPr id="9" name="Group 241"/>
          <p:cNvGrpSpPr/>
          <p:nvPr/>
        </p:nvGrpSpPr>
        <p:grpSpPr>
          <a:xfrm>
            <a:off x="3425825" y="4905375"/>
            <a:ext cx="1147763" cy="968375"/>
            <a:chOff x="1098" y="3024"/>
            <a:chExt cx="723" cy="610"/>
          </a:xfrm>
        </p:grpSpPr>
        <p:sp>
          <p:nvSpPr>
            <p:cNvPr id="5" name="AutoShape 39"/>
            <p:cNvSpPr>
              <a:spLocks noChangeArrowheads="1"/>
            </p:cNvSpPr>
            <p:nvPr/>
          </p:nvSpPr>
          <p:spPr bwMode="gray">
            <a:xfrm>
              <a:off x="109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11756" name="Oval 40"/>
            <p:cNvSpPr/>
            <p:nvPr/>
          </p:nvSpPr>
          <p:spPr>
            <a:xfrm>
              <a:off x="1158" y="3074"/>
              <a:ext cx="603" cy="509"/>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11757" name="Text Box 84"/>
            <p:cNvSpPr txBox="1"/>
            <p:nvPr/>
          </p:nvSpPr>
          <p:spPr>
            <a:xfrm>
              <a:off x="1160" y="3108"/>
              <a:ext cx="598" cy="44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宋体" panose="02010600030101010101" pitchFamily="2" charset="-122"/>
                  <a:ea typeface="华文中宋" panose="02010600040101010101" pitchFamily="2" charset="-122"/>
                  <a:cs typeface="+mn-cs"/>
                </a:rPr>
                <a:t>分裂 后</a:t>
              </a:r>
            </a:p>
          </p:txBody>
        </p:sp>
      </p:grpSp>
      <p:grpSp>
        <p:nvGrpSpPr>
          <p:cNvPr id="111750" name="Group 245"/>
          <p:cNvGrpSpPr/>
          <p:nvPr/>
        </p:nvGrpSpPr>
        <p:grpSpPr>
          <a:xfrm>
            <a:off x="1446213" y="3860800"/>
            <a:ext cx="1147762" cy="968375"/>
            <a:chOff x="1098" y="3024"/>
            <a:chExt cx="723" cy="610"/>
          </a:xfrm>
        </p:grpSpPr>
        <p:sp>
          <p:nvSpPr>
            <p:cNvPr id="20" name="AutoShape 39"/>
            <p:cNvSpPr>
              <a:spLocks noChangeArrowheads="1"/>
            </p:cNvSpPr>
            <p:nvPr/>
          </p:nvSpPr>
          <p:spPr bwMode="gray">
            <a:xfrm>
              <a:off x="1098" y="3024"/>
              <a:ext cx="723" cy="610"/>
            </a:xfrm>
            <a:custGeom>
              <a:avLst/>
              <a:gdLst>
                <a:gd name="G0" fmla="+- 1914 0 0"/>
                <a:gd name="G1" fmla="+- 21600 0 1914"/>
                <a:gd name="G2" fmla="+- 21600 0 1914"/>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914" y="10800"/>
                  </a:moveTo>
                  <a:cubicBezTo>
                    <a:pt x="1914" y="15708"/>
                    <a:pt x="5892" y="19686"/>
                    <a:pt x="10800" y="19686"/>
                  </a:cubicBezTo>
                  <a:cubicBezTo>
                    <a:pt x="15708" y="19686"/>
                    <a:pt x="19686" y="15708"/>
                    <a:pt x="19686" y="10800"/>
                  </a:cubicBezTo>
                  <a:cubicBezTo>
                    <a:pt x="19686" y="5892"/>
                    <a:pt x="15708" y="1914"/>
                    <a:pt x="10800" y="1914"/>
                  </a:cubicBezTo>
                  <a:cubicBezTo>
                    <a:pt x="5892" y="1914"/>
                    <a:pt x="1914" y="5892"/>
                    <a:pt x="1914" y="10800"/>
                  </a:cubicBezTo>
                  <a:close/>
                </a:path>
              </a:pathLst>
            </a:custGeom>
            <a:solidFill>
              <a:schemeClr val="accent6"/>
            </a:solidFill>
            <a:ln w="9525">
              <a:no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000" b="1"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11753" name="Oval 40"/>
            <p:cNvSpPr/>
            <p:nvPr/>
          </p:nvSpPr>
          <p:spPr>
            <a:xfrm>
              <a:off x="1158" y="3074"/>
              <a:ext cx="603" cy="509"/>
            </a:xfrm>
            <a:prstGeom prst="ellipse">
              <a:avLst/>
            </a:prstGeom>
            <a:solidFill>
              <a:srgbClr val="333300"/>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11754" name="Text Box 84"/>
            <p:cNvSpPr txBox="1"/>
            <p:nvPr/>
          </p:nvSpPr>
          <p:spPr>
            <a:xfrm>
              <a:off x="1160" y="3108"/>
              <a:ext cx="598" cy="442"/>
            </a:xfrm>
            <a:prstGeom prst="rect">
              <a:avLst/>
            </a:prstGeom>
            <a:noFill/>
            <a:ln w="9525">
              <a:noFill/>
            </a:ln>
          </p:spPr>
          <p:txBody>
            <a:bodyPr>
              <a:spAutoFit/>
            </a:bodyPr>
            <a:lstStyle/>
            <a:p>
              <a:pPr marL="0" marR="0" lvl="0" indent="0" algn="ctr" defTabSz="914400" rtl="0" eaLnBrk="1" fontAlgn="base" latinLnBrk="0" hangingPunct="1">
                <a:lnSpc>
                  <a:spcPct val="100000"/>
                </a:lnSpc>
                <a:spcBef>
                  <a:spcPct val="35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宋体" panose="02010600030101010101" pitchFamily="2" charset="-122"/>
                  <a:ea typeface="华文中宋" panose="02010600040101010101" pitchFamily="2" charset="-122"/>
                  <a:cs typeface="+mn-cs"/>
                </a:rPr>
                <a:t>分裂 前</a:t>
              </a:r>
            </a:p>
          </p:txBody>
        </p:sp>
      </p:grpSp>
      <p:sp>
        <p:nvSpPr>
          <p:cNvPr id="111751"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(3)</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操作示例</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452"/>
                                        </p:tgtEl>
                                        <p:attrNameLst>
                                          <p:attrName>style.visibility</p:attrName>
                                        </p:attrNameLst>
                                      </p:cBhvr>
                                      <p:to>
                                        <p:strVal val="visible"/>
                                      </p:to>
                                    </p:set>
                                    <p:anim calcmode="lin" valueType="num">
                                      <p:cBhvr additive="base">
                                        <p:cTn id="7" dur="500" fill="hold"/>
                                        <p:tgtEl>
                                          <p:spTgt spid="104452"/>
                                        </p:tgtEl>
                                        <p:attrNameLst>
                                          <p:attrName>ppt_x</p:attrName>
                                        </p:attrNameLst>
                                      </p:cBhvr>
                                      <p:tavLst>
                                        <p:tav tm="0">
                                          <p:val>
                                            <p:strVal val="#ppt_x"/>
                                          </p:val>
                                        </p:tav>
                                        <p:tav tm="100000">
                                          <p:val>
                                            <p:strVal val="#ppt_x"/>
                                          </p:val>
                                        </p:tav>
                                      </p:tavLst>
                                    </p:anim>
                                    <p:anim calcmode="lin" valueType="num">
                                      <p:cBhvr additive="base">
                                        <p:cTn id="8" dur="500" fill="hold"/>
                                        <p:tgtEl>
                                          <p:spTgt spid="10445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4073"/>
                                        </p:tgtEl>
                                        <p:attrNameLst>
                                          <p:attrName>style.visibility</p:attrName>
                                        </p:attrNameLst>
                                      </p:cBhvr>
                                      <p:to>
                                        <p:strVal val="visible"/>
                                      </p:to>
                                    </p:set>
                                    <p:anim calcmode="lin" valueType="num">
                                      <p:cBhvr additive="base">
                                        <p:cTn id="11" dur="500" fill="hold"/>
                                        <p:tgtEl>
                                          <p:spTgt spid="594073"/>
                                        </p:tgtEl>
                                        <p:attrNameLst>
                                          <p:attrName>ppt_x</p:attrName>
                                        </p:attrNameLst>
                                      </p:cBhvr>
                                      <p:tavLst>
                                        <p:tav tm="0">
                                          <p:val>
                                            <p:strVal val="#ppt_x"/>
                                          </p:val>
                                        </p:tav>
                                        <p:tav tm="100000">
                                          <p:val>
                                            <p:strVal val="#ppt_x"/>
                                          </p:val>
                                        </p:tav>
                                      </p:tavLst>
                                    </p:anim>
                                    <p:anim calcmode="lin" valueType="num">
                                      <p:cBhvr additive="base">
                                        <p:cTn id="12" dur="500" fill="hold"/>
                                        <p:tgtEl>
                                          <p:spTgt spid="59407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94020"/>
                                        </p:tgtEl>
                                        <p:attrNameLst>
                                          <p:attrName>style.visibility</p:attrName>
                                        </p:attrNameLst>
                                      </p:cBhvr>
                                      <p:to>
                                        <p:strVal val="visible"/>
                                      </p:to>
                                    </p:set>
                                    <p:anim calcmode="lin" valueType="num">
                                      <p:cBhvr additive="base">
                                        <p:cTn id="15" dur="500" fill="hold"/>
                                        <p:tgtEl>
                                          <p:spTgt spid="594020"/>
                                        </p:tgtEl>
                                        <p:attrNameLst>
                                          <p:attrName>ppt_x</p:attrName>
                                        </p:attrNameLst>
                                      </p:cBhvr>
                                      <p:tavLst>
                                        <p:tav tm="0">
                                          <p:val>
                                            <p:strVal val="#ppt_x"/>
                                          </p:val>
                                        </p:tav>
                                        <p:tav tm="100000">
                                          <p:val>
                                            <p:strVal val="#ppt_x"/>
                                          </p:val>
                                        </p:tav>
                                      </p:tavLst>
                                    </p:anim>
                                    <p:anim calcmode="lin" valueType="num">
                                      <p:cBhvr additive="base">
                                        <p:cTn id="16" dur="500" fill="hold"/>
                                        <p:tgtEl>
                                          <p:spTgt spid="5940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94030"/>
                                        </p:tgtEl>
                                        <p:attrNameLst>
                                          <p:attrName>style.visibility</p:attrName>
                                        </p:attrNameLst>
                                      </p:cBhvr>
                                      <p:to>
                                        <p:strVal val="visible"/>
                                      </p:to>
                                    </p:set>
                                    <p:anim calcmode="lin" valueType="num">
                                      <p:cBhvr additive="base">
                                        <p:cTn id="19" dur="500" fill="hold"/>
                                        <p:tgtEl>
                                          <p:spTgt spid="594030"/>
                                        </p:tgtEl>
                                        <p:attrNameLst>
                                          <p:attrName>ppt_x</p:attrName>
                                        </p:attrNameLst>
                                      </p:cBhvr>
                                      <p:tavLst>
                                        <p:tav tm="0">
                                          <p:val>
                                            <p:strVal val="#ppt_x"/>
                                          </p:val>
                                        </p:tav>
                                        <p:tav tm="100000">
                                          <p:val>
                                            <p:strVal val="#ppt_x"/>
                                          </p:val>
                                        </p:tav>
                                      </p:tavLst>
                                    </p:anim>
                                    <p:anim calcmode="lin" valueType="num">
                                      <p:cBhvr additive="base">
                                        <p:cTn id="20" dur="500" fill="hold"/>
                                        <p:tgtEl>
                                          <p:spTgt spid="59403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94031"/>
                                        </p:tgtEl>
                                        <p:attrNameLst>
                                          <p:attrName>style.visibility</p:attrName>
                                        </p:attrNameLst>
                                      </p:cBhvr>
                                      <p:to>
                                        <p:strVal val="visible"/>
                                      </p:to>
                                    </p:set>
                                    <p:anim calcmode="lin" valueType="num">
                                      <p:cBhvr additive="base">
                                        <p:cTn id="23" dur="500" fill="hold"/>
                                        <p:tgtEl>
                                          <p:spTgt spid="594031"/>
                                        </p:tgtEl>
                                        <p:attrNameLst>
                                          <p:attrName>ppt_x</p:attrName>
                                        </p:attrNameLst>
                                      </p:cBhvr>
                                      <p:tavLst>
                                        <p:tav tm="0">
                                          <p:val>
                                            <p:strVal val="#ppt_x"/>
                                          </p:val>
                                        </p:tav>
                                        <p:tav tm="100000">
                                          <p:val>
                                            <p:strVal val="#ppt_x"/>
                                          </p:val>
                                        </p:tav>
                                      </p:tavLst>
                                    </p:anim>
                                    <p:anim calcmode="lin" valueType="num">
                                      <p:cBhvr additive="base">
                                        <p:cTn id="24" dur="500" fill="hold"/>
                                        <p:tgtEl>
                                          <p:spTgt spid="59403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94032"/>
                                        </p:tgtEl>
                                        <p:attrNameLst>
                                          <p:attrName>style.visibility</p:attrName>
                                        </p:attrNameLst>
                                      </p:cBhvr>
                                      <p:to>
                                        <p:strVal val="visible"/>
                                      </p:to>
                                    </p:set>
                                    <p:anim calcmode="lin" valueType="num">
                                      <p:cBhvr additive="base">
                                        <p:cTn id="27" dur="500" fill="hold"/>
                                        <p:tgtEl>
                                          <p:spTgt spid="594032"/>
                                        </p:tgtEl>
                                        <p:attrNameLst>
                                          <p:attrName>ppt_x</p:attrName>
                                        </p:attrNameLst>
                                      </p:cBhvr>
                                      <p:tavLst>
                                        <p:tav tm="0">
                                          <p:val>
                                            <p:strVal val="#ppt_x"/>
                                          </p:val>
                                        </p:tav>
                                        <p:tav tm="100000">
                                          <p:val>
                                            <p:strVal val="#ppt_x"/>
                                          </p:val>
                                        </p:tav>
                                      </p:tavLst>
                                    </p:anim>
                                    <p:anim calcmode="lin" valueType="num">
                                      <p:cBhvr additive="base">
                                        <p:cTn id="28" dur="500" fill="hold"/>
                                        <p:tgtEl>
                                          <p:spTgt spid="59403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94033"/>
                                        </p:tgtEl>
                                        <p:attrNameLst>
                                          <p:attrName>style.visibility</p:attrName>
                                        </p:attrNameLst>
                                      </p:cBhvr>
                                      <p:to>
                                        <p:strVal val="visible"/>
                                      </p:to>
                                    </p:set>
                                    <p:anim calcmode="lin" valueType="num">
                                      <p:cBhvr additive="base">
                                        <p:cTn id="31" dur="500" fill="hold"/>
                                        <p:tgtEl>
                                          <p:spTgt spid="594033"/>
                                        </p:tgtEl>
                                        <p:attrNameLst>
                                          <p:attrName>ppt_x</p:attrName>
                                        </p:attrNameLst>
                                      </p:cBhvr>
                                      <p:tavLst>
                                        <p:tav tm="0">
                                          <p:val>
                                            <p:strVal val="#ppt_x"/>
                                          </p:val>
                                        </p:tav>
                                        <p:tav tm="100000">
                                          <p:val>
                                            <p:strVal val="#ppt_x"/>
                                          </p:val>
                                        </p:tav>
                                      </p:tavLst>
                                    </p:anim>
                                    <p:anim calcmode="lin" valueType="num">
                                      <p:cBhvr additive="base">
                                        <p:cTn id="32" dur="500" fill="hold"/>
                                        <p:tgtEl>
                                          <p:spTgt spid="59403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94034"/>
                                        </p:tgtEl>
                                        <p:attrNameLst>
                                          <p:attrName>style.visibility</p:attrName>
                                        </p:attrNameLst>
                                      </p:cBhvr>
                                      <p:to>
                                        <p:strVal val="visible"/>
                                      </p:to>
                                    </p:set>
                                    <p:anim calcmode="lin" valueType="num">
                                      <p:cBhvr additive="base">
                                        <p:cTn id="35" dur="500" fill="hold"/>
                                        <p:tgtEl>
                                          <p:spTgt spid="594034"/>
                                        </p:tgtEl>
                                        <p:attrNameLst>
                                          <p:attrName>ppt_x</p:attrName>
                                        </p:attrNameLst>
                                      </p:cBhvr>
                                      <p:tavLst>
                                        <p:tav tm="0">
                                          <p:val>
                                            <p:strVal val="#ppt_x"/>
                                          </p:val>
                                        </p:tav>
                                        <p:tav tm="100000">
                                          <p:val>
                                            <p:strVal val="#ppt_x"/>
                                          </p:val>
                                        </p:tav>
                                      </p:tavLst>
                                    </p:anim>
                                    <p:anim calcmode="lin" valueType="num">
                                      <p:cBhvr additive="base">
                                        <p:cTn id="36" dur="500" fill="hold"/>
                                        <p:tgtEl>
                                          <p:spTgt spid="59403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94035"/>
                                        </p:tgtEl>
                                        <p:attrNameLst>
                                          <p:attrName>style.visibility</p:attrName>
                                        </p:attrNameLst>
                                      </p:cBhvr>
                                      <p:to>
                                        <p:strVal val="visible"/>
                                      </p:to>
                                    </p:set>
                                    <p:anim calcmode="lin" valueType="num">
                                      <p:cBhvr additive="base">
                                        <p:cTn id="39" dur="500" fill="hold"/>
                                        <p:tgtEl>
                                          <p:spTgt spid="594035"/>
                                        </p:tgtEl>
                                        <p:attrNameLst>
                                          <p:attrName>ppt_x</p:attrName>
                                        </p:attrNameLst>
                                      </p:cBhvr>
                                      <p:tavLst>
                                        <p:tav tm="0">
                                          <p:val>
                                            <p:strVal val="#ppt_x"/>
                                          </p:val>
                                        </p:tav>
                                        <p:tav tm="100000">
                                          <p:val>
                                            <p:strVal val="#ppt_x"/>
                                          </p:val>
                                        </p:tav>
                                      </p:tavLst>
                                    </p:anim>
                                    <p:anim calcmode="lin" valueType="num">
                                      <p:cBhvr additive="base">
                                        <p:cTn id="40" dur="500" fill="hold"/>
                                        <p:tgtEl>
                                          <p:spTgt spid="59403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94045"/>
                                        </p:tgtEl>
                                        <p:attrNameLst>
                                          <p:attrName>style.visibility</p:attrName>
                                        </p:attrNameLst>
                                      </p:cBhvr>
                                      <p:to>
                                        <p:strVal val="visible"/>
                                      </p:to>
                                    </p:set>
                                    <p:anim calcmode="lin" valueType="num">
                                      <p:cBhvr additive="base">
                                        <p:cTn id="43" dur="500" fill="hold"/>
                                        <p:tgtEl>
                                          <p:spTgt spid="594045"/>
                                        </p:tgtEl>
                                        <p:attrNameLst>
                                          <p:attrName>ppt_x</p:attrName>
                                        </p:attrNameLst>
                                      </p:cBhvr>
                                      <p:tavLst>
                                        <p:tav tm="0">
                                          <p:val>
                                            <p:strVal val="#ppt_x"/>
                                          </p:val>
                                        </p:tav>
                                        <p:tav tm="100000">
                                          <p:val>
                                            <p:strVal val="#ppt_x"/>
                                          </p:val>
                                        </p:tav>
                                      </p:tavLst>
                                    </p:anim>
                                    <p:anim calcmode="lin" valueType="num">
                                      <p:cBhvr additive="base">
                                        <p:cTn id="44" dur="500" fill="hold"/>
                                        <p:tgtEl>
                                          <p:spTgt spid="59404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94046"/>
                                        </p:tgtEl>
                                        <p:attrNameLst>
                                          <p:attrName>style.visibility</p:attrName>
                                        </p:attrNameLst>
                                      </p:cBhvr>
                                      <p:to>
                                        <p:strVal val="visible"/>
                                      </p:to>
                                    </p:set>
                                    <p:anim calcmode="lin" valueType="num">
                                      <p:cBhvr additive="base">
                                        <p:cTn id="47" dur="500" fill="hold"/>
                                        <p:tgtEl>
                                          <p:spTgt spid="594046"/>
                                        </p:tgtEl>
                                        <p:attrNameLst>
                                          <p:attrName>ppt_x</p:attrName>
                                        </p:attrNameLst>
                                      </p:cBhvr>
                                      <p:tavLst>
                                        <p:tav tm="0">
                                          <p:val>
                                            <p:strVal val="#ppt_x"/>
                                          </p:val>
                                        </p:tav>
                                        <p:tav tm="100000">
                                          <p:val>
                                            <p:strVal val="#ppt_x"/>
                                          </p:val>
                                        </p:tav>
                                      </p:tavLst>
                                    </p:anim>
                                    <p:anim calcmode="lin" valueType="num">
                                      <p:cBhvr additive="base">
                                        <p:cTn id="48" dur="500" fill="hold"/>
                                        <p:tgtEl>
                                          <p:spTgt spid="59404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94047"/>
                                        </p:tgtEl>
                                        <p:attrNameLst>
                                          <p:attrName>style.visibility</p:attrName>
                                        </p:attrNameLst>
                                      </p:cBhvr>
                                      <p:to>
                                        <p:strVal val="visible"/>
                                      </p:to>
                                    </p:set>
                                    <p:anim calcmode="lin" valueType="num">
                                      <p:cBhvr additive="base">
                                        <p:cTn id="51" dur="500" fill="hold"/>
                                        <p:tgtEl>
                                          <p:spTgt spid="594047"/>
                                        </p:tgtEl>
                                        <p:attrNameLst>
                                          <p:attrName>ppt_x</p:attrName>
                                        </p:attrNameLst>
                                      </p:cBhvr>
                                      <p:tavLst>
                                        <p:tav tm="0">
                                          <p:val>
                                            <p:strVal val="#ppt_x"/>
                                          </p:val>
                                        </p:tav>
                                        <p:tav tm="100000">
                                          <p:val>
                                            <p:strVal val="#ppt_x"/>
                                          </p:val>
                                        </p:tav>
                                      </p:tavLst>
                                    </p:anim>
                                    <p:anim calcmode="lin" valueType="num">
                                      <p:cBhvr additive="base">
                                        <p:cTn id="52" dur="500" fill="hold"/>
                                        <p:tgtEl>
                                          <p:spTgt spid="59404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4498"/>
                                        </p:tgtEl>
                                        <p:attrNameLst>
                                          <p:attrName>style.visibility</p:attrName>
                                        </p:attrNameLst>
                                      </p:cBhvr>
                                      <p:to>
                                        <p:strVal val="visible"/>
                                      </p:to>
                                    </p:set>
                                    <p:anim calcmode="lin" valueType="num">
                                      <p:cBhvr additive="base">
                                        <p:cTn id="55" dur="500" fill="hold"/>
                                        <p:tgtEl>
                                          <p:spTgt spid="104498"/>
                                        </p:tgtEl>
                                        <p:attrNameLst>
                                          <p:attrName>ppt_x</p:attrName>
                                        </p:attrNameLst>
                                      </p:cBhvr>
                                      <p:tavLst>
                                        <p:tav tm="0">
                                          <p:val>
                                            <p:strVal val="#ppt_x"/>
                                          </p:val>
                                        </p:tav>
                                        <p:tav tm="100000">
                                          <p:val>
                                            <p:strVal val="#ppt_x"/>
                                          </p:val>
                                        </p:tav>
                                      </p:tavLst>
                                    </p:anim>
                                    <p:anim calcmode="lin" valueType="num">
                                      <p:cBhvr additive="base">
                                        <p:cTn id="56" dur="500" fill="hold"/>
                                        <p:tgtEl>
                                          <p:spTgt spid="10449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94058"/>
                                        </p:tgtEl>
                                        <p:attrNameLst>
                                          <p:attrName>style.visibility</p:attrName>
                                        </p:attrNameLst>
                                      </p:cBhvr>
                                      <p:to>
                                        <p:strVal val="visible"/>
                                      </p:to>
                                    </p:set>
                                    <p:anim calcmode="lin" valueType="num">
                                      <p:cBhvr additive="base">
                                        <p:cTn id="59" dur="500" fill="hold"/>
                                        <p:tgtEl>
                                          <p:spTgt spid="594058"/>
                                        </p:tgtEl>
                                        <p:attrNameLst>
                                          <p:attrName>ppt_x</p:attrName>
                                        </p:attrNameLst>
                                      </p:cBhvr>
                                      <p:tavLst>
                                        <p:tav tm="0">
                                          <p:val>
                                            <p:strVal val="#ppt_x"/>
                                          </p:val>
                                        </p:tav>
                                        <p:tav tm="100000">
                                          <p:val>
                                            <p:strVal val="#ppt_x"/>
                                          </p:val>
                                        </p:tav>
                                      </p:tavLst>
                                    </p:anim>
                                    <p:anim calcmode="lin" valueType="num">
                                      <p:cBhvr additive="base">
                                        <p:cTn id="60" dur="500" fill="hold"/>
                                        <p:tgtEl>
                                          <p:spTgt spid="59405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94074"/>
                                        </p:tgtEl>
                                        <p:attrNameLst>
                                          <p:attrName>style.visibility</p:attrName>
                                        </p:attrNameLst>
                                      </p:cBhvr>
                                      <p:to>
                                        <p:strVal val="visible"/>
                                      </p:to>
                                    </p:set>
                                    <p:anim calcmode="lin" valueType="num">
                                      <p:cBhvr additive="base">
                                        <p:cTn id="63" dur="500" fill="hold"/>
                                        <p:tgtEl>
                                          <p:spTgt spid="594074"/>
                                        </p:tgtEl>
                                        <p:attrNameLst>
                                          <p:attrName>ppt_x</p:attrName>
                                        </p:attrNameLst>
                                      </p:cBhvr>
                                      <p:tavLst>
                                        <p:tav tm="0">
                                          <p:val>
                                            <p:strVal val="#ppt_x"/>
                                          </p:val>
                                        </p:tav>
                                        <p:tav tm="100000">
                                          <p:val>
                                            <p:strVal val="#ppt_x"/>
                                          </p:val>
                                        </p:tav>
                                      </p:tavLst>
                                    </p:anim>
                                    <p:anim calcmode="lin" valueType="num">
                                      <p:cBhvr additive="base">
                                        <p:cTn id="64" dur="500" fill="hold"/>
                                        <p:tgtEl>
                                          <p:spTgt spid="594074"/>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594147"/>
                                        </p:tgtEl>
                                        <p:attrNameLst>
                                          <p:attrName>style.visibility</p:attrName>
                                        </p:attrNameLst>
                                      </p:cBhvr>
                                      <p:to>
                                        <p:strVal val="visible"/>
                                      </p:to>
                                    </p:set>
                                    <p:anim calcmode="lin" valueType="num">
                                      <p:cBhvr additive="base">
                                        <p:cTn id="67" dur="500" fill="hold"/>
                                        <p:tgtEl>
                                          <p:spTgt spid="594147"/>
                                        </p:tgtEl>
                                        <p:attrNameLst>
                                          <p:attrName>ppt_x</p:attrName>
                                        </p:attrNameLst>
                                      </p:cBhvr>
                                      <p:tavLst>
                                        <p:tav tm="0">
                                          <p:val>
                                            <p:strVal val="#ppt_x"/>
                                          </p:val>
                                        </p:tav>
                                        <p:tav tm="100000">
                                          <p:val>
                                            <p:strVal val="#ppt_x"/>
                                          </p:val>
                                        </p:tav>
                                      </p:tavLst>
                                    </p:anim>
                                    <p:anim calcmode="lin" valueType="num">
                                      <p:cBhvr additive="base">
                                        <p:cTn id="68" dur="500" fill="hold"/>
                                        <p:tgtEl>
                                          <p:spTgt spid="594147"/>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594157"/>
                                        </p:tgtEl>
                                        <p:attrNameLst>
                                          <p:attrName>style.visibility</p:attrName>
                                        </p:attrNameLst>
                                      </p:cBhvr>
                                      <p:to>
                                        <p:strVal val="visible"/>
                                      </p:to>
                                    </p:set>
                                    <p:anim calcmode="lin" valueType="num">
                                      <p:cBhvr additive="base">
                                        <p:cTn id="71" dur="500" fill="hold"/>
                                        <p:tgtEl>
                                          <p:spTgt spid="594157"/>
                                        </p:tgtEl>
                                        <p:attrNameLst>
                                          <p:attrName>ppt_x</p:attrName>
                                        </p:attrNameLst>
                                      </p:cBhvr>
                                      <p:tavLst>
                                        <p:tav tm="0">
                                          <p:val>
                                            <p:strVal val="#ppt_x"/>
                                          </p:val>
                                        </p:tav>
                                        <p:tav tm="100000">
                                          <p:val>
                                            <p:strVal val="#ppt_x"/>
                                          </p:val>
                                        </p:tav>
                                      </p:tavLst>
                                    </p:anim>
                                    <p:anim calcmode="lin" valueType="num">
                                      <p:cBhvr additive="base">
                                        <p:cTn id="72" dur="500" fill="hold"/>
                                        <p:tgtEl>
                                          <p:spTgt spid="594157"/>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594160"/>
                                        </p:tgtEl>
                                        <p:attrNameLst>
                                          <p:attrName>style.visibility</p:attrName>
                                        </p:attrNameLst>
                                      </p:cBhvr>
                                      <p:to>
                                        <p:strVal val="visible"/>
                                      </p:to>
                                    </p:set>
                                    <p:anim calcmode="lin" valueType="num">
                                      <p:cBhvr additive="base">
                                        <p:cTn id="75" dur="500" fill="hold"/>
                                        <p:tgtEl>
                                          <p:spTgt spid="594160"/>
                                        </p:tgtEl>
                                        <p:attrNameLst>
                                          <p:attrName>ppt_x</p:attrName>
                                        </p:attrNameLst>
                                      </p:cBhvr>
                                      <p:tavLst>
                                        <p:tav tm="0">
                                          <p:val>
                                            <p:strVal val="#ppt_x"/>
                                          </p:val>
                                        </p:tav>
                                        <p:tav tm="100000">
                                          <p:val>
                                            <p:strVal val="#ppt_x"/>
                                          </p:val>
                                        </p:tav>
                                      </p:tavLst>
                                    </p:anim>
                                    <p:anim calcmode="lin" valueType="num">
                                      <p:cBhvr additive="base">
                                        <p:cTn id="76" dur="500" fill="hold"/>
                                        <p:tgtEl>
                                          <p:spTgt spid="59416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9"/>
                                        </p:tgtEl>
                                        <p:attrNameLst>
                                          <p:attrName>style.visibility</p:attrName>
                                        </p:attrNameLst>
                                      </p:cBhvr>
                                      <p:to>
                                        <p:strVal val="visible"/>
                                      </p:to>
                                    </p:set>
                                    <p:anim calcmode="lin" valueType="num">
                                      <p:cBhvr additive="base">
                                        <p:cTn id="79" dur="500" fill="hold"/>
                                        <p:tgtEl>
                                          <p:spTgt spid="9"/>
                                        </p:tgtEl>
                                        <p:attrNameLst>
                                          <p:attrName>ppt_x</p:attrName>
                                        </p:attrNameLst>
                                      </p:cBhvr>
                                      <p:tavLst>
                                        <p:tav tm="0">
                                          <p:val>
                                            <p:strVal val="#ppt_x"/>
                                          </p:val>
                                        </p:tav>
                                        <p:tav tm="100000">
                                          <p:val>
                                            <p:strVal val="#ppt_x"/>
                                          </p:val>
                                        </p:tav>
                                      </p:tavLst>
                                    </p:anim>
                                    <p:anim calcmode="lin" valueType="num">
                                      <p:cBhvr additive="base">
                                        <p:cTn id="8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31" grpId="0" bldLvl="0" animBg="1"/>
      <p:bldP spid="594032" grpId="0"/>
      <p:bldP spid="594033" grpId="0"/>
      <p:bldP spid="594045" grpId="0" bldLvl="0" animBg="1"/>
      <p:bldP spid="594046" grpId="0"/>
      <p:bldP spid="594058" grpId="0" bldLvl="0" animBg="1"/>
      <p:bldP spid="594074" grpId="0"/>
      <p:bldP spid="594157"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16"/>
          <p:cNvSpPr txBox="1"/>
          <p:nvPr/>
        </p:nvSpPr>
        <p:spPr>
          <a:xfrm>
            <a:off x="163513" y="0"/>
            <a:ext cx="5878512" cy="830997"/>
          </a:xfrm>
          <a:prstGeom prst="rect">
            <a:avLst/>
          </a:prstGeom>
          <a:noFill/>
          <a:ln w="9525">
            <a:noFill/>
          </a:ln>
        </p:spPr>
        <p:txBody>
          <a:bodyPr>
            <a:spAutoFit/>
          </a:bodyPr>
          <a:lstStyle/>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线性哈希</a:t>
            </a:r>
            <a:r>
              <a:rPr kumimoji="0" lang="zh-CN"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索引</a:t>
            </a:r>
            <a:endPar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(4)</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回顾操作特点</a:t>
            </a:r>
          </a:p>
        </p:txBody>
      </p:sp>
      <p:grpSp>
        <p:nvGrpSpPr>
          <p:cNvPr id="112643" name="Group 311"/>
          <p:cNvGrpSpPr/>
          <p:nvPr/>
        </p:nvGrpSpPr>
        <p:grpSpPr>
          <a:xfrm>
            <a:off x="400050" y="1133475"/>
            <a:ext cx="1035050" cy="701675"/>
            <a:chOff x="252" y="714"/>
            <a:chExt cx="652" cy="442"/>
          </a:xfrm>
        </p:grpSpPr>
        <p:sp>
          <p:nvSpPr>
            <p:cNvPr id="112748" name="Rectangle 184"/>
            <p:cNvSpPr/>
            <p:nvPr/>
          </p:nvSpPr>
          <p:spPr>
            <a:xfrm>
              <a:off x="446" y="753"/>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49" name="Text Box 185"/>
            <p:cNvSpPr txBox="1"/>
            <p:nvPr/>
          </p:nvSpPr>
          <p:spPr>
            <a:xfrm>
              <a:off x="252" y="714"/>
              <a:ext cx="205" cy="442"/>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p>
          </p:txBody>
        </p:sp>
        <p:sp>
          <p:nvSpPr>
            <p:cNvPr id="112750" name="Rectangle 186"/>
            <p:cNvSpPr/>
            <p:nvPr/>
          </p:nvSpPr>
          <p:spPr>
            <a:xfrm>
              <a:off x="447" y="952"/>
              <a:ext cx="457" cy="201"/>
            </a:xfrm>
            <a:prstGeom prst="rect">
              <a:avLst/>
            </a:prstGeom>
            <a:noFill/>
            <a:ln w="9525" cap="flat" cmpd="sng">
              <a:solidFill>
                <a:schemeClr val="tx1"/>
              </a:solidFill>
              <a:prstDash val="solid"/>
              <a:miter/>
              <a:headEnd type="none" w="med" len="med"/>
              <a:tailEnd type="none" w="med" len="med"/>
            </a:ln>
          </p:spPr>
          <p:txBody>
            <a:bodyPr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676038" name="Group 198"/>
          <p:cNvGraphicFramePr>
            <a:graphicFrameLocks noGrp="1"/>
          </p:cNvGraphicFramePr>
          <p:nvPr/>
        </p:nvGraphicFramePr>
        <p:xfrm>
          <a:off x="1577975" y="973138"/>
          <a:ext cx="655638" cy="1138236"/>
        </p:xfrm>
        <a:graphic>
          <a:graphicData uri="http://schemas.openxmlformats.org/drawingml/2006/table">
            <a:tbl>
              <a:tblPr/>
              <a:tblGrid>
                <a:gridCol w="655638">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76096" name="Group 256"/>
          <p:cNvGraphicFramePr>
            <a:graphicFrameLocks noGrp="1"/>
          </p:cNvGraphicFramePr>
          <p:nvPr/>
        </p:nvGraphicFramePr>
        <p:xfrm>
          <a:off x="4057650" y="1000125"/>
          <a:ext cx="1236663" cy="1138239"/>
        </p:xfrm>
        <a:graphic>
          <a:graphicData uri="http://schemas.openxmlformats.org/drawingml/2006/table">
            <a:tbl>
              <a:tblPr/>
              <a:tblGrid>
                <a:gridCol w="1236663">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=4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12664" name="Group 305"/>
          <p:cNvGrpSpPr/>
          <p:nvPr/>
        </p:nvGrpSpPr>
        <p:grpSpPr>
          <a:xfrm>
            <a:off x="2797175" y="1003300"/>
            <a:ext cx="1192213" cy="1006475"/>
            <a:chOff x="1762" y="830"/>
            <a:chExt cx="751" cy="634"/>
          </a:xfrm>
        </p:grpSpPr>
        <p:sp>
          <p:nvSpPr>
            <p:cNvPr id="112744" name="Rectangle 210"/>
            <p:cNvSpPr/>
            <p:nvPr/>
          </p:nvSpPr>
          <p:spPr>
            <a:xfrm>
              <a:off x="2055" y="869"/>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45" name="Text Box 211"/>
            <p:cNvSpPr txBox="1"/>
            <p:nvPr/>
          </p:nvSpPr>
          <p:spPr>
            <a:xfrm>
              <a:off x="1762" y="830"/>
              <a:ext cx="294" cy="634"/>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a:t>
              </a:r>
            </a:p>
          </p:txBody>
        </p:sp>
        <p:sp>
          <p:nvSpPr>
            <p:cNvPr id="112746" name="Rectangle 212"/>
            <p:cNvSpPr/>
            <p:nvPr/>
          </p:nvSpPr>
          <p:spPr>
            <a:xfrm>
              <a:off x="2056" y="1068"/>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47" name="Rectangle 213"/>
            <p:cNvSpPr/>
            <p:nvPr/>
          </p:nvSpPr>
          <p:spPr>
            <a:xfrm>
              <a:off x="2048" y="1258"/>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676094" name="Group 254"/>
          <p:cNvGraphicFramePr>
            <a:graphicFrameLocks noGrp="1"/>
          </p:cNvGraphicFramePr>
          <p:nvPr/>
        </p:nvGraphicFramePr>
        <p:xfrm>
          <a:off x="7205663" y="941388"/>
          <a:ext cx="1236662" cy="1138236"/>
        </p:xfrm>
        <a:graphic>
          <a:graphicData uri="http://schemas.openxmlformats.org/drawingml/2006/table">
            <a:tbl>
              <a:tblPr/>
              <a:tblGrid>
                <a:gridCol w="1236662">
                  <a:extLst>
                    <a:ext uri="{9D8B030D-6E8A-4147-A177-3AD203B41FA5}">
                      <a16:colId xmlns:a16="http://schemas.microsoft.com/office/drawing/2014/main" val="20000"/>
                    </a:ext>
                  </a:extLst>
                </a:gridCol>
              </a:tblGrid>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2">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=6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12675" name="Group 304"/>
          <p:cNvGrpSpPr/>
          <p:nvPr/>
        </p:nvGrpSpPr>
        <p:grpSpPr>
          <a:xfrm>
            <a:off x="5959475" y="887413"/>
            <a:ext cx="1193800" cy="1311275"/>
            <a:chOff x="3745" y="793"/>
            <a:chExt cx="752" cy="826"/>
          </a:xfrm>
        </p:grpSpPr>
        <p:sp>
          <p:nvSpPr>
            <p:cNvPr id="112739" name="Rectangle 232"/>
            <p:cNvSpPr/>
            <p:nvPr/>
          </p:nvSpPr>
          <p:spPr>
            <a:xfrm>
              <a:off x="4038" y="832"/>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40" name="Text Box 233"/>
            <p:cNvSpPr txBox="1"/>
            <p:nvPr/>
          </p:nvSpPr>
          <p:spPr>
            <a:xfrm>
              <a:off x="3745" y="793"/>
              <a:ext cx="294" cy="826"/>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11</a:t>
              </a:r>
            </a:p>
          </p:txBody>
        </p:sp>
        <p:sp>
          <p:nvSpPr>
            <p:cNvPr id="112741" name="Rectangle 234"/>
            <p:cNvSpPr/>
            <p:nvPr/>
          </p:nvSpPr>
          <p:spPr>
            <a:xfrm>
              <a:off x="4039" y="1031"/>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42" name="Rectangle 235"/>
            <p:cNvSpPr/>
            <p:nvPr/>
          </p:nvSpPr>
          <p:spPr>
            <a:xfrm>
              <a:off x="4040" y="1221"/>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43" name="Rectangle 236"/>
            <p:cNvSpPr/>
            <p:nvPr/>
          </p:nvSpPr>
          <p:spPr>
            <a:xfrm>
              <a:off x="4032" y="1411"/>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676099" name="Group 259"/>
          <p:cNvGraphicFramePr>
            <a:graphicFrameLocks noGrp="1"/>
          </p:cNvGraphicFramePr>
          <p:nvPr/>
        </p:nvGraphicFramePr>
        <p:xfrm>
          <a:off x="1963738" y="4492625"/>
          <a:ext cx="1236662" cy="1138239"/>
        </p:xfrm>
        <a:graphic>
          <a:graphicData uri="http://schemas.openxmlformats.org/drawingml/2006/table">
            <a:tbl>
              <a:tblPr/>
              <a:tblGrid>
                <a:gridCol w="1236662">
                  <a:extLst>
                    <a:ext uri="{9D8B030D-6E8A-4147-A177-3AD203B41FA5}">
                      <a16:colId xmlns:a16="http://schemas.microsoft.com/office/drawing/2014/main" val="20000"/>
                    </a:ext>
                  </a:extLst>
                </a:gridCol>
              </a:tblGrid>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4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=8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12686" name="Group 303"/>
          <p:cNvGrpSpPr/>
          <p:nvPr/>
        </p:nvGrpSpPr>
        <p:grpSpPr>
          <a:xfrm>
            <a:off x="560388" y="4652963"/>
            <a:ext cx="1339850" cy="1616075"/>
            <a:chOff x="353" y="2144"/>
            <a:chExt cx="844" cy="1018"/>
          </a:xfrm>
        </p:grpSpPr>
        <p:sp>
          <p:nvSpPr>
            <p:cNvPr id="112733" name="Rectangle 247"/>
            <p:cNvSpPr/>
            <p:nvPr/>
          </p:nvSpPr>
          <p:spPr>
            <a:xfrm>
              <a:off x="736" y="2183"/>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4" name="Text Box 248"/>
            <p:cNvSpPr txBox="1"/>
            <p:nvPr/>
          </p:nvSpPr>
          <p:spPr>
            <a:xfrm>
              <a:off x="353" y="2144"/>
              <a:ext cx="383" cy="1018"/>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01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100</a:t>
              </a:r>
            </a:p>
          </p:txBody>
        </p:sp>
        <p:sp>
          <p:nvSpPr>
            <p:cNvPr id="112735" name="Rectangle 249"/>
            <p:cNvSpPr/>
            <p:nvPr/>
          </p:nvSpPr>
          <p:spPr>
            <a:xfrm>
              <a:off x="737" y="2382"/>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6" name="Rectangle 250"/>
            <p:cNvSpPr/>
            <p:nvPr/>
          </p:nvSpPr>
          <p:spPr>
            <a:xfrm>
              <a:off x="738" y="2572"/>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7" name="Rectangle 251"/>
            <p:cNvSpPr/>
            <p:nvPr/>
          </p:nvSpPr>
          <p:spPr>
            <a:xfrm>
              <a:off x="739" y="2762"/>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8" name="Rectangle 257"/>
            <p:cNvSpPr/>
            <p:nvPr/>
          </p:nvSpPr>
          <p:spPr>
            <a:xfrm>
              <a:off x="740" y="2952"/>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676118" name="Group 278"/>
          <p:cNvGraphicFramePr>
            <a:graphicFrameLocks noGrp="1"/>
          </p:cNvGraphicFramePr>
          <p:nvPr/>
        </p:nvGraphicFramePr>
        <p:xfrm>
          <a:off x="4878388" y="4513263"/>
          <a:ext cx="1236662" cy="1124104"/>
        </p:xfrm>
        <a:graphic>
          <a:graphicData uri="http://schemas.openxmlformats.org/drawingml/2006/table">
            <a:tbl>
              <a:tblPr/>
              <a:tblGrid>
                <a:gridCol w="1236662">
                  <a:extLst>
                    <a:ext uri="{9D8B030D-6E8A-4147-A177-3AD203B41FA5}">
                      <a16:colId xmlns:a16="http://schemas.microsoft.com/office/drawing/2014/main" val="20000"/>
                    </a:ext>
                  </a:extLst>
                </a:gridCol>
              </a:tblGrid>
              <a:tr h="37919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=3</a:t>
                      </a:r>
                    </a:p>
                  </a:txBody>
                  <a:tcPr marT="45694" marB="456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5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5</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T="45694" marB="456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19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=10 </a:t>
                      </a:r>
                    </a:p>
                  </a:txBody>
                  <a:tcPr marT="45694" marB="456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12697" name="Group 302"/>
          <p:cNvGrpSpPr/>
          <p:nvPr/>
        </p:nvGrpSpPr>
        <p:grpSpPr>
          <a:xfrm>
            <a:off x="3475038" y="4645025"/>
            <a:ext cx="1338262" cy="1920875"/>
            <a:chOff x="2390" y="2132"/>
            <a:chExt cx="843" cy="1210"/>
          </a:xfrm>
        </p:grpSpPr>
        <p:sp>
          <p:nvSpPr>
            <p:cNvPr id="112726" name="Rectangle 270"/>
            <p:cNvSpPr/>
            <p:nvPr/>
          </p:nvSpPr>
          <p:spPr>
            <a:xfrm>
              <a:off x="2775" y="2171"/>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7" name="Text Box 271"/>
            <p:cNvSpPr txBox="1"/>
            <p:nvPr/>
          </p:nvSpPr>
          <p:spPr>
            <a:xfrm>
              <a:off x="2390" y="2132"/>
              <a:ext cx="383" cy="1210"/>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101</a:t>
              </a:r>
            </a:p>
          </p:txBody>
        </p:sp>
        <p:sp>
          <p:nvSpPr>
            <p:cNvPr id="112728" name="Rectangle 272"/>
            <p:cNvSpPr/>
            <p:nvPr/>
          </p:nvSpPr>
          <p:spPr>
            <a:xfrm>
              <a:off x="2775" y="2370"/>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9" name="Rectangle 273"/>
            <p:cNvSpPr/>
            <p:nvPr/>
          </p:nvSpPr>
          <p:spPr>
            <a:xfrm>
              <a:off x="2775" y="2560"/>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0" name="Rectangle 274"/>
            <p:cNvSpPr/>
            <p:nvPr/>
          </p:nvSpPr>
          <p:spPr>
            <a:xfrm>
              <a:off x="2776" y="2750"/>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1" name="Rectangle 275"/>
            <p:cNvSpPr/>
            <p:nvPr/>
          </p:nvSpPr>
          <p:spPr>
            <a:xfrm>
              <a:off x="2776" y="2940"/>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32" name="Rectangle 279"/>
            <p:cNvSpPr/>
            <p:nvPr/>
          </p:nvSpPr>
          <p:spPr>
            <a:xfrm>
              <a:off x="2776" y="3130"/>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676120" name="Group 280"/>
          <p:cNvGraphicFramePr>
            <a:graphicFrameLocks noGrp="1"/>
          </p:cNvGraphicFramePr>
          <p:nvPr/>
        </p:nvGraphicFramePr>
        <p:xfrm>
          <a:off x="7604125" y="4481513"/>
          <a:ext cx="1236663" cy="1124104"/>
        </p:xfrm>
        <a:graphic>
          <a:graphicData uri="http://schemas.openxmlformats.org/drawingml/2006/table">
            <a:tbl>
              <a:tblPr/>
              <a:tblGrid>
                <a:gridCol w="1236663">
                  <a:extLst>
                    <a:ext uri="{9D8B030D-6E8A-4147-A177-3AD203B41FA5}">
                      <a16:colId xmlns:a16="http://schemas.microsoft.com/office/drawing/2014/main" val="20000"/>
                    </a:ext>
                  </a:extLst>
                </a:gridCol>
              </a:tblGrid>
              <a:tr h="37919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i =3</a:t>
                      </a:r>
                    </a:p>
                  </a:txBody>
                  <a:tcPr marT="45694" marB="456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55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n =</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6</a:t>
                      </a:r>
                      <a:r>
                        <a:rPr kumimoji="1"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变</a:t>
                      </a: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7</a:t>
                      </a:r>
                    </a:p>
                  </a:txBody>
                  <a:tcPr marT="45694" marB="456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919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r =12 </a:t>
                      </a:r>
                    </a:p>
                  </a:txBody>
                  <a:tcPr marT="45694" marB="456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112708" name="Group 301"/>
          <p:cNvGrpSpPr/>
          <p:nvPr/>
        </p:nvGrpSpPr>
        <p:grpSpPr>
          <a:xfrm>
            <a:off x="6200775" y="4598988"/>
            <a:ext cx="1339850" cy="2225675"/>
            <a:chOff x="3906" y="2807"/>
            <a:chExt cx="844" cy="1402"/>
          </a:xfrm>
        </p:grpSpPr>
        <p:sp>
          <p:nvSpPr>
            <p:cNvPr id="112718" name="Rectangle 290"/>
            <p:cNvSpPr/>
            <p:nvPr/>
          </p:nvSpPr>
          <p:spPr>
            <a:xfrm>
              <a:off x="4291" y="2846"/>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19" name="Text Box 291"/>
            <p:cNvSpPr txBox="1"/>
            <p:nvPr/>
          </p:nvSpPr>
          <p:spPr>
            <a:xfrm>
              <a:off x="3906" y="2807"/>
              <a:ext cx="383" cy="1402"/>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001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010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11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100</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101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rgbClr val="CC0000"/>
                  </a:solidFill>
                  <a:effectLst/>
                  <a:uLnTx/>
                  <a:uFillTx/>
                  <a:latin typeface="Arial" panose="020B0604020202020204" pitchFamily="34" charset="0"/>
                  <a:ea typeface="宋体" panose="02010600030101010101" pitchFamily="2" charset="-122"/>
                  <a:cs typeface="+mn-cs"/>
                </a:rPr>
                <a:t>110</a:t>
              </a:r>
            </a:p>
          </p:txBody>
        </p:sp>
        <p:sp>
          <p:nvSpPr>
            <p:cNvPr id="112720" name="Rectangle 292"/>
            <p:cNvSpPr/>
            <p:nvPr/>
          </p:nvSpPr>
          <p:spPr>
            <a:xfrm>
              <a:off x="4291" y="3045"/>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1" name="Rectangle 293"/>
            <p:cNvSpPr/>
            <p:nvPr/>
          </p:nvSpPr>
          <p:spPr>
            <a:xfrm>
              <a:off x="4291" y="3235"/>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2" name="Rectangle 294"/>
            <p:cNvSpPr/>
            <p:nvPr/>
          </p:nvSpPr>
          <p:spPr>
            <a:xfrm>
              <a:off x="4292" y="3425"/>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3" name="Rectangle 295"/>
            <p:cNvSpPr/>
            <p:nvPr/>
          </p:nvSpPr>
          <p:spPr>
            <a:xfrm>
              <a:off x="4292" y="3615"/>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4" name="Rectangle 296"/>
            <p:cNvSpPr/>
            <p:nvPr/>
          </p:nvSpPr>
          <p:spPr>
            <a:xfrm>
              <a:off x="4292" y="3805"/>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25" name="Rectangle 297"/>
            <p:cNvSpPr/>
            <p:nvPr/>
          </p:nvSpPr>
          <p:spPr>
            <a:xfrm>
              <a:off x="4293" y="4004"/>
              <a:ext cx="457" cy="192"/>
            </a:xfrm>
            <a:prstGeom prst="rect">
              <a:avLst/>
            </a:prstGeom>
            <a:no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8" name="Group 312"/>
          <p:cNvGrpSpPr/>
          <p:nvPr/>
        </p:nvGrpSpPr>
        <p:grpSpPr>
          <a:xfrm>
            <a:off x="925513" y="2324100"/>
            <a:ext cx="7537450" cy="2005013"/>
            <a:chOff x="565" y="1428"/>
            <a:chExt cx="4748" cy="1263"/>
          </a:xfrm>
        </p:grpSpPr>
        <p:sp>
          <p:nvSpPr>
            <p:cNvPr id="112715" name="AutoShape 39"/>
            <p:cNvSpPr/>
            <p:nvPr/>
          </p:nvSpPr>
          <p:spPr>
            <a:xfrm>
              <a:off x="565" y="1428"/>
              <a:ext cx="4748" cy="1263"/>
            </a:xfrm>
            <a:prstGeom prst="roundRect">
              <a:avLst>
                <a:gd name="adj" fmla="val 16667"/>
              </a:avLst>
            </a:prstGeom>
            <a:solidFill>
              <a:schemeClr val="accent2"/>
            </a:solidFill>
            <a:ln w="9525">
              <a:noFill/>
            </a:ln>
          </p:spPr>
          <p:txBody>
            <a:bodyPr wrap="none" anchor="ctr" anchorCtr="0"/>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2716" name="Oval 40"/>
            <p:cNvSpPr/>
            <p:nvPr/>
          </p:nvSpPr>
          <p:spPr>
            <a:xfrm>
              <a:off x="647" y="1490"/>
              <a:ext cx="4572" cy="1132"/>
            </a:xfrm>
            <a:prstGeom prst="roundRect">
              <a:avLst>
                <a:gd name="adj" fmla="val 16667"/>
              </a:avLst>
            </a:prstGeom>
            <a:solidFill>
              <a:srgbClr val="666633"/>
            </a:solidFill>
            <a:ln w="28575" cap="flat" cmpd="sng">
              <a:solidFill>
                <a:srgbClr val="FFFFFF"/>
              </a:solidFill>
              <a:prstDash val="solid"/>
              <a:headEnd type="none" w="med" len="med"/>
              <a:tailEnd type="none" w="med" len="med"/>
            </a:ln>
          </p:spPr>
          <p:txBody>
            <a:bodyPr wrap="none" anchor="ctr" anchorCtr="0"/>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2717" name="Text Box 84"/>
            <p:cNvSpPr/>
            <p:nvPr/>
          </p:nvSpPr>
          <p:spPr>
            <a:xfrm>
              <a:off x="685" y="1518"/>
              <a:ext cx="4442" cy="1101"/>
            </a:xfrm>
            <a:prstGeom prst="roundRect">
              <a:avLst>
                <a:gd name="adj" fmla="val 16667"/>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键值由低位向高位次序使用。对应索引项存储在由桶数组指针指向的存储块</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r/n(</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当前索引项数除以桶数</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大于一定比例时，按次序增加</a:t>
              </a:r>
              <a:r>
                <a:rPr kumimoji="0" lang="en-US" altLang="zh-CN"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个桶</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假设该桶为</a:t>
              </a:r>
              <a:r>
                <a:rPr kumimoji="0" lang="en-US" altLang="zh-CN" sz="2400" b="0" i="0" u="none" strike="noStrike" kern="1200" cap="none" spc="0" normalizeH="0" baseline="0" noProof="0" dirty="0">
                  <a:ln>
                    <a:noFill/>
                  </a:ln>
                  <a:solidFill>
                    <a:srgbClr val="FFFF66"/>
                  </a:solidFill>
                  <a:effectLst/>
                  <a:uLnTx/>
                  <a:uFillTx/>
                  <a:latin typeface="Arial" panose="020B0604020202020204" pitchFamily="34" charset="0"/>
                  <a:ea typeface="华文中宋" panose="02010600040101010101" pitchFamily="2" charset="-122"/>
                  <a:cs typeface="+mn-cs"/>
                </a:rPr>
                <a:t>1a</a:t>
              </a:r>
              <a:r>
                <a:rPr kumimoji="0" lang="en-US" altLang="zh-CN" sz="2400" b="0" i="0" u="none" strike="noStrike" kern="1200" cap="none" spc="0" normalizeH="0" baseline="-25000" noProof="0" dirty="0">
                  <a:ln>
                    <a:noFill/>
                  </a:ln>
                  <a:solidFill>
                    <a:srgbClr val="FFFF66"/>
                  </a:solidFill>
                  <a:effectLst/>
                  <a:uLnTx/>
                  <a:uFillTx/>
                  <a:latin typeface="Arial" panose="020B0604020202020204" pitchFamily="34" charset="0"/>
                  <a:ea typeface="华文中宋" panose="02010600040101010101" pitchFamily="2" charset="-122"/>
                  <a:cs typeface="+mn-cs"/>
                </a:rPr>
                <a:t>2</a:t>
              </a:r>
              <a:r>
                <a:rPr kumimoji="0" lang="en-US" altLang="zh-CN" sz="2400" b="0" i="0" u="none" strike="noStrike" kern="1200" cap="none" spc="0" normalizeH="0" baseline="0" noProof="0" dirty="0">
                  <a:ln>
                    <a:noFill/>
                  </a:ln>
                  <a:solidFill>
                    <a:srgbClr val="FFFF66"/>
                  </a:solidFill>
                  <a:effectLst/>
                  <a:uLnTx/>
                  <a:uFillTx/>
                  <a:latin typeface="Arial" panose="020B0604020202020204" pitchFamily="34" charset="0"/>
                  <a:ea typeface="华文中宋" panose="02010600040101010101" pitchFamily="2" charset="-122"/>
                  <a:cs typeface="+mn-cs"/>
                </a:rPr>
                <a:t>a</a:t>
              </a:r>
              <a:r>
                <a:rPr kumimoji="0" lang="en-US" altLang="zh-CN" sz="2400" b="0" i="0" u="none" strike="noStrike" kern="1200" cap="none" spc="0" normalizeH="0" baseline="-25000" noProof="0" dirty="0">
                  <a:ln>
                    <a:noFill/>
                  </a:ln>
                  <a:solidFill>
                    <a:srgbClr val="FFFF66"/>
                  </a:solidFill>
                  <a:effectLst/>
                  <a:uLnTx/>
                  <a:uFillTx/>
                  <a:latin typeface="Arial" panose="020B0604020202020204" pitchFamily="34" charset="0"/>
                  <a:ea typeface="华文中宋" panose="02010600040101010101" pitchFamily="2" charset="-122"/>
                  <a:cs typeface="+mn-cs"/>
                </a:rPr>
                <a:t>3</a:t>
              </a:r>
              <a:r>
                <a:rPr kumimoji="0" lang="en-US" altLang="zh-CN" sz="2400" b="0" i="0" u="none" strike="noStrike" kern="1200" cap="none" spc="0" normalizeH="0" baseline="0" noProof="0" dirty="0">
                  <a:ln>
                    <a:noFill/>
                  </a:ln>
                  <a:solidFill>
                    <a:srgbClr val="FFFF66"/>
                  </a:solidFill>
                  <a:effectLst/>
                  <a:uLnTx/>
                  <a:uFillTx/>
                  <a:latin typeface="Arial" panose="020B0604020202020204" pitchFamily="34" charset="0"/>
                  <a:ea typeface="华文中宋" panose="02010600040101010101" pitchFamily="2" charset="-122"/>
                  <a:cs typeface="+mn-cs"/>
                </a:rPr>
                <a:t>…a</a:t>
              </a:r>
              <a:r>
                <a:rPr kumimoji="0" lang="en-US" altLang="zh-CN" sz="2400" b="0" i="0" u="none" strike="noStrike" kern="1200" cap="none" spc="0" normalizeH="0" baseline="-25000" noProof="0" dirty="0">
                  <a:ln>
                    <a:noFill/>
                  </a:ln>
                  <a:solidFill>
                    <a:srgbClr val="FFFF66"/>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，则该桶由</a:t>
              </a:r>
              <a:r>
                <a:rPr kumimoji="0" lang="en-US" altLang="zh-CN" sz="2400" b="0" i="0" u="none" strike="noStrike" kern="1200" cap="none" spc="0" normalizeH="0" baseline="0" noProof="0" dirty="0">
                  <a:ln>
                    <a:noFill/>
                  </a:ln>
                  <a:solidFill>
                    <a:srgbClr val="FFFF66"/>
                  </a:solidFill>
                  <a:effectLst/>
                  <a:uLnTx/>
                  <a:uFillTx/>
                  <a:latin typeface="Arial" panose="020B0604020202020204" pitchFamily="34" charset="0"/>
                  <a:ea typeface="华文中宋" panose="02010600040101010101" pitchFamily="2" charset="-122"/>
                  <a:cs typeface="+mn-cs"/>
                </a:rPr>
                <a:t>0a</a:t>
              </a:r>
              <a:r>
                <a:rPr kumimoji="0" lang="en-US" altLang="zh-CN" sz="2400" b="0" i="0" u="none" strike="noStrike" kern="1200" cap="none" spc="0" normalizeH="0" baseline="-25000" noProof="0" dirty="0">
                  <a:ln>
                    <a:noFill/>
                  </a:ln>
                  <a:solidFill>
                    <a:srgbClr val="FFFF66"/>
                  </a:solidFill>
                  <a:effectLst/>
                  <a:uLnTx/>
                  <a:uFillTx/>
                  <a:latin typeface="Arial" panose="020B0604020202020204" pitchFamily="34" charset="0"/>
                  <a:ea typeface="华文中宋" panose="02010600040101010101" pitchFamily="2" charset="-122"/>
                  <a:cs typeface="+mn-cs"/>
                </a:rPr>
                <a:t>2</a:t>
              </a:r>
              <a:r>
                <a:rPr kumimoji="0" lang="en-US" altLang="zh-CN" sz="2400" b="0" i="0" u="none" strike="noStrike" kern="1200" cap="none" spc="0" normalizeH="0" baseline="0" noProof="0" dirty="0">
                  <a:ln>
                    <a:noFill/>
                  </a:ln>
                  <a:solidFill>
                    <a:srgbClr val="FFFF66"/>
                  </a:solidFill>
                  <a:effectLst/>
                  <a:uLnTx/>
                  <a:uFillTx/>
                  <a:latin typeface="Arial" panose="020B0604020202020204" pitchFamily="34" charset="0"/>
                  <a:ea typeface="华文中宋" panose="02010600040101010101" pitchFamily="2" charset="-122"/>
                  <a:cs typeface="+mn-cs"/>
                </a:rPr>
                <a:t>a</a:t>
              </a:r>
              <a:r>
                <a:rPr kumimoji="0" lang="en-US" altLang="zh-CN" sz="2400" b="0" i="0" u="none" strike="noStrike" kern="1200" cap="none" spc="0" normalizeH="0" baseline="-25000" noProof="0" dirty="0">
                  <a:ln>
                    <a:noFill/>
                  </a:ln>
                  <a:solidFill>
                    <a:srgbClr val="FFFF66"/>
                  </a:solidFill>
                  <a:effectLst/>
                  <a:uLnTx/>
                  <a:uFillTx/>
                  <a:latin typeface="Arial" panose="020B0604020202020204" pitchFamily="34" charset="0"/>
                  <a:ea typeface="华文中宋" panose="02010600040101010101" pitchFamily="2" charset="-122"/>
                  <a:cs typeface="+mn-cs"/>
                </a:rPr>
                <a:t>3</a:t>
              </a:r>
              <a:r>
                <a:rPr kumimoji="0" lang="en-US" altLang="zh-CN" sz="2400" b="0" i="0" u="none" strike="noStrike" kern="1200" cap="none" spc="0" normalizeH="0" baseline="0" noProof="0" dirty="0">
                  <a:ln>
                    <a:noFill/>
                  </a:ln>
                  <a:solidFill>
                    <a:srgbClr val="FFFF66"/>
                  </a:solidFill>
                  <a:effectLst/>
                  <a:uLnTx/>
                  <a:uFillTx/>
                  <a:latin typeface="Arial" panose="020B0604020202020204" pitchFamily="34" charset="0"/>
                  <a:ea typeface="华文中宋" panose="02010600040101010101" pitchFamily="2" charset="-122"/>
                  <a:cs typeface="+mn-cs"/>
                </a:rPr>
                <a:t>..a</a:t>
              </a:r>
              <a:r>
                <a:rPr kumimoji="0" lang="en-US" altLang="zh-CN" sz="2400" b="0" i="0" u="none" strike="noStrike" kern="1200" cap="none" spc="0" normalizeH="0" baseline="-25000" noProof="0" dirty="0">
                  <a:ln>
                    <a:noFill/>
                  </a:ln>
                  <a:solidFill>
                    <a:srgbClr val="FFFF66"/>
                  </a:solidFill>
                  <a:effectLst/>
                  <a:uLnTx/>
                  <a:uFillTx/>
                  <a:latin typeface="Arial" panose="020B0604020202020204" pitchFamily="34" charset="0"/>
                  <a:ea typeface="华文中宋" panose="02010600040101010101" pitchFamily="2" charset="-122"/>
                  <a:cs typeface="+mn-cs"/>
                </a:rPr>
                <a:t>i</a:t>
              </a: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对应的块分裂而来</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当桶数超过</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2</a:t>
              </a:r>
              <a:r>
                <a:rPr kumimoji="0" lang="en-US" altLang="zh-CN" sz="2000" b="0" i="0" u="none" strike="noStrike" kern="1200" cap="none" spc="0" normalizeH="0" baseline="3000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个桶时，则使 </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i</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增</a:t>
              </a:r>
              <a:r>
                <a:rPr kumimoji="0" lang="en-US" altLang="zh-CN"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1</a:t>
              </a:r>
              <a:r>
                <a:rPr kumimoji="0" lang="zh-CN" altLang="en-US" sz="2000" b="0" i="0" u="none" strike="noStrike" kern="1200" cap="none" spc="0" normalizeH="0" baseline="0" noProof="0" dirty="0">
                  <a:ln>
                    <a:noFill/>
                  </a:ln>
                  <a:solidFill>
                    <a:srgbClr val="FFFFFF"/>
                  </a:solidFill>
                  <a:effectLst/>
                  <a:uLnTx/>
                  <a:uFillTx/>
                  <a:latin typeface="Arial" panose="020B0604020202020204" pitchFamily="34" charset="0"/>
                  <a:ea typeface="华文中宋" panose="02010600040101010101" pitchFamily="2" charset="-122"/>
                  <a:cs typeface="+mn-cs"/>
                </a:rPr>
                <a:t>。</a:t>
              </a:r>
            </a:p>
          </p:txBody>
        </p:sp>
      </p:grpSp>
      <p:sp>
        <p:nvSpPr>
          <p:cNvPr id="112710" name="AutoShape 313"/>
          <p:cNvSpPr/>
          <p:nvPr/>
        </p:nvSpPr>
        <p:spPr>
          <a:xfrm>
            <a:off x="2424113" y="1471613"/>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11" name="AutoShape 314"/>
          <p:cNvSpPr/>
          <p:nvPr/>
        </p:nvSpPr>
        <p:spPr>
          <a:xfrm>
            <a:off x="5513388" y="1471613"/>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12" name="AutoShape 315"/>
          <p:cNvSpPr/>
          <p:nvPr/>
        </p:nvSpPr>
        <p:spPr>
          <a:xfrm>
            <a:off x="227013" y="5724525"/>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13" name="AutoShape 316"/>
          <p:cNvSpPr/>
          <p:nvPr/>
        </p:nvSpPr>
        <p:spPr>
          <a:xfrm>
            <a:off x="2751138" y="5724525"/>
            <a:ext cx="290512"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14" name="AutoShape 317"/>
          <p:cNvSpPr/>
          <p:nvPr/>
        </p:nvSpPr>
        <p:spPr>
          <a:xfrm>
            <a:off x="5565775" y="5724525"/>
            <a:ext cx="290513" cy="304800"/>
          </a:xfrm>
          <a:prstGeom prst="rightArrow">
            <a:avLst>
              <a:gd name="adj1" fmla="val 50000"/>
              <a:gd name="adj2" fmla="val 25000"/>
            </a:avLst>
          </a:prstGeom>
          <a:solidFill>
            <a:schemeClr val="tx2"/>
          </a:solidFill>
          <a:ln w="9525" cap="flat" cmpd="sng">
            <a:solidFill>
              <a:schemeClr val="tx1"/>
            </a:solidFill>
            <a:prstDash val="solid"/>
            <a:miter/>
            <a:headEnd type="none" w="med" len="med"/>
            <a:tailEnd type="none" w="med" len="med"/>
          </a:ln>
        </p:spPr>
        <p:txBody>
          <a:bodyPr wrap="none" anchor="ctr"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1E094DD3-FF69-412B-8784-4FF25C5BEA8F}"/>
              </a:ext>
            </a:extLst>
          </p:cNvPr>
          <p:cNvSpPr/>
          <p:nvPr/>
        </p:nvSpPr>
        <p:spPr>
          <a:xfrm>
            <a:off x="787914" y="2593143"/>
            <a:ext cx="7311914" cy="289415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a:extLst>
              <a:ext uri="{FF2B5EF4-FFF2-40B4-BE49-F238E27FC236}">
                <a16:creationId xmlns:a16="http://schemas.microsoft.com/office/drawing/2014/main" id="{58246483-01CF-4A2C-4FF4-F91414DCBF71}"/>
              </a:ext>
            </a:extLst>
          </p:cNvPr>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pPr defTabSz="685800" fontAlgn="auto">
                <a:spcBef>
                  <a:spcPts val="0"/>
                </a:spcBef>
                <a:spcAft>
                  <a:spcPts val="0"/>
                </a:spcAft>
              </a:pPr>
              <a:t>83</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a:extLst>
              <a:ext uri="{FF2B5EF4-FFF2-40B4-BE49-F238E27FC236}">
                <a16:creationId xmlns:a16="http://schemas.microsoft.com/office/drawing/2014/main" id="{5D754C5E-CA94-9F99-1E14-96CBD3667EA6}"/>
              </a:ext>
            </a:extLst>
          </p:cNvPr>
          <p:cNvSpPr>
            <a:spLocks noGrp="1"/>
          </p:cNvSpPr>
          <p:nvPr>
            <p:ph type="title"/>
          </p:nvPr>
        </p:nvSpPr>
        <p:spPr>
          <a:xfrm>
            <a:off x="728661" y="332875"/>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一致性哈希</a:t>
            </a:r>
          </a:p>
        </p:txBody>
      </p:sp>
      <p:sp>
        <p:nvSpPr>
          <p:cNvPr id="4" name="内容占位符 3">
            <a:extLst>
              <a:ext uri="{FF2B5EF4-FFF2-40B4-BE49-F238E27FC236}">
                <a16:creationId xmlns:a16="http://schemas.microsoft.com/office/drawing/2014/main" id="{D7212960-C6C1-2BD7-CE09-84216559EA84}"/>
              </a:ext>
            </a:extLst>
          </p:cNvPr>
          <p:cNvSpPr>
            <a:spLocks noGrp="1"/>
          </p:cNvSpPr>
          <p:nvPr>
            <p:ph idx="1"/>
          </p:nvPr>
        </p:nvSpPr>
        <p:spPr>
          <a:xfrm>
            <a:off x="787913" y="1733254"/>
            <a:ext cx="8155641" cy="3754040"/>
          </a:xfrm>
        </p:spPr>
        <p:txBody>
          <a:bodyPr/>
          <a:lstStyle/>
          <a:p>
            <a:pPr>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如何从</a:t>
            </a:r>
            <a:r>
              <a:rPr lang="en-US" altLang="zh-CN" sz="1800" b="1" dirty="0">
                <a:solidFill>
                  <a:srgbClr val="701988"/>
                </a:solidFill>
                <a:latin typeface="微软雅黑" panose="020B0503020204020204" pitchFamily="82" charset="2"/>
                <a:ea typeface="微软雅黑" panose="020B0503020204020204" pitchFamily="82" charset="2"/>
              </a:rPr>
              <a:t>4</a:t>
            </a:r>
            <a:r>
              <a:rPr lang="zh-CN" altLang="en-US" sz="1800" b="1" dirty="0">
                <a:solidFill>
                  <a:srgbClr val="701988"/>
                </a:solidFill>
                <a:latin typeface="微软雅黑" panose="020B0503020204020204" pitchFamily="82" charset="2"/>
                <a:ea typeface="微软雅黑" panose="020B0503020204020204" pitchFamily="82" charset="2"/>
              </a:rPr>
              <a:t>个哈希分片扩展到</a:t>
            </a:r>
            <a:r>
              <a:rPr lang="en-US" altLang="zh-CN" sz="1800" b="1" dirty="0">
                <a:solidFill>
                  <a:srgbClr val="701988"/>
                </a:solidFill>
                <a:latin typeface="微软雅黑" panose="020B0503020204020204" pitchFamily="82" charset="2"/>
                <a:ea typeface="微软雅黑" panose="020B0503020204020204" pitchFamily="82" charset="2"/>
              </a:rPr>
              <a:t>5</a:t>
            </a:r>
            <a:r>
              <a:rPr lang="zh-CN" altLang="en-US" sz="1800" b="1" dirty="0">
                <a:solidFill>
                  <a:srgbClr val="701988"/>
                </a:solidFill>
                <a:latin typeface="微软雅黑" panose="020B0503020204020204" pitchFamily="82" charset="2"/>
                <a:ea typeface="微软雅黑" panose="020B0503020204020204" pitchFamily="82" charset="2"/>
              </a:rPr>
              <a:t>个哈希分片？重新哈希？</a:t>
            </a:r>
            <a:endParaRPr lang="en-US" altLang="zh-CN" sz="1800" b="1" dirty="0">
              <a:solidFill>
                <a:srgbClr val="701988"/>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大量数据搬迁</a:t>
            </a:r>
          </a:p>
        </p:txBody>
      </p:sp>
      <p:sp>
        <p:nvSpPr>
          <p:cNvPr id="5" name="页脚占位符 4">
            <a:extLst>
              <a:ext uri="{FF2B5EF4-FFF2-40B4-BE49-F238E27FC236}">
                <a16:creationId xmlns:a16="http://schemas.microsoft.com/office/drawing/2014/main" id="{C7E3FBF5-165F-9335-D45E-C3A9AB28F3CF}"/>
              </a:ext>
            </a:extLst>
          </p:cNvPr>
          <p:cNvSpPr>
            <a:spLocks noGrp="1"/>
          </p:cNvSpPr>
          <p:nvPr>
            <p:ph type="ftr" sz="quarter" idx="3"/>
          </p:nvPr>
        </p:nvSpPr>
        <p:spPr/>
        <p:txBody>
          <a:bodyPr/>
          <a:lstStyle/>
          <a:p>
            <a:pPr defTabSz="685800" fontAlgn="auto">
              <a:spcBef>
                <a:spcPts val="0"/>
              </a:spcBef>
              <a:spcAft>
                <a:spcPts val="0"/>
              </a:spcAft>
              <a:defRPr/>
            </a:pPr>
            <a:r>
              <a:rPr lang="zh-CN" altLang="en-US">
                <a:solidFill>
                  <a:srgbClr val="000000"/>
                </a:solidFill>
                <a:latin typeface="微软雅黑" panose="020B0503020204020204" pitchFamily="82" charset="2"/>
                <a:ea typeface="微软雅黑" panose="020B0503020204020204" pitchFamily="82" charset="2"/>
              </a:rPr>
              <a:t>数据库系统</a:t>
            </a:r>
            <a:r>
              <a:rPr lang="en-US" altLang="zh-CN">
                <a:solidFill>
                  <a:srgbClr val="000000"/>
                </a:solidFill>
                <a:latin typeface="微软雅黑" panose="020B0503020204020204" pitchFamily="82" charset="2"/>
                <a:ea typeface="微软雅黑" panose="020B0503020204020204" pitchFamily="82" charset="2"/>
              </a:rPr>
              <a:t>—</a:t>
            </a:r>
            <a:r>
              <a:rPr lang="zh-CN" altLang="en-US">
                <a:solidFill>
                  <a:srgbClr val="000000"/>
                </a:solidFill>
                <a:latin typeface="微软雅黑" panose="020B0503020204020204" pitchFamily="82" charset="2"/>
                <a:ea typeface="微软雅黑" panose="020B0503020204020204" pitchFamily="82" charset="2"/>
              </a:rPr>
              <a:t>索引</a:t>
            </a:r>
            <a:endParaRPr lang="en-US" altLang="zh-CN" dirty="0">
              <a:solidFill>
                <a:srgbClr val="000000"/>
              </a:solidFill>
              <a:latin typeface="微软雅黑" panose="020B0503020204020204" pitchFamily="82" charset="2"/>
              <a:ea typeface="微软雅黑" panose="020B0503020204020204" pitchFamily="82" charset="2"/>
            </a:endParaRPr>
          </a:p>
        </p:txBody>
      </p:sp>
      <p:pic>
        <p:nvPicPr>
          <p:cNvPr id="6" name="Picture 6">
            <a:extLst>
              <a:ext uri="{FF2B5EF4-FFF2-40B4-BE49-F238E27FC236}">
                <a16:creationId xmlns:a16="http://schemas.microsoft.com/office/drawing/2014/main" id="{128543F7-AC08-CFCC-BB4C-89ABA13F02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742" t="18072" r="5163" b="6137"/>
          <a:stretch/>
        </p:blipFill>
        <p:spPr bwMode="auto">
          <a:xfrm>
            <a:off x="1125370" y="3103934"/>
            <a:ext cx="2872292" cy="2267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B1723025-B349-20C9-C4B4-410C026EA689}"/>
              </a:ext>
            </a:extLst>
          </p:cNvPr>
          <p:cNvSpPr txBox="1"/>
          <p:nvPr/>
        </p:nvSpPr>
        <p:spPr>
          <a:xfrm>
            <a:off x="1725445" y="2654614"/>
            <a:ext cx="1672142" cy="369332"/>
          </a:xfrm>
          <a:prstGeom prst="rect">
            <a:avLst/>
          </a:prstGeom>
          <a:noFill/>
        </p:spPr>
        <p:txBody>
          <a:bodyPr wrap="square">
            <a:spAutoFit/>
          </a:bodyPr>
          <a:lstStyle/>
          <a:p>
            <a:pPr defTabSz="685800" fontAlgn="auto">
              <a:spcBef>
                <a:spcPts val="0"/>
              </a:spcBef>
              <a:spcAft>
                <a:spcPts val="0"/>
              </a:spcAft>
            </a:pPr>
            <a:r>
              <a:rPr lang="en-US" altLang="ja-JP" dirty="0">
                <a:solidFill>
                  <a:srgbClr val="000000"/>
                </a:solidFill>
                <a:latin typeface="微软雅黑" panose="020B0503020204020204" pitchFamily="82" charset="2"/>
                <a:ea typeface="微软雅黑" panose="020B0503020204020204" pitchFamily="82" charset="2"/>
              </a:rPr>
              <a:t>Hash</a:t>
            </a:r>
            <a:r>
              <a:rPr lang="en-US" altLang="zh-CN" dirty="0">
                <a:solidFill>
                  <a:srgbClr val="000000"/>
                </a:solidFill>
                <a:latin typeface="微软雅黑" panose="020B0503020204020204" pitchFamily="82" charset="2"/>
                <a:ea typeface="微软雅黑" panose="020B0503020204020204" pitchFamily="82" charset="2"/>
              </a:rPr>
              <a:t>(key)%4</a:t>
            </a:r>
            <a:endParaRPr lang="zh-CN" altLang="en-US" dirty="0">
              <a:solidFill>
                <a:srgbClr val="000000"/>
              </a:solidFill>
              <a:latin typeface="微软雅黑" panose="020B0503020204020204" pitchFamily="82" charset="2"/>
              <a:ea typeface="微软雅黑" panose="020B0503020204020204" pitchFamily="82" charset="2"/>
            </a:endParaRPr>
          </a:p>
        </p:txBody>
      </p:sp>
      <p:pic>
        <p:nvPicPr>
          <p:cNvPr id="9" name="Picture 7">
            <a:extLst>
              <a:ext uri="{FF2B5EF4-FFF2-40B4-BE49-F238E27FC236}">
                <a16:creationId xmlns:a16="http://schemas.microsoft.com/office/drawing/2014/main" id="{7C23DA8E-4761-D68E-4C12-CC79042B35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44" t="15214" r="14052" b="6760"/>
          <a:stretch/>
        </p:blipFill>
        <p:spPr bwMode="auto">
          <a:xfrm>
            <a:off x="5407432" y="3103934"/>
            <a:ext cx="2191151" cy="2267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BBFA3D84-0BE4-AECF-99C4-29EC0E9B3A69}"/>
              </a:ext>
            </a:extLst>
          </p:cNvPr>
          <p:cNvSpPr txBox="1"/>
          <p:nvPr/>
        </p:nvSpPr>
        <p:spPr>
          <a:xfrm>
            <a:off x="5666935" y="2615204"/>
            <a:ext cx="1672142" cy="369332"/>
          </a:xfrm>
          <a:prstGeom prst="rect">
            <a:avLst/>
          </a:prstGeom>
          <a:noFill/>
        </p:spPr>
        <p:txBody>
          <a:bodyPr wrap="square">
            <a:spAutoFit/>
          </a:bodyPr>
          <a:lstStyle/>
          <a:p>
            <a:pPr defTabSz="685800" fontAlgn="auto">
              <a:spcBef>
                <a:spcPts val="0"/>
              </a:spcBef>
              <a:spcAft>
                <a:spcPts val="0"/>
              </a:spcAft>
            </a:pPr>
            <a:r>
              <a:rPr lang="en-US" altLang="ja-JP" dirty="0">
                <a:solidFill>
                  <a:srgbClr val="000000"/>
                </a:solidFill>
                <a:latin typeface="微软雅黑" panose="020B0503020204020204" pitchFamily="82" charset="2"/>
                <a:ea typeface="微软雅黑" panose="020B0503020204020204" pitchFamily="82" charset="2"/>
              </a:rPr>
              <a:t>Hash</a:t>
            </a:r>
            <a:r>
              <a:rPr lang="en-US" altLang="zh-CN" dirty="0">
                <a:solidFill>
                  <a:srgbClr val="000000"/>
                </a:solidFill>
                <a:latin typeface="微软雅黑" panose="020B0503020204020204" pitchFamily="82" charset="2"/>
                <a:ea typeface="微软雅黑" panose="020B0503020204020204" pitchFamily="82" charset="2"/>
              </a:rPr>
              <a:t>(key)%5</a:t>
            </a:r>
            <a:endParaRPr lang="zh-CN" altLang="en-US"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368966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18">
            <a:extLst>
              <a:ext uri="{FF2B5EF4-FFF2-40B4-BE49-F238E27FC236}">
                <a16:creationId xmlns:a16="http://schemas.microsoft.com/office/drawing/2014/main" id="{C5CC1871-89AF-4A29-9C01-FDFAF2C96349}"/>
              </a:ext>
            </a:extLst>
          </p:cNvPr>
          <p:cNvSpPr/>
          <p:nvPr/>
        </p:nvSpPr>
        <p:spPr>
          <a:xfrm>
            <a:off x="549124" y="3815365"/>
            <a:ext cx="4730492" cy="180814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a:extLst>
              <a:ext uri="{FF2B5EF4-FFF2-40B4-BE49-F238E27FC236}">
                <a16:creationId xmlns:a16="http://schemas.microsoft.com/office/drawing/2014/main" id="{456AD759-BCE5-FCE6-A41E-5F9F66F27DA8}"/>
              </a:ext>
            </a:extLst>
          </p:cNvPr>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pPr defTabSz="685800" fontAlgn="auto">
                <a:spcBef>
                  <a:spcPts val="0"/>
                </a:spcBef>
                <a:spcAft>
                  <a:spcPts val="0"/>
                </a:spcAft>
              </a:pPr>
              <a:t>84</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a:extLst>
              <a:ext uri="{FF2B5EF4-FFF2-40B4-BE49-F238E27FC236}">
                <a16:creationId xmlns:a16="http://schemas.microsoft.com/office/drawing/2014/main" id="{101D6F06-8ACA-C1DA-83A4-4685C1E5822E}"/>
              </a:ext>
            </a:extLst>
          </p:cNvPr>
          <p:cNvSpPr>
            <a:spLocks noGrp="1"/>
          </p:cNvSpPr>
          <p:nvPr>
            <p:ph type="title"/>
          </p:nvPr>
        </p:nvSpPr>
        <p:spPr>
          <a:xfrm>
            <a:off x="756880" y="203620"/>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一致性哈希</a:t>
            </a:r>
          </a:p>
        </p:txBody>
      </p:sp>
      <p:sp>
        <p:nvSpPr>
          <p:cNvPr id="4" name="内容占位符 3">
            <a:extLst>
              <a:ext uri="{FF2B5EF4-FFF2-40B4-BE49-F238E27FC236}">
                <a16:creationId xmlns:a16="http://schemas.microsoft.com/office/drawing/2014/main" id="{7EB20A21-0C67-CAE5-CE13-0AA5BB479578}"/>
              </a:ext>
            </a:extLst>
          </p:cNvPr>
          <p:cNvSpPr>
            <a:spLocks noGrp="1"/>
          </p:cNvSpPr>
          <p:nvPr>
            <p:ph idx="1"/>
          </p:nvPr>
        </p:nvSpPr>
        <p:spPr>
          <a:xfrm>
            <a:off x="596395" y="1519526"/>
            <a:ext cx="4933030" cy="3754040"/>
          </a:xfrm>
        </p:spPr>
        <p:txBody>
          <a:bodyPr/>
          <a:lstStyle/>
          <a:p>
            <a:pPr>
              <a:lnSpc>
                <a:spcPct val="150000"/>
              </a:lnSpc>
              <a:buFont typeface="Wingdings" panose="05000000000000000000" pitchFamily="2" charset="2"/>
              <a:buChar char="Ø"/>
            </a:pPr>
            <a:r>
              <a:rPr lang="zh-CN" altLang="en-US" sz="1500" b="1" dirty="0">
                <a:solidFill>
                  <a:srgbClr val="701988"/>
                </a:solidFill>
                <a:latin typeface="微软雅黑" panose="020B0503020204020204" pitchFamily="82" charset="2"/>
                <a:ea typeface="微软雅黑" panose="020B0503020204020204" pitchFamily="82" charset="2"/>
              </a:rPr>
              <a:t>将哈希值组织成为一个环</a:t>
            </a:r>
            <a:r>
              <a:rPr lang="en-US" altLang="zh-CN" sz="1500" b="1" dirty="0">
                <a:solidFill>
                  <a:srgbClr val="701988"/>
                </a:solidFill>
                <a:latin typeface="微软雅黑" panose="020B0503020204020204" pitchFamily="82" charset="2"/>
                <a:ea typeface="微软雅黑" panose="020B0503020204020204" pitchFamily="82" charset="2"/>
              </a:rPr>
              <a:t>[0,max)</a:t>
            </a:r>
          </a:p>
          <a:p>
            <a:pPr>
              <a:lnSpc>
                <a:spcPct val="150000"/>
              </a:lnSpc>
              <a:buFont typeface="Wingdings" panose="05000000000000000000" pitchFamily="2" charset="2"/>
              <a:buChar char="Ø"/>
            </a:pPr>
            <a:r>
              <a:rPr lang="zh-CN" altLang="en-US" sz="1500" b="1" dirty="0">
                <a:solidFill>
                  <a:srgbClr val="701988"/>
                </a:solidFill>
                <a:latin typeface="微软雅黑" panose="020B0503020204020204" pitchFamily="82" charset="2"/>
                <a:ea typeface="微软雅黑" panose="020B0503020204020204" pitchFamily="82" charset="2"/>
              </a:rPr>
              <a:t>在哈希环上选择</a:t>
            </a:r>
            <a:r>
              <a:rPr lang="en-US" altLang="zh-CN" sz="1500" b="1" dirty="0">
                <a:solidFill>
                  <a:srgbClr val="701988"/>
                </a:solidFill>
                <a:latin typeface="微软雅黑" panose="020B0503020204020204" pitchFamily="82" charset="2"/>
                <a:ea typeface="微软雅黑" panose="020B0503020204020204" pitchFamily="82" charset="2"/>
              </a:rPr>
              <a:t>k</a:t>
            </a:r>
            <a:r>
              <a:rPr lang="zh-CN" altLang="en-US" sz="1500" b="1" dirty="0">
                <a:solidFill>
                  <a:srgbClr val="701988"/>
                </a:solidFill>
                <a:latin typeface="微软雅黑" panose="020B0503020204020204" pitchFamily="82" charset="2"/>
                <a:ea typeface="微软雅黑" panose="020B0503020204020204" pitchFamily="82" charset="2"/>
              </a:rPr>
              <a:t>个值作为数据分片</a:t>
            </a:r>
            <a:endParaRPr lang="en-US" altLang="zh-CN" sz="15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350" dirty="0">
                <a:latin typeface="微软雅黑" panose="020B0503020204020204" pitchFamily="82" charset="2"/>
                <a:ea typeface="微软雅黑" panose="020B0503020204020204" pitchFamily="82" charset="2"/>
              </a:rPr>
              <a:t>k</a:t>
            </a:r>
            <a:r>
              <a:rPr lang="zh-CN" altLang="en-US" sz="1350" dirty="0">
                <a:latin typeface="微软雅黑" panose="020B0503020204020204" pitchFamily="82" charset="2"/>
                <a:ea typeface="微软雅黑" panose="020B0503020204020204" pitchFamily="82" charset="2"/>
              </a:rPr>
              <a:t>个值从小到大记为</a:t>
            </a:r>
            <a:r>
              <a:rPr lang="en-US" altLang="zh-CN" sz="1350" dirty="0">
                <a:latin typeface="微软雅黑" panose="020B0503020204020204" pitchFamily="82" charset="2"/>
                <a:ea typeface="微软雅黑" panose="020B0503020204020204" pitchFamily="82" charset="2"/>
              </a:rPr>
              <a:t>h</a:t>
            </a:r>
            <a:r>
              <a:rPr lang="en-US" altLang="zh-CN" sz="1350" baseline="-25000" dirty="0">
                <a:latin typeface="微软雅黑" panose="020B0503020204020204" pitchFamily="82" charset="2"/>
                <a:ea typeface="微软雅黑" panose="020B0503020204020204" pitchFamily="82" charset="2"/>
              </a:rPr>
              <a:t>1</a:t>
            </a:r>
            <a:r>
              <a:rPr lang="en-US" altLang="zh-CN" sz="1350" dirty="0">
                <a:latin typeface="微软雅黑" panose="020B0503020204020204" pitchFamily="82" charset="2"/>
                <a:ea typeface="微软雅黑" panose="020B0503020204020204" pitchFamily="82" charset="2"/>
              </a:rPr>
              <a:t>,h</a:t>
            </a:r>
            <a:r>
              <a:rPr lang="en-US" altLang="zh-CN" sz="1350" baseline="-25000" dirty="0">
                <a:latin typeface="微软雅黑" panose="020B0503020204020204" pitchFamily="82" charset="2"/>
                <a:ea typeface="微软雅黑" panose="020B0503020204020204" pitchFamily="82" charset="2"/>
              </a:rPr>
              <a:t>2</a:t>
            </a:r>
            <a:r>
              <a:rPr lang="en-US" altLang="zh-CN" sz="1350" dirty="0">
                <a:latin typeface="微软雅黑" panose="020B0503020204020204" pitchFamily="82" charset="2"/>
                <a:ea typeface="微软雅黑" panose="020B0503020204020204" pitchFamily="82" charset="2"/>
              </a:rPr>
              <a:t>,</a:t>
            </a:r>
            <a:r>
              <a:rPr lang="zh-CN" altLang="en-US" sz="1350" dirty="0">
                <a:latin typeface="微软雅黑" panose="020B0503020204020204" pitchFamily="82" charset="2"/>
                <a:ea typeface="微软雅黑" panose="020B0503020204020204" pitchFamily="82" charset="2"/>
              </a:rPr>
              <a:t> </a:t>
            </a:r>
            <a:r>
              <a:rPr lang="en-US" altLang="zh-CN" sz="1350" dirty="0">
                <a:latin typeface="微软雅黑" panose="020B0503020204020204" pitchFamily="82" charset="2"/>
                <a:ea typeface="微软雅黑" panose="020B0503020204020204" pitchFamily="82" charset="2"/>
              </a:rPr>
              <a:t>…,</a:t>
            </a:r>
            <a:r>
              <a:rPr lang="zh-CN" altLang="en-US" sz="1350" dirty="0">
                <a:latin typeface="微软雅黑" panose="020B0503020204020204" pitchFamily="82" charset="2"/>
                <a:ea typeface="微软雅黑" panose="020B0503020204020204" pitchFamily="82" charset="2"/>
              </a:rPr>
              <a:t> </a:t>
            </a:r>
            <a:r>
              <a:rPr lang="en-US" altLang="zh-CN" sz="1350" dirty="0" err="1">
                <a:latin typeface="微软雅黑" panose="020B0503020204020204" pitchFamily="82" charset="2"/>
                <a:ea typeface="微软雅黑" panose="020B0503020204020204" pitchFamily="82" charset="2"/>
              </a:rPr>
              <a:t>h</a:t>
            </a:r>
            <a:r>
              <a:rPr lang="en-US" altLang="zh-CN" sz="1350" baseline="-25000" dirty="0" err="1">
                <a:latin typeface="微软雅黑" panose="020B0503020204020204" pitchFamily="82" charset="2"/>
                <a:ea typeface="微软雅黑" panose="020B0503020204020204" pitchFamily="82" charset="2"/>
              </a:rPr>
              <a:t>k</a:t>
            </a:r>
            <a:r>
              <a:rPr lang="zh-CN" altLang="en-US" sz="1350" dirty="0">
                <a:latin typeface="微软雅黑" panose="020B0503020204020204" pitchFamily="82" charset="2"/>
                <a:ea typeface="微软雅黑" panose="020B0503020204020204" pitchFamily="82" charset="2"/>
              </a:rPr>
              <a:t>。</a:t>
            </a:r>
            <a:endParaRPr lang="en-US" altLang="zh-CN" sz="135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350" dirty="0">
                <a:latin typeface="微软雅黑" panose="020B0503020204020204" pitchFamily="82" charset="2"/>
                <a:ea typeface="微软雅黑" panose="020B0503020204020204" pitchFamily="82" charset="2"/>
              </a:rPr>
              <a:t>k</a:t>
            </a:r>
            <a:r>
              <a:rPr lang="zh-CN" altLang="en-US" sz="1350" dirty="0">
                <a:latin typeface="微软雅黑" panose="020B0503020204020204" pitchFamily="82" charset="2"/>
                <a:ea typeface="微软雅黑" panose="020B0503020204020204" pitchFamily="82" charset="2"/>
              </a:rPr>
              <a:t>个哈希分片记为</a:t>
            </a:r>
            <a:r>
              <a:rPr lang="en-US" altLang="zh-CN" sz="1350" dirty="0">
                <a:latin typeface="微软雅黑" panose="020B0503020204020204" pitchFamily="82" charset="2"/>
                <a:ea typeface="微软雅黑" panose="020B0503020204020204" pitchFamily="82" charset="2"/>
              </a:rPr>
              <a:t>D</a:t>
            </a:r>
            <a:r>
              <a:rPr lang="en-US" altLang="zh-CN" sz="1350" baseline="-25000" dirty="0">
                <a:latin typeface="微软雅黑" panose="020B0503020204020204" pitchFamily="82" charset="2"/>
                <a:ea typeface="微软雅黑" panose="020B0503020204020204" pitchFamily="82" charset="2"/>
              </a:rPr>
              <a:t>1</a:t>
            </a:r>
            <a:r>
              <a:rPr lang="en-US" altLang="zh-CN" sz="1350" dirty="0">
                <a:latin typeface="微软雅黑" panose="020B0503020204020204" pitchFamily="82" charset="2"/>
                <a:ea typeface="微软雅黑" panose="020B0503020204020204" pitchFamily="82" charset="2"/>
              </a:rPr>
              <a:t>,</a:t>
            </a:r>
            <a:r>
              <a:rPr lang="zh-CN" altLang="en-US" sz="1350" dirty="0">
                <a:latin typeface="微软雅黑" panose="020B0503020204020204" pitchFamily="82" charset="2"/>
                <a:ea typeface="微软雅黑" panose="020B0503020204020204" pitchFamily="82" charset="2"/>
              </a:rPr>
              <a:t> </a:t>
            </a:r>
            <a:r>
              <a:rPr lang="en-US" altLang="zh-CN" sz="1350" dirty="0">
                <a:latin typeface="微软雅黑" panose="020B0503020204020204" pitchFamily="82" charset="2"/>
                <a:ea typeface="微软雅黑" panose="020B0503020204020204" pitchFamily="82" charset="2"/>
              </a:rPr>
              <a:t>D</a:t>
            </a:r>
            <a:r>
              <a:rPr lang="en-US" altLang="zh-CN" sz="1350" baseline="-25000" dirty="0">
                <a:latin typeface="微软雅黑" panose="020B0503020204020204" pitchFamily="82" charset="2"/>
                <a:ea typeface="微软雅黑" panose="020B0503020204020204" pitchFamily="82" charset="2"/>
              </a:rPr>
              <a:t>2</a:t>
            </a:r>
            <a:r>
              <a:rPr lang="en-US" altLang="zh-CN" sz="1350" dirty="0">
                <a:latin typeface="微软雅黑" panose="020B0503020204020204" pitchFamily="82" charset="2"/>
                <a:ea typeface="微软雅黑" panose="020B0503020204020204" pitchFamily="82" charset="2"/>
              </a:rPr>
              <a:t>,</a:t>
            </a:r>
            <a:r>
              <a:rPr lang="zh-CN" altLang="en-US" sz="1350" dirty="0">
                <a:latin typeface="微软雅黑" panose="020B0503020204020204" pitchFamily="82" charset="2"/>
                <a:ea typeface="微软雅黑" panose="020B0503020204020204" pitchFamily="82" charset="2"/>
              </a:rPr>
              <a:t> </a:t>
            </a:r>
            <a:r>
              <a:rPr lang="en-US" altLang="zh-CN" sz="1350" dirty="0">
                <a:latin typeface="微软雅黑" panose="020B0503020204020204" pitchFamily="82" charset="2"/>
                <a:ea typeface="微软雅黑" panose="020B0503020204020204" pitchFamily="82" charset="2"/>
              </a:rPr>
              <a:t>…,</a:t>
            </a:r>
            <a:r>
              <a:rPr lang="zh-CN" altLang="en-US" sz="1350" dirty="0">
                <a:latin typeface="微软雅黑" panose="020B0503020204020204" pitchFamily="82" charset="2"/>
                <a:ea typeface="微软雅黑" panose="020B0503020204020204" pitchFamily="82" charset="2"/>
              </a:rPr>
              <a:t> </a:t>
            </a:r>
            <a:r>
              <a:rPr lang="en-US" altLang="zh-CN" sz="1350" dirty="0">
                <a:latin typeface="微软雅黑" panose="020B0503020204020204" pitchFamily="82" charset="2"/>
                <a:ea typeface="微软雅黑" panose="020B0503020204020204" pitchFamily="82" charset="2"/>
              </a:rPr>
              <a:t>D</a:t>
            </a:r>
            <a:r>
              <a:rPr lang="en-US" altLang="zh-CN" sz="1350" baseline="-25000" dirty="0">
                <a:latin typeface="微软雅黑" panose="020B0503020204020204" pitchFamily="82" charset="2"/>
                <a:ea typeface="微软雅黑" panose="020B0503020204020204" pitchFamily="82" charset="2"/>
              </a:rPr>
              <a:t>k</a:t>
            </a:r>
            <a:r>
              <a:rPr lang="zh-CN" altLang="en-US" sz="1350" dirty="0">
                <a:latin typeface="微软雅黑" panose="020B0503020204020204" pitchFamily="82" charset="2"/>
                <a:ea typeface="微软雅黑" panose="020B0503020204020204" pitchFamily="82" charset="2"/>
              </a:rPr>
              <a:t>。</a:t>
            </a:r>
            <a:endParaRPr lang="en-US" altLang="zh-CN" sz="135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500" b="1" dirty="0">
                <a:solidFill>
                  <a:srgbClr val="701988"/>
                </a:solidFill>
                <a:latin typeface="微软雅黑" panose="020B0503020204020204" pitchFamily="82" charset="2"/>
                <a:ea typeface="微软雅黑" panose="020B0503020204020204" pitchFamily="82" charset="2"/>
              </a:rPr>
              <a:t>哈希值在</a:t>
            </a:r>
            <a:r>
              <a:rPr lang="en-US" altLang="zh-CN" sz="1500" b="1" dirty="0">
                <a:solidFill>
                  <a:srgbClr val="701988"/>
                </a:solidFill>
                <a:latin typeface="微软雅黑" panose="020B0503020204020204" pitchFamily="82" charset="2"/>
                <a:ea typeface="微软雅黑" panose="020B0503020204020204" pitchFamily="82" charset="2"/>
              </a:rPr>
              <a:t>[h</a:t>
            </a:r>
            <a:r>
              <a:rPr lang="en-US" altLang="zh-CN" sz="1500" b="1" baseline="-25000" dirty="0">
                <a:solidFill>
                  <a:srgbClr val="701988"/>
                </a:solidFill>
                <a:latin typeface="微软雅黑" panose="020B0503020204020204" pitchFamily="82" charset="2"/>
                <a:ea typeface="微软雅黑" panose="020B0503020204020204" pitchFamily="82" charset="2"/>
              </a:rPr>
              <a:t>i-1</a:t>
            </a:r>
            <a:r>
              <a:rPr lang="en-US" altLang="zh-CN" sz="1500" b="1" dirty="0">
                <a:solidFill>
                  <a:srgbClr val="701988"/>
                </a:solidFill>
                <a:latin typeface="微软雅黑" panose="020B0503020204020204" pitchFamily="82" charset="2"/>
                <a:ea typeface="微软雅黑" panose="020B0503020204020204" pitchFamily="82" charset="2"/>
              </a:rPr>
              <a:t>,h</a:t>
            </a:r>
            <a:r>
              <a:rPr lang="en-US" altLang="zh-CN" sz="1500" b="1" baseline="-25000" dirty="0">
                <a:solidFill>
                  <a:srgbClr val="701988"/>
                </a:solidFill>
                <a:latin typeface="微软雅黑" panose="020B0503020204020204" pitchFamily="82" charset="2"/>
                <a:ea typeface="微软雅黑" panose="020B0503020204020204" pitchFamily="82" charset="2"/>
              </a:rPr>
              <a:t>i</a:t>
            </a:r>
            <a:r>
              <a:rPr lang="en-US" altLang="zh-CN" sz="1500" b="1" dirty="0">
                <a:solidFill>
                  <a:srgbClr val="701988"/>
                </a:solidFill>
                <a:latin typeface="微软雅黑" panose="020B0503020204020204" pitchFamily="82" charset="2"/>
                <a:ea typeface="微软雅黑" panose="020B0503020204020204" pitchFamily="82" charset="2"/>
              </a:rPr>
              <a:t>)</a:t>
            </a:r>
            <a:r>
              <a:rPr lang="zh-CN" altLang="en-US" sz="1500" b="1" dirty="0">
                <a:solidFill>
                  <a:srgbClr val="701988"/>
                </a:solidFill>
                <a:latin typeface="微软雅黑" panose="020B0503020204020204" pitchFamily="82" charset="2"/>
                <a:ea typeface="微软雅黑" panose="020B0503020204020204" pitchFamily="82" charset="2"/>
              </a:rPr>
              <a:t>之间的数据放在</a:t>
            </a:r>
            <a:r>
              <a:rPr lang="en-US" altLang="zh-CN" sz="1500" b="1" dirty="0">
                <a:solidFill>
                  <a:srgbClr val="701988"/>
                </a:solidFill>
                <a:latin typeface="微软雅黑" panose="020B0503020204020204" pitchFamily="82" charset="2"/>
                <a:ea typeface="微软雅黑" panose="020B0503020204020204" pitchFamily="82" charset="2"/>
              </a:rPr>
              <a:t>D</a:t>
            </a:r>
            <a:r>
              <a:rPr lang="en-US" altLang="zh-CN" sz="1500" b="1" baseline="-25000" dirty="0">
                <a:solidFill>
                  <a:srgbClr val="701988"/>
                </a:solidFill>
                <a:latin typeface="微软雅黑" panose="020B0503020204020204" pitchFamily="82" charset="2"/>
                <a:ea typeface="微软雅黑" panose="020B0503020204020204" pitchFamily="82" charset="2"/>
              </a:rPr>
              <a:t>i</a:t>
            </a:r>
            <a:r>
              <a:rPr lang="zh-CN" altLang="en-US" sz="1500" b="1" dirty="0">
                <a:solidFill>
                  <a:srgbClr val="701988"/>
                </a:solidFill>
                <a:latin typeface="微软雅黑" panose="020B0503020204020204" pitchFamily="82" charset="2"/>
                <a:ea typeface="微软雅黑" panose="020B0503020204020204" pitchFamily="82" charset="2"/>
              </a:rPr>
              <a:t>分片，哈希值在 </a:t>
            </a:r>
            <a:r>
              <a:rPr lang="en-US" altLang="zh-CN" sz="1500" b="1" dirty="0">
                <a:solidFill>
                  <a:srgbClr val="701988"/>
                </a:solidFill>
                <a:latin typeface="微软雅黑" panose="020B0503020204020204" pitchFamily="82" charset="2"/>
                <a:ea typeface="微软雅黑" panose="020B0503020204020204" pitchFamily="82" charset="2"/>
              </a:rPr>
              <a:t>[</a:t>
            </a:r>
            <a:r>
              <a:rPr lang="en-US" altLang="zh-CN" sz="1500" b="1" dirty="0" err="1">
                <a:solidFill>
                  <a:srgbClr val="701988"/>
                </a:solidFill>
                <a:latin typeface="微软雅黑" panose="020B0503020204020204" pitchFamily="82" charset="2"/>
                <a:ea typeface="微软雅黑" panose="020B0503020204020204" pitchFamily="82" charset="2"/>
              </a:rPr>
              <a:t>h</a:t>
            </a:r>
            <a:r>
              <a:rPr lang="en-US" altLang="zh-CN" sz="1500" b="1" baseline="-25000" dirty="0" err="1">
                <a:solidFill>
                  <a:srgbClr val="701988"/>
                </a:solidFill>
                <a:latin typeface="微软雅黑" panose="020B0503020204020204" pitchFamily="82" charset="2"/>
                <a:ea typeface="微软雅黑" panose="020B0503020204020204" pitchFamily="82" charset="2"/>
              </a:rPr>
              <a:t>k</a:t>
            </a:r>
            <a:r>
              <a:rPr lang="en-US" altLang="zh-CN" sz="1500" b="1" dirty="0">
                <a:solidFill>
                  <a:srgbClr val="701988"/>
                </a:solidFill>
                <a:latin typeface="微软雅黑" panose="020B0503020204020204" pitchFamily="82" charset="2"/>
                <a:ea typeface="微软雅黑" panose="020B0503020204020204" pitchFamily="82" charset="2"/>
              </a:rPr>
              <a:t>,</a:t>
            </a:r>
            <a:r>
              <a:rPr lang="zh-CN" altLang="en-US" sz="1500" b="1" dirty="0">
                <a:solidFill>
                  <a:srgbClr val="701988"/>
                </a:solidFill>
                <a:latin typeface="微软雅黑" panose="020B0503020204020204" pitchFamily="82" charset="2"/>
                <a:ea typeface="微软雅黑" panose="020B0503020204020204" pitchFamily="82" charset="2"/>
              </a:rPr>
              <a:t> </a:t>
            </a:r>
            <a:r>
              <a:rPr lang="en-US" altLang="zh-CN" sz="1500" b="1" dirty="0">
                <a:solidFill>
                  <a:srgbClr val="701988"/>
                </a:solidFill>
                <a:latin typeface="微软雅黑" panose="020B0503020204020204" pitchFamily="82" charset="2"/>
                <a:ea typeface="微软雅黑" panose="020B0503020204020204" pitchFamily="82" charset="2"/>
              </a:rPr>
              <a:t>max),</a:t>
            </a:r>
            <a:r>
              <a:rPr lang="zh-CN" altLang="en-US" sz="1500" b="1" dirty="0">
                <a:solidFill>
                  <a:srgbClr val="701988"/>
                </a:solidFill>
                <a:latin typeface="微软雅黑" panose="020B0503020204020204" pitchFamily="82" charset="2"/>
                <a:ea typeface="微软雅黑" panose="020B0503020204020204" pitchFamily="82" charset="2"/>
              </a:rPr>
              <a:t> </a:t>
            </a:r>
            <a:r>
              <a:rPr lang="en-US" altLang="zh-CN" sz="1500" b="1" dirty="0">
                <a:solidFill>
                  <a:srgbClr val="701988"/>
                </a:solidFill>
                <a:latin typeface="微软雅黑" panose="020B0503020204020204" pitchFamily="82" charset="2"/>
                <a:ea typeface="微软雅黑" panose="020B0503020204020204" pitchFamily="82" charset="2"/>
              </a:rPr>
              <a:t>[0,</a:t>
            </a:r>
            <a:r>
              <a:rPr lang="zh-CN" altLang="en-US" sz="1500" b="1" dirty="0">
                <a:solidFill>
                  <a:srgbClr val="701988"/>
                </a:solidFill>
                <a:latin typeface="微软雅黑" panose="020B0503020204020204" pitchFamily="82" charset="2"/>
                <a:ea typeface="微软雅黑" panose="020B0503020204020204" pitchFamily="82" charset="2"/>
              </a:rPr>
              <a:t> </a:t>
            </a:r>
            <a:r>
              <a:rPr lang="en-US" altLang="zh-CN" sz="1500" b="1" dirty="0">
                <a:solidFill>
                  <a:srgbClr val="701988"/>
                </a:solidFill>
                <a:latin typeface="微软雅黑" panose="020B0503020204020204" pitchFamily="82" charset="2"/>
                <a:ea typeface="微软雅黑" panose="020B0503020204020204" pitchFamily="82" charset="2"/>
              </a:rPr>
              <a:t>h</a:t>
            </a:r>
            <a:r>
              <a:rPr lang="en-US" altLang="zh-CN" sz="1500" b="1" baseline="-25000" dirty="0">
                <a:solidFill>
                  <a:srgbClr val="701988"/>
                </a:solidFill>
                <a:latin typeface="微软雅黑" panose="020B0503020204020204" pitchFamily="82" charset="2"/>
                <a:ea typeface="微软雅黑" panose="020B0503020204020204" pitchFamily="82" charset="2"/>
              </a:rPr>
              <a:t>1</a:t>
            </a:r>
            <a:r>
              <a:rPr lang="en-US" altLang="zh-CN" sz="1500" b="1" dirty="0">
                <a:solidFill>
                  <a:srgbClr val="701988"/>
                </a:solidFill>
                <a:latin typeface="微软雅黑" panose="020B0503020204020204" pitchFamily="82" charset="2"/>
                <a:ea typeface="微软雅黑" panose="020B0503020204020204" pitchFamily="82" charset="2"/>
              </a:rPr>
              <a:t>)</a:t>
            </a:r>
            <a:r>
              <a:rPr lang="zh-CN" altLang="en-US" sz="1500" b="1" dirty="0">
                <a:solidFill>
                  <a:srgbClr val="701988"/>
                </a:solidFill>
                <a:latin typeface="微软雅黑" panose="020B0503020204020204" pitchFamily="82" charset="2"/>
                <a:ea typeface="微软雅黑" panose="020B0503020204020204" pitchFamily="82" charset="2"/>
              </a:rPr>
              <a:t>之间的数据放在</a:t>
            </a:r>
            <a:r>
              <a:rPr lang="en-US" altLang="zh-CN" sz="1500" b="1" dirty="0">
                <a:solidFill>
                  <a:srgbClr val="701988"/>
                </a:solidFill>
                <a:latin typeface="微软雅黑" panose="020B0503020204020204" pitchFamily="82" charset="2"/>
                <a:ea typeface="微软雅黑" panose="020B0503020204020204" pitchFamily="82" charset="2"/>
              </a:rPr>
              <a:t>D1</a:t>
            </a:r>
            <a:r>
              <a:rPr lang="zh-CN" altLang="en-US" sz="1500" b="1" dirty="0">
                <a:solidFill>
                  <a:srgbClr val="701988"/>
                </a:solidFill>
                <a:latin typeface="微软雅黑" panose="020B0503020204020204" pitchFamily="82" charset="2"/>
                <a:ea typeface="微软雅黑" panose="020B0503020204020204" pitchFamily="82" charset="2"/>
              </a:rPr>
              <a:t>分片</a:t>
            </a:r>
          </a:p>
        </p:txBody>
      </p:sp>
      <p:sp>
        <p:nvSpPr>
          <p:cNvPr id="5" name="页脚占位符 4">
            <a:extLst>
              <a:ext uri="{FF2B5EF4-FFF2-40B4-BE49-F238E27FC236}">
                <a16:creationId xmlns:a16="http://schemas.microsoft.com/office/drawing/2014/main" id="{E52D529F-C130-CC20-EF2A-ABC2B81C2C5A}"/>
              </a:ext>
            </a:extLst>
          </p:cNvPr>
          <p:cNvSpPr>
            <a:spLocks noGrp="1"/>
          </p:cNvSpPr>
          <p:nvPr>
            <p:ph type="ftr" sz="quarter" idx="3"/>
          </p:nvPr>
        </p:nvSpPr>
        <p:spPr/>
        <p:txBody>
          <a:bodyPr/>
          <a:lstStyle/>
          <a:p>
            <a:pPr defTabSz="685800" fontAlgn="auto">
              <a:spcBef>
                <a:spcPts val="0"/>
              </a:spcBef>
              <a:spcAft>
                <a:spcPts val="0"/>
              </a:spcAft>
              <a:defRPr/>
            </a:pPr>
            <a:r>
              <a:rPr lang="zh-CN" altLang="en-US">
                <a:solidFill>
                  <a:srgbClr val="000000"/>
                </a:solidFill>
                <a:latin typeface="微软雅黑" panose="020B0503020204020204" pitchFamily="82" charset="2"/>
                <a:ea typeface="微软雅黑" panose="020B0503020204020204" pitchFamily="82" charset="2"/>
              </a:rPr>
              <a:t>数据库系统</a:t>
            </a:r>
            <a:r>
              <a:rPr lang="en-US" altLang="zh-CN">
                <a:solidFill>
                  <a:srgbClr val="000000"/>
                </a:solidFill>
                <a:latin typeface="微软雅黑" panose="020B0503020204020204" pitchFamily="82" charset="2"/>
                <a:ea typeface="微软雅黑" panose="020B0503020204020204" pitchFamily="82" charset="2"/>
              </a:rPr>
              <a:t>—</a:t>
            </a:r>
            <a:r>
              <a:rPr lang="zh-CN" altLang="en-US">
                <a:solidFill>
                  <a:srgbClr val="000000"/>
                </a:solidFill>
                <a:latin typeface="微软雅黑" panose="020B0503020204020204" pitchFamily="82" charset="2"/>
                <a:ea typeface="微软雅黑" panose="020B0503020204020204" pitchFamily="82" charset="2"/>
              </a:rPr>
              <a:t>索引</a:t>
            </a:r>
            <a:endParaRPr lang="en-US" altLang="zh-CN" dirty="0">
              <a:solidFill>
                <a:srgbClr val="000000"/>
              </a:solidFill>
              <a:latin typeface="微软雅黑" panose="020B0503020204020204" pitchFamily="82" charset="2"/>
              <a:ea typeface="微软雅黑" panose="020B0503020204020204" pitchFamily="82" charset="2"/>
            </a:endParaRPr>
          </a:p>
        </p:txBody>
      </p:sp>
      <p:pic>
        <p:nvPicPr>
          <p:cNvPr id="10" name="图片 9">
            <a:extLst>
              <a:ext uri="{FF2B5EF4-FFF2-40B4-BE49-F238E27FC236}">
                <a16:creationId xmlns:a16="http://schemas.microsoft.com/office/drawing/2014/main" id="{FAF8876C-054C-330F-2069-29E9B2EDD713}"/>
              </a:ext>
            </a:extLst>
          </p:cNvPr>
          <p:cNvPicPr>
            <a:picLocks noChangeAspect="1"/>
          </p:cNvPicPr>
          <p:nvPr/>
        </p:nvPicPr>
        <p:blipFill>
          <a:blip r:embed="rId2"/>
          <a:stretch>
            <a:fillRect/>
          </a:stretch>
        </p:blipFill>
        <p:spPr>
          <a:xfrm>
            <a:off x="693537" y="3887697"/>
            <a:ext cx="4378193" cy="1668989"/>
          </a:xfrm>
          <a:prstGeom prst="rect">
            <a:avLst/>
          </a:prstGeom>
        </p:spPr>
      </p:pic>
      <p:pic>
        <p:nvPicPr>
          <p:cNvPr id="6" name="图片 5"/>
          <p:cNvPicPr>
            <a:picLocks noChangeAspect="1"/>
          </p:cNvPicPr>
          <p:nvPr/>
        </p:nvPicPr>
        <p:blipFill>
          <a:blip r:embed="rId3"/>
          <a:stretch>
            <a:fillRect/>
          </a:stretch>
        </p:blipFill>
        <p:spPr>
          <a:xfrm>
            <a:off x="5603066" y="1628800"/>
            <a:ext cx="3171768" cy="3312368"/>
          </a:xfrm>
          <a:prstGeom prst="rect">
            <a:avLst/>
          </a:prstGeom>
        </p:spPr>
      </p:pic>
    </p:spTree>
    <p:extLst>
      <p:ext uri="{BB962C8B-B14F-4D97-AF65-F5344CB8AC3E}">
        <p14:creationId xmlns:p14="http://schemas.microsoft.com/office/powerpoint/2010/main" val="364675405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56AD759-BCE5-FCE6-A41E-5F9F66F27DA8}"/>
              </a:ext>
            </a:extLst>
          </p:cNvPr>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pPr defTabSz="685800" fontAlgn="auto">
                <a:spcBef>
                  <a:spcPts val="0"/>
                </a:spcBef>
                <a:spcAft>
                  <a:spcPts val="0"/>
                </a:spcAft>
              </a:pPr>
              <a:t>85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a:extLst>
              <a:ext uri="{FF2B5EF4-FFF2-40B4-BE49-F238E27FC236}">
                <a16:creationId xmlns:a16="http://schemas.microsoft.com/office/drawing/2014/main" id="{101D6F06-8ACA-C1DA-83A4-4685C1E5822E}"/>
              </a:ext>
            </a:extLst>
          </p:cNvPr>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一致性哈希</a:t>
            </a:r>
          </a:p>
        </p:txBody>
      </p:sp>
      <p:sp>
        <p:nvSpPr>
          <p:cNvPr id="4" name="内容占位符 3">
            <a:extLst>
              <a:ext uri="{FF2B5EF4-FFF2-40B4-BE49-F238E27FC236}">
                <a16:creationId xmlns:a16="http://schemas.microsoft.com/office/drawing/2014/main" id="{7EB20A21-0C67-CAE5-CE13-0AA5BB479578}"/>
              </a:ext>
            </a:extLst>
          </p:cNvPr>
          <p:cNvSpPr>
            <a:spLocks noGrp="1"/>
          </p:cNvSpPr>
          <p:nvPr>
            <p:ph idx="1"/>
          </p:nvPr>
        </p:nvSpPr>
        <p:spPr>
          <a:xfrm>
            <a:off x="524051" y="1712475"/>
            <a:ext cx="4990590" cy="3896030"/>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添加一个数据分片</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添加一个哈希值</a:t>
            </a:r>
            <a:r>
              <a:rPr lang="en-US" altLang="zh-CN" sz="1500" dirty="0" err="1">
                <a:latin typeface="微软雅黑" panose="020B0503020204020204" pitchFamily="82" charset="2"/>
                <a:ea typeface="微软雅黑" panose="020B0503020204020204" pitchFamily="82" charset="2"/>
              </a:rPr>
              <a:t>h</a:t>
            </a:r>
            <a:r>
              <a:rPr lang="en-US" altLang="zh-CN" sz="1500" baseline="-25000" dirty="0" err="1">
                <a:latin typeface="微软雅黑" panose="020B0503020204020204" pitchFamily="82" charset="2"/>
                <a:ea typeface="微软雅黑" panose="020B0503020204020204" pitchFamily="82" charset="2"/>
              </a:rPr>
              <a:t>x</a:t>
            </a:r>
            <a:r>
              <a:rPr lang="zh-CN" altLang="en-US" sz="1500" dirty="0">
                <a:latin typeface="微软雅黑" panose="020B0503020204020204" pitchFamily="82" charset="2"/>
                <a:ea typeface="微软雅黑" panose="020B0503020204020204" pitchFamily="82" charset="2"/>
              </a:rPr>
              <a:t>，假设</a:t>
            </a:r>
            <a:r>
              <a:rPr lang="en-US" altLang="zh-CN" sz="1500" dirty="0">
                <a:latin typeface="微软雅黑" panose="020B0503020204020204" pitchFamily="82" charset="2"/>
                <a:ea typeface="微软雅黑" panose="020B0503020204020204" pitchFamily="82" charset="2"/>
              </a:rPr>
              <a:t>h</a:t>
            </a:r>
            <a:r>
              <a:rPr lang="en-US" altLang="zh-CN" sz="1500" baseline="-25000" dirty="0">
                <a:latin typeface="微软雅黑" panose="020B0503020204020204" pitchFamily="82" charset="2"/>
                <a:ea typeface="微软雅黑" panose="020B0503020204020204" pitchFamily="82" charset="2"/>
              </a:rPr>
              <a:t>2</a:t>
            </a:r>
            <a:r>
              <a:rPr lang="en-US" altLang="zh-CN" sz="1500" dirty="0">
                <a:latin typeface="微软雅黑" panose="020B0503020204020204" pitchFamily="82" charset="2"/>
                <a:ea typeface="微软雅黑" panose="020B0503020204020204" pitchFamily="82" charset="2"/>
              </a:rPr>
              <a:t>&lt;</a:t>
            </a:r>
            <a:r>
              <a:rPr lang="en-US" altLang="zh-CN" sz="1500" dirty="0" err="1">
                <a:latin typeface="微软雅黑" panose="020B0503020204020204" pitchFamily="82" charset="2"/>
                <a:ea typeface="微软雅黑" panose="020B0503020204020204" pitchFamily="82" charset="2"/>
              </a:rPr>
              <a:t>h</a:t>
            </a:r>
            <a:r>
              <a:rPr lang="en-US" altLang="zh-CN" sz="1500" baseline="-25000" dirty="0" err="1">
                <a:latin typeface="微软雅黑" panose="020B0503020204020204" pitchFamily="82" charset="2"/>
                <a:ea typeface="微软雅黑" panose="020B0503020204020204" pitchFamily="82" charset="2"/>
              </a:rPr>
              <a:t>x</a:t>
            </a:r>
            <a:r>
              <a:rPr lang="en-US" altLang="zh-CN" sz="1500" dirty="0">
                <a:latin typeface="微软雅黑" panose="020B0503020204020204" pitchFamily="82" charset="2"/>
                <a:ea typeface="微软雅黑" panose="020B0503020204020204" pitchFamily="82" charset="2"/>
              </a:rPr>
              <a:t>&lt;h</a:t>
            </a:r>
            <a:r>
              <a:rPr lang="en-US" altLang="zh-CN" sz="1500" baseline="-25000" dirty="0">
                <a:latin typeface="微软雅黑" panose="020B0503020204020204" pitchFamily="82" charset="2"/>
                <a:ea typeface="微软雅黑" panose="020B0503020204020204" pitchFamily="82" charset="2"/>
              </a:rPr>
              <a:t>3</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添加一个数据分片</a:t>
            </a:r>
            <a:r>
              <a:rPr lang="en-US" altLang="zh-CN" sz="1500" dirty="0">
                <a:latin typeface="微软雅黑" panose="020B0503020204020204" pitchFamily="82" charset="2"/>
                <a:ea typeface="微软雅黑" panose="020B0503020204020204" pitchFamily="82" charset="2"/>
              </a:rPr>
              <a:t>D</a:t>
            </a:r>
            <a:r>
              <a:rPr lang="en-US" altLang="zh-CN" sz="1500" baseline="-25000" dirty="0">
                <a:latin typeface="微软雅黑" panose="020B0503020204020204" pitchFamily="82" charset="2"/>
                <a:ea typeface="微软雅黑" panose="020B0503020204020204" pitchFamily="82" charset="2"/>
              </a:rPr>
              <a:t>x</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将</a:t>
            </a:r>
            <a:r>
              <a:rPr lang="en-US" altLang="zh-CN" sz="1500" dirty="0">
                <a:latin typeface="微软雅黑" panose="020B0503020204020204" pitchFamily="82" charset="2"/>
                <a:ea typeface="微软雅黑" panose="020B0503020204020204" pitchFamily="82" charset="2"/>
              </a:rPr>
              <a:t>D</a:t>
            </a:r>
            <a:r>
              <a:rPr lang="en-US" altLang="zh-CN" sz="1500" baseline="-25000" dirty="0">
                <a:latin typeface="微软雅黑" panose="020B0503020204020204" pitchFamily="82" charset="2"/>
                <a:ea typeface="微软雅黑" panose="020B0503020204020204" pitchFamily="82" charset="2"/>
              </a:rPr>
              <a:t>3</a:t>
            </a:r>
            <a:r>
              <a:rPr lang="zh-CN" altLang="en-US" sz="1500" dirty="0">
                <a:latin typeface="微软雅黑" panose="020B0503020204020204" pitchFamily="82" charset="2"/>
                <a:ea typeface="微软雅黑" panose="020B0503020204020204" pitchFamily="82" charset="2"/>
              </a:rPr>
              <a:t>中的一部分数据</a:t>
            </a:r>
            <a:r>
              <a:rPr lang="en-US" altLang="zh-CN" sz="1500" dirty="0">
                <a:latin typeface="微软雅黑" panose="020B0503020204020204" pitchFamily="82" charset="2"/>
                <a:ea typeface="微软雅黑" panose="020B0503020204020204" pitchFamily="82" charset="2"/>
              </a:rPr>
              <a:t>,</a:t>
            </a:r>
            <a:r>
              <a:rPr lang="zh-CN" altLang="en-US" sz="1500" dirty="0">
                <a:latin typeface="微软雅黑" panose="020B0503020204020204" pitchFamily="82" charset="2"/>
                <a:ea typeface="微软雅黑" panose="020B0503020204020204" pitchFamily="82" charset="2"/>
              </a:rPr>
              <a:t>满足</a:t>
            </a:r>
            <a:r>
              <a:rPr lang="en-US" altLang="zh-CN" sz="1500" dirty="0">
                <a:latin typeface="微软雅黑" panose="020B0503020204020204" pitchFamily="82" charset="2"/>
                <a:ea typeface="微软雅黑" panose="020B0503020204020204" pitchFamily="82" charset="2"/>
              </a:rPr>
              <a:t>[h</a:t>
            </a:r>
            <a:r>
              <a:rPr lang="en-US" altLang="zh-CN" sz="1500" baseline="-25000" dirty="0">
                <a:latin typeface="微软雅黑" panose="020B0503020204020204" pitchFamily="82" charset="2"/>
                <a:ea typeface="微软雅黑" panose="020B0503020204020204" pitchFamily="82" charset="2"/>
              </a:rPr>
              <a:t>2</a:t>
            </a:r>
            <a:r>
              <a:rPr lang="en-US" altLang="zh-CN" sz="1500" dirty="0">
                <a:latin typeface="微软雅黑" panose="020B0503020204020204" pitchFamily="82" charset="2"/>
                <a:ea typeface="微软雅黑" panose="020B0503020204020204" pitchFamily="82" charset="2"/>
              </a:rPr>
              <a:t>,h</a:t>
            </a:r>
            <a:r>
              <a:rPr lang="en-US" altLang="zh-CN" sz="1500" baseline="-25000" dirty="0">
                <a:latin typeface="微软雅黑" panose="020B0503020204020204" pitchFamily="82" charset="2"/>
                <a:ea typeface="微软雅黑" panose="020B0503020204020204" pitchFamily="82" charset="2"/>
              </a:rPr>
              <a:t>x</a:t>
            </a:r>
            <a:r>
              <a:rPr lang="en-US" altLang="zh-CN" sz="1500" dirty="0">
                <a:latin typeface="微软雅黑" panose="020B0503020204020204" pitchFamily="82" charset="2"/>
                <a:ea typeface="微软雅黑" panose="020B0503020204020204" pitchFamily="82" charset="2"/>
              </a:rPr>
              <a:t>)</a:t>
            </a:r>
            <a:r>
              <a:rPr lang="zh-CN" altLang="en-US" sz="1500" dirty="0">
                <a:latin typeface="微软雅黑" panose="020B0503020204020204" pitchFamily="82" charset="2"/>
                <a:ea typeface="微软雅黑" panose="020B0503020204020204" pitchFamily="82" charset="2"/>
              </a:rPr>
              <a:t>移到</a:t>
            </a:r>
            <a:r>
              <a:rPr lang="en-US" altLang="zh-CN" sz="1500" dirty="0" err="1">
                <a:latin typeface="微软雅黑" panose="020B0503020204020204" pitchFamily="82" charset="2"/>
                <a:ea typeface="微软雅黑" panose="020B0503020204020204" pitchFamily="82" charset="2"/>
              </a:rPr>
              <a:t>D</a:t>
            </a:r>
            <a:r>
              <a:rPr lang="en-US" altLang="zh-CN" sz="1500" baseline="-25000" dirty="0" err="1">
                <a:latin typeface="微软雅黑" panose="020B0503020204020204" pitchFamily="82" charset="2"/>
                <a:ea typeface="微软雅黑" panose="020B0503020204020204" pitchFamily="82" charset="2"/>
              </a:rPr>
              <a:t>x</a:t>
            </a:r>
            <a:endParaRPr lang="en-US" altLang="zh-CN" sz="1800" b="1" baseline="-25000" dirty="0">
              <a:solidFill>
                <a:srgbClr val="701988"/>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删除一个数据分片</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假设删除数据分片</a:t>
            </a:r>
            <a:r>
              <a:rPr lang="en-US" altLang="zh-CN" sz="1500" dirty="0">
                <a:latin typeface="微软雅黑" panose="020B0503020204020204" pitchFamily="82" charset="2"/>
                <a:ea typeface="微软雅黑" panose="020B0503020204020204" pitchFamily="82" charset="2"/>
              </a:rPr>
              <a:t>D</a:t>
            </a:r>
            <a:r>
              <a:rPr lang="en-US" altLang="zh-CN" sz="1500" baseline="-25000" dirty="0">
                <a:latin typeface="微软雅黑" panose="020B0503020204020204" pitchFamily="82" charset="2"/>
                <a:ea typeface="微软雅黑" panose="020B0503020204020204" pitchFamily="82" charset="2"/>
              </a:rPr>
              <a:t>i</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将</a:t>
            </a:r>
            <a:r>
              <a:rPr lang="en-US" altLang="zh-CN" sz="1500" dirty="0">
                <a:latin typeface="微软雅黑" panose="020B0503020204020204" pitchFamily="82" charset="2"/>
                <a:ea typeface="微软雅黑" panose="020B0503020204020204" pitchFamily="82" charset="2"/>
              </a:rPr>
              <a:t>D</a:t>
            </a:r>
            <a:r>
              <a:rPr lang="en-US" altLang="zh-CN" sz="1500" baseline="-25000" dirty="0">
                <a:latin typeface="微软雅黑" panose="020B0503020204020204" pitchFamily="82" charset="2"/>
                <a:ea typeface="微软雅黑" panose="020B0503020204020204" pitchFamily="82" charset="2"/>
              </a:rPr>
              <a:t>i</a:t>
            </a:r>
            <a:r>
              <a:rPr lang="zh-CN" altLang="en-US" sz="1500" dirty="0">
                <a:latin typeface="微软雅黑" panose="020B0503020204020204" pitchFamily="82" charset="2"/>
                <a:ea typeface="微软雅黑" panose="020B0503020204020204" pitchFamily="82" charset="2"/>
              </a:rPr>
              <a:t>中的数据移到</a:t>
            </a:r>
            <a:r>
              <a:rPr lang="en-US" altLang="zh-CN" sz="1500" dirty="0">
                <a:latin typeface="微软雅黑" panose="020B0503020204020204" pitchFamily="82" charset="2"/>
                <a:ea typeface="微软雅黑" panose="020B0503020204020204" pitchFamily="82" charset="2"/>
              </a:rPr>
              <a:t>D</a:t>
            </a:r>
            <a:r>
              <a:rPr lang="en-US" altLang="zh-CN" sz="1500" baseline="-25000" dirty="0">
                <a:latin typeface="微软雅黑" panose="020B0503020204020204" pitchFamily="82" charset="2"/>
                <a:ea typeface="微软雅黑" panose="020B0503020204020204" pitchFamily="82" charset="2"/>
              </a:rPr>
              <a:t>i+1</a:t>
            </a:r>
            <a:endParaRPr lang="en-US" altLang="zh-CN" baseline="-250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添加和删除分片只影响一个数据分片</a:t>
            </a:r>
          </a:p>
        </p:txBody>
      </p:sp>
      <p:sp>
        <p:nvSpPr>
          <p:cNvPr id="5" name="页脚占位符 4">
            <a:extLst>
              <a:ext uri="{FF2B5EF4-FFF2-40B4-BE49-F238E27FC236}">
                <a16:creationId xmlns:a16="http://schemas.microsoft.com/office/drawing/2014/main" id="{E52D529F-C130-CC20-EF2A-ABC2B81C2C5A}"/>
              </a:ext>
            </a:extLst>
          </p:cNvPr>
          <p:cNvSpPr>
            <a:spLocks noGrp="1"/>
          </p:cNvSpPr>
          <p:nvPr>
            <p:ph type="ftr" sz="quarter" idx="3"/>
          </p:nvPr>
        </p:nvSpPr>
        <p:spPr/>
        <p:txBody>
          <a:bodyPr/>
          <a:lstStyle/>
          <a:p>
            <a:pPr defTabSz="685800" fontAlgn="auto">
              <a:spcBef>
                <a:spcPts val="0"/>
              </a:spcBef>
              <a:spcAft>
                <a:spcPts val="0"/>
              </a:spcAft>
              <a:defRPr/>
            </a:pPr>
            <a:r>
              <a:rPr lang="zh-CN" altLang="en-US">
                <a:solidFill>
                  <a:srgbClr val="000000"/>
                </a:solidFill>
                <a:latin typeface="微软雅黑" panose="020B0503020204020204" pitchFamily="82" charset="2"/>
                <a:ea typeface="微软雅黑" panose="020B0503020204020204" pitchFamily="82" charset="2"/>
              </a:rPr>
              <a:t>数据库系统</a:t>
            </a:r>
            <a:r>
              <a:rPr lang="en-US" altLang="zh-CN">
                <a:solidFill>
                  <a:srgbClr val="000000"/>
                </a:solidFill>
                <a:latin typeface="微软雅黑" panose="020B0503020204020204" pitchFamily="82" charset="2"/>
                <a:ea typeface="微软雅黑" panose="020B0503020204020204" pitchFamily="82" charset="2"/>
              </a:rPr>
              <a:t>—</a:t>
            </a:r>
            <a:r>
              <a:rPr lang="zh-CN" altLang="en-US">
                <a:solidFill>
                  <a:srgbClr val="000000"/>
                </a:solidFill>
                <a:latin typeface="微软雅黑" panose="020B0503020204020204" pitchFamily="82" charset="2"/>
                <a:ea typeface="微软雅黑" panose="020B0503020204020204" pitchFamily="82" charset="2"/>
              </a:rPr>
              <a:t>索引</a:t>
            </a:r>
            <a:endParaRPr lang="en-US" altLang="zh-CN" dirty="0">
              <a:solidFill>
                <a:srgbClr val="000000"/>
              </a:solidFill>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2"/>
          <a:stretch>
            <a:fillRect/>
          </a:stretch>
        </p:blipFill>
        <p:spPr>
          <a:xfrm>
            <a:off x="5560602" y="1282683"/>
            <a:ext cx="3129682" cy="5505448"/>
          </a:xfrm>
          <a:prstGeom prst="rect">
            <a:avLst/>
          </a:prstGeom>
        </p:spPr>
      </p:pic>
    </p:spTree>
    <p:extLst>
      <p:ext uri="{BB962C8B-B14F-4D97-AF65-F5344CB8AC3E}">
        <p14:creationId xmlns:p14="http://schemas.microsoft.com/office/powerpoint/2010/main" val="196894104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458F09D-AD8B-9B27-6141-BD96CC948C20}"/>
              </a:ext>
            </a:extLst>
          </p:cNvPr>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pPr defTabSz="685800" fontAlgn="auto">
                <a:spcBef>
                  <a:spcPts val="0"/>
                </a:spcBef>
                <a:spcAft>
                  <a:spcPts val="0"/>
                </a:spcAft>
              </a:pPr>
              <a:t>86</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a:extLst>
              <a:ext uri="{FF2B5EF4-FFF2-40B4-BE49-F238E27FC236}">
                <a16:creationId xmlns:a16="http://schemas.microsoft.com/office/drawing/2014/main" id="{D22E5E23-5CDB-ABAF-E6B1-991A944C5040}"/>
              </a:ext>
            </a:extLst>
          </p:cNvPr>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一致性哈希</a:t>
            </a:r>
          </a:p>
        </p:txBody>
      </p:sp>
      <p:sp>
        <p:nvSpPr>
          <p:cNvPr id="4" name="内容占位符 3">
            <a:extLst>
              <a:ext uri="{FF2B5EF4-FFF2-40B4-BE49-F238E27FC236}">
                <a16:creationId xmlns:a16="http://schemas.microsoft.com/office/drawing/2014/main" id="{41775F28-21A9-5D75-2C36-14E36DA49133}"/>
              </a:ext>
            </a:extLst>
          </p:cNvPr>
          <p:cNvSpPr>
            <a:spLocks noGrp="1"/>
          </p:cNvSpPr>
          <p:nvPr>
            <p:ph idx="1"/>
          </p:nvPr>
        </p:nvSpPr>
        <p:spPr>
          <a:xfrm>
            <a:off x="331401" y="1663592"/>
            <a:ext cx="5694590" cy="2469062"/>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负载均衡问题</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某些数据分片数据较多</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某些数据分片数据较少</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增加虚拟节点</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虚拟节点对应哈希环上的值</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物理节点包含多个虚拟节点</a:t>
            </a:r>
          </a:p>
        </p:txBody>
      </p:sp>
      <p:sp>
        <p:nvSpPr>
          <p:cNvPr id="5" name="页脚占位符 4">
            <a:extLst>
              <a:ext uri="{FF2B5EF4-FFF2-40B4-BE49-F238E27FC236}">
                <a16:creationId xmlns:a16="http://schemas.microsoft.com/office/drawing/2014/main" id="{C7FE3A1F-0D21-2DB4-476F-B1C5D4A8297A}"/>
              </a:ext>
            </a:extLst>
          </p:cNvPr>
          <p:cNvSpPr>
            <a:spLocks noGrp="1"/>
          </p:cNvSpPr>
          <p:nvPr>
            <p:ph type="ftr" sz="quarter" idx="3"/>
          </p:nvPr>
        </p:nvSpPr>
        <p:spPr/>
        <p:txBody>
          <a:bodyPr/>
          <a:lstStyle/>
          <a:p>
            <a:pPr defTabSz="685800" fontAlgn="auto">
              <a:spcBef>
                <a:spcPts val="0"/>
              </a:spcBef>
              <a:spcAft>
                <a:spcPts val="0"/>
              </a:spcAft>
              <a:defRPr/>
            </a:pPr>
            <a:r>
              <a:rPr lang="zh-CN" altLang="en-US">
                <a:solidFill>
                  <a:srgbClr val="000000"/>
                </a:solidFill>
                <a:latin typeface="微软雅黑" panose="020B0503020204020204" pitchFamily="82" charset="2"/>
                <a:ea typeface="微软雅黑" panose="020B0503020204020204" pitchFamily="82" charset="2"/>
              </a:rPr>
              <a:t>数据库系统</a:t>
            </a:r>
            <a:r>
              <a:rPr lang="en-US" altLang="zh-CN">
                <a:solidFill>
                  <a:srgbClr val="000000"/>
                </a:solidFill>
                <a:latin typeface="微软雅黑" panose="020B0503020204020204" pitchFamily="82" charset="2"/>
                <a:ea typeface="微软雅黑" panose="020B0503020204020204" pitchFamily="82" charset="2"/>
              </a:rPr>
              <a:t>—</a:t>
            </a:r>
            <a:r>
              <a:rPr lang="zh-CN" altLang="en-US">
                <a:solidFill>
                  <a:srgbClr val="000000"/>
                </a:solidFill>
                <a:latin typeface="微软雅黑" panose="020B0503020204020204" pitchFamily="82" charset="2"/>
                <a:ea typeface="微软雅黑" panose="020B0503020204020204" pitchFamily="82" charset="2"/>
              </a:rPr>
              <a:t>索引</a:t>
            </a:r>
            <a:endParaRPr lang="en-US" altLang="zh-CN" dirty="0">
              <a:solidFill>
                <a:srgbClr val="000000"/>
              </a:solidFill>
              <a:latin typeface="微软雅黑" panose="020B0503020204020204" pitchFamily="82" charset="2"/>
              <a:ea typeface="微软雅黑" panose="020B0503020204020204" pitchFamily="82" charset="2"/>
            </a:endParaRPr>
          </a:p>
        </p:txBody>
      </p:sp>
      <p:pic>
        <p:nvPicPr>
          <p:cNvPr id="25" name="图片 24"/>
          <p:cNvPicPr>
            <a:picLocks noChangeAspect="1"/>
          </p:cNvPicPr>
          <p:nvPr/>
        </p:nvPicPr>
        <p:blipFill>
          <a:blip r:embed="rId2"/>
          <a:stretch>
            <a:fillRect/>
          </a:stretch>
        </p:blipFill>
        <p:spPr>
          <a:xfrm>
            <a:off x="3851920" y="1308098"/>
            <a:ext cx="4666241" cy="4032448"/>
          </a:xfrm>
          <a:prstGeom prst="rect">
            <a:avLst/>
          </a:prstGeom>
        </p:spPr>
      </p:pic>
    </p:spTree>
    <p:extLst>
      <p:ext uri="{BB962C8B-B14F-4D97-AF65-F5344CB8AC3E}">
        <p14:creationId xmlns:p14="http://schemas.microsoft.com/office/powerpoint/2010/main" val="106058493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2261570" y="1736429"/>
            <a:ext cx="4714667" cy="342480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87</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目录</a:t>
            </a:r>
          </a:p>
        </p:txBody>
      </p:sp>
      <p:sp>
        <p:nvSpPr>
          <p:cNvPr id="4" name="内容占位符 3"/>
          <p:cNvSpPr>
            <a:spLocks noGrp="1"/>
          </p:cNvSpPr>
          <p:nvPr>
            <p:ph idx="1"/>
          </p:nvPr>
        </p:nvSpPr>
        <p:spPr>
          <a:xfrm>
            <a:off x="2484300" y="1942678"/>
            <a:ext cx="4355960" cy="3143768"/>
          </a:xfrm>
        </p:spPr>
        <p:txBody>
          <a:bodyPr/>
          <a:lstStyle/>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索引概述</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哈希索引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b="1" dirty="0" err="1">
                <a:solidFill>
                  <a:srgbClr val="701988"/>
                </a:solidFill>
                <a:latin typeface="微软雅黑" panose="020B0503020204020204" pitchFamily="82" charset="2"/>
                <a:ea typeface="微软雅黑" panose="020B0503020204020204" pitchFamily="82" charset="2"/>
              </a:rPr>
              <a:t>SkipList</a:t>
            </a:r>
            <a:r>
              <a:rPr lang="zh-CN" altLang="en-US" b="1" dirty="0">
                <a:solidFill>
                  <a:srgbClr val="701988"/>
                </a:solidFill>
                <a:latin typeface="微软雅黑" panose="020B0503020204020204" pitchFamily="82" charset="2"/>
                <a:ea typeface="微软雅黑" panose="020B0503020204020204" pitchFamily="82" charset="2"/>
              </a:rPr>
              <a:t>跳表索引</a:t>
            </a:r>
            <a:endParaRPr lang="en-US" altLang="zh-CN" b="1" dirty="0">
              <a:solidFill>
                <a:srgbClr val="701988"/>
              </a:solidFill>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LSM</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位图索引</a:t>
            </a:r>
            <a:endParaRPr lang="en-US" altLang="zh-CN" dirty="0">
              <a:latin typeface="微软雅黑" panose="020B0503020204020204" pitchFamily="82" charset="2"/>
              <a:ea typeface="微软雅黑" panose="020B0503020204020204" pitchFamily="82" charset="2"/>
            </a:endParaRPr>
          </a:p>
          <a:p>
            <a:pPr marL="0" indent="0">
              <a:buNone/>
            </a:pPr>
            <a:r>
              <a:rPr lang="en-US" altLang="zh-CN" sz="1800" dirty="0" smtClean="0">
                <a:latin typeface="微软雅黑" panose="020B0503020204020204" pitchFamily="82" charset="2"/>
                <a:ea typeface="微软雅黑" panose="020B0503020204020204" pitchFamily="82" charset="2"/>
              </a:rPr>
              <a:t>     </a:t>
            </a:r>
            <a:endParaRPr lang="zh-CN" altLang="en-US" sz="18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373847432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88</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97109" y="40422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概述</a:t>
            </a:r>
          </a:p>
        </p:txBody>
      </p:sp>
      <p:sp>
        <p:nvSpPr>
          <p:cNvPr id="4" name="内容占位符 3"/>
          <p:cNvSpPr>
            <a:spLocks noGrp="1"/>
          </p:cNvSpPr>
          <p:nvPr>
            <p:ph idx="1"/>
          </p:nvPr>
        </p:nvSpPr>
        <p:spPr>
          <a:xfrm>
            <a:off x="697109" y="1484630"/>
            <a:ext cx="8195371" cy="4680674"/>
          </a:xfrm>
        </p:spPr>
        <p:txBody>
          <a:bodyPr/>
          <a:lstStyle/>
          <a:p>
            <a:pPr>
              <a:lnSpc>
                <a:spcPct val="150000"/>
              </a:lnSpc>
              <a:buFont typeface="Wingdings" panose="05000000000000000000" charset="0"/>
              <a:buChar char="u"/>
            </a:pPr>
            <a:r>
              <a:rPr lang="en-US" altLang="zh-CN" dirty="0">
                <a:latin typeface="微软雅黑" panose="020B0503020204020204" pitchFamily="82" charset="2"/>
                <a:ea typeface="微软雅黑" panose="020B0503020204020204" pitchFamily="82" charset="2"/>
              </a:rPr>
              <a:t>跳表（Skip </a:t>
            </a:r>
            <a:r>
              <a:rPr lang="en-US" altLang="zh-CN" dirty="0" err="1">
                <a:latin typeface="微软雅黑" panose="020B0503020204020204" pitchFamily="82" charset="2"/>
                <a:ea typeface="微软雅黑" panose="020B0503020204020204" pitchFamily="82" charset="2"/>
              </a:rPr>
              <a:t>List）</a:t>
            </a:r>
            <a:r>
              <a:rPr lang="en-US" altLang="zh-CN" dirty="0" err="1" smtClean="0">
                <a:latin typeface="微软雅黑" panose="020B0503020204020204" pitchFamily="82" charset="2"/>
                <a:ea typeface="微软雅黑" panose="020B0503020204020204" pitchFamily="82" charset="2"/>
              </a:rPr>
              <a:t>是一种”概率性</a:t>
            </a:r>
            <a:r>
              <a:rPr lang="en-US" altLang="zh-CN" dirty="0" smtClean="0">
                <a:latin typeface="微软雅黑" panose="020B0503020204020204" pitchFamily="82" charset="2"/>
                <a:ea typeface="微软雅黑" panose="020B0503020204020204" pitchFamily="82" charset="2"/>
              </a:rPr>
              <a:t>”</a:t>
            </a:r>
            <a:r>
              <a:rPr lang="zh-CN" altLang="en-US" dirty="0" smtClean="0">
                <a:latin typeface="微软雅黑" panose="020B0503020204020204" pitchFamily="82" charset="2"/>
                <a:ea typeface="微软雅黑" panose="020B0503020204020204" pitchFamily="82" charset="2"/>
              </a:rPr>
              <a:t>内存</a:t>
            </a:r>
            <a:r>
              <a:rPr lang="en-US" altLang="zh-CN" dirty="0">
                <a:latin typeface="微软雅黑" panose="020B0503020204020204" pitchFamily="82" charset="2"/>
                <a:ea typeface="微软雅黑" panose="020B0503020204020204" pitchFamily="82" charset="2"/>
              </a:rPr>
              <a:t>数据结构，由William Pugh</a:t>
            </a:r>
            <a:r>
              <a:rPr lang="zh-CN" altLang="en-US" dirty="0">
                <a:latin typeface="微软雅黑" panose="020B0503020204020204" pitchFamily="82" charset="2"/>
                <a:ea typeface="微软雅黑" panose="020B0503020204020204" pitchFamily="82" charset="2"/>
              </a:rPr>
              <a:t>于</a:t>
            </a:r>
            <a:r>
              <a:rPr lang="en-US" altLang="zh-CN" dirty="0">
                <a:latin typeface="微软雅黑" panose="020B0503020204020204" pitchFamily="82" charset="2"/>
                <a:ea typeface="微软雅黑" panose="020B0503020204020204" pitchFamily="82" charset="2"/>
              </a:rPr>
              <a:t>1990年提出</a:t>
            </a:r>
            <a:r>
              <a:rPr lang="zh-CN" dirty="0">
                <a:latin typeface="微软雅黑" panose="020B0503020204020204" pitchFamily="82" charset="2"/>
                <a:ea typeface="微软雅黑" panose="020B0503020204020204" pitchFamily="82" charset="2"/>
                <a:sym typeface="+mn-ea"/>
              </a:rPr>
              <a:t>（</a:t>
            </a:r>
            <a:r>
              <a:rPr lang="en-US" altLang="zh-CN" dirty="0">
                <a:latin typeface="微软雅黑" panose="020B0503020204020204" pitchFamily="82" charset="2"/>
                <a:ea typeface="微软雅黑" panose="020B0503020204020204" pitchFamily="82" charset="2"/>
                <a:sym typeface="+mn-ea"/>
              </a:rPr>
              <a:t>“</a:t>
            </a:r>
            <a:r>
              <a:rPr dirty="0">
                <a:latin typeface="微软雅黑" panose="020B0503020204020204" pitchFamily="82" charset="2"/>
                <a:ea typeface="微软雅黑" panose="020B0503020204020204" pitchFamily="82" charset="2"/>
                <a:sym typeface="+mn-ea"/>
              </a:rPr>
              <a:t>Skip lists: a probabilistic alternative to balanced trees</a:t>
            </a:r>
            <a:r>
              <a:rPr lang="en-US" dirty="0">
                <a:latin typeface="微软雅黑" panose="020B0503020204020204" pitchFamily="82" charset="2"/>
                <a:ea typeface="微软雅黑" panose="020B0503020204020204" pitchFamily="82" charset="2"/>
                <a:sym typeface="+mn-ea"/>
              </a:rPr>
              <a:t>” </a:t>
            </a:r>
            <a:r>
              <a:rPr dirty="0">
                <a:latin typeface="微软雅黑" panose="020B0503020204020204" pitchFamily="82" charset="2"/>
                <a:ea typeface="微软雅黑" panose="020B0503020204020204" pitchFamily="82" charset="2"/>
                <a:sym typeface="+mn-ea"/>
              </a:rPr>
              <a:t>Communications of the ACM June 1990, 33(6) 668-676</a:t>
            </a:r>
            <a:r>
              <a:rPr lang="zh-CN" dirty="0">
                <a:latin typeface="微软雅黑" panose="020B0503020204020204" pitchFamily="82" charset="2"/>
                <a:ea typeface="微软雅黑" panose="020B0503020204020204" pitchFamily="82" charset="2"/>
                <a:sym typeface="+mn-ea"/>
              </a:rPr>
              <a:t>）</a:t>
            </a:r>
            <a:r>
              <a:rPr lang="en-US" altLang="zh-CN" dirty="0">
                <a:latin typeface="微软雅黑" panose="020B0503020204020204" pitchFamily="82" charset="2"/>
                <a:ea typeface="微软雅黑" panose="020B0503020204020204" pitchFamily="82" charset="2"/>
              </a:rPr>
              <a:t>，</a:t>
            </a:r>
            <a:r>
              <a:rPr lang="en-US" altLang="zh-CN" dirty="0" err="1" smtClean="0">
                <a:latin typeface="微软雅黑" panose="020B0503020204020204" pitchFamily="82" charset="2"/>
                <a:ea typeface="微软雅黑" panose="020B0503020204020204" pitchFamily="82" charset="2"/>
              </a:rPr>
              <a:t>主要用于在有序元素集合上进行快速搜索</a:t>
            </a:r>
            <a:r>
              <a:rPr lang="en-US" altLang="zh-CN" dirty="0" err="1">
                <a:latin typeface="微软雅黑" panose="020B0503020204020204" pitchFamily="82" charset="2"/>
                <a:ea typeface="微软雅黑" panose="020B0503020204020204" pitchFamily="82" charset="2"/>
              </a:rPr>
              <a:t>、插入和删除操作</a:t>
            </a:r>
            <a:r>
              <a:rPr lang="en-US" altLang="zh-CN" dirty="0">
                <a:latin typeface="微软雅黑" panose="020B0503020204020204" pitchFamily="82" charset="2"/>
                <a:ea typeface="微软雅黑" panose="020B0503020204020204" pitchFamily="82" charset="2"/>
              </a:rPr>
              <a:t>。</a:t>
            </a:r>
          </a:p>
          <a:p>
            <a:pPr>
              <a:lnSpc>
                <a:spcPct val="150000"/>
              </a:lnSpc>
              <a:buFont typeface="Wingdings" panose="05000000000000000000" charset="0"/>
              <a:buChar char="u"/>
            </a:pPr>
            <a:r>
              <a:rPr lang="en-US" altLang="zh-CN" dirty="0">
                <a:latin typeface="微软雅黑" panose="020B0503020204020204" pitchFamily="82" charset="2"/>
                <a:ea typeface="微软雅黑" panose="020B0503020204020204" pitchFamily="82" charset="2"/>
              </a:rPr>
              <a:t>跳表的效率与平衡树相当，但实现起来更简单，它通过维护多层链表来提高查找效率。</a:t>
            </a:r>
          </a:p>
          <a:p>
            <a:pPr>
              <a:lnSpc>
                <a:spcPct val="150000"/>
              </a:lnSpc>
            </a:pPr>
            <a:endParaRPr lang="en-US" altLang="zh-CN" b="1" dirty="0">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89</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97109" y="40422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原理及实现</a:t>
            </a:r>
          </a:p>
        </p:txBody>
      </p:sp>
      <p:sp>
        <p:nvSpPr>
          <p:cNvPr id="4" name="内容占位符 3"/>
          <p:cNvSpPr>
            <a:spLocks noGrp="1"/>
          </p:cNvSpPr>
          <p:nvPr>
            <p:ph idx="1"/>
          </p:nvPr>
        </p:nvSpPr>
        <p:spPr>
          <a:xfrm>
            <a:off x="971550" y="1484630"/>
            <a:ext cx="7706766" cy="2522763"/>
          </a:xfrm>
        </p:spPr>
        <p:txBody>
          <a:bodyPr/>
          <a:lstStyle/>
          <a:p>
            <a:pPr>
              <a:lnSpc>
                <a:spcPct val="150000"/>
              </a:lnSpc>
              <a:buFont typeface="Wingdings" panose="05000000000000000000" charset="0"/>
              <a:buChar char="u"/>
            </a:pPr>
            <a:r>
              <a:rPr lang="zh-CN" altLang="en-US" dirty="0">
                <a:latin typeface="微软雅黑" panose="020B0503020204020204" pitchFamily="82" charset="2"/>
                <a:ea typeface="微软雅黑" panose="020B0503020204020204" pitchFamily="82" charset="2"/>
              </a:rPr>
              <a:t>跳表在原有的有序链表上面增加了多级分层索引，通过索引进行二分查找从而实现高效率查找</a:t>
            </a:r>
          </a:p>
          <a:p>
            <a:pPr>
              <a:lnSpc>
                <a:spcPct val="150000"/>
              </a:lnSpc>
              <a:buFont typeface="Wingdings" panose="05000000000000000000" charset="0"/>
              <a:buChar char="u"/>
            </a:pPr>
            <a:r>
              <a:rPr lang="zh-CN" altLang="en-US" dirty="0">
                <a:latin typeface="微软雅黑" panose="020B0503020204020204" pitchFamily="82" charset="2"/>
                <a:ea typeface="微软雅黑" panose="020B0503020204020204" pitchFamily="82" charset="2"/>
              </a:rPr>
              <a:t>其每种操作</a:t>
            </a:r>
            <a:r>
              <a:rPr lang="en-US" altLang="zh-CN" dirty="0">
                <a:latin typeface="微软雅黑" panose="020B0503020204020204" pitchFamily="82" charset="2"/>
                <a:ea typeface="微软雅黑" panose="020B0503020204020204" pitchFamily="82" charset="2"/>
              </a:rPr>
              <a:t>(</a:t>
            </a:r>
            <a:r>
              <a:rPr lang="zh-CN" altLang="en-US" dirty="0">
                <a:latin typeface="微软雅黑" panose="020B0503020204020204" pitchFamily="82" charset="2"/>
                <a:ea typeface="微软雅黑" panose="020B0503020204020204" pitchFamily="82" charset="2"/>
              </a:rPr>
              <a:t>搜索、插入、删除</a:t>
            </a:r>
            <a:r>
              <a:rPr lang="en-US" altLang="zh-CN" dirty="0">
                <a:latin typeface="微软雅黑" panose="020B0503020204020204" pitchFamily="82" charset="2"/>
                <a:ea typeface="微软雅黑" panose="020B0503020204020204" pitchFamily="82" charset="2"/>
              </a:rPr>
              <a:t>)</a:t>
            </a:r>
            <a:r>
              <a:rPr lang="zh-CN" altLang="en-US" dirty="0">
                <a:latin typeface="微软雅黑" panose="020B0503020204020204" pitchFamily="82" charset="2"/>
                <a:ea typeface="微软雅黑" panose="020B0503020204020204" pitchFamily="82" charset="2"/>
              </a:rPr>
              <a:t>的平均复杂性均为</a:t>
            </a:r>
            <a:r>
              <a:rPr lang="en-US" altLang="zh-CN" dirty="0">
                <a:latin typeface="微软雅黑" panose="020B0503020204020204" pitchFamily="82" charset="2"/>
                <a:ea typeface="微软雅黑" panose="020B0503020204020204" pitchFamily="82" charset="2"/>
              </a:rPr>
              <a:t>O(</a:t>
            </a:r>
            <a:r>
              <a:rPr lang="en-US" altLang="zh-CN" dirty="0" err="1">
                <a:latin typeface="微软雅黑" panose="020B0503020204020204" pitchFamily="82" charset="2"/>
                <a:ea typeface="微软雅黑" panose="020B0503020204020204" pitchFamily="82" charset="2"/>
              </a:rPr>
              <a:t>logn</a:t>
            </a:r>
            <a:r>
              <a:rPr lang="en-US" altLang="zh-CN" dirty="0">
                <a:latin typeface="微软雅黑" panose="020B0503020204020204" pitchFamily="82" charset="2"/>
                <a:ea typeface="微软雅黑" panose="020B0503020204020204" pitchFamily="82" charset="2"/>
              </a:rPr>
              <a:t>)</a:t>
            </a:r>
            <a:r>
              <a:rPr lang="zh-CN" altLang="en-US" dirty="0">
                <a:latin typeface="微软雅黑" panose="020B0503020204020204" pitchFamily="82" charset="2"/>
                <a:ea typeface="微软雅黑" panose="020B0503020204020204" pitchFamily="82" charset="2"/>
              </a:rPr>
              <a:t>。</a:t>
            </a:r>
            <a:endParaRPr dirty="0">
              <a:latin typeface="微软雅黑" panose="020B0503020204020204" pitchFamily="82" charset="2"/>
              <a:ea typeface="微软雅黑" panose="020B0503020204020204" pitchFamily="82" charset="2"/>
            </a:endParaRPr>
          </a:p>
          <a:p>
            <a:pPr>
              <a:lnSpc>
                <a:spcPct val="150000"/>
              </a:lnSpc>
              <a:buFont typeface="Wingdings" panose="05000000000000000000" charset="0"/>
              <a:buChar char="u"/>
            </a:pPr>
            <a:r>
              <a:rPr dirty="0">
                <a:latin typeface="微软雅黑" panose="020B0503020204020204" pitchFamily="82" charset="2"/>
                <a:ea typeface="微软雅黑" panose="020B0503020204020204" pitchFamily="82" charset="2"/>
              </a:rPr>
              <a:t>如下是一个典型的跳表:</a:t>
            </a:r>
          </a:p>
        </p:txBody>
      </p:sp>
      <p:pic>
        <p:nvPicPr>
          <p:cNvPr id="5" name="图片 4"/>
          <p:cNvPicPr>
            <a:picLocks noChangeAspect="1"/>
          </p:cNvPicPr>
          <p:nvPr/>
        </p:nvPicPr>
        <p:blipFill>
          <a:blip r:embed="rId2"/>
          <a:stretch>
            <a:fillRect/>
          </a:stretch>
        </p:blipFill>
        <p:spPr>
          <a:xfrm>
            <a:off x="905998" y="4653136"/>
            <a:ext cx="8059420" cy="1950085"/>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90</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97109" y="40422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特点</a:t>
            </a:r>
          </a:p>
        </p:txBody>
      </p:sp>
      <p:pic>
        <p:nvPicPr>
          <p:cNvPr id="7" name="图片 6"/>
          <p:cNvPicPr>
            <a:picLocks noChangeAspect="1"/>
          </p:cNvPicPr>
          <p:nvPr/>
        </p:nvPicPr>
        <p:blipFill>
          <a:blip r:embed="rId2"/>
          <a:stretch>
            <a:fillRect/>
          </a:stretch>
        </p:blipFill>
        <p:spPr>
          <a:xfrm>
            <a:off x="395536" y="1430747"/>
            <a:ext cx="8568951" cy="5010254"/>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91</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97109" y="40422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跳表的基本结构</a:t>
            </a:r>
          </a:p>
        </p:txBody>
      </p:sp>
      <p:sp>
        <p:nvSpPr>
          <p:cNvPr id="4" name="内容占位符 3"/>
          <p:cNvSpPr>
            <a:spLocks noGrp="1"/>
          </p:cNvSpPr>
          <p:nvPr>
            <p:ph idx="1"/>
          </p:nvPr>
        </p:nvSpPr>
        <p:spPr>
          <a:xfrm>
            <a:off x="611505" y="1268730"/>
            <a:ext cx="8483600" cy="1903730"/>
          </a:xfrm>
        </p:spPr>
        <p:txBody>
          <a:bodyPr/>
          <a:lstStyle/>
          <a:p>
            <a:pPr>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跳表是一组排序的链表，它们分层堆叠在一起，每个层级都包含了部分或全部元素，但每个上层都是下层的一个稀疏子集。</a:t>
            </a:r>
          </a:p>
          <a:p>
            <a:pPr>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底层（Level 0）：包含所有元素的完整链表</a:t>
            </a:r>
          </a:p>
          <a:p>
            <a:pPr>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上层：每一层都是下一层的稀疏子集，包含的元素逐层减少，每个元素向上晋级的概率通常是固定的（例如1/2）</a:t>
            </a:r>
          </a:p>
          <a:p>
            <a:pPr>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节点：不仅包含数据，还包含指针：指向同层下一个节点、上层或下层的指针。</a:t>
            </a:r>
          </a:p>
          <a:p>
            <a:pPr>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示例：</a:t>
            </a:r>
          </a:p>
          <a:p>
            <a:pPr>
              <a:lnSpc>
                <a:spcPct val="150000"/>
              </a:lnSpc>
              <a:buFont typeface="Wingdings" panose="05000000000000000000" charset="0"/>
              <a:buChar char="u"/>
            </a:pPr>
            <a:endParaRPr sz="1800" dirty="0">
              <a:latin typeface="微软雅黑" panose="020B0503020204020204" pitchFamily="82" charset="2"/>
              <a:ea typeface="微软雅黑" panose="020B0503020204020204" pitchFamily="82" charset="2"/>
            </a:endParaRPr>
          </a:p>
        </p:txBody>
      </p:sp>
      <p:pic>
        <p:nvPicPr>
          <p:cNvPr id="5" name="图片 4"/>
          <p:cNvPicPr>
            <a:picLocks noChangeAspect="1"/>
          </p:cNvPicPr>
          <p:nvPr/>
        </p:nvPicPr>
        <p:blipFill>
          <a:blip r:embed="rId2"/>
          <a:stretch>
            <a:fillRect/>
          </a:stretch>
        </p:blipFill>
        <p:spPr>
          <a:xfrm>
            <a:off x="1331595" y="4653280"/>
            <a:ext cx="6775450" cy="222250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Shape18"/>
          <p:cNvSpPr/>
          <p:nvPr/>
        </p:nvSpPr>
        <p:spPr>
          <a:xfrm>
            <a:off x="1121229" y="3893751"/>
            <a:ext cx="6978599" cy="159354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92</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83139" y="620124"/>
            <a:ext cx="7568173" cy="678470"/>
          </a:xfrm>
        </p:spPr>
        <p:txBody>
          <a:bodyPr/>
          <a:lstStyle/>
          <a:p>
            <a:r>
              <a:rPr sz="2700" dirty="0">
                <a:solidFill>
                  <a:srgbClr val="FF0000"/>
                </a:solidFill>
                <a:latin typeface="微软雅黑" panose="020B0503020204020204" pitchFamily="82" charset="2"/>
                <a:ea typeface="微软雅黑" panose="020B0503020204020204" pitchFamily="82" charset="2"/>
              </a:rPr>
              <a:t>跳表的基本结构</a:t>
            </a:r>
          </a:p>
        </p:txBody>
      </p:sp>
      <p:sp>
        <p:nvSpPr>
          <p:cNvPr id="4" name="内容占位符 3"/>
          <p:cNvSpPr>
            <a:spLocks noGrp="1"/>
          </p:cNvSpPr>
          <p:nvPr>
            <p:ph idx="1"/>
          </p:nvPr>
        </p:nvSpPr>
        <p:spPr>
          <a:xfrm>
            <a:off x="892905" y="1445752"/>
            <a:ext cx="8155641" cy="2182724"/>
          </a:xfrm>
        </p:spPr>
        <p:txBody>
          <a:bodyPr/>
          <a:lstStyle/>
          <a:p>
            <a:pPr>
              <a:lnSpc>
                <a:spcPct val="150000"/>
              </a:lnSpc>
              <a:buFont typeface="Wingdings" panose="05000000000000000000" pitchFamily="2" charset="2"/>
              <a:buChar char="Ø"/>
            </a:pPr>
            <a:r>
              <a:rPr lang="en-US" altLang="zh-CN" sz="1800" b="1" dirty="0">
                <a:solidFill>
                  <a:srgbClr val="701988"/>
                </a:solidFill>
                <a:latin typeface="微软雅黑" panose="020B0503020204020204" pitchFamily="82" charset="2"/>
                <a:ea typeface="微软雅黑" panose="020B0503020204020204" pitchFamily="82" charset="2"/>
              </a:rPr>
              <a:t>SkipList S </a:t>
            </a:r>
            <a:r>
              <a:rPr lang="zh-CN" altLang="en-US" sz="1800" b="1" dirty="0">
                <a:solidFill>
                  <a:srgbClr val="701988"/>
                </a:solidFill>
                <a:latin typeface="微软雅黑" panose="020B0503020204020204" pitchFamily="82" charset="2"/>
                <a:ea typeface="微软雅黑" panose="020B0503020204020204" pitchFamily="82" charset="2"/>
              </a:rPr>
              <a:t>包含多个链表</a:t>
            </a:r>
            <a:r>
              <a:rPr lang="en-US" altLang="zh-CN" sz="1800" b="1" dirty="0">
                <a:solidFill>
                  <a:srgbClr val="701988"/>
                </a:solidFill>
                <a:latin typeface="微软雅黑" panose="020B0503020204020204" pitchFamily="82" charset="2"/>
                <a:ea typeface="微软雅黑" panose="020B0503020204020204" pitchFamily="82" charset="2"/>
              </a:rPr>
              <a:t> S</a:t>
            </a:r>
            <a:r>
              <a:rPr lang="en-US" altLang="zh-CN" sz="1800" b="1" baseline="-25000" dirty="0">
                <a:solidFill>
                  <a:srgbClr val="701988"/>
                </a:solidFill>
                <a:latin typeface="微软雅黑" panose="020B0503020204020204" pitchFamily="82" charset="2"/>
                <a:ea typeface="微软雅黑" panose="020B0503020204020204" pitchFamily="82" charset="2"/>
              </a:rPr>
              <a:t>0</a:t>
            </a:r>
            <a:r>
              <a:rPr lang="en-US" altLang="zh-CN" sz="1800" b="1" dirty="0">
                <a:solidFill>
                  <a:srgbClr val="701988"/>
                </a:solidFill>
                <a:latin typeface="微软雅黑" panose="020B0503020204020204" pitchFamily="82" charset="2"/>
                <a:ea typeface="微软雅黑" panose="020B0503020204020204" pitchFamily="82" charset="2"/>
              </a:rPr>
              <a:t>, S</a:t>
            </a:r>
            <a:r>
              <a:rPr lang="en-US" altLang="zh-CN" sz="1800" b="1" baseline="-25000" dirty="0">
                <a:solidFill>
                  <a:srgbClr val="701988"/>
                </a:solidFill>
                <a:latin typeface="微软雅黑" panose="020B0503020204020204" pitchFamily="82" charset="2"/>
                <a:ea typeface="微软雅黑" panose="020B0503020204020204" pitchFamily="82" charset="2"/>
              </a:rPr>
              <a:t>1</a:t>
            </a:r>
            <a:r>
              <a:rPr lang="en-US" altLang="zh-CN" sz="1800" b="1" dirty="0">
                <a:solidFill>
                  <a:srgbClr val="701988"/>
                </a:solidFill>
                <a:latin typeface="微软雅黑" panose="020B0503020204020204" pitchFamily="82" charset="2"/>
                <a:ea typeface="微软雅黑" panose="020B0503020204020204" pitchFamily="82" charset="2"/>
              </a:rPr>
              <a:t> , … , </a:t>
            </a:r>
            <a:r>
              <a:rPr lang="en-US" altLang="zh-CN" sz="1800" b="1" dirty="0" err="1">
                <a:solidFill>
                  <a:srgbClr val="701988"/>
                </a:solidFill>
                <a:latin typeface="微软雅黑" panose="020B0503020204020204" pitchFamily="82" charset="2"/>
                <a:ea typeface="微软雅黑" panose="020B0503020204020204" pitchFamily="82" charset="2"/>
              </a:rPr>
              <a:t>S</a:t>
            </a:r>
            <a:r>
              <a:rPr lang="en-US" altLang="zh-CN" sz="1800" b="1" baseline="-25000" dirty="0" err="1">
                <a:solidFill>
                  <a:srgbClr val="701988"/>
                </a:solidFill>
                <a:latin typeface="微软雅黑" panose="020B0503020204020204" pitchFamily="82" charset="2"/>
                <a:ea typeface="微软雅黑" panose="020B0503020204020204" pitchFamily="82" charset="2"/>
              </a:rPr>
              <a:t>h</a:t>
            </a:r>
            <a:r>
              <a:rPr lang="en-US" altLang="zh-CN" sz="1800" b="1" dirty="0">
                <a:solidFill>
                  <a:srgbClr val="701988"/>
                </a:solidFill>
                <a:latin typeface="微软雅黑" panose="020B0503020204020204" pitchFamily="82" charset="2"/>
                <a:ea typeface="微软雅黑" panose="020B0503020204020204" pitchFamily="82" charset="2"/>
              </a:rPr>
              <a:t> </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每个链表</a:t>
            </a: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i</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包含</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 </a:t>
            </a:r>
            <a:r>
              <a:rPr lang="zh-CN" altLang="en-US" sz="1500" dirty="0">
                <a:latin typeface="微软雅黑" panose="020B0503020204020204" pitchFamily="82" charset="2"/>
                <a:ea typeface="微软雅黑" panose="020B0503020204020204" pitchFamily="82" charset="2"/>
              </a:rPr>
              <a:t>和</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以及</a:t>
            </a:r>
            <a:r>
              <a:rPr lang="en-US" altLang="zh-CN" sz="1500" dirty="0">
                <a:latin typeface="微软雅黑" panose="020B0503020204020204" pitchFamily="82" charset="2"/>
                <a:ea typeface="微软雅黑" panose="020B0503020204020204" pitchFamily="82" charset="2"/>
              </a:rPr>
              <a:t>S</a:t>
            </a:r>
            <a:r>
              <a:rPr lang="zh-CN" altLang="en-US" sz="1500" dirty="0">
                <a:latin typeface="微软雅黑" panose="020B0503020204020204" pitchFamily="82" charset="2"/>
                <a:ea typeface="微软雅黑" panose="020B0503020204020204" pitchFamily="82" charset="2"/>
              </a:rPr>
              <a:t>中的键值，键值单调不递减</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包含</a:t>
            </a:r>
            <a:r>
              <a:rPr lang="en-US" altLang="zh-CN" sz="1500" dirty="0">
                <a:latin typeface="微软雅黑" panose="020B0503020204020204" pitchFamily="82" charset="2"/>
                <a:ea typeface="微软雅黑" panose="020B0503020204020204" pitchFamily="82" charset="2"/>
              </a:rPr>
              <a:t>S</a:t>
            </a:r>
            <a:r>
              <a:rPr lang="zh-CN" altLang="en-US" sz="1500" dirty="0">
                <a:latin typeface="微软雅黑" panose="020B0503020204020204" pitchFamily="82" charset="2"/>
                <a:ea typeface="微软雅黑" panose="020B0503020204020204" pitchFamily="82" charset="2"/>
              </a:rPr>
              <a:t>中的全部键值</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每层的链表</a:t>
            </a: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i</a:t>
            </a:r>
            <a:r>
              <a:rPr lang="zh-CN" altLang="en-US" sz="1500" dirty="0">
                <a:latin typeface="微软雅黑" panose="020B0503020204020204" pitchFamily="82" charset="2"/>
                <a:ea typeface="微软雅黑" panose="020B0503020204020204" pitchFamily="82" charset="2"/>
              </a:rPr>
              <a:t>包含上层链表的键值</a:t>
            </a: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i+1</a:t>
            </a:r>
            <a:r>
              <a:rPr lang="en-US" altLang="zh-CN" sz="1500" dirty="0">
                <a:latin typeface="微软雅黑" panose="020B0503020204020204" pitchFamily="82" charset="2"/>
                <a:ea typeface="微软雅黑" panose="020B0503020204020204" pitchFamily="82" charset="2"/>
              </a:rPr>
              <a:t>,</a:t>
            </a:r>
            <a:br>
              <a:rPr lang="en-US" altLang="zh-CN" sz="1500" dirty="0">
                <a:latin typeface="微软雅黑" panose="020B0503020204020204" pitchFamily="82" charset="2"/>
                <a:ea typeface="微软雅黑" panose="020B0503020204020204" pitchFamily="82" charset="2"/>
              </a:rPr>
            </a:br>
            <a:r>
              <a:rPr lang="en-US" altLang="zh-CN" sz="1500" dirty="0">
                <a:latin typeface="微软雅黑" panose="020B0503020204020204" pitchFamily="82" charset="2"/>
                <a:ea typeface="微软雅黑" panose="020B0503020204020204" pitchFamily="82" charset="2"/>
              </a:rPr>
              <a:t>			S</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S</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a:t>
            </a:r>
            <a:r>
              <a:rPr lang="en-US" altLang="zh-CN" sz="1500" dirty="0" err="1">
                <a:latin typeface="微软雅黑" panose="020B0503020204020204" pitchFamily="82" charset="2"/>
                <a:ea typeface="微软雅黑" panose="020B0503020204020204" pitchFamily="82" charset="2"/>
              </a:rPr>
              <a:t>S</a:t>
            </a:r>
            <a:r>
              <a:rPr lang="en-US" altLang="zh-CN" sz="1500" baseline="-25000" dirty="0" err="1">
                <a:latin typeface="微软雅黑" panose="020B0503020204020204" pitchFamily="82" charset="2"/>
                <a:ea typeface="微软雅黑" panose="020B0503020204020204" pitchFamily="82" charset="2"/>
              </a:rPr>
              <a:t>h</a:t>
            </a:r>
            <a:endParaRPr lang="en-US" altLang="zh-CN" sz="1500" baseline="-250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err="1">
                <a:latin typeface="微软雅黑" panose="020B0503020204020204" pitchFamily="82" charset="2"/>
                <a:ea typeface="微软雅黑" panose="020B0503020204020204" pitchFamily="82" charset="2"/>
              </a:rPr>
              <a:t>S</a:t>
            </a:r>
            <a:r>
              <a:rPr lang="en-US" altLang="zh-CN" sz="1500" baseline="-25000" dirty="0" err="1">
                <a:latin typeface="微软雅黑" panose="020B0503020204020204" pitchFamily="82" charset="2"/>
                <a:ea typeface="微软雅黑" panose="020B0503020204020204" pitchFamily="82" charset="2"/>
              </a:rPr>
              <a:t>h</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只包含</a:t>
            </a:r>
            <a:r>
              <a:rPr lang="en-US" altLang="zh-CN" sz="1500" dirty="0">
                <a:latin typeface="微软雅黑" panose="020B0503020204020204" pitchFamily="82" charset="2"/>
                <a:ea typeface="微软雅黑" panose="020B0503020204020204" pitchFamily="82" charset="2"/>
                <a:sym typeface="Symbol" panose="05050102010706020507" pitchFamily="18" charset="2"/>
              </a:rPr>
              <a:t>+ </a:t>
            </a:r>
            <a:r>
              <a:rPr lang="zh-CN" altLang="en-US" sz="1500" dirty="0">
                <a:latin typeface="微软雅黑" panose="020B0503020204020204" pitchFamily="82" charset="2"/>
                <a:ea typeface="微软雅黑" panose="020B0503020204020204" pitchFamily="82" charset="2"/>
              </a:rPr>
              <a:t>和</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a:t>
            </a:r>
          </a:p>
          <a:p>
            <a:endParaRPr lang="zh-CN" altLang="en-US" sz="2100" dirty="0">
              <a:latin typeface="微软雅黑" panose="020B0503020204020204" pitchFamily="82" charset="2"/>
              <a:ea typeface="微软雅黑" panose="020B0503020204020204" pitchFamily="82" charset="2"/>
              <a:cs typeface="Times New Roman" panose="02020603050405020304" pitchFamily="18" charset="0"/>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grpSp>
        <p:nvGrpSpPr>
          <p:cNvPr id="110" name="组合 109"/>
          <p:cNvGrpSpPr/>
          <p:nvPr/>
        </p:nvGrpSpPr>
        <p:grpSpPr>
          <a:xfrm>
            <a:off x="1960443" y="3997229"/>
            <a:ext cx="5149574" cy="1367738"/>
            <a:chOff x="607240" y="4068763"/>
            <a:chExt cx="7860485" cy="2087761"/>
          </a:xfrm>
        </p:grpSpPr>
        <p:sp>
          <p:nvSpPr>
            <p:cNvPr id="58" name="Line 51"/>
            <p:cNvSpPr>
              <a:spLocks noChangeShapeType="1"/>
            </p:cNvSpPr>
            <p:nvPr/>
          </p:nvSpPr>
          <p:spPr bwMode="auto">
            <a:xfrm>
              <a:off x="1381125" y="4449763"/>
              <a:ext cx="0" cy="12954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59" name="Line 53"/>
            <p:cNvSpPr>
              <a:spLocks noChangeShapeType="1"/>
            </p:cNvSpPr>
            <p:nvPr/>
          </p:nvSpPr>
          <p:spPr bwMode="auto">
            <a:xfrm flipV="1">
              <a:off x="4200525" y="4906963"/>
              <a:ext cx="0" cy="8382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60" name="Line 56"/>
            <p:cNvSpPr>
              <a:spLocks noChangeShapeType="1"/>
            </p:cNvSpPr>
            <p:nvPr/>
          </p:nvSpPr>
          <p:spPr bwMode="auto">
            <a:xfrm>
              <a:off x="8315325" y="4449763"/>
              <a:ext cx="0" cy="12954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nvGrpSpPr>
            <p:cNvPr id="61" name="Group 4"/>
            <p:cNvGrpSpPr/>
            <p:nvPr/>
          </p:nvGrpSpPr>
          <p:grpSpPr bwMode="auto">
            <a:xfrm>
              <a:off x="1187450" y="5740400"/>
              <a:ext cx="7280275" cy="215900"/>
              <a:chOff x="838" y="3693"/>
              <a:chExt cx="4586" cy="136"/>
            </a:xfrm>
          </p:grpSpPr>
          <p:sp>
            <p:nvSpPr>
              <p:cNvPr id="62" name="Rectangle 5"/>
              <p:cNvSpPr>
                <a:spLocks noChangeArrowheads="1"/>
              </p:cNvSpPr>
              <p:nvPr/>
            </p:nvSpPr>
            <p:spPr bwMode="auto">
              <a:xfrm>
                <a:off x="3896"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56</a:t>
                </a:r>
              </a:p>
            </p:txBody>
          </p:sp>
          <p:sp>
            <p:nvSpPr>
              <p:cNvPr id="63" name="Rectangle 6"/>
              <p:cNvSpPr>
                <a:spLocks noChangeArrowheads="1"/>
              </p:cNvSpPr>
              <p:nvPr/>
            </p:nvSpPr>
            <p:spPr bwMode="auto">
              <a:xfrm>
                <a:off x="4330" y="3693"/>
                <a:ext cx="227"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64" name="Rectangle 7"/>
              <p:cNvSpPr>
                <a:spLocks noChangeArrowheads="1"/>
              </p:cNvSpPr>
              <p:nvPr/>
            </p:nvSpPr>
            <p:spPr bwMode="auto">
              <a:xfrm>
                <a:off x="4762" y="369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78</a:t>
                </a:r>
              </a:p>
            </p:txBody>
          </p:sp>
          <p:sp>
            <p:nvSpPr>
              <p:cNvPr id="65" name="Rectangle 8"/>
              <p:cNvSpPr>
                <a:spLocks noChangeArrowheads="1"/>
              </p:cNvSpPr>
              <p:nvPr/>
            </p:nvSpPr>
            <p:spPr bwMode="auto">
              <a:xfrm>
                <a:off x="5196" y="369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66" name="Rectangle 9"/>
              <p:cNvSpPr>
                <a:spLocks noChangeArrowheads="1"/>
              </p:cNvSpPr>
              <p:nvPr/>
            </p:nvSpPr>
            <p:spPr bwMode="auto">
              <a:xfrm>
                <a:off x="2610" y="369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67" name="Rectangle 10"/>
              <p:cNvSpPr>
                <a:spLocks noChangeArrowheads="1"/>
              </p:cNvSpPr>
              <p:nvPr/>
            </p:nvSpPr>
            <p:spPr bwMode="auto">
              <a:xfrm>
                <a:off x="3043"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sp>
            <p:nvSpPr>
              <p:cNvPr id="68" name="Rectangle 11"/>
              <p:cNvSpPr>
                <a:spLocks noChangeArrowheads="1"/>
              </p:cNvSpPr>
              <p:nvPr/>
            </p:nvSpPr>
            <p:spPr bwMode="auto">
              <a:xfrm>
                <a:off x="3462"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44</a:t>
                </a:r>
              </a:p>
            </p:txBody>
          </p:sp>
          <p:sp>
            <p:nvSpPr>
              <p:cNvPr id="69" name="Rectangle 12"/>
              <p:cNvSpPr>
                <a:spLocks noChangeArrowheads="1"/>
              </p:cNvSpPr>
              <p:nvPr/>
            </p:nvSpPr>
            <p:spPr bwMode="auto">
              <a:xfrm>
                <a:off x="838"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70" name="Rectangle 13"/>
              <p:cNvSpPr>
                <a:spLocks noChangeArrowheads="1"/>
              </p:cNvSpPr>
              <p:nvPr/>
            </p:nvSpPr>
            <p:spPr bwMode="auto">
              <a:xfrm>
                <a:off x="1272"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12</a:t>
                </a:r>
              </a:p>
            </p:txBody>
          </p:sp>
          <p:sp>
            <p:nvSpPr>
              <p:cNvPr id="71" name="Rectangle 14"/>
              <p:cNvSpPr>
                <a:spLocks noChangeArrowheads="1"/>
              </p:cNvSpPr>
              <p:nvPr/>
            </p:nvSpPr>
            <p:spPr bwMode="auto">
              <a:xfrm>
                <a:off x="1705"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72" name="Rectangle 15"/>
              <p:cNvSpPr>
                <a:spLocks noChangeArrowheads="1"/>
              </p:cNvSpPr>
              <p:nvPr/>
            </p:nvSpPr>
            <p:spPr bwMode="auto">
              <a:xfrm>
                <a:off x="2139"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26</a:t>
                </a:r>
              </a:p>
            </p:txBody>
          </p:sp>
          <p:cxnSp>
            <p:nvCxnSpPr>
              <p:cNvPr id="73" name="AutoShape 16"/>
              <p:cNvCxnSpPr>
                <a:cxnSpLocks noChangeShapeType="1"/>
                <a:stCxn id="69" idx="3"/>
                <a:endCxn id="70" idx="1"/>
              </p:cNvCxnSpPr>
              <p:nvPr/>
            </p:nvCxnSpPr>
            <p:spPr bwMode="auto">
              <a:xfrm>
                <a:off x="1073"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AutoShape 17"/>
              <p:cNvCxnSpPr>
                <a:cxnSpLocks noChangeShapeType="1"/>
                <a:stCxn id="71" idx="3"/>
                <a:endCxn id="72" idx="1"/>
              </p:cNvCxnSpPr>
              <p:nvPr/>
            </p:nvCxnSpPr>
            <p:spPr bwMode="auto">
              <a:xfrm>
                <a:off x="1940"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AutoShape 18"/>
              <p:cNvCxnSpPr>
                <a:cxnSpLocks noChangeShapeType="1"/>
                <a:stCxn id="66" idx="3"/>
                <a:endCxn id="67" idx="1"/>
              </p:cNvCxnSpPr>
              <p:nvPr/>
            </p:nvCxnSpPr>
            <p:spPr bwMode="auto">
              <a:xfrm>
                <a:off x="2844"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AutoShape 19"/>
              <p:cNvCxnSpPr>
                <a:cxnSpLocks noChangeShapeType="1"/>
                <a:stCxn id="70" idx="3"/>
                <a:endCxn id="71" idx="1"/>
              </p:cNvCxnSpPr>
              <p:nvPr/>
            </p:nvCxnSpPr>
            <p:spPr bwMode="auto">
              <a:xfrm>
                <a:off x="1507" y="3761"/>
                <a:ext cx="19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AutoShape 20"/>
              <p:cNvCxnSpPr>
                <a:cxnSpLocks noChangeShapeType="1"/>
                <a:stCxn id="72" idx="3"/>
                <a:endCxn id="66" idx="1"/>
              </p:cNvCxnSpPr>
              <p:nvPr/>
            </p:nvCxnSpPr>
            <p:spPr bwMode="auto">
              <a:xfrm>
                <a:off x="2374" y="3761"/>
                <a:ext cx="23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AutoShape 21"/>
              <p:cNvCxnSpPr>
                <a:cxnSpLocks noChangeShapeType="1"/>
                <a:stCxn id="67" idx="3"/>
                <a:endCxn id="68" idx="1"/>
              </p:cNvCxnSpPr>
              <p:nvPr/>
            </p:nvCxnSpPr>
            <p:spPr bwMode="auto">
              <a:xfrm>
                <a:off x="3278" y="3761"/>
                <a:ext cx="17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AutoShape 22"/>
              <p:cNvCxnSpPr>
                <a:cxnSpLocks noChangeShapeType="1"/>
                <a:stCxn id="68" idx="3"/>
                <a:endCxn id="62" idx="1"/>
              </p:cNvCxnSpPr>
              <p:nvPr/>
            </p:nvCxnSpPr>
            <p:spPr bwMode="auto">
              <a:xfrm>
                <a:off x="3697"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AutoShape 23"/>
              <p:cNvCxnSpPr>
                <a:cxnSpLocks noChangeShapeType="1"/>
                <a:stCxn id="62" idx="3"/>
                <a:endCxn id="63" idx="1"/>
              </p:cNvCxnSpPr>
              <p:nvPr/>
            </p:nvCxnSpPr>
            <p:spPr bwMode="auto">
              <a:xfrm>
                <a:off x="4131"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AutoShape 24"/>
              <p:cNvCxnSpPr>
                <a:cxnSpLocks noChangeShapeType="1"/>
                <a:stCxn id="63" idx="3"/>
                <a:endCxn id="64" idx="1"/>
              </p:cNvCxnSpPr>
              <p:nvPr/>
            </p:nvCxnSpPr>
            <p:spPr bwMode="auto">
              <a:xfrm>
                <a:off x="4563"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AutoShape 25"/>
              <p:cNvCxnSpPr>
                <a:cxnSpLocks noChangeShapeType="1"/>
                <a:stCxn id="64" idx="3"/>
                <a:endCxn id="65" idx="1"/>
              </p:cNvCxnSpPr>
              <p:nvPr/>
            </p:nvCxnSpPr>
            <p:spPr bwMode="auto">
              <a:xfrm>
                <a:off x="4996" y="3761"/>
                <a:ext cx="194"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3" name="Group 26"/>
            <p:cNvGrpSpPr/>
            <p:nvPr/>
          </p:nvGrpSpPr>
          <p:grpSpPr bwMode="auto">
            <a:xfrm>
              <a:off x="1187450" y="4221163"/>
              <a:ext cx="7280275" cy="215900"/>
              <a:chOff x="838" y="2736"/>
              <a:chExt cx="4586" cy="136"/>
            </a:xfrm>
          </p:grpSpPr>
          <p:sp>
            <p:nvSpPr>
              <p:cNvPr id="84" name="Rectangle 27"/>
              <p:cNvSpPr>
                <a:spLocks noChangeArrowheads="1"/>
              </p:cNvSpPr>
              <p:nvPr/>
            </p:nvSpPr>
            <p:spPr bwMode="auto">
              <a:xfrm>
                <a:off x="5196" y="2736"/>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dirty="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dirty="0">
                  <a:solidFill>
                    <a:srgbClr val="000000"/>
                  </a:solidFill>
                  <a:latin typeface="微软雅黑" panose="020B0503020204020204" pitchFamily="82" charset="2"/>
                  <a:ea typeface="微软雅黑" panose="020B0503020204020204" pitchFamily="82" charset="2"/>
                </a:endParaRPr>
              </a:p>
            </p:txBody>
          </p:sp>
          <p:sp>
            <p:nvSpPr>
              <p:cNvPr id="85" name="Rectangle 28"/>
              <p:cNvSpPr>
                <a:spLocks noChangeArrowheads="1"/>
              </p:cNvSpPr>
              <p:nvPr/>
            </p:nvSpPr>
            <p:spPr bwMode="auto">
              <a:xfrm>
                <a:off x="838" y="2736"/>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86" name="AutoShape 29"/>
              <p:cNvCxnSpPr>
                <a:cxnSpLocks noChangeShapeType="1"/>
                <a:stCxn id="85" idx="3"/>
                <a:endCxn id="84" idx="1"/>
              </p:cNvCxnSpPr>
              <p:nvPr/>
            </p:nvCxnSpPr>
            <p:spPr bwMode="auto">
              <a:xfrm>
                <a:off x="1073" y="2804"/>
                <a:ext cx="411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7" name="Rectangle 30"/>
            <p:cNvSpPr>
              <a:spLocks noChangeArrowheads="1"/>
            </p:cNvSpPr>
            <p:nvPr/>
          </p:nvSpPr>
          <p:spPr bwMode="auto">
            <a:xfrm>
              <a:off x="8105775" y="4727575"/>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88" name="Rectangle 31"/>
            <p:cNvSpPr>
              <a:spLocks noChangeArrowheads="1"/>
            </p:cNvSpPr>
            <p:nvPr/>
          </p:nvSpPr>
          <p:spPr bwMode="auto">
            <a:xfrm>
              <a:off x="4000500" y="4727575"/>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89" name="Rectangle 32"/>
            <p:cNvSpPr>
              <a:spLocks noChangeArrowheads="1"/>
            </p:cNvSpPr>
            <p:nvPr/>
          </p:nvSpPr>
          <p:spPr bwMode="auto">
            <a:xfrm>
              <a:off x="1187450" y="4727575"/>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cxnSp>
          <p:nvCxnSpPr>
            <p:cNvPr id="90" name="AutoShape 33"/>
            <p:cNvCxnSpPr>
              <a:cxnSpLocks noChangeShapeType="1"/>
              <a:stCxn id="89" idx="3"/>
              <a:endCxn id="88" idx="1"/>
            </p:cNvCxnSpPr>
            <p:nvPr/>
          </p:nvCxnSpPr>
          <p:spPr bwMode="auto">
            <a:xfrm>
              <a:off x="1560513" y="4835525"/>
              <a:ext cx="243046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34"/>
            <p:cNvCxnSpPr>
              <a:cxnSpLocks noChangeShapeType="1"/>
              <a:stCxn id="88" idx="3"/>
              <a:endCxn id="87" idx="1"/>
            </p:cNvCxnSpPr>
            <p:nvPr/>
          </p:nvCxnSpPr>
          <p:spPr bwMode="auto">
            <a:xfrm>
              <a:off x="4371975" y="4835525"/>
              <a:ext cx="37242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 name="Rectangle 35"/>
            <p:cNvSpPr>
              <a:spLocks noChangeArrowheads="1"/>
            </p:cNvSpPr>
            <p:nvPr/>
          </p:nvSpPr>
          <p:spPr bwMode="auto">
            <a:xfrm>
              <a:off x="6731000" y="5233988"/>
              <a:ext cx="360363"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93" name="Rectangle 36"/>
            <p:cNvSpPr>
              <a:spLocks noChangeArrowheads="1"/>
            </p:cNvSpPr>
            <p:nvPr/>
          </p:nvSpPr>
          <p:spPr bwMode="auto">
            <a:xfrm>
              <a:off x="8105775" y="5233988"/>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4" name="Rectangle 37"/>
            <p:cNvSpPr>
              <a:spLocks noChangeArrowheads="1"/>
            </p:cNvSpPr>
            <p:nvPr/>
          </p:nvSpPr>
          <p:spPr bwMode="auto">
            <a:xfrm>
              <a:off x="4000500" y="5233988"/>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95" name="Rectangle 38"/>
            <p:cNvSpPr>
              <a:spLocks noChangeArrowheads="1"/>
            </p:cNvSpPr>
            <p:nvPr/>
          </p:nvSpPr>
          <p:spPr bwMode="auto">
            <a:xfrm>
              <a:off x="4687888" y="5233988"/>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sp>
          <p:nvSpPr>
            <p:cNvPr id="96" name="Rectangle 39"/>
            <p:cNvSpPr>
              <a:spLocks noChangeArrowheads="1"/>
            </p:cNvSpPr>
            <p:nvPr/>
          </p:nvSpPr>
          <p:spPr bwMode="auto">
            <a:xfrm>
              <a:off x="1187450" y="5233988"/>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7" name="Rectangle 40"/>
            <p:cNvSpPr>
              <a:spLocks noChangeArrowheads="1"/>
            </p:cNvSpPr>
            <p:nvPr/>
          </p:nvSpPr>
          <p:spPr bwMode="auto">
            <a:xfrm>
              <a:off x="2563813" y="5233988"/>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cxnSp>
          <p:nvCxnSpPr>
            <p:cNvPr id="98" name="AutoShape 41"/>
            <p:cNvCxnSpPr>
              <a:cxnSpLocks noChangeShapeType="1"/>
              <a:stCxn id="96" idx="3"/>
              <a:endCxn id="97" idx="1"/>
            </p:cNvCxnSpPr>
            <p:nvPr/>
          </p:nvCxnSpPr>
          <p:spPr bwMode="auto">
            <a:xfrm>
              <a:off x="1560513" y="5341938"/>
              <a:ext cx="9937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AutoShape 42"/>
            <p:cNvCxnSpPr>
              <a:cxnSpLocks noChangeShapeType="1"/>
              <a:stCxn id="97" idx="3"/>
              <a:endCxn id="94" idx="1"/>
            </p:cNvCxnSpPr>
            <p:nvPr/>
          </p:nvCxnSpPr>
          <p:spPr bwMode="auto">
            <a:xfrm>
              <a:off x="2936875" y="5341938"/>
              <a:ext cx="105410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AutoShape 43"/>
            <p:cNvCxnSpPr>
              <a:cxnSpLocks noChangeShapeType="1"/>
              <a:stCxn id="94" idx="3"/>
              <a:endCxn id="95" idx="1"/>
            </p:cNvCxnSpPr>
            <p:nvPr/>
          </p:nvCxnSpPr>
          <p:spPr bwMode="auto">
            <a:xfrm>
              <a:off x="4371975" y="5341938"/>
              <a:ext cx="30638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AutoShape 44"/>
            <p:cNvCxnSpPr>
              <a:cxnSpLocks noChangeShapeType="1"/>
              <a:stCxn id="95" idx="3"/>
              <a:endCxn id="92" idx="1"/>
            </p:cNvCxnSpPr>
            <p:nvPr/>
          </p:nvCxnSpPr>
          <p:spPr bwMode="auto">
            <a:xfrm>
              <a:off x="5060950" y="5341938"/>
              <a:ext cx="16605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2" name="AutoShape 45"/>
            <p:cNvCxnSpPr>
              <a:cxnSpLocks noChangeShapeType="1"/>
              <a:stCxn id="92" idx="3"/>
              <a:endCxn id="93" idx="1"/>
            </p:cNvCxnSpPr>
            <p:nvPr/>
          </p:nvCxnSpPr>
          <p:spPr bwMode="auto">
            <a:xfrm>
              <a:off x="7100888" y="5341938"/>
              <a:ext cx="99536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Text Box 46"/>
            <p:cNvSpPr txBox="1">
              <a:spLocks noChangeArrowheads="1"/>
            </p:cNvSpPr>
            <p:nvPr/>
          </p:nvSpPr>
          <p:spPr bwMode="auto">
            <a:xfrm>
              <a:off x="607240" y="5592763"/>
              <a:ext cx="631785" cy="56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0</a:t>
              </a:r>
            </a:p>
          </p:txBody>
        </p:sp>
        <p:sp>
          <p:nvSpPr>
            <p:cNvPr id="104" name="Text Box 47"/>
            <p:cNvSpPr txBox="1">
              <a:spLocks noChangeArrowheads="1"/>
            </p:cNvSpPr>
            <p:nvPr/>
          </p:nvSpPr>
          <p:spPr bwMode="auto">
            <a:xfrm>
              <a:off x="607240" y="5084763"/>
              <a:ext cx="631785" cy="56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1</a:t>
              </a:r>
            </a:p>
          </p:txBody>
        </p:sp>
        <p:sp>
          <p:nvSpPr>
            <p:cNvPr id="105" name="Text Box 48"/>
            <p:cNvSpPr txBox="1">
              <a:spLocks noChangeArrowheads="1"/>
            </p:cNvSpPr>
            <p:nvPr/>
          </p:nvSpPr>
          <p:spPr bwMode="auto">
            <a:xfrm>
              <a:off x="607240" y="4576763"/>
              <a:ext cx="631785" cy="56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2</a:t>
              </a:r>
            </a:p>
          </p:txBody>
        </p:sp>
        <p:sp>
          <p:nvSpPr>
            <p:cNvPr id="106" name="Text Box 49"/>
            <p:cNvSpPr txBox="1">
              <a:spLocks noChangeArrowheads="1"/>
            </p:cNvSpPr>
            <p:nvPr/>
          </p:nvSpPr>
          <p:spPr bwMode="auto">
            <a:xfrm>
              <a:off x="607240" y="4068763"/>
              <a:ext cx="631785" cy="563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3</a:t>
              </a:r>
            </a:p>
          </p:txBody>
        </p:sp>
        <p:sp>
          <p:nvSpPr>
            <p:cNvPr id="107" name="Line 52"/>
            <p:cNvSpPr>
              <a:spLocks noChangeShapeType="1"/>
            </p:cNvSpPr>
            <p:nvPr/>
          </p:nvSpPr>
          <p:spPr bwMode="auto">
            <a:xfrm>
              <a:off x="2752725" y="5440363"/>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08" name="Line 54"/>
            <p:cNvSpPr>
              <a:spLocks noChangeShapeType="1"/>
            </p:cNvSpPr>
            <p:nvPr/>
          </p:nvSpPr>
          <p:spPr bwMode="auto">
            <a:xfrm>
              <a:off x="4886325" y="5440363"/>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09" name="Line 55"/>
            <p:cNvSpPr>
              <a:spLocks noChangeShapeType="1"/>
            </p:cNvSpPr>
            <p:nvPr/>
          </p:nvSpPr>
          <p:spPr bwMode="auto">
            <a:xfrm flipV="1">
              <a:off x="6943725" y="5440363"/>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80878" y="620688"/>
            <a:ext cx="5321372" cy="378349"/>
          </a:xfrm>
          <a:prstGeom prst="rect">
            <a:avLst/>
          </a:prstGeom>
        </p:spPr>
        <p:txBody>
          <a:bodyPr vert="horz" wrap="square" lIns="0" tIns="8930" rIns="0" bIns="0" numCol="1" rtlCol="0" anchor="ctr" anchorCtr="0" compatLnSpc="1">
            <a:spAutoFit/>
          </a:bodyPr>
          <a:lstStyle/>
          <a:p>
            <a:pPr marL="8929">
              <a:spcBef>
                <a:spcPts val="70"/>
              </a:spcBef>
            </a:pPr>
            <a:r>
              <a:rPr lang="zh-CN" altLang="en-US" sz="2400" dirty="0">
                <a:solidFill>
                  <a:srgbClr val="FF0000"/>
                </a:solidFill>
                <a:latin typeface="微软雅黑" panose="020B0503020204020204" pitchFamily="82" charset="2"/>
                <a:ea typeface="微软雅黑" panose="020B0503020204020204" pitchFamily="82" charset="2"/>
              </a:rPr>
              <a:t>跳表的基本</a:t>
            </a:r>
            <a:r>
              <a:rPr lang="zh-CN" altLang="en-US" sz="2400" dirty="0" smtClean="0">
                <a:solidFill>
                  <a:srgbClr val="FF0000"/>
                </a:solidFill>
                <a:latin typeface="微软雅黑" panose="020B0503020204020204" pitchFamily="82" charset="2"/>
                <a:ea typeface="微软雅黑" panose="020B0503020204020204" pitchFamily="82" charset="2"/>
              </a:rPr>
              <a:t>结构</a:t>
            </a:r>
            <a:r>
              <a:rPr lang="en-US" altLang="zh-CN" sz="2400" dirty="0" smtClean="0">
                <a:solidFill>
                  <a:srgbClr val="FF0000"/>
                </a:solidFill>
                <a:latin typeface="微软雅黑" panose="020B0503020204020204" pitchFamily="82" charset="2"/>
                <a:ea typeface="微软雅黑" panose="020B0503020204020204" pitchFamily="82" charset="2"/>
              </a:rPr>
              <a:t>:</a:t>
            </a:r>
            <a:r>
              <a:rPr lang="zh-CN" altLang="en-US" sz="2400" dirty="0" smtClean="0">
                <a:solidFill>
                  <a:srgbClr val="FF0000"/>
                </a:solidFill>
                <a:latin typeface="微软雅黑" panose="020B0503020204020204" pitchFamily="82" charset="2"/>
                <a:ea typeface="微软雅黑" panose="020B0503020204020204" pitchFamily="82" charset="2"/>
              </a:rPr>
              <a:t>例</a:t>
            </a:r>
            <a:endParaRPr sz="2400" dirty="0">
              <a:solidFill>
                <a:srgbClr val="FF0000"/>
              </a:solidFill>
            </a:endParaRPr>
          </a:p>
        </p:txBody>
      </p:sp>
      <p:pic>
        <p:nvPicPr>
          <p:cNvPr id="117" name="图片 116"/>
          <p:cNvPicPr>
            <a:picLocks noChangeAspect="1"/>
          </p:cNvPicPr>
          <p:nvPr/>
        </p:nvPicPr>
        <p:blipFill>
          <a:blip r:embed="rId2"/>
          <a:stretch>
            <a:fillRect/>
          </a:stretch>
        </p:blipFill>
        <p:spPr>
          <a:xfrm>
            <a:off x="319619" y="1709952"/>
            <a:ext cx="8504762" cy="3438095"/>
          </a:xfrm>
          <a:prstGeom prst="rect">
            <a:avLst/>
          </a:prstGeom>
        </p:spPr>
      </p:pic>
    </p:spTree>
    <p:extLst>
      <p:ext uri="{BB962C8B-B14F-4D97-AF65-F5344CB8AC3E}">
        <p14:creationId xmlns:p14="http://schemas.microsoft.com/office/powerpoint/2010/main" val="192883337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94</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97109" y="40422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跳表基本操作</a:t>
            </a:r>
          </a:p>
        </p:txBody>
      </p:sp>
      <p:sp>
        <p:nvSpPr>
          <p:cNvPr id="4" name="内容占位符 3"/>
          <p:cNvSpPr>
            <a:spLocks noGrp="1"/>
          </p:cNvSpPr>
          <p:nvPr>
            <p:ph idx="1"/>
          </p:nvPr>
        </p:nvSpPr>
        <p:spPr>
          <a:xfrm>
            <a:off x="467545" y="1268730"/>
            <a:ext cx="8424936" cy="5040590"/>
          </a:xfrm>
        </p:spPr>
        <p:txBody>
          <a:bodyPr/>
          <a:lstStyle/>
          <a:p>
            <a:pPr marL="0" indent="0">
              <a:lnSpc>
                <a:spcPct val="150000"/>
              </a:lnSpc>
              <a:buNone/>
            </a:pPr>
            <a:r>
              <a:rPr dirty="0">
                <a:latin typeface="微软雅黑" panose="020B0503020204020204" pitchFamily="82" charset="2"/>
                <a:ea typeface="微软雅黑" panose="020B0503020204020204" pitchFamily="82" charset="2"/>
              </a:rPr>
              <a:t>1）查找操作</a:t>
            </a:r>
          </a:p>
          <a:p>
            <a:pPr lvl="1">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查找从最顶层开始，如果当前层的下一个节点值大于查找值，就下降到下一层继续查找，直到最底层。如果找到目标值，则查找成功；否则，查找失败</a:t>
            </a:r>
          </a:p>
          <a:p>
            <a:pPr marL="0" indent="0">
              <a:lnSpc>
                <a:spcPct val="150000"/>
              </a:lnSpc>
              <a:buNone/>
            </a:pPr>
            <a:r>
              <a:rPr dirty="0">
                <a:latin typeface="微软雅黑" panose="020B0503020204020204" pitchFamily="82" charset="2"/>
                <a:ea typeface="微软雅黑" panose="020B0503020204020204" pitchFamily="82" charset="2"/>
              </a:rPr>
              <a:t>2）插入操作</a:t>
            </a:r>
          </a:p>
          <a:p>
            <a:pPr lvl="1">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插入元素时，先在底层插入该元素，然后通过抛硬币的方式（随机决定）决定是否将该元素提升到上层。这个过程可能会一直持续到顶层。</a:t>
            </a:r>
          </a:p>
          <a:p>
            <a:pPr marL="0" indent="0">
              <a:lnSpc>
                <a:spcPct val="150000"/>
              </a:lnSpc>
              <a:buNone/>
            </a:pPr>
            <a:r>
              <a:rPr dirty="0">
                <a:latin typeface="微软雅黑" panose="020B0503020204020204" pitchFamily="82" charset="2"/>
                <a:ea typeface="微软雅黑" panose="020B0503020204020204" pitchFamily="82" charset="2"/>
              </a:rPr>
              <a:t>3）删除操作</a:t>
            </a:r>
          </a:p>
          <a:p>
            <a:pPr lvl="1">
              <a:lnSpc>
                <a:spcPct val="150000"/>
              </a:lnSpc>
              <a:buFont typeface="Wingdings" panose="05000000000000000000" charset="0"/>
              <a:buChar char="u"/>
            </a:pPr>
            <a:r>
              <a:rPr sz="1800" dirty="0">
                <a:latin typeface="微软雅黑" panose="020B0503020204020204" pitchFamily="82" charset="2"/>
                <a:ea typeface="微软雅黑" panose="020B0503020204020204" pitchFamily="82" charset="2"/>
              </a:rPr>
              <a:t>删除元素先找到该元素（如上所述的查找方式），然后从最底层向上逐层删除该元素。</a:t>
            </a:r>
          </a:p>
          <a:p>
            <a:pPr>
              <a:lnSpc>
                <a:spcPct val="150000"/>
              </a:lnSpc>
              <a:buFont typeface="Wingdings" panose="05000000000000000000" charset="0"/>
              <a:buChar char="u"/>
            </a:pPr>
            <a:endParaRPr sz="1800" dirty="0">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hape18"/>
          <p:cNvSpPr/>
          <p:nvPr/>
        </p:nvSpPr>
        <p:spPr>
          <a:xfrm>
            <a:off x="1404571" y="3881316"/>
            <a:ext cx="6337056" cy="143754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查找</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
        <p:nvSpPr>
          <p:cNvPr id="4" name="内容占位符 3"/>
          <p:cNvSpPr>
            <a:spLocks noGrp="1"/>
          </p:cNvSpPr>
          <p:nvPr>
            <p:ph idx="1"/>
          </p:nvPr>
        </p:nvSpPr>
        <p:spPr>
          <a:xfrm>
            <a:off x="806620" y="1071663"/>
            <a:ext cx="8155641" cy="3754040"/>
          </a:xfrm>
        </p:spPr>
        <p:txBody>
          <a:bodyPr/>
          <a:lstStyle/>
          <a:p>
            <a:pPr>
              <a:buFont typeface="Wingdings" panose="05000000000000000000" pitchFamily="2" charset="2"/>
              <a:buChar char="Ø"/>
            </a:pPr>
            <a:r>
              <a:rPr lang="zh-CN" altLang="en-US" sz="2100" b="1" dirty="0">
                <a:solidFill>
                  <a:srgbClr val="701988"/>
                </a:solidFill>
                <a:latin typeface="微软雅黑" panose="020B0503020204020204" pitchFamily="82" charset="2"/>
                <a:ea typeface="微软雅黑" panose="020B0503020204020204" pitchFamily="82" charset="2"/>
              </a:rPr>
              <a:t>查找键值</a:t>
            </a:r>
            <a:r>
              <a:rPr lang="en-US" altLang="zh-CN" sz="2100" b="1" i="1" dirty="0">
                <a:solidFill>
                  <a:srgbClr val="701988"/>
                </a:solidFill>
                <a:latin typeface="微软雅黑" panose="020B0503020204020204" pitchFamily="82" charset="2"/>
                <a:ea typeface="微软雅黑" panose="020B0503020204020204" pitchFamily="82" charset="2"/>
                <a:cs typeface="Times New Roman" panose="02020603050405020304" pitchFamily="18" charset="0"/>
              </a:rPr>
              <a:t>x</a:t>
            </a:r>
          </a:p>
          <a:p>
            <a:pPr lvl="1">
              <a:lnSpc>
                <a:spcPct val="150000"/>
              </a:lnSpc>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从最上层开始查找，对于每个位置</a:t>
            </a:r>
            <a:r>
              <a:rPr lang="en-US" altLang="zh-CN" sz="1800" dirty="0">
                <a:latin typeface="微软雅黑" panose="020B0503020204020204" pitchFamily="82" charset="2"/>
                <a:ea typeface="微软雅黑" panose="020B0503020204020204" pitchFamily="82" charset="2"/>
              </a:rPr>
              <a:t>p, </a:t>
            </a:r>
            <a:r>
              <a:rPr lang="zh-CN" altLang="en-US" sz="1800" dirty="0">
                <a:latin typeface="微软雅黑" panose="020B0503020204020204" pitchFamily="82" charset="2"/>
                <a:ea typeface="微软雅黑" panose="020B0503020204020204" pitchFamily="82" charset="2"/>
              </a:rPr>
              <a:t>比较</a:t>
            </a:r>
            <a:r>
              <a:rPr lang="en-US" altLang="zh-CN" sz="1800" dirty="0">
                <a:latin typeface="微软雅黑" panose="020B0503020204020204" pitchFamily="82" charset="2"/>
                <a:ea typeface="微软雅黑" panose="020B0503020204020204" pitchFamily="82" charset="2"/>
              </a:rPr>
              <a:t>x </a:t>
            </a:r>
            <a:r>
              <a:rPr lang="zh-CN" altLang="en-US" sz="1800" dirty="0">
                <a:latin typeface="微软雅黑" panose="020B0503020204020204" pitchFamily="82" charset="2"/>
                <a:ea typeface="微软雅黑" panose="020B0503020204020204" pitchFamily="82" charset="2"/>
              </a:rPr>
              <a:t>和</a:t>
            </a:r>
            <a:r>
              <a:rPr lang="en-US" altLang="zh-CN" sz="1800" dirty="0">
                <a:latin typeface="微软雅黑" panose="020B0503020204020204" pitchFamily="82" charset="2"/>
                <a:ea typeface="微软雅黑" panose="020B0503020204020204" pitchFamily="82" charset="2"/>
              </a:rPr>
              <a:t> y </a:t>
            </a:r>
            <a:r>
              <a:rPr lang="en-US" altLang="zh-CN" sz="1800" dirty="0">
                <a:latin typeface="微软雅黑" panose="020B0503020204020204" pitchFamily="82" charset="2"/>
                <a:ea typeface="微软雅黑" panose="020B0503020204020204" pitchFamily="82" charset="2"/>
                <a:sym typeface="Symbol" panose="05050102010706020507" pitchFamily="18" charset="2"/>
              </a:rPr>
              <a:t></a:t>
            </a:r>
            <a:r>
              <a:rPr lang="en-US" altLang="zh-CN" sz="1800" dirty="0">
                <a:latin typeface="微软雅黑" panose="020B0503020204020204" pitchFamily="82" charset="2"/>
                <a:ea typeface="微软雅黑" panose="020B0503020204020204" pitchFamily="82" charset="2"/>
              </a:rPr>
              <a:t> key(next(p))</a:t>
            </a:r>
            <a:r>
              <a:rPr lang="zh-CN" altLang="en-US" sz="1800" dirty="0">
                <a:latin typeface="微软雅黑" panose="020B0503020204020204" pitchFamily="82" charset="2"/>
                <a:ea typeface="微软雅黑" panose="020B0503020204020204" pitchFamily="82" charset="2"/>
              </a:rPr>
              <a:t>的大小：</a:t>
            </a:r>
            <a:endParaRPr lang="en-US" altLang="zh-CN" sz="1800" dirty="0">
              <a:latin typeface="微软雅黑" panose="020B0503020204020204" pitchFamily="82" charset="2"/>
              <a:ea typeface="微软雅黑" panose="020B0503020204020204" pitchFamily="82" charset="2"/>
            </a:endParaRPr>
          </a:p>
          <a:p>
            <a:pPr lvl="2">
              <a:lnSpc>
                <a:spcPct val="150000"/>
              </a:lnSpc>
              <a:buSzPct val="50000"/>
              <a:buFont typeface="Wingdings" panose="05000000000000000000" pitchFamily="2" charset="2"/>
              <a:buChar char="p"/>
            </a:pP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x </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 y</a:t>
            </a:r>
            <a:r>
              <a:rPr lang="zh-CN" altLang="en-US" b="1" i="1" dirty="0">
                <a:latin typeface="微软雅黑" panose="020B0503020204020204" pitchFamily="82" charset="2"/>
                <a:ea typeface="微软雅黑" panose="020B0503020204020204" pitchFamily="82" charset="2"/>
                <a:cs typeface="Times New Roman" panose="02020603050405020304" pitchFamily="18" charset="0"/>
              </a:rPr>
              <a:t> </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 </a:t>
            </a:r>
            <a:r>
              <a:rPr lang="zh-CN" altLang="en-US" dirty="0">
                <a:latin typeface="微软雅黑" panose="020B0503020204020204" pitchFamily="82" charset="2"/>
                <a:ea typeface="微软雅黑" panose="020B0503020204020204" pitchFamily="82" charset="2"/>
                <a:cs typeface="Times New Roman" panose="02020603050405020304" pitchFamily="18" charset="0"/>
              </a:rPr>
              <a:t>返回</a:t>
            </a: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element</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next</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p</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a:t>
            </a:r>
          </a:p>
          <a:p>
            <a:pPr lvl="2">
              <a:lnSpc>
                <a:spcPct val="150000"/>
              </a:lnSpc>
              <a:buSzPct val="50000"/>
              <a:buFont typeface="Wingdings" panose="05000000000000000000" pitchFamily="2" charset="2"/>
              <a:buChar char="p"/>
            </a:pP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x </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&gt;</a:t>
            </a: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 y</a:t>
            </a:r>
            <a:r>
              <a:rPr lang="zh-CN" altLang="en-US" b="1" i="1" dirty="0">
                <a:latin typeface="微软雅黑" panose="020B0503020204020204" pitchFamily="82" charset="2"/>
                <a:ea typeface="微软雅黑" panose="020B0503020204020204" pitchFamily="82" charset="2"/>
                <a:cs typeface="Times New Roman" panose="02020603050405020304" pitchFamily="18" charset="0"/>
              </a:rPr>
              <a:t> </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a:t>
            </a:r>
            <a:r>
              <a:rPr lang="zh-CN" altLang="en-US" dirty="0">
                <a:latin typeface="微软雅黑" panose="020B0503020204020204" pitchFamily="82" charset="2"/>
                <a:ea typeface="微软雅黑" panose="020B0503020204020204" pitchFamily="82" charset="2"/>
                <a:cs typeface="Times New Roman" panose="02020603050405020304" pitchFamily="18" charset="0"/>
              </a:rPr>
              <a:t>本层向前扫描</a:t>
            </a:r>
            <a:endParaRPr lang="en-US" altLang="zh-CN" dirty="0">
              <a:latin typeface="微软雅黑" panose="020B0503020204020204" pitchFamily="82" charset="2"/>
              <a:ea typeface="微软雅黑" panose="020B0503020204020204" pitchFamily="82" charset="2"/>
              <a:cs typeface="Times New Roman" panose="02020603050405020304" pitchFamily="18" charset="0"/>
            </a:endParaRPr>
          </a:p>
          <a:p>
            <a:pPr lvl="2">
              <a:lnSpc>
                <a:spcPct val="150000"/>
              </a:lnSpc>
              <a:buSzPct val="50000"/>
              <a:buFont typeface="Wingdings" panose="05000000000000000000" pitchFamily="2" charset="2"/>
              <a:buChar char="p"/>
            </a:pP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x </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&lt;</a:t>
            </a:r>
            <a:r>
              <a:rPr lang="en-US" altLang="zh-CN" b="1" i="1" dirty="0">
                <a:latin typeface="微软雅黑" panose="020B0503020204020204" pitchFamily="82" charset="2"/>
                <a:ea typeface="微软雅黑" panose="020B0503020204020204" pitchFamily="82" charset="2"/>
                <a:cs typeface="Times New Roman" panose="02020603050405020304" pitchFamily="18" charset="0"/>
              </a:rPr>
              <a:t> y</a:t>
            </a:r>
            <a:r>
              <a:rPr lang="zh-CN" altLang="en-US" b="1" i="1" dirty="0">
                <a:latin typeface="微软雅黑" panose="020B0503020204020204" pitchFamily="82" charset="2"/>
                <a:ea typeface="微软雅黑" panose="020B0503020204020204" pitchFamily="82" charset="2"/>
                <a:cs typeface="Times New Roman" panose="02020603050405020304" pitchFamily="18" charset="0"/>
              </a:rPr>
              <a:t> </a:t>
            </a:r>
            <a:r>
              <a:rPr lang="en-US" altLang="zh-CN" dirty="0">
                <a:latin typeface="微软雅黑" panose="020B0503020204020204" pitchFamily="82" charset="2"/>
                <a:ea typeface="微软雅黑" panose="020B0503020204020204" pitchFamily="82" charset="2"/>
                <a:cs typeface="Times New Roman" panose="02020603050405020304" pitchFamily="18" charset="0"/>
              </a:rPr>
              <a:t>: </a:t>
            </a:r>
            <a:r>
              <a:rPr lang="zh-CN" altLang="en-US" dirty="0">
                <a:latin typeface="微软雅黑" panose="020B0503020204020204" pitchFamily="82" charset="2"/>
                <a:ea typeface="微软雅黑" panose="020B0503020204020204" pitchFamily="82" charset="2"/>
                <a:cs typeface="Times New Roman" panose="02020603050405020304" pitchFamily="18" charset="0"/>
              </a:rPr>
              <a:t>跳转到下一层（该节点指针指向的下层节点）</a:t>
            </a:r>
            <a:endParaRPr lang="en-US" altLang="zh-CN" dirty="0">
              <a:latin typeface="微软雅黑" panose="020B0503020204020204" pitchFamily="82" charset="2"/>
              <a:ea typeface="微软雅黑" panose="020B0503020204020204" pitchFamily="82" charset="2"/>
              <a:cs typeface="Times New Roman" panose="02020603050405020304" pitchFamily="18" charset="0"/>
            </a:endParaRPr>
          </a:p>
          <a:p>
            <a:pPr lvl="1">
              <a:lnSpc>
                <a:spcPct val="150000"/>
              </a:lnSpc>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如果到最底层还没找到，则返回</a:t>
            </a:r>
            <a:r>
              <a:rPr lang="en-US" altLang="zh-CN" sz="1800" dirty="0">
                <a:latin typeface="微软雅黑" panose="020B0503020204020204" pitchFamily="82" charset="2"/>
                <a:ea typeface="微软雅黑" panose="020B0503020204020204" pitchFamily="82" charset="2"/>
              </a:rPr>
              <a:t>null</a:t>
            </a:r>
          </a:p>
          <a:p>
            <a:pPr lvl="1"/>
            <a:endParaRPr kumimoji="1" lang="zh-CN" altLang="en-US"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409803"/>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grpSp>
        <p:nvGrpSpPr>
          <p:cNvPr id="123" name="组合 122"/>
          <p:cNvGrpSpPr/>
          <p:nvPr/>
        </p:nvGrpSpPr>
        <p:grpSpPr>
          <a:xfrm>
            <a:off x="1992793" y="3948142"/>
            <a:ext cx="5102031" cy="1358134"/>
            <a:chOff x="1647642" y="4567237"/>
            <a:chExt cx="7863554" cy="2093237"/>
          </a:xfrm>
        </p:grpSpPr>
        <p:sp>
          <p:nvSpPr>
            <p:cNvPr id="65" name="Line 64"/>
            <p:cNvSpPr>
              <a:spLocks noChangeShapeType="1"/>
            </p:cNvSpPr>
            <p:nvPr/>
          </p:nvSpPr>
          <p:spPr bwMode="auto">
            <a:xfrm flipH="1">
              <a:off x="7987196" y="5938837"/>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66" name="Line 61"/>
            <p:cNvSpPr>
              <a:spLocks noChangeShapeType="1"/>
            </p:cNvSpPr>
            <p:nvPr/>
          </p:nvSpPr>
          <p:spPr bwMode="auto">
            <a:xfrm>
              <a:off x="9358796" y="4948237"/>
              <a:ext cx="0" cy="12954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67" name="Line 57"/>
            <p:cNvSpPr>
              <a:spLocks noChangeShapeType="1"/>
            </p:cNvSpPr>
            <p:nvPr/>
          </p:nvSpPr>
          <p:spPr bwMode="auto">
            <a:xfrm>
              <a:off x="2424596" y="4948237"/>
              <a:ext cx="0" cy="12954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68" name="Line 59"/>
            <p:cNvSpPr>
              <a:spLocks noChangeShapeType="1"/>
            </p:cNvSpPr>
            <p:nvPr/>
          </p:nvSpPr>
          <p:spPr bwMode="auto">
            <a:xfrm>
              <a:off x="5243996" y="5405437"/>
              <a:ext cx="0" cy="8382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nvGrpSpPr>
            <p:cNvPr id="69" name="Group 4"/>
            <p:cNvGrpSpPr/>
            <p:nvPr/>
          </p:nvGrpSpPr>
          <p:grpSpPr bwMode="auto">
            <a:xfrm>
              <a:off x="2230921" y="4719637"/>
              <a:ext cx="7280275" cy="215900"/>
              <a:chOff x="838" y="2832"/>
              <a:chExt cx="4586" cy="136"/>
            </a:xfrm>
          </p:grpSpPr>
          <p:sp>
            <p:nvSpPr>
              <p:cNvPr id="70" name="Rectangle 5"/>
              <p:cNvSpPr>
                <a:spLocks noChangeArrowheads="1"/>
              </p:cNvSpPr>
              <p:nvPr/>
            </p:nvSpPr>
            <p:spPr bwMode="auto">
              <a:xfrm>
                <a:off x="5196" y="2832"/>
                <a:ext cx="228" cy="136"/>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dirty="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dirty="0">
                  <a:solidFill>
                    <a:srgbClr val="000000"/>
                  </a:solidFill>
                  <a:latin typeface="微软雅黑" panose="020B0503020204020204" pitchFamily="82" charset="2"/>
                  <a:ea typeface="微软雅黑" panose="020B0503020204020204" pitchFamily="82" charset="2"/>
                </a:endParaRPr>
              </a:p>
            </p:txBody>
          </p:sp>
          <p:sp>
            <p:nvSpPr>
              <p:cNvPr id="71" name="Rectangle 6"/>
              <p:cNvSpPr>
                <a:spLocks noChangeArrowheads="1"/>
              </p:cNvSpPr>
              <p:nvPr/>
            </p:nvSpPr>
            <p:spPr bwMode="auto">
              <a:xfrm>
                <a:off x="838" y="2832"/>
                <a:ext cx="229" cy="136"/>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72" name="AutoShape 7"/>
              <p:cNvCxnSpPr>
                <a:cxnSpLocks noChangeShapeType="1"/>
                <a:stCxn id="71" idx="3"/>
                <a:endCxn id="70" idx="1"/>
              </p:cNvCxnSpPr>
              <p:nvPr/>
            </p:nvCxnSpPr>
            <p:spPr bwMode="auto">
              <a:xfrm>
                <a:off x="1079" y="2900"/>
                <a:ext cx="410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3" name="Text Box 8"/>
            <p:cNvSpPr txBox="1">
              <a:spLocks noChangeArrowheads="1"/>
            </p:cNvSpPr>
            <p:nvPr/>
          </p:nvSpPr>
          <p:spPr bwMode="auto">
            <a:xfrm>
              <a:off x="1647642" y="6091237"/>
              <a:ext cx="637921" cy="56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0</a:t>
              </a:r>
            </a:p>
          </p:txBody>
        </p:sp>
        <p:sp>
          <p:nvSpPr>
            <p:cNvPr id="74" name="Text Box 9"/>
            <p:cNvSpPr txBox="1">
              <a:spLocks noChangeArrowheads="1"/>
            </p:cNvSpPr>
            <p:nvPr/>
          </p:nvSpPr>
          <p:spPr bwMode="auto">
            <a:xfrm>
              <a:off x="1647642" y="5583237"/>
              <a:ext cx="637921" cy="56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1</a:t>
              </a:r>
            </a:p>
          </p:txBody>
        </p:sp>
        <p:sp>
          <p:nvSpPr>
            <p:cNvPr id="75" name="Text Box 10"/>
            <p:cNvSpPr txBox="1">
              <a:spLocks noChangeArrowheads="1"/>
            </p:cNvSpPr>
            <p:nvPr/>
          </p:nvSpPr>
          <p:spPr bwMode="auto">
            <a:xfrm>
              <a:off x="1647642" y="5075238"/>
              <a:ext cx="637921" cy="56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2</a:t>
              </a:r>
            </a:p>
          </p:txBody>
        </p:sp>
        <p:sp>
          <p:nvSpPr>
            <p:cNvPr id="76" name="Text Box 11"/>
            <p:cNvSpPr txBox="1">
              <a:spLocks noChangeArrowheads="1"/>
            </p:cNvSpPr>
            <p:nvPr/>
          </p:nvSpPr>
          <p:spPr bwMode="auto">
            <a:xfrm>
              <a:off x="1647642" y="4567237"/>
              <a:ext cx="637921" cy="569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3</a:t>
              </a:r>
            </a:p>
          </p:txBody>
        </p:sp>
        <p:sp>
          <p:nvSpPr>
            <p:cNvPr id="77" name="Rectangle 12"/>
            <p:cNvSpPr>
              <a:spLocks noChangeArrowheads="1"/>
            </p:cNvSpPr>
            <p:nvPr/>
          </p:nvSpPr>
          <p:spPr bwMode="auto">
            <a:xfrm>
              <a:off x="9149246" y="5226050"/>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78" name="Rectangle 13"/>
            <p:cNvSpPr>
              <a:spLocks noChangeArrowheads="1"/>
            </p:cNvSpPr>
            <p:nvPr/>
          </p:nvSpPr>
          <p:spPr bwMode="auto">
            <a:xfrm>
              <a:off x="5043971" y="5226050"/>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79" name="Rectangle 14"/>
            <p:cNvSpPr>
              <a:spLocks noChangeArrowheads="1"/>
            </p:cNvSpPr>
            <p:nvPr/>
          </p:nvSpPr>
          <p:spPr bwMode="auto">
            <a:xfrm>
              <a:off x="2230921" y="5226050"/>
              <a:ext cx="363538"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cxnSp>
          <p:nvCxnSpPr>
            <p:cNvPr id="80" name="AutoShape 15"/>
            <p:cNvCxnSpPr>
              <a:cxnSpLocks noChangeShapeType="1"/>
              <a:stCxn id="79" idx="3"/>
              <a:endCxn id="78" idx="1"/>
            </p:cNvCxnSpPr>
            <p:nvPr/>
          </p:nvCxnSpPr>
          <p:spPr bwMode="auto">
            <a:xfrm>
              <a:off x="2613509" y="5334000"/>
              <a:ext cx="241141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AutoShape 16"/>
            <p:cNvCxnSpPr>
              <a:cxnSpLocks noChangeShapeType="1"/>
              <a:stCxn id="78" idx="3"/>
              <a:endCxn id="77" idx="1"/>
            </p:cNvCxnSpPr>
            <p:nvPr/>
          </p:nvCxnSpPr>
          <p:spPr bwMode="auto">
            <a:xfrm>
              <a:off x="5424971" y="5334000"/>
              <a:ext cx="37052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AutoShape 17"/>
            <p:cNvCxnSpPr>
              <a:cxnSpLocks noChangeShapeType="1"/>
              <a:stCxn id="79" idx="0"/>
              <a:endCxn id="78" idx="0"/>
            </p:cNvCxnSpPr>
            <p:nvPr/>
          </p:nvCxnSpPr>
          <p:spPr bwMode="auto">
            <a:xfrm rot="5400000" flipV="1">
              <a:off x="3818421" y="3802063"/>
              <a:ext cx="1587" cy="2811462"/>
            </a:xfrm>
            <a:prstGeom prst="curvedConnector3">
              <a:avLst>
                <a:gd name="adj1" fmla="val -20900005"/>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AutoShape 18"/>
            <p:cNvCxnSpPr>
              <a:cxnSpLocks noChangeShapeType="1"/>
              <a:stCxn id="71" idx="2"/>
              <a:endCxn id="79" idx="0"/>
            </p:cNvCxnSpPr>
            <p:nvPr/>
          </p:nvCxnSpPr>
          <p:spPr bwMode="auto">
            <a:xfrm>
              <a:off x="2413484" y="4954587"/>
              <a:ext cx="0" cy="252413"/>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AutoShape 19"/>
            <p:cNvCxnSpPr>
              <a:cxnSpLocks noChangeShapeType="1"/>
              <a:stCxn id="78" idx="2"/>
              <a:endCxn id="88" idx="0"/>
            </p:cNvCxnSpPr>
            <p:nvPr/>
          </p:nvCxnSpPr>
          <p:spPr bwMode="auto">
            <a:xfrm>
              <a:off x="5224946" y="5461000"/>
              <a:ext cx="0" cy="252412"/>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AutoShape 20"/>
            <p:cNvCxnSpPr>
              <a:cxnSpLocks noChangeShapeType="1"/>
              <a:stCxn id="86" idx="2"/>
              <a:endCxn id="100" idx="0"/>
            </p:cNvCxnSpPr>
            <p:nvPr/>
          </p:nvCxnSpPr>
          <p:spPr bwMode="auto">
            <a:xfrm>
              <a:off x="7955446" y="5967412"/>
              <a:ext cx="0" cy="252413"/>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Rectangle 21"/>
            <p:cNvSpPr>
              <a:spLocks noChangeArrowheads="1"/>
            </p:cNvSpPr>
            <p:nvPr/>
          </p:nvSpPr>
          <p:spPr bwMode="auto">
            <a:xfrm>
              <a:off x="7774471" y="5732462"/>
              <a:ext cx="360363"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87" name="Rectangle 22"/>
            <p:cNvSpPr>
              <a:spLocks noChangeArrowheads="1"/>
            </p:cNvSpPr>
            <p:nvPr/>
          </p:nvSpPr>
          <p:spPr bwMode="auto">
            <a:xfrm>
              <a:off x="9149246" y="5732462"/>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88" name="Rectangle 23"/>
            <p:cNvSpPr>
              <a:spLocks noChangeArrowheads="1"/>
            </p:cNvSpPr>
            <p:nvPr/>
          </p:nvSpPr>
          <p:spPr bwMode="auto">
            <a:xfrm>
              <a:off x="5043971" y="5732462"/>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89" name="Rectangle 24"/>
            <p:cNvSpPr>
              <a:spLocks noChangeArrowheads="1"/>
            </p:cNvSpPr>
            <p:nvPr/>
          </p:nvSpPr>
          <p:spPr bwMode="auto">
            <a:xfrm>
              <a:off x="5731359" y="5732462"/>
              <a:ext cx="363537"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sp>
          <p:nvSpPr>
            <p:cNvPr id="90" name="Rectangle 25"/>
            <p:cNvSpPr>
              <a:spLocks noChangeArrowheads="1"/>
            </p:cNvSpPr>
            <p:nvPr/>
          </p:nvSpPr>
          <p:spPr bwMode="auto">
            <a:xfrm>
              <a:off x="2230921" y="5732462"/>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1" name="Rectangle 26"/>
            <p:cNvSpPr>
              <a:spLocks noChangeArrowheads="1"/>
            </p:cNvSpPr>
            <p:nvPr/>
          </p:nvSpPr>
          <p:spPr bwMode="auto">
            <a:xfrm>
              <a:off x="3607284" y="5732462"/>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cxnSp>
          <p:nvCxnSpPr>
            <p:cNvPr id="92" name="AutoShape 27"/>
            <p:cNvCxnSpPr>
              <a:cxnSpLocks noChangeShapeType="1"/>
              <a:stCxn id="90" idx="3"/>
              <a:endCxn id="91" idx="1"/>
            </p:cNvCxnSpPr>
            <p:nvPr/>
          </p:nvCxnSpPr>
          <p:spPr bwMode="auto">
            <a:xfrm>
              <a:off x="2603984" y="5840412"/>
              <a:ext cx="9937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28"/>
            <p:cNvCxnSpPr>
              <a:cxnSpLocks noChangeShapeType="1"/>
              <a:stCxn id="91" idx="3"/>
              <a:endCxn id="88" idx="1"/>
            </p:cNvCxnSpPr>
            <p:nvPr/>
          </p:nvCxnSpPr>
          <p:spPr bwMode="auto">
            <a:xfrm>
              <a:off x="3980346" y="5840412"/>
              <a:ext cx="10445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29"/>
            <p:cNvCxnSpPr>
              <a:cxnSpLocks noChangeShapeType="1"/>
              <a:stCxn id="88" idx="3"/>
              <a:endCxn id="89" idx="1"/>
            </p:cNvCxnSpPr>
            <p:nvPr/>
          </p:nvCxnSpPr>
          <p:spPr bwMode="auto">
            <a:xfrm>
              <a:off x="5424971" y="5840412"/>
              <a:ext cx="28733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AutoShape 30"/>
            <p:cNvCxnSpPr>
              <a:cxnSpLocks noChangeShapeType="1"/>
              <a:stCxn id="89" idx="3"/>
              <a:endCxn id="86" idx="1"/>
            </p:cNvCxnSpPr>
            <p:nvPr/>
          </p:nvCxnSpPr>
          <p:spPr bwMode="auto">
            <a:xfrm>
              <a:off x="6113946" y="5840412"/>
              <a:ext cx="16414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AutoShape 31"/>
            <p:cNvCxnSpPr>
              <a:cxnSpLocks noChangeShapeType="1"/>
              <a:stCxn id="86" idx="3"/>
              <a:endCxn id="87" idx="1"/>
            </p:cNvCxnSpPr>
            <p:nvPr/>
          </p:nvCxnSpPr>
          <p:spPr bwMode="auto">
            <a:xfrm>
              <a:off x="8153884" y="5840412"/>
              <a:ext cx="97631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AutoShape 32"/>
            <p:cNvCxnSpPr>
              <a:cxnSpLocks noChangeShapeType="1"/>
              <a:stCxn id="88" idx="0"/>
              <a:endCxn id="89" idx="0"/>
            </p:cNvCxnSpPr>
            <p:nvPr/>
          </p:nvCxnSpPr>
          <p:spPr bwMode="auto">
            <a:xfrm rot="5400000" flipV="1">
              <a:off x="5568640" y="5369718"/>
              <a:ext cx="1588" cy="688975"/>
            </a:xfrm>
            <a:prstGeom prst="curvedConnector3">
              <a:avLst>
                <a:gd name="adj1" fmla="val -13200000"/>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AutoShape 33"/>
            <p:cNvCxnSpPr>
              <a:cxnSpLocks noChangeShapeType="1"/>
              <a:stCxn id="89" idx="0"/>
              <a:endCxn id="86" idx="0"/>
            </p:cNvCxnSpPr>
            <p:nvPr/>
          </p:nvCxnSpPr>
          <p:spPr bwMode="auto">
            <a:xfrm rot="5400000" flipV="1">
              <a:off x="6933890" y="4693443"/>
              <a:ext cx="1588" cy="2041525"/>
            </a:xfrm>
            <a:prstGeom prst="curvedConnector3">
              <a:avLst>
                <a:gd name="adj1" fmla="val -13200000"/>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Rectangle 34"/>
            <p:cNvSpPr>
              <a:spLocks noChangeArrowheads="1"/>
            </p:cNvSpPr>
            <p:nvPr/>
          </p:nvSpPr>
          <p:spPr bwMode="auto">
            <a:xfrm>
              <a:off x="7085496" y="6238875"/>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56</a:t>
              </a:r>
            </a:p>
          </p:txBody>
        </p:sp>
        <p:sp>
          <p:nvSpPr>
            <p:cNvPr id="100" name="Rectangle 35"/>
            <p:cNvSpPr>
              <a:spLocks noChangeArrowheads="1"/>
            </p:cNvSpPr>
            <p:nvPr/>
          </p:nvSpPr>
          <p:spPr bwMode="auto">
            <a:xfrm>
              <a:off x="7774471" y="6238875"/>
              <a:ext cx="360363"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101" name="Rectangle 36"/>
            <p:cNvSpPr>
              <a:spLocks noChangeArrowheads="1"/>
            </p:cNvSpPr>
            <p:nvPr/>
          </p:nvSpPr>
          <p:spPr bwMode="auto">
            <a:xfrm>
              <a:off x="8460271" y="6238875"/>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78</a:t>
              </a:r>
            </a:p>
          </p:txBody>
        </p:sp>
        <p:sp>
          <p:nvSpPr>
            <p:cNvPr id="102" name="Rectangle 37"/>
            <p:cNvSpPr>
              <a:spLocks noChangeArrowheads="1"/>
            </p:cNvSpPr>
            <p:nvPr/>
          </p:nvSpPr>
          <p:spPr bwMode="auto">
            <a:xfrm>
              <a:off x="9149246" y="6238875"/>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03" name="Rectangle 38"/>
            <p:cNvSpPr>
              <a:spLocks noChangeArrowheads="1"/>
            </p:cNvSpPr>
            <p:nvPr/>
          </p:nvSpPr>
          <p:spPr bwMode="auto">
            <a:xfrm>
              <a:off x="5043971" y="6238875"/>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104" name="Rectangle 39"/>
            <p:cNvSpPr>
              <a:spLocks noChangeArrowheads="1"/>
            </p:cNvSpPr>
            <p:nvPr/>
          </p:nvSpPr>
          <p:spPr bwMode="auto">
            <a:xfrm>
              <a:off x="5731359" y="623887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sp>
          <p:nvSpPr>
            <p:cNvPr id="105" name="Rectangle 40"/>
            <p:cNvSpPr>
              <a:spLocks noChangeArrowheads="1"/>
            </p:cNvSpPr>
            <p:nvPr/>
          </p:nvSpPr>
          <p:spPr bwMode="auto">
            <a:xfrm>
              <a:off x="6396521" y="6238875"/>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44</a:t>
              </a:r>
            </a:p>
          </p:txBody>
        </p:sp>
        <p:sp>
          <p:nvSpPr>
            <p:cNvPr id="106" name="Rectangle 41"/>
            <p:cNvSpPr>
              <a:spLocks noChangeArrowheads="1"/>
            </p:cNvSpPr>
            <p:nvPr/>
          </p:nvSpPr>
          <p:spPr bwMode="auto">
            <a:xfrm>
              <a:off x="2230921" y="6238875"/>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107" name="Rectangle 42"/>
            <p:cNvSpPr>
              <a:spLocks noChangeArrowheads="1"/>
            </p:cNvSpPr>
            <p:nvPr/>
          </p:nvSpPr>
          <p:spPr bwMode="auto">
            <a:xfrm>
              <a:off x="2919896" y="6238875"/>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12</a:t>
              </a:r>
            </a:p>
          </p:txBody>
        </p:sp>
        <p:sp>
          <p:nvSpPr>
            <p:cNvPr id="108" name="Rectangle 43"/>
            <p:cNvSpPr>
              <a:spLocks noChangeArrowheads="1"/>
            </p:cNvSpPr>
            <p:nvPr/>
          </p:nvSpPr>
          <p:spPr bwMode="auto">
            <a:xfrm>
              <a:off x="3607284" y="623887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109" name="Rectangle 44"/>
            <p:cNvSpPr>
              <a:spLocks noChangeArrowheads="1"/>
            </p:cNvSpPr>
            <p:nvPr/>
          </p:nvSpPr>
          <p:spPr bwMode="auto">
            <a:xfrm>
              <a:off x="4296259" y="623887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26</a:t>
              </a:r>
            </a:p>
          </p:txBody>
        </p:sp>
        <p:cxnSp>
          <p:nvCxnSpPr>
            <p:cNvPr id="110" name="AutoShape 45"/>
            <p:cNvCxnSpPr>
              <a:cxnSpLocks noChangeShapeType="1"/>
              <a:stCxn id="106" idx="3"/>
              <a:endCxn id="107" idx="1"/>
            </p:cNvCxnSpPr>
            <p:nvPr/>
          </p:nvCxnSpPr>
          <p:spPr bwMode="auto">
            <a:xfrm>
              <a:off x="2603984" y="6346825"/>
              <a:ext cx="30638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AutoShape 46"/>
            <p:cNvCxnSpPr>
              <a:cxnSpLocks noChangeShapeType="1"/>
              <a:stCxn id="108" idx="3"/>
              <a:endCxn id="109" idx="1"/>
            </p:cNvCxnSpPr>
            <p:nvPr/>
          </p:nvCxnSpPr>
          <p:spPr bwMode="auto">
            <a:xfrm>
              <a:off x="3980346" y="6346825"/>
              <a:ext cx="30638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47"/>
            <p:cNvCxnSpPr>
              <a:cxnSpLocks noChangeShapeType="1"/>
              <a:stCxn id="103" idx="3"/>
              <a:endCxn id="104" idx="1"/>
            </p:cNvCxnSpPr>
            <p:nvPr/>
          </p:nvCxnSpPr>
          <p:spPr bwMode="auto">
            <a:xfrm>
              <a:off x="5415446" y="6346825"/>
              <a:ext cx="30638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AutoShape 48"/>
            <p:cNvCxnSpPr>
              <a:cxnSpLocks noChangeShapeType="1"/>
              <a:stCxn id="107" idx="3"/>
              <a:endCxn id="108" idx="1"/>
            </p:cNvCxnSpPr>
            <p:nvPr/>
          </p:nvCxnSpPr>
          <p:spPr bwMode="auto">
            <a:xfrm>
              <a:off x="3292959" y="6346825"/>
              <a:ext cx="30480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49"/>
            <p:cNvCxnSpPr>
              <a:cxnSpLocks noChangeShapeType="1"/>
              <a:stCxn id="109" idx="3"/>
              <a:endCxn id="103" idx="1"/>
            </p:cNvCxnSpPr>
            <p:nvPr/>
          </p:nvCxnSpPr>
          <p:spPr bwMode="auto">
            <a:xfrm>
              <a:off x="4669321" y="6346825"/>
              <a:ext cx="3651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50"/>
            <p:cNvCxnSpPr>
              <a:cxnSpLocks noChangeShapeType="1"/>
              <a:stCxn id="104" idx="3"/>
              <a:endCxn id="105" idx="1"/>
            </p:cNvCxnSpPr>
            <p:nvPr/>
          </p:nvCxnSpPr>
          <p:spPr bwMode="auto">
            <a:xfrm>
              <a:off x="6104421" y="6346825"/>
              <a:ext cx="2825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51"/>
            <p:cNvCxnSpPr>
              <a:cxnSpLocks noChangeShapeType="1"/>
              <a:stCxn id="105" idx="3"/>
              <a:endCxn id="99" idx="1"/>
            </p:cNvCxnSpPr>
            <p:nvPr/>
          </p:nvCxnSpPr>
          <p:spPr bwMode="auto">
            <a:xfrm>
              <a:off x="6769584" y="6346825"/>
              <a:ext cx="30638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7" name="AutoShape 52"/>
            <p:cNvCxnSpPr>
              <a:cxnSpLocks noChangeShapeType="1"/>
              <a:stCxn id="99" idx="3"/>
              <a:endCxn id="100" idx="1"/>
            </p:cNvCxnSpPr>
            <p:nvPr/>
          </p:nvCxnSpPr>
          <p:spPr bwMode="auto">
            <a:xfrm>
              <a:off x="7458559" y="6346825"/>
              <a:ext cx="29686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 name="AutoShape 53"/>
            <p:cNvCxnSpPr>
              <a:cxnSpLocks noChangeShapeType="1"/>
              <a:stCxn id="100" idx="3"/>
              <a:endCxn id="101" idx="1"/>
            </p:cNvCxnSpPr>
            <p:nvPr/>
          </p:nvCxnSpPr>
          <p:spPr bwMode="auto">
            <a:xfrm>
              <a:off x="8153884" y="6346825"/>
              <a:ext cx="28733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AutoShape 54"/>
            <p:cNvCxnSpPr>
              <a:cxnSpLocks noChangeShapeType="1"/>
              <a:stCxn id="101" idx="3"/>
              <a:endCxn id="102" idx="1"/>
            </p:cNvCxnSpPr>
            <p:nvPr/>
          </p:nvCxnSpPr>
          <p:spPr bwMode="auto">
            <a:xfrm>
              <a:off x="8841271" y="6346825"/>
              <a:ext cx="29845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 name="AutoShape 55"/>
            <p:cNvCxnSpPr>
              <a:cxnSpLocks noChangeShapeType="1"/>
              <a:stCxn id="100" idx="0"/>
              <a:endCxn id="101" idx="0"/>
            </p:cNvCxnSpPr>
            <p:nvPr/>
          </p:nvCxnSpPr>
          <p:spPr bwMode="auto">
            <a:xfrm rot="5400000" flipV="1">
              <a:off x="8297552" y="5877719"/>
              <a:ext cx="1587" cy="685800"/>
            </a:xfrm>
            <a:prstGeom prst="curvedConnector3">
              <a:avLst>
                <a:gd name="adj1" fmla="val -13200000"/>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Line 58"/>
            <p:cNvSpPr>
              <a:spLocks noChangeShapeType="1"/>
            </p:cNvSpPr>
            <p:nvPr/>
          </p:nvSpPr>
          <p:spPr bwMode="auto">
            <a:xfrm flipV="1">
              <a:off x="3796196" y="5938837"/>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2" name="Line 60"/>
            <p:cNvSpPr>
              <a:spLocks noChangeShapeType="1"/>
            </p:cNvSpPr>
            <p:nvPr/>
          </p:nvSpPr>
          <p:spPr bwMode="auto">
            <a:xfrm>
              <a:off x="5929796" y="5938837"/>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spTree>
    <p:extLst>
      <p:ext uri="{BB962C8B-B14F-4D97-AF65-F5344CB8AC3E}">
        <p14:creationId xmlns:p14="http://schemas.microsoft.com/office/powerpoint/2010/main" val="12180121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object 155"/>
          <p:cNvSpPr txBox="1">
            <a:spLocks noGrp="1"/>
          </p:cNvSpPr>
          <p:nvPr>
            <p:ph type="title"/>
          </p:nvPr>
        </p:nvSpPr>
        <p:spPr>
          <a:xfrm>
            <a:off x="1914924" y="468816"/>
            <a:ext cx="5321372" cy="439904"/>
          </a:xfrm>
          <a:prstGeom prst="rect">
            <a:avLst/>
          </a:prstGeom>
        </p:spPr>
        <p:txBody>
          <a:bodyPr vert="horz" wrap="square" lIns="0" tIns="8930" rIns="0" bIns="0" numCol="1" rtlCol="0" anchor="ctr" anchorCtr="0" compatLnSpc="1">
            <a:spAutoFit/>
          </a:bodyPr>
          <a:lstStyle/>
          <a:p>
            <a:pPr marL="8929">
              <a:spcBef>
                <a:spcPts val="70"/>
              </a:spcBef>
            </a:pPr>
            <a:r>
              <a:rPr lang="zh-CN" altLang="en-US" sz="2800" dirty="0">
                <a:solidFill>
                  <a:srgbClr val="FF0000"/>
                </a:solidFill>
                <a:latin typeface="微软雅黑" panose="020B0503020204020204" pitchFamily="82" charset="2"/>
                <a:ea typeface="微软雅黑" panose="020B0503020204020204" pitchFamily="82" charset="2"/>
                <a:sym typeface="+mn-ea"/>
              </a:rPr>
              <a:t>跳表基本</a:t>
            </a:r>
            <a:r>
              <a:rPr lang="zh-CN" altLang="en-US" sz="28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800" dirty="0" smtClean="0">
                <a:solidFill>
                  <a:srgbClr val="FF0000"/>
                </a:solidFill>
                <a:latin typeface="微软雅黑" panose="020B0503020204020204" pitchFamily="82" charset="2"/>
                <a:ea typeface="微软雅黑" panose="020B0503020204020204" pitchFamily="82" charset="2"/>
                <a:sym typeface="+mn-ea"/>
              </a:rPr>
              <a:t>-</a:t>
            </a:r>
            <a:r>
              <a:rPr lang="zh-CN" altLang="en-US" sz="2800" dirty="0" smtClean="0">
                <a:solidFill>
                  <a:srgbClr val="FF0000"/>
                </a:solidFill>
                <a:latin typeface="微软雅黑" panose="020B0503020204020204" pitchFamily="82" charset="2"/>
                <a:ea typeface="微软雅黑" panose="020B0503020204020204" pitchFamily="82" charset="2"/>
                <a:sym typeface="+mn-ea"/>
              </a:rPr>
              <a:t>查找：例</a:t>
            </a:r>
            <a:r>
              <a:rPr lang="en-US" altLang="zh-CN" sz="2800" dirty="0" smtClean="0">
                <a:solidFill>
                  <a:srgbClr val="FF0000"/>
                </a:solidFill>
                <a:latin typeface="微软雅黑" panose="020B0503020204020204" pitchFamily="82" charset="2"/>
                <a:ea typeface="微软雅黑" panose="020B0503020204020204" pitchFamily="82" charset="2"/>
                <a:sym typeface="+mn-ea"/>
              </a:rPr>
              <a:t>1</a:t>
            </a:r>
            <a:endParaRPr sz="2800" dirty="0">
              <a:solidFill>
                <a:srgbClr val="FF0000"/>
              </a:solidFill>
            </a:endParaRPr>
          </a:p>
        </p:txBody>
      </p:sp>
      <p:sp>
        <p:nvSpPr>
          <p:cNvPr id="156" name="object 156"/>
          <p:cNvSpPr txBox="1"/>
          <p:nvPr/>
        </p:nvSpPr>
        <p:spPr>
          <a:xfrm>
            <a:off x="611560" y="3455045"/>
            <a:ext cx="2736304" cy="355266"/>
          </a:xfrm>
          <a:prstGeom prst="rect">
            <a:avLst/>
          </a:prstGeom>
        </p:spPr>
        <p:txBody>
          <a:bodyPr vert="horz" wrap="square" lIns="0" tIns="8930" rIns="0" bIns="0" rtlCol="0">
            <a:spAutoFit/>
          </a:bodyPr>
          <a:lstStyle/>
          <a:p>
            <a:pPr marL="8929">
              <a:spcBef>
                <a:spcPts val="70"/>
              </a:spcBef>
            </a:pPr>
            <a:r>
              <a:rPr sz="2250" dirty="0" smtClean="0">
                <a:latin typeface="Palatino Linotype"/>
                <a:cs typeface="Palatino Linotype"/>
              </a:rPr>
              <a:t>Find </a:t>
            </a:r>
            <a:r>
              <a:rPr lang="en-US" sz="2250" dirty="0" smtClean="0">
                <a:latin typeface="Palatino Linotype"/>
                <a:cs typeface="Palatino Linotype"/>
              </a:rPr>
              <a:t>k=</a:t>
            </a:r>
            <a:r>
              <a:rPr sz="2250" spc="-18" dirty="0" smtClean="0">
                <a:latin typeface="Palatino Linotype"/>
                <a:cs typeface="Palatino Linotype"/>
              </a:rPr>
              <a:t>71</a:t>
            </a:r>
            <a:r>
              <a:rPr lang="en-US" sz="2250" spc="-18" dirty="0" smtClean="0">
                <a:latin typeface="Palatino Linotype"/>
                <a:cs typeface="Palatino Linotype"/>
              </a:rPr>
              <a:t>:</a:t>
            </a:r>
            <a:endParaRPr sz="2250" dirty="0">
              <a:latin typeface="Palatino Linotype"/>
              <a:cs typeface="Palatino Linotype"/>
            </a:endParaRPr>
          </a:p>
        </p:txBody>
      </p:sp>
      <p:sp>
        <p:nvSpPr>
          <p:cNvPr id="193" name="object 193"/>
          <p:cNvSpPr txBox="1"/>
          <p:nvPr/>
        </p:nvSpPr>
        <p:spPr>
          <a:xfrm>
            <a:off x="546788" y="1334275"/>
            <a:ext cx="4159895" cy="1518661"/>
          </a:xfrm>
          <a:prstGeom prst="rect">
            <a:avLst/>
          </a:prstGeom>
        </p:spPr>
        <p:txBody>
          <a:bodyPr vert="horz" wrap="square" lIns="0" tIns="8930" rIns="0" bIns="0" rtlCol="0">
            <a:spAutoFit/>
          </a:bodyPr>
          <a:lstStyle/>
          <a:p>
            <a:pPr marL="223234" marR="1779623" indent="-214305">
              <a:lnSpc>
                <a:spcPct val="109400"/>
              </a:lnSpc>
              <a:spcBef>
                <a:spcPts val="70"/>
              </a:spcBef>
            </a:pPr>
            <a:r>
              <a:rPr sz="2250" dirty="0">
                <a:latin typeface="Palatino Linotype"/>
                <a:cs typeface="Palatino Linotype"/>
              </a:rPr>
              <a:t>When</a:t>
            </a:r>
            <a:r>
              <a:rPr sz="2250" spc="-70" dirty="0">
                <a:latin typeface="Palatino Linotype"/>
                <a:cs typeface="Palatino Linotype"/>
              </a:rPr>
              <a:t> </a:t>
            </a:r>
            <a:r>
              <a:rPr sz="2250" dirty="0">
                <a:latin typeface="Palatino Linotype"/>
                <a:cs typeface="Palatino Linotype"/>
              </a:rPr>
              <a:t>search</a:t>
            </a:r>
            <a:r>
              <a:rPr sz="2250" spc="-67" dirty="0">
                <a:latin typeface="Palatino Linotype"/>
                <a:cs typeface="Palatino Linotype"/>
              </a:rPr>
              <a:t> </a:t>
            </a:r>
            <a:r>
              <a:rPr sz="2250" dirty="0">
                <a:latin typeface="Palatino Linotype"/>
                <a:cs typeface="Palatino Linotype"/>
              </a:rPr>
              <a:t>for</a:t>
            </a:r>
            <a:r>
              <a:rPr sz="2250" spc="-67" dirty="0">
                <a:latin typeface="Palatino Linotype"/>
                <a:cs typeface="Palatino Linotype"/>
              </a:rPr>
              <a:t> </a:t>
            </a:r>
            <a:r>
              <a:rPr sz="2250" spc="-18" dirty="0">
                <a:latin typeface="Palatino Linotype"/>
                <a:cs typeface="Palatino Linotype"/>
              </a:rPr>
              <a:t>k: </a:t>
            </a:r>
            <a:r>
              <a:rPr sz="2250" dirty="0">
                <a:latin typeface="Palatino Linotype"/>
                <a:cs typeface="Palatino Linotype"/>
              </a:rPr>
              <a:t>If</a:t>
            </a:r>
            <a:r>
              <a:rPr sz="2250" spc="-25" dirty="0">
                <a:latin typeface="Palatino Linotype"/>
                <a:cs typeface="Palatino Linotype"/>
              </a:rPr>
              <a:t> </a:t>
            </a:r>
            <a:r>
              <a:rPr sz="2250" dirty="0">
                <a:latin typeface="Palatino Linotype"/>
                <a:cs typeface="Palatino Linotype"/>
              </a:rPr>
              <a:t>k</a:t>
            </a:r>
            <a:r>
              <a:rPr sz="2250" spc="-25" dirty="0">
                <a:latin typeface="Palatino Linotype"/>
                <a:cs typeface="Palatino Linotype"/>
              </a:rPr>
              <a:t> </a:t>
            </a:r>
            <a:r>
              <a:rPr sz="2250" spc="236" dirty="0">
                <a:latin typeface="Palatino Linotype"/>
                <a:cs typeface="Palatino Linotype"/>
              </a:rPr>
              <a:t>=</a:t>
            </a:r>
            <a:r>
              <a:rPr sz="2250" spc="-21" dirty="0">
                <a:latin typeface="Palatino Linotype"/>
                <a:cs typeface="Palatino Linotype"/>
              </a:rPr>
              <a:t> </a:t>
            </a:r>
            <a:r>
              <a:rPr sz="2250" spc="-42" dirty="0">
                <a:latin typeface="Palatino Linotype"/>
                <a:cs typeface="Palatino Linotype"/>
              </a:rPr>
              <a:t>key,</a:t>
            </a:r>
            <a:r>
              <a:rPr sz="2250" spc="-21" dirty="0">
                <a:latin typeface="Palatino Linotype"/>
                <a:cs typeface="Palatino Linotype"/>
              </a:rPr>
              <a:t> </a:t>
            </a:r>
            <a:r>
              <a:rPr sz="2250" spc="-7" dirty="0">
                <a:latin typeface="Palatino Linotype"/>
                <a:cs typeface="Palatino Linotype"/>
              </a:rPr>
              <a:t>done!</a:t>
            </a:r>
            <a:endParaRPr sz="2250" dirty="0">
              <a:latin typeface="Palatino Linotype"/>
              <a:cs typeface="Palatino Linotype"/>
            </a:endParaRPr>
          </a:p>
          <a:p>
            <a:pPr marL="223234" marR="3572">
              <a:lnSpc>
                <a:spcPct val="109400"/>
              </a:lnSpc>
            </a:pPr>
            <a:r>
              <a:rPr sz="2250" dirty="0">
                <a:latin typeface="Palatino Linotype"/>
                <a:cs typeface="Palatino Linotype"/>
              </a:rPr>
              <a:t>If</a:t>
            </a:r>
            <a:r>
              <a:rPr sz="2250" spc="-28" dirty="0">
                <a:latin typeface="Palatino Linotype"/>
                <a:cs typeface="Palatino Linotype"/>
              </a:rPr>
              <a:t> </a:t>
            </a:r>
            <a:r>
              <a:rPr sz="2250" dirty="0">
                <a:latin typeface="Palatino Linotype"/>
                <a:cs typeface="Palatino Linotype"/>
              </a:rPr>
              <a:t>k</a:t>
            </a:r>
            <a:r>
              <a:rPr sz="2250" spc="-28" dirty="0">
                <a:latin typeface="Palatino Linotype"/>
                <a:cs typeface="Palatino Linotype"/>
              </a:rPr>
              <a:t> </a:t>
            </a:r>
            <a:r>
              <a:rPr sz="2250" spc="236" dirty="0">
                <a:latin typeface="Palatino Linotype"/>
                <a:cs typeface="Palatino Linotype"/>
              </a:rPr>
              <a:t>&lt;</a:t>
            </a:r>
            <a:r>
              <a:rPr sz="2250" spc="-28" dirty="0">
                <a:latin typeface="Palatino Linotype"/>
                <a:cs typeface="Palatino Linotype"/>
              </a:rPr>
              <a:t> </a:t>
            </a:r>
            <a:r>
              <a:rPr sz="2250" dirty="0">
                <a:latin typeface="Palatino Linotype"/>
                <a:cs typeface="Palatino Linotype"/>
              </a:rPr>
              <a:t>next</a:t>
            </a:r>
            <a:r>
              <a:rPr sz="2250" spc="-28" dirty="0">
                <a:latin typeface="Palatino Linotype"/>
                <a:cs typeface="Palatino Linotype"/>
              </a:rPr>
              <a:t> </a:t>
            </a:r>
            <a:r>
              <a:rPr sz="2250" spc="-42" dirty="0">
                <a:latin typeface="Palatino Linotype"/>
                <a:cs typeface="Palatino Linotype"/>
              </a:rPr>
              <a:t>key,</a:t>
            </a:r>
            <a:r>
              <a:rPr sz="2250" spc="-28" dirty="0">
                <a:latin typeface="Palatino Linotype"/>
                <a:cs typeface="Palatino Linotype"/>
              </a:rPr>
              <a:t> </a:t>
            </a:r>
            <a:r>
              <a:rPr sz="2250" dirty="0">
                <a:latin typeface="Palatino Linotype"/>
                <a:cs typeface="Palatino Linotype"/>
              </a:rPr>
              <a:t>go</a:t>
            </a:r>
            <a:r>
              <a:rPr sz="2250" spc="-25" dirty="0">
                <a:latin typeface="Palatino Linotype"/>
                <a:cs typeface="Palatino Linotype"/>
              </a:rPr>
              <a:t> </a:t>
            </a:r>
            <a:r>
              <a:rPr sz="2250" dirty="0">
                <a:latin typeface="Palatino Linotype"/>
                <a:cs typeface="Palatino Linotype"/>
              </a:rPr>
              <a:t>down</a:t>
            </a:r>
            <a:r>
              <a:rPr sz="2250" spc="-32" dirty="0">
                <a:latin typeface="Palatino Linotype"/>
                <a:cs typeface="Palatino Linotype"/>
              </a:rPr>
              <a:t> </a:t>
            </a:r>
            <a:r>
              <a:rPr sz="2250" dirty="0">
                <a:latin typeface="Palatino Linotype"/>
                <a:cs typeface="Palatino Linotype"/>
              </a:rPr>
              <a:t>a</a:t>
            </a:r>
            <a:r>
              <a:rPr sz="2250" spc="-25" dirty="0">
                <a:latin typeface="Palatino Linotype"/>
                <a:cs typeface="Palatino Linotype"/>
              </a:rPr>
              <a:t> </a:t>
            </a:r>
            <a:r>
              <a:rPr sz="2250" spc="-7" dirty="0">
                <a:latin typeface="Palatino Linotype"/>
                <a:cs typeface="Palatino Linotype"/>
              </a:rPr>
              <a:t>level </a:t>
            </a:r>
            <a:r>
              <a:rPr sz="2250" dirty="0">
                <a:latin typeface="Palatino Linotype"/>
                <a:cs typeface="Palatino Linotype"/>
              </a:rPr>
              <a:t>If</a:t>
            </a:r>
            <a:r>
              <a:rPr sz="2250" spc="-25" dirty="0">
                <a:latin typeface="Palatino Linotype"/>
                <a:cs typeface="Palatino Linotype"/>
              </a:rPr>
              <a:t> </a:t>
            </a:r>
            <a:r>
              <a:rPr sz="2250" dirty="0">
                <a:latin typeface="Palatino Linotype"/>
                <a:cs typeface="Palatino Linotype"/>
              </a:rPr>
              <a:t>k</a:t>
            </a:r>
            <a:r>
              <a:rPr sz="2250" spc="-28" dirty="0">
                <a:latin typeface="Palatino Linotype"/>
                <a:cs typeface="Palatino Linotype"/>
              </a:rPr>
              <a:t> </a:t>
            </a:r>
            <a:r>
              <a:rPr sz="2250" spc="98" dirty="0">
                <a:latin typeface="Palatino Linotype"/>
                <a:cs typeface="Palatino Linotype"/>
              </a:rPr>
              <a:t>≥</a:t>
            </a:r>
            <a:r>
              <a:rPr sz="2250" spc="-21" dirty="0">
                <a:latin typeface="Palatino Linotype"/>
                <a:cs typeface="Palatino Linotype"/>
              </a:rPr>
              <a:t> </a:t>
            </a:r>
            <a:r>
              <a:rPr sz="2250" dirty="0">
                <a:latin typeface="Palatino Linotype"/>
                <a:cs typeface="Palatino Linotype"/>
              </a:rPr>
              <a:t>next</a:t>
            </a:r>
            <a:r>
              <a:rPr sz="2250" spc="-28" dirty="0">
                <a:latin typeface="Palatino Linotype"/>
                <a:cs typeface="Palatino Linotype"/>
              </a:rPr>
              <a:t> </a:t>
            </a:r>
            <a:r>
              <a:rPr sz="2250" spc="-42" dirty="0">
                <a:latin typeface="Palatino Linotype"/>
                <a:cs typeface="Palatino Linotype"/>
              </a:rPr>
              <a:t>key,</a:t>
            </a:r>
            <a:r>
              <a:rPr sz="2250" spc="-21" dirty="0">
                <a:latin typeface="Palatino Linotype"/>
                <a:cs typeface="Palatino Linotype"/>
              </a:rPr>
              <a:t> </a:t>
            </a:r>
            <a:r>
              <a:rPr sz="2250" dirty="0">
                <a:latin typeface="Palatino Linotype"/>
                <a:cs typeface="Palatino Linotype"/>
              </a:rPr>
              <a:t>go</a:t>
            </a:r>
            <a:r>
              <a:rPr sz="2250" spc="-25" dirty="0">
                <a:latin typeface="Palatino Linotype"/>
                <a:cs typeface="Palatino Linotype"/>
              </a:rPr>
              <a:t> </a:t>
            </a:r>
            <a:r>
              <a:rPr sz="2250" spc="-7" dirty="0">
                <a:latin typeface="Palatino Linotype"/>
                <a:cs typeface="Palatino Linotype"/>
              </a:rPr>
              <a:t>right</a:t>
            </a:r>
            <a:endParaRPr sz="2250" dirty="0">
              <a:latin typeface="Palatino Linotype"/>
              <a:cs typeface="Palatino Linotype"/>
            </a:endParaRPr>
          </a:p>
        </p:txBody>
      </p:sp>
      <p:pic>
        <p:nvPicPr>
          <p:cNvPr id="2" name="图片 1"/>
          <p:cNvPicPr>
            <a:picLocks noChangeAspect="1"/>
          </p:cNvPicPr>
          <p:nvPr/>
        </p:nvPicPr>
        <p:blipFill>
          <a:blip r:embed="rId2"/>
          <a:stretch>
            <a:fillRect/>
          </a:stretch>
        </p:blipFill>
        <p:spPr>
          <a:xfrm>
            <a:off x="179513" y="4165757"/>
            <a:ext cx="8712968" cy="2647619"/>
          </a:xfrm>
          <a:prstGeom prst="rect">
            <a:avLst/>
          </a:prstGeom>
        </p:spPr>
      </p:pic>
    </p:spTree>
    <p:extLst>
      <p:ext uri="{BB962C8B-B14F-4D97-AF65-F5344CB8AC3E}">
        <p14:creationId xmlns:p14="http://schemas.microsoft.com/office/powerpoint/2010/main" val="42020038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object 155"/>
          <p:cNvSpPr txBox="1">
            <a:spLocks noGrp="1"/>
          </p:cNvSpPr>
          <p:nvPr>
            <p:ph type="title"/>
          </p:nvPr>
        </p:nvSpPr>
        <p:spPr>
          <a:xfrm>
            <a:off x="1914924" y="468816"/>
            <a:ext cx="5321372" cy="439904"/>
          </a:xfrm>
          <a:prstGeom prst="rect">
            <a:avLst/>
          </a:prstGeom>
        </p:spPr>
        <p:txBody>
          <a:bodyPr vert="horz" wrap="square" lIns="0" tIns="8930" rIns="0" bIns="0" numCol="1" rtlCol="0" anchor="ctr" anchorCtr="0" compatLnSpc="1">
            <a:spAutoFit/>
          </a:bodyPr>
          <a:lstStyle/>
          <a:p>
            <a:pPr marL="8929">
              <a:spcBef>
                <a:spcPts val="70"/>
              </a:spcBef>
            </a:pPr>
            <a:r>
              <a:rPr lang="zh-CN" altLang="en-US" sz="2800" dirty="0">
                <a:solidFill>
                  <a:srgbClr val="FF0000"/>
                </a:solidFill>
                <a:latin typeface="微软雅黑" panose="020B0503020204020204" pitchFamily="82" charset="2"/>
                <a:ea typeface="微软雅黑" panose="020B0503020204020204" pitchFamily="82" charset="2"/>
                <a:sym typeface="+mn-ea"/>
              </a:rPr>
              <a:t>跳表基本</a:t>
            </a:r>
            <a:r>
              <a:rPr lang="zh-CN" altLang="en-US" sz="28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800" dirty="0" smtClean="0">
                <a:solidFill>
                  <a:srgbClr val="FF0000"/>
                </a:solidFill>
                <a:latin typeface="微软雅黑" panose="020B0503020204020204" pitchFamily="82" charset="2"/>
                <a:ea typeface="微软雅黑" panose="020B0503020204020204" pitchFamily="82" charset="2"/>
                <a:sym typeface="+mn-ea"/>
              </a:rPr>
              <a:t>-</a:t>
            </a:r>
            <a:r>
              <a:rPr lang="zh-CN" altLang="en-US" sz="2800" dirty="0" smtClean="0">
                <a:solidFill>
                  <a:srgbClr val="FF0000"/>
                </a:solidFill>
                <a:latin typeface="微软雅黑" panose="020B0503020204020204" pitchFamily="82" charset="2"/>
                <a:ea typeface="微软雅黑" panose="020B0503020204020204" pitchFamily="82" charset="2"/>
                <a:sym typeface="+mn-ea"/>
              </a:rPr>
              <a:t>查找：例</a:t>
            </a:r>
            <a:r>
              <a:rPr lang="en-US" altLang="zh-CN" sz="2800" dirty="0">
                <a:solidFill>
                  <a:srgbClr val="FF0000"/>
                </a:solidFill>
                <a:latin typeface="微软雅黑" panose="020B0503020204020204" pitchFamily="82" charset="2"/>
                <a:ea typeface="微软雅黑" panose="020B0503020204020204" pitchFamily="82" charset="2"/>
                <a:sym typeface="+mn-ea"/>
              </a:rPr>
              <a:t>2</a:t>
            </a:r>
            <a:endParaRPr sz="2800" dirty="0">
              <a:solidFill>
                <a:srgbClr val="FF0000"/>
              </a:solidFill>
            </a:endParaRPr>
          </a:p>
        </p:txBody>
      </p:sp>
      <p:sp>
        <p:nvSpPr>
          <p:cNvPr id="156" name="object 156"/>
          <p:cNvSpPr txBox="1"/>
          <p:nvPr/>
        </p:nvSpPr>
        <p:spPr>
          <a:xfrm>
            <a:off x="611560" y="3455045"/>
            <a:ext cx="2736304" cy="355266"/>
          </a:xfrm>
          <a:prstGeom prst="rect">
            <a:avLst/>
          </a:prstGeom>
        </p:spPr>
        <p:txBody>
          <a:bodyPr vert="horz" wrap="square" lIns="0" tIns="8930" rIns="0" bIns="0" rtlCol="0">
            <a:spAutoFit/>
          </a:bodyPr>
          <a:lstStyle/>
          <a:p>
            <a:pPr marL="8929">
              <a:spcBef>
                <a:spcPts val="70"/>
              </a:spcBef>
            </a:pPr>
            <a:r>
              <a:rPr sz="2250" dirty="0" smtClean="0">
                <a:latin typeface="Palatino Linotype"/>
                <a:cs typeface="Palatino Linotype"/>
              </a:rPr>
              <a:t>Find </a:t>
            </a:r>
            <a:r>
              <a:rPr lang="en-US" sz="2250" dirty="0" smtClean="0">
                <a:latin typeface="Palatino Linotype"/>
                <a:cs typeface="Palatino Linotype"/>
              </a:rPr>
              <a:t>k=</a:t>
            </a:r>
            <a:r>
              <a:rPr lang="en-US" sz="2250" spc="-18" dirty="0" smtClean="0">
                <a:latin typeface="Palatino Linotype"/>
                <a:cs typeface="Palatino Linotype"/>
              </a:rPr>
              <a:t>96:</a:t>
            </a:r>
            <a:endParaRPr sz="2250" dirty="0">
              <a:latin typeface="Palatino Linotype"/>
              <a:cs typeface="Palatino Linotype"/>
            </a:endParaRPr>
          </a:p>
        </p:txBody>
      </p:sp>
      <p:sp>
        <p:nvSpPr>
          <p:cNvPr id="193" name="object 193"/>
          <p:cNvSpPr txBox="1"/>
          <p:nvPr/>
        </p:nvSpPr>
        <p:spPr>
          <a:xfrm>
            <a:off x="546788" y="1334275"/>
            <a:ext cx="4159895" cy="1518661"/>
          </a:xfrm>
          <a:prstGeom prst="rect">
            <a:avLst/>
          </a:prstGeom>
        </p:spPr>
        <p:txBody>
          <a:bodyPr vert="horz" wrap="square" lIns="0" tIns="8930" rIns="0" bIns="0" rtlCol="0">
            <a:spAutoFit/>
          </a:bodyPr>
          <a:lstStyle/>
          <a:p>
            <a:pPr marL="223234" marR="1779623" indent="-214305">
              <a:lnSpc>
                <a:spcPct val="109400"/>
              </a:lnSpc>
              <a:spcBef>
                <a:spcPts val="70"/>
              </a:spcBef>
            </a:pPr>
            <a:r>
              <a:rPr sz="2250" dirty="0">
                <a:latin typeface="Palatino Linotype"/>
                <a:cs typeface="Palatino Linotype"/>
              </a:rPr>
              <a:t>When</a:t>
            </a:r>
            <a:r>
              <a:rPr sz="2250" spc="-70" dirty="0">
                <a:latin typeface="Palatino Linotype"/>
                <a:cs typeface="Palatino Linotype"/>
              </a:rPr>
              <a:t> </a:t>
            </a:r>
            <a:r>
              <a:rPr sz="2250" dirty="0">
                <a:latin typeface="Palatino Linotype"/>
                <a:cs typeface="Palatino Linotype"/>
              </a:rPr>
              <a:t>search</a:t>
            </a:r>
            <a:r>
              <a:rPr sz="2250" spc="-67" dirty="0">
                <a:latin typeface="Palatino Linotype"/>
                <a:cs typeface="Palatino Linotype"/>
              </a:rPr>
              <a:t> </a:t>
            </a:r>
            <a:r>
              <a:rPr sz="2250" dirty="0">
                <a:latin typeface="Palatino Linotype"/>
                <a:cs typeface="Palatino Linotype"/>
              </a:rPr>
              <a:t>for</a:t>
            </a:r>
            <a:r>
              <a:rPr sz="2250" spc="-67" dirty="0">
                <a:latin typeface="Palatino Linotype"/>
                <a:cs typeface="Palatino Linotype"/>
              </a:rPr>
              <a:t> </a:t>
            </a:r>
            <a:r>
              <a:rPr sz="2250" spc="-18" dirty="0">
                <a:latin typeface="Palatino Linotype"/>
                <a:cs typeface="Palatino Linotype"/>
              </a:rPr>
              <a:t>k: </a:t>
            </a:r>
            <a:r>
              <a:rPr sz="2250" dirty="0">
                <a:latin typeface="Palatino Linotype"/>
                <a:cs typeface="Palatino Linotype"/>
              </a:rPr>
              <a:t>If</a:t>
            </a:r>
            <a:r>
              <a:rPr sz="2250" spc="-25" dirty="0">
                <a:latin typeface="Palatino Linotype"/>
                <a:cs typeface="Palatino Linotype"/>
              </a:rPr>
              <a:t> </a:t>
            </a:r>
            <a:r>
              <a:rPr sz="2250" dirty="0">
                <a:latin typeface="Palatino Linotype"/>
                <a:cs typeface="Palatino Linotype"/>
              </a:rPr>
              <a:t>k</a:t>
            </a:r>
            <a:r>
              <a:rPr sz="2250" spc="-25" dirty="0">
                <a:latin typeface="Palatino Linotype"/>
                <a:cs typeface="Palatino Linotype"/>
              </a:rPr>
              <a:t> </a:t>
            </a:r>
            <a:r>
              <a:rPr sz="2250" spc="236" dirty="0">
                <a:latin typeface="Palatino Linotype"/>
                <a:cs typeface="Palatino Linotype"/>
              </a:rPr>
              <a:t>=</a:t>
            </a:r>
            <a:r>
              <a:rPr sz="2250" spc="-21" dirty="0">
                <a:latin typeface="Palatino Linotype"/>
                <a:cs typeface="Palatino Linotype"/>
              </a:rPr>
              <a:t> </a:t>
            </a:r>
            <a:r>
              <a:rPr sz="2250" spc="-42" dirty="0">
                <a:latin typeface="Palatino Linotype"/>
                <a:cs typeface="Palatino Linotype"/>
              </a:rPr>
              <a:t>key,</a:t>
            </a:r>
            <a:r>
              <a:rPr sz="2250" spc="-21" dirty="0">
                <a:latin typeface="Palatino Linotype"/>
                <a:cs typeface="Palatino Linotype"/>
              </a:rPr>
              <a:t> </a:t>
            </a:r>
            <a:r>
              <a:rPr sz="2250" spc="-7" dirty="0">
                <a:latin typeface="Palatino Linotype"/>
                <a:cs typeface="Palatino Linotype"/>
              </a:rPr>
              <a:t>done!</a:t>
            </a:r>
            <a:endParaRPr sz="2250" dirty="0">
              <a:latin typeface="Palatino Linotype"/>
              <a:cs typeface="Palatino Linotype"/>
            </a:endParaRPr>
          </a:p>
          <a:p>
            <a:pPr marL="223234" marR="3572">
              <a:lnSpc>
                <a:spcPct val="109400"/>
              </a:lnSpc>
            </a:pPr>
            <a:r>
              <a:rPr sz="2250" dirty="0">
                <a:latin typeface="Palatino Linotype"/>
                <a:cs typeface="Palatino Linotype"/>
              </a:rPr>
              <a:t>If</a:t>
            </a:r>
            <a:r>
              <a:rPr sz="2250" spc="-28" dirty="0">
                <a:latin typeface="Palatino Linotype"/>
                <a:cs typeface="Palatino Linotype"/>
              </a:rPr>
              <a:t> </a:t>
            </a:r>
            <a:r>
              <a:rPr sz="2250" dirty="0">
                <a:latin typeface="Palatino Linotype"/>
                <a:cs typeface="Palatino Linotype"/>
              </a:rPr>
              <a:t>k</a:t>
            </a:r>
            <a:r>
              <a:rPr sz="2250" spc="-28" dirty="0">
                <a:latin typeface="Palatino Linotype"/>
                <a:cs typeface="Palatino Linotype"/>
              </a:rPr>
              <a:t> </a:t>
            </a:r>
            <a:r>
              <a:rPr sz="2250" spc="236" dirty="0">
                <a:latin typeface="Palatino Linotype"/>
                <a:cs typeface="Palatino Linotype"/>
              </a:rPr>
              <a:t>&lt;</a:t>
            </a:r>
            <a:r>
              <a:rPr sz="2250" spc="-28" dirty="0">
                <a:latin typeface="Palatino Linotype"/>
                <a:cs typeface="Palatino Linotype"/>
              </a:rPr>
              <a:t> </a:t>
            </a:r>
            <a:r>
              <a:rPr sz="2250" dirty="0">
                <a:latin typeface="Palatino Linotype"/>
                <a:cs typeface="Palatino Linotype"/>
              </a:rPr>
              <a:t>next</a:t>
            </a:r>
            <a:r>
              <a:rPr sz="2250" spc="-28" dirty="0">
                <a:latin typeface="Palatino Linotype"/>
                <a:cs typeface="Palatino Linotype"/>
              </a:rPr>
              <a:t> </a:t>
            </a:r>
            <a:r>
              <a:rPr sz="2250" spc="-42" dirty="0">
                <a:latin typeface="Palatino Linotype"/>
                <a:cs typeface="Palatino Linotype"/>
              </a:rPr>
              <a:t>key,</a:t>
            </a:r>
            <a:r>
              <a:rPr sz="2250" spc="-28" dirty="0">
                <a:latin typeface="Palatino Linotype"/>
                <a:cs typeface="Palatino Linotype"/>
              </a:rPr>
              <a:t> </a:t>
            </a:r>
            <a:r>
              <a:rPr sz="2250" dirty="0">
                <a:latin typeface="Palatino Linotype"/>
                <a:cs typeface="Palatino Linotype"/>
              </a:rPr>
              <a:t>go</a:t>
            </a:r>
            <a:r>
              <a:rPr sz="2250" spc="-25" dirty="0">
                <a:latin typeface="Palatino Linotype"/>
                <a:cs typeface="Palatino Linotype"/>
              </a:rPr>
              <a:t> </a:t>
            </a:r>
            <a:r>
              <a:rPr sz="2250" dirty="0">
                <a:latin typeface="Palatino Linotype"/>
                <a:cs typeface="Palatino Linotype"/>
              </a:rPr>
              <a:t>down</a:t>
            </a:r>
            <a:r>
              <a:rPr sz="2250" spc="-32" dirty="0">
                <a:latin typeface="Palatino Linotype"/>
                <a:cs typeface="Palatino Linotype"/>
              </a:rPr>
              <a:t> </a:t>
            </a:r>
            <a:r>
              <a:rPr sz="2250" dirty="0">
                <a:latin typeface="Palatino Linotype"/>
                <a:cs typeface="Palatino Linotype"/>
              </a:rPr>
              <a:t>a</a:t>
            </a:r>
            <a:r>
              <a:rPr sz="2250" spc="-25" dirty="0">
                <a:latin typeface="Palatino Linotype"/>
                <a:cs typeface="Palatino Linotype"/>
              </a:rPr>
              <a:t> </a:t>
            </a:r>
            <a:r>
              <a:rPr sz="2250" spc="-7" dirty="0">
                <a:latin typeface="Palatino Linotype"/>
                <a:cs typeface="Palatino Linotype"/>
              </a:rPr>
              <a:t>level </a:t>
            </a:r>
            <a:r>
              <a:rPr sz="2250" dirty="0">
                <a:latin typeface="Palatino Linotype"/>
                <a:cs typeface="Palatino Linotype"/>
              </a:rPr>
              <a:t>If</a:t>
            </a:r>
            <a:r>
              <a:rPr sz="2250" spc="-25" dirty="0">
                <a:latin typeface="Palatino Linotype"/>
                <a:cs typeface="Palatino Linotype"/>
              </a:rPr>
              <a:t> </a:t>
            </a:r>
            <a:r>
              <a:rPr sz="2250" dirty="0">
                <a:latin typeface="Palatino Linotype"/>
                <a:cs typeface="Palatino Linotype"/>
              </a:rPr>
              <a:t>k</a:t>
            </a:r>
            <a:r>
              <a:rPr sz="2250" spc="-28" dirty="0">
                <a:latin typeface="Palatino Linotype"/>
                <a:cs typeface="Palatino Linotype"/>
              </a:rPr>
              <a:t> </a:t>
            </a:r>
            <a:r>
              <a:rPr sz="2250" spc="98" dirty="0">
                <a:latin typeface="Palatino Linotype"/>
                <a:cs typeface="Palatino Linotype"/>
              </a:rPr>
              <a:t>≥</a:t>
            </a:r>
            <a:r>
              <a:rPr sz="2250" spc="-21" dirty="0">
                <a:latin typeface="Palatino Linotype"/>
                <a:cs typeface="Palatino Linotype"/>
              </a:rPr>
              <a:t> </a:t>
            </a:r>
            <a:r>
              <a:rPr sz="2250" dirty="0">
                <a:latin typeface="Palatino Linotype"/>
                <a:cs typeface="Palatino Linotype"/>
              </a:rPr>
              <a:t>next</a:t>
            </a:r>
            <a:r>
              <a:rPr sz="2250" spc="-28" dirty="0">
                <a:latin typeface="Palatino Linotype"/>
                <a:cs typeface="Palatino Linotype"/>
              </a:rPr>
              <a:t> </a:t>
            </a:r>
            <a:r>
              <a:rPr sz="2250" spc="-42" dirty="0">
                <a:latin typeface="Palatino Linotype"/>
                <a:cs typeface="Palatino Linotype"/>
              </a:rPr>
              <a:t>key,</a:t>
            </a:r>
            <a:r>
              <a:rPr sz="2250" spc="-21" dirty="0">
                <a:latin typeface="Palatino Linotype"/>
                <a:cs typeface="Palatino Linotype"/>
              </a:rPr>
              <a:t> </a:t>
            </a:r>
            <a:r>
              <a:rPr sz="2250" dirty="0">
                <a:latin typeface="Palatino Linotype"/>
                <a:cs typeface="Palatino Linotype"/>
              </a:rPr>
              <a:t>go</a:t>
            </a:r>
            <a:r>
              <a:rPr sz="2250" spc="-25" dirty="0">
                <a:latin typeface="Palatino Linotype"/>
                <a:cs typeface="Palatino Linotype"/>
              </a:rPr>
              <a:t> </a:t>
            </a:r>
            <a:r>
              <a:rPr sz="2250" spc="-7" dirty="0">
                <a:latin typeface="Palatino Linotype"/>
                <a:cs typeface="Palatino Linotype"/>
              </a:rPr>
              <a:t>right</a:t>
            </a:r>
            <a:endParaRPr sz="2250" dirty="0">
              <a:latin typeface="Palatino Linotype"/>
              <a:cs typeface="Palatino Linotype"/>
            </a:endParaRPr>
          </a:p>
        </p:txBody>
      </p:sp>
      <p:pic>
        <p:nvPicPr>
          <p:cNvPr id="3" name="图片 2"/>
          <p:cNvPicPr>
            <a:picLocks noChangeAspect="1"/>
          </p:cNvPicPr>
          <p:nvPr/>
        </p:nvPicPr>
        <p:blipFill>
          <a:blip r:embed="rId2"/>
          <a:stretch>
            <a:fillRect/>
          </a:stretch>
        </p:blipFill>
        <p:spPr>
          <a:xfrm>
            <a:off x="251520" y="4077072"/>
            <a:ext cx="8280920" cy="2695238"/>
          </a:xfrm>
          <a:prstGeom prst="rect">
            <a:avLst/>
          </a:prstGeom>
        </p:spPr>
      </p:pic>
    </p:spTree>
    <p:extLst>
      <p:ext uri="{BB962C8B-B14F-4D97-AF65-F5344CB8AC3E}">
        <p14:creationId xmlns:p14="http://schemas.microsoft.com/office/powerpoint/2010/main" val="218357504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18"/>
          <p:cNvSpPr/>
          <p:nvPr/>
        </p:nvSpPr>
        <p:spPr>
          <a:xfrm>
            <a:off x="1121229" y="3429000"/>
            <a:ext cx="6978599" cy="205829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98</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340195"/>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a:solidFill>
                  <a:srgbClr val="FF0000"/>
                </a:solidFill>
                <a:latin typeface="微软雅黑" panose="020B0503020204020204" pitchFamily="82" charset="2"/>
                <a:ea typeface="微软雅黑" panose="020B0503020204020204" pitchFamily="82" charset="2"/>
                <a:sym typeface="+mn-ea"/>
              </a:rPr>
              <a:t>-</a:t>
            </a:r>
            <a:r>
              <a:rPr lang="zh-CN" altLang="en-US" sz="2700" dirty="0">
                <a:solidFill>
                  <a:srgbClr val="FF0000"/>
                </a:solidFill>
                <a:latin typeface="微软雅黑" panose="020B0503020204020204" pitchFamily="82" charset="2"/>
                <a:ea typeface="微软雅黑" panose="020B0503020204020204" pitchFamily="82" charset="2"/>
                <a:sym typeface="+mn-ea"/>
              </a:rPr>
              <a:t>查找：复杂度</a:t>
            </a:r>
          </a:p>
        </p:txBody>
      </p:sp>
      <p:sp>
        <p:nvSpPr>
          <p:cNvPr id="4" name="内容占位符 3"/>
          <p:cNvSpPr>
            <a:spLocks noGrp="1"/>
          </p:cNvSpPr>
          <p:nvPr>
            <p:ph idx="1"/>
          </p:nvPr>
        </p:nvSpPr>
        <p:spPr>
          <a:xfrm>
            <a:off x="793134" y="1654123"/>
            <a:ext cx="8155641" cy="3754040"/>
          </a:xfrm>
        </p:spPr>
        <p:txBody>
          <a:bodyPr/>
          <a:lstStyle/>
          <a:p>
            <a:pPr>
              <a:buFont typeface="Wingdings" panose="05000000000000000000" pitchFamily="2" charset="2"/>
              <a:buChar char="Ø"/>
            </a:pPr>
            <a:r>
              <a:rPr lang="zh-CN" altLang="en-US" sz="2100" b="1" dirty="0">
                <a:solidFill>
                  <a:srgbClr val="701988"/>
                </a:solidFill>
                <a:latin typeface="微软雅黑" panose="020B0503020204020204" pitchFamily="82" charset="2"/>
                <a:ea typeface="微软雅黑" panose="020B0503020204020204" pitchFamily="82" charset="2"/>
              </a:rPr>
              <a:t>搜索的复杂度</a:t>
            </a:r>
            <a:endParaRPr lang="en-US" altLang="zh-CN" sz="21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时间</a:t>
            </a:r>
            <a:r>
              <a:rPr lang="zh-CN" altLang="en-US" sz="1500" dirty="0" smtClean="0">
                <a:latin typeface="微软雅黑" panose="020B0503020204020204" pitchFamily="82" charset="2"/>
                <a:ea typeface="微软雅黑" panose="020B0503020204020204" pitchFamily="82" charset="2"/>
              </a:rPr>
              <a:t>：</a:t>
            </a:r>
            <a:r>
              <a:rPr lang="en-US" altLang="zh-CN" sz="1500" dirty="0" smtClean="0">
                <a:latin typeface="微软雅黑" panose="020B0503020204020204" pitchFamily="82" charset="2"/>
                <a:ea typeface="微软雅黑" panose="020B0503020204020204" pitchFamily="82" charset="2"/>
              </a:rPr>
              <a:t>O(log </a:t>
            </a:r>
            <a:r>
              <a:rPr lang="en-US" altLang="zh-CN" sz="1500" dirty="0">
                <a:latin typeface="微软雅黑" panose="020B0503020204020204" pitchFamily="82" charset="2"/>
                <a:ea typeface="微软雅黑" panose="020B0503020204020204" pitchFamily="82" charset="2"/>
              </a:rPr>
              <a:t>n)</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空间：</a:t>
            </a:r>
            <a:r>
              <a:rPr lang="en-US" altLang="zh-CN" sz="1500" dirty="0">
                <a:latin typeface="微软雅黑" panose="020B0503020204020204" pitchFamily="82" charset="2"/>
                <a:ea typeface="微软雅黑" panose="020B0503020204020204" pitchFamily="82" charset="2"/>
              </a:rPr>
              <a:t>O(n)</a:t>
            </a:r>
          </a:p>
          <a:p>
            <a:pPr lvl="1"/>
            <a:endParaRPr kumimoji="1" lang="zh-CN" altLang="en-US"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grpSp>
        <p:nvGrpSpPr>
          <p:cNvPr id="128" name="组合 127"/>
          <p:cNvGrpSpPr/>
          <p:nvPr/>
        </p:nvGrpSpPr>
        <p:grpSpPr>
          <a:xfrm>
            <a:off x="1436710" y="3753530"/>
            <a:ext cx="5865393" cy="1512332"/>
            <a:chOff x="1915613" y="4230756"/>
            <a:chExt cx="7820524" cy="2016443"/>
          </a:xfrm>
        </p:grpSpPr>
        <p:sp>
          <p:nvSpPr>
            <p:cNvPr id="67" name="Line 79"/>
            <p:cNvSpPr>
              <a:spLocks noChangeShapeType="1"/>
            </p:cNvSpPr>
            <p:nvPr/>
          </p:nvSpPr>
          <p:spPr bwMode="auto">
            <a:xfrm>
              <a:off x="2649537" y="46117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68" name="Line 81"/>
            <p:cNvSpPr>
              <a:spLocks noChangeShapeType="1"/>
            </p:cNvSpPr>
            <p:nvPr/>
          </p:nvSpPr>
          <p:spPr bwMode="auto">
            <a:xfrm>
              <a:off x="9583737" y="46117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69" name="Line 74"/>
            <p:cNvSpPr>
              <a:spLocks noChangeShapeType="1"/>
            </p:cNvSpPr>
            <p:nvPr/>
          </p:nvSpPr>
          <p:spPr bwMode="auto">
            <a:xfrm>
              <a:off x="2649537" y="4992756"/>
              <a:ext cx="0" cy="4572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0" name="Line 75"/>
            <p:cNvSpPr>
              <a:spLocks noChangeShapeType="1"/>
            </p:cNvSpPr>
            <p:nvPr/>
          </p:nvSpPr>
          <p:spPr bwMode="auto">
            <a:xfrm>
              <a:off x="5468937" y="5068956"/>
              <a:ext cx="0" cy="3810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1" name="Line 76"/>
            <p:cNvSpPr>
              <a:spLocks noChangeShapeType="1"/>
            </p:cNvSpPr>
            <p:nvPr/>
          </p:nvSpPr>
          <p:spPr bwMode="auto">
            <a:xfrm>
              <a:off x="8212137" y="51451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2" name="Line 78"/>
            <p:cNvSpPr>
              <a:spLocks noChangeShapeType="1"/>
            </p:cNvSpPr>
            <p:nvPr/>
          </p:nvSpPr>
          <p:spPr bwMode="auto">
            <a:xfrm>
              <a:off x="9583737" y="5068956"/>
              <a:ext cx="0" cy="3810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nvGrpSpPr>
            <p:cNvPr id="73" name="Group 4"/>
            <p:cNvGrpSpPr/>
            <p:nvPr/>
          </p:nvGrpSpPr>
          <p:grpSpPr bwMode="auto">
            <a:xfrm>
              <a:off x="2455862" y="5902394"/>
              <a:ext cx="7280275" cy="215900"/>
              <a:chOff x="838" y="3693"/>
              <a:chExt cx="4586" cy="136"/>
            </a:xfrm>
          </p:grpSpPr>
          <p:sp>
            <p:nvSpPr>
              <p:cNvPr id="74" name="Rectangle 5"/>
              <p:cNvSpPr>
                <a:spLocks noChangeArrowheads="1"/>
              </p:cNvSpPr>
              <p:nvPr/>
            </p:nvSpPr>
            <p:spPr bwMode="auto">
              <a:xfrm>
                <a:off x="3896"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56</a:t>
                </a:r>
              </a:p>
            </p:txBody>
          </p:sp>
          <p:sp>
            <p:nvSpPr>
              <p:cNvPr id="75" name="Rectangle 6"/>
              <p:cNvSpPr>
                <a:spLocks noChangeArrowheads="1"/>
              </p:cNvSpPr>
              <p:nvPr/>
            </p:nvSpPr>
            <p:spPr bwMode="auto">
              <a:xfrm>
                <a:off x="4330" y="3693"/>
                <a:ext cx="227"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76" name="Rectangle 7"/>
              <p:cNvSpPr>
                <a:spLocks noChangeArrowheads="1"/>
              </p:cNvSpPr>
              <p:nvPr/>
            </p:nvSpPr>
            <p:spPr bwMode="auto">
              <a:xfrm>
                <a:off x="4762" y="369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78</a:t>
                </a:r>
              </a:p>
            </p:txBody>
          </p:sp>
          <p:sp>
            <p:nvSpPr>
              <p:cNvPr id="77" name="Rectangle 8"/>
              <p:cNvSpPr>
                <a:spLocks noChangeArrowheads="1"/>
              </p:cNvSpPr>
              <p:nvPr/>
            </p:nvSpPr>
            <p:spPr bwMode="auto">
              <a:xfrm>
                <a:off x="5196" y="369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78" name="Rectangle 9"/>
              <p:cNvSpPr>
                <a:spLocks noChangeArrowheads="1"/>
              </p:cNvSpPr>
              <p:nvPr/>
            </p:nvSpPr>
            <p:spPr bwMode="auto">
              <a:xfrm>
                <a:off x="2610" y="369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79" name="Rectangle 10"/>
              <p:cNvSpPr>
                <a:spLocks noChangeArrowheads="1"/>
              </p:cNvSpPr>
              <p:nvPr/>
            </p:nvSpPr>
            <p:spPr bwMode="auto">
              <a:xfrm>
                <a:off x="3043"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sp>
            <p:nvSpPr>
              <p:cNvPr id="80" name="Rectangle 11"/>
              <p:cNvSpPr>
                <a:spLocks noChangeArrowheads="1"/>
              </p:cNvSpPr>
              <p:nvPr/>
            </p:nvSpPr>
            <p:spPr bwMode="auto">
              <a:xfrm>
                <a:off x="3462"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44</a:t>
                </a:r>
              </a:p>
            </p:txBody>
          </p:sp>
          <p:sp>
            <p:nvSpPr>
              <p:cNvPr id="81" name="Rectangle 12"/>
              <p:cNvSpPr>
                <a:spLocks noChangeArrowheads="1"/>
              </p:cNvSpPr>
              <p:nvPr/>
            </p:nvSpPr>
            <p:spPr bwMode="auto">
              <a:xfrm>
                <a:off x="838"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82" name="Rectangle 13"/>
              <p:cNvSpPr>
                <a:spLocks noChangeArrowheads="1"/>
              </p:cNvSpPr>
              <p:nvPr/>
            </p:nvSpPr>
            <p:spPr bwMode="auto">
              <a:xfrm>
                <a:off x="1272"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12</a:t>
                </a:r>
              </a:p>
            </p:txBody>
          </p:sp>
          <p:sp>
            <p:nvSpPr>
              <p:cNvPr id="83" name="Rectangle 14"/>
              <p:cNvSpPr>
                <a:spLocks noChangeArrowheads="1"/>
              </p:cNvSpPr>
              <p:nvPr/>
            </p:nvSpPr>
            <p:spPr bwMode="auto">
              <a:xfrm>
                <a:off x="1705"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84" name="Rectangle 15"/>
              <p:cNvSpPr>
                <a:spLocks noChangeArrowheads="1"/>
              </p:cNvSpPr>
              <p:nvPr/>
            </p:nvSpPr>
            <p:spPr bwMode="auto">
              <a:xfrm>
                <a:off x="2139" y="369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26</a:t>
                </a:r>
              </a:p>
            </p:txBody>
          </p:sp>
          <p:cxnSp>
            <p:nvCxnSpPr>
              <p:cNvPr id="85" name="AutoShape 16"/>
              <p:cNvCxnSpPr>
                <a:cxnSpLocks noChangeShapeType="1"/>
                <a:stCxn id="81" idx="3"/>
                <a:endCxn id="82" idx="1"/>
              </p:cNvCxnSpPr>
              <p:nvPr/>
            </p:nvCxnSpPr>
            <p:spPr bwMode="auto">
              <a:xfrm>
                <a:off x="1073"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AutoShape 17"/>
              <p:cNvCxnSpPr>
                <a:cxnSpLocks noChangeShapeType="1"/>
                <a:stCxn id="83" idx="3"/>
                <a:endCxn id="84" idx="1"/>
              </p:cNvCxnSpPr>
              <p:nvPr/>
            </p:nvCxnSpPr>
            <p:spPr bwMode="auto">
              <a:xfrm>
                <a:off x="1940"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18"/>
              <p:cNvCxnSpPr>
                <a:cxnSpLocks noChangeShapeType="1"/>
                <a:stCxn id="78" idx="3"/>
                <a:endCxn id="79" idx="1"/>
              </p:cNvCxnSpPr>
              <p:nvPr/>
            </p:nvCxnSpPr>
            <p:spPr bwMode="auto">
              <a:xfrm>
                <a:off x="2844"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19"/>
              <p:cNvCxnSpPr>
                <a:cxnSpLocks noChangeShapeType="1"/>
                <a:stCxn id="82" idx="3"/>
                <a:endCxn id="83" idx="1"/>
              </p:cNvCxnSpPr>
              <p:nvPr/>
            </p:nvCxnSpPr>
            <p:spPr bwMode="auto">
              <a:xfrm>
                <a:off x="1507" y="3761"/>
                <a:ext cx="19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AutoShape 20"/>
              <p:cNvCxnSpPr>
                <a:cxnSpLocks noChangeShapeType="1"/>
                <a:stCxn id="84" idx="3"/>
                <a:endCxn id="78" idx="1"/>
              </p:cNvCxnSpPr>
              <p:nvPr/>
            </p:nvCxnSpPr>
            <p:spPr bwMode="auto">
              <a:xfrm>
                <a:off x="2374" y="3761"/>
                <a:ext cx="23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AutoShape 21"/>
              <p:cNvCxnSpPr>
                <a:cxnSpLocks noChangeShapeType="1"/>
                <a:stCxn id="79" idx="3"/>
                <a:endCxn id="80" idx="1"/>
              </p:cNvCxnSpPr>
              <p:nvPr/>
            </p:nvCxnSpPr>
            <p:spPr bwMode="auto">
              <a:xfrm>
                <a:off x="3278" y="3761"/>
                <a:ext cx="17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22"/>
              <p:cNvCxnSpPr>
                <a:cxnSpLocks noChangeShapeType="1"/>
                <a:stCxn id="80" idx="3"/>
                <a:endCxn id="74" idx="1"/>
              </p:cNvCxnSpPr>
              <p:nvPr/>
            </p:nvCxnSpPr>
            <p:spPr bwMode="auto">
              <a:xfrm>
                <a:off x="3697"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AutoShape 23"/>
              <p:cNvCxnSpPr>
                <a:cxnSpLocks noChangeShapeType="1"/>
                <a:stCxn id="74" idx="3"/>
                <a:endCxn id="75" idx="1"/>
              </p:cNvCxnSpPr>
              <p:nvPr/>
            </p:nvCxnSpPr>
            <p:spPr bwMode="auto">
              <a:xfrm>
                <a:off x="4131"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AutoShape 24"/>
              <p:cNvCxnSpPr>
                <a:cxnSpLocks noChangeShapeType="1"/>
                <a:stCxn id="75" idx="3"/>
                <a:endCxn id="76" idx="1"/>
              </p:cNvCxnSpPr>
              <p:nvPr/>
            </p:nvCxnSpPr>
            <p:spPr bwMode="auto">
              <a:xfrm>
                <a:off x="4563" y="3761"/>
                <a:ext cx="19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25"/>
              <p:cNvCxnSpPr>
                <a:cxnSpLocks noChangeShapeType="1"/>
                <a:stCxn id="76" idx="3"/>
                <a:endCxn id="77" idx="1"/>
              </p:cNvCxnSpPr>
              <p:nvPr/>
            </p:nvCxnSpPr>
            <p:spPr bwMode="auto">
              <a:xfrm>
                <a:off x="4996" y="3761"/>
                <a:ext cx="194"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5" name="Group 26"/>
            <p:cNvGrpSpPr/>
            <p:nvPr/>
          </p:nvGrpSpPr>
          <p:grpSpPr bwMode="auto">
            <a:xfrm>
              <a:off x="2455862" y="4383156"/>
              <a:ext cx="7280275" cy="215900"/>
              <a:chOff x="838" y="2736"/>
              <a:chExt cx="4586" cy="136"/>
            </a:xfrm>
          </p:grpSpPr>
          <p:sp>
            <p:nvSpPr>
              <p:cNvPr id="96" name="Rectangle 27"/>
              <p:cNvSpPr>
                <a:spLocks noChangeArrowheads="1"/>
              </p:cNvSpPr>
              <p:nvPr/>
            </p:nvSpPr>
            <p:spPr bwMode="auto">
              <a:xfrm>
                <a:off x="5196" y="2736"/>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7" name="Rectangle 28"/>
              <p:cNvSpPr>
                <a:spLocks noChangeArrowheads="1"/>
              </p:cNvSpPr>
              <p:nvPr/>
            </p:nvSpPr>
            <p:spPr bwMode="auto">
              <a:xfrm>
                <a:off x="838" y="2736"/>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98" name="AutoShape 29"/>
              <p:cNvCxnSpPr>
                <a:cxnSpLocks noChangeShapeType="1"/>
                <a:stCxn id="97" idx="3"/>
                <a:endCxn id="96" idx="1"/>
              </p:cNvCxnSpPr>
              <p:nvPr/>
            </p:nvCxnSpPr>
            <p:spPr bwMode="auto">
              <a:xfrm>
                <a:off x="1073" y="2804"/>
                <a:ext cx="411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99" name="Rectangle 30"/>
            <p:cNvSpPr>
              <a:spLocks noChangeArrowheads="1"/>
            </p:cNvSpPr>
            <p:nvPr/>
          </p:nvSpPr>
          <p:spPr bwMode="auto">
            <a:xfrm>
              <a:off x="9374187" y="4889569"/>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00" name="Rectangle 31"/>
            <p:cNvSpPr>
              <a:spLocks noChangeArrowheads="1"/>
            </p:cNvSpPr>
            <p:nvPr/>
          </p:nvSpPr>
          <p:spPr bwMode="auto">
            <a:xfrm>
              <a:off x="5268912" y="4889569"/>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dirty="0">
                  <a:solidFill>
                    <a:srgbClr val="000000"/>
                  </a:solidFill>
                  <a:latin typeface="微软雅黑" panose="020B0503020204020204" pitchFamily="82" charset="2"/>
                  <a:ea typeface="微软雅黑" panose="020B0503020204020204" pitchFamily="82" charset="2"/>
                </a:rPr>
                <a:t>31</a:t>
              </a:r>
            </a:p>
          </p:txBody>
        </p:sp>
        <p:sp>
          <p:nvSpPr>
            <p:cNvPr id="101" name="Rectangle 32"/>
            <p:cNvSpPr>
              <a:spLocks noChangeArrowheads="1"/>
            </p:cNvSpPr>
            <p:nvPr/>
          </p:nvSpPr>
          <p:spPr bwMode="auto">
            <a:xfrm>
              <a:off x="2455862" y="4889569"/>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cxnSp>
          <p:nvCxnSpPr>
            <p:cNvPr id="102" name="AutoShape 33"/>
            <p:cNvCxnSpPr>
              <a:cxnSpLocks noChangeShapeType="1"/>
              <a:stCxn id="101" idx="3"/>
              <a:endCxn id="100" idx="1"/>
            </p:cNvCxnSpPr>
            <p:nvPr/>
          </p:nvCxnSpPr>
          <p:spPr bwMode="auto">
            <a:xfrm>
              <a:off x="2828925" y="4997519"/>
              <a:ext cx="243046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AutoShape 34"/>
            <p:cNvCxnSpPr>
              <a:cxnSpLocks noChangeShapeType="1"/>
              <a:stCxn id="100" idx="3"/>
              <a:endCxn id="99" idx="1"/>
            </p:cNvCxnSpPr>
            <p:nvPr/>
          </p:nvCxnSpPr>
          <p:spPr bwMode="auto">
            <a:xfrm>
              <a:off x="5640387" y="4997519"/>
              <a:ext cx="37242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Rectangle 35"/>
            <p:cNvSpPr>
              <a:spLocks noChangeArrowheads="1"/>
            </p:cNvSpPr>
            <p:nvPr/>
          </p:nvSpPr>
          <p:spPr bwMode="auto">
            <a:xfrm>
              <a:off x="7999412" y="5395981"/>
              <a:ext cx="360363"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105" name="Rectangle 36"/>
            <p:cNvSpPr>
              <a:spLocks noChangeArrowheads="1"/>
            </p:cNvSpPr>
            <p:nvPr/>
          </p:nvSpPr>
          <p:spPr bwMode="auto">
            <a:xfrm>
              <a:off x="9374187" y="5395981"/>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06" name="Rectangle 37"/>
            <p:cNvSpPr>
              <a:spLocks noChangeArrowheads="1"/>
            </p:cNvSpPr>
            <p:nvPr/>
          </p:nvSpPr>
          <p:spPr bwMode="auto">
            <a:xfrm>
              <a:off x="5268912" y="5395981"/>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31</a:t>
              </a:r>
            </a:p>
          </p:txBody>
        </p:sp>
        <p:sp>
          <p:nvSpPr>
            <p:cNvPr id="107" name="Rectangle 39"/>
            <p:cNvSpPr>
              <a:spLocks noChangeArrowheads="1"/>
            </p:cNvSpPr>
            <p:nvPr/>
          </p:nvSpPr>
          <p:spPr bwMode="auto">
            <a:xfrm>
              <a:off x="2455862" y="5395981"/>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08" name="Rectangle 40"/>
            <p:cNvSpPr>
              <a:spLocks noChangeArrowheads="1"/>
            </p:cNvSpPr>
            <p:nvPr/>
          </p:nvSpPr>
          <p:spPr bwMode="auto">
            <a:xfrm>
              <a:off x="3832225" y="5395981"/>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cxnSp>
          <p:nvCxnSpPr>
            <p:cNvPr id="109" name="AutoShape 41"/>
            <p:cNvCxnSpPr>
              <a:cxnSpLocks noChangeShapeType="1"/>
              <a:stCxn id="107" idx="3"/>
              <a:endCxn id="108" idx="1"/>
            </p:cNvCxnSpPr>
            <p:nvPr/>
          </p:nvCxnSpPr>
          <p:spPr bwMode="auto">
            <a:xfrm>
              <a:off x="2828925" y="5503931"/>
              <a:ext cx="9937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AutoShape 42"/>
            <p:cNvCxnSpPr>
              <a:cxnSpLocks noChangeShapeType="1"/>
              <a:stCxn id="108" idx="3"/>
              <a:endCxn id="106" idx="1"/>
            </p:cNvCxnSpPr>
            <p:nvPr/>
          </p:nvCxnSpPr>
          <p:spPr bwMode="auto">
            <a:xfrm>
              <a:off x="4205287" y="5503931"/>
              <a:ext cx="105410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AutoShape 43"/>
            <p:cNvCxnSpPr>
              <a:cxnSpLocks noChangeShapeType="1"/>
              <a:stCxn id="106" idx="3"/>
            </p:cNvCxnSpPr>
            <p:nvPr/>
          </p:nvCxnSpPr>
          <p:spPr bwMode="auto">
            <a:xfrm>
              <a:off x="5640387" y="5503931"/>
              <a:ext cx="30638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44"/>
            <p:cNvCxnSpPr>
              <a:cxnSpLocks noChangeShapeType="1"/>
              <a:endCxn id="104" idx="1"/>
            </p:cNvCxnSpPr>
            <p:nvPr/>
          </p:nvCxnSpPr>
          <p:spPr bwMode="auto">
            <a:xfrm>
              <a:off x="5640387" y="5503931"/>
              <a:ext cx="234950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AutoShape 45"/>
            <p:cNvCxnSpPr>
              <a:cxnSpLocks noChangeShapeType="1"/>
              <a:stCxn id="104" idx="3"/>
              <a:endCxn id="105" idx="1"/>
            </p:cNvCxnSpPr>
            <p:nvPr/>
          </p:nvCxnSpPr>
          <p:spPr bwMode="auto">
            <a:xfrm>
              <a:off x="8369300" y="5503931"/>
              <a:ext cx="99536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46"/>
            <p:cNvSpPr txBox="1">
              <a:spLocks noChangeArrowheads="1"/>
            </p:cNvSpPr>
            <p:nvPr/>
          </p:nvSpPr>
          <p:spPr bwMode="auto">
            <a:xfrm>
              <a:off x="1915613" y="5754756"/>
              <a:ext cx="55186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0</a:t>
              </a:r>
            </a:p>
          </p:txBody>
        </p:sp>
        <p:sp>
          <p:nvSpPr>
            <p:cNvPr id="115" name="Text Box 47"/>
            <p:cNvSpPr txBox="1">
              <a:spLocks noChangeArrowheads="1"/>
            </p:cNvSpPr>
            <p:nvPr/>
          </p:nvSpPr>
          <p:spPr bwMode="auto">
            <a:xfrm>
              <a:off x="1915613" y="5246756"/>
              <a:ext cx="55186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1</a:t>
              </a:r>
            </a:p>
          </p:txBody>
        </p:sp>
        <p:sp>
          <p:nvSpPr>
            <p:cNvPr id="116" name="Text Box 48"/>
            <p:cNvSpPr txBox="1">
              <a:spLocks noChangeArrowheads="1"/>
            </p:cNvSpPr>
            <p:nvPr/>
          </p:nvSpPr>
          <p:spPr bwMode="auto">
            <a:xfrm>
              <a:off x="1915613" y="4738756"/>
              <a:ext cx="55186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2</a:t>
              </a:r>
            </a:p>
          </p:txBody>
        </p:sp>
        <p:sp>
          <p:nvSpPr>
            <p:cNvPr id="117" name="Text Box 49"/>
            <p:cNvSpPr txBox="1">
              <a:spLocks noChangeArrowheads="1"/>
            </p:cNvSpPr>
            <p:nvPr/>
          </p:nvSpPr>
          <p:spPr bwMode="auto">
            <a:xfrm>
              <a:off x="1915613" y="4230756"/>
              <a:ext cx="55186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b="1" i="1">
                  <a:solidFill>
                    <a:srgbClr val="000000"/>
                  </a:solidFill>
                  <a:latin typeface="微软雅黑" panose="020B0503020204020204" pitchFamily="82" charset="2"/>
                  <a:ea typeface="微软雅黑" panose="020B0503020204020204" pitchFamily="82" charset="2"/>
                </a:rPr>
                <a:t>S</a:t>
              </a:r>
              <a:r>
                <a:rPr lang="en-US" altLang="zh-CN" baseline="-25000">
                  <a:solidFill>
                    <a:srgbClr val="000000"/>
                  </a:solidFill>
                  <a:latin typeface="微软雅黑" panose="020B0503020204020204" pitchFamily="82" charset="2"/>
                  <a:ea typeface="微软雅黑" panose="020B0503020204020204" pitchFamily="82" charset="2"/>
                </a:rPr>
                <a:t>3</a:t>
              </a:r>
            </a:p>
          </p:txBody>
        </p:sp>
        <p:sp>
          <p:nvSpPr>
            <p:cNvPr id="118" name="Rectangle 50"/>
            <p:cNvSpPr>
              <a:spLocks noChangeArrowheads="1"/>
            </p:cNvSpPr>
            <p:nvPr/>
          </p:nvSpPr>
          <p:spPr bwMode="auto">
            <a:xfrm>
              <a:off x="6611937" y="5373756"/>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44</a:t>
              </a:r>
            </a:p>
          </p:txBody>
        </p:sp>
        <p:sp>
          <p:nvSpPr>
            <p:cNvPr id="119" name="Rectangle 51"/>
            <p:cNvSpPr>
              <a:spLocks noChangeArrowheads="1"/>
            </p:cNvSpPr>
            <p:nvPr/>
          </p:nvSpPr>
          <p:spPr bwMode="auto">
            <a:xfrm>
              <a:off x="7983537" y="4916556"/>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dirty="0">
                  <a:solidFill>
                    <a:srgbClr val="000000"/>
                  </a:solidFill>
                  <a:latin typeface="微软雅黑" panose="020B0503020204020204" pitchFamily="82" charset="2"/>
                  <a:ea typeface="微软雅黑" panose="020B0503020204020204" pitchFamily="82" charset="2"/>
                </a:rPr>
                <a:t>64</a:t>
              </a:r>
            </a:p>
          </p:txBody>
        </p:sp>
        <p:sp>
          <p:nvSpPr>
            <p:cNvPr id="120" name="Rectangle 53"/>
            <p:cNvSpPr>
              <a:spLocks noChangeArrowheads="1"/>
            </p:cNvSpPr>
            <p:nvPr/>
          </p:nvSpPr>
          <p:spPr bwMode="auto">
            <a:xfrm>
              <a:off x="7983537" y="4383156"/>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64</a:t>
              </a:r>
            </a:p>
          </p:txBody>
        </p:sp>
        <p:sp>
          <p:nvSpPr>
            <p:cNvPr id="121" name="Line 68"/>
            <p:cNvSpPr>
              <a:spLocks noChangeShapeType="1"/>
            </p:cNvSpPr>
            <p:nvPr/>
          </p:nvSpPr>
          <p:spPr bwMode="auto">
            <a:xfrm>
              <a:off x="2649537" y="56023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2" name="Line 69"/>
            <p:cNvSpPr>
              <a:spLocks noChangeShapeType="1"/>
            </p:cNvSpPr>
            <p:nvPr/>
          </p:nvSpPr>
          <p:spPr bwMode="auto">
            <a:xfrm>
              <a:off x="4021137" y="56023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3" name="Line 70"/>
            <p:cNvSpPr>
              <a:spLocks noChangeShapeType="1"/>
            </p:cNvSpPr>
            <p:nvPr/>
          </p:nvSpPr>
          <p:spPr bwMode="auto">
            <a:xfrm>
              <a:off x="5468937" y="56023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4" name="Line 71"/>
            <p:cNvSpPr>
              <a:spLocks noChangeShapeType="1"/>
            </p:cNvSpPr>
            <p:nvPr/>
          </p:nvSpPr>
          <p:spPr bwMode="auto">
            <a:xfrm>
              <a:off x="6840537" y="56023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5" name="Line 72"/>
            <p:cNvSpPr>
              <a:spLocks noChangeShapeType="1"/>
            </p:cNvSpPr>
            <p:nvPr/>
          </p:nvSpPr>
          <p:spPr bwMode="auto">
            <a:xfrm>
              <a:off x="8212137" y="56023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6" name="Line 73"/>
            <p:cNvSpPr>
              <a:spLocks noChangeShapeType="1"/>
            </p:cNvSpPr>
            <p:nvPr/>
          </p:nvSpPr>
          <p:spPr bwMode="auto">
            <a:xfrm>
              <a:off x="9583737" y="56023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127" name="Line 80"/>
            <p:cNvSpPr>
              <a:spLocks noChangeShapeType="1"/>
            </p:cNvSpPr>
            <p:nvPr/>
          </p:nvSpPr>
          <p:spPr bwMode="auto">
            <a:xfrm>
              <a:off x="8212137" y="4611756"/>
              <a:ext cx="0" cy="3048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graphicFrame>
        <p:nvGraphicFramePr>
          <p:cNvPr id="129" name="Object 4"/>
          <p:cNvGraphicFramePr>
            <a:graphicFrameLocks noChangeAspect="1"/>
          </p:cNvGraphicFramePr>
          <p:nvPr/>
        </p:nvGraphicFramePr>
        <p:xfrm>
          <a:off x="2631282" y="2599923"/>
          <a:ext cx="3645694" cy="734422"/>
        </p:xfrm>
        <a:graphic>
          <a:graphicData uri="http://schemas.openxmlformats.org/presentationml/2006/ole">
            <mc:AlternateContent xmlns:mc="http://schemas.openxmlformats.org/markup-compatibility/2006">
              <mc:Choice xmlns:v="urn:schemas-microsoft-com:vml" Requires="v">
                <p:oleObj spid="_x0000_s10255" name="Equation" r:id="rId3" imgW="51511200" imgH="10363200" progId="Equation.3">
                  <p:embed/>
                </p:oleObj>
              </mc:Choice>
              <mc:Fallback>
                <p:oleObj name="Equation" r:id="rId3" imgW="51511200" imgH="10363200" progId="Equation.3">
                  <p:embed/>
                  <p:pic>
                    <p:nvPicPr>
                      <p:cNvPr id="1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1282" y="2599923"/>
                        <a:ext cx="3645694" cy="73442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5616740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18"/>
          <p:cNvSpPr/>
          <p:nvPr/>
        </p:nvSpPr>
        <p:spPr>
          <a:xfrm>
            <a:off x="1156312" y="3861048"/>
            <a:ext cx="6978599" cy="177347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99</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55529" y="332469"/>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插入</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
        <p:nvSpPr>
          <p:cNvPr id="4" name="内容占位符 3"/>
          <p:cNvSpPr>
            <a:spLocks noGrp="1"/>
          </p:cNvSpPr>
          <p:nvPr>
            <p:ph idx="1"/>
          </p:nvPr>
        </p:nvSpPr>
        <p:spPr>
          <a:xfrm>
            <a:off x="855923" y="1389668"/>
            <a:ext cx="8180573" cy="2464805"/>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插入索引项</a:t>
            </a:r>
            <a:r>
              <a:rPr lang="en-US" altLang="zh-CN" sz="1800" b="1" dirty="0">
                <a:solidFill>
                  <a:srgbClr val="701988"/>
                </a:solidFill>
                <a:latin typeface="微软雅黑" panose="020B0503020204020204" pitchFamily="82" charset="2"/>
                <a:ea typeface="微软雅黑" panose="020B0503020204020204" pitchFamily="82" charset="2"/>
              </a:rPr>
              <a:t> (x, o) , </a:t>
            </a:r>
            <a:r>
              <a:rPr lang="zh-CN" altLang="en-US" sz="1800" b="1" dirty="0">
                <a:solidFill>
                  <a:srgbClr val="701988"/>
                </a:solidFill>
                <a:latin typeface="微软雅黑" panose="020B0503020204020204" pitchFamily="82" charset="2"/>
                <a:ea typeface="微软雅黑" panose="020B0503020204020204" pitchFamily="82" charset="2"/>
              </a:rPr>
              <a:t>使用随机算法：</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通过概率（抛硬币）方法得到</a:t>
            </a:r>
            <a:r>
              <a:rPr lang="en-US" altLang="zh-CN" sz="1500" dirty="0" err="1">
                <a:latin typeface="微软雅黑" panose="020B0503020204020204" pitchFamily="82" charset="2"/>
                <a:ea typeface="微软雅黑" panose="020B0503020204020204" pitchFamily="82" charset="2"/>
              </a:rPr>
              <a:t>i</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：抛硬币直到出现正面，抛硬币的次数即为</a:t>
            </a:r>
            <a:r>
              <a:rPr lang="en-US" altLang="zh-CN" sz="1500" dirty="0" err="1">
                <a:latin typeface="微软雅黑" panose="020B0503020204020204" pitchFamily="82" charset="2"/>
                <a:ea typeface="微软雅黑" panose="020B0503020204020204" pitchFamily="82" charset="2"/>
              </a:rPr>
              <a:t>i</a:t>
            </a:r>
            <a:r>
              <a:rPr lang="en-US" altLang="zh-CN" sz="1500" dirty="0">
                <a:latin typeface="微软雅黑" panose="020B0503020204020204" pitchFamily="82" charset="2"/>
                <a:ea typeface="微软雅黑" panose="020B0503020204020204" pitchFamily="82" charset="2"/>
              </a:rPr>
              <a:t> </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如果</a:t>
            </a:r>
            <a:r>
              <a:rPr lang="en-US" altLang="zh-CN" sz="1500" dirty="0">
                <a:latin typeface="微软雅黑" panose="020B0503020204020204" pitchFamily="82" charset="2"/>
                <a:ea typeface="微软雅黑" panose="020B0503020204020204" pitchFamily="82" charset="2"/>
              </a:rPr>
              <a:t> </a:t>
            </a:r>
            <a:r>
              <a:rPr lang="en-US" altLang="zh-CN" sz="1500" dirty="0" err="1">
                <a:latin typeface="微软雅黑" panose="020B0503020204020204" pitchFamily="82" charset="2"/>
                <a:ea typeface="微软雅黑" panose="020B0503020204020204" pitchFamily="82" charset="2"/>
              </a:rPr>
              <a:t>i</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h, </a:t>
            </a:r>
            <a:r>
              <a:rPr lang="zh-CN" altLang="en-US" sz="1500" dirty="0">
                <a:latin typeface="微软雅黑" panose="020B0503020204020204" pitchFamily="82" charset="2"/>
                <a:ea typeface="微软雅黑" panose="020B0503020204020204" pitchFamily="82" charset="2"/>
              </a:rPr>
              <a:t>添加新链表</a:t>
            </a:r>
            <a:r>
              <a:rPr lang="en-US" altLang="zh-CN" sz="1500" dirty="0">
                <a:latin typeface="微软雅黑" panose="020B0503020204020204" pitchFamily="82" charset="2"/>
                <a:ea typeface="微软雅黑" panose="020B0503020204020204" pitchFamily="82" charset="2"/>
              </a:rPr>
              <a:t> S</a:t>
            </a:r>
            <a:r>
              <a:rPr lang="en-US" altLang="zh-CN" sz="1500" baseline="-25000" dirty="0">
                <a:latin typeface="微软雅黑" panose="020B0503020204020204" pitchFamily="82" charset="2"/>
                <a:ea typeface="微软雅黑" panose="020B0503020204020204" pitchFamily="82" charset="2"/>
              </a:rPr>
              <a:t>h+1</a:t>
            </a:r>
            <a:r>
              <a:rPr lang="en-US" altLang="zh-CN" sz="1500" dirty="0">
                <a:latin typeface="微软雅黑" panose="020B0503020204020204" pitchFamily="82" charset="2"/>
                <a:ea typeface="微软雅黑" panose="020B0503020204020204" pitchFamily="82" charset="2"/>
              </a:rPr>
              <a:t>, … , S</a:t>
            </a:r>
            <a:r>
              <a:rPr lang="en-US" altLang="zh-CN" sz="1500" baseline="-25000" dirty="0">
                <a:latin typeface="微软雅黑" panose="020B0503020204020204" pitchFamily="82" charset="2"/>
                <a:ea typeface="微软雅黑" panose="020B0503020204020204" pitchFamily="82" charset="2"/>
              </a:rPr>
              <a:t>i +1</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在链表</a:t>
            </a: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S</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 , S</a:t>
            </a:r>
            <a:r>
              <a:rPr lang="en-US" altLang="zh-CN" sz="1500" baseline="-25000" dirty="0">
                <a:latin typeface="微软雅黑" panose="020B0503020204020204" pitchFamily="82" charset="2"/>
                <a:ea typeface="微软雅黑" panose="020B0503020204020204" pitchFamily="82" charset="2"/>
              </a:rPr>
              <a:t>i</a:t>
            </a:r>
            <a:r>
              <a:rPr lang="zh-CN" altLang="en-US" sz="1500" dirty="0">
                <a:latin typeface="微软雅黑" panose="020B0503020204020204" pitchFamily="82" charset="2"/>
                <a:ea typeface="微软雅黑" panose="020B0503020204020204" pitchFamily="82" charset="2"/>
              </a:rPr>
              <a:t>中查找大于等于</a:t>
            </a:r>
            <a:r>
              <a:rPr lang="en-US" altLang="zh-CN" sz="1500" dirty="0">
                <a:latin typeface="微软雅黑" panose="020B0503020204020204" pitchFamily="82" charset="2"/>
                <a:ea typeface="微软雅黑" panose="020B0503020204020204" pitchFamily="82" charset="2"/>
              </a:rPr>
              <a:t>x </a:t>
            </a:r>
            <a:r>
              <a:rPr lang="zh-CN" altLang="en-US" sz="1500" dirty="0">
                <a:latin typeface="微软雅黑" panose="020B0503020204020204" pitchFamily="82" charset="2"/>
                <a:ea typeface="微软雅黑" panose="020B0503020204020204" pitchFamily="82" charset="2"/>
              </a:rPr>
              <a:t>的位置</a:t>
            </a:r>
            <a:r>
              <a:rPr lang="en-US" altLang="zh-CN" sz="1500" dirty="0">
                <a:latin typeface="微软雅黑" panose="020B0503020204020204" pitchFamily="82" charset="2"/>
                <a:ea typeface="微软雅黑" panose="020B0503020204020204" pitchFamily="82" charset="2"/>
              </a:rPr>
              <a:t> p</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p</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 …, p</a:t>
            </a:r>
            <a:r>
              <a:rPr lang="en-US" altLang="zh-CN" sz="1500" baseline="-25000" dirty="0">
                <a:latin typeface="微软雅黑" panose="020B0503020204020204" pitchFamily="82" charset="2"/>
                <a:ea typeface="微软雅黑" panose="020B0503020204020204" pitchFamily="82" charset="2"/>
              </a:rPr>
              <a:t>i</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对于</a:t>
            </a:r>
            <a:r>
              <a:rPr lang="en-US" altLang="zh-CN" sz="1500" dirty="0">
                <a:latin typeface="微软雅黑" panose="020B0503020204020204" pitchFamily="82" charset="2"/>
                <a:ea typeface="微软雅黑" panose="020B0503020204020204" pitchFamily="82" charset="2"/>
              </a:rPr>
              <a:t> j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0, …, </a:t>
            </a:r>
            <a:r>
              <a:rPr lang="en-US" altLang="zh-CN" sz="1500" dirty="0" err="1">
                <a:latin typeface="微软雅黑" panose="020B0503020204020204" pitchFamily="82" charset="2"/>
                <a:ea typeface="微软雅黑" panose="020B0503020204020204" pitchFamily="82" charset="2"/>
              </a:rPr>
              <a:t>i</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将</a:t>
            </a:r>
            <a:r>
              <a:rPr lang="en-US" altLang="zh-CN" sz="1500" dirty="0">
                <a:latin typeface="微软雅黑" panose="020B0503020204020204" pitchFamily="82" charset="2"/>
                <a:ea typeface="微软雅黑" panose="020B0503020204020204" pitchFamily="82" charset="2"/>
              </a:rPr>
              <a:t>(x, o) </a:t>
            </a:r>
            <a:r>
              <a:rPr lang="zh-CN" altLang="en-US" sz="1500" dirty="0">
                <a:latin typeface="微软雅黑" panose="020B0503020204020204" pitchFamily="82" charset="2"/>
                <a:ea typeface="微软雅黑" panose="020B0503020204020204" pitchFamily="82" charset="2"/>
              </a:rPr>
              <a:t>插入到</a:t>
            </a:r>
            <a:r>
              <a:rPr lang="en-US" altLang="zh-CN" sz="1500" dirty="0">
                <a:latin typeface="微软雅黑" panose="020B0503020204020204" pitchFamily="82" charset="2"/>
                <a:ea typeface="微软雅黑" panose="020B0503020204020204" pitchFamily="82" charset="2"/>
              </a:rPr>
              <a:t> </a:t>
            </a:r>
            <a:r>
              <a:rPr lang="en-US" altLang="zh-CN" sz="1500" dirty="0" err="1">
                <a:latin typeface="微软雅黑" panose="020B0503020204020204" pitchFamily="82" charset="2"/>
                <a:ea typeface="微软雅黑" panose="020B0503020204020204" pitchFamily="82" charset="2"/>
              </a:rPr>
              <a:t>S</a:t>
            </a:r>
            <a:r>
              <a:rPr lang="en-US" altLang="zh-CN" sz="1500" baseline="-25000" dirty="0" err="1">
                <a:latin typeface="微软雅黑" panose="020B0503020204020204" pitchFamily="82" charset="2"/>
                <a:ea typeface="微软雅黑" panose="020B0503020204020204" pitchFamily="82" charset="2"/>
              </a:rPr>
              <a:t>j</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的</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位置</a:t>
            </a:r>
            <a:r>
              <a:rPr lang="en-US" altLang="zh-CN" sz="1500" dirty="0">
                <a:latin typeface="微软雅黑" panose="020B0503020204020204" pitchFamily="82" charset="2"/>
                <a:ea typeface="微软雅黑" panose="020B0503020204020204" pitchFamily="82" charset="2"/>
              </a:rPr>
              <a:t> </a:t>
            </a:r>
            <a:r>
              <a:rPr lang="en-US" altLang="zh-CN" sz="1500" dirty="0" err="1">
                <a:latin typeface="微软雅黑" panose="020B0503020204020204" pitchFamily="82" charset="2"/>
                <a:ea typeface="微软雅黑" panose="020B0503020204020204" pitchFamily="82" charset="2"/>
              </a:rPr>
              <a:t>p</a:t>
            </a:r>
            <a:r>
              <a:rPr lang="en-US" altLang="zh-CN" sz="1500" baseline="-25000" dirty="0" err="1">
                <a:latin typeface="微软雅黑" panose="020B0503020204020204" pitchFamily="82" charset="2"/>
                <a:ea typeface="微软雅黑" panose="020B0503020204020204" pitchFamily="82" charset="2"/>
              </a:rPr>
              <a:t>j</a:t>
            </a:r>
            <a:endParaRPr lang="en-US" altLang="zh-CN" sz="1500" baseline="-250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例子</a:t>
            </a:r>
            <a:r>
              <a:rPr lang="en-US" altLang="zh-CN" sz="1800" b="1" dirty="0">
                <a:solidFill>
                  <a:srgbClr val="701988"/>
                </a:solidFill>
                <a:latin typeface="微软雅黑" panose="020B0503020204020204" pitchFamily="82" charset="2"/>
                <a:ea typeface="微软雅黑" panose="020B0503020204020204" pitchFamily="82" charset="2"/>
              </a:rPr>
              <a:t>: </a:t>
            </a:r>
            <a:r>
              <a:rPr lang="zh-CN" altLang="en-US" sz="1800" b="1" dirty="0">
                <a:solidFill>
                  <a:srgbClr val="701988"/>
                </a:solidFill>
                <a:latin typeface="微软雅黑" panose="020B0503020204020204" pitchFamily="82" charset="2"/>
                <a:ea typeface="微软雅黑" panose="020B0503020204020204" pitchFamily="82" charset="2"/>
              </a:rPr>
              <a:t>插入键值</a:t>
            </a:r>
            <a:r>
              <a:rPr lang="en-US" altLang="zh-CN" sz="1800" b="1" dirty="0">
                <a:solidFill>
                  <a:srgbClr val="701988"/>
                </a:solidFill>
                <a:latin typeface="微软雅黑" panose="020B0503020204020204" pitchFamily="82" charset="2"/>
                <a:ea typeface="微软雅黑" panose="020B0503020204020204" pitchFamily="82" charset="2"/>
              </a:rPr>
              <a:t> 15, </a:t>
            </a:r>
            <a:r>
              <a:rPr lang="en-US" altLang="zh-CN" sz="1800" b="1" dirty="0" err="1">
                <a:solidFill>
                  <a:srgbClr val="701988"/>
                </a:solidFill>
                <a:latin typeface="微软雅黑" panose="020B0503020204020204" pitchFamily="82" charset="2"/>
                <a:ea typeface="微软雅黑" panose="020B0503020204020204" pitchFamily="82" charset="2"/>
              </a:rPr>
              <a:t>i</a:t>
            </a:r>
            <a:r>
              <a:rPr lang="en-US" altLang="zh-CN" sz="1800" b="1" dirty="0">
                <a:solidFill>
                  <a:srgbClr val="701988"/>
                </a:solidFill>
                <a:latin typeface="微软雅黑" panose="020B0503020204020204" pitchFamily="82" charset="2"/>
                <a:ea typeface="微软雅黑" panose="020B0503020204020204" pitchFamily="82" charset="2"/>
              </a:rPr>
              <a:t> </a:t>
            </a:r>
            <a:r>
              <a:rPr lang="en-US" altLang="zh-CN" sz="1800" b="1" dirty="0">
                <a:solidFill>
                  <a:srgbClr val="701988"/>
                </a:solidFill>
                <a:latin typeface="微软雅黑" panose="020B0503020204020204" pitchFamily="82" charset="2"/>
                <a:ea typeface="微软雅黑" panose="020B0503020204020204" pitchFamily="82" charset="2"/>
                <a:sym typeface="Symbol" panose="05050102010706020507" pitchFamily="18" charset="2"/>
              </a:rPr>
              <a:t>=</a:t>
            </a:r>
            <a:r>
              <a:rPr lang="en-US" altLang="zh-CN" sz="1800" b="1" dirty="0">
                <a:solidFill>
                  <a:srgbClr val="701988"/>
                </a:solidFill>
                <a:latin typeface="微软雅黑" panose="020B0503020204020204" pitchFamily="82" charset="2"/>
                <a:ea typeface="微软雅黑" panose="020B0503020204020204" pitchFamily="82" charset="2"/>
              </a:rPr>
              <a:t> 2</a:t>
            </a:r>
          </a:p>
        </p:txBody>
      </p:sp>
      <p:grpSp>
        <p:nvGrpSpPr>
          <p:cNvPr id="142" name="组合 141"/>
          <p:cNvGrpSpPr/>
          <p:nvPr/>
        </p:nvGrpSpPr>
        <p:grpSpPr>
          <a:xfrm>
            <a:off x="1483811" y="3940583"/>
            <a:ext cx="6162176" cy="1443082"/>
            <a:chOff x="2340365" y="4240213"/>
            <a:chExt cx="8216234" cy="1924108"/>
          </a:xfrm>
        </p:grpSpPr>
        <p:sp>
          <p:nvSpPr>
            <p:cNvPr id="74" name="Line 72"/>
            <p:cNvSpPr>
              <a:spLocks noChangeShapeType="1"/>
            </p:cNvSpPr>
            <p:nvPr/>
          </p:nvSpPr>
          <p:spPr bwMode="auto">
            <a:xfrm>
              <a:off x="10404199" y="4545013"/>
              <a:ext cx="0" cy="12954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5" name="Line 71"/>
            <p:cNvSpPr>
              <a:spLocks noChangeShapeType="1"/>
            </p:cNvSpPr>
            <p:nvPr/>
          </p:nvSpPr>
          <p:spPr bwMode="auto">
            <a:xfrm>
              <a:off x="9108799" y="5535613"/>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6" name="Line 70"/>
            <p:cNvSpPr>
              <a:spLocks noChangeShapeType="1"/>
            </p:cNvSpPr>
            <p:nvPr/>
          </p:nvSpPr>
          <p:spPr bwMode="auto">
            <a:xfrm>
              <a:off x="8499199" y="5002213"/>
              <a:ext cx="0" cy="8382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7" name="Line 69"/>
            <p:cNvSpPr>
              <a:spLocks noChangeShapeType="1"/>
            </p:cNvSpPr>
            <p:nvPr/>
          </p:nvSpPr>
          <p:spPr bwMode="auto">
            <a:xfrm>
              <a:off x="7279999" y="4545013"/>
              <a:ext cx="0" cy="12954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8" name="Line 68"/>
            <p:cNvSpPr>
              <a:spLocks noChangeShapeType="1"/>
            </p:cNvSpPr>
            <p:nvPr/>
          </p:nvSpPr>
          <p:spPr bwMode="auto">
            <a:xfrm>
              <a:off x="2936599" y="5002213"/>
              <a:ext cx="0" cy="8382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9" name="Line 66"/>
            <p:cNvSpPr>
              <a:spLocks noChangeShapeType="1"/>
            </p:cNvSpPr>
            <p:nvPr/>
          </p:nvSpPr>
          <p:spPr bwMode="auto">
            <a:xfrm>
              <a:off x="5374999" y="5002213"/>
              <a:ext cx="0" cy="8382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80" name="Rectangle 4"/>
            <p:cNvSpPr>
              <a:spLocks noChangeArrowheads="1"/>
            </p:cNvSpPr>
            <p:nvPr/>
          </p:nvSpPr>
          <p:spPr bwMode="auto">
            <a:xfrm>
              <a:off x="5222599" y="5835650"/>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81" name="Rectangle 5"/>
            <p:cNvSpPr>
              <a:spLocks noChangeArrowheads="1"/>
            </p:cNvSpPr>
            <p:nvPr/>
          </p:nvSpPr>
          <p:spPr bwMode="auto">
            <a:xfrm>
              <a:off x="2742924" y="5835650"/>
              <a:ext cx="363538"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82" name="Rectangle 6"/>
            <p:cNvSpPr>
              <a:spLocks noChangeArrowheads="1"/>
            </p:cNvSpPr>
            <p:nvPr/>
          </p:nvSpPr>
          <p:spPr bwMode="auto">
            <a:xfrm>
              <a:off x="3362049" y="5835650"/>
              <a:ext cx="363538"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10</a:t>
              </a:r>
            </a:p>
          </p:txBody>
        </p:sp>
        <p:sp>
          <p:nvSpPr>
            <p:cNvPr id="83" name="Rectangle 7"/>
            <p:cNvSpPr>
              <a:spLocks noChangeArrowheads="1"/>
            </p:cNvSpPr>
            <p:nvPr/>
          </p:nvSpPr>
          <p:spPr bwMode="auto">
            <a:xfrm>
              <a:off x="4601887" y="5835650"/>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36</a:t>
              </a:r>
            </a:p>
          </p:txBody>
        </p:sp>
        <p:cxnSp>
          <p:nvCxnSpPr>
            <p:cNvPr id="84" name="AutoShape 8"/>
            <p:cNvCxnSpPr>
              <a:cxnSpLocks noChangeShapeType="1"/>
              <a:stCxn id="81" idx="3"/>
              <a:endCxn id="82" idx="1"/>
            </p:cNvCxnSpPr>
            <p:nvPr/>
          </p:nvCxnSpPr>
          <p:spPr bwMode="auto">
            <a:xfrm>
              <a:off x="3125512" y="5943600"/>
              <a:ext cx="21748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AutoShape 9"/>
            <p:cNvCxnSpPr>
              <a:cxnSpLocks noChangeShapeType="1"/>
              <a:stCxn id="91" idx="3"/>
              <a:endCxn id="83" idx="1"/>
            </p:cNvCxnSpPr>
            <p:nvPr/>
          </p:nvCxnSpPr>
          <p:spPr bwMode="auto">
            <a:xfrm>
              <a:off x="4363762" y="5943600"/>
              <a:ext cx="22860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 name="AutoShape 10"/>
            <p:cNvCxnSpPr>
              <a:cxnSpLocks noChangeShapeType="1"/>
              <a:stCxn id="82" idx="3"/>
              <a:endCxn id="91" idx="1"/>
            </p:cNvCxnSpPr>
            <p:nvPr/>
          </p:nvCxnSpPr>
          <p:spPr bwMode="auto">
            <a:xfrm>
              <a:off x="3744637" y="5943600"/>
              <a:ext cx="21748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AutoShape 11"/>
            <p:cNvCxnSpPr>
              <a:cxnSpLocks noChangeShapeType="1"/>
              <a:stCxn id="83" idx="3"/>
              <a:endCxn id="80" idx="1"/>
            </p:cNvCxnSpPr>
            <p:nvPr/>
          </p:nvCxnSpPr>
          <p:spPr bwMode="auto">
            <a:xfrm>
              <a:off x="4974949" y="5943600"/>
              <a:ext cx="2381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Rectangle 12"/>
            <p:cNvSpPr>
              <a:spLocks noChangeArrowheads="1"/>
            </p:cNvSpPr>
            <p:nvPr/>
          </p:nvSpPr>
          <p:spPr bwMode="auto">
            <a:xfrm>
              <a:off x="5222599" y="4822825"/>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89" name="Rectangle 13"/>
            <p:cNvSpPr>
              <a:spLocks noChangeArrowheads="1"/>
            </p:cNvSpPr>
            <p:nvPr/>
          </p:nvSpPr>
          <p:spPr bwMode="auto">
            <a:xfrm>
              <a:off x="2742924" y="4822825"/>
              <a:ext cx="363538"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cxnSp>
          <p:nvCxnSpPr>
            <p:cNvPr id="90" name="AutoShape 14"/>
            <p:cNvCxnSpPr>
              <a:cxnSpLocks noChangeShapeType="1"/>
              <a:stCxn id="89" idx="3"/>
              <a:endCxn id="88" idx="1"/>
            </p:cNvCxnSpPr>
            <p:nvPr/>
          </p:nvCxnSpPr>
          <p:spPr bwMode="auto">
            <a:xfrm>
              <a:off x="3125512" y="4930775"/>
              <a:ext cx="207803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Rectangle 15"/>
            <p:cNvSpPr>
              <a:spLocks noChangeArrowheads="1"/>
            </p:cNvSpPr>
            <p:nvPr/>
          </p:nvSpPr>
          <p:spPr bwMode="auto">
            <a:xfrm>
              <a:off x="3981174" y="5835650"/>
              <a:ext cx="363538"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92" name="Rectangle 16"/>
            <p:cNvSpPr>
              <a:spLocks noChangeArrowheads="1"/>
            </p:cNvSpPr>
            <p:nvPr/>
          </p:nvSpPr>
          <p:spPr bwMode="auto">
            <a:xfrm>
              <a:off x="3982762" y="5335588"/>
              <a:ext cx="363537"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93" name="Rectangle 17"/>
            <p:cNvSpPr>
              <a:spLocks noChangeArrowheads="1"/>
            </p:cNvSpPr>
            <p:nvPr/>
          </p:nvSpPr>
          <p:spPr bwMode="auto">
            <a:xfrm>
              <a:off x="5222599" y="5329238"/>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4" name="Rectangle 18"/>
            <p:cNvSpPr>
              <a:spLocks noChangeArrowheads="1"/>
            </p:cNvSpPr>
            <p:nvPr/>
          </p:nvSpPr>
          <p:spPr bwMode="auto">
            <a:xfrm>
              <a:off x="2742924" y="5329238"/>
              <a:ext cx="363538"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cxnSp>
          <p:nvCxnSpPr>
            <p:cNvPr id="95" name="AutoShape 19"/>
            <p:cNvCxnSpPr>
              <a:cxnSpLocks noChangeShapeType="1"/>
              <a:stCxn id="94" idx="3"/>
              <a:endCxn id="92" idx="1"/>
            </p:cNvCxnSpPr>
            <p:nvPr/>
          </p:nvCxnSpPr>
          <p:spPr bwMode="auto">
            <a:xfrm>
              <a:off x="3125512" y="5437188"/>
              <a:ext cx="838200" cy="635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AutoShape 20"/>
            <p:cNvCxnSpPr>
              <a:cxnSpLocks noChangeShapeType="1"/>
              <a:stCxn id="92" idx="3"/>
              <a:endCxn id="93" idx="1"/>
            </p:cNvCxnSpPr>
            <p:nvPr/>
          </p:nvCxnSpPr>
          <p:spPr bwMode="auto">
            <a:xfrm flipV="1">
              <a:off x="4365349" y="5437188"/>
              <a:ext cx="847725" cy="635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Text Box 21"/>
            <p:cNvSpPr txBox="1">
              <a:spLocks noChangeArrowheads="1"/>
            </p:cNvSpPr>
            <p:nvPr/>
          </p:nvSpPr>
          <p:spPr bwMode="auto">
            <a:xfrm>
              <a:off x="2340365" y="5761038"/>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0</a:t>
              </a:r>
            </a:p>
          </p:txBody>
        </p:sp>
        <p:sp>
          <p:nvSpPr>
            <p:cNvPr id="98" name="Text Box 22"/>
            <p:cNvSpPr txBox="1">
              <a:spLocks noChangeArrowheads="1"/>
            </p:cNvSpPr>
            <p:nvPr/>
          </p:nvSpPr>
          <p:spPr bwMode="auto">
            <a:xfrm>
              <a:off x="2340365" y="5253038"/>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1</a:t>
              </a:r>
            </a:p>
          </p:txBody>
        </p:sp>
        <p:sp>
          <p:nvSpPr>
            <p:cNvPr id="99" name="Text Box 23"/>
            <p:cNvSpPr txBox="1">
              <a:spLocks noChangeArrowheads="1"/>
            </p:cNvSpPr>
            <p:nvPr/>
          </p:nvSpPr>
          <p:spPr bwMode="auto">
            <a:xfrm>
              <a:off x="2340365" y="4745038"/>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2</a:t>
              </a:r>
            </a:p>
          </p:txBody>
        </p:sp>
        <p:grpSp>
          <p:nvGrpSpPr>
            <p:cNvPr id="100" name="Group 24"/>
            <p:cNvGrpSpPr/>
            <p:nvPr/>
          </p:nvGrpSpPr>
          <p:grpSpPr bwMode="auto">
            <a:xfrm>
              <a:off x="7095849" y="4319588"/>
              <a:ext cx="3460750" cy="215900"/>
              <a:chOff x="3154" y="2834"/>
              <a:chExt cx="2180" cy="136"/>
            </a:xfrm>
          </p:grpSpPr>
          <p:sp>
            <p:nvSpPr>
              <p:cNvPr id="101" name="Rectangle 25"/>
              <p:cNvSpPr>
                <a:spLocks noChangeArrowheads="1"/>
              </p:cNvSpPr>
              <p:nvPr/>
            </p:nvSpPr>
            <p:spPr bwMode="auto">
              <a:xfrm>
                <a:off x="5106" y="2834"/>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02" name="Rectangle 26"/>
              <p:cNvSpPr>
                <a:spLocks noChangeArrowheads="1"/>
              </p:cNvSpPr>
              <p:nvPr/>
            </p:nvSpPr>
            <p:spPr bwMode="auto">
              <a:xfrm>
                <a:off x="3154" y="2834"/>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103" name="AutoShape 27"/>
              <p:cNvCxnSpPr>
                <a:cxnSpLocks noChangeShapeType="1"/>
                <a:stCxn id="102" idx="3"/>
                <a:endCxn id="101" idx="1"/>
              </p:cNvCxnSpPr>
              <p:nvPr/>
            </p:nvCxnSpPr>
            <p:spPr bwMode="auto">
              <a:xfrm>
                <a:off x="3389" y="2902"/>
                <a:ext cx="1711"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4" name="Text Box 28"/>
            <p:cNvSpPr txBox="1">
              <a:spLocks noChangeArrowheads="1"/>
            </p:cNvSpPr>
            <p:nvPr/>
          </p:nvSpPr>
          <p:spPr bwMode="auto">
            <a:xfrm>
              <a:off x="6712339" y="5764212"/>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0</a:t>
              </a:r>
            </a:p>
          </p:txBody>
        </p:sp>
        <p:sp>
          <p:nvSpPr>
            <p:cNvPr id="105" name="Text Box 29"/>
            <p:cNvSpPr txBox="1">
              <a:spLocks noChangeArrowheads="1"/>
            </p:cNvSpPr>
            <p:nvPr/>
          </p:nvSpPr>
          <p:spPr bwMode="auto">
            <a:xfrm>
              <a:off x="6712339" y="5256214"/>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1</a:t>
              </a:r>
            </a:p>
          </p:txBody>
        </p:sp>
        <p:sp>
          <p:nvSpPr>
            <p:cNvPr id="106" name="Text Box 30"/>
            <p:cNvSpPr txBox="1">
              <a:spLocks noChangeArrowheads="1"/>
            </p:cNvSpPr>
            <p:nvPr/>
          </p:nvSpPr>
          <p:spPr bwMode="auto">
            <a:xfrm>
              <a:off x="6712339" y="4748213"/>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2</a:t>
              </a:r>
            </a:p>
          </p:txBody>
        </p:sp>
        <p:sp>
          <p:nvSpPr>
            <p:cNvPr id="107" name="Text Box 31"/>
            <p:cNvSpPr txBox="1">
              <a:spLocks noChangeArrowheads="1"/>
            </p:cNvSpPr>
            <p:nvPr/>
          </p:nvSpPr>
          <p:spPr bwMode="auto">
            <a:xfrm>
              <a:off x="6702815" y="4240213"/>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3</a:t>
              </a:r>
            </a:p>
          </p:txBody>
        </p:sp>
        <p:grpSp>
          <p:nvGrpSpPr>
            <p:cNvPr id="108" name="Group 32"/>
            <p:cNvGrpSpPr/>
            <p:nvPr/>
          </p:nvGrpSpPr>
          <p:grpSpPr bwMode="auto">
            <a:xfrm>
              <a:off x="7095849" y="5838825"/>
              <a:ext cx="3460750" cy="217488"/>
              <a:chOff x="3154" y="3791"/>
              <a:chExt cx="2180" cy="137"/>
            </a:xfrm>
          </p:grpSpPr>
          <p:sp>
            <p:nvSpPr>
              <p:cNvPr id="109" name="Rectangle 33"/>
              <p:cNvSpPr>
                <a:spLocks noChangeArrowheads="1"/>
              </p:cNvSpPr>
              <p:nvPr/>
            </p:nvSpPr>
            <p:spPr bwMode="auto">
              <a:xfrm>
                <a:off x="5106" y="3791"/>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10" name="Rectangle 34"/>
              <p:cNvSpPr>
                <a:spLocks noChangeArrowheads="1"/>
              </p:cNvSpPr>
              <p:nvPr/>
            </p:nvSpPr>
            <p:spPr bwMode="auto">
              <a:xfrm>
                <a:off x="3154" y="3791"/>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111" name="Rectangle 35"/>
              <p:cNvSpPr>
                <a:spLocks noChangeArrowheads="1"/>
              </p:cNvSpPr>
              <p:nvPr/>
            </p:nvSpPr>
            <p:spPr bwMode="auto">
              <a:xfrm>
                <a:off x="3544" y="3791"/>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10</a:t>
                </a:r>
              </a:p>
            </p:txBody>
          </p:sp>
          <p:sp>
            <p:nvSpPr>
              <p:cNvPr id="112" name="Rectangle 36"/>
              <p:cNvSpPr>
                <a:spLocks noChangeArrowheads="1"/>
              </p:cNvSpPr>
              <p:nvPr/>
            </p:nvSpPr>
            <p:spPr bwMode="auto">
              <a:xfrm>
                <a:off x="4715" y="3791"/>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36</a:t>
                </a:r>
              </a:p>
            </p:txBody>
          </p:sp>
          <p:cxnSp>
            <p:nvCxnSpPr>
              <p:cNvPr id="113" name="AutoShape 37"/>
              <p:cNvCxnSpPr>
                <a:cxnSpLocks noChangeShapeType="1"/>
                <a:stCxn id="110" idx="3"/>
                <a:endCxn id="111" idx="1"/>
              </p:cNvCxnSpPr>
              <p:nvPr/>
            </p:nvCxnSpPr>
            <p:spPr bwMode="auto">
              <a:xfrm>
                <a:off x="3389" y="3859"/>
                <a:ext cx="149"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AutoShape 38"/>
              <p:cNvCxnSpPr>
                <a:cxnSpLocks noChangeShapeType="1"/>
                <a:stCxn id="117" idx="3"/>
                <a:endCxn id="112" idx="1"/>
              </p:cNvCxnSpPr>
              <p:nvPr/>
            </p:nvCxnSpPr>
            <p:spPr bwMode="auto">
              <a:xfrm>
                <a:off x="4559" y="3859"/>
                <a:ext cx="15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 name="AutoShape 39"/>
              <p:cNvCxnSpPr>
                <a:cxnSpLocks noChangeShapeType="1"/>
                <a:stCxn id="111" idx="3"/>
                <a:endCxn id="118" idx="1"/>
              </p:cNvCxnSpPr>
              <p:nvPr/>
            </p:nvCxnSpPr>
            <p:spPr bwMode="auto">
              <a:xfrm>
                <a:off x="3779" y="3859"/>
                <a:ext cx="151" cy="1"/>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40"/>
              <p:cNvCxnSpPr>
                <a:cxnSpLocks noChangeShapeType="1"/>
                <a:stCxn id="112" idx="3"/>
                <a:endCxn id="109" idx="1"/>
              </p:cNvCxnSpPr>
              <p:nvPr/>
            </p:nvCxnSpPr>
            <p:spPr bwMode="auto">
              <a:xfrm>
                <a:off x="4950" y="3859"/>
                <a:ext cx="15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Rectangle 41"/>
              <p:cNvSpPr>
                <a:spLocks noChangeArrowheads="1"/>
              </p:cNvSpPr>
              <p:nvPr/>
            </p:nvSpPr>
            <p:spPr bwMode="auto">
              <a:xfrm>
                <a:off x="4324" y="3791"/>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118" name="Rectangle 42"/>
              <p:cNvSpPr>
                <a:spLocks noChangeArrowheads="1"/>
              </p:cNvSpPr>
              <p:nvPr/>
            </p:nvSpPr>
            <p:spPr bwMode="auto">
              <a:xfrm>
                <a:off x="3936" y="3792"/>
                <a:ext cx="229" cy="136"/>
              </a:xfrm>
              <a:prstGeom prst="rect">
                <a:avLst/>
              </a:prstGeom>
              <a:solidFill>
                <a:srgbClr val="80808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15</a:t>
                </a:r>
              </a:p>
            </p:txBody>
          </p:sp>
          <p:cxnSp>
            <p:nvCxnSpPr>
              <p:cNvPr id="119" name="AutoShape 43"/>
              <p:cNvCxnSpPr>
                <a:cxnSpLocks noChangeShapeType="1"/>
                <a:stCxn id="118" idx="3"/>
                <a:endCxn id="117" idx="1"/>
              </p:cNvCxnSpPr>
              <p:nvPr/>
            </p:nvCxnSpPr>
            <p:spPr bwMode="auto">
              <a:xfrm flipV="1">
                <a:off x="4171" y="3859"/>
                <a:ext cx="147" cy="1"/>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0" name="Group 44"/>
            <p:cNvGrpSpPr/>
            <p:nvPr/>
          </p:nvGrpSpPr>
          <p:grpSpPr bwMode="auto">
            <a:xfrm>
              <a:off x="7095849" y="4826000"/>
              <a:ext cx="3460750" cy="215900"/>
              <a:chOff x="3154" y="3173"/>
              <a:chExt cx="2180" cy="136"/>
            </a:xfrm>
          </p:grpSpPr>
          <p:sp>
            <p:nvSpPr>
              <p:cNvPr id="121" name="Rectangle 45"/>
              <p:cNvSpPr>
                <a:spLocks noChangeArrowheads="1"/>
              </p:cNvSpPr>
              <p:nvPr/>
            </p:nvSpPr>
            <p:spPr bwMode="auto">
              <a:xfrm>
                <a:off x="5106" y="3173"/>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22" name="Rectangle 46"/>
              <p:cNvSpPr>
                <a:spLocks noChangeArrowheads="1"/>
              </p:cNvSpPr>
              <p:nvPr/>
            </p:nvSpPr>
            <p:spPr bwMode="auto">
              <a:xfrm>
                <a:off x="3154" y="3173"/>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cxnSp>
            <p:nvCxnSpPr>
              <p:cNvPr id="123" name="AutoShape 47"/>
              <p:cNvCxnSpPr>
                <a:cxnSpLocks noChangeShapeType="1"/>
                <a:stCxn id="122" idx="3"/>
                <a:endCxn id="124" idx="1"/>
              </p:cNvCxnSpPr>
              <p:nvPr/>
            </p:nvCxnSpPr>
            <p:spPr bwMode="auto">
              <a:xfrm>
                <a:off x="3389" y="3241"/>
                <a:ext cx="541"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 name="Rectangle 48"/>
              <p:cNvSpPr>
                <a:spLocks noChangeArrowheads="1"/>
              </p:cNvSpPr>
              <p:nvPr/>
            </p:nvSpPr>
            <p:spPr bwMode="auto">
              <a:xfrm>
                <a:off x="3936" y="3173"/>
                <a:ext cx="229" cy="136"/>
              </a:xfrm>
              <a:prstGeom prst="rect">
                <a:avLst/>
              </a:prstGeom>
              <a:solidFill>
                <a:srgbClr val="80808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dirty="0">
                    <a:solidFill>
                      <a:srgbClr val="000000"/>
                    </a:solidFill>
                    <a:latin typeface="微软雅黑" panose="020B0503020204020204" pitchFamily="82" charset="2"/>
                    <a:ea typeface="微软雅黑" panose="020B0503020204020204" pitchFamily="82" charset="2"/>
                  </a:rPr>
                  <a:t>15</a:t>
                </a:r>
              </a:p>
            </p:txBody>
          </p:sp>
          <p:cxnSp>
            <p:nvCxnSpPr>
              <p:cNvPr id="125" name="AutoShape 49"/>
              <p:cNvCxnSpPr>
                <a:cxnSpLocks noChangeShapeType="1"/>
                <a:stCxn id="124" idx="3"/>
                <a:endCxn id="121" idx="1"/>
              </p:cNvCxnSpPr>
              <p:nvPr/>
            </p:nvCxnSpPr>
            <p:spPr bwMode="auto">
              <a:xfrm>
                <a:off x="4171" y="3241"/>
                <a:ext cx="929"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6" name="Group 50"/>
            <p:cNvGrpSpPr/>
            <p:nvPr/>
          </p:nvGrpSpPr>
          <p:grpSpPr bwMode="auto">
            <a:xfrm>
              <a:off x="7095849" y="5332413"/>
              <a:ext cx="3460750" cy="215900"/>
              <a:chOff x="3154" y="3504"/>
              <a:chExt cx="2180" cy="136"/>
            </a:xfrm>
          </p:grpSpPr>
          <p:sp>
            <p:nvSpPr>
              <p:cNvPr id="127" name="Rectangle 51"/>
              <p:cNvSpPr>
                <a:spLocks noChangeArrowheads="1"/>
              </p:cNvSpPr>
              <p:nvPr/>
            </p:nvSpPr>
            <p:spPr bwMode="auto">
              <a:xfrm>
                <a:off x="5106" y="3504"/>
                <a:ext cx="228"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28" name="Rectangle 52"/>
              <p:cNvSpPr>
                <a:spLocks noChangeArrowheads="1"/>
              </p:cNvSpPr>
              <p:nvPr/>
            </p:nvSpPr>
            <p:spPr bwMode="auto">
              <a:xfrm>
                <a:off x="3154" y="3504"/>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29" name="Rectangle 53"/>
              <p:cNvSpPr>
                <a:spLocks noChangeArrowheads="1"/>
              </p:cNvSpPr>
              <p:nvPr/>
            </p:nvSpPr>
            <p:spPr bwMode="auto">
              <a:xfrm>
                <a:off x="4325" y="3504"/>
                <a:ext cx="229" cy="136"/>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cxnSp>
            <p:nvCxnSpPr>
              <p:cNvPr id="130" name="AutoShape 54"/>
              <p:cNvCxnSpPr>
                <a:cxnSpLocks noChangeShapeType="1"/>
                <a:stCxn id="128" idx="3"/>
                <a:endCxn id="132" idx="1"/>
              </p:cNvCxnSpPr>
              <p:nvPr/>
            </p:nvCxnSpPr>
            <p:spPr bwMode="auto">
              <a:xfrm>
                <a:off x="3389" y="3572"/>
                <a:ext cx="541"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AutoShape 55"/>
              <p:cNvCxnSpPr>
                <a:cxnSpLocks noChangeShapeType="1"/>
                <a:stCxn id="129" idx="3"/>
                <a:endCxn id="127" idx="1"/>
              </p:cNvCxnSpPr>
              <p:nvPr/>
            </p:nvCxnSpPr>
            <p:spPr bwMode="auto">
              <a:xfrm>
                <a:off x="4560" y="3572"/>
                <a:ext cx="54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Rectangle 56"/>
              <p:cNvSpPr>
                <a:spLocks noChangeArrowheads="1"/>
              </p:cNvSpPr>
              <p:nvPr/>
            </p:nvSpPr>
            <p:spPr bwMode="auto">
              <a:xfrm>
                <a:off x="3936" y="3504"/>
                <a:ext cx="229" cy="136"/>
              </a:xfrm>
              <a:prstGeom prst="rect">
                <a:avLst/>
              </a:prstGeom>
              <a:solidFill>
                <a:srgbClr val="80808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15</a:t>
                </a:r>
              </a:p>
            </p:txBody>
          </p:sp>
          <p:cxnSp>
            <p:nvCxnSpPr>
              <p:cNvPr id="133" name="AutoShape 57"/>
              <p:cNvCxnSpPr>
                <a:cxnSpLocks noChangeShapeType="1"/>
                <a:stCxn id="132" idx="3"/>
                <a:endCxn id="129" idx="1"/>
              </p:cNvCxnSpPr>
              <p:nvPr/>
            </p:nvCxnSpPr>
            <p:spPr bwMode="auto">
              <a:xfrm>
                <a:off x="4171" y="3572"/>
                <a:ext cx="14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4" name="AutoShape 58"/>
            <p:cNvSpPr>
              <a:spLocks noChangeArrowheads="1"/>
            </p:cNvSpPr>
            <p:nvPr/>
          </p:nvSpPr>
          <p:spPr bwMode="auto">
            <a:xfrm>
              <a:off x="5946499" y="5308600"/>
              <a:ext cx="609600" cy="303213"/>
            </a:xfrm>
            <a:prstGeom prst="rightArrow">
              <a:avLst>
                <a:gd name="adj1" fmla="val 50000"/>
                <a:gd name="adj2" fmla="val 50262"/>
              </a:avLst>
            </a:prstGeom>
            <a:noFill/>
            <a:ln w="1905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cxnSp>
          <p:nvCxnSpPr>
            <p:cNvPr id="135" name="AutoShape 59"/>
            <p:cNvCxnSpPr>
              <a:cxnSpLocks noChangeShapeType="1"/>
              <a:stCxn id="89" idx="2"/>
              <a:endCxn id="94" idx="0"/>
            </p:cNvCxnSpPr>
            <p:nvPr/>
          </p:nvCxnSpPr>
          <p:spPr bwMode="auto">
            <a:xfrm>
              <a:off x="2925487" y="5057775"/>
              <a:ext cx="0" cy="252413"/>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AutoShape 60"/>
            <p:cNvCxnSpPr>
              <a:cxnSpLocks noChangeShapeType="1"/>
              <a:stCxn id="81" idx="0"/>
              <a:endCxn id="82" idx="0"/>
            </p:cNvCxnSpPr>
            <p:nvPr/>
          </p:nvCxnSpPr>
          <p:spPr bwMode="auto">
            <a:xfrm rot="5400000" flipV="1">
              <a:off x="3234256" y="5507831"/>
              <a:ext cx="1588" cy="619125"/>
            </a:xfrm>
            <a:prstGeom prst="curvedConnector3">
              <a:avLst>
                <a:gd name="adj1" fmla="val -13200000"/>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AutoShape 61"/>
            <p:cNvCxnSpPr>
              <a:cxnSpLocks noChangeShapeType="1"/>
              <a:stCxn id="94" idx="2"/>
              <a:endCxn id="81" idx="0"/>
            </p:cNvCxnSpPr>
            <p:nvPr/>
          </p:nvCxnSpPr>
          <p:spPr bwMode="auto">
            <a:xfrm>
              <a:off x="2925487" y="5564188"/>
              <a:ext cx="0" cy="252412"/>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62"/>
            <p:cNvSpPr txBox="1">
              <a:spLocks noChangeArrowheads="1"/>
            </p:cNvSpPr>
            <p:nvPr/>
          </p:nvSpPr>
          <p:spPr bwMode="auto">
            <a:xfrm>
              <a:off x="3460010" y="5459413"/>
              <a:ext cx="48987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p</a:t>
              </a:r>
              <a:r>
                <a:rPr lang="en-US" altLang="zh-CN" sz="1350" baseline="-25000">
                  <a:solidFill>
                    <a:srgbClr val="000000"/>
                  </a:solidFill>
                  <a:latin typeface="微软雅黑" panose="020B0503020204020204" pitchFamily="82" charset="2"/>
                  <a:ea typeface="微软雅黑" panose="020B0503020204020204" pitchFamily="82" charset="2"/>
                </a:rPr>
                <a:t>0</a:t>
              </a:r>
            </a:p>
          </p:txBody>
        </p:sp>
        <p:sp>
          <p:nvSpPr>
            <p:cNvPr id="139" name="Text Box 63"/>
            <p:cNvSpPr txBox="1">
              <a:spLocks noChangeArrowheads="1"/>
            </p:cNvSpPr>
            <p:nvPr/>
          </p:nvSpPr>
          <p:spPr bwMode="auto">
            <a:xfrm>
              <a:off x="2878985" y="4976812"/>
              <a:ext cx="48987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p</a:t>
              </a:r>
              <a:r>
                <a:rPr lang="en-US" altLang="zh-CN" sz="1350" baseline="-25000">
                  <a:solidFill>
                    <a:srgbClr val="000000"/>
                  </a:solidFill>
                  <a:latin typeface="微软雅黑" panose="020B0503020204020204" pitchFamily="82" charset="2"/>
                  <a:ea typeface="微软雅黑" panose="020B0503020204020204" pitchFamily="82" charset="2"/>
                </a:rPr>
                <a:t>1</a:t>
              </a:r>
            </a:p>
          </p:txBody>
        </p:sp>
        <p:sp>
          <p:nvSpPr>
            <p:cNvPr id="140" name="Text Box 64"/>
            <p:cNvSpPr txBox="1">
              <a:spLocks noChangeArrowheads="1"/>
            </p:cNvSpPr>
            <p:nvPr/>
          </p:nvSpPr>
          <p:spPr bwMode="auto">
            <a:xfrm>
              <a:off x="2878985" y="4468813"/>
              <a:ext cx="48987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p</a:t>
              </a:r>
              <a:r>
                <a:rPr lang="en-US" altLang="zh-CN" sz="1350" baseline="-25000">
                  <a:solidFill>
                    <a:srgbClr val="000000"/>
                  </a:solidFill>
                  <a:latin typeface="微软雅黑" panose="020B0503020204020204" pitchFamily="82" charset="2"/>
                  <a:ea typeface="微软雅黑" panose="020B0503020204020204" pitchFamily="82" charset="2"/>
                </a:rPr>
                <a:t>2</a:t>
              </a:r>
            </a:p>
          </p:txBody>
        </p:sp>
        <p:sp>
          <p:nvSpPr>
            <p:cNvPr id="141" name="Line 67"/>
            <p:cNvSpPr>
              <a:spLocks noChangeShapeType="1"/>
            </p:cNvSpPr>
            <p:nvPr/>
          </p:nvSpPr>
          <p:spPr bwMode="auto">
            <a:xfrm>
              <a:off x="4155799" y="5535613"/>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gr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49066" y="1080493"/>
            <a:ext cx="2602208" cy="355266"/>
          </a:xfrm>
          <a:prstGeom prst="rect">
            <a:avLst/>
          </a:prstGeom>
        </p:spPr>
        <p:txBody>
          <a:bodyPr vert="horz" wrap="square" lIns="0" tIns="8930" rIns="0" bIns="0" rtlCol="0">
            <a:spAutoFit/>
          </a:bodyPr>
          <a:lstStyle/>
          <a:p>
            <a:pPr marL="8929" defTabSz="642915" fontAlgn="auto">
              <a:spcBef>
                <a:spcPts val="70"/>
              </a:spcBef>
              <a:spcAft>
                <a:spcPts val="0"/>
              </a:spcAft>
            </a:pPr>
            <a:r>
              <a:rPr sz="2250" kern="0" dirty="0">
                <a:solidFill>
                  <a:sysClr val="windowText" lastClr="000000"/>
                </a:solidFill>
                <a:latin typeface="Palatino Linotype"/>
                <a:cs typeface="Palatino Linotype"/>
              </a:rPr>
              <a:t>Insert</a:t>
            </a:r>
            <a:r>
              <a:rPr sz="2250" kern="0" spc="-80" dirty="0">
                <a:solidFill>
                  <a:sysClr val="windowText" lastClr="000000"/>
                </a:solidFill>
                <a:latin typeface="Palatino Linotype"/>
                <a:cs typeface="Palatino Linotype"/>
              </a:rPr>
              <a:t> </a:t>
            </a:r>
            <a:r>
              <a:rPr lang="en-US" sz="2250" kern="0" spc="-80" dirty="0" smtClean="0">
                <a:solidFill>
                  <a:sysClr val="windowText" lastClr="000000"/>
                </a:solidFill>
                <a:latin typeface="Palatino Linotype"/>
                <a:cs typeface="Palatino Linotype"/>
              </a:rPr>
              <a:t>k=</a:t>
            </a:r>
            <a:r>
              <a:rPr sz="2250" kern="0" spc="-18" dirty="0" smtClean="0">
                <a:solidFill>
                  <a:sysClr val="windowText" lastClr="000000"/>
                </a:solidFill>
                <a:latin typeface="Palatino Linotype"/>
                <a:cs typeface="Palatino Linotype"/>
              </a:rPr>
              <a:t>87</a:t>
            </a:r>
            <a:r>
              <a:rPr lang="en-US" sz="2250" kern="0" spc="-18" dirty="0" smtClean="0">
                <a:solidFill>
                  <a:sysClr val="windowText" lastClr="000000"/>
                </a:solidFill>
                <a:latin typeface="Palatino Linotype"/>
                <a:cs typeface="Palatino Linotype"/>
              </a:rPr>
              <a:t>,  </a:t>
            </a:r>
            <a:r>
              <a:rPr lang="en-US" sz="2250" kern="0" spc="-18" dirty="0" err="1" smtClean="0">
                <a:solidFill>
                  <a:sysClr val="windowText" lastClr="000000"/>
                </a:solidFill>
                <a:latin typeface="Palatino Linotype"/>
                <a:cs typeface="Palatino Linotype"/>
              </a:rPr>
              <a:t>i</a:t>
            </a:r>
            <a:r>
              <a:rPr lang="en-US" sz="2250" kern="0" spc="-18" dirty="0" smtClean="0">
                <a:solidFill>
                  <a:sysClr val="windowText" lastClr="000000"/>
                </a:solidFill>
                <a:latin typeface="Palatino Linotype"/>
                <a:cs typeface="Palatino Linotype"/>
              </a:rPr>
              <a:t>=2</a:t>
            </a:r>
            <a:endParaRPr sz="2250" kern="0" dirty="0">
              <a:solidFill>
                <a:sysClr val="windowText" lastClr="000000"/>
              </a:solidFill>
              <a:latin typeface="Palatino Linotype"/>
              <a:cs typeface="Palatino Linotype"/>
            </a:endParaRPr>
          </a:p>
        </p:txBody>
      </p:sp>
      <p:grpSp>
        <p:nvGrpSpPr>
          <p:cNvPr id="4" name="object 4"/>
          <p:cNvGrpSpPr/>
          <p:nvPr/>
        </p:nvGrpSpPr>
        <p:grpSpPr>
          <a:xfrm>
            <a:off x="1113324" y="3310406"/>
            <a:ext cx="1245691" cy="503188"/>
            <a:chOff x="1583394" y="5228450"/>
            <a:chExt cx="1771650" cy="715645"/>
          </a:xfrm>
        </p:grpSpPr>
        <p:sp>
          <p:nvSpPr>
            <p:cNvPr id="5" name="object 5"/>
            <p:cNvSpPr/>
            <p:nvPr/>
          </p:nvSpPr>
          <p:spPr>
            <a:xfrm>
              <a:off x="1596094" y="5263997"/>
              <a:ext cx="747395" cy="667385"/>
            </a:xfrm>
            <a:custGeom>
              <a:avLst/>
              <a:gdLst/>
              <a:ahLst/>
              <a:cxnLst/>
              <a:rect l="l" t="t" r="r" b="b"/>
              <a:pathLst>
                <a:path w="747394" h="667385">
                  <a:moveTo>
                    <a:pt x="734651" y="0"/>
                  </a:moveTo>
                  <a:lnTo>
                    <a:pt x="734651" y="654463"/>
                  </a:lnTo>
                </a:path>
                <a:path w="747394" h="667385">
                  <a:moveTo>
                    <a:pt x="530868" y="0"/>
                  </a:moveTo>
                  <a:lnTo>
                    <a:pt x="530868" y="654463"/>
                  </a:lnTo>
                </a:path>
                <a:path w="747394" h="667385">
                  <a:moveTo>
                    <a:pt x="12700" y="0"/>
                  </a:moveTo>
                  <a:lnTo>
                    <a:pt x="12700" y="654463"/>
                  </a:lnTo>
                </a:path>
                <a:path w="747394"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 name="object 6"/>
            <p:cNvSpPr/>
            <p:nvPr/>
          </p:nvSpPr>
          <p:spPr>
            <a:xfrm>
              <a:off x="1596085" y="5238597"/>
              <a:ext cx="747395" cy="25400"/>
            </a:xfrm>
            <a:custGeom>
              <a:avLst/>
              <a:gdLst/>
              <a:ahLst/>
              <a:cxnLst/>
              <a:rect l="l" t="t" r="r" b="b"/>
              <a:pathLst>
                <a:path w="747394" h="25400">
                  <a:moveTo>
                    <a:pt x="29197" y="0"/>
                  </a:moveTo>
                  <a:lnTo>
                    <a:pt x="0" y="0"/>
                  </a:lnTo>
                  <a:lnTo>
                    <a:pt x="0" y="25400"/>
                  </a:lnTo>
                  <a:lnTo>
                    <a:pt x="29197" y="25400"/>
                  </a:lnTo>
                  <a:lnTo>
                    <a:pt x="29197" y="0"/>
                  </a:lnTo>
                  <a:close/>
                </a:path>
                <a:path w="747394" h="25400">
                  <a:moveTo>
                    <a:pt x="747356" y="0"/>
                  </a:moveTo>
                  <a:lnTo>
                    <a:pt x="519938" y="0"/>
                  </a:lnTo>
                  <a:lnTo>
                    <a:pt x="519938" y="25400"/>
                  </a:lnTo>
                  <a:lnTo>
                    <a:pt x="747356" y="25400"/>
                  </a:lnTo>
                  <a:lnTo>
                    <a:pt x="74735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 name="object 7"/>
            <p:cNvSpPr/>
            <p:nvPr/>
          </p:nvSpPr>
          <p:spPr>
            <a:xfrm>
              <a:off x="2594537" y="5241150"/>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8" name="object 8"/>
          <p:cNvSpPr txBox="1"/>
          <p:nvPr/>
        </p:nvSpPr>
        <p:spPr>
          <a:xfrm>
            <a:off x="1833214" y="3319335"/>
            <a:ext cx="364778" cy="387694"/>
          </a:xfrm>
          <a:prstGeom prst="rect">
            <a:avLst/>
          </a:prstGeom>
          <a:ln w="25400">
            <a:solidFill>
              <a:srgbClr val="000000"/>
            </a:solidFill>
          </a:ln>
        </p:spPr>
        <p:txBody>
          <a:bodyPr vert="horz" wrap="square" lIns="0" tIns="62508" rIns="0" bIns="0" rtlCol="0">
            <a:spAutoFit/>
          </a:bodyPr>
          <a:lstStyle/>
          <a:p>
            <a:pPr marL="49112" defTabSz="642915" fontAlgn="auto">
              <a:spcBef>
                <a:spcPts val="492"/>
              </a:spcBef>
              <a:spcAft>
                <a:spcPts val="0"/>
              </a:spcAft>
            </a:pPr>
            <a:r>
              <a:rPr sz="2109" kern="0" spc="-18" dirty="0">
                <a:solidFill>
                  <a:sysClr val="windowText" lastClr="000000"/>
                </a:solidFill>
                <a:latin typeface="Arial MT"/>
                <a:cs typeface="Arial MT"/>
              </a:rPr>
              <a:t>10</a:t>
            </a:r>
            <a:endParaRPr sz="2109" kern="0">
              <a:solidFill>
                <a:sysClr val="windowText" lastClr="000000"/>
              </a:solidFill>
              <a:latin typeface="Arial MT"/>
              <a:cs typeface="Arial MT"/>
            </a:endParaRPr>
          </a:p>
        </p:txBody>
      </p:sp>
      <p:sp>
        <p:nvSpPr>
          <p:cNvPr id="9" name="object 9"/>
          <p:cNvSpPr/>
          <p:nvPr/>
        </p:nvSpPr>
        <p:spPr>
          <a:xfrm>
            <a:off x="2526314" y="3312201"/>
            <a:ext cx="525512" cy="4781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 name="object 10"/>
          <p:cNvSpPr txBox="1"/>
          <p:nvPr/>
        </p:nvSpPr>
        <p:spPr>
          <a:xfrm>
            <a:off x="2535243" y="3312201"/>
            <a:ext cx="364778" cy="387694"/>
          </a:xfrm>
          <a:prstGeom prst="rect">
            <a:avLst/>
          </a:prstGeom>
          <a:ln w="25400">
            <a:solidFill>
              <a:srgbClr val="000000"/>
            </a:solidFill>
          </a:ln>
        </p:spPr>
        <p:txBody>
          <a:bodyPr vert="horz" wrap="square" lIns="0" tIns="62508" rIns="0" bIns="0" rtlCol="0">
            <a:spAutoFit/>
          </a:bodyPr>
          <a:lstStyle/>
          <a:p>
            <a:pPr marL="49112" defTabSz="642915" fontAlgn="auto">
              <a:spcBef>
                <a:spcPts val="492"/>
              </a:spcBef>
              <a:spcAft>
                <a:spcPts val="0"/>
              </a:spcAft>
            </a:pPr>
            <a:r>
              <a:rPr sz="2109" kern="0" spc="-18" dirty="0">
                <a:solidFill>
                  <a:sysClr val="windowText" lastClr="000000"/>
                </a:solidFill>
                <a:latin typeface="Arial MT"/>
                <a:cs typeface="Arial MT"/>
              </a:rPr>
              <a:t>15</a:t>
            </a:r>
            <a:endParaRPr sz="2109" kern="0">
              <a:solidFill>
                <a:sysClr val="windowText" lastClr="000000"/>
              </a:solidFill>
              <a:latin typeface="Arial MT"/>
              <a:cs typeface="Arial MT"/>
            </a:endParaRPr>
          </a:p>
        </p:txBody>
      </p:sp>
      <p:grpSp>
        <p:nvGrpSpPr>
          <p:cNvPr id="11" name="object 11"/>
          <p:cNvGrpSpPr/>
          <p:nvPr/>
        </p:nvGrpSpPr>
        <p:grpSpPr>
          <a:xfrm>
            <a:off x="3219415" y="3289002"/>
            <a:ext cx="1245691" cy="503188"/>
            <a:chOff x="4578723" y="5198009"/>
            <a:chExt cx="1771650" cy="715645"/>
          </a:xfrm>
        </p:grpSpPr>
        <p:sp>
          <p:nvSpPr>
            <p:cNvPr id="12" name="object 12"/>
            <p:cNvSpPr/>
            <p:nvPr/>
          </p:nvSpPr>
          <p:spPr>
            <a:xfrm>
              <a:off x="4591423" y="5233554"/>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3" name="object 13"/>
            <p:cNvSpPr/>
            <p:nvPr/>
          </p:nvSpPr>
          <p:spPr>
            <a:xfrm>
              <a:off x="4591423" y="5220854"/>
              <a:ext cx="26034" cy="0"/>
            </a:xfrm>
            <a:custGeom>
              <a:avLst/>
              <a:gdLst/>
              <a:ahLst/>
              <a:cxnLst/>
              <a:rect l="l" t="t" r="r" b="b"/>
              <a:pathLst>
                <a:path w="26035">
                  <a:moveTo>
                    <a:pt x="0" y="0"/>
                  </a:moveTo>
                  <a:lnTo>
                    <a:pt x="25758"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 name="object 14"/>
            <p:cNvSpPr/>
            <p:nvPr/>
          </p:nvSpPr>
          <p:spPr>
            <a:xfrm>
              <a:off x="5107931" y="5208154"/>
              <a:ext cx="231140" cy="25400"/>
            </a:xfrm>
            <a:custGeom>
              <a:avLst/>
              <a:gdLst/>
              <a:ahLst/>
              <a:cxnLst/>
              <a:rect l="l" t="t" r="r" b="b"/>
              <a:pathLst>
                <a:path w="231139" h="25400">
                  <a:moveTo>
                    <a:pt x="0" y="25400"/>
                  </a:moveTo>
                  <a:lnTo>
                    <a:pt x="230842" y="25400"/>
                  </a:lnTo>
                  <a:lnTo>
                    <a:pt x="230842"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 name="object 15"/>
            <p:cNvSpPr/>
            <p:nvPr/>
          </p:nvSpPr>
          <p:spPr>
            <a:xfrm>
              <a:off x="5589868" y="5210709"/>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6" name="object 16"/>
          <p:cNvSpPr txBox="1"/>
          <p:nvPr/>
        </p:nvSpPr>
        <p:spPr>
          <a:xfrm>
            <a:off x="3939306" y="3297932"/>
            <a:ext cx="364778" cy="387694"/>
          </a:xfrm>
          <a:prstGeom prst="rect">
            <a:avLst/>
          </a:prstGeom>
          <a:ln w="25400">
            <a:solidFill>
              <a:srgbClr val="000000"/>
            </a:solidFill>
          </a:ln>
        </p:spPr>
        <p:txBody>
          <a:bodyPr vert="horz" wrap="square" lIns="0" tIns="62508" rIns="0" bIns="0" rtlCol="0">
            <a:spAutoFit/>
          </a:bodyPr>
          <a:lstStyle/>
          <a:p>
            <a:pPr marL="49112" defTabSz="642915" fontAlgn="auto">
              <a:spcBef>
                <a:spcPts val="492"/>
              </a:spcBef>
              <a:spcAft>
                <a:spcPts val="0"/>
              </a:spcAft>
            </a:pPr>
            <a:r>
              <a:rPr sz="2109" kern="0" spc="-18" dirty="0">
                <a:solidFill>
                  <a:sysClr val="windowText" lastClr="000000"/>
                </a:solidFill>
                <a:latin typeface="Arial MT"/>
                <a:cs typeface="Arial MT"/>
              </a:rPr>
              <a:t>31</a:t>
            </a:r>
            <a:endParaRPr sz="2109" kern="0">
              <a:solidFill>
                <a:sysClr val="windowText" lastClr="000000"/>
              </a:solidFill>
              <a:latin typeface="Arial MT"/>
              <a:cs typeface="Arial MT"/>
            </a:endParaRPr>
          </a:p>
        </p:txBody>
      </p:sp>
      <p:grpSp>
        <p:nvGrpSpPr>
          <p:cNvPr id="17" name="object 17"/>
          <p:cNvGrpSpPr/>
          <p:nvPr/>
        </p:nvGrpSpPr>
        <p:grpSpPr>
          <a:xfrm>
            <a:off x="597211" y="1849811"/>
            <a:ext cx="7947422" cy="1974800"/>
            <a:chOff x="849367" y="3151158"/>
            <a:chExt cx="11303000" cy="2808605"/>
          </a:xfrm>
        </p:grpSpPr>
        <p:sp>
          <p:nvSpPr>
            <p:cNvPr id="18" name="object 18"/>
            <p:cNvSpPr/>
            <p:nvPr/>
          </p:nvSpPr>
          <p:spPr>
            <a:xfrm>
              <a:off x="7119180" y="5213259"/>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 name="object 19"/>
            <p:cNvSpPr/>
            <p:nvPr/>
          </p:nvSpPr>
          <p:spPr>
            <a:xfrm>
              <a:off x="6596260" y="5213259"/>
              <a:ext cx="0" cy="654685"/>
            </a:xfrm>
            <a:custGeom>
              <a:avLst/>
              <a:gdLst/>
              <a:ahLst/>
              <a:cxnLst/>
              <a:rect l="l" t="t" r="r" b="b"/>
              <a:pathLst>
                <a:path h="654685">
                  <a:moveTo>
                    <a:pt x="0" y="0"/>
                  </a:moveTo>
                  <a:lnTo>
                    <a:pt x="0" y="654463"/>
                  </a:lnTo>
                </a:path>
              </a:pathLst>
            </a:custGeom>
            <a:ln w="15897">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 name="object 20"/>
            <p:cNvSpPr/>
            <p:nvPr/>
          </p:nvSpPr>
          <p:spPr>
            <a:xfrm>
              <a:off x="6588311" y="5880423"/>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1" name="object 21"/>
            <p:cNvSpPr/>
            <p:nvPr/>
          </p:nvSpPr>
          <p:spPr>
            <a:xfrm>
              <a:off x="6596260" y="5187859"/>
              <a:ext cx="0" cy="25400"/>
            </a:xfrm>
            <a:custGeom>
              <a:avLst/>
              <a:gdLst/>
              <a:ahLst/>
              <a:cxnLst/>
              <a:rect l="l" t="t" r="r" b="b"/>
              <a:pathLst>
                <a:path h="25400">
                  <a:moveTo>
                    <a:pt x="0" y="0"/>
                  </a:moveTo>
                  <a:lnTo>
                    <a:pt x="0" y="25400"/>
                  </a:lnTo>
                </a:path>
              </a:pathLst>
            </a:custGeom>
            <a:ln w="15897">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2" name="object 22"/>
            <p:cNvSpPr/>
            <p:nvPr/>
          </p:nvSpPr>
          <p:spPr>
            <a:xfrm>
              <a:off x="7094959" y="5187859"/>
              <a:ext cx="241300" cy="25400"/>
            </a:xfrm>
            <a:custGeom>
              <a:avLst/>
              <a:gdLst/>
              <a:ahLst/>
              <a:cxnLst/>
              <a:rect l="l" t="t" r="r" b="b"/>
              <a:pathLst>
                <a:path w="241300" h="25400">
                  <a:moveTo>
                    <a:pt x="0" y="25400"/>
                  </a:moveTo>
                  <a:lnTo>
                    <a:pt x="240703" y="25400"/>
                  </a:lnTo>
                  <a:lnTo>
                    <a:pt x="240703"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3" name="object 23"/>
            <p:cNvSpPr/>
            <p:nvPr/>
          </p:nvSpPr>
          <p:spPr>
            <a:xfrm>
              <a:off x="7588470" y="5203113"/>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4" name="object 24"/>
            <p:cNvSpPr/>
            <p:nvPr/>
          </p:nvSpPr>
          <p:spPr>
            <a:xfrm>
              <a:off x="7575770" y="5870277"/>
              <a:ext cx="747395" cy="0"/>
            </a:xfrm>
            <a:custGeom>
              <a:avLst/>
              <a:gdLst/>
              <a:ahLst/>
              <a:cxnLst/>
              <a:rect l="l" t="t" r="r" b="b"/>
              <a:pathLst>
                <a:path w="747395">
                  <a:moveTo>
                    <a:pt x="205353" y="0"/>
                  </a:moveTo>
                  <a:lnTo>
                    <a:pt x="747351" y="0"/>
                  </a:lnTo>
                </a:path>
                <a:path w="747395">
                  <a:moveTo>
                    <a:pt x="0" y="0"/>
                  </a:moveTo>
                  <a:lnTo>
                    <a:pt x="141690"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5" name="object 25"/>
            <p:cNvSpPr/>
            <p:nvPr/>
          </p:nvSpPr>
          <p:spPr>
            <a:xfrm>
              <a:off x="7575770" y="5190413"/>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26" name="object 26"/>
            <p:cNvPicPr/>
            <p:nvPr/>
          </p:nvPicPr>
          <p:blipFill>
            <a:blip r:embed="rId2" cstate="print"/>
            <a:stretch>
              <a:fillRect/>
            </a:stretch>
          </p:blipFill>
          <p:spPr>
            <a:xfrm>
              <a:off x="2190749" y="5497829"/>
              <a:ext cx="386080" cy="167640"/>
            </a:xfrm>
            <a:prstGeom prst="rect">
              <a:avLst/>
            </a:prstGeom>
          </p:spPr>
        </p:pic>
        <p:pic>
          <p:nvPicPr>
            <p:cNvPr id="27" name="object 27"/>
            <p:cNvPicPr/>
            <p:nvPr/>
          </p:nvPicPr>
          <p:blipFill>
            <a:blip r:embed="rId3" cstate="print"/>
            <a:stretch>
              <a:fillRect/>
            </a:stretch>
          </p:blipFill>
          <p:spPr>
            <a:xfrm>
              <a:off x="3219449" y="5472429"/>
              <a:ext cx="386080" cy="167640"/>
            </a:xfrm>
            <a:prstGeom prst="rect">
              <a:avLst/>
            </a:prstGeom>
          </p:spPr>
        </p:pic>
        <p:pic>
          <p:nvPicPr>
            <p:cNvPr id="28" name="object 28"/>
            <p:cNvPicPr/>
            <p:nvPr/>
          </p:nvPicPr>
          <p:blipFill>
            <a:blip r:embed="rId2" cstate="print"/>
            <a:stretch>
              <a:fillRect/>
            </a:stretch>
          </p:blipFill>
          <p:spPr>
            <a:xfrm>
              <a:off x="4197349" y="5497829"/>
              <a:ext cx="386080" cy="167640"/>
            </a:xfrm>
            <a:prstGeom prst="rect">
              <a:avLst/>
            </a:prstGeom>
          </p:spPr>
        </p:pic>
        <p:pic>
          <p:nvPicPr>
            <p:cNvPr id="29" name="object 29"/>
            <p:cNvPicPr/>
            <p:nvPr/>
          </p:nvPicPr>
          <p:blipFill>
            <a:blip r:embed="rId4" cstate="print"/>
            <a:stretch>
              <a:fillRect/>
            </a:stretch>
          </p:blipFill>
          <p:spPr>
            <a:xfrm>
              <a:off x="5162549" y="5472429"/>
              <a:ext cx="398780" cy="167640"/>
            </a:xfrm>
            <a:prstGeom prst="rect">
              <a:avLst/>
            </a:prstGeom>
          </p:spPr>
        </p:pic>
        <p:pic>
          <p:nvPicPr>
            <p:cNvPr id="30" name="object 30"/>
            <p:cNvPicPr/>
            <p:nvPr/>
          </p:nvPicPr>
          <p:blipFill>
            <a:blip r:embed="rId2" cstate="print"/>
            <a:stretch>
              <a:fillRect/>
            </a:stretch>
          </p:blipFill>
          <p:spPr>
            <a:xfrm>
              <a:off x="6178549" y="5497829"/>
              <a:ext cx="386080" cy="167640"/>
            </a:xfrm>
            <a:prstGeom prst="rect">
              <a:avLst/>
            </a:prstGeom>
          </p:spPr>
        </p:pic>
        <p:pic>
          <p:nvPicPr>
            <p:cNvPr id="31" name="object 31"/>
            <p:cNvPicPr/>
            <p:nvPr/>
          </p:nvPicPr>
          <p:blipFill>
            <a:blip r:embed="rId2" cstate="print"/>
            <a:stretch>
              <a:fillRect/>
            </a:stretch>
          </p:blipFill>
          <p:spPr>
            <a:xfrm>
              <a:off x="7181849" y="5497829"/>
              <a:ext cx="386080" cy="167640"/>
            </a:xfrm>
            <a:prstGeom prst="rect">
              <a:avLst/>
            </a:prstGeom>
          </p:spPr>
        </p:pic>
        <p:pic>
          <p:nvPicPr>
            <p:cNvPr id="32" name="object 32"/>
            <p:cNvPicPr/>
            <p:nvPr/>
          </p:nvPicPr>
          <p:blipFill>
            <a:blip r:embed="rId3" cstate="print"/>
            <a:stretch>
              <a:fillRect/>
            </a:stretch>
          </p:blipFill>
          <p:spPr>
            <a:xfrm>
              <a:off x="8172450" y="5472429"/>
              <a:ext cx="386080" cy="167640"/>
            </a:xfrm>
            <a:prstGeom prst="rect">
              <a:avLst/>
            </a:prstGeom>
          </p:spPr>
        </p:pic>
        <p:pic>
          <p:nvPicPr>
            <p:cNvPr id="33" name="object 33"/>
            <p:cNvPicPr/>
            <p:nvPr/>
          </p:nvPicPr>
          <p:blipFill>
            <a:blip r:embed="rId2" cstate="print"/>
            <a:stretch>
              <a:fillRect/>
            </a:stretch>
          </p:blipFill>
          <p:spPr>
            <a:xfrm>
              <a:off x="1212850" y="5497829"/>
              <a:ext cx="386080" cy="167640"/>
            </a:xfrm>
            <a:prstGeom prst="rect">
              <a:avLst/>
            </a:prstGeom>
          </p:spPr>
        </p:pic>
        <p:sp>
          <p:nvSpPr>
            <p:cNvPr id="34" name="object 34"/>
            <p:cNvSpPr/>
            <p:nvPr/>
          </p:nvSpPr>
          <p:spPr>
            <a:xfrm>
              <a:off x="862067" y="5262046"/>
              <a:ext cx="496570" cy="671195"/>
            </a:xfrm>
            <a:custGeom>
              <a:avLst/>
              <a:gdLst/>
              <a:ahLst/>
              <a:cxnLst/>
              <a:rect l="l" t="t" r="r" b="b"/>
              <a:pathLst>
                <a:path w="496569" h="671195">
                  <a:moveTo>
                    <a:pt x="483751" y="0"/>
                  </a:moveTo>
                  <a:lnTo>
                    <a:pt x="483751" y="658366"/>
                  </a:lnTo>
                </a:path>
                <a:path w="496569" h="671195">
                  <a:moveTo>
                    <a:pt x="326728" y="0"/>
                  </a:moveTo>
                  <a:lnTo>
                    <a:pt x="326728" y="658366"/>
                  </a:lnTo>
                </a:path>
                <a:path w="496569" h="671195">
                  <a:moveTo>
                    <a:pt x="12700" y="0"/>
                  </a:moveTo>
                  <a:lnTo>
                    <a:pt x="12700" y="658366"/>
                  </a:lnTo>
                </a:path>
                <a:path w="496569" h="671195">
                  <a:moveTo>
                    <a:pt x="0" y="671066"/>
                  </a:moveTo>
                  <a:lnTo>
                    <a:pt x="496451" y="671066"/>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35" name="object 35"/>
            <p:cNvSpPr/>
            <p:nvPr/>
          </p:nvSpPr>
          <p:spPr>
            <a:xfrm>
              <a:off x="874571" y="523664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36" name="object 36"/>
            <p:cNvSpPr/>
            <p:nvPr/>
          </p:nvSpPr>
          <p:spPr>
            <a:xfrm>
              <a:off x="1161623" y="523664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37" name="object 37"/>
            <p:cNvSpPr/>
            <p:nvPr/>
          </p:nvSpPr>
          <p:spPr>
            <a:xfrm>
              <a:off x="11643214" y="5275751"/>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38" name="object 38"/>
            <p:cNvSpPr/>
            <p:nvPr/>
          </p:nvSpPr>
          <p:spPr>
            <a:xfrm>
              <a:off x="11650828" y="5250351"/>
              <a:ext cx="0" cy="25400"/>
            </a:xfrm>
            <a:custGeom>
              <a:avLst/>
              <a:gdLst/>
              <a:ahLst/>
              <a:cxnLst/>
              <a:rect l="l" t="t" r="r" b="b"/>
              <a:pathLst>
                <a:path h="25400">
                  <a:moveTo>
                    <a:pt x="0" y="0"/>
                  </a:moveTo>
                  <a:lnTo>
                    <a:pt x="0" y="25400"/>
                  </a:lnTo>
                </a:path>
              </a:pathLst>
            </a:custGeom>
            <a:ln w="15226">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39" name="object 39"/>
            <p:cNvSpPr/>
            <p:nvPr/>
          </p:nvSpPr>
          <p:spPr>
            <a:xfrm>
              <a:off x="11954953" y="5250351"/>
              <a:ext cx="184785" cy="25400"/>
            </a:xfrm>
            <a:custGeom>
              <a:avLst/>
              <a:gdLst/>
              <a:ahLst/>
              <a:cxnLst/>
              <a:rect l="l" t="t" r="r" b="b"/>
              <a:pathLst>
                <a:path w="184784" h="25400">
                  <a:moveTo>
                    <a:pt x="0" y="25400"/>
                  </a:moveTo>
                  <a:lnTo>
                    <a:pt x="184713" y="25400"/>
                  </a:lnTo>
                  <a:lnTo>
                    <a:pt x="184713"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0" name="object 40"/>
            <p:cNvSpPr/>
            <p:nvPr/>
          </p:nvSpPr>
          <p:spPr>
            <a:xfrm>
              <a:off x="6598086" y="386140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1" name="object 41"/>
            <p:cNvSpPr/>
            <p:nvPr/>
          </p:nvSpPr>
          <p:spPr>
            <a:xfrm>
              <a:off x="6594798" y="4515873"/>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2" name="object 42"/>
            <p:cNvSpPr/>
            <p:nvPr/>
          </p:nvSpPr>
          <p:spPr>
            <a:xfrm>
              <a:off x="7094959" y="4515873"/>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3" name="object 43"/>
            <p:cNvSpPr/>
            <p:nvPr/>
          </p:nvSpPr>
          <p:spPr>
            <a:xfrm>
              <a:off x="6585386" y="384870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4" name="object 44"/>
            <p:cNvSpPr/>
            <p:nvPr/>
          </p:nvSpPr>
          <p:spPr>
            <a:xfrm>
              <a:off x="5124869" y="455109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5" name="object 45"/>
            <p:cNvSpPr/>
            <p:nvPr/>
          </p:nvSpPr>
          <p:spPr>
            <a:xfrm>
              <a:off x="4605591" y="4551090"/>
              <a:ext cx="0" cy="654685"/>
            </a:xfrm>
            <a:custGeom>
              <a:avLst/>
              <a:gdLst/>
              <a:ahLst/>
              <a:cxnLst/>
              <a:rect l="l" t="t" r="r" b="b"/>
              <a:pathLst>
                <a:path h="654685">
                  <a:moveTo>
                    <a:pt x="0" y="0"/>
                  </a:moveTo>
                  <a:lnTo>
                    <a:pt x="0" y="654463"/>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6" name="object 46"/>
            <p:cNvSpPr/>
            <p:nvPr/>
          </p:nvSpPr>
          <p:spPr>
            <a:xfrm>
              <a:off x="5107931" y="5205554"/>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7" name="object 47"/>
            <p:cNvSpPr/>
            <p:nvPr/>
          </p:nvSpPr>
          <p:spPr>
            <a:xfrm>
              <a:off x="4605591" y="5205554"/>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8" name="object 48"/>
            <p:cNvSpPr/>
            <p:nvPr/>
          </p:nvSpPr>
          <p:spPr>
            <a:xfrm>
              <a:off x="5107931" y="4525690"/>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9" name="object 49"/>
            <p:cNvSpPr/>
            <p:nvPr/>
          </p:nvSpPr>
          <p:spPr>
            <a:xfrm>
              <a:off x="4605591" y="4525690"/>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0" name="object 50"/>
            <p:cNvSpPr/>
            <p:nvPr/>
          </p:nvSpPr>
          <p:spPr>
            <a:xfrm>
              <a:off x="1188795" y="3871720"/>
              <a:ext cx="157480" cy="658495"/>
            </a:xfrm>
            <a:custGeom>
              <a:avLst/>
              <a:gdLst/>
              <a:ahLst/>
              <a:cxnLst/>
              <a:rect l="l" t="t" r="r" b="b"/>
              <a:pathLst>
                <a:path w="157480" h="658495">
                  <a:moveTo>
                    <a:pt x="157023" y="0"/>
                  </a:moveTo>
                  <a:lnTo>
                    <a:pt x="157023" y="658365"/>
                  </a:lnTo>
                </a:path>
                <a:path w="157480" h="658495">
                  <a:moveTo>
                    <a:pt x="0" y="0"/>
                  </a:moveTo>
                  <a:lnTo>
                    <a:pt x="0" y="658365"/>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1" name="object 51"/>
            <p:cNvSpPr/>
            <p:nvPr/>
          </p:nvSpPr>
          <p:spPr>
            <a:xfrm>
              <a:off x="874571" y="3871720"/>
              <a:ext cx="0" cy="658495"/>
            </a:xfrm>
            <a:custGeom>
              <a:avLst/>
              <a:gdLst/>
              <a:ahLst/>
              <a:cxnLst/>
              <a:rect l="l" t="t" r="r" b="b"/>
              <a:pathLst>
                <a:path h="658495">
                  <a:moveTo>
                    <a:pt x="0" y="0"/>
                  </a:moveTo>
                  <a:lnTo>
                    <a:pt x="0" y="658365"/>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2" name="object 52"/>
            <p:cNvSpPr/>
            <p:nvPr/>
          </p:nvSpPr>
          <p:spPr>
            <a:xfrm>
              <a:off x="1161623" y="453008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3" name="object 53"/>
            <p:cNvSpPr/>
            <p:nvPr/>
          </p:nvSpPr>
          <p:spPr>
            <a:xfrm>
              <a:off x="874571" y="453008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4" name="object 54"/>
            <p:cNvSpPr/>
            <p:nvPr/>
          </p:nvSpPr>
          <p:spPr>
            <a:xfrm>
              <a:off x="1161623" y="3846320"/>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5" name="object 55"/>
            <p:cNvSpPr/>
            <p:nvPr/>
          </p:nvSpPr>
          <p:spPr>
            <a:xfrm>
              <a:off x="874571" y="3846320"/>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6" name="object 56"/>
            <p:cNvSpPr/>
            <p:nvPr/>
          </p:nvSpPr>
          <p:spPr>
            <a:xfrm>
              <a:off x="11969942" y="3953802"/>
              <a:ext cx="157480" cy="658495"/>
            </a:xfrm>
            <a:custGeom>
              <a:avLst/>
              <a:gdLst/>
              <a:ahLst/>
              <a:cxnLst/>
              <a:rect l="l" t="t" r="r" b="b"/>
              <a:pathLst>
                <a:path w="157479" h="658495">
                  <a:moveTo>
                    <a:pt x="157023" y="0"/>
                  </a:moveTo>
                  <a:lnTo>
                    <a:pt x="157023" y="658366"/>
                  </a:lnTo>
                </a:path>
                <a:path w="157479" h="658495">
                  <a:moveTo>
                    <a:pt x="0" y="0"/>
                  </a:moveTo>
                  <a:lnTo>
                    <a:pt x="0" y="658366"/>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7" name="object 57"/>
            <p:cNvSpPr/>
            <p:nvPr/>
          </p:nvSpPr>
          <p:spPr>
            <a:xfrm>
              <a:off x="11650827" y="3953802"/>
              <a:ext cx="0" cy="658495"/>
            </a:xfrm>
            <a:custGeom>
              <a:avLst/>
              <a:gdLst/>
              <a:ahLst/>
              <a:cxnLst/>
              <a:rect l="l" t="t" r="r" b="b"/>
              <a:pathLst>
                <a:path h="658495">
                  <a:moveTo>
                    <a:pt x="0" y="0"/>
                  </a:moveTo>
                  <a:lnTo>
                    <a:pt x="0" y="658366"/>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8" name="object 58"/>
            <p:cNvSpPr/>
            <p:nvPr/>
          </p:nvSpPr>
          <p:spPr>
            <a:xfrm>
              <a:off x="11954953" y="4612168"/>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9" name="object 59"/>
            <p:cNvSpPr/>
            <p:nvPr/>
          </p:nvSpPr>
          <p:spPr>
            <a:xfrm>
              <a:off x="11650827" y="3928402"/>
              <a:ext cx="0" cy="709295"/>
            </a:xfrm>
            <a:custGeom>
              <a:avLst/>
              <a:gdLst/>
              <a:ahLst/>
              <a:cxnLst/>
              <a:rect l="l" t="t" r="r" b="b"/>
              <a:pathLst>
                <a:path h="709295">
                  <a:moveTo>
                    <a:pt x="0" y="683766"/>
                  </a:moveTo>
                  <a:lnTo>
                    <a:pt x="0" y="709166"/>
                  </a:lnTo>
                </a:path>
                <a:path h="709295">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0" name="object 60"/>
            <p:cNvSpPr/>
            <p:nvPr/>
          </p:nvSpPr>
          <p:spPr>
            <a:xfrm>
              <a:off x="11954953" y="39284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1" name="object 61"/>
            <p:cNvSpPr/>
            <p:nvPr/>
          </p:nvSpPr>
          <p:spPr>
            <a:xfrm>
              <a:off x="1282700" y="4184649"/>
              <a:ext cx="3098800" cy="0"/>
            </a:xfrm>
            <a:custGeom>
              <a:avLst/>
              <a:gdLst/>
              <a:ahLst/>
              <a:cxnLst/>
              <a:rect l="l" t="t" r="r" b="b"/>
              <a:pathLst>
                <a:path w="3098800">
                  <a:moveTo>
                    <a:pt x="30988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2" name="object 62"/>
            <p:cNvSpPr/>
            <p:nvPr/>
          </p:nvSpPr>
          <p:spPr>
            <a:xfrm>
              <a:off x="4339590" y="41008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63" name="object 63"/>
            <p:cNvPicPr/>
            <p:nvPr/>
          </p:nvPicPr>
          <p:blipFill>
            <a:blip r:embed="rId5" cstate="print"/>
            <a:stretch>
              <a:fillRect/>
            </a:stretch>
          </p:blipFill>
          <p:spPr>
            <a:xfrm>
              <a:off x="1212850" y="4114799"/>
              <a:ext cx="139700" cy="139700"/>
            </a:xfrm>
            <a:prstGeom prst="rect">
              <a:avLst/>
            </a:prstGeom>
          </p:spPr>
        </p:pic>
        <p:sp>
          <p:nvSpPr>
            <p:cNvPr id="64" name="object 64"/>
            <p:cNvSpPr/>
            <p:nvPr/>
          </p:nvSpPr>
          <p:spPr>
            <a:xfrm>
              <a:off x="2260600" y="4895850"/>
              <a:ext cx="2171700" cy="0"/>
            </a:xfrm>
            <a:custGeom>
              <a:avLst/>
              <a:gdLst/>
              <a:ahLst/>
              <a:cxnLst/>
              <a:rect l="l" t="t" r="r" b="b"/>
              <a:pathLst>
                <a:path w="2171700">
                  <a:moveTo>
                    <a:pt x="21717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5" name="object 65"/>
            <p:cNvSpPr/>
            <p:nvPr/>
          </p:nvSpPr>
          <p:spPr>
            <a:xfrm>
              <a:off x="4390390" y="4812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66" name="object 66"/>
            <p:cNvPicPr/>
            <p:nvPr/>
          </p:nvPicPr>
          <p:blipFill>
            <a:blip r:embed="rId6" cstate="print"/>
            <a:stretch>
              <a:fillRect/>
            </a:stretch>
          </p:blipFill>
          <p:spPr>
            <a:xfrm>
              <a:off x="2190749" y="4825999"/>
              <a:ext cx="139700" cy="139700"/>
            </a:xfrm>
            <a:prstGeom prst="rect">
              <a:avLst/>
            </a:prstGeom>
          </p:spPr>
        </p:pic>
        <p:sp>
          <p:nvSpPr>
            <p:cNvPr id="67" name="object 67"/>
            <p:cNvSpPr/>
            <p:nvPr/>
          </p:nvSpPr>
          <p:spPr>
            <a:xfrm>
              <a:off x="7226300" y="4184649"/>
              <a:ext cx="2247900" cy="0"/>
            </a:xfrm>
            <a:custGeom>
              <a:avLst/>
              <a:gdLst/>
              <a:ahLst/>
              <a:cxnLst/>
              <a:rect l="l" t="t" r="r" b="b"/>
              <a:pathLst>
                <a:path w="2247900">
                  <a:moveTo>
                    <a:pt x="22479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8" name="object 68"/>
            <p:cNvSpPr/>
            <p:nvPr/>
          </p:nvSpPr>
          <p:spPr>
            <a:xfrm>
              <a:off x="9432290" y="41008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69" name="object 69"/>
            <p:cNvPicPr/>
            <p:nvPr/>
          </p:nvPicPr>
          <p:blipFill>
            <a:blip r:embed="rId5" cstate="print"/>
            <a:stretch>
              <a:fillRect/>
            </a:stretch>
          </p:blipFill>
          <p:spPr>
            <a:xfrm>
              <a:off x="7156449" y="4114799"/>
              <a:ext cx="139699" cy="139700"/>
            </a:xfrm>
            <a:prstGeom prst="rect">
              <a:avLst/>
            </a:prstGeom>
          </p:spPr>
        </p:pic>
        <p:sp>
          <p:nvSpPr>
            <p:cNvPr id="70" name="object 70"/>
            <p:cNvSpPr/>
            <p:nvPr/>
          </p:nvSpPr>
          <p:spPr>
            <a:xfrm>
              <a:off x="11655914" y="3270035"/>
              <a:ext cx="471170" cy="658495"/>
            </a:xfrm>
            <a:custGeom>
              <a:avLst/>
              <a:gdLst/>
              <a:ahLst/>
              <a:cxnLst/>
              <a:rect l="l" t="t" r="r" b="b"/>
              <a:pathLst>
                <a:path w="471170" h="658495">
                  <a:moveTo>
                    <a:pt x="471051" y="0"/>
                  </a:moveTo>
                  <a:lnTo>
                    <a:pt x="471051" y="658366"/>
                  </a:lnTo>
                </a:path>
                <a:path w="471170" h="658495">
                  <a:moveTo>
                    <a:pt x="314028" y="0"/>
                  </a:moveTo>
                  <a:lnTo>
                    <a:pt x="314028" y="658366"/>
                  </a:lnTo>
                </a:path>
                <a:path w="471170" h="658495">
                  <a:moveTo>
                    <a:pt x="0" y="0"/>
                  </a:moveTo>
                  <a:lnTo>
                    <a:pt x="0" y="658366"/>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1" name="object 71"/>
            <p:cNvSpPr/>
            <p:nvPr/>
          </p:nvSpPr>
          <p:spPr>
            <a:xfrm>
              <a:off x="11650827" y="3928401"/>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2" name="object 72"/>
            <p:cNvSpPr/>
            <p:nvPr/>
          </p:nvSpPr>
          <p:spPr>
            <a:xfrm>
              <a:off x="11954953" y="3928401"/>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3" name="object 73"/>
            <p:cNvSpPr/>
            <p:nvPr/>
          </p:nvSpPr>
          <p:spPr>
            <a:xfrm>
              <a:off x="11643214" y="3257335"/>
              <a:ext cx="496570" cy="0"/>
            </a:xfrm>
            <a:custGeom>
              <a:avLst/>
              <a:gdLst/>
              <a:ahLst/>
              <a:cxnLst/>
              <a:rect l="l" t="t" r="r" b="b"/>
              <a:pathLst>
                <a:path w="496570">
                  <a:moveTo>
                    <a:pt x="0" y="0"/>
                  </a:moveTo>
                  <a:lnTo>
                    <a:pt x="496451" y="0"/>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4" name="object 74"/>
            <p:cNvSpPr/>
            <p:nvPr/>
          </p:nvSpPr>
          <p:spPr>
            <a:xfrm>
              <a:off x="1188795" y="3176558"/>
              <a:ext cx="157480" cy="658495"/>
            </a:xfrm>
            <a:custGeom>
              <a:avLst/>
              <a:gdLst/>
              <a:ahLst/>
              <a:cxnLst/>
              <a:rect l="l" t="t" r="r" b="b"/>
              <a:pathLst>
                <a:path w="157480" h="658495">
                  <a:moveTo>
                    <a:pt x="157023" y="504905"/>
                  </a:moveTo>
                  <a:lnTo>
                    <a:pt x="157023" y="658365"/>
                  </a:lnTo>
                </a:path>
                <a:path w="157480" h="658495">
                  <a:moveTo>
                    <a:pt x="157023" y="0"/>
                  </a:moveTo>
                  <a:lnTo>
                    <a:pt x="157023" y="416740"/>
                  </a:lnTo>
                </a:path>
                <a:path w="157480" h="658495">
                  <a:moveTo>
                    <a:pt x="0" y="504905"/>
                  </a:moveTo>
                  <a:lnTo>
                    <a:pt x="0" y="658365"/>
                  </a:lnTo>
                </a:path>
                <a:path w="157480" h="658495">
                  <a:moveTo>
                    <a:pt x="0" y="0"/>
                  </a:moveTo>
                  <a:lnTo>
                    <a:pt x="0" y="416740"/>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5" name="object 75"/>
            <p:cNvSpPr/>
            <p:nvPr/>
          </p:nvSpPr>
          <p:spPr>
            <a:xfrm>
              <a:off x="874767" y="3176558"/>
              <a:ext cx="0" cy="658495"/>
            </a:xfrm>
            <a:custGeom>
              <a:avLst/>
              <a:gdLst/>
              <a:ahLst/>
              <a:cxnLst/>
              <a:rect l="l" t="t" r="r" b="b"/>
              <a:pathLst>
                <a:path h="658495">
                  <a:moveTo>
                    <a:pt x="0" y="0"/>
                  </a:moveTo>
                  <a:lnTo>
                    <a:pt x="0" y="658365"/>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6" name="object 76"/>
            <p:cNvSpPr/>
            <p:nvPr/>
          </p:nvSpPr>
          <p:spPr>
            <a:xfrm>
              <a:off x="1161623" y="3834924"/>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7" name="object 77"/>
            <p:cNvSpPr/>
            <p:nvPr/>
          </p:nvSpPr>
          <p:spPr>
            <a:xfrm>
              <a:off x="874571" y="3834924"/>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8" name="object 78"/>
            <p:cNvSpPr/>
            <p:nvPr/>
          </p:nvSpPr>
          <p:spPr>
            <a:xfrm>
              <a:off x="862067" y="3163858"/>
              <a:ext cx="496570" cy="0"/>
            </a:xfrm>
            <a:custGeom>
              <a:avLst/>
              <a:gdLst/>
              <a:ahLst/>
              <a:cxnLst/>
              <a:rect l="l" t="t" r="r" b="b"/>
              <a:pathLst>
                <a:path w="496569">
                  <a:moveTo>
                    <a:pt x="0" y="0"/>
                  </a:moveTo>
                  <a:lnTo>
                    <a:pt x="496451" y="0"/>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9" name="object 79"/>
            <p:cNvSpPr/>
            <p:nvPr/>
          </p:nvSpPr>
          <p:spPr>
            <a:xfrm>
              <a:off x="5124869" y="387872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0" name="object 80"/>
            <p:cNvSpPr/>
            <p:nvPr/>
          </p:nvSpPr>
          <p:spPr>
            <a:xfrm>
              <a:off x="4605591" y="3878720"/>
              <a:ext cx="0" cy="654685"/>
            </a:xfrm>
            <a:custGeom>
              <a:avLst/>
              <a:gdLst/>
              <a:ahLst/>
              <a:cxnLst/>
              <a:rect l="l" t="t" r="r" b="b"/>
              <a:pathLst>
                <a:path h="654685">
                  <a:moveTo>
                    <a:pt x="0" y="0"/>
                  </a:moveTo>
                  <a:lnTo>
                    <a:pt x="0" y="654463"/>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1" name="object 81"/>
            <p:cNvSpPr/>
            <p:nvPr/>
          </p:nvSpPr>
          <p:spPr>
            <a:xfrm>
              <a:off x="5107931" y="4533184"/>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2" name="object 82"/>
            <p:cNvSpPr/>
            <p:nvPr/>
          </p:nvSpPr>
          <p:spPr>
            <a:xfrm>
              <a:off x="4605591" y="4533184"/>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3" name="object 83"/>
            <p:cNvSpPr/>
            <p:nvPr/>
          </p:nvSpPr>
          <p:spPr>
            <a:xfrm>
              <a:off x="5107931" y="3853320"/>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4" name="object 84"/>
            <p:cNvSpPr/>
            <p:nvPr/>
          </p:nvSpPr>
          <p:spPr>
            <a:xfrm>
              <a:off x="4605591" y="3853320"/>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5" name="object 85"/>
            <p:cNvSpPr/>
            <p:nvPr/>
          </p:nvSpPr>
          <p:spPr>
            <a:xfrm>
              <a:off x="1282700" y="3498849"/>
              <a:ext cx="3136900" cy="0"/>
            </a:xfrm>
            <a:custGeom>
              <a:avLst/>
              <a:gdLst/>
              <a:ahLst/>
              <a:cxnLst/>
              <a:rect l="l" t="t" r="r" b="b"/>
              <a:pathLst>
                <a:path w="3136900">
                  <a:moveTo>
                    <a:pt x="31369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6" name="object 86"/>
            <p:cNvSpPr/>
            <p:nvPr/>
          </p:nvSpPr>
          <p:spPr>
            <a:xfrm>
              <a:off x="4377690" y="3415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87" name="object 87"/>
            <p:cNvPicPr/>
            <p:nvPr/>
          </p:nvPicPr>
          <p:blipFill>
            <a:blip r:embed="rId5" cstate="print"/>
            <a:stretch>
              <a:fillRect/>
            </a:stretch>
          </p:blipFill>
          <p:spPr>
            <a:xfrm>
              <a:off x="1212850" y="3428999"/>
              <a:ext cx="139700" cy="139700"/>
            </a:xfrm>
            <a:prstGeom prst="rect">
              <a:avLst/>
            </a:prstGeom>
          </p:spPr>
        </p:pic>
        <p:sp>
          <p:nvSpPr>
            <p:cNvPr id="88" name="object 88"/>
            <p:cNvSpPr/>
            <p:nvPr/>
          </p:nvSpPr>
          <p:spPr>
            <a:xfrm>
              <a:off x="5232400" y="3498849"/>
              <a:ext cx="6235700" cy="0"/>
            </a:xfrm>
            <a:custGeom>
              <a:avLst/>
              <a:gdLst/>
              <a:ahLst/>
              <a:cxnLst/>
              <a:rect l="l" t="t" r="r" b="b"/>
              <a:pathLst>
                <a:path w="6235700">
                  <a:moveTo>
                    <a:pt x="62357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9" name="object 89"/>
            <p:cNvSpPr/>
            <p:nvPr/>
          </p:nvSpPr>
          <p:spPr>
            <a:xfrm>
              <a:off x="11426190" y="34150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90" name="object 90"/>
            <p:cNvPicPr/>
            <p:nvPr/>
          </p:nvPicPr>
          <p:blipFill>
            <a:blip r:embed="rId5" cstate="print"/>
            <a:stretch>
              <a:fillRect/>
            </a:stretch>
          </p:blipFill>
          <p:spPr>
            <a:xfrm>
              <a:off x="5162549" y="3428999"/>
              <a:ext cx="139700" cy="139700"/>
            </a:xfrm>
            <a:prstGeom prst="rect">
              <a:avLst/>
            </a:prstGeom>
          </p:spPr>
        </p:pic>
        <p:sp>
          <p:nvSpPr>
            <p:cNvPr id="91" name="object 91"/>
            <p:cNvSpPr/>
            <p:nvPr/>
          </p:nvSpPr>
          <p:spPr>
            <a:xfrm>
              <a:off x="7116255" y="4545177"/>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2" name="object 92"/>
            <p:cNvSpPr/>
            <p:nvPr/>
          </p:nvSpPr>
          <p:spPr>
            <a:xfrm>
              <a:off x="6594798" y="4545177"/>
              <a:ext cx="0" cy="680085"/>
            </a:xfrm>
            <a:custGeom>
              <a:avLst/>
              <a:gdLst/>
              <a:ahLst/>
              <a:cxnLst/>
              <a:rect l="l" t="t" r="r" b="b"/>
              <a:pathLst>
                <a:path h="680085">
                  <a:moveTo>
                    <a:pt x="0" y="0"/>
                  </a:moveTo>
                  <a:lnTo>
                    <a:pt x="0" y="654463"/>
                  </a:lnTo>
                </a:path>
                <a:path h="680085">
                  <a:moveTo>
                    <a:pt x="0" y="654463"/>
                  </a:moveTo>
                  <a:lnTo>
                    <a:pt x="0" y="679863"/>
                  </a:lnTo>
                </a:path>
              </a:pathLst>
            </a:custGeom>
            <a:ln w="18822">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3" name="object 93"/>
            <p:cNvSpPr/>
            <p:nvPr/>
          </p:nvSpPr>
          <p:spPr>
            <a:xfrm>
              <a:off x="7094959" y="5199641"/>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4" name="object 94"/>
            <p:cNvSpPr/>
            <p:nvPr/>
          </p:nvSpPr>
          <p:spPr>
            <a:xfrm>
              <a:off x="6594798" y="4519777"/>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5" name="object 95"/>
            <p:cNvSpPr/>
            <p:nvPr/>
          </p:nvSpPr>
          <p:spPr>
            <a:xfrm>
              <a:off x="7094959" y="4519777"/>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96" name="object 96"/>
          <p:cNvSpPr txBox="1"/>
          <p:nvPr/>
        </p:nvSpPr>
        <p:spPr>
          <a:xfrm>
            <a:off x="5375827" y="3337239"/>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86</a:t>
            </a:r>
            <a:endParaRPr sz="2109" kern="0">
              <a:solidFill>
                <a:sysClr val="windowText" lastClr="000000"/>
              </a:solidFill>
              <a:latin typeface="Arial MT"/>
              <a:cs typeface="Arial MT"/>
            </a:endParaRPr>
          </a:p>
        </p:txBody>
      </p:sp>
      <p:sp>
        <p:nvSpPr>
          <p:cNvPr id="97" name="object 97"/>
          <p:cNvSpPr txBox="1"/>
          <p:nvPr/>
        </p:nvSpPr>
        <p:spPr>
          <a:xfrm>
            <a:off x="4690449" y="2424759"/>
            <a:ext cx="267891" cy="1277529"/>
          </a:xfrm>
          <a:prstGeom prst="rect">
            <a:avLst/>
          </a:prstGeom>
        </p:spPr>
        <p:txBody>
          <a:bodyPr vert="horz" wrap="square" lIns="0" tIns="0" rIns="0" bIns="0" rtlCol="0">
            <a:spAutoFit/>
          </a:bodyPr>
          <a:lstStyle/>
          <a:p>
            <a:pPr marL="63845" defTabSz="642915" fontAlgn="auto">
              <a:lnSpc>
                <a:spcPts val="2358"/>
              </a:lnSpc>
              <a:spcBef>
                <a:spcPts val="0"/>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a:p>
            <a:pPr marL="63845" defTabSz="642915" fontAlgn="auto">
              <a:spcBef>
                <a:spcPts val="1252"/>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a:p>
            <a:pPr defTabSz="642915" fontAlgn="auto">
              <a:spcBef>
                <a:spcPts val="1171"/>
              </a:spcBef>
              <a:spcAft>
                <a:spcPts val="0"/>
              </a:spcAft>
            </a:pPr>
            <a:r>
              <a:rPr sz="2109" kern="0" spc="-137" dirty="0">
                <a:solidFill>
                  <a:sysClr val="windowText" lastClr="000000"/>
                </a:solidFill>
                <a:latin typeface="Arial MT"/>
                <a:cs typeface="Arial MT"/>
              </a:rPr>
              <a:t>71</a:t>
            </a:r>
            <a:endParaRPr sz="2109" kern="0">
              <a:solidFill>
                <a:sysClr val="windowText" lastClr="000000"/>
              </a:solidFill>
              <a:latin typeface="Arial MT"/>
              <a:cs typeface="Arial MT"/>
            </a:endParaRPr>
          </a:p>
        </p:txBody>
      </p:sp>
      <p:sp>
        <p:nvSpPr>
          <p:cNvPr id="98" name="object 98"/>
          <p:cNvSpPr txBox="1"/>
          <p:nvPr/>
        </p:nvSpPr>
        <p:spPr>
          <a:xfrm>
            <a:off x="3286388" y="1938236"/>
            <a:ext cx="271016" cy="1768818"/>
          </a:xfrm>
          <a:prstGeom prst="rect">
            <a:avLst/>
          </a:prstGeom>
        </p:spPr>
        <p:txBody>
          <a:bodyPr vert="horz" wrap="square" lIns="0" tIns="0" rIns="0" bIns="0" rtlCol="0">
            <a:spAutoFit/>
          </a:bodyPr>
          <a:lstStyle/>
          <a:p>
            <a:pPr marL="2679" defTabSz="642915" fontAlgn="auto">
              <a:lnSpc>
                <a:spcPts val="2358"/>
              </a:lnSpc>
              <a:spcBef>
                <a:spcPts val="0"/>
              </a:spcBef>
              <a:spcAft>
                <a:spcPts val="0"/>
              </a:spcAft>
            </a:pPr>
            <a:r>
              <a:rPr sz="2109" kern="0" spc="-130" dirty="0">
                <a:solidFill>
                  <a:sysClr val="windowText" lastClr="000000"/>
                </a:solidFill>
                <a:latin typeface="Arial MT"/>
                <a:cs typeface="Arial MT"/>
              </a:rPr>
              <a:t>31</a:t>
            </a:r>
            <a:endParaRPr sz="2109" kern="0">
              <a:solidFill>
                <a:sysClr val="windowText" lastClr="000000"/>
              </a:solidFill>
              <a:latin typeface="Arial MT"/>
              <a:cs typeface="Arial MT"/>
            </a:endParaRPr>
          </a:p>
          <a:p>
            <a:pPr marL="1786" defTabSz="642915" fontAlgn="auto">
              <a:spcBef>
                <a:spcPts val="1396"/>
              </a:spcBef>
              <a:spcAft>
                <a:spcPts val="0"/>
              </a:spcAft>
            </a:pPr>
            <a:r>
              <a:rPr sz="2109" kern="0" spc="-127" dirty="0">
                <a:solidFill>
                  <a:sysClr val="windowText" lastClr="000000"/>
                </a:solidFill>
                <a:latin typeface="Arial MT"/>
                <a:cs typeface="Arial MT"/>
              </a:rPr>
              <a:t>31</a:t>
            </a:r>
            <a:endParaRPr sz="2109" kern="0">
              <a:solidFill>
                <a:sysClr val="windowText" lastClr="000000"/>
              </a:solidFill>
              <a:latin typeface="Arial MT"/>
              <a:cs typeface="Arial MT"/>
            </a:endParaRPr>
          </a:p>
          <a:p>
            <a:pPr marL="1786" defTabSz="642915" fontAlgn="auto">
              <a:spcBef>
                <a:spcPts val="1188"/>
              </a:spcBef>
              <a:spcAft>
                <a:spcPts val="0"/>
              </a:spcAft>
            </a:pPr>
            <a:r>
              <a:rPr sz="2109" kern="0" spc="-127" dirty="0">
                <a:solidFill>
                  <a:sysClr val="windowText" lastClr="000000"/>
                </a:solidFill>
                <a:latin typeface="Arial MT"/>
                <a:cs typeface="Arial MT"/>
              </a:rPr>
              <a:t>31</a:t>
            </a:r>
            <a:endParaRPr sz="2109" kern="0">
              <a:solidFill>
                <a:sysClr val="windowText" lastClr="000000"/>
              </a:solidFill>
              <a:latin typeface="Arial MT"/>
              <a:cs typeface="Arial MT"/>
            </a:endParaRPr>
          </a:p>
          <a:p>
            <a:pPr defTabSz="642915" fontAlgn="auto">
              <a:spcBef>
                <a:spcPts val="1248"/>
              </a:spcBef>
              <a:spcAft>
                <a:spcPts val="0"/>
              </a:spcAft>
            </a:pPr>
            <a:r>
              <a:rPr sz="2109" kern="0" spc="-120" dirty="0">
                <a:solidFill>
                  <a:sysClr val="windowText" lastClr="000000"/>
                </a:solidFill>
                <a:latin typeface="Arial MT"/>
                <a:cs typeface="Arial MT"/>
              </a:rPr>
              <a:t>16</a:t>
            </a:r>
            <a:endParaRPr sz="2109" kern="0">
              <a:solidFill>
                <a:sysClr val="windowText" lastClr="000000"/>
              </a:solidFill>
              <a:latin typeface="Arial MT"/>
              <a:cs typeface="Arial MT"/>
            </a:endParaRPr>
          </a:p>
        </p:txBody>
      </p:sp>
      <p:grpSp>
        <p:nvGrpSpPr>
          <p:cNvPr id="99" name="object 99"/>
          <p:cNvGrpSpPr/>
          <p:nvPr/>
        </p:nvGrpSpPr>
        <p:grpSpPr>
          <a:xfrm>
            <a:off x="3222170" y="1844824"/>
            <a:ext cx="543371" cy="504081"/>
            <a:chOff x="4582641" y="3144066"/>
            <a:chExt cx="772795" cy="716915"/>
          </a:xfrm>
        </p:grpSpPr>
        <p:sp>
          <p:nvSpPr>
            <p:cNvPr id="100" name="object 100"/>
            <p:cNvSpPr/>
            <p:nvPr/>
          </p:nvSpPr>
          <p:spPr>
            <a:xfrm>
              <a:off x="5126209" y="3169466"/>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1" name="object 101"/>
            <p:cNvSpPr/>
            <p:nvPr/>
          </p:nvSpPr>
          <p:spPr>
            <a:xfrm>
              <a:off x="4608041" y="3169466"/>
              <a:ext cx="0" cy="654685"/>
            </a:xfrm>
            <a:custGeom>
              <a:avLst/>
              <a:gdLst/>
              <a:ahLst/>
              <a:cxnLst/>
              <a:rect l="l" t="t" r="r" b="b"/>
              <a:pathLst>
                <a:path h="654685">
                  <a:moveTo>
                    <a:pt x="0" y="511996"/>
                  </a:moveTo>
                  <a:lnTo>
                    <a:pt x="0" y="654463"/>
                  </a:lnTo>
                </a:path>
                <a:path h="654685">
                  <a:moveTo>
                    <a:pt x="0" y="0"/>
                  </a:moveTo>
                  <a:lnTo>
                    <a:pt x="0" y="423832"/>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2" name="object 102"/>
            <p:cNvSpPr/>
            <p:nvPr/>
          </p:nvSpPr>
          <p:spPr>
            <a:xfrm>
              <a:off x="5107931" y="3823930"/>
              <a:ext cx="234950" cy="25400"/>
            </a:xfrm>
            <a:custGeom>
              <a:avLst/>
              <a:gdLst/>
              <a:ahLst/>
              <a:cxnLst/>
              <a:rect l="l" t="t" r="r" b="b"/>
              <a:pathLst>
                <a:path w="234950" h="25400">
                  <a:moveTo>
                    <a:pt x="0" y="25400"/>
                  </a:moveTo>
                  <a:lnTo>
                    <a:pt x="234760" y="25400"/>
                  </a:lnTo>
                  <a:lnTo>
                    <a:pt x="234760"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3" name="object 103"/>
            <p:cNvSpPr/>
            <p:nvPr/>
          </p:nvSpPr>
          <p:spPr>
            <a:xfrm>
              <a:off x="4606261" y="3823930"/>
              <a:ext cx="0" cy="25400"/>
            </a:xfrm>
            <a:custGeom>
              <a:avLst/>
              <a:gdLst/>
              <a:ahLst/>
              <a:cxnLst/>
              <a:rect l="l" t="t" r="r" b="b"/>
              <a:pathLst>
                <a:path h="25400">
                  <a:moveTo>
                    <a:pt x="0" y="0"/>
                  </a:moveTo>
                  <a:lnTo>
                    <a:pt x="0" y="25400"/>
                  </a:lnTo>
                </a:path>
              </a:pathLst>
            </a:custGeom>
            <a:ln w="2184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4" name="object 104"/>
            <p:cNvSpPr/>
            <p:nvPr/>
          </p:nvSpPr>
          <p:spPr>
            <a:xfrm>
              <a:off x="4595341" y="3156766"/>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grpSp>
        <p:nvGrpSpPr>
          <p:cNvPr id="105" name="object 105"/>
          <p:cNvGrpSpPr/>
          <p:nvPr/>
        </p:nvGrpSpPr>
        <p:grpSpPr>
          <a:xfrm>
            <a:off x="606003" y="1988161"/>
            <a:ext cx="7930009" cy="1766739"/>
            <a:chOff x="861871" y="3347923"/>
            <a:chExt cx="11278235" cy="2512695"/>
          </a:xfrm>
        </p:grpSpPr>
        <p:sp>
          <p:nvSpPr>
            <p:cNvPr id="106" name="object 106"/>
            <p:cNvSpPr/>
            <p:nvPr/>
          </p:nvSpPr>
          <p:spPr>
            <a:xfrm>
              <a:off x="8630810" y="454213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7" name="object 107"/>
            <p:cNvSpPr/>
            <p:nvPr/>
          </p:nvSpPr>
          <p:spPr>
            <a:xfrm>
              <a:off x="8618106" y="5196611"/>
              <a:ext cx="747395" cy="25400"/>
            </a:xfrm>
            <a:custGeom>
              <a:avLst/>
              <a:gdLst/>
              <a:ahLst/>
              <a:cxnLst/>
              <a:rect l="l" t="t" r="r" b="b"/>
              <a:pathLst>
                <a:path w="747395" h="25400">
                  <a:moveTo>
                    <a:pt x="18846" y="0"/>
                  </a:moveTo>
                  <a:lnTo>
                    <a:pt x="0" y="0"/>
                  </a:lnTo>
                  <a:lnTo>
                    <a:pt x="0" y="25400"/>
                  </a:lnTo>
                  <a:lnTo>
                    <a:pt x="18846" y="25400"/>
                  </a:lnTo>
                  <a:lnTo>
                    <a:pt x="18846" y="0"/>
                  </a:lnTo>
                  <a:close/>
                </a:path>
                <a:path w="747395" h="25400">
                  <a:moveTo>
                    <a:pt x="747344" y="0"/>
                  </a:moveTo>
                  <a:lnTo>
                    <a:pt x="513029" y="0"/>
                  </a:lnTo>
                  <a:lnTo>
                    <a:pt x="513029" y="25400"/>
                  </a:lnTo>
                  <a:lnTo>
                    <a:pt x="747344" y="25400"/>
                  </a:lnTo>
                  <a:lnTo>
                    <a:pt x="747344"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8" name="object 108"/>
            <p:cNvSpPr/>
            <p:nvPr/>
          </p:nvSpPr>
          <p:spPr>
            <a:xfrm>
              <a:off x="8618110" y="452943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9" name="object 109"/>
            <p:cNvSpPr/>
            <p:nvPr/>
          </p:nvSpPr>
          <p:spPr>
            <a:xfrm>
              <a:off x="1188795" y="4566883"/>
              <a:ext cx="157480" cy="658495"/>
            </a:xfrm>
            <a:custGeom>
              <a:avLst/>
              <a:gdLst/>
              <a:ahLst/>
              <a:cxnLst/>
              <a:rect l="l" t="t" r="r" b="b"/>
              <a:pathLst>
                <a:path w="157480" h="658495">
                  <a:moveTo>
                    <a:pt x="157023" y="0"/>
                  </a:moveTo>
                  <a:lnTo>
                    <a:pt x="157023" y="658365"/>
                  </a:lnTo>
                </a:path>
                <a:path w="157480" h="658495">
                  <a:moveTo>
                    <a:pt x="0" y="0"/>
                  </a:moveTo>
                  <a:lnTo>
                    <a:pt x="0" y="658365"/>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0" name="object 110"/>
            <p:cNvSpPr/>
            <p:nvPr/>
          </p:nvSpPr>
          <p:spPr>
            <a:xfrm>
              <a:off x="874571" y="4566883"/>
              <a:ext cx="0" cy="658495"/>
            </a:xfrm>
            <a:custGeom>
              <a:avLst/>
              <a:gdLst/>
              <a:ahLst/>
              <a:cxnLst/>
              <a:rect l="l" t="t" r="r" b="b"/>
              <a:pathLst>
                <a:path h="658495">
                  <a:moveTo>
                    <a:pt x="0" y="0"/>
                  </a:moveTo>
                  <a:lnTo>
                    <a:pt x="0" y="658365"/>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1" name="object 111"/>
            <p:cNvSpPr/>
            <p:nvPr/>
          </p:nvSpPr>
          <p:spPr>
            <a:xfrm>
              <a:off x="1161623" y="5225249"/>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2" name="object 112"/>
            <p:cNvSpPr/>
            <p:nvPr/>
          </p:nvSpPr>
          <p:spPr>
            <a:xfrm>
              <a:off x="874571" y="5225249"/>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3" name="object 113"/>
            <p:cNvSpPr/>
            <p:nvPr/>
          </p:nvSpPr>
          <p:spPr>
            <a:xfrm>
              <a:off x="1161623" y="4541483"/>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4" name="object 114"/>
            <p:cNvSpPr/>
            <p:nvPr/>
          </p:nvSpPr>
          <p:spPr>
            <a:xfrm>
              <a:off x="874571" y="4541483"/>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5" name="object 115"/>
            <p:cNvSpPr/>
            <p:nvPr/>
          </p:nvSpPr>
          <p:spPr>
            <a:xfrm>
              <a:off x="11969941" y="4614776"/>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6" name="object 116"/>
            <p:cNvSpPr/>
            <p:nvPr/>
          </p:nvSpPr>
          <p:spPr>
            <a:xfrm>
              <a:off x="11650827" y="4614776"/>
              <a:ext cx="0" cy="658495"/>
            </a:xfrm>
            <a:custGeom>
              <a:avLst/>
              <a:gdLst/>
              <a:ahLst/>
              <a:cxnLst/>
              <a:rect l="l" t="t" r="r" b="b"/>
              <a:pathLst>
                <a:path h="658495">
                  <a:moveTo>
                    <a:pt x="0" y="0"/>
                  </a:moveTo>
                  <a:lnTo>
                    <a:pt x="0" y="658365"/>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7" name="object 117"/>
            <p:cNvSpPr/>
            <p:nvPr/>
          </p:nvSpPr>
          <p:spPr>
            <a:xfrm>
              <a:off x="11954953" y="527314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8" name="object 118"/>
            <p:cNvSpPr/>
            <p:nvPr/>
          </p:nvSpPr>
          <p:spPr>
            <a:xfrm>
              <a:off x="11650827" y="4589376"/>
              <a:ext cx="0" cy="709295"/>
            </a:xfrm>
            <a:custGeom>
              <a:avLst/>
              <a:gdLst/>
              <a:ahLst/>
              <a:cxnLst/>
              <a:rect l="l" t="t" r="r" b="b"/>
              <a:pathLst>
                <a:path h="709295">
                  <a:moveTo>
                    <a:pt x="0" y="683765"/>
                  </a:moveTo>
                  <a:lnTo>
                    <a:pt x="0" y="709165"/>
                  </a:lnTo>
                </a:path>
                <a:path h="709295">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9" name="object 119"/>
            <p:cNvSpPr/>
            <p:nvPr/>
          </p:nvSpPr>
          <p:spPr>
            <a:xfrm>
              <a:off x="11954953" y="4589376"/>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0" name="object 120"/>
            <p:cNvPicPr/>
            <p:nvPr/>
          </p:nvPicPr>
          <p:blipFill>
            <a:blip r:embed="rId3" cstate="print"/>
            <a:stretch>
              <a:fillRect/>
            </a:stretch>
          </p:blipFill>
          <p:spPr>
            <a:xfrm>
              <a:off x="1212850" y="4799329"/>
              <a:ext cx="386080" cy="167640"/>
            </a:xfrm>
            <a:prstGeom prst="rect">
              <a:avLst/>
            </a:prstGeom>
          </p:spPr>
        </p:pic>
        <p:sp>
          <p:nvSpPr>
            <p:cNvPr id="121" name="object 121"/>
            <p:cNvSpPr/>
            <p:nvPr/>
          </p:nvSpPr>
          <p:spPr>
            <a:xfrm>
              <a:off x="5207000" y="41846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22" name="object 122"/>
            <p:cNvSpPr/>
            <p:nvPr/>
          </p:nvSpPr>
          <p:spPr>
            <a:xfrm>
              <a:off x="6384289" y="4100829"/>
              <a:ext cx="167640" cy="167640"/>
            </a:xfrm>
            <a:custGeom>
              <a:avLst/>
              <a:gdLst/>
              <a:ahLst/>
              <a:cxnLst/>
              <a:rect l="l" t="t" r="r" b="b"/>
              <a:pathLst>
                <a:path w="167640"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3" name="object 123"/>
            <p:cNvPicPr/>
            <p:nvPr/>
          </p:nvPicPr>
          <p:blipFill>
            <a:blip r:embed="rId5" cstate="print"/>
            <a:stretch>
              <a:fillRect/>
            </a:stretch>
          </p:blipFill>
          <p:spPr>
            <a:xfrm>
              <a:off x="5137149" y="4114799"/>
              <a:ext cx="139700" cy="139700"/>
            </a:xfrm>
            <a:prstGeom prst="rect">
              <a:avLst/>
            </a:prstGeom>
          </p:spPr>
        </p:pic>
        <p:sp>
          <p:nvSpPr>
            <p:cNvPr id="124" name="object 124"/>
            <p:cNvSpPr/>
            <p:nvPr/>
          </p:nvSpPr>
          <p:spPr>
            <a:xfrm>
              <a:off x="5207000" y="48577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25" name="object 125"/>
            <p:cNvSpPr/>
            <p:nvPr/>
          </p:nvSpPr>
          <p:spPr>
            <a:xfrm>
              <a:off x="6384289" y="4773929"/>
              <a:ext cx="167640" cy="167640"/>
            </a:xfrm>
            <a:custGeom>
              <a:avLst/>
              <a:gdLst/>
              <a:ahLst/>
              <a:cxnLst/>
              <a:rect l="l" t="t" r="r" b="b"/>
              <a:pathLst>
                <a:path w="167640"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6" name="object 126"/>
            <p:cNvPicPr/>
            <p:nvPr/>
          </p:nvPicPr>
          <p:blipFill>
            <a:blip r:embed="rId6" cstate="print"/>
            <a:stretch>
              <a:fillRect/>
            </a:stretch>
          </p:blipFill>
          <p:spPr>
            <a:xfrm>
              <a:off x="5137149" y="4787899"/>
              <a:ext cx="139700" cy="139700"/>
            </a:xfrm>
            <a:prstGeom prst="rect">
              <a:avLst/>
            </a:prstGeom>
          </p:spPr>
        </p:pic>
        <p:sp>
          <p:nvSpPr>
            <p:cNvPr id="127" name="object 127"/>
            <p:cNvSpPr/>
            <p:nvPr/>
          </p:nvSpPr>
          <p:spPr>
            <a:xfrm>
              <a:off x="7200900" y="48450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28" name="object 128"/>
            <p:cNvSpPr/>
            <p:nvPr/>
          </p:nvSpPr>
          <p:spPr>
            <a:xfrm>
              <a:off x="8378189" y="47612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9" name="object 129"/>
            <p:cNvPicPr/>
            <p:nvPr/>
          </p:nvPicPr>
          <p:blipFill>
            <a:blip r:embed="rId7" cstate="print"/>
            <a:stretch>
              <a:fillRect/>
            </a:stretch>
          </p:blipFill>
          <p:spPr>
            <a:xfrm>
              <a:off x="7131049" y="4775199"/>
              <a:ext cx="139699" cy="139700"/>
            </a:xfrm>
            <a:prstGeom prst="rect">
              <a:avLst/>
            </a:prstGeom>
          </p:spPr>
        </p:pic>
        <p:sp>
          <p:nvSpPr>
            <p:cNvPr id="130" name="object 130"/>
            <p:cNvSpPr/>
            <p:nvPr/>
          </p:nvSpPr>
          <p:spPr>
            <a:xfrm>
              <a:off x="9232899" y="4845050"/>
              <a:ext cx="279400" cy="0"/>
            </a:xfrm>
            <a:custGeom>
              <a:avLst/>
              <a:gdLst/>
              <a:ahLst/>
              <a:cxnLst/>
              <a:rect l="l" t="t" r="r" b="b"/>
              <a:pathLst>
                <a:path w="279400">
                  <a:moveTo>
                    <a:pt x="2794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31" name="object 131"/>
            <p:cNvSpPr/>
            <p:nvPr/>
          </p:nvSpPr>
          <p:spPr>
            <a:xfrm>
              <a:off x="9470389" y="47612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32" name="object 132"/>
            <p:cNvPicPr/>
            <p:nvPr/>
          </p:nvPicPr>
          <p:blipFill>
            <a:blip r:embed="rId5" cstate="print"/>
            <a:stretch>
              <a:fillRect/>
            </a:stretch>
          </p:blipFill>
          <p:spPr>
            <a:xfrm>
              <a:off x="9163049" y="4775199"/>
              <a:ext cx="139699" cy="139700"/>
            </a:xfrm>
            <a:prstGeom prst="rect">
              <a:avLst/>
            </a:prstGeom>
          </p:spPr>
        </p:pic>
        <p:sp>
          <p:nvSpPr>
            <p:cNvPr id="133" name="object 133"/>
            <p:cNvSpPr/>
            <p:nvPr/>
          </p:nvSpPr>
          <p:spPr>
            <a:xfrm>
              <a:off x="4617181" y="3347923"/>
              <a:ext cx="490855" cy="2512695"/>
            </a:xfrm>
            <a:custGeom>
              <a:avLst/>
              <a:gdLst/>
              <a:ahLst/>
              <a:cxnLst/>
              <a:rect l="l" t="t" r="r" b="b"/>
              <a:pathLst>
                <a:path w="490854" h="2512695">
                  <a:moveTo>
                    <a:pt x="490750" y="0"/>
                  </a:moveTo>
                  <a:lnTo>
                    <a:pt x="0" y="0"/>
                  </a:lnTo>
                  <a:lnTo>
                    <a:pt x="0" y="2512192"/>
                  </a:lnTo>
                  <a:lnTo>
                    <a:pt x="490750" y="2512192"/>
                  </a:lnTo>
                  <a:lnTo>
                    <a:pt x="490750"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34" name="object 134"/>
          <p:cNvSpPr txBox="1"/>
          <p:nvPr/>
        </p:nvSpPr>
        <p:spPr>
          <a:xfrm>
            <a:off x="3277709" y="2693606"/>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16</a:t>
            </a:r>
            <a:endParaRPr sz="2109" kern="0">
              <a:solidFill>
                <a:sysClr val="windowText" lastClr="000000"/>
              </a:solidFill>
              <a:latin typeface="Arial MT"/>
              <a:cs typeface="Arial MT"/>
            </a:endParaRPr>
          </a:p>
        </p:txBody>
      </p:sp>
      <p:sp>
        <p:nvSpPr>
          <p:cNvPr id="135" name="object 135"/>
          <p:cNvSpPr/>
          <p:nvPr/>
        </p:nvSpPr>
        <p:spPr>
          <a:xfrm>
            <a:off x="4643585" y="2438123"/>
            <a:ext cx="345132" cy="1322933"/>
          </a:xfrm>
          <a:custGeom>
            <a:avLst/>
            <a:gdLst/>
            <a:ahLst/>
            <a:cxnLst/>
            <a:rect l="l" t="t" r="r" b="b"/>
            <a:pathLst>
              <a:path w="490854" h="1881504">
                <a:moveTo>
                  <a:pt x="490749" y="0"/>
                </a:moveTo>
                <a:lnTo>
                  <a:pt x="0" y="0"/>
                </a:lnTo>
                <a:lnTo>
                  <a:pt x="0" y="1881223"/>
                </a:lnTo>
                <a:lnTo>
                  <a:pt x="490749" y="1881223"/>
                </a:lnTo>
                <a:lnTo>
                  <a:pt x="490749"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36" name="object 136"/>
          <p:cNvSpPr txBox="1"/>
          <p:nvPr/>
        </p:nvSpPr>
        <p:spPr>
          <a:xfrm>
            <a:off x="4674838" y="2911396"/>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71</a:t>
            </a:r>
            <a:endParaRPr sz="2109" kern="0">
              <a:solidFill>
                <a:sysClr val="windowText" lastClr="000000"/>
              </a:solidFill>
              <a:latin typeface="Arial MT"/>
              <a:cs typeface="Arial MT"/>
            </a:endParaRPr>
          </a:p>
        </p:txBody>
      </p:sp>
      <p:sp>
        <p:nvSpPr>
          <p:cNvPr id="137" name="object 137"/>
          <p:cNvSpPr txBox="1"/>
          <p:nvPr/>
        </p:nvSpPr>
        <p:spPr>
          <a:xfrm>
            <a:off x="6117651" y="2903397"/>
            <a:ext cx="270570" cy="786241"/>
          </a:xfrm>
          <a:prstGeom prst="rect">
            <a:avLst/>
          </a:prstGeom>
        </p:spPr>
        <p:txBody>
          <a:bodyPr vert="horz" wrap="square" lIns="0" tIns="0" rIns="0" bIns="0" rtlCol="0">
            <a:spAutoFit/>
          </a:bodyPr>
          <a:lstStyle/>
          <a:p>
            <a:pPr defTabSz="642915" fontAlgn="auto">
              <a:lnSpc>
                <a:spcPts val="2358"/>
              </a:lnSpc>
              <a:spcBef>
                <a:spcPts val="0"/>
              </a:spcBef>
              <a:spcAft>
                <a:spcPts val="0"/>
              </a:spcAft>
            </a:pPr>
            <a:r>
              <a:rPr sz="2109" kern="0" spc="-127" dirty="0">
                <a:solidFill>
                  <a:sysClr val="windowText" lastClr="000000"/>
                </a:solidFill>
                <a:latin typeface="Arial MT"/>
                <a:cs typeface="Arial MT"/>
              </a:rPr>
              <a:t>96</a:t>
            </a:r>
            <a:endParaRPr sz="2109" kern="0">
              <a:solidFill>
                <a:sysClr val="windowText" lastClr="000000"/>
              </a:solidFill>
              <a:latin typeface="Arial MT"/>
              <a:cs typeface="Arial MT"/>
            </a:endParaRPr>
          </a:p>
          <a:p>
            <a:pPr marL="2232" defTabSz="642915" fontAlgn="auto">
              <a:spcBef>
                <a:spcPts val="1248"/>
              </a:spcBef>
              <a:spcAft>
                <a:spcPts val="0"/>
              </a:spcAft>
            </a:pPr>
            <a:r>
              <a:rPr sz="2109" kern="0" spc="-130" dirty="0">
                <a:solidFill>
                  <a:sysClr val="windowText" lastClr="000000"/>
                </a:solidFill>
                <a:latin typeface="Arial MT"/>
                <a:cs typeface="Arial MT"/>
              </a:rPr>
              <a:t>87</a:t>
            </a:r>
            <a:endParaRPr sz="2109" kern="0">
              <a:solidFill>
                <a:sysClr val="windowText" lastClr="000000"/>
              </a:solidFill>
              <a:latin typeface="Arial MT"/>
              <a:cs typeface="Arial MT"/>
            </a:endParaRPr>
          </a:p>
        </p:txBody>
      </p:sp>
      <p:grpSp>
        <p:nvGrpSpPr>
          <p:cNvPr id="138" name="object 138"/>
          <p:cNvGrpSpPr/>
          <p:nvPr/>
        </p:nvGrpSpPr>
        <p:grpSpPr>
          <a:xfrm>
            <a:off x="6053006" y="3290083"/>
            <a:ext cx="543371" cy="496044"/>
            <a:chOff x="8608719" y="5199545"/>
            <a:chExt cx="772795" cy="705485"/>
          </a:xfrm>
        </p:grpSpPr>
        <p:sp>
          <p:nvSpPr>
            <p:cNvPr id="139" name="object 139"/>
            <p:cNvSpPr/>
            <p:nvPr/>
          </p:nvSpPr>
          <p:spPr>
            <a:xfrm>
              <a:off x="8621419" y="52249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0" name="object 140"/>
            <p:cNvSpPr/>
            <p:nvPr/>
          </p:nvSpPr>
          <p:spPr>
            <a:xfrm>
              <a:off x="8621408" y="5199544"/>
              <a:ext cx="747395" cy="25400"/>
            </a:xfrm>
            <a:custGeom>
              <a:avLst/>
              <a:gdLst/>
              <a:ahLst/>
              <a:cxnLst/>
              <a:rect l="l" t="t" r="r" b="b"/>
              <a:pathLst>
                <a:path w="747395" h="25400">
                  <a:moveTo>
                    <a:pt x="15544" y="0"/>
                  </a:moveTo>
                  <a:lnTo>
                    <a:pt x="0" y="0"/>
                  </a:lnTo>
                  <a:lnTo>
                    <a:pt x="0" y="25400"/>
                  </a:lnTo>
                  <a:lnTo>
                    <a:pt x="15544" y="25400"/>
                  </a:lnTo>
                  <a:lnTo>
                    <a:pt x="15544" y="0"/>
                  </a:lnTo>
                  <a:close/>
                </a:path>
                <a:path w="747395" h="25400">
                  <a:moveTo>
                    <a:pt x="747356" y="0"/>
                  </a:moveTo>
                  <a:lnTo>
                    <a:pt x="509727" y="0"/>
                  </a:lnTo>
                  <a:lnTo>
                    <a:pt x="509727" y="25400"/>
                  </a:lnTo>
                  <a:lnTo>
                    <a:pt x="747356" y="25400"/>
                  </a:lnTo>
                  <a:lnTo>
                    <a:pt x="74735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grpSp>
        <p:nvGrpSpPr>
          <p:cNvPr id="141" name="object 141"/>
          <p:cNvGrpSpPr/>
          <p:nvPr/>
        </p:nvGrpSpPr>
        <p:grpSpPr>
          <a:xfrm>
            <a:off x="6487418" y="2304193"/>
            <a:ext cx="1673423" cy="1481882"/>
            <a:chOff x="9226550" y="3797391"/>
            <a:chExt cx="2379980" cy="2107565"/>
          </a:xfrm>
        </p:grpSpPr>
        <p:sp>
          <p:nvSpPr>
            <p:cNvPr id="142" name="object 142"/>
            <p:cNvSpPr/>
            <p:nvPr/>
          </p:nvSpPr>
          <p:spPr>
            <a:xfrm>
              <a:off x="9637973" y="52249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3" name="object 143"/>
            <p:cNvSpPr/>
            <p:nvPr/>
          </p:nvSpPr>
          <p:spPr>
            <a:xfrm>
              <a:off x="10156710" y="5199545"/>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4" name="object 144"/>
            <p:cNvSpPr/>
            <p:nvPr/>
          </p:nvSpPr>
          <p:spPr>
            <a:xfrm>
              <a:off x="9650248" y="5199545"/>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5" name="object 145"/>
            <p:cNvSpPr/>
            <p:nvPr/>
          </p:nvSpPr>
          <p:spPr>
            <a:xfrm>
              <a:off x="10654526" y="5212245"/>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12700" y="12700"/>
                  </a:moveTo>
                  <a:lnTo>
                    <a:pt x="12700"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46" name="object 146"/>
            <p:cNvPicPr/>
            <p:nvPr/>
          </p:nvPicPr>
          <p:blipFill>
            <a:blip r:embed="rId3" cstate="print"/>
            <a:stretch>
              <a:fillRect/>
            </a:stretch>
          </p:blipFill>
          <p:spPr>
            <a:xfrm>
              <a:off x="9226550" y="5472430"/>
              <a:ext cx="386080" cy="167640"/>
            </a:xfrm>
            <a:prstGeom prst="rect">
              <a:avLst/>
            </a:prstGeom>
          </p:spPr>
        </p:pic>
        <p:pic>
          <p:nvPicPr>
            <p:cNvPr id="147" name="object 147"/>
            <p:cNvPicPr/>
            <p:nvPr/>
          </p:nvPicPr>
          <p:blipFill>
            <a:blip r:embed="rId3" cstate="print"/>
            <a:stretch>
              <a:fillRect/>
            </a:stretch>
          </p:blipFill>
          <p:spPr>
            <a:xfrm>
              <a:off x="10242550" y="5472430"/>
              <a:ext cx="386080" cy="167640"/>
            </a:xfrm>
            <a:prstGeom prst="rect">
              <a:avLst/>
            </a:prstGeom>
          </p:spPr>
        </p:pic>
        <p:pic>
          <p:nvPicPr>
            <p:cNvPr id="148" name="object 148"/>
            <p:cNvPicPr/>
            <p:nvPr/>
          </p:nvPicPr>
          <p:blipFill>
            <a:blip r:embed="rId4" cstate="print"/>
            <a:stretch>
              <a:fillRect/>
            </a:stretch>
          </p:blipFill>
          <p:spPr>
            <a:xfrm>
              <a:off x="11207750" y="5485130"/>
              <a:ext cx="398780" cy="167640"/>
            </a:xfrm>
            <a:prstGeom prst="rect">
              <a:avLst/>
            </a:prstGeom>
          </p:spPr>
        </p:pic>
        <p:sp>
          <p:nvSpPr>
            <p:cNvPr id="149" name="object 149"/>
            <p:cNvSpPr/>
            <p:nvPr/>
          </p:nvSpPr>
          <p:spPr>
            <a:xfrm>
              <a:off x="10372624" y="4523868"/>
              <a:ext cx="0" cy="654685"/>
            </a:xfrm>
            <a:custGeom>
              <a:avLst/>
              <a:gdLst/>
              <a:ahLst/>
              <a:cxnLst/>
              <a:rect l="l" t="t" r="r" b="b"/>
              <a:pathLst>
                <a:path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0" name="object 150"/>
            <p:cNvSpPr/>
            <p:nvPr/>
          </p:nvSpPr>
          <p:spPr>
            <a:xfrm>
              <a:off x="10169125" y="4523868"/>
              <a:ext cx="0" cy="654685"/>
            </a:xfrm>
            <a:custGeom>
              <a:avLst/>
              <a:gdLst/>
              <a:ahLst/>
              <a:cxnLst/>
              <a:rect l="l" t="t" r="r" b="b"/>
              <a:pathLst>
                <a:path h="654685">
                  <a:moveTo>
                    <a:pt x="0" y="0"/>
                  </a:moveTo>
                  <a:lnTo>
                    <a:pt x="0" y="654463"/>
                  </a:lnTo>
                </a:path>
              </a:pathLst>
            </a:custGeom>
            <a:ln w="24831">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1" name="object 151"/>
            <p:cNvSpPr/>
            <p:nvPr/>
          </p:nvSpPr>
          <p:spPr>
            <a:xfrm>
              <a:off x="9650248" y="4523868"/>
              <a:ext cx="0" cy="680085"/>
            </a:xfrm>
            <a:custGeom>
              <a:avLst/>
              <a:gdLst/>
              <a:ahLst/>
              <a:cxnLst/>
              <a:rect l="l" t="t" r="r" b="b"/>
              <a:pathLst>
                <a:path h="680085">
                  <a:moveTo>
                    <a:pt x="0" y="0"/>
                  </a:moveTo>
                  <a:lnTo>
                    <a:pt x="0" y="654463"/>
                  </a:lnTo>
                </a:path>
                <a:path h="680085">
                  <a:moveTo>
                    <a:pt x="0" y="654463"/>
                  </a:moveTo>
                  <a:lnTo>
                    <a:pt x="0" y="679863"/>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2" name="object 152"/>
            <p:cNvSpPr/>
            <p:nvPr/>
          </p:nvSpPr>
          <p:spPr>
            <a:xfrm>
              <a:off x="10156710" y="5178331"/>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3" name="object 153"/>
            <p:cNvSpPr/>
            <p:nvPr/>
          </p:nvSpPr>
          <p:spPr>
            <a:xfrm>
              <a:off x="9650248" y="4498468"/>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4" name="object 154"/>
            <p:cNvSpPr/>
            <p:nvPr/>
          </p:nvSpPr>
          <p:spPr>
            <a:xfrm>
              <a:off x="10156710" y="4498468"/>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5" name="object 155"/>
            <p:cNvSpPr/>
            <p:nvPr/>
          </p:nvSpPr>
          <p:spPr>
            <a:xfrm>
              <a:off x="9650673" y="3822791"/>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6" name="object 156"/>
            <p:cNvSpPr/>
            <p:nvPr/>
          </p:nvSpPr>
          <p:spPr>
            <a:xfrm>
              <a:off x="9650248" y="4477254"/>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7" name="object 157"/>
            <p:cNvSpPr/>
            <p:nvPr/>
          </p:nvSpPr>
          <p:spPr>
            <a:xfrm>
              <a:off x="10156710" y="4477254"/>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8" name="object 158"/>
            <p:cNvSpPr/>
            <p:nvPr/>
          </p:nvSpPr>
          <p:spPr>
            <a:xfrm>
              <a:off x="9637973" y="3810091"/>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59" name="object 159"/>
          <p:cNvSpPr txBox="1"/>
          <p:nvPr/>
        </p:nvSpPr>
        <p:spPr>
          <a:xfrm>
            <a:off x="7540577" y="3352590"/>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96</a:t>
            </a:r>
            <a:endParaRPr sz="2109" kern="0">
              <a:solidFill>
                <a:sysClr val="windowText" lastClr="000000"/>
              </a:solidFill>
              <a:latin typeface="Arial MT"/>
              <a:cs typeface="Arial MT"/>
            </a:endParaRPr>
          </a:p>
        </p:txBody>
      </p:sp>
      <p:sp>
        <p:nvSpPr>
          <p:cNvPr id="160" name="object 160"/>
          <p:cNvSpPr txBox="1"/>
          <p:nvPr/>
        </p:nvSpPr>
        <p:spPr>
          <a:xfrm>
            <a:off x="6834742" y="2397606"/>
            <a:ext cx="267891" cy="1316001"/>
          </a:xfrm>
          <a:prstGeom prst="rect">
            <a:avLst/>
          </a:prstGeom>
        </p:spPr>
        <p:txBody>
          <a:bodyPr vert="horz" wrap="square" lIns="0" tIns="0" rIns="0" bIns="0" rtlCol="0">
            <a:spAutoFit/>
          </a:bodyPr>
          <a:lstStyle/>
          <a:p>
            <a:pPr defTabSz="642915" fontAlgn="auto">
              <a:lnSpc>
                <a:spcPts val="2358"/>
              </a:lnSpc>
              <a:spcBef>
                <a:spcPts val="0"/>
              </a:spcBef>
              <a:spcAft>
                <a:spcPts val="0"/>
              </a:spcAft>
            </a:pPr>
            <a:r>
              <a:rPr sz="2109" kern="0" spc="-137" dirty="0">
                <a:solidFill>
                  <a:sysClr val="windowText" lastClr="000000"/>
                </a:solidFill>
                <a:latin typeface="Arial MT"/>
                <a:cs typeface="Arial MT"/>
              </a:rPr>
              <a:t>91</a:t>
            </a:r>
            <a:endParaRPr sz="2109" kern="0">
              <a:solidFill>
                <a:sysClr val="windowText" lastClr="000000"/>
              </a:solidFill>
              <a:latin typeface="Arial MT"/>
              <a:cs typeface="Arial MT"/>
            </a:endParaRPr>
          </a:p>
          <a:p>
            <a:pPr defTabSz="642915" fontAlgn="auto">
              <a:spcBef>
                <a:spcPts val="1350"/>
              </a:spcBef>
              <a:spcAft>
                <a:spcPts val="0"/>
              </a:spcAft>
            </a:pPr>
            <a:r>
              <a:rPr sz="2109" kern="0" spc="-137" dirty="0">
                <a:solidFill>
                  <a:sysClr val="windowText" lastClr="000000"/>
                </a:solidFill>
                <a:latin typeface="Arial MT"/>
                <a:cs typeface="Arial MT"/>
              </a:rPr>
              <a:t>91</a:t>
            </a:r>
            <a:endParaRPr sz="2109" kern="0">
              <a:solidFill>
                <a:sysClr val="windowText" lastClr="000000"/>
              </a:solidFill>
              <a:latin typeface="Arial MT"/>
              <a:cs typeface="Arial MT"/>
            </a:endParaRPr>
          </a:p>
          <a:p>
            <a:pPr defTabSz="642915" fontAlgn="auto">
              <a:spcBef>
                <a:spcPts val="1350"/>
              </a:spcBef>
              <a:spcAft>
                <a:spcPts val="0"/>
              </a:spcAft>
            </a:pPr>
            <a:r>
              <a:rPr sz="2109" kern="0" spc="-137" dirty="0">
                <a:solidFill>
                  <a:sysClr val="windowText" lastClr="000000"/>
                </a:solidFill>
                <a:latin typeface="Arial MT"/>
                <a:cs typeface="Arial MT"/>
              </a:rPr>
              <a:t>91</a:t>
            </a:r>
            <a:endParaRPr sz="2109" kern="0">
              <a:solidFill>
                <a:sysClr val="windowText" lastClr="000000"/>
              </a:solidFill>
              <a:latin typeface="Arial MT"/>
              <a:cs typeface="Arial MT"/>
            </a:endParaRPr>
          </a:p>
        </p:txBody>
      </p:sp>
      <p:grpSp>
        <p:nvGrpSpPr>
          <p:cNvPr id="161" name="object 161"/>
          <p:cNvGrpSpPr/>
          <p:nvPr/>
        </p:nvGrpSpPr>
        <p:grpSpPr>
          <a:xfrm>
            <a:off x="6793962" y="2351044"/>
            <a:ext cx="1393924" cy="1317575"/>
            <a:chOff x="9662523" y="3864023"/>
            <a:chExt cx="1982470" cy="1873885"/>
          </a:xfrm>
        </p:grpSpPr>
        <p:sp>
          <p:nvSpPr>
            <p:cNvPr id="162" name="object 162"/>
            <p:cNvSpPr/>
            <p:nvPr/>
          </p:nvSpPr>
          <p:spPr>
            <a:xfrm>
              <a:off x="10248900" y="4121150"/>
              <a:ext cx="1257300" cy="0"/>
            </a:xfrm>
            <a:custGeom>
              <a:avLst/>
              <a:gdLst/>
              <a:ahLst/>
              <a:cxnLst/>
              <a:rect l="l" t="t" r="r" b="b"/>
              <a:pathLst>
                <a:path w="1257300">
                  <a:moveTo>
                    <a:pt x="12573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63" name="object 163"/>
            <p:cNvSpPr/>
            <p:nvPr/>
          </p:nvSpPr>
          <p:spPr>
            <a:xfrm>
              <a:off x="11464290" y="40373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64" name="object 164"/>
            <p:cNvPicPr/>
            <p:nvPr/>
          </p:nvPicPr>
          <p:blipFill>
            <a:blip r:embed="rId7" cstate="print"/>
            <a:stretch>
              <a:fillRect/>
            </a:stretch>
          </p:blipFill>
          <p:spPr>
            <a:xfrm>
              <a:off x="10179049" y="4051299"/>
              <a:ext cx="139699" cy="139700"/>
            </a:xfrm>
            <a:prstGeom prst="rect">
              <a:avLst/>
            </a:prstGeom>
          </p:spPr>
        </p:pic>
        <p:sp>
          <p:nvSpPr>
            <p:cNvPr id="165" name="object 165"/>
            <p:cNvSpPr/>
            <p:nvPr/>
          </p:nvSpPr>
          <p:spPr>
            <a:xfrm>
              <a:off x="10248900" y="4857750"/>
              <a:ext cx="1270000" cy="0"/>
            </a:xfrm>
            <a:custGeom>
              <a:avLst/>
              <a:gdLst/>
              <a:ahLst/>
              <a:cxnLst/>
              <a:rect l="l" t="t" r="r" b="b"/>
              <a:pathLst>
                <a:path w="1270000">
                  <a:moveTo>
                    <a:pt x="12700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66" name="object 166"/>
            <p:cNvSpPr/>
            <p:nvPr/>
          </p:nvSpPr>
          <p:spPr>
            <a:xfrm>
              <a:off x="11476990" y="47739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67" name="object 167"/>
            <p:cNvPicPr/>
            <p:nvPr/>
          </p:nvPicPr>
          <p:blipFill>
            <a:blip r:embed="rId8" cstate="print"/>
            <a:stretch>
              <a:fillRect/>
            </a:stretch>
          </p:blipFill>
          <p:spPr>
            <a:xfrm>
              <a:off x="10179049" y="4787899"/>
              <a:ext cx="139699" cy="139700"/>
            </a:xfrm>
            <a:prstGeom prst="rect">
              <a:avLst/>
            </a:prstGeom>
          </p:spPr>
        </p:pic>
        <p:sp>
          <p:nvSpPr>
            <p:cNvPr id="168" name="object 168"/>
            <p:cNvSpPr/>
            <p:nvPr/>
          </p:nvSpPr>
          <p:spPr>
            <a:xfrm>
              <a:off x="9662523" y="3864023"/>
              <a:ext cx="494665" cy="1873885"/>
            </a:xfrm>
            <a:custGeom>
              <a:avLst/>
              <a:gdLst/>
              <a:ahLst/>
              <a:cxnLst/>
              <a:rect l="l" t="t" r="r" b="b"/>
              <a:pathLst>
                <a:path w="494665" h="1873885">
                  <a:moveTo>
                    <a:pt x="494186" y="0"/>
                  </a:moveTo>
                  <a:lnTo>
                    <a:pt x="0" y="0"/>
                  </a:lnTo>
                  <a:lnTo>
                    <a:pt x="0" y="1873463"/>
                  </a:lnTo>
                  <a:lnTo>
                    <a:pt x="494186" y="1873463"/>
                  </a:lnTo>
                  <a:lnTo>
                    <a:pt x="494186"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69" name="object 169"/>
          <p:cNvSpPr txBox="1"/>
          <p:nvPr/>
        </p:nvSpPr>
        <p:spPr>
          <a:xfrm>
            <a:off x="6825215" y="2824317"/>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91</a:t>
            </a:r>
            <a:endParaRPr sz="2109" kern="0">
              <a:solidFill>
                <a:sysClr val="windowText" lastClr="000000"/>
              </a:solidFill>
              <a:latin typeface="Arial MT"/>
              <a:cs typeface="Arial MT"/>
            </a:endParaRPr>
          </a:p>
        </p:txBody>
      </p:sp>
      <p:sp>
        <p:nvSpPr>
          <p:cNvPr id="170" name="object 170"/>
          <p:cNvSpPr txBox="1"/>
          <p:nvPr/>
        </p:nvSpPr>
        <p:spPr>
          <a:xfrm>
            <a:off x="1179474" y="2932140"/>
            <a:ext cx="267891" cy="786241"/>
          </a:xfrm>
          <a:prstGeom prst="rect">
            <a:avLst/>
          </a:prstGeom>
        </p:spPr>
        <p:txBody>
          <a:bodyPr vert="horz" wrap="square" lIns="0" tIns="0" rIns="0" bIns="0" rtlCol="0">
            <a:spAutoFit/>
          </a:bodyPr>
          <a:lstStyle/>
          <a:p>
            <a:pPr defTabSz="642915" fontAlgn="auto">
              <a:lnSpc>
                <a:spcPts val="2358"/>
              </a:lnSpc>
              <a:spcBef>
                <a:spcPts val="0"/>
              </a:spcBef>
              <a:spcAft>
                <a:spcPts val="0"/>
              </a:spcAft>
            </a:pPr>
            <a:r>
              <a:rPr sz="2109" kern="0" spc="-137" dirty="0">
                <a:solidFill>
                  <a:sysClr val="windowText" lastClr="000000"/>
                </a:solidFill>
                <a:latin typeface="Arial MT"/>
                <a:cs typeface="Arial MT"/>
              </a:rPr>
              <a:t>15</a:t>
            </a:r>
            <a:endParaRPr sz="2109" kern="0">
              <a:solidFill>
                <a:sysClr val="windowText" lastClr="000000"/>
              </a:solidFill>
              <a:latin typeface="Arial MT"/>
              <a:cs typeface="Arial MT"/>
            </a:endParaRPr>
          </a:p>
          <a:p>
            <a:pPr marL="66524" defTabSz="642915" fontAlgn="auto">
              <a:spcBef>
                <a:spcPts val="1237"/>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p:txBody>
      </p:sp>
      <p:grpSp>
        <p:nvGrpSpPr>
          <p:cNvPr id="171" name="object 171"/>
          <p:cNvGrpSpPr/>
          <p:nvPr/>
        </p:nvGrpSpPr>
        <p:grpSpPr>
          <a:xfrm>
            <a:off x="1112503" y="2838727"/>
            <a:ext cx="543371" cy="496044"/>
            <a:chOff x="1582225" y="4557617"/>
            <a:chExt cx="772795" cy="705485"/>
          </a:xfrm>
        </p:grpSpPr>
        <p:sp>
          <p:nvSpPr>
            <p:cNvPr id="172" name="object 172"/>
            <p:cNvSpPr/>
            <p:nvPr/>
          </p:nvSpPr>
          <p:spPr>
            <a:xfrm>
              <a:off x="1607625" y="4583017"/>
              <a:ext cx="721995" cy="654685"/>
            </a:xfrm>
            <a:custGeom>
              <a:avLst/>
              <a:gdLst/>
              <a:ahLst/>
              <a:cxnLst/>
              <a:rect l="l" t="t" r="r" b="b"/>
              <a:pathLst>
                <a:path w="721994" h="654685">
                  <a:moveTo>
                    <a:pt x="721951" y="0"/>
                  </a:moveTo>
                  <a:lnTo>
                    <a:pt x="721951" y="654463"/>
                  </a:lnTo>
                </a:path>
                <a:path w="721994" h="654685">
                  <a:moveTo>
                    <a:pt x="518168" y="0"/>
                  </a:moveTo>
                  <a:lnTo>
                    <a:pt x="518168" y="654463"/>
                  </a:lnTo>
                </a:path>
                <a:path w="721994"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3" name="object 173"/>
            <p:cNvSpPr/>
            <p:nvPr/>
          </p:nvSpPr>
          <p:spPr>
            <a:xfrm>
              <a:off x="1594916" y="5237492"/>
              <a:ext cx="747395" cy="25400"/>
            </a:xfrm>
            <a:custGeom>
              <a:avLst/>
              <a:gdLst/>
              <a:ahLst/>
              <a:cxnLst/>
              <a:rect l="l" t="t" r="r" b="b"/>
              <a:pathLst>
                <a:path w="747394" h="25400">
                  <a:moveTo>
                    <a:pt x="30365" y="0"/>
                  </a:moveTo>
                  <a:lnTo>
                    <a:pt x="0" y="0"/>
                  </a:lnTo>
                  <a:lnTo>
                    <a:pt x="0" y="25400"/>
                  </a:lnTo>
                  <a:lnTo>
                    <a:pt x="30365" y="25400"/>
                  </a:lnTo>
                  <a:lnTo>
                    <a:pt x="30365" y="0"/>
                  </a:lnTo>
                  <a:close/>
                </a:path>
                <a:path w="747394" h="25400">
                  <a:moveTo>
                    <a:pt x="747356" y="0"/>
                  </a:moveTo>
                  <a:lnTo>
                    <a:pt x="521106" y="0"/>
                  </a:lnTo>
                  <a:lnTo>
                    <a:pt x="521106" y="25400"/>
                  </a:lnTo>
                  <a:lnTo>
                    <a:pt x="747356" y="25400"/>
                  </a:lnTo>
                  <a:lnTo>
                    <a:pt x="74735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4" name="object 174"/>
            <p:cNvSpPr/>
            <p:nvPr/>
          </p:nvSpPr>
          <p:spPr>
            <a:xfrm>
              <a:off x="1594925" y="4570317"/>
              <a:ext cx="747395" cy="0"/>
            </a:xfrm>
            <a:custGeom>
              <a:avLst/>
              <a:gdLst/>
              <a:ahLst/>
              <a:cxnLst/>
              <a:rect l="l" t="t" r="r" b="b"/>
              <a:pathLst>
                <a:path w="747394">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75" name="object 175"/>
          <p:cNvSpPr/>
          <p:nvPr/>
        </p:nvSpPr>
        <p:spPr>
          <a:xfrm>
            <a:off x="1142778" y="2912474"/>
            <a:ext cx="345132" cy="854571"/>
          </a:xfrm>
          <a:custGeom>
            <a:avLst/>
            <a:gdLst/>
            <a:ahLst/>
            <a:cxnLst/>
            <a:rect l="l" t="t" r="r" b="b"/>
            <a:pathLst>
              <a:path w="490855" h="1215389">
                <a:moveTo>
                  <a:pt x="490750" y="0"/>
                </a:moveTo>
                <a:lnTo>
                  <a:pt x="0" y="0"/>
                </a:lnTo>
                <a:lnTo>
                  <a:pt x="0" y="1215199"/>
                </a:lnTo>
                <a:lnTo>
                  <a:pt x="490750" y="1215199"/>
                </a:lnTo>
                <a:lnTo>
                  <a:pt x="490750"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6" name="object 176"/>
          <p:cNvSpPr txBox="1"/>
          <p:nvPr/>
        </p:nvSpPr>
        <p:spPr>
          <a:xfrm>
            <a:off x="1141445" y="3153575"/>
            <a:ext cx="344686" cy="333593"/>
          </a:xfrm>
          <a:prstGeom prst="rect">
            <a:avLst/>
          </a:prstGeom>
        </p:spPr>
        <p:txBody>
          <a:bodyPr vert="horz" wrap="square" lIns="0" tIns="8930" rIns="0" bIns="0" rtlCol="0">
            <a:spAutoFit/>
          </a:bodyPr>
          <a:lstStyle/>
          <a:p>
            <a:pPr marL="108045" defTabSz="642915" fontAlgn="auto">
              <a:spcBef>
                <a:spcPts val="70"/>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p:txBody>
      </p:sp>
      <p:sp>
        <p:nvSpPr>
          <p:cNvPr id="177" name="object 177"/>
          <p:cNvSpPr/>
          <p:nvPr/>
        </p:nvSpPr>
        <p:spPr>
          <a:xfrm>
            <a:off x="6072862" y="2902447"/>
            <a:ext cx="347811" cy="854571"/>
          </a:xfrm>
          <a:custGeom>
            <a:avLst/>
            <a:gdLst/>
            <a:ahLst/>
            <a:cxnLst/>
            <a:rect l="l" t="t" r="r" b="b"/>
            <a:pathLst>
              <a:path w="494665" h="1215389">
                <a:moveTo>
                  <a:pt x="494186" y="0"/>
                </a:moveTo>
                <a:lnTo>
                  <a:pt x="0" y="0"/>
                </a:lnTo>
                <a:lnTo>
                  <a:pt x="0" y="1214824"/>
                </a:lnTo>
                <a:lnTo>
                  <a:pt x="494186" y="1214824"/>
                </a:lnTo>
                <a:lnTo>
                  <a:pt x="494186"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8" name="object 178"/>
          <p:cNvSpPr txBox="1"/>
          <p:nvPr/>
        </p:nvSpPr>
        <p:spPr>
          <a:xfrm>
            <a:off x="6104115" y="3143550"/>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89</a:t>
            </a:r>
            <a:endParaRPr sz="2109" kern="0">
              <a:solidFill>
                <a:sysClr val="windowText" lastClr="000000"/>
              </a:solidFill>
              <a:latin typeface="Arial MT"/>
              <a:cs typeface="Arial MT"/>
            </a:endParaRPr>
          </a:p>
        </p:txBody>
      </p:sp>
      <p:grpSp>
        <p:nvGrpSpPr>
          <p:cNvPr id="179" name="object 179"/>
          <p:cNvGrpSpPr/>
          <p:nvPr/>
        </p:nvGrpSpPr>
        <p:grpSpPr>
          <a:xfrm>
            <a:off x="743399" y="2109254"/>
            <a:ext cx="4796582" cy="1985963"/>
            <a:chOff x="1057279" y="3520146"/>
            <a:chExt cx="6821805" cy="2824480"/>
          </a:xfrm>
        </p:grpSpPr>
        <p:sp>
          <p:nvSpPr>
            <p:cNvPr id="180" name="object 180"/>
            <p:cNvSpPr/>
            <p:nvPr/>
          </p:nvSpPr>
          <p:spPr>
            <a:xfrm>
              <a:off x="1089029" y="3625048"/>
              <a:ext cx="3559810" cy="24765"/>
            </a:xfrm>
            <a:custGeom>
              <a:avLst/>
              <a:gdLst/>
              <a:ahLst/>
              <a:cxnLst/>
              <a:rect l="l" t="t" r="r" b="b"/>
              <a:pathLst>
                <a:path w="3559810" h="24764">
                  <a:moveTo>
                    <a:pt x="3559292" y="24664"/>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1" name="object 181"/>
            <p:cNvSpPr/>
            <p:nvPr/>
          </p:nvSpPr>
          <p:spPr>
            <a:xfrm>
              <a:off x="4643107" y="3520146"/>
              <a:ext cx="260350" cy="259079"/>
            </a:xfrm>
            <a:custGeom>
              <a:avLst/>
              <a:gdLst/>
              <a:ahLst/>
              <a:cxnLst/>
              <a:rect l="l" t="t" r="r" b="b"/>
              <a:pathLst>
                <a:path w="260350" h="259079">
                  <a:moveTo>
                    <a:pt x="1794" y="0"/>
                  </a:moveTo>
                  <a:lnTo>
                    <a:pt x="0" y="259073"/>
                  </a:lnTo>
                  <a:lnTo>
                    <a:pt x="259971" y="131331"/>
                  </a:lnTo>
                  <a:lnTo>
                    <a:pt x="1794"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2" name="object 182"/>
            <p:cNvSpPr/>
            <p:nvPr/>
          </p:nvSpPr>
          <p:spPr>
            <a:xfrm>
              <a:off x="4772540" y="3625048"/>
              <a:ext cx="8890" cy="385445"/>
            </a:xfrm>
            <a:custGeom>
              <a:avLst/>
              <a:gdLst/>
              <a:ahLst/>
              <a:cxnLst/>
              <a:rect l="l" t="t" r="r" b="b"/>
              <a:pathLst>
                <a:path w="8889" h="385445">
                  <a:moveTo>
                    <a:pt x="0" y="385326"/>
                  </a:moveTo>
                  <a:lnTo>
                    <a:pt x="8798" y="0"/>
                  </a:lnTo>
                </a:path>
              </a:pathLst>
            </a:custGeom>
            <a:ln w="63499">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3" name="object 183"/>
            <p:cNvSpPr/>
            <p:nvPr/>
          </p:nvSpPr>
          <p:spPr>
            <a:xfrm>
              <a:off x="4643132" y="4003102"/>
              <a:ext cx="259079" cy="262255"/>
            </a:xfrm>
            <a:custGeom>
              <a:avLst/>
              <a:gdLst/>
              <a:ahLst/>
              <a:cxnLst/>
              <a:rect l="l" t="t" r="r" b="b"/>
              <a:pathLst>
                <a:path w="259079" h="262254">
                  <a:moveTo>
                    <a:pt x="0" y="0"/>
                  </a:moveTo>
                  <a:lnTo>
                    <a:pt x="123592" y="261969"/>
                  </a:lnTo>
                  <a:lnTo>
                    <a:pt x="259012" y="5914"/>
                  </a:lnTo>
                  <a:lnTo>
                    <a:pt x="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4" name="object 184"/>
            <p:cNvSpPr/>
            <p:nvPr/>
          </p:nvSpPr>
          <p:spPr>
            <a:xfrm>
              <a:off x="4781340" y="4249006"/>
              <a:ext cx="1827530" cy="7620"/>
            </a:xfrm>
            <a:custGeom>
              <a:avLst/>
              <a:gdLst/>
              <a:ahLst/>
              <a:cxnLst/>
              <a:rect l="l" t="t" r="r" b="b"/>
              <a:pathLst>
                <a:path w="1827529" h="7620">
                  <a:moveTo>
                    <a:pt x="1827048" y="0"/>
                  </a:moveTo>
                  <a:lnTo>
                    <a:pt x="0" y="7011"/>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5" name="object 185"/>
            <p:cNvSpPr/>
            <p:nvPr/>
          </p:nvSpPr>
          <p:spPr>
            <a:xfrm>
              <a:off x="6603574" y="4119482"/>
              <a:ext cx="259715" cy="259079"/>
            </a:xfrm>
            <a:custGeom>
              <a:avLst/>
              <a:gdLst/>
              <a:ahLst/>
              <a:cxnLst/>
              <a:rect l="l" t="t" r="r" b="b"/>
              <a:pathLst>
                <a:path w="259715" h="259079">
                  <a:moveTo>
                    <a:pt x="0" y="0"/>
                  </a:moveTo>
                  <a:lnTo>
                    <a:pt x="994" y="259078"/>
                  </a:lnTo>
                  <a:lnTo>
                    <a:pt x="259575" y="128545"/>
                  </a:lnTo>
                  <a:lnTo>
                    <a:pt x="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6" name="object 186"/>
            <p:cNvSpPr/>
            <p:nvPr/>
          </p:nvSpPr>
          <p:spPr>
            <a:xfrm>
              <a:off x="6826250" y="42545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7" name="object 187"/>
            <p:cNvSpPr/>
            <p:nvPr/>
          </p:nvSpPr>
          <p:spPr>
            <a:xfrm>
              <a:off x="6696709" y="4669282"/>
              <a:ext cx="259079" cy="259079"/>
            </a:xfrm>
            <a:custGeom>
              <a:avLst/>
              <a:gdLst/>
              <a:ahLst/>
              <a:cxnLst/>
              <a:rect l="l" t="t" r="r" b="b"/>
              <a:pathLst>
                <a:path w="259079" h="259079">
                  <a:moveTo>
                    <a:pt x="259080" y="0"/>
                  </a:moveTo>
                  <a:lnTo>
                    <a:pt x="0" y="0"/>
                  </a:lnTo>
                  <a:lnTo>
                    <a:pt x="129540" y="259079"/>
                  </a:lnTo>
                  <a:lnTo>
                    <a:pt x="25908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8" name="object 188"/>
            <p:cNvSpPr/>
            <p:nvPr/>
          </p:nvSpPr>
          <p:spPr>
            <a:xfrm>
              <a:off x="6826250" y="49276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9" name="object 189"/>
            <p:cNvSpPr/>
            <p:nvPr/>
          </p:nvSpPr>
          <p:spPr>
            <a:xfrm>
              <a:off x="6696709" y="5342382"/>
              <a:ext cx="259079" cy="259079"/>
            </a:xfrm>
            <a:custGeom>
              <a:avLst/>
              <a:gdLst/>
              <a:ahLst/>
              <a:cxnLst/>
              <a:rect l="l" t="t" r="r" b="b"/>
              <a:pathLst>
                <a:path w="259079" h="259079">
                  <a:moveTo>
                    <a:pt x="259080" y="0"/>
                  </a:moveTo>
                  <a:lnTo>
                    <a:pt x="0" y="0"/>
                  </a:lnTo>
                  <a:lnTo>
                    <a:pt x="129540" y="259079"/>
                  </a:lnTo>
                  <a:lnTo>
                    <a:pt x="25908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0" name="object 190"/>
            <p:cNvSpPr/>
            <p:nvPr/>
          </p:nvSpPr>
          <p:spPr>
            <a:xfrm>
              <a:off x="6832600" y="5492750"/>
              <a:ext cx="647700" cy="0"/>
            </a:xfrm>
            <a:custGeom>
              <a:avLst/>
              <a:gdLst/>
              <a:ahLst/>
              <a:cxnLst/>
              <a:rect l="l" t="t" r="r" b="b"/>
              <a:pathLst>
                <a:path w="647700">
                  <a:moveTo>
                    <a:pt x="647700" y="0"/>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1" name="object 191"/>
            <p:cNvSpPr/>
            <p:nvPr/>
          </p:nvSpPr>
          <p:spPr>
            <a:xfrm>
              <a:off x="7475982" y="5363210"/>
              <a:ext cx="259079" cy="259079"/>
            </a:xfrm>
            <a:custGeom>
              <a:avLst/>
              <a:gdLst/>
              <a:ahLst/>
              <a:cxnLst/>
              <a:rect l="l" t="t" r="r" b="b"/>
              <a:pathLst>
                <a:path w="259079" h="259079">
                  <a:moveTo>
                    <a:pt x="0" y="0"/>
                  </a:moveTo>
                  <a:lnTo>
                    <a:pt x="0" y="259079"/>
                  </a:lnTo>
                  <a:lnTo>
                    <a:pt x="259079" y="129539"/>
                  </a:lnTo>
                  <a:lnTo>
                    <a:pt x="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2" name="object 192"/>
            <p:cNvSpPr/>
            <p:nvPr/>
          </p:nvSpPr>
          <p:spPr>
            <a:xfrm>
              <a:off x="7749211" y="5494587"/>
              <a:ext cx="635" cy="595630"/>
            </a:xfrm>
            <a:custGeom>
              <a:avLst/>
              <a:gdLst/>
              <a:ahLst/>
              <a:cxnLst/>
              <a:rect l="l" t="t" r="r" b="b"/>
              <a:pathLst>
                <a:path w="634" h="595629">
                  <a:moveTo>
                    <a:pt x="163" y="595116"/>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3" name="object 193"/>
            <p:cNvSpPr/>
            <p:nvPr/>
          </p:nvSpPr>
          <p:spPr>
            <a:xfrm>
              <a:off x="7619833" y="6085422"/>
              <a:ext cx="259079" cy="259079"/>
            </a:xfrm>
            <a:custGeom>
              <a:avLst/>
              <a:gdLst/>
              <a:ahLst/>
              <a:cxnLst/>
              <a:rect l="l" t="t" r="r" b="b"/>
              <a:pathLst>
                <a:path w="259079" h="259079">
                  <a:moveTo>
                    <a:pt x="259044" y="0"/>
                  </a:moveTo>
                  <a:lnTo>
                    <a:pt x="0" y="0"/>
                  </a:lnTo>
                  <a:lnTo>
                    <a:pt x="129609" y="259044"/>
                  </a:lnTo>
                  <a:lnTo>
                    <a:pt x="259044"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95" name="标题 2"/>
          <p:cNvSpPr>
            <a:spLocks noGrp="1"/>
          </p:cNvSpPr>
          <p:nvPr>
            <p:ph type="title"/>
          </p:nvPr>
        </p:nvSpPr>
        <p:spPr>
          <a:xfrm>
            <a:off x="755529" y="332469"/>
            <a:ext cx="7568173" cy="415498"/>
          </a:xfrm>
        </p:spPr>
        <p:txBody>
          <a:bodyPr/>
          <a:lstStyle/>
          <a:p>
            <a:pPr algn="ctr"/>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插入</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例</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Tree>
    <p:extLst>
      <p:ext uri="{BB962C8B-B14F-4D97-AF65-F5344CB8AC3E}">
        <p14:creationId xmlns:p14="http://schemas.microsoft.com/office/powerpoint/2010/main" val="279689167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49066" y="1080493"/>
            <a:ext cx="2595966" cy="355266"/>
          </a:xfrm>
          <a:prstGeom prst="rect">
            <a:avLst/>
          </a:prstGeom>
        </p:spPr>
        <p:txBody>
          <a:bodyPr vert="horz" wrap="square" lIns="0" tIns="8930" rIns="0" bIns="0" rtlCol="0">
            <a:spAutoFit/>
          </a:bodyPr>
          <a:lstStyle/>
          <a:p>
            <a:pPr marL="8929" defTabSz="642915" fontAlgn="auto">
              <a:spcBef>
                <a:spcPts val="70"/>
              </a:spcBef>
              <a:spcAft>
                <a:spcPts val="0"/>
              </a:spcAft>
            </a:pPr>
            <a:r>
              <a:rPr sz="2250" kern="0" dirty="0">
                <a:solidFill>
                  <a:sysClr val="windowText" lastClr="000000"/>
                </a:solidFill>
                <a:latin typeface="Palatino Linotype"/>
                <a:cs typeface="Palatino Linotype"/>
              </a:rPr>
              <a:t>Insert</a:t>
            </a:r>
            <a:r>
              <a:rPr sz="2250" kern="0" spc="-80" dirty="0">
                <a:solidFill>
                  <a:sysClr val="windowText" lastClr="000000"/>
                </a:solidFill>
                <a:latin typeface="Palatino Linotype"/>
                <a:cs typeface="Palatino Linotype"/>
              </a:rPr>
              <a:t> </a:t>
            </a:r>
            <a:r>
              <a:rPr lang="en-US" sz="2250" kern="0" spc="-80" dirty="0" smtClean="0">
                <a:solidFill>
                  <a:sysClr val="windowText" lastClr="000000"/>
                </a:solidFill>
                <a:latin typeface="Palatino Linotype"/>
                <a:cs typeface="Palatino Linotype"/>
              </a:rPr>
              <a:t>k=</a:t>
            </a:r>
            <a:r>
              <a:rPr sz="2250" kern="0" spc="-18" dirty="0" smtClean="0">
                <a:solidFill>
                  <a:sysClr val="windowText" lastClr="000000"/>
                </a:solidFill>
                <a:latin typeface="Palatino Linotype"/>
                <a:cs typeface="Palatino Linotype"/>
              </a:rPr>
              <a:t>87</a:t>
            </a:r>
            <a:r>
              <a:rPr lang="en-US" sz="2250" kern="0" spc="-18" dirty="0" smtClean="0">
                <a:solidFill>
                  <a:sysClr val="windowText" lastClr="000000"/>
                </a:solidFill>
                <a:latin typeface="Palatino Linotype"/>
                <a:cs typeface="Palatino Linotype"/>
              </a:rPr>
              <a:t>, </a:t>
            </a:r>
            <a:r>
              <a:rPr lang="en-US" sz="2250" kern="0" spc="-18" dirty="0" err="1" smtClean="0">
                <a:solidFill>
                  <a:sysClr val="windowText" lastClr="000000"/>
                </a:solidFill>
                <a:latin typeface="Palatino Linotype"/>
                <a:cs typeface="Palatino Linotype"/>
              </a:rPr>
              <a:t>i</a:t>
            </a:r>
            <a:r>
              <a:rPr lang="en-US" sz="2250" kern="0" spc="-18" dirty="0" smtClean="0">
                <a:solidFill>
                  <a:sysClr val="windowText" lastClr="000000"/>
                </a:solidFill>
                <a:latin typeface="Palatino Linotype"/>
                <a:cs typeface="Palatino Linotype"/>
              </a:rPr>
              <a:t>=2</a:t>
            </a:r>
            <a:endParaRPr sz="2250" kern="0" dirty="0">
              <a:solidFill>
                <a:sysClr val="windowText" lastClr="000000"/>
              </a:solidFill>
              <a:latin typeface="Palatino Linotype"/>
              <a:cs typeface="Palatino Linotype"/>
            </a:endParaRPr>
          </a:p>
        </p:txBody>
      </p:sp>
      <p:grpSp>
        <p:nvGrpSpPr>
          <p:cNvPr id="4" name="object 4"/>
          <p:cNvGrpSpPr/>
          <p:nvPr/>
        </p:nvGrpSpPr>
        <p:grpSpPr>
          <a:xfrm>
            <a:off x="711488" y="3640535"/>
            <a:ext cx="1245691" cy="503188"/>
            <a:chOff x="1011894" y="5177650"/>
            <a:chExt cx="1771650" cy="715645"/>
          </a:xfrm>
        </p:grpSpPr>
        <p:sp>
          <p:nvSpPr>
            <p:cNvPr id="5" name="object 5"/>
            <p:cNvSpPr/>
            <p:nvPr/>
          </p:nvSpPr>
          <p:spPr>
            <a:xfrm>
              <a:off x="1024594" y="5213197"/>
              <a:ext cx="747395" cy="667385"/>
            </a:xfrm>
            <a:custGeom>
              <a:avLst/>
              <a:gdLst/>
              <a:ahLst/>
              <a:cxnLst/>
              <a:rect l="l" t="t" r="r" b="b"/>
              <a:pathLst>
                <a:path w="747394" h="667385">
                  <a:moveTo>
                    <a:pt x="734651" y="0"/>
                  </a:moveTo>
                  <a:lnTo>
                    <a:pt x="734651" y="654463"/>
                  </a:lnTo>
                </a:path>
                <a:path w="747394" h="667385">
                  <a:moveTo>
                    <a:pt x="530868" y="0"/>
                  </a:moveTo>
                  <a:lnTo>
                    <a:pt x="530868" y="654463"/>
                  </a:lnTo>
                </a:path>
                <a:path w="747394" h="667385">
                  <a:moveTo>
                    <a:pt x="12700" y="0"/>
                  </a:moveTo>
                  <a:lnTo>
                    <a:pt x="12700" y="654463"/>
                  </a:lnTo>
                </a:path>
                <a:path w="747394"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 name="object 6"/>
            <p:cNvSpPr/>
            <p:nvPr/>
          </p:nvSpPr>
          <p:spPr>
            <a:xfrm>
              <a:off x="1024585" y="5187797"/>
              <a:ext cx="747395" cy="25400"/>
            </a:xfrm>
            <a:custGeom>
              <a:avLst/>
              <a:gdLst/>
              <a:ahLst/>
              <a:cxnLst/>
              <a:rect l="l" t="t" r="r" b="b"/>
              <a:pathLst>
                <a:path w="747394" h="25400">
                  <a:moveTo>
                    <a:pt x="29197" y="0"/>
                  </a:moveTo>
                  <a:lnTo>
                    <a:pt x="0" y="0"/>
                  </a:lnTo>
                  <a:lnTo>
                    <a:pt x="0" y="25400"/>
                  </a:lnTo>
                  <a:lnTo>
                    <a:pt x="29197" y="25400"/>
                  </a:lnTo>
                  <a:lnTo>
                    <a:pt x="29197" y="0"/>
                  </a:lnTo>
                  <a:close/>
                </a:path>
                <a:path w="747394" h="25400">
                  <a:moveTo>
                    <a:pt x="747356" y="0"/>
                  </a:moveTo>
                  <a:lnTo>
                    <a:pt x="519938" y="0"/>
                  </a:lnTo>
                  <a:lnTo>
                    <a:pt x="519938" y="25400"/>
                  </a:lnTo>
                  <a:lnTo>
                    <a:pt x="747356" y="25400"/>
                  </a:lnTo>
                  <a:lnTo>
                    <a:pt x="74735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 name="object 7"/>
            <p:cNvSpPr/>
            <p:nvPr/>
          </p:nvSpPr>
          <p:spPr>
            <a:xfrm>
              <a:off x="2023037" y="5190350"/>
              <a:ext cx="747395" cy="680085"/>
            </a:xfrm>
            <a:custGeom>
              <a:avLst/>
              <a:gdLst/>
              <a:ahLst/>
              <a:cxnLst/>
              <a:rect l="l" t="t" r="r" b="b"/>
              <a:pathLst>
                <a:path w="747394" h="680085">
                  <a:moveTo>
                    <a:pt x="734651" y="12700"/>
                  </a:moveTo>
                  <a:lnTo>
                    <a:pt x="734651" y="667163"/>
                  </a:lnTo>
                </a:path>
                <a:path w="747394" h="680085">
                  <a:moveTo>
                    <a:pt x="530868" y="12700"/>
                  </a:moveTo>
                  <a:lnTo>
                    <a:pt x="530868" y="667163"/>
                  </a:lnTo>
                </a:path>
                <a:path w="747394" h="680085">
                  <a:moveTo>
                    <a:pt x="0" y="679863"/>
                  </a:moveTo>
                  <a:lnTo>
                    <a:pt x="747351" y="679863"/>
                  </a:lnTo>
                </a:path>
                <a:path w="747394"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8" name="object 8"/>
          <p:cNvSpPr txBox="1"/>
          <p:nvPr/>
        </p:nvSpPr>
        <p:spPr>
          <a:xfrm>
            <a:off x="1431378" y="3649465"/>
            <a:ext cx="364778" cy="387694"/>
          </a:xfrm>
          <a:prstGeom prst="rect">
            <a:avLst/>
          </a:prstGeom>
          <a:ln w="25400">
            <a:solidFill>
              <a:srgbClr val="000000"/>
            </a:solidFill>
          </a:ln>
        </p:spPr>
        <p:txBody>
          <a:bodyPr vert="horz" wrap="square" lIns="0" tIns="62508" rIns="0" bIns="0" rtlCol="0">
            <a:spAutoFit/>
          </a:bodyPr>
          <a:lstStyle/>
          <a:p>
            <a:pPr marL="49112" defTabSz="642915" fontAlgn="auto">
              <a:spcBef>
                <a:spcPts val="492"/>
              </a:spcBef>
              <a:spcAft>
                <a:spcPts val="0"/>
              </a:spcAft>
            </a:pPr>
            <a:r>
              <a:rPr sz="2109" kern="0" spc="-18" dirty="0">
                <a:solidFill>
                  <a:sysClr val="windowText" lastClr="000000"/>
                </a:solidFill>
                <a:latin typeface="Arial MT"/>
                <a:cs typeface="Arial MT"/>
              </a:rPr>
              <a:t>10</a:t>
            </a:r>
            <a:endParaRPr sz="2109" kern="0">
              <a:solidFill>
                <a:sysClr val="windowText" lastClr="000000"/>
              </a:solidFill>
              <a:latin typeface="Arial MT"/>
              <a:cs typeface="Arial MT"/>
            </a:endParaRPr>
          </a:p>
        </p:txBody>
      </p:sp>
      <p:sp>
        <p:nvSpPr>
          <p:cNvPr id="9" name="object 9"/>
          <p:cNvSpPr/>
          <p:nvPr/>
        </p:nvSpPr>
        <p:spPr>
          <a:xfrm>
            <a:off x="2124478" y="3642330"/>
            <a:ext cx="525512" cy="4781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 name="object 10"/>
          <p:cNvSpPr txBox="1"/>
          <p:nvPr/>
        </p:nvSpPr>
        <p:spPr>
          <a:xfrm>
            <a:off x="2133407" y="3642330"/>
            <a:ext cx="364778" cy="387694"/>
          </a:xfrm>
          <a:prstGeom prst="rect">
            <a:avLst/>
          </a:prstGeom>
          <a:ln w="25400">
            <a:solidFill>
              <a:srgbClr val="000000"/>
            </a:solidFill>
          </a:ln>
        </p:spPr>
        <p:txBody>
          <a:bodyPr vert="horz" wrap="square" lIns="0" tIns="62508" rIns="0" bIns="0" rtlCol="0">
            <a:spAutoFit/>
          </a:bodyPr>
          <a:lstStyle/>
          <a:p>
            <a:pPr marL="49112" defTabSz="642915" fontAlgn="auto">
              <a:spcBef>
                <a:spcPts val="492"/>
              </a:spcBef>
              <a:spcAft>
                <a:spcPts val="0"/>
              </a:spcAft>
            </a:pPr>
            <a:r>
              <a:rPr sz="2109" kern="0" spc="-18" dirty="0">
                <a:solidFill>
                  <a:sysClr val="windowText" lastClr="000000"/>
                </a:solidFill>
                <a:latin typeface="Arial MT"/>
                <a:cs typeface="Arial MT"/>
              </a:rPr>
              <a:t>15</a:t>
            </a:r>
            <a:endParaRPr sz="2109" kern="0">
              <a:solidFill>
                <a:sysClr val="windowText" lastClr="000000"/>
              </a:solidFill>
              <a:latin typeface="Arial MT"/>
              <a:cs typeface="Arial MT"/>
            </a:endParaRPr>
          </a:p>
        </p:txBody>
      </p:sp>
      <p:grpSp>
        <p:nvGrpSpPr>
          <p:cNvPr id="11" name="object 11"/>
          <p:cNvGrpSpPr/>
          <p:nvPr/>
        </p:nvGrpSpPr>
        <p:grpSpPr>
          <a:xfrm>
            <a:off x="2817579" y="3619132"/>
            <a:ext cx="1245691" cy="503188"/>
            <a:chOff x="4007223" y="5147209"/>
            <a:chExt cx="1771650" cy="715645"/>
          </a:xfrm>
        </p:grpSpPr>
        <p:sp>
          <p:nvSpPr>
            <p:cNvPr id="12" name="object 12"/>
            <p:cNvSpPr/>
            <p:nvPr/>
          </p:nvSpPr>
          <p:spPr>
            <a:xfrm>
              <a:off x="4019923" y="5182754"/>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3" name="object 13"/>
            <p:cNvSpPr/>
            <p:nvPr/>
          </p:nvSpPr>
          <p:spPr>
            <a:xfrm>
              <a:off x="4019923" y="5170054"/>
              <a:ext cx="26034" cy="0"/>
            </a:xfrm>
            <a:custGeom>
              <a:avLst/>
              <a:gdLst/>
              <a:ahLst/>
              <a:cxnLst/>
              <a:rect l="l" t="t" r="r" b="b"/>
              <a:pathLst>
                <a:path w="26035">
                  <a:moveTo>
                    <a:pt x="0" y="0"/>
                  </a:moveTo>
                  <a:lnTo>
                    <a:pt x="25758"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 name="object 14"/>
            <p:cNvSpPr/>
            <p:nvPr/>
          </p:nvSpPr>
          <p:spPr>
            <a:xfrm>
              <a:off x="4536431" y="5157354"/>
              <a:ext cx="231140" cy="25400"/>
            </a:xfrm>
            <a:custGeom>
              <a:avLst/>
              <a:gdLst/>
              <a:ahLst/>
              <a:cxnLst/>
              <a:rect l="l" t="t" r="r" b="b"/>
              <a:pathLst>
                <a:path w="231139" h="25400">
                  <a:moveTo>
                    <a:pt x="0" y="25400"/>
                  </a:moveTo>
                  <a:lnTo>
                    <a:pt x="230842" y="25400"/>
                  </a:lnTo>
                  <a:lnTo>
                    <a:pt x="230842"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 name="object 15"/>
            <p:cNvSpPr/>
            <p:nvPr/>
          </p:nvSpPr>
          <p:spPr>
            <a:xfrm>
              <a:off x="5018368" y="5159909"/>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6" name="object 16"/>
          <p:cNvSpPr txBox="1"/>
          <p:nvPr/>
        </p:nvSpPr>
        <p:spPr>
          <a:xfrm>
            <a:off x="3537470" y="3628061"/>
            <a:ext cx="364778" cy="387694"/>
          </a:xfrm>
          <a:prstGeom prst="rect">
            <a:avLst/>
          </a:prstGeom>
          <a:ln w="25400">
            <a:solidFill>
              <a:srgbClr val="000000"/>
            </a:solidFill>
          </a:ln>
        </p:spPr>
        <p:txBody>
          <a:bodyPr vert="horz" wrap="square" lIns="0" tIns="62508" rIns="0" bIns="0" rtlCol="0">
            <a:spAutoFit/>
          </a:bodyPr>
          <a:lstStyle/>
          <a:p>
            <a:pPr marL="49112" defTabSz="642915" fontAlgn="auto">
              <a:spcBef>
                <a:spcPts val="492"/>
              </a:spcBef>
              <a:spcAft>
                <a:spcPts val="0"/>
              </a:spcAft>
            </a:pPr>
            <a:r>
              <a:rPr sz="2109" kern="0" spc="-18" dirty="0">
                <a:solidFill>
                  <a:sysClr val="windowText" lastClr="000000"/>
                </a:solidFill>
                <a:latin typeface="Arial MT"/>
                <a:cs typeface="Arial MT"/>
              </a:rPr>
              <a:t>31</a:t>
            </a:r>
            <a:endParaRPr sz="2109" kern="0">
              <a:solidFill>
                <a:sysClr val="windowText" lastClr="000000"/>
              </a:solidFill>
              <a:latin typeface="Arial MT"/>
              <a:cs typeface="Arial MT"/>
            </a:endParaRPr>
          </a:p>
        </p:txBody>
      </p:sp>
      <p:grpSp>
        <p:nvGrpSpPr>
          <p:cNvPr id="17" name="object 17"/>
          <p:cNvGrpSpPr/>
          <p:nvPr/>
        </p:nvGrpSpPr>
        <p:grpSpPr>
          <a:xfrm>
            <a:off x="4221640" y="3604861"/>
            <a:ext cx="1237655" cy="503188"/>
            <a:chOff x="6004111" y="5126913"/>
            <a:chExt cx="1760220" cy="715645"/>
          </a:xfrm>
        </p:grpSpPr>
        <p:sp>
          <p:nvSpPr>
            <p:cNvPr id="18" name="object 18"/>
            <p:cNvSpPr/>
            <p:nvPr/>
          </p:nvSpPr>
          <p:spPr>
            <a:xfrm>
              <a:off x="6547680" y="5162459"/>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 name="object 19"/>
            <p:cNvSpPr/>
            <p:nvPr/>
          </p:nvSpPr>
          <p:spPr>
            <a:xfrm>
              <a:off x="6024760" y="5162459"/>
              <a:ext cx="0" cy="654685"/>
            </a:xfrm>
            <a:custGeom>
              <a:avLst/>
              <a:gdLst/>
              <a:ahLst/>
              <a:cxnLst/>
              <a:rect l="l" t="t" r="r" b="b"/>
              <a:pathLst>
                <a:path h="654685">
                  <a:moveTo>
                    <a:pt x="0" y="0"/>
                  </a:moveTo>
                  <a:lnTo>
                    <a:pt x="0" y="654463"/>
                  </a:lnTo>
                </a:path>
              </a:pathLst>
            </a:custGeom>
            <a:ln w="15897">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 name="object 20"/>
            <p:cNvSpPr/>
            <p:nvPr/>
          </p:nvSpPr>
          <p:spPr>
            <a:xfrm>
              <a:off x="6016811" y="5829623"/>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1" name="object 21"/>
            <p:cNvSpPr/>
            <p:nvPr/>
          </p:nvSpPr>
          <p:spPr>
            <a:xfrm>
              <a:off x="6024760" y="5137059"/>
              <a:ext cx="0" cy="25400"/>
            </a:xfrm>
            <a:custGeom>
              <a:avLst/>
              <a:gdLst/>
              <a:ahLst/>
              <a:cxnLst/>
              <a:rect l="l" t="t" r="r" b="b"/>
              <a:pathLst>
                <a:path h="25400">
                  <a:moveTo>
                    <a:pt x="0" y="0"/>
                  </a:moveTo>
                  <a:lnTo>
                    <a:pt x="0" y="25400"/>
                  </a:lnTo>
                </a:path>
              </a:pathLst>
            </a:custGeom>
            <a:ln w="15897">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2" name="object 22"/>
            <p:cNvSpPr/>
            <p:nvPr/>
          </p:nvSpPr>
          <p:spPr>
            <a:xfrm>
              <a:off x="6523459" y="5137059"/>
              <a:ext cx="241300" cy="25400"/>
            </a:xfrm>
            <a:custGeom>
              <a:avLst/>
              <a:gdLst/>
              <a:ahLst/>
              <a:cxnLst/>
              <a:rect l="l" t="t" r="r" b="b"/>
              <a:pathLst>
                <a:path w="241300" h="25400">
                  <a:moveTo>
                    <a:pt x="0" y="25400"/>
                  </a:moveTo>
                  <a:lnTo>
                    <a:pt x="240703" y="25400"/>
                  </a:lnTo>
                  <a:lnTo>
                    <a:pt x="240703"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3" name="object 23"/>
            <p:cNvSpPr/>
            <p:nvPr/>
          </p:nvSpPr>
          <p:spPr>
            <a:xfrm>
              <a:off x="7016971" y="5152313"/>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4" name="object 24"/>
            <p:cNvSpPr/>
            <p:nvPr/>
          </p:nvSpPr>
          <p:spPr>
            <a:xfrm>
              <a:off x="7004271" y="5819477"/>
              <a:ext cx="747395" cy="0"/>
            </a:xfrm>
            <a:custGeom>
              <a:avLst/>
              <a:gdLst/>
              <a:ahLst/>
              <a:cxnLst/>
              <a:rect l="l" t="t" r="r" b="b"/>
              <a:pathLst>
                <a:path w="747395">
                  <a:moveTo>
                    <a:pt x="0" y="0"/>
                  </a:moveTo>
                  <a:lnTo>
                    <a:pt x="141690" y="0"/>
                  </a:lnTo>
                </a:path>
                <a:path w="747395">
                  <a:moveTo>
                    <a:pt x="205353"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5" name="object 25"/>
            <p:cNvSpPr/>
            <p:nvPr/>
          </p:nvSpPr>
          <p:spPr>
            <a:xfrm>
              <a:off x="7004271" y="5139613"/>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26" name="object 26"/>
          <p:cNvSpPr txBox="1"/>
          <p:nvPr/>
        </p:nvSpPr>
        <p:spPr>
          <a:xfrm>
            <a:off x="4973991" y="3667369"/>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86</a:t>
            </a:r>
            <a:endParaRPr sz="2109" kern="0">
              <a:solidFill>
                <a:sysClr val="windowText" lastClr="000000"/>
              </a:solidFill>
              <a:latin typeface="Arial MT"/>
              <a:cs typeface="Arial MT"/>
            </a:endParaRPr>
          </a:p>
        </p:txBody>
      </p:sp>
      <p:sp>
        <p:nvSpPr>
          <p:cNvPr id="27" name="object 27"/>
          <p:cNvSpPr txBox="1"/>
          <p:nvPr/>
        </p:nvSpPr>
        <p:spPr>
          <a:xfrm>
            <a:off x="4288613" y="2754888"/>
            <a:ext cx="267891" cy="1277529"/>
          </a:xfrm>
          <a:prstGeom prst="rect">
            <a:avLst/>
          </a:prstGeom>
        </p:spPr>
        <p:txBody>
          <a:bodyPr vert="horz" wrap="square" lIns="0" tIns="0" rIns="0" bIns="0" rtlCol="0">
            <a:spAutoFit/>
          </a:bodyPr>
          <a:lstStyle/>
          <a:p>
            <a:pPr marL="63845" defTabSz="642915" fontAlgn="auto">
              <a:lnSpc>
                <a:spcPts val="2358"/>
              </a:lnSpc>
              <a:spcBef>
                <a:spcPts val="0"/>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a:p>
            <a:pPr marL="63845" defTabSz="642915" fontAlgn="auto">
              <a:spcBef>
                <a:spcPts val="1252"/>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a:p>
            <a:pPr defTabSz="642915" fontAlgn="auto">
              <a:spcBef>
                <a:spcPts val="1171"/>
              </a:spcBef>
              <a:spcAft>
                <a:spcPts val="0"/>
              </a:spcAft>
            </a:pPr>
            <a:r>
              <a:rPr sz="2109" kern="0" spc="-137" dirty="0">
                <a:solidFill>
                  <a:sysClr val="windowText" lastClr="000000"/>
                </a:solidFill>
                <a:latin typeface="Arial MT"/>
                <a:cs typeface="Arial MT"/>
              </a:rPr>
              <a:t>71</a:t>
            </a:r>
            <a:endParaRPr sz="2109" kern="0">
              <a:solidFill>
                <a:sysClr val="windowText" lastClr="000000"/>
              </a:solidFill>
              <a:latin typeface="Arial MT"/>
              <a:cs typeface="Arial MT"/>
            </a:endParaRPr>
          </a:p>
        </p:txBody>
      </p:sp>
      <p:sp>
        <p:nvSpPr>
          <p:cNvPr id="28" name="object 28"/>
          <p:cNvSpPr txBox="1"/>
          <p:nvPr/>
        </p:nvSpPr>
        <p:spPr>
          <a:xfrm>
            <a:off x="2884552" y="2268366"/>
            <a:ext cx="271016" cy="1768818"/>
          </a:xfrm>
          <a:prstGeom prst="rect">
            <a:avLst/>
          </a:prstGeom>
        </p:spPr>
        <p:txBody>
          <a:bodyPr vert="horz" wrap="square" lIns="0" tIns="0" rIns="0" bIns="0" rtlCol="0">
            <a:spAutoFit/>
          </a:bodyPr>
          <a:lstStyle/>
          <a:p>
            <a:pPr marL="2679" defTabSz="642915" fontAlgn="auto">
              <a:lnSpc>
                <a:spcPts val="2358"/>
              </a:lnSpc>
              <a:spcBef>
                <a:spcPts val="0"/>
              </a:spcBef>
              <a:spcAft>
                <a:spcPts val="0"/>
              </a:spcAft>
            </a:pPr>
            <a:r>
              <a:rPr sz="2109" kern="0" spc="-130" dirty="0">
                <a:solidFill>
                  <a:sysClr val="windowText" lastClr="000000"/>
                </a:solidFill>
                <a:latin typeface="Arial MT"/>
                <a:cs typeface="Arial MT"/>
              </a:rPr>
              <a:t>31</a:t>
            </a:r>
            <a:endParaRPr sz="2109" kern="0">
              <a:solidFill>
                <a:sysClr val="windowText" lastClr="000000"/>
              </a:solidFill>
              <a:latin typeface="Arial MT"/>
              <a:cs typeface="Arial MT"/>
            </a:endParaRPr>
          </a:p>
          <a:p>
            <a:pPr marL="1786" defTabSz="642915" fontAlgn="auto">
              <a:spcBef>
                <a:spcPts val="1396"/>
              </a:spcBef>
              <a:spcAft>
                <a:spcPts val="0"/>
              </a:spcAft>
            </a:pPr>
            <a:r>
              <a:rPr sz="2109" kern="0" spc="-127" dirty="0">
                <a:solidFill>
                  <a:sysClr val="windowText" lastClr="000000"/>
                </a:solidFill>
                <a:latin typeface="Arial MT"/>
                <a:cs typeface="Arial MT"/>
              </a:rPr>
              <a:t>31</a:t>
            </a:r>
            <a:endParaRPr sz="2109" kern="0">
              <a:solidFill>
                <a:sysClr val="windowText" lastClr="000000"/>
              </a:solidFill>
              <a:latin typeface="Arial MT"/>
              <a:cs typeface="Arial MT"/>
            </a:endParaRPr>
          </a:p>
          <a:p>
            <a:pPr marL="1786" defTabSz="642915" fontAlgn="auto">
              <a:spcBef>
                <a:spcPts val="1188"/>
              </a:spcBef>
              <a:spcAft>
                <a:spcPts val="0"/>
              </a:spcAft>
            </a:pPr>
            <a:r>
              <a:rPr sz="2109" kern="0" spc="-127" dirty="0">
                <a:solidFill>
                  <a:sysClr val="windowText" lastClr="000000"/>
                </a:solidFill>
                <a:latin typeface="Arial MT"/>
                <a:cs typeface="Arial MT"/>
              </a:rPr>
              <a:t>31</a:t>
            </a:r>
            <a:endParaRPr sz="2109" kern="0">
              <a:solidFill>
                <a:sysClr val="windowText" lastClr="000000"/>
              </a:solidFill>
              <a:latin typeface="Arial MT"/>
              <a:cs typeface="Arial MT"/>
            </a:endParaRPr>
          </a:p>
          <a:p>
            <a:pPr defTabSz="642915" fontAlgn="auto">
              <a:spcBef>
                <a:spcPts val="1248"/>
              </a:spcBef>
              <a:spcAft>
                <a:spcPts val="0"/>
              </a:spcAft>
            </a:pPr>
            <a:r>
              <a:rPr sz="2109" kern="0" spc="-120" dirty="0">
                <a:solidFill>
                  <a:sysClr val="windowText" lastClr="000000"/>
                </a:solidFill>
                <a:latin typeface="Arial MT"/>
                <a:cs typeface="Arial MT"/>
              </a:rPr>
              <a:t>16</a:t>
            </a:r>
            <a:endParaRPr sz="2109" kern="0">
              <a:solidFill>
                <a:sysClr val="windowText" lastClr="000000"/>
              </a:solidFill>
              <a:latin typeface="Arial MT"/>
              <a:cs typeface="Arial MT"/>
            </a:endParaRPr>
          </a:p>
        </p:txBody>
      </p:sp>
      <p:grpSp>
        <p:nvGrpSpPr>
          <p:cNvPr id="29" name="object 29"/>
          <p:cNvGrpSpPr/>
          <p:nvPr/>
        </p:nvGrpSpPr>
        <p:grpSpPr>
          <a:xfrm>
            <a:off x="195375" y="2179940"/>
            <a:ext cx="8822531" cy="1974800"/>
            <a:chOff x="277867" y="3100358"/>
            <a:chExt cx="12547600" cy="2808605"/>
          </a:xfrm>
        </p:grpSpPr>
        <p:pic>
          <p:nvPicPr>
            <p:cNvPr id="30" name="object 30"/>
            <p:cNvPicPr/>
            <p:nvPr/>
          </p:nvPicPr>
          <p:blipFill>
            <a:blip r:embed="rId2" cstate="print"/>
            <a:stretch>
              <a:fillRect/>
            </a:stretch>
          </p:blipFill>
          <p:spPr>
            <a:xfrm>
              <a:off x="1619249" y="5447029"/>
              <a:ext cx="386080" cy="167640"/>
            </a:xfrm>
            <a:prstGeom prst="rect">
              <a:avLst/>
            </a:prstGeom>
          </p:spPr>
        </p:pic>
        <p:pic>
          <p:nvPicPr>
            <p:cNvPr id="31" name="object 31"/>
            <p:cNvPicPr/>
            <p:nvPr/>
          </p:nvPicPr>
          <p:blipFill>
            <a:blip r:embed="rId3" cstate="print"/>
            <a:stretch>
              <a:fillRect/>
            </a:stretch>
          </p:blipFill>
          <p:spPr>
            <a:xfrm>
              <a:off x="2647949" y="5421629"/>
              <a:ext cx="386080" cy="167640"/>
            </a:xfrm>
            <a:prstGeom prst="rect">
              <a:avLst/>
            </a:prstGeom>
          </p:spPr>
        </p:pic>
        <p:pic>
          <p:nvPicPr>
            <p:cNvPr id="32" name="object 32"/>
            <p:cNvPicPr/>
            <p:nvPr/>
          </p:nvPicPr>
          <p:blipFill>
            <a:blip r:embed="rId2" cstate="print"/>
            <a:stretch>
              <a:fillRect/>
            </a:stretch>
          </p:blipFill>
          <p:spPr>
            <a:xfrm>
              <a:off x="3625849" y="5447029"/>
              <a:ext cx="386080" cy="167640"/>
            </a:xfrm>
            <a:prstGeom prst="rect">
              <a:avLst/>
            </a:prstGeom>
          </p:spPr>
        </p:pic>
        <p:pic>
          <p:nvPicPr>
            <p:cNvPr id="33" name="object 33"/>
            <p:cNvPicPr/>
            <p:nvPr/>
          </p:nvPicPr>
          <p:blipFill>
            <a:blip r:embed="rId4" cstate="print"/>
            <a:stretch>
              <a:fillRect/>
            </a:stretch>
          </p:blipFill>
          <p:spPr>
            <a:xfrm>
              <a:off x="4591049" y="5421629"/>
              <a:ext cx="398780" cy="167640"/>
            </a:xfrm>
            <a:prstGeom prst="rect">
              <a:avLst/>
            </a:prstGeom>
          </p:spPr>
        </p:pic>
        <p:pic>
          <p:nvPicPr>
            <p:cNvPr id="34" name="object 34"/>
            <p:cNvPicPr/>
            <p:nvPr/>
          </p:nvPicPr>
          <p:blipFill>
            <a:blip r:embed="rId2" cstate="print"/>
            <a:stretch>
              <a:fillRect/>
            </a:stretch>
          </p:blipFill>
          <p:spPr>
            <a:xfrm>
              <a:off x="5607049" y="5447029"/>
              <a:ext cx="386080" cy="167640"/>
            </a:xfrm>
            <a:prstGeom prst="rect">
              <a:avLst/>
            </a:prstGeom>
          </p:spPr>
        </p:pic>
        <p:pic>
          <p:nvPicPr>
            <p:cNvPr id="35" name="object 35"/>
            <p:cNvPicPr/>
            <p:nvPr/>
          </p:nvPicPr>
          <p:blipFill>
            <a:blip r:embed="rId2" cstate="print"/>
            <a:stretch>
              <a:fillRect/>
            </a:stretch>
          </p:blipFill>
          <p:spPr>
            <a:xfrm>
              <a:off x="6610349" y="5447029"/>
              <a:ext cx="386080" cy="167640"/>
            </a:xfrm>
            <a:prstGeom prst="rect">
              <a:avLst/>
            </a:prstGeom>
          </p:spPr>
        </p:pic>
        <p:sp>
          <p:nvSpPr>
            <p:cNvPr id="36" name="object 36"/>
            <p:cNvSpPr/>
            <p:nvPr/>
          </p:nvSpPr>
          <p:spPr>
            <a:xfrm>
              <a:off x="7668016" y="5509790"/>
              <a:ext cx="450215" cy="8890"/>
            </a:xfrm>
            <a:custGeom>
              <a:avLst/>
              <a:gdLst/>
              <a:ahLst/>
              <a:cxnLst/>
              <a:rect l="l" t="t" r="r" b="b"/>
              <a:pathLst>
                <a:path w="450215" h="8889">
                  <a:moveTo>
                    <a:pt x="450060" y="8415"/>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37" name="object 37"/>
            <p:cNvSpPr/>
            <p:nvPr/>
          </p:nvSpPr>
          <p:spPr>
            <a:xfrm>
              <a:off x="8074606" y="5433617"/>
              <a:ext cx="169545" cy="167640"/>
            </a:xfrm>
            <a:custGeom>
              <a:avLst/>
              <a:gdLst/>
              <a:ahLst/>
              <a:cxnLst/>
              <a:rect l="l" t="t" r="r" b="b"/>
              <a:pathLst>
                <a:path w="169545" h="167639">
                  <a:moveTo>
                    <a:pt x="3133" y="0"/>
                  </a:moveTo>
                  <a:lnTo>
                    <a:pt x="43469" y="84588"/>
                  </a:lnTo>
                  <a:lnTo>
                    <a:pt x="0" y="167610"/>
                  </a:lnTo>
                  <a:lnTo>
                    <a:pt x="169176" y="86939"/>
                  </a:lnTo>
                  <a:lnTo>
                    <a:pt x="3133"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38" name="object 38"/>
            <p:cNvPicPr/>
            <p:nvPr/>
          </p:nvPicPr>
          <p:blipFill>
            <a:blip r:embed="rId5" cstate="print"/>
            <a:stretch>
              <a:fillRect/>
            </a:stretch>
          </p:blipFill>
          <p:spPr>
            <a:xfrm>
              <a:off x="7598178" y="5439953"/>
              <a:ext cx="139675" cy="139675"/>
            </a:xfrm>
            <a:prstGeom prst="rect">
              <a:avLst/>
            </a:prstGeom>
          </p:spPr>
        </p:pic>
        <p:pic>
          <p:nvPicPr>
            <p:cNvPr id="39" name="object 39"/>
            <p:cNvPicPr/>
            <p:nvPr/>
          </p:nvPicPr>
          <p:blipFill>
            <a:blip r:embed="rId2" cstate="print"/>
            <a:stretch>
              <a:fillRect/>
            </a:stretch>
          </p:blipFill>
          <p:spPr>
            <a:xfrm>
              <a:off x="641350" y="5447029"/>
              <a:ext cx="386079" cy="167640"/>
            </a:xfrm>
            <a:prstGeom prst="rect">
              <a:avLst/>
            </a:prstGeom>
          </p:spPr>
        </p:pic>
        <p:sp>
          <p:nvSpPr>
            <p:cNvPr id="40" name="object 40"/>
            <p:cNvSpPr/>
            <p:nvPr/>
          </p:nvSpPr>
          <p:spPr>
            <a:xfrm>
              <a:off x="290567" y="5211246"/>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1" name="object 41"/>
            <p:cNvSpPr/>
            <p:nvPr/>
          </p:nvSpPr>
          <p:spPr>
            <a:xfrm>
              <a:off x="303071" y="518584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2" name="object 42"/>
            <p:cNvSpPr/>
            <p:nvPr/>
          </p:nvSpPr>
          <p:spPr>
            <a:xfrm>
              <a:off x="590123" y="518584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3" name="object 43"/>
            <p:cNvSpPr/>
            <p:nvPr/>
          </p:nvSpPr>
          <p:spPr>
            <a:xfrm>
              <a:off x="12316314" y="5224951"/>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4" name="object 44"/>
            <p:cNvSpPr/>
            <p:nvPr/>
          </p:nvSpPr>
          <p:spPr>
            <a:xfrm>
              <a:off x="12628053" y="5199551"/>
              <a:ext cx="184785" cy="25400"/>
            </a:xfrm>
            <a:custGeom>
              <a:avLst/>
              <a:gdLst/>
              <a:ahLst/>
              <a:cxnLst/>
              <a:rect l="l" t="t" r="r" b="b"/>
              <a:pathLst>
                <a:path w="184784" h="25400">
                  <a:moveTo>
                    <a:pt x="0" y="25400"/>
                  </a:moveTo>
                  <a:lnTo>
                    <a:pt x="184713" y="25400"/>
                  </a:lnTo>
                  <a:lnTo>
                    <a:pt x="184713"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5" name="object 45"/>
            <p:cNvSpPr/>
            <p:nvPr/>
          </p:nvSpPr>
          <p:spPr>
            <a:xfrm>
              <a:off x="12323928" y="5199551"/>
              <a:ext cx="0" cy="25400"/>
            </a:xfrm>
            <a:custGeom>
              <a:avLst/>
              <a:gdLst/>
              <a:ahLst/>
              <a:cxnLst/>
              <a:rect l="l" t="t" r="r" b="b"/>
              <a:pathLst>
                <a:path h="25400">
                  <a:moveTo>
                    <a:pt x="0" y="0"/>
                  </a:moveTo>
                  <a:lnTo>
                    <a:pt x="0" y="25400"/>
                  </a:lnTo>
                </a:path>
              </a:pathLst>
            </a:custGeom>
            <a:ln w="15226">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6" name="object 46"/>
            <p:cNvSpPr/>
            <p:nvPr/>
          </p:nvSpPr>
          <p:spPr>
            <a:xfrm>
              <a:off x="6026586" y="381060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7" name="object 47"/>
            <p:cNvSpPr/>
            <p:nvPr/>
          </p:nvSpPr>
          <p:spPr>
            <a:xfrm>
              <a:off x="6023298" y="4465073"/>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8" name="object 48"/>
            <p:cNvSpPr/>
            <p:nvPr/>
          </p:nvSpPr>
          <p:spPr>
            <a:xfrm>
              <a:off x="6523459" y="4465073"/>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49" name="object 49"/>
            <p:cNvSpPr/>
            <p:nvPr/>
          </p:nvSpPr>
          <p:spPr>
            <a:xfrm>
              <a:off x="6013886" y="379790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0" name="object 50"/>
            <p:cNvSpPr/>
            <p:nvPr/>
          </p:nvSpPr>
          <p:spPr>
            <a:xfrm>
              <a:off x="4553369" y="450029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1" name="object 51"/>
            <p:cNvSpPr/>
            <p:nvPr/>
          </p:nvSpPr>
          <p:spPr>
            <a:xfrm>
              <a:off x="4034091" y="4500290"/>
              <a:ext cx="0" cy="680085"/>
            </a:xfrm>
            <a:custGeom>
              <a:avLst/>
              <a:gdLst/>
              <a:ahLst/>
              <a:cxnLst/>
              <a:rect l="l" t="t" r="r" b="b"/>
              <a:pathLst>
                <a:path h="680085">
                  <a:moveTo>
                    <a:pt x="0" y="0"/>
                  </a:moveTo>
                  <a:lnTo>
                    <a:pt x="0" y="654463"/>
                  </a:lnTo>
                </a:path>
                <a:path h="680085">
                  <a:moveTo>
                    <a:pt x="0" y="654463"/>
                  </a:moveTo>
                  <a:lnTo>
                    <a:pt x="0" y="679863"/>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2" name="object 52"/>
            <p:cNvSpPr/>
            <p:nvPr/>
          </p:nvSpPr>
          <p:spPr>
            <a:xfrm>
              <a:off x="4536427" y="4474895"/>
              <a:ext cx="233679" cy="705485"/>
            </a:xfrm>
            <a:custGeom>
              <a:avLst/>
              <a:gdLst/>
              <a:ahLst/>
              <a:cxnLst/>
              <a:rect l="l" t="t" r="r" b="b"/>
              <a:pathLst>
                <a:path w="233679" h="705485">
                  <a:moveTo>
                    <a:pt x="233413" y="679869"/>
                  </a:moveTo>
                  <a:lnTo>
                    <a:pt x="0" y="679869"/>
                  </a:lnTo>
                  <a:lnTo>
                    <a:pt x="0" y="705269"/>
                  </a:lnTo>
                  <a:lnTo>
                    <a:pt x="233413" y="705269"/>
                  </a:lnTo>
                  <a:lnTo>
                    <a:pt x="233413" y="679869"/>
                  </a:lnTo>
                  <a:close/>
                </a:path>
                <a:path w="233679" h="705485">
                  <a:moveTo>
                    <a:pt x="233413" y="0"/>
                  </a:moveTo>
                  <a:lnTo>
                    <a:pt x="0" y="0"/>
                  </a:lnTo>
                  <a:lnTo>
                    <a:pt x="0" y="25400"/>
                  </a:lnTo>
                  <a:lnTo>
                    <a:pt x="233413" y="25400"/>
                  </a:lnTo>
                  <a:lnTo>
                    <a:pt x="233413"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3" name="object 53"/>
            <p:cNvSpPr/>
            <p:nvPr/>
          </p:nvSpPr>
          <p:spPr>
            <a:xfrm>
              <a:off x="4034091" y="4474890"/>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4" name="object 54"/>
            <p:cNvSpPr/>
            <p:nvPr/>
          </p:nvSpPr>
          <p:spPr>
            <a:xfrm>
              <a:off x="617295" y="3820920"/>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5" name="object 55"/>
            <p:cNvSpPr/>
            <p:nvPr/>
          </p:nvSpPr>
          <p:spPr>
            <a:xfrm>
              <a:off x="303071" y="3820920"/>
              <a:ext cx="0" cy="658495"/>
            </a:xfrm>
            <a:custGeom>
              <a:avLst/>
              <a:gdLst/>
              <a:ahLst/>
              <a:cxnLst/>
              <a:rect l="l" t="t" r="r" b="b"/>
              <a:pathLst>
                <a:path h="658495">
                  <a:moveTo>
                    <a:pt x="0" y="0"/>
                  </a:moveTo>
                  <a:lnTo>
                    <a:pt x="0" y="658365"/>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6" name="object 56"/>
            <p:cNvSpPr/>
            <p:nvPr/>
          </p:nvSpPr>
          <p:spPr>
            <a:xfrm>
              <a:off x="590123" y="447928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7" name="object 57"/>
            <p:cNvSpPr/>
            <p:nvPr/>
          </p:nvSpPr>
          <p:spPr>
            <a:xfrm>
              <a:off x="303071" y="447928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8" name="object 58"/>
            <p:cNvSpPr/>
            <p:nvPr/>
          </p:nvSpPr>
          <p:spPr>
            <a:xfrm>
              <a:off x="590123" y="3795520"/>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59" name="object 59"/>
            <p:cNvSpPr/>
            <p:nvPr/>
          </p:nvSpPr>
          <p:spPr>
            <a:xfrm>
              <a:off x="303071" y="3795520"/>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0" name="object 60"/>
            <p:cNvSpPr/>
            <p:nvPr/>
          </p:nvSpPr>
          <p:spPr>
            <a:xfrm>
              <a:off x="12643042" y="3903002"/>
              <a:ext cx="157480" cy="658495"/>
            </a:xfrm>
            <a:custGeom>
              <a:avLst/>
              <a:gdLst/>
              <a:ahLst/>
              <a:cxnLst/>
              <a:rect l="l" t="t" r="r" b="b"/>
              <a:pathLst>
                <a:path w="157479" h="658495">
                  <a:moveTo>
                    <a:pt x="157023" y="0"/>
                  </a:moveTo>
                  <a:lnTo>
                    <a:pt x="157023" y="658366"/>
                  </a:lnTo>
                </a:path>
                <a:path w="157479" h="658495">
                  <a:moveTo>
                    <a:pt x="0" y="0"/>
                  </a:moveTo>
                  <a:lnTo>
                    <a:pt x="0" y="658366"/>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1" name="object 61"/>
            <p:cNvSpPr/>
            <p:nvPr/>
          </p:nvSpPr>
          <p:spPr>
            <a:xfrm>
              <a:off x="12323927" y="3903002"/>
              <a:ext cx="0" cy="658495"/>
            </a:xfrm>
            <a:custGeom>
              <a:avLst/>
              <a:gdLst/>
              <a:ahLst/>
              <a:cxnLst/>
              <a:rect l="l" t="t" r="r" b="b"/>
              <a:pathLst>
                <a:path h="658495">
                  <a:moveTo>
                    <a:pt x="0" y="0"/>
                  </a:moveTo>
                  <a:lnTo>
                    <a:pt x="0" y="658366"/>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2" name="object 62"/>
            <p:cNvSpPr/>
            <p:nvPr/>
          </p:nvSpPr>
          <p:spPr>
            <a:xfrm>
              <a:off x="12628053" y="4561368"/>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3" name="object 63"/>
            <p:cNvSpPr/>
            <p:nvPr/>
          </p:nvSpPr>
          <p:spPr>
            <a:xfrm>
              <a:off x="12323927" y="4561368"/>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4" name="object 64"/>
            <p:cNvSpPr/>
            <p:nvPr/>
          </p:nvSpPr>
          <p:spPr>
            <a:xfrm>
              <a:off x="12628053" y="38776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5" name="object 65"/>
            <p:cNvSpPr/>
            <p:nvPr/>
          </p:nvSpPr>
          <p:spPr>
            <a:xfrm>
              <a:off x="12323927" y="3877602"/>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6" name="object 66"/>
            <p:cNvSpPr/>
            <p:nvPr/>
          </p:nvSpPr>
          <p:spPr>
            <a:xfrm>
              <a:off x="711200" y="4133849"/>
              <a:ext cx="3098800" cy="0"/>
            </a:xfrm>
            <a:custGeom>
              <a:avLst/>
              <a:gdLst/>
              <a:ahLst/>
              <a:cxnLst/>
              <a:rect l="l" t="t" r="r" b="b"/>
              <a:pathLst>
                <a:path w="3098800">
                  <a:moveTo>
                    <a:pt x="30988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67" name="object 67"/>
            <p:cNvSpPr/>
            <p:nvPr/>
          </p:nvSpPr>
          <p:spPr>
            <a:xfrm>
              <a:off x="3768090" y="4050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68" name="object 68"/>
            <p:cNvPicPr/>
            <p:nvPr/>
          </p:nvPicPr>
          <p:blipFill>
            <a:blip r:embed="rId6" cstate="print"/>
            <a:stretch>
              <a:fillRect/>
            </a:stretch>
          </p:blipFill>
          <p:spPr>
            <a:xfrm>
              <a:off x="641350" y="4063999"/>
              <a:ext cx="139700" cy="139700"/>
            </a:xfrm>
            <a:prstGeom prst="rect">
              <a:avLst/>
            </a:prstGeom>
          </p:spPr>
        </p:pic>
        <p:sp>
          <p:nvSpPr>
            <p:cNvPr id="69" name="object 69"/>
            <p:cNvSpPr/>
            <p:nvPr/>
          </p:nvSpPr>
          <p:spPr>
            <a:xfrm>
              <a:off x="1689099" y="4845050"/>
              <a:ext cx="2171700" cy="0"/>
            </a:xfrm>
            <a:custGeom>
              <a:avLst/>
              <a:gdLst/>
              <a:ahLst/>
              <a:cxnLst/>
              <a:rect l="l" t="t" r="r" b="b"/>
              <a:pathLst>
                <a:path w="2171700">
                  <a:moveTo>
                    <a:pt x="21717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0" name="object 70"/>
            <p:cNvSpPr/>
            <p:nvPr/>
          </p:nvSpPr>
          <p:spPr>
            <a:xfrm>
              <a:off x="3818890" y="47612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71" name="object 71"/>
            <p:cNvPicPr/>
            <p:nvPr/>
          </p:nvPicPr>
          <p:blipFill>
            <a:blip r:embed="rId7" cstate="print"/>
            <a:stretch>
              <a:fillRect/>
            </a:stretch>
          </p:blipFill>
          <p:spPr>
            <a:xfrm>
              <a:off x="1619249" y="4775199"/>
              <a:ext cx="139700" cy="139700"/>
            </a:xfrm>
            <a:prstGeom prst="rect">
              <a:avLst/>
            </a:prstGeom>
          </p:spPr>
        </p:pic>
        <p:sp>
          <p:nvSpPr>
            <p:cNvPr id="72" name="object 72"/>
            <p:cNvSpPr/>
            <p:nvPr/>
          </p:nvSpPr>
          <p:spPr>
            <a:xfrm>
              <a:off x="6651202" y="4144222"/>
              <a:ext cx="1522730" cy="5080"/>
            </a:xfrm>
            <a:custGeom>
              <a:avLst/>
              <a:gdLst/>
              <a:ahLst/>
              <a:cxnLst/>
              <a:rect l="l" t="t" r="r" b="b"/>
              <a:pathLst>
                <a:path w="1522729" h="5079">
                  <a:moveTo>
                    <a:pt x="1522427" y="5041"/>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3" name="object 73"/>
            <p:cNvSpPr/>
            <p:nvPr/>
          </p:nvSpPr>
          <p:spPr>
            <a:xfrm>
              <a:off x="8131443" y="4065305"/>
              <a:ext cx="168275" cy="167640"/>
            </a:xfrm>
            <a:custGeom>
              <a:avLst/>
              <a:gdLst/>
              <a:ahLst/>
              <a:cxnLst/>
              <a:rect l="l" t="t" r="r" b="b"/>
              <a:pathLst>
                <a:path w="168275" h="167639">
                  <a:moveTo>
                    <a:pt x="554" y="0"/>
                  </a:moveTo>
                  <a:lnTo>
                    <a:pt x="42186" y="83958"/>
                  </a:lnTo>
                  <a:lnTo>
                    <a:pt x="0" y="167638"/>
                  </a:lnTo>
                  <a:lnTo>
                    <a:pt x="167916" y="84374"/>
                  </a:lnTo>
                  <a:lnTo>
                    <a:pt x="554"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74" name="object 74"/>
            <p:cNvPicPr/>
            <p:nvPr/>
          </p:nvPicPr>
          <p:blipFill>
            <a:blip r:embed="rId8" cstate="print"/>
            <a:stretch>
              <a:fillRect/>
            </a:stretch>
          </p:blipFill>
          <p:spPr>
            <a:xfrm>
              <a:off x="6581352" y="4074373"/>
              <a:ext cx="139699" cy="139698"/>
            </a:xfrm>
            <a:prstGeom prst="rect">
              <a:avLst/>
            </a:prstGeom>
          </p:spPr>
        </p:pic>
        <p:sp>
          <p:nvSpPr>
            <p:cNvPr id="75" name="object 75"/>
            <p:cNvSpPr/>
            <p:nvPr/>
          </p:nvSpPr>
          <p:spPr>
            <a:xfrm>
              <a:off x="12329014" y="3219236"/>
              <a:ext cx="471170" cy="658495"/>
            </a:xfrm>
            <a:custGeom>
              <a:avLst/>
              <a:gdLst/>
              <a:ahLst/>
              <a:cxnLst/>
              <a:rect l="l" t="t" r="r" b="b"/>
              <a:pathLst>
                <a:path w="471170" h="658495">
                  <a:moveTo>
                    <a:pt x="471051" y="0"/>
                  </a:moveTo>
                  <a:lnTo>
                    <a:pt x="471051" y="658365"/>
                  </a:lnTo>
                </a:path>
                <a:path w="471170" h="658495">
                  <a:moveTo>
                    <a:pt x="314028" y="0"/>
                  </a:moveTo>
                  <a:lnTo>
                    <a:pt x="314028" y="658365"/>
                  </a:lnTo>
                </a:path>
                <a:path w="471170" h="658495">
                  <a:moveTo>
                    <a:pt x="0" y="0"/>
                  </a:moveTo>
                  <a:lnTo>
                    <a:pt x="0" y="658365"/>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6" name="object 76"/>
            <p:cNvSpPr/>
            <p:nvPr/>
          </p:nvSpPr>
          <p:spPr>
            <a:xfrm>
              <a:off x="12628053" y="38776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7" name="object 77"/>
            <p:cNvSpPr/>
            <p:nvPr/>
          </p:nvSpPr>
          <p:spPr>
            <a:xfrm>
              <a:off x="12323927" y="3877602"/>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8" name="object 78"/>
            <p:cNvSpPr/>
            <p:nvPr/>
          </p:nvSpPr>
          <p:spPr>
            <a:xfrm>
              <a:off x="12316314" y="3206536"/>
              <a:ext cx="496570" cy="0"/>
            </a:xfrm>
            <a:custGeom>
              <a:avLst/>
              <a:gdLst/>
              <a:ahLst/>
              <a:cxnLst/>
              <a:rect l="l" t="t" r="r" b="b"/>
              <a:pathLst>
                <a:path w="496570">
                  <a:moveTo>
                    <a:pt x="0" y="0"/>
                  </a:moveTo>
                  <a:lnTo>
                    <a:pt x="496451" y="0"/>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79" name="object 79"/>
            <p:cNvSpPr/>
            <p:nvPr/>
          </p:nvSpPr>
          <p:spPr>
            <a:xfrm>
              <a:off x="617295" y="3125758"/>
              <a:ext cx="157480" cy="658495"/>
            </a:xfrm>
            <a:custGeom>
              <a:avLst/>
              <a:gdLst/>
              <a:ahLst/>
              <a:cxnLst/>
              <a:rect l="l" t="t" r="r" b="b"/>
              <a:pathLst>
                <a:path w="157479" h="658495">
                  <a:moveTo>
                    <a:pt x="157023" y="504905"/>
                  </a:moveTo>
                  <a:lnTo>
                    <a:pt x="157023" y="658365"/>
                  </a:lnTo>
                </a:path>
                <a:path w="157479" h="658495">
                  <a:moveTo>
                    <a:pt x="157023" y="0"/>
                  </a:moveTo>
                  <a:lnTo>
                    <a:pt x="157023" y="416740"/>
                  </a:lnTo>
                </a:path>
                <a:path w="157479" h="658495">
                  <a:moveTo>
                    <a:pt x="0" y="504905"/>
                  </a:moveTo>
                  <a:lnTo>
                    <a:pt x="0" y="658365"/>
                  </a:lnTo>
                </a:path>
                <a:path w="157479" h="658495">
                  <a:moveTo>
                    <a:pt x="0" y="0"/>
                  </a:moveTo>
                  <a:lnTo>
                    <a:pt x="0" y="416740"/>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0" name="object 80"/>
            <p:cNvSpPr/>
            <p:nvPr/>
          </p:nvSpPr>
          <p:spPr>
            <a:xfrm>
              <a:off x="303267" y="3125758"/>
              <a:ext cx="0" cy="658495"/>
            </a:xfrm>
            <a:custGeom>
              <a:avLst/>
              <a:gdLst/>
              <a:ahLst/>
              <a:cxnLst/>
              <a:rect l="l" t="t" r="r" b="b"/>
              <a:pathLst>
                <a:path h="658495">
                  <a:moveTo>
                    <a:pt x="0" y="0"/>
                  </a:moveTo>
                  <a:lnTo>
                    <a:pt x="0" y="658365"/>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1" name="object 81"/>
            <p:cNvSpPr/>
            <p:nvPr/>
          </p:nvSpPr>
          <p:spPr>
            <a:xfrm>
              <a:off x="303071" y="3784124"/>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2" name="object 82"/>
            <p:cNvSpPr/>
            <p:nvPr/>
          </p:nvSpPr>
          <p:spPr>
            <a:xfrm>
              <a:off x="590123" y="3784124"/>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3" name="object 83"/>
            <p:cNvSpPr/>
            <p:nvPr/>
          </p:nvSpPr>
          <p:spPr>
            <a:xfrm>
              <a:off x="290567" y="3113058"/>
              <a:ext cx="496570" cy="0"/>
            </a:xfrm>
            <a:custGeom>
              <a:avLst/>
              <a:gdLst/>
              <a:ahLst/>
              <a:cxnLst/>
              <a:rect l="l" t="t" r="r" b="b"/>
              <a:pathLst>
                <a:path w="496570">
                  <a:moveTo>
                    <a:pt x="0" y="0"/>
                  </a:moveTo>
                  <a:lnTo>
                    <a:pt x="496451" y="0"/>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4" name="object 84"/>
            <p:cNvSpPr/>
            <p:nvPr/>
          </p:nvSpPr>
          <p:spPr>
            <a:xfrm>
              <a:off x="4553369" y="382792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5" name="object 85"/>
            <p:cNvSpPr/>
            <p:nvPr/>
          </p:nvSpPr>
          <p:spPr>
            <a:xfrm>
              <a:off x="4034091" y="3827920"/>
              <a:ext cx="0" cy="654685"/>
            </a:xfrm>
            <a:custGeom>
              <a:avLst/>
              <a:gdLst/>
              <a:ahLst/>
              <a:cxnLst/>
              <a:rect l="l" t="t" r="r" b="b"/>
              <a:pathLst>
                <a:path h="654685">
                  <a:moveTo>
                    <a:pt x="0" y="0"/>
                  </a:moveTo>
                  <a:lnTo>
                    <a:pt x="0" y="654463"/>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6" name="object 86"/>
            <p:cNvSpPr/>
            <p:nvPr/>
          </p:nvSpPr>
          <p:spPr>
            <a:xfrm>
              <a:off x="4536431" y="4482384"/>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7" name="object 87"/>
            <p:cNvSpPr/>
            <p:nvPr/>
          </p:nvSpPr>
          <p:spPr>
            <a:xfrm>
              <a:off x="4034091" y="3802520"/>
              <a:ext cx="0" cy="705485"/>
            </a:xfrm>
            <a:custGeom>
              <a:avLst/>
              <a:gdLst/>
              <a:ahLst/>
              <a:cxnLst/>
              <a:rect l="l" t="t" r="r" b="b"/>
              <a:pathLst>
                <a:path h="705485">
                  <a:moveTo>
                    <a:pt x="0" y="679863"/>
                  </a:moveTo>
                  <a:lnTo>
                    <a:pt x="0" y="705263"/>
                  </a:lnTo>
                </a:path>
                <a:path h="705485">
                  <a:moveTo>
                    <a:pt x="0" y="0"/>
                  </a:moveTo>
                  <a:lnTo>
                    <a:pt x="0" y="25400"/>
                  </a:lnTo>
                </a:path>
              </a:pathLst>
            </a:custGeom>
            <a:ln w="2318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8" name="object 88"/>
            <p:cNvSpPr/>
            <p:nvPr/>
          </p:nvSpPr>
          <p:spPr>
            <a:xfrm>
              <a:off x="4536431" y="3802520"/>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89" name="object 89"/>
            <p:cNvSpPr/>
            <p:nvPr/>
          </p:nvSpPr>
          <p:spPr>
            <a:xfrm>
              <a:off x="711200" y="3448049"/>
              <a:ext cx="3136900" cy="0"/>
            </a:xfrm>
            <a:custGeom>
              <a:avLst/>
              <a:gdLst/>
              <a:ahLst/>
              <a:cxnLst/>
              <a:rect l="l" t="t" r="r" b="b"/>
              <a:pathLst>
                <a:path w="3136900">
                  <a:moveTo>
                    <a:pt x="31369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0" name="object 90"/>
            <p:cNvSpPr/>
            <p:nvPr/>
          </p:nvSpPr>
          <p:spPr>
            <a:xfrm>
              <a:off x="3806190" y="33642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91" name="object 91"/>
            <p:cNvPicPr/>
            <p:nvPr/>
          </p:nvPicPr>
          <p:blipFill>
            <a:blip r:embed="rId6" cstate="print"/>
            <a:stretch>
              <a:fillRect/>
            </a:stretch>
          </p:blipFill>
          <p:spPr>
            <a:xfrm>
              <a:off x="641350" y="3378199"/>
              <a:ext cx="139700" cy="139700"/>
            </a:xfrm>
            <a:prstGeom prst="rect">
              <a:avLst/>
            </a:prstGeom>
          </p:spPr>
        </p:pic>
        <p:sp>
          <p:nvSpPr>
            <p:cNvPr id="92" name="object 92"/>
            <p:cNvSpPr/>
            <p:nvPr/>
          </p:nvSpPr>
          <p:spPr>
            <a:xfrm>
              <a:off x="4656852" y="3460261"/>
              <a:ext cx="7555865" cy="4445"/>
            </a:xfrm>
            <a:custGeom>
              <a:avLst/>
              <a:gdLst/>
              <a:ahLst/>
              <a:cxnLst/>
              <a:rect l="l" t="t" r="r" b="b"/>
              <a:pathLst>
                <a:path w="7555865" h="4445">
                  <a:moveTo>
                    <a:pt x="7555304" y="3915"/>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3" name="object 93"/>
            <p:cNvSpPr/>
            <p:nvPr/>
          </p:nvSpPr>
          <p:spPr>
            <a:xfrm>
              <a:off x="12170204" y="3380334"/>
              <a:ext cx="168275" cy="167640"/>
            </a:xfrm>
            <a:custGeom>
              <a:avLst/>
              <a:gdLst/>
              <a:ahLst/>
              <a:cxnLst/>
              <a:rect l="l" t="t" r="r" b="b"/>
              <a:pathLst>
                <a:path w="168275" h="167639">
                  <a:moveTo>
                    <a:pt x="86" y="0"/>
                  </a:moveTo>
                  <a:lnTo>
                    <a:pt x="41920" y="83907"/>
                  </a:lnTo>
                  <a:lnTo>
                    <a:pt x="0" y="167640"/>
                  </a:lnTo>
                  <a:lnTo>
                    <a:pt x="167683" y="83907"/>
                  </a:lnTo>
                  <a:lnTo>
                    <a:pt x="8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94" name="object 94"/>
            <p:cNvPicPr/>
            <p:nvPr/>
          </p:nvPicPr>
          <p:blipFill>
            <a:blip r:embed="rId9" cstate="print"/>
            <a:stretch>
              <a:fillRect/>
            </a:stretch>
          </p:blipFill>
          <p:spPr>
            <a:xfrm>
              <a:off x="4587003" y="3390411"/>
              <a:ext cx="139699" cy="139699"/>
            </a:xfrm>
            <a:prstGeom prst="rect">
              <a:avLst/>
            </a:prstGeom>
          </p:spPr>
        </p:pic>
        <p:sp>
          <p:nvSpPr>
            <p:cNvPr id="95" name="object 95"/>
            <p:cNvSpPr/>
            <p:nvPr/>
          </p:nvSpPr>
          <p:spPr>
            <a:xfrm>
              <a:off x="6544755" y="4494377"/>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6" name="object 96"/>
            <p:cNvSpPr/>
            <p:nvPr/>
          </p:nvSpPr>
          <p:spPr>
            <a:xfrm>
              <a:off x="6023298" y="4494377"/>
              <a:ext cx="0" cy="680085"/>
            </a:xfrm>
            <a:custGeom>
              <a:avLst/>
              <a:gdLst/>
              <a:ahLst/>
              <a:cxnLst/>
              <a:rect l="l" t="t" r="r" b="b"/>
              <a:pathLst>
                <a:path h="680085">
                  <a:moveTo>
                    <a:pt x="0" y="0"/>
                  </a:moveTo>
                  <a:lnTo>
                    <a:pt x="0" y="654463"/>
                  </a:lnTo>
                </a:path>
                <a:path h="680085">
                  <a:moveTo>
                    <a:pt x="0" y="654463"/>
                  </a:moveTo>
                  <a:lnTo>
                    <a:pt x="0" y="679863"/>
                  </a:lnTo>
                </a:path>
              </a:pathLst>
            </a:custGeom>
            <a:ln w="18822">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7" name="object 97"/>
            <p:cNvSpPr/>
            <p:nvPr/>
          </p:nvSpPr>
          <p:spPr>
            <a:xfrm>
              <a:off x="6523459" y="5148841"/>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8" name="object 98"/>
            <p:cNvSpPr/>
            <p:nvPr/>
          </p:nvSpPr>
          <p:spPr>
            <a:xfrm>
              <a:off x="6023298" y="4468977"/>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99" name="object 99"/>
            <p:cNvSpPr/>
            <p:nvPr/>
          </p:nvSpPr>
          <p:spPr>
            <a:xfrm>
              <a:off x="6523459" y="4468977"/>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grpSp>
        <p:nvGrpSpPr>
          <p:cNvPr id="100" name="object 100"/>
          <p:cNvGrpSpPr/>
          <p:nvPr/>
        </p:nvGrpSpPr>
        <p:grpSpPr>
          <a:xfrm>
            <a:off x="2820334" y="2174953"/>
            <a:ext cx="543371" cy="504081"/>
            <a:chOff x="4011141" y="3093266"/>
            <a:chExt cx="772795" cy="716915"/>
          </a:xfrm>
        </p:grpSpPr>
        <p:sp>
          <p:nvSpPr>
            <p:cNvPr id="101" name="object 101"/>
            <p:cNvSpPr/>
            <p:nvPr/>
          </p:nvSpPr>
          <p:spPr>
            <a:xfrm>
              <a:off x="4554709" y="3118666"/>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2" name="object 102"/>
            <p:cNvSpPr/>
            <p:nvPr/>
          </p:nvSpPr>
          <p:spPr>
            <a:xfrm>
              <a:off x="4036541" y="3118666"/>
              <a:ext cx="0" cy="654685"/>
            </a:xfrm>
            <a:custGeom>
              <a:avLst/>
              <a:gdLst/>
              <a:ahLst/>
              <a:cxnLst/>
              <a:rect l="l" t="t" r="r" b="b"/>
              <a:pathLst>
                <a:path h="654685">
                  <a:moveTo>
                    <a:pt x="0" y="511996"/>
                  </a:moveTo>
                  <a:lnTo>
                    <a:pt x="0" y="654463"/>
                  </a:lnTo>
                </a:path>
                <a:path h="654685">
                  <a:moveTo>
                    <a:pt x="0" y="0"/>
                  </a:moveTo>
                  <a:lnTo>
                    <a:pt x="0" y="423832"/>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3" name="object 103"/>
            <p:cNvSpPr/>
            <p:nvPr/>
          </p:nvSpPr>
          <p:spPr>
            <a:xfrm>
              <a:off x="4034761" y="3773130"/>
              <a:ext cx="0" cy="25400"/>
            </a:xfrm>
            <a:custGeom>
              <a:avLst/>
              <a:gdLst/>
              <a:ahLst/>
              <a:cxnLst/>
              <a:rect l="l" t="t" r="r" b="b"/>
              <a:pathLst>
                <a:path h="25400">
                  <a:moveTo>
                    <a:pt x="0" y="0"/>
                  </a:moveTo>
                  <a:lnTo>
                    <a:pt x="0" y="25400"/>
                  </a:lnTo>
                </a:path>
              </a:pathLst>
            </a:custGeom>
            <a:ln w="2184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4" name="object 104"/>
            <p:cNvSpPr/>
            <p:nvPr/>
          </p:nvSpPr>
          <p:spPr>
            <a:xfrm>
              <a:off x="4536431" y="3773130"/>
              <a:ext cx="234950" cy="25400"/>
            </a:xfrm>
            <a:custGeom>
              <a:avLst/>
              <a:gdLst/>
              <a:ahLst/>
              <a:cxnLst/>
              <a:rect l="l" t="t" r="r" b="b"/>
              <a:pathLst>
                <a:path w="234950" h="25400">
                  <a:moveTo>
                    <a:pt x="0" y="25400"/>
                  </a:moveTo>
                  <a:lnTo>
                    <a:pt x="234760" y="25400"/>
                  </a:lnTo>
                  <a:lnTo>
                    <a:pt x="234760"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5" name="object 105"/>
            <p:cNvSpPr/>
            <p:nvPr/>
          </p:nvSpPr>
          <p:spPr>
            <a:xfrm>
              <a:off x="4023841" y="3105966"/>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grpSp>
        <p:nvGrpSpPr>
          <p:cNvPr id="106" name="object 106"/>
          <p:cNvGrpSpPr/>
          <p:nvPr/>
        </p:nvGrpSpPr>
        <p:grpSpPr>
          <a:xfrm>
            <a:off x="204168" y="2318290"/>
            <a:ext cx="8805118" cy="1766739"/>
            <a:chOff x="290371" y="3297123"/>
            <a:chExt cx="12522835" cy="2512695"/>
          </a:xfrm>
        </p:grpSpPr>
        <p:sp>
          <p:nvSpPr>
            <p:cNvPr id="107" name="object 107"/>
            <p:cNvSpPr/>
            <p:nvPr/>
          </p:nvSpPr>
          <p:spPr>
            <a:xfrm>
              <a:off x="9303910" y="449133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8" name="object 108"/>
            <p:cNvSpPr/>
            <p:nvPr/>
          </p:nvSpPr>
          <p:spPr>
            <a:xfrm>
              <a:off x="9291206" y="5145811"/>
              <a:ext cx="747395" cy="25400"/>
            </a:xfrm>
            <a:custGeom>
              <a:avLst/>
              <a:gdLst/>
              <a:ahLst/>
              <a:cxnLst/>
              <a:rect l="l" t="t" r="r" b="b"/>
              <a:pathLst>
                <a:path w="747395" h="25400">
                  <a:moveTo>
                    <a:pt x="18846" y="0"/>
                  </a:moveTo>
                  <a:lnTo>
                    <a:pt x="0" y="0"/>
                  </a:lnTo>
                  <a:lnTo>
                    <a:pt x="0" y="25400"/>
                  </a:lnTo>
                  <a:lnTo>
                    <a:pt x="18846" y="25400"/>
                  </a:lnTo>
                  <a:lnTo>
                    <a:pt x="18846" y="0"/>
                  </a:lnTo>
                  <a:close/>
                </a:path>
                <a:path w="747395" h="25400">
                  <a:moveTo>
                    <a:pt x="747344" y="0"/>
                  </a:moveTo>
                  <a:lnTo>
                    <a:pt x="513029" y="0"/>
                  </a:lnTo>
                  <a:lnTo>
                    <a:pt x="513029" y="25400"/>
                  </a:lnTo>
                  <a:lnTo>
                    <a:pt x="747344" y="25400"/>
                  </a:lnTo>
                  <a:lnTo>
                    <a:pt x="747344"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09" name="object 109"/>
            <p:cNvSpPr/>
            <p:nvPr/>
          </p:nvSpPr>
          <p:spPr>
            <a:xfrm>
              <a:off x="9291210" y="447863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0" name="object 110"/>
            <p:cNvSpPr/>
            <p:nvPr/>
          </p:nvSpPr>
          <p:spPr>
            <a:xfrm>
              <a:off x="617295" y="4516083"/>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1" name="object 111"/>
            <p:cNvSpPr/>
            <p:nvPr/>
          </p:nvSpPr>
          <p:spPr>
            <a:xfrm>
              <a:off x="303071" y="4516083"/>
              <a:ext cx="0" cy="683895"/>
            </a:xfrm>
            <a:custGeom>
              <a:avLst/>
              <a:gdLst/>
              <a:ahLst/>
              <a:cxnLst/>
              <a:rect l="l" t="t" r="r" b="b"/>
              <a:pathLst>
                <a:path h="683895">
                  <a:moveTo>
                    <a:pt x="0" y="0"/>
                  </a:moveTo>
                  <a:lnTo>
                    <a:pt x="0" y="658365"/>
                  </a:lnTo>
                </a:path>
                <a:path h="683895">
                  <a:moveTo>
                    <a:pt x="0" y="658365"/>
                  </a:moveTo>
                  <a:lnTo>
                    <a:pt x="0" y="683765"/>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2" name="object 112"/>
            <p:cNvSpPr/>
            <p:nvPr/>
          </p:nvSpPr>
          <p:spPr>
            <a:xfrm>
              <a:off x="590123" y="5174449"/>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3" name="object 113"/>
            <p:cNvSpPr/>
            <p:nvPr/>
          </p:nvSpPr>
          <p:spPr>
            <a:xfrm>
              <a:off x="303071" y="4490683"/>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4" name="object 114"/>
            <p:cNvSpPr/>
            <p:nvPr/>
          </p:nvSpPr>
          <p:spPr>
            <a:xfrm>
              <a:off x="590123" y="4490683"/>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5" name="object 115"/>
            <p:cNvSpPr/>
            <p:nvPr/>
          </p:nvSpPr>
          <p:spPr>
            <a:xfrm>
              <a:off x="12643041" y="4563976"/>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6" name="object 116"/>
            <p:cNvSpPr/>
            <p:nvPr/>
          </p:nvSpPr>
          <p:spPr>
            <a:xfrm>
              <a:off x="12323927" y="4563976"/>
              <a:ext cx="0" cy="683895"/>
            </a:xfrm>
            <a:custGeom>
              <a:avLst/>
              <a:gdLst/>
              <a:ahLst/>
              <a:cxnLst/>
              <a:rect l="l" t="t" r="r" b="b"/>
              <a:pathLst>
                <a:path h="683895">
                  <a:moveTo>
                    <a:pt x="0" y="0"/>
                  </a:moveTo>
                  <a:lnTo>
                    <a:pt x="0" y="658365"/>
                  </a:lnTo>
                </a:path>
                <a:path h="683895">
                  <a:moveTo>
                    <a:pt x="0" y="658365"/>
                  </a:moveTo>
                  <a:lnTo>
                    <a:pt x="0" y="683765"/>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7" name="object 117"/>
            <p:cNvSpPr/>
            <p:nvPr/>
          </p:nvSpPr>
          <p:spPr>
            <a:xfrm>
              <a:off x="12628053" y="522234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8" name="object 118"/>
            <p:cNvSpPr/>
            <p:nvPr/>
          </p:nvSpPr>
          <p:spPr>
            <a:xfrm>
              <a:off x="12323927" y="4538576"/>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19" name="object 119"/>
            <p:cNvSpPr/>
            <p:nvPr/>
          </p:nvSpPr>
          <p:spPr>
            <a:xfrm>
              <a:off x="12628053" y="4538576"/>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0" name="object 120"/>
            <p:cNvPicPr/>
            <p:nvPr/>
          </p:nvPicPr>
          <p:blipFill>
            <a:blip r:embed="rId2" cstate="print"/>
            <a:stretch>
              <a:fillRect/>
            </a:stretch>
          </p:blipFill>
          <p:spPr>
            <a:xfrm>
              <a:off x="641350" y="4748529"/>
              <a:ext cx="386079" cy="167640"/>
            </a:xfrm>
            <a:prstGeom prst="rect">
              <a:avLst/>
            </a:prstGeom>
          </p:spPr>
        </p:pic>
        <p:sp>
          <p:nvSpPr>
            <p:cNvPr id="121" name="object 121"/>
            <p:cNvSpPr/>
            <p:nvPr/>
          </p:nvSpPr>
          <p:spPr>
            <a:xfrm>
              <a:off x="4635500" y="41338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22" name="object 122"/>
            <p:cNvSpPr/>
            <p:nvPr/>
          </p:nvSpPr>
          <p:spPr>
            <a:xfrm>
              <a:off x="5812789" y="4050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3" name="object 123"/>
            <p:cNvPicPr/>
            <p:nvPr/>
          </p:nvPicPr>
          <p:blipFill>
            <a:blip r:embed="rId6" cstate="print"/>
            <a:stretch>
              <a:fillRect/>
            </a:stretch>
          </p:blipFill>
          <p:spPr>
            <a:xfrm>
              <a:off x="4565649" y="4063999"/>
              <a:ext cx="139700" cy="139700"/>
            </a:xfrm>
            <a:prstGeom prst="rect">
              <a:avLst/>
            </a:prstGeom>
          </p:spPr>
        </p:pic>
        <p:sp>
          <p:nvSpPr>
            <p:cNvPr id="124" name="object 124"/>
            <p:cNvSpPr/>
            <p:nvPr/>
          </p:nvSpPr>
          <p:spPr>
            <a:xfrm>
              <a:off x="4635500" y="48069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25" name="object 125"/>
            <p:cNvSpPr/>
            <p:nvPr/>
          </p:nvSpPr>
          <p:spPr>
            <a:xfrm>
              <a:off x="5812789" y="47231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6" name="object 126"/>
            <p:cNvPicPr/>
            <p:nvPr/>
          </p:nvPicPr>
          <p:blipFill>
            <a:blip r:embed="rId7" cstate="print"/>
            <a:stretch>
              <a:fillRect/>
            </a:stretch>
          </p:blipFill>
          <p:spPr>
            <a:xfrm>
              <a:off x="4565649" y="4737099"/>
              <a:ext cx="139700" cy="139700"/>
            </a:xfrm>
            <a:prstGeom prst="rect">
              <a:avLst/>
            </a:prstGeom>
          </p:spPr>
        </p:pic>
        <p:sp>
          <p:nvSpPr>
            <p:cNvPr id="127" name="object 127"/>
            <p:cNvSpPr/>
            <p:nvPr/>
          </p:nvSpPr>
          <p:spPr>
            <a:xfrm>
              <a:off x="6635066" y="4798523"/>
              <a:ext cx="1464945" cy="5715"/>
            </a:xfrm>
            <a:custGeom>
              <a:avLst/>
              <a:gdLst/>
              <a:ahLst/>
              <a:cxnLst/>
              <a:rect l="l" t="t" r="r" b="b"/>
              <a:pathLst>
                <a:path w="1464945" h="5714">
                  <a:moveTo>
                    <a:pt x="1464462" y="0"/>
                  </a:moveTo>
                  <a:lnTo>
                    <a:pt x="0" y="532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28" name="object 128"/>
            <p:cNvSpPr/>
            <p:nvPr/>
          </p:nvSpPr>
          <p:spPr>
            <a:xfrm>
              <a:off x="8057314" y="4714855"/>
              <a:ext cx="168275" cy="167640"/>
            </a:xfrm>
            <a:custGeom>
              <a:avLst/>
              <a:gdLst/>
              <a:ahLst/>
              <a:cxnLst/>
              <a:rect l="l" t="t" r="r" b="b"/>
              <a:pathLst>
                <a:path w="168275" h="167639">
                  <a:moveTo>
                    <a:pt x="0" y="0"/>
                  </a:moveTo>
                  <a:lnTo>
                    <a:pt x="42214" y="83667"/>
                  </a:lnTo>
                  <a:lnTo>
                    <a:pt x="609" y="167640"/>
                  </a:lnTo>
                  <a:lnTo>
                    <a:pt x="167943" y="8321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29" name="object 129"/>
            <p:cNvPicPr/>
            <p:nvPr/>
          </p:nvPicPr>
          <p:blipFill>
            <a:blip r:embed="rId10" cstate="print"/>
            <a:stretch>
              <a:fillRect/>
            </a:stretch>
          </p:blipFill>
          <p:spPr>
            <a:xfrm>
              <a:off x="6565216" y="4733994"/>
              <a:ext cx="139699" cy="139699"/>
            </a:xfrm>
            <a:prstGeom prst="rect">
              <a:avLst/>
            </a:prstGeom>
          </p:spPr>
        </p:pic>
        <p:sp>
          <p:nvSpPr>
            <p:cNvPr id="130" name="object 130"/>
            <p:cNvSpPr/>
            <p:nvPr/>
          </p:nvSpPr>
          <p:spPr>
            <a:xfrm>
              <a:off x="9905999" y="4794250"/>
              <a:ext cx="279400" cy="0"/>
            </a:xfrm>
            <a:custGeom>
              <a:avLst/>
              <a:gdLst/>
              <a:ahLst/>
              <a:cxnLst/>
              <a:rect l="l" t="t" r="r" b="b"/>
              <a:pathLst>
                <a:path w="279400">
                  <a:moveTo>
                    <a:pt x="2794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31" name="object 131"/>
            <p:cNvSpPr/>
            <p:nvPr/>
          </p:nvSpPr>
          <p:spPr>
            <a:xfrm>
              <a:off x="10143489" y="47104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32" name="object 132"/>
            <p:cNvPicPr/>
            <p:nvPr/>
          </p:nvPicPr>
          <p:blipFill>
            <a:blip r:embed="rId11" cstate="print"/>
            <a:stretch>
              <a:fillRect/>
            </a:stretch>
          </p:blipFill>
          <p:spPr>
            <a:xfrm>
              <a:off x="9836149" y="4724399"/>
              <a:ext cx="139699" cy="139700"/>
            </a:xfrm>
            <a:prstGeom prst="rect">
              <a:avLst/>
            </a:prstGeom>
          </p:spPr>
        </p:pic>
        <p:sp>
          <p:nvSpPr>
            <p:cNvPr id="133" name="object 133"/>
            <p:cNvSpPr/>
            <p:nvPr/>
          </p:nvSpPr>
          <p:spPr>
            <a:xfrm>
              <a:off x="4045681" y="3297123"/>
              <a:ext cx="490855" cy="2512695"/>
            </a:xfrm>
            <a:custGeom>
              <a:avLst/>
              <a:gdLst/>
              <a:ahLst/>
              <a:cxnLst/>
              <a:rect l="l" t="t" r="r" b="b"/>
              <a:pathLst>
                <a:path w="490854" h="2512695">
                  <a:moveTo>
                    <a:pt x="490750" y="0"/>
                  </a:moveTo>
                  <a:lnTo>
                    <a:pt x="0" y="0"/>
                  </a:lnTo>
                  <a:lnTo>
                    <a:pt x="0" y="2512192"/>
                  </a:lnTo>
                  <a:lnTo>
                    <a:pt x="490750" y="2512192"/>
                  </a:lnTo>
                  <a:lnTo>
                    <a:pt x="490750"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34" name="object 134"/>
          <p:cNvSpPr txBox="1"/>
          <p:nvPr/>
        </p:nvSpPr>
        <p:spPr>
          <a:xfrm>
            <a:off x="2875873" y="3023735"/>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16</a:t>
            </a:r>
            <a:endParaRPr sz="2109" kern="0">
              <a:solidFill>
                <a:sysClr val="windowText" lastClr="000000"/>
              </a:solidFill>
              <a:latin typeface="Arial MT"/>
              <a:cs typeface="Arial MT"/>
            </a:endParaRPr>
          </a:p>
        </p:txBody>
      </p:sp>
      <p:sp>
        <p:nvSpPr>
          <p:cNvPr id="135" name="object 135"/>
          <p:cNvSpPr/>
          <p:nvPr/>
        </p:nvSpPr>
        <p:spPr>
          <a:xfrm>
            <a:off x="4241749" y="2768252"/>
            <a:ext cx="345132" cy="1322933"/>
          </a:xfrm>
          <a:custGeom>
            <a:avLst/>
            <a:gdLst/>
            <a:ahLst/>
            <a:cxnLst/>
            <a:rect l="l" t="t" r="r" b="b"/>
            <a:pathLst>
              <a:path w="490854" h="1881504">
                <a:moveTo>
                  <a:pt x="490749" y="0"/>
                </a:moveTo>
                <a:lnTo>
                  <a:pt x="0" y="0"/>
                </a:lnTo>
                <a:lnTo>
                  <a:pt x="0" y="1881223"/>
                </a:lnTo>
                <a:lnTo>
                  <a:pt x="490749" y="1881223"/>
                </a:lnTo>
                <a:lnTo>
                  <a:pt x="490749"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36" name="object 136"/>
          <p:cNvSpPr txBox="1"/>
          <p:nvPr/>
        </p:nvSpPr>
        <p:spPr>
          <a:xfrm>
            <a:off x="4273002" y="3241525"/>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71</a:t>
            </a:r>
            <a:endParaRPr sz="2109" kern="0">
              <a:solidFill>
                <a:sysClr val="windowText" lastClr="000000"/>
              </a:solidFill>
              <a:latin typeface="Arial MT"/>
              <a:cs typeface="Arial MT"/>
            </a:endParaRPr>
          </a:p>
        </p:txBody>
      </p:sp>
      <p:sp>
        <p:nvSpPr>
          <p:cNvPr id="137" name="object 137"/>
          <p:cNvSpPr txBox="1"/>
          <p:nvPr/>
        </p:nvSpPr>
        <p:spPr>
          <a:xfrm>
            <a:off x="6590925" y="3233527"/>
            <a:ext cx="270570" cy="786241"/>
          </a:xfrm>
          <a:prstGeom prst="rect">
            <a:avLst/>
          </a:prstGeom>
        </p:spPr>
        <p:txBody>
          <a:bodyPr vert="horz" wrap="square" lIns="0" tIns="0" rIns="0" bIns="0" rtlCol="0">
            <a:spAutoFit/>
          </a:bodyPr>
          <a:lstStyle/>
          <a:p>
            <a:pPr defTabSz="642915" fontAlgn="auto">
              <a:lnSpc>
                <a:spcPts val="2358"/>
              </a:lnSpc>
              <a:spcBef>
                <a:spcPts val="0"/>
              </a:spcBef>
              <a:spcAft>
                <a:spcPts val="0"/>
              </a:spcAft>
            </a:pPr>
            <a:r>
              <a:rPr sz="2109" kern="0" spc="-127" dirty="0">
                <a:solidFill>
                  <a:sysClr val="windowText" lastClr="000000"/>
                </a:solidFill>
                <a:latin typeface="Arial MT"/>
                <a:cs typeface="Arial MT"/>
              </a:rPr>
              <a:t>96</a:t>
            </a:r>
            <a:endParaRPr sz="2109" kern="0">
              <a:solidFill>
                <a:sysClr val="windowText" lastClr="000000"/>
              </a:solidFill>
              <a:latin typeface="Arial MT"/>
              <a:cs typeface="Arial MT"/>
            </a:endParaRPr>
          </a:p>
          <a:p>
            <a:pPr marL="2232" defTabSz="642915" fontAlgn="auto">
              <a:spcBef>
                <a:spcPts val="1248"/>
              </a:spcBef>
              <a:spcAft>
                <a:spcPts val="0"/>
              </a:spcAft>
            </a:pPr>
            <a:r>
              <a:rPr sz="2109" kern="0" spc="-130" dirty="0">
                <a:solidFill>
                  <a:sysClr val="windowText" lastClr="000000"/>
                </a:solidFill>
                <a:latin typeface="Arial MT"/>
                <a:cs typeface="Arial MT"/>
              </a:rPr>
              <a:t>87</a:t>
            </a:r>
            <a:endParaRPr sz="2109" kern="0">
              <a:solidFill>
                <a:sysClr val="windowText" lastClr="000000"/>
              </a:solidFill>
              <a:latin typeface="Arial MT"/>
              <a:cs typeface="Arial MT"/>
            </a:endParaRPr>
          </a:p>
        </p:txBody>
      </p:sp>
      <p:grpSp>
        <p:nvGrpSpPr>
          <p:cNvPr id="138" name="object 138"/>
          <p:cNvGrpSpPr/>
          <p:nvPr/>
        </p:nvGrpSpPr>
        <p:grpSpPr>
          <a:xfrm>
            <a:off x="6526280" y="3620212"/>
            <a:ext cx="543371" cy="496044"/>
            <a:chOff x="9281819" y="5148745"/>
            <a:chExt cx="772795" cy="705485"/>
          </a:xfrm>
        </p:grpSpPr>
        <p:sp>
          <p:nvSpPr>
            <p:cNvPr id="139" name="object 139"/>
            <p:cNvSpPr/>
            <p:nvPr/>
          </p:nvSpPr>
          <p:spPr>
            <a:xfrm>
              <a:off x="9294519" y="51741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0" name="object 140"/>
            <p:cNvSpPr/>
            <p:nvPr/>
          </p:nvSpPr>
          <p:spPr>
            <a:xfrm>
              <a:off x="9294508" y="5148744"/>
              <a:ext cx="747395" cy="25400"/>
            </a:xfrm>
            <a:custGeom>
              <a:avLst/>
              <a:gdLst/>
              <a:ahLst/>
              <a:cxnLst/>
              <a:rect l="l" t="t" r="r" b="b"/>
              <a:pathLst>
                <a:path w="747395" h="25400">
                  <a:moveTo>
                    <a:pt x="15544" y="0"/>
                  </a:moveTo>
                  <a:lnTo>
                    <a:pt x="0" y="0"/>
                  </a:lnTo>
                  <a:lnTo>
                    <a:pt x="0" y="25400"/>
                  </a:lnTo>
                  <a:lnTo>
                    <a:pt x="15544" y="25400"/>
                  </a:lnTo>
                  <a:lnTo>
                    <a:pt x="15544" y="0"/>
                  </a:lnTo>
                  <a:close/>
                </a:path>
                <a:path w="747395" h="25400">
                  <a:moveTo>
                    <a:pt x="747356" y="0"/>
                  </a:moveTo>
                  <a:lnTo>
                    <a:pt x="509727" y="0"/>
                  </a:lnTo>
                  <a:lnTo>
                    <a:pt x="509727" y="25400"/>
                  </a:lnTo>
                  <a:lnTo>
                    <a:pt x="747356" y="25400"/>
                  </a:lnTo>
                  <a:lnTo>
                    <a:pt x="74735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grpSp>
        <p:nvGrpSpPr>
          <p:cNvPr id="141" name="object 141"/>
          <p:cNvGrpSpPr/>
          <p:nvPr/>
        </p:nvGrpSpPr>
        <p:grpSpPr>
          <a:xfrm>
            <a:off x="6960692" y="2634322"/>
            <a:ext cx="1673423" cy="1481882"/>
            <a:chOff x="9899650" y="3746591"/>
            <a:chExt cx="2379980" cy="2107565"/>
          </a:xfrm>
        </p:grpSpPr>
        <p:sp>
          <p:nvSpPr>
            <p:cNvPr id="142" name="object 142"/>
            <p:cNvSpPr/>
            <p:nvPr/>
          </p:nvSpPr>
          <p:spPr>
            <a:xfrm>
              <a:off x="10311073" y="51741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3" name="object 143"/>
            <p:cNvSpPr/>
            <p:nvPr/>
          </p:nvSpPr>
          <p:spPr>
            <a:xfrm>
              <a:off x="10323348" y="5148745"/>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4" name="object 144"/>
            <p:cNvSpPr/>
            <p:nvPr/>
          </p:nvSpPr>
          <p:spPr>
            <a:xfrm>
              <a:off x="10829810" y="5148745"/>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45" name="object 145"/>
            <p:cNvSpPr/>
            <p:nvPr/>
          </p:nvSpPr>
          <p:spPr>
            <a:xfrm>
              <a:off x="11327626" y="5161445"/>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12700" y="12700"/>
                  </a:moveTo>
                  <a:lnTo>
                    <a:pt x="12700"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46" name="object 146"/>
            <p:cNvPicPr/>
            <p:nvPr/>
          </p:nvPicPr>
          <p:blipFill>
            <a:blip r:embed="rId3" cstate="print"/>
            <a:stretch>
              <a:fillRect/>
            </a:stretch>
          </p:blipFill>
          <p:spPr>
            <a:xfrm>
              <a:off x="9899650" y="5421630"/>
              <a:ext cx="386080" cy="167640"/>
            </a:xfrm>
            <a:prstGeom prst="rect">
              <a:avLst/>
            </a:prstGeom>
          </p:spPr>
        </p:pic>
        <p:pic>
          <p:nvPicPr>
            <p:cNvPr id="147" name="object 147"/>
            <p:cNvPicPr/>
            <p:nvPr/>
          </p:nvPicPr>
          <p:blipFill>
            <a:blip r:embed="rId3" cstate="print"/>
            <a:stretch>
              <a:fillRect/>
            </a:stretch>
          </p:blipFill>
          <p:spPr>
            <a:xfrm>
              <a:off x="10915650" y="5421630"/>
              <a:ext cx="386080" cy="167640"/>
            </a:xfrm>
            <a:prstGeom prst="rect">
              <a:avLst/>
            </a:prstGeom>
          </p:spPr>
        </p:pic>
        <p:pic>
          <p:nvPicPr>
            <p:cNvPr id="148" name="object 148"/>
            <p:cNvPicPr/>
            <p:nvPr/>
          </p:nvPicPr>
          <p:blipFill>
            <a:blip r:embed="rId12" cstate="print"/>
            <a:stretch>
              <a:fillRect/>
            </a:stretch>
          </p:blipFill>
          <p:spPr>
            <a:xfrm>
              <a:off x="11880850" y="5434330"/>
              <a:ext cx="398780" cy="167640"/>
            </a:xfrm>
            <a:prstGeom prst="rect">
              <a:avLst/>
            </a:prstGeom>
          </p:spPr>
        </p:pic>
        <p:sp>
          <p:nvSpPr>
            <p:cNvPr id="149" name="object 149"/>
            <p:cNvSpPr/>
            <p:nvPr/>
          </p:nvSpPr>
          <p:spPr>
            <a:xfrm>
              <a:off x="11045724" y="4473068"/>
              <a:ext cx="0" cy="654685"/>
            </a:xfrm>
            <a:custGeom>
              <a:avLst/>
              <a:gdLst/>
              <a:ahLst/>
              <a:cxnLst/>
              <a:rect l="l" t="t" r="r" b="b"/>
              <a:pathLst>
                <a:path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0" name="object 150"/>
            <p:cNvSpPr/>
            <p:nvPr/>
          </p:nvSpPr>
          <p:spPr>
            <a:xfrm>
              <a:off x="10842225" y="4473068"/>
              <a:ext cx="0" cy="654685"/>
            </a:xfrm>
            <a:custGeom>
              <a:avLst/>
              <a:gdLst/>
              <a:ahLst/>
              <a:cxnLst/>
              <a:rect l="l" t="t" r="r" b="b"/>
              <a:pathLst>
                <a:path h="654685">
                  <a:moveTo>
                    <a:pt x="0" y="0"/>
                  </a:moveTo>
                  <a:lnTo>
                    <a:pt x="0" y="654463"/>
                  </a:lnTo>
                </a:path>
              </a:pathLst>
            </a:custGeom>
            <a:ln w="24831">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1" name="object 151"/>
            <p:cNvSpPr/>
            <p:nvPr/>
          </p:nvSpPr>
          <p:spPr>
            <a:xfrm>
              <a:off x="10323348" y="4473068"/>
              <a:ext cx="0" cy="680085"/>
            </a:xfrm>
            <a:custGeom>
              <a:avLst/>
              <a:gdLst/>
              <a:ahLst/>
              <a:cxnLst/>
              <a:rect l="l" t="t" r="r" b="b"/>
              <a:pathLst>
                <a:path h="680085">
                  <a:moveTo>
                    <a:pt x="0" y="0"/>
                  </a:moveTo>
                  <a:lnTo>
                    <a:pt x="0" y="654463"/>
                  </a:lnTo>
                </a:path>
                <a:path h="680085">
                  <a:moveTo>
                    <a:pt x="0" y="654463"/>
                  </a:moveTo>
                  <a:lnTo>
                    <a:pt x="0" y="679863"/>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2" name="object 152"/>
            <p:cNvSpPr/>
            <p:nvPr/>
          </p:nvSpPr>
          <p:spPr>
            <a:xfrm>
              <a:off x="10829810" y="5127531"/>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3" name="object 153"/>
            <p:cNvSpPr/>
            <p:nvPr/>
          </p:nvSpPr>
          <p:spPr>
            <a:xfrm>
              <a:off x="10323348" y="4447668"/>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4" name="object 154"/>
            <p:cNvSpPr/>
            <p:nvPr/>
          </p:nvSpPr>
          <p:spPr>
            <a:xfrm>
              <a:off x="10829810" y="4447668"/>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5" name="object 155"/>
            <p:cNvSpPr/>
            <p:nvPr/>
          </p:nvSpPr>
          <p:spPr>
            <a:xfrm>
              <a:off x="10323773" y="3771991"/>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6" name="object 156"/>
            <p:cNvSpPr/>
            <p:nvPr/>
          </p:nvSpPr>
          <p:spPr>
            <a:xfrm>
              <a:off x="10323348" y="4426454"/>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7" name="object 157"/>
            <p:cNvSpPr/>
            <p:nvPr/>
          </p:nvSpPr>
          <p:spPr>
            <a:xfrm>
              <a:off x="10829810" y="4426454"/>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58" name="object 158"/>
            <p:cNvSpPr/>
            <p:nvPr/>
          </p:nvSpPr>
          <p:spPr>
            <a:xfrm>
              <a:off x="10311073" y="3759291"/>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59" name="object 159"/>
          <p:cNvSpPr txBox="1"/>
          <p:nvPr/>
        </p:nvSpPr>
        <p:spPr>
          <a:xfrm>
            <a:off x="8013850" y="3682719"/>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96</a:t>
            </a:r>
            <a:endParaRPr sz="2109" kern="0">
              <a:solidFill>
                <a:sysClr val="windowText" lastClr="000000"/>
              </a:solidFill>
              <a:latin typeface="Arial MT"/>
              <a:cs typeface="Arial MT"/>
            </a:endParaRPr>
          </a:p>
        </p:txBody>
      </p:sp>
      <p:sp>
        <p:nvSpPr>
          <p:cNvPr id="160" name="object 160"/>
          <p:cNvSpPr txBox="1"/>
          <p:nvPr/>
        </p:nvSpPr>
        <p:spPr>
          <a:xfrm>
            <a:off x="7308015" y="2727735"/>
            <a:ext cx="267891" cy="1316001"/>
          </a:xfrm>
          <a:prstGeom prst="rect">
            <a:avLst/>
          </a:prstGeom>
        </p:spPr>
        <p:txBody>
          <a:bodyPr vert="horz" wrap="square" lIns="0" tIns="0" rIns="0" bIns="0" rtlCol="0">
            <a:spAutoFit/>
          </a:bodyPr>
          <a:lstStyle/>
          <a:p>
            <a:pPr defTabSz="642915" fontAlgn="auto">
              <a:lnSpc>
                <a:spcPts val="2358"/>
              </a:lnSpc>
              <a:spcBef>
                <a:spcPts val="0"/>
              </a:spcBef>
              <a:spcAft>
                <a:spcPts val="0"/>
              </a:spcAft>
            </a:pPr>
            <a:r>
              <a:rPr sz="2109" kern="0" spc="-137" dirty="0">
                <a:solidFill>
                  <a:sysClr val="windowText" lastClr="000000"/>
                </a:solidFill>
                <a:latin typeface="Arial MT"/>
                <a:cs typeface="Arial MT"/>
              </a:rPr>
              <a:t>91</a:t>
            </a:r>
            <a:endParaRPr sz="2109" kern="0">
              <a:solidFill>
                <a:sysClr val="windowText" lastClr="000000"/>
              </a:solidFill>
              <a:latin typeface="Arial MT"/>
              <a:cs typeface="Arial MT"/>
            </a:endParaRPr>
          </a:p>
          <a:p>
            <a:pPr defTabSz="642915" fontAlgn="auto">
              <a:spcBef>
                <a:spcPts val="1350"/>
              </a:spcBef>
              <a:spcAft>
                <a:spcPts val="0"/>
              </a:spcAft>
            </a:pPr>
            <a:r>
              <a:rPr sz="2109" kern="0" spc="-137" dirty="0">
                <a:solidFill>
                  <a:sysClr val="windowText" lastClr="000000"/>
                </a:solidFill>
                <a:latin typeface="Arial MT"/>
                <a:cs typeface="Arial MT"/>
              </a:rPr>
              <a:t>91</a:t>
            </a:r>
            <a:endParaRPr sz="2109" kern="0">
              <a:solidFill>
                <a:sysClr val="windowText" lastClr="000000"/>
              </a:solidFill>
              <a:latin typeface="Arial MT"/>
              <a:cs typeface="Arial MT"/>
            </a:endParaRPr>
          </a:p>
          <a:p>
            <a:pPr defTabSz="642915" fontAlgn="auto">
              <a:spcBef>
                <a:spcPts val="1350"/>
              </a:spcBef>
              <a:spcAft>
                <a:spcPts val="0"/>
              </a:spcAft>
            </a:pPr>
            <a:r>
              <a:rPr sz="2109" kern="0" spc="-137" dirty="0">
                <a:solidFill>
                  <a:sysClr val="windowText" lastClr="000000"/>
                </a:solidFill>
                <a:latin typeface="Arial MT"/>
                <a:cs typeface="Arial MT"/>
              </a:rPr>
              <a:t>91</a:t>
            </a:r>
            <a:endParaRPr sz="2109" kern="0">
              <a:solidFill>
                <a:sysClr val="windowText" lastClr="000000"/>
              </a:solidFill>
              <a:latin typeface="Arial MT"/>
              <a:cs typeface="Arial MT"/>
            </a:endParaRPr>
          </a:p>
        </p:txBody>
      </p:sp>
      <p:grpSp>
        <p:nvGrpSpPr>
          <p:cNvPr id="161" name="object 161"/>
          <p:cNvGrpSpPr/>
          <p:nvPr/>
        </p:nvGrpSpPr>
        <p:grpSpPr>
          <a:xfrm>
            <a:off x="7267235" y="2681173"/>
            <a:ext cx="1393924" cy="1317575"/>
            <a:chOff x="10335623" y="3813223"/>
            <a:chExt cx="1982470" cy="1873885"/>
          </a:xfrm>
        </p:grpSpPr>
        <p:sp>
          <p:nvSpPr>
            <p:cNvPr id="162" name="object 162"/>
            <p:cNvSpPr/>
            <p:nvPr/>
          </p:nvSpPr>
          <p:spPr>
            <a:xfrm>
              <a:off x="10922000" y="4070350"/>
              <a:ext cx="1257300" cy="0"/>
            </a:xfrm>
            <a:custGeom>
              <a:avLst/>
              <a:gdLst/>
              <a:ahLst/>
              <a:cxnLst/>
              <a:rect l="l" t="t" r="r" b="b"/>
              <a:pathLst>
                <a:path w="1257300">
                  <a:moveTo>
                    <a:pt x="12573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63" name="object 163"/>
            <p:cNvSpPr/>
            <p:nvPr/>
          </p:nvSpPr>
          <p:spPr>
            <a:xfrm>
              <a:off x="12137390" y="39865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64" name="object 164"/>
            <p:cNvPicPr/>
            <p:nvPr/>
          </p:nvPicPr>
          <p:blipFill>
            <a:blip r:embed="rId7" cstate="print"/>
            <a:stretch>
              <a:fillRect/>
            </a:stretch>
          </p:blipFill>
          <p:spPr>
            <a:xfrm>
              <a:off x="10852149" y="4000499"/>
              <a:ext cx="139699" cy="139700"/>
            </a:xfrm>
            <a:prstGeom prst="rect">
              <a:avLst/>
            </a:prstGeom>
          </p:spPr>
        </p:pic>
        <p:sp>
          <p:nvSpPr>
            <p:cNvPr id="165" name="object 165"/>
            <p:cNvSpPr/>
            <p:nvPr/>
          </p:nvSpPr>
          <p:spPr>
            <a:xfrm>
              <a:off x="10922000" y="4806950"/>
              <a:ext cx="1270000" cy="0"/>
            </a:xfrm>
            <a:custGeom>
              <a:avLst/>
              <a:gdLst/>
              <a:ahLst/>
              <a:cxnLst/>
              <a:rect l="l" t="t" r="r" b="b"/>
              <a:pathLst>
                <a:path w="1270000">
                  <a:moveTo>
                    <a:pt x="12700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66" name="object 166"/>
            <p:cNvSpPr/>
            <p:nvPr/>
          </p:nvSpPr>
          <p:spPr>
            <a:xfrm>
              <a:off x="12150090" y="47231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67" name="object 167"/>
            <p:cNvPicPr/>
            <p:nvPr/>
          </p:nvPicPr>
          <p:blipFill>
            <a:blip r:embed="rId7" cstate="print"/>
            <a:stretch>
              <a:fillRect/>
            </a:stretch>
          </p:blipFill>
          <p:spPr>
            <a:xfrm>
              <a:off x="10852149" y="4737099"/>
              <a:ext cx="139699" cy="139700"/>
            </a:xfrm>
            <a:prstGeom prst="rect">
              <a:avLst/>
            </a:prstGeom>
          </p:spPr>
        </p:pic>
        <p:sp>
          <p:nvSpPr>
            <p:cNvPr id="168" name="object 168"/>
            <p:cNvSpPr/>
            <p:nvPr/>
          </p:nvSpPr>
          <p:spPr>
            <a:xfrm>
              <a:off x="10335623" y="3813223"/>
              <a:ext cx="494665" cy="1873885"/>
            </a:xfrm>
            <a:custGeom>
              <a:avLst/>
              <a:gdLst/>
              <a:ahLst/>
              <a:cxnLst/>
              <a:rect l="l" t="t" r="r" b="b"/>
              <a:pathLst>
                <a:path w="494665" h="1873885">
                  <a:moveTo>
                    <a:pt x="494186" y="0"/>
                  </a:moveTo>
                  <a:lnTo>
                    <a:pt x="0" y="0"/>
                  </a:lnTo>
                  <a:lnTo>
                    <a:pt x="0" y="1873463"/>
                  </a:lnTo>
                  <a:lnTo>
                    <a:pt x="494186" y="1873463"/>
                  </a:lnTo>
                  <a:lnTo>
                    <a:pt x="494186"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69" name="object 169"/>
          <p:cNvSpPr txBox="1"/>
          <p:nvPr/>
        </p:nvSpPr>
        <p:spPr>
          <a:xfrm>
            <a:off x="7298489" y="3154446"/>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91</a:t>
            </a:r>
            <a:endParaRPr sz="2109" kern="0">
              <a:solidFill>
                <a:sysClr val="windowText" lastClr="000000"/>
              </a:solidFill>
              <a:latin typeface="Arial MT"/>
              <a:cs typeface="Arial MT"/>
            </a:endParaRPr>
          </a:p>
        </p:txBody>
      </p:sp>
      <p:sp>
        <p:nvSpPr>
          <p:cNvPr id="170" name="object 170"/>
          <p:cNvSpPr txBox="1"/>
          <p:nvPr/>
        </p:nvSpPr>
        <p:spPr>
          <a:xfrm>
            <a:off x="777639" y="3262269"/>
            <a:ext cx="267891" cy="786241"/>
          </a:xfrm>
          <a:prstGeom prst="rect">
            <a:avLst/>
          </a:prstGeom>
        </p:spPr>
        <p:txBody>
          <a:bodyPr vert="horz" wrap="square" lIns="0" tIns="0" rIns="0" bIns="0" rtlCol="0">
            <a:spAutoFit/>
          </a:bodyPr>
          <a:lstStyle/>
          <a:p>
            <a:pPr defTabSz="642915" fontAlgn="auto">
              <a:lnSpc>
                <a:spcPts val="2358"/>
              </a:lnSpc>
              <a:spcBef>
                <a:spcPts val="0"/>
              </a:spcBef>
              <a:spcAft>
                <a:spcPts val="0"/>
              </a:spcAft>
            </a:pPr>
            <a:r>
              <a:rPr sz="2109" kern="0" spc="-137" dirty="0">
                <a:solidFill>
                  <a:sysClr val="windowText" lastClr="000000"/>
                </a:solidFill>
                <a:latin typeface="Arial MT"/>
                <a:cs typeface="Arial MT"/>
              </a:rPr>
              <a:t>15</a:t>
            </a:r>
            <a:endParaRPr sz="2109" kern="0">
              <a:solidFill>
                <a:sysClr val="windowText" lastClr="000000"/>
              </a:solidFill>
              <a:latin typeface="Arial MT"/>
              <a:cs typeface="Arial MT"/>
            </a:endParaRPr>
          </a:p>
          <a:p>
            <a:pPr marL="66524" defTabSz="642915" fontAlgn="auto">
              <a:spcBef>
                <a:spcPts val="1237"/>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p:txBody>
      </p:sp>
      <p:grpSp>
        <p:nvGrpSpPr>
          <p:cNvPr id="171" name="object 171"/>
          <p:cNvGrpSpPr/>
          <p:nvPr/>
        </p:nvGrpSpPr>
        <p:grpSpPr>
          <a:xfrm>
            <a:off x="710667" y="3168856"/>
            <a:ext cx="543371" cy="496044"/>
            <a:chOff x="1010726" y="4506817"/>
            <a:chExt cx="772795" cy="705485"/>
          </a:xfrm>
        </p:grpSpPr>
        <p:sp>
          <p:nvSpPr>
            <p:cNvPr id="172" name="object 172"/>
            <p:cNvSpPr/>
            <p:nvPr/>
          </p:nvSpPr>
          <p:spPr>
            <a:xfrm>
              <a:off x="1036126" y="4532217"/>
              <a:ext cx="721995" cy="654685"/>
            </a:xfrm>
            <a:custGeom>
              <a:avLst/>
              <a:gdLst/>
              <a:ahLst/>
              <a:cxnLst/>
              <a:rect l="l" t="t" r="r" b="b"/>
              <a:pathLst>
                <a:path w="721994" h="654685">
                  <a:moveTo>
                    <a:pt x="721951" y="0"/>
                  </a:moveTo>
                  <a:lnTo>
                    <a:pt x="721951" y="654463"/>
                  </a:lnTo>
                </a:path>
                <a:path w="721994" h="654685">
                  <a:moveTo>
                    <a:pt x="518168" y="0"/>
                  </a:moveTo>
                  <a:lnTo>
                    <a:pt x="518168" y="654463"/>
                  </a:lnTo>
                </a:path>
                <a:path w="721994" h="654685">
                  <a:moveTo>
                    <a:pt x="0" y="0"/>
                  </a:moveTo>
                  <a:lnTo>
                    <a:pt x="0" y="654463"/>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3" name="object 173"/>
            <p:cNvSpPr/>
            <p:nvPr/>
          </p:nvSpPr>
          <p:spPr>
            <a:xfrm>
              <a:off x="1023416" y="5186692"/>
              <a:ext cx="747395" cy="25400"/>
            </a:xfrm>
            <a:custGeom>
              <a:avLst/>
              <a:gdLst/>
              <a:ahLst/>
              <a:cxnLst/>
              <a:rect l="l" t="t" r="r" b="b"/>
              <a:pathLst>
                <a:path w="747394" h="25400">
                  <a:moveTo>
                    <a:pt x="30365" y="0"/>
                  </a:moveTo>
                  <a:lnTo>
                    <a:pt x="0" y="0"/>
                  </a:lnTo>
                  <a:lnTo>
                    <a:pt x="0" y="25400"/>
                  </a:lnTo>
                  <a:lnTo>
                    <a:pt x="30365" y="25400"/>
                  </a:lnTo>
                  <a:lnTo>
                    <a:pt x="30365" y="0"/>
                  </a:lnTo>
                  <a:close/>
                </a:path>
                <a:path w="747394" h="25400">
                  <a:moveTo>
                    <a:pt x="747356" y="0"/>
                  </a:moveTo>
                  <a:lnTo>
                    <a:pt x="521106" y="0"/>
                  </a:lnTo>
                  <a:lnTo>
                    <a:pt x="521106" y="25400"/>
                  </a:lnTo>
                  <a:lnTo>
                    <a:pt x="747356" y="25400"/>
                  </a:lnTo>
                  <a:lnTo>
                    <a:pt x="747356"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4" name="object 174"/>
            <p:cNvSpPr/>
            <p:nvPr/>
          </p:nvSpPr>
          <p:spPr>
            <a:xfrm>
              <a:off x="1023426" y="4519517"/>
              <a:ext cx="747395" cy="0"/>
            </a:xfrm>
            <a:custGeom>
              <a:avLst/>
              <a:gdLst/>
              <a:ahLst/>
              <a:cxnLst/>
              <a:rect l="l" t="t" r="r" b="b"/>
              <a:pathLst>
                <a:path w="747394">
                  <a:moveTo>
                    <a:pt x="0" y="0"/>
                  </a:moveTo>
                  <a:lnTo>
                    <a:pt x="747351" y="0"/>
                  </a:lnTo>
                </a:path>
              </a:pathLst>
            </a:custGeom>
            <a:ln w="254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grpSp>
      <p:sp>
        <p:nvSpPr>
          <p:cNvPr id="175" name="object 175"/>
          <p:cNvSpPr/>
          <p:nvPr/>
        </p:nvSpPr>
        <p:spPr>
          <a:xfrm>
            <a:off x="740943" y="3242603"/>
            <a:ext cx="345132" cy="854571"/>
          </a:xfrm>
          <a:custGeom>
            <a:avLst/>
            <a:gdLst/>
            <a:ahLst/>
            <a:cxnLst/>
            <a:rect l="l" t="t" r="r" b="b"/>
            <a:pathLst>
              <a:path w="490855" h="1215389">
                <a:moveTo>
                  <a:pt x="490750" y="0"/>
                </a:moveTo>
                <a:lnTo>
                  <a:pt x="0" y="0"/>
                </a:lnTo>
                <a:lnTo>
                  <a:pt x="0" y="1215199"/>
                </a:lnTo>
                <a:lnTo>
                  <a:pt x="490750" y="1215199"/>
                </a:lnTo>
                <a:lnTo>
                  <a:pt x="490750"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6" name="object 176"/>
          <p:cNvSpPr txBox="1"/>
          <p:nvPr/>
        </p:nvSpPr>
        <p:spPr>
          <a:xfrm>
            <a:off x="739609" y="3483705"/>
            <a:ext cx="344686" cy="333593"/>
          </a:xfrm>
          <a:prstGeom prst="rect">
            <a:avLst/>
          </a:prstGeom>
        </p:spPr>
        <p:txBody>
          <a:bodyPr vert="horz" wrap="square" lIns="0" tIns="8930" rIns="0" bIns="0" rtlCol="0">
            <a:spAutoFit/>
          </a:bodyPr>
          <a:lstStyle/>
          <a:p>
            <a:pPr marL="108045" defTabSz="642915" fontAlgn="auto">
              <a:spcBef>
                <a:spcPts val="70"/>
              </a:spcBef>
              <a:spcAft>
                <a:spcPts val="0"/>
              </a:spcAft>
            </a:pPr>
            <a:r>
              <a:rPr sz="2109" kern="0" spc="-35" dirty="0">
                <a:solidFill>
                  <a:sysClr val="windowText" lastClr="000000"/>
                </a:solidFill>
                <a:latin typeface="Arial MT"/>
                <a:cs typeface="Arial MT"/>
              </a:rPr>
              <a:t>2</a:t>
            </a:r>
            <a:endParaRPr sz="2109" kern="0">
              <a:solidFill>
                <a:sysClr val="windowText" lastClr="000000"/>
              </a:solidFill>
              <a:latin typeface="Arial MT"/>
              <a:cs typeface="Arial MT"/>
            </a:endParaRPr>
          </a:p>
        </p:txBody>
      </p:sp>
      <p:sp>
        <p:nvSpPr>
          <p:cNvPr id="177" name="object 177"/>
          <p:cNvSpPr/>
          <p:nvPr/>
        </p:nvSpPr>
        <p:spPr>
          <a:xfrm>
            <a:off x="6546135" y="3232576"/>
            <a:ext cx="347811" cy="854571"/>
          </a:xfrm>
          <a:custGeom>
            <a:avLst/>
            <a:gdLst/>
            <a:ahLst/>
            <a:cxnLst/>
            <a:rect l="l" t="t" r="r" b="b"/>
            <a:pathLst>
              <a:path w="494665" h="1215389">
                <a:moveTo>
                  <a:pt x="494186" y="0"/>
                </a:moveTo>
                <a:lnTo>
                  <a:pt x="0" y="0"/>
                </a:lnTo>
                <a:lnTo>
                  <a:pt x="0" y="1214824"/>
                </a:lnTo>
                <a:lnTo>
                  <a:pt x="494186" y="1214824"/>
                </a:lnTo>
                <a:lnTo>
                  <a:pt x="494186" y="0"/>
                </a:lnTo>
                <a:close/>
              </a:path>
            </a:pathLst>
          </a:custGeom>
          <a:solidFill>
            <a:srgbClr val="FFFF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78" name="object 178"/>
          <p:cNvSpPr txBox="1"/>
          <p:nvPr/>
        </p:nvSpPr>
        <p:spPr>
          <a:xfrm>
            <a:off x="6577388" y="3473679"/>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89</a:t>
            </a:r>
            <a:endParaRPr sz="2109" kern="0">
              <a:solidFill>
                <a:sysClr val="windowText" lastClr="000000"/>
              </a:solidFill>
              <a:latin typeface="Arial MT"/>
              <a:cs typeface="Arial MT"/>
            </a:endParaRPr>
          </a:p>
        </p:txBody>
      </p:sp>
      <p:grpSp>
        <p:nvGrpSpPr>
          <p:cNvPr id="179" name="object 179"/>
          <p:cNvGrpSpPr/>
          <p:nvPr/>
        </p:nvGrpSpPr>
        <p:grpSpPr>
          <a:xfrm>
            <a:off x="341564" y="2439384"/>
            <a:ext cx="6899523" cy="1985963"/>
            <a:chOff x="485779" y="3469346"/>
            <a:chExt cx="9812655" cy="2824480"/>
          </a:xfrm>
        </p:grpSpPr>
        <p:sp>
          <p:nvSpPr>
            <p:cNvPr id="180" name="object 180"/>
            <p:cNvSpPr/>
            <p:nvPr/>
          </p:nvSpPr>
          <p:spPr>
            <a:xfrm>
              <a:off x="517529" y="3574248"/>
              <a:ext cx="3559810" cy="24765"/>
            </a:xfrm>
            <a:custGeom>
              <a:avLst/>
              <a:gdLst/>
              <a:ahLst/>
              <a:cxnLst/>
              <a:rect l="l" t="t" r="r" b="b"/>
              <a:pathLst>
                <a:path w="3559810" h="24764">
                  <a:moveTo>
                    <a:pt x="3559292" y="24664"/>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1" name="object 181"/>
            <p:cNvSpPr/>
            <p:nvPr/>
          </p:nvSpPr>
          <p:spPr>
            <a:xfrm>
              <a:off x="4071607" y="3469346"/>
              <a:ext cx="260350" cy="259079"/>
            </a:xfrm>
            <a:custGeom>
              <a:avLst/>
              <a:gdLst/>
              <a:ahLst/>
              <a:cxnLst/>
              <a:rect l="l" t="t" r="r" b="b"/>
              <a:pathLst>
                <a:path w="260350" h="259079">
                  <a:moveTo>
                    <a:pt x="1794" y="0"/>
                  </a:moveTo>
                  <a:lnTo>
                    <a:pt x="0" y="259073"/>
                  </a:lnTo>
                  <a:lnTo>
                    <a:pt x="259971" y="131331"/>
                  </a:lnTo>
                  <a:lnTo>
                    <a:pt x="1794"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2" name="object 182"/>
            <p:cNvSpPr/>
            <p:nvPr/>
          </p:nvSpPr>
          <p:spPr>
            <a:xfrm>
              <a:off x="4201040" y="3574248"/>
              <a:ext cx="8890" cy="385445"/>
            </a:xfrm>
            <a:custGeom>
              <a:avLst/>
              <a:gdLst/>
              <a:ahLst/>
              <a:cxnLst/>
              <a:rect l="l" t="t" r="r" b="b"/>
              <a:pathLst>
                <a:path w="8889" h="385445">
                  <a:moveTo>
                    <a:pt x="0" y="385326"/>
                  </a:moveTo>
                  <a:lnTo>
                    <a:pt x="8798" y="0"/>
                  </a:lnTo>
                </a:path>
              </a:pathLst>
            </a:custGeom>
            <a:ln w="63499">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3" name="object 183"/>
            <p:cNvSpPr/>
            <p:nvPr/>
          </p:nvSpPr>
          <p:spPr>
            <a:xfrm>
              <a:off x="4071632" y="3952302"/>
              <a:ext cx="259079" cy="262255"/>
            </a:xfrm>
            <a:custGeom>
              <a:avLst/>
              <a:gdLst/>
              <a:ahLst/>
              <a:cxnLst/>
              <a:rect l="l" t="t" r="r" b="b"/>
              <a:pathLst>
                <a:path w="259079" h="262254">
                  <a:moveTo>
                    <a:pt x="0" y="0"/>
                  </a:moveTo>
                  <a:lnTo>
                    <a:pt x="123592" y="261969"/>
                  </a:lnTo>
                  <a:lnTo>
                    <a:pt x="259012" y="5914"/>
                  </a:lnTo>
                  <a:lnTo>
                    <a:pt x="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4" name="object 184"/>
            <p:cNvSpPr/>
            <p:nvPr/>
          </p:nvSpPr>
          <p:spPr>
            <a:xfrm>
              <a:off x="4209840" y="4198206"/>
              <a:ext cx="1827530" cy="7620"/>
            </a:xfrm>
            <a:custGeom>
              <a:avLst/>
              <a:gdLst/>
              <a:ahLst/>
              <a:cxnLst/>
              <a:rect l="l" t="t" r="r" b="b"/>
              <a:pathLst>
                <a:path w="1827529" h="7620">
                  <a:moveTo>
                    <a:pt x="1827049" y="0"/>
                  </a:moveTo>
                  <a:lnTo>
                    <a:pt x="0" y="7011"/>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5" name="object 185"/>
            <p:cNvSpPr/>
            <p:nvPr/>
          </p:nvSpPr>
          <p:spPr>
            <a:xfrm>
              <a:off x="6032074" y="4068682"/>
              <a:ext cx="259715" cy="259079"/>
            </a:xfrm>
            <a:custGeom>
              <a:avLst/>
              <a:gdLst/>
              <a:ahLst/>
              <a:cxnLst/>
              <a:rect l="l" t="t" r="r" b="b"/>
              <a:pathLst>
                <a:path w="259714" h="259079">
                  <a:moveTo>
                    <a:pt x="0" y="0"/>
                  </a:moveTo>
                  <a:lnTo>
                    <a:pt x="994" y="259078"/>
                  </a:lnTo>
                  <a:lnTo>
                    <a:pt x="259575" y="128545"/>
                  </a:lnTo>
                  <a:lnTo>
                    <a:pt x="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6" name="object 186"/>
            <p:cNvSpPr/>
            <p:nvPr/>
          </p:nvSpPr>
          <p:spPr>
            <a:xfrm>
              <a:off x="6254750" y="42037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7" name="object 187"/>
            <p:cNvSpPr/>
            <p:nvPr/>
          </p:nvSpPr>
          <p:spPr>
            <a:xfrm>
              <a:off x="6125209" y="4618482"/>
              <a:ext cx="259079" cy="259079"/>
            </a:xfrm>
            <a:custGeom>
              <a:avLst/>
              <a:gdLst/>
              <a:ahLst/>
              <a:cxnLst/>
              <a:rect l="l" t="t" r="r" b="b"/>
              <a:pathLst>
                <a:path w="259079" h="259079">
                  <a:moveTo>
                    <a:pt x="259079" y="0"/>
                  </a:moveTo>
                  <a:lnTo>
                    <a:pt x="0" y="0"/>
                  </a:lnTo>
                  <a:lnTo>
                    <a:pt x="129539" y="259079"/>
                  </a:lnTo>
                  <a:lnTo>
                    <a:pt x="259079"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8" name="object 188"/>
            <p:cNvSpPr/>
            <p:nvPr/>
          </p:nvSpPr>
          <p:spPr>
            <a:xfrm>
              <a:off x="6254750" y="48768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89" name="object 189"/>
            <p:cNvSpPr/>
            <p:nvPr/>
          </p:nvSpPr>
          <p:spPr>
            <a:xfrm>
              <a:off x="6125209" y="5291582"/>
              <a:ext cx="259079" cy="259079"/>
            </a:xfrm>
            <a:custGeom>
              <a:avLst/>
              <a:gdLst/>
              <a:ahLst/>
              <a:cxnLst/>
              <a:rect l="l" t="t" r="r" b="b"/>
              <a:pathLst>
                <a:path w="259079" h="259079">
                  <a:moveTo>
                    <a:pt x="259079" y="0"/>
                  </a:moveTo>
                  <a:lnTo>
                    <a:pt x="0" y="0"/>
                  </a:lnTo>
                  <a:lnTo>
                    <a:pt x="129539" y="259079"/>
                  </a:lnTo>
                  <a:lnTo>
                    <a:pt x="259079"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0" name="object 190"/>
            <p:cNvSpPr/>
            <p:nvPr/>
          </p:nvSpPr>
          <p:spPr>
            <a:xfrm>
              <a:off x="6261100" y="5441950"/>
              <a:ext cx="647700" cy="0"/>
            </a:xfrm>
            <a:custGeom>
              <a:avLst/>
              <a:gdLst/>
              <a:ahLst/>
              <a:cxnLst/>
              <a:rect l="l" t="t" r="r" b="b"/>
              <a:pathLst>
                <a:path w="647700">
                  <a:moveTo>
                    <a:pt x="647700" y="0"/>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1" name="object 191"/>
            <p:cNvSpPr/>
            <p:nvPr/>
          </p:nvSpPr>
          <p:spPr>
            <a:xfrm>
              <a:off x="6904482" y="5312410"/>
              <a:ext cx="259079" cy="259079"/>
            </a:xfrm>
            <a:custGeom>
              <a:avLst/>
              <a:gdLst/>
              <a:ahLst/>
              <a:cxnLst/>
              <a:rect l="l" t="t" r="r" b="b"/>
              <a:pathLst>
                <a:path w="259079" h="259079">
                  <a:moveTo>
                    <a:pt x="0" y="0"/>
                  </a:moveTo>
                  <a:lnTo>
                    <a:pt x="0" y="259079"/>
                  </a:lnTo>
                  <a:lnTo>
                    <a:pt x="259079" y="129539"/>
                  </a:lnTo>
                  <a:lnTo>
                    <a:pt x="0"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2" name="object 192"/>
            <p:cNvSpPr/>
            <p:nvPr/>
          </p:nvSpPr>
          <p:spPr>
            <a:xfrm>
              <a:off x="7177711" y="5443787"/>
              <a:ext cx="635" cy="595630"/>
            </a:xfrm>
            <a:custGeom>
              <a:avLst/>
              <a:gdLst/>
              <a:ahLst/>
              <a:cxnLst/>
              <a:rect l="l" t="t" r="r" b="b"/>
              <a:pathLst>
                <a:path w="634" h="595629">
                  <a:moveTo>
                    <a:pt x="163" y="595116"/>
                  </a:moveTo>
                  <a:lnTo>
                    <a:pt x="0" y="0"/>
                  </a:lnTo>
                </a:path>
              </a:pathLst>
            </a:custGeom>
            <a:ln w="63500">
              <a:solidFill>
                <a:srgbClr val="FF2800"/>
              </a:solidFill>
              <a:prstDash val="sysDot"/>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3" name="object 193"/>
            <p:cNvSpPr/>
            <p:nvPr/>
          </p:nvSpPr>
          <p:spPr>
            <a:xfrm>
              <a:off x="7048333" y="6034622"/>
              <a:ext cx="259079" cy="259079"/>
            </a:xfrm>
            <a:custGeom>
              <a:avLst/>
              <a:gdLst/>
              <a:ahLst/>
              <a:cxnLst/>
              <a:rect l="l" t="t" r="r" b="b"/>
              <a:pathLst>
                <a:path w="259079" h="259079">
                  <a:moveTo>
                    <a:pt x="259044" y="0"/>
                  </a:moveTo>
                  <a:lnTo>
                    <a:pt x="0" y="0"/>
                  </a:lnTo>
                  <a:lnTo>
                    <a:pt x="129609" y="259044"/>
                  </a:lnTo>
                  <a:lnTo>
                    <a:pt x="259044" y="0"/>
                  </a:lnTo>
                  <a:close/>
                </a:path>
              </a:pathLst>
            </a:custGeom>
            <a:solidFill>
              <a:srgbClr val="FF28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4" name="object 194"/>
            <p:cNvSpPr/>
            <p:nvPr/>
          </p:nvSpPr>
          <p:spPr>
            <a:xfrm>
              <a:off x="8265819" y="51360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FF40FF"/>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5" name="object 195"/>
            <p:cNvSpPr/>
            <p:nvPr/>
          </p:nvSpPr>
          <p:spPr>
            <a:xfrm>
              <a:off x="8265819" y="5110645"/>
              <a:ext cx="747395" cy="25400"/>
            </a:xfrm>
            <a:custGeom>
              <a:avLst/>
              <a:gdLst/>
              <a:ahLst/>
              <a:cxnLst/>
              <a:rect l="l" t="t" r="r" b="b"/>
              <a:pathLst>
                <a:path w="747395" h="25400">
                  <a:moveTo>
                    <a:pt x="0" y="0"/>
                  </a:moveTo>
                  <a:lnTo>
                    <a:pt x="747351" y="0"/>
                  </a:lnTo>
                  <a:lnTo>
                    <a:pt x="747351" y="25400"/>
                  </a:lnTo>
                  <a:lnTo>
                    <a:pt x="0" y="25400"/>
                  </a:lnTo>
                  <a:lnTo>
                    <a:pt x="0" y="0"/>
                  </a:lnTo>
                  <a:close/>
                </a:path>
              </a:pathLst>
            </a:custGeom>
            <a:solidFill>
              <a:srgbClr val="FF40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6" name="object 196"/>
            <p:cNvSpPr/>
            <p:nvPr/>
          </p:nvSpPr>
          <p:spPr>
            <a:xfrm>
              <a:off x="8912564" y="5470396"/>
              <a:ext cx="224790" cy="10160"/>
            </a:xfrm>
            <a:custGeom>
              <a:avLst/>
              <a:gdLst/>
              <a:ahLst/>
              <a:cxnLst/>
              <a:rect l="l" t="t" r="r" b="b"/>
              <a:pathLst>
                <a:path w="224790" h="10160">
                  <a:moveTo>
                    <a:pt x="224500" y="0"/>
                  </a:moveTo>
                  <a:lnTo>
                    <a:pt x="0" y="9679"/>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197" name="object 197"/>
            <p:cNvSpPr/>
            <p:nvPr/>
          </p:nvSpPr>
          <p:spPr>
            <a:xfrm>
              <a:off x="9091581" y="5388459"/>
              <a:ext cx="171450" cy="167640"/>
            </a:xfrm>
            <a:custGeom>
              <a:avLst/>
              <a:gdLst/>
              <a:ahLst/>
              <a:cxnLst/>
              <a:rect l="l" t="t" r="r" b="b"/>
              <a:pathLst>
                <a:path w="171450" h="167639">
                  <a:moveTo>
                    <a:pt x="0" y="0"/>
                  </a:moveTo>
                  <a:lnTo>
                    <a:pt x="45482" y="81937"/>
                  </a:lnTo>
                  <a:lnTo>
                    <a:pt x="7222" y="167485"/>
                  </a:lnTo>
                  <a:lnTo>
                    <a:pt x="171095" y="76521"/>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198" name="object 198"/>
            <p:cNvPicPr/>
            <p:nvPr/>
          </p:nvPicPr>
          <p:blipFill>
            <a:blip r:embed="rId13" cstate="print"/>
            <a:stretch>
              <a:fillRect/>
            </a:stretch>
          </p:blipFill>
          <p:spPr>
            <a:xfrm>
              <a:off x="8842778" y="5410291"/>
              <a:ext cx="139570" cy="139570"/>
            </a:xfrm>
            <a:prstGeom prst="rect">
              <a:avLst/>
            </a:prstGeom>
          </p:spPr>
        </p:pic>
        <p:sp>
          <p:nvSpPr>
            <p:cNvPr id="199" name="object 199"/>
            <p:cNvSpPr/>
            <p:nvPr/>
          </p:nvSpPr>
          <p:spPr>
            <a:xfrm>
              <a:off x="8278519" y="4462943"/>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FF40FF"/>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0" name="object 200"/>
            <p:cNvSpPr/>
            <p:nvPr/>
          </p:nvSpPr>
          <p:spPr>
            <a:xfrm>
              <a:off x="8265808" y="4437544"/>
              <a:ext cx="747395" cy="705485"/>
            </a:xfrm>
            <a:custGeom>
              <a:avLst/>
              <a:gdLst/>
              <a:ahLst/>
              <a:cxnLst/>
              <a:rect l="l" t="t" r="r" b="b"/>
              <a:pathLst>
                <a:path w="747395" h="705485">
                  <a:moveTo>
                    <a:pt x="747356" y="679869"/>
                  </a:moveTo>
                  <a:lnTo>
                    <a:pt x="0" y="679869"/>
                  </a:lnTo>
                  <a:lnTo>
                    <a:pt x="0" y="705269"/>
                  </a:lnTo>
                  <a:lnTo>
                    <a:pt x="747356" y="705269"/>
                  </a:lnTo>
                  <a:lnTo>
                    <a:pt x="747356" y="679869"/>
                  </a:lnTo>
                  <a:close/>
                </a:path>
                <a:path w="747395" h="705485">
                  <a:moveTo>
                    <a:pt x="747356" y="0"/>
                  </a:moveTo>
                  <a:lnTo>
                    <a:pt x="0" y="0"/>
                  </a:lnTo>
                  <a:lnTo>
                    <a:pt x="0" y="25400"/>
                  </a:lnTo>
                  <a:lnTo>
                    <a:pt x="747356" y="25400"/>
                  </a:lnTo>
                  <a:lnTo>
                    <a:pt x="747356" y="0"/>
                  </a:lnTo>
                  <a:close/>
                </a:path>
              </a:pathLst>
            </a:custGeom>
            <a:solidFill>
              <a:srgbClr val="FF40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1" name="object 201"/>
            <p:cNvSpPr/>
            <p:nvPr/>
          </p:nvSpPr>
          <p:spPr>
            <a:xfrm>
              <a:off x="8912564" y="4797296"/>
              <a:ext cx="224790" cy="10160"/>
            </a:xfrm>
            <a:custGeom>
              <a:avLst/>
              <a:gdLst/>
              <a:ahLst/>
              <a:cxnLst/>
              <a:rect l="l" t="t" r="r" b="b"/>
              <a:pathLst>
                <a:path w="224790" h="10160">
                  <a:moveTo>
                    <a:pt x="224500" y="0"/>
                  </a:moveTo>
                  <a:lnTo>
                    <a:pt x="0" y="9679"/>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2" name="object 202"/>
            <p:cNvSpPr/>
            <p:nvPr/>
          </p:nvSpPr>
          <p:spPr>
            <a:xfrm>
              <a:off x="9091581" y="4715358"/>
              <a:ext cx="171450" cy="167640"/>
            </a:xfrm>
            <a:custGeom>
              <a:avLst/>
              <a:gdLst/>
              <a:ahLst/>
              <a:cxnLst/>
              <a:rect l="l" t="t" r="r" b="b"/>
              <a:pathLst>
                <a:path w="171450" h="167639">
                  <a:moveTo>
                    <a:pt x="0" y="0"/>
                  </a:moveTo>
                  <a:lnTo>
                    <a:pt x="45482" y="81937"/>
                  </a:lnTo>
                  <a:lnTo>
                    <a:pt x="7222" y="167485"/>
                  </a:lnTo>
                  <a:lnTo>
                    <a:pt x="171095" y="76521"/>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203" name="object 203"/>
            <p:cNvPicPr/>
            <p:nvPr/>
          </p:nvPicPr>
          <p:blipFill>
            <a:blip r:embed="rId13" cstate="print"/>
            <a:stretch>
              <a:fillRect/>
            </a:stretch>
          </p:blipFill>
          <p:spPr>
            <a:xfrm>
              <a:off x="8842778" y="4737191"/>
              <a:ext cx="139570" cy="139570"/>
            </a:xfrm>
            <a:prstGeom prst="rect">
              <a:avLst/>
            </a:prstGeom>
          </p:spPr>
        </p:pic>
        <p:sp>
          <p:nvSpPr>
            <p:cNvPr id="204" name="object 204"/>
            <p:cNvSpPr/>
            <p:nvPr/>
          </p:nvSpPr>
          <p:spPr>
            <a:xfrm>
              <a:off x="8278519" y="3764443"/>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FF40FF"/>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5" name="object 205"/>
            <p:cNvSpPr/>
            <p:nvPr/>
          </p:nvSpPr>
          <p:spPr>
            <a:xfrm>
              <a:off x="8265819" y="4418907"/>
              <a:ext cx="747395" cy="25400"/>
            </a:xfrm>
            <a:custGeom>
              <a:avLst/>
              <a:gdLst/>
              <a:ahLst/>
              <a:cxnLst/>
              <a:rect l="l" t="t" r="r" b="b"/>
              <a:pathLst>
                <a:path w="747395" h="25400">
                  <a:moveTo>
                    <a:pt x="0" y="0"/>
                  </a:moveTo>
                  <a:lnTo>
                    <a:pt x="747351" y="0"/>
                  </a:lnTo>
                  <a:lnTo>
                    <a:pt x="747351" y="25400"/>
                  </a:lnTo>
                  <a:lnTo>
                    <a:pt x="0" y="25400"/>
                  </a:lnTo>
                  <a:lnTo>
                    <a:pt x="0" y="0"/>
                  </a:lnTo>
                  <a:close/>
                </a:path>
              </a:pathLst>
            </a:custGeom>
            <a:solidFill>
              <a:srgbClr val="FF40FF"/>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6" name="object 206"/>
            <p:cNvSpPr/>
            <p:nvPr/>
          </p:nvSpPr>
          <p:spPr>
            <a:xfrm>
              <a:off x="8265819" y="3751743"/>
              <a:ext cx="747395" cy="0"/>
            </a:xfrm>
            <a:custGeom>
              <a:avLst/>
              <a:gdLst/>
              <a:ahLst/>
              <a:cxnLst/>
              <a:rect l="l" t="t" r="r" b="b"/>
              <a:pathLst>
                <a:path w="747395">
                  <a:moveTo>
                    <a:pt x="0" y="0"/>
                  </a:moveTo>
                  <a:lnTo>
                    <a:pt x="747351" y="0"/>
                  </a:lnTo>
                </a:path>
              </a:pathLst>
            </a:custGeom>
            <a:ln w="25400">
              <a:solidFill>
                <a:srgbClr val="FF40FF"/>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7" name="object 207"/>
            <p:cNvSpPr/>
            <p:nvPr/>
          </p:nvSpPr>
          <p:spPr>
            <a:xfrm>
              <a:off x="8915399" y="4108450"/>
              <a:ext cx="1257300" cy="0"/>
            </a:xfrm>
            <a:custGeom>
              <a:avLst/>
              <a:gdLst/>
              <a:ahLst/>
              <a:cxnLst/>
              <a:rect l="l" t="t" r="r" b="b"/>
              <a:pathLst>
                <a:path w="1257300">
                  <a:moveTo>
                    <a:pt x="1257300" y="0"/>
                  </a:moveTo>
                  <a:lnTo>
                    <a:pt x="0" y="0"/>
                  </a:lnTo>
                </a:path>
              </a:pathLst>
            </a:custGeom>
            <a:ln w="38100">
              <a:solidFill>
                <a:srgbClr val="000000"/>
              </a:solidFill>
            </a:ln>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sp>
          <p:nvSpPr>
            <p:cNvPr id="208" name="object 208"/>
            <p:cNvSpPr/>
            <p:nvPr/>
          </p:nvSpPr>
          <p:spPr>
            <a:xfrm>
              <a:off x="10130789" y="40246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pPr defTabSz="642915" fontAlgn="auto">
                <a:spcBef>
                  <a:spcPts val="0"/>
                </a:spcBef>
                <a:spcAft>
                  <a:spcPts val="0"/>
                </a:spcAft>
              </a:pPr>
              <a:endParaRPr sz="1266" kern="0">
                <a:solidFill>
                  <a:sysClr val="windowText" lastClr="000000"/>
                </a:solidFill>
              </a:endParaRPr>
            </a:p>
          </p:txBody>
        </p:sp>
        <p:pic>
          <p:nvPicPr>
            <p:cNvPr id="209" name="object 209"/>
            <p:cNvPicPr/>
            <p:nvPr/>
          </p:nvPicPr>
          <p:blipFill>
            <a:blip r:embed="rId11" cstate="print"/>
            <a:stretch>
              <a:fillRect/>
            </a:stretch>
          </p:blipFill>
          <p:spPr>
            <a:xfrm>
              <a:off x="8845549" y="4038599"/>
              <a:ext cx="139699" cy="139700"/>
            </a:xfrm>
            <a:prstGeom prst="rect">
              <a:avLst/>
            </a:prstGeom>
          </p:spPr>
        </p:pic>
      </p:grpSp>
      <p:sp>
        <p:nvSpPr>
          <p:cNvPr id="210" name="object 210"/>
          <p:cNvSpPr txBox="1"/>
          <p:nvPr/>
        </p:nvSpPr>
        <p:spPr>
          <a:xfrm>
            <a:off x="5861017" y="3655930"/>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87</a:t>
            </a:r>
            <a:endParaRPr sz="2109" kern="0">
              <a:solidFill>
                <a:sysClr val="windowText" lastClr="000000"/>
              </a:solidFill>
              <a:latin typeface="Arial MT"/>
              <a:cs typeface="Arial MT"/>
            </a:endParaRPr>
          </a:p>
        </p:txBody>
      </p:sp>
      <p:sp>
        <p:nvSpPr>
          <p:cNvPr id="211" name="object 211"/>
          <p:cNvSpPr txBox="1"/>
          <p:nvPr/>
        </p:nvSpPr>
        <p:spPr>
          <a:xfrm>
            <a:off x="5861017" y="3182655"/>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87</a:t>
            </a:r>
            <a:endParaRPr sz="2109" kern="0">
              <a:solidFill>
                <a:sysClr val="windowText" lastClr="000000"/>
              </a:solidFill>
              <a:latin typeface="Arial MT"/>
              <a:cs typeface="Arial MT"/>
            </a:endParaRPr>
          </a:p>
        </p:txBody>
      </p:sp>
      <p:sp>
        <p:nvSpPr>
          <p:cNvPr id="212" name="object 212"/>
          <p:cNvSpPr txBox="1"/>
          <p:nvPr/>
        </p:nvSpPr>
        <p:spPr>
          <a:xfrm>
            <a:off x="5861017" y="2691523"/>
            <a:ext cx="285750" cy="333593"/>
          </a:xfrm>
          <a:prstGeom prst="rect">
            <a:avLst/>
          </a:prstGeom>
        </p:spPr>
        <p:txBody>
          <a:bodyPr vert="horz" wrap="square" lIns="0" tIns="8930" rIns="0" bIns="0" rtlCol="0">
            <a:spAutoFit/>
          </a:bodyPr>
          <a:lstStyle/>
          <a:p>
            <a:pPr marL="8929" defTabSz="642915" fontAlgn="auto">
              <a:spcBef>
                <a:spcPts val="70"/>
              </a:spcBef>
              <a:spcAft>
                <a:spcPts val="0"/>
              </a:spcAft>
            </a:pPr>
            <a:r>
              <a:rPr sz="2109" kern="0" spc="-102" dirty="0">
                <a:solidFill>
                  <a:sysClr val="windowText" lastClr="000000"/>
                </a:solidFill>
                <a:latin typeface="Arial MT"/>
                <a:cs typeface="Arial MT"/>
              </a:rPr>
              <a:t>87</a:t>
            </a:r>
            <a:endParaRPr sz="2109" kern="0">
              <a:solidFill>
                <a:sysClr val="windowText" lastClr="000000"/>
              </a:solidFill>
              <a:latin typeface="Arial MT"/>
              <a:cs typeface="Arial MT"/>
            </a:endParaRPr>
          </a:p>
        </p:txBody>
      </p:sp>
      <p:sp>
        <p:nvSpPr>
          <p:cNvPr id="222" name="标题 2"/>
          <p:cNvSpPr>
            <a:spLocks noGrp="1"/>
          </p:cNvSpPr>
          <p:nvPr>
            <p:ph type="title"/>
          </p:nvPr>
        </p:nvSpPr>
        <p:spPr>
          <a:xfrm>
            <a:off x="755529" y="332469"/>
            <a:ext cx="7568173" cy="415498"/>
          </a:xfrm>
        </p:spPr>
        <p:txBody>
          <a:bodyPr/>
          <a:lstStyle/>
          <a:p>
            <a:pPr algn="ctr"/>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插入</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例</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Tree>
    <p:extLst>
      <p:ext uri="{BB962C8B-B14F-4D97-AF65-F5344CB8AC3E}">
        <p14:creationId xmlns:p14="http://schemas.microsoft.com/office/powerpoint/2010/main" val="415177921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18"/>
          <p:cNvSpPr/>
          <p:nvPr/>
        </p:nvSpPr>
        <p:spPr>
          <a:xfrm>
            <a:off x="1121229" y="4025602"/>
            <a:ext cx="6978599" cy="205829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102</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683139" y="62012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删除</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
        <p:nvSpPr>
          <p:cNvPr id="4" name="内容占位符 3"/>
          <p:cNvSpPr>
            <a:spLocks noGrp="1"/>
          </p:cNvSpPr>
          <p:nvPr>
            <p:ph idx="1"/>
          </p:nvPr>
        </p:nvSpPr>
        <p:spPr>
          <a:xfrm>
            <a:off x="791365" y="1751515"/>
            <a:ext cx="8990901" cy="3754040"/>
          </a:xfrm>
        </p:spPr>
        <p:txBody>
          <a:bodyPr/>
          <a:lstStyle/>
          <a:p>
            <a:pPr>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删除索引项</a:t>
            </a:r>
            <a:r>
              <a:rPr lang="en-US" altLang="zh-CN" sz="1800" b="1" dirty="0">
                <a:solidFill>
                  <a:srgbClr val="701988"/>
                </a:solidFill>
                <a:latin typeface="微软雅黑" panose="020B0503020204020204" pitchFamily="82" charset="2"/>
                <a:ea typeface="微软雅黑" panose="020B0503020204020204" pitchFamily="82" charset="2"/>
                <a:cs typeface="Times New Roman" panose="02020603050405020304" pitchFamily="18" charset="0"/>
              </a:rPr>
              <a:t>(</a:t>
            </a:r>
            <a:r>
              <a:rPr lang="en-US" altLang="zh-CN" sz="1800" b="1" i="1" dirty="0">
                <a:solidFill>
                  <a:srgbClr val="701988"/>
                </a:solidFill>
                <a:latin typeface="微软雅黑" panose="020B0503020204020204" pitchFamily="82" charset="2"/>
                <a:ea typeface="微软雅黑" panose="020B0503020204020204" pitchFamily="82" charset="2"/>
                <a:cs typeface="Times New Roman" panose="02020603050405020304" pitchFamily="18" charset="0"/>
              </a:rPr>
              <a:t>x</a:t>
            </a:r>
            <a:r>
              <a:rPr lang="en-US" altLang="zh-CN" sz="1800" b="1" dirty="0">
                <a:solidFill>
                  <a:srgbClr val="701988"/>
                </a:solidFill>
                <a:latin typeface="微软雅黑" panose="020B0503020204020204" pitchFamily="82" charset="2"/>
                <a:ea typeface="微软雅黑" panose="020B0503020204020204" pitchFamily="82" charset="2"/>
                <a:cs typeface="Times New Roman" panose="02020603050405020304" pitchFamily="18" charset="0"/>
              </a:rPr>
              <a:t>, </a:t>
            </a:r>
            <a:r>
              <a:rPr lang="en-US" altLang="zh-CN" sz="1800" b="1" i="1" dirty="0">
                <a:solidFill>
                  <a:srgbClr val="701988"/>
                </a:solidFill>
                <a:latin typeface="微软雅黑" panose="020B0503020204020204" pitchFamily="82" charset="2"/>
                <a:ea typeface="微软雅黑" panose="020B0503020204020204" pitchFamily="82" charset="2"/>
                <a:cs typeface="Times New Roman" panose="02020603050405020304" pitchFamily="18" charset="0"/>
              </a:rPr>
              <a:t>o</a:t>
            </a:r>
            <a:r>
              <a:rPr lang="en-US" altLang="zh-CN" sz="1800" b="1" dirty="0">
                <a:solidFill>
                  <a:srgbClr val="701988"/>
                </a:solidFill>
                <a:latin typeface="微软雅黑" panose="020B0503020204020204" pitchFamily="82" charset="2"/>
                <a:ea typeface="微软雅黑" panose="020B0503020204020204" pitchFamily="82" charset="2"/>
                <a:cs typeface="Times New Roman" panose="02020603050405020304" pitchFamily="18" charset="0"/>
              </a:rPr>
              <a:t>) </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在</a:t>
            </a:r>
            <a:r>
              <a:rPr lang="en-US" altLang="zh-CN" sz="1500" dirty="0">
                <a:latin typeface="微软雅黑" panose="020B0503020204020204" pitchFamily="82" charset="2"/>
                <a:ea typeface="微软雅黑" panose="020B0503020204020204" pitchFamily="82" charset="2"/>
              </a:rPr>
              <a:t>S </a:t>
            </a:r>
            <a:r>
              <a:rPr lang="zh-CN" altLang="en-US" sz="1500" dirty="0">
                <a:latin typeface="微软雅黑" panose="020B0503020204020204" pitchFamily="82" charset="2"/>
                <a:ea typeface="微软雅黑" panose="020B0503020204020204" pitchFamily="82" charset="2"/>
              </a:rPr>
              <a:t>中找到包含 </a:t>
            </a:r>
            <a:r>
              <a:rPr lang="en-US" altLang="zh-CN" sz="1500" dirty="0">
                <a:latin typeface="微软雅黑" panose="020B0503020204020204" pitchFamily="82" charset="2"/>
                <a:ea typeface="微软雅黑" panose="020B0503020204020204" pitchFamily="82" charset="2"/>
              </a:rPr>
              <a:t>x </a:t>
            </a:r>
            <a:r>
              <a:rPr lang="zh-CN" altLang="en-US" sz="1500" dirty="0">
                <a:latin typeface="微软雅黑" panose="020B0503020204020204" pitchFamily="82" charset="2"/>
                <a:ea typeface="微软雅黑" panose="020B0503020204020204" pitchFamily="82" charset="2"/>
              </a:rPr>
              <a:t>的链表</a:t>
            </a: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S</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 , S</a:t>
            </a:r>
            <a:r>
              <a:rPr lang="en-US" altLang="zh-CN" sz="1500" baseline="-25000" dirty="0">
                <a:latin typeface="微软雅黑" panose="020B0503020204020204" pitchFamily="82" charset="2"/>
                <a:ea typeface="微软雅黑" panose="020B0503020204020204" pitchFamily="82" charset="2"/>
              </a:rPr>
              <a:t>i</a:t>
            </a:r>
            <a:r>
              <a:rPr lang="zh-CN" altLang="en-US" sz="1500" dirty="0">
                <a:latin typeface="微软雅黑" panose="020B0503020204020204" pitchFamily="82" charset="2"/>
                <a:ea typeface="微软雅黑" panose="020B0503020204020204" pitchFamily="82" charset="2"/>
              </a:rPr>
              <a:t>，获得大于等于</a:t>
            </a:r>
            <a:r>
              <a:rPr lang="en-US" altLang="zh-CN" sz="1500" dirty="0">
                <a:latin typeface="微软雅黑" panose="020B0503020204020204" pitchFamily="82" charset="2"/>
                <a:ea typeface="微软雅黑" panose="020B0503020204020204" pitchFamily="82" charset="2"/>
              </a:rPr>
              <a:t>x </a:t>
            </a:r>
            <a:r>
              <a:rPr lang="zh-CN" altLang="en-US" sz="1500" dirty="0">
                <a:latin typeface="微软雅黑" panose="020B0503020204020204" pitchFamily="82" charset="2"/>
                <a:ea typeface="微软雅黑" panose="020B0503020204020204" pitchFamily="82" charset="2"/>
              </a:rPr>
              <a:t>位置</a:t>
            </a:r>
            <a:r>
              <a:rPr lang="en-US" altLang="zh-CN" sz="1500" dirty="0">
                <a:latin typeface="微软雅黑" panose="020B0503020204020204" pitchFamily="82" charset="2"/>
                <a:ea typeface="微软雅黑" panose="020B0503020204020204" pitchFamily="82" charset="2"/>
              </a:rPr>
              <a:t> p</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p</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 …, p</a:t>
            </a:r>
            <a:r>
              <a:rPr lang="en-US" altLang="zh-CN" sz="1500" baseline="-25000" dirty="0">
                <a:latin typeface="微软雅黑" panose="020B0503020204020204" pitchFamily="82" charset="2"/>
                <a:ea typeface="微软雅黑" panose="020B0503020204020204" pitchFamily="82" charset="2"/>
              </a:rPr>
              <a:t>i</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将位置</a:t>
            </a:r>
            <a:r>
              <a:rPr lang="en-US" altLang="zh-CN" sz="1500" dirty="0">
                <a:latin typeface="微软雅黑" panose="020B0503020204020204" pitchFamily="82" charset="2"/>
                <a:ea typeface="微软雅黑" panose="020B0503020204020204" pitchFamily="82" charset="2"/>
              </a:rPr>
              <a:t> p</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p</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 …, p</a:t>
            </a:r>
            <a:r>
              <a:rPr lang="en-US" altLang="zh-CN" sz="1500" baseline="-25000" dirty="0">
                <a:latin typeface="微软雅黑" panose="020B0503020204020204" pitchFamily="82" charset="2"/>
                <a:ea typeface="微软雅黑" panose="020B0503020204020204" pitchFamily="82" charset="2"/>
              </a:rPr>
              <a:t>i</a:t>
            </a:r>
            <a:r>
              <a:rPr lang="zh-CN" altLang="en-US" sz="1500" dirty="0">
                <a:latin typeface="微软雅黑" panose="020B0503020204020204" pitchFamily="82" charset="2"/>
                <a:ea typeface="微软雅黑" panose="020B0503020204020204" pitchFamily="82" charset="2"/>
              </a:rPr>
              <a:t>的键值从链表</a:t>
            </a:r>
            <a:r>
              <a:rPr lang="en-US" altLang="zh-CN" sz="1500" dirty="0">
                <a:latin typeface="微软雅黑" panose="020B0503020204020204" pitchFamily="82" charset="2"/>
                <a:ea typeface="微软雅黑" panose="020B0503020204020204" pitchFamily="82" charset="2"/>
              </a:rPr>
              <a:t>S</a:t>
            </a:r>
            <a:r>
              <a:rPr lang="en-US" altLang="zh-CN" sz="1500" baseline="-25000" dirty="0">
                <a:latin typeface="微软雅黑" panose="020B0503020204020204" pitchFamily="82" charset="2"/>
                <a:ea typeface="微软雅黑" panose="020B0503020204020204" pitchFamily="82" charset="2"/>
              </a:rPr>
              <a:t>0</a:t>
            </a:r>
            <a:r>
              <a:rPr lang="en-US" altLang="zh-CN" sz="1500" dirty="0">
                <a:latin typeface="微软雅黑" panose="020B0503020204020204" pitchFamily="82" charset="2"/>
                <a:ea typeface="微软雅黑" panose="020B0503020204020204" pitchFamily="82" charset="2"/>
              </a:rPr>
              <a:t>, S</a:t>
            </a:r>
            <a:r>
              <a:rPr lang="en-US" altLang="zh-CN" sz="1500" baseline="-25000" dirty="0">
                <a:latin typeface="微软雅黑" panose="020B0503020204020204" pitchFamily="82" charset="2"/>
                <a:ea typeface="微软雅黑" panose="020B0503020204020204" pitchFamily="82" charset="2"/>
              </a:rPr>
              <a:t>1</a:t>
            </a:r>
            <a:r>
              <a:rPr lang="en-US" altLang="zh-CN" sz="1500" dirty="0">
                <a:latin typeface="微软雅黑" panose="020B0503020204020204" pitchFamily="82" charset="2"/>
                <a:ea typeface="微软雅黑" panose="020B0503020204020204" pitchFamily="82" charset="2"/>
              </a:rPr>
              <a:t>, … , S</a:t>
            </a:r>
            <a:r>
              <a:rPr lang="en-US" altLang="zh-CN" sz="1500" baseline="-25000" dirty="0">
                <a:latin typeface="微软雅黑" panose="020B0503020204020204" pitchFamily="82" charset="2"/>
                <a:ea typeface="微软雅黑" panose="020B0503020204020204" pitchFamily="82" charset="2"/>
              </a:rPr>
              <a:t>i</a:t>
            </a:r>
            <a:r>
              <a:rPr lang="zh-CN" altLang="en-US" sz="1500" dirty="0">
                <a:latin typeface="微软雅黑" panose="020B0503020204020204" pitchFamily="82" charset="2"/>
                <a:ea typeface="微软雅黑" panose="020B0503020204020204" pitchFamily="82" charset="2"/>
              </a:rPr>
              <a:t>中删除</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如果有多个只包含</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 </a:t>
            </a:r>
            <a:r>
              <a:rPr lang="zh-CN" altLang="en-US" sz="1500" dirty="0">
                <a:latin typeface="微软雅黑" panose="020B0503020204020204" pitchFamily="82" charset="2"/>
                <a:ea typeface="微软雅黑" panose="020B0503020204020204" pitchFamily="82" charset="2"/>
              </a:rPr>
              <a:t>和</a:t>
            </a:r>
            <a:r>
              <a:rPr lang="en-US" altLang="zh-CN" sz="1500" dirty="0">
                <a:latin typeface="微软雅黑" panose="020B0503020204020204" pitchFamily="82" charset="2"/>
                <a:ea typeface="微软雅黑" panose="020B0503020204020204" pitchFamily="82" charset="2"/>
              </a:rPr>
              <a:t> </a:t>
            </a:r>
            <a:r>
              <a:rPr lang="en-US" altLang="zh-CN" sz="1500" dirty="0">
                <a:latin typeface="微软雅黑" panose="020B0503020204020204" pitchFamily="82" charset="2"/>
                <a:ea typeface="微软雅黑" panose="020B0503020204020204" pitchFamily="82" charset="2"/>
                <a:sym typeface="Symbol" panose="05050102010706020507" pitchFamily="18" charset="2"/>
              </a:rPr>
              <a:t>-</a:t>
            </a:r>
            <a:r>
              <a:rPr lang="en-US" altLang="zh-CN" sz="1500" dirty="0">
                <a:latin typeface="微软雅黑" panose="020B0503020204020204" pitchFamily="82" charset="2"/>
                <a:ea typeface="微软雅黑" panose="020B0503020204020204" pitchFamily="82" charset="2"/>
              </a:rPr>
              <a:t> </a:t>
            </a:r>
            <a:r>
              <a:rPr lang="zh-CN" altLang="en-US" sz="1500" dirty="0">
                <a:latin typeface="微软雅黑" panose="020B0503020204020204" pitchFamily="82" charset="2"/>
                <a:ea typeface="微软雅黑" panose="020B0503020204020204" pitchFamily="82" charset="2"/>
              </a:rPr>
              <a:t>的链表，仅保留最低层的一</a:t>
            </a:r>
            <a:r>
              <a:rPr lang="zh-CN" altLang="en-US" sz="1500" dirty="0" smtClean="0">
                <a:latin typeface="微软雅黑" panose="020B0503020204020204" pitchFamily="82" charset="2"/>
                <a:ea typeface="微软雅黑" panose="020B0503020204020204" pitchFamily="82" charset="2"/>
              </a:rPr>
              <a:t>个</a:t>
            </a:r>
            <a:endParaRPr lang="en-US" altLang="zh-CN" sz="1500" dirty="0" smtClean="0">
              <a:latin typeface="微软雅黑" panose="020B0503020204020204" pitchFamily="82" charset="2"/>
              <a:ea typeface="微软雅黑" panose="020B0503020204020204" pitchFamily="82" charset="2"/>
            </a:endParaRPr>
          </a:p>
          <a:p>
            <a:pPr>
              <a:lnSpc>
                <a:spcPct val="150000"/>
              </a:lnSpc>
              <a:buFont typeface="Arial" panose="020B0604020202020204" pitchFamily="34" charset="0"/>
              <a:buChar char="•"/>
            </a:pPr>
            <a:r>
              <a:rPr lang="zh-CN" altLang="en-US" sz="1800" b="1" dirty="0">
                <a:solidFill>
                  <a:srgbClr val="701988"/>
                </a:solidFill>
                <a:latin typeface="微软雅黑" panose="020B0503020204020204" pitchFamily="82" charset="2"/>
                <a:ea typeface="微软雅黑" panose="020B0503020204020204" pitchFamily="82" charset="2"/>
              </a:rPr>
              <a:t>例子</a:t>
            </a:r>
            <a:r>
              <a:rPr lang="en-US" altLang="zh-CN" sz="1800" b="1" dirty="0">
                <a:solidFill>
                  <a:srgbClr val="701988"/>
                </a:solidFill>
                <a:latin typeface="微软雅黑" panose="020B0503020204020204" pitchFamily="82" charset="2"/>
                <a:ea typeface="微软雅黑" panose="020B0503020204020204" pitchFamily="82" charset="2"/>
              </a:rPr>
              <a:t>: </a:t>
            </a:r>
            <a:r>
              <a:rPr lang="zh-CN" altLang="en-US" sz="1800" b="1" dirty="0">
                <a:solidFill>
                  <a:srgbClr val="701988"/>
                </a:solidFill>
                <a:latin typeface="微软雅黑" panose="020B0503020204020204" pitchFamily="82" charset="2"/>
                <a:ea typeface="微软雅黑" panose="020B0503020204020204" pitchFamily="82" charset="2"/>
              </a:rPr>
              <a:t>删除</a:t>
            </a:r>
            <a:r>
              <a:rPr lang="zh-CN" altLang="en-US" sz="1800" b="1" dirty="0" smtClean="0">
                <a:solidFill>
                  <a:srgbClr val="701988"/>
                </a:solidFill>
                <a:latin typeface="微软雅黑" panose="020B0503020204020204" pitchFamily="82" charset="2"/>
                <a:ea typeface="微软雅黑" panose="020B0503020204020204" pitchFamily="82" charset="2"/>
              </a:rPr>
              <a:t>键</a:t>
            </a:r>
            <a:r>
              <a:rPr lang="zh-CN" altLang="en-US" sz="1800" b="1" dirty="0">
                <a:solidFill>
                  <a:srgbClr val="701988"/>
                </a:solidFill>
                <a:latin typeface="微软雅黑" panose="020B0503020204020204" pitchFamily="82" charset="2"/>
                <a:ea typeface="微软雅黑" panose="020B0503020204020204" pitchFamily="82" charset="2"/>
              </a:rPr>
              <a:t>值</a:t>
            </a:r>
            <a:r>
              <a:rPr lang="en-US" altLang="zh-CN" sz="1800" b="1" dirty="0">
                <a:solidFill>
                  <a:srgbClr val="701988"/>
                </a:solidFill>
                <a:latin typeface="微软雅黑" panose="020B0503020204020204" pitchFamily="82" charset="2"/>
                <a:ea typeface="微软雅黑" panose="020B0503020204020204" pitchFamily="82" charset="2"/>
              </a:rPr>
              <a:t> </a:t>
            </a:r>
            <a:r>
              <a:rPr lang="en-US" altLang="zh-CN" sz="1800" b="1" dirty="0" smtClean="0">
                <a:solidFill>
                  <a:srgbClr val="701988"/>
                </a:solidFill>
                <a:latin typeface="微软雅黑" panose="020B0503020204020204" pitchFamily="82" charset="2"/>
                <a:ea typeface="微软雅黑" panose="020B0503020204020204" pitchFamily="82" charset="2"/>
              </a:rPr>
              <a:t>34, </a:t>
            </a:r>
            <a:r>
              <a:rPr lang="en-US" altLang="zh-CN" sz="1800" b="1" dirty="0" err="1">
                <a:solidFill>
                  <a:srgbClr val="701988"/>
                </a:solidFill>
                <a:latin typeface="微软雅黑" panose="020B0503020204020204" pitchFamily="82" charset="2"/>
                <a:ea typeface="微软雅黑" panose="020B0503020204020204" pitchFamily="82" charset="2"/>
              </a:rPr>
              <a:t>i</a:t>
            </a:r>
            <a:r>
              <a:rPr lang="en-US" altLang="zh-CN" sz="1800" b="1" dirty="0">
                <a:solidFill>
                  <a:srgbClr val="701988"/>
                </a:solidFill>
                <a:latin typeface="微软雅黑" panose="020B0503020204020204" pitchFamily="82" charset="2"/>
                <a:ea typeface="微软雅黑" panose="020B0503020204020204" pitchFamily="82" charset="2"/>
              </a:rPr>
              <a:t> </a:t>
            </a:r>
            <a:r>
              <a:rPr lang="en-US" altLang="zh-CN" sz="1800" b="1" dirty="0">
                <a:solidFill>
                  <a:srgbClr val="701988"/>
                </a:solidFill>
                <a:latin typeface="微软雅黑" panose="020B0503020204020204" pitchFamily="82" charset="2"/>
                <a:ea typeface="微软雅黑" panose="020B0503020204020204" pitchFamily="82" charset="2"/>
                <a:sym typeface="Symbol" panose="05050102010706020507" pitchFamily="18" charset="2"/>
              </a:rPr>
              <a:t>=</a:t>
            </a:r>
            <a:r>
              <a:rPr lang="en-US" altLang="zh-CN" sz="1800" b="1" dirty="0">
                <a:solidFill>
                  <a:srgbClr val="701988"/>
                </a:solidFill>
                <a:latin typeface="微软雅黑" panose="020B0503020204020204" pitchFamily="82" charset="2"/>
                <a:ea typeface="微软雅黑" panose="020B0503020204020204" pitchFamily="82" charset="2"/>
              </a:rPr>
              <a:t> 2</a:t>
            </a:r>
          </a:p>
          <a:p>
            <a:pPr>
              <a:lnSpc>
                <a:spcPct val="150000"/>
              </a:lnSpc>
              <a:buFont typeface="Arial" panose="020B0604020202020204" pitchFamily="34" charset="0"/>
              <a:buChar char="•"/>
            </a:pPr>
            <a:endParaRPr lang="en-US" altLang="zh-CN" sz="1800" dirty="0">
              <a:latin typeface="微软雅黑" panose="020B0503020204020204" pitchFamily="82" charset="2"/>
              <a:ea typeface="微软雅黑" panose="020B0503020204020204" pitchFamily="82" charset="2"/>
            </a:endParaRPr>
          </a:p>
          <a:p>
            <a:pPr lvl="1"/>
            <a:endParaRPr lang="en-US" altLang="zh-CN" sz="2400" b="1" i="1" baseline="-25000" dirty="0">
              <a:latin typeface="微软雅黑" panose="020B0503020204020204" pitchFamily="82" charset="2"/>
              <a:ea typeface="微软雅黑" panose="020B0503020204020204" pitchFamily="82" charset="2"/>
              <a:cs typeface="Times New Roman" panose="02020603050405020304" pitchFamily="18" charset="0"/>
            </a:endParaRPr>
          </a:p>
          <a:p>
            <a:pPr lvl="1"/>
            <a:endParaRPr lang="zh-CN" altLang="en-US" sz="2400" dirty="0">
              <a:latin typeface="微软雅黑" panose="020B0503020204020204" pitchFamily="82" charset="2"/>
              <a:ea typeface="微软雅黑" panose="020B0503020204020204" pitchFamily="82" charset="2"/>
            </a:endParaRPr>
          </a:p>
        </p:txBody>
      </p:sp>
      <p:grpSp>
        <p:nvGrpSpPr>
          <p:cNvPr id="136" name="组合 135"/>
          <p:cNvGrpSpPr/>
          <p:nvPr/>
        </p:nvGrpSpPr>
        <p:grpSpPr>
          <a:xfrm>
            <a:off x="1622315" y="4364752"/>
            <a:ext cx="6145507" cy="1443082"/>
            <a:chOff x="397541" y="3963988"/>
            <a:chExt cx="8194009" cy="1924108"/>
          </a:xfrm>
        </p:grpSpPr>
        <p:sp>
          <p:nvSpPr>
            <p:cNvPr id="71" name="Line 69"/>
            <p:cNvSpPr>
              <a:spLocks noChangeShapeType="1"/>
            </p:cNvSpPr>
            <p:nvPr/>
          </p:nvSpPr>
          <p:spPr bwMode="auto">
            <a:xfrm>
              <a:off x="1006475" y="4268788"/>
              <a:ext cx="0" cy="12954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2" name="Line 68"/>
            <p:cNvSpPr>
              <a:spLocks noChangeShapeType="1"/>
            </p:cNvSpPr>
            <p:nvPr/>
          </p:nvSpPr>
          <p:spPr bwMode="auto">
            <a:xfrm>
              <a:off x="2835275" y="4802188"/>
              <a:ext cx="0" cy="7620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3" name="Line 67"/>
            <p:cNvSpPr>
              <a:spLocks noChangeShapeType="1"/>
            </p:cNvSpPr>
            <p:nvPr/>
          </p:nvSpPr>
          <p:spPr bwMode="auto">
            <a:xfrm>
              <a:off x="2225675" y="5259388"/>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4" name="Line 66"/>
            <p:cNvSpPr>
              <a:spLocks noChangeShapeType="1"/>
            </p:cNvSpPr>
            <p:nvPr/>
          </p:nvSpPr>
          <p:spPr bwMode="auto">
            <a:xfrm>
              <a:off x="4054475" y="4268788"/>
              <a:ext cx="0" cy="12954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5" name="Line 65"/>
            <p:cNvSpPr>
              <a:spLocks noChangeShapeType="1"/>
            </p:cNvSpPr>
            <p:nvPr/>
          </p:nvSpPr>
          <p:spPr bwMode="auto">
            <a:xfrm>
              <a:off x="8397875" y="4725988"/>
              <a:ext cx="0" cy="8382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6" name="Line 64"/>
            <p:cNvSpPr>
              <a:spLocks noChangeShapeType="1"/>
            </p:cNvSpPr>
            <p:nvPr/>
          </p:nvSpPr>
          <p:spPr bwMode="auto">
            <a:xfrm flipV="1">
              <a:off x="7178675" y="5259388"/>
              <a:ext cx="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7" name="Line 63"/>
            <p:cNvSpPr>
              <a:spLocks noChangeShapeType="1"/>
            </p:cNvSpPr>
            <p:nvPr/>
          </p:nvSpPr>
          <p:spPr bwMode="auto">
            <a:xfrm flipV="1">
              <a:off x="5959475" y="4725988"/>
              <a:ext cx="0" cy="8382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sp>
          <p:nvSpPr>
            <p:cNvPr id="78" name="Rectangle 4"/>
            <p:cNvSpPr>
              <a:spLocks noChangeArrowheads="1"/>
            </p:cNvSpPr>
            <p:nvPr/>
          </p:nvSpPr>
          <p:spPr bwMode="auto">
            <a:xfrm flipH="1">
              <a:off x="5749925" y="5559425"/>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79" name="Rectangle 5"/>
            <p:cNvSpPr>
              <a:spLocks noChangeArrowheads="1"/>
            </p:cNvSpPr>
            <p:nvPr/>
          </p:nvSpPr>
          <p:spPr bwMode="auto">
            <a:xfrm flipH="1">
              <a:off x="8228013" y="555942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80" name="Rectangle 6"/>
            <p:cNvSpPr>
              <a:spLocks noChangeArrowheads="1"/>
            </p:cNvSpPr>
            <p:nvPr/>
          </p:nvSpPr>
          <p:spPr bwMode="auto">
            <a:xfrm flipH="1">
              <a:off x="7608888" y="555942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45</a:t>
              </a:r>
            </a:p>
          </p:txBody>
        </p:sp>
        <p:sp>
          <p:nvSpPr>
            <p:cNvPr id="81" name="Rectangle 7"/>
            <p:cNvSpPr>
              <a:spLocks noChangeArrowheads="1"/>
            </p:cNvSpPr>
            <p:nvPr/>
          </p:nvSpPr>
          <p:spPr bwMode="auto">
            <a:xfrm flipH="1">
              <a:off x="6369050" y="5559425"/>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12</a:t>
              </a:r>
            </a:p>
          </p:txBody>
        </p:sp>
        <p:cxnSp>
          <p:nvCxnSpPr>
            <p:cNvPr id="82" name="AutoShape 8"/>
            <p:cNvCxnSpPr>
              <a:cxnSpLocks noChangeShapeType="1"/>
              <a:stCxn id="79" idx="3"/>
              <a:endCxn id="80" idx="1"/>
            </p:cNvCxnSpPr>
            <p:nvPr/>
          </p:nvCxnSpPr>
          <p:spPr bwMode="auto">
            <a:xfrm flipH="1">
              <a:off x="7983538" y="5665788"/>
              <a:ext cx="23653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AutoShape 9"/>
            <p:cNvCxnSpPr>
              <a:cxnSpLocks noChangeShapeType="1"/>
              <a:stCxn id="89" idx="3"/>
              <a:endCxn id="81" idx="1"/>
            </p:cNvCxnSpPr>
            <p:nvPr/>
          </p:nvCxnSpPr>
          <p:spPr bwMode="auto">
            <a:xfrm flipH="1">
              <a:off x="6743700" y="5665788"/>
              <a:ext cx="2381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AutoShape 10"/>
            <p:cNvCxnSpPr>
              <a:cxnSpLocks noChangeShapeType="1"/>
              <a:stCxn id="80" idx="3"/>
              <a:endCxn id="89" idx="1"/>
            </p:cNvCxnSpPr>
            <p:nvPr/>
          </p:nvCxnSpPr>
          <p:spPr bwMode="auto">
            <a:xfrm flipH="1">
              <a:off x="7364413" y="5665788"/>
              <a:ext cx="23653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AutoShape 11"/>
            <p:cNvCxnSpPr>
              <a:cxnSpLocks noChangeShapeType="1"/>
              <a:stCxn id="81" idx="3"/>
              <a:endCxn id="78" idx="1"/>
            </p:cNvCxnSpPr>
            <p:nvPr/>
          </p:nvCxnSpPr>
          <p:spPr bwMode="auto">
            <a:xfrm flipH="1">
              <a:off x="6121400" y="5665788"/>
              <a:ext cx="23971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Rectangle 12"/>
            <p:cNvSpPr>
              <a:spLocks noChangeArrowheads="1"/>
            </p:cNvSpPr>
            <p:nvPr/>
          </p:nvSpPr>
          <p:spPr bwMode="auto">
            <a:xfrm flipH="1">
              <a:off x="5749925" y="4546600"/>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dirty="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dirty="0">
                <a:solidFill>
                  <a:srgbClr val="000000"/>
                </a:solidFill>
                <a:latin typeface="微软雅黑" panose="020B0503020204020204" pitchFamily="82" charset="2"/>
                <a:ea typeface="微软雅黑" panose="020B0503020204020204" pitchFamily="82" charset="2"/>
              </a:endParaRPr>
            </a:p>
          </p:txBody>
        </p:sp>
        <p:sp>
          <p:nvSpPr>
            <p:cNvPr id="87" name="Rectangle 13"/>
            <p:cNvSpPr>
              <a:spLocks noChangeArrowheads="1"/>
            </p:cNvSpPr>
            <p:nvPr/>
          </p:nvSpPr>
          <p:spPr bwMode="auto">
            <a:xfrm flipH="1">
              <a:off x="8228013" y="4546600"/>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88" name="AutoShape 14"/>
            <p:cNvCxnSpPr>
              <a:cxnSpLocks noChangeShapeType="1"/>
              <a:stCxn id="87" idx="3"/>
              <a:endCxn id="86" idx="1"/>
            </p:cNvCxnSpPr>
            <p:nvPr/>
          </p:nvCxnSpPr>
          <p:spPr bwMode="auto">
            <a:xfrm flipH="1">
              <a:off x="6121400" y="4652963"/>
              <a:ext cx="209867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Rectangle 15"/>
            <p:cNvSpPr>
              <a:spLocks noChangeArrowheads="1"/>
            </p:cNvSpPr>
            <p:nvPr/>
          </p:nvSpPr>
          <p:spPr bwMode="auto">
            <a:xfrm flipH="1">
              <a:off x="6989763" y="555942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90" name="Rectangle 16"/>
            <p:cNvSpPr>
              <a:spLocks noChangeArrowheads="1"/>
            </p:cNvSpPr>
            <p:nvPr/>
          </p:nvSpPr>
          <p:spPr bwMode="auto">
            <a:xfrm flipH="1">
              <a:off x="6988175" y="5059363"/>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91" name="Rectangle 17"/>
            <p:cNvSpPr>
              <a:spLocks noChangeArrowheads="1"/>
            </p:cNvSpPr>
            <p:nvPr/>
          </p:nvSpPr>
          <p:spPr bwMode="auto">
            <a:xfrm flipH="1">
              <a:off x="5749925" y="5053013"/>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2" name="Rectangle 18"/>
            <p:cNvSpPr>
              <a:spLocks noChangeArrowheads="1"/>
            </p:cNvSpPr>
            <p:nvPr/>
          </p:nvSpPr>
          <p:spPr bwMode="auto">
            <a:xfrm flipH="1">
              <a:off x="8228013" y="5053013"/>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93" name="AutoShape 19"/>
            <p:cNvCxnSpPr>
              <a:cxnSpLocks noChangeShapeType="1"/>
              <a:stCxn id="92" idx="3"/>
              <a:endCxn id="90" idx="1"/>
            </p:cNvCxnSpPr>
            <p:nvPr/>
          </p:nvCxnSpPr>
          <p:spPr bwMode="auto">
            <a:xfrm flipH="1">
              <a:off x="7362825" y="5159375"/>
              <a:ext cx="857250" cy="635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20"/>
            <p:cNvCxnSpPr>
              <a:cxnSpLocks noChangeShapeType="1"/>
              <a:stCxn id="90" idx="3"/>
              <a:endCxn id="91" idx="1"/>
            </p:cNvCxnSpPr>
            <p:nvPr/>
          </p:nvCxnSpPr>
          <p:spPr bwMode="auto">
            <a:xfrm flipH="1" flipV="1">
              <a:off x="6121400" y="5159375"/>
              <a:ext cx="858838" cy="635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 Box 21"/>
            <p:cNvSpPr txBox="1">
              <a:spLocks noChangeArrowheads="1"/>
            </p:cNvSpPr>
            <p:nvPr/>
          </p:nvSpPr>
          <p:spPr bwMode="auto">
            <a:xfrm flipH="1">
              <a:off x="5325141" y="5484813"/>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0</a:t>
              </a:r>
            </a:p>
          </p:txBody>
        </p:sp>
        <p:sp>
          <p:nvSpPr>
            <p:cNvPr id="96" name="Text Box 22"/>
            <p:cNvSpPr txBox="1">
              <a:spLocks noChangeArrowheads="1"/>
            </p:cNvSpPr>
            <p:nvPr/>
          </p:nvSpPr>
          <p:spPr bwMode="auto">
            <a:xfrm flipH="1">
              <a:off x="5325141" y="4976813"/>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1</a:t>
              </a:r>
            </a:p>
          </p:txBody>
        </p:sp>
        <p:sp>
          <p:nvSpPr>
            <p:cNvPr id="97" name="Text Box 23"/>
            <p:cNvSpPr txBox="1">
              <a:spLocks noChangeArrowheads="1"/>
            </p:cNvSpPr>
            <p:nvPr/>
          </p:nvSpPr>
          <p:spPr bwMode="auto">
            <a:xfrm flipH="1">
              <a:off x="5325141" y="4468813"/>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2</a:t>
              </a:r>
            </a:p>
          </p:txBody>
        </p:sp>
        <p:sp>
          <p:nvSpPr>
            <p:cNvPr id="98" name="Rectangle 24"/>
            <p:cNvSpPr>
              <a:spLocks noChangeArrowheads="1"/>
            </p:cNvSpPr>
            <p:nvPr/>
          </p:nvSpPr>
          <p:spPr bwMode="auto">
            <a:xfrm flipH="1">
              <a:off x="812800" y="4043363"/>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99" name="Rectangle 25"/>
            <p:cNvSpPr>
              <a:spLocks noChangeArrowheads="1"/>
            </p:cNvSpPr>
            <p:nvPr/>
          </p:nvSpPr>
          <p:spPr bwMode="auto">
            <a:xfrm flipH="1">
              <a:off x="3910013" y="4043363"/>
              <a:ext cx="363537"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100" name="AutoShape 26"/>
            <p:cNvCxnSpPr>
              <a:cxnSpLocks noChangeShapeType="1"/>
              <a:stCxn id="99" idx="3"/>
              <a:endCxn id="98" idx="1"/>
            </p:cNvCxnSpPr>
            <p:nvPr/>
          </p:nvCxnSpPr>
          <p:spPr bwMode="auto">
            <a:xfrm flipH="1">
              <a:off x="1193800" y="4149725"/>
              <a:ext cx="2698750"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Text Box 27"/>
            <p:cNvSpPr txBox="1">
              <a:spLocks noChangeArrowheads="1"/>
            </p:cNvSpPr>
            <p:nvPr/>
          </p:nvSpPr>
          <p:spPr bwMode="auto">
            <a:xfrm flipH="1">
              <a:off x="397541" y="5487987"/>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0</a:t>
              </a:r>
            </a:p>
          </p:txBody>
        </p:sp>
        <p:sp>
          <p:nvSpPr>
            <p:cNvPr id="102" name="Text Box 28"/>
            <p:cNvSpPr txBox="1">
              <a:spLocks noChangeArrowheads="1"/>
            </p:cNvSpPr>
            <p:nvPr/>
          </p:nvSpPr>
          <p:spPr bwMode="auto">
            <a:xfrm flipH="1">
              <a:off x="397541" y="4979989"/>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1</a:t>
              </a:r>
            </a:p>
          </p:txBody>
        </p:sp>
        <p:sp>
          <p:nvSpPr>
            <p:cNvPr id="103" name="Text Box 29"/>
            <p:cNvSpPr txBox="1">
              <a:spLocks noChangeArrowheads="1"/>
            </p:cNvSpPr>
            <p:nvPr/>
          </p:nvSpPr>
          <p:spPr bwMode="auto">
            <a:xfrm flipH="1">
              <a:off x="397541" y="4471988"/>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2</a:t>
              </a:r>
            </a:p>
          </p:txBody>
        </p:sp>
        <p:sp>
          <p:nvSpPr>
            <p:cNvPr id="104" name="Text Box 30"/>
            <p:cNvSpPr txBox="1">
              <a:spLocks noChangeArrowheads="1"/>
            </p:cNvSpPr>
            <p:nvPr/>
          </p:nvSpPr>
          <p:spPr bwMode="auto">
            <a:xfrm flipH="1">
              <a:off x="397541" y="3963988"/>
              <a:ext cx="47491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S</a:t>
              </a:r>
              <a:r>
                <a:rPr lang="en-US" altLang="zh-CN" sz="1350" baseline="-25000">
                  <a:solidFill>
                    <a:srgbClr val="000000"/>
                  </a:solidFill>
                  <a:latin typeface="微软雅黑" panose="020B0503020204020204" pitchFamily="82" charset="2"/>
                  <a:ea typeface="微软雅黑" panose="020B0503020204020204" pitchFamily="82" charset="2"/>
                </a:rPr>
                <a:t>3</a:t>
              </a:r>
            </a:p>
          </p:txBody>
        </p:sp>
        <p:sp>
          <p:nvSpPr>
            <p:cNvPr id="105" name="Rectangle 31"/>
            <p:cNvSpPr>
              <a:spLocks noChangeArrowheads="1"/>
            </p:cNvSpPr>
            <p:nvPr/>
          </p:nvSpPr>
          <p:spPr bwMode="auto">
            <a:xfrm flipH="1">
              <a:off x="812800" y="5562600"/>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06" name="Rectangle 32"/>
            <p:cNvSpPr>
              <a:spLocks noChangeArrowheads="1"/>
            </p:cNvSpPr>
            <p:nvPr/>
          </p:nvSpPr>
          <p:spPr bwMode="auto">
            <a:xfrm flipH="1">
              <a:off x="3910013" y="5562600"/>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107" name="Rectangle 33"/>
            <p:cNvSpPr>
              <a:spLocks noChangeArrowheads="1"/>
            </p:cNvSpPr>
            <p:nvPr/>
          </p:nvSpPr>
          <p:spPr bwMode="auto">
            <a:xfrm flipH="1">
              <a:off x="3290888" y="5562600"/>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45</a:t>
              </a:r>
            </a:p>
          </p:txBody>
        </p:sp>
        <p:sp>
          <p:nvSpPr>
            <p:cNvPr id="108" name="Rectangle 34"/>
            <p:cNvSpPr>
              <a:spLocks noChangeArrowheads="1"/>
            </p:cNvSpPr>
            <p:nvPr/>
          </p:nvSpPr>
          <p:spPr bwMode="auto">
            <a:xfrm flipH="1">
              <a:off x="1431925" y="5562600"/>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12</a:t>
              </a:r>
            </a:p>
          </p:txBody>
        </p:sp>
        <p:cxnSp>
          <p:nvCxnSpPr>
            <p:cNvPr id="109" name="AutoShape 35"/>
            <p:cNvCxnSpPr>
              <a:cxnSpLocks noChangeShapeType="1"/>
              <a:stCxn id="106" idx="3"/>
              <a:endCxn id="107" idx="1"/>
            </p:cNvCxnSpPr>
            <p:nvPr/>
          </p:nvCxnSpPr>
          <p:spPr bwMode="auto">
            <a:xfrm flipH="1">
              <a:off x="3665538" y="5668963"/>
              <a:ext cx="236537"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AutoShape 36"/>
            <p:cNvCxnSpPr>
              <a:cxnSpLocks noChangeShapeType="1"/>
              <a:stCxn id="113" idx="3"/>
              <a:endCxn id="108" idx="1"/>
            </p:cNvCxnSpPr>
            <p:nvPr/>
          </p:nvCxnSpPr>
          <p:spPr bwMode="auto">
            <a:xfrm flipH="1">
              <a:off x="1806575" y="5668963"/>
              <a:ext cx="2381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AutoShape 37"/>
            <p:cNvCxnSpPr>
              <a:cxnSpLocks noChangeShapeType="1"/>
              <a:stCxn id="107" idx="3"/>
              <a:endCxn id="114" idx="1"/>
            </p:cNvCxnSpPr>
            <p:nvPr/>
          </p:nvCxnSpPr>
          <p:spPr bwMode="auto">
            <a:xfrm flipH="1">
              <a:off x="3052763" y="5668963"/>
              <a:ext cx="230187" cy="1587"/>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38"/>
            <p:cNvCxnSpPr>
              <a:cxnSpLocks noChangeShapeType="1"/>
              <a:stCxn id="108" idx="3"/>
              <a:endCxn id="105" idx="1"/>
            </p:cNvCxnSpPr>
            <p:nvPr/>
          </p:nvCxnSpPr>
          <p:spPr bwMode="auto">
            <a:xfrm flipH="1">
              <a:off x="1184275" y="5668963"/>
              <a:ext cx="239713"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Rectangle 39"/>
            <p:cNvSpPr>
              <a:spLocks noChangeArrowheads="1"/>
            </p:cNvSpPr>
            <p:nvPr/>
          </p:nvSpPr>
          <p:spPr bwMode="auto">
            <a:xfrm flipH="1">
              <a:off x="2052638" y="5562600"/>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sp>
          <p:nvSpPr>
            <p:cNvPr id="114" name="Rectangle 40"/>
            <p:cNvSpPr>
              <a:spLocks noChangeArrowheads="1"/>
            </p:cNvSpPr>
            <p:nvPr/>
          </p:nvSpPr>
          <p:spPr bwMode="auto">
            <a:xfrm flipH="1">
              <a:off x="2668588" y="5564188"/>
              <a:ext cx="363537" cy="215900"/>
            </a:xfrm>
            <a:prstGeom prst="rect">
              <a:avLst/>
            </a:prstGeom>
            <a:solidFill>
              <a:srgbClr val="80808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cxnSp>
          <p:nvCxnSpPr>
            <p:cNvPr id="115" name="AutoShape 41"/>
            <p:cNvCxnSpPr>
              <a:cxnSpLocks noChangeShapeType="1"/>
              <a:stCxn id="114" idx="3"/>
              <a:endCxn id="113" idx="1"/>
            </p:cNvCxnSpPr>
            <p:nvPr/>
          </p:nvCxnSpPr>
          <p:spPr bwMode="auto">
            <a:xfrm flipH="1" flipV="1">
              <a:off x="2427288" y="5668963"/>
              <a:ext cx="223837" cy="1587"/>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Rectangle 42"/>
            <p:cNvSpPr>
              <a:spLocks noChangeArrowheads="1"/>
            </p:cNvSpPr>
            <p:nvPr/>
          </p:nvSpPr>
          <p:spPr bwMode="auto">
            <a:xfrm flipH="1">
              <a:off x="812800" y="4549775"/>
              <a:ext cx="361950" cy="215900"/>
            </a:xfrm>
            <a:prstGeom prst="rect">
              <a:avLst/>
            </a:prstGeom>
            <a:solidFill>
              <a:srgbClr val="CCCC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dirty="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dirty="0">
                <a:solidFill>
                  <a:srgbClr val="000000"/>
                </a:solidFill>
                <a:latin typeface="微软雅黑" panose="020B0503020204020204" pitchFamily="82" charset="2"/>
                <a:ea typeface="微软雅黑" panose="020B0503020204020204" pitchFamily="82" charset="2"/>
              </a:endParaRPr>
            </a:p>
          </p:txBody>
        </p:sp>
        <p:sp>
          <p:nvSpPr>
            <p:cNvPr id="117" name="Rectangle 43"/>
            <p:cNvSpPr>
              <a:spLocks noChangeArrowheads="1"/>
            </p:cNvSpPr>
            <p:nvPr/>
          </p:nvSpPr>
          <p:spPr bwMode="auto">
            <a:xfrm flipH="1">
              <a:off x="3910013" y="4549775"/>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cxnSp>
          <p:nvCxnSpPr>
            <p:cNvPr id="118" name="AutoShape 44"/>
            <p:cNvCxnSpPr>
              <a:cxnSpLocks noChangeShapeType="1"/>
              <a:stCxn id="117" idx="3"/>
              <a:endCxn id="119" idx="1"/>
            </p:cNvCxnSpPr>
            <p:nvPr/>
          </p:nvCxnSpPr>
          <p:spPr bwMode="auto">
            <a:xfrm flipH="1">
              <a:off x="3052763" y="4656138"/>
              <a:ext cx="84931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Rectangle 45"/>
            <p:cNvSpPr>
              <a:spLocks noChangeArrowheads="1"/>
            </p:cNvSpPr>
            <p:nvPr/>
          </p:nvSpPr>
          <p:spPr bwMode="auto">
            <a:xfrm flipH="1">
              <a:off x="2668588" y="4549775"/>
              <a:ext cx="363537" cy="215900"/>
            </a:xfrm>
            <a:prstGeom prst="rect">
              <a:avLst/>
            </a:prstGeom>
            <a:solidFill>
              <a:srgbClr val="80808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cxnSp>
          <p:nvCxnSpPr>
            <p:cNvPr id="120" name="AutoShape 46"/>
            <p:cNvCxnSpPr>
              <a:cxnSpLocks noChangeShapeType="1"/>
              <a:stCxn id="119" idx="3"/>
              <a:endCxn id="116" idx="1"/>
            </p:cNvCxnSpPr>
            <p:nvPr/>
          </p:nvCxnSpPr>
          <p:spPr bwMode="auto">
            <a:xfrm flipH="1">
              <a:off x="1193800" y="4656138"/>
              <a:ext cx="14573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Rectangle 47"/>
            <p:cNvSpPr>
              <a:spLocks noChangeArrowheads="1"/>
            </p:cNvSpPr>
            <p:nvPr/>
          </p:nvSpPr>
          <p:spPr bwMode="auto">
            <a:xfrm flipH="1">
              <a:off x="812800" y="5056188"/>
              <a:ext cx="361950"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endParaRPr lang="en-US" altLang="zh-CN" kern="0">
                <a:solidFill>
                  <a:srgbClr val="000000"/>
                </a:solidFill>
                <a:latin typeface="微软雅黑" panose="020B0503020204020204" pitchFamily="82" charset="2"/>
                <a:ea typeface="微软雅黑" panose="020B0503020204020204" pitchFamily="82" charset="2"/>
              </a:endParaRPr>
            </a:p>
          </p:txBody>
        </p:sp>
        <p:sp>
          <p:nvSpPr>
            <p:cNvPr id="122" name="Rectangle 48"/>
            <p:cNvSpPr>
              <a:spLocks noChangeArrowheads="1"/>
            </p:cNvSpPr>
            <p:nvPr/>
          </p:nvSpPr>
          <p:spPr bwMode="auto">
            <a:xfrm flipH="1">
              <a:off x="3910013" y="5056188"/>
              <a:ext cx="363537"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350" kern="0">
                  <a:solidFill>
                    <a:srgbClr val="000000"/>
                  </a:solidFill>
                  <a:latin typeface="微软雅黑" panose="020B0503020204020204" pitchFamily="82" charset="2"/>
                  <a:ea typeface="微软雅黑" panose="020B0503020204020204" pitchFamily="82" charset="2"/>
                  <a:sym typeface="Symbol" panose="05050102010706020507" pitchFamily="18" charset="2"/>
                </a:rPr>
                <a:t>+</a:t>
              </a:r>
            </a:p>
          </p:txBody>
        </p:sp>
        <p:sp>
          <p:nvSpPr>
            <p:cNvPr id="123" name="Rectangle 49"/>
            <p:cNvSpPr>
              <a:spLocks noChangeArrowheads="1"/>
            </p:cNvSpPr>
            <p:nvPr/>
          </p:nvSpPr>
          <p:spPr bwMode="auto">
            <a:xfrm flipH="1">
              <a:off x="2051050" y="5056188"/>
              <a:ext cx="363538" cy="215900"/>
            </a:xfrm>
            <a:prstGeom prst="rect">
              <a:avLst/>
            </a:prstGeom>
            <a:solidFill>
              <a:srgbClr val="CCCC00"/>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23</a:t>
              </a:r>
            </a:p>
          </p:txBody>
        </p:sp>
        <p:cxnSp>
          <p:nvCxnSpPr>
            <p:cNvPr id="124" name="AutoShape 50"/>
            <p:cNvCxnSpPr>
              <a:cxnSpLocks noChangeShapeType="1"/>
              <a:stCxn id="122" idx="3"/>
              <a:endCxn id="126" idx="1"/>
            </p:cNvCxnSpPr>
            <p:nvPr/>
          </p:nvCxnSpPr>
          <p:spPr bwMode="auto">
            <a:xfrm flipH="1">
              <a:off x="3052763" y="5162550"/>
              <a:ext cx="849312"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5" name="AutoShape 51"/>
            <p:cNvCxnSpPr>
              <a:cxnSpLocks noChangeShapeType="1"/>
              <a:stCxn id="123" idx="3"/>
              <a:endCxn id="121" idx="1"/>
            </p:cNvCxnSpPr>
            <p:nvPr/>
          </p:nvCxnSpPr>
          <p:spPr bwMode="auto">
            <a:xfrm flipH="1">
              <a:off x="1184275" y="5162550"/>
              <a:ext cx="858838"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Rectangle 52"/>
            <p:cNvSpPr>
              <a:spLocks noChangeArrowheads="1"/>
            </p:cNvSpPr>
            <p:nvPr/>
          </p:nvSpPr>
          <p:spPr bwMode="auto">
            <a:xfrm flipH="1">
              <a:off x="2668588" y="5056188"/>
              <a:ext cx="363537" cy="215900"/>
            </a:xfrm>
            <a:prstGeom prst="rect">
              <a:avLst/>
            </a:prstGeom>
            <a:solidFill>
              <a:srgbClr val="80808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defRPr/>
              </a:pPr>
              <a:r>
                <a:rPr lang="en-US" altLang="zh-CN" sz="1125" kern="0">
                  <a:solidFill>
                    <a:srgbClr val="000000"/>
                  </a:solidFill>
                  <a:latin typeface="微软雅黑" panose="020B0503020204020204" pitchFamily="82" charset="2"/>
                  <a:ea typeface="微软雅黑" panose="020B0503020204020204" pitchFamily="82" charset="2"/>
                </a:rPr>
                <a:t>34</a:t>
              </a:r>
            </a:p>
          </p:txBody>
        </p:sp>
        <p:cxnSp>
          <p:nvCxnSpPr>
            <p:cNvPr id="127" name="AutoShape 53"/>
            <p:cNvCxnSpPr>
              <a:cxnSpLocks noChangeShapeType="1"/>
              <a:stCxn id="126" idx="3"/>
              <a:endCxn id="123" idx="1"/>
            </p:cNvCxnSpPr>
            <p:nvPr/>
          </p:nvCxnSpPr>
          <p:spPr bwMode="auto">
            <a:xfrm flipH="1">
              <a:off x="2425700" y="5162550"/>
              <a:ext cx="225425" cy="0"/>
            </a:xfrm>
            <a:prstGeom prst="straightConnector1">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AutoShape 54"/>
            <p:cNvSpPr>
              <a:spLocks noChangeArrowheads="1"/>
            </p:cNvSpPr>
            <p:nvPr/>
          </p:nvSpPr>
          <p:spPr bwMode="auto">
            <a:xfrm>
              <a:off x="4635500" y="5032375"/>
              <a:ext cx="609600" cy="303213"/>
            </a:xfrm>
            <a:prstGeom prst="rightArrow">
              <a:avLst>
                <a:gd name="adj1" fmla="val 50000"/>
                <a:gd name="adj2" fmla="val 50262"/>
              </a:avLst>
            </a:prstGeom>
            <a:noFill/>
            <a:ln w="1905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85800" eaLnBrk="0" hangingPunct="0">
                <a:defRPr/>
              </a:pPr>
              <a:endParaRPr lang="zh-CN" altLang="en-US" sz="1350" kern="0">
                <a:solidFill>
                  <a:srgbClr val="000000"/>
                </a:solidFill>
                <a:latin typeface="微软雅黑" panose="020B0503020204020204" pitchFamily="82" charset="2"/>
                <a:ea typeface="微软雅黑" panose="020B0503020204020204" pitchFamily="82" charset="2"/>
              </a:endParaRPr>
            </a:p>
          </p:txBody>
        </p:sp>
        <p:cxnSp>
          <p:nvCxnSpPr>
            <p:cNvPr id="129" name="AutoShape 55"/>
            <p:cNvCxnSpPr>
              <a:cxnSpLocks noChangeShapeType="1"/>
              <a:stCxn id="116" idx="0"/>
              <a:endCxn id="119" idx="0"/>
            </p:cNvCxnSpPr>
            <p:nvPr/>
          </p:nvCxnSpPr>
          <p:spPr bwMode="auto">
            <a:xfrm rot="5400000" flipV="1">
              <a:off x="1921669" y="3602831"/>
              <a:ext cx="1588" cy="1857375"/>
            </a:xfrm>
            <a:prstGeom prst="curvedConnector3">
              <a:avLst>
                <a:gd name="adj1" fmla="val -13200000"/>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AutoShape 56"/>
            <p:cNvCxnSpPr>
              <a:cxnSpLocks noChangeShapeType="1"/>
              <a:stCxn id="98" idx="2"/>
              <a:endCxn id="116" idx="0"/>
            </p:cNvCxnSpPr>
            <p:nvPr/>
          </p:nvCxnSpPr>
          <p:spPr bwMode="auto">
            <a:xfrm>
              <a:off x="993775" y="4276725"/>
              <a:ext cx="0" cy="254000"/>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1" name="Text Box 57"/>
            <p:cNvSpPr txBox="1">
              <a:spLocks noChangeArrowheads="1"/>
            </p:cNvSpPr>
            <p:nvPr/>
          </p:nvSpPr>
          <p:spPr bwMode="auto">
            <a:xfrm flipH="1">
              <a:off x="2844337" y="5183188"/>
              <a:ext cx="48987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p</a:t>
              </a:r>
              <a:r>
                <a:rPr lang="en-US" altLang="zh-CN" sz="1350" baseline="-25000">
                  <a:solidFill>
                    <a:srgbClr val="000000"/>
                  </a:solidFill>
                  <a:latin typeface="微软雅黑" panose="020B0503020204020204" pitchFamily="82" charset="2"/>
                  <a:ea typeface="微软雅黑" panose="020B0503020204020204" pitchFamily="82" charset="2"/>
                </a:rPr>
                <a:t>0</a:t>
              </a:r>
            </a:p>
          </p:txBody>
        </p:sp>
        <p:sp>
          <p:nvSpPr>
            <p:cNvPr id="132" name="Text Box 58"/>
            <p:cNvSpPr txBox="1">
              <a:spLocks noChangeArrowheads="1"/>
            </p:cNvSpPr>
            <p:nvPr/>
          </p:nvSpPr>
          <p:spPr bwMode="auto">
            <a:xfrm flipH="1">
              <a:off x="2844337" y="4700587"/>
              <a:ext cx="48987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p</a:t>
              </a:r>
              <a:r>
                <a:rPr lang="en-US" altLang="zh-CN" sz="1350" baseline="-25000">
                  <a:solidFill>
                    <a:srgbClr val="000000"/>
                  </a:solidFill>
                  <a:latin typeface="微软雅黑" panose="020B0503020204020204" pitchFamily="82" charset="2"/>
                  <a:ea typeface="微软雅黑" panose="020B0503020204020204" pitchFamily="82" charset="2"/>
                </a:rPr>
                <a:t>1</a:t>
              </a:r>
            </a:p>
          </p:txBody>
        </p:sp>
        <p:sp>
          <p:nvSpPr>
            <p:cNvPr id="133" name="Text Box 59"/>
            <p:cNvSpPr txBox="1">
              <a:spLocks noChangeArrowheads="1"/>
            </p:cNvSpPr>
            <p:nvPr/>
          </p:nvSpPr>
          <p:spPr bwMode="auto">
            <a:xfrm flipH="1">
              <a:off x="2844337" y="4192588"/>
              <a:ext cx="489877" cy="40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0" hangingPunct="0"/>
              <a:r>
                <a:rPr lang="en-US" altLang="zh-CN" sz="1350" b="1" i="1">
                  <a:solidFill>
                    <a:srgbClr val="000000"/>
                  </a:solidFill>
                  <a:latin typeface="微软雅黑" panose="020B0503020204020204" pitchFamily="82" charset="2"/>
                  <a:ea typeface="微软雅黑" panose="020B0503020204020204" pitchFamily="82" charset="2"/>
                </a:rPr>
                <a:t>p</a:t>
              </a:r>
              <a:r>
                <a:rPr lang="en-US" altLang="zh-CN" sz="1350" baseline="-25000">
                  <a:solidFill>
                    <a:srgbClr val="000000"/>
                  </a:solidFill>
                  <a:latin typeface="微软雅黑" panose="020B0503020204020204" pitchFamily="82" charset="2"/>
                  <a:ea typeface="微软雅黑" panose="020B0503020204020204" pitchFamily="82" charset="2"/>
                </a:rPr>
                <a:t>2</a:t>
              </a:r>
            </a:p>
          </p:txBody>
        </p:sp>
        <p:cxnSp>
          <p:nvCxnSpPr>
            <p:cNvPr id="134" name="AutoShape 60"/>
            <p:cNvCxnSpPr>
              <a:cxnSpLocks noChangeShapeType="1"/>
              <a:stCxn id="119" idx="2"/>
              <a:endCxn id="126" idx="0"/>
            </p:cNvCxnSpPr>
            <p:nvPr/>
          </p:nvCxnSpPr>
          <p:spPr bwMode="auto">
            <a:xfrm>
              <a:off x="2851150" y="4783138"/>
              <a:ext cx="0" cy="254000"/>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AutoShape 61"/>
            <p:cNvCxnSpPr>
              <a:cxnSpLocks noChangeShapeType="1"/>
              <a:stCxn id="126" idx="2"/>
              <a:endCxn id="114" idx="0"/>
            </p:cNvCxnSpPr>
            <p:nvPr/>
          </p:nvCxnSpPr>
          <p:spPr bwMode="auto">
            <a:xfrm>
              <a:off x="2851150" y="5289550"/>
              <a:ext cx="0" cy="255588"/>
            </a:xfrm>
            <a:prstGeom prst="straightConnector1">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08322" y="1080493"/>
            <a:ext cx="2747245" cy="355266"/>
          </a:xfrm>
          <a:prstGeom prst="rect">
            <a:avLst/>
          </a:prstGeom>
        </p:spPr>
        <p:txBody>
          <a:bodyPr vert="horz" wrap="square" lIns="0" tIns="8930" rIns="0" bIns="0" rtlCol="0">
            <a:spAutoFit/>
          </a:bodyPr>
          <a:lstStyle/>
          <a:p>
            <a:pPr marL="8929">
              <a:spcBef>
                <a:spcPts val="70"/>
              </a:spcBef>
            </a:pPr>
            <a:r>
              <a:rPr sz="2250" dirty="0">
                <a:latin typeface="Palatino Linotype"/>
                <a:cs typeface="Palatino Linotype"/>
              </a:rPr>
              <a:t>Delete</a:t>
            </a:r>
            <a:r>
              <a:rPr sz="2250" spc="-67" dirty="0">
                <a:latin typeface="Palatino Linotype"/>
                <a:cs typeface="Palatino Linotype"/>
              </a:rPr>
              <a:t> </a:t>
            </a:r>
            <a:r>
              <a:rPr sz="2250" spc="-18" dirty="0" smtClean="0">
                <a:latin typeface="Palatino Linotype"/>
                <a:cs typeface="Palatino Linotype"/>
              </a:rPr>
              <a:t>87</a:t>
            </a:r>
            <a:r>
              <a:rPr lang="en-US" sz="2250" spc="-18" dirty="0" smtClean="0">
                <a:latin typeface="Palatino Linotype"/>
                <a:cs typeface="Palatino Linotype"/>
              </a:rPr>
              <a:t>,i=2</a:t>
            </a:r>
            <a:endParaRPr sz="2250" dirty="0">
              <a:latin typeface="Palatino Linotype"/>
              <a:cs typeface="Palatino Linotype"/>
            </a:endParaRPr>
          </a:p>
        </p:txBody>
      </p:sp>
      <p:grpSp>
        <p:nvGrpSpPr>
          <p:cNvPr id="4" name="object 4"/>
          <p:cNvGrpSpPr/>
          <p:nvPr/>
        </p:nvGrpSpPr>
        <p:grpSpPr>
          <a:xfrm>
            <a:off x="711488" y="3640535"/>
            <a:ext cx="1245691" cy="503188"/>
            <a:chOff x="1011894" y="5177650"/>
            <a:chExt cx="1771650" cy="715645"/>
          </a:xfrm>
        </p:grpSpPr>
        <p:sp>
          <p:nvSpPr>
            <p:cNvPr id="5" name="object 5"/>
            <p:cNvSpPr/>
            <p:nvPr/>
          </p:nvSpPr>
          <p:spPr>
            <a:xfrm>
              <a:off x="1024594" y="5213197"/>
              <a:ext cx="747395" cy="667385"/>
            </a:xfrm>
            <a:custGeom>
              <a:avLst/>
              <a:gdLst/>
              <a:ahLst/>
              <a:cxnLst/>
              <a:rect l="l" t="t" r="r" b="b"/>
              <a:pathLst>
                <a:path w="747394" h="667385">
                  <a:moveTo>
                    <a:pt x="734651" y="0"/>
                  </a:moveTo>
                  <a:lnTo>
                    <a:pt x="734651" y="654463"/>
                  </a:lnTo>
                </a:path>
                <a:path w="747394" h="667385">
                  <a:moveTo>
                    <a:pt x="530868" y="0"/>
                  </a:moveTo>
                  <a:lnTo>
                    <a:pt x="530868" y="654463"/>
                  </a:lnTo>
                </a:path>
                <a:path w="747394" h="667385">
                  <a:moveTo>
                    <a:pt x="12700" y="0"/>
                  </a:moveTo>
                  <a:lnTo>
                    <a:pt x="12700" y="654463"/>
                  </a:lnTo>
                </a:path>
                <a:path w="747394" h="667385">
                  <a:moveTo>
                    <a:pt x="0" y="667163"/>
                  </a:moveTo>
                  <a:lnTo>
                    <a:pt x="747351" y="667163"/>
                  </a:lnTo>
                </a:path>
              </a:pathLst>
            </a:custGeom>
            <a:ln w="25400">
              <a:solidFill>
                <a:srgbClr val="000000"/>
              </a:solidFill>
            </a:ln>
          </p:spPr>
          <p:txBody>
            <a:bodyPr wrap="square" lIns="0" tIns="0" rIns="0" bIns="0" rtlCol="0"/>
            <a:lstStyle/>
            <a:p>
              <a:endParaRPr/>
            </a:p>
          </p:txBody>
        </p:sp>
        <p:sp>
          <p:nvSpPr>
            <p:cNvPr id="6" name="object 6"/>
            <p:cNvSpPr/>
            <p:nvPr/>
          </p:nvSpPr>
          <p:spPr>
            <a:xfrm>
              <a:off x="1024585" y="5187797"/>
              <a:ext cx="747395" cy="25400"/>
            </a:xfrm>
            <a:custGeom>
              <a:avLst/>
              <a:gdLst/>
              <a:ahLst/>
              <a:cxnLst/>
              <a:rect l="l" t="t" r="r" b="b"/>
              <a:pathLst>
                <a:path w="747394" h="25400">
                  <a:moveTo>
                    <a:pt x="29197" y="0"/>
                  </a:moveTo>
                  <a:lnTo>
                    <a:pt x="0" y="0"/>
                  </a:lnTo>
                  <a:lnTo>
                    <a:pt x="0" y="25400"/>
                  </a:lnTo>
                  <a:lnTo>
                    <a:pt x="29197" y="25400"/>
                  </a:lnTo>
                  <a:lnTo>
                    <a:pt x="29197" y="0"/>
                  </a:lnTo>
                  <a:close/>
                </a:path>
                <a:path w="747394" h="25400">
                  <a:moveTo>
                    <a:pt x="747356" y="0"/>
                  </a:moveTo>
                  <a:lnTo>
                    <a:pt x="519938" y="0"/>
                  </a:lnTo>
                  <a:lnTo>
                    <a:pt x="519938" y="25400"/>
                  </a:lnTo>
                  <a:lnTo>
                    <a:pt x="747356" y="25400"/>
                  </a:lnTo>
                  <a:lnTo>
                    <a:pt x="747356" y="0"/>
                  </a:lnTo>
                  <a:close/>
                </a:path>
              </a:pathLst>
            </a:custGeom>
            <a:solidFill>
              <a:srgbClr val="000000"/>
            </a:solidFill>
          </p:spPr>
          <p:txBody>
            <a:bodyPr wrap="square" lIns="0" tIns="0" rIns="0" bIns="0" rtlCol="0"/>
            <a:lstStyle/>
            <a:p>
              <a:endParaRPr/>
            </a:p>
          </p:txBody>
        </p:sp>
        <p:sp>
          <p:nvSpPr>
            <p:cNvPr id="7" name="object 7"/>
            <p:cNvSpPr/>
            <p:nvPr/>
          </p:nvSpPr>
          <p:spPr>
            <a:xfrm>
              <a:off x="2023037" y="5190350"/>
              <a:ext cx="747395" cy="680085"/>
            </a:xfrm>
            <a:custGeom>
              <a:avLst/>
              <a:gdLst/>
              <a:ahLst/>
              <a:cxnLst/>
              <a:rect l="l" t="t" r="r" b="b"/>
              <a:pathLst>
                <a:path w="747394" h="680085">
                  <a:moveTo>
                    <a:pt x="734651" y="12700"/>
                  </a:moveTo>
                  <a:lnTo>
                    <a:pt x="734651" y="667163"/>
                  </a:lnTo>
                </a:path>
                <a:path w="747394" h="680085">
                  <a:moveTo>
                    <a:pt x="530868" y="12700"/>
                  </a:moveTo>
                  <a:lnTo>
                    <a:pt x="530868" y="667163"/>
                  </a:lnTo>
                </a:path>
                <a:path w="747394" h="680085">
                  <a:moveTo>
                    <a:pt x="0" y="679863"/>
                  </a:moveTo>
                  <a:lnTo>
                    <a:pt x="747351" y="679863"/>
                  </a:lnTo>
                </a:path>
                <a:path w="747394" h="680085">
                  <a:moveTo>
                    <a:pt x="0" y="0"/>
                  </a:moveTo>
                  <a:lnTo>
                    <a:pt x="747351" y="0"/>
                  </a:lnTo>
                </a:path>
              </a:pathLst>
            </a:custGeom>
            <a:ln w="25400">
              <a:solidFill>
                <a:srgbClr val="000000"/>
              </a:solidFill>
            </a:ln>
          </p:spPr>
          <p:txBody>
            <a:bodyPr wrap="square" lIns="0" tIns="0" rIns="0" bIns="0" rtlCol="0"/>
            <a:lstStyle/>
            <a:p>
              <a:endParaRPr/>
            </a:p>
          </p:txBody>
        </p:sp>
      </p:grpSp>
      <p:sp>
        <p:nvSpPr>
          <p:cNvPr id="8" name="object 8"/>
          <p:cNvSpPr txBox="1"/>
          <p:nvPr/>
        </p:nvSpPr>
        <p:spPr>
          <a:xfrm>
            <a:off x="1431378" y="3649465"/>
            <a:ext cx="364778" cy="387694"/>
          </a:xfrm>
          <a:prstGeom prst="rect">
            <a:avLst/>
          </a:prstGeom>
          <a:ln w="25400">
            <a:solidFill>
              <a:srgbClr val="000000"/>
            </a:solidFill>
          </a:ln>
        </p:spPr>
        <p:txBody>
          <a:bodyPr vert="horz" wrap="square" lIns="0" tIns="62508" rIns="0" bIns="0" rtlCol="0">
            <a:spAutoFit/>
          </a:bodyPr>
          <a:lstStyle/>
          <a:p>
            <a:pPr marL="49112">
              <a:spcBef>
                <a:spcPts val="492"/>
              </a:spcBef>
            </a:pPr>
            <a:r>
              <a:rPr sz="2109" spc="-18" dirty="0">
                <a:latin typeface="Arial MT"/>
                <a:cs typeface="Arial MT"/>
              </a:rPr>
              <a:t>10</a:t>
            </a:r>
            <a:endParaRPr sz="2109">
              <a:latin typeface="Arial MT"/>
              <a:cs typeface="Arial MT"/>
            </a:endParaRPr>
          </a:p>
        </p:txBody>
      </p:sp>
      <p:sp>
        <p:nvSpPr>
          <p:cNvPr id="9" name="object 9"/>
          <p:cNvSpPr/>
          <p:nvPr/>
        </p:nvSpPr>
        <p:spPr>
          <a:xfrm>
            <a:off x="2124478" y="3642330"/>
            <a:ext cx="525512" cy="4781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sp>
        <p:nvSpPr>
          <p:cNvPr id="10" name="object 10"/>
          <p:cNvSpPr txBox="1"/>
          <p:nvPr/>
        </p:nvSpPr>
        <p:spPr>
          <a:xfrm>
            <a:off x="2133407" y="3642330"/>
            <a:ext cx="364778" cy="387694"/>
          </a:xfrm>
          <a:prstGeom prst="rect">
            <a:avLst/>
          </a:prstGeom>
          <a:ln w="25400">
            <a:solidFill>
              <a:srgbClr val="000000"/>
            </a:solidFill>
          </a:ln>
        </p:spPr>
        <p:txBody>
          <a:bodyPr vert="horz" wrap="square" lIns="0" tIns="62508" rIns="0" bIns="0" rtlCol="0">
            <a:spAutoFit/>
          </a:bodyPr>
          <a:lstStyle/>
          <a:p>
            <a:pPr marL="49112">
              <a:spcBef>
                <a:spcPts val="492"/>
              </a:spcBef>
            </a:pPr>
            <a:r>
              <a:rPr sz="2109" spc="-18" dirty="0">
                <a:latin typeface="Arial MT"/>
                <a:cs typeface="Arial MT"/>
              </a:rPr>
              <a:t>15</a:t>
            </a:r>
            <a:endParaRPr sz="2109">
              <a:latin typeface="Arial MT"/>
              <a:cs typeface="Arial MT"/>
            </a:endParaRPr>
          </a:p>
        </p:txBody>
      </p:sp>
      <p:grpSp>
        <p:nvGrpSpPr>
          <p:cNvPr id="11" name="object 11"/>
          <p:cNvGrpSpPr/>
          <p:nvPr/>
        </p:nvGrpSpPr>
        <p:grpSpPr>
          <a:xfrm>
            <a:off x="2817579" y="3619132"/>
            <a:ext cx="1245691" cy="503188"/>
            <a:chOff x="4007223" y="5147209"/>
            <a:chExt cx="1771650" cy="715645"/>
          </a:xfrm>
        </p:grpSpPr>
        <p:sp>
          <p:nvSpPr>
            <p:cNvPr id="12" name="object 12"/>
            <p:cNvSpPr/>
            <p:nvPr/>
          </p:nvSpPr>
          <p:spPr>
            <a:xfrm>
              <a:off x="4019923" y="5182754"/>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endParaRPr/>
            </a:p>
          </p:txBody>
        </p:sp>
        <p:sp>
          <p:nvSpPr>
            <p:cNvPr id="13" name="object 13"/>
            <p:cNvSpPr/>
            <p:nvPr/>
          </p:nvSpPr>
          <p:spPr>
            <a:xfrm>
              <a:off x="4019923" y="5170054"/>
              <a:ext cx="26034" cy="0"/>
            </a:xfrm>
            <a:custGeom>
              <a:avLst/>
              <a:gdLst/>
              <a:ahLst/>
              <a:cxnLst/>
              <a:rect l="l" t="t" r="r" b="b"/>
              <a:pathLst>
                <a:path w="26035">
                  <a:moveTo>
                    <a:pt x="0" y="0"/>
                  </a:moveTo>
                  <a:lnTo>
                    <a:pt x="25758" y="0"/>
                  </a:lnTo>
                </a:path>
              </a:pathLst>
            </a:custGeom>
            <a:ln w="25400">
              <a:solidFill>
                <a:srgbClr val="000000"/>
              </a:solidFill>
            </a:ln>
          </p:spPr>
          <p:txBody>
            <a:bodyPr wrap="square" lIns="0" tIns="0" rIns="0" bIns="0" rtlCol="0"/>
            <a:lstStyle/>
            <a:p>
              <a:endParaRPr/>
            </a:p>
          </p:txBody>
        </p:sp>
        <p:sp>
          <p:nvSpPr>
            <p:cNvPr id="14" name="object 14"/>
            <p:cNvSpPr/>
            <p:nvPr/>
          </p:nvSpPr>
          <p:spPr>
            <a:xfrm>
              <a:off x="4536431" y="5157354"/>
              <a:ext cx="231140" cy="25400"/>
            </a:xfrm>
            <a:custGeom>
              <a:avLst/>
              <a:gdLst/>
              <a:ahLst/>
              <a:cxnLst/>
              <a:rect l="l" t="t" r="r" b="b"/>
              <a:pathLst>
                <a:path w="231139" h="25400">
                  <a:moveTo>
                    <a:pt x="0" y="25400"/>
                  </a:moveTo>
                  <a:lnTo>
                    <a:pt x="230842" y="25400"/>
                  </a:lnTo>
                  <a:lnTo>
                    <a:pt x="230842" y="0"/>
                  </a:lnTo>
                  <a:lnTo>
                    <a:pt x="0" y="0"/>
                  </a:lnTo>
                  <a:lnTo>
                    <a:pt x="0" y="25400"/>
                  </a:lnTo>
                  <a:close/>
                </a:path>
              </a:pathLst>
            </a:custGeom>
            <a:solidFill>
              <a:srgbClr val="000000"/>
            </a:solidFill>
          </p:spPr>
          <p:txBody>
            <a:bodyPr wrap="square" lIns="0" tIns="0" rIns="0" bIns="0" rtlCol="0"/>
            <a:lstStyle/>
            <a:p>
              <a:endParaRPr/>
            </a:p>
          </p:txBody>
        </p:sp>
        <p:sp>
          <p:nvSpPr>
            <p:cNvPr id="15" name="object 15"/>
            <p:cNvSpPr/>
            <p:nvPr/>
          </p:nvSpPr>
          <p:spPr>
            <a:xfrm>
              <a:off x="5018368" y="5159909"/>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grpSp>
      <p:sp>
        <p:nvSpPr>
          <p:cNvPr id="16" name="object 16"/>
          <p:cNvSpPr txBox="1"/>
          <p:nvPr/>
        </p:nvSpPr>
        <p:spPr>
          <a:xfrm>
            <a:off x="3537470" y="3628061"/>
            <a:ext cx="364778" cy="387694"/>
          </a:xfrm>
          <a:prstGeom prst="rect">
            <a:avLst/>
          </a:prstGeom>
          <a:ln w="25400">
            <a:solidFill>
              <a:srgbClr val="000000"/>
            </a:solidFill>
          </a:ln>
        </p:spPr>
        <p:txBody>
          <a:bodyPr vert="horz" wrap="square" lIns="0" tIns="62508" rIns="0" bIns="0" rtlCol="0">
            <a:spAutoFit/>
          </a:bodyPr>
          <a:lstStyle/>
          <a:p>
            <a:pPr marL="49112">
              <a:spcBef>
                <a:spcPts val="492"/>
              </a:spcBef>
            </a:pPr>
            <a:r>
              <a:rPr sz="2109" spc="-18" dirty="0">
                <a:latin typeface="Arial MT"/>
                <a:cs typeface="Arial MT"/>
              </a:rPr>
              <a:t>31</a:t>
            </a:r>
            <a:endParaRPr sz="2109">
              <a:latin typeface="Arial MT"/>
              <a:cs typeface="Arial MT"/>
            </a:endParaRPr>
          </a:p>
        </p:txBody>
      </p:sp>
      <p:grpSp>
        <p:nvGrpSpPr>
          <p:cNvPr id="17" name="object 17"/>
          <p:cNvGrpSpPr/>
          <p:nvPr/>
        </p:nvGrpSpPr>
        <p:grpSpPr>
          <a:xfrm>
            <a:off x="4221640" y="3604861"/>
            <a:ext cx="1237655" cy="503188"/>
            <a:chOff x="6004111" y="5126913"/>
            <a:chExt cx="1760220" cy="715645"/>
          </a:xfrm>
        </p:grpSpPr>
        <p:sp>
          <p:nvSpPr>
            <p:cNvPr id="18" name="object 18"/>
            <p:cNvSpPr/>
            <p:nvPr/>
          </p:nvSpPr>
          <p:spPr>
            <a:xfrm>
              <a:off x="6547680" y="5162459"/>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endParaRPr/>
            </a:p>
          </p:txBody>
        </p:sp>
        <p:sp>
          <p:nvSpPr>
            <p:cNvPr id="19" name="object 19"/>
            <p:cNvSpPr/>
            <p:nvPr/>
          </p:nvSpPr>
          <p:spPr>
            <a:xfrm>
              <a:off x="6024760" y="5162459"/>
              <a:ext cx="0" cy="654685"/>
            </a:xfrm>
            <a:custGeom>
              <a:avLst/>
              <a:gdLst/>
              <a:ahLst/>
              <a:cxnLst/>
              <a:rect l="l" t="t" r="r" b="b"/>
              <a:pathLst>
                <a:path h="654685">
                  <a:moveTo>
                    <a:pt x="0" y="0"/>
                  </a:moveTo>
                  <a:lnTo>
                    <a:pt x="0" y="654463"/>
                  </a:lnTo>
                </a:path>
              </a:pathLst>
            </a:custGeom>
            <a:ln w="15897">
              <a:solidFill>
                <a:srgbClr val="000000"/>
              </a:solidFill>
            </a:ln>
          </p:spPr>
          <p:txBody>
            <a:bodyPr wrap="square" lIns="0" tIns="0" rIns="0" bIns="0" rtlCol="0"/>
            <a:lstStyle/>
            <a:p>
              <a:endParaRPr/>
            </a:p>
          </p:txBody>
        </p:sp>
        <p:sp>
          <p:nvSpPr>
            <p:cNvPr id="20" name="object 20"/>
            <p:cNvSpPr/>
            <p:nvPr/>
          </p:nvSpPr>
          <p:spPr>
            <a:xfrm>
              <a:off x="6016811" y="5829623"/>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sp>
          <p:nvSpPr>
            <p:cNvPr id="21" name="object 21"/>
            <p:cNvSpPr/>
            <p:nvPr/>
          </p:nvSpPr>
          <p:spPr>
            <a:xfrm>
              <a:off x="6523459" y="5137059"/>
              <a:ext cx="241300" cy="25400"/>
            </a:xfrm>
            <a:custGeom>
              <a:avLst/>
              <a:gdLst/>
              <a:ahLst/>
              <a:cxnLst/>
              <a:rect l="l" t="t" r="r" b="b"/>
              <a:pathLst>
                <a:path w="241300" h="25400">
                  <a:moveTo>
                    <a:pt x="0" y="25400"/>
                  </a:moveTo>
                  <a:lnTo>
                    <a:pt x="240703" y="25400"/>
                  </a:lnTo>
                  <a:lnTo>
                    <a:pt x="240703" y="0"/>
                  </a:lnTo>
                  <a:lnTo>
                    <a:pt x="0" y="0"/>
                  </a:lnTo>
                  <a:lnTo>
                    <a:pt x="0" y="25400"/>
                  </a:lnTo>
                  <a:close/>
                </a:path>
              </a:pathLst>
            </a:custGeom>
            <a:solidFill>
              <a:srgbClr val="000000"/>
            </a:solidFill>
          </p:spPr>
          <p:txBody>
            <a:bodyPr wrap="square" lIns="0" tIns="0" rIns="0" bIns="0" rtlCol="0"/>
            <a:lstStyle/>
            <a:p>
              <a:endParaRPr/>
            </a:p>
          </p:txBody>
        </p:sp>
        <p:sp>
          <p:nvSpPr>
            <p:cNvPr id="22" name="object 22"/>
            <p:cNvSpPr/>
            <p:nvPr/>
          </p:nvSpPr>
          <p:spPr>
            <a:xfrm>
              <a:off x="6024760" y="5137059"/>
              <a:ext cx="0" cy="25400"/>
            </a:xfrm>
            <a:custGeom>
              <a:avLst/>
              <a:gdLst/>
              <a:ahLst/>
              <a:cxnLst/>
              <a:rect l="l" t="t" r="r" b="b"/>
              <a:pathLst>
                <a:path h="25400">
                  <a:moveTo>
                    <a:pt x="0" y="0"/>
                  </a:moveTo>
                  <a:lnTo>
                    <a:pt x="0" y="25400"/>
                  </a:lnTo>
                </a:path>
              </a:pathLst>
            </a:custGeom>
            <a:ln w="15897">
              <a:solidFill>
                <a:srgbClr val="000000"/>
              </a:solidFill>
            </a:ln>
          </p:spPr>
          <p:txBody>
            <a:bodyPr wrap="square" lIns="0" tIns="0" rIns="0" bIns="0" rtlCol="0"/>
            <a:lstStyle/>
            <a:p>
              <a:endParaRPr/>
            </a:p>
          </p:txBody>
        </p:sp>
        <p:sp>
          <p:nvSpPr>
            <p:cNvPr id="23" name="object 23"/>
            <p:cNvSpPr/>
            <p:nvPr/>
          </p:nvSpPr>
          <p:spPr>
            <a:xfrm>
              <a:off x="7004271" y="5139613"/>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12700" y="12700"/>
                  </a:moveTo>
                  <a:lnTo>
                    <a:pt x="12700"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grpSp>
      <p:sp>
        <p:nvSpPr>
          <p:cNvPr id="24" name="object 24"/>
          <p:cNvSpPr txBox="1"/>
          <p:nvPr/>
        </p:nvSpPr>
        <p:spPr>
          <a:xfrm>
            <a:off x="4973991" y="3667369"/>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86</a:t>
            </a:r>
            <a:endParaRPr sz="2109">
              <a:latin typeface="Arial MT"/>
              <a:cs typeface="Arial MT"/>
            </a:endParaRPr>
          </a:p>
        </p:txBody>
      </p:sp>
      <p:sp>
        <p:nvSpPr>
          <p:cNvPr id="25" name="object 25"/>
          <p:cNvSpPr txBox="1"/>
          <p:nvPr/>
        </p:nvSpPr>
        <p:spPr>
          <a:xfrm>
            <a:off x="4288613" y="2754888"/>
            <a:ext cx="267891" cy="1277529"/>
          </a:xfrm>
          <a:prstGeom prst="rect">
            <a:avLst/>
          </a:prstGeom>
        </p:spPr>
        <p:txBody>
          <a:bodyPr vert="horz" wrap="square" lIns="0" tIns="0" rIns="0" bIns="0" rtlCol="0">
            <a:spAutoFit/>
          </a:bodyPr>
          <a:lstStyle/>
          <a:p>
            <a:pPr marL="63845">
              <a:lnSpc>
                <a:spcPts val="2358"/>
              </a:lnSpc>
            </a:pPr>
            <a:r>
              <a:rPr sz="2109" spc="-35" dirty="0">
                <a:latin typeface="Arial MT"/>
                <a:cs typeface="Arial MT"/>
              </a:rPr>
              <a:t>2</a:t>
            </a:r>
            <a:endParaRPr sz="2109">
              <a:latin typeface="Arial MT"/>
              <a:cs typeface="Arial MT"/>
            </a:endParaRPr>
          </a:p>
          <a:p>
            <a:pPr marL="63845">
              <a:spcBef>
                <a:spcPts val="1252"/>
              </a:spcBef>
            </a:pPr>
            <a:r>
              <a:rPr sz="2109" spc="-35" dirty="0">
                <a:latin typeface="Arial MT"/>
                <a:cs typeface="Arial MT"/>
              </a:rPr>
              <a:t>2</a:t>
            </a:r>
            <a:endParaRPr sz="2109">
              <a:latin typeface="Arial MT"/>
              <a:cs typeface="Arial MT"/>
            </a:endParaRPr>
          </a:p>
          <a:p>
            <a:pPr>
              <a:spcBef>
                <a:spcPts val="1171"/>
              </a:spcBef>
            </a:pPr>
            <a:r>
              <a:rPr sz="2109" spc="-137" dirty="0">
                <a:latin typeface="Arial MT"/>
                <a:cs typeface="Arial MT"/>
              </a:rPr>
              <a:t>71</a:t>
            </a:r>
            <a:endParaRPr sz="2109">
              <a:latin typeface="Arial MT"/>
              <a:cs typeface="Arial MT"/>
            </a:endParaRPr>
          </a:p>
        </p:txBody>
      </p:sp>
      <p:sp>
        <p:nvSpPr>
          <p:cNvPr id="26" name="object 26"/>
          <p:cNvSpPr txBox="1"/>
          <p:nvPr/>
        </p:nvSpPr>
        <p:spPr>
          <a:xfrm>
            <a:off x="2884552" y="2268366"/>
            <a:ext cx="271016" cy="1768818"/>
          </a:xfrm>
          <a:prstGeom prst="rect">
            <a:avLst/>
          </a:prstGeom>
        </p:spPr>
        <p:txBody>
          <a:bodyPr vert="horz" wrap="square" lIns="0" tIns="0" rIns="0" bIns="0" rtlCol="0">
            <a:spAutoFit/>
          </a:bodyPr>
          <a:lstStyle/>
          <a:p>
            <a:pPr marL="2679">
              <a:lnSpc>
                <a:spcPts val="2358"/>
              </a:lnSpc>
            </a:pPr>
            <a:r>
              <a:rPr sz="2109" spc="-130" dirty="0">
                <a:latin typeface="Arial MT"/>
                <a:cs typeface="Arial MT"/>
              </a:rPr>
              <a:t>31</a:t>
            </a:r>
            <a:endParaRPr sz="2109">
              <a:latin typeface="Arial MT"/>
              <a:cs typeface="Arial MT"/>
            </a:endParaRPr>
          </a:p>
          <a:p>
            <a:pPr marL="1786">
              <a:spcBef>
                <a:spcPts val="1396"/>
              </a:spcBef>
            </a:pPr>
            <a:r>
              <a:rPr sz="2109" spc="-127" dirty="0">
                <a:latin typeface="Arial MT"/>
                <a:cs typeface="Arial MT"/>
              </a:rPr>
              <a:t>31</a:t>
            </a:r>
            <a:endParaRPr sz="2109">
              <a:latin typeface="Arial MT"/>
              <a:cs typeface="Arial MT"/>
            </a:endParaRPr>
          </a:p>
          <a:p>
            <a:pPr marL="1786">
              <a:spcBef>
                <a:spcPts val="1188"/>
              </a:spcBef>
            </a:pPr>
            <a:r>
              <a:rPr sz="2109" spc="-127" dirty="0">
                <a:latin typeface="Arial MT"/>
                <a:cs typeface="Arial MT"/>
              </a:rPr>
              <a:t>31</a:t>
            </a:r>
            <a:endParaRPr sz="2109">
              <a:latin typeface="Arial MT"/>
              <a:cs typeface="Arial MT"/>
            </a:endParaRPr>
          </a:p>
          <a:p>
            <a:pPr>
              <a:spcBef>
                <a:spcPts val="1248"/>
              </a:spcBef>
            </a:pPr>
            <a:r>
              <a:rPr sz="2109" spc="-120" dirty="0">
                <a:latin typeface="Arial MT"/>
                <a:cs typeface="Arial MT"/>
              </a:rPr>
              <a:t>16</a:t>
            </a:r>
            <a:endParaRPr sz="2109">
              <a:latin typeface="Arial MT"/>
              <a:cs typeface="Arial MT"/>
            </a:endParaRPr>
          </a:p>
        </p:txBody>
      </p:sp>
      <p:grpSp>
        <p:nvGrpSpPr>
          <p:cNvPr id="27" name="object 27"/>
          <p:cNvGrpSpPr/>
          <p:nvPr/>
        </p:nvGrpSpPr>
        <p:grpSpPr>
          <a:xfrm>
            <a:off x="195375" y="2179940"/>
            <a:ext cx="8822531" cy="1974800"/>
            <a:chOff x="277867" y="3100358"/>
            <a:chExt cx="12547600" cy="2808605"/>
          </a:xfrm>
        </p:grpSpPr>
        <p:pic>
          <p:nvPicPr>
            <p:cNvPr id="28" name="object 28"/>
            <p:cNvPicPr/>
            <p:nvPr/>
          </p:nvPicPr>
          <p:blipFill>
            <a:blip r:embed="rId2" cstate="print"/>
            <a:stretch>
              <a:fillRect/>
            </a:stretch>
          </p:blipFill>
          <p:spPr>
            <a:xfrm>
              <a:off x="1619249" y="5447029"/>
              <a:ext cx="386080" cy="167640"/>
            </a:xfrm>
            <a:prstGeom prst="rect">
              <a:avLst/>
            </a:prstGeom>
          </p:spPr>
        </p:pic>
        <p:pic>
          <p:nvPicPr>
            <p:cNvPr id="29" name="object 29"/>
            <p:cNvPicPr/>
            <p:nvPr/>
          </p:nvPicPr>
          <p:blipFill>
            <a:blip r:embed="rId3" cstate="print"/>
            <a:stretch>
              <a:fillRect/>
            </a:stretch>
          </p:blipFill>
          <p:spPr>
            <a:xfrm>
              <a:off x="2647949" y="5421629"/>
              <a:ext cx="386080" cy="167640"/>
            </a:xfrm>
            <a:prstGeom prst="rect">
              <a:avLst/>
            </a:prstGeom>
          </p:spPr>
        </p:pic>
        <p:pic>
          <p:nvPicPr>
            <p:cNvPr id="30" name="object 30"/>
            <p:cNvPicPr/>
            <p:nvPr/>
          </p:nvPicPr>
          <p:blipFill>
            <a:blip r:embed="rId2" cstate="print"/>
            <a:stretch>
              <a:fillRect/>
            </a:stretch>
          </p:blipFill>
          <p:spPr>
            <a:xfrm>
              <a:off x="3625849" y="5447029"/>
              <a:ext cx="386080" cy="167640"/>
            </a:xfrm>
            <a:prstGeom prst="rect">
              <a:avLst/>
            </a:prstGeom>
          </p:spPr>
        </p:pic>
        <p:pic>
          <p:nvPicPr>
            <p:cNvPr id="31" name="object 31"/>
            <p:cNvPicPr/>
            <p:nvPr/>
          </p:nvPicPr>
          <p:blipFill>
            <a:blip r:embed="rId4" cstate="print"/>
            <a:stretch>
              <a:fillRect/>
            </a:stretch>
          </p:blipFill>
          <p:spPr>
            <a:xfrm>
              <a:off x="4591049" y="5421629"/>
              <a:ext cx="398780" cy="167640"/>
            </a:xfrm>
            <a:prstGeom prst="rect">
              <a:avLst/>
            </a:prstGeom>
          </p:spPr>
        </p:pic>
        <p:pic>
          <p:nvPicPr>
            <p:cNvPr id="32" name="object 32"/>
            <p:cNvPicPr/>
            <p:nvPr/>
          </p:nvPicPr>
          <p:blipFill>
            <a:blip r:embed="rId2" cstate="print"/>
            <a:stretch>
              <a:fillRect/>
            </a:stretch>
          </p:blipFill>
          <p:spPr>
            <a:xfrm>
              <a:off x="5607049" y="5447029"/>
              <a:ext cx="386080" cy="167640"/>
            </a:xfrm>
            <a:prstGeom prst="rect">
              <a:avLst/>
            </a:prstGeom>
          </p:spPr>
        </p:pic>
        <p:pic>
          <p:nvPicPr>
            <p:cNvPr id="33" name="object 33"/>
            <p:cNvPicPr/>
            <p:nvPr/>
          </p:nvPicPr>
          <p:blipFill>
            <a:blip r:embed="rId2" cstate="print"/>
            <a:stretch>
              <a:fillRect/>
            </a:stretch>
          </p:blipFill>
          <p:spPr>
            <a:xfrm>
              <a:off x="6610349" y="5447029"/>
              <a:ext cx="386080" cy="167640"/>
            </a:xfrm>
            <a:prstGeom prst="rect">
              <a:avLst/>
            </a:prstGeom>
          </p:spPr>
        </p:pic>
        <p:sp>
          <p:nvSpPr>
            <p:cNvPr id="34" name="object 34"/>
            <p:cNvSpPr/>
            <p:nvPr/>
          </p:nvSpPr>
          <p:spPr>
            <a:xfrm>
              <a:off x="7668016" y="5509790"/>
              <a:ext cx="450215" cy="8890"/>
            </a:xfrm>
            <a:custGeom>
              <a:avLst/>
              <a:gdLst/>
              <a:ahLst/>
              <a:cxnLst/>
              <a:rect l="l" t="t" r="r" b="b"/>
              <a:pathLst>
                <a:path w="450215" h="8889">
                  <a:moveTo>
                    <a:pt x="450060" y="8415"/>
                  </a:moveTo>
                  <a:lnTo>
                    <a:pt x="0" y="0"/>
                  </a:lnTo>
                </a:path>
              </a:pathLst>
            </a:custGeom>
            <a:ln w="38100">
              <a:solidFill>
                <a:srgbClr val="000000"/>
              </a:solidFill>
            </a:ln>
          </p:spPr>
          <p:txBody>
            <a:bodyPr wrap="square" lIns="0" tIns="0" rIns="0" bIns="0" rtlCol="0"/>
            <a:lstStyle/>
            <a:p>
              <a:endParaRPr/>
            </a:p>
          </p:txBody>
        </p:sp>
        <p:sp>
          <p:nvSpPr>
            <p:cNvPr id="35" name="object 35"/>
            <p:cNvSpPr/>
            <p:nvPr/>
          </p:nvSpPr>
          <p:spPr>
            <a:xfrm>
              <a:off x="8074606" y="5433617"/>
              <a:ext cx="169545" cy="167640"/>
            </a:xfrm>
            <a:custGeom>
              <a:avLst/>
              <a:gdLst/>
              <a:ahLst/>
              <a:cxnLst/>
              <a:rect l="l" t="t" r="r" b="b"/>
              <a:pathLst>
                <a:path w="169545" h="167639">
                  <a:moveTo>
                    <a:pt x="3133" y="0"/>
                  </a:moveTo>
                  <a:lnTo>
                    <a:pt x="43469" y="84588"/>
                  </a:lnTo>
                  <a:lnTo>
                    <a:pt x="0" y="167610"/>
                  </a:lnTo>
                  <a:lnTo>
                    <a:pt x="169176" y="86939"/>
                  </a:lnTo>
                  <a:lnTo>
                    <a:pt x="3133" y="0"/>
                  </a:lnTo>
                  <a:close/>
                </a:path>
              </a:pathLst>
            </a:custGeom>
            <a:solidFill>
              <a:srgbClr val="000000"/>
            </a:solidFill>
          </p:spPr>
          <p:txBody>
            <a:bodyPr wrap="square" lIns="0" tIns="0" rIns="0" bIns="0" rtlCol="0"/>
            <a:lstStyle/>
            <a:p>
              <a:endParaRPr/>
            </a:p>
          </p:txBody>
        </p:sp>
        <p:pic>
          <p:nvPicPr>
            <p:cNvPr id="36" name="object 36"/>
            <p:cNvPicPr/>
            <p:nvPr/>
          </p:nvPicPr>
          <p:blipFill>
            <a:blip r:embed="rId5" cstate="print"/>
            <a:stretch>
              <a:fillRect/>
            </a:stretch>
          </p:blipFill>
          <p:spPr>
            <a:xfrm>
              <a:off x="7598178" y="5439953"/>
              <a:ext cx="139675" cy="139675"/>
            </a:xfrm>
            <a:prstGeom prst="rect">
              <a:avLst/>
            </a:prstGeom>
          </p:spPr>
        </p:pic>
        <p:pic>
          <p:nvPicPr>
            <p:cNvPr id="37" name="object 37"/>
            <p:cNvPicPr/>
            <p:nvPr/>
          </p:nvPicPr>
          <p:blipFill>
            <a:blip r:embed="rId2" cstate="print"/>
            <a:stretch>
              <a:fillRect/>
            </a:stretch>
          </p:blipFill>
          <p:spPr>
            <a:xfrm>
              <a:off x="641350" y="5447029"/>
              <a:ext cx="386079" cy="167640"/>
            </a:xfrm>
            <a:prstGeom prst="rect">
              <a:avLst/>
            </a:prstGeom>
          </p:spPr>
        </p:pic>
        <p:sp>
          <p:nvSpPr>
            <p:cNvPr id="38" name="object 38"/>
            <p:cNvSpPr/>
            <p:nvPr/>
          </p:nvSpPr>
          <p:spPr>
            <a:xfrm>
              <a:off x="290567" y="5211246"/>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00F900"/>
              </a:solidFill>
            </a:ln>
          </p:spPr>
          <p:txBody>
            <a:bodyPr wrap="square" lIns="0" tIns="0" rIns="0" bIns="0" rtlCol="0"/>
            <a:lstStyle/>
            <a:p>
              <a:endParaRPr/>
            </a:p>
          </p:txBody>
        </p:sp>
        <p:sp>
          <p:nvSpPr>
            <p:cNvPr id="39" name="object 39"/>
            <p:cNvSpPr/>
            <p:nvPr/>
          </p:nvSpPr>
          <p:spPr>
            <a:xfrm>
              <a:off x="303071" y="518584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40" name="object 40"/>
            <p:cNvSpPr/>
            <p:nvPr/>
          </p:nvSpPr>
          <p:spPr>
            <a:xfrm>
              <a:off x="590123" y="518584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41" name="object 41"/>
            <p:cNvSpPr/>
            <p:nvPr/>
          </p:nvSpPr>
          <p:spPr>
            <a:xfrm>
              <a:off x="12316314" y="5224951"/>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FF2800"/>
              </a:solidFill>
            </a:ln>
          </p:spPr>
          <p:txBody>
            <a:bodyPr wrap="square" lIns="0" tIns="0" rIns="0" bIns="0" rtlCol="0"/>
            <a:lstStyle/>
            <a:p>
              <a:endParaRPr/>
            </a:p>
          </p:txBody>
        </p:sp>
        <p:sp>
          <p:nvSpPr>
            <p:cNvPr id="42" name="object 42"/>
            <p:cNvSpPr/>
            <p:nvPr/>
          </p:nvSpPr>
          <p:spPr>
            <a:xfrm>
              <a:off x="12628053" y="5199551"/>
              <a:ext cx="184785" cy="25400"/>
            </a:xfrm>
            <a:custGeom>
              <a:avLst/>
              <a:gdLst/>
              <a:ahLst/>
              <a:cxnLst/>
              <a:rect l="l" t="t" r="r" b="b"/>
              <a:pathLst>
                <a:path w="184784" h="25400">
                  <a:moveTo>
                    <a:pt x="0" y="25400"/>
                  </a:moveTo>
                  <a:lnTo>
                    <a:pt x="184713" y="25400"/>
                  </a:lnTo>
                  <a:lnTo>
                    <a:pt x="184713" y="0"/>
                  </a:lnTo>
                  <a:lnTo>
                    <a:pt x="0" y="0"/>
                  </a:lnTo>
                  <a:lnTo>
                    <a:pt x="0" y="25400"/>
                  </a:lnTo>
                  <a:close/>
                </a:path>
              </a:pathLst>
            </a:custGeom>
            <a:solidFill>
              <a:srgbClr val="FF2800"/>
            </a:solidFill>
          </p:spPr>
          <p:txBody>
            <a:bodyPr wrap="square" lIns="0" tIns="0" rIns="0" bIns="0" rtlCol="0"/>
            <a:lstStyle/>
            <a:p>
              <a:endParaRPr/>
            </a:p>
          </p:txBody>
        </p:sp>
        <p:sp>
          <p:nvSpPr>
            <p:cNvPr id="43" name="object 43"/>
            <p:cNvSpPr/>
            <p:nvPr/>
          </p:nvSpPr>
          <p:spPr>
            <a:xfrm>
              <a:off x="12323928" y="5199551"/>
              <a:ext cx="0" cy="25400"/>
            </a:xfrm>
            <a:custGeom>
              <a:avLst/>
              <a:gdLst/>
              <a:ahLst/>
              <a:cxnLst/>
              <a:rect l="l" t="t" r="r" b="b"/>
              <a:pathLst>
                <a:path h="25400">
                  <a:moveTo>
                    <a:pt x="0" y="0"/>
                  </a:moveTo>
                  <a:lnTo>
                    <a:pt x="0" y="25400"/>
                  </a:lnTo>
                </a:path>
              </a:pathLst>
            </a:custGeom>
            <a:ln w="15226">
              <a:solidFill>
                <a:srgbClr val="FF2800"/>
              </a:solidFill>
            </a:ln>
          </p:spPr>
          <p:txBody>
            <a:bodyPr wrap="square" lIns="0" tIns="0" rIns="0" bIns="0" rtlCol="0"/>
            <a:lstStyle/>
            <a:p>
              <a:endParaRPr/>
            </a:p>
          </p:txBody>
        </p:sp>
        <p:sp>
          <p:nvSpPr>
            <p:cNvPr id="44" name="object 44"/>
            <p:cNvSpPr/>
            <p:nvPr/>
          </p:nvSpPr>
          <p:spPr>
            <a:xfrm>
              <a:off x="6026586" y="381060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endParaRPr/>
            </a:p>
          </p:txBody>
        </p:sp>
        <p:sp>
          <p:nvSpPr>
            <p:cNvPr id="45" name="object 45"/>
            <p:cNvSpPr/>
            <p:nvPr/>
          </p:nvSpPr>
          <p:spPr>
            <a:xfrm>
              <a:off x="6023298" y="4465073"/>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endParaRPr/>
            </a:p>
          </p:txBody>
        </p:sp>
        <p:sp>
          <p:nvSpPr>
            <p:cNvPr id="46" name="object 46"/>
            <p:cNvSpPr/>
            <p:nvPr/>
          </p:nvSpPr>
          <p:spPr>
            <a:xfrm>
              <a:off x="6523459" y="4465073"/>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endParaRPr/>
            </a:p>
          </p:txBody>
        </p:sp>
        <p:sp>
          <p:nvSpPr>
            <p:cNvPr id="47" name="object 47"/>
            <p:cNvSpPr/>
            <p:nvPr/>
          </p:nvSpPr>
          <p:spPr>
            <a:xfrm>
              <a:off x="6013886" y="379790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sp>
          <p:nvSpPr>
            <p:cNvPr id="48" name="object 48"/>
            <p:cNvSpPr/>
            <p:nvPr/>
          </p:nvSpPr>
          <p:spPr>
            <a:xfrm>
              <a:off x="4553369" y="450029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endParaRPr/>
            </a:p>
          </p:txBody>
        </p:sp>
        <p:sp>
          <p:nvSpPr>
            <p:cNvPr id="49" name="object 49"/>
            <p:cNvSpPr/>
            <p:nvPr/>
          </p:nvSpPr>
          <p:spPr>
            <a:xfrm>
              <a:off x="4034091" y="4500290"/>
              <a:ext cx="0" cy="680085"/>
            </a:xfrm>
            <a:custGeom>
              <a:avLst/>
              <a:gdLst/>
              <a:ahLst/>
              <a:cxnLst/>
              <a:rect l="l" t="t" r="r" b="b"/>
              <a:pathLst>
                <a:path h="680085">
                  <a:moveTo>
                    <a:pt x="0" y="0"/>
                  </a:moveTo>
                  <a:lnTo>
                    <a:pt x="0" y="654463"/>
                  </a:lnTo>
                </a:path>
                <a:path h="680085">
                  <a:moveTo>
                    <a:pt x="0" y="654463"/>
                  </a:moveTo>
                  <a:lnTo>
                    <a:pt x="0" y="679863"/>
                  </a:lnTo>
                </a:path>
              </a:pathLst>
            </a:custGeom>
            <a:ln w="23180">
              <a:solidFill>
                <a:srgbClr val="000000"/>
              </a:solidFill>
            </a:ln>
          </p:spPr>
          <p:txBody>
            <a:bodyPr wrap="square" lIns="0" tIns="0" rIns="0" bIns="0" rtlCol="0"/>
            <a:lstStyle/>
            <a:p>
              <a:endParaRPr/>
            </a:p>
          </p:txBody>
        </p:sp>
        <p:sp>
          <p:nvSpPr>
            <p:cNvPr id="50" name="object 50"/>
            <p:cNvSpPr/>
            <p:nvPr/>
          </p:nvSpPr>
          <p:spPr>
            <a:xfrm>
              <a:off x="4536427" y="4474895"/>
              <a:ext cx="233679" cy="705485"/>
            </a:xfrm>
            <a:custGeom>
              <a:avLst/>
              <a:gdLst/>
              <a:ahLst/>
              <a:cxnLst/>
              <a:rect l="l" t="t" r="r" b="b"/>
              <a:pathLst>
                <a:path w="233679" h="705485">
                  <a:moveTo>
                    <a:pt x="233413" y="679869"/>
                  </a:moveTo>
                  <a:lnTo>
                    <a:pt x="0" y="679869"/>
                  </a:lnTo>
                  <a:lnTo>
                    <a:pt x="0" y="705269"/>
                  </a:lnTo>
                  <a:lnTo>
                    <a:pt x="233413" y="705269"/>
                  </a:lnTo>
                  <a:lnTo>
                    <a:pt x="233413" y="679869"/>
                  </a:lnTo>
                  <a:close/>
                </a:path>
                <a:path w="233679" h="705485">
                  <a:moveTo>
                    <a:pt x="233413" y="0"/>
                  </a:moveTo>
                  <a:lnTo>
                    <a:pt x="0" y="0"/>
                  </a:lnTo>
                  <a:lnTo>
                    <a:pt x="0" y="25400"/>
                  </a:lnTo>
                  <a:lnTo>
                    <a:pt x="233413" y="25400"/>
                  </a:lnTo>
                  <a:lnTo>
                    <a:pt x="233413" y="0"/>
                  </a:lnTo>
                  <a:close/>
                </a:path>
              </a:pathLst>
            </a:custGeom>
            <a:solidFill>
              <a:srgbClr val="000000"/>
            </a:solidFill>
          </p:spPr>
          <p:txBody>
            <a:bodyPr wrap="square" lIns="0" tIns="0" rIns="0" bIns="0" rtlCol="0"/>
            <a:lstStyle/>
            <a:p>
              <a:endParaRPr/>
            </a:p>
          </p:txBody>
        </p:sp>
        <p:sp>
          <p:nvSpPr>
            <p:cNvPr id="51" name="object 51"/>
            <p:cNvSpPr/>
            <p:nvPr/>
          </p:nvSpPr>
          <p:spPr>
            <a:xfrm>
              <a:off x="4034091" y="4474890"/>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endParaRPr/>
            </a:p>
          </p:txBody>
        </p:sp>
        <p:sp>
          <p:nvSpPr>
            <p:cNvPr id="52" name="object 52"/>
            <p:cNvSpPr/>
            <p:nvPr/>
          </p:nvSpPr>
          <p:spPr>
            <a:xfrm>
              <a:off x="617295" y="3820920"/>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00F900"/>
              </a:solidFill>
            </a:ln>
          </p:spPr>
          <p:txBody>
            <a:bodyPr wrap="square" lIns="0" tIns="0" rIns="0" bIns="0" rtlCol="0"/>
            <a:lstStyle/>
            <a:p>
              <a:endParaRPr/>
            </a:p>
          </p:txBody>
        </p:sp>
        <p:sp>
          <p:nvSpPr>
            <p:cNvPr id="53" name="object 53"/>
            <p:cNvSpPr/>
            <p:nvPr/>
          </p:nvSpPr>
          <p:spPr>
            <a:xfrm>
              <a:off x="303071" y="3820920"/>
              <a:ext cx="0" cy="658495"/>
            </a:xfrm>
            <a:custGeom>
              <a:avLst/>
              <a:gdLst/>
              <a:ahLst/>
              <a:cxnLst/>
              <a:rect l="l" t="t" r="r" b="b"/>
              <a:pathLst>
                <a:path h="658495">
                  <a:moveTo>
                    <a:pt x="0" y="0"/>
                  </a:moveTo>
                  <a:lnTo>
                    <a:pt x="0" y="658365"/>
                  </a:lnTo>
                </a:path>
              </a:pathLst>
            </a:custGeom>
            <a:ln w="25007">
              <a:solidFill>
                <a:srgbClr val="00F900"/>
              </a:solidFill>
            </a:ln>
          </p:spPr>
          <p:txBody>
            <a:bodyPr wrap="square" lIns="0" tIns="0" rIns="0" bIns="0" rtlCol="0"/>
            <a:lstStyle/>
            <a:p>
              <a:endParaRPr/>
            </a:p>
          </p:txBody>
        </p:sp>
        <p:sp>
          <p:nvSpPr>
            <p:cNvPr id="54" name="object 54"/>
            <p:cNvSpPr/>
            <p:nvPr/>
          </p:nvSpPr>
          <p:spPr>
            <a:xfrm>
              <a:off x="590123" y="447928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55" name="object 55"/>
            <p:cNvSpPr/>
            <p:nvPr/>
          </p:nvSpPr>
          <p:spPr>
            <a:xfrm>
              <a:off x="303071" y="447928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56" name="object 56"/>
            <p:cNvSpPr/>
            <p:nvPr/>
          </p:nvSpPr>
          <p:spPr>
            <a:xfrm>
              <a:off x="590123" y="3795520"/>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57" name="object 57"/>
            <p:cNvSpPr/>
            <p:nvPr/>
          </p:nvSpPr>
          <p:spPr>
            <a:xfrm>
              <a:off x="303071" y="3795520"/>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58" name="object 58"/>
            <p:cNvSpPr/>
            <p:nvPr/>
          </p:nvSpPr>
          <p:spPr>
            <a:xfrm>
              <a:off x="12643042" y="3903002"/>
              <a:ext cx="157480" cy="658495"/>
            </a:xfrm>
            <a:custGeom>
              <a:avLst/>
              <a:gdLst/>
              <a:ahLst/>
              <a:cxnLst/>
              <a:rect l="l" t="t" r="r" b="b"/>
              <a:pathLst>
                <a:path w="157479" h="658495">
                  <a:moveTo>
                    <a:pt x="157023" y="0"/>
                  </a:moveTo>
                  <a:lnTo>
                    <a:pt x="157023" y="658366"/>
                  </a:lnTo>
                </a:path>
                <a:path w="157479" h="658495">
                  <a:moveTo>
                    <a:pt x="0" y="0"/>
                  </a:moveTo>
                  <a:lnTo>
                    <a:pt x="0" y="658366"/>
                  </a:lnTo>
                </a:path>
              </a:pathLst>
            </a:custGeom>
            <a:ln w="25400">
              <a:solidFill>
                <a:srgbClr val="FF2800"/>
              </a:solidFill>
            </a:ln>
          </p:spPr>
          <p:txBody>
            <a:bodyPr wrap="square" lIns="0" tIns="0" rIns="0" bIns="0" rtlCol="0"/>
            <a:lstStyle/>
            <a:p>
              <a:endParaRPr/>
            </a:p>
          </p:txBody>
        </p:sp>
        <p:sp>
          <p:nvSpPr>
            <p:cNvPr id="59" name="object 59"/>
            <p:cNvSpPr/>
            <p:nvPr/>
          </p:nvSpPr>
          <p:spPr>
            <a:xfrm>
              <a:off x="12323927" y="3903002"/>
              <a:ext cx="0" cy="658495"/>
            </a:xfrm>
            <a:custGeom>
              <a:avLst/>
              <a:gdLst/>
              <a:ahLst/>
              <a:cxnLst/>
              <a:rect l="l" t="t" r="r" b="b"/>
              <a:pathLst>
                <a:path h="658495">
                  <a:moveTo>
                    <a:pt x="0" y="0"/>
                  </a:moveTo>
                  <a:lnTo>
                    <a:pt x="0" y="658366"/>
                  </a:lnTo>
                </a:path>
              </a:pathLst>
            </a:custGeom>
            <a:ln w="15227">
              <a:solidFill>
                <a:srgbClr val="FF2800"/>
              </a:solidFill>
            </a:ln>
          </p:spPr>
          <p:txBody>
            <a:bodyPr wrap="square" lIns="0" tIns="0" rIns="0" bIns="0" rtlCol="0"/>
            <a:lstStyle/>
            <a:p>
              <a:endParaRPr/>
            </a:p>
          </p:txBody>
        </p:sp>
        <p:sp>
          <p:nvSpPr>
            <p:cNvPr id="60" name="object 60"/>
            <p:cNvSpPr/>
            <p:nvPr/>
          </p:nvSpPr>
          <p:spPr>
            <a:xfrm>
              <a:off x="12628053" y="4561368"/>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61" name="object 61"/>
            <p:cNvSpPr/>
            <p:nvPr/>
          </p:nvSpPr>
          <p:spPr>
            <a:xfrm>
              <a:off x="12323927" y="4561368"/>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62" name="object 62"/>
            <p:cNvSpPr/>
            <p:nvPr/>
          </p:nvSpPr>
          <p:spPr>
            <a:xfrm>
              <a:off x="12628053" y="38776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63" name="object 63"/>
            <p:cNvSpPr/>
            <p:nvPr/>
          </p:nvSpPr>
          <p:spPr>
            <a:xfrm>
              <a:off x="12323927" y="3877602"/>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64" name="object 64"/>
            <p:cNvSpPr/>
            <p:nvPr/>
          </p:nvSpPr>
          <p:spPr>
            <a:xfrm>
              <a:off x="711200" y="4133849"/>
              <a:ext cx="3098800" cy="0"/>
            </a:xfrm>
            <a:custGeom>
              <a:avLst/>
              <a:gdLst/>
              <a:ahLst/>
              <a:cxnLst/>
              <a:rect l="l" t="t" r="r" b="b"/>
              <a:pathLst>
                <a:path w="3098800">
                  <a:moveTo>
                    <a:pt x="3098800" y="0"/>
                  </a:moveTo>
                  <a:lnTo>
                    <a:pt x="0" y="0"/>
                  </a:lnTo>
                </a:path>
              </a:pathLst>
            </a:custGeom>
            <a:ln w="38100">
              <a:solidFill>
                <a:srgbClr val="000000"/>
              </a:solidFill>
            </a:ln>
          </p:spPr>
          <p:txBody>
            <a:bodyPr wrap="square" lIns="0" tIns="0" rIns="0" bIns="0" rtlCol="0"/>
            <a:lstStyle/>
            <a:p>
              <a:endParaRPr/>
            </a:p>
          </p:txBody>
        </p:sp>
        <p:sp>
          <p:nvSpPr>
            <p:cNvPr id="65" name="object 65"/>
            <p:cNvSpPr/>
            <p:nvPr/>
          </p:nvSpPr>
          <p:spPr>
            <a:xfrm>
              <a:off x="3768090" y="4050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66" name="object 66"/>
            <p:cNvPicPr/>
            <p:nvPr/>
          </p:nvPicPr>
          <p:blipFill>
            <a:blip r:embed="rId6" cstate="print"/>
            <a:stretch>
              <a:fillRect/>
            </a:stretch>
          </p:blipFill>
          <p:spPr>
            <a:xfrm>
              <a:off x="641350" y="4063999"/>
              <a:ext cx="139700" cy="139700"/>
            </a:xfrm>
            <a:prstGeom prst="rect">
              <a:avLst/>
            </a:prstGeom>
          </p:spPr>
        </p:pic>
        <p:sp>
          <p:nvSpPr>
            <p:cNvPr id="67" name="object 67"/>
            <p:cNvSpPr/>
            <p:nvPr/>
          </p:nvSpPr>
          <p:spPr>
            <a:xfrm>
              <a:off x="1689099" y="4845050"/>
              <a:ext cx="2171700" cy="0"/>
            </a:xfrm>
            <a:custGeom>
              <a:avLst/>
              <a:gdLst/>
              <a:ahLst/>
              <a:cxnLst/>
              <a:rect l="l" t="t" r="r" b="b"/>
              <a:pathLst>
                <a:path w="2171700">
                  <a:moveTo>
                    <a:pt x="2171700" y="0"/>
                  </a:moveTo>
                  <a:lnTo>
                    <a:pt x="0" y="0"/>
                  </a:lnTo>
                </a:path>
              </a:pathLst>
            </a:custGeom>
            <a:ln w="38100">
              <a:solidFill>
                <a:srgbClr val="000000"/>
              </a:solidFill>
            </a:ln>
          </p:spPr>
          <p:txBody>
            <a:bodyPr wrap="square" lIns="0" tIns="0" rIns="0" bIns="0" rtlCol="0"/>
            <a:lstStyle/>
            <a:p>
              <a:endParaRPr/>
            </a:p>
          </p:txBody>
        </p:sp>
        <p:sp>
          <p:nvSpPr>
            <p:cNvPr id="68" name="object 68"/>
            <p:cNvSpPr/>
            <p:nvPr/>
          </p:nvSpPr>
          <p:spPr>
            <a:xfrm>
              <a:off x="3818890" y="47612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69" name="object 69"/>
            <p:cNvPicPr/>
            <p:nvPr/>
          </p:nvPicPr>
          <p:blipFill>
            <a:blip r:embed="rId7" cstate="print"/>
            <a:stretch>
              <a:fillRect/>
            </a:stretch>
          </p:blipFill>
          <p:spPr>
            <a:xfrm>
              <a:off x="1619249" y="4775199"/>
              <a:ext cx="139700" cy="139700"/>
            </a:xfrm>
            <a:prstGeom prst="rect">
              <a:avLst/>
            </a:prstGeom>
          </p:spPr>
        </p:pic>
        <p:sp>
          <p:nvSpPr>
            <p:cNvPr id="70" name="object 70"/>
            <p:cNvSpPr/>
            <p:nvPr/>
          </p:nvSpPr>
          <p:spPr>
            <a:xfrm>
              <a:off x="6651202" y="4144222"/>
              <a:ext cx="1522730" cy="5080"/>
            </a:xfrm>
            <a:custGeom>
              <a:avLst/>
              <a:gdLst/>
              <a:ahLst/>
              <a:cxnLst/>
              <a:rect l="l" t="t" r="r" b="b"/>
              <a:pathLst>
                <a:path w="1522729" h="5079">
                  <a:moveTo>
                    <a:pt x="1522427" y="5041"/>
                  </a:moveTo>
                  <a:lnTo>
                    <a:pt x="0" y="0"/>
                  </a:lnTo>
                </a:path>
              </a:pathLst>
            </a:custGeom>
            <a:ln w="38100">
              <a:solidFill>
                <a:srgbClr val="000000"/>
              </a:solidFill>
            </a:ln>
          </p:spPr>
          <p:txBody>
            <a:bodyPr wrap="square" lIns="0" tIns="0" rIns="0" bIns="0" rtlCol="0"/>
            <a:lstStyle/>
            <a:p>
              <a:endParaRPr/>
            </a:p>
          </p:txBody>
        </p:sp>
        <p:sp>
          <p:nvSpPr>
            <p:cNvPr id="71" name="object 71"/>
            <p:cNvSpPr/>
            <p:nvPr/>
          </p:nvSpPr>
          <p:spPr>
            <a:xfrm>
              <a:off x="8131443" y="4065305"/>
              <a:ext cx="168275" cy="167640"/>
            </a:xfrm>
            <a:custGeom>
              <a:avLst/>
              <a:gdLst/>
              <a:ahLst/>
              <a:cxnLst/>
              <a:rect l="l" t="t" r="r" b="b"/>
              <a:pathLst>
                <a:path w="168275" h="167639">
                  <a:moveTo>
                    <a:pt x="554" y="0"/>
                  </a:moveTo>
                  <a:lnTo>
                    <a:pt x="42186" y="83958"/>
                  </a:lnTo>
                  <a:lnTo>
                    <a:pt x="0" y="167638"/>
                  </a:lnTo>
                  <a:lnTo>
                    <a:pt x="167916" y="84374"/>
                  </a:lnTo>
                  <a:lnTo>
                    <a:pt x="554" y="0"/>
                  </a:lnTo>
                  <a:close/>
                </a:path>
              </a:pathLst>
            </a:custGeom>
            <a:solidFill>
              <a:srgbClr val="000000"/>
            </a:solidFill>
          </p:spPr>
          <p:txBody>
            <a:bodyPr wrap="square" lIns="0" tIns="0" rIns="0" bIns="0" rtlCol="0"/>
            <a:lstStyle/>
            <a:p>
              <a:endParaRPr/>
            </a:p>
          </p:txBody>
        </p:sp>
        <p:pic>
          <p:nvPicPr>
            <p:cNvPr id="72" name="object 72"/>
            <p:cNvPicPr/>
            <p:nvPr/>
          </p:nvPicPr>
          <p:blipFill>
            <a:blip r:embed="rId8" cstate="print"/>
            <a:stretch>
              <a:fillRect/>
            </a:stretch>
          </p:blipFill>
          <p:spPr>
            <a:xfrm>
              <a:off x="6581352" y="4074373"/>
              <a:ext cx="139699" cy="139698"/>
            </a:xfrm>
            <a:prstGeom prst="rect">
              <a:avLst/>
            </a:prstGeom>
          </p:spPr>
        </p:pic>
        <p:sp>
          <p:nvSpPr>
            <p:cNvPr id="73" name="object 73"/>
            <p:cNvSpPr/>
            <p:nvPr/>
          </p:nvSpPr>
          <p:spPr>
            <a:xfrm>
              <a:off x="12329014" y="3219236"/>
              <a:ext cx="471170" cy="658495"/>
            </a:xfrm>
            <a:custGeom>
              <a:avLst/>
              <a:gdLst/>
              <a:ahLst/>
              <a:cxnLst/>
              <a:rect l="l" t="t" r="r" b="b"/>
              <a:pathLst>
                <a:path w="471170" h="658495">
                  <a:moveTo>
                    <a:pt x="471051" y="0"/>
                  </a:moveTo>
                  <a:lnTo>
                    <a:pt x="471051" y="658365"/>
                  </a:lnTo>
                </a:path>
                <a:path w="471170" h="658495">
                  <a:moveTo>
                    <a:pt x="314028" y="0"/>
                  </a:moveTo>
                  <a:lnTo>
                    <a:pt x="314028" y="658365"/>
                  </a:lnTo>
                </a:path>
                <a:path w="471170" h="658495">
                  <a:moveTo>
                    <a:pt x="0" y="0"/>
                  </a:moveTo>
                  <a:lnTo>
                    <a:pt x="0" y="658365"/>
                  </a:lnTo>
                </a:path>
              </a:pathLst>
            </a:custGeom>
            <a:ln w="25400">
              <a:solidFill>
                <a:srgbClr val="FF2800"/>
              </a:solidFill>
            </a:ln>
          </p:spPr>
          <p:txBody>
            <a:bodyPr wrap="square" lIns="0" tIns="0" rIns="0" bIns="0" rtlCol="0"/>
            <a:lstStyle/>
            <a:p>
              <a:endParaRPr/>
            </a:p>
          </p:txBody>
        </p:sp>
        <p:sp>
          <p:nvSpPr>
            <p:cNvPr id="74" name="object 74"/>
            <p:cNvSpPr/>
            <p:nvPr/>
          </p:nvSpPr>
          <p:spPr>
            <a:xfrm>
              <a:off x="12628053" y="38776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75" name="object 75"/>
            <p:cNvSpPr/>
            <p:nvPr/>
          </p:nvSpPr>
          <p:spPr>
            <a:xfrm>
              <a:off x="12323927" y="3877602"/>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76" name="object 76"/>
            <p:cNvSpPr/>
            <p:nvPr/>
          </p:nvSpPr>
          <p:spPr>
            <a:xfrm>
              <a:off x="12316314" y="3206536"/>
              <a:ext cx="496570" cy="0"/>
            </a:xfrm>
            <a:custGeom>
              <a:avLst/>
              <a:gdLst/>
              <a:ahLst/>
              <a:cxnLst/>
              <a:rect l="l" t="t" r="r" b="b"/>
              <a:pathLst>
                <a:path w="496570">
                  <a:moveTo>
                    <a:pt x="0" y="0"/>
                  </a:moveTo>
                  <a:lnTo>
                    <a:pt x="496451" y="0"/>
                  </a:lnTo>
                </a:path>
              </a:pathLst>
            </a:custGeom>
            <a:ln w="25400">
              <a:solidFill>
                <a:srgbClr val="FF2800"/>
              </a:solidFill>
            </a:ln>
          </p:spPr>
          <p:txBody>
            <a:bodyPr wrap="square" lIns="0" tIns="0" rIns="0" bIns="0" rtlCol="0"/>
            <a:lstStyle/>
            <a:p>
              <a:endParaRPr/>
            </a:p>
          </p:txBody>
        </p:sp>
        <p:sp>
          <p:nvSpPr>
            <p:cNvPr id="77" name="object 77"/>
            <p:cNvSpPr/>
            <p:nvPr/>
          </p:nvSpPr>
          <p:spPr>
            <a:xfrm>
              <a:off x="617295" y="3125758"/>
              <a:ext cx="157480" cy="658495"/>
            </a:xfrm>
            <a:custGeom>
              <a:avLst/>
              <a:gdLst/>
              <a:ahLst/>
              <a:cxnLst/>
              <a:rect l="l" t="t" r="r" b="b"/>
              <a:pathLst>
                <a:path w="157479" h="658495">
                  <a:moveTo>
                    <a:pt x="157023" y="504905"/>
                  </a:moveTo>
                  <a:lnTo>
                    <a:pt x="157023" y="658365"/>
                  </a:lnTo>
                </a:path>
                <a:path w="157479" h="658495">
                  <a:moveTo>
                    <a:pt x="157023" y="0"/>
                  </a:moveTo>
                  <a:lnTo>
                    <a:pt x="157023" y="416740"/>
                  </a:lnTo>
                </a:path>
                <a:path w="157479" h="658495">
                  <a:moveTo>
                    <a:pt x="0" y="504905"/>
                  </a:moveTo>
                  <a:lnTo>
                    <a:pt x="0" y="658365"/>
                  </a:lnTo>
                </a:path>
                <a:path w="157479" h="658495">
                  <a:moveTo>
                    <a:pt x="0" y="0"/>
                  </a:moveTo>
                  <a:lnTo>
                    <a:pt x="0" y="416740"/>
                  </a:lnTo>
                </a:path>
              </a:pathLst>
            </a:custGeom>
            <a:ln w="25400">
              <a:solidFill>
                <a:srgbClr val="00F900"/>
              </a:solidFill>
            </a:ln>
          </p:spPr>
          <p:txBody>
            <a:bodyPr wrap="square" lIns="0" tIns="0" rIns="0" bIns="0" rtlCol="0"/>
            <a:lstStyle/>
            <a:p>
              <a:endParaRPr/>
            </a:p>
          </p:txBody>
        </p:sp>
        <p:sp>
          <p:nvSpPr>
            <p:cNvPr id="78" name="object 78"/>
            <p:cNvSpPr/>
            <p:nvPr/>
          </p:nvSpPr>
          <p:spPr>
            <a:xfrm>
              <a:off x="303267" y="3125758"/>
              <a:ext cx="0" cy="658495"/>
            </a:xfrm>
            <a:custGeom>
              <a:avLst/>
              <a:gdLst/>
              <a:ahLst/>
              <a:cxnLst/>
              <a:rect l="l" t="t" r="r" b="b"/>
              <a:pathLst>
                <a:path h="658495">
                  <a:moveTo>
                    <a:pt x="0" y="0"/>
                  </a:moveTo>
                  <a:lnTo>
                    <a:pt x="0" y="658365"/>
                  </a:lnTo>
                </a:path>
              </a:pathLst>
            </a:custGeom>
            <a:ln w="25400">
              <a:solidFill>
                <a:srgbClr val="00F900"/>
              </a:solidFill>
            </a:ln>
          </p:spPr>
          <p:txBody>
            <a:bodyPr wrap="square" lIns="0" tIns="0" rIns="0" bIns="0" rtlCol="0"/>
            <a:lstStyle/>
            <a:p>
              <a:endParaRPr/>
            </a:p>
          </p:txBody>
        </p:sp>
        <p:sp>
          <p:nvSpPr>
            <p:cNvPr id="79" name="object 79"/>
            <p:cNvSpPr/>
            <p:nvPr/>
          </p:nvSpPr>
          <p:spPr>
            <a:xfrm>
              <a:off x="303071" y="3784124"/>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80" name="object 80"/>
            <p:cNvSpPr/>
            <p:nvPr/>
          </p:nvSpPr>
          <p:spPr>
            <a:xfrm>
              <a:off x="590123" y="3784124"/>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81" name="object 81"/>
            <p:cNvSpPr/>
            <p:nvPr/>
          </p:nvSpPr>
          <p:spPr>
            <a:xfrm>
              <a:off x="290567" y="3113058"/>
              <a:ext cx="496570" cy="0"/>
            </a:xfrm>
            <a:custGeom>
              <a:avLst/>
              <a:gdLst/>
              <a:ahLst/>
              <a:cxnLst/>
              <a:rect l="l" t="t" r="r" b="b"/>
              <a:pathLst>
                <a:path w="496570">
                  <a:moveTo>
                    <a:pt x="0" y="0"/>
                  </a:moveTo>
                  <a:lnTo>
                    <a:pt x="496451" y="0"/>
                  </a:lnTo>
                </a:path>
              </a:pathLst>
            </a:custGeom>
            <a:ln w="25400">
              <a:solidFill>
                <a:srgbClr val="00F900"/>
              </a:solidFill>
            </a:ln>
          </p:spPr>
          <p:txBody>
            <a:bodyPr wrap="square" lIns="0" tIns="0" rIns="0" bIns="0" rtlCol="0"/>
            <a:lstStyle/>
            <a:p>
              <a:endParaRPr/>
            </a:p>
          </p:txBody>
        </p:sp>
        <p:sp>
          <p:nvSpPr>
            <p:cNvPr id="82" name="object 82"/>
            <p:cNvSpPr/>
            <p:nvPr/>
          </p:nvSpPr>
          <p:spPr>
            <a:xfrm>
              <a:off x="4553369" y="382792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endParaRPr/>
            </a:p>
          </p:txBody>
        </p:sp>
        <p:sp>
          <p:nvSpPr>
            <p:cNvPr id="83" name="object 83"/>
            <p:cNvSpPr/>
            <p:nvPr/>
          </p:nvSpPr>
          <p:spPr>
            <a:xfrm>
              <a:off x="4034091" y="3827920"/>
              <a:ext cx="0" cy="654685"/>
            </a:xfrm>
            <a:custGeom>
              <a:avLst/>
              <a:gdLst/>
              <a:ahLst/>
              <a:cxnLst/>
              <a:rect l="l" t="t" r="r" b="b"/>
              <a:pathLst>
                <a:path h="654685">
                  <a:moveTo>
                    <a:pt x="0" y="0"/>
                  </a:moveTo>
                  <a:lnTo>
                    <a:pt x="0" y="654463"/>
                  </a:lnTo>
                </a:path>
              </a:pathLst>
            </a:custGeom>
            <a:ln w="23180">
              <a:solidFill>
                <a:srgbClr val="000000"/>
              </a:solidFill>
            </a:ln>
          </p:spPr>
          <p:txBody>
            <a:bodyPr wrap="square" lIns="0" tIns="0" rIns="0" bIns="0" rtlCol="0"/>
            <a:lstStyle/>
            <a:p>
              <a:endParaRPr/>
            </a:p>
          </p:txBody>
        </p:sp>
        <p:sp>
          <p:nvSpPr>
            <p:cNvPr id="84" name="object 84"/>
            <p:cNvSpPr/>
            <p:nvPr/>
          </p:nvSpPr>
          <p:spPr>
            <a:xfrm>
              <a:off x="4536431" y="4482384"/>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endParaRPr/>
            </a:p>
          </p:txBody>
        </p:sp>
        <p:sp>
          <p:nvSpPr>
            <p:cNvPr id="85" name="object 85"/>
            <p:cNvSpPr/>
            <p:nvPr/>
          </p:nvSpPr>
          <p:spPr>
            <a:xfrm>
              <a:off x="4034091" y="3802520"/>
              <a:ext cx="0" cy="705485"/>
            </a:xfrm>
            <a:custGeom>
              <a:avLst/>
              <a:gdLst/>
              <a:ahLst/>
              <a:cxnLst/>
              <a:rect l="l" t="t" r="r" b="b"/>
              <a:pathLst>
                <a:path h="705485">
                  <a:moveTo>
                    <a:pt x="0" y="679863"/>
                  </a:moveTo>
                  <a:lnTo>
                    <a:pt x="0" y="705263"/>
                  </a:lnTo>
                </a:path>
                <a:path h="705485">
                  <a:moveTo>
                    <a:pt x="0" y="0"/>
                  </a:moveTo>
                  <a:lnTo>
                    <a:pt x="0" y="25400"/>
                  </a:lnTo>
                </a:path>
              </a:pathLst>
            </a:custGeom>
            <a:ln w="23180">
              <a:solidFill>
                <a:srgbClr val="000000"/>
              </a:solidFill>
            </a:ln>
          </p:spPr>
          <p:txBody>
            <a:bodyPr wrap="square" lIns="0" tIns="0" rIns="0" bIns="0" rtlCol="0"/>
            <a:lstStyle/>
            <a:p>
              <a:endParaRPr/>
            </a:p>
          </p:txBody>
        </p:sp>
        <p:sp>
          <p:nvSpPr>
            <p:cNvPr id="86" name="object 86"/>
            <p:cNvSpPr/>
            <p:nvPr/>
          </p:nvSpPr>
          <p:spPr>
            <a:xfrm>
              <a:off x="4536431" y="3802520"/>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endParaRPr/>
            </a:p>
          </p:txBody>
        </p:sp>
        <p:sp>
          <p:nvSpPr>
            <p:cNvPr id="87" name="object 87"/>
            <p:cNvSpPr/>
            <p:nvPr/>
          </p:nvSpPr>
          <p:spPr>
            <a:xfrm>
              <a:off x="711200" y="3448049"/>
              <a:ext cx="3136900" cy="0"/>
            </a:xfrm>
            <a:custGeom>
              <a:avLst/>
              <a:gdLst/>
              <a:ahLst/>
              <a:cxnLst/>
              <a:rect l="l" t="t" r="r" b="b"/>
              <a:pathLst>
                <a:path w="3136900">
                  <a:moveTo>
                    <a:pt x="3136900" y="0"/>
                  </a:moveTo>
                  <a:lnTo>
                    <a:pt x="0" y="0"/>
                  </a:lnTo>
                </a:path>
              </a:pathLst>
            </a:custGeom>
            <a:ln w="38100">
              <a:solidFill>
                <a:srgbClr val="000000"/>
              </a:solidFill>
            </a:ln>
          </p:spPr>
          <p:txBody>
            <a:bodyPr wrap="square" lIns="0" tIns="0" rIns="0" bIns="0" rtlCol="0"/>
            <a:lstStyle/>
            <a:p>
              <a:endParaRPr/>
            </a:p>
          </p:txBody>
        </p:sp>
        <p:sp>
          <p:nvSpPr>
            <p:cNvPr id="88" name="object 88"/>
            <p:cNvSpPr/>
            <p:nvPr/>
          </p:nvSpPr>
          <p:spPr>
            <a:xfrm>
              <a:off x="3806190" y="33642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89" name="object 89"/>
            <p:cNvPicPr/>
            <p:nvPr/>
          </p:nvPicPr>
          <p:blipFill>
            <a:blip r:embed="rId6" cstate="print"/>
            <a:stretch>
              <a:fillRect/>
            </a:stretch>
          </p:blipFill>
          <p:spPr>
            <a:xfrm>
              <a:off x="641350" y="3378199"/>
              <a:ext cx="139700" cy="139700"/>
            </a:xfrm>
            <a:prstGeom prst="rect">
              <a:avLst/>
            </a:prstGeom>
          </p:spPr>
        </p:pic>
        <p:sp>
          <p:nvSpPr>
            <p:cNvPr id="90" name="object 90"/>
            <p:cNvSpPr/>
            <p:nvPr/>
          </p:nvSpPr>
          <p:spPr>
            <a:xfrm>
              <a:off x="4656852" y="3460261"/>
              <a:ext cx="7555865" cy="4445"/>
            </a:xfrm>
            <a:custGeom>
              <a:avLst/>
              <a:gdLst/>
              <a:ahLst/>
              <a:cxnLst/>
              <a:rect l="l" t="t" r="r" b="b"/>
              <a:pathLst>
                <a:path w="7555865" h="4445">
                  <a:moveTo>
                    <a:pt x="7555304" y="3915"/>
                  </a:moveTo>
                  <a:lnTo>
                    <a:pt x="0" y="0"/>
                  </a:lnTo>
                </a:path>
              </a:pathLst>
            </a:custGeom>
            <a:ln w="38100">
              <a:solidFill>
                <a:srgbClr val="000000"/>
              </a:solidFill>
            </a:ln>
          </p:spPr>
          <p:txBody>
            <a:bodyPr wrap="square" lIns="0" tIns="0" rIns="0" bIns="0" rtlCol="0"/>
            <a:lstStyle/>
            <a:p>
              <a:endParaRPr/>
            </a:p>
          </p:txBody>
        </p:sp>
        <p:sp>
          <p:nvSpPr>
            <p:cNvPr id="91" name="object 91"/>
            <p:cNvSpPr/>
            <p:nvPr/>
          </p:nvSpPr>
          <p:spPr>
            <a:xfrm>
              <a:off x="12170204" y="3380334"/>
              <a:ext cx="168275" cy="167640"/>
            </a:xfrm>
            <a:custGeom>
              <a:avLst/>
              <a:gdLst/>
              <a:ahLst/>
              <a:cxnLst/>
              <a:rect l="l" t="t" r="r" b="b"/>
              <a:pathLst>
                <a:path w="168275" h="167639">
                  <a:moveTo>
                    <a:pt x="86" y="0"/>
                  </a:moveTo>
                  <a:lnTo>
                    <a:pt x="41920" y="83907"/>
                  </a:lnTo>
                  <a:lnTo>
                    <a:pt x="0" y="167640"/>
                  </a:lnTo>
                  <a:lnTo>
                    <a:pt x="167683" y="83907"/>
                  </a:lnTo>
                  <a:lnTo>
                    <a:pt x="86" y="0"/>
                  </a:lnTo>
                  <a:close/>
                </a:path>
              </a:pathLst>
            </a:custGeom>
            <a:solidFill>
              <a:srgbClr val="000000"/>
            </a:solidFill>
          </p:spPr>
          <p:txBody>
            <a:bodyPr wrap="square" lIns="0" tIns="0" rIns="0" bIns="0" rtlCol="0"/>
            <a:lstStyle/>
            <a:p>
              <a:endParaRPr/>
            </a:p>
          </p:txBody>
        </p:sp>
        <p:pic>
          <p:nvPicPr>
            <p:cNvPr id="92" name="object 92"/>
            <p:cNvPicPr/>
            <p:nvPr/>
          </p:nvPicPr>
          <p:blipFill>
            <a:blip r:embed="rId9" cstate="print"/>
            <a:stretch>
              <a:fillRect/>
            </a:stretch>
          </p:blipFill>
          <p:spPr>
            <a:xfrm>
              <a:off x="4587003" y="3390411"/>
              <a:ext cx="139699" cy="139699"/>
            </a:xfrm>
            <a:prstGeom prst="rect">
              <a:avLst/>
            </a:prstGeom>
          </p:spPr>
        </p:pic>
        <p:sp>
          <p:nvSpPr>
            <p:cNvPr id="93" name="object 93"/>
            <p:cNvSpPr/>
            <p:nvPr/>
          </p:nvSpPr>
          <p:spPr>
            <a:xfrm>
              <a:off x="6544755" y="4494377"/>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endParaRPr/>
            </a:p>
          </p:txBody>
        </p:sp>
        <p:sp>
          <p:nvSpPr>
            <p:cNvPr id="94" name="object 94"/>
            <p:cNvSpPr/>
            <p:nvPr/>
          </p:nvSpPr>
          <p:spPr>
            <a:xfrm>
              <a:off x="6023298" y="4494377"/>
              <a:ext cx="0" cy="680085"/>
            </a:xfrm>
            <a:custGeom>
              <a:avLst/>
              <a:gdLst/>
              <a:ahLst/>
              <a:cxnLst/>
              <a:rect l="l" t="t" r="r" b="b"/>
              <a:pathLst>
                <a:path h="680085">
                  <a:moveTo>
                    <a:pt x="0" y="0"/>
                  </a:moveTo>
                  <a:lnTo>
                    <a:pt x="0" y="654463"/>
                  </a:lnTo>
                </a:path>
                <a:path h="680085">
                  <a:moveTo>
                    <a:pt x="0" y="654463"/>
                  </a:moveTo>
                  <a:lnTo>
                    <a:pt x="0" y="679863"/>
                  </a:lnTo>
                </a:path>
              </a:pathLst>
            </a:custGeom>
            <a:ln w="18822">
              <a:solidFill>
                <a:srgbClr val="000000"/>
              </a:solidFill>
            </a:ln>
          </p:spPr>
          <p:txBody>
            <a:bodyPr wrap="square" lIns="0" tIns="0" rIns="0" bIns="0" rtlCol="0"/>
            <a:lstStyle/>
            <a:p>
              <a:endParaRPr/>
            </a:p>
          </p:txBody>
        </p:sp>
        <p:sp>
          <p:nvSpPr>
            <p:cNvPr id="95" name="object 95"/>
            <p:cNvSpPr/>
            <p:nvPr/>
          </p:nvSpPr>
          <p:spPr>
            <a:xfrm>
              <a:off x="6523459" y="5148841"/>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endParaRPr/>
            </a:p>
          </p:txBody>
        </p:sp>
        <p:sp>
          <p:nvSpPr>
            <p:cNvPr id="96" name="object 96"/>
            <p:cNvSpPr/>
            <p:nvPr/>
          </p:nvSpPr>
          <p:spPr>
            <a:xfrm>
              <a:off x="6023298" y="4468977"/>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endParaRPr/>
            </a:p>
          </p:txBody>
        </p:sp>
        <p:sp>
          <p:nvSpPr>
            <p:cNvPr id="97" name="object 97"/>
            <p:cNvSpPr/>
            <p:nvPr/>
          </p:nvSpPr>
          <p:spPr>
            <a:xfrm>
              <a:off x="6523459" y="4468977"/>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endParaRPr/>
            </a:p>
          </p:txBody>
        </p:sp>
      </p:grpSp>
      <p:grpSp>
        <p:nvGrpSpPr>
          <p:cNvPr id="98" name="object 98"/>
          <p:cNvGrpSpPr/>
          <p:nvPr/>
        </p:nvGrpSpPr>
        <p:grpSpPr>
          <a:xfrm>
            <a:off x="2820334" y="2174953"/>
            <a:ext cx="543371" cy="504081"/>
            <a:chOff x="4011141" y="3093266"/>
            <a:chExt cx="772795" cy="716915"/>
          </a:xfrm>
        </p:grpSpPr>
        <p:sp>
          <p:nvSpPr>
            <p:cNvPr id="99" name="object 99"/>
            <p:cNvSpPr/>
            <p:nvPr/>
          </p:nvSpPr>
          <p:spPr>
            <a:xfrm>
              <a:off x="4554709" y="3118666"/>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endParaRPr/>
            </a:p>
          </p:txBody>
        </p:sp>
        <p:sp>
          <p:nvSpPr>
            <p:cNvPr id="100" name="object 100"/>
            <p:cNvSpPr/>
            <p:nvPr/>
          </p:nvSpPr>
          <p:spPr>
            <a:xfrm>
              <a:off x="4036541" y="3118666"/>
              <a:ext cx="0" cy="654685"/>
            </a:xfrm>
            <a:custGeom>
              <a:avLst/>
              <a:gdLst/>
              <a:ahLst/>
              <a:cxnLst/>
              <a:rect l="l" t="t" r="r" b="b"/>
              <a:pathLst>
                <a:path h="654685">
                  <a:moveTo>
                    <a:pt x="0" y="511996"/>
                  </a:moveTo>
                  <a:lnTo>
                    <a:pt x="0" y="654463"/>
                  </a:lnTo>
                </a:path>
                <a:path h="654685">
                  <a:moveTo>
                    <a:pt x="0" y="0"/>
                  </a:moveTo>
                  <a:lnTo>
                    <a:pt x="0" y="423832"/>
                  </a:lnTo>
                </a:path>
              </a:pathLst>
            </a:custGeom>
            <a:ln w="25400">
              <a:solidFill>
                <a:srgbClr val="000000"/>
              </a:solidFill>
            </a:ln>
          </p:spPr>
          <p:txBody>
            <a:bodyPr wrap="square" lIns="0" tIns="0" rIns="0" bIns="0" rtlCol="0"/>
            <a:lstStyle/>
            <a:p>
              <a:endParaRPr/>
            </a:p>
          </p:txBody>
        </p:sp>
        <p:sp>
          <p:nvSpPr>
            <p:cNvPr id="101" name="object 101"/>
            <p:cNvSpPr/>
            <p:nvPr/>
          </p:nvSpPr>
          <p:spPr>
            <a:xfrm>
              <a:off x="4034761" y="3773130"/>
              <a:ext cx="0" cy="25400"/>
            </a:xfrm>
            <a:custGeom>
              <a:avLst/>
              <a:gdLst/>
              <a:ahLst/>
              <a:cxnLst/>
              <a:rect l="l" t="t" r="r" b="b"/>
              <a:pathLst>
                <a:path h="25400">
                  <a:moveTo>
                    <a:pt x="0" y="0"/>
                  </a:moveTo>
                  <a:lnTo>
                    <a:pt x="0" y="25400"/>
                  </a:lnTo>
                </a:path>
              </a:pathLst>
            </a:custGeom>
            <a:ln w="21840">
              <a:solidFill>
                <a:srgbClr val="000000"/>
              </a:solidFill>
            </a:ln>
          </p:spPr>
          <p:txBody>
            <a:bodyPr wrap="square" lIns="0" tIns="0" rIns="0" bIns="0" rtlCol="0"/>
            <a:lstStyle/>
            <a:p>
              <a:endParaRPr/>
            </a:p>
          </p:txBody>
        </p:sp>
        <p:sp>
          <p:nvSpPr>
            <p:cNvPr id="102" name="object 102"/>
            <p:cNvSpPr/>
            <p:nvPr/>
          </p:nvSpPr>
          <p:spPr>
            <a:xfrm>
              <a:off x="4536431" y="3773130"/>
              <a:ext cx="234950" cy="25400"/>
            </a:xfrm>
            <a:custGeom>
              <a:avLst/>
              <a:gdLst/>
              <a:ahLst/>
              <a:cxnLst/>
              <a:rect l="l" t="t" r="r" b="b"/>
              <a:pathLst>
                <a:path w="234950" h="25400">
                  <a:moveTo>
                    <a:pt x="0" y="25400"/>
                  </a:moveTo>
                  <a:lnTo>
                    <a:pt x="234760" y="25400"/>
                  </a:lnTo>
                  <a:lnTo>
                    <a:pt x="234760" y="0"/>
                  </a:lnTo>
                  <a:lnTo>
                    <a:pt x="0" y="0"/>
                  </a:lnTo>
                  <a:lnTo>
                    <a:pt x="0" y="25400"/>
                  </a:lnTo>
                  <a:close/>
                </a:path>
              </a:pathLst>
            </a:custGeom>
            <a:solidFill>
              <a:srgbClr val="000000"/>
            </a:solidFill>
          </p:spPr>
          <p:txBody>
            <a:bodyPr wrap="square" lIns="0" tIns="0" rIns="0" bIns="0" rtlCol="0"/>
            <a:lstStyle/>
            <a:p>
              <a:endParaRPr/>
            </a:p>
          </p:txBody>
        </p:sp>
        <p:sp>
          <p:nvSpPr>
            <p:cNvPr id="103" name="object 103"/>
            <p:cNvSpPr/>
            <p:nvPr/>
          </p:nvSpPr>
          <p:spPr>
            <a:xfrm>
              <a:off x="4023841" y="3105966"/>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grpSp>
      <p:grpSp>
        <p:nvGrpSpPr>
          <p:cNvPr id="104" name="object 104"/>
          <p:cNvGrpSpPr/>
          <p:nvPr/>
        </p:nvGrpSpPr>
        <p:grpSpPr>
          <a:xfrm>
            <a:off x="204168" y="2318290"/>
            <a:ext cx="8805118" cy="1766739"/>
            <a:chOff x="290371" y="3297123"/>
            <a:chExt cx="12522835" cy="2512695"/>
          </a:xfrm>
        </p:grpSpPr>
        <p:sp>
          <p:nvSpPr>
            <p:cNvPr id="105" name="object 105"/>
            <p:cNvSpPr/>
            <p:nvPr/>
          </p:nvSpPr>
          <p:spPr>
            <a:xfrm>
              <a:off x="9303910" y="449133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endParaRPr/>
            </a:p>
          </p:txBody>
        </p:sp>
        <p:sp>
          <p:nvSpPr>
            <p:cNvPr id="106" name="object 106"/>
            <p:cNvSpPr/>
            <p:nvPr/>
          </p:nvSpPr>
          <p:spPr>
            <a:xfrm>
              <a:off x="9291206" y="5145811"/>
              <a:ext cx="747395" cy="25400"/>
            </a:xfrm>
            <a:custGeom>
              <a:avLst/>
              <a:gdLst/>
              <a:ahLst/>
              <a:cxnLst/>
              <a:rect l="l" t="t" r="r" b="b"/>
              <a:pathLst>
                <a:path w="747395" h="25400">
                  <a:moveTo>
                    <a:pt x="18846" y="0"/>
                  </a:moveTo>
                  <a:lnTo>
                    <a:pt x="0" y="0"/>
                  </a:lnTo>
                  <a:lnTo>
                    <a:pt x="0" y="25400"/>
                  </a:lnTo>
                  <a:lnTo>
                    <a:pt x="18846" y="25400"/>
                  </a:lnTo>
                  <a:lnTo>
                    <a:pt x="18846" y="0"/>
                  </a:lnTo>
                  <a:close/>
                </a:path>
                <a:path w="747395" h="25400">
                  <a:moveTo>
                    <a:pt x="747344" y="0"/>
                  </a:moveTo>
                  <a:lnTo>
                    <a:pt x="513029" y="0"/>
                  </a:lnTo>
                  <a:lnTo>
                    <a:pt x="513029" y="25400"/>
                  </a:lnTo>
                  <a:lnTo>
                    <a:pt x="747344" y="25400"/>
                  </a:lnTo>
                  <a:lnTo>
                    <a:pt x="747344" y="0"/>
                  </a:lnTo>
                  <a:close/>
                </a:path>
              </a:pathLst>
            </a:custGeom>
            <a:solidFill>
              <a:srgbClr val="000000"/>
            </a:solidFill>
          </p:spPr>
          <p:txBody>
            <a:bodyPr wrap="square" lIns="0" tIns="0" rIns="0" bIns="0" rtlCol="0"/>
            <a:lstStyle/>
            <a:p>
              <a:endParaRPr/>
            </a:p>
          </p:txBody>
        </p:sp>
        <p:sp>
          <p:nvSpPr>
            <p:cNvPr id="107" name="object 107"/>
            <p:cNvSpPr/>
            <p:nvPr/>
          </p:nvSpPr>
          <p:spPr>
            <a:xfrm>
              <a:off x="9291210" y="447863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sp>
          <p:nvSpPr>
            <p:cNvPr id="108" name="object 108"/>
            <p:cNvSpPr/>
            <p:nvPr/>
          </p:nvSpPr>
          <p:spPr>
            <a:xfrm>
              <a:off x="617295" y="4516083"/>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00F900"/>
              </a:solidFill>
            </a:ln>
          </p:spPr>
          <p:txBody>
            <a:bodyPr wrap="square" lIns="0" tIns="0" rIns="0" bIns="0" rtlCol="0"/>
            <a:lstStyle/>
            <a:p>
              <a:endParaRPr/>
            </a:p>
          </p:txBody>
        </p:sp>
        <p:sp>
          <p:nvSpPr>
            <p:cNvPr id="109" name="object 109"/>
            <p:cNvSpPr/>
            <p:nvPr/>
          </p:nvSpPr>
          <p:spPr>
            <a:xfrm>
              <a:off x="303071" y="4516083"/>
              <a:ext cx="0" cy="683895"/>
            </a:xfrm>
            <a:custGeom>
              <a:avLst/>
              <a:gdLst/>
              <a:ahLst/>
              <a:cxnLst/>
              <a:rect l="l" t="t" r="r" b="b"/>
              <a:pathLst>
                <a:path h="683895">
                  <a:moveTo>
                    <a:pt x="0" y="0"/>
                  </a:moveTo>
                  <a:lnTo>
                    <a:pt x="0" y="658365"/>
                  </a:lnTo>
                </a:path>
                <a:path h="683895">
                  <a:moveTo>
                    <a:pt x="0" y="658365"/>
                  </a:moveTo>
                  <a:lnTo>
                    <a:pt x="0" y="683765"/>
                  </a:lnTo>
                </a:path>
              </a:pathLst>
            </a:custGeom>
            <a:ln w="25007">
              <a:solidFill>
                <a:srgbClr val="00F900"/>
              </a:solidFill>
            </a:ln>
          </p:spPr>
          <p:txBody>
            <a:bodyPr wrap="square" lIns="0" tIns="0" rIns="0" bIns="0" rtlCol="0"/>
            <a:lstStyle/>
            <a:p>
              <a:endParaRPr/>
            </a:p>
          </p:txBody>
        </p:sp>
        <p:sp>
          <p:nvSpPr>
            <p:cNvPr id="110" name="object 110"/>
            <p:cNvSpPr/>
            <p:nvPr/>
          </p:nvSpPr>
          <p:spPr>
            <a:xfrm>
              <a:off x="590123" y="5174449"/>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111" name="object 111"/>
            <p:cNvSpPr/>
            <p:nvPr/>
          </p:nvSpPr>
          <p:spPr>
            <a:xfrm>
              <a:off x="303071" y="4490683"/>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112" name="object 112"/>
            <p:cNvSpPr/>
            <p:nvPr/>
          </p:nvSpPr>
          <p:spPr>
            <a:xfrm>
              <a:off x="590123" y="4490683"/>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113" name="object 113"/>
            <p:cNvSpPr/>
            <p:nvPr/>
          </p:nvSpPr>
          <p:spPr>
            <a:xfrm>
              <a:off x="12643041" y="4563976"/>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FF2800"/>
              </a:solidFill>
            </a:ln>
          </p:spPr>
          <p:txBody>
            <a:bodyPr wrap="square" lIns="0" tIns="0" rIns="0" bIns="0" rtlCol="0"/>
            <a:lstStyle/>
            <a:p>
              <a:endParaRPr/>
            </a:p>
          </p:txBody>
        </p:sp>
        <p:sp>
          <p:nvSpPr>
            <p:cNvPr id="114" name="object 114"/>
            <p:cNvSpPr/>
            <p:nvPr/>
          </p:nvSpPr>
          <p:spPr>
            <a:xfrm>
              <a:off x="12323927" y="4563976"/>
              <a:ext cx="0" cy="683895"/>
            </a:xfrm>
            <a:custGeom>
              <a:avLst/>
              <a:gdLst/>
              <a:ahLst/>
              <a:cxnLst/>
              <a:rect l="l" t="t" r="r" b="b"/>
              <a:pathLst>
                <a:path h="683895">
                  <a:moveTo>
                    <a:pt x="0" y="0"/>
                  </a:moveTo>
                  <a:lnTo>
                    <a:pt x="0" y="658365"/>
                  </a:lnTo>
                </a:path>
                <a:path h="683895">
                  <a:moveTo>
                    <a:pt x="0" y="658365"/>
                  </a:moveTo>
                  <a:lnTo>
                    <a:pt x="0" y="683765"/>
                  </a:lnTo>
                </a:path>
              </a:pathLst>
            </a:custGeom>
            <a:ln w="15227">
              <a:solidFill>
                <a:srgbClr val="FF2800"/>
              </a:solidFill>
            </a:ln>
          </p:spPr>
          <p:txBody>
            <a:bodyPr wrap="square" lIns="0" tIns="0" rIns="0" bIns="0" rtlCol="0"/>
            <a:lstStyle/>
            <a:p>
              <a:endParaRPr/>
            </a:p>
          </p:txBody>
        </p:sp>
        <p:sp>
          <p:nvSpPr>
            <p:cNvPr id="115" name="object 115"/>
            <p:cNvSpPr/>
            <p:nvPr/>
          </p:nvSpPr>
          <p:spPr>
            <a:xfrm>
              <a:off x="12628053" y="522234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116" name="object 116"/>
            <p:cNvSpPr/>
            <p:nvPr/>
          </p:nvSpPr>
          <p:spPr>
            <a:xfrm>
              <a:off x="12323927" y="4538576"/>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117" name="object 117"/>
            <p:cNvSpPr/>
            <p:nvPr/>
          </p:nvSpPr>
          <p:spPr>
            <a:xfrm>
              <a:off x="12628053" y="4538576"/>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pic>
          <p:nvPicPr>
            <p:cNvPr id="118" name="object 118"/>
            <p:cNvPicPr/>
            <p:nvPr/>
          </p:nvPicPr>
          <p:blipFill>
            <a:blip r:embed="rId2" cstate="print"/>
            <a:stretch>
              <a:fillRect/>
            </a:stretch>
          </p:blipFill>
          <p:spPr>
            <a:xfrm>
              <a:off x="641350" y="4748529"/>
              <a:ext cx="386079" cy="167640"/>
            </a:xfrm>
            <a:prstGeom prst="rect">
              <a:avLst/>
            </a:prstGeom>
          </p:spPr>
        </p:pic>
        <p:sp>
          <p:nvSpPr>
            <p:cNvPr id="119" name="object 119"/>
            <p:cNvSpPr/>
            <p:nvPr/>
          </p:nvSpPr>
          <p:spPr>
            <a:xfrm>
              <a:off x="4635500" y="41338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endParaRPr/>
            </a:p>
          </p:txBody>
        </p:sp>
        <p:sp>
          <p:nvSpPr>
            <p:cNvPr id="120" name="object 120"/>
            <p:cNvSpPr/>
            <p:nvPr/>
          </p:nvSpPr>
          <p:spPr>
            <a:xfrm>
              <a:off x="5812789" y="4050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21" name="object 121"/>
            <p:cNvPicPr/>
            <p:nvPr/>
          </p:nvPicPr>
          <p:blipFill>
            <a:blip r:embed="rId6" cstate="print"/>
            <a:stretch>
              <a:fillRect/>
            </a:stretch>
          </p:blipFill>
          <p:spPr>
            <a:xfrm>
              <a:off x="4565649" y="4063999"/>
              <a:ext cx="139700" cy="139700"/>
            </a:xfrm>
            <a:prstGeom prst="rect">
              <a:avLst/>
            </a:prstGeom>
          </p:spPr>
        </p:pic>
        <p:sp>
          <p:nvSpPr>
            <p:cNvPr id="122" name="object 122"/>
            <p:cNvSpPr/>
            <p:nvPr/>
          </p:nvSpPr>
          <p:spPr>
            <a:xfrm>
              <a:off x="4635500" y="48069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endParaRPr/>
            </a:p>
          </p:txBody>
        </p:sp>
        <p:sp>
          <p:nvSpPr>
            <p:cNvPr id="123" name="object 123"/>
            <p:cNvSpPr/>
            <p:nvPr/>
          </p:nvSpPr>
          <p:spPr>
            <a:xfrm>
              <a:off x="5812789" y="47231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24" name="object 124"/>
            <p:cNvPicPr/>
            <p:nvPr/>
          </p:nvPicPr>
          <p:blipFill>
            <a:blip r:embed="rId7" cstate="print"/>
            <a:stretch>
              <a:fillRect/>
            </a:stretch>
          </p:blipFill>
          <p:spPr>
            <a:xfrm>
              <a:off x="4565649" y="4737099"/>
              <a:ext cx="139700" cy="139700"/>
            </a:xfrm>
            <a:prstGeom prst="rect">
              <a:avLst/>
            </a:prstGeom>
          </p:spPr>
        </p:pic>
        <p:sp>
          <p:nvSpPr>
            <p:cNvPr id="125" name="object 125"/>
            <p:cNvSpPr/>
            <p:nvPr/>
          </p:nvSpPr>
          <p:spPr>
            <a:xfrm>
              <a:off x="6635066" y="4798523"/>
              <a:ext cx="1464945" cy="5715"/>
            </a:xfrm>
            <a:custGeom>
              <a:avLst/>
              <a:gdLst/>
              <a:ahLst/>
              <a:cxnLst/>
              <a:rect l="l" t="t" r="r" b="b"/>
              <a:pathLst>
                <a:path w="1464945" h="5714">
                  <a:moveTo>
                    <a:pt x="1464462" y="0"/>
                  </a:moveTo>
                  <a:lnTo>
                    <a:pt x="0" y="5320"/>
                  </a:lnTo>
                </a:path>
              </a:pathLst>
            </a:custGeom>
            <a:ln w="38100">
              <a:solidFill>
                <a:srgbClr val="000000"/>
              </a:solidFill>
            </a:ln>
          </p:spPr>
          <p:txBody>
            <a:bodyPr wrap="square" lIns="0" tIns="0" rIns="0" bIns="0" rtlCol="0"/>
            <a:lstStyle/>
            <a:p>
              <a:endParaRPr/>
            </a:p>
          </p:txBody>
        </p:sp>
        <p:sp>
          <p:nvSpPr>
            <p:cNvPr id="126" name="object 126"/>
            <p:cNvSpPr/>
            <p:nvPr/>
          </p:nvSpPr>
          <p:spPr>
            <a:xfrm>
              <a:off x="8057314" y="4714855"/>
              <a:ext cx="168275" cy="167640"/>
            </a:xfrm>
            <a:custGeom>
              <a:avLst/>
              <a:gdLst/>
              <a:ahLst/>
              <a:cxnLst/>
              <a:rect l="l" t="t" r="r" b="b"/>
              <a:pathLst>
                <a:path w="168275" h="167639">
                  <a:moveTo>
                    <a:pt x="0" y="0"/>
                  </a:moveTo>
                  <a:lnTo>
                    <a:pt x="42214" y="83667"/>
                  </a:lnTo>
                  <a:lnTo>
                    <a:pt x="609" y="167640"/>
                  </a:lnTo>
                  <a:lnTo>
                    <a:pt x="167943" y="83210"/>
                  </a:lnTo>
                  <a:lnTo>
                    <a:pt x="0" y="0"/>
                  </a:lnTo>
                  <a:close/>
                </a:path>
              </a:pathLst>
            </a:custGeom>
            <a:solidFill>
              <a:srgbClr val="000000"/>
            </a:solidFill>
          </p:spPr>
          <p:txBody>
            <a:bodyPr wrap="square" lIns="0" tIns="0" rIns="0" bIns="0" rtlCol="0"/>
            <a:lstStyle/>
            <a:p>
              <a:endParaRPr/>
            </a:p>
          </p:txBody>
        </p:sp>
        <p:pic>
          <p:nvPicPr>
            <p:cNvPr id="127" name="object 127"/>
            <p:cNvPicPr/>
            <p:nvPr/>
          </p:nvPicPr>
          <p:blipFill>
            <a:blip r:embed="rId10" cstate="print"/>
            <a:stretch>
              <a:fillRect/>
            </a:stretch>
          </p:blipFill>
          <p:spPr>
            <a:xfrm>
              <a:off x="6565216" y="4733994"/>
              <a:ext cx="139699" cy="139699"/>
            </a:xfrm>
            <a:prstGeom prst="rect">
              <a:avLst/>
            </a:prstGeom>
          </p:spPr>
        </p:pic>
        <p:sp>
          <p:nvSpPr>
            <p:cNvPr id="128" name="object 128"/>
            <p:cNvSpPr/>
            <p:nvPr/>
          </p:nvSpPr>
          <p:spPr>
            <a:xfrm>
              <a:off x="9905999" y="4794250"/>
              <a:ext cx="279400" cy="0"/>
            </a:xfrm>
            <a:custGeom>
              <a:avLst/>
              <a:gdLst/>
              <a:ahLst/>
              <a:cxnLst/>
              <a:rect l="l" t="t" r="r" b="b"/>
              <a:pathLst>
                <a:path w="279400">
                  <a:moveTo>
                    <a:pt x="279400" y="0"/>
                  </a:moveTo>
                  <a:lnTo>
                    <a:pt x="0" y="0"/>
                  </a:lnTo>
                </a:path>
              </a:pathLst>
            </a:custGeom>
            <a:ln w="38100">
              <a:solidFill>
                <a:srgbClr val="000000"/>
              </a:solidFill>
            </a:ln>
          </p:spPr>
          <p:txBody>
            <a:bodyPr wrap="square" lIns="0" tIns="0" rIns="0" bIns="0" rtlCol="0"/>
            <a:lstStyle/>
            <a:p>
              <a:endParaRPr/>
            </a:p>
          </p:txBody>
        </p:sp>
        <p:sp>
          <p:nvSpPr>
            <p:cNvPr id="129" name="object 129"/>
            <p:cNvSpPr/>
            <p:nvPr/>
          </p:nvSpPr>
          <p:spPr>
            <a:xfrm>
              <a:off x="10143489" y="47104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30" name="object 130"/>
            <p:cNvPicPr/>
            <p:nvPr/>
          </p:nvPicPr>
          <p:blipFill>
            <a:blip r:embed="rId11" cstate="print"/>
            <a:stretch>
              <a:fillRect/>
            </a:stretch>
          </p:blipFill>
          <p:spPr>
            <a:xfrm>
              <a:off x="9836149" y="4724399"/>
              <a:ext cx="139699" cy="139700"/>
            </a:xfrm>
            <a:prstGeom prst="rect">
              <a:avLst/>
            </a:prstGeom>
          </p:spPr>
        </p:pic>
        <p:sp>
          <p:nvSpPr>
            <p:cNvPr id="131" name="object 131"/>
            <p:cNvSpPr/>
            <p:nvPr/>
          </p:nvSpPr>
          <p:spPr>
            <a:xfrm>
              <a:off x="4045681" y="3297123"/>
              <a:ext cx="490855" cy="2512695"/>
            </a:xfrm>
            <a:custGeom>
              <a:avLst/>
              <a:gdLst/>
              <a:ahLst/>
              <a:cxnLst/>
              <a:rect l="l" t="t" r="r" b="b"/>
              <a:pathLst>
                <a:path w="490854" h="2512695">
                  <a:moveTo>
                    <a:pt x="490750" y="0"/>
                  </a:moveTo>
                  <a:lnTo>
                    <a:pt x="0" y="0"/>
                  </a:lnTo>
                  <a:lnTo>
                    <a:pt x="0" y="2512192"/>
                  </a:lnTo>
                  <a:lnTo>
                    <a:pt x="490750" y="2512192"/>
                  </a:lnTo>
                  <a:lnTo>
                    <a:pt x="490750" y="0"/>
                  </a:lnTo>
                  <a:close/>
                </a:path>
              </a:pathLst>
            </a:custGeom>
            <a:solidFill>
              <a:srgbClr val="FFFFFF"/>
            </a:solidFill>
          </p:spPr>
          <p:txBody>
            <a:bodyPr wrap="square" lIns="0" tIns="0" rIns="0" bIns="0" rtlCol="0"/>
            <a:lstStyle/>
            <a:p>
              <a:endParaRPr/>
            </a:p>
          </p:txBody>
        </p:sp>
      </p:grpSp>
      <p:sp>
        <p:nvSpPr>
          <p:cNvPr id="132" name="object 132"/>
          <p:cNvSpPr txBox="1"/>
          <p:nvPr/>
        </p:nvSpPr>
        <p:spPr>
          <a:xfrm>
            <a:off x="2875873" y="3023735"/>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16</a:t>
            </a:r>
            <a:endParaRPr sz="2109">
              <a:latin typeface="Arial MT"/>
              <a:cs typeface="Arial MT"/>
            </a:endParaRPr>
          </a:p>
        </p:txBody>
      </p:sp>
      <p:sp>
        <p:nvSpPr>
          <p:cNvPr id="133" name="object 133"/>
          <p:cNvSpPr/>
          <p:nvPr/>
        </p:nvSpPr>
        <p:spPr>
          <a:xfrm>
            <a:off x="4241749" y="2768252"/>
            <a:ext cx="345132" cy="1322933"/>
          </a:xfrm>
          <a:custGeom>
            <a:avLst/>
            <a:gdLst/>
            <a:ahLst/>
            <a:cxnLst/>
            <a:rect l="l" t="t" r="r" b="b"/>
            <a:pathLst>
              <a:path w="490854" h="1881504">
                <a:moveTo>
                  <a:pt x="490749" y="0"/>
                </a:moveTo>
                <a:lnTo>
                  <a:pt x="0" y="0"/>
                </a:lnTo>
                <a:lnTo>
                  <a:pt x="0" y="1881223"/>
                </a:lnTo>
                <a:lnTo>
                  <a:pt x="490749" y="1881223"/>
                </a:lnTo>
                <a:lnTo>
                  <a:pt x="490749" y="0"/>
                </a:lnTo>
                <a:close/>
              </a:path>
            </a:pathLst>
          </a:custGeom>
          <a:solidFill>
            <a:srgbClr val="FFFFFF"/>
          </a:solidFill>
        </p:spPr>
        <p:txBody>
          <a:bodyPr wrap="square" lIns="0" tIns="0" rIns="0" bIns="0" rtlCol="0"/>
          <a:lstStyle/>
          <a:p>
            <a:endParaRPr/>
          </a:p>
        </p:txBody>
      </p:sp>
      <p:sp>
        <p:nvSpPr>
          <p:cNvPr id="134" name="object 134"/>
          <p:cNvSpPr txBox="1"/>
          <p:nvPr/>
        </p:nvSpPr>
        <p:spPr>
          <a:xfrm>
            <a:off x="4273002" y="3241525"/>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71</a:t>
            </a:r>
            <a:endParaRPr sz="2109">
              <a:latin typeface="Arial MT"/>
              <a:cs typeface="Arial MT"/>
            </a:endParaRPr>
          </a:p>
        </p:txBody>
      </p:sp>
      <p:sp>
        <p:nvSpPr>
          <p:cNvPr id="135" name="object 135"/>
          <p:cNvSpPr txBox="1"/>
          <p:nvPr/>
        </p:nvSpPr>
        <p:spPr>
          <a:xfrm>
            <a:off x="6590925" y="3233527"/>
            <a:ext cx="270570" cy="786241"/>
          </a:xfrm>
          <a:prstGeom prst="rect">
            <a:avLst/>
          </a:prstGeom>
        </p:spPr>
        <p:txBody>
          <a:bodyPr vert="horz" wrap="square" lIns="0" tIns="0" rIns="0" bIns="0" rtlCol="0">
            <a:spAutoFit/>
          </a:bodyPr>
          <a:lstStyle/>
          <a:p>
            <a:pPr>
              <a:lnSpc>
                <a:spcPts val="2358"/>
              </a:lnSpc>
            </a:pPr>
            <a:r>
              <a:rPr sz="2109" spc="-127" dirty="0">
                <a:latin typeface="Arial MT"/>
                <a:cs typeface="Arial MT"/>
              </a:rPr>
              <a:t>96</a:t>
            </a:r>
            <a:endParaRPr sz="2109">
              <a:latin typeface="Arial MT"/>
              <a:cs typeface="Arial MT"/>
            </a:endParaRPr>
          </a:p>
          <a:p>
            <a:pPr marL="2232">
              <a:spcBef>
                <a:spcPts val="1248"/>
              </a:spcBef>
            </a:pPr>
            <a:r>
              <a:rPr sz="2109" spc="-130" dirty="0">
                <a:latin typeface="Arial MT"/>
                <a:cs typeface="Arial MT"/>
              </a:rPr>
              <a:t>87</a:t>
            </a:r>
            <a:endParaRPr sz="2109">
              <a:latin typeface="Arial MT"/>
              <a:cs typeface="Arial MT"/>
            </a:endParaRPr>
          </a:p>
        </p:txBody>
      </p:sp>
      <p:grpSp>
        <p:nvGrpSpPr>
          <p:cNvPr id="136" name="object 136"/>
          <p:cNvGrpSpPr/>
          <p:nvPr/>
        </p:nvGrpSpPr>
        <p:grpSpPr>
          <a:xfrm>
            <a:off x="6526280" y="3620212"/>
            <a:ext cx="543371" cy="496044"/>
            <a:chOff x="9281819" y="5148745"/>
            <a:chExt cx="772795" cy="705485"/>
          </a:xfrm>
        </p:grpSpPr>
        <p:sp>
          <p:nvSpPr>
            <p:cNvPr id="137" name="object 137"/>
            <p:cNvSpPr/>
            <p:nvPr/>
          </p:nvSpPr>
          <p:spPr>
            <a:xfrm>
              <a:off x="9294519" y="51741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endParaRPr/>
            </a:p>
          </p:txBody>
        </p:sp>
        <p:sp>
          <p:nvSpPr>
            <p:cNvPr id="138" name="object 138"/>
            <p:cNvSpPr/>
            <p:nvPr/>
          </p:nvSpPr>
          <p:spPr>
            <a:xfrm>
              <a:off x="9294508" y="5148744"/>
              <a:ext cx="747395" cy="25400"/>
            </a:xfrm>
            <a:custGeom>
              <a:avLst/>
              <a:gdLst/>
              <a:ahLst/>
              <a:cxnLst/>
              <a:rect l="l" t="t" r="r" b="b"/>
              <a:pathLst>
                <a:path w="747395" h="25400">
                  <a:moveTo>
                    <a:pt x="15544" y="0"/>
                  </a:moveTo>
                  <a:lnTo>
                    <a:pt x="0" y="0"/>
                  </a:lnTo>
                  <a:lnTo>
                    <a:pt x="0" y="25400"/>
                  </a:lnTo>
                  <a:lnTo>
                    <a:pt x="15544" y="25400"/>
                  </a:lnTo>
                  <a:lnTo>
                    <a:pt x="15544" y="0"/>
                  </a:lnTo>
                  <a:close/>
                </a:path>
                <a:path w="747395" h="25400">
                  <a:moveTo>
                    <a:pt x="747356" y="0"/>
                  </a:moveTo>
                  <a:lnTo>
                    <a:pt x="509727" y="0"/>
                  </a:lnTo>
                  <a:lnTo>
                    <a:pt x="509727" y="25400"/>
                  </a:lnTo>
                  <a:lnTo>
                    <a:pt x="747356" y="25400"/>
                  </a:lnTo>
                  <a:lnTo>
                    <a:pt x="747356" y="0"/>
                  </a:lnTo>
                  <a:close/>
                </a:path>
              </a:pathLst>
            </a:custGeom>
            <a:solidFill>
              <a:srgbClr val="000000"/>
            </a:solidFill>
          </p:spPr>
          <p:txBody>
            <a:bodyPr wrap="square" lIns="0" tIns="0" rIns="0" bIns="0" rtlCol="0"/>
            <a:lstStyle/>
            <a:p>
              <a:endParaRPr/>
            </a:p>
          </p:txBody>
        </p:sp>
      </p:grpSp>
      <p:grpSp>
        <p:nvGrpSpPr>
          <p:cNvPr id="139" name="object 139"/>
          <p:cNvGrpSpPr/>
          <p:nvPr/>
        </p:nvGrpSpPr>
        <p:grpSpPr>
          <a:xfrm>
            <a:off x="6960692" y="2634322"/>
            <a:ext cx="1673423" cy="1481882"/>
            <a:chOff x="9899650" y="3746591"/>
            <a:chExt cx="2379980" cy="2107565"/>
          </a:xfrm>
        </p:grpSpPr>
        <p:sp>
          <p:nvSpPr>
            <p:cNvPr id="140" name="object 140"/>
            <p:cNvSpPr/>
            <p:nvPr/>
          </p:nvSpPr>
          <p:spPr>
            <a:xfrm>
              <a:off x="10311073" y="51741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endParaRPr/>
            </a:p>
          </p:txBody>
        </p:sp>
        <p:sp>
          <p:nvSpPr>
            <p:cNvPr id="141" name="object 141"/>
            <p:cNvSpPr/>
            <p:nvPr/>
          </p:nvSpPr>
          <p:spPr>
            <a:xfrm>
              <a:off x="10323348" y="5148745"/>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endParaRPr/>
            </a:p>
          </p:txBody>
        </p:sp>
        <p:sp>
          <p:nvSpPr>
            <p:cNvPr id="142" name="object 142"/>
            <p:cNvSpPr/>
            <p:nvPr/>
          </p:nvSpPr>
          <p:spPr>
            <a:xfrm>
              <a:off x="10829810" y="5148745"/>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43" name="object 143"/>
            <p:cNvSpPr/>
            <p:nvPr/>
          </p:nvSpPr>
          <p:spPr>
            <a:xfrm>
              <a:off x="11327626" y="5161445"/>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12700" y="12700"/>
                  </a:moveTo>
                  <a:lnTo>
                    <a:pt x="12700"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pic>
          <p:nvPicPr>
            <p:cNvPr id="144" name="object 144"/>
            <p:cNvPicPr/>
            <p:nvPr/>
          </p:nvPicPr>
          <p:blipFill>
            <a:blip r:embed="rId3" cstate="print"/>
            <a:stretch>
              <a:fillRect/>
            </a:stretch>
          </p:blipFill>
          <p:spPr>
            <a:xfrm>
              <a:off x="9899650" y="5421630"/>
              <a:ext cx="386080" cy="167640"/>
            </a:xfrm>
            <a:prstGeom prst="rect">
              <a:avLst/>
            </a:prstGeom>
          </p:spPr>
        </p:pic>
        <p:pic>
          <p:nvPicPr>
            <p:cNvPr id="145" name="object 145"/>
            <p:cNvPicPr/>
            <p:nvPr/>
          </p:nvPicPr>
          <p:blipFill>
            <a:blip r:embed="rId3" cstate="print"/>
            <a:stretch>
              <a:fillRect/>
            </a:stretch>
          </p:blipFill>
          <p:spPr>
            <a:xfrm>
              <a:off x="10915650" y="5421630"/>
              <a:ext cx="386080" cy="167640"/>
            </a:xfrm>
            <a:prstGeom prst="rect">
              <a:avLst/>
            </a:prstGeom>
          </p:spPr>
        </p:pic>
        <p:pic>
          <p:nvPicPr>
            <p:cNvPr id="146" name="object 146"/>
            <p:cNvPicPr/>
            <p:nvPr/>
          </p:nvPicPr>
          <p:blipFill>
            <a:blip r:embed="rId12" cstate="print"/>
            <a:stretch>
              <a:fillRect/>
            </a:stretch>
          </p:blipFill>
          <p:spPr>
            <a:xfrm>
              <a:off x="11880850" y="5434330"/>
              <a:ext cx="398780" cy="167640"/>
            </a:xfrm>
            <a:prstGeom prst="rect">
              <a:avLst/>
            </a:prstGeom>
          </p:spPr>
        </p:pic>
        <p:sp>
          <p:nvSpPr>
            <p:cNvPr id="147" name="object 147"/>
            <p:cNvSpPr/>
            <p:nvPr/>
          </p:nvSpPr>
          <p:spPr>
            <a:xfrm>
              <a:off x="11045724" y="4473068"/>
              <a:ext cx="0" cy="654685"/>
            </a:xfrm>
            <a:custGeom>
              <a:avLst/>
              <a:gdLst/>
              <a:ahLst/>
              <a:cxnLst/>
              <a:rect l="l" t="t" r="r" b="b"/>
              <a:pathLst>
                <a:path h="654685">
                  <a:moveTo>
                    <a:pt x="0" y="0"/>
                  </a:moveTo>
                  <a:lnTo>
                    <a:pt x="0" y="654463"/>
                  </a:lnTo>
                </a:path>
              </a:pathLst>
            </a:custGeom>
            <a:ln w="25400">
              <a:solidFill>
                <a:srgbClr val="000000"/>
              </a:solidFill>
            </a:ln>
          </p:spPr>
          <p:txBody>
            <a:bodyPr wrap="square" lIns="0" tIns="0" rIns="0" bIns="0" rtlCol="0"/>
            <a:lstStyle/>
            <a:p>
              <a:endParaRPr/>
            </a:p>
          </p:txBody>
        </p:sp>
        <p:sp>
          <p:nvSpPr>
            <p:cNvPr id="148" name="object 148"/>
            <p:cNvSpPr/>
            <p:nvPr/>
          </p:nvSpPr>
          <p:spPr>
            <a:xfrm>
              <a:off x="10842225" y="4473068"/>
              <a:ext cx="0" cy="654685"/>
            </a:xfrm>
            <a:custGeom>
              <a:avLst/>
              <a:gdLst/>
              <a:ahLst/>
              <a:cxnLst/>
              <a:rect l="l" t="t" r="r" b="b"/>
              <a:pathLst>
                <a:path h="654685">
                  <a:moveTo>
                    <a:pt x="0" y="0"/>
                  </a:moveTo>
                  <a:lnTo>
                    <a:pt x="0" y="654463"/>
                  </a:lnTo>
                </a:path>
              </a:pathLst>
            </a:custGeom>
            <a:ln w="24831">
              <a:solidFill>
                <a:srgbClr val="000000"/>
              </a:solidFill>
            </a:ln>
          </p:spPr>
          <p:txBody>
            <a:bodyPr wrap="square" lIns="0" tIns="0" rIns="0" bIns="0" rtlCol="0"/>
            <a:lstStyle/>
            <a:p>
              <a:endParaRPr/>
            </a:p>
          </p:txBody>
        </p:sp>
        <p:sp>
          <p:nvSpPr>
            <p:cNvPr id="149" name="object 149"/>
            <p:cNvSpPr/>
            <p:nvPr/>
          </p:nvSpPr>
          <p:spPr>
            <a:xfrm>
              <a:off x="10323348" y="4473068"/>
              <a:ext cx="0" cy="680085"/>
            </a:xfrm>
            <a:custGeom>
              <a:avLst/>
              <a:gdLst/>
              <a:ahLst/>
              <a:cxnLst/>
              <a:rect l="l" t="t" r="r" b="b"/>
              <a:pathLst>
                <a:path h="680085">
                  <a:moveTo>
                    <a:pt x="0" y="0"/>
                  </a:moveTo>
                  <a:lnTo>
                    <a:pt x="0" y="654463"/>
                  </a:lnTo>
                </a:path>
                <a:path h="680085">
                  <a:moveTo>
                    <a:pt x="0" y="654463"/>
                  </a:moveTo>
                  <a:lnTo>
                    <a:pt x="0" y="679863"/>
                  </a:lnTo>
                </a:path>
              </a:pathLst>
            </a:custGeom>
            <a:ln w="24550">
              <a:solidFill>
                <a:srgbClr val="000000"/>
              </a:solidFill>
            </a:ln>
          </p:spPr>
          <p:txBody>
            <a:bodyPr wrap="square" lIns="0" tIns="0" rIns="0" bIns="0" rtlCol="0"/>
            <a:lstStyle/>
            <a:p>
              <a:endParaRPr/>
            </a:p>
          </p:txBody>
        </p:sp>
        <p:sp>
          <p:nvSpPr>
            <p:cNvPr id="150" name="object 150"/>
            <p:cNvSpPr/>
            <p:nvPr/>
          </p:nvSpPr>
          <p:spPr>
            <a:xfrm>
              <a:off x="10829810" y="5127531"/>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51" name="object 151"/>
            <p:cNvSpPr/>
            <p:nvPr/>
          </p:nvSpPr>
          <p:spPr>
            <a:xfrm>
              <a:off x="10323348" y="4447668"/>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endParaRPr/>
            </a:p>
          </p:txBody>
        </p:sp>
        <p:sp>
          <p:nvSpPr>
            <p:cNvPr id="152" name="object 152"/>
            <p:cNvSpPr/>
            <p:nvPr/>
          </p:nvSpPr>
          <p:spPr>
            <a:xfrm>
              <a:off x="10829810" y="4447668"/>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53" name="object 153"/>
            <p:cNvSpPr/>
            <p:nvPr/>
          </p:nvSpPr>
          <p:spPr>
            <a:xfrm>
              <a:off x="10323773" y="3771991"/>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endParaRPr/>
            </a:p>
          </p:txBody>
        </p:sp>
        <p:sp>
          <p:nvSpPr>
            <p:cNvPr id="154" name="object 154"/>
            <p:cNvSpPr/>
            <p:nvPr/>
          </p:nvSpPr>
          <p:spPr>
            <a:xfrm>
              <a:off x="10323348" y="4426454"/>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endParaRPr/>
            </a:p>
          </p:txBody>
        </p:sp>
        <p:sp>
          <p:nvSpPr>
            <p:cNvPr id="155" name="object 155"/>
            <p:cNvSpPr/>
            <p:nvPr/>
          </p:nvSpPr>
          <p:spPr>
            <a:xfrm>
              <a:off x="10829810" y="4426454"/>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56" name="object 156"/>
            <p:cNvSpPr/>
            <p:nvPr/>
          </p:nvSpPr>
          <p:spPr>
            <a:xfrm>
              <a:off x="10311073" y="3759291"/>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grpSp>
      <p:sp>
        <p:nvSpPr>
          <p:cNvPr id="157" name="object 157"/>
          <p:cNvSpPr txBox="1"/>
          <p:nvPr/>
        </p:nvSpPr>
        <p:spPr>
          <a:xfrm>
            <a:off x="8013850" y="3682719"/>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96</a:t>
            </a:r>
            <a:endParaRPr sz="2109">
              <a:latin typeface="Arial MT"/>
              <a:cs typeface="Arial MT"/>
            </a:endParaRPr>
          </a:p>
        </p:txBody>
      </p:sp>
      <p:sp>
        <p:nvSpPr>
          <p:cNvPr id="158" name="object 158"/>
          <p:cNvSpPr txBox="1"/>
          <p:nvPr/>
        </p:nvSpPr>
        <p:spPr>
          <a:xfrm>
            <a:off x="7308015" y="2727735"/>
            <a:ext cx="267891" cy="1316001"/>
          </a:xfrm>
          <a:prstGeom prst="rect">
            <a:avLst/>
          </a:prstGeom>
        </p:spPr>
        <p:txBody>
          <a:bodyPr vert="horz" wrap="square" lIns="0" tIns="0" rIns="0" bIns="0" rtlCol="0">
            <a:spAutoFit/>
          </a:bodyPr>
          <a:lstStyle/>
          <a:p>
            <a:pPr>
              <a:lnSpc>
                <a:spcPts val="2358"/>
              </a:lnSpc>
            </a:pPr>
            <a:r>
              <a:rPr sz="2109" spc="-137" dirty="0">
                <a:latin typeface="Arial MT"/>
                <a:cs typeface="Arial MT"/>
              </a:rPr>
              <a:t>91</a:t>
            </a:r>
            <a:endParaRPr sz="2109">
              <a:latin typeface="Arial MT"/>
              <a:cs typeface="Arial MT"/>
            </a:endParaRPr>
          </a:p>
          <a:p>
            <a:pPr>
              <a:spcBef>
                <a:spcPts val="1350"/>
              </a:spcBef>
            </a:pPr>
            <a:r>
              <a:rPr sz="2109" spc="-137" dirty="0">
                <a:latin typeface="Arial MT"/>
                <a:cs typeface="Arial MT"/>
              </a:rPr>
              <a:t>91</a:t>
            </a:r>
            <a:endParaRPr sz="2109">
              <a:latin typeface="Arial MT"/>
              <a:cs typeface="Arial MT"/>
            </a:endParaRPr>
          </a:p>
          <a:p>
            <a:pPr>
              <a:spcBef>
                <a:spcPts val="1350"/>
              </a:spcBef>
            </a:pPr>
            <a:r>
              <a:rPr sz="2109" spc="-137" dirty="0">
                <a:latin typeface="Arial MT"/>
                <a:cs typeface="Arial MT"/>
              </a:rPr>
              <a:t>91</a:t>
            </a:r>
            <a:endParaRPr sz="2109">
              <a:latin typeface="Arial MT"/>
              <a:cs typeface="Arial MT"/>
            </a:endParaRPr>
          </a:p>
        </p:txBody>
      </p:sp>
      <p:grpSp>
        <p:nvGrpSpPr>
          <p:cNvPr id="159" name="object 159"/>
          <p:cNvGrpSpPr/>
          <p:nvPr/>
        </p:nvGrpSpPr>
        <p:grpSpPr>
          <a:xfrm>
            <a:off x="7267235" y="2681173"/>
            <a:ext cx="1393924" cy="1317575"/>
            <a:chOff x="10335623" y="3813223"/>
            <a:chExt cx="1982470" cy="1873885"/>
          </a:xfrm>
        </p:grpSpPr>
        <p:sp>
          <p:nvSpPr>
            <p:cNvPr id="160" name="object 160"/>
            <p:cNvSpPr/>
            <p:nvPr/>
          </p:nvSpPr>
          <p:spPr>
            <a:xfrm>
              <a:off x="10922000" y="4070350"/>
              <a:ext cx="1257300" cy="0"/>
            </a:xfrm>
            <a:custGeom>
              <a:avLst/>
              <a:gdLst/>
              <a:ahLst/>
              <a:cxnLst/>
              <a:rect l="l" t="t" r="r" b="b"/>
              <a:pathLst>
                <a:path w="1257300">
                  <a:moveTo>
                    <a:pt x="1257300" y="0"/>
                  </a:moveTo>
                  <a:lnTo>
                    <a:pt x="0" y="0"/>
                  </a:lnTo>
                </a:path>
              </a:pathLst>
            </a:custGeom>
            <a:ln w="38100">
              <a:solidFill>
                <a:srgbClr val="000000"/>
              </a:solidFill>
            </a:ln>
          </p:spPr>
          <p:txBody>
            <a:bodyPr wrap="square" lIns="0" tIns="0" rIns="0" bIns="0" rtlCol="0"/>
            <a:lstStyle/>
            <a:p>
              <a:endParaRPr/>
            </a:p>
          </p:txBody>
        </p:sp>
        <p:sp>
          <p:nvSpPr>
            <p:cNvPr id="161" name="object 161"/>
            <p:cNvSpPr/>
            <p:nvPr/>
          </p:nvSpPr>
          <p:spPr>
            <a:xfrm>
              <a:off x="12137390" y="39865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62" name="object 162"/>
            <p:cNvPicPr/>
            <p:nvPr/>
          </p:nvPicPr>
          <p:blipFill>
            <a:blip r:embed="rId7" cstate="print"/>
            <a:stretch>
              <a:fillRect/>
            </a:stretch>
          </p:blipFill>
          <p:spPr>
            <a:xfrm>
              <a:off x="10852149" y="4000499"/>
              <a:ext cx="139699" cy="139700"/>
            </a:xfrm>
            <a:prstGeom prst="rect">
              <a:avLst/>
            </a:prstGeom>
          </p:spPr>
        </p:pic>
        <p:sp>
          <p:nvSpPr>
            <p:cNvPr id="163" name="object 163"/>
            <p:cNvSpPr/>
            <p:nvPr/>
          </p:nvSpPr>
          <p:spPr>
            <a:xfrm>
              <a:off x="10922000" y="4806950"/>
              <a:ext cx="1270000" cy="0"/>
            </a:xfrm>
            <a:custGeom>
              <a:avLst/>
              <a:gdLst/>
              <a:ahLst/>
              <a:cxnLst/>
              <a:rect l="l" t="t" r="r" b="b"/>
              <a:pathLst>
                <a:path w="1270000">
                  <a:moveTo>
                    <a:pt x="1270000" y="0"/>
                  </a:moveTo>
                  <a:lnTo>
                    <a:pt x="0" y="0"/>
                  </a:lnTo>
                </a:path>
              </a:pathLst>
            </a:custGeom>
            <a:ln w="38100">
              <a:solidFill>
                <a:srgbClr val="000000"/>
              </a:solidFill>
            </a:ln>
          </p:spPr>
          <p:txBody>
            <a:bodyPr wrap="square" lIns="0" tIns="0" rIns="0" bIns="0" rtlCol="0"/>
            <a:lstStyle/>
            <a:p>
              <a:endParaRPr/>
            </a:p>
          </p:txBody>
        </p:sp>
        <p:sp>
          <p:nvSpPr>
            <p:cNvPr id="164" name="object 164"/>
            <p:cNvSpPr/>
            <p:nvPr/>
          </p:nvSpPr>
          <p:spPr>
            <a:xfrm>
              <a:off x="12150090" y="47231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65" name="object 165"/>
            <p:cNvPicPr/>
            <p:nvPr/>
          </p:nvPicPr>
          <p:blipFill>
            <a:blip r:embed="rId7" cstate="print"/>
            <a:stretch>
              <a:fillRect/>
            </a:stretch>
          </p:blipFill>
          <p:spPr>
            <a:xfrm>
              <a:off x="10852149" y="4737099"/>
              <a:ext cx="139699" cy="139700"/>
            </a:xfrm>
            <a:prstGeom prst="rect">
              <a:avLst/>
            </a:prstGeom>
          </p:spPr>
        </p:pic>
        <p:sp>
          <p:nvSpPr>
            <p:cNvPr id="166" name="object 166"/>
            <p:cNvSpPr/>
            <p:nvPr/>
          </p:nvSpPr>
          <p:spPr>
            <a:xfrm>
              <a:off x="10335623" y="3813223"/>
              <a:ext cx="494665" cy="1873885"/>
            </a:xfrm>
            <a:custGeom>
              <a:avLst/>
              <a:gdLst/>
              <a:ahLst/>
              <a:cxnLst/>
              <a:rect l="l" t="t" r="r" b="b"/>
              <a:pathLst>
                <a:path w="494665" h="1873885">
                  <a:moveTo>
                    <a:pt x="494186" y="0"/>
                  </a:moveTo>
                  <a:lnTo>
                    <a:pt x="0" y="0"/>
                  </a:lnTo>
                  <a:lnTo>
                    <a:pt x="0" y="1873463"/>
                  </a:lnTo>
                  <a:lnTo>
                    <a:pt x="494186" y="1873463"/>
                  </a:lnTo>
                  <a:lnTo>
                    <a:pt x="494186" y="0"/>
                  </a:lnTo>
                  <a:close/>
                </a:path>
              </a:pathLst>
            </a:custGeom>
            <a:solidFill>
              <a:srgbClr val="FFFFFF"/>
            </a:solidFill>
          </p:spPr>
          <p:txBody>
            <a:bodyPr wrap="square" lIns="0" tIns="0" rIns="0" bIns="0" rtlCol="0"/>
            <a:lstStyle/>
            <a:p>
              <a:endParaRPr/>
            </a:p>
          </p:txBody>
        </p:sp>
      </p:grpSp>
      <p:sp>
        <p:nvSpPr>
          <p:cNvPr id="167" name="object 167"/>
          <p:cNvSpPr txBox="1"/>
          <p:nvPr/>
        </p:nvSpPr>
        <p:spPr>
          <a:xfrm>
            <a:off x="7298489" y="3154446"/>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91</a:t>
            </a:r>
            <a:endParaRPr sz="2109">
              <a:latin typeface="Arial MT"/>
              <a:cs typeface="Arial MT"/>
            </a:endParaRPr>
          </a:p>
        </p:txBody>
      </p:sp>
      <p:sp>
        <p:nvSpPr>
          <p:cNvPr id="168" name="object 168"/>
          <p:cNvSpPr txBox="1"/>
          <p:nvPr/>
        </p:nvSpPr>
        <p:spPr>
          <a:xfrm>
            <a:off x="777639" y="3262269"/>
            <a:ext cx="267891" cy="786241"/>
          </a:xfrm>
          <a:prstGeom prst="rect">
            <a:avLst/>
          </a:prstGeom>
        </p:spPr>
        <p:txBody>
          <a:bodyPr vert="horz" wrap="square" lIns="0" tIns="0" rIns="0" bIns="0" rtlCol="0">
            <a:spAutoFit/>
          </a:bodyPr>
          <a:lstStyle/>
          <a:p>
            <a:pPr>
              <a:lnSpc>
                <a:spcPts val="2358"/>
              </a:lnSpc>
            </a:pPr>
            <a:r>
              <a:rPr sz="2109" spc="-137" dirty="0">
                <a:latin typeface="Arial MT"/>
                <a:cs typeface="Arial MT"/>
              </a:rPr>
              <a:t>15</a:t>
            </a:r>
            <a:endParaRPr sz="2109">
              <a:latin typeface="Arial MT"/>
              <a:cs typeface="Arial MT"/>
            </a:endParaRPr>
          </a:p>
          <a:p>
            <a:pPr marL="66524">
              <a:spcBef>
                <a:spcPts val="1237"/>
              </a:spcBef>
            </a:pPr>
            <a:r>
              <a:rPr sz="2109" spc="-35" dirty="0">
                <a:latin typeface="Arial MT"/>
                <a:cs typeface="Arial MT"/>
              </a:rPr>
              <a:t>2</a:t>
            </a:r>
            <a:endParaRPr sz="2109">
              <a:latin typeface="Arial MT"/>
              <a:cs typeface="Arial MT"/>
            </a:endParaRPr>
          </a:p>
        </p:txBody>
      </p:sp>
      <p:grpSp>
        <p:nvGrpSpPr>
          <p:cNvPr id="169" name="object 169"/>
          <p:cNvGrpSpPr/>
          <p:nvPr/>
        </p:nvGrpSpPr>
        <p:grpSpPr>
          <a:xfrm>
            <a:off x="710667" y="3168856"/>
            <a:ext cx="543371" cy="496044"/>
            <a:chOff x="1010726" y="4506817"/>
            <a:chExt cx="772795" cy="705485"/>
          </a:xfrm>
        </p:grpSpPr>
        <p:sp>
          <p:nvSpPr>
            <p:cNvPr id="170" name="object 170"/>
            <p:cNvSpPr/>
            <p:nvPr/>
          </p:nvSpPr>
          <p:spPr>
            <a:xfrm>
              <a:off x="1036126" y="4532217"/>
              <a:ext cx="721995" cy="654685"/>
            </a:xfrm>
            <a:custGeom>
              <a:avLst/>
              <a:gdLst/>
              <a:ahLst/>
              <a:cxnLst/>
              <a:rect l="l" t="t" r="r" b="b"/>
              <a:pathLst>
                <a:path w="721994" h="654685">
                  <a:moveTo>
                    <a:pt x="721951" y="0"/>
                  </a:moveTo>
                  <a:lnTo>
                    <a:pt x="721951" y="654463"/>
                  </a:lnTo>
                </a:path>
                <a:path w="721994" h="654685">
                  <a:moveTo>
                    <a:pt x="518168" y="0"/>
                  </a:moveTo>
                  <a:lnTo>
                    <a:pt x="518168" y="654463"/>
                  </a:lnTo>
                </a:path>
                <a:path w="721994" h="654685">
                  <a:moveTo>
                    <a:pt x="0" y="0"/>
                  </a:moveTo>
                  <a:lnTo>
                    <a:pt x="0" y="654463"/>
                  </a:lnTo>
                </a:path>
              </a:pathLst>
            </a:custGeom>
            <a:ln w="25400">
              <a:solidFill>
                <a:srgbClr val="000000"/>
              </a:solidFill>
            </a:ln>
          </p:spPr>
          <p:txBody>
            <a:bodyPr wrap="square" lIns="0" tIns="0" rIns="0" bIns="0" rtlCol="0"/>
            <a:lstStyle/>
            <a:p>
              <a:endParaRPr/>
            </a:p>
          </p:txBody>
        </p:sp>
        <p:sp>
          <p:nvSpPr>
            <p:cNvPr id="171" name="object 171"/>
            <p:cNvSpPr/>
            <p:nvPr/>
          </p:nvSpPr>
          <p:spPr>
            <a:xfrm>
              <a:off x="1023416" y="5186692"/>
              <a:ext cx="747395" cy="25400"/>
            </a:xfrm>
            <a:custGeom>
              <a:avLst/>
              <a:gdLst/>
              <a:ahLst/>
              <a:cxnLst/>
              <a:rect l="l" t="t" r="r" b="b"/>
              <a:pathLst>
                <a:path w="747394" h="25400">
                  <a:moveTo>
                    <a:pt x="30365" y="0"/>
                  </a:moveTo>
                  <a:lnTo>
                    <a:pt x="0" y="0"/>
                  </a:lnTo>
                  <a:lnTo>
                    <a:pt x="0" y="25400"/>
                  </a:lnTo>
                  <a:lnTo>
                    <a:pt x="30365" y="25400"/>
                  </a:lnTo>
                  <a:lnTo>
                    <a:pt x="30365" y="0"/>
                  </a:lnTo>
                  <a:close/>
                </a:path>
                <a:path w="747394" h="25400">
                  <a:moveTo>
                    <a:pt x="747356" y="0"/>
                  </a:moveTo>
                  <a:lnTo>
                    <a:pt x="521106" y="0"/>
                  </a:lnTo>
                  <a:lnTo>
                    <a:pt x="521106" y="25400"/>
                  </a:lnTo>
                  <a:lnTo>
                    <a:pt x="747356" y="25400"/>
                  </a:lnTo>
                  <a:lnTo>
                    <a:pt x="747356" y="0"/>
                  </a:lnTo>
                  <a:close/>
                </a:path>
              </a:pathLst>
            </a:custGeom>
            <a:solidFill>
              <a:srgbClr val="000000"/>
            </a:solidFill>
          </p:spPr>
          <p:txBody>
            <a:bodyPr wrap="square" lIns="0" tIns="0" rIns="0" bIns="0" rtlCol="0"/>
            <a:lstStyle/>
            <a:p>
              <a:endParaRPr/>
            </a:p>
          </p:txBody>
        </p:sp>
        <p:sp>
          <p:nvSpPr>
            <p:cNvPr id="172" name="object 172"/>
            <p:cNvSpPr/>
            <p:nvPr/>
          </p:nvSpPr>
          <p:spPr>
            <a:xfrm>
              <a:off x="1023426" y="4519517"/>
              <a:ext cx="747395" cy="0"/>
            </a:xfrm>
            <a:custGeom>
              <a:avLst/>
              <a:gdLst/>
              <a:ahLst/>
              <a:cxnLst/>
              <a:rect l="l" t="t" r="r" b="b"/>
              <a:pathLst>
                <a:path w="747394">
                  <a:moveTo>
                    <a:pt x="0" y="0"/>
                  </a:moveTo>
                  <a:lnTo>
                    <a:pt x="747351" y="0"/>
                  </a:lnTo>
                </a:path>
              </a:pathLst>
            </a:custGeom>
            <a:ln w="25400">
              <a:solidFill>
                <a:srgbClr val="000000"/>
              </a:solidFill>
            </a:ln>
          </p:spPr>
          <p:txBody>
            <a:bodyPr wrap="square" lIns="0" tIns="0" rIns="0" bIns="0" rtlCol="0"/>
            <a:lstStyle/>
            <a:p>
              <a:endParaRPr/>
            </a:p>
          </p:txBody>
        </p:sp>
      </p:grpSp>
      <p:sp>
        <p:nvSpPr>
          <p:cNvPr id="173" name="object 173"/>
          <p:cNvSpPr/>
          <p:nvPr/>
        </p:nvSpPr>
        <p:spPr>
          <a:xfrm>
            <a:off x="740943" y="3242603"/>
            <a:ext cx="345132" cy="854571"/>
          </a:xfrm>
          <a:custGeom>
            <a:avLst/>
            <a:gdLst/>
            <a:ahLst/>
            <a:cxnLst/>
            <a:rect l="l" t="t" r="r" b="b"/>
            <a:pathLst>
              <a:path w="490855" h="1215389">
                <a:moveTo>
                  <a:pt x="490750" y="0"/>
                </a:moveTo>
                <a:lnTo>
                  <a:pt x="0" y="0"/>
                </a:lnTo>
                <a:lnTo>
                  <a:pt x="0" y="1215199"/>
                </a:lnTo>
                <a:lnTo>
                  <a:pt x="490750" y="1215199"/>
                </a:lnTo>
                <a:lnTo>
                  <a:pt x="490750" y="0"/>
                </a:lnTo>
                <a:close/>
              </a:path>
            </a:pathLst>
          </a:custGeom>
          <a:solidFill>
            <a:srgbClr val="FFFFFF"/>
          </a:solidFill>
        </p:spPr>
        <p:txBody>
          <a:bodyPr wrap="square" lIns="0" tIns="0" rIns="0" bIns="0" rtlCol="0"/>
          <a:lstStyle/>
          <a:p>
            <a:endParaRPr/>
          </a:p>
        </p:txBody>
      </p:sp>
      <p:sp>
        <p:nvSpPr>
          <p:cNvPr id="174" name="object 174"/>
          <p:cNvSpPr txBox="1"/>
          <p:nvPr/>
        </p:nvSpPr>
        <p:spPr>
          <a:xfrm>
            <a:off x="739609" y="3483705"/>
            <a:ext cx="344686" cy="333593"/>
          </a:xfrm>
          <a:prstGeom prst="rect">
            <a:avLst/>
          </a:prstGeom>
        </p:spPr>
        <p:txBody>
          <a:bodyPr vert="horz" wrap="square" lIns="0" tIns="8930" rIns="0" bIns="0" rtlCol="0">
            <a:spAutoFit/>
          </a:bodyPr>
          <a:lstStyle/>
          <a:p>
            <a:pPr marL="108045">
              <a:spcBef>
                <a:spcPts val="70"/>
              </a:spcBef>
            </a:pPr>
            <a:r>
              <a:rPr sz="2109" spc="-35" dirty="0">
                <a:latin typeface="Arial MT"/>
                <a:cs typeface="Arial MT"/>
              </a:rPr>
              <a:t>2</a:t>
            </a:r>
            <a:endParaRPr sz="2109">
              <a:latin typeface="Arial MT"/>
              <a:cs typeface="Arial MT"/>
            </a:endParaRPr>
          </a:p>
        </p:txBody>
      </p:sp>
      <p:sp>
        <p:nvSpPr>
          <p:cNvPr id="175" name="object 175"/>
          <p:cNvSpPr/>
          <p:nvPr/>
        </p:nvSpPr>
        <p:spPr>
          <a:xfrm>
            <a:off x="6546135" y="3232576"/>
            <a:ext cx="347811" cy="854571"/>
          </a:xfrm>
          <a:custGeom>
            <a:avLst/>
            <a:gdLst/>
            <a:ahLst/>
            <a:cxnLst/>
            <a:rect l="l" t="t" r="r" b="b"/>
            <a:pathLst>
              <a:path w="494665" h="1215389">
                <a:moveTo>
                  <a:pt x="494186" y="0"/>
                </a:moveTo>
                <a:lnTo>
                  <a:pt x="0" y="0"/>
                </a:lnTo>
                <a:lnTo>
                  <a:pt x="0" y="1214824"/>
                </a:lnTo>
                <a:lnTo>
                  <a:pt x="494186" y="1214824"/>
                </a:lnTo>
                <a:lnTo>
                  <a:pt x="494186" y="0"/>
                </a:lnTo>
                <a:close/>
              </a:path>
            </a:pathLst>
          </a:custGeom>
          <a:solidFill>
            <a:srgbClr val="FFFFFF"/>
          </a:solidFill>
        </p:spPr>
        <p:txBody>
          <a:bodyPr wrap="square" lIns="0" tIns="0" rIns="0" bIns="0" rtlCol="0"/>
          <a:lstStyle/>
          <a:p>
            <a:endParaRPr/>
          </a:p>
        </p:txBody>
      </p:sp>
      <p:sp>
        <p:nvSpPr>
          <p:cNvPr id="176" name="object 176"/>
          <p:cNvSpPr txBox="1"/>
          <p:nvPr/>
        </p:nvSpPr>
        <p:spPr>
          <a:xfrm>
            <a:off x="6577388" y="3473679"/>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89</a:t>
            </a:r>
            <a:endParaRPr sz="2109">
              <a:latin typeface="Arial MT"/>
              <a:cs typeface="Arial MT"/>
            </a:endParaRPr>
          </a:p>
        </p:txBody>
      </p:sp>
      <p:grpSp>
        <p:nvGrpSpPr>
          <p:cNvPr id="177" name="object 177"/>
          <p:cNvGrpSpPr/>
          <p:nvPr/>
        </p:nvGrpSpPr>
        <p:grpSpPr>
          <a:xfrm>
            <a:off x="341564" y="2439384"/>
            <a:ext cx="6004768" cy="1650206"/>
            <a:chOff x="485779" y="3469346"/>
            <a:chExt cx="8540115" cy="2346960"/>
          </a:xfrm>
        </p:grpSpPr>
        <p:sp>
          <p:nvSpPr>
            <p:cNvPr id="178" name="object 178"/>
            <p:cNvSpPr/>
            <p:nvPr/>
          </p:nvSpPr>
          <p:spPr>
            <a:xfrm>
              <a:off x="517529" y="3574248"/>
              <a:ext cx="3559810" cy="24765"/>
            </a:xfrm>
            <a:custGeom>
              <a:avLst/>
              <a:gdLst/>
              <a:ahLst/>
              <a:cxnLst/>
              <a:rect l="l" t="t" r="r" b="b"/>
              <a:pathLst>
                <a:path w="3559810" h="24764">
                  <a:moveTo>
                    <a:pt x="3559292" y="24664"/>
                  </a:moveTo>
                  <a:lnTo>
                    <a:pt x="0" y="0"/>
                  </a:lnTo>
                </a:path>
              </a:pathLst>
            </a:custGeom>
            <a:ln w="63500">
              <a:solidFill>
                <a:srgbClr val="FF2800"/>
              </a:solidFill>
              <a:prstDash val="sysDot"/>
            </a:ln>
          </p:spPr>
          <p:txBody>
            <a:bodyPr wrap="square" lIns="0" tIns="0" rIns="0" bIns="0" rtlCol="0"/>
            <a:lstStyle/>
            <a:p>
              <a:endParaRPr/>
            </a:p>
          </p:txBody>
        </p:sp>
        <p:sp>
          <p:nvSpPr>
            <p:cNvPr id="179" name="object 179"/>
            <p:cNvSpPr/>
            <p:nvPr/>
          </p:nvSpPr>
          <p:spPr>
            <a:xfrm>
              <a:off x="4071607" y="3469346"/>
              <a:ext cx="260350" cy="259079"/>
            </a:xfrm>
            <a:custGeom>
              <a:avLst/>
              <a:gdLst/>
              <a:ahLst/>
              <a:cxnLst/>
              <a:rect l="l" t="t" r="r" b="b"/>
              <a:pathLst>
                <a:path w="260350" h="259079">
                  <a:moveTo>
                    <a:pt x="1794" y="0"/>
                  </a:moveTo>
                  <a:lnTo>
                    <a:pt x="0" y="259073"/>
                  </a:lnTo>
                  <a:lnTo>
                    <a:pt x="259971" y="131331"/>
                  </a:lnTo>
                  <a:lnTo>
                    <a:pt x="1794" y="0"/>
                  </a:lnTo>
                  <a:close/>
                </a:path>
              </a:pathLst>
            </a:custGeom>
            <a:solidFill>
              <a:srgbClr val="FF2800"/>
            </a:solidFill>
          </p:spPr>
          <p:txBody>
            <a:bodyPr wrap="square" lIns="0" tIns="0" rIns="0" bIns="0" rtlCol="0"/>
            <a:lstStyle/>
            <a:p>
              <a:endParaRPr/>
            </a:p>
          </p:txBody>
        </p:sp>
        <p:sp>
          <p:nvSpPr>
            <p:cNvPr id="180" name="object 180"/>
            <p:cNvSpPr/>
            <p:nvPr/>
          </p:nvSpPr>
          <p:spPr>
            <a:xfrm>
              <a:off x="4201040" y="3574248"/>
              <a:ext cx="8890" cy="385445"/>
            </a:xfrm>
            <a:custGeom>
              <a:avLst/>
              <a:gdLst/>
              <a:ahLst/>
              <a:cxnLst/>
              <a:rect l="l" t="t" r="r" b="b"/>
              <a:pathLst>
                <a:path w="8889" h="385445">
                  <a:moveTo>
                    <a:pt x="0" y="385326"/>
                  </a:moveTo>
                  <a:lnTo>
                    <a:pt x="8798" y="0"/>
                  </a:lnTo>
                </a:path>
              </a:pathLst>
            </a:custGeom>
            <a:ln w="63499">
              <a:solidFill>
                <a:srgbClr val="FF2800"/>
              </a:solidFill>
              <a:prstDash val="sysDot"/>
            </a:ln>
          </p:spPr>
          <p:txBody>
            <a:bodyPr wrap="square" lIns="0" tIns="0" rIns="0" bIns="0" rtlCol="0"/>
            <a:lstStyle/>
            <a:p>
              <a:endParaRPr/>
            </a:p>
          </p:txBody>
        </p:sp>
        <p:sp>
          <p:nvSpPr>
            <p:cNvPr id="181" name="object 181"/>
            <p:cNvSpPr/>
            <p:nvPr/>
          </p:nvSpPr>
          <p:spPr>
            <a:xfrm>
              <a:off x="4071632" y="3952302"/>
              <a:ext cx="259079" cy="262255"/>
            </a:xfrm>
            <a:custGeom>
              <a:avLst/>
              <a:gdLst/>
              <a:ahLst/>
              <a:cxnLst/>
              <a:rect l="l" t="t" r="r" b="b"/>
              <a:pathLst>
                <a:path w="259079" h="262254">
                  <a:moveTo>
                    <a:pt x="0" y="0"/>
                  </a:moveTo>
                  <a:lnTo>
                    <a:pt x="123592" y="261969"/>
                  </a:lnTo>
                  <a:lnTo>
                    <a:pt x="259012" y="5914"/>
                  </a:lnTo>
                  <a:lnTo>
                    <a:pt x="0" y="0"/>
                  </a:lnTo>
                  <a:close/>
                </a:path>
              </a:pathLst>
            </a:custGeom>
            <a:solidFill>
              <a:srgbClr val="FF2800"/>
            </a:solidFill>
          </p:spPr>
          <p:txBody>
            <a:bodyPr wrap="square" lIns="0" tIns="0" rIns="0" bIns="0" rtlCol="0"/>
            <a:lstStyle/>
            <a:p>
              <a:endParaRPr/>
            </a:p>
          </p:txBody>
        </p:sp>
        <p:sp>
          <p:nvSpPr>
            <p:cNvPr id="182" name="object 182"/>
            <p:cNvSpPr/>
            <p:nvPr/>
          </p:nvSpPr>
          <p:spPr>
            <a:xfrm>
              <a:off x="4209840" y="4198206"/>
              <a:ext cx="1827530" cy="7620"/>
            </a:xfrm>
            <a:custGeom>
              <a:avLst/>
              <a:gdLst/>
              <a:ahLst/>
              <a:cxnLst/>
              <a:rect l="l" t="t" r="r" b="b"/>
              <a:pathLst>
                <a:path w="1827529" h="7620">
                  <a:moveTo>
                    <a:pt x="1827049" y="0"/>
                  </a:moveTo>
                  <a:lnTo>
                    <a:pt x="0" y="7011"/>
                  </a:lnTo>
                </a:path>
              </a:pathLst>
            </a:custGeom>
            <a:ln w="63500">
              <a:solidFill>
                <a:srgbClr val="FF2800"/>
              </a:solidFill>
              <a:prstDash val="sysDot"/>
            </a:ln>
          </p:spPr>
          <p:txBody>
            <a:bodyPr wrap="square" lIns="0" tIns="0" rIns="0" bIns="0" rtlCol="0"/>
            <a:lstStyle/>
            <a:p>
              <a:endParaRPr/>
            </a:p>
          </p:txBody>
        </p:sp>
        <p:sp>
          <p:nvSpPr>
            <p:cNvPr id="183" name="object 183"/>
            <p:cNvSpPr/>
            <p:nvPr/>
          </p:nvSpPr>
          <p:spPr>
            <a:xfrm>
              <a:off x="6032074" y="4068682"/>
              <a:ext cx="259715" cy="259079"/>
            </a:xfrm>
            <a:custGeom>
              <a:avLst/>
              <a:gdLst/>
              <a:ahLst/>
              <a:cxnLst/>
              <a:rect l="l" t="t" r="r" b="b"/>
              <a:pathLst>
                <a:path w="259714" h="259079">
                  <a:moveTo>
                    <a:pt x="0" y="0"/>
                  </a:moveTo>
                  <a:lnTo>
                    <a:pt x="994" y="259078"/>
                  </a:lnTo>
                  <a:lnTo>
                    <a:pt x="259575" y="128545"/>
                  </a:lnTo>
                  <a:lnTo>
                    <a:pt x="0" y="0"/>
                  </a:lnTo>
                  <a:close/>
                </a:path>
              </a:pathLst>
            </a:custGeom>
            <a:solidFill>
              <a:srgbClr val="FF2800"/>
            </a:solidFill>
          </p:spPr>
          <p:txBody>
            <a:bodyPr wrap="square" lIns="0" tIns="0" rIns="0" bIns="0" rtlCol="0"/>
            <a:lstStyle/>
            <a:p>
              <a:endParaRPr/>
            </a:p>
          </p:txBody>
        </p:sp>
        <p:sp>
          <p:nvSpPr>
            <p:cNvPr id="184" name="object 184"/>
            <p:cNvSpPr/>
            <p:nvPr/>
          </p:nvSpPr>
          <p:spPr>
            <a:xfrm>
              <a:off x="6254750" y="42037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endParaRPr/>
            </a:p>
          </p:txBody>
        </p:sp>
        <p:sp>
          <p:nvSpPr>
            <p:cNvPr id="185" name="object 185"/>
            <p:cNvSpPr/>
            <p:nvPr/>
          </p:nvSpPr>
          <p:spPr>
            <a:xfrm>
              <a:off x="6125209" y="4618482"/>
              <a:ext cx="259079" cy="259079"/>
            </a:xfrm>
            <a:custGeom>
              <a:avLst/>
              <a:gdLst/>
              <a:ahLst/>
              <a:cxnLst/>
              <a:rect l="l" t="t" r="r" b="b"/>
              <a:pathLst>
                <a:path w="259079" h="259079">
                  <a:moveTo>
                    <a:pt x="259079" y="0"/>
                  </a:moveTo>
                  <a:lnTo>
                    <a:pt x="0" y="0"/>
                  </a:lnTo>
                  <a:lnTo>
                    <a:pt x="129539" y="259079"/>
                  </a:lnTo>
                  <a:lnTo>
                    <a:pt x="259079" y="0"/>
                  </a:lnTo>
                  <a:close/>
                </a:path>
              </a:pathLst>
            </a:custGeom>
            <a:solidFill>
              <a:srgbClr val="FF2800"/>
            </a:solidFill>
          </p:spPr>
          <p:txBody>
            <a:bodyPr wrap="square" lIns="0" tIns="0" rIns="0" bIns="0" rtlCol="0"/>
            <a:lstStyle/>
            <a:p>
              <a:endParaRPr/>
            </a:p>
          </p:txBody>
        </p:sp>
        <p:sp>
          <p:nvSpPr>
            <p:cNvPr id="186" name="object 186"/>
            <p:cNvSpPr/>
            <p:nvPr/>
          </p:nvSpPr>
          <p:spPr>
            <a:xfrm>
              <a:off x="6254750" y="48768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endParaRPr/>
            </a:p>
          </p:txBody>
        </p:sp>
        <p:sp>
          <p:nvSpPr>
            <p:cNvPr id="187" name="object 187"/>
            <p:cNvSpPr/>
            <p:nvPr/>
          </p:nvSpPr>
          <p:spPr>
            <a:xfrm>
              <a:off x="6125209" y="5291582"/>
              <a:ext cx="259079" cy="259079"/>
            </a:xfrm>
            <a:custGeom>
              <a:avLst/>
              <a:gdLst/>
              <a:ahLst/>
              <a:cxnLst/>
              <a:rect l="l" t="t" r="r" b="b"/>
              <a:pathLst>
                <a:path w="259079" h="259079">
                  <a:moveTo>
                    <a:pt x="259079" y="0"/>
                  </a:moveTo>
                  <a:lnTo>
                    <a:pt x="0" y="0"/>
                  </a:lnTo>
                  <a:lnTo>
                    <a:pt x="129539" y="259079"/>
                  </a:lnTo>
                  <a:lnTo>
                    <a:pt x="259079" y="0"/>
                  </a:lnTo>
                  <a:close/>
                </a:path>
              </a:pathLst>
            </a:custGeom>
            <a:solidFill>
              <a:srgbClr val="FF2800"/>
            </a:solidFill>
          </p:spPr>
          <p:txBody>
            <a:bodyPr wrap="square" lIns="0" tIns="0" rIns="0" bIns="0" rtlCol="0"/>
            <a:lstStyle/>
            <a:p>
              <a:endParaRPr/>
            </a:p>
          </p:txBody>
        </p:sp>
        <p:sp>
          <p:nvSpPr>
            <p:cNvPr id="188" name="object 188"/>
            <p:cNvSpPr/>
            <p:nvPr/>
          </p:nvSpPr>
          <p:spPr>
            <a:xfrm>
              <a:off x="6261100" y="5441950"/>
              <a:ext cx="647700" cy="0"/>
            </a:xfrm>
            <a:custGeom>
              <a:avLst/>
              <a:gdLst/>
              <a:ahLst/>
              <a:cxnLst/>
              <a:rect l="l" t="t" r="r" b="b"/>
              <a:pathLst>
                <a:path w="647700">
                  <a:moveTo>
                    <a:pt x="647700" y="0"/>
                  </a:moveTo>
                  <a:lnTo>
                    <a:pt x="0" y="0"/>
                  </a:lnTo>
                </a:path>
              </a:pathLst>
            </a:custGeom>
            <a:ln w="63500">
              <a:solidFill>
                <a:srgbClr val="FF2800"/>
              </a:solidFill>
              <a:prstDash val="sysDot"/>
            </a:ln>
          </p:spPr>
          <p:txBody>
            <a:bodyPr wrap="square" lIns="0" tIns="0" rIns="0" bIns="0" rtlCol="0"/>
            <a:lstStyle/>
            <a:p>
              <a:endParaRPr/>
            </a:p>
          </p:txBody>
        </p:sp>
        <p:sp>
          <p:nvSpPr>
            <p:cNvPr id="189" name="object 189"/>
            <p:cNvSpPr/>
            <p:nvPr/>
          </p:nvSpPr>
          <p:spPr>
            <a:xfrm>
              <a:off x="6904482" y="5312410"/>
              <a:ext cx="259079" cy="259079"/>
            </a:xfrm>
            <a:custGeom>
              <a:avLst/>
              <a:gdLst/>
              <a:ahLst/>
              <a:cxnLst/>
              <a:rect l="l" t="t" r="r" b="b"/>
              <a:pathLst>
                <a:path w="259079" h="259079">
                  <a:moveTo>
                    <a:pt x="0" y="0"/>
                  </a:moveTo>
                  <a:lnTo>
                    <a:pt x="0" y="259079"/>
                  </a:lnTo>
                  <a:lnTo>
                    <a:pt x="259079" y="129539"/>
                  </a:lnTo>
                  <a:lnTo>
                    <a:pt x="0" y="0"/>
                  </a:lnTo>
                  <a:close/>
                </a:path>
              </a:pathLst>
            </a:custGeom>
            <a:solidFill>
              <a:srgbClr val="FF2800"/>
            </a:solidFill>
          </p:spPr>
          <p:txBody>
            <a:bodyPr wrap="square" lIns="0" tIns="0" rIns="0" bIns="0" rtlCol="0"/>
            <a:lstStyle/>
            <a:p>
              <a:endParaRPr/>
            </a:p>
          </p:txBody>
        </p:sp>
        <p:sp>
          <p:nvSpPr>
            <p:cNvPr id="190" name="object 190"/>
            <p:cNvSpPr/>
            <p:nvPr/>
          </p:nvSpPr>
          <p:spPr>
            <a:xfrm>
              <a:off x="7177711" y="5443787"/>
              <a:ext cx="978535" cy="2540"/>
            </a:xfrm>
            <a:custGeom>
              <a:avLst/>
              <a:gdLst/>
              <a:ahLst/>
              <a:cxnLst/>
              <a:rect l="l" t="t" r="r" b="b"/>
              <a:pathLst>
                <a:path w="978534" h="2539">
                  <a:moveTo>
                    <a:pt x="978039" y="2115"/>
                  </a:moveTo>
                  <a:lnTo>
                    <a:pt x="0" y="0"/>
                  </a:lnTo>
                </a:path>
              </a:pathLst>
            </a:custGeom>
            <a:ln w="63500">
              <a:solidFill>
                <a:srgbClr val="FF2800"/>
              </a:solidFill>
              <a:prstDash val="sysDot"/>
            </a:ln>
          </p:spPr>
          <p:txBody>
            <a:bodyPr wrap="square" lIns="0" tIns="0" rIns="0" bIns="0" rtlCol="0"/>
            <a:lstStyle/>
            <a:p>
              <a:endParaRPr/>
            </a:p>
          </p:txBody>
        </p:sp>
        <p:sp>
          <p:nvSpPr>
            <p:cNvPr id="191" name="object 191"/>
            <p:cNvSpPr/>
            <p:nvPr/>
          </p:nvSpPr>
          <p:spPr>
            <a:xfrm>
              <a:off x="8151151" y="5316354"/>
              <a:ext cx="259715" cy="259079"/>
            </a:xfrm>
            <a:custGeom>
              <a:avLst/>
              <a:gdLst/>
              <a:ahLst/>
              <a:cxnLst/>
              <a:rect l="l" t="t" r="r" b="b"/>
              <a:pathLst>
                <a:path w="259715" h="259079">
                  <a:moveTo>
                    <a:pt x="560" y="0"/>
                  </a:moveTo>
                  <a:lnTo>
                    <a:pt x="0" y="259080"/>
                  </a:lnTo>
                  <a:lnTo>
                    <a:pt x="259359" y="130100"/>
                  </a:lnTo>
                  <a:lnTo>
                    <a:pt x="560" y="0"/>
                  </a:lnTo>
                  <a:close/>
                </a:path>
              </a:pathLst>
            </a:custGeom>
            <a:solidFill>
              <a:srgbClr val="FF2800"/>
            </a:solidFill>
          </p:spPr>
          <p:txBody>
            <a:bodyPr wrap="square" lIns="0" tIns="0" rIns="0" bIns="0" rtlCol="0"/>
            <a:lstStyle/>
            <a:p>
              <a:endParaRPr/>
            </a:p>
          </p:txBody>
        </p:sp>
        <p:sp>
          <p:nvSpPr>
            <p:cNvPr id="192" name="object 192"/>
            <p:cNvSpPr/>
            <p:nvPr/>
          </p:nvSpPr>
          <p:spPr>
            <a:xfrm>
              <a:off x="8265819" y="51360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FF40FF"/>
              </a:solidFill>
            </a:ln>
          </p:spPr>
          <p:txBody>
            <a:bodyPr wrap="square" lIns="0" tIns="0" rIns="0" bIns="0" rtlCol="0"/>
            <a:lstStyle/>
            <a:p>
              <a:endParaRPr/>
            </a:p>
          </p:txBody>
        </p:sp>
        <p:sp>
          <p:nvSpPr>
            <p:cNvPr id="193" name="object 193"/>
            <p:cNvSpPr/>
            <p:nvPr/>
          </p:nvSpPr>
          <p:spPr>
            <a:xfrm>
              <a:off x="8265819" y="5110645"/>
              <a:ext cx="747395" cy="25400"/>
            </a:xfrm>
            <a:custGeom>
              <a:avLst/>
              <a:gdLst/>
              <a:ahLst/>
              <a:cxnLst/>
              <a:rect l="l" t="t" r="r" b="b"/>
              <a:pathLst>
                <a:path w="747395" h="25400">
                  <a:moveTo>
                    <a:pt x="0" y="0"/>
                  </a:moveTo>
                  <a:lnTo>
                    <a:pt x="747351" y="0"/>
                  </a:lnTo>
                  <a:lnTo>
                    <a:pt x="747351" y="25400"/>
                  </a:lnTo>
                  <a:lnTo>
                    <a:pt x="0" y="25400"/>
                  </a:lnTo>
                  <a:lnTo>
                    <a:pt x="0" y="0"/>
                  </a:lnTo>
                  <a:close/>
                </a:path>
              </a:pathLst>
            </a:custGeom>
            <a:solidFill>
              <a:srgbClr val="FF40FF"/>
            </a:solidFill>
          </p:spPr>
          <p:txBody>
            <a:bodyPr wrap="square" lIns="0" tIns="0" rIns="0" bIns="0" rtlCol="0"/>
            <a:lstStyle/>
            <a:p>
              <a:endParaRPr/>
            </a:p>
          </p:txBody>
        </p:sp>
      </p:grpSp>
      <p:sp>
        <p:nvSpPr>
          <p:cNvPr id="194" name="object 194"/>
          <p:cNvSpPr txBox="1"/>
          <p:nvPr/>
        </p:nvSpPr>
        <p:spPr>
          <a:xfrm>
            <a:off x="5861017" y="3655930"/>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87</a:t>
            </a:r>
            <a:endParaRPr sz="2109">
              <a:latin typeface="Arial MT"/>
              <a:cs typeface="Arial MT"/>
            </a:endParaRPr>
          </a:p>
        </p:txBody>
      </p:sp>
      <p:grpSp>
        <p:nvGrpSpPr>
          <p:cNvPr id="195" name="object 195"/>
          <p:cNvGrpSpPr/>
          <p:nvPr/>
        </p:nvGrpSpPr>
        <p:grpSpPr>
          <a:xfrm>
            <a:off x="5811905" y="2629015"/>
            <a:ext cx="1429196" cy="1277838"/>
            <a:chOff x="8265819" y="3739043"/>
            <a:chExt cx="2032635" cy="1817370"/>
          </a:xfrm>
        </p:grpSpPr>
        <p:sp>
          <p:nvSpPr>
            <p:cNvPr id="196" name="object 196"/>
            <p:cNvSpPr/>
            <p:nvPr/>
          </p:nvSpPr>
          <p:spPr>
            <a:xfrm>
              <a:off x="8912564" y="5470396"/>
              <a:ext cx="224790" cy="10160"/>
            </a:xfrm>
            <a:custGeom>
              <a:avLst/>
              <a:gdLst/>
              <a:ahLst/>
              <a:cxnLst/>
              <a:rect l="l" t="t" r="r" b="b"/>
              <a:pathLst>
                <a:path w="224790" h="10160">
                  <a:moveTo>
                    <a:pt x="224500" y="0"/>
                  </a:moveTo>
                  <a:lnTo>
                    <a:pt x="0" y="9679"/>
                  </a:lnTo>
                </a:path>
              </a:pathLst>
            </a:custGeom>
            <a:ln w="38100">
              <a:solidFill>
                <a:srgbClr val="000000"/>
              </a:solidFill>
            </a:ln>
          </p:spPr>
          <p:txBody>
            <a:bodyPr wrap="square" lIns="0" tIns="0" rIns="0" bIns="0" rtlCol="0"/>
            <a:lstStyle/>
            <a:p>
              <a:endParaRPr/>
            </a:p>
          </p:txBody>
        </p:sp>
        <p:sp>
          <p:nvSpPr>
            <p:cNvPr id="197" name="object 197"/>
            <p:cNvSpPr/>
            <p:nvPr/>
          </p:nvSpPr>
          <p:spPr>
            <a:xfrm>
              <a:off x="9091582" y="5388458"/>
              <a:ext cx="171450" cy="167640"/>
            </a:xfrm>
            <a:custGeom>
              <a:avLst/>
              <a:gdLst/>
              <a:ahLst/>
              <a:cxnLst/>
              <a:rect l="l" t="t" r="r" b="b"/>
              <a:pathLst>
                <a:path w="171450" h="167639">
                  <a:moveTo>
                    <a:pt x="0" y="0"/>
                  </a:moveTo>
                  <a:lnTo>
                    <a:pt x="45482" y="81937"/>
                  </a:lnTo>
                  <a:lnTo>
                    <a:pt x="7222" y="167485"/>
                  </a:lnTo>
                  <a:lnTo>
                    <a:pt x="171095" y="76521"/>
                  </a:lnTo>
                  <a:lnTo>
                    <a:pt x="0" y="0"/>
                  </a:lnTo>
                  <a:close/>
                </a:path>
              </a:pathLst>
            </a:custGeom>
            <a:solidFill>
              <a:srgbClr val="000000"/>
            </a:solidFill>
          </p:spPr>
          <p:txBody>
            <a:bodyPr wrap="square" lIns="0" tIns="0" rIns="0" bIns="0" rtlCol="0"/>
            <a:lstStyle/>
            <a:p>
              <a:endParaRPr/>
            </a:p>
          </p:txBody>
        </p:sp>
        <p:pic>
          <p:nvPicPr>
            <p:cNvPr id="198" name="object 198"/>
            <p:cNvPicPr/>
            <p:nvPr/>
          </p:nvPicPr>
          <p:blipFill>
            <a:blip r:embed="rId13" cstate="print"/>
            <a:stretch>
              <a:fillRect/>
            </a:stretch>
          </p:blipFill>
          <p:spPr>
            <a:xfrm>
              <a:off x="8842779" y="5410291"/>
              <a:ext cx="139570" cy="139570"/>
            </a:xfrm>
            <a:prstGeom prst="rect">
              <a:avLst/>
            </a:prstGeom>
          </p:spPr>
        </p:pic>
        <p:sp>
          <p:nvSpPr>
            <p:cNvPr id="199" name="object 199"/>
            <p:cNvSpPr/>
            <p:nvPr/>
          </p:nvSpPr>
          <p:spPr>
            <a:xfrm>
              <a:off x="8278519" y="4462943"/>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FF40FF"/>
              </a:solidFill>
            </a:ln>
          </p:spPr>
          <p:txBody>
            <a:bodyPr wrap="square" lIns="0" tIns="0" rIns="0" bIns="0" rtlCol="0"/>
            <a:lstStyle/>
            <a:p>
              <a:endParaRPr/>
            </a:p>
          </p:txBody>
        </p:sp>
        <p:sp>
          <p:nvSpPr>
            <p:cNvPr id="200" name="object 200"/>
            <p:cNvSpPr/>
            <p:nvPr/>
          </p:nvSpPr>
          <p:spPr>
            <a:xfrm>
              <a:off x="8265808" y="4437544"/>
              <a:ext cx="747395" cy="705485"/>
            </a:xfrm>
            <a:custGeom>
              <a:avLst/>
              <a:gdLst/>
              <a:ahLst/>
              <a:cxnLst/>
              <a:rect l="l" t="t" r="r" b="b"/>
              <a:pathLst>
                <a:path w="747395" h="705485">
                  <a:moveTo>
                    <a:pt x="747356" y="679869"/>
                  </a:moveTo>
                  <a:lnTo>
                    <a:pt x="0" y="679869"/>
                  </a:lnTo>
                  <a:lnTo>
                    <a:pt x="0" y="705269"/>
                  </a:lnTo>
                  <a:lnTo>
                    <a:pt x="747356" y="705269"/>
                  </a:lnTo>
                  <a:lnTo>
                    <a:pt x="747356" y="679869"/>
                  </a:lnTo>
                  <a:close/>
                </a:path>
                <a:path w="747395" h="705485">
                  <a:moveTo>
                    <a:pt x="747356" y="0"/>
                  </a:moveTo>
                  <a:lnTo>
                    <a:pt x="0" y="0"/>
                  </a:lnTo>
                  <a:lnTo>
                    <a:pt x="0" y="25400"/>
                  </a:lnTo>
                  <a:lnTo>
                    <a:pt x="747356" y="25400"/>
                  </a:lnTo>
                  <a:lnTo>
                    <a:pt x="747356" y="0"/>
                  </a:lnTo>
                  <a:close/>
                </a:path>
              </a:pathLst>
            </a:custGeom>
            <a:solidFill>
              <a:srgbClr val="FF40FF"/>
            </a:solidFill>
          </p:spPr>
          <p:txBody>
            <a:bodyPr wrap="square" lIns="0" tIns="0" rIns="0" bIns="0" rtlCol="0"/>
            <a:lstStyle/>
            <a:p>
              <a:endParaRPr/>
            </a:p>
          </p:txBody>
        </p:sp>
        <p:sp>
          <p:nvSpPr>
            <p:cNvPr id="201" name="object 201"/>
            <p:cNvSpPr/>
            <p:nvPr/>
          </p:nvSpPr>
          <p:spPr>
            <a:xfrm>
              <a:off x="8912564" y="4797296"/>
              <a:ext cx="224790" cy="10160"/>
            </a:xfrm>
            <a:custGeom>
              <a:avLst/>
              <a:gdLst/>
              <a:ahLst/>
              <a:cxnLst/>
              <a:rect l="l" t="t" r="r" b="b"/>
              <a:pathLst>
                <a:path w="224790" h="10160">
                  <a:moveTo>
                    <a:pt x="224500" y="0"/>
                  </a:moveTo>
                  <a:lnTo>
                    <a:pt x="0" y="9679"/>
                  </a:lnTo>
                </a:path>
              </a:pathLst>
            </a:custGeom>
            <a:ln w="38100">
              <a:solidFill>
                <a:srgbClr val="000000"/>
              </a:solidFill>
            </a:ln>
          </p:spPr>
          <p:txBody>
            <a:bodyPr wrap="square" lIns="0" tIns="0" rIns="0" bIns="0" rtlCol="0"/>
            <a:lstStyle/>
            <a:p>
              <a:endParaRPr/>
            </a:p>
          </p:txBody>
        </p:sp>
        <p:sp>
          <p:nvSpPr>
            <p:cNvPr id="202" name="object 202"/>
            <p:cNvSpPr/>
            <p:nvPr/>
          </p:nvSpPr>
          <p:spPr>
            <a:xfrm>
              <a:off x="9091582" y="4715358"/>
              <a:ext cx="171450" cy="167640"/>
            </a:xfrm>
            <a:custGeom>
              <a:avLst/>
              <a:gdLst/>
              <a:ahLst/>
              <a:cxnLst/>
              <a:rect l="l" t="t" r="r" b="b"/>
              <a:pathLst>
                <a:path w="171450" h="167639">
                  <a:moveTo>
                    <a:pt x="0" y="0"/>
                  </a:moveTo>
                  <a:lnTo>
                    <a:pt x="45482" y="81937"/>
                  </a:lnTo>
                  <a:lnTo>
                    <a:pt x="7222" y="167485"/>
                  </a:lnTo>
                  <a:lnTo>
                    <a:pt x="171095" y="76521"/>
                  </a:lnTo>
                  <a:lnTo>
                    <a:pt x="0" y="0"/>
                  </a:lnTo>
                  <a:close/>
                </a:path>
              </a:pathLst>
            </a:custGeom>
            <a:solidFill>
              <a:srgbClr val="000000"/>
            </a:solidFill>
          </p:spPr>
          <p:txBody>
            <a:bodyPr wrap="square" lIns="0" tIns="0" rIns="0" bIns="0" rtlCol="0"/>
            <a:lstStyle/>
            <a:p>
              <a:endParaRPr/>
            </a:p>
          </p:txBody>
        </p:sp>
        <p:pic>
          <p:nvPicPr>
            <p:cNvPr id="203" name="object 203"/>
            <p:cNvPicPr/>
            <p:nvPr/>
          </p:nvPicPr>
          <p:blipFill>
            <a:blip r:embed="rId13" cstate="print"/>
            <a:stretch>
              <a:fillRect/>
            </a:stretch>
          </p:blipFill>
          <p:spPr>
            <a:xfrm>
              <a:off x="8842779" y="4737190"/>
              <a:ext cx="139570" cy="139570"/>
            </a:xfrm>
            <a:prstGeom prst="rect">
              <a:avLst/>
            </a:prstGeom>
          </p:spPr>
        </p:pic>
        <p:sp>
          <p:nvSpPr>
            <p:cNvPr id="204" name="object 204"/>
            <p:cNvSpPr/>
            <p:nvPr/>
          </p:nvSpPr>
          <p:spPr>
            <a:xfrm>
              <a:off x="8278519" y="3764443"/>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FF40FF"/>
              </a:solidFill>
            </a:ln>
          </p:spPr>
          <p:txBody>
            <a:bodyPr wrap="square" lIns="0" tIns="0" rIns="0" bIns="0" rtlCol="0"/>
            <a:lstStyle/>
            <a:p>
              <a:endParaRPr/>
            </a:p>
          </p:txBody>
        </p:sp>
        <p:sp>
          <p:nvSpPr>
            <p:cNvPr id="205" name="object 205"/>
            <p:cNvSpPr/>
            <p:nvPr/>
          </p:nvSpPr>
          <p:spPr>
            <a:xfrm>
              <a:off x="8265819" y="4418907"/>
              <a:ext cx="747395" cy="25400"/>
            </a:xfrm>
            <a:custGeom>
              <a:avLst/>
              <a:gdLst/>
              <a:ahLst/>
              <a:cxnLst/>
              <a:rect l="l" t="t" r="r" b="b"/>
              <a:pathLst>
                <a:path w="747395" h="25400">
                  <a:moveTo>
                    <a:pt x="0" y="0"/>
                  </a:moveTo>
                  <a:lnTo>
                    <a:pt x="747351" y="0"/>
                  </a:lnTo>
                  <a:lnTo>
                    <a:pt x="747351" y="25400"/>
                  </a:lnTo>
                  <a:lnTo>
                    <a:pt x="0" y="25400"/>
                  </a:lnTo>
                  <a:lnTo>
                    <a:pt x="0" y="0"/>
                  </a:lnTo>
                  <a:close/>
                </a:path>
              </a:pathLst>
            </a:custGeom>
            <a:solidFill>
              <a:srgbClr val="FF40FF"/>
            </a:solidFill>
          </p:spPr>
          <p:txBody>
            <a:bodyPr wrap="square" lIns="0" tIns="0" rIns="0" bIns="0" rtlCol="0"/>
            <a:lstStyle/>
            <a:p>
              <a:endParaRPr/>
            </a:p>
          </p:txBody>
        </p:sp>
        <p:sp>
          <p:nvSpPr>
            <p:cNvPr id="206" name="object 206"/>
            <p:cNvSpPr/>
            <p:nvPr/>
          </p:nvSpPr>
          <p:spPr>
            <a:xfrm>
              <a:off x="8265819" y="3751743"/>
              <a:ext cx="747395" cy="0"/>
            </a:xfrm>
            <a:custGeom>
              <a:avLst/>
              <a:gdLst/>
              <a:ahLst/>
              <a:cxnLst/>
              <a:rect l="l" t="t" r="r" b="b"/>
              <a:pathLst>
                <a:path w="747395">
                  <a:moveTo>
                    <a:pt x="0" y="0"/>
                  </a:moveTo>
                  <a:lnTo>
                    <a:pt x="747351" y="0"/>
                  </a:lnTo>
                </a:path>
              </a:pathLst>
            </a:custGeom>
            <a:ln w="25400">
              <a:solidFill>
                <a:srgbClr val="FF40FF"/>
              </a:solidFill>
            </a:ln>
          </p:spPr>
          <p:txBody>
            <a:bodyPr wrap="square" lIns="0" tIns="0" rIns="0" bIns="0" rtlCol="0"/>
            <a:lstStyle/>
            <a:p>
              <a:endParaRPr/>
            </a:p>
          </p:txBody>
        </p:sp>
        <p:sp>
          <p:nvSpPr>
            <p:cNvPr id="207" name="object 207"/>
            <p:cNvSpPr/>
            <p:nvPr/>
          </p:nvSpPr>
          <p:spPr>
            <a:xfrm>
              <a:off x="8915400" y="4108450"/>
              <a:ext cx="1257300" cy="0"/>
            </a:xfrm>
            <a:custGeom>
              <a:avLst/>
              <a:gdLst/>
              <a:ahLst/>
              <a:cxnLst/>
              <a:rect l="l" t="t" r="r" b="b"/>
              <a:pathLst>
                <a:path w="1257300">
                  <a:moveTo>
                    <a:pt x="1257300" y="0"/>
                  </a:moveTo>
                  <a:lnTo>
                    <a:pt x="0" y="0"/>
                  </a:lnTo>
                </a:path>
              </a:pathLst>
            </a:custGeom>
            <a:ln w="38100">
              <a:solidFill>
                <a:srgbClr val="000000"/>
              </a:solidFill>
            </a:ln>
          </p:spPr>
          <p:txBody>
            <a:bodyPr wrap="square" lIns="0" tIns="0" rIns="0" bIns="0" rtlCol="0"/>
            <a:lstStyle/>
            <a:p>
              <a:endParaRPr/>
            </a:p>
          </p:txBody>
        </p:sp>
        <p:sp>
          <p:nvSpPr>
            <p:cNvPr id="208" name="object 208"/>
            <p:cNvSpPr/>
            <p:nvPr/>
          </p:nvSpPr>
          <p:spPr>
            <a:xfrm>
              <a:off x="10130790" y="40246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209" name="object 209"/>
            <p:cNvPicPr/>
            <p:nvPr/>
          </p:nvPicPr>
          <p:blipFill>
            <a:blip r:embed="rId11" cstate="print"/>
            <a:stretch>
              <a:fillRect/>
            </a:stretch>
          </p:blipFill>
          <p:spPr>
            <a:xfrm>
              <a:off x="8845550" y="4038599"/>
              <a:ext cx="139699" cy="139700"/>
            </a:xfrm>
            <a:prstGeom prst="rect">
              <a:avLst/>
            </a:prstGeom>
          </p:spPr>
        </p:pic>
      </p:grpSp>
      <p:sp>
        <p:nvSpPr>
          <p:cNvPr id="210" name="object 210"/>
          <p:cNvSpPr txBox="1"/>
          <p:nvPr/>
        </p:nvSpPr>
        <p:spPr>
          <a:xfrm>
            <a:off x="5861017" y="3182655"/>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87</a:t>
            </a:r>
            <a:endParaRPr sz="2109">
              <a:latin typeface="Arial MT"/>
              <a:cs typeface="Arial MT"/>
            </a:endParaRPr>
          </a:p>
        </p:txBody>
      </p:sp>
      <p:sp>
        <p:nvSpPr>
          <p:cNvPr id="211" name="object 211"/>
          <p:cNvSpPr txBox="1"/>
          <p:nvPr/>
        </p:nvSpPr>
        <p:spPr>
          <a:xfrm>
            <a:off x="5861017" y="2691523"/>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87</a:t>
            </a:r>
            <a:endParaRPr sz="2109">
              <a:latin typeface="Arial MT"/>
              <a:cs typeface="Arial MT"/>
            </a:endParaRPr>
          </a:p>
        </p:txBody>
      </p:sp>
      <p:sp>
        <p:nvSpPr>
          <p:cNvPr id="213" name="标题 2"/>
          <p:cNvSpPr>
            <a:spLocks noGrp="1"/>
          </p:cNvSpPr>
          <p:nvPr>
            <p:ph type="title"/>
          </p:nvPr>
        </p:nvSpPr>
        <p:spPr>
          <a:xfrm>
            <a:off x="685650" y="25106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删除</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例</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Tree>
    <p:extLst>
      <p:ext uri="{BB962C8B-B14F-4D97-AF65-F5344CB8AC3E}">
        <p14:creationId xmlns:p14="http://schemas.microsoft.com/office/powerpoint/2010/main" val="114583456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08323" y="1080493"/>
            <a:ext cx="3880290" cy="355266"/>
          </a:xfrm>
          <a:prstGeom prst="rect">
            <a:avLst/>
          </a:prstGeom>
        </p:spPr>
        <p:txBody>
          <a:bodyPr vert="horz" wrap="square" lIns="0" tIns="8930" rIns="0" bIns="0" rtlCol="0">
            <a:spAutoFit/>
          </a:bodyPr>
          <a:lstStyle/>
          <a:p>
            <a:pPr marL="8929">
              <a:spcBef>
                <a:spcPts val="70"/>
              </a:spcBef>
            </a:pPr>
            <a:r>
              <a:rPr sz="2250" dirty="0">
                <a:latin typeface="Palatino Linotype"/>
                <a:cs typeface="Palatino Linotype"/>
              </a:rPr>
              <a:t>Delete</a:t>
            </a:r>
            <a:r>
              <a:rPr sz="2250" spc="-67" dirty="0">
                <a:latin typeface="Palatino Linotype"/>
                <a:cs typeface="Palatino Linotype"/>
              </a:rPr>
              <a:t> </a:t>
            </a:r>
            <a:r>
              <a:rPr lang="en-US" sz="2250" spc="-67" dirty="0" smtClean="0">
                <a:latin typeface="Palatino Linotype"/>
                <a:cs typeface="Palatino Linotype"/>
              </a:rPr>
              <a:t>k=</a:t>
            </a:r>
            <a:r>
              <a:rPr sz="2250" spc="-18" dirty="0" smtClean="0">
                <a:latin typeface="Palatino Linotype"/>
                <a:cs typeface="Palatino Linotype"/>
              </a:rPr>
              <a:t>87</a:t>
            </a:r>
            <a:r>
              <a:rPr lang="en-US" sz="2250" spc="-18" dirty="0" smtClean="0">
                <a:latin typeface="Palatino Linotype"/>
                <a:cs typeface="Palatino Linotype"/>
              </a:rPr>
              <a:t>,i=2</a:t>
            </a:r>
            <a:endParaRPr sz="2250" dirty="0">
              <a:latin typeface="Palatino Linotype"/>
              <a:cs typeface="Palatino Linotype"/>
            </a:endParaRPr>
          </a:p>
        </p:txBody>
      </p:sp>
      <p:grpSp>
        <p:nvGrpSpPr>
          <p:cNvPr id="4" name="object 4"/>
          <p:cNvGrpSpPr/>
          <p:nvPr/>
        </p:nvGrpSpPr>
        <p:grpSpPr>
          <a:xfrm>
            <a:off x="711488" y="3640535"/>
            <a:ext cx="1245691" cy="503188"/>
            <a:chOff x="1011894" y="5177650"/>
            <a:chExt cx="1771650" cy="715645"/>
          </a:xfrm>
        </p:grpSpPr>
        <p:sp>
          <p:nvSpPr>
            <p:cNvPr id="5" name="object 5"/>
            <p:cNvSpPr/>
            <p:nvPr/>
          </p:nvSpPr>
          <p:spPr>
            <a:xfrm>
              <a:off x="1024594" y="5213197"/>
              <a:ext cx="747395" cy="667385"/>
            </a:xfrm>
            <a:custGeom>
              <a:avLst/>
              <a:gdLst/>
              <a:ahLst/>
              <a:cxnLst/>
              <a:rect l="l" t="t" r="r" b="b"/>
              <a:pathLst>
                <a:path w="747394" h="667385">
                  <a:moveTo>
                    <a:pt x="734651" y="0"/>
                  </a:moveTo>
                  <a:lnTo>
                    <a:pt x="734651" y="654463"/>
                  </a:lnTo>
                </a:path>
                <a:path w="747394" h="667385">
                  <a:moveTo>
                    <a:pt x="530868" y="0"/>
                  </a:moveTo>
                  <a:lnTo>
                    <a:pt x="530868" y="654463"/>
                  </a:lnTo>
                </a:path>
                <a:path w="747394" h="667385">
                  <a:moveTo>
                    <a:pt x="12700" y="0"/>
                  </a:moveTo>
                  <a:lnTo>
                    <a:pt x="12700" y="654463"/>
                  </a:lnTo>
                </a:path>
                <a:path w="747394" h="667385">
                  <a:moveTo>
                    <a:pt x="0" y="667163"/>
                  </a:moveTo>
                  <a:lnTo>
                    <a:pt x="747351" y="667163"/>
                  </a:lnTo>
                </a:path>
              </a:pathLst>
            </a:custGeom>
            <a:ln w="25400">
              <a:solidFill>
                <a:srgbClr val="000000"/>
              </a:solidFill>
            </a:ln>
          </p:spPr>
          <p:txBody>
            <a:bodyPr wrap="square" lIns="0" tIns="0" rIns="0" bIns="0" rtlCol="0"/>
            <a:lstStyle/>
            <a:p>
              <a:endParaRPr/>
            </a:p>
          </p:txBody>
        </p:sp>
        <p:sp>
          <p:nvSpPr>
            <p:cNvPr id="6" name="object 6"/>
            <p:cNvSpPr/>
            <p:nvPr/>
          </p:nvSpPr>
          <p:spPr>
            <a:xfrm>
              <a:off x="1024585" y="5187797"/>
              <a:ext cx="747395" cy="25400"/>
            </a:xfrm>
            <a:custGeom>
              <a:avLst/>
              <a:gdLst/>
              <a:ahLst/>
              <a:cxnLst/>
              <a:rect l="l" t="t" r="r" b="b"/>
              <a:pathLst>
                <a:path w="747394" h="25400">
                  <a:moveTo>
                    <a:pt x="29197" y="0"/>
                  </a:moveTo>
                  <a:lnTo>
                    <a:pt x="0" y="0"/>
                  </a:lnTo>
                  <a:lnTo>
                    <a:pt x="0" y="25400"/>
                  </a:lnTo>
                  <a:lnTo>
                    <a:pt x="29197" y="25400"/>
                  </a:lnTo>
                  <a:lnTo>
                    <a:pt x="29197" y="0"/>
                  </a:lnTo>
                  <a:close/>
                </a:path>
                <a:path w="747394" h="25400">
                  <a:moveTo>
                    <a:pt x="747356" y="0"/>
                  </a:moveTo>
                  <a:lnTo>
                    <a:pt x="519938" y="0"/>
                  </a:lnTo>
                  <a:lnTo>
                    <a:pt x="519938" y="25400"/>
                  </a:lnTo>
                  <a:lnTo>
                    <a:pt x="747356" y="25400"/>
                  </a:lnTo>
                  <a:lnTo>
                    <a:pt x="747356" y="0"/>
                  </a:lnTo>
                  <a:close/>
                </a:path>
              </a:pathLst>
            </a:custGeom>
            <a:solidFill>
              <a:srgbClr val="000000"/>
            </a:solidFill>
          </p:spPr>
          <p:txBody>
            <a:bodyPr wrap="square" lIns="0" tIns="0" rIns="0" bIns="0" rtlCol="0"/>
            <a:lstStyle/>
            <a:p>
              <a:endParaRPr/>
            </a:p>
          </p:txBody>
        </p:sp>
        <p:sp>
          <p:nvSpPr>
            <p:cNvPr id="7" name="object 7"/>
            <p:cNvSpPr/>
            <p:nvPr/>
          </p:nvSpPr>
          <p:spPr>
            <a:xfrm>
              <a:off x="2023037" y="5190350"/>
              <a:ext cx="747395" cy="680085"/>
            </a:xfrm>
            <a:custGeom>
              <a:avLst/>
              <a:gdLst/>
              <a:ahLst/>
              <a:cxnLst/>
              <a:rect l="l" t="t" r="r" b="b"/>
              <a:pathLst>
                <a:path w="747394" h="680085">
                  <a:moveTo>
                    <a:pt x="734651" y="12700"/>
                  </a:moveTo>
                  <a:lnTo>
                    <a:pt x="734651" y="667163"/>
                  </a:lnTo>
                </a:path>
                <a:path w="747394" h="680085">
                  <a:moveTo>
                    <a:pt x="530868" y="12700"/>
                  </a:moveTo>
                  <a:lnTo>
                    <a:pt x="530868" y="667163"/>
                  </a:lnTo>
                </a:path>
                <a:path w="747394" h="680085">
                  <a:moveTo>
                    <a:pt x="0" y="679863"/>
                  </a:moveTo>
                  <a:lnTo>
                    <a:pt x="747351" y="679863"/>
                  </a:lnTo>
                </a:path>
                <a:path w="747394" h="680085">
                  <a:moveTo>
                    <a:pt x="0" y="0"/>
                  </a:moveTo>
                  <a:lnTo>
                    <a:pt x="747351" y="0"/>
                  </a:lnTo>
                </a:path>
              </a:pathLst>
            </a:custGeom>
            <a:ln w="25400">
              <a:solidFill>
                <a:srgbClr val="000000"/>
              </a:solidFill>
            </a:ln>
          </p:spPr>
          <p:txBody>
            <a:bodyPr wrap="square" lIns="0" tIns="0" rIns="0" bIns="0" rtlCol="0"/>
            <a:lstStyle/>
            <a:p>
              <a:endParaRPr/>
            </a:p>
          </p:txBody>
        </p:sp>
      </p:grpSp>
      <p:sp>
        <p:nvSpPr>
          <p:cNvPr id="8" name="object 8"/>
          <p:cNvSpPr txBox="1"/>
          <p:nvPr/>
        </p:nvSpPr>
        <p:spPr>
          <a:xfrm>
            <a:off x="1431378" y="3649465"/>
            <a:ext cx="364778" cy="387694"/>
          </a:xfrm>
          <a:prstGeom prst="rect">
            <a:avLst/>
          </a:prstGeom>
          <a:ln w="25400">
            <a:solidFill>
              <a:srgbClr val="000000"/>
            </a:solidFill>
          </a:ln>
        </p:spPr>
        <p:txBody>
          <a:bodyPr vert="horz" wrap="square" lIns="0" tIns="62508" rIns="0" bIns="0" rtlCol="0">
            <a:spAutoFit/>
          </a:bodyPr>
          <a:lstStyle/>
          <a:p>
            <a:pPr marL="49112">
              <a:spcBef>
                <a:spcPts val="492"/>
              </a:spcBef>
            </a:pPr>
            <a:r>
              <a:rPr sz="2109" spc="-18" dirty="0">
                <a:latin typeface="Arial MT"/>
                <a:cs typeface="Arial MT"/>
              </a:rPr>
              <a:t>10</a:t>
            </a:r>
            <a:endParaRPr sz="2109">
              <a:latin typeface="Arial MT"/>
              <a:cs typeface="Arial MT"/>
            </a:endParaRPr>
          </a:p>
        </p:txBody>
      </p:sp>
      <p:sp>
        <p:nvSpPr>
          <p:cNvPr id="9" name="object 9"/>
          <p:cNvSpPr/>
          <p:nvPr/>
        </p:nvSpPr>
        <p:spPr>
          <a:xfrm>
            <a:off x="2124478" y="3642330"/>
            <a:ext cx="525512" cy="4781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sp>
        <p:nvSpPr>
          <p:cNvPr id="10" name="object 10"/>
          <p:cNvSpPr txBox="1"/>
          <p:nvPr/>
        </p:nvSpPr>
        <p:spPr>
          <a:xfrm>
            <a:off x="2133407" y="3642330"/>
            <a:ext cx="364778" cy="387694"/>
          </a:xfrm>
          <a:prstGeom prst="rect">
            <a:avLst/>
          </a:prstGeom>
          <a:ln w="25400">
            <a:solidFill>
              <a:srgbClr val="000000"/>
            </a:solidFill>
          </a:ln>
        </p:spPr>
        <p:txBody>
          <a:bodyPr vert="horz" wrap="square" lIns="0" tIns="62508" rIns="0" bIns="0" rtlCol="0">
            <a:spAutoFit/>
          </a:bodyPr>
          <a:lstStyle/>
          <a:p>
            <a:pPr marL="49112">
              <a:spcBef>
                <a:spcPts val="492"/>
              </a:spcBef>
            </a:pPr>
            <a:r>
              <a:rPr sz="2109" spc="-18" dirty="0">
                <a:latin typeface="Arial MT"/>
                <a:cs typeface="Arial MT"/>
              </a:rPr>
              <a:t>15</a:t>
            </a:r>
            <a:endParaRPr sz="2109">
              <a:latin typeface="Arial MT"/>
              <a:cs typeface="Arial MT"/>
            </a:endParaRPr>
          </a:p>
        </p:txBody>
      </p:sp>
      <p:grpSp>
        <p:nvGrpSpPr>
          <p:cNvPr id="11" name="object 11"/>
          <p:cNvGrpSpPr/>
          <p:nvPr/>
        </p:nvGrpSpPr>
        <p:grpSpPr>
          <a:xfrm>
            <a:off x="2817579" y="3619132"/>
            <a:ext cx="1245691" cy="503188"/>
            <a:chOff x="4007223" y="5147209"/>
            <a:chExt cx="1771650" cy="715645"/>
          </a:xfrm>
        </p:grpSpPr>
        <p:sp>
          <p:nvSpPr>
            <p:cNvPr id="12" name="object 12"/>
            <p:cNvSpPr/>
            <p:nvPr/>
          </p:nvSpPr>
          <p:spPr>
            <a:xfrm>
              <a:off x="4019923" y="5182754"/>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endParaRPr/>
            </a:p>
          </p:txBody>
        </p:sp>
        <p:sp>
          <p:nvSpPr>
            <p:cNvPr id="13" name="object 13"/>
            <p:cNvSpPr/>
            <p:nvPr/>
          </p:nvSpPr>
          <p:spPr>
            <a:xfrm>
              <a:off x="4019923" y="5170054"/>
              <a:ext cx="26034" cy="0"/>
            </a:xfrm>
            <a:custGeom>
              <a:avLst/>
              <a:gdLst/>
              <a:ahLst/>
              <a:cxnLst/>
              <a:rect l="l" t="t" r="r" b="b"/>
              <a:pathLst>
                <a:path w="26035">
                  <a:moveTo>
                    <a:pt x="0" y="0"/>
                  </a:moveTo>
                  <a:lnTo>
                    <a:pt x="25758" y="0"/>
                  </a:lnTo>
                </a:path>
              </a:pathLst>
            </a:custGeom>
            <a:ln w="25400">
              <a:solidFill>
                <a:srgbClr val="000000"/>
              </a:solidFill>
            </a:ln>
          </p:spPr>
          <p:txBody>
            <a:bodyPr wrap="square" lIns="0" tIns="0" rIns="0" bIns="0" rtlCol="0"/>
            <a:lstStyle/>
            <a:p>
              <a:endParaRPr/>
            </a:p>
          </p:txBody>
        </p:sp>
        <p:sp>
          <p:nvSpPr>
            <p:cNvPr id="14" name="object 14"/>
            <p:cNvSpPr/>
            <p:nvPr/>
          </p:nvSpPr>
          <p:spPr>
            <a:xfrm>
              <a:off x="4536431" y="5157354"/>
              <a:ext cx="231140" cy="25400"/>
            </a:xfrm>
            <a:custGeom>
              <a:avLst/>
              <a:gdLst/>
              <a:ahLst/>
              <a:cxnLst/>
              <a:rect l="l" t="t" r="r" b="b"/>
              <a:pathLst>
                <a:path w="231139" h="25400">
                  <a:moveTo>
                    <a:pt x="0" y="25400"/>
                  </a:moveTo>
                  <a:lnTo>
                    <a:pt x="230842" y="25400"/>
                  </a:lnTo>
                  <a:lnTo>
                    <a:pt x="230842" y="0"/>
                  </a:lnTo>
                  <a:lnTo>
                    <a:pt x="0" y="0"/>
                  </a:lnTo>
                  <a:lnTo>
                    <a:pt x="0" y="25400"/>
                  </a:lnTo>
                  <a:close/>
                </a:path>
              </a:pathLst>
            </a:custGeom>
            <a:solidFill>
              <a:srgbClr val="000000"/>
            </a:solidFill>
          </p:spPr>
          <p:txBody>
            <a:bodyPr wrap="square" lIns="0" tIns="0" rIns="0" bIns="0" rtlCol="0"/>
            <a:lstStyle/>
            <a:p>
              <a:endParaRPr/>
            </a:p>
          </p:txBody>
        </p:sp>
        <p:sp>
          <p:nvSpPr>
            <p:cNvPr id="15" name="object 15"/>
            <p:cNvSpPr/>
            <p:nvPr/>
          </p:nvSpPr>
          <p:spPr>
            <a:xfrm>
              <a:off x="5018368" y="5159909"/>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grpSp>
      <p:sp>
        <p:nvSpPr>
          <p:cNvPr id="16" name="object 16"/>
          <p:cNvSpPr txBox="1"/>
          <p:nvPr/>
        </p:nvSpPr>
        <p:spPr>
          <a:xfrm>
            <a:off x="3537470" y="3628061"/>
            <a:ext cx="364778" cy="387694"/>
          </a:xfrm>
          <a:prstGeom prst="rect">
            <a:avLst/>
          </a:prstGeom>
          <a:ln w="25400">
            <a:solidFill>
              <a:srgbClr val="000000"/>
            </a:solidFill>
          </a:ln>
        </p:spPr>
        <p:txBody>
          <a:bodyPr vert="horz" wrap="square" lIns="0" tIns="62508" rIns="0" bIns="0" rtlCol="0">
            <a:spAutoFit/>
          </a:bodyPr>
          <a:lstStyle/>
          <a:p>
            <a:pPr marL="49112">
              <a:spcBef>
                <a:spcPts val="492"/>
              </a:spcBef>
            </a:pPr>
            <a:r>
              <a:rPr sz="2109" spc="-18" dirty="0">
                <a:latin typeface="Arial MT"/>
                <a:cs typeface="Arial MT"/>
              </a:rPr>
              <a:t>31</a:t>
            </a:r>
            <a:endParaRPr sz="2109">
              <a:latin typeface="Arial MT"/>
              <a:cs typeface="Arial MT"/>
            </a:endParaRPr>
          </a:p>
        </p:txBody>
      </p:sp>
      <p:grpSp>
        <p:nvGrpSpPr>
          <p:cNvPr id="17" name="object 17"/>
          <p:cNvGrpSpPr/>
          <p:nvPr/>
        </p:nvGrpSpPr>
        <p:grpSpPr>
          <a:xfrm>
            <a:off x="195375" y="2179940"/>
            <a:ext cx="8822531" cy="1974800"/>
            <a:chOff x="277867" y="3100358"/>
            <a:chExt cx="12547600" cy="2808605"/>
          </a:xfrm>
        </p:grpSpPr>
        <p:sp>
          <p:nvSpPr>
            <p:cNvPr id="18" name="object 18"/>
            <p:cNvSpPr/>
            <p:nvPr/>
          </p:nvSpPr>
          <p:spPr>
            <a:xfrm>
              <a:off x="6547680" y="5162459"/>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endParaRPr/>
            </a:p>
          </p:txBody>
        </p:sp>
        <p:sp>
          <p:nvSpPr>
            <p:cNvPr id="19" name="object 19"/>
            <p:cNvSpPr/>
            <p:nvPr/>
          </p:nvSpPr>
          <p:spPr>
            <a:xfrm>
              <a:off x="6024760" y="5162459"/>
              <a:ext cx="0" cy="654685"/>
            </a:xfrm>
            <a:custGeom>
              <a:avLst/>
              <a:gdLst/>
              <a:ahLst/>
              <a:cxnLst/>
              <a:rect l="l" t="t" r="r" b="b"/>
              <a:pathLst>
                <a:path h="654685">
                  <a:moveTo>
                    <a:pt x="0" y="0"/>
                  </a:moveTo>
                  <a:lnTo>
                    <a:pt x="0" y="654463"/>
                  </a:lnTo>
                </a:path>
              </a:pathLst>
            </a:custGeom>
            <a:ln w="15897">
              <a:solidFill>
                <a:srgbClr val="000000"/>
              </a:solidFill>
            </a:ln>
          </p:spPr>
          <p:txBody>
            <a:bodyPr wrap="square" lIns="0" tIns="0" rIns="0" bIns="0" rtlCol="0"/>
            <a:lstStyle/>
            <a:p>
              <a:endParaRPr/>
            </a:p>
          </p:txBody>
        </p:sp>
        <p:sp>
          <p:nvSpPr>
            <p:cNvPr id="20" name="object 20"/>
            <p:cNvSpPr/>
            <p:nvPr/>
          </p:nvSpPr>
          <p:spPr>
            <a:xfrm>
              <a:off x="6016811" y="5829623"/>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sp>
          <p:nvSpPr>
            <p:cNvPr id="21" name="object 21"/>
            <p:cNvSpPr/>
            <p:nvPr/>
          </p:nvSpPr>
          <p:spPr>
            <a:xfrm>
              <a:off x="6523459" y="5137059"/>
              <a:ext cx="241300" cy="25400"/>
            </a:xfrm>
            <a:custGeom>
              <a:avLst/>
              <a:gdLst/>
              <a:ahLst/>
              <a:cxnLst/>
              <a:rect l="l" t="t" r="r" b="b"/>
              <a:pathLst>
                <a:path w="241300" h="25400">
                  <a:moveTo>
                    <a:pt x="0" y="25400"/>
                  </a:moveTo>
                  <a:lnTo>
                    <a:pt x="240703" y="25400"/>
                  </a:lnTo>
                  <a:lnTo>
                    <a:pt x="240703" y="0"/>
                  </a:lnTo>
                  <a:lnTo>
                    <a:pt x="0" y="0"/>
                  </a:lnTo>
                  <a:lnTo>
                    <a:pt x="0" y="25400"/>
                  </a:lnTo>
                  <a:close/>
                </a:path>
              </a:pathLst>
            </a:custGeom>
            <a:solidFill>
              <a:srgbClr val="000000"/>
            </a:solidFill>
          </p:spPr>
          <p:txBody>
            <a:bodyPr wrap="square" lIns="0" tIns="0" rIns="0" bIns="0" rtlCol="0"/>
            <a:lstStyle/>
            <a:p>
              <a:endParaRPr/>
            </a:p>
          </p:txBody>
        </p:sp>
        <p:sp>
          <p:nvSpPr>
            <p:cNvPr id="22" name="object 22"/>
            <p:cNvSpPr/>
            <p:nvPr/>
          </p:nvSpPr>
          <p:spPr>
            <a:xfrm>
              <a:off x="6024760" y="5137059"/>
              <a:ext cx="0" cy="25400"/>
            </a:xfrm>
            <a:custGeom>
              <a:avLst/>
              <a:gdLst/>
              <a:ahLst/>
              <a:cxnLst/>
              <a:rect l="l" t="t" r="r" b="b"/>
              <a:pathLst>
                <a:path h="25400">
                  <a:moveTo>
                    <a:pt x="0" y="0"/>
                  </a:moveTo>
                  <a:lnTo>
                    <a:pt x="0" y="25400"/>
                  </a:lnTo>
                </a:path>
              </a:pathLst>
            </a:custGeom>
            <a:ln w="15897">
              <a:solidFill>
                <a:srgbClr val="000000"/>
              </a:solidFill>
            </a:ln>
          </p:spPr>
          <p:txBody>
            <a:bodyPr wrap="square" lIns="0" tIns="0" rIns="0" bIns="0" rtlCol="0"/>
            <a:lstStyle/>
            <a:p>
              <a:endParaRPr/>
            </a:p>
          </p:txBody>
        </p:sp>
        <p:sp>
          <p:nvSpPr>
            <p:cNvPr id="23" name="object 23"/>
            <p:cNvSpPr/>
            <p:nvPr/>
          </p:nvSpPr>
          <p:spPr>
            <a:xfrm>
              <a:off x="7004270" y="5139613"/>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12700" y="12700"/>
                  </a:moveTo>
                  <a:lnTo>
                    <a:pt x="12700"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pic>
          <p:nvPicPr>
            <p:cNvPr id="24" name="object 24"/>
            <p:cNvPicPr/>
            <p:nvPr/>
          </p:nvPicPr>
          <p:blipFill>
            <a:blip r:embed="rId2" cstate="print"/>
            <a:stretch>
              <a:fillRect/>
            </a:stretch>
          </p:blipFill>
          <p:spPr>
            <a:xfrm>
              <a:off x="1619249" y="5447029"/>
              <a:ext cx="386080" cy="167640"/>
            </a:xfrm>
            <a:prstGeom prst="rect">
              <a:avLst/>
            </a:prstGeom>
          </p:spPr>
        </p:pic>
        <p:pic>
          <p:nvPicPr>
            <p:cNvPr id="25" name="object 25"/>
            <p:cNvPicPr/>
            <p:nvPr/>
          </p:nvPicPr>
          <p:blipFill>
            <a:blip r:embed="rId3" cstate="print"/>
            <a:stretch>
              <a:fillRect/>
            </a:stretch>
          </p:blipFill>
          <p:spPr>
            <a:xfrm>
              <a:off x="2647949" y="5421629"/>
              <a:ext cx="386080" cy="167640"/>
            </a:xfrm>
            <a:prstGeom prst="rect">
              <a:avLst/>
            </a:prstGeom>
          </p:spPr>
        </p:pic>
        <p:pic>
          <p:nvPicPr>
            <p:cNvPr id="26" name="object 26"/>
            <p:cNvPicPr/>
            <p:nvPr/>
          </p:nvPicPr>
          <p:blipFill>
            <a:blip r:embed="rId2" cstate="print"/>
            <a:stretch>
              <a:fillRect/>
            </a:stretch>
          </p:blipFill>
          <p:spPr>
            <a:xfrm>
              <a:off x="3625849" y="5447029"/>
              <a:ext cx="386080" cy="167640"/>
            </a:xfrm>
            <a:prstGeom prst="rect">
              <a:avLst/>
            </a:prstGeom>
          </p:spPr>
        </p:pic>
        <p:pic>
          <p:nvPicPr>
            <p:cNvPr id="27" name="object 27"/>
            <p:cNvPicPr/>
            <p:nvPr/>
          </p:nvPicPr>
          <p:blipFill>
            <a:blip r:embed="rId4" cstate="print"/>
            <a:stretch>
              <a:fillRect/>
            </a:stretch>
          </p:blipFill>
          <p:spPr>
            <a:xfrm>
              <a:off x="4591049" y="5421629"/>
              <a:ext cx="398780" cy="167640"/>
            </a:xfrm>
            <a:prstGeom prst="rect">
              <a:avLst/>
            </a:prstGeom>
          </p:spPr>
        </p:pic>
        <p:pic>
          <p:nvPicPr>
            <p:cNvPr id="28" name="object 28"/>
            <p:cNvPicPr/>
            <p:nvPr/>
          </p:nvPicPr>
          <p:blipFill>
            <a:blip r:embed="rId2" cstate="print"/>
            <a:stretch>
              <a:fillRect/>
            </a:stretch>
          </p:blipFill>
          <p:spPr>
            <a:xfrm>
              <a:off x="5607049" y="5447029"/>
              <a:ext cx="386080" cy="167640"/>
            </a:xfrm>
            <a:prstGeom prst="rect">
              <a:avLst/>
            </a:prstGeom>
          </p:spPr>
        </p:pic>
        <p:pic>
          <p:nvPicPr>
            <p:cNvPr id="29" name="object 29"/>
            <p:cNvPicPr/>
            <p:nvPr/>
          </p:nvPicPr>
          <p:blipFill>
            <a:blip r:embed="rId2" cstate="print"/>
            <a:stretch>
              <a:fillRect/>
            </a:stretch>
          </p:blipFill>
          <p:spPr>
            <a:xfrm>
              <a:off x="6610349" y="5447029"/>
              <a:ext cx="386080" cy="167640"/>
            </a:xfrm>
            <a:prstGeom prst="rect">
              <a:avLst/>
            </a:prstGeom>
          </p:spPr>
        </p:pic>
        <p:sp>
          <p:nvSpPr>
            <p:cNvPr id="30" name="object 30"/>
            <p:cNvSpPr/>
            <p:nvPr/>
          </p:nvSpPr>
          <p:spPr>
            <a:xfrm>
              <a:off x="7668021" y="5485413"/>
              <a:ext cx="1450975" cy="22225"/>
            </a:xfrm>
            <a:custGeom>
              <a:avLst/>
              <a:gdLst/>
              <a:ahLst/>
              <a:cxnLst/>
              <a:rect l="l" t="t" r="r" b="b"/>
              <a:pathLst>
                <a:path w="1450975" h="22225">
                  <a:moveTo>
                    <a:pt x="1450416" y="0"/>
                  </a:moveTo>
                  <a:lnTo>
                    <a:pt x="0" y="22011"/>
                  </a:lnTo>
                </a:path>
              </a:pathLst>
            </a:custGeom>
            <a:ln w="38100">
              <a:solidFill>
                <a:srgbClr val="000000"/>
              </a:solidFill>
            </a:ln>
          </p:spPr>
          <p:txBody>
            <a:bodyPr wrap="square" lIns="0" tIns="0" rIns="0" bIns="0" rtlCol="0"/>
            <a:lstStyle/>
            <a:p>
              <a:endParaRPr/>
            </a:p>
          </p:txBody>
        </p:sp>
        <p:sp>
          <p:nvSpPr>
            <p:cNvPr id="31" name="object 31"/>
            <p:cNvSpPr/>
            <p:nvPr/>
          </p:nvSpPr>
          <p:spPr>
            <a:xfrm>
              <a:off x="9075259" y="5402239"/>
              <a:ext cx="168910" cy="167640"/>
            </a:xfrm>
            <a:custGeom>
              <a:avLst/>
              <a:gdLst/>
              <a:ahLst/>
              <a:cxnLst/>
              <a:rect l="l" t="t" r="r" b="b"/>
              <a:pathLst>
                <a:path w="168909" h="167639">
                  <a:moveTo>
                    <a:pt x="0" y="0"/>
                  </a:moveTo>
                  <a:lnTo>
                    <a:pt x="43177" y="83173"/>
                  </a:lnTo>
                  <a:lnTo>
                    <a:pt x="2543" y="167620"/>
                  </a:lnTo>
                  <a:lnTo>
                    <a:pt x="168892" y="81266"/>
                  </a:lnTo>
                  <a:lnTo>
                    <a:pt x="0" y="0"/>
                  </a:lnTo>
                  <a:close/>
                </a:path>
              </a:pathLst>
            </a:custGeom>
            <a:solidFill>
              <a:srgbClr val="000000"/>
            </a:solidFill>
          </p:spPr>
          <p:txBody>
            <a:bodyPr wrap="square" lIns="0" tIns="0" rIns="0" bIns="0" rtlCol="0"/>
            <a:lstStyle/>
            <a:p>
              <a:endParaRPr/>
            </a:p>
          </p:txBody>
        </p:sp>
        <p:pic>
          <p:nvPicPr>
            <p:cNvPr id="32" name="object 32"/>
            <p:cNvPicPr/>
            <p:nvPr/>
          </p:nvPicPr>
          <p:blipFill>
            <a:blip r:embed="rId5" cstate="print"/>
            <a:stretch>
              <a:fillRect/>
            </a:stretch>
          </p:blipFill>
          <p:spPr>
            <a:xfrm>
              <a:off x="7598179" y="5437583"/>
              <a:ext cx="139683" cy="139683"/>
            </a:xfrm>
            <a:prstGeom prst="rect">
              <a:avLst/>
            </a:prstGeom>
          </p:spPr>
        </p:pic>
        <p:pic>
          <p:nvPicPr>
            <p:cNvPr id="33" name="object 33"/>
            <p:cNvPicPr/>
            <p:nvPr/>
          </p:nvPicPr>
          <p:blipFill>
            <a:blip r:embed="rId2" cstate="print"/>
            <a:stretch>
              <a:fillRect/>
            </a:stretch>
          </p:blipFill>
          <p:spPr>
            <a:xfrm>
              <a:off x="641350" y="5447029"/>
              <a:ext cx="386079" cy="167640"/>
            </a:xfrm>
            <a:prstGeom prst="rect">
              <a:avLst/>
            </a:prstGeom>
          </p:spPr>
        </p:pic>
        <p:sp>
          <p:nvSpPr>
            <p:cNvPr id="34" name="object 34"/>
            <p:cNvSpPr/>
            <p:nvPr/>
          </p:nvSpPr>
          <p:spPr>
            <a:xfrm>
              <a:off x="290567" y="5211246"/>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00F900"/>
              </a:solidFill>
            </a:ln>
          </p:spPr>
          <p:txBody>
            <a:bodyPr wrap="square" lIns="0" tIns="0" rIns="0" bIns="0" rtlCol="0"/>
            <a:lstStyle/>
            <a:p>
              <a:endParaRPr/>
            </a:p>
          </p:txBody>
        </p:sp>
        <p:sp>
          <p:nvSpPr>
            <p:cNvPr id="35" name="object 35"/>
            <p:cNvSpPr/>
            <p:nvPr/>
          </p:nvSpPr>
          <p:spPr>
            <a:xfrm>
              <a:off x="303071" y="518584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36" name="object 36"/>
            <p:cNvSpPr/>
            <p:nvPr/>
          </p:nvSpPr>
          <p:spPr>
            <a:xfrm>
              <a:off x="590123" y="518584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37" name="object 37"/>
            <p:cNvSpPr/>
            <p:nvPr/>
          </p:nvSpPr>
          <p:spPr>
            <a:xfrm>
              <a:off x="12316314" y="5224951"/>
              <a:ext cx="496570" cy="671195"/>
            </a:xfrm>
            <a:custGeom>
              <a:avLst/>
              <a:gdLst/>
              <a:ahLst/>
              <a:cxnLst/>
              <a:rect l="l" t="t" r="r" b="b"/>
              <a:pathLst>
                <a:path w="496570" h="671195">
                  <a:moveTo>
                    <a:pt x="483751" y="0"/>
                  </a:moveTo>
                  <a:lnTo>
                    <a:pt x="483751" y="658366"/>
                  </a:lnTo>
                </a:path>
                <a:path w="496570" h="671195">
                  <a:moveTo>
                    <a:pt x="326728" y="0"/>
                  </a:moveTo>
                  <a:lnTo>
                    <a:pt x="326728" y="658366"/>
                  </a:lnTo>
                </a:path>
                <a:path w="496570" h="671195">
                  <a:moveTo>
                    <a:pt x="12700" y="0"/>
                  </a:moveTo>
                  <a:lnTo>
                    <a:pt x="12700" y="658366"/>
                  </a:lnTo>
                </a:path>
                <a:path w="496570" h="671195">
                  <a:moveTo>
                    <a:pt x="0" y="671066"/>
                  </a:moveTo>
                  <a:lnTo>
                    <a:pt x="496451" y="671066"/>
                  </a:lnTo>
                </a:path>
              </a:pathLst>
            </a:custGeom>
            <a:ln w="25400">
              <a:solidFill>
                <a:srgbClr val="FF2800"/>
              </a:solidFill>
            </a:ln>
          </p:spPr>
          <p:txBody>
            <a:bodyPr wrap="square" lIns="0" tIns="0" rIns="0" bIns="0" rtlCol="0"/>
            <a:lstStyle/>
            <a:p>
              <a:endParaRPr/>
            </a:p>
          </p:txBody>
        </p:sp>
        <p:sp>
          <p:nvSpPr>
            <p:cNvPr id="38" name="object 38"/>
            <p:cNvSpPr/>
            <p:nvPr/>
          </p:nvSpPr>
          <p:spPr>
            <a:xfrm>
              <a:off x="12628053" y="5199551"/>
              <a:ext cx="184785" cy="25400"/>
            </a:xfrm>
            <a:custGeom>
              <a:avLst/>
              <a:gdLst/>
              <a:ahLst/>
              <a:cxnLst/>
              <a:rect l="l" t="t" r="r" b="b"/>
              <a:pathLst>
                <a:path w="184784" h="25400">
                  <a:moveTo>
                    <a:pt x="0" y="25400"/>
                  </a:moveTo>
                  <a:lnTo>
                    <a:pt x="184713" y="25400"/>
                  </a:lnTo>
                  <a:lnTo>
                    <a:pt x="184713" y="0"/>
                  </a:lnTo>
                  <a:lnTo>
                    <a:pt x="0" y="0"/>
                  </a:lnTo>
                  <a:lnTo>
                    <a:pt x="0" y="25400"/>
                  </a:lnTo>
                  <a:close/>
                </a:path>
              </a:pathLst>
            </a:custGeom>
            <a:solidFill>
              <a:srgbClr val="FF2800"/>
            </a:solidFill>
          </p:spPr>
          <p:txBody>
            <a:bodyPr wrap="square" lIns="0" tIns="0" rIns="0" bIns="0" rtlCol="0"/>
            <a:lstStyle/>
            <a:p>
              <a:endParaRPr/>
            </a:p>
          </p:txBody>
        </p:sp>
        <p:sp>
          <p:nvSpPr>
            <p:cNvPr id="39" name="object 39"/>
            <p:cNvSpPr/>
            <p:nvPr/>
          </p:nvSpPr>
          <p:spPr>
            <a:xfrm>
              <a:off x="12323928" y="5199551"/>
              <a:ext cx="0" cy="25400"/>
            </a:xfrm>
            <a:custGeom>
              <a:avLst/>
              <a:gdLst/>
              <a:ahLst/>
              <a:cxnLst/>
              <a:rect l="l" t="t" r="r" b="b"/>
              <a:pathLst>
                <a:path h="25400">
                  <a:moveTo>
                    <a:pt x="0" y="0"/>
                  </a:moveTo>
                  <a:lnTo>
                    <a:pt x="0" y="25400"/>
                  </a:lnTo>
                </a:path>
              </a:pathLst>
            </a:custGeom>
            <a:ln w="15226">
              <a:solidFill>
                <a:srgbClr val="FF2800"/>
              </a:solidFill>
            </a:ln>
          </p:spPr>
          <p:txBody>
            <a:bodyPr wrap="square" lIns="0" tIns="0" rIns="0" bIns="0" rtlCol="0"/>
            <a:lstStyle/>
            <a:p>
              <a:endParaRPr/>
            </a:p>
          </p:txBody>
        </p:sp>
        <p:sp>
          <p:nvSpPr>
            <p:cNvPr id="40" name="object 40"/>
            <p:cNvSpPr/>
            <p:nvPr/>
          </p:nvSpPr>
          <p:spPr>
            <a:xfrm>
              <a:off x="6026586" y="381060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endParaRPr/>
            </a:p>
          </p:txBody>
        </p:sp>
        <p:sp>
          <p:nvSpPr>
            <p:cNvPr id="41" name="object 41"/>
            <p:cNvSpPr/>
            <p:nvPr/>
          </p:nvSpPr>
          <p:spPr>
            <a:xfrm>
              <a:off x="6023298" y="4465073"/>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endParaRPr/>
            </a:p>
          </p:txBody>
        </p:sp>
        <p:sp>
          <p:nvSpPr>
            <p:cNvPr id="42" name="object 42"/>
            <p:cNvSpPr/>
            <p:nvPr/>
          </p:nvSpPr>
          <p:spPr>
            <a:xfrm>
              <a:off x="6523459" y="4465073"/>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endParaRPr/>
            </a:p>
          </p:txBody>
        </p:sp>
        <p:sp>
          <p:nvSpPr>
            <p:cNvPr id="43" name="object 43"/>
            <p:cNvSpPr/>
            <p:nvPr/>
          </p:nvSpPr>
          <p:spPr>
            <a:xfrm>
              <a:off x="6013886" y="379790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sp>
          <p:nvSpPr>
            <p:cNvPr id="44" name="object 44"/>
            <p:cNvSpPr/>
            <p:nvPr/>
          </p:nvSpPr>
          <p:spPr>
            <a:xfrm>
              <a:off x="4553369" y="450029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endParaRPr/>
            </a:p>
          </p:txBody>
        </p:sp>
        <p:sp>
          <p:nvSpPr>
            <p:cNvPr id="45" name="object 45"/>
            <p:cNvSpPr/>
            <p:nvPr/>
          </p:nvSpPr>
          <p:spPr>
            <a:xfrm>
              <a:off x="4034091" y="4500290"/>
              <a:ext cx="0" cy="680085"/>
            </a:xfrm>
            <a:custGeom>
              <a:avLst/>
              <a:gdLst/>
              <a:ahLst/>
              <a:cxnLst/>
              <a:rect l="l" t="t" r="r" b="b"/>
              <a:pathLst>
                <a:path h="680085">
                  <a:moveTo>
                    <a:pt x="0" y="0"/>
                  </a:moveTo>
                  <a:lnTo>
                    <a:pt x="0" y="654463"/>
                  </a:lnTo>
                </a:path>
                <a:path h="680085">
                  <a:moveTo>
                    <a:pt x="0" y="654463"/>
                  </a:moveTo>
                  <a:lnTo>
                    <a:pt x="0" y="679863"/>
                  </a:lnTo>
                </a:path>
              </a:pathLst>
            </a:custGeom>
            <a:ln w="23180">
              <a:solidFill>
                <a:srgbClr val="000000"/>
              </a:solidFill>
            </a:ln>
          </p:spPr>
          <p:txBody>
            <a:bodyPr wrap="square" lIns="0" tIns="0" rIns="0" bIns="0" rtlCol="0"/>
            <a:lstStyle/>
            <a:p>
              <a:endParaRPr/>
            </a:p>
          </p:txBody>
        </p:sp>
        <p:sp>
          <p:nvSpPr>
            <p:cNvPr id="46" name="object 46"/>
            <p:cNvSpPr/>
            <p:nvPr/>
          </p:nvSpPr>
          <p:spPr>
            <a:xfrm>
              <a:off x="4536427" y="4474895"/>
              <a:ext cx="233679" cy="705485"/>
            </a:xfrm>
            <a:custGeom>
              <a:avLst/>
              <a:gdLst/>
              <a:ahLst/>
              <a:cxnLst/>
              <a:rect l="l" t="t" r="r" b="b"/>
              <a:pathLst>
                <a:path w="233679" h="705485">
                  <a:moveTo>
                    <a:pt x="233413" y="679869"/>
                  </a:moveTo>
                  <a:lnTo>
                    <a:pt x="0" y="679869"/>
                  </a:lnTo>
                  <a:lnTo>
                    <a:pt x="0" y="705269"/>
                  </a:lnTo>
                  <a:lnTo>
                    <a:pt x="233413" y="705269"/>
                  </a:lnTo>
                  <a:lnTo>
                    <a:pt x="233413" y="679869"/>
                  </a:lnTo>
                  <a:close/>
                </a:path>
                <a:path w="233679" h="705485">
                  <a:moveTo>
                    <a:pt x="233413" y="0"/>
                  </a:moveTo>
                  <a:lnTo>
                    <a:pt x="0" y="0"/>
                  </a:lnTo>
                  <a:lnTo>
                    <a:pt x="0" y="25400"/>
                  </a:lnTo>
                  <a:lnTo>
                    <a:pt x="233413" y="25400"/>
                  </a:lnTo>
                  <a:lnTo>
                    <a:pt x="233413" y="0"/>
                  </a:lnTo>
                  <a:close/>
                </a:path>
              </a:pathLst>
            </a:custGeom>
            <a:solidFill>
              <a:srgbClr val="000000"/>
            </a:solidFill>
          </p:spPr>
          <p:txBody>
            <a:bodyPr wrap="square" lIns="0" tIns="0" rIns="0" bIns="0" rtlCol="0"/>
            <a:lstStyle/>
            <a:p>
              <a:endParaRPr/>
            </a:p>
          </p:txBody>
        </p:sp>
        <p:sp>
          <p:nvSpPr>
            <p:cNvPr id="47" name="object 47"/>
            <p:cNvSpPr/>
            <p:nvPr/>
          </p:nvSpPr>
          <p:spPr>
            <a:xfrm>
              <a:off x="4034091" y="4474890"/>
              <a:ext cx="0" cy="25400"/>
            </a:xfrm>
            <a:custGeom>
              <a:avLst/>
              <a:gdLst/>
              <a:ahLst/>
              <a:cxnLst/>
              <a:rect l="l" t="t" r="r" b="b"/>
              <a:pathLst>
                <a:path h="25400">
                  <a:moveTo>
                    <a:pt x="0" y="0"/>
                  </a:moveTo>
                  <a:lnTo>
                    <a:pt x="0" y="25400"/>
                  </a:lnTo>
                </a:path>
              </a:pathLst>
            </a:custGeom>
            <a:ln w="23180">
              <a:solidFill>
                <a:srgbClr val="000000"/>
              </a:solidFill>
            </a:ln>
          </p:spPr>
          <p:txBody>
            <a:bodyPr wrap="square" lIns="0" tIns="0" rIns="0" bIns="0" rtlCol="0"/>
            <a:lstStyle/>
            <a:p>
              <a:endParaRPr/>
            </a:p>
          </p:txBody>
        </p:sp>
        <p:sp>
          <p:nvSpPr>
            <p:cNvPr id="48" name="object 48"/>
            <p:cNvSpPr/>
            <p:nvPr/>
          </p:nvSpPr>
          <p:spPr>
            <a:xfrm>
              <a:off x="617295" y="3820920"/>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00F900"/>
              </a:solidFill>
            </a:ln>
          </p:spPr>
          <p:txBody>
            <a:bodyPr wrap="square" lIns="0" tIns="0" rIns="0" bIns="0" rtlCol="0"/>
            <a:lstStyle/>
            <a:p>
              <a:endParaRPr/>
            </a:p>
          </p:txBody>
        </p:sp>
        <p:sp>
          <p:nvSpPr>
            <p:cNvPr id="49" name="object 49"/>
            <p:cNvSpPr/>
            <p:nvPr/>
          </p:nvSpPr>
          <p:spPr>
            <a:xfrm>
              <a:off x="303071" y="3820920"/>
              <a:ext cx="0" cy="658495"/>
            </a:xfrm>
            <a:custGeom>
              <a:avLst/>
              <a:gdLst/>
              <a:ahLst/>
              <a:cxnLst/>
              <a:rect l="l" t="t" r="r" b="b"/>
              <a:pathLst>
                <a:path h="658495">
                  <a:moveTo>
                    <a:pt x="0" y="0"/>
                  </a:moveTo>
                  <a:lnTo>
                    <a:pt x="0" y="658365"/>
                  </a:lnTo>
                </a:path>
              </a:pathLst>
            </a:custGeom>
            <a:ln w="25007">
              <a:solidFill>
                <a:srgbClr val="00F900"/>
              </a:solidFill>
            </a:ln>
          </p:spPr>
          <p:txBody>
            <a:bodyPr wrap="square" lIns="0" tIns="0" rIns="0" bIns="0" rtlCol="0"/>
            <a:lstStyle/>
            <a:p>
              <a:endParaRPr/>
            </a:p>
          </p:txBody>
        </p:sp>
        <p:sp>
          <p:nvSpPr>
            <p:cNvPr id="50" name="object 50"/>
            <p:cNvSpPr/>
            <p:nvPr/>
          </p:nvSpPr>
          <p:spPr>
            <a:xfrm>
              <a:off x="590123" y="4479286"/>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51" name="object 51"/>
            <p:cNvSpPr/>
            <p:nvPr/>
          </p:nvSpPr>
          <p:spPr>
            <a:xfrm>
              <a:off x="303071" y="4479286"/>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52" name="object 52"/>
            <p:cNvSpPr/>
            <p:nvPr/>
          </p:nvSpPr>
          <p:spPr>
            <a:xfrm>
              <a:off x="590123" y="3795520"/>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53" name="object 53"/>
            <p:cNvSpPr/>
            <p:nvPr/>
          </p:nvSpPr>
          <p:spPr>
            <a:xfrm>
              <a:off x="303071" y="3795520"/>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54" name="object 54"/>
            <p:cNvSpPr/>
            <p:nvPr/>
          </p:nvSpPr>
          <p:spPr>
            <a:xfrm>
              <a:off x="12643042" y="3903002"/>
              <a:ext cx="157480" cy="658495"/>
            </a:xfrm>
            <a:custGeom>
              <a:avLst/>
              <a:gdLst/>
              <a:ahLst/>
              <a:cxnLst/>
              <a:rect l="l" t="t" r="r" b="b"/>
              <a:pathLst>
                <a:path w="157479" h="658495">
                  <a:moveTo>
                    <a:pt x="157023" y="0"/>
                  </a:moveTo>
                  <a:lnTo>
                    <a:pt x="157023" y="658366"/>
                  </a:lnTo>
                </a:path>
                <a:path w="157479" h="658495">
                  <a:moveTo>
                    <a:pt x="0" y="0"/>
                  </a:moveTo>
                  <a:lnTo>
                    <a:pt x="0" y="658366"/>
                  </a:lnTo>
                </a:path>
              </a:pathLst>
            </a:custGeom>
            <a:ln w="25400">
              <a:solidFill>
                <a:srgbClr val="FF2800"/>
              </a:solidFill>
            </a:ln>
          </p:spPr>
          <p:txBody>
            <a:bodyPr wrap="square" lIns="0" tIns="0" rIns="0" bIns="0" rtlCol="0"/>
            <a:lstStyle/>
            <a:p>
              <a:endParaRPr/>
            </a:p>
          </p:txBody>
        </p:sp>
        <p:sp>
          <p:nvSpPr>
            <p:cNvPr id="55" name="object 55"/>
            <p:cNvSpPr/>
            <p:nvPr/>
          </p:nvSpPr>
          <p:spPr>
            <a:xfrm>
              <a:off x="12323927" y="3903002"/>
              <a:ext cx="0" cy="658495"/>
            </a:xfrm>
            <a:custGeom>
              <a:avLst/>
              <a:gdLst/>
              <a:ahLst/>
              <a:cxnLst/>
              <a:rect l="l" t="t" r="r" b="b"/>
              <a:pathLst>
                <a:path h="658495">
                  <a:moveTo>
                    <a:pt x="0" y="0"/>
                  </a:moveTo>
                  <a:lnTo>
                    <a:pt x="0" y="658366"/>
                  </a:lnTo>
                </a:path>
              </a:pathLst>
            </a:custGeom>
            <a:ln w="15227">
              <a:solidFill>
                <a:srgbClr val="FF2800"/>
              </a:solidFill>
            </a:ln>
          </p:spPr>
          <p:txBody>
            <a:bodyPr wrap="square" lIns="0" tIns="0" rIns="0" bIns="0" rtlCol="0"/>
            <a:lstStyle/>
            <a:p>
              <a:endParaRPr/>
            </a:p>
          </p:txBody>
        </p:sp>
        <p:sp>
          <p:nvSpPr>
            <p:cNvPr id="56" name="object 56"/>
            <p:cNvSpPr/>
            <p:nvPr/>
          </p:nvSpPr>
          <p:spPr>
            <a:xfrm>
              <a:off x="12628053" y="4561368"/>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57" name="object 57"/>
            <p:cNvSpPr/>
            <p:nvPr/>
          </p:nvSpPr>
          <p:spPr>
            <a:xfrm>
              <a:off x="12323927" y="4561368"/>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58" name="object 58"/>
            <p:cNvSpPr/>
            <p:nvPr/>
          </p:nvSpPr>
          <p:spPr>
            <a:xfrm>
              <a:off x="12628053" y="38776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59" name="object 59"/>
            <p:cNvSpPr/>
            <p:nvPr/>
          </p:nvSpPr>
          <p:spPr>
            <a:xfrm>
              <a:off x="12323927" y="3877602"/>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60" name="object 60"/>
            <p:cNvSpPr/>
            <p:nvPr/>
          </p:nvSpPr>
          <p:spPr>
            <a:xfrm>
              <a:off x="711200" y="4133849"/>
              <a:ext cx="3098800" cy="0"/>
            </a:xfrm>
            <a:custGeom>
              <a:avLst/>
              <a:gdLst/>
              <a:ahLst/>
              <a:cxnLst/>
              <a:rect l="l" t="t" r="r" b="b"/>
              <a:pathLst>
                <a:path w="3098800">
                  <a:moveTo>
                    <a:pt x="3098800" y="0"/>
                  </a:moveTo>
                  <a:lnTo>
                    <a:pt x="0" y="0"/>
                  </a:lnTo>
                </a:path>
              </a:pathLst>
            </a:custGeom>
            <a:ln w="38100">
              <a:solidFill>
                <a:srgbClr val="000000"/>
              </a:solidFill>
            </a:ln>
          </p:spPr>
          <p:txBody>
            <a:bodyPr wrap="square" lIns="0" tIns="0" rIns="0" bIns="0" rtlCol="0"/>
            <a:lstStyle/>
            <a:p>
              <a:endParaRPr/>
            </a:p>
          </p:txBody>
        </p:sp>
        <p:sp>
          <p:nvSpPr>
            <p:cNvPr id="61" name="object 61"/>
            <p:cNvSpPr/>
            <p:nvPr/>
          </p:nvSpPr>
          <p:spPr>
            <a:xfrm>
              <a:off x="3768090" y="4050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62" name="object 62"/>
            <p:cNvPicPr/>
            <p:nvPr/>
          </p:nvPicPr>
          <p:blipFill>
            <a:blip r:embed="rId6" cstate="print"/>
            <a:stretch>
              <a:fillRect/>
            </a:stretch>
          </p:blipFill>
          <p:spPr>
            <a:xfrm>
              <a:off x="641350" y="4063999"/>
              <a:ext cx="139700" cy="139700"/>
            </a:xfrm>
            <a:prstGeom prst="rect">
              <a:avLst/>
            </a:prstGeom>
          </p:spPr>
        </p:pic>
        <p:sp>
          <p:nvSpPr>
            <p:cNvPr id="63" name="object 63"/>
            <p:cNvSpPr/>
            <p:nvPr/>
          </p:nvSpPr>
          <p:spPr>
            <a:xfrm>
              <a:off x="1689099" y="4845050"/>
              <a:ext cx="2171700" cy="0"/>
            </a:xfrm>
            <a:custGeom>
              <a:avLst/>
              <a:gdLst/>
              <a:ahLst/>
              <a:cxnLst/>
              <a:rect l="l" t="t" r="r" b="b"/>
              <a:pathLst>
                <a:path w="2171700">
                  <a:moveTo>
                    <a:pt x="2171700" y="0"/>
                  </a:moveTo>
                  <a:lnTo>
                    <a:pt x="0" y="0"/>
                  </a:lnTo>
                </a:path>
              </a:pathLst>
            </a:custGeom>
            <a:ln w="38100">
              <a:solidFill>
                <a:srgbClr val="000000"/>
              </a:solidFill>
            </a:ln>
          </p:spPr>
          <p:txBody>
            <a:bodyPr wrap="square" lIns="0" tIns="0" rIns="0" bIns="0" rtlCol="0"/>
            <a:lstStyle/>
            <a:p>
              <a:endParaRPr/>
            </a:p>
          </p:txBody>
        </p:sp>
        <p:sp>
          <p:nvSpPr>
            <p:cNvPr id="64" name="object 64"/>
            <p:cNvSpPr/>
            <p:nvPr/>
          </p:nvSpPr>
          <p:spPr>
            <a:xfrm>
              <a:off x="3818890" y="47612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65" name="object 65"/>
            <p:cNvPicPr/>
            <p:nvPr/>
          </p:nvPicPr>
          <p:blipFill>
            <a:blip r:embed="rId7" cstate="print"/>
            <a:stretch>
              <a:fillRect/>
            </a:stretch>
          </p:blipFill>
          <p:spPr>
            <a:xfrm>
              <a:off x="1619249" y="4775199"/>
              <a:ext cx="139700" cy="139700"/>
            </a:xfrm>
            <a:prstGeom prst="rect">
              <a:avLst/>
            </a:prstGeom>
          </p:spPr>
        </p:pic>
        <p:sp>
          <p:nvSpPr>
            <p:cNvPr id="66" name="object 66"/>
            <p:cNvSpPr/>
            <p:nvPr/>
          </p:nvSpPr>
          <p:spPr>
            <a:xfrm>
              <a:off x="6651200" y="4131584"/>
              <a:ext cx="3560445" cy="12700"/>
            </a:xfrm>
            <a:custGeom>
              <a:avLst/>
              <a:gdLst/>
              <a:ahLst/>
              <a:cxnLst/>
              <a:rect l="l" t="t" r="r" b="b"/>
              <a:pathLst>
                <a:path w="3560445" h="12700">
                  <a:moveTo>
                    <a:pt x="3560218" y="0"/>
                  </a:moveTo>
                  <a:lnTo>
                    <a:pt x="0" y="12167"/>
                  </a:lnTo>
                </a:path>
              </a:pathLst>
            </a:custGeom>
            <a:ln w="38100">
              <a:solidFill>
                <a:srgbClr val="000000"/>
              </a:solidFill>
            </a:ln>
          </p:spPr>
          <p:txBody>
            <a:bodyPr wrap="square" lIns="0" tIns="0" rIns="0" bIns="0" rtlCol="0"/>
            <a:lstStyle/>
            <a:p>
              <a:endParaRPr/>
            </a:p>
          </p:txBody>
        </p:sp>
        <p:sp>
          <p:nvSpPr>
            <p:cNvPr id="67" name="object 67"/>
            <p:cNvSpPr/>
            <p:nvPr/>
          </p:nvSpPr>
          <p:spPr>
            <a:xfrm>
              <a:off x="10169224" y="4047907"/>
              <a:ext cx="168275" cy="167640"/>
            </a:xfrm>
            <a:custGeom>
              <a:avLst/>
              <a:gdLst/>
              <a:ahLst/>
              <a:cxnLst/>
              <a:rect l="l" t="t" r="r" b="b"/>
              <a:pathLst>
                <a:path w="168275" h="167639">
                  <a:moveTo>
                    <a:pt x="0" y="0"/>
                  </a:moveTo>
                  <a:lnTo>
                    <a:pt x="42195" y="83676"/>
                  </a:lnTo>
                  <a:lnTo>
                    <a:pt x="572" y="167638"/>
                  </a:lnTo>
                  <a:lnTo>
                    <a:pt x="167924" y="83247"/>
                  </a:lnTo>
                  <a:lnTo>
                    <a:pt x="0" y="0"/>
                  </a:lnTo>
                  <a:close/>
                </a:path>
              </a:pathLst>
            </a:custGeom>
            <a:solidFill>
              <a:srgbClr val="000000"/>
            </a:solidFill>
          </p:spPr>
          <p:txBody>
            <a:bodyPr wrap="square" lIns="0" tIns="0" rIns="0" bIns="0" rtlCol="0"/>
            <a:lstStyle/>
            <a:p>
              <a:endParaRPr/>
            </a:p>
          </p:txBody>
        </p:sp>
        <p:pic>
          <p:nvPicPr>
            <p:cNvPr id="68" name="object 68"/>
            <p:cNvPicPr/>
            <p:nvPr/>
          </p:nvPicPr>
          <p:blipFill>
            <a:blip r:embed="rId8" cstate="print"/>
            <a:stretch>
              <a:fillRect/>
            </a:stretch>
          </p:blipFill>
          <p:spPr>
            <a:xfrm>
              <a:off x="6581350" y="4073902"/>
              <a:ext cx="139699" cy="139699"/>
            </a:xfrm>
            <a:prstGeom prst="rect">
              <a:avLst/>
            </a:prstGeom>
          </p:spPr>
        </p:pic>
        <p:sp>
          <p:nvSpPr>
            <p:cNvPr id="69" name="object 69"/>
            <p:cNvSpPr/>
            <p:nvPr/>
          </p:nvSpPr>
          <p:spPr>
            <a:xfrm>
              <a:off x="12329014" y="3219236"/>
              <a:ext cx="471170" cy="658495"/>
            </a:xfrm>
            <a:custGeom>
              <a:avLst/>
              <a:gdLst/>
              <a:ahLst/>
              <a:cxnLst/>
              <a:rect l="l" t="t" r="r" b="b"/>
              <a:pathLst>
                <a:path w="471170" h="658495">
                  <a:moveTo>
                    <a:pt x="471051" y="0"/>
                  </a:moveTo>
                  <a:lnTo>
                    <a:pt x="471051" y="658365"/>
                  </a:lnTo>
                </a:path>
                <a:path w="471170" h="658495">
                  <a:moveTo>
                    <a:pt x="314028" y="0"/>
                  </a:moveTo>
                  <a:lnTo>
                    <a:pt x="314028" y="658365"/>
                  </a:lnTo>
                </a:path>
                <a:path w="471170" h="658495">
                  <a:moveTo>
                    <a:pt x="0" y="0"/>
                  </a:moveTo>
                  <a:lnTo>
                    <a:pt x="0" y="658365"/>
                  </a:lnTo>
                </a:path>
              </a:pathLst>
            </a:custGeom>
            <a:ln w="25400">
              <a:solidFill>
                <a:srgbClr val="FF2800"/>
              </a:solidFill>
            </a:ln>
          </p:spPr>
          <p:txBody>
            <a:bodyPr wrap="square" lIns="0" tIns="0" rIns="0" bIns="0" rtlCol="0"/>
            <a:lstStyle/>
            <a:p>
              <a:endParaRPr/>
            </a:p>
          </p:txBody>
        </p:sp>
        <p:sp>
          <p:nvSpPr>
            <p:cNvPr id="70" name="object 70"/>
            <p:cNvSpPr/>
            <p:nvPr/>
          </p:nvSpPr>
          <p:spPr>
            <a:xfrm>
              <a:off x="12628053" y="387760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71" name="object 71"/>
            <p:cNvSpPr/>
            <p:nvPr/>
          </p:nvSpPr>
          <p:spPr>
            <a:xfrm>
              <a:off x="12323927" y="3877602"/>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72" name="object 72"/>
            <p:cNvSpPr/>
            <p:nvPr/>
          </p:nvSpPr>
          <p:spPr>
            <a:xfrm>
              <a:off x="12316314" y="3206536"/>
              <a:ext cx="496570" cy="0"/>
            </a:xfrm>
            <a:custGeom>
              <a:avLst/>
              <a:gdLst/>
              <a:ahLst/>
              <a:cxnLst/>
              <a:rect l="l" t="t" r="r" b="b"/>
              <a:pathLst>
                <a:path w="496570">
                  <a:moveTo>
                    <a:pt x="0" y="0"/>
                  </a:moveTo>
                  <a:lnTo>
                    <a:pt x="496451" y="0"/>
                  </a:lnTo>
                </a:path>
              </a:pathLst>
            </a:custGeom>
            <a:ln w="25400">
              <a:solidFill>
                <a:srgbClr val="FF2800"/>
              </a:solidFill>
            </a:ln>
          </p:spPr>
          <p:txBody>
            <a:bodyPr wrap="square" lIns="0" tIns="0" rIns="0" bIns="0" rtlCol="0"/>
            <a:lstStyle/>
            <a:p>
              <a:endParaRPr/>
            </a:p>
          </p:txBody>
        </p:sp>
        <p:sp>
          <p:nvSpPr>
            <p:cNvPr id="73" name="object 73"/>
            <p:cNvSpPr/>
            <p:nvPr/>
          </p:nvSpPr>
          <p:spPr>
            <a:xfrm>
              <a:off x="617295" y="3125758"/>
              <a:ext cx="157480" cy="658495"/>
            </a:xfrm>
            <a:custGeom>
              <a:avLst/>
              <a:gdLst/>
              <a:ahLst/>
              <a:cxnLst/>
              <a:rect l="l" t="t" r="r" b="b"/>
              <a:pathLst>
                <a:path w="157479" h="658495">
                  <a:moveTo>
                    <a:pt x="157023" y="504905"/>
                  </a:moveTo>
                  <a:lnTo>
                    <a:pt x="157023" y="658365"/>
                  </a:lnTo>
                </a:path>
                <a:path w="157479" h="658495">
                  <a:moveTo>
                    <a:pt x="157023" y="0"/>
                  </a:moveTo>
                  <a:lnTo>
                    <a:pt x="157023" y="416740"/>
                  </a:lnTo>
                </a:path>
                <a:path w="157479" h="658495">
                  <a:moveTo>
                    <a:pt x="0" y="504905"/>
                  </a:moveTo>
                  <a:lnTo>
                    <a:pt x="0" y="658365"/>
                  </a:lnTo>
                </a:path>
                <a:path w="157479" h="658495">
                  <a:moveTo>
                    <a:pt x="0" y="0"/>
                  </a:moveTo>
                  <a:lnTo>
                    <a:pt x="0" y="416740"/>
                  </a:lnTo>
                </a:path>
              </a:pathLst>
            </a:custGeom>
            <a:ln w="25400">
              <a:solidFill>
                <a:srgbClr val="00F900"/>
              </a:solidFill>
            </a:ln>
          </p:spPr>
          <p:txBody>
            <a:bodyPr wrap="square" lIns="0" tIns="0" rIns="0" bIns="0" rtlCol="0"/>
            <a:lstStyle/>
            <a:p>
              <a:endParaRPr/>
            </a:p>
          </p:txBody>
        </p:sp>
        <p:sp>
          <p:nvSpPr>
            <p:cNvPr id="74" name="object 74"/>
            <p:cNvSpPr/>
            <p:nvPr/>
          </p:nvSpPr>
          <p:spPr>
            <a:xfrm>
              <a:off x="303267" y="3125758"/>
              <a:ext cx="0" cy="658495"/>
            </a:xfrm>
            <a:custGeom>
              <a:avLst/>
              <a:gdLst/>
              <a:ahLst/>
              <a:cxnLst/>
              <a:rect l="l" t="t" r="r" b="b"/>
              <a:pathLst>
                <a:path h="658495">
                  <a:moveTo>
                    <a:pt x="0" y="0"/>
                  </a:moveTo>
                  <a:lnTo>
                    <a:pt x="0" y="658365"/>
                  </a:lnTo>
                </a:path>
              </a:pathLst>
            </a:custGeom>
            <a:ln w="25400">
              <a:solidFill>
                <a:srgbClr val="00F900"/>
              </a:solidFill>
            </a:ln>
          </p:spPr>
          <p:txBody>
            <a:bodyPr wrap="square" lIns="0" tIns="0" rIns="0" bIns="0" rtlCol="0"/>
            <a:lstStyle/>
            <a:p>
              <a:endParaRPr/>
            </a:p>
          </p:txBody>
        </p:sp>
        <p:sp>
          <p:nvSpPr>
            <p:cNvPr id="75" name="object 75"/>
            <p:cNvSpPr/>
            <p:nvPr/>
          </p:nvSpPr>
          <p:spPr>
            <a:xfrm>
              <a:off x="303071" y="3784124"/>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76" name="object 76"/>
            <p:cNvSpPr/>
            <p:nvPr/>
          </p:nvSpPr>
          <p:spPr>
            <a:xfrm>
              <a:off x="590123" y="3784124"/>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77" name="object 77"/>
            <p:cNvSpPr/>
            <p:nvPr/>
          </p:nvSpPr>
          <p:spPr>
            <a:xfrm>
              <a:off x="290567" y="3113058"/>
              <a:ext cx="496570" cy="0"/>
            </a:xfrm>
            <a:custGeom>
              <a:avLst/>
              <a:gdLst/>
              <a:ahLst/>
              <a:cxnLst/>
              <a:rect l="l" t="t" r="r" b="b"/>
              <a:pathLst>
                <a:path w="496570">
                  <a:moveTo>
                    <a:pt x="0" y="0"/>
                  </a:moveTo>
                  <a:lnTo>
                    <a:pt x="496451" y="0"/>
                  </a:lnTo>
                </a:path>
              </a:pathLst>
            </a:custGeom>
            <a:ln w="25400">
              <a:solidFill>
                <a:srgbClr val="00F900"/>
              </a:solidFill>
            </a:ln>
          </p:spPr>
          <p:txBody>
            <a:bodyPr wrap="square" lIns="0" tIns="0" rIns="0" bIns="0" rtlCol="0"/>
            <a:lstStyle/>
            <a:p>
              <a:endParaRPr/>
            </a:p>
          </p:txBody>
        </p:sp>
        <p:sp>
          <p:nvSpPr>
            <p:cNvPr id="78" name="object 78"/>
            <p:cNvSpPr/>
            <p:nvPr/>
          </p:nvSpPr>
          <p:spPr>
            <a:xfrm>
              <a:off x="4553369" y="3827920"/>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endParaRPr/>
            </a:p>
          </p:txBody>
        </p:sp>
        <p:sp>
          <p:nvSpPr>
            <p:cNvPr id="79" name="object 79"/>
            <p:cNvSpPr/>
            <p:nvPr/>
          </p:nvSpPr>
          <p:spPr>
            <a:xfrm>
              <a:off x="4034091" y="3827920"/>
              <a:ext cx="0" cy="654685"/>
            </a:xfrm>
            <a:custGeom>
              <a:avLst/>
              <a:gdLst/>
              <a:ahLst/>
              <a:cxnLst/>
              <a:rect l="l" t="t" r="r" b="b"/>
              <a:pathLst>
                <a:path h="654685">
                  <a:moveTo>
                    <a:pt x="0" y="0"/>
                  </a:moveTo>
                  <a:lnTo>
                    <a:pt x="0" y="654463"/>
                  </a:lnTo>
                </a:path>
              </a:pathLst>
            </a:custGeom>
            <a:ln w="23180">
              <a:solidFill>
                <a:srgbClr val="000000"/>
              </a:solidFill>
            </a:ln>
          </p:spPr>
          <p:txBody>
            <a:bodyPr wrap="square" lIns="0" tIns="0" rIns="0" bIns="0" rtlCol="0"/>
            <a:lstStyle/>
            <a:p>
              <a:endParaRPr/>
            </a:p>
          </p:txBody>
        </p:sp>
        <p:sp>
          <p:nvSpPr>
            <p:cNvPr id="80" name="object 80"/>
            <p:cNvSpPr/>
            <p:nvPr/>
          </p:nvSpPr>
          <p:spPr>
            <a:xfrm>
              <a:off x="4536431" y="4482384"/>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endParaRPr/>
            </a:p>
          </p:txBody>
        </p:sp>
        <p:sp>
          <p:nvSpPr>
            <p:cNvPr id="81" name="object 81"/>
            <p:cNvSpPr/>
            <p:nvPr/>
          </p:nvSpPr>
          <p:spPr>
            <a:xfrm>
              <a:off x="4034091" y="3802520"/>
              <a:ext cx="0" cy="705485"/>
            </a:xfrm>
            <a:custGeom>
              <a:avLst/>
              <a:gdLst/>
              <a:ahLst/>
              <a:cxnLst/>
              <a:rect l="l" t="t" r="r" b="b"/>
              <a:pathLst>
                <a:path h="705485">
                  <a:moveTo>
                    <a:pt x="0" y="679863"/>
                  </a:moveTo>
                  <a:lnTo>
                    <a:pt x="0" y="705263"/>
                  </a:lnTo>
                </a:path>
                <a:path h="705485">
                  <a:moveTo>
                    <a:pt x="0" y="0"/>
                  </a:moveTo>
                  <a:lnTo>
                    <a:pt x="0" y="25400"/>
                  </a:lnTo>
                </a:path>
              </a:pathLst>
            </a:custGeom>
            <a:ln w="23180">
              <a:solidFill>
                <a:srgbClr val="000000"/>
              </a:solidFill>
            </a:ln>
          </p:spPr>
          <p:txBody>
            <a:bodyPr wrap="square" lIns="0" tIns="0" rIns="0" bIns="0" rtlCol="0"/>
            <a:lstStyle/>
            <a:p>
              <a:endParaRPr/>
            </a:p>
          </p:txBody>
        </p:sp>
        <p:sp>
          <p:nvSpPr>
            <p:cNvPr id="82" name="object 82"/>
            <p:cNvSpPr/>
            <p:nvPr/>
          </p:nvSpPr>
          <p:spPr>
            <a:xfrm>
              <a:off x="4536431" y="3802520"/>
              <a:ext cx="233679" cy="25400"/>
            </a:xfrm>
            <a:custGeom>
              <a:avLst/>
              <a:gdLst/>
              <a:ahLst/>
              <a:cxnLst/>
              <a:rect l="l" t="t" r="r" b="b"/>
              <a:pathLst>
                <a:path w="233679" h="25400">
                  <a:moveTo>
                    <a:pt x="0" y="25400"/>
                  </a:moveTo>
                  <a:lnTo>
                    <a:pt x="233421" y="25400"/>
                  </a:lnTo>
                  <a:lnTo>
                    <a:pt x="233421" y="0"/>
                  </a:lnTo>
                  <a:lnTo>
                    <a:pt x="0" y="0"/>
                  </a:lnTo>
                  <a:lnTo>
                    <a:pt x="0" y="25400"/>
                  </a:lnTo>
                  <a:close/>
                </a:path>
              </a:pathLst>
            </a:custGeom>
            <a:solidFill>
              <a:srgbClr val="000000"/>
            </a:solidFill>
          </p:spPr>
          <p:txBody>
            <a:bodyPr wrap="square" lIns="0" tIns="0" rIns="0" bIns="0" rtlCol="0"/>
            <a:lstStyle/>
            <a:p>
              <a:endParaRPr/>
            </a:p>
          </p:txBody>
        </p:sp>
        <p:sp>
          <p:nvSpPr>
            <p:cNvPr id="83" name="object 83"/>
            <p:cNvSpPr/>
            <p:nvPr/>
          </p:nvSpPr>
          <p:spPr>
            <a:xfrm>
              <a:off x="711200" y="3448049"/>
              <a:ext cx="3136900" cy="0"/>
            </a:xfrm>
            <a:custGeom>
              <a:avLst/>
              <a:gdLst/>
              <a:ahLst/>
              <a:cxnLst/>
              <a:rect l="l" t="t" r="r" b="b"/>
              <a:pathLst>
                <a:path w="3136900">
                  <a:moveTo>
                    <a:pt x="3136900" y="0"/>
                  </a:moveTo>
                  <a:lnTo>
                    <a:pt x="0" y="0"/>
                  </a:lnTo>
                </a:path>
              </a:pathLst>
            </a:custGeom>
            <a:ln w="38100">
              <a:solidFill>
                <a:srgbClr val="000000"/>
              </a:solidFill>
            </a:ln>
          </p:spPr>
          <p:txBody>
            <a:bodyPr wrap="square" lIns="0" tIns="0" rIns="0" bIns="0" rtlCol="0"/>
            <a:lstStyle/>
            <a:p>
              <a:endParaRPr/>
            </a:p>
          </p:txBody>
        </p:sp>
        <p:sp>
          <p:nvSpPr>
            <p:cNvPr id="84" name="object 84"/>
            <p:cNvSpPr/>
            <p:nvPr/>
          </p:nvSpPr>
          <p:spPr>
            <a:xfrm>
              <a:off x="3806190" y="33642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85" name="object 85"/>
            <p:cNvPicPr/>
            <p:nvPr/>
          </p:nvPicPr>
          <p:blipFill>
            <a:blip r:embed="rId6" cstate="print"/>
            <a:stretch>
              <a:fillRect/>
            </a:stretch>
          </p:blipFill>
          <p:spPr>
            <a:xfrm>
              <a:off x="641350" y="3378199"/>
              <a:ext cx="139700" cy="139700"/>
            </a:xfrm>
            <a:prstGeom prst="rect">
              <a:avLst/>
            </a:prstGeom>
          </p:spPr>
        </p:pic>
        <p:sp>
          <p:nvSpPr>
            <p:cNvPr id="86" name="object 86"/>
            <p:cNvSpPr/>
            <p:nvPr/>
          </p:nvSpPr>
          <p:spPr>
            <a:xfrm>
              <a:off x="4656852" y="3460261"/>
              <a:ext cx="7555865" cy="4445"/>
            </a:xfrm>
            <a:custGeom>
              <a:avLst/>
              <a:gdLst/>
              <a:ahLst/>
              <a:cxnLst/>
              <a:rect l="l" t="t" r="r" b="b"/>
              <a:pathLst>
                <a:path w="7555865" h="4445">
                  <a:moveTo>
                    <a:pt x="7555304" y="3915"/>
                  </a:moveTo>
                  <a:lnTo>
                    <a:pt x="0" y="0"/>
                  </a:lnTo>
                </a:path>
              </a:pathLst>
            </a:custGeom>
            <a:ln w="38100">
              <a:solidFill>
                <a:srgbClr val="000000"/>
              </a:solidFill>
            </a:ln>
          </p:spPr>
          <p:txBody>
            <a:bodyPr wrap="square" lIns="0" tIns="0" rIns="0" bIns="0" rtlCol="0"/>
            <a:lstStyle/>
            <a:p>
              <a:endParaRPr/>
            </a:p>
          </p:txBody>
        </p:sp>
        <p:sp>
          <p:nvSpPr>
            <p:cNvPr id="87" name="object 87"/>
            <p:cNvSpPr/>
            <p:nvPr/>
          </p:nvSpPr>
          <p:spPr>
            <a:xfrm>
              <a:off x="12170204" y="3380334"/>
              <a:ext cx="168275" cy="167640"/>
            </a:xfrm>
            <a:custGeom>
              <a:avLst/>
              <a:gdLst/>
              <a:ahLst/>
              <a:cxnLst/>
              <a:rect l="l" t="t" r="r" b="b"/>
              <a:pathLst>
                <a:path w="168275" h="167639">
                  <a:moveTo>
                    <a:pt x="86" y="0"/>
                  </a:moveTo>
                  <a:lnTo>
                    <a:pt x="41920" y="83907"/>
                  </a:lnTo>
                  <a:lnTo>
                    <a:pt x="0" y="167640"/>
                  </a:lnTo>
                  <a:lnTo>
                    <a:pt x="167683" y="83907"/>
                  </a:lnTo>
                  <a:lnTo>
                    <a:pt x="86" y="0"/>
                  </a:lnTo>
                  <a:close/>
                </a:path>
              </a:pathLst>
            </a:custGeom>
            <a:solidFill>
              <a:srgbClr val="000000"/>
            </a:solidFill>
          </p:spPr>
          <p:txBody>
            <a:bodyPr wrap="square" lIns="0" tIns="0" rIns="0" bIns="0" rtlCol="0"/>
            <a:lstStyle/>
            <a:p>
              <a:endParaRPr/>
            </a:p>
          </p:txBody>
        </p:sp>
        <p:pic>
          <p:nvPicPr>
            <p:cNvPr id="88" name="object 88"/>
            <p:cNvPicPr/>
            <p:nvPr/>
          </p:nvPicPr>
          <p:blipFill>
            <a:blip r:embed="rId9" cstate="print"/>
            <a:stretch>
              <a:fillRect/>
            </a:stretch>
          </p:blipFill>
          <p:spPr>
            <a:xfrm>
              <a:off x="4587003" y="3390411"/>
              <a:ext cx="139699" cy="139699"/>
            </a:xfrm>
            <a:prstGeom prst="rect">
              <a:avLst/>
            </a:prstGeom>
          </p:spPr>
        </p:pic>
        <p:sp>
          <p:nvSpPr>
            <p:cNvPr id="89" name="object 89"/>
            <p:cNvSpPr/>
            <p:nvPr/>
          </p:nvSpPr>
          <p:spPr>
            <a:xfrm>
              <a:off x="6544755" y="4494377"/>
              <a:ext cx="203835" cy="654685"/>
            </a:xfrm>
            <a:custGeom>
              <a:avLst/>
              <a:gdLst/>
              <a:ahLst/>
              <a:cxnLst/>
              <a:rect l="l" t="t" r="r" b="b"/>
              <a:pathLst>
                <a:path w="203834" h="654685">
                  <a:moveTo>
                    <a:pt x="203782" y="0"/>
                  </a:moveTo>
                  <a:lnTo>
                    <a:pt x="203782" y="654463"/>
                  </a:lnTo>
                </a:path>
                <a:path w="203834" h="654685">
                  <a:moveTo>
                    <a:pt x="0" y="0"/>
                  </a:moveTo>
                  <a:lnTo>
                    <a:pt x="0" y="654463"/>
                  </a:lnTo>
                </a:path>
              </a:pathLst>
            </a:custGeom>
            <a:ln w="25400">
              <a:solidFill>
                <a:srgbClr val="000000"/>
              </a:solidFill>
            </a:ln>
          </p:spPr>
          <p:txBody>
            <a:bodyPr wrap="square" lIns="0" tIns="0" rIns="0" bIns="0" rtlCol="0"/>
            <a:lstStyle/>
            <a:p>
              <a:endParaRPr/>
            </a:p>
          </p:txBody>
        </p:sp>
        <p:sp>
          <p:nvSpPr>
            <p:cNvPr id="90" name="object 90"/>
            <p:cNvSpPr/>
            <p:nvPr/>
          </p:nvSpPr>
          <p:spPr>
            <a:xfrm>
              <a:off x="6023298" y="4494377"/>
              <a:ext cx="0" cy="680085"/>
            </a:xfrm>
            <a:custGeom>
              <a:avLst/>
              <a:gdLst/>
              <a:ahLst/>
              <a:cxnLst/>
              <a:rect l="l" t="t" r="r" b="b"/>
              <a:pathLst>
                <a:path h="680085">
                  <a:moveTo>
                    <a:pt x="0" y="0"/>
                  </a:moveTo>
                  <a:lnTo>
                    <a:pt x="0" y="654463"/>
                  </a:lnTo>
                </a:path>
                <a:path h="680085">
                  <a:moveTo>
                    <a:pt x="0" y="654463"/>
                  </a:moveTo>
                  <a:lnTo>
                    <a:pt x="0" y="679863"/>
                  </a:lnTo>
                </a:path>
              </a:pathLst>
            </a:custGeom>
            <a:ln w="18822">
              <a:solidFill>
                <a:srgbClr val="000000"/>
              </a:solidFill>
            </a:ln>
          </p:spPr>
          <p:txBody>
            <a:bodyPr wrap="square" lIns="0" tIns="0" rIns="0" bIns="0" rtlCol="0"/>
            <a:lstStyle/>
            <a:p>
              <a:endParaRPr/>
            </a:p>
          </p:txBody>
        </p:sp>
        <p:sp>
          <p:nvSpPr>
            <p:cNvPr id="91" name="object 91"/>
            <p:cNvSpPr/>
            <p:nvPr/>
          </p:nvSpPr>
          <p:spPr>
            <a:xfrm>
              <a:off x="6523459" y="5148841"/>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endParaRPr/>
            </a:p>
          </p:txBody>
        </p:sp>
        <p:sp>
          <p:nvSpPr>
            <p:cNvPr id="92" name="object 92"/>
            <p:cNvSpPr/>
            <p:nvPr/>
          </p:nvSpPr>
          <p:spPr>
            <a:xfrm>
              <a:off x="6023298" y="4468977"/>
              <a:ext cx="0" cy="25400"/>
            </a:xfrm>
            <a:custGeom>
              <a:avLst/>
              <a:gdLst/>
              <a:ahLst/>
              <a:cxnLst/>
              <a:rect l="l" t="t" r="r" b="b"/>
              <a:pathLst>
                <a:path h="25400">
                  <a:moveTo>
                    <a:pt x="0" y="0"/>
                  </a:moveTo>
                  <a:lnTo>
                    <a:pt x="0" y="25400"/>
                  </a:lnTo>
                </a:path>
              </a:pathLst>
            </a:custGeom>
            <a:ln w="18822">
              <a:solidFill>
                <a:srgbClr val="000000"/>
              </a:solidFill>
            </a:ln>
          </p:spPr>
          <p:txBody>
            <a:bodyPr wrap="square" lIns="0" tIns="0" rIns="0" bIns="0" rtlCol="0"/>
            <a:lstStyle/>
            <a:p>
              <a:endParaRPr/>
            </a:p>
          </p:txBody>
        </p:sp>
        <p:sp>
          <p:nvSpPr>
            <p:cNvPr id="93" name="object 93"/>
            <p:cNvSpPr/>
            <p:nvPr/>
          </p:nvSpPr>
          <p:spPr>
            <a:xfrm>
              <a:off x="6523459" y="4468977"/>
              <a:ext cx="238125" cy="25400"/>
            </a:xfrm>
            <a:custGeom>
              <a:avLst/>
              <a:gdLst/>
              <a:ahLst/>
              <a:cxnLst/>
              <a:rect l="l" t="t" r="r" b="b"/>
              <a:pathLst>
                <a:path w="238125" h="25400">
                  <a:moveTo>
                    <a:pt x="0" y="25400"/>
                  </a:moveTo>
                  <a:lnTo>
                    <a:pt x="237778" y="25400"/>
                  </a:lnTo>
                  <a:lnTo>
                    <a:pt x="237778" y="0"/>
                  </a:lnTo>
                  <a:lnTo>
                    <a:pt x="0" y="0"/>
                  </a:lnTo>
                  <a:lnTo>
                    <a:pt x="0" y="25400"/>
                  </a:lnTo>
                  <a:close/>
                </a:path>
              </a:pathLst>
            </a:custGeom>
            <a:solidFill>
              <a:srgbClr val="000000"/>
            </a:solidFill>
          </p:spPr>
          <p:txBody>
            <a:bodyPr wrap="square" lIns="0" tIns="0" rIns="0" bIns="0" rtlCol="0"/>
            <a:lstStyle/>
            <a:p>
              <a:endParaRPr/>
            </a:p>
          </p:txBody>
        </p:sp>
      </p:grpSp>
      <p:sp>
        <p:nvSpPr>
          <p:cNvPr id="94" name="object 94"/>
          <p:cNvSpPr txBox="1"/>
          <p:nvPr/>
        </p:nvSpPr>
        <p:spPr>
          <a:xfrm>
            <a:off x="4973991" y="3667369"/>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86</a:t>
            </a:r>
            <a:endParaRPr sz="2109">
              <a:latin typeface="Arial MT"/>
              <a:cs typeface="Arial MT"/>
            </a:endParaRPr>
          </a:p>
        </p:txBody>
      </p:sp>
      <p:sp>
        <p:nvSpPr>
          <p:cNvPr id="95" name="object 95"/>
          <p:cNvSpPr txBox="1"/>
          <p:nvPr/>
        </p:nvSpPr>
        <p:spPr>
          <a:xfrm>
            <a:off x="4288613" y="2754888"/>
            <a:ext cx="267891" cy="1277529"/>
          </a:xfrm>
          <a:prstGeom prst="rect">
            <a:avLst/>
          </a:prstGeom>
        </p:spPr>
        <p:txBody>
          <a:bodyPr vert="horz" wrap="square" lIns="0" tIns="0" rIns="0" bIns="0" rtlCol="0">
            <a:spAutoFit/>
          </a:bodyPr>
          <a:lstStyle/>
          <a:p>
            <a:pPr marL="63845">
              <a:lnSpc>
                <a:spcPts val="2358"/>
              </a:lnSpc>
            </a:pPr>
            <a:r>
              <a:rPr sz="2109" spc="-35" dirty="0">
                <a:latin typeface="Arial MT"/>
                <a:cs typeface="Arial MT"/>
              </a:rPr>
              <a:t>2</a:t>
            </a:r>
            <a:endParaRPr sz="2109">
              <a:latin typeface="Arial MT"/>
              <a:cs typeface="Arial MT"/>
            </a:endParaRPr>
          </a:p>
          <a:p>
            <a:pPr marL="63845">
              <a:spcBef>
                <a:spcPts val="1252"/>
              </a:spcBef>
            </a:pPr>
            <a:r>
              <a:rPr sz="2109" spc="-35" dirty="0">
                <a:latin typeface="Arial MT"/>
                <a:cs typeface="Arial MT"/>
              </a:rPr>
              <a:t>2</a:t>
            </a:r>
            <a:endParaRPr sz="2109">
              <a:latin typeface="Arial MT"/>
              <a:cs typeface="Arial MT"/>
            </a:endParaRPr>
          </a:p>
          <a:p>
            <a:pPr>
              <a:spcBef>
                <a:spcPts val="1171"/>
              </a:spcBef>
            </a:pPr>
            <a:r>
              <a:rPr sz="2109" spc="-137" dirty="0">
                <a:latin typeface="Arial MT"/>
                <a:cs typeface="Arial MT"/>
              </a:rPr>
              <a:t>71</a:t>
            </a:r>
            <a:endParaRPr sz="2109">
              <a:latin typeface="Arial MT"/>
              <a:cs typeface="Arial MT"/>
            </a:endParaRPr>
          </a:p>
        </p:txBody>
      </p:sp>
      <p:sp>
        <p:nvSpPr>
          <p:cNvPr id="96" name="object 96"/>
          <p:cNvSpPr txBox="1"/>
          <p:nvPr/>
        </p:nvSpPr>
        <p:spPr>
          <a:xfrm>
            <a:off x="2884552" y="2268366"/>
            <a:ext cx="271016" cy="1768818"/>
          </a:xfrm>
          <a:prstGeom prst="rect">
            <a:avLst/>
          </a:prstGeom>
        </p:spPr>
        <p:txBody>
          <a:bodyPr vert="horz" wrap="square" lIns="0" tIns="0" rIns="0" bIns="0" rtlCol="0">
            <a:spAutoFit/>
          </a:bodyPr>
          <a:lstStyle/>
          <a:p>
            <a:pPr marL="2679">
              <a:lnSpc>
                <a:spcPts val="2358"/>
              </a:lnSpc>
            </a:pPr>
            <a:r>
              <a:rPr sz="2109" spc="-130" dirty="0">
                <a:latin typeface="Arial MT"/>
                <a:cs typeface="Arial MT"/>
              </a:rPr>
              <a:t>31</a:t>
            </a:r>
            <a:endParaRPr sz="2109">
              <a:latin typeface="Arial MT"/>
              <a:cs typeface="Arial MT"/>
            </a:endParaRPr>
          </a:p>
          <a:p>
            <a:pPr marL="1786">
              <a:spcBef>
                <a:spcPts val="1396"/>
              </a:spcBef>
            </a:pPr>
            <a:r>
              <a:rPr sz="2109" spc="-127" dirty="0">
                <a:latin typeface="Arial MT"/>
                <a:cs typeface="Arial MT"/>
              </a:rPr>
              <a:t>31</a:t>
            </a:r>
            <a:endParaRPr sz="2109">
              <a:latin typeface="Arial MT"/>
              <a:cs typeface="Arial MT"/>
            </a:endParaRPr>
          </a:p>
          <a:p>
            <a:pPr marL="1786">
              <a:spcBef>
                <a:spcPts val="1188"/>
              </a:spcBef>
            </a:pPr>
            <a:r>
              <a:rPr sz="2109" spc="-127" dirty="0">
                <a:latin typeface="Arial MT"/>
                <a:cs typeface="Arial MT"/>
              </a:rPr>
              <a:t>31</a:t>
            </a:r>
            <a:endParaRPr sz="2109">
              <a:latin typeface="Arial MT"/>
              <a:cs typeface="Arial MT"/>
            </a:endParaRPr>
          </a:p>
          <a:p>
            <a:pPr>
              <a:spcBef>
                <a:spcPts val="1248"/>
              </a:spcBef>
            </a:pPr>
            <a:r>
              <a:rPr sz="2109" spc="-120" dirty="0">
                <a:latin typeface="Arial MT"/>
                <a:cs typeface="Arial MT"/>
              </a:rPr>
              <a:t>16</a:t>
            </a:r>
            <a:endParaRPr sz="2109">
              <a:latin typeface="Arial MT"/>
              <a:cs typeface="Arial MT"/>
            </a:endParaRPr>
          </a:p>
        </p:txBody>
      </p:sp>
      <p:grpSp>
        <p:nvGrpSpPr>
          <p:cNvPr id="97" name="object 97"/>
          <p:cNvGrpSpPr/>
          <p:nvPr/>
        </p:nvGrpSpPr>
        <p:grpSpPr>
          <a:xfrm>
            <a:off x="2820334" y="2174953"/>
            <a:ext cx="543371" cy="504081"/>
            <a:chOff x="4011141" y="3093266"/>
            <a:chExt cx="772795" cy="716915"/>
          </a:xfrm>
        </p:grpSpPr>
        <p:sp>
          <p:nvSpPr>
            <p:cNvPr id="98" name="object 98"/>
            <p:cNvSpPr/>
            <p:nvPr/>
          </p:nvSpPr>
          <p:spPr>
            <a:xfrm>
              <a:off x="4554709" y="3118666"/>
              <a:ext cx="203835" cy="654685"/>
            </a:xfrm>
            <a:custGeom>
              <a:avLst/>
              <a:gdLst/>
              <a:ahLst/>
              <a:cxnLst/>
              <a:rect l="l" t="t" r="r" b="b"/>
              <a:pathLst>
                <a:path w="203835" h="654685">
                  <a:moveTo>
                    <a:pt x="203783" y="0"/>
                  </a:moveTo>
                  <a:lnTo>
                    <a:pt x="203783" y="654463"/>
                  </a:lnTo>
                </a:path>
                <a:path w="203835" h="654685">
                  <a:moveTo>
                    <a:pt x="0" y="0"/>
                  </a:moveTo>
                  <a:lnTo>
                    <a:pt x="0" y="654463"/>
                  </a:lnTo>
                </a:path>
              </a:pathLst>
            </a:custGeom>
            <a:ln w="25400">
              <a:solidFill>
                <a:srgbClr val="000000"/>
              </a:solidFill>
            </a:ln>
          </p:spPr>
          <p:txBody>
            <a:bodyPr wrap="square" lIns="0" tIns="0" rIns="0" bIns="0" rtlCol="0"/>
            <a:lstStyle/>
            <a:p>
              <a:endParaRPr/>
            </a:p>
          </p:txBody>
        </p:sp>
        <p:sp>
          <p:nvSpPr>
            <p:cNvPr id="99" name="object 99"/>
            <p:cNvSpPr/>
            <p:nvPr/>
          </p:nvSpPr>
          <p:spPr>
            <a:xfrm>
              <a:off x="4036541" y="3118666"/>
              <a:ext cx="0" cy="654685"/>
            </a:xfrm>
            <a:custGeom>
              <a:avLst/>
              <a:gdLst/>
              <a:ahLst/>
              <a:cxnLst/>
              <a:rect l="l" t="t" r="r" b="b"/>
              <a:pathLst>
                <a:path h="654685">
                  <a:moveTo>
                    <a:pt x="0" y="511996"/>
                  </a:moveTo>
                  <a:lnTo>
                    <a:pt x="0" y="654463"/>
                  </a:lnTo>
                </a:path>
                <a:path h="654685">
                  <a:moveTo>
                    <a:pt x="0" y="0"/>
                  </a:moveTo>
                  <a:lnTo>
                    <a:pt x="0" y="423832"/>
                  </a:lnTo>
                </a:path>
              </a:pathLst>
            </a:custGeom>
            <a:ln w="25400">
              <a:solidFill>
                <a:srgbClr val="000000"/>
              </a:solidFill>
            </a:ln>
          </p:spPr>
          <p:txBody>
            <a:bodyPr wrap="square" lIns="0" tIns="0" rIns="0" bIns="0" rtlCol="0"/>
            <a:lstStyle/>
            <a:p>
              <a:endParaRPr/>
            </a:p>
          </p:txBody>
        </p:sp>
        <p:sp>
          <p:nvSpPr>
            <p:cNvPr id="100" name="object 100"/>
            <p:cNvSpPr/>
            <p:nvPr/>
          </p:nvSpPr>
          <p:spPr>
            <a:xfrm>
              <a:off x="4034761" y="3773130"/>
              <a:ext cx="0" cy="25400"/>
            </a:xfrm>
            <a:custGeom>
              <a:avLst/>
              <a:gdLst/>
              <a:ahLst/>
              <a:cxnLst/>
              <a:rect l="l" t="t" r="r" b="b"/>
              <a:pathLst>
                <a:path h="25400">
                  <a:moveTo>
                    <a:pt x="0" y="0"/>
                  </a:moveTo>
                  <a:lnTo>
                    <a:pt x="0" y="25400"/>
                  </a:lnTo>
                </a:path>
              </a:pathLst>
            </a:custGeom>
            <a:ln w="21840">
              <a:solidFill>
                <a:srgbClr val="000000"/>
              </a:solidFill>
            </a:ln>
          </p:spPr>
          <p:txBody>
            <a:bodyPr wrap="square" lIns="0" tIns="0" rIns="0" bIns="0" rtlCol="0"/>
            <a:lstStyle/>
            <a:p>
              <a:endParaRPr/>
            </a:p>
          </p:txBody>
        </p:sp>
        <p:sp>
          <p:nvSpPr>
            <p:cNvPr id="101" name="object 101"/>
            <p:cNvSpPr/>
            <p:nvPr/>
          </p:nvSpPr>
          <p:spPr>
            <a:xfrm>
              <a:off x="4536431" y="3773130"/>
              <a:ext cx="234950" cy="25400"/>
            </a:xfrm>
            <a:custGeom>
              <a:avLst/>
              <a:gdLst/>
              <a:ahLst/>
              <a:cxnLst/>
              <a:rect l="l" t="t" r="r" b="b"/>
              <a:pathLst>
                <a:path w="234950" h="25400">
                  <a:moveTo>
                    <a:pt x="0" y="25400"/>
                  </a:moveTo>
                  <a:lnTo>
                    <a:pt x="234760" y="25400"/>
                  </a:lnTo>
                  <a:lnTo>
                    <a:pt x="234760" y="0"/>
                  </a:lnTo>
                  <a:lnTo>
                    <a:pt x="0" y="0"/>
                  </a:lnTo>
                  <a:lnTo>
                    <a:pt x="0" y="25400"/>
                  </a:lnTo>
                  <a:close/>
                </a:path>
              </a:pathLst>
            </a:custGeom>
            <a:solidFill>
              <a:srgbClr val="000000"/>
            </a:solidFill>
          </p:spPr>
          <p:txBody>
            <a:bodyPr wrap="square" lIns="0" tIns="0" rIns="0" bIns="0" rtlCol="0"/>
            <a:lstStyle/>
            <a:p>
              <a:endParaRPr/>
            </a:p>
          </p:txBody>
        </p:sp>
        <p:sp>
          <p:nvSpPr>
            <p:cNvPr id="102" name="object 102"/>
            <p:cNvSpPr/>
            <p:nvPr/>
          </p:nvSpPr>
          <p:spPr>
            <a:xfrm>
              <a:off x="4023841" y="3105966"/>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grpSp>
      <p:grpSp>
        <p:nvGrpSpPr>
          <p:cNvPr id="103" name="object 103"/>
          <p:cNvGrpSpPr/>
          <p:nvPr/>
        </p:nvGrpSpPr>
        <p:grpSpPr>
          <a:xfrm>
            <a:off x="204168" y="2318290"/>
            <a:ext cx="8805118" cy="1766739"/>
            <a:chOff x="290371" y="3297123"/>
            <a:chExt cx="12522835" cy="2512695"/>
          </a:xfrm>
        </p:grpSpPr>
        <p:sp>
          <p:nvSpPr>
            <p:cNvPr id="104" name="object 104"/>
            <p:cNvSpPr/>
            <p:nvPr/>
          </p:nvSpPr>
          <p:spPr>
            <a:xfrm>
              <a:off x="9303910" y="4491339"/>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endParaRPr/>
            </a:p>
          </p:txBody>
        </p:sp>
        <p:sp>
          <p:nvSpPr>
            <p:cNvPr id="105" name="object 105"/>
            <p:cNvSpPr/>
            <p:nvPr/>
          </p:nvSpPr>
          <p:spPr>
            <a:xfrm>
              <a:off x="9291206" y="5145811"/>
              <a:ext cx="747395" cy="25400"/>
            </a:xfrm>
            <a:custGeom>
              <a:avLst/>
              <a:gdLst/>
              <a:ahLst/>
              <a:cxnLst/>
              <a:rect l="l" t="t" r="r" b="b"/>
              <a:pathLst>
                <a:path w="747395" h="25400">
                  <a:moveTo>
                    <a:pt x="18846" y="0"/>
                  </a:moveTo>
                  <a:lnTo>
                    <a:pt x="0" y="0"/>
                  </a:lnTo>
                  <a:lnTo>
                    <a:pt x="0" y="25400"/>
                  </a:lnTo>
                  <a:lnTo>
                    <a:pt x="18846" y="25400"/>
                  </a:lnTo>
                  <a:lnTo>
                    <a:pt x="18846" y="0"/>
                  </a:lnTo>
                  <a:close/>
                </a:path>
                <a:path w="747395" h="25400">
                  <a:moveTo>
                    <a:pt x="747344" y="0"/>
                  </a:moveTo>
                  <a:lnTo>
                    <a:pt x="513029" y="0"/>
                  </a:lnTo>
                  <a:lnTo>
                    <a:pt x="513029" y="25400"/>
                  </a:lnTo>
                  <a:lnTo>
                    <a:pt x="747344" y="25400"/>
                  </a:lnTo>
                  <a:lnTo>
                    <a:pt x="747344" y="0"/>
                  </a:lnTo>
                  <a:close/>
                </a:path>
              </a:pathLst>
            </a:custGeom>
            <a:solidFill>
              <a:srgbClr val="000000"/>
            </a:solidFill>
          </p:spPr>
          <p:txBody>
            <a:bodyPr wrap="square" lIns="0" tIns="0" rIns="0" bIns="0" rtlCol="0"/>
            <a:lstStyle/>
            <a:p>
              <a:endParaRPr/>
            </a:p>
          </p:txBody>
        </p:sp>
        <p:sp>
          <p:nvSpPr>
            <p:cNvPr id="106" name="object 106"/>
            <p:cNvSpPr/>
            <p:nvPr/>
          </p:nvSpPr>
          <p:spPr>
            <a:xfrm>
              <a:off x="9291210" y="4478639"/>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sp>
          <p:nvSpPr>
            <p:cNvPr id="107" name="object 107"/>
            <p:cNvSpPr/>
            <p:nvPr/>
          </p:nvSpPr>
          <p:spPr>
            <a:xfrm>
              <a:off x="617295" y="4516083"/>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00F900"/>
              </a:solidFill>
            </a:ln>
          </p:spPr>
          <p:txBody>
            <a:bodyPr wrap="square" lIns="0" tIns="0" rIns="0" bIns="0" rtlCol="0"/>
            <a:lstStyle/>
            <a:p>
              <a:endParaRPr/>
            </a:p>
          </p:txBody>
        </p:sp>
        <p:sp>
          <p:nvSpPr>
            <p:cNvPr id="108" name="object 108"/>
            <p:cNvSpPr/>
            <p:nvPr/>
          </p:nvSpPr>
          <p:spPr>
            <a:xfrm>
              <a:off x="303071" y="4516083"/>
              <a:ext cx="0" cy="683895"/>
            </a:xfrm>
            <a:custGeom>
              <a:avLst/>
              <a:gdLst/>
              <a:ahLst/>
              <a:cxnLst/>
              <a:rect l="l" t="t" r="r" b="b"/>
              <a:pathLst>
                <a:path h="683895">
                  <a:moveTo>
                    <a:pt x="0" y="0"/>
                  </a:moveTo>
                  <a:lnTo>
                    <a:pt x="0" y="658365"/>
                  </a:lnTo>
                </a:path>
                <a:path h="683895">
                  <a:moveTo>
                    <a:pt x="0" y="658365"/>
                  </a:moveTo>
                  <a:lnTo>
                    <a:pt x="0" y="683765"/>
                  </a:lnTo>
                </a:path>
              </a:pathLst>
            </a:custGeom>
            <a:ln w="25007">
              <a:solidFill>
                <a:srgbClr val="00F900"/>
              </a:solidFill>
            </a:ln>
          </p:spPr>
          <p:txBody>
            <a:bodyPr wrap="square" lIns="0" tIns="0" rIns="0" bIns="0" rtlCol="0"/>
            <a:lstStyle/>
            <a:p>
              <a:endParaRPr/>
            </a:p>
          </p:txBody>
        </p:sp>
        <p:sp>
          <p:nvSpPr>
            <p:cNvPr id="109" name="object 109"/>
            <p:cNvSpPr/>
            <p:nvPr/>
          </p:nvSpPr>
          <p:spPr>
            <a:xfrm>
              <a:off x="590123" y="5174449"/>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110" name="object 110"/>
            <p:cNvSpPr/>
            <p:nvPr/>
          </p:nvSpPr>
          <p:spPr>
            <a:xfrm>
              <a:off x="303071" y="4490683"/>
              <a:ext cx="0" cy="25400"/>
            </a:xfrm>
            <a:custGeom>
              <a:avLst/>
              <a:gdLst/>
              <a:ahLst/>
              <a:cxnLst/>
              <a:rect l="l" t="t" r="r" b="b"/>
              <a:pathLst>
                <a:path h="25400">
                  <a:moveTo>
                    <a:pt x="0" y="0"/>
                  </a:moveTo>
                  <a:lnTo>
                    <a:pt x="0" y="25400"/>
                  </a:lnTo>
                </a:path>
              </a:pathLst>
            </a:custGeom>
            <a:ln w="25007">
              <a:solidFill>
                <a:srgbClr val="00F900"/>
              </a:solidFill>
            </a:ln>
          </p:spPr>
          <p:txBody>
            <a:bodyPr wrap="square" lIns="0" tIns="0" rIns="0" bIns="0" rtlCol="0"/>
            <a:lstStyle/>
            <a:p>
              <a:endParaRPr/>
            </a:p>
          </p:txBody>
        </p:sp>
        <p:sp>
          <p:nvSpPr>
            <p:cNvPr id="111" name="object 111"/>
            <p:cNvSpPr/>
            <p:nvPr/>
          </p:nvSpPr>
          <p:spPr>
            <a:xfrm>
              <a:off x="590123" y="4490683"/>
              <a:ext cx="197485" cy="25400"/>
            </a:xfrm>
            <a:custGeom>
              <a:avLst/>
              <a:gdLst/>
              <a:ahLst/>
              <a:cxnLst/>
              <a:rect l="l" t="t" r="r" b="b"/>
              <a:pathLst>
                <a:path w="197484" h="25400">
                  <a:moveTo>
                    <a:pt x="0" y="25400"/>
                  </a:moveTo>
                  <a:lnTo>
                    <a:pt x="196896" y="25400"/>
                  </a:lnTo>
                  <a:lnTo>
                    <a:pt x="196896" y="0"/>
                  </a:lnTo>
                  <a:lnTo>
                    <a:pt x="0" y="0"/>
                  </a:lnTo>
                  <a:lnTo>
                    <a:pt x="0" y="25400"/>
                  </a:lnTo>
                  <a:close/>
                </a:path>
              </a:pathLst>
            </a:custGeom>
            <a:solidFill>
              <a:srgbClr val="00F900"/>
            </a:solidFill>
          </p:spPr>
          <p:txBody>
            <a:bodyPr wrap="square" lIns="0" tIns="0" rIns="0" bIns="0" rtlCol="0"/>
            <a:lstStyle/>
            <a:p>
              <a:endParaRPr/>
            </a:p>
          </p:txBody>
        </p:sp>
        <p:sp>
          <p:nvSpPr>
            <p:cNvPr id="112" name="object 112"/>
            <p:cNvSpPr/>
            <p:nvPr/>
          </p:nvSpPr>
          <p:spPr>
            <a:xfrm>
              <a:off x="12643041" y="4563976"/>
              <a:ext cx="157480" cy="658495"/>
            </a:xfrm>
            <a:custGeom>
              <a:avLst/>
              <a:gdLst/>
              <a:ahLst/>
              <a:cxnLst/>
              <a:rect l="l" t="t" r="r" b="b"/>
              <a:pathLst>
                <a:path w="157479" h="658495">
                  <a:moveTo>
                    <a:pt x="157023" y="0"/>
                  </a:moveTo>
                  <a:lnTo>
                    <a:pt x="157023" y="658365"/>
                  </a:lnTo>
                </a:path>
                <a:path w="157479" h="658495">
                  <a:moveTo>
                    <a:pt x="0" y="0"/>
                  </a:moveTo>
                  <a:lnTo>
                    <a:pt x="0" y="658365"/>
                  </a:lnTo>
                </a:path>
              </a:pathLst>
            </a:custGeom>
            <a:ln w="25400">
              <a:solidFill>
                <a:srgbClr val="FF2800"/>
              </a:solidFill>
            </a:ln>
          </p:spPr>
          <p:txBody>
            <a:bodyPr wrap="square" lIns="0" tIns="0" rIns="0" bIns="0" rtlCol="0"/>
            <a:lstStyle/>
            <a:p>
              <a:endParaRPr/>
            </a:p>
          </p:txBody>
        </p:sp>
        <p:sp>
          <p:nvSpPr>
            <p:cNvPr id="113" name="object 113"/>
            <p:cNvSpPr/>
            <p:nvPr/>
          </p:nvSpPr>
          <p:spPr>
            <a:xfrm>
              <a:off x="12323927" y="4563976"/>
              <a:ext cx="0" cy="683895"/>
            </a:xfrm>
            <a:custGeom>
              <a:avLst/>
              <a:gdLst/>
              <a:ahLst/>
              <a:cxnLst/>
              <a:rect l="l" t="t" r="r" b="b"/>
              <a:pathLst>
                <a:path h="683895">
                  <a:moveTo>
                    <a:pt x="0" y="0"/>
                  </a:moveTo>
                  <a:lnTo>
                    <a:pt x="0" y="658365"/>
                  </a:lnTo>
                </a:path>
                <a:path h="683895">
                  <a:moveTo>
                    <a:pt x="0" y="658365"/>
                  </a:moveTo>
                  <a:lnTo>
                    <a:pt x="0" y="683765"/>
                  </a:lnTo>
                </a:path>
              </a:pathLst>
            </a:custGeom>
            <a:ln w="15227">
              <a:solidFill>
                <a:srgbClr val="FF2800"/>
              </a:solidFill>
            </a:ln>
          </p:spPr>
          <p:txBody>
            <a:bodyPr wrap="square" lIns="0" tIns="0" rIns="0" bIns="0" rtlCol="0"/>
            <a:lstStyle/>
            <a:p>
              <a:endParaRPr/>
            </a:p>
          </p:txBody>
        </p:sp>
        <p:sp>
          <p:nvSpPr>
            <p:cNvPr id="114" name="object 114"/>
            <p:cNvSpPr/>
            <p:nvPr/>
          </p:nvSpPr>
          <p:spPr>
            <a:xfrm>
              <a:off x="12628053" y="5222342"/>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sp>
          <p:nvSpPr>
            <p:cNvPr id="115" name="object 115"/>
            <p:cNvSpPr/>
            <p:nvPr/>
          </p:nvSpPr>
          <p:spPr>
            <a:xfrm>
              <a:off x="12323927" y="4538576"/>
              <a:ext cx="0" cy="25400"/>
            </a:xfrm>
            <a:custGeom>
              <a:avLst/>
              <a:gdLst/>
              <a:ahLst/>
              <a:cxnLst/>
              <a:rect l="l" t="t" r="r" b="b"/>
              <a:pathLst>
                <a:path h="25400">
                  <a:moveTo>
                    <a:pt x="0" y="0"/>
                  </a:moveTo>
                  <a:lnTo>
                    <a:pt x="0" y="25400"/>
                  </a:lnTo>
                </a:path>
              </a:pathLst>
            </a:custGeom>
            <a:ln w="15227">
              <a:solidFill>
                <a:srgbClr val="FF2800"/>
              </a:solidFill>
            </a:ln>
          </p:spPr>
          <p:txBody>
            <a:bodyPr wrap="square" lIns="0" tIns="0" rIns="0" bIns="0" rtlCol="0"/>
            <a:lstStyle/>
            <a:p>
              <a:endParaRPr/>
            </a:p>
          </p:txBody>
        </p:sp>
        <p:sp>
          <p:nvSpPr>
            <p:cNvPr id="116" name="object 116"/>
            <p:cNvSpPr/>
            <p:nvPr/>
          </p:nvSpPr>
          <p:spPr>
            <a:xfrm>
              <a:off x="12628053" y="4538576"/>
              <a:ext cx="184785" cy="25400"/>
            </a:xfrm>
            <a:custGeom>
              <a:avLst/>
              <a:gdLst/>
              <a:ahLst/>
              <a:cxnLst/>
              <a:rect l="l" t="t" r="r" b="b"/>
              <a:pathLst>
                <a:path w="184784" h="25400">
                  <a:moveTo>
                    <a:pt x="0" y="25400"/>
                  </a:moveTo>
                  <a:lnTo>
                    <a:pt x="184712" y="25400"/>
                  </a:lnTo>
                  <a:lnTo>
                    <a:pt x="184712" y="0"/>
                  </a:lnTo>
                  <a:lnTo>
                    <a:pt x="0" y="0"/>
                  </a:lnTo>
                  <a:lnTo>
                    <a:pt x="0" y="25400"/>
                  </a:lnTo>
                  <a:close/>
                </a:path>
              </a:pathLst>
            </a:custGeom>
            <a:solidFill>
              <a:srgbClr val="FF2800"/>
            </a:solidFill>
          </p:spPr>
          <p:txBody>
            <a:bodyPr wrap="square" lIns="0" tIns="0" rIns="0" bIns="0" rtlCol="0"/>
            <a:lstStyle/>
            <a:p>
              <a:endParaRPr/>
            </a:p>
          </p:txBody>
        </p:sp>
        <p:pic>
          <p:nvPicPr>
            <p:cNvPr id="117" name="object 117"/>
            <p:cNvPicPr/>
            <p:nvPr/>
          </p:nvPicPr>
          <p:blipFill>
            <a:blip r:embed="rId2" cstate="print"/>
            <a:stretch>
              <a:fillRect/>
            </a:stretch>
          </p:blipFill>
          <p:spPr>
            <a:xfrm>
              <a:off x="641350" y="4748529"/>
              <a:ext cx="386079" cy="167640"/>
            </a:xfrm>
            <a:prstGeom prst="rect">
              <a:avLst/>
            </a:prstGeom>
          </p:spPr>
        </p:pic>
        <p:sp>
          <p:nvSpPr>
            <p:cNvPr id="118" name="object 118"/>
            <p:cNvSpPr/>
            <p:nvPr/>
          </p:nvSpPr>
          <p:spPr>
            <a:xfrm>
              <a:off x="4635500" y="41338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endParaRPr/>
            </a:p>
          </p:txBody>
        </p:sp>
        <p:sp>
          <p:nvSpPr>
            <p:cNvPr id="119" name="object 119"/>
            <p:cNvSpPr/>
            <p:nvPr/>
          </p:nvSpPr>
          <p:spPr>
            <a:xfrm>
              <a:off x="5812789" y="40500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20" name="object 120"/>
            <p:cNvPicPr/>
            <p:nvPr/>
          </p:nvPicPr>
          <p:blipFill>
            <a:blip r:embed="rId6" cstate="print"/>
            <a:stretch>
              <a:fillRect/>
            </a:stretch>
          </p:blipFill>
          <p:spPr>
            <a:xfrm>
              <a:off x="4565649" y="4063999"/>
              <a:ext cx="139700" cy="139700"/>
            </a:xfrm>
            <a:prstGeom prst="rect">
              <a:avLst/>
            </a:prstGeom>
          </p:spPr>
        </p:pic>
        <p:sp>
          <p:nvSpPr>
            <p:cNvPr id="121" name="object 121"/>
            <p:cNvSpPr/>
            <p:nvPr/>
          </p:nvSpPr>
          <p:spPr>
            <a:xfrm>
              <a:off x="4635500" y="4806950"/>
              <a:ext cx="1219200" cy="0"/>
            </a:xfrm>
            <a:custGeom>
              <a:avLst/>
              <a:gdLst/>
              <a:ahLst/>
              <a:cxnLst/>
              <a:rect l="l" t="t" r="r" b="b"/>
              <a:pathLst>
                <a:path w="1219200">
                  <a:moveTo>
                    <a:pt x="1219200" y="0"/>
                  </a:moveTo>
                  <a:lnTo>
                    <a:pt x="0" y="0"/>
                  </a:lnTo>
                </a:path>
              </a:pathLst>
            </a:custGeom>
            <a:ln w="38100">
              <a:solidFill>
                <a:srgbClr val="000000"/>
              </a:solidFill>
            </a:ln>
          </p:spPr>
          <p:txBody>
            <a:bodyPr wrap="square" lIns="0" tIns="0" rIns="0" bIns="0" rtlCol="0"/>
            <a:lstStyle/>
            <a:p>
              <a:endParaRPr/>
            </a:p>
          </p:txBody>
        </p:sp>
        <p:sp>
          <p:nvSpPr>
            <p:cNvPr id="122" name="object 122"/>
            <p:cNvSpPr/>
            <p:nvPr/>
          </p:nvSpPr>
          <p:spPr>
            <a:xfrm>
              <a:off x="5812789" y="4723129"/>
              <a:ext cx="167640" cy="167640"/>
            </a:xfrm>
            <a:custGeom>
              <a:avLst/>
              <a:gdLst/>
              <a:ahLst/>
              <a:cxnLst/>
              <a:rect l="l" t="t" r="r" b="b"/>
              <a:pathLst>
                <a:path w="167639" h="167639">
                  <a:moveTo>
                    <a:pt x="0" y="0"/>
                  </a:moveTo>
                  <a:lnTo>
                    <a:pt x="41910"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23" name="object 123"/>
            <p:cNvPicPr/>
            <p:nvPr/>
          </p:nvPicPr>
          <p:blipFill>
            <a:blip r:embed="rId7" cstate="print"/>
            <a:stretch>
              <a:fillRect/>
            </a:stretch>
          </p:blipFill>
          <p:spPr>
            <a:xfrm>
              <a:off x="4565649" y="4737099"/>
              <a:ext cx="139700" cy="139700"/>
            </a:xfrm>
            <a:prstGeom prst="rect">
              <a:avLst/>
            </a:prstGeom>
          </p:spPr>
        </p:pic>
        <p:sp>
          <p:nvSpPr>
            <p:cNvPr id="124" name="object 124"/>
            <p:cNvSpPr/>
            <p:nvPr/>
          </p:nvSpPr>
          <p:spPr>
            <a:xfrm>
              <a:off x="6635064" y="4780686"/>
              <a:ext cx="2501900" cy="22860"/>
            </a:xfrm>
            <a:custGeom>
              <a:avLst/>
              <a:gdLst/>
              <a:ahLst/>
              <a:cxnLst/>
              <a:rect l="l" t="t" r="r" b="b"/>
              <a:pathLst>
                <a:path w="2501900" h="22860">
                  <a:moveTo>
                    <a:pt x="2501888" y="0"/>
                  </a:moveTo>
                  <a:lnTo>
                    <a:pt x="0" y="22774"/>
                  </a:lnTo>
                </a:path>
              </a:pathLst>
            </a:custGeom>
            <a:ln w="38100">
              <a:solidFill>
                <a:srgbClr val="000000"/>
              </a:solidFill>
            </a:ln>
          </p:spPr>
          <p:txBody>
            <a:bodyPr wrap="square" lIns="0" tIns="0" rIns="0" bIns="0" rtlCol="0"/>
            <a:lstStyle/>
            <a:p>
              <a:endParaRPr/>
            </a:p>
          </p:txBody>
        </p:sp>
        <p:sp>
          <p:nvSpPr>
            <p:cNvPr id="125" name="object 125"/>
            <p:cNvSpPr/>
            <p:nvPr/>
          </p:nvSpPr>
          <p:spPr>
            <a:xfrm>
              <a:off x="9094280" y="4697251"/>
              <a:ext cx="168910" cy="167640"/>
            </a:xfrm>
            <a:custGeom>
              <a:avLst/>
              <a:gdLst/>
              <a:ahLst/>
              <a:cxnLst/>
              <a:rect l="l" t="t" r="r" b="b"/>
              <a:pathLst>
                <a:path w="168909" h="167639">
                  <a:moveTo>
                    <a:pt x="0" y="0"/>
                  </a:moveTo>
                  <a:lnTo>
                    <a:pt x="42672" y="83435"/>
                  </a:lnTo>
                  <a:lnTo>
                    <a:pt x="1526" y="167633"/>
                  </a:lnTo>
                  <a:lnTo>
                    <a:pt x="168396" y="82290"/>
                  </a:lnTo>
                  <a:lnTo>
                    <a:pt x="0" y="0"/>
                  </a:lnTo>
                  <a:close/>
                </a:path>
              </a:pathLst>
            </a:custGeom>
            <a:solidFill>
              <a:srgbClr val="000000"/>
            </a:solidFill>
          </p:spPr>
          <p:txBody>
            <a:bodyPr wrap="square" lIns="0" tIns="0" rIns="0" bIns="0" rtlCol="0"/>
            <a:lstStyle/>
            <a:p>
              <a:endParaRPr/>
            </a:p>
          </p:txBody>
        </p:sp>
        <p:pic>
          <p:nvPicPr>
            <p:cNvPr id="126" name="object 126"/>
            <p:cNvPicPr/>
            <p:nvPr/>
          </p:nvPicPr>
          <p:blipFill>
            <a:blip r:embed="rId10" cstate="print"/>
            <a:stretch>
              <a:fillRect/>
            </a:stretch>
          </p:blipFill>
          <p:spPr>
            <a:xfrm>
              <a:off x="6565216" y="4733613"/>
              <a:ext cx="139694" cy="139694"/>
            </a:xfrm>
            <a:prstGeom prst="rect">
              <a:avLst/>
            </a:prstGeom>
          </p:spPr>
        </p:pic>
        <p:sp>
          <p:nvSpPr>
            <p:cNvPr id="127" name="object 127"/>
            <p:cNvSpPr/>
            <p:nvPr/>
          </p:nvSpPr>
          <p:spPr>
            <a:xfrm>
              <a:off x="9905999" y="4794250"/>
              <a:ext cx="279400" cy="0"/>
            </a:xfrm>
            <a:custGeom>
              <a:avLst/>
              <a:gdLst/>
              <a:ahLst/>
              <a:cxnLst/>
              <a:rect l="l" t="t" r="r" b="b"/>
              <a:pathLst>
                <a:path w="279400">
                  <a:moveTo>
                    <a:pt x="279400" y="0"/>
                  </a:moveTo>
                  <a:lnTo>
                    <a:pt x="0" y="0"/>
                  </a:lnTo>
                </a:path>
              </a:pathLst>
            </a:custGeom>
            <a:ln w="38100">
              <a:solidFill>
                <a:srgbClr val="000000"/>
              </a:solidFill>
            </a:ln>
          </p:spPr>
          <p:txBody>
            <a:bodyPr wrap="square" lIns="0" tIns="0" rIns="0" bIns="0" rtlCol="0"/>
            <a:lstStyle/>
            <a:p>
              <a:endParaRPr/>
            </a:p>
          </p:txBody>
        </p:sp>
        <p:sp>
          <p:nvSpPr>
            <p:cNvPr id="128" name="object 128"/>
            <p:cNvSpPr/>
            <p:nvPr/>
          </p:nvSpPr>
          <p:spPr>
            <a:xfrm>
              <a:off x="10143489" y="4710429"/>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29" name="object 129"/>
            <p:cNvPicPr/>
            <p:nvPr/>
          </p:nvPicPr>
          <p:blipFill>
            <a:blip r:embed="rId11" cstate="print"/>
            <a:stretch>
              <a:fillRect/>
            </a:stretch>
          </p:blipFill>
          <p:spPr>
            <a:xfrm>
              <a:off x="9836149" y="4724399"/>
              <a:ext cx="139699" cy="139700"/>
            </a:xfrm>
            <a:prstGeom prst="rect">
              <a:avLst/>
            </a:prstGeom>
          </p:spPr>
        </p:pic>
        <p:sp>
          <p:nvSpPr>
            <p:cNvPr id="130" name="object 130"/>
            <p:cNvSpPr/>
            <p:nvPr/>
          </p:nvSpPr>
          <p:spPr>
            <a:xfrm>
              <a:off x="4045681" y="3297123"/>
              <a:ext cx="490855" cy="2512695"/>
            </a:xfrm>
            <a:custGeom>
              <a:avLst/>
              <a:gdLst/>
              <a:ahLst/>
              <a:cxnLst/>
              <a:rect l="l" t="t" r="r" b="b"/>
              <a:pathLst>
                <a:path w="490854" h="2512695">
                  <a:moveTo>
                    <a:pt x="490750" y="0"/>
                  </a:moveTo>
                  <a:lnTo>
                    <a:pt x="0" y="0"/>
                  </a:lnTo>
                  <a:lnTo>
                    <a:pt x="0" y="2512192"/>
                  </a:lnTo>
                  <a:lnTo>
                    <a:pt x="490750" y="2512192"/>
                  </a:lnTo>
                  <a:lnTo>
                    <a:pt x="490750" y="0"/>
                  </a:lnTo>
                  <a:close/>
                </a:path>
              </a:pathLst>
            </a:custGeom>
            <a:solidFill>
              <a:srgbClr val="FFFFFF"/>
            </a:solidFill>
          </p:spPr>
          <p:txBody>
            <a:bodyPr wrap="square" lIns="0" tIns="0" rIns="0" bIns="0" rtlCol="0"/>
            <a:lstStyle/>
            <a:p>
              <a:endParaRPr/>
            </a:p>
          </p:txBody>
        </p:sp>
      </p:grpSp>
      <p:sp>
        <p:nvSpPr>
          <p:cNvPr id="131" name="object 131"/>
          <p:cNvSpPr txBox="1"/>
          <p:nvPr/>
        </p:nvSpPr>
        <p:spPr>
          <a:xfrm>
            <a:off x="2875873" y="3023735"/>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16</a:t>
            </a:r>
            <a:endParaRPr sz="2109">
              <a:latin typeface="Arial MT"/>
              <a:cs typeface="Arial MT"/>
            </a:endParaRPr>
          </a:p>
        </p:txBody>
      </p:sp>
      <p:sp>
        <p:nvSpPr>
          <p:cNvPr id="132" name="object 132"/>
          <p:cNvSpPr/>
          <p:nvPr/>
        </p:nvSpPr>
        <p:spPr>
          <a:xfrm>
            <a:off x="4241749" y="2768252"/>
            <a:ext cx="345132" cy="1322933"/>
          </a:xfrm>
          <a:custGeom>
            <a:avLst/>
            <a:gdLst/>
            <a:ahLst/>
            <a:cxnLst/>
            <a:rect l="l" t="t" r="r" b="b"/>
            <a:pathLst>
              <a:path w="490854" h="1881504">
                <a:moveTo>
                  <a:pt x="490749" y="0"/>
                </a:moveTo>
                <a:lnTo>
                  <a:pt x="0" y="0"/>
                </a:lnTo>
                <a:lnTo>
                  <a:pt x="0" y="1881223"/>
                </a:lnTo>
                <a:lnTo>
                  <a:pt x="490749" y="1881223"/>
                </a:lnTo>
                <a:lnTo>
                  <a:pt x="490749" y="0"/>
                </a:lnTo>
                <a:close/>
              </a:path>
            </a:pathLst>
          </a:custGeom>
          <a:solidFill>
            <a:srgbClr val="FFFFFF"/>
          </a:solidFill>
        </p:spPr>
        <p:txBody>
          <a:bodyPr wrap="square" lIns="0" tIns="0" rIns="0" bIns="0" rtlCol="0"/>
          <a:lstStyle/>
          <a:p>
            <a:endParaRPr/>
          </a:p>
        </p:txBody>
      </p:sp>
      <p:sp>
        <p:nvSpPr>
          <p:cNvPr id="133" name="object 133"/>
          <p:cNvSpPr txBox="1"/>
          <p:nvPr/>
        </p:nvSpPr>
        <p:spPr>
          <a:xfrm>
            <a:off x="4273002" y="3241525"/>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71</a:t>
            </a:r>
            <a:endParaRPr sz="2109">
              <a:latin typeface="Arial MT"/>
              <a:cs typeface="Arial MT"/>
            </a:endParaRPr>
          </a:p>
        </p:txBody>
      </p:sp>
      <p:sp>
        <p:nvSpPr>
          <p:cNvPr id="134" name="object 134"/>
          <p:cNvSpPr txBox="1"/>
          <p:nvPr/>
        </p:nvSpPr>
        <p:spPr>
          <a:xfrm>
            <a:off x="6590925" y="3233527"/>
            <a:ext cx="270570" cy="786241"/>
          </a:xfrm>
          <a:prstGeom prst="rect">
            <a:avLst/>
          </a:prstGeom>
        </p:spPr>
        <p:txBody>
          <a:bodyPr vert="horz" wrap="square" lIns="0" tIns="0" rIns="0" bIns="0" rtlCol="0">
            <a:spAutoFit/>
          </a:bodyPr>
          <a:lstStyle/>
          <a:p>
            <a:pPr>
              <a:lnSpc>
                <a:spcPts val="2358"/>
              </a:lnSpc>
            </a:pPr>
            <a:r>
              <a:rPr sz="2109" spc="-127" dirty="0">
                <a:latin typeface="Arial MT"/>
                <a:cs typeface="Arial MT"/>
              </a:rPr>
              <a:t>96</a:t>
            </a:r>
            <a:endParaRPr sz="2109">
              <a:latin typeface="Arial MT"/>
              <a:cs typeface="Arial MT"/>
            </a:endParaRPr>
          </a:p>
          <a:p>
            <a:pPr marL="2232">
              <a:spcBef>
                <a:spcPts val="1248"/>
              </a:spcBef>
            </a:pPr>
            <a:r>
              <a:rPr sz="2109" spc="-130" dirty="0">
                <a:latin typeface="Arial MT"/>
                <a:cs typeface="Arial MT"/>
              </a:rPr>
              <a:t>87</a:t>
            </a:r>
            <a:endParaRPr sz="2109">
              <a:latin typeface="Arial MT"/>
              <a:cs typeface="Arial MT"/>
            </a:endParaRPr>
          </a:p>
        </p:txBody>
      </p:sp>
      <p:grpSp>
        <p:nvGrpSpPr>
          <p:cNvPr id="135" name="object 135"/>
          <p:cNvGrpSpPr/>
          <p:nvPr/>
        </p:nvGrpSpPr>
        <p:grpSpPr>
          <a:xfrm>
            <a:off x="6526280" y="3620212"/>
            <a:ext cx="543371" cy="496044"/>
            <a:chOff x="9281819" y="5148745"/>
            <a:chExt cx="772795" cy="705485"/>
          </a:xfrm>
        </p:grpSpPr>
        <p:sp>
          <p:nvSpPr>
            <p:cNvPr id="136" name="object 136"/>
            <p:cNvSpPr/>
            <p:nvPr/>
          </p:nvSpPr>
          <p:spPr>
            <a:xfrm>
              <a:off x="9294519" y="51741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endParaRPr/>
            </a:p>
          </p:txBody>
        </p:sp>
        <p:sp>
          <p:nvSpPr>
            <p:cNvPr id="137" name="object 137"/>
            <p:cNvSpPr/>
            <p:nvPr/>
          </p:nvSpPr>
          <p:spPr>
            <a:xfrm>
              <a:off x="9294508" y="5148744"/>
              <a:ext cx="747395" cy="25400"/>
            </a:xfrm>
            <a:custGeom>
              <a:avLst/>
              <a:gdLst/>
              <a:ahLst/>
              <a:cxnLst/>
              <a:rect l="l" t="t" r="r" b="b"/>
              <a:pathLst>
                <a:path w="747395" h="25400">
                  <a:moveTo>
                    <a:pt x="15544" y="0"/>
                  </a:moveTo>
                  <a:lnTo>
                    <a:pt x="0" y="0"/>
                  </a:lnTo>
                  <a:lnTo>
                    <a:pt x="0" y="25400"/>
                  </a:lnTo>
                  <a:lnTo>
                    <a:pt x="15544" y="25400"/>
                  </a:lnTo>
                  <a:lnTo>
                    <a:pt x="15544" y="0"/>
                  </a:lnTo>
                  <a:close/>
                </a:path>
                <a:path w="747395" h="25400">
                  <a:moveTo>
                    <a:pt x="747356" y="0"/>
                  </a:moveTo>
                  <a:lnTo>
                    <a:pt x="509727" y="0"/>
                  </a:lnTo>
                  <a:lnTo>
                    <a:pt x="509727" y="25400"/>
                  </a:lnTo>
                  <a:lnTo>
                    <a:pt x="747356" y="25400"/>
                  </a:lnTo>
                  <a:lnTo>
                    <a:pt x="747356" y="0"/>
                  </a:lnTo>
                  <a:close/>
                </a:path>
              </a:pathLst>
            </a:custGeom>
            <a:solidFill>
              <a:srgbClr val="000000"/>
            </a:solidFill>
          </p:spPr>
          <p:txBody>
            <a:bodyPr wrap="square" lIns="0" tIns="0" rIns="0" bIns="0" rtlCol="0"/>
            <a:lstStyle/>
            <a:p>
              <a:endParaRPr/>
            </a:p>
          </p:txBody>
        </p:sp>
      </p:grpSp>
      <p:grpSp>
        <p:nvGrpSpPr>
          <p:cNvPr id="138" name="object 138"/>
          <p:cNvGrpSpPr/>
          <p:nvPr/>
        </p:nvGrpSpPr>
        <p:grpSpPr>
          <a:xfrm>
            <a:off x="6960692" y="2634322"/>
            <a:ext cx="1673423" cy="1481882"/>
            <a:chOff x="9899650" y="3746591"/>
            <a:chExt cx="2379980" cy="2107565"/>
          </a:xfrm>
        </p:grpSpPr>
        <p:sp>
          <p:nvSpPr>
            <p:cNvPr id="139" name="object 139"/>
            <p:cNvSpPr/>
            <p:nvPr/>
          </p:nvSpPr>
          <p:spPr>
            <a:xfrm>
              <a:off x="10311073" y="5174145"/>
              <a:ext cx="747395" cy="667385"/>
            </a:xfrm>
            <a:custGeom>
              <a:avLst/>
              <a:gdLst/>
              <a:ahLst/>
              <a:cxnLst/>
              <a:rect l="l" t="t" r="r" b="b"/>
              <a:pathLst>
                <a:path w="747395" h="667385">
                  <a:moveTo>
                    <a:pt x="734651" y="0"/>
                  </a:moveTo>
                  <a:lnTo>
                    <a:pt x="734651" y="654463"/>
                  </a:lnTo>
                </a:path>
                <a:path w="747395" h="667385">
                  <a:moveTo>
                    <a:pt x="530868" y="0"/>
                  </a:moveTo>
                  <a:lnTo>
                    <a:pt x="530868" y="654463"/>
                  </a:lnTo>
                </a:path>
                <a:path w="747395" h="667385">
                  <a:moveTo>
                    <a:pt x="12700" y="0"/>
                  </a:moveTo>
                  <a:lnTo>
                    <a:pt x="12700" y="654463"/>
                  </a:lnTo>
                </a:path>
                <a:path w="747395" h="667385">
                  <a:moveTo>
                    <a:pt x="0" y="667163"/>
                  </a:moveTo>
                  <a:lnTo>
                    <a:pt x="747351" y="667163"/>
                  </a:lnTo>
                </a:path>
              </a:pathLst>
            </a:custGeom>
            <a:ln w="25400">
              <a:solidFill>
                <a:srgbClr val="000000"/>
              </a:solidFill>
            </a:ln>
          </p:spPr>
          <p:txBody>
            <a:bodyPr wrap="square" lIns="0" tIns="0" rIns="0" bIns="0" rtlCol="0"/>
            <a:lstStyle/>
            <a:p>
              <a:endParaRPr/>
            </a:p>
          </p:txBody>
        </p:sp>
        <p:sp>
          <p:nvSpPr>
            <p:cNvPr id="140" name="object 140"/>
            <p:cNvSpPr/>
            <p:nvPr/>
          </p:nvSpPr>
          <p:spPr>
            <a:xfrm>
              <a:off x="10323348" y="5148745"/>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endParaRPr/>
            </a:p>
          </p:txBody>
        </p:sp>
        <p:sp>
          <p:nvSpPr>
            <p:cNvPr id="141" name="object 141"/>
            <p:cNvSpPr/>
            <p:nvPr/>
          </p:nvSpPr>
          <p:spPr>
            <a:xfrm>
              <a:off x="10829810" y="5148745"/>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42" name="object 142"/>
            <p:cNvSpPr/>
            <p:nvPr/>
          </p:nvSpPr>
          <p:spPr>
            <a:xfrm>
              <a:off x="11327626" y="5161445"/>
              <a:ext cx="747395" cy="680085"/>
            </a:xfrm>
            <a:custGeom>
              <a:avLst/>
              <a:gdLst/>
              <a:ahLst/>
              <a:cxnLst/>
              <a:rect l="l" t="t" r="r" b="b"/>
              <a:pathLst>
                <a:path w="747395" h="680085">
                  <a:moveTo>
                    <a:pt x="734651" y="12700"/>
                  </a:moveTo>
                  <a:lnTo>
                    <a:pt x="734651" y="667163"/>
                  </a:lnTo>
                </a:path>
                <a:path w="747395" h="680085">
                  <a:moveTo>
                    <a:pt x="530868" y="12700"/>
                  </a:moveTo>
                  <a:lnTo>
                    <a:pt x="530868" y="667163"/>
                  </a:lnTo>
                </a:path>
                <a:path w="747395" h="680085">
                  <a:moveTo>
                    <a:pt x="12700" y="12700"/>
                  </a:moveTo>
                  <a:lnTo>
                    <a:pt x="12700" y="667163"/>
                  </a:lnTo>
                </a:path>
                <a:path w="747395" h="680085">
                  <a:moveTo>
                    <a:pt x="0" y="679863"/>
                  </a:moveTo>
                  <a:lnTo>
                    <a:pt x="747351" y="679863"/>
                  </a:lnTo>
                </a:path>
                <a:path w="747395" h="680085">
                  <a:moveTo>
                    <a:pt x="0" y="0"/>
                  </a:moveTo>
                  <a:lnTo>
                    <a:pt x="747351" y="0"/>
                  </a:lnTo>
                </a:path>
              </a:pathLst>
            </a:custGeom>
            <a:ln w="25400">
              <a:solidFill>
                <a:srgbClr val="000000"/>
              </a:solidFill>
            </a:ln>
          </p:spPr>
          <p:txBody>
            <a:bodyPr wrap="square" lIns="0" tIns="0" rIns="0" bIns="0" rtlCol="0"/>
            <a:lstStyle/>
            <a:p>
              <a:endParaRPr/>
            </a:p>
          </p:txBody>
        </p:sp>
        <p:pic>
          <p:nvPicPr>
            <p:cNvPr id="143" name="object 143"/>
            <p:cNvPicPr/>
            <p:nvPr/>
          </p:nvPicPr>
          <p:blipFill>
            <a:blip r:embed="rId3" cstate="print"/>
            <a:stretch>
              <a:fillRect/>
            </a:stretch>
          </p:blipFill>
          <p:spPr>
            <a:xfrm>
              <a:off x="9899650" y="5421630"/>
              <a:ext cx="386080" cy="167640"/>
            </a:xfrm>
            <a:prstGeom prst="rect">
              <a:avLst/>
            </a:prstGeom>
          </p:spPr>
        </p:pic>
        <p:pic>
          <p:nvPicPr>
            <p:cNvPr id="144" name="object 144"/>
            <p:cNvPicPr/>
            <p:nvPr/>
          </p:nvPicPr>
          <p:blipFill>
            <a:blip r:embed="rId3" cstate="print"/>
            <a:stretch>
              <a:fillRect/>
            </a:stretch>
          </p:blipFill>
          <p:spPr>
            <a:xfrm>
              <a:off x="10915650" y="5421630"/>
              <a:ext cx="386080" cy="167640"/>
            </a:xfrm>
            <a:prstGeom prst="rect">
              <a:avLst/>
            </a:prstGeom>
          </p:spPr>
        </p:pic>
        <p:pic>
          <p:nvPicPr>
            <p:cNvPr id="145" name="object 145"/>
            <p:cNvPicPr/>
            <p:nvPr/>
          </p:nvPicPr>
          <p:blipFill>
            <a:blip r:embed="rId12" cstate="print"/>
            <a:stretch>
              <a:fillRect/>
            </a:stretch>
          </p:blipFill>
          <p:spPr>
            <a:xfrm>
              <a:off x="11880850" y="5434330"/>
              <a:ext cx="398780" cy="167640"/>
            </a:xfrm>
            <a:prstGeom prst="rect">
              <a:avLst/>
            </a:prstGeom>
          </p:spPr>
        </p:pic>
        <p:sp>
          <p:nvSpPr>
            <p:cNvPr id="146" name="object 146"/>
            <p:cNvSpPr/>
            <p:nvPr/>
          </p:nvSpPr>
          <p:spPr>
            <a:xfrm>
              <a:off x="11045724" y="4473068"/>
              <a:ext cx="0" cy="654685"/>
            </a:xfrm>
            <a:custGeom>
              <a:avLst/>
              <a:gdLst/>
              <a:ahLst/>
              <a:cxnLst/>
              <a:rect l="l" t="t" r="r" b="b"/>
              <a:pathLst>
                <a:path h="654685">
                  <a:moveTo>
                    <a:pt x="0" y="0"/>
                  </a:moveTo>
                  <a:lnTo>
                    <a:pt x="0" y="654463"/>
                  </a:lnTo>
                </a:path>
              </a:pathLst>
            </a:custGeom>
            <a:ln w="25400">
              <a:solidFill>
                <a:srgbClr val="000000"/>
              </a:solidFill>
            </a:ln>
          </p:spPr>
          <p:txBody>
            <a:bodyPr wrap="square" lIns="0" tIns="0" rIns="0" bIns="0" rtlCol="0"/>
            <a:lstStyle/>
            <a:p>
              <a:endParaRPr/>
            </a:p>
          </p:txBody>
        </p:sp>
        <p:sp>
          <p:nvSpPr>
            <p:cNvPr id="147" name="object 147"/>
            <p:cNvSpPr/>
            <p:nvPr/>
          </p:nvSpPr>
          <p:spPr>
            <a:xfrm>
              <a:off x="10842225" y="4473068"/>
              <a:ext cx="0" cy="654685"/>
            </a:xfrm>
            <a:custGeom>
              <a:avLst/>
              <a:gdLst/>
              <a:ahLst/>
              <a:cxnLst/>
              <a:rect l="l" t="t" r="r" b="b"/>
              <a:pathLst>
                <a:path h="654685">
                  <a:moveTo>
                    <a:pt x="0" y="0"/>
                  </a:moveTo>
                  <a:lnTo>
                    <a:pt x="0" y="654463"/>
                  </a:lnTo>
                </a:path>
              </a:pathLst>
            </a:custGeom>
            <a:ln w="24831">
              <a:solidFill>
                <a:srgbClr val="000000"/>
              </a:solidFill>
            </a:ln>
          </p:spPr>
          <p:txBody>
            <a:bodyPr wrap="square" lIns="0" tIns="0" rIns="0" bIns="0" rtlCol="0"/>
            <a:lstStyle/>
            <a:p>
              <a:endParaRPr/>
            </a:p>
          </p:txBody>
        </p:sp>
        <p:sp>
          <p:nvSpPr>
            <p:cNvPr id="148" name="object 148"/>
            <p:cNvSpPr/>
            <p:nvPr/>
          </p:nvSpPr>
          <p:spPr>
            <a:xfrm>
              <a:off x="10323348" y="4473068"/>
              <a:ext cx="0" cy="680085"/>
            </a:xfrm>
            <a:custGeom>
              <a:avLst/>
              <a:gdLst/>
              <a:ahLst/>
              <a:cxnLst/>
              <a:rect l="l" t="t" r="r" b="b"/>
              <a:pathLst>
                <a:path h="680085">
                  <a:moveTo>
                    <a:pt x="0" y="0"/>
                  </a:moveTo>
                  <a:lnTo>
                    <a:pt x="0" y="654463"/>
                  </a:lnTo>
                </a:path>
                <a:path h="680085">
                  <a:moveTo>
                    <a:pt x="0" y="654463"/>
                  </a:moveTo>
                  <a:lnTo>
                    <a:pt x="0" y="679863"/>
                  </a:lnTo>
                </a:path>
              </a:pathLst>
            </a:custGeom>
            <a:ln w="24550">
              <a:solidFill>
                <a:srgbClr val="000000"/>
              </a:solidFill>
            </a:ln>
          </p:spPr>
          <p:txBody>
            <a:bodyPr wrap="square" lIns="0" tIns="0" rIns="0" bIns="0" rtlCol="0"/>
            <a:lstStyle/>
            <a:p>
              <a:endParaRPr/>
            </a:p>
          </p:txBody>
        </p:sp>
        <p:sp>
          <p:nvSpPr>
            <p:cNvPr id="149" name="object 149"/>
            <p:cNvSpPr/>
            <p:nvPr/>
          </p:nvSpPr>
          <p:spPr>
            <a:xfrm>
              <a:off x="10829810" y="5127531"/>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50" name="object 150"/>
            <p:cNvSpPr/>
            <p:nvPr/>
          </p:nvSpPr>
          <p:spPr>
            <a:xfrm>
              <a:off x="10323348" y="4447668"/>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endParaRPr/>
            </a:p>
          </p:txBody>
        </p:sp>
        <p:sp>
          <p:nvSpPr>
            <p:cNvPr id="151" name="object 151"/>
            <p:cNvSpPr/>
            <p:nvPr/>
          </p:nvSpPr>
          <p:spPr>
            <a:xfrm>
              <a:off x="10829810" y="4447668"/>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52" name="object 152"/>
            <p:cNvSpPr/>
            <p:nvPr/>
          </p:nvSpPr>
          <p:spPr>
            <a:xfrm>
              <a:off x="10323773" y="3771991"/>
              <a:ext cx="721995" cy="654685"/>
            </a:xfrm>
            <a:custGeom>
              <a:avLst/>
              <a:gdLst/>
              <a:ahLst/>
              <a:cxnLst/>
              <a:rect l="l" t="t" r="r" b="b"/>
              <a:pathLst>
                <a:path w="721995" h="654685">
                  <a:moveTo>
                    <a:pt x="721951" y="0"/>
                  </a:moveTo>
                  <a:lnTo>
                    <a:pt x="721951" y="654463"/>
                  </a:lnTo>
                </a:path>
                <a:path w="721995" h="654685">
                  <a:moveTo>
                    <a:pt x="518168" y="0"/>
                  </a:moveTo>
                  <a:lnTo>
                    <a:pt x="518168" y="654463"/>
                  </a:lnTo>
                </a:path>
                <a:path w="721995" h="654685">
                  <a:moveTo>
                    <a:pt x="0" y="0"/>
                  </a:moveTo>
                  <a:lnTo>
                    <a:pt x="0" y="654463"/>
                  </a:lnTo>
                </a:path>
              </a:pathLst>
            </a:custGeom>
            <a:ln w="25400">
              <a:solidFill>
                <a:srgbClr val="000000"/>
              </a:solidFill>
            </a:ln>
          </p:spPr>
          <p:txBody>
            <a:bodyPr wrap="square" lIns="0" tIns="0" rIns="0" bIns="0" rtlCol="0"/>
            <a:lstStyle/>
            <a:p>
              <a:endParaRPr/>
            </a:p>
          </p:txBody>
        </p:sp>
        <p:sp>
          <p:nvSpPr>
            <p:cNvPr id="153" name="object 153"/>
            <p:cNvSpPr/>
            <p:nvPr/>
          </p:nvSpPr>
          <p:spPr>
            <a:xfrm>
              <a:off x="10323348" y="4426454"/>
              <a:ext cx="0" cy="25400"/>
            </a:xfrm>
            <a:custGeom>
              <a:avLst/>
              <a:gdLst/>
              <a:ahLst/>
              <a:cxnLst/>
              <a:rect l="l" t="t" r="r" b="b"/>
              <a:pathLst>
                <a:path h="25400">
                  <a:moveTo>
                    <a:pt x="0" y="0"/>
                  </a:moveTo>
                  <a:lnTo>
                    <a:pt x="0" y="25400"/>
                  </a:lnTo>
                </a:path>
              </a:pathLst>
            </a:custGeom>
            <a:ln w="24550">
              <a:solidFill>
                <a:srgbClr val="000000"/>
              </a:solidFill>
            </a:ln>
          </p:spPr>
          <p:txBody>
            <a:bodyPr wrap="square" lIns="0" tIns="0" rIns="0" bIns="0" rtlCol="0"/>
            <a:lstStyle/>
            <a:p>
              <a:endParaRPr/>
            </a:p>
          </p:txBody>
        </p:sp>
        <p:sp>
          <p:nvSpPr>
            <p:cNvPr id="154" name="object 154"/>
            <p:cNvSpPr/>
            <p:nvPr/>
          </p:nvSpPr>
          <p:spPr>
            <a:xfrm>
              <a:off x="10829810" y="4426454"/>
              <a:ext cx="229235" cy="25400"/>
            </a:xfrm>
            <a:custGeom>
              <a:avLst/>
              <a:gdLst/>
              <a:ahLst/>
              <a:cxnLst/>
              <a:rect l="l" t="t" r="r" b="b"/>
              <a:pathLst>
                <a:path w="229234" h="25400">
                  <a:moveTo>
                    <a:pt x="0" y="25400"/>
                  </a:moveTo>
                  <a:lnTo>
                    <a:pt x="228614" y="25400"/>
                  </a:lnTo>
                  <a:lnTo>
                    <a:pt x="228614" y="0"/>
                  </a:lnTo>
                  <a:lnTo>
                    <a:pt x="0" y="0"/>
                  </a:lnTo>
                  <a:lnTo>
                    <a:pt x="0" y="25400"/>
                  </a:lnTo>
                  <a:close/>
                </a:path>
              </a:pathLst>
            </a:custGeom>
            <a:solidFill>
              <a:srgbClr val="000000"/>
            </a:solidFill>
          </p:spPr>
          <p:txBody>
            <a:bodyPr wrap="square" lIns="0" tIns="0" rIns="0" bIns="0" rtlCol="0"/>
            <a:lstStyle/>
            <a:p>
              <a:endParaRPr/>
            </a:p>
          </p:txBody>
        </p:sp>
        <p:sp>
          <p:nvSpPr>
            <p:cNvPr id="155" name="object 155"/>
            <p:cNvSpPr/>
            <p:nvPr/>
          </p:nvSpPr>
          <p:spPr>
            <a:xfrm>
              <a:off x="10311073" y="3759291"/>
              <a:ext cx="747395" cy="0"/>
            </a:xfrm>
            <a:custGeom>
              <a:avLst/>
              <a:gdLst/>
              <a:ahLst/>
              <a:cxnLst/>
              <a:rect l="l" t="t" r="r" b="b"/>
              <a:pathLst>
                <a:path w="747395">
                  <a:moveTo>
                    <a:pt x="0" y="0"/>
                  </a:moveTo>
                  <a:lnTo>
                    <a:pt x="747351" y="0"/>
                  </a:lnTo>
                </a:path>
              </a:pathLst>
            </a:custGeom>
            <a:ln w="25400">
              <a:solidFill>
                <a:srgbClr val="000000"/>
              </a:solidFill>
            </a:ln>
          </p:spPr>
          <p:txBody>
            <a:bodyPr wrap="square" lIns="0" tIns="0" rIns="0" bIns="0" rtlCol="0"/>
            <a:lstStyle/>
            <a:p>
              <a:endParaRPr/>
            </a:p>
          </p:txBody>
        </p:sp>
      </p:grpSp>
      <p:sp>
        <p:nvSpPr>
          <p:cNvPr id="156" name="object 156"/>
          <p:cNvSpPr txBox="1"/>
          <p:nvPr/>
        </p:nvSpPr>
        <p:spPr>
          <a:xfrm>
            <a:off x="8013850" y="3682719"/>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96</a:t>
            </a:r>
            <a:endParaRPr sz="2109">
              <a:latin typeface="Arial MT"/>
              <a:cs typeface="Arial MT"/>
            </a:endParaRPr>
          </a:p>
        </p:txBody>
      </p:sp>
      <p:sp>
        <p:nvSpPr>
          <p:cNvPr id="157" name="object 157"/>
          <p:cNvSpPr txBox="1"/>
          <p:nvPr/>
        </p:nvSpPr>
        <p:spPr>
          <a:xfrm>
            <a:off x="7308015" y="2727735"/>
            <a:ext cx="267891" cy="1316001"/>
          </a:xfrm>
          <a:prstGeom prst="rect">
            <a:avLst/>
          </a:prstGeom>
        </p:spPr>
        <p:txBody>
          <a:bodyPr vert="horz" wrap="square" lIns="0" tIns="0" rIns="0" bIns="0" rtlCol="0">
            <a:spAutoFit/>
          </a:bodyPr>
          <a:lstStyle/>
          <a:p>
            <a:pPr>
              <a:lnSpc>
                <a:spcPts val="2358"/>
              </a:lnSpc>
            </a:pPr>
            <a:r>
              <a:rPr sz="2109" spc="-137" dirty="0">
                <a:latin typeface="Arial MT"/>
                <a:cs typeface="Arial MT"/>
              </a:rPr>
              <a:t>91</a:t>
            </a:r>
            <a:endParaRPr sz="2109">
              <a:latin typeface="Arial MT"/>
              <a:cs typeface="Arial MT"/>
            </a:endParaRPr>
          </a:p>
          <a:p>
            <a:pPr>
              <a:spcBef>
                <a:spcPts val="1350"/>
              </a:spcBef>
            </a:pPr>
            <a:r>
              <a:rPr sz="2109" spc="-137" dirty="0">
                <a:latin typeface="Arial MT"/>
                <a:cs typeface="Arial MT"/>
              </a:rPr>
              <a:t>91</a:t>
            </a:r>
            <a:endParaRPr sz="2109">
              <a:latin typeface="Arial MT"/>
              <a:cs typeface="Arial MT"/>
            </a:endParaRPr>
          </a:p>
          <a:p>
            <a:pPr>
              <a:spcBef>
                <a:spcPts val="1350"/>
              </a:spcBef>
            </a:pPr>
            <a:r>
              <a:rPr sz="2109" spc="-137" dirty="0">
                <a:latin typeface="Arial MT"/>
                <a:cs typeface="Arial MT"/>
              </a:rPr>
              <a:t>91</a:t>
            </a:r>
            <a:endParaRPr sz="2109">
              <a:latin typeface="Arial MT"/>
              <a:cs typeface="Arial MT"/>
            </a:endParaRPr>
          </a:p>
        </p:txBody>
      </p:sp>
      <p:grpSp>
        <p:nvGrpSpPr>
          <p:cNvPr id="158" name="object 158"/>
          <p:cNvGrpSpPr/>
          <p:nvPr/>
        </p:nvGrpSpPr>
        <p:grpSpPr>
          <a:xfrm>
            <a:off x="7267235" y="2681173"/>
            <a:ext cx="1393924" cy="1317575"/>
            <a:chOff x="10335623" y="3813223"/>
            <a:chExt cx="1982470" cy="1873885"/>
          </a:xfrm>
        </p:grpSpPr>
        <p:sp>
          <p:nvSpPr>
            <p:cNvPr id="159" name="object 159"/>
            <p:cNvSpPr/>
            <p:nvPr/>
          </p:nvSpPr>
          <p:spPr>
            <a:xfrm>
              <a:off x="10922000" y="4070350"/>
              <a:ext cx="1257300" cy="0"/>
            </a:xfrm>
            <a:custGeom>
              <a:avLst/>
              <a:gdLst/>
              <a:ahLst/>
              <a:cxnLst/>
              <a:rect l="l" t="t" r="r" b="b"/>
              <a:pathLst>
                <a:path w="1257300">
                  <a:moveTo>
                    <a:pt x="1257300" y="0"/>
                  </a:moveTo>
                  <a:lnTo>
                    <a:pt x="0" y="0"/>
                  </a:lnTo>
                </a:path>
              </a:pathLst>
            </a:custGeom>
            <a:ln w="38100">
              <a:solidFill>
                <a:srgbClr val="000000"/>
              </a:solidFill>
            </a:ln>
          </p:spPr>
          <p:txBody>
            <a:bodyPr wrap="square" lIns="0" tIns="0" rIns="0" bIns="0" rtlCol="0"/>
            <a:lstStyle/>
            <a:p>
              <a:endParaRPr/>
            </a:p>
          </p:txBody>
        </p:sp>
        <p:sp>
          <p:nvSpPr>
            <p:cNvPr id="160" name="object 160"/>
            <p:cNvSpPr/>
            <p:nvPr/>
          </p:nvSpPr>
          <p:spPr>
            <a:xfrm>
              <a:off x="12137390" y="39865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61" name="object 161"/>
            <p:cNvPicPr/>
            <p:nvPr/>
          </p:nvPicPr>
          <p:blipFill>
            <a:blip r:embed="rId7" cstate="print"/>
            <a:stretch>
              <a:fillRect/>
            </a:stretch>
          </p:blipFill>
          <p:spPr>
            <a:xfrm>
              <a:off x="10852149" y="4000499"/>
              <a:ext cx="139699" cy="139700"/>
            </a:xfrm>
            <a:prstGeom prst="rect">
              <a:avLst/>
            </a:prstGeom>
          </p:spPr>
        </p:pic>
        <p:sp>
          <p:nvSpPr>
            <p:cNvPr id="162" name="object 162"/>
            <p:cNvSpPr/>
            <p:nvPr/>
          </p:nvSpPr>
          <p:spPr>
            <a:xfrm>
              <a:off x="10922000" y="4806950"/>
              <a:ext cx="1270000" cy="0"/>
            </a:xfrm>
            <a:custGeom>
              <a:avLst/>
              <a:gdLst/>
              <a:ahLst/>
              <a:cxnLst/>
              <a:rect l="l" t="t" r="r" b="b"/>
              <a:pathLst>
                <a:path w="1270000">
                  <a:moveTo>
                    <a:pt x="1270000" y="0"/>
                  </a:moveTo>
                  <a:lnTo>
                    <a:pt x="0" y="0"/>
                  </a:lnTo>
                </a:path>
              </a:pathLst>
            </a:custGeom>
            <a:ln w="38100">
              <a:solidFill>
                <a:srgbClr val="000000"/>
              </a:solidFill>
            </a:ln>
          </p:spPr>
          <p:txBody>
            <a:bodyPr wrap="square" lIns="0" tIns="0" rIns="0" bIns="0" rtlCol="0"/>
            <a:lstStyle/>
            <a:p>
              <a:endParaRPr/>
            </a:p>
          </p:txBody>
        </p:sp>
        <p:sp>
          <p:nvSpPr>
            <p:cNvPr id="163" name="object 163"/>
            <p:cNvSpPr/>
            <p:nvPr/>
          </p:nvSpPr>
          <p:spPr>
            <a:xfrm>
              <a:off x="12150090" y="4723130"/>
              <a:ext cx="167640" cy="167640"/>
            </a:xfrm>
            <a:custGeom>
              <a:avLst/>
              <a:gdLst/>
              <a:ahLst/>
              <a:cxnLst/>
              <a:rect l="l" t="t" r="r" b="b"/>
              <a:pathLst>
                <a:path w="167640" h="167639">
                  <a:moveTo>
                    <a:pt x="0" y="0"/>
                  </a:moveTo>
                  <a:lnTo>
                    <a:pt x="41909" y="83820"/>
                  </a:lnTo>
                  <a:lnTo>
                    <a:pt x="0" y="167640"/>
                  </a:lnTo>
                  <a:lnTo>
                    <a:pt x="167639" y="83820"/>
                  </a:lnTo>
                  <a:lnTo>
                    <a:pt x="0" y="0"/>
                  </a:lnTo>
                  <a:close/>
                </a:path>
              </a:pathLst>
            </a:custGeom>
            <a:solidFill>
              <a:srgbClr val="000000"/>
            </a:solidFill>
          </p:spPr>
          <p:txBody>
            <a:bodyPr wrap="square" lIns="0" tIns="0" rIns="0" bIns="0" rtlCol="0"/>
            <a:lstStyle/>
            <a:p>
              <a:endParaRPr/>
            </a:p>
          </p:txBody>
        </p:sp>
        <p:pic>
          <p:nvPicPr>
            <p:cNvPr id="164" name="object 164"/>
            <p:cNvPicPr/>
            <p:nvPr/>
          </p:nvPicPr>
          <p:blipFill>
            <a:blip r:embed="rId7" cstate="print"/>
            <a:stretch>
              <a:fillRect/>
            </a:stretch>
          </p:blipFill>
          <p:spPr>
            <a:xfrm>
              <a:off x="10852149" y="4737099"/>
              <a:ext cx="139699" cy="139700"/>
            </a:xfrm>
            <a:prstGeom prst="rect">
              <a:avLst/>
            </a:prstGeom>
          </p:spPr>
        </p:pic>
        <p:sp>
          <p:nvSpPr>
            <p:cNvPr id="165" name="object 165"/>
            <p:cNvSpPr/>
            <p:nvPr/>
          </p:nvSpPr>
          <p:spPr>
            <a:xfrm>
              <a:off x="10335623" y="3813223"/>
              <a:ext cx="494665" cy="1873885"/>
            </a:xfrm>
            <a:custGeom>
              <a:avLst/>
              <a:gdLst/>
              <a:ahLst/>
              <a:cxnLst/>
              <a:rect l="l" t="t" r="r" b="b"/>
              <a:pathLst>
                <a:path w="494665" h="1873885">
                  <a:moveTo>
                    <a:pt x="494186" y="0"/>
                  </a:moveTo>
                  <a:lnTo>
                    <a:pt x="0" y="0"/>
                  </a:lnTo>
                  <a:lnTo>
                    <a:pt x="0" y="1873463"/>
                  </a:lnTo>
                  <a:lnTo>
                    <a:pt x="494186" y="1873463"/>
                  </a:lnTo>
                  <a:lnTo>
                    <a:pt x="494186" y="0"/>
                  </a:lnTo>
                  <a:close/>
                </a:path>
              </a:pathLst>
            </a:custGeom>
            <a:solidFill>
              <a:srgbClr val="FFFFFF"/>
            </a:solidFill>
          </p:spPr>
          <p:txBody>
            <a:bodyPr wrap="square" lIns="0" tIns="0" rIns="0" bIns="0" rtlCol="0"/>
            <a:lstStyle/>
            <a:p>
              <a:endParaRPr/>
            </a:p>
          </p:txBody>
        </p:sp>
      </p:grpSp>
      <p:sp>
        <p:nvSpPr>
          <p:cNvPr id="166" name="object 166"/>
          <p:cNvSpPr txBox="1"/>
          <p:nvPr/>
        </p:nvSpPr>
        <p:spPr>
          <a:xfrm>
            <a:off x="7298489" y="3154446"/>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91</a:t>
            </a:r>
            <a:endParaRPr sz="2109">
              <a:latin typeface="Arial MT"/>
              <a:cs typeface="Arial MT"/>
            </a:endParaRPr>
          </a:p>
        </p:txBody>
      </p:sp>
      <p:sp>
        <p:nvSpPr>
          <p:cNvPr id="167" name="object 167"/>
          <p:cNvSpPr txBox="1"/>
          <p:nvPr/>
        </p:nvSpPr>
        <p:spPr>
          <a:xfrm>
            <a:off x="777639" y="3262269"/>
            <a:ext cx="267891" cy="786241"/>
          </a:xfrm>
          <a:prstGeom prst="rect">
            <a:avLst/>
          </a:prstGeom>
        </p:spPr>
        <p:txBody>
          <a:bodyPr vert="horz" wrap="square" lIns="0" tIns="0" rIns="0" bIns="0" rtlCol="0">
            <a:spAutoFit/>
          </a:bodyPr>
          <a:lstStyle/>
          <a:p>
            <a:pPr>
              <a:lnSpc>
                <a:spcPts val="2358"/>
              </a:lnSpc>
            </a:pPr>
            <a:r>
              <a:rPr sz="2109" spc="-137" dirty="0">
                <a:latin typeface="Arial MT"/>
                <a:cs typeface="Arial MT"/>
              </a:rPr>
              <a:t>15</a:t>
            </a:r>
            <a:endParaRPr sz="2109">
              <a:latin typeface="Arial MT"/>
              <a:cs typeface="Arial MT"/>
            </a:endParaRPr>
          </a:p>
          <a:p>
            <a:pPr marL="66524">
              <a:spcBef>
                <a:spcPts val="1237"/>
              </a:spcBef>
            </a:pPr>
            <a:r>
              <a:rPr sz="2109" spc="-35" dirty="0">
                <a:latin typeface="Arial MT"/>
                <a:cs typeface="Arial MT"/>
              </a:rPr>
              <a:t>2</a:t>
            </a:r>
            <a:endParaRPr sz="2109">
              <a:latin typeface="Arial MT"/>
              <a:cs typeface="Arial MT"/>
            </a:endParaRPr>
          </a:p>
        </p:txBody>
      </p:sp>
      <p:grpSp>
        <p:nvGrpSpPr>
          <p:cNvPr id="168" name="object 168"/>
          <p:cNvGrpSpPr/>
          <p:nvPr/>
        </p:nvGrpSpPr>
        <p:grpSpPr>
          <a:xfrm>
            <a:off x="710667" y="3168856"/>
            <a:ext cx="543371" cy="496044"/>
            <a:chOff x="1010726" y="4506817"/>
            <a:chExt cx="772795" cy="705485"/>
          </a:xfrm>
        </p:grpSpPr>
        <p:sp>
          <p:nvSpPr>
            <p:cNvPr id="169" name="object 169"/>
            <p:cNvSpPr/>
            <p:nvPr/>
          </p:nvSpPr>
          <p:spPr>
            <a:xfrm>
              <a:off x="1036126" y="4532217"/>
              <a:ext cx="721995" cy="654685"/>
            </a:xfrm>
            <a:custGeom>
              <a:avLst/>
              <a:gdLst/>
              <a:ahLst/>
              <a:cxnLst/>
              <a:rect l="l" t="t" r="r" b="b"/>
              <a:pathLst>
                <a:path w="721994" h="654685">
                  <a:moveTo>
                    <a:pt x="721951" y="0"/>
                  </a:moveTo>
                  <a:lnTo>
                    <a:pt x="721951" y="654463"/>
                  </a:lnTo>
                </a:path>
                <a:path w="721994" h="654685">
                  <a:moveTo>
                    <a:pt x="518168" y="0"/>
                  </a:moveTo>
                  <a:lnTo>
                    <a:pt x="518168" y="654463"/>
                  </a:lnTo>
                </a:path>
                <a:path w="721994" h="654685">
                  <a:moveTo>
                    <a:pt x="0" y="0"/>
                  </a:moveTo>
                  <a:lnTo>
                    <a:pt x="0" y="654463"/>
                  </a:lnTo>
                </a:path>
              </a:pathLst>
            </a:custGeom>
            <a:ln w="25400">
              <a:solidFill>
                <a:srgbClr val="000000"/>
              </a:solidFill>
            </a:ln>
          </p:spPr>
          <p:txBody>
            <a:bodyPr wrap="square" lIns="0" tIns="0" rIns="0" bIns="0" rtlCol="0"/>
            <a:lstStyle/>
            <a:p>
              <a:endParaRPr/>
            </a:p>
          </p:txBody>
        </p:sp>
        <p:sp>
          <p:nvSpPr>
            <p:cNvPr id="170" name="object 170"/>
            <p:cNvSpPr/>
            <p:nvPr/>
          </p:nvSpPr>
          <p:spPr>
            <a:xfrm>
              <a:off x="1023416" y="5186692"/>
              <a:ext cx="747395" cy="25400"/>
            </a:xfrm>
            <a:custGeom>
              <a:avLst/>
              <a:gdLst/>
              <a:ahLst/>
              <a:cxnLst/>
              <a:rect l="l" t="t" r="r" b="b"/>
              <a:pathLst>
                <a:path w="747394" h="25400">
                  <a:moveTo>
                    <a:pt x="30365" y="0"/>
                  </a:moveTo>
                  <a:lnTo>
                    <a:pt x="0" y="0"/>
                  </a:lnTo>
                  <a:lnTo>
                    <a:pt x="0" y="25400"/>
                  </a:lnTo>
                  <a:lnTo>
                    <a:pt x="30365" y="25400"/>
                  </a:lnTo>
                  <a:lnTo>
                    <a:pt x="30365" y="0"/>
                  </a:lnTo>
                  <a:close/>
                </a:path>
                <a:path w="747394" h="25400">
                  <a:moveTo>
                    <a:pt x="747356" y="0"/>
                  </a:moveTo>
                  <a:lnTo>
                    <a:pt x="521106" y="0"/>
                  </a:lnTo>
                  <a:lnTo>
                    <a:pt x="521106" y="25400"/>
                  </a:lnTo>
                  <a:lnTo>
                    <a:pt x="747356" y="25400"/>
                  </a:lnTo>
                  <a:lnTo>
                    <a:pt x="747356" y="0"/>
                  </a:lnTo>
                  <a:close/>
                </a:path>
              </a:pathLst>
            </a:custGeom>
            <a:solidFill>
              <a:srgbClr val="000000"/>
            </a:solidFill>
          </p:spPr>
          <p:txBody>
            <a:bodyPr wrap="square" lIns="0" tIns="0" rIns="0" bIns="0" rtlCol="0"/>
            <a:lstStyle/>
            <a:p>
              <a:endParaRPr/>
            </a:p>
          </p:txBody>
        </p:sp>
        <p:sp>
          <p:nvSpPr>
            <p:cNvPr id="171" name="object 171"/>
            <p:cNvSpPr/>
            <p:nvPr/>
          </p:nvSpPr>
          <p:spPr>
            <a:xfrm>
              <a:off x="1023426" y="4519517"/>
              <a:ext cx="747395" cy="0"/>
            </a:xfrm>
            <a:custGeom>
              <a:avLst/>
              <a:gdLst/>
              <a:ahLst/>
              <a:cxnLst/>
              <a:rect l="l" t="t" r="r" b="b"/>
              <a:pathLst>
                <a:path w="747394">
                  <a:moveTo>
                    <a:pt x="0" y="0"/>
                  </a:moveTo>
                  <a:lnTo>
                    <a:pt x="747351" y="0"/>
                  </a:lnTo>
                </a:path>
              </a:pathLst>
            </a:custGeom>
            <a:ln w="25400">
              <a:solidFill>
                <a:srgbClr val="000000"/>
              </a:solidFill>
            </a:ln>
          </p:spPr>
          <p:txBody>
            <a:bodyPr wrap="square" lIns="0" tIns="0" rIns="0" bIns="0" rtlCol="0"/>
            <a:lstStyle/>
            <a:p>
              <a:endParaRPr/>
            </a:p>
          </p:txBody>
        </p:sp>
      </p:grpSp>
      <p:sp>
        <p:nvSpPr>
          <p:cNvPr id="172" name="object 172"/>
          <p:cNvSpPr/>
          <p:nvPr/>
        </p:nvSpPr>
        <p:spPr>
          <a:xfrm>
            <a:off x="740943" y="3242603"/>
            <a:ext cx="345132" cy="854571"/>
          </a:xfrm>
          <a:custGeom>
            <a:avLst/>
            <a:gdLst/>
            <a:ahLst/>
            <a:cxnLst/>
            <a:rect l="l" t="t" r="r" b="b"/>
            <a:pathLst>
              <a:path w="490855" h="1215389">
                <a:moveTo>
                  <a:pt x="490750" y="0"/>
                </a:moveTo>
                <a:lnTo>
                  <a:pt x="0" y="0"/>
                </a:lnTo>
                <a:lnTo>
                  <a:pt x="0" y="1215199"/>
                </a:lnTo>
                <a:lnTo>
                  <a:pt x="490750" y="1215199"/>
                </a:lnTo>
                <a:lnTo>
                  <a:pt x="490750" y="0"/>
                </a:lnTo>
                <a:close/>
              </a:path>
            </a:pathLst>
          </a:custGeom>
          <a:solidFill>
            <a:srgbClr val="FFFFFF"/>
          </a:solidFill>
        </p:spPr>
        <p:txBody>
          <a:bodyPr wrap="square" lIns="0" tIns="0" rIns="0" bIns="0" rtlCol="0"/>
          <a:lstStyle/>
          <a:p>
            <a:endParaRPr/>
          </a:p>
        </p:txBody>
      </p:sp>
      <p:sp>
        <p:nvSpPr>
          <p:cNvPr id="173" name="object 173"/>
          <p:cNvSpPr txBox="1"/>
          <p:nvPr/>
        </p:nvSpPr>
        <p:spPr>
          <a:xfrm>
            <a:off x="739609" y="3483705"/>
            <a:ext cx="344686" cy="333593"/>
          </a:xfrm>
          <a:prstGeom prst="rect">
            <a:avLst/>
          </a:prstGeom>
        </p:spPr>
        <p:txBody>
          <a:bodyPr vert="horz" wrap="square" lIns="0" tIns="8930" rIns="0" bIns="0" rtlCol="0">
            <a:spAutoFit/>
          </a:bodyPr>
          <a:lstStyle/>
          <a:p>
            <a:pPr marL="108045">
              <a:spcBef>
                <a:spcPts val="70"/>
              </a:spcBef>
            </a:pPr>
            <a:r>
              <a:rPr sz="2109" spc="-35" dirty="0">
                <a:latin typeface="Arial MT"/>
                <a:cs typeface="Arial MT"/>
              </a:rPr>
              <a:t>2</a:t>
            </a:r>
            <a:endParaRPr sz="2109">
              <a:latin typeface="Arial MT"/>
              <a:cs typeface="Arial MT"/>
            </a:endParaRPr>
          </a:p>
        </p:txBody>
      </p:sp>
      <p:sp>
        <p:nvSpPr>
          <p:cNvPr id="174" name="object 174"/>
          <p:cNvSpPr/>
          <p:nvPr/>
        </p:nvSpPr>
        <p:spPr>
          <a:xfrm>
            <a:off x="6546135" y="3232576"/>
            <a:ext cx="347811" cy="854571"/>
          </a:xfrm>
          <a:custGeom>
            <a:avLst/>
            <a:gdLst/>
            <a:ahLst/>
            <a:cxnLst/>
            <a:rect l="l" t="t" r="r" b="b"/>
            <a:pathLst>
              <a:path w="494665" h="1215389">
                <a:moveTo>
                  <a:pt x="494186" y="0"/>
                </a:moveTo>
                <a:lnTo>
                  <a:pt x="0" y="0"/>
                </a:lnTo>
                <a:lnTo>
                  <a:pt x="0" y="1214824"/>
                </a:lnTo>
                <a:lnTo>
                  <a:pt x="494186" y="1214824"/>
                </a:lnTo>
                <a:lnTo>
                  <a:pt x="494186" y="0"/>
                </a:lnTo>
                <a:close/>
              </a:path>
            </a:pathLst>
          </a:custGeom>
          <a:solidFill>
            <a:srgbClr val="FFFFFF"/>
          </a:solidFill>
        </p:spPr>
        <p:txBody>
          <a:bodyPr wrap="square" lIns="0" tIns="0" rIns="0" bIns="0" rtlCol="0"/>
          <a:lstStyle/>
          <a:p>
            <a:endParaRPr/>
          </a:p>
        </p:txBody>
      </p:sp>
      <p:sp>
        <p:nvSpPr>
          <p:cNvPr id="175" name="object 175"/>
          <p:cNvSpPr txBox="1"/>
          <p:nvPr/>
        </p:nvSpPr>
        <p:spPr>
          <a:xfrm>
            <a:off x="6577388" y="3473679"/>
            <a:ext cx="285750" cy="333593"/>
          </a:xfrm>
          <a:prstGeom prst="rect">
            <a:avLst/>
          </a:prstGeom>
        </p:spPr>
        <p:txBody>
          <a:bodyPr vert="horz" wrap="square" lIns="0" tIns="8930" rIns="0" bIns="0" rtlCol="0">
            <a:spAutoFit/>
          </a:bodyPr>
          <a:lstStyle/>
          <a:p>
            <a:pPr marL="8929">
              <a:spcBef>
                <a:spcPts val="70"/>
              </a:spcBef>
            </a:pPr>
            <a:r>
              <a:rPr sz="2109" spc="-102" dirty="0">
                <a:latin typeface="Arial MT"/>
                <a:cs typeface="Arial MT"/>
              </a:rPr>
              <a:t>89</a:t>
            </a:r>
            <a:endParaRPr sz="2109">
              <a:latin typeface="Arial MT"/>
              <a:cs typeface="Arial MT"/>
            </a:endParaRPr>
          </a:p>
        </p:txBody>
      </p:sp>
      <p:grpSp>
        <p:nvGrpSpPr>
          <p:cNvPr id="176" name="object 176"/>
          <p:cNvGrpSpPr/>
          <p:nvPr/>
        </p:nvGrpSpPr>
        <p:grpSpPr>
          <a:xfrm>
            <a:off x="341563" y="2439384"/>
            <a:ext cx="5572125" cy="1480989"/>
            <a:chOff x="485779" y="3469346"/>
            <a:chExt cx="7924800" cy="2106295"/>
          </a:xfrm>
        </p:grpSpPr>
        <p:sp>
          <p:nvSpPr>
            <p:cNvPr id="177" name="object 177"/>
            <p:cNvSpPr/>
            <p:nvPr/>
          </p:nvSpPr>
          <p:spPr>
            <a:xfrm>
              <a:off x="517529" y="3574248"/>
              <a:ext cx="3559810" cy="24765"/>
            </a:xfrm>
            <a:custGeom>
              <a:avLst/>
              <a:gdLst/>
              <a:ahLst/>
              <a:cxnLst/>
              <a:rect l="l" t="t" r="r" b="b"/>
              <a:pathLst>
                <a:path w="3559810" h="24764">
                  <a:moveTo>
                    <a:pt x="3559292" y="24664"/>
                  </a:moveTo>
                  <a:lnTo>
                    <a:pt x="0" y="0"/>
                  </a:lnTo>
                </a:path>
              </a:pathLst>
            </a:custGeom>
            <a:ln w="63500">
              <a:solidFill>
                <a:srgbClr val="FF2800"/>
              </a:solidFill>
              <a:prstDash val="sysDot"/>
            </a:ln>
          </p:spPr>
          <p:txBody>
            <a:bodyPr wrap="square" lIns="0" tIns="0" rIns="0" bIns="0" rtlCol="0"/>
            <a:lstStyle/>
            <a:p>
              <a:endParaRPr/>
            </a:p>
          </p:txBody>
        </p:sp>
        <p:sp>
          <p:nvSpPr>
            <p:cNvPr id="178" name="object 178"/>
            <p:cNvSpPr/>
            <p:nvPr/>
          </p:nvSpPr>
          <p:spPr>
            <a:xfrm>
              <a:off x="4071607" y="3469346"/>
              <a:ext cx="260350" cy="259079"/>
            </a:xfrm>
            <a:custGeom>
              <a:avLst/>
              <a:gdLst/>
              <a:ahLst/>
              <a:cxnLst/>
              <a:rect l="l" t="t" r="r" b="b"/>
              <a:pathLst>
                <a:path w="260350" h="259079">
                  <a:moveTo>
                    <a:pt x="1794" y="0"/>
                  </a:moveTo>
                  <a:lnTo>
                    <a:pt x="0" y="259073"/>
                  </a:lnTo>
                  <a:lnTo>
                    <a:pt x="259971" y="131331"/>
                  </a:lnTo>
                  <a:lnTo>
                    <a:pt x="1794" y="0"/>
                  </a:lnTo>
                  <a:close/>
                </a:path>
              </a:pathLst>
            </a:custGeom>
            <a:solidFill>
              <a:srgbClr val="FF2800"/>
            </a:solidFill>
          </p:spPr>
          <p:txBody>
            <a:bodyPr wrap="square" lIns="0" tIns="0" rIns="0" bIns="0" rtlCol="0"/>
            <a:lstStyle/>
            <a:p>
              <a:endParaRPr/>
            </a:p>
          </p:txBody>
        </p:sp>
        <p:sp>
          <p:nvSpPr>
            <p:cNvPr id="179" name="object 179"/>
            <p:cNvSpPr/>
            <p:nvPr/>
          </p:nvSpPr>
          <p:spPr>
            <a:xfrm>
              <a:off x="4201040" y="3574248"/>
              <a:ext cx="8890" cy="385445"/>
            </a:xfrm>
            <a:custGeom>
              <a:avLst/>
              <a:gdLst/>
              <a:ahLst/>
              <a:cxnLst/>
              <a:rect l="l" t="t" r="r" b="b"/>
              <a:pathLst>
                <a:path w="8889" h="385445">
                  <a:moveTo>
                    <a:pt x="0" y="385326"/>
                  </a:moveTo>
                  <a:lnTo>
                    <a:pt x="8798" y="0"/>
                  </a:lnTo>
                </a:path>
              </a:pathLst>
            </a:custGeom>
            <a:ln w="63499">
              <a:solidFill>
                <a:srgbClr val="FF2800"/>
              </a:solidFill>
              <a:prstDash val="sysDot"/>
            </a:ln>
          </p:spPr>
          <p:txBody>
            <a:bodyPr wrap="square" lIns="0" tIns="0" rIns="0" bIns="0" rtlCol="0"/>
            <a:lstStyle/>
            <a:p>
              <a:endParaRPr/>
            </a:p>
          </p:txBody>
        </p:sp>
        <p:sp>
          <p:nvSpPr>
            <p:cNvPr id="180" name="object 180"/>
            <p:cNvSpPr/>
            <p:nvPr/>
          </p:nvSpPr>
          <p:spPr>
            <a:xfrm>
              <a:off x="4071632" y="3952302"/>
              <a:ext cx="259079" cy="262255"/>
            </a:xfrm>
            <a:custGeom>
              <a:avLst/>
              <a:gdLst/>
              <a:ahLst/>
              <a:cxnLst/>
              <a:rect l="l" t="t" r="r" b="b"/>
              <a:pathLst>
                <a:path w="259079" h="262254">
                  <a:moveTo>
                    <a:pt x="0" y="0"/>
                  </a:moveTo>
                  <a:lnTo>
                    <a:pt x="123592" y="261969"/>
                  </a:lnTo>
                  <a:lnTo>
                    <a:pt x="259012" y="5914"/>
                  </a:lnTo>
                  <a:lnTo>
                    <a:pt x="0" y="0"/>
                  </a:lnTo>
                  <a:close/>
                </a:path>
              </a:pathLst>
            </a:custGeom>
            <a:solidFill>
              <a:srgbClr val="FF2800"/>
            </a:solidFill>
          </p:spPr>
          <p:txBody>
            <a:bodyPr wrap="square" lIns="0" tIns="0" rIns="0" bIns="0" rtlCol="0"/>
            <a:lstStyle/>
            <a:p>
              <a:endParaRPr/>
            </a:p>
          </p:txBody>
        </p:sp>
        <p:sp>
          <p:nvSpPr>
            <p:cNvPr id="181" name="object 181"/>
            <p:cNvSpPr/>
            <p:nvPr/>
          </p:nvSpPr>
          <p:spPr>
            <a:xfrm>
              <a:off x="4209840" y="4198206"/>
              <a:ext cx="1827530" cy="7620"/>
            </a:xfrm>
            <a:custGeom>
              <a:avLst/>
              <a:gdLst/>
              <a:ahLst/>
              <a:cxnLst/>
              <a:rect l="l" t="t" r="r" b="b"/>
              <a:pathLst>
                <a:path w="1827529" h="7620">
                  <a:moveTo>
                    <a:pt x="1827049" y="0"/>
                  </a:moveTo>
                  <a:lnTo>
                    <a:pt x="0" y="7011"/>
                  </a:lnTo>
                </a:path>
              </a:pathLst>
            </a:custGeom>
            <a:ln w="63500">
              <a:solidFill>
                <a:srgbClr val="FF2800"/>
              </a:solidFill>
              <a:prstDash val="sysDot"/>
            </a:ln>
          </p:spPr>
          <p:txBody>
            <a:bodyPr wrap="square" lIns="0" tIns="0" rIns="0" bIns="0" rtlCol="0"/>
            <a:lstStyle/>
            <a:p>
              <a:endParaRPr/>
            </a:p>
          </p:txBody>
        </p:sp>
        <p:sp>
          <p:nvSpPr>
            <p:cNvPr id="182" name="object 182"/>
            <p:cNvSpPr/>
            <p:nvPr/>
          </p:nvSpPr>
          <p:spPr>
            <a:xfrm>
              <a:off x="6032074" y="4068682"/>
              <a:ext cx="259715" cy="259079"/>
            </a:xfrm>
            <a:custGeom>
              <a:avLst/>
              <a:gdLst/>
              <a:ahLst/>
              <a:cxnLst/>
              <a:rect l="l" t="t" r="r" b="b"/>
              <a:pathLst>
                <a:path w="259714" h="259079">
                  <a:moveTo>
                    <a:pt x="0" y="0"/>
                  </a:moveTo>
                  <a:lnTo>
                    <a:pt x="994" y="259078"/>
                  </a:lnTo>
                  <a:lnTo>
                    <a:pt x="259575" y="128545"/>
                  </a:lnTo>
                  <a:lnTo>
                    <a:pt x="0" y="0"/>
                  </a:lnTo>
                  <a:close/>
                </a:path>
              </a:pathLst>
            </a:custGeom>
            <a:solidFill>
              <a:srgbClr val="FF2800"/>
            </a:solidFill>
          </p:spPr>
          <p:txBody>
            <a:bodyPr wrap="square" lIns="0" tIns="0" rIns="0" bIns="0" rtlCol="0"/>
            <a:lstStyle/>
            <a:p>
              <a:endParaRPr/>
            </a:p>
          </p:txBody>
        </p:sp>
        <p:sp>
          <p:nvSpPr>
            <p:cNvPr id="183" name="object 183"/>
            <p:cNvSpPr/>
            <p:nvPr/>
          </p:nvSpPr>
          <p:spPr>
            <a:xfrm>
              <a:off x="6254750" y="42037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endParaRPr/>
            </a:p>
          </p:txBody>
        </p:sp>
        <p:sp>
          <p:nvSpPr>
            <p:cNvPr id="184" name="object 184"/>
            <p:cNvSpPr/>
            <p:nvPr/>
          </p:nvSpPr>
          <p:spPr>
            <a:xfrm>
              <a:off x="6125209" y="4618482"/>
              <a:ext cx="259079" cy="259079"/>
            </a:xfrm>
            <a:custGeom>
              <a:avLst/>
              <a:gdLst/>
              <a:ahLst/>
              <a:cxnLst/>
              <a:rect l="l" t="t" r="r" b="b"/>
              <a:pathLst>
                <a:path w="259079" h="259079">
                  <a:moveTo>
                    <a:pt x="259079" y="0"/>
                  </a:moveTo>
                  <a:lnTo>
                    <a:pt x="0" y="0"/>
                  </a:lnTo>
                  <a:lnTo>
                    <a:pt x="129539" y="259079"/>
                  </a:lnTo>
                  <a:lnTo>
                    <a:pt x="259079" y="0"/>
                  </a:lnTo>
                  <a:close/>
                </a:path>
              </a:pathLst>
            </a:custGeom>
            <a:solidFill>
              <a:srgbClr val="FF2800"/>
            </a:solidFill>
          </p:spPr>
          <p:txBody>
            <a:bodyPr wrap="square" lIns="0" tIns="0" rIns="0" bIns="0" rtlCol="0"/>
            <a:lstStyle/>
            <a:p>
              <a:endParaRPr/>
            </a:p>
          </p:txBody>
        </p:sp>
        <p:sp>
          <p:nvSpPr>
            <p:cNvPr id="185" name="object 185"/>
            <p:cNvSpPr/>
            <p:nvPr/>
          </p:nvSpPr>
          <p:spPr>
            <a:xfrm>
              <a:off x="6254750" y="4876800"/>
              <a:ext cx="0" cy="419100"/>
            </a:xfrm>
            <a:custGeom>
              <a:avLst/>
              <a:gdLst/>
              <a:ahLst/>
              <a:cxnLst/>
              <a:rect l="l" t="t" r="r" b="b"/>
              <a:pathLst>
                <a:path h="419100">
                  <a:moveTo>
                    <a:pt x="0" y="419100"/>
                  </a:moveTo>
                  <a:lnTo>
                    <a:pt x="0" y="0"/>
                  </a:lnTo>
                </a:path>
              </a:pathLst>
            </a:custGeom>
            <a:ln w="63500">
              <a:solidFill>
                <a:srgbClr val="FF2800"/>
              </a:solidFill>
              <a:prstDash val="sysDot"/>
            </a:ln>
          </p:spPr>
          <p:txBody>
            <a:bodyPr wrap="square" lIns="0" tIns="0" rIns="0" bIns="0" rtlCol="0"/>
            <a:lstStyle/>
            <a:p>
              <a:endParaRPr/>
            </a:p>
          </p:txBody>
        </p:sp>
        <p:sp>
          <p:nvSpPr>
            <p:cNvPr id="186" name="object 186"/>
            <p:cNvSpPr/>
            <p:nvPr/>
          </p:nvSpPr>
          <p:spPr>
            <a:xfrm>
              <a:off x="6125209" y="5291582"/>
              <a:ext cx="259079" cy="259079"/>
            </a:xfrm>
            <a:custGeom>
              <a:avLst/>
              <a:gdLst/>
              <a:ahLst/>
              <a:cxnLst/>
              <a:rect l="l" t="t" r="r" b="b"/>
              <a:pathLst>
                <a:path w="259079" h="259079">
                  <a:moveTo>
                    <a:pt x="259079" y="0"/>
                  </a:moveTo>
                  <a:lnTo>
                    <a:pt x="0" y="0"/>
                  </a:lnTo>
                  <a:lnTo>
                    <a:pt x="129539" y="259079"/>
                  </a:lnTo>
                  <a:lnTo>
                    <a:pt x="259079" y="0"/>
                  </a:lnTo>
                  <a:close/>
                </a:path>
              </a:pathLst>
            </a:custGeom>
            <a:solidFill>
              <a:srgbClr val="FF2800"/>
            </a:solidFill>
          </p:spPr>
          <p:txBody>
            <a:bodyPr wrap="square" lIns="0" tIns="0" rIns="0" bIns="0" rtlCol="0"/>
            <a:lstStyle/>
            <a:p>
              <a:endParaRPr/>
            </a:p>
          </p:txBody>
        </p:sp>
        <p:sp>
          <p:nvSpPr>
            <p:cNvPr id="187" name="object 187"/>
            <p:cNvSpPr/>
            <p:nvPr/>
          </p:nvSpPr>
          <p:spPr>
            <a:xfrm>
              <a:off x="6261100" y="5441950"/>
              <a:ext cx="647700" cy="0"/>
            </a:xfrm>
            <a:custGeom>
              <a:avLst/>
              <a:gdLst/>
              <a:ahLst/>
              <a:cxnLst/>
              <a:rect l="l" t="t" r="r" b="b"/>
              <a:pathLst>
                <a:path w="647700">
                  <a:moveTo>
                    <a:pt x="647700" y="0"/>
                  </a:moveTo>
                  <a:lnTo>
                    <a:pt x="0" y="0"/>
                  </a:lnTo>
                </a:path>
              </a:pathLst>
            </a:custGeom>
            <a:ln w="63500">
              <a:solidFill>
                <a:srgbClr val="FF2800"/>
              </a:solidFill>
              <a:prstDash val="sysDot"/>
            </a:ln>
          </p:spPr>
          <p:txBody>
            <a:bodyPr wrap="square" lIns="0" tIns="0" rIns="0" bIns="0" rtlCol="0"/>
            <a:lstStyle/>
            <a:p>
              <a:endParaRPr/>
            </a:p>
          </p:txBody>
        </p:sp>
        <p:sp>
          <p:nvSpPr>
            <p:cNvPr id="188" name="object 188"/>
            <p:cNvSpPr/>
            <p:nvPr/>
          </p:nvSpPr>
          <p:spPr>
            <a:xfrm>
              <a:off x="6904482" y="5312410"/>
              <a:ext cx="259079" cy="259079"/>
            </a:xfrm>
            <a:custGeom>
              <a:avLst/>
              <a:gdLst/>
              <a:ahLst/>
              <a:cxnLst/>
              <a:rect l="l" t="t" r="r" b="b"/>
              <a:pathLst>
                <a:path w="259079" h="259079">
                  <a:moveTo>
                    <a:pt x="0" y="0"/>
                  </a:moveTo>
                  <a:lnTo>
                    <a:pt x="0" y="259079"/>
                  </a:lnTo>
                  <a:lnTo>
                    <a:pt x="259079" y="129539"/>
                  </a:lnTo>
                  <a:lnTo>
                    <a:pt x="0" y="0"/>
                  </a:lnTo>
                  <a:close/>
                </a:path>
              </a:pathLst>
            </a:custGeom>
            <a:solidFill>
              <a:srgbClr val="FF2800"/>
            </a:solidFill>
          </p:spPr>
          <p:txBody>
            <a:bodyPr wrap="square" lIns="0" tIns="0" rIns="0" bIns="0" rtlCol="0"/>
            <a:lstStyle/>
            <a:p>
              <a:endParaRPr/>
            </a:p>
          </p:txBody>
        </p:sp>
        <p:sp>
          <p:nvSpPr>
            <p:cNvPr id="189" name="object 189"/>
            <p:cNvSpPr/>
            <p:nvPr/>
          </p:nvSpPr>
          <p:spPr>
            <a:xfrm>
              <a:off x="7177711" y="5443787"/>
              <a:ext cx="978535" cy="2540"/>
            </a:xfrm>
            <a:custGeom>
              <a:avLst/>
              <a:gdLst/>
              <a:ahLst/>
              <a:cxnLst/>
              <a:rect l="l" t="t" r="r" b="b"/>
              <a:pathLst>
                <a:path w="978534" h="2539">
                  <a:moveTo>
                    <a:pt x="978039" y="2115"/>
                  </a:moveTo>
                  <a:lnTo>
                    <a:pt x="0" y="0"/>
                  </a:lnTo>
                </a:path>
              </a:pathLst>
            </a:custGeom>
            <a:ln w="63500">
              <a:solidFill>
                <a:srgbClr val="FF2800"/>
              </a:solidFill>
              <a:prstDash val="sysDot"/>
            </a:ln>
          </p:spPr>
          <p:txBody>
            <a:bodyPr wrap="square" lIns="0" tIns="0" rIns="0" bIns="0" rtlCol="0"/>
            <a:lstStyle/>
            <a:p>
              <a:endParaRPr/>
            </a:p>
          </p:txBody>
        </p:sp>
        <p:sp>
          <p:nvSpPr>
            <p:cNvPr id="190" name="object 190"/>
            <p:cNvSpPr/>
            <p:nvPr/>
          </p:nvSpPr>
          <p:spPr>
            <a:xfrm>
              <a:off x="8151151" y="5316354"/>
              <a:ext cx="259715" cy="259079"/>
            </a:xfrm>
            <a:custGeom>
              <a:avLst/>
              <a:gdLst/>
              <a:ahLst/>
              <a:cxnLst/>
              <a:rect l="l" t="t" r="r" b="b"/>
              <a:pathLst>
                <a:path w="259715" h="259079">
                  <a:moveTo>
                    <a:pt x="560" y="0"/>
                  </a:moveTo>
                  <a:lnTo>
                    <a:pt x="0" y="259080"/>
                  </a:lnTo>
                  <a:lnTo>
                    <a:pt x="259359" y="130100"/>
                  </a:lnTo>
                  <a:lnTo>
                    <a:pt x="560" y="0"/>
                  </a:lnTo>
                  <a:close/>
                </a:path>
              </a:pathLst>
            </a:custGeom>
            <a:solidFill>
              <a:srgbClr val="FF2800"/>
            </a:solidFill>
          </p:spPr>
          <p:txBody>
            <a:bodyPr wrap="square" lIns="0" tIns="0" rIns="0" bIns="0" rtlCol="0"/>
            <a:lstStyle/>
            <a:p>
              <a:endParaRPr/>
            </a:p>
          </p:txBody>
        </p:sp>
      </p:grpSp>
      <p:sp>
        <p:nvSpPr>
          <p:cNvPr id="192" name="标题 2"/>
          <p:cNvSpPr>
            <a:spLocks noGrp="1"/>
          </p:cNvSpPr>
          <p:nvPr>
            <p:ph type="title"/>
          </p:nvPr>
        </p:nvSpPr>
        <p:spPr>
          <a:xfrm>
            <a:off x="685650" y="251064"/>
            <a:ext cx="7568173" cy="678470"/>
          </a:xfrm>
        </p:spPr>
        <p:txBody>
          <a:bodyPr/>
          <a:lstStyle/>
          <a:p>
            <a:r>
              <a:rPr lang="zh-CN" altLang="en-US" sz="2700" dirty="0">
                <a:solidFill>
                  <a:srgbClr val="FF0000"/>
                </a:solidFill>
                <a:latin typeface="微软雅黑" panose="020B0503020204020204" pitchFamily="82" charset="2"/>
                <a:ea typeface="微软雅黑" panose="020B0503020204020204" pitchFamily="82" charset="2"/>
                <a:sym typeface="+mn-ea"/>
              </a:rPr>
              <a:t>跳表基本</a:t>
            </a:r>
            <a:r>
              <a:rPr lang="zh-CN" altLang="en-US" sz="2700" dirty="0" smtClean="0">
                <a:solidFill>
                  <a:srgbClr val="FF0000"/>
                </a:solidFill>
                <a:latin typeface="微软雅黑" panose="020B0503020204020204" pitchFamily="82" charset="2"/>
                <a:ea typeface="微软雅黑" panose="020B0503020204020204" pitchFamily="82" charset="2"/>
                <a:sym typeface="+mn-ea"/>
              </a:rPr>
              <a:t>操作</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删除</a:t>
            </a:r>
            <a:r>
              <a:rPr lang="en-US" altLang="zh-CN" sz="2700" dirty="0" smtClean="0">
                <a:solidFill>
                  <a:srgbClr val="FF0000"/>
                </a:solidFill>
                <a:latin typeface="微软雅黑" panose="020B0503020204020204" pitchFamily="82" charset="2"/>
                <a:ea typeface="微软雅黑" panose="020B0503020204020204" pitchFamily="82" charset="2"/>
                <a:sym typeface="+mn-ea"/>
              </a:rPr>
              <a:t>:</a:t>
            </a:r>
            <a:r>
              <a:rPr lang="zh-CN" altLang="en-US" sz="2700" dirty="0" smtClean="0">
                <a:solidFill>
                  <a:srgbClr val="FF0000"/>
                </a:solidFill>
                <a:latin typeface="微软雅黑" panose="020B0503020204020204" pitchFamily="82" charset="2"/>
                <a:ea typeface="微软雅黑" panose="020B0503020204020204" pitchFamily="82" charset="2"/>
                <a:sym typeface="+mn-ea"/>
              </a:rPr>
              <a:t>例</a:t>
            </a:r>
            <a:endParaRPr lang="zh-CN" altLang="en-US" sz="2700" dirty="0">
              <a:solidFill>
                <a:srgbClr val="FF0000"/>
              </a:solidFill>
              <a:latin typeface="微软雅黑" panose="020B0503020204020204" pitchFamily="82" charset="2"/>
              <a:ea typeface="微软雅黑" panose="020B0503020204020204" pitchFamily="82" charset="2"/>
              <a:sym typeface="+mn-ea"/>
            </a:endParaRPr>
          </a:p>
        </p:txBody>
      </p:sp>
    </p:spTree>
    <p:extLst>
      <p:ext uri="{BB962C8B-B14F-4D97-AF65-F5344CB8AC3E}">
        <p14:creationId xmlns:p14="http://schemas.microsoft.com/office/powerpoint/2010/main" val="108568974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2261570" y="1736429"/>
            <a:ext cx="4714667" cy="342480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105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目录</a:t>
            </a:r>
          </a:p>
        </p:txBody>
      </p:sp>
      <p:sp>
        <p:nvSpPr>
          <p:cNvPr id="4" name="内容占位符 3"/>
          <p:cNvSpPr>
            <a:spLocks noGrp="1"/>
          </p:cNvSpPr>
          <p:nvPr>
            <p:ph idx="1"/>
          </p:nvPr>
        </p:nvSpPr>
        <p:spPr>
          <a:xfrm>
            <a:off x="2484300" y="1942678"/>
            <a:ext cx="4355960" cy="3143768"/>
          </a:xfrm>
        </p:spPr>
        <p:txBody>
          <a:bodyPr/>
          <a:lstStyle/>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索引概述</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哈希索引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err="1">
                <a:latin typeface="微软雅黑" panose="020B0503020204020204" pitchFamily="82" charset="2"/>
                <a:ea typeface="微软雅黑" panose="020B0503020204020204" pitchFamily="82" charset="2"/>
              </a:rPr>
              <a:t>SkipList</a:t>
            </a:r>
            <a:r>
              <a:rPr lang="zh-CN" altLang="en-US" dirty="0">
                <a:latin typeface="微软雅黑" panose="020B0503020204020204" pitchFamily="82" charset="2"/>
                <a:ea typeface="微软雅黑" panose="020B0503020204020204" pitchFamily="82" charset="2"/>
              </a:rPr>
              <a:t>跳表索引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b="1" dirty="0">
                <a:solidFill>
                  <a:srgbClr val="701988"/>
                </a:solidFill>
                <a:latin typeface="微软雅黑" panose="020B0503020204020204" pitchFamily="82" charset="2"/>
                <a:ea typeface="微软雅黑" panose="020B0503020204020204" pitchFamily="82" charset="2"/>
              </a:rPr>
              <a:t>LSM</a:t>
            </a:r>
            <a:r>
              <a:rPr lang="zh-CN" altLang="en-US" b="1" dirty="0">
                <a:solidFill>
                  <a:srgbClr val="701988"/>
                </a:solidFill>
                <a:latin typeface="微软雅黑" panose="020B0503020204020204" pitchFamily="82" charset="2"/>
                <a:ea typeface="微软雅黑" panose="020B0503020204020204" pitchFamily="82" charset="2"/>
              </a:rPr>
              <a:t>树索引</a:t>
            </a:r>
            <a:endParaRPr lang="en-US" altLang="zh-CN" b="1" dirty="0">
              <a:solidFill>
                <a:srgbClr val="701988"/>
              </a:solidFill>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位图索引</a:t>
            </a:r>
            <a:endParaRPr lang="en-US" altLang="zh-CN" dirty="0">
              <a:latin typeface="微软雅黑" panose="020B0503020204020204" pitchFamily="82" charset="2"/>
              <a:ea typeface="微软雅黑" panose="020B0503020204020204" pitchFamily="82" charset="2"/>
            </a:endParaRPr>
          </a:p>
          <a:p>
            <a:pPr marL="0" indent="0">
              <a:buNone/>
            </a:pPr>
            <a:r>
              <a:rPr lang="en-US" altLang="zh-CN" sz="1800" dirty="0" smtClean="0">
                <a:latin typeface="微软雅黑" panose="020B0503020204020204" pitchFamily="82" charset="2"/>
                <a:ea typeface="微软雅黑" panose="020B0503020204020204" pitchFamily="82" charset="2"/>
              </a:rPr>
              <a:t>     </a:t>
            </a:r>
            <a:endParaRPr lang="zh-CN" altLang="en-US" sz="18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329235032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1801585" y="1341036"/>
            <a:ext cx="5763425" cy="317135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106</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260905"/>
            <a:ext cx="7568173" cy="678470"/>
          </a:xfrm>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树索引</a:t>
            </a:r>
          </a:p>
        </p:txBody>
      </p:sp>
      <p:sp>
        <p:nvSpPr>
          <p:cNvPr id="4" name="内容占位符 3"/>
          <p:cNvSpPr>
            <a:spLocks noGrp="1"/>
          </p:cNvSpPr>
          <p:nvPr>
            <p:ph idx="1"/>
          </p:nvPr>
        </p:nvSpPr>
        <p:spPr>
          <a:xfrm>
            <a:off x="1915493" y="1465076"/>
            <a:ext cx="5608835" cy="2923278"/>
          </a:xfrm>
        </p:spPr>
        <p:txBody>
          <a:bodyPr/>
          <a:lstStyle/>
          <a:p>
            <a:pPr>
              <a:lnSpc>
                <a:spcPct val="150000"/>
              </a:lnSpc>
              <a:buFont typeface="Wingdings" panose="05000000000000000000" pitchFamily="2" charset="2"/>
              <a:buChar char="Ø"/>
            </a:pPr>
            <a:r>
              <a:rPr lang="zh-CN" altLang="en-US" sz="1800" b="1" dirty="0">
                <a:latin typeface="微软雅黑" panose="020B0503020204020204" pitchFamily="82" charset="2"/>
                <a:ea typeface="微软雅黑" panose="020B0503020204020204" pitchFamily="82" charset="2"/>
              </a:rPr>
              <a:t>动机：</a:t>
            </a:r>
            <a:r>
              <a:rPr lang="zh-CN" altLang="en-US" sz="1800" b="1" dirty="0">
                <a:solidFill>
                  <a:srgbClr val="701988"/>
                </a:solidFill>
                <a:latin typeface="微软雅黑" panose="020B0503020204020204" pitchFamily="82" charset="2"/>
                <a:ea typeface="微软雅黑" panose="020B0503020204020204" pitchFamily="82" charset="2"/>
              </a:rPr>
              <a:t>更新密集场景</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微博、微信：数据追加写入，不允许修改</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en-US" altLang="zh-CN" sz="1800" b="1" dirty="0">
                <a:latin typeface="微软雅黑" panose="020B0503020204020204" pitchFamily="82" charset="2"/>
                <a:ea typeface="微软雅黑" panose="020B0503020204020204" pitchFamily="82" charset="2"/>
              </a:rPr>
              <a:t>B+</a:t>
            </a:r>
            <a:r>
              <a:rPr lang="zh-CN" altLang="en-US" sz="1800" b="1" dirty="0">
                <a:latin typeface="微软雅黑" panose="020B0503020204020204" pitchFamily="82" charset="2"/>
                <a:ea typeface="微软雅黑" panose="020B0503020204020204" pitchFamily="82" charset="2"/>
              </a:rPr>
              <a:t>树在更新密集的场景产生大量随机</a:t>
            </a:r>
            <a:r>
              <a:rPr lang="en-US" altLang="zh-CN" sz="1800" b="1" dirty="0">
                <a:latin typeface="微软雅黑" panose="020B0503020204020204" pitchFamily="82" charset="2"/>
                <a:ea typeface="微软雅黑" panose="020B0503020204020204" pitchFamily="82" charset="2"/>
              </a:rPr>
              <a:t>I/O</a:t>
            </a:r>
          </a:p>
          <a:p>
            <a:pPr>
              <a:lnSpc>
                <a:spcPct val="150000"/>
              </a:lnSpc>
              <a:buFont typeface="Wingdings" panose="05000000000000000000" pitchFamily="2" charset="2"/>
              <a:buChar char="Ø"/>
            </a:pPr>
            <a:r>
              <a:rPr lang="en-US" altLang="zh-CN" sz="1800" b="1" dirty="0">
                <a:latin typeface="微软雅黑" panose="020B0503020204020204" pitchFamily="82" charset="2"/>
                <a:ea typeface="微软雅黑" panose="020B0503020204020204" pitchFamily="82" charset="2"/>
              </a:rPr>
              <a:t>LSM</a:t>
            </a:r>
            <a:r>
              <a:rPr lang="zh-CN" altLang="en-US" sz="1800" b="1" dirty="0" smtClean="0">
                <a:latin typeface="微软雅黑" panose="020B0503020204020204" pitchFamily="82" charset="2"/>
                <a:ea typeface="微软雅黑" panose="020B0503020204020204" pitchFamily="82" charset="2"/>
              </a:rPr>
              <a:t>树</a:t>
            </a:r>
            <a:r>
              <a:rPr lang="zh-CN" altLang="en-US" sz="1800" b="1" dirty="0">
                <a:latin typeface="微软雅黑" panose="020B0503020204020204" pitchFamily="82" charset="2"/>
                <a:ea typeface="微软雅黑" panose="020B0503020204020204" pitchFamily="82" charset="2"/>
              </a:rPr>
              <a:t>可以</a:t>
            </a:r>
            <a:r>
              <a:rPr lang="zh-CN" altLang="en-US" sz="1800" b="1" dirty="0" smtClean="0">
                <a:latin typeface="微软雅黑" panose="020B0503020204020204" pitchFamily="82" charset="2"/>
                <a:ea typeface="微软雅黑" panose="020B0503020204020204" pitchFamily="82" charset="2"/>
              </a:rPr>
              <a:t>将</a:t>
            </a:r>
            <a:r>
              <a:rPr lang="zh-CN" altLang="en-US" sz="1800" b="1" dirty="0">
                <a:latin typeface="微软雅黑" panose="020B0503020204020204" pitchFamily="82" charset="2"/>
                <a:ea typeface="微软雅黑" panose="020B0503020204020204" pitchFamily="82" charset="2"/>
              </a:rPr>
              <a:t>更新操作转化为批量顺序写入</a:t>
            </a:r>
            <a:endParaRPr lang="en-US" altLang="zh-CN" sz="1800" b="1"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latin typeface="微软雅黑" panose="020B0503020204020204" pitchFamily="82" charset="2"/>
                <a:ea typeface="微软雅黑" panose="020B0503020204020204" pitchFamily="82" charset="2"/>
              </a:rPr>
              <a:t>思路：多级索引积累更新后进行索引合并</a:t>
            </a:r>
            <a:endParaRPr lang="en-US" altLang="zh-CN" sz="1800" b="1"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索引合并可以通过顺序写入实现</a:t>
            </a:r>
            <a:endParaRPr lang="en-US" altLang="zh-CN" sz="15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708" y="1394490"/>
            <a:ext cx="7646186" cy="2618868"/>
          </a:xfrm>
          <a:prstGeom prst="rect">
            <a:avLst/>
          </a:prstGeom>
        </p:spPr>
        <p:txBody>
          <a:bodyPr vert="horz" wrap="square" lIns="0" tIns="78559" rIns="0" bIns="0" rtlCol="0">
            <a:spAutoFit/>
          </a:bodyPr>
          <a:lstStyle/>
          <a:p>
            <a:pPr marL="348676" indent="-342900" defTabSz="415869" fontAlgn="auto">
              <a:spcBef>
                <a:spcPts val="619"/>
              </a:spcBef>
              <a:spcAft>
                <a:spcPts val="0"/>
              </a:spcAft>
              <a:buFont typeface="Arial" panose="020B0604020202020204" pitchFamily="34" charset="0"/>
              <a:buChar char="•"/>
            </a:pPr>
            <a:r>
              <a:rPr sz="2024" b="1" kern="0" spc="32" dirty="0">
                <a:solidFill>
                  <a:srgbClr val="24130B"/>
                </a:solidFill>
                <a:latin typeface="Arial"/>
                <a:cs typeface="Arial"/>
              </a:rPr>
              <a:t>Data</a:t>
            </a:r>
            <a:r>
              <a:rPr sz="2024" b="1" kern="0" spc="-30" dirty="0">
                <a:solidFill>
                  <a:srgbClr val="24130B"/>
                </a:solidFill>
                <a:latin typeface="Arial"/>
                <a:cs typeface="Arial"/>
              </a:rPr>
              <a:t> </a:t>
            </a:r>
            <a:r>
              <a:rPr sz="2024" b="1" kern="0" dirty="0">
                <a:solidFill>
                  <a:srgbClr val="24130B"/>
                </a:solidFill>
                <a:latin typeface="Arial"/>
                <a:cs typeface="Arial"/>
              </a:rPr>
              <a:t>structure</a:t>
            </a:r>
            <a:r>
              <a:rPr sz="2024" b="1" kern="0" spc="-27" dirty="0">
                <a:solidFill>
                  <a:srgbClr val="24130B"/>
                </a:solidFill>
                <a:latin typeface="Arial"/>
                <a:cs typeface="Arial"/>
              </a:rPr>
              <a:t> </a:t>
            </a:r>
            <a:r>
              <a:rPr sz="2024" b="1" kern="0" dirty="0">
                <a:solidFill>
                  <a:srgbClr val="24130B"/>
                </a:solidFill>
                <a:latin typeface="Arial"/>
                <a:cs typeface="Arial"/>
              </a:rPr>
              <a:t>proposed</a:t>
            </a:r>
            <a:r>
              <a:rPr sz="2024" b="1" kern="0" spc="-27" dirty="0">
                <a:solidFill>
                  <a:srgbClr val="24130B"/>
                </a:solidFill>
                <a:latin typeface="Arial"/>
                <a:cs typeface="Arial"/>
              </a:rPr>
              <a:t> </a:t>
            </a:r>
            <a:r>
              <a:rPr sz="2024" b="1" kern="0" dirty="0">
                <a:solidFill>
                  <a:srgbClr val="24130B"/>
                </a:solidFill>
                <a:latin typeface="Arial"/>
                <a:cs typeface="Arial"/>
              </a:rPr>
              <a:t>by</a:t>
            </a:r>
            <a:r>
              <a:rPr sz="2024" b="1" kern="0" spc="-30" dirty="0">
                <a:solidFill>
                  <a:srgbClr val="24130B"/>
                </a:solidFill>
                <a:latin typeface="Arial"/>
                <a:cs typeface="Arial"/>
              </a:rPr>
              <a:t> </a:t>
            </a:r>
            <a:r>
              <a:rPr sz="2024" b="1" kern="0" dirty="0">
                <a:solidFill>
                  <a:srgbClr val="24130B"/>
                </a:solidFill>
                <a:latin typeface="Arial"/>
                <a:cs typeface="Arial"/>
              </a:rPr>
              <a:t>O’Neil,Cheng,</a:t>
            </a:r>
            <a:r>
              <a:rPr sz="2024" b="1" kern="0" spc="-27" dirty="0">
                <a:solidFill>
                  <a:srgbClr val="24130B"/>
                </a:solidFill>
                <a:latin typeface="Arial"/>
                <a:cs typeface="Arial"/>
              </a:rPr>
              <a:t> </a:t>
            </a:r>
            <a:r>
              <a:rPr sz="2024" b="1" kern="0" dirty="0">
                <a:solidFill>
                  <a:srgbClr val="24130B"/>
                </a:solidFill>
                <a:latin typeface="Arial"/>
                <a:cs typeface="Arial"/>
              </a:rPr>
              <a:t>and</a:t>
            </a:r>
            <a:r>
              <a:rPr sz="2024" b="1" kern="0" spc="-27" dirty="0">
                <a:solidFill>
                  <a:srgbClr val="24130B"/>
                </a:solidFill>
                <a:latin typeface="Arial"/>
                <a:cs typeface="Arial"/>
              </a:rPr>
              <a:t> </a:t>
            </a:r>
            <a:r>
              <a:rPr sz="2024" b="1" kern="0" dirty="0">
                <a:solidFill>
                  <a:srgbClr val="24130B"/>
                </a:solidFill>
                <a:latin typeface="Arial"/>
                <a:cs typeface="Arial"/>
              </a:rPr>
              <a:t>Gawlick</a:t>
            </a:r>
            <a:r>
              <a:rPr sz="2024" b="1" kern="0" spc="-27" dirty="0">
                <a:solidFill>
                  <a:srgbClr val="24130B"/>
                </a:solidFill>
                <a:latin typeface="Arial"/>
                <a:cs typeface="Arial"/>
              </a:rPr>
              <a:t> </a:t>
            </a:r>
            <a:r>
              <a:rPr sz="2024" b="1" kern="0" dirty="0">
                <a:solidFill>
                  <a:srgbClr val="24130B"/>
                </a:solidFill>
                <a:latin typeface="Arial"/>
                <a:cs typeface="Arial"/>
              </a:rPr>
              <a:t>in</a:t>
            </a:r>
            <a:r>
              <a:rPr sz="2024" b="1" kern="0" spc="-30" dirty="0">
                <a:solidFill>
                  <a:srgbClr val="24130B"/>
                </a:solidFill>
                <a:latin typeface="Arial"/>
                <a:cs typeface="Arial"/>
              </a:rPr>
              <a:t> </a:t>
            </a:r>
            <a:r>
              <a:rPr sz="2024" b="1" kern="0" spc="-9" dirty="0" smtClean="0">
                <a:solidFill>
                  <a:srgbClr val="24130B"/>
                </a:solidFill>
                <a:latin typeface="Arial"/>
                <a:cs typeface="Arial"/>
              </a:rPr>
              <a:t>1996</a:t>
            </a:r>
            <a:r>
              <a:rPr lang="en-US" sz="2024" b="1" kern="0" spc="-9" dirty="0" smtClean="0">
                <a:solidFill>
                  <a:srgbClr val="24130B"/>
                </a:solidFill>
                <a:latin typeface="Arial"/>
                <a:cs typeface="Arial"/>
              </a:rPr>
              <a:t>.</a:t>
            </a:r>
            <a:endParaRPr sz="2024" kern="0" dirty="0">
              <a:solidFill>
                <a:sysClr val="windowText" lastClr="000000"/>
              </a:solidFill>
              <a:latin typeface="Arial"/>
              <a:cs typeface="Arial"/>
            </a:endParaRPr>
          </a:p>
          <a:p>
            <a:pPr marL="277824" indent="-167503" defTabSz="415869" fontAlgn="auto">
              <a:spcBef>
                <a:spcPts val="484"/>
              </a:spcBef>
              <a:spcAft>
                <a:spcPts val="0"/>
              </a:spcAft>
              <a:buClr>
                <a:srgbClr val="24130B"/>
              </a:buClr>
              <a:buFontTx/>
              <a:buChar char="•"/>
              <a:tabLst>
                <a:tab pos="277824" algn="l"/>
              </a:tabLst>
            </a:pPr>
            <a:r>
              <a:rPr sz="2024" b="1" kern="0" dirty="0">
                <a:solidFill>
                  <a:srgbClr val="24130B"/>
                </a:solidFill>
                <a:latin typeface="Arial"/>
                <a:cs typeface="Arial"/>
              </a:rPr>
              <a:t>Uses write-optimized techniques to significantly speed up inserts</a:t>
            </a:r>
          </a:p>
          <a:p>
            <a:pPr marL="348676" indent="-342900" defTabSz="415869" fontAlgn="auto">
              <a:spcBef>
                <a:spcPts val="1139"/>
              </a:spcBef>
              <a:spcAft>
                <a:spcPts val="0"/>
              </a:spcAft>
              <a:buFont typeface="Arial" panose="020B0604020202020204" pitchFamily="34" charset="0"/>
              <a:buChar char="•"/>
            </a:pPr>
            <a:r>
              <a:rPr sz="2024" b="1" kern="0" dirty="0">
                <a:solidFill>
                  <a:srgbClr val="24130B"/>
                </a:solidFill>
                <a:latin typeface="Arial"/>
                <a:cs typeface="Arial"/>
              </a:rPr>
              <a:t>Hundreds</a:t>
            </a:r>
            <a:r>
              <a:rPr sz="2024" b="1" kern="0" spc="-27" dirty="0">
                <a:solidFill>
                  <a:srgbClr val="24130B"/>
                </a:solidFill>
                <a:latin typeface="Arial"/>
                <a:cs typeface="Arial"/>
              </a:rPr>
              <a:t> </a:t>
            </a:r>
            <a:r>
              <a:rPr sz="2024" b="1" kern="0" dirty="0">
                <a:solidFill>
                  <a:srgbClr val="24130B"/>
                </a:solidFill>
                <a:latin typeface="Arial"/>
                <a:cs typeface="Arial"/>
              </a:rPr>
              <a:t>of</a:t>
            </a:r>
            <a:r>
              <a:rPr sz="2024" b="1" kern="0" spc="-27" dirty="0">
                <a:solidFill>
                  <a:srgbClr val="24130B"/>
                </a:solidFill>
                <a:latin typeface="Arial"/>
                <a:cs typeface="Arial"/>
              </a:rPr>
              <a:t> </a:t>
            </a:r>
            <a:r>
              <a:rPr sz="2024" b="1" kern="0" dirty="0">
                <a:solidFill>
                  <a:srgbClr val="24130B"/>
                </a:solidFill>
                <a:latin typeface="Arial"/>
                <a:cs typeface="Arial"/>
              </a:rPr>
              <a:t>papers</a:t>
            </a:r>
            <a:r>
              <a:rPr sz="2024" b="1" kern="0" spc="-27" dirty="0">
                <a:solidFill>
                  <a:srgbClr val="24130B"/>
                </a:solidFill>
                <a:latin typeface="Arial"/>
                <a:cs typeface="Arial"/>
              </a:rPr>
              <a:t> </a:t>
            </a:r>
            <a:r>
              <a:rPr sz="2024" b="1" kern="0" dirty="0">
                <a:solidFill>
                  <a:srgbClr val="24130B"/>
                </a:solidFill>
                <a:latin typeface="Arial"/>
                <a:cs typeface="Arial"/>
              </a:rPr>
              <a:t>on</a:t>
            </a:r>
            <a:r>
              <a:rPr sz="2024" b="1" kern="0" spc="-27" dirty="0">
                <a:solidFill>
                  <a:srgbClr val="24130B"/>
                </a:solidFill>
                <a:latin typeface="Arial"/>
                <a:cs typeface="Arial"/>
              </a:rPr>
              <a:t> </a:t>
            </a:r>
            <a:r>
              <a:rPr sz="2024" b="1" kern="0" spc="48" dirty="0">
                <a:solidFill>
                  <a:srgbClr val="24130B"/>
                </a:solidFill>
                <a:latin typeface="Arial"/>
                <a:cs typeface="Arial"/>
              </a:rPr>
              <a:t>LSM-</a:t>
            </a:r>
            <a:r>
              <a:rPr sz="2024" b="1" kern="0" dirty="0">
                <a:solidFill>
                  <a:srgbClr val="24130B"/>
                </a:solidFill>
                <a:latin typeface="Arial"/>
                <a:cs typeface="Arial"/>
              </a:rPr>
              <a:t>trees</a:t>
            </a:r>
            <a:r>
              <a:rPr sz="2024" b="1" kern="0" spc="-27" dirty="0">
                <a:solidFill>
                  <a:srgbClr val="24130B"/>
                </a:solidFill>
                <a:latin typeface="Arial"/>
                <a:cs typeface="Arial"/>
              </a:rPr>
              <a:t> </a:t>
            </a:r>
            <a:r>
              <a:rPr sz="2024" b="1" kern="0" spc="-20" dirty="0">
                <a:solidFill>
                  <a:srgbClr val="24130B"/>
                </a:solidFill>
                <a:latin typeface="Arial"/>
                <a:cs typeface="Arial"/>
              </a:rPr>
              <a:t>(innovating</a:t>
            </a:r>
            <a:r>
              <a:rPr sz="2024" b="1" kern="0" spc="-27" dirty="0">
                <a:solidFill>
                  <a:srgbClr val="24130B"/>
                </a:solidFill>
                <a:latin typeface="Arial"/>
                <a:cs typeface="Arial"/>
              </a:rPr>
              <a:t> </a:t>
            </a:r>
            <a:r>
              <a:rPr sz="2024" b="1" kern="0" dirty="0">
                <a:solidFill>
                  <a:srgbClr val="24130B"/>
                </a:solidFill>
                <a:latin typeface="Arial"/>
                <a:cs typeface="Arial"/>
              </a:rPr>
              <a:t>and</a:t>
            </a:r>
            <a:r>
              <a:rPr sz="2024" b="1" kern="0" spc="-25" dirty="0">
                <a:solidFill>
                  <a:srgbClr val="24130B"/>
                </a:solidFill>
                <a:latin typeface="Arial"/>
                <a:cs typeface="Arial"/>
              </a:rPr>
              <a:t> </a:t>
            </a:r>
            <a:r>
              <a:rPr sz="2024" b="1" kern="0" spc="-5" dirty="0">
                <a:solidFill>
                  <a:srgbClr val="24130B"/>
                </a:solidFill>
                <a:latin typeface="Arial"/>
                <a:cs typeface="Arial"/>
              </a:rPr>
              <a:t>using)</a:t>
            </a:r>
            <a:endParaRPr sz="2024" kern="0" dirty="0">
              <a:solidFill>
                <a:sysClr val="windowText" lastClr="000000"/>
              </a:solidFill>
              <a:latin typeface="Arial"/>
              <a:cs typeface="Arial"/>
            </a:endParaRPr>
          </a:p>
          <a:p>
            <a:pPr marL="348676" indent="-342900" defTabSz="415869" fontAlgn="auto">
              <a:spcBef>
                <a:spcPts val="1164"/>
              </a:spcBef>
              <a:spcAft>
                <a:spcPts val="0"/>
              </a:spcAft>
              <a:buFont typeface="Arial" panose="020B0604020202020204" pitchFamily="34" charset="0"/>
              <a:buChar char="•"/>
            </a:pPr>
            <a:r>
              <a:rPr sz="2024" b="1" kern="0" spc="-86" dirty="0">
                <a:solidFill>
                  <a:srgbClr val="24130B"/>
                </a:solidFill>
                <a:latin typeface="Arial"/>
                <a:cs typeface="Arial"/>
              </a:rPr>
              <a:t>To</a:t>
            </a:r>
            <a:r>
              <a:rPr sz="2024" b="1" kern="0" spc="-11" dirty="0">
                <a:solidFill>
                  <a:srgbClr val="24130B"/>
                </a:solidFill>
                <a:latin typeface="Arial"/>
                <a:cs typeface="Arial"/>
              </a:rPr>
              <a:t> </a:t>
            </a:r>
            <a:r>
              <a:rPr sz="2024" b="1" kern="0" dirty="0">
                <a:solidFill>
                  <a:srgbClr val="24130B"/>
                </a:solidFill>
                <a:latin typeface="Arial"/>
                <a:cs typeface="Arial"/>
              </a:rPr>
              <a:t>get</a:t>
            </a:r>
            <a:r>
              <a:rPr sz="2024" b="1" kern="0" spc="-9" dirty="0">
                <a:solidFill>
                  <a:srgbClr val="24130B"/>
                </a:solidFill>
                <a:latin typeface="Arial"/>
                <a:cs typeface="Arial"/>
              </a:rPr>
              <a:t> </a:t>
            </a:r>
            <a:r>
              <a:rPr sz="2024" b="1" kern="0" dirty="0">
                <a:solidFill>
                  <a:srgbClr val="24130B"/>
                </a:solidFill>
                <a:latin typeface="Arial"/>
                <a:cs typeface="Arial"/>
              </a:rPr>
              <a:t>some</a:t>
            </a:r>
            <a:r>
              <a:rPr sz="2024" b="1" kern="0" spc="-9" dirty="0">
                <a:solidFill>
                  <a:srgbClr val="24130B"/>
                </a:solidFill>
                <a:latin typeface="Arial"/>
                <a:cs typeface="Arial"/>
              </a:rPr>
              <a:t> </a:t>
            </a:r>
            <a:r>
              <a:rPr sz="2024" b="1" kern="0" spc="-5" dirty="0">
                <a:solidFill>
                  <a:srgbClr val="24130B"/>
                </a:solidFill>
                <a:latin typeface="Arial"/>
                <a:cs typeface="Arial"/>
              </a:rPr>
              <a:t>intuition</a:t>
            </a:r>
            <a:r>
              <a:rPr sz="2024" b="1" kern="0" spc="-9" dirty="0">
                <a:solidFill>
                  <a:srgbClr val="24130B"/>
                </a:solidFill>
                <a:latin typeface="Arial"/>
                <a:cs typeface="Arial"/>
              </a:rPr>
              <a:t> </a:t>
            </a:r>
            <a:r>
              <a:rPr sz="2024" b="1" kern="0" dirty="0">
                <a:solidFill>
                  <a:srgbClr val="24130B"/>
                </a:solidFill>
                <a:latin typeface="Arial"/>
                <a:cs typeface="Arial"/>
              </a:rPr>
              <a:t>for</a:t>
            </a:r>
            <a:r>
              <a:rPr sz="2024" b="1" kern="0" spc="-9" dirty="0">
                <a:solidFill>
                  <a:srgbClr val="24130B"/>
                </a:solidFill>
                <a:latin typeface="Arial"/>
                <a:cs typeface="Arial"/>
              </a:rPr>
              <a:t> </a:t>
            </a:r>
            <a:r>
              <a:rPr sz="2024" b="1" kern="0" dirty="0">
                <a:solidFill>
                  <a:srgbClr val="24130B"/>
                </a:solidFill>
                <a:latin typeface="Arial"/>
                <a:cs typeface="Arial"/>
              </a:rPr>
              <a:t>the</a:t>
            </a:r>
            <a:r>
              <a:rPr sz="2024" b="1" kern="0" spc="-9" dirty="0">
                <a:solidFill>
                  <a:srgbClr val="24130B"/>
                </a:solidFill>
                <a:latin typeface="Arial"/>
                <a:cs typeface="Arial"/>
              </a:rPr>
              <a:t> </a:t>
            </a:r>
            <a:r>
              <a:rPr sz="2024" b="1" kern="0" dirty="0">
                <a:solidFill>
                  <a:srgbClr val="24130B"/>
                </a:solidFill>
                <a:latin typeface="Arial"/>
                <a:cs typeface="Arial"/>
              </a:rPr>
              <a:t>data</a:t>
            </a:r>
            <a:r>
              <a:rPr sz="2024" b="1" kern="0" spc="-11" dirty="0">
                <a:solidFill>
                  <a:srgbClr val="24130B"/>
                </a:solidFill>
                <a:latin typeface="Arial"/>
                <a:cs typeface="Arial"/>
              </a:rPr>
              <a:t> </a:t>
            </a:r>
            <a:r>
              <a:rPr sz="2024" b="1" kern="0" dirty="0">
                <a:solidFill>
                  <a:srgbClr val="24130B"/>
                </a:solidFill>
                <a:latin typeface="Arial"/>
                <a:cs typeface="Arial"/>
              </a:rPr>
              <a:t>structure,</a:t>
            </a:r>
            <a:r>
              <a:rPr sz="2024" b="1" kern="0" spc="-9" dirty="0">
                <a:solidFill>
                  <a:srgbClr val="24130B"/>
                </a:solidFill>
                <a:latin typeface="Arial"/>
                <a:cs typeface="Arial"/>
              </a:rPr>
              <a:t> let’s </a:t>
            </a:r>
            <a:r>
              <a:rPr sz="2024" b="1" kern="0" dirty="0">
                <a:solidFill>
                  <a:srgbClr val="24130B"/>
                </a:solidFill>
                <a:latin typeface="Arial"/>
                <a:cs typeface="Arial"/>
              </a:rPr>
              <a:t>break</a:t>
            </a:r>
            <a:r>
              <a:rPr sz="2024" b="1" kern="0" spc="-9" dirty="0">
                <a:solidFill>
                  <a:srgbClr val="24130B"/>
                </a:solidFill>
                <a:latin typeface="Arial"/>
                <a:cs typeface="Arial"/>
              </a:rPr>
              <a:t> </a:t>
            </a:r>
            <a:r>
              <a:rPr sz="2024" b="1" kern="0" dirty="0">
                <a:solidFill>
                  <a:srgbClr val="24130B"/>
                </a:solidFill>
                <a:latin typeface="Arial"/>
                <a:cs typeface="Arial"/>
              </a:rPr>
              <a:t>it</a:t>
            </a:r>
            <a:r>
              <a:rPr sz="2024" b="1" kern="0" spc="-9" dirty="0">
                <a:solidFill>
                  <a:srgbClr val="24130B"/>
                </a:solidFill>
                <a:latin typeface="Arial"/>
                <a:cs typeface="Arial"/>
              </a:rPr>
              <a:t> down</a:t>
            </a:r>
            <a:endParaRPr sz="2024" kern="0" dirty="0">
              <a:solidFill>
                <a:sysClr val="windowText" lastClr="000000"/>
              </a:solidFill>
              <a:latin typeface="Arial"/>
              <a:cs typeface="Arial"/>
            </a:endParaRPr>
          </a:p>
        </p:txBody>
      </p:sp>
      <p:sp>
        <p:nvSpPr>
          <p:cNvPr id="3" name="object 3"/>
          <p:cNvSpPr txBox="1">
            <a:spLocks noGrp="1"/>
          </p:cNvSpPr>
          <p:nvPr>
            <p:ph type="title"/>
          </p:nvPr>
        </p:nvSpPr>
        <p:spPr>
          <a:xfrm>
            <a:off x="657046" y="188640"/>
            <a:ext cx="7458358" cy="438178"/>
          </a:xfrm>
          <a:prstGeom prst="rect">
            <a:avLst/>
          </a:prstGeom>
        </p:spPr>
        <p:txBody>
          <a:bodyPr vert="horz" wrap="square" lIns="0" tIns="7220" rIns="0" bIns="0" rtlCol="0">
            <a:spAutoFit/>
          </a:body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
        <p:nvSpPr>
          <p:cNvPr id="4" name="object 4"/>
          <p:cNvSpPr txBox="1"/>
          <p:nvPr/>
        </p:nvSpPr>
        <p:spPr>
          <a:xfrm>
            <a:off x="1648323" y="4551832"/>
            <a:ext cx="2270668" cy="317328"/>
          </a:xfrm>
          <a:prstGeom prst="rect">
            <a:avLst/>
          </a:prstGeom>
        </p:spPr>
        <p:txBody>
          <a:bodyPr vert="horz" wrap="square" lIns="0" tIns="5776" rIns="0" bIns="0" rtlCol="0">
            <a:spAutoFit/>
          </a:bodyPr>
          <a:lstStyle/>
          <a:p>
            <a:pPr marL="348676" indent="-342900" defTabSz="415869" fontAlgn="auto">
              <a:spcBef>
                <a:spcPts val="45"/>
              </a:spcBef>
              <a:spcAft>
                <a:spcPts val="0"/>
              </a:spcAft>
              <a:buFont typeface="Arial" panose="020B0604020202020204" pitchFamily="34" charset="0"/>
              <a:buChar char="•"/>
            </a:pPr>
            <a:r>
              <a:rPr sz="2024" kern="0" spc="30" dirty="0">
                <a:solidFill>
                  <a:sysClr val="windowText" lastClr="000000"/>
                </a:solidFill>
                <a:latin typeface="Arial MT"/>
                <a:cs typeface="Arial MT"/>
              </a:rPr>
              <a:t>Log-</a:t>
            </a:r>
            <a:r>
              <a:rPr sz="2024" kern="0" spc="-5" dirty="0">
                <a:solidFill>
                  <a:sysClr val="windowText" lastClr="000000"/>
                </a:solidFill>
                <a:latin typeface="Arial MT"/>
                <a:cs typeface="Arial MT"/>
              </a:rPr>
              <a:t>structured</a:t>
            </a:r>
            <a:endParaRPr sz="2024" kern="0" dirty="0">
              <a:solidFill>
                <a:sysClr val="windowText" lastClr="000000"/>
              </a:solidFill>
              <a:latin typeface="Arial MT"/>
              <a:cs typeface="Arial MT"/>
            </a:endParaRPr>
          </a:p>
        </p:txBody>
      </p:sp>
      <p:sp>
        <p:nvSpPr>
          <p:cNvPr id="5" name="object 5"/>
          <p:cNvSpPr txBox="1"/>
          <p:nvPr/>
        </p:nvSpPr>
        <p:spPr>
          <a:xfrm>
            <a:off x="4386225" y="4551832"/>
            <a:ext cx="737932" cy="317328"/>
          </a:xfrm>
          <a:prstGeom prst="rect">
            <a:avLst/>
          </a:prstGeom>
        </p:spPr>
        <p:txBody>
          <a:bodyPr vert="horz" wrap="square" lIns="0" tIns="5776" rIns="0" bIns="0" rtlCol="0">
            <a:spAutoFit/>
          </a:bodyPr>
          <a:lstStyle/>
          <a:p>
            <a:pPr marL="5776" defTabSz="415869" fontAlgn="auto">
              <a:spcBef>
                <a:spcPts val="45"/>
              </a:spcBef>
              <a:spcAft>
                <a:spcPts val="0"/>
              </a:spcAft>
            </a:pPr>
            <a:r>
              <a:rPr sz="2024" kern="0" spc="-5" dirty="0">
                <a:solidFill>
                  <a:sysClr val="windowText" lastClr="000000"/>
                </a:solidFill>
                <a:latin typeface="Arial MT"/>
                <a:cs typeface="Arial MT"/>
              </a:rPr>
              <a:t>Merge</a:t>
            </a:r>
            <a:endParaRPr sz="2024" kern="0">
              <a:solidFill>
                <a:sysClr val="windowText" lastClr="000000"/>
              </a:solidFill>
              <a:latin typeface="Arial MT"/>
              <a:cs typeface="Arial MT"/>
            </a:endParaRPr>
          </a:p>
        </p:txBody>
      </p:sp>
      <p:sp>
        <p:nvSpPr>
          <p:cNvPr id="6" name="object 6"/>
          <p:cNvSpPr txBox="1"/>
          <p:nvPr/>
        </p:nvSpPr>
        <p:spPr>
          <a:xfrm>
            <a:off x="5591443" y="4551832"/>
            <a:ext cx="492725" cy="317328"/>
          </a:xfrm>
          <a:prstGeom prst="rect">
            <a:avLst/>
          </a:prstGeom>
        </p:spPr>
        <p:txBody>
          <a:bodyPr vert="horz" wrap="square" lIns="0" tIns="5776" rIns="0" bIns="0" rtlCol="0">
            <a:spAutoFit/>
          </a:bodyPr>
          <a:lstStyle/>
          <a:p>
            <a:pPr marL="5776" defTabSz="415869" fontAlgn="auto">
              <a:spcBef>
                <a:spcPts val="45"/>
              </a:spcBef>
              <a:spcAft>
                <a:spcPts val="0"/>
              </a:spcAft>
            </a:pPr>
            <a:r>
              <a:rPr sz="2024" kern="0" spc="-91" dirty="0">
                <a:solidFill>
                  <a:sysClr val="windowText" lastClr="000000"/>
                </a:solidFill>
                <a:latin typeface="Arial MT"/>
                <a:cs typeface="Arial MT"/>
              </a:rPr>
              <a:t>Tree</a:t>
            </a:r>
            <a:endParaRPr sz="2024" kern="0">
              <a:solidFill>
                <a:sysClr val="windowText" lastClr="000000"/>
              </a:solidFill>
              <a:latin typeface="Arial MT"/>
              <a:cs typeface="Arial MT"/>
            </a:endParaRPr>
          </a:p>
        </p:txBody>
      </p:sp>
      <p:sp>
        <p:nvSpPr>
          <p:cNvPr id="7" name="object 7"/>
          <p:cNvSpPr txBox="1"/>
          <p:nvPr/>
        </p:nvSpPr>
        <p:spPr>
          <a:xfrm>
            <a:off x="4056571" y="4555636"/>
            <a:ext cx="98487" cy="305328"/>
          </a:xfrm>
          <a:prstGeom prst="rect">
            <a:avLst/>
          </a:prstGeom>
        </p:spPr>
        <p:txBody>
          <a:bodyPr vert="horz" wrap="square" lIns="0" tIns="7798" rIns="0" bIns="0" rtlCol="0">
            <a:spAutoFit/>
          </a:bodyPr>
          <a:lstStyle/>
          <a:p>
            <a:pPr marL="5776" defTabSz="415869" fontAlgn="auto">
              <a:spcBef>
                <a:spcPts val="61"/>
              </a:spcBef>
              <a:spcAft>
                <a:spcPts val="0"/>
              </a:spcAft>
            </a:pPr>
            <a:r>
              <a:rPr sz="1933" kern="0" spc="-23" dirty="0">
                <a:solidFill>
                  <a:srgbClr val="222222"/>
                </a:solidFill>
                <a:latin typeface="Arial MT"/>
                <a:cs typeface="Arial MT"/>
              </a:rPr>
              <a:t>•</a:t>
            </a:r>
            <a:endParaRPr sz="1933" kern="0">
              <a:solidFill>
                <a:sysClr val="windowText" lastClr="000000"/>
              </a:solidFill>
              <a:latin typeface="Arial MT"/>
              <a:cs typeface="Arial MT"/>
            </a:endParaRPr>
          </a:p>
        </p:txBody>
      </p:sp>
      <p:sp>
        <p:nvSpPr>
          <p:cNvPr id="8" name="object 8"/>
          <p:cNvSpPr txBox="1"/>
          <p:nvPr/>
        </p:nvSpPr>
        <p:spPr>
          <a:xfrm>
            <a:off x="5306232" y="4555636"/>
            <a:ext cx="98487" cy="305328"/>
          </a:xfrm>
          <a:prstGeom prst="rect">
            <a:avLst/>
          </a:prstGeom>
        </p:spPr>
        <p:txBody>
          <a:bodyPr vert="horz" wrap="square" lIns="0" tIns="7798" rIns="0" bIns="0" rtlCol="0">
            <a:spAutoFit/>
          </a:bodyPr>
          <a:lstStyle/>
          <a:p>
            <a:pPr marL="5776" defTabSz="415869" fontAlgn="auto">
              <a:spcBef>
                <a:spcPts val="61"/>
              </a:spcBef>
              <a:spcAft>
                <a:spcPts val="0"/>
              </a:spcAft>
            </a:pPr>
            <a:r>
              <a:rPr sz="1933" kern="0" spc="-23" dirty="0">
                <a:solidFill>
                  <a:srgbClr val="222222"/>
                </a:solidFill>
                <a:latin typeface="Arial MT"/>
                <a:cs typeface="Arial MT"/>
              </a:rPr>
              <a:t>•</a:t>
            </a:r>
            <a:endParaRPr sz="1933" kern="0">
              <a:solidFill>
                <a:sysClr val="windowText" lastClr="000000"/>
              </a:solidFill>
              <a:latin typeface="Arial MT"/>
              <a:cs typeface="Arial MT"/>
            </a:endParaRPr>
          </a:p>
        </p:txBody>
      </p:sp>
    </p:spTree>
    <p:extLst>
      <p:ext uri="{BB962C8B-B14F-4D97-AF65-F5344CB8AC3E}">
        <p14:creationId xmlns:p14="http://schemas.microsoft.com/office/powerpoint/2010/main" val="165840876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21738" y="1356206"/>
            <a:ext cx="8370742" cy="831639"/>
          </a:xfrm>
          <a:prstGeom prst="rect">
            <a:avLst/>
          </a:prstGeom>
        </p:spPr>
        <p:txBody>
          <a:bodyPr vert="horz" wrap="square" lIns="0" tIns="137478" rIns="0" bIns="0" rtlCol="0">
            <a:spAutoFit/>
          </a:bodyPr>
          <a:lstStyle/>
          <a:p>
            <a:pPr marL="5776" defTabSz="415869" fontAlgn="auto">
              <a:spcBef>
                <a:spcPts val="1082"/>
              </a:spcBef>
              <a:spcAft>
                <a:spcPts val="0"/>
              </a:spcAft>
            </a:pPr>
            <a:r>
              <a:rPr sz="2024" b="1" kern="0" dirty="0">
                <a:solidFill>
                  <a:sysClr val="windowText" lastClr="000000"/>
                </a:solidFill>
                <a:latin typeface="Arial"/>
                <a:cs typeface="Arial"/>
              </a:rPr>
              <a:t>Log-</a:t>
            </a:r>
            <a:r>
              <a:rPr sz="2024" b="1" kern="0" spc="-5" dirty="0">
                <a:solidFill>
                  <a:sysClr val="windowText" lastClr="000000"/>
                </a:solidFill>
                <a:latin typeface="Arial"/>
                <a:cs typeface="Arial"/>
              </a:rPr>
              <a:t>structured</a:t>
            </a:r>
            <a:endParaRPr sz="2024" kern="0" dirty="0">
              <a:solidFill>
                <a:sysClr val="windowText" lastClr="000000"/>
              </a:solidFill>
              <a:latin typeface="Arial"/>
              <a:cs typeface="Arial"/>
            </a:endParaRPr>
          </a:p>
          <a:p>
            <a:pPr marL="406916" indent="-167503" defTabSz="415869" fontAlgn="auto">
              <a:spcBef>
                <a:spcPts val="880"/>
              </a:spcBef>
              <a:spcAft>
                <a:spcPts val="0"/>
              </a:spcAft>
              <a:buClr>
                <a:srgbClr val="24130B"/>
              </a:buClr>
              <a:buFontTx/>
              <a:buChar char="•"/>
              <a:tabLst>
                <a:tab pos="406916" algn="l"/>
              </a:tabLst>
            </a:pPr>
            <a:r>
              <a:rPr sz="1728" kern="0" dirty="0">
                <a:solidFill>
                  <a:srgbClr val="0A519E"/>
                </a:solidFill>
                <a:latin typeface="Arial MT"/>
                <a:cs typeface="Arial MT"/>
              </a:rPr>
              <a:t>All</a:t>
            </a:r>
            <a:r>
              <a:rPr sz="1728" kern="0" spc="-9" dirty="0">
                <a:solidFill>
                  <a:srgbClr val="0A519E"/>
                </a:solidFill>
                <a:latin typeface="Arial MT"/>
                <a:cs typeface="Arial MT"/>
              </a:rPr>
              <a:t> </a:t>
            </a:r>
            <a:r>
              <a:rPr sz="1728" kern="0" dirty="0">
                <a:solidFill>
                  <a:srgbClr val="0A519E"/>
                </a:solidFill>
                <a:latin typeface="Arial MT"/>
                <a:cs typeface="Arial MT"/>
              </a:rPr>
              <a:t>data</a:t>
            </a:r>
            <a:r>
              <a:rPr sz="1728" kern="0" spc="-9" dirty="0">
                <a:solidFill>
                  <a:srgbClr val="0A519E"/>
                </a:solidFill>
                <a:latin typeface="Arial MT"/>
                <a:cs typeface="Arial MT"/>
              </a:rPr>
              <a:t> </a:t>
            </a:r>
            <a:r>
              <a:rPr sz="1728" kern="0" dirty="0">
                <a:solidFill>
                  <a:srgbClr val="0A519E"/>
                </a:solidFill>
                <a:latin typeface="Arial MT"/>
                <a:cs typeface="Arial MT"/>
              </a:rPr>
              <a:t>is</a:t>
            </a:r>
            <a:r>
              <a:rPr sz="1728" kern="0" spc="-9" dirty="0">
                <a:solidFill>
                  <a:srgbClr val="0A519E"/>
                </a:solidFill>
                <a:latin typeface="Arial MT"/>
                <a:cs typeface="Arial MT"/>
              </a:rPr>
              <a:t> </a:t>
            </a:r>
            <a:r>
              <a:rPr sz="1728" kern="0" dirty="0">
                <a:solidFill>
                  <a:srgbClr val="0A519E"/>
                </a:solidFill>
                <a:latin typeface="Arial MT"/>
                <a:cs typeface="Arial MT"/>
              </a:rPr>
              <a:t>written</a:t>
            </a:r>
            <a:r>
              <a:rPr sz="1728" kern="0" spc="-7" dirty="0">
                <a:solidFill>
                  <a:srgbClr val="0A519E"/>
                </a:solidFill>
                <a:latin typeface="Arial MT"/>
                <a:cs typeface="Arial MT"/>
              </a:rPr>
              <a:t> </a:t>
            </a:r>
            <a:r>
              <a:rPr sz="1728" kern="0" spc="-5" dirty="0">
                <a:solidFill>
                  <a:srgbClr val="0A519E"/>
                </a:solidFill>
                <a:latin typeface="Arial MT"/>
                <a:cs typeface="Arial MT"/>
              </a:rPr>
              <a:t>sequentially,</a:t>
            </a:r>
            <a:r>
              <a:rPr sz="1728" kern="0" spc="-9" dirty="0">
                <a:solidFill>
                  <a:srgbClr val="0A519E"/>
                </a:solidFill>
                <a:latin typeface="Arial MT"/>
                <a:cs typeface="Arial MT"/>
              </a:rPr>
              <a:t> </a:t>
            </a:r>
            <a:r>
              <a:rPr sz="1728" kern="0" spc="-5" dirty="0">
                <a:solidFill>
                  <a:srgbClr val="0A519E"/>
                </a:solidFill>
                <a:latin typeface="Arial MT"/>
                <a:cs typeface="Arial MT"/>
              </a:rPr>
              <a:t>regardless</a:t>
            </a:r>
            <a:r>
              <a:rPr sz="1728" kern="0" spc="-9" dirty="0">
                <a:solidFill>
                  <a:srgbClr val="0A519E"/>
                </a:solidFill>
                <a:latin typeface="Arial MT"/>
                <a:cs typeface="Arial MT"/>
              </a:rPr>
              <a:t> </a:t>
            </a:r>
            <a:r>
              <a:rPr sz="1728" kern="0" spc="27" dirty="0">
                <a:solidFill>
                  <a:srgbClr val="0A519E"/>
                </a:solidFill>
                <a:latin typeface="Arial MT"/>
                <a:cs typeface="Arial MT"/>
              </a:rPr>
              <a:t>of</a:t>
            </a:r>
            <a:r>
              <a:rPr sz="1728" kern="0" spc="-7" dirty="0">
                <a:solidFill>
                  <a:srgbClr val="0A519E"/>
                </a:solidFill>
                <a:latin typeface="Arial MT"/>
                <a:cs typeface="Arial MT"/>
              </a:rPr>
              <a:t> </a:t>
            </a:r>
            <a:r>
              <a:rPr sz="1728" kern="0" dirty="0">
                <a:solidFill>
                  <a:srgbClr val="0A519E"/>
                </a:solidFill>
                <a:latin typeface="Arial MT"/>
                <a:cs typeface="Arial MT"/>
              </a:rPr>
              <a:t>logical</a:t>
            </a:r>
            <a:r>
              <a:rPr sz="1728" kern="0" spc="-9" dirty="0">
                <a:solidFill>
                  <a:srgbClr val="0A519E"/>
                </a:solidFill>
                <a:latin typeface="Arial MT"/>
                <a:cs typeface="Arial MT"/>
              </a:rPr>
              <a:t> </a:t>
            </a:r>
            <a:r>
              <a:rPr sz="1728" kern="0" spc="-5" dirty="0">
                <a:solidFill>
                  <a:srgbClr val="0A519E"/>
                </a:solidFill>
                <a:latin typeface="Arial MT"/>
                <a:cs typeface="Arial MT"/>
              </a:rPr>
              <a:t>ordering</a:t>
            </a:r>
            <a:endParaRPr sz="1728" kern="0" dirty="0">
              <a:solidFill>
                <a:sysClr val="windowText" lastClr="000000"/>
              </a:solidFill>
              <a:latin typeface="Arial MT"/>
              <a:cs typeface="Arial MT"/>
            </a:endParaRPr>
          </a:p>
        </p:txBody>
      </p:sp>
      <p:sp>
        <p:nvSpPr>
          <p:cNvPr id="4" name="object 4"/>
          <p:cNvSpPr txBox="1"/>
          <p:nvPr/>
        </p:nvSpPr>
        <p:spPr>
          <a:xfrm>
            <a:off x="4225318" y="3490871"/>
            <a:ext cx="737932" cy="317328"/>
          </a:xfrm>
          <a:prstGeom prst="rect">
            <a:avLst/>
          </a:prstGeom>
        </p:spPr>
        <p:txBody>
          <a:bodyPr vert="horz" wrap="square" lIns="0" tIns="5776" rIns="0" bIns="0" rtlCol="0">
            <a:spAutoFit/>
          </a:bodyPr>
          <a:lstStyle/>
          <a:p>
            <a:pPr marL="5776" defTabSz="415869" fontAlgn="auto">
              <a:spcBef>
                <a:spcPts val="45"/>
              </a:spcBef>
              <a:spcAft>
                <a:spcPts val="0"/>
              </a:spcAft>
            </a:pPr>
            <a:r>
              <a:rPr sz="2024" kern="0" spc="-5" dirty="0">
                <a:solidFill>
                  <a:sysClr val="windowText" lastClr="000000"/>
                </a:solidFill>
                <a:latin typeface="Arial MT"/>
                <a:cs typeface="Arial MT"/>
              </a:rPr>
              <a:t>Merge</a:t>
            </a:r>
            <a:endParaRPr sz="2024" kern="0">
              <a:solidFill>
                <a:sysClr val="windowText" lastClr="000000"/>
              </a:solidFill>
              <a:latin typeface="Arial MT"/>
              <a:cs typeface="Arial MT"/>
            </a:endParaRPr>
          </a:p>
        </p:txBody>
      </p:sp>
      <p:sp>
        <p:nvSpPr>
          <p:cNvPr id="5" name="object 5"/>
          <p:cNvSpPr txBox="1"/>
          <p:nvPr/>
        </p:nvSpPr>
        <p:spPr>
          <a:xfrm>
            <a:off x="5430536" y="3490871"/>
            <a:ext cx="492725" cy="317328"/>
          </a:xfrm>
          <a:prstGeom prst="rect">
            <a:avLst/>
          </a:prstGeom>
        </p:spPr>
        <p:txBody>
          <a:bodyPr vert="horz" wrap="square" lIns="0" tIns="5776" rIns="0" bIns="0" rtlCol="0">
            <a:spAutoFit/>
          </a:bodyPr>
          <a:lstStyle/>
          <a:p>
            <a:pPr marL="5776" defTabSz="415869" fontAlgn="auto">
              <a:spcBef>
                <a:spcPts val="45"/>
              </a:spcBef>
              <a:spcAft>
                <a:spcPts val="0"/>
              </a:spcAft>
            </a:pPr>
            <a:r>
              <a:rPr sz="2024" kern="0" spc="-91" dirty="0">
                <a:solidFill>
                  <a:sysClr val="windowText" lastClr="000000"/>
                </a:solidFill>
                <a:latin typeface="Arial MT"/>
                <a:cs typeface="Arial MT"/>
              </a:rPr>
              <a:t>Tree</a:t>
            </a:r>
            <a:endParaRPr sz="2024" kern="0">
              <a:solidFill>
                <a:sysClr val="windowText" lastClr="000000"/>
              </a:solidFill>
              <a:latin typeface="Arial MT"/>
              <a:cs typeface="Arial MT"/>
            </a:endParaRPr>
          </a:p>
        </p:txBody>
      </p:sp>
      <p:sp>
        <p:nvSpPr>
          <p:cNvPr id="6" name="object 6"/>
          <p:cNvSpPr txBox="1"/>
          <p:nvPr/>
        </p:nvSpPr>
        <p:spPr>
          <a:xfrm>
            <a:off x="5145325" y="3494675"/>
            <a:ext cx="98487" cy="305328"/>
          </a:xfrm>
          <a:prstGeom prst="rect">
            <a:avLst/>
          </a:prstGeom>
        </p:spPr>
        <p:txBody>
          <a:bodyPr vert="horz" wrap="square" lIns="0" tIns="7798" rIns="0" bIns="0" rtlCol="0">
            <a:spAutoFit/>
          </a:bodyPr>
          <a:lstStyle/>
          <a:p>
            <a:pPr marL="5776" defTabSz="415869" fontAlgn="auto">
              <a:spcBef>
                <a:spcPts val="61"/>
              </a:spcBef>
              <a:spcAft>
                <a:spcPts val="0"/>
              </a:spcAft>
            </a:pPr>
            <a:r>
              <a:rPr sz="1933" kern="0" spc="-23" dirty="0">
                <a:solidFill>
                  <a:srgbClr val="222222"/>
                </a:solidFill>
                <a:latin typeface="Arial MT"/>
                <a:cs typeface="Arial MT"/>
              </a:rPr>
              <a:t>•</a:t>
            </a:r>
            <a:endParaRPr sz="1933" kern="0" dirty="0">
              <a:solidFill>
                <a:sysClr val="windowText" lastClr="000000"/>
              </a:solidFill>
              <a:latin typeface="Arial MT"/>
              <a:cs typeface="Arial MT"/>
            </a:endParaRPr>
          </a:p>
        </p:txBody>
      </p:sp>
      <p:sp>
        <p:nvSpPr>
          <p:cNvPr id="8" name="object 3"/>
          <p:cNvSpPr txBox="1">
            <a:spLocks noGrp="1"/>
          </p:cNvSpPr>
          <p:nvPr>
            <p:ph type="title"/>
          </p:nvPr>
        </p:nvSpPr>
        <p:spPr>
          <a:xfrm>
            <a:off x="657046" y="188640"/>
            <a:ext cx="7458358" cy="438178"/>
          </a:xfrm>
          <a:prstGeom prst="rect">
            <a:avLst/>
          </a:prstGeom>
        </p:spPr>
        <p:txBody>
          <a:bodyPr vert="horz" wrap="square" lIns="0" tIns="7220" rIns="0" bIns="0" rtlCol="0">
            <a:spAutoFit/>
          </a:body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
        <p:nvSpPr>
          <p:cNvPr id="9" name="object 6"/>
          <p:cNvSpPr txBox="1"/>
          <p:nvPr/>
        </p:nvSpPr>
        <p:spPr>
          <a:xfrm>
            <a:off x="3923928" y="3501008"/>
            <a:ext cx="98487" cy="305328"/>
          </a:xfrm>
          <a:prstGeom prst="rect">
            <a:avLst/>
          </a:prstGeom>
        </p:spPr>
        <p:txBody>
          <a:bodyPr vert="horz" wrap="square" lIns="0" tIns="7798" rIns="0" bIns="0" rtlCol="0">
            <a:spAutoFit/>
          </a:bodyPr>
          <a:lstStyle/>
          <a:p>
            <a:pPr marL="5776" defTabSz="415869" fontAlgn="auto">
              <a:spcBef>
                <a:spcPts val="61"/>
              </a:spcBef>
              <a:spcAft>
                <a:spcPts val="0"/>
              </a:spcAft>
            </a:pPr>
            <a:r>
              <a:rPr sz="1933" kern="0" spc="-23" dirty="0">
                <a:solidFill>
                  <a:srgbClr val="222222"/>
                </a:solidFill>
                <a:latin typeface="Arial MT"/>
                <a:cs typeface="Arial MT"/>
              </a:rPr>
              <a:t>•</a:t>
            </a:r>
            <a:endParaRPr sz="1933" kern="0" dirty="0">
              <a:solidFill>
                <a:sysClr val="windowText" lastClr="000000"/>
              </a:solidFill>
              <a:latin typeface="Arial MT"/>
              <a:cs typeface="Arial MT"/>
            </a:endParaRPr>
          </a:p>
        </p:txBody>
      </p:sp>
    </p:spTree>
    <p:extLst>
      <p:ext uri="{BB962C8B-B14F-4D97-AF65-F5344CB8AC3E}">
        <p14:creationId xmlns:p14="http://schemas.microsoft.com/office/powerpoint/2010/main" val="25000735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9864" y="1196024"/>
            <a:ext cx="8238600" cy="2425537"/>
          </a:xfrm>
          <a:prstGeom prst="rect">
            <a:avLst/>
          </a:prstGeom>
        </p:spPr>
        <p:txBody>
          <a:bodyPr vert="horz" wrap="square" lIns="0" tIns="137478" rIns="0" bIns="0" rtlCol="0">
            <a:spAutoFit/>
          </a:bodyPr>
          <a:lstStyle/>
          <a:p>
            <a:pPr marL="17617" defTabSz="415869" fontAlgn="auto">
              <a:spcBef>
                <a:spcPts val="1082"/>
              </a:spcBef>
              <a:spcAft>
                <a:spcPts val="0"/>
              </a:spcAft>
            </a:pPr>
            <a:r>
              <a:rPr sz="2024" b="1" kern="0" dirty="0">
                <a:solidFill>
                  <a:sysClr val="windowText" lastClr="000000"/>
                </a:solidFill>
                <a:latin typeface="Arial"/>
                <a:cs typeface="Arial"/>
              </a:rPr>
              <a:t>Log-</a:t>
            </a:r>
            <a:r>
              <a:rPr sz="2024" b="1" kern="0" spc="-5" dirty="0">
                <a:solidFill>
                  <a:sysClr val="windowText" lastClr="000000"/>
                </a:solidFill>
                <a:latin typeface="Arial"/>
                <a:cs typeface="Arial"/>
              </a:rPr>
              <a:t>structured</a:t>
            </a:r>
            <a:endParaRPr sz="2024" kern="0" dirty="0">
              <a:solidFill>
                <a:sysClr val="windowText" lastClr="000000"/>
              </a:solidFill>
              <a:latin typeface="Arial"/>
              <a:cs typeface="Arial"/>
            </a:endParaRPr>
          </a:p>
          <a:p>
            <a:pPr marL="418757" indent="-167503" defTabSz="415869" fontAlgn="auto">
              <a:spcBef>
                <a:spcPts val="880"/>
              </a:spcBef>
              <a:spcAft>
                <a:spcPts val="0"/>
              </a:spcAft>
              <a:buClr>
                <a:srgbClr val="24130B"/>
              </a:buClr>
              <a:buFontTx/>
              <a:buChar char="•"/>
              <a:tabLst>
                <a:tab pos="418757" algn="l"/>
              </a:tabLst>
            </a:pPr>
            <a:r>
              <a:rPr sz="1728" kern="0" dirty="0">
                <a:solidFill>
                  <a:srgbClr val="0A519E"/>
                </a:solidFill>
                <a:latin typeface="Arial MT"/>
                <a:cs typeface="Arial MT"/>
              </a:rPr>
              <a:t>All</a:t>
            </a:r>
            <a:r>
              <a:rPr sz="1728" kern="0" spc="-9" dirty="0">
                <a:solidFill>
                  <a:srgbClr val="0A519E"/>
                </a:solidFill>
                <a:latin typeface="Arial MT"/>
                <a:cs typeface="Arial MT"/>
              </a:rPr>
              <a:t> </a:t>
            </a:r>
            <a:r>
              <a:rPr sz="1728" kern="0" dirty="0">
                <a:solidFill>
                  <a:srgbClr val="0A519E"/>
                </a:solidFill>
                <a:latin typeface="Arial MT"/>
                <a:cs typeface="Arial MT"/>
              </a:rPr>
              <a:t>data</a:t>
            </a:r>
            <a:r>
              <a:rPr sz="1728" kern="0" spc="-9" dirty="0">
                <a:solidFill>
                  <a:srgbClr val="0A519E"/>
                </a:solidFill>
                <a:latin typeface="Arial MT"/>
                <a:cs typeface="Arial MT"/>
              </a:rPr>
              <a:t> </a:t>
            </a:r>
            <a:r>
              <a:rPr sz="1728" kern="0" dirty="0">
                <a:solidFill>
                  <a:srgbClr val="0A519E"/>
                </a:solidFill>
                <a:latin typeface="Arial MT"/>
                <a:cs typeface="Arial MT"/>
              </a:rPr>
              <a:t>is</a:t>
            </a:r>
            <a:r>
              <a:rPr sz="1728" kern="0" spc="-9" dirty="0">
                <a:solidFill>
                  <a:srgbClr val="0A519E"/>
                </a:solidFill>
                <a:latin typeface="Arial MT"/>
                <a:cs typeface="Arial MT"/>
              </a:rPr>
              <a:t> </a:t>
            </a:r>
            <a:r>
              <a:rPr sz="1728" kern="0" dirty="0">
                <a:solidFill>
                  <a:srgbClr val="0A519E"/>
                </a:solidFill>
                <a:latin typeface="Arial MT"/>
                <a:cs typeface="Arial MT"/>
              </a:rPr>
              <a:t>written</a:t>
            </a:r>
            <a:r>
              <a:rPr sz="1728" kern="0" spc="-7" dirty="0">
                <a:solidFill>
                  <a:srgbClr val="0A519E"/>
                </a:solidFill>
                <a:latin typeface="Arial MT"/>
                <a:cs typeface="Arial MT"/>
              </a:rPr>
              <a:t> </a:t>
            </a:r>
            <a:r>
              <a:rPr sz="1728" kern="0" spc="-5" dirty="0">
                <a:solidFill>
                  <a:srgbClr val="0A519E"/>
                </a:solidFill>
                <a:latin typeface="Arial MT"/>
                <a:cs typeface="Arial MT"/>
              </a:rPr>
              <a:t>sequentially,</a:t>
            </a:r>
            <a:r>
              <a:rPr sz="1728" kern="0" spc="-9" dirty="0">
                <a:solidFill>
                  <a:srgbClr val="0A519E"/>
                </a:solidFill>
                <a:latin typeface="Arial MT"/>
                <a:cs typeface="Arial MT"/>
              </a:rPr>
              <a:t> </a:t>
            </a:r>
            <a:r>
              <a:rPr sz="1728" kern="0" spc="-5" dirty="0">
                <a:solidFill>
                  <a:srgbClr val="0A519E"/>
                </a:solidFill>
                <a:latin typeface="Arial MT"/>
                <a:cs typeface="Arial MT"/>
              </a:rPr>
              <a:t>regardless</a:t>
            </a:r>
            <a:r>
              <a:rPr sz="1728" kern="0" spc="-9" dirty="0">
                <a:solidFill>
                  <a:srgbClr val="0A519E"/>
                </a:solidFill>
                <a:latin typeface="Arial MT"/>
                <a:cs typeface="Arial MT"/>
              </a:rPr>
              <a:t> </a:t>
            </a:r>
            <a:r>
              <a:rPr sz="1728" kern="0" spc="27" dirty="0">
                <a:solidFill>
                  <a:srgbClr val="0A519E"/>
                </a:solidFill>
                <a:latin typeface="Arial MT"/>
                <a:cs typeface="Arial MT"/>
              </a:rPr>
              <a:t>of</a:t>
            </a:r>
            <a:r>
              <a:rPr sz="1728" kern="0" spc="-7" dirty="0">
                <a:solidFill>
                  <a:srgbClr val="0A519E"/>
                </a:solidFill>
                <a:latin typeface="Arial MT"/>
                <a:cs typeface="Arial MT"/>
              </a:rPr>
              <a:t> </a:t>
            </a:r>
            <a:r>
              <a:rPr sz="1728" kern="0" dirty="0">
                <a:solidFill>
                  <a:srgbClr val="0A519E"/>
                </a:solidFill>
                <a:latin typeface="Arial MT"/>
                <a:cs typeface="Arial MT"/>
              </a:rPr>
              <a:t>logical</a:t>
            </a:r>
            <a:r>
              <a:rPr sz="1728" kern="0" spc="-9" dirty="0">
                <a:solidFill>
                  <a:srgbClr val="0A519E"/>
                </a:solidFill>
                <a:latin typeface="Arial MT"/>
                <a:cs typeface="Arial MT"/>
              </a:rPr>
              <a:t> </a:t>
            </a:r>
            <a:r>
              <a:rPr sz="1728" kern="0" spc="-5" dirty="0">
                <a:solidFill>
                  <a:srgbClr val="0A519E"/>
                </a:solidFill>
                <a:latin typeface="Arial MT"/>
                <a:cs typeface="Arial MT"/>
              </a:rPr>
              <a:t>ordering</a:t>
            </a:r>
            <a:endParaRPr sz="1728" kern="0" dirty="0">
              <a:solidFill>
                <a:sysClr val="windowText" lastClr="000000"/>
              </a:solidFill>
              <a:latin typeface="Arial MT"/>
              <a:cs typeface="Arial MT"/>
            </a:endParaRPr>
          </a:p>
          <a:p>
            <a:pPr marL="5776" defTabSz="415869" fontAlgn="auto">
              <a:spcBef>
                <a:spcPts val="1367"/>
              </a:spcBef>
              <a:spcAft>
                <a:spcPts val="0"/>
              </a:spcAft>
            </a:pPr>
            <a:r>
              <a:rPr sz="2024" b="1" kern="0" spc="23" dirty="0">
                <a:solidFill>
                  <a:sysClr val="windowText" lastClr="000000"/>
                </a:solidFill>
                <a:latin typeface="Arial"/>
                <a:cs typeface="Arial"/>
              </a:rPr>
              <a:t>Merge</a:t>
            </a:r>
            <a:endParaRPr sz="2024" kern="0" dirty="0">
              <a:solidFill>
                <a:sysClr val="windowText" lastClr="000000"/>
              </a:solidFill>
              <a:latin typeface="Arial"/>
              <a:cs typeface="Arial"/>
            </a:endParaRPr>
          </a:p>
          <a:p>
            <a:pPr marL="367062" indent="-167503" defTabSz="415869" fontAlgn="auto">
              <a:lnSpc>
                <a:spcPts val="2012"/>
              </a:lnSpc>
              <a:spcBef>
                <a:spcPts val="564"/>
              </a:spcBef>
              <a:spcAft>
                <a:spcPts val="0"/>
              </a:spcAft>
              <a:buClr>
                <a:srgbClr val="24130B"/>
              </a:buClr>
              <a:buFontTx/>
              <a:buChar char="•"/>
              <a:tabLst>
                <a:tab pos="367062" algn="l"/>
              </a:tabLst>
            </a:pPr>
            <a:r>
              <a:rPr sz="1728" kern="0" dirty="0">
                <a:solidFill>
                  <a:srgbClr val="0A519E"/>
                </a:solidFill>
                <a:latin typeface="Arial MT"/>
                <a:cs typeface="Arial MT"/>
              </a:rPr>
              <a:t>As</a:t>
            </a:r>
            <a:r>
              <a:rPr sz="1728" kern="0" spc="-16" dirty="0">
                <a:solidFill>
                  <a:srgbClr val="0A519E"/>
                </a:solidFill>
                <a:latin typeface="Arial MT"/>
                <a:cs typeface="Arial MT"/>
              </a:rPr>
              <a:t> </a:t>
            </a:r>
            <a:r>
              <a:rPr sz="1728" kern="0" dirty="0">
                <a:solidFill>
                  <a:srgbClr val="0A519E"/>
                </a:solidFill>
                <a:latin typeface="Arial MT"/>
                <a:cs typeface="Arial MT"/>
              </a:rPr>
              <a:t>data</a:t>
            </a:r>
            <a:r>
              <a:rPr sz="1728" kern="0" spc="-14" dirty="0">
                <a:solidFill>
                  <a:srgbClr val="0A519E"/>
                </a:solidFill>
                <a:latin typeface="Arial MT"/>
                <a:cs typeface="Arial MT"/>
              </a:rPr>
              <a:t> </a:t>
            </a:r>
            <a:r>
              <a:rPr sz="1728" kern="0" dirty="0">
                <a:solidFill>
                  <a:srgbClr val="0A519E"/>
                </a:solidFill>
                <a:latin typeface="Arial MT"/>
                <a:cs typeface="Arial MT"/>
              </a:rPr>
              <a:t>evolves,</a:t>
            </a:r>
            <a:r>
              <a:rPr sz="1728" kern="0" spc="-14" dirty="0">
                <a:solidFill>
                  <a:srgbClr val="0A519E"/>
                </a:solidFill>
                <a:latin typeface="Arial MT"/>
                <a:cs typeface="Arial MT"/>
              </a:rPr>
              <a:t> </a:t>
            </a:r>
            <a:r>
              <a:rPr sz="1728" kern="0" dirty="0">
                <a:solidFill>
                  <a:srgbClr val="0A519E"/>
                </a:solidFill>
                <a:latin typeface="Arial MT"/>
                <a:cs typeface="Arial MT"/>
              </a:rPr>
              <a:t>sequentially</a:t>
            </a:r>
            <a:r>
              <a:rPr sz="1728" kern="0" spc="-14" dirty="0">
                <a:solidFill>
                  <a:srgbClr val="0A519E"/>
                </a:solidFill>
                <a:latin typeface="Arial MT"/>
                <a:cs typeface="Arial MT"/>
              </a:rPr>
              <a:t> </a:t>
            </a:r>
            <a:r>
              <a:rPr sz="1728" kern="0" dirty="0">
                <a:solidFill>
                  <a:srgbClr val="0A519E"/>
                </a:solidFill>
                <a:latin typeface="Arial MT"/>
                <a:cs typeface="Arial MT"/>
              </a:rPr>
              <a:t>written</a:t>
            </a:r>
            <a:r>
              <a:rPr sz="1728" kern="0" spc="-14" dirty="0">
                <a:solidFill>
                  <a:srgbClr val="0A519E"/>
                </a:solidFill>
                <a:latin typeface="Arial MT"/>
                <a:cs typeface="Arial MT"/>
              </a:rPr>
              <a:t> </a:t>
            </a:r>
            <a:r>
              <a:rPr sz="1728" kern="0" dirty="0">
                <a:solidFill>
                  <a:srgbClr val="9437FF"/>
                </a:solidFill>
                <a:latin typeface="Arial MT"/>
                <a:cs typeface="Arial MT"/>
              </a:rPr>
              <a:t>runs</a:t>
            </a:r>
            <a:r>
              <a:rPr sz="1728" kern="0" spc="-14" dirty="0">
                <a:solidFill>
                  <a:srgbClr val="9437FF"/>
                </a:solidFill>
                <a:latin typeface="Arial MT"/>
                <a:cs typeface="Arial MT"/>
              </a:rPr>
              <a:t> </a:t>
            </a:r>
            <a:r>
              <a:rPr sz="1728" kern="0" spc="27" dirty="0">
                <a:solidFill>
                  <a:srgbClr val="0A519E"/>
                </a:solidFill>
                <a:latin typeface="Arial MT"/>
                <a:cs typeface="Arial MT"/>
              </a:rPr>
              <a:t>of</a:t>
            </a:r>
            <a:r>
              <a:rPr sz="1728" kern="0" spc="-14" dirty="0">
                <a:solidFill>
                  <a:srgbClr val="0A519E"/>
                </a:solidFill>
                <a:latin typeface="Arial MT"/>
                <a:cs typeface="Arial MT"/>
              </a:rPr>
              <a:t> </a:t>
            </a:r>
            <a:r>
              <a:rPr sz="1728" kern="0" dirty="0">
                <a:solidFill>
                  <a:srgbClr val="0A519E"/>
                </a:solidFill>
                <a:latin typeface="Arial MT"/>
                <a:cs typeface="Arial MT"/>
              </a:rPr>
              <a:t>key-value</a:t>
            </a:r>
            <a:r>
              <a:rPr sz="1728" kern="0" spc="-14" dirty="0">
                <a:solidFill>
                  <a:srgbClr val="0A519E"/>
                </a:solidFill>
                <a:latin typeface="Arial MT"/>
                <a:cs typeface="Arial MT"/>
              </a:rPr>
              <a:t> </a:t>
            </a:r>
            <a:r>
              <a:rPr sz="1728" kern="0" dirty="0">
                <a:solidFill>
                  <a:srgbClr val="0A519E"/>
                </a:solidFill>
                <a:latin typeface="Arial MT"/>
                <a:cs typeface="Arial MT"/>
              </a:rPr>
              <a:t>pairs</a:t>
            </a:r>
            <a:r>
              <a:rPr sz="1728" kern="0" spc="-14" dirty="0">
                <a:solidFill>
                  <a:srgbClr val="0A519E"/>
                </a:solidFill>
                <a:latin typeface="Arial MT"/>
                <a:cs typeface="Arial MT"/>
              </a:rPr>
              <a:t> </a:t>
            </a:r>
            <a:r>
              <a:rPr sz="1728" kern="0" dirty="0">
                <a:solidFill>
                  <a:srgbClr val="0A519E"/>
                </a:solidFill>
                <a:latin typeface="Arial MT"/>
                <a:cs typeface="Arial MT"/>
              </a:rPr>
              <a:t>are</a:t>
            </a:r>
            <a:r>
              <a:rPr sz="1728" kern="0" spc="-14" dirty="0">
                <a:solidFill>
                  <a:srgbClr val="0A519E"/>
                </a:solidFill>
                <a:latin typeface="Arial MT"/>
                <a:cs typeface="Arial MT"/>
              </a:rPr>
              <a:t> </a:t>
            </a:r>
            <a:r>
              <a:rPr sz="1728" kern="0" spc="-5" dirty="0">
                <a:solidFill>
                  <a:srgbClr val="0A519E"/>
                </a:solidFill>
                <a:latin typeface="Arial MT"/>
                <a:cs typeface="Arial MT"/>
              </a:rPr>
              <a:t>merged</a:t>
            </a:r>
            <a:endParaRPr sz="1728" kern="0" dirty="0">
              <a:solidFill>
                <a:sysClr val="windowText" lastClr="000000"/>
              </a:solidFill>
              <a:latin typeface="Arial MT"/>
              <a:cs typeface="Arial MT"/>
            </a:endParaRPr>
          </a:p>
          <a:p>
            <a:pPr marL="414425" lvl="1" indent="-131114" defTabSz="415869" fontAlgn="auto">
              <a:lnSpc>
                <a:spcPts val="1967"/>
              </a:lnSpc>
              <a:spcBef>
                <a:spcPts val="0"/>
              </a:spcBef>
              <a:spcAft>
                <a:spcPts val="0"/>
              </a:spcAft>
              <a:buClr>
                <a:srgbClr val="0A519E"/>
              </a:buClr>
              <a:buSzPct val="125806"/>
              <a:buFont typeface="Microsoft Sans Serif"/>
              <a:buChar char="‣"/>
              <a:tabLst>
                <a:tab pos="414425" algn="l"/>
              </a:tabLst>
            </a:pPr>
            <a:r>
              <a:rPr sz="1410" kern="0" spc="-11" dirty="0">
                <a:solidFill>
                  <a:srgbClr val="24130B"/>
                </a:solidFill>
                <a:latin typeface="Arial MT"/>
                <a:cs typeface="Arial MT"/>
              </a:rPr>
              <a:t>Runs</a:t>
            </a:r>
            <a:r>
              <a:rPr sz="1410" kern="0" spc="-57" dirty="0">
                <a:solidFill>
                  <a:srgbClr val="24130B"/>
                </a:solidFill>
                <a:latin typeface="Arial MT"/>
                <a:cs typeface="Arial MT"/>
              </a:rPr>
              <a:t> </a:t>
            </a:r>
            <a:r>
              <a:rPr sz="1410" kern="0" dirty="0">
                <a:solidFill>
                  <a:srgbClr val="24130B"/>
                </a:solidFill>
                <a:latin typeface="Arial MT"/>
                <a:cs typeface="Arial MT"/>
              </a:rPr>
              <a:t>of</a:t>
            </a:r>
            <a:r>
              <a:rPr sz="1410" kern="0" spc="-55" dirty="0">
                <a:solidFill>
                  <a:srgbClr val="24130B"/>
                </a:solidFill>
                <a:latin typeface="Arial MT"/>
                <a:cs typeface="Arial MT"/>
              </a:rPr>
              <a:t> </a:t>
            </a:r>
            <a:r>
              <a:rPr sz="1410" kern="0" dirty="0">
                <a:solidFill>
                  <a:srgbClr val="24130B"/>
                </a:solidFill>
                <a:latin typeface="Arial MT"/>
                <a:cs typeface="Arial MT"/>
              </a:rPr>
              <a:t>data</a:t>
            </a:r>
            <a:r>
              <a:rPr sz="1410" kern="0" spc="-55" dirty="0">
                <a:solidFill>
                  <a:srgbClr val="24130B"/>
                </a:solidFill>
                <a:latin typeface="Arial MT"/>
                <a:cs typeface="Arial MT"/>
              </a:rPr>
              <a:t> </a:t>
            </a:r>
            <a:r>
              <a:rPr sz="1410" kern="0" spc="-25" dirty="0">
                <a:solidFill>
                  <a:srgbClr val="24130B"/>
                </a:solidFill>
                <a:latin typeface="Arial MT"/>
                <a:cs typeface="Arial MT"/>
              </a:rPr>
              <a:t>are</a:t>
            </a:r>
            <a:r>
              <a:rPr sz="1410" kern="0" spc="-55" dirty="0">
                <a:solidFill>
                  <a:srgbClr val="24130B"/>
                </a:solidFill>
                <a:latin typeface="Arial MT"/>
                <a:cs typeface="Arial MT"/>
              </a:rPr>
              <a:t> </a:t>
            </a:r>
            <a:r>
              <a:rPr sz="1410" kern="0" spc="-11" dirty="0">
                <a:solidFill>
                  <a:srgbClr val="24130B"/>
                </a:solidFill>
                <a:latin typeface="Arial MT"/>
                <a:cs typeface="Arial MT"/>
              </a:rPr>
              <a:t>indexed</a:t>
            </a:r>
            <a:r>
              <a:rPr sz="1410" kern="0" spc="-57" dirty="0">
                <a:solidFill>
                  <a:srgbClr val="24130B"/>
                </a:solidFill>
                <a:latin typeface="Arial MT"/>
                <a:cs typeface="Arial MT"/>
              </a:rPr>
              <a:t> </a:t>
            </a:r>
            <a:r>
              <a:rPr sz="1410" kern="0" dirty="0">
                <a:solidFill>
                  <a:srgbClr val="24130B"/>
                </a:solidFill>
                <a:latin typeface="Arial MT"/>
                <a:cs typeface="Arial MT"/>
              </a:rPr>
              <a:t>for</a:t>
            </a:r>
            <a:r>
              <a:rPr sz="1410" kern="0" spc="-55" dirty="0">
                <a:solidFill>
                  <a:srgbClr val="24130B"/>
                </a:solidFill>
                <a:latin typeface="Arial MT"/>
                <a:cs typeface="Arial MT"/>
              </a:rPr>
              <a:t> </a:t>
            </a:r>
            <a:r>
              <a:rPr sz="1410" kern="0" spc="-14" dirty="0">
                <a:solidFill>
                  <a:srgbClr val="24130B"/>
                </a:solidFill>
                <a:latin typeface="Arial MT"/>
                <a:cs typeface="Arial MT"/>
              </a:rPr>
              <a:t>efficient</a:t>
            </a:r>
            <a:r>
              <a:rPr sz="1410" kern="0" spc="-55" dirty="0">
                <a:solidFill>
                  <a:srgbClr val="24130B"/>
                </a:solidFill>
                <a:latin typeface="Arial MT"/>
                <a:cs typeface="Arial MT"/>
              </a:rPr>
              <a:t> </a:t>
            </a:r>
            <a:r>
              <a:rPr sz="1410" kern="0" spc="-5" dirty="0">
                <a:solidFill>
                  <a:srgbClr val="24130B"/>
                </a:solidFill>
                <a:latin typeface="Arial MT"/>
                <a:cs typeface="Arial MT"/>
              </a:rPr>
              <a:t>lookup</a:t>
            </a:r>
            <a:endParaRPr sz="1410" kern="0" dirty="0">
              <a:solidFill>
                <a:sysClr val="windowText" lastClr="000000"/>
              </a:solidFill>
              <a:latin typeface="Arial MT"/>
              <a:cs typeface="Arial MT"/>
            </a:endParaRPr>
          </a:p>
          <a:p>
            <a:pPr marL="414425" lvl="1" indent="-131114" defTabSz="415869" fontAlgn="auto">
              <a:lnSpc>
                <a:spcPts val="2028"/>
              </a:lnSpc>
              <a:spcBef>
                <a:spcPts val="0"/>
              </a:spcBef>
              <a:spcAft>
                <a:spcPts val="0"/>
              </a:spcAft>
              <a:buClr>
                <a:srgbClr val="0A519E"/>
              </a:buClr>
              <a:buSzPct val="125806"/>
              <a:buFont typeface="Microsoft Sans Serif"/>
              <a:buChar char="‣"/>
              <a:tabLst>
                <a:tab pos="414425" algn="l"/>
              </a:tabLst>
            </a:pPr>
            <a:r>
              <a:rPr sz="1410" kern="0" spc="-11" dirty="0">
                <a:solidFill>
                  <a:srgbClr val="24130B"/>
                </a:solidFill>
                <a:latin typeface="Arial MT"/>
                <a:cs typeface="Arial MT"/>
              </a:rPr>
              <a:t>Merges</a:t>
            </a:r>
            <a:r>
              <a:rPr sz="1410" kern="0" spc="-61" dirty="0">
                <a:solidFill>
                  <a:srgbClr val="24130B"/>
                </a:solidFill>
                <a:latin typeface="Arial MT"/>
                <a:cs typeface="Arial MT"/>
              </a:rPr>
              <a:t> </a:t>
            </a:r>
            <a:r>
              <a:rPr sz="1410" kern="0" dirty="0">
                <a:solidFill>
                  <a:srgbClr val="24130B"/>
                </a:solidFill>
                <a:latin typeface="Arial MT"/>
                <a:cs typeface="Arial MT"/>
              </a:rPr>
              <a:t>happen</a:t>
            </a:r>
            <a:r>
              <a:rPr sz="1410" kern="0" spc="-59" dirty="0">
                <a:solidFill>
                  <a:srgbClr val="24130B"/>
                </a:solidFill>
                <a:latin typeface="Arial MT"/>
                <a:cs typeface="Arial MT"/>
              </a:rPr>
              <a:t> </a:t>
            </a:r>
            <a:r>
              <a:rPr sz="1410" kern="0" spc="-11" dirty="0">
                <a:solidFill>
                  <a:srgbClr val="24130B"/>
                </a:solidFill>
                <a:latin typeface="Arial MT"/>
                <a:cs typeface="Arial MT"/>
              </a:rPr>
              <a:t>only</a:t>
            </a:r>
            <a:r>
              <a:rPr sz="1410" kern="0" spc="-59" dirty="0">
                <a:solidFill>
                  <a:srgbClr val="24130B"/>
                </a:solidFill>
                <a:latin typeface="Arial MT"/>
                <a:cs typeface="Arial MT"/>
              </a:rPr>
              <a:t> </a:t>
            </a:r>
            <a:r>
              <a:rPr sz="1410" kern="0" spc="-5" dirty="0">
                <a:solidFill>
                  <a:srgbClr val="24130B"/>
                </a:solidFill>
                <a:latin typeface="Arial MT"/>
                <a:cs typeface="Arial MT"/>
              </a:rPr>
              <a:t>after</a:t>
            </a:r>
            <a:r>
              <a:rPr sz="1410" kern="0" spc="-59" dirty="0">
                <a:solidFill>
                  <a:srgbClr val="24130B"/>
                </a:solidFill>
                <a:latin typeface="Arial MT"/>
                <a:cs typeface="Arial MT"/>
              </a:rPr>
              <a:t> </a:t>
            </a:r>
            <a:r>
              <a:rPr sz="1410" kern="0" dirty="0">
                <a:solidFill>
                  <a:srgbClr val="24130B"/>
                </a:solidFill>
                <a:latin typeface="Arial MT"/>
                <a:cs typeface="Arial MT"/>
              </a:rPr>
              <a:t>much</a:t>
            </a:r>
            <a:r>
              <a:rPr sz="1410" kern="0" spc="-59" dirty="0">
                <a:solidFill>
                  <a:srgbClr val="24130B"/>
                </a:solidFill>
                <a:latin typeface="Arial MT"/>
                <a:cs typeface="Arial MT"/>
              </a:rPr>
              <a:t> </a:t>
            </a:r>
            <a:r>
              <a:rPr sz="1410" kern="0" dirty="0">
                <a:solidFill>
                  <a:srgbClr val="24130B"/>
                </a:solidFill>
                <a:latin typeface="Arial MT"/>
                <a:cs typeface="Arial MT"/>
              </a:rPr>
              <a:t>new</a:t>
            </a:r>
            <a:r>
              <a:rPr sz="1410" kern="0" spc="-59" dirty="0">
                <a:solidFill>
                  <a:srgbClr val="24130B"/>
                </a:solidFill>
                <a:latin typeface="Arial MT"/>
                <a:cs typeface="Arial MT"/>
              </a:rPr>
              <a:t> </a:t>
            </a:r>
            <a:r>
              <a:rPr sz="1410" kern="0" dirty="0">
                <a:solidFill>
                  <a:srgbClr val="24130B"/>
                </a:solidFill>
                <a:latin typeface="Arial MT"/>
                <a:cs typeface="Arial MT"/>
              </a:rPr>
              <a:t>data</a:t>
            </a:r>
            <a:r>
              <a:rPr sz="1410" kern="0" spc="-59" dirty="0">
                <a:solidFill>
                  <a:srgbClr val="24130B"/>
                </a:solidFill>
                <a:latin typeface="Arial MT"/>
                <a:cs typeface="Arial MT"/>
              </a:rPr>
              <a:t> </a:t>
            </a:r>
            <a:r>
              <a:rPr sz="1410" kern="0" dirty="0">
                <a:solidFill>
                  <a:srgbClr val="24130B"/>
                </a:solidFill>
                <a:latin typeface="Arial MT"/>
                <a:cs typeface="Arial MT"/>
              </a:rPr>
              <a:t>is</a:t>
            </a:r>
            <a:r>
              <a:rPr sz="1410" kern="0" spc="-59" dirty="0">
                <a:solidFill>
                  <a:srgbClr val="24130B"/>
                </a:solidFill>
                <a:latin typeface="Arial MT"/>
                <a:cs typeface="Arial MT"/>
              </a:rPr>
              <a:t> </a:t>
            </a:r>
            <a:r>
              <a:rPr sz="1410" kern="0" spc="-5" dirty="0" smtClean="0">
                <a:solidFill>
                  <a:srgbClr val="24130B"/>
                </a:solidFill>
                <a:latin typeface="Arial MT"/>
                <a:cs typeface="Arial MT"/>
              </a:rPr>
              <a:t>accumulated</a:t>
            </a:r>
            <a:endParaRPr sz="1410" kern="0" dirty="0">
              <a:solidFill>
                <a:sysClr val="windowText" lastClr="000000"/>
              </a:solidFill>
              <a:latin typeface="Arial MT"/>
              <a:cs typeface="Arial MT"/>
            </a:endParaRPr>
          </a:p>
        </p:txBody>
      </p:sp>
      <p:sp>
        <p:nvSpPr>
          <p:cNvPr id="5" name="object 3"/>
          <p:cNvSpPr txBox="1">
            <a:spLocks noGrp="1"/>
          </p:cNvSpPr>
          <p:nvPr/>
        </p:nvSpPr>
        <p:spPr>
          <a:xfrm>
            <a:off x="755576" y="188640"/>
            <a:ext cx="7458358" cy="438178"/>
          </a:xfrm>
          <a:prstGeom prst="rect">
            <a:avLst/>
          </a:prstGeom>
        </p:spPr>
        <p:txBody>
          <a:bodyPr vert="horz" wrap="square" lIns="0" tIns="7220" rIns="0" bIns="0" rtlCol="0">
            <a:spAutoFit/>
          </a:bodyPr>
          <a:lstStyle>
            <a:lvl1pPr>
              <a:defRPr sz="2297" b="0" i="0">
                <a:solidFill>
                  <a:srgbClr val="0365C0"/>
                </a:solidFill>
                <a:latin typeface="Arial MT"/>
                <a:ea typeface="+mj-ea"/>
                <a:cs typeface="Arial MT"/>
              </a:defRPr>
            </a:lvl1p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
        <p:nvSpPr>
          <p:cNvPr id="6" name="object 5"/>
          <p:cNvSpPr txBox="1"/>
          <p:nvPr/>
        </p:nvSpPr>
        <p:spPr>
          <a:xfrm>
            <a:off x="5447427" y="4119784"/>
            <a:ext cx="492725" cy="317328"/>
          </a:xfrm>
          <a:prstGeom prst="rect">
            <a:avLst/>
          </a:prstGeom>
        </p:spPr>
        <p:txBody>
          <a:bodyPr vert="horz" wrap="square" lIns="0" tIns="5776" rIns="0" bIns="0" rtlCol="0">
            <a:spAutoFit/>
          </a:bodyPr>
          <a:lstStyle/>
          <a:p>
            <a:pPr marL="5776" defTabSz="415869" fontAlgn="auto">
              <a:spcBef>
                <a:spcPts val="45"/>
              </a:spcBef>
              <a:spcAft>
                <a:spcPts val="0"/>
              </a:spcAft>
            </a:pPr>
            <a:r>
              <a:rPr sz="2024" kern="0" spc="-91" dirty="0">
                <a:solidFill>
                  <a:sysClr val="windowText" lastClr="000000"/>
                </a:solidFill>
                <a:latin typeface="Arial MT"/>
                <a:cs typeface="Arial MT"/>
              </a:rPr>
              <a:t>Tree</a:t>
            </a:r>
            <a:endParaRPr sz="2024" kern="0">
              <a:solidFill>
                <a:sysClr val="windowText" lastClr="000000"/>
              </a:solidFill>
              <a:latin typeface="Arial MT"/>
              <a:cs typeface="Arial MT"/>
            </a:endParaRPr>
          </a:p>
        </p:txBody>
      </p:sp>
      <p:sp>
        <p:nvSpPr>
          <p:cNvPr id="7" name="object 6"/>
          <p:cNvSpPr txBox="1"/>
          <p:nvPr/>
        </p:nvSpPr>
        <p:spPr>
          <a:xfrm>
            <a:off x="5162216" y="4123588"/>
            <a:ext cx="98487" cy="305328"/>
          </a:xfrm>
          <a:prstGeom prst="rect">
            <a:avLst/>
          </a:prstGeom>
        </p:spPr>
        <p:txBody>
          <a:bodyPr vert="horz" wrap="square" lIns="0" tIns="7798" rIns="0" bIns="0" rtlCol="0">
            <a:spAutoFit/>
          </a:bodyPr>
          <a:lstStyle/>
          <a:p>
            <a:pPr marL="5776" defTabSz="415869" fontAlgn="auto">
              <a:spcBef>
                <a:spcPts val="61"/>
              </a:spcBef>
              <a:spcAft>
                <a:spcPts val="0"/>
              </a:spcAft>
            </a:pPr>
            <a:r>
              <a:rPr sz="1933" kern="0" spc="-23" dirty="0">
                <a:solidFill>
                  <a:srgbClr val="222222"/>
                </a:solidFill>
                <a:latin typeface="Arial MT"/>
                <a:cs typeface="Arial MT"/>
              </a:rPr>
              <a:t>•</a:t>
            </a:r>
            <a:endParaRPr sz="1933" kern="0" dirty="0">
              <a:solidFill>
                <a:sysClr val="windowText" lastClr="000000"/>
              </a:solidFill>
              <a:latin typeface="Arial MT"/>
              <a:cs typeface="Arial MT"/>
            </a:endParaRPr>
          </a:p>
        </p:txBody>
      </p:sp>
    </p:spTree>
    <p:extLst>
      <p:ext uri="{BB962C8B-B14F-4D97-AF65-F5344CB8AC3E}">
        <p14:creationId xmlns:p14="http://schemas.microsoft.com/office/powerpoint/2010/main" val="78209853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6863" y="1356206"/>
            <a:ext cx="8097585" cy="3633688"/>
          </a:xfrm>
          <a:prstGeom prst="rect">
            <a:avLst/>
          </a:prstGeom>
        </p:spPr>
        <p:txBody>
          <a:bodyPr vert="horz" wrap="square" lIns="0" tIns="137478" rIns="0" bIns="0" rtlCol="0">
            <a:spAutoFit/>
          </a:bodyPr>
          <a:lstStyle/>
          <a:p>
            <a:pPr marL="20505" defTabSz="415869" fontAlgn="auto">
              <a:spcBef>
                <a:spcPts val="1082"/>
              </a:spcBef>
              <a:spcAft>
                <a:spcPts val="0"/>
              </a:spcAft>
            </a:pPr>
            <a:r>
              <a:rPr sz="2024" b="1" kern="0" dirty="0">
                <a:solidFill>
                  <a:sysClr val="windowText" lastClr="000000"/>
                </a:solidFill>
                <a:latin typeface="Arial"/>
                <a:cs typeface="Arial"/>
              </a:rPr>
              <a:t>Log-</a:t>
            </a:r>
            <a:r>
              <a:rPr sz="2024" b="1" kern="0" spc="-5" dirty="0">
                <a:solidFill>
                  <a:sysClr val="windowText" lastClr="000000"/>
                </a:solidFill>
                <a:latin typeface="Arial"/>
                <a:cs typeface="Arial"/>
              </a:rPr>
              <a:t>structured</a:t>
            </a:r>
            <a:endParaRPr sz="2024" kern="0" dirty="0">
              <a:solidFill>
                <a:sysClr val="windowText" lastClr="000000"/>
              </a:solidFill>
              <a:latin typeface="Arial"/>
              <a:cs typeface="Arial"/>
            </a:endParaRPr>
          </a:p>
          <a:p>
            <a:pPr marL="421934" indent="-167503" defTabSz="415869" fontAlgn="auto">
              <a:spcBef>
                <a:spcPts val="880"/>
              </a:spcBef>
              <a:spcAft>
                <a:spcPts val="0"/>
              </a:spcAft>
              <a:buClr>
                <a:srgbClr val="24130B"/>
              </a:buClr>
              <a:buFontTx/>
              <a:buChar char="•"/>
              <a:tabLst>
                <a:tab pos="421934" algn="l"/>
              </a:tabLst>
            </a:pPr>
            <a:r>
              <a:rPr sz="1728" kern="0" dirty="0">
                <a:solidFill>
                  <a:srgbClr val="0A519E"/>
                </a:solidFill>
                <a:latin typeface="Arial MT"/>
                <a:cs typeface="Arial MT"/>
              </a:rPr>
              <a:t>All</a:t>
            </a:r>
            <a:r>
              <a:rPr sz="1728" kern="0" spc="-9" dirty="0">
                <a:solidFill>
                  <a:srgbClr val="0A519E"/>
                </a:solidFill>
                <a:latin typeface="Arial MT"/>
                <a:cs typeface="Arial MT"/>
              </a:rPr>
              <a:t> </a:t>
            </a:r>
            <a:r>
              <a:rPr sz="1728" kern="0" dirty="0">
                <a:solidFill>
                  <a:srgbClr val="0A519E"/>
                </a:solidFill>
                <a:latin typeface="Arial MT"/>
                <a:cs typeface="Arial MT"/>
              </a:rPr>
              <a:t>data</a:t>
            </a:r>
            <a:r>
              <a:rPr sz="1728" kern="0" spc="-9" dirty="0">
                <a:solidFill>
                  <a:srgbClr val="0A519E"/>
                </a:solidFill>
                <a:latin typeface="Arial MT"/>
                <a:cs typeface="Arial MT"/>
              </a:rPr>
              <a:t> </a:t>
            </a:r>
            <a:r>
              <a:rPr sz="1728" kern="0" dirty="0">
                <a:solidFill>
                  <a:srgbClr val="0A519E"/>
                </a:solidFill>
                <a:latin typeface="Arial MT"/>
                <a:cs typeface="Arial MT"/>
              </a:rPr>
              <a:t>is</a:t>
            </a:r>
            <a:r>
              <a:rPr sz="1728" kern="0" spc="-9" dirty="0">
                <a:solidFill>
                  <a:srgbClr val="0A519E"/>
                </a:solidFill>
                <a:latin typeface="Arial MT"/>
                <a:cs typeface="Arial MT"/>
              </a:rPr>
              <a:t> </a:t>
            </a:r>
            <a:r>
              <a:rPr sz="1728" kern="0" dirty="0">
                <a:solidFill>
                  <a:srgbClr val="0A519E"/>
                </a:solidFill>
                <a:latin typeface="Arial MT"/>
                <a:cs typeface="Arial MT"/>
              </a:rPr>
              <a:t>written</a:t>
            </a:r>
            <a:r>
              <a:rPr sz="1728" kern="0" spc="-7" dirty="0">
                <a:solidFill>
                  <a:srgbClr val="0A519E"/>
                </a:solidFill>
                <a:latin typeface="Arial MT"/>
                <a:cs typeface="Arial MT"/>
              </a:rPr>
              <a:t> </a:t>
            </a:r>
            <a:r>
              <a:rPr sz="1728" kern="0" spc="-5" dirty="0">
                <a:solidFill>
                  <a:srgbClr val="0A519E"/>
                </a:solidFill>
                <a:latin typeface="Arial MT"/>
                <a:cs typeface="Arial MT"/>
              </a:rPr>
              <a:t>sequentially,</a:t>
            </a:r>
            <a:r>
              <a:rPr sz="1728" kern="0" spc="-9" dirty="0">
                <a:solidFill>
                  <a:srgbClr val="0A519E"/>
                </a:solidFill>
                <a:latin typeface="Arial MT"/>
                <a:cs typeface="Arial MT"/>
              </a:rPr>
              <a:t> </a:t>
            </a:r>
            <a:r>
              <a:rPr sz="1728" kern="0" spc="-5" dirty="0">
                <a:solidFill>
                  <a:srgbClr val="0A519E"/>
                </a:solidFill>
                <a:latin typeface="Arial MT"/>
                <a:cs typeface="Arial MT"/>
              </a:rPr>
              <a:t>regardless</a:t>
            </a:r>
            <a:r>
              <a:rPr sz="1728" kern="0" spc="-9" dirty="0">
                <a:solidFill>
                  <a:srgbClr val="0A519E"/>
                </a:solidFill>
                <a:latin typeface="Arial MT"/>
                <a:cs typeface="Arial MT"/>
              </a:rPr>
              <a:t> </a:t>
            </a:r>
            <a:r>
              <a:rPr sz="1728" kern="0" spc="27" dirty="0">
                <a:solidFill>
                  <a:srgbClr val="0A519E"/>
                </a:solidFill>
                <a:latin typeface="Arial MT"/>
                <a:cs typeface="Arial MT"/>
              </a:rPr>
              <a:t>of</a:t>
            </a:r>
            <a:r>
              <a:rPr sz="1728" kern="0" spc="-7" dirty="0">
                <a:solidFill>
                  <a:srgbClr val="0A519E"/>
                </a:solidFill>
                <a:latin typeface="Arial MT"/>
                <a:cs typeface="Arial MT"/>
              </a:rPr>
              <a:t> </a:t>
            </a:r>
            <a:r>
              <a:rPr sz="1728" kern="0" dirty="0">
                <a:solidFill>
                  <a:srgbClr val="0A519E"/>
                </a:solidFill>
                <a:latin typeface="Arial MT"/>
                <a:cs typeface="Arial MT"/>
              </a:rPr>
              <a:t>logical</a:t>
            </a:r>
            <a:r>
              <a:rPr sz="1728" kern="0" spc="-9" dirty="0">
                <a:solidFill>
                  <a:srgbClr val="0A519E"/>
                </a:solidFill>
                <a:latin typeface="Arial MT"/>
                <a:cs typeface="Arial MT"/>
              </a:rPr>
              <a:t> </a:t>
            </a:r>
            <a:r>
              <a:rPr sz="1728" kern="0" spc="-5" dirty="0">
                <a:solidFill>
                  <a:srgbClr val="0A519E"/>
                </a:solidFill>
                <a:latin typeface="Arial MT"/>
                <a:cs typeface="Arial MT"/>
              </a:rPr>
              <a:t>ordering</a:t>
            </a:r>
            <a:endParaRPr sz="1728" kern="0" dirty="0">
              <a:solidFill>
                <a:sysClr val="windowText" lastClr="000000"/>
              </a:solidFill>
              <a:latin typeface="Arial MT"/>
              <a:cs typeface="Arial MT"/>
            </a:endParaRPr>
          </a:p>
          <a:p>
            <a:pPr marL="8664" defTabSz="415869" fontAlgn="auto">
              <a:spcBef>
                <a:spcPts val="1367"/>
              </a:spcBef>
              <a:spcAft>
                <a:spcPts val="0"/>
              </a:spcAft>
            </a:pPr>
            <a:r>
              <a:rPr sz="2024" b="1" kern="0" spc="23" dirty="0">
                <a:solidFill>
                  <a:sysClr val="windowText" lastClr="000000"/>
                </a:solidFill>
                <a:latin typeface="Arial"/>
                <a:cs typeface="Arial"/>
              </a:rPr>
              <a:t>Merge</a:t>
            </a:r>
            <a:endParaRPr sz="2024" kern="0" dirty="0">
              <a:solidFill>
                <a:sysClr val="windowText" lastClr="000000"/>
              </a:solidFill>
              <a:latin typeface="Arial"/>
              <a:cs typeface="Arial"/>
            </a:endParaRPr>
          </a:p>
          <a:p>
            <a:pPr marL="370239" indent="-167503" defTabSz="415869" fontAlgn="auto">
              <a:lnSpc>
                <a:spcPts val="2012"/>
              </a:lnSpc>
              <a:spcBef>
                <a:spcPts val="564"/>
              </a:spcBef>
              <a:spcAft>
                <a:spcPts val="0"/>
              </a:spcAft>
              <a:buClr>
                <a:srgbClr val="24130B"/>
              </a:buClr>
              <a:buFontTx/>
              <a:buChar char="•"/>
              <a:tabLst>
                <a:tab pos="370239" algn="l"/>
              </a:tabLst>
            </a:pPr>
            <a:r>
              <a:rPr sz="1728" kern="0" dirty="0">
                <a:solidFill>
                  <a:srgbClr val="0A519E"/>
                </a:solidFill>
                <a:latin typeface="Arial MT"/>
                <a:cs typeface="Arial MT"/>
              </a:rPr>
              <a:t>As</a:t>
            </a:r>
            <a:r>
              <a:rPr sz="1728" kern="0" spc="-16" dirty="0">
                <a:solidFill>
                  <a:srgbClr val="0A519E"/>
                </a:solidFill>
                <a:latin typeface="Arial MT"/>
                <a:cs typeface="Arial MT"/>
              </a:rPr>
              <a:t> </a:t>
            </a:r>
            <a:r>
              <a:rPr sz="1728" kern="0" dirty="0">
                <a:solidFill>
                  <a:srgbClr val="0A519E"/>
                </a:solidFill>
                <a:latin typeface="Arial MT"/>
                <a:cs typeface="Arial MT"/>
              </a:rPr>
              <a:t>data</a:t>
            </a:r>
            <a:r>
              <a:rPr sz="1728" kern="0" spc="-14" dirty="0">
                <a:solidFill>
                  <a:srgbClr val="0A519E"/>
                </a:solidFill>
                <a:latin typeface="Arial MT"/>
                <a:cs typeface="Arial MT"/>
              </a:rPr>
              <a:t> </a:t>
            </a:r>
            <a:r>
              <a:rPr sz="1728" kern="0" dirty="0">
                <a:solidFill>
                  <a:srgbClr val="0A519E"/>
                </a:solidFill>
                <a:latin typeface="Arial MT"/>
                <a:cs typeface="Arial MT"/>
              </a:rPr>
              <a:t>evolves,</a:t>
            </a:r>
            <a:r>
              <a:rPr sz="1728" kern="0" spc="-14" dirty="0">
                <a:solidFill>
                  <a:srgbClr val="0A519E"/>
                </a:solidFill>
                <a:latin typeface="Arial MT"/>
                <a:cs typeface="Arial MT"/>
              </a:rPr>
              <a:t> </a:t>
            </a:r>
            <a:r>
              <a:rPr sz="1728" kern="0" dirty="0">
                <a:solidFill>
                  <a:srgbClr val="0A519E"/>
                </a:solidFill>
                <a:latin typeface="Arial MT"/>
                <a:cs typeface="Arial MT"/>
              </a:rPr>
              <a:t>sequentially</a:t>
            </a:r>
            <a:r>
              <a:rPr sz="1728" kern="0" spc="-14" dirty="0">
                <a:solidFill>
                  <a:srgbClr val="0A519E"/>
                </a:solidFill>
                <a:latin typeface="Arial MT"/>
                <a:cs typeface="Arial MT"/>
              </a:rPr>
              <a:t> </a:t>
            </a:r>
            <a:r>
              <a:rPr sz="1728" kern="0" dirty="0">
                <a:solidFill>
                  <a:srgbClr val="0A519E"/>
                </a:solidFill>
                <a:latin typeface="Arial MT"/>
                <a:cs typeface="Arial MT"/>
              </a:rPr>
              <a:t>written</a:t>
            </a:r>
            <a:r>
              <a:rPr sz="1728" kern="0" spc="-14" dirty="0">
                <a:solidFill>
                  <a:srgbClr val="0A519E"/>
                </a:solidFill>
                <a:latin typeface="Arial MT"/>
                <a:cs typeface="Arial MT"/>
              </a:rPr>
              <a:t> </a:t>
            </a:r>
            <a:r>
              <a:rPr sz="1728" kern="0" dirty="0">
                <a:solidFill>
                  <a:srgbClr val="9437FF"/>
                </a:solidFill>
                <a:latin typeface="Arial MT"/>
                <a:cs typeface="Arial MT"/>
              </a:rPr>
              <a:t>runs</a:t>
            </a:r>
            <a:r>
              <a:rPr sz="1728" kern="0" spc="-14" dirty="0">
                <a:solidFill>
                  <a:srgbClr val="9437FF"/>
                </a:solidFill>
                <a:latin typeface="Arial MT"/>
                <a:cs typeface="Arial MT"/>
              </a:rPr>
              <a:t> </a:t>
            </a:r>
            <a:r>
              <a:rPr sz="1728" kern="0" spc="27" dirty="0">
                <a:solidFill>
                  <a:srgbClr val="0A519E"/>
                </a:solidFill>
                <a:latin typeface="Arial MT"/>
                <a:cs typeface="Arial MT"/>
              </a:rPr>
              <a:t>of</a:t>
            </a:r>
            <a:r>
              <a:rPr sz="1728" kern="0" spc="-14" dirty="0">
                <a:solidFill>
                  <a:srgbClr val="0A519E"/>
                </a:solidFill>
                <a:latin typeface="Arial MT"/>
                <a:cs typeface="Arial MT"/>
              </a:rPr>
              <a:t> </a:t>
            </a:r>
            <a:r>
              <a:rPr sz="1728" kern="0" dirty="0">
                <a:solidFill>
                  <a:srgbClr val="0A519E"/>
                </a:solidFill>
                <a:latin typeface="Arial MT"/>
                <a:cs typeface="Arial MT"/>
              </a:rPr>
              <a:t>key-value</a:t>
            </a:r>
            <a:r>
              <a:rPr sz="1728" kern="0" spc="-14" dirty="0">
                <a:solidFill>
                  <a:srgbClr val="0A519E"/>
                </a:solidFill>
                <a:latin typeface="Arial MT"/>
                <a:cs typeface="Arial MT"/>
              </a:rPr>
              <a:t> </a:t>
            </a:r>
            <a:r>
              <a:rPr sz="1728" kern="0" dirty="0">
                <a:solidFill>
                  <a:srgbClr val="0A519E"/>
                </a:solidFill>
                <a:latin typeface="Arial MT"/>
                <a:cs typeface="Arial MT"/>
              </a:rPr>
              <a:t>pairs</a:t>
            </a:r>
            <a:r>
              <a:rPr sz="1728" kern="0" spc="-14" dirty="0">
                <a:solidFill>
                  <a:srgbClr val="0A519E"/>
                </a:solidFill>
                <a:latin typeface="Arial MT"/>
                <a:cs typeface="Arial MT"/>
              </a:rPr>
              <a:t> </a:t>
            </a:r>
            <a:r>
              <a:rPr sz="1728" kern="0" dirty="0">
                <a:solidFill>
                  <a:srgbClr val="0A519E"/>
                </a:solidFill>
                <a:latin typeface="Arial MT"/>
                <a:cs typeface="Arial MT"/>
              </a:rPr>
              <a:t>are</a:t>
            </a:r>
            <a:r>
              <a:rPr sz="1728" kern="0" spc="-14" dirty="0">
                <a:solidFill>
                  <a:srgbClr val="0A519E"/>
                </a:solidFill>
                <a:latin typeface="Arial MT"/>
                <a:cs typeface="Arial MT"/>
              </a:rPr>
              <a:t> </a:t>
            </a:r>
            <a:r>
              <a:rPr sz="1728" kern="0" spc="-5" dirty="0">
                <a:solidFill>
                  <a:srgbClr val="0A519E"/>
                </a:solidFill>
                <a:latin typeface="Arial MT"/>
                <a:cs typeface="Arial MT"/>
              </a:rPr>
              <a:t>merged</a:t>
            </a:r>
            <a:endParaRPr sz="1728" kern="0" dirty="0">
              <a:solidFill>
                <a:sysClr val="windowText" lastClr="000000"/>
              </a:solidFill>
              <a:latin typeface="Arial MT"/>
              <a:cs typeface="Arial MT"/>
            </a:endParaRPr>
          </a:p>
          <a:p>
            <a:pPr marL="417313" lvl="1" indent="-131114" defTabSz="415869" fontAlgn="auto">
              <a:lnSpc>
                <a:spcPts val="1967"/>
              </a:lnSpc>
              <a:spcBef>
                <a:spcPts val="0"/>
              </a:spcBef>
              <a:spcAft>
                <a:spcPts val="0"/>
              </a:spcAft>
              <a:buClr>
                <a:srgbClr val="0A519E"/>
              </a:buClr>
              <a:buSzPct val="125806"/>
              <a:buFont typeface="Microsoft Sans Serif"/>
              <a:buChar char="‣"/>
              <a:tabLst>
                <a:tab pos="417313" algn="l"/>
              </a:tabLst>
            </a:pPr>
            <a:r>
              <a:rPr sz="1410" kern="0" spc="-11" dirty="0">
                <a:solidFill>
                  <a:srgbClr val="24130B"/>
                </a:solidFill>
                <a:latin typeface="Arial MT"/>
                <a:cs typeface="Arial MT"/>
              </a:rPr>
              <a:t>Runs</a:t>
            </a:r>
            <a:r>
              <a:rPr sz="1410" kern="0" spc="-57" dirty="0">
                <a:solidFill>
                  <a:srgbClr val="24130B"/>
                </a:solidFill>
                <a:latin typeface="Arial MT"/>
                <a:cs typeface="Arial MT"/>
              </a:rPr>
              <a:t> </a:t>
            </a:r>
            <a:r>
              <a:rPr sz="1410" kern="0" dirty="0">
                <a:solidFill>
                  <a:srgbClr val="24130B"/>
                </a:solidFill>
                <a:latin typeface="Arial MT"/>
                <a:cs typeface="Arial MT"/>
              </a:rPr>
              <a:t>of</a:t>
            </a:r>
            <a:r>
              <a:rPr sz="1410" kern="0" spc="-55" dirty="0">
                <a:solidFill>
                  <a:srgbClr val="24130B"/>
                </a:solidFill>
                <a:latin typeface="Arial MT"/>
                <a:cs typeface="Arial MT"/>
              </a:rPr>
              <a:t> </a:t>
            </a:r>
            <a:r>
              <a:rPr sz="1410" kern="0" dirty="0">
                <a:solidFill>
                  <a:srgbClr val="24130B"/>
                </a:solidFill>
                <a:latin typeface="Arial MT"/>
                <a:cs typeface="Arial MT"/>
              </a:rPr>
              <a:t>data</a:t>
            </a:r>
            <a:r>
              <a:rPr sz="1410" kern="0" spc="-55" dirty="0">
                <a:solidFill>
                  <a:srgbClr val="24130B"/>
                </a:solidFill>
                <a:latin typeface="Arial MT"/>
                <a:cs typeface="Arial MT"/>
              </a:rPr>
              <a:t> </a:t>
            </a:r>
            <a:r>
              <a:rPr sz="1410" kern="0" spc="-25" dirty="0">
                <a:solidFill>
                  <a:srgbClr val="24130B"/>
                </a:solidFill>
                <a:latin typeface="Arial MT"/>
                <a:cs typeface="Arial MT"/>
              </a:rPr>
              <a:t>are</a:t>
            </a:r>
            <a:r>
              <a:rPr sz="1410" kern="0" spc="-55" dirty="0">
                <a:solidFill>
                  <a:srgbClr val="24130B"/>
                </a:solidFill>
                <a:latin typeface="Arial MT"/>
                <a:cs typeface="Arial MT"/>
              </a:rPr>
              <a:t> </a:t>
            </a:r>
            <a:r>
              <a:rPr sz="1410" kern="0" spc="-11" dirty="0">
                <a:solidFill>
                  <a:srgbClr val="24130B"/>
                </a:solidFill>
                <a:latin typeface="Arial MT"/>
                <a:cs typeface="Arial MT"/>
              </a:rPr>
              <a:t>indexed</a:t>
            </a:r>
            <a:r>
              <a:rPr sz="1410" kern="0" spc="-57" dirty="0">
                <a:solidFill>
                  <a:srgbClr val="24130B"/>
                </a:solidFill>
                <a:latin typeface="Arial MT"/>
                <a:cs typeface="Arial MT"/>
              </a:rPr>
              <a:t> </a:t>
            </a:r>
            <a:r>
              <a:rPr sz="1410" kern="0" dirty="0">
                <a:solidFill>
                  <a:srgbClr val="24130B"/>
                </a:solidFill>
                <a:latin typeface="Arial MT"/>
                <a:cs typeface="Arial MT"/>
              </a:rPr>
              <a:t>for</a:t>
            </a:r>
            <a:r>
              <a:rPr sz="1410" kern="0" spc="-55" dirty="0">
                <a:solidFill>
                  <a:srgbClr val="24130B"/>
                </a:solidFill>
                <a:latin typeface="Arial MT"/>
                <a:cs typeface="Arial MT"/>
              </a:rPr>
              <a:t> </a:t>
            </a:r>
            <a:r>
              <a:rPr sz="1410" kern="0" spc="-14" dirty="0">
                <a:solidFill>
                  <a:srgbClr val="24130B"/>
                </a:solidFill>
                <a:latin typeface="Arial MT"/>
                <a:cs typeface="Arial MT"/>
              </a:rPr>
              <a:t>efficient</a:t>
            </a:r>
            <a:r>
              <a:rPr sz="1410" kern="0" spc="-55" dirty="0">
                <a:solidFill>
                  <a:srgbClr val="24130B"/>
                </a:solidFill>
                <a:latin typeface="Arial MT"/>
                <a:cs typeface="Arial MT"/>
              </a:rPr>
              <a:t> </a:t>
            </a:r>
            <a:r>
              <a:rPr sz="1410" kern="0" spc="-5" dirty="0">
                <a:solidFill>
                  <a:srgbClr val="24130B"/>
                </a:solidFill>
                <a:latin typeface="Arial MT"/>
                <a:cs typeface="Arial MT"/>
              </a:rPr>
              <a:t>lookup</a:t>
            </a:r>
            <a:endParaRPr sz="1410" kern="0" dirty="0">
              <a:solidFill>
                <a:sysClr val="windowText" lastClr="000000"/>
              </a:solidFill>
              <a:latin typeface="Arial MT"/>
              <a:cs typeface="Arial MT"/>
            </a:endParaRPr>
          </a:p>
          <a:p>
            <a:pPr marL="417313" lvl="1" indent="-131114" defTabSz="415869" fontAlgn="auto">
              <a:lnSpc>
                <a:spcPts val="2028"/>
              </a:lnSpc>
              <a:spcBef>
                <a:spcPts val="0"/>
              </a:spcBef>
              <a:spcAft>
                <a:spcPts val="0"/>
              </a:spcAft>
              <a:buClr>
                <a:srgbClr val="0A519E"/>
              </a:buClr>
              <a:buSzPct val="125806"/>
              <a:buFont typeface="Microsoft Sans Serif"/>
              <a:buChar char="‣"/>
              <a:tabLst>
                <a:tab pos="417313" algn="l"/>
              </a:tabLst>
            </a:pPr>
            <a:r>
              <a:rPr sz="1410" kern="0" spc="-11" dirty="0">
                <a:solidFill>
                  <a:srgbClr val="24130B"/>
                </a:solidFill>
                <a:latin typeface="Arial MT"/>
                <a:cs typeface="Arial MT"/>
              </a:rPr>
              <a:t>Merges</a:t>
            </a:r>
            <a:r>
              <a:rPr sz="1410" kern="0" spc="-61" dirty="0">
                <a:solidFill>
                  <a:srgbClr val="24130B"/>
                </a:solidFill>
                <a:latin typeface="Arial MT"/>
                <a:cs typeface="Arial MT"/>
              </a:rPr>
              <a:t> </a:t>
            </a:r>
            <a:r>
              <a:rPr sz="1410" kern="0" dirty="0">
                <a:solidFill>
                  <a:srgbClr val="24130B"/>
                </a:solidFill>
                <a:latin typeface="Arial MT"/>
                <a:cs typeface="Arial MT"/>
              </a:rPr>
              <a:t>happen</a:t>
            </a:r>
            <a:r>
              <a:rPr sz="1410" kern="0" spc="-59" dirty="0">
                <a:solidFill>
                  <a:srgbClr val="24130B"/>
                </a:solidFill>
                <a:latin typeface="Arial MT"/>
                <a:cs typeface="Arial MT"/>
              </a:rPr>
              <a:t> </a:t>
            </a:r>
            <a:r>
              <a:rPr sz="1410" kern="0" spc="-11" dirty="0">
                <a:solidFill>
                  <a:srgbClr val="24130B"/>
                </a:solidFill>
                <a:latin typeface="Arial MT"/>
                <a:cs typeface="Arial MT"/>
              </a:rPr>
              <a:t>only</a:t>
            </a:r>
            <a:r>
              <a:rPr sz="1410" kern="0" spc="-59" dirty="0">
                <a:solidFill>
                  <a:srgbClr val="24130B"/>
                </a:solidFill>
                <a:latin typeface="Arial MT"/>
                <a:cs typeface="Arial MT"/>
              </a:rPr>
              <a:t> </a:t>
            </a:r>
            <a:r>
              <a:rPr sz="1410" kern="0" spc="-5" dirty="0">
                <a:solidFill>
                  <a:srgbClr val="24130B"/>
                </a:solidFill>
                <a:latin typeface="Arial MT"/>
                <a:cs typeface="Arial MT"/>
              </a:rPr>
              <a:t>after</a:t>
            </a:r>
            <a:r>
              <a:rPr sz="1410" kern="0" spc="-59" dirty="0">
                <a:solidFill>
                  <a:srgbClr val="24130B"/>
                </a:solidFill>
                <a:latin typeface="Arial MT"/>
                <a:cs typeface="Arial MT"/>
              </a:rPr>
              <a:t> </a:t>
            </a:r>
            <a:r>
              <a:rPr sz="1410" kern="0" dirty="0">
                <a:solidFill>
                  <a:srgbClr val="24130B"/>
                </a:solidFill>
                <a:latin typeface="Arial MT"/>
                <a:cs typeface="Arial MT"/>
              </a:rPr>
              <a:t>much</a:t>
            </a:r>
            <a:r>
              <a:rPr sz="1410" kern="0" spc="-59" dirty="0">
                <a:solidFill>
                  <a:srgbClr val="24130B"/>
                </a:solidFill>
                <a:latin typeface="Arial MT"/>
                <a:cs typeface="Arial MT"/>
              </a:rPr>
              <a:t> </a:t>
            </a:r>
            <a:r>
              <a:rPr sz="1410" kern="0" dirty="0">
                <a:solidFill>
                  <a:srgbClr val="24130B"/>
                </a:solidFill>
                <a:latin typeface="Arial MT"/>
                <a:cs typeface="Arial MT"/>
              </a:rPr>
              <a:t>new</a:t>
            </a:r>
            <a:r>
              <a:rPr sz="1410" kern="0" spc="-59" dirty="0">
                <a:solidFill>
                  <a:srgbClr val="24130B"/>
                </a:solidFill>
                <a:latin typeface="Arial MT"/>
                <a:cs typeface="Arial MT"/>
              </a:rPr>
              <a:t> </a:t>
            </a:r>
            <a:r>
              <a:rPr sz="1410" kern="0" dirty="0">
                <a:solidFill>
                  <a:srgbClr val="24130B"/>
                </a:solidFill>
                <a:latin typeface="Arial MT"/>
                <a:cs typeface="Arial MT"/>
              </a:rPr>
              <a:t>data</a:t>
            </a:r>
            <a:r>
              <a:rPr sz="1410" kern="0" spc="-59" dirty="0">
                <a:solidFill>
                  <a:srgbClr val="24130B"/>
                </a:solidFill>
                <a:latin typeface="Arial MT"/>
                <a:cs typeface="Arial MT"/>
              </a:rPr>
              <a:t> </a:t>
            </a:r>
            <a:r>
              <a:rPr sz="1410" kern="0" dirty="0">
                <a:solidFill>
                  <a:srgbClr val="24130B"/>
                </a:solidFill>
                <a:latin typeface="Arial MT"/>
                <a:cs typeface="Arial MT"/>
              </a:rPr>
              <a:t>is</a:t>
            </a:r>
            <a:r>
              <a:rPr sz="1410" kern="0" spc="-59" dirty="0">
                <a:solidFill>
                  <a:srgbClr val="24130B"/>
                </a:solidFill>
                <a:latin typeface="Arial MT"/>
                <a:cs typeface="Arial MT"/>
              </a:rPr>
              <a:t> </a:t>
            </a:r>
            <a:r>
              <a:rPr sz="1410" kern="0" spc="-5" dirty="0">
                <a:solidFill>
                  <a:srgbClr val="24130B"/>
                </a:solidFill>
                <a:latin typeface="Arial MT"/>
                <a:cs typeface="Arial MT"/>
              </a:rPr>
              <a:t>accumulated</a:t>
            </a:r>
            <a:endParaRPr sz="1410" kern="0" dirty="0">
              <a:solidFill>
                <a:sysClr val="windowText" lastClr="000000"/>
              </a:solidFill>
              <a:latin typeface="Arial MT"/>
              <a:cs typeface="Arial MT"/>
            </a:endParaRPr>
          </a:p>
          <a:p>
            <a:pPr defTabSz="415869" fontAlgn="auto">
              <a:spcBef>
                <a:spcPts val="678"/>
              </a:spcBef>
              <a:spcAft>
                <a:spcPts val="0"/>
              </a:spcAft>
            </a:pPr>
            <a:endParaRPr sz="1410" kern="0" dirty="0">
              <a:solidFill>
                <a:sysClr val="windowText" lastClr="000000"/>
              </a:solidFill>
              <a:latin typeface="Arial MT"/>
              <a:cs typeface="Arial MT"/>
            </a:endParaRPr>
          </a:p>
          <a:p>
            <a:pPr marL="5776" defTabSz="415869" fontAlgn="auto">
              <a:spcBef>
                <a:spcPts val="0"/>
              </a:spcBef>
              <a:spcAft>
                <a:spcPts val="0"/>
              </a:spcAft>
            </a:pPr>
            <a:r>
              <a:rPr sz="2024" b="1" kern="0" spc="-9" dirty="0">
                <a:solidFill>
                  <a:sysClr val="windowText" lastClr="000000"/>
                </a:solidFill>
                <a:latin typeface="Arial"/>
                <a:cs typeface="Arial"/>
              </a:rPr>
              <a:t>Tree</a:t>
            </a:r>
            <a:endParaRPr sz="2024" kern="0" dirty="0">
              <a:solidFill>
                <a:sysClr val="windowText" lastClr="000000"/>
              </a:solidFill>
              <a:latin typeface="Arial"/>
              <a:cs typeface="Arial"/>
            </a:endParaRPr>
          </a:p>
          <a:p>
            <a:pPr marL="395364" indent="-167503" defTabSz="415869" fontAlgn="auto">
              <a:lnSpc>
                <a:spcPts val="2012"/>
              </a:lnSpc>
              <a:spcBef>
                <a:spcPts val="475"/>
              </a:spcBef>
              <a:spcAft>
                <a:spcPts val="0"/>
              </a:spcAft>
              <a:buClr>
                <a:srgbClr val="24130B"/>
              </a:buClr>
              <a:buFontTx/>
              <a:buChar char="•"/>
              <a:tabLst>
                <a:tab pos="395364" algn="l"/>
              </a:tabLst>
            </a:pPr>
            <a:r>
              <a:rPr sz="1728" kern="0" spc="-5" dirty="0">
                <a:solidFill>
                  <a:srgbClr val="0A519E"/>
                </a:solidFill>
                <a:latin typeface="Arial MT"/>
                <a:cs typeface="Arial MT"/>
              </a:rPr>
              <a:t>The</a:t>
            </a:r>
            <a:r>
              <a:rPr sz="1728" kern="0" spc="-25" dirty="0">
                <a:solidFill>
                  <a:srgbClr val="0A519E"/>
                </a:solidFill>
                <a:latin typeface="Arial MT"/>
                <a:cs typeface="Arial MT"/>
              </a:rPr>
              <a:t> </a:t>
            </a:r>
            <a:r>
              <a:rPr sz="1728" kern="0" dirty="0">
                <a:solidFill>
                  <a:srgbClr val="0A519E"/>
                </a:solidFill>
                <a:latin typeface="Arial MT"/>
                <a:cs typeface="Arial MT"/>
              </a:rPr>
              <a:t>hierarchy</a:t>
            </a:r>
            <a:r>
              <a:rPr sz="1728" kern="0" spc="-23" dirty="0">
                <a:solidFill>
                  <a:srgbClr val="0A519E"/>
                </a:solidFill>
                <a:latin typeface="Arial MT"/>
                <a:cs typeface="Arial MT"/>
              </a:rPr>
              <a:t> </a:t>
            </a:r>
            <a:r>
              <a:rPr sz="1728" kern="0" spc="27" dirty="0">
                <a:solidFill>
                  <a:srgbClr val="0A519E"/>
                </a:solidFill>
                <a:latin typeface="Arial MT"/>
                <a:cs typeface="Arial MT"/>
              </a:rPr>
              <a:t>of</a:t>
            </a:r>
            <a:r>
              <a:rPr sz="1728" kern="0" spc="-25" dirty="0">
                <a:solidFill>
                  <a:srgbClr val="0A519E"/>
                </a:solidFill>
                <a:latin typeface="Arial MT"/>
                <a:cs typeface="Arial MT"/>
              </a:rPr>
              <a:t> </a:t>
            </a:r>
            <a:r>
              <a:rPr sz="1728" kern="0" dirty="0">
                <a:solidFill>
                  <a:srgbClr val="0A519E"/>
                </a:solidFill>
                <a:latin typeface="Arial MT"/>
                <a:cs typeface="Arial MT"/>
              </a:rPr>
              <a:t>key-value</a:t>
            </a:r>
            <a:r>
              <a:rPr sz="1728" kern="0" spc="-23" dirty="0">
                <a:solidFill>
                  <a:srgbClr val="0A519E"/>
                </a:solidFill>
                <a:latin typeface="Arial MT"/>
                <a:cs typeface="Arial MT"/>
              </a:rPr>
              <a:t> </a:t>
            </a:r>
            <a:r>
              <a:rPr sz="1728" kern="0" dirty="0">
                <a:solidFill>
                  <a:srgbClr val="0A519E"/>
                </a:solidFill>
                <a:latin typeface="Arial MT"/>
                <a:cs typeface="Arial MT"/>
              </a:rPr>
              <a:t>pair</a:t>
            </a:r>
            <a:r>
              <a:rPr sz="1728" kern="0" spc="-25" dirty="0">
                <a:solidFill>
                  <a:srgbClr val="0A519E"/>
                </a:solidFill>
                <a:latin typeface="Arial MT"/>
                <a:cs typeface="Arial MT"/>
              </a:rPr>
              <a:t> </a:t>
            </a:r>
            <a:r>
              <a:rPr sz="1728" kern="0" dirty="0">
                <a:solidFill>
                  <a:srgbClr val="0A519E"/>
                </a:solidFill>
                <a:latin typeface="Arial MT"/>
                <a:cs typeface="Arial MT"/>
              </a:rPr>
              <a:t>runs</a:t>
            </a:r>
            <a:r>
              <a:rPr sz="1728" kern="0" spc="-23" dirty="0">
                <a:solidFill>
                  <a:srgbClr val="0A519E"/>
                </a:solidFill>
                <a:latin typeface="Arial MT"/>
                <a:cs typeface="Arial MT"/>
              </a:rPr>
              <a:t> </a:t>
            </a:r>
            <a:r>
              <a:rPr sz="1728" kern="0" dirty="0">
                <a:solidFill>
                  <a:srgbClr val="0A519E"/>
                </a:solidFill>
                <a:latin typeface="Arial MT"/>
                <a:cs typeface="Arial MT"/>
              </a:rPr>
              <a:t>form</a:t>
            </a:r>
            <a:r>
              <a:rPr sz="1728" kern="0" spc="-25" dirty="0">
                <a:solidFill>
                  <a:srgbClr val="0A519E"/>
                </a:solidFill>
                <a:latin typeface="Arial MT"/>
                <a:cs typeface="Arial MT"/>
              </a:rPr>
              <a:t> </a:t>
            </a:r>
            <a:r>
              <a:rPr sz="1728" kern="0" dirty="0">
                <a:solidFill>
                  <a:srgbClr val="0A519E"/>
                </a:solidFill>
                <a:latin typeface="Arial MT"/>
                <a:cs typeface="Arial MT"/>
              </a:rPr>
              <a:t>a</a:t>
            </a:r>
            <a:r>
              <a:rPr sz="1728" kern="0" spc="-23" dirty="0">
                <a:solidFill>
                  <a:srgbClr val="0A519E"/>
                </a:solidFill>
                <a:latin typeface="Arial MT"/>
                <a:cs typeface="Arial MT"/>
              </a:rPr>
              <a:t> </a:t>
            </a:r>
            <a:r>
              <a:rPr sz="1728" kern="0" spc="-9" dirty="0">
                <a:solidFill>
                  <a:srgbClr val="0A519E"/>
                </a:solidFill>
                <a:latin typeface="Arial MT"/>
                <a:cs typeface="Arial MT"/>
              </a:rPr>
              <a:t>tree</a:t>
            </a:r>
            <a:endParaRPr sz="1728" kern="0" dirty="0">
              <a:solidFill>
                <a:sysClr val="windowText" lastClr="000000"/>
              </a:solidFill>
              <a:latin typeface="Arial MT"/>
              <a:cs typeface="Arial MT"/>
            </a:endParaRPr>
          </a:p>
          <a:p>
            <a:pPr marL="442727" lvl="1" indent="-131114" defTabSz="415869" fontAlgn="auto">
              <a:lnSpc>
                <a:spcPts val="2067"/>
              </a:lnSpc>
              <a:spcBef>
                <a:spcPts val="0"/>
              </a:spcBef>
              <a:spcAft>
                <a:spcPts val="0"/>
              </a:spcAft>
              <a:buClr>
                <a:srgbClr val="0A519E"/>
              </a:buClr>
              <a:buSzPct val="125806"/>
              <a:buFont typeface="Microsoft Sans Serif"/>
              <a:buChar char="‣"/>
              <a:tabLst>
                <a:tab pos="442727" algn="l"/>
              </a:tabLst>
            </a:pPr>
            <a:r>
              <a:rPr sz="1410" kern="0" spc="-25" dirty="0">
                <a:solidFill>
                  <a:srgbClr val="24130B"/>
                </a:solidFill>
                <a:latin typeface="Arial MT"/>
                <a:cs typeface="Arial MT"/>
              </a:rPr>
              <a:t>Searches</a:t>
            </a:r>
            <a:r>
              <a:rPr sz="1410" kern="0" spc="-41" dirty="0">
                <a:solidFill>
                  <a:srgbClr val="24130B"/>
                </a:solidFill>
                <a:latin typeface="Arial MT"/>
                <a:cs typeface="Arial MT"/>
              </a:rPr>
              <a:t> </a:t>
            </a:r>
            <a:r>
              <a:rPr sz="1410" kern="0" dirty="0">
                <a:solidFill>
                  <a:srgbClr val="24130B"/>
                </a:solidFill>
                <a:latin typeface="Arial MT"/>
                <a:cs typeface="Arial MT"/>
              </a:rPr>
              <a:t>start</a:t>
            </a:r>
            <a:r>
              <a:rPr sz="1410" kern="0" spc="-41" dirty="0">
                <a:solidFill>
                  <a:srgbClr val="24130B"/>
                </a:solidFill>
                <a:latin typeface="Arial MT"/>
                <a:cs typeface="Arial MT"/>
              </a:rPr>
              <a:t> </a:t>
            </a:r>
            <a:r>
              <a:rPr sz="1410" kern="0" dirty="0">
                <a:solidFill>
                  <a:srgbClr val="24130B"/>
                </a:solidFill>
                <a:latin typeface="Arial MT"/>
                <a:cs typeface="Arial MT"/>
              </a:rPr>
              <a:t>at</a:t>
            </a:r>
            <a:r>
              <a:rPr sz="1410" kern="0" spc="-41" dirty="0">
                <a:solidFill>
                  <a:srgbClr val="24130B"/>
                </a:solidFill>
                <a:latin typeface="Arial MT"/>
                <a:cs typeface="Arial MT"/>
              </a:rPr>
              <a:t> </a:t>
            </a:r>
            <a:r>
              <a:rPr sz="1410" kern="0" dirty="0">
                <a:solidFill>
                  <a:srgbClr val="24130B"/>
                </a:solidFill>
                <a:latin typeface="Arial MT"/>
                <a:cs typeface="Arial MT"/>
              </a:rPr>
              <a:t>the</a:t>
            </a:r>
            <a:r>
              <a:rPr sz="1410" kern="0" spc="-41" dirty="0">
                <a:solidFill>
                  <a:srgbClr val="24130B"/>
                </a:solidFill>
                <a:latin typeface="Arial MT"/>
                <a:cs typeface="Arial MT"/>
              </a:rPr>
              <a:t> </a:t>
            </a:r>
            <a:r>
              <a:rPr sz="1410" kern="0" dirty="0">
                <a:solidFill>
                  <a:srgbClr val="24130B"/>
                </a:solidFill>
                <a:latin typeface="Arial MT"/>
                <a:cs typeface="Arial MT"/>
              </a:rPr>
              <a:t>root,</a:t>
            </a:r>
            <a:r>
              <a:rPr sz="1410" kern="0" spc="-41" dirty="0">
                <a:solidFill>
                  <a:srgbClr val="24130B"/>
                </a:solidFill>
                <a:latin typeface="Arial MT"/>
                <a:cs typeface="Arial MT"/>
              </a:rPr>
              <a:t> </a:t>
            </a:r>
            <a:r>
              <a:rPr sz="1410" kern="0" spc="-11" dirty="0">
                <a:solidFill>
                  <a:srgbClr val="24130B"/>
                </a:solidFill>
                <a:latin typeface="Arial MT"/>
                <a:cs typeface="Arial MT"/>
              </a:rPr>
              <a:t>progress</a:t>
            </a:r>
            <a:r>
              <a:rPr sz="1410" kern="0" spc="-41" dirty="0">
                <a:solidFill>
                  <a:srgbClr val="24130B"/>
                </a:solidFill>
                <a:latin typeface="Arial MT"/>
                <a:cs typeface="Arial MT"/>
              </a:rPr>
              <a:t> </a:t>
            </a:r>
            <a:r>
              <a:rPr sz="1410" kern="0" spc="-5" dirty="0">
                <a:solidFill>
                  <a:srgbClr val="24130B"/>
                </a:solidFill>
                <a:latin typeface="Arial MT"/>
                <a:cs typeface="Arial MT"/>
              </a:rPr>
              <a:t>downwards</a:t>
            </a:r>
            <a:endParaRPr sz="1410" kern="0" dirty="0">
              <a:solidFill>
                <a:sysClr val="windowText" lastClr="000000"/>
              </a:solidFill>
              <a:latin typeface="Arial MT"/>
              <a:cs typeface="Arial MT"/>
            </a:endParaRPr>
          </a:p>
        </p:txBody>
      </p:sp>
      <p:sp>
        <p:nvSpPr>
          <p:cNvPr id="5" name="object 3"/>
          <p:cNvSpPr txBox="1">
            <a:spLocks noGrp="1"/>
          </p:cNvSpPr>
          <p:nvPr/>
        </p:nvSpPr>
        <p:spPr>
          <a:xfrm>
            <a:off x="755576" y="188640"/>
            <a:ext cx="7458358" cy="438178"/>
          </a:xfrm>
          <a:prstGeom prst="rect">
            <a:avLst/>
          </a:prstGeom>
        </p:spPr>
        <p:txBody>
          <a:bodyPr vert="horz" wrap="square" lIns="0" tIns="7220" rIns="0" bIns="0" rtlCol="0">
            <a:spAutoFit/>
          </a:bodyPr>
          <a:lstStyle>
            <a:lvl1pPr>
              <a:defRPr sz="2297" b="0" i="0">
                <a:solidFill>
                  <a:srgbClr val="0365C0"/>
                </a:solidFill>
                <a:latin typeface="Arial MT"/>
                <a:ea typeface="+mj-ea"/>
                <a:cs typeface="Arial MT"/>
              </a:defRPr>
            </a:lvl1p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Tree>
    <p:extLst>
      <p:ext uri="{BB962C8B-B14F-4D97-AF65-F5344CB8AC3E}">
        <p14:creationId xmlns:p14="http://schemas.microsoft.com/office/powerpoint/2010/main" val="391268533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5932" y="1394490"/>
            <a:ext cx="7812492" cy="1050874"/>
          </a:xfrm>
          <a:prstGeom prst="rect">
            <a:avLst/>
          </a:prstGeom>
        </p:spPr>
        <p:txBody>
          <a:bodyPr vert="horz" wrap="square" lIns="0" tIns="78559" rIns="0" bIns="0" rtlCol="0">
            <a:spAutoFit/>
          </a:bodyPr>
          <a:lstStyle/>
          <a:p>
            <a:pPr marL="11552" defTabSz="415869" fontAlgn="auto">
              <a:spcBef>
                <a:spcPts val="619"/>
              </a:spcBef>
              <a:spcAft>
                <a:spcPts val="0"/>
              </a:spcAft>
            </a:pPr>
            <a:r>
              <a:rPr sz="2024" b="1" kern="0" dirty="0">
                <a:solidFill>
                  <a:srgbClr val="24130B"/>
                </a:solidFill>
                <a:latin typeface="Arial"/>
                <a:cs typeface="Arial"/>
              </a:rPr>
              <a:t>An</a:t>
            </a:r>
            <a:r>
              <a:rPr sz="2024" b="1" kern="0" spc="-39" dirty="0">
                <a:solidFill>
                  <a:srgbClr val="24130B"/>
                </a:solidFill>
                <a:latin typeface="Arial"/>
                <a:cs typeface="Arial"/>
              </a:rPr>
              <a:t> </a:t>
            </a:r>
            <a:r>
              <a:rPr sz="2024" b="1" kern="0" spc="48" dirty="0">
                <a:solidFill>
                  <a:srgbClr val="24130B"/>
                </a:solidFill>
                <a:latin typeface="Arial"/>
                <a:cs typeface="Arial"/>
              </a:rPr>
              <a:t>LSM-</a:t>
            </a:r>
            <a:r>
              <a:rPr sz="2024" b="1" kern="0" dirty="0">
                <a:solidFill>
                  <a:srgbClr val="24130B"/>
                </a:solidFill>
                <a:latin typeface="Arial"/>
                <a:cs typeface="Arial"/>
              </a:rPr>
              <a:t>tree</a:t>
            </a:r>
            <a:r>
              <a:rPr sz="2024" b="1" kern="0" spc="-36" dirty="0">
                <a:solidFill>
                  <a:srgbClr val="24130B"/>
                </a:solidFill>
                <a:latin typeface="Arial"/>
                <a:cs typeface="Arial"/>
              </a:rPr>
              <a:t> </a:t>
            </a:r>
            <a:r>
              <a:rPr sz="2024" b="1" kern="0" dirty="0">
                <a:solidFill>
                  <a:srgbClr val="24130B"/>
                </a:solidFill>
                <a:latin typeface="Arial"/>
                <a:cs typeface="Arial"/>
              </a:rPr>
              <a:t>comprises</a:t>
            </a:r>
            <a:r>
              <a:rPr sz="2024" b="1" kern="0" spc="-39" dirty="0">
                <a:solidFill>
                  <a:srgbClr val="24130B"/>
                </a:solidFill>
                <a:latin typeface="Arial"/>
                <a:cs typeface="Arial"/>
              </a:rPr>
              <a:t> </a:t>
            </a:r>
            <a:r>
              <a:rPr sz="2024" b="1" kern="0" spc="32" dirty="0">
                <a:solidFill>
                  <a:srgbClr val="24130B"/>
                </a:solidFill>
                <a:latin typeface="Arial"/>
                <a:cs typeface="Arial"/>
              </a:rPr>
              <a:t>a</a:t>
            </a:r>
            <a:r>
              <a:rPr sz="2024" b="1" kern="0" spc="-36" dirty="0">
                <a:solidFill>
                  <a:srgbClr val="24130B"/>
                </a:solidFill>
                <a:latin typeface="Arial"/>
                <a:cs typeface="Arial"/>
              </a:rPr>
              <a:t> </a:t>
            </a:r>
            <a:r>
              <a:rPr sz="2024" b="1" kern="0" spc="-9" dirty="0">
                <a:solidFill>
                  <a:srgbClr val="24130B"/>
                </a:solidFill>
                <a:latin typeface="Arial"/>
                <a:cs typeface="Arial"/>
              </a:rPr>
              <a:t>hierarchy</a:t>
            </a:r>
            <a:r>
              <a:rPr sz="2024" b="1" kern="0" spc="-39" dirty="0">
                <a:solidFill>
                  <a:srgbClr val="24130B"/>
                </a:solidFill>
                <a:latin typeface="Arial"/>
                <a:cs typeface="Arial"/>
              </a:rPr>
              <a:t> </a:t>
            </a:r>
            <a:r>
              <a:rPr sz="2024" b="1" kern="0" dirty="0">
                <a:solidFill>
                  <a:srgbClr val="24130B"/>
                </a:solidFill>
                <a:latin typeface="Arial"/>
                <a:cs typeface="Arial"/>
              </a:rPr>
              <a:t>of</a:t>
            </a:r>
            <a:r>
              <a:rPr sz="2024" b="1" kern="0" spc="-36" dirty="0">
                <a:solidFill>
                  <a:srgbClr val="24130B"/>
                </a:solidFill>
                <a:latin typeface="Arial"/>
                <a:cs typeface="Arial"/>
              </a:rPr>
              <a:t> </a:t>
            </a:r>
            <a:r>
              <a:rPr sz="2024" b="1" kern="0" dirty="0">
                <a:solidFill>
                  <a:srgbClr val="24130B"/>
                </a:solidFill>
                <a:latin typeface="Arial"/>
                <a:cs typeface="Arial"/>
              </a:rPr>
              <a:t>trees</a:t>
            </a:r>
            <a:r>
              <a:rPr sz="2024" b="1" kern="0" spc="-39" dirty="0">
                <a:solidFill>
                  <a:srgbClr val="24130B"/>
                </a:solidFill>
                <a:latin typeface="Arial"/>
                <a:cs typeface="Arial"/>
              </a:rPr>
              <a:t> </a:t>
            </a:r>
            <a:r>
              <a:rPr sz="2024" b="1" kern="0" dirty="0">
                <a:solidFill>
                  <a:srgbClr val="24130B"/>
                </a:solidFill>
                <a:latin typeface="Arial"/>
                <a:cs typeface="Arial"/>
              </a:rPr>
              <a:t>of</a:t>
            </a:r>
            <a:r>
              <a:rPr sz="2024" b="1" kern="0" spc="-36" dirty="0">
                <a:solidFill>
                  <a:srgbClr val="24130B"/>
                </a:solidFill>
                <a:latin typeface="Arial"/>
                <a:cs typeface="Arial"/>
              </a:rPr>
              <a:t> </a:t>
            </a:r>
            <a:r>
              <a:rPr sz="2024" b="1" kern="0" spc="-5" dirty="0">
                <a:solidFill>
                  <a:srgbClr val="24130B"/>
                </a:solidFill>
                <a:latin typeface="Arial"/>
                <a:cs typeface="Arial"/>
              </a:rPr>
              <a:t>increasing</a:t>
            </a:r>
            <a:r>
              <a:rPr sz="2024" b="1" kern="0" spc="-39" dirty="0">
                <a:solidFill>
                  <a:srgbClr val="24130B"/>
                </a:solidFill>
                <a:latin typeface="Arial"/>
                <a:cs typeface="Arial"/>
              </a:rPr>
              <a:t> </a:t>
            </a:r>
            <a:r>
              <a:rPr sz="2024" b="1" kern="0" spc="-9" dirty="0">
                <a:solidFill>
                  <a:srgbClr val="24130B"/>
                </a:solidFill>
                <a:latin typeface="Arial"/>
                <a:cs typeface="Arial"/>
              </a:rPr>
              <a:t>size</a:t>
            </a:r>
            <a:endParaRPr sz="2024" kern="0" dirty="0">
              <a:solidFill>
                <a:sysClr val="windowText" lastClr="000000"/>
              </a:solidFill>
              <a:latin typeface="Arial"/>
              <a:cs typeface="Arial"/>
            </a:endParaRPr>
          </a:p>
          <a:p>
            <a:pPr marL="283600" indent="-167503" defTabSz="415869" fontAlgn="auto">
              <a:spcBef>
                <a:spcPts val="484"/>
              </a:spcBef>
              <a:spcAft>
                <a:spcPts val="0"/>
              </a:spcAft>
              <a:buClr>
                <a:srgbClr val="24130B"/>
              </a:buClr>
              <a:buFont typeface="Arial MT"/>
              <a:buChar char="•"/>
              <a:tabLst>
                <a:tab pos="283600" algn="l"/>
              </a:tabLst>
            </a:pPr>
            <a:r>
              <a:rPr sz="1728" i="1" kern="0" dirty="0">
                <a:solidFill>
                  <a:srgbClr val="0A519E"/>
                </a:solidFill>
                <a:latin typeface="Arial"/>
                <a:cs typeface="Arial"/>
              </a:rPr>
              <a:t>All</a:t>
            </a:r>
            <a:r>
              <a:rPr sz="1728" i="1" kern="0" spc="18" dirty="0">
                <a:solidFill>
                  <a:srgbClr val="0A519E"/>
                </a:solidFill>
                <a:latin typeface="Arial"/>
                <a:cs typeface="Arial"/>
              </a:rPr>
              <a:t> </a:t>
            </a:r>
            <a:r>
              <a:rPr sz="1728" kern="0" dirty="0">
                <a:solidFill>
                  <a:srgbClr val="0A519E"/>
                </a:solidFill>
                <a:latin typeface="Arial MT"/>
                <a:cs typeface="Arial MT"/>
              </a:rPr>
              <a:t>data</a:t>
            </a:r>
            <a:r>
              <a:rPr sz="1728" kern="0" spc="20" dirty="0">
                <a:solidFill>
                  <a:srgbClr val="0A519E"/>
                </a:solidFill>
                <a:latin typeface="Arial MT"/>
                <a:cs typeface="Arial MT"/>
              </a:rPr>
              <a:t> </a:t>
            </a:r>
            <a:r>
              <a:rPr sz="1728" kern="0" dirty="0">
                <a:solidFill>
                  <a:srgbClr val="0A519E"/>
                </a:solidFill>
                <a:latin typeface="Arial MT"/>
                <a:cs typeface="Arial MT"/>
              </a:rPr>
              <a:t>inserted</a:t>
            </a:r>
            <a:r>
              <a:rPr sz="1728" kern="0" spc="20" dirty="0">
                <a:solidFill>
                  <a:srgbClr val="0A519E"/>
                </a:solidFill>
                <a:latin typeface="Arial MT"/>
                <a:cs typeface="Arial MT"/>
              </a:rPr>
              <a:t> </a:t>
            </a:r>
            <a:r>
              <a:rPr sz="1728" kern="0" dirty="0">
                <a:solidFill>
                  <a:srgbClr val="0A519E"/>
                </a:solidFill>
                <a:latin typeface="Arial MT"/>
                <a:cs typeface="Arial MT"/>
              </a:rPr>
              <a:t>into</a:t>
            </a:r>
            <a:r>
              <a:rPr sz="1728" kern="0" spc="20" dirty="0">
                <a:solidFill>
                  <a:srgbClr val="0A519E"/>
                </a:solidFill>
                <a:latin typeface="Arial MT"/>
                <a:cs typeface="Arial MT"/>
              </a:rPr>
              <a:t> </a:t>
            </a:r>
            <a:r>
              <a:rPr sz="1728" kern="0" dirty="0">
                <a:solidFill>
                  <a:srgbClr val="0A519E"/>
                </a:solidFill>
                <a:latin typeface="Arial MT"/>
                <a:cs typeface="Arial MT"/>
              </a:rPr>
              <a:t>in-memory</a:t>
            </a:r>
            <a:r>
              <a:rPr sz="1728" kern="0" spc="20" dirty="0">
                <a:solidFill>
                  <a:srgbClr val="0A519E"/>
                </a:solidFill>
                <a:latin typeface="Arial MT"/>
                <a:cs typeface="Arial MT"/>
              </a:rPr>
              <a:t> </a:t>
            </a:r>
            <a:r>
              <a:rPr sz="1728" kern="0" dirty="0">
                <a:solidFill>
                  <a:srgbClr val="0A519E"/>
                </a:solidFill>
                <a:latin typeface="Arial MT"/>
                <a:cs typeface="Arial MT"/>
              </a:rPr>
              <a:t>tree</a:t>
            </a:r>
            <a:r>
              <a:rPr sz="1728" kern="0" spc="18" dirty="0">
                <a:solidFill>
                  <a:srgbClr val="0A519E"/>
                </a:solidFill>
                <a:latin typeface="Arial MT"/>
                <a:cs typeface="Arial MT"/>
              </a:rPr>
              <a:t> </a:t>
            </a:r>
            <a:r>
              <a:rPr sz="1728" kern="0" spc="-9" dirty="0">
                <a:solidFill>
                  <a:srgbClr val="0A519E"/>
                </a:solidFill>
                <a:latin typeface="Arial MT"/>
                <a:cs typeface="Arial MT"/>
              </a:rPr>
              <a:t>(C</a:t>
            </a:r>
            <a:r>
              <a:rPr sz="1706" kern="0" spc="-14" baseline="-5555" dirty="0">
                <a:solidFill>
                  <a:srgbClr val="0A519E"/>
                </a:solidFill>
                <a:latin typeface="Arial MT"/>
                <a:cs typeface="Arial MT"/>
              </a:rPr>
              <a:t>0</a:t>
            </a:r>
            <a:r>
              <a:rPr sz="1728" kern="0" spc="-9" dirty="0">
                <a:solidFill>
                  <a:srgbClr val="0A519E"/>
                </a:solidFill>
                <a:latin typeface="Arial MT"/>
                <a:cs typeface="Arial MT"/>
              </a:rPr>
              <a:t>)</a:t>
            </a:r>
            <a:endParaRPr sz="1728" kern="0" dirty="0">
              <a:solidFill>
                <a:sysClr val="windowText" lastClr="000000"/>
              </a:solidFill>
              <a:latin typeface="Arial MT"/>
              <a:cs typeface="Arial MT"/>
            </a:endParaRPr>
          </a:p>
          <a:p>
            <a:pPr marL="283600" indent="-167503" defTabSz="415869" fontAlgn="auto">
              <a:spcBef>
                <a:spcPts val="459"/>
              </a:spcBef>
              <a:spcAft>
                <a:spcPts val="0"/>
              </a:spcAft>
              <a:buClr>
                <a:srgbClr val="24130B"/>
              </a:buClr>
              <a:buFontTx/>
              <a:buChar char="•"/>
              <a:tabLst>
                <a:tab pos="283600" algn="l"/>
              </a:tabLst>
            </a:pPr>
            <a:r>
              <a:rPr sz="1728" kern="0" dirty="0">
                <a:solidFill>
                  <a:srgbClr val="0A519E"/>
                </a:solidFill>
                <a:latin typeface="Arial MT"/>
                <a:cs typeface="Arial MT"/>
              </a:rPr>
              <a:t>Larger</a:t>
            </a:r>
            <a:r>
              <a:rPr sz="1728" kern="0" spc="11" dirty="0">
                <a:solidFill>
                  <a:srgbClr val="0A519E"/>
                </a:solidFill>
                <a:latin typeface="Arial MT"/>
                <a:cs typeface="Arial MT"/>
              </a:rPr>
              <a:t> </a:t>
            </a:r>
            <a:r>
              <a:rPr sz="1728" kern="0" dirty="0">
                <a:solidFill>
                  <a:srgbClr val="0A519E"/>
                </a:solidFill>
                <a:latin typeface="Arial MT"/>
                <a:cs typeface="Arial MT"/>
              </a:rPr>
              <a:t>on</a:t>
            </a:r>
            <a:r>
              <a:rPr sz="1728" kern="0" spc="11" dirty="0">
                <a:solidFill>
                  <a:srgbClr val="0A519E"/>
                </a:solidFill>
                <a:latin typeface="Arial MT"/>
                <a:cs typeface="Arial MT"/>
              </a:rPr>
              <a:t> </a:t>
            </a:r>
            <a:r>
              <a:rPr sz="1728" kern="0" dirty="0">
                <a:solidFill>
                  <a:srgbClr val="0A519E"/>
                </a:solidFill>
                <a:latin typeface="Arial MT"/>
                <a:cs typeface="Arial MT"/>
              </a:rPr>
              <a:t>disk</a:t>
            </a:r>
            <a:r>
              <a:rPr sz="1728" kern="0" spc="11" dirty="0">
                <a:solidFill>
                  <a:srgbClr val="0A519E"/>
                </a:solidFill>
                <a:latin typeface="Arial MT"/>
                <a:cs typeface="Arial MT"/>
              </a:rPr>
              <a:t> </a:t>
            </a:r>
            <a:r>
              <a:rPr sz="1728" kern="0" dirty="0">
                <a:solidFill>
                  <a:srgbClr val="0A519E"/>
                </a:solidFill>
                <a:latin typeface="Arial MT"/>
                <a:cs typeface="Arial MT"/>
              </a:rPr>
              <a:t>trees</a:t>
            </a:r>
            <a:r>
              <a:rPr sz="1728" kern="0" spc="11" dirty="0">
                <a:solidFill>
                  <a:srgbClr val="0A519E"/>
                </a:solidFill>
                <a:latin typeface="Arial MT"/>
                <a:cs typeface="Arial MT"/>
              </a:rPr>
              <a:t> </a:t>
            </a:r>
            <a:r>
              <a:rPr sz="1728" kern="0" spc="-30" dirty="0">
                <a:solidFill>
                  <a:srgbClr val="0A519E"/>
                </a:solidFill>
                <a:latin typeface="Arial MT"/>
                <a:cs typeface="Arial MT"/>
              </a:rPr>
              <a:t>(C</a:t>
            </a:r>
            <a:r>
              <a:rPr sz="1706" kern="0" spc="-44" baseline="-5555" dirty="0">
                <a:solidFill>
                  <a:srgbClr val="0A519E"/>
                </a:solidFill>
                <a:latin typeface="Arial MT"/>
                <a:cs typeface="Arial MT"/>
              </a:rPr>
              <a:t>i&gt;0</a:t>
            </a:r>
            <a:r>
              <a:rPr sz="1728" kern="0" spc="-30" dirty="0">
                <a:solidFill>
                  <a:srgbClr val="0A519E"/>
                </a:solidFill>
                <a:latin typeface="Arial MT"/>
                <a:cs typeface="Arial MT"/>
              </a:rPr>
              <a:t>)</a:t>
            </a:r>
            <a:r>
              <a:rPr sz="1728" kern="0" spc="11" dirty="0">
                <a:solidFill>
                  <a:srgbClr val="0A519E"/>
                </a:solidFill>
                <a:latin typeface="Arial MT"/>
                <a:cs typeface="Arial MT"/>
              </a:rPr>
              <a:t> </a:t>
            </a:r>
            <a:r>
              <a:rPr sz="1728" kern="0" dirty="0">
                <a:solidFill>
                  <a:srgbClr val="0A519E"/>
                </a:solidFill>
                <a:latin typeface="Arial MT"/>
                <a:cs typeface="Arial MT"/>
              </a:rPr>
              <a:t>hold</a:t>
            </a:r>
            <a:r>
              <a:rPr sz="1728" kern="0" spc="14" dirty="0">
                <a:solidFill>
                  <a:srgbClr val="0A519E"/>
                </a:solidFill>
                <a:latin typeface="Arial MT"/>
                <a:cs typeface="Arial MT"/>
              </a:rPr>
              <a:t> </a:t>
            </a:r>
            <a:r>
              <a:rPr sz="1728" kern="0" dirty="0">
                <a:solidFill>
                  <a:srgbClr val="0A519E"/>
                </a:solidFill>
                <a:latin typeface="Arial MT"/>
                <a:cs typeface="Arial MT"/>
              </a:rPr>
              <a:t>data</a:t>
            </a:r>
            <a:r>
              <a:rPr sz="1728" kern="0" spc="11" dirty="0">
                <a:solidFill>
                  <a:srgbClr val="0A519E"/>
                </a:solidFill>
                <a:latin typeface="Arial MT"/>
                <a:cs typeface="Arial MT"/>
              </a:rPr>
              <a:t> </a:t>
            </a:r>
            <a:r>
              <a:rPr sz="1728" kern="0" dirty="0">
                <a:solidFill>
                  <a:srgbClr val="0A519E"/>
                </a:solidFill>
                <a:latin typeface="Arial MT"/>
                <a:cs typeface="Arial MT"/>
              </a:rPr>
              <a:t>that</a:t>
            </a:r>
            <a:r>
              <a:rPr sz="1728" kern="0" spc="11" dirty="0">
                <a:solidFill>
                  <a:srgbClr val="0A519E"/>
                </a:solidFill>
                <a:latin typeface="Arial MT"/>
                <a:cs typeface="Arial MT"/>
              </a:rPr>
              <a:t> </a:t>
            </a:r>
            <a:r>
              <a:rPr sz="1728" kern="0" dirty="0">
                <a:solidFill>
                  <a:srgbClr val="0A519E"/>
                </a:solidFill>
                <a:latin typeface="Arial MT"/>
                <a:cs typeface="Arial MT"/>
              </a:rPr>
              <a:t>does</a:t>
            </a:r>
            <a:r>
              <a:rPr sz="1728" kern="0" spc="11" dirty="0">
                <a:solidFill>
                  <a:srgbClr val="0A519E"/>
                </a:solidFill>
                <a:latin typeface="Arial MT"/>
                <a:cs typeface="Arial MT"/>
              </a:rPr>
              <a:t> </a:t>
            </a:r>
            <a:r>
              <a:rPr sz="1728" kern="0" spc="23" dirty="0">
                <a:solidFill>
                  <a:srgbClr val="0A519E"/>
                </a:solidFill>
                <a:latin typeface="Arial MT"/>
                <a:cs typeface="Arial MT"/>
              </a:rPr>
              <a:t>not</a:t>
            </a:r>
            <a:r>
              <a:rPr sz="1728" kern="0" spc="11" dirty="0">
                <a:solidFill>
                  <a:srgbClr val="0A519E"/>
                </a:solidFill>
                <a:latin typeface="Arial MT"/>
                <a:cs typeface="Arial MT"/>
              </a:rPr>
              <a:t> </a:t>
            </a:r>
            <a:r>
              <a:rPr sz="1728" kern="0" spc="30" dirty="0">
                <a:solidFill>
                  <a:srgbClr val="0A519E"/>
                </a:solidFill>
                <a:latin typeface="Arial MT"/>
                <a:cs typeface="Arial MT"/>
              </a:rPr>
              <a:t>fit</a:t>
            </a:r>
            <a:r>
              <a:rPr sz="1728" kern="0" spc="11" dirty="0">
                <a:solidFill>
                  <a:srgbClr val="0A519E"/>
                </a:solidFill>
                <a:latin typeface="Arial MT"/>
                <a:cs typeface="Arial MT"/>
              </a:rPr>
              <a:t> </a:t>
            </a:r>
            <a:r>
              <a:rPr sz="1728" kern="0" dirty="0">
                <a:solidFill>
                  <a:srgbClr val="0A519E"/>
                </a:solidFill>
                <a:latin typeface="Arial MT"/>
                <a:cs typeface="Arial MT"/>
              </a:rPr>
              <a:t>into</a:t>
            </a:r>
            <a:r>
              <a:rPr sz="1728" kern="0" spc="14" dirty="0">
                <a:solidFill>
                  <a:srgbClr val="0A519E"/>
                </a:solidFill>
                <a:latin typeface="Arial MT"/>
                <a:cs typeface="Arial MT"/>
              </a:rPr>
              <a:t> </a:t>
            </a:r>
            <a:r>
              <a:rPr sz="1728" kern="0" spc="-5" dirty="0">
                <a:solidFill>
                  <a:srgbClr val="0A519E"/>
                </a:solidFill>
                <a:latin typeface="Arial MT"/>
                <a:cs typeface="Arial MT"/>
              </a:rPr>
              <a:t>memory</a:t>
            </a:r>
            <a:endParaRPr sz="1728" kern="0" dirty="0">
              <a:solidFill>
                <a:sysClr val="windowText" lastClr="000000"/>
              </a:solidFill>
              <a:latin typeface="Arial MT"/>
              <a:cs typeface="Arial MT"/>
            </a:endParaRPr>
          </a:p>
        </p:txBody>
      </p:sp>
      <p:pic>
        <p:nvPicPr>
          <p:cNvPr id="4" name="object 4"/>
          <p:cNvPicPr/>
          <p:nvPr/>
        </p:nvPicPr>
        <p:blipFill>
          <a:blip r:embed="rId2" cstate="print"/>
          <a:stretch>
            <a:fillRect/>
          </a:stretch>
        </p:blipFill>
        <p:spPr>
          <a:xfrm>
            <a:off x="1331640" y="3213036"/>
            <a:ext cx="6192688" cy="2160240"/>
          </a:xfrm>
          <a:prstGeom prst="rect">
            <a:avLst/>
          </a:prstGeom>
        </p:spPr>
      </p:pic>
      <p:sp>
        <p:nvSpPr>
          <p:cNvPr id="5" name="object 5"/>
          <p:cNvSpPr txBox="1"/>
          <p:nvPr/>
        </p:nvSpPr>
        <p:spPr>
          <a:xfrm>
            <a:off x="3285398" y="4334613"/>
            <a:ext cx="261959" cy="502601"/>
          </a:xfrm>
          <a:prstGeom prst="rect">
            <a:avLst/>
          </a:prstGeom>
        </p:spPr>
        <p:txBody>
          <a:bodyPr vert="horz" wrap="square" lIns="0" tIns="5488" rIns="0" bIns="0" rtlCol="0">
            <a:spAutoFit/>
          </a:bodyPr>
          <a:lstStyle/>
          <a:p>
            <a:pPr marL="5776" defTabSz="415869" fontAlgn="auto">
              <a:spcBef>
                <a:spcPts val="43"/>
              </a:spcBef>
              <a:spcAft>
                <a:spcPts val="0"/>
              </a:spcAft>
            </a:pPr>
            <a:r>
              <a:rPr sz="1615" kern="0" spc="-86" dirty="0">
                <a:solidFill>
                  <a:srgbClr val="FF2600"/>
                </a:solidFill>
                <a:latin typeface="Arial MT"/>
                <a:cs typeface="Arial MT"/>
              </a:rPr>
              <a:t>(D)</a:t>
            </a:r>
            <a:endParaRPr sz="1615" kern="0">
              <a:solidFill>
                <a:sysClr val="windowText" lastClr="000000"/>
              </a:solidFill>
              <a:latin typeface="Arial MT"/>
              <a:cs typeface="Arial MT"/>
            </a:endParaRPr>
          </a:p>
        </p:txBody>
      </p:sp>
      <p:sp>
        <p:nvSpPr>
          <p:cNvPr id="7" name="object 3"/>
          <p:cNvSpPr txBox="1">
            <a:spLocks noGrp="1"/>
          </p:cNvSpPr>
          <p:nvPr/>
        </p:nvSpPr>
        <p:spPr>
          <a:xfrm>
            <a:off x="755576" y="188640"/>
            <a:ext cx="7458358" cy="438178"/>
          </a:xfrm>
          <a:prstGeom prst="rect">
            <a:avLst/>
          </a:prstGeom>
        </p:spPr>
        <p:txBody>
          <a:bodyPr vert="horz" wrap="square" lIns="0" tIns="7220" rIns="0" bIns="0" rtlCol="0">
            <a:spAutoFit/>
          </a:bodyPr>
          <a:lstStyle>
            <a:lvl1pPr>
              <a:defRPr sz="2297" b="0" i="0">
                <a:solidFill>
                  <a:srgbClr val="0365C0"/>
                </a:solidFill>
                <a:latin typeface="Arial MT"/>
                <a:ea typeface="+mj-ea"/>
                <a:cs typeface="Arial MT"/>
              </a:defRPr>
            </a:lvl1p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Tree>
    <p:extLst>
      <p:ext uri="{BB962C8B-B14F-4D97-AF65-F5344CB8AC3E}">
        <p14:creationId xmlns:p14="http://schemas.microsoft.com/office/powerpoint/2010/main" val="26864533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
          <p:cNvSpPr txBox="1">
            <a:spLocks noGrp="1"/>
          </p:cNvSpPr>
          <p:nvPr/>
        </p:nvSpPr>
        <p:spPr>
          <a:xfrm>
            <a:off x="755576" y="188640"/>
            <a:ext cx="7458358" cy="438178"/>
          </a:xfrm>
          <a:prstGeom prst="rect">
            <a:avLst/>
          </a:prstGeom>
        </p:spPr>
        <p:txBody>
          <a:bodyPr vert="horz" wrap="square" lIns="0" tIns="7220" rIns="0" bIns="0" rtlCol="0">
            <a:spAutoFit/>
          </a:bodyPr>
          <a:lstStyle>
            <a:lvl1pPr>
              <a:defRPr sz="2297" b="0" i="0">
                <a:solidFill>
                  <a:srgbClr val="0365C0"/>
                </a:solidFill>
                <a:latin typeface="Arial MT"/>
                <a:ea typeface="+mj-ea"/>
                <a:cs typeface="Arial MT"/>
              </a:defRPr>
            </a:lvl1p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Tree>
    <p:extLst>
      <p:ext uri="{BB962C8B-B14F-4D97-AF65-F5344CB8AC3E}">
        <p14:creationId xmlns:p14="http://schemas.microsoft.com/office/powerpoint/2010/main" val="156251074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1560" y="1340768"/>
            <a:ext cx="8316548" cy="1548703"/>
          </a:xfrm>
          <a:prstGeom prst="rect">
            <a:avLst/>
          </a:prstGeom>
        </p:spPr>
        <p:txBody>
          <a:bodyPr vert="horz" wrap="square" lIns="0" tIns="78559" rIns="0" bIns="0" rtlCol="0">
            <a:spAutoFit/>
          </a:bodyPr>
          <a:lstStyle/>
          <a:p>
            <a:pPr marL="354452" indent="-342900" defTabSz="415869" fontAlgn="auto">
              <a:spcBef>
                <a:spcPts val="619"/>
              </a:spcBef>
              <a:spcAft>
                <a:spcPts val="0"/>
              </a:spcAft>
              <a:buFont typeface="Arial" panose="020B0604020202020204" pitchFamily="34" charset="0"/>
              <a:buChar char="•"/>
            </a:pPr>
            <a:r>
              <a:rPr sz="2024" b="1" kern="0" dirty="0">
                <a:solidFill>
                  <a:srgbClr val="24130B"/>
                </a:solidFill>
                <a:latin typeface="Arial"/>
                <a:cs typeface="Arial"/>
              </a:rPr>
              <a:t>When</a:t>
            </a:r>
            <a:r>
              <a:rPr sz="2024" b="1" kern="0" spc="-18" dirty="0">
                <a:solidFill>
                  <a:srgbClr val="24130B"/>
                </a:solidFill>
                <a:latin typeface="Arial"/>
                <a:cs typeface="Arial"/>
              </a:rPr>
              <a:t> </a:t>
            </a:r>
            <a:r>
              <a:rPr sz="2024" b="1" kern="0" spc="32" dirty="0">
                <a:solidFill>
                  <a:srgbClr val="24130B"/>
                </a:solidFill>
                <a:latin typeface="Arial"/>
                <a:cs typeface="Arial"/>
              </a:rPr>
              <a:t>a</a:t>
            </a:r>
            <a:r>
              <a:rPr sz="2024" b="1" kern="0" spc="-18" dirty="0">
                <a:solidFill>
                  <a:srgbClr val="24130B"/>
                </a:solidFill>
                <a:latin typeface="Arial"/>
                <a:cs typeface="Arial"/>
              </a:rPr>
              <a:t> </a:t>
            </a:r>
            <a:r>
              <a:rPr sz="2024" b="1" kern="0" dirty="0">
                <a:solidFill>
                  <a:srgbClr val="24130B"/>
                </a:solidFill>
                <a:latin typeface="Arial"/>
                <a:cs typeface="Arial"/>
              </a:rPr>
              <a:t>tree</a:t>
            </a:r>
            <a:r>
              <a:rPr sz="2024" b="1" kern="0" spc="-16" dirty="0">
                <a:solidFill>
                  <a:srgbClr val="24130B"/>
                </a:solidFill>
                <a:latin typeface="Arial"/>
                <a:cs typeface="Arial"/>
              </a:rPr>
              <a:t> </a:t>
            </a:r>
            <a:r>
              <a:rPr sz="2024" b="1" kern="0" dirty="0">
                <a:solidFill>
                  <a:srgbClr val="24130B"/>
                </a:solidFill>
                <a:latin typeface="Arial"/>
                <a:cs typeface="Arial"/>
              </a:rPr>
              <a:t>exceeds</a:t>
            </a:r>
            <a:r>
              <a:rPr sz="2024" b="1" kern="0" spc="-18" dirty="0">
                <a:solidFill>
                  <a:srgbClr val="24130B"/>
                </a:solidFill>
                <a:latin typeface="Arial"/>
                <a:cs typeface="Arial"/>
              </a:rPr>
              <a:t> </a:t>
            </a:r>
            <a:r>
              <a:rPr sz="2024" b="1" kern="0" dirty="0">
                <a:solidFill>
                  <a:srgbClr val="24130B"/>
                </a:solidFill>
                <a:latin typeface="Arial"/>
                <a:cs typeface="Arial"/>
              </a:rPr>
              <a:t>its</a:t>
            </a:r>
            <a:r>
              <a:rPr sz="2024" b="1" kern="0" spc="-16" dirty="0">
                <a:solidFill>
                  <a:srgbClr val="24130B"/>
                </a:solidFill>
                <a:latin typeface="Arial"/>
                <a:cs typeface="Arial"/>
              </a:rPr>
              <a:t> </a:t>
            </a:r>
            <a:r>
              <a:rPr sz="2024" b="1" kern="0" dirty="0">
                <a:solidFill>
                  <a:srgbClr val="24130B"/>
                </a:solidFill>
                <a:latin typeface="Arial"/>
                <a:cs typeface="Arial"/>
              </a:rPr>
              <a:t>size</a:t>
            </a:r>
            <a:r>
              <a:rPr sz="2024" b="1" kern="0" spc="-18" dirty="0">
                <a:solidFill>
                  <a:srgbClr val="24130B"/>
                </a:solidFill>
                <a:latin typeface="Arial"/>
                <a:cs typeface="Arial"/>
              </a:rPr>
              <a:t> </a:t>
            </a:r>
            <a:r>
              <a:rPr sz="2024" b="1" kern="0" dirty="0">
                <a:solidFill>
                  <a:srgbClr val="24130B"/>
                </a:solidFill>
                <a:latin typeface="Arial"/>
                <a:cs typeface="Arial"/>
              </a:rPr>
              <a:t>limit,</a:t>
            </a:r>
            <a:r>
              <a:rPr sz="2024" b="1" kern="0" spc="-16" dirty="0">
                <a:solidFill>
                  <a:srgbClr val="24130B"/>
                </a:solidFill>
                <a:latin typeface="Arial"/>
                <a:cs typeface="Arial"/>
              </a:rPr>
              <a:t> </a:t>
            </a:r>
            <a:r>
              <a:rPr sz="2024" b="1" kern="0" dirty="0">
                <a:solidFill>
                  <a:srgbClr val="24130B"/>
                </a:solidFill>
                <a:latin typeface="Arial"/>
                <a:cs typeface="Arial"/>
              </a:rPr>
              <a:t>its</a:t>
            </a:r>
            <a:r>
              <a:rPr sz="2024" b="1" kern="0" spc="-18" dirty="0">
                <a:solidFill>
                  <a:srgbClr val="24130B"/>
                </a:solidFill>
                <a:latin typeface="Arial"/>
                <a:cs typeface="Arial"/>
              </a:rPr>
              <a:t> </a:t>
            </a:r>
            <a:r>
              <a:rPr sz="2024" b="1" kern="0" dirty="0">
                <a:solidFill>
                  <a:srgbClr val="24130B"/>
                </a:solidFill>
                <a:latin typeface="Arial"/>
                <a:cs typeface="Arial"/>
              </a:rPr>
              <a:t>data</a:t>
            </a:r>
            <a:r>
              <a:rPr sz="2024" b="1" kern="0" spc="-16" dirty="0">
                <a:solidFill>
                  <a:srgbClr val="24130B"/>
                </a:solidFill>
                <a:latin typeface="Arial"/>
                <a:cs typeface="Arial"/>
              </a:rPr>
              <a:t> </a:t>
            </a:r>
            <a:r>
              <a:rPr sz="2024" b="1" kern="0" dirty="0">
                <a:solidFill>
                  <a:srgbClr val="24130B"/>
                </a:solidFill>
                <a:latin typeface="Arial"/>
                <a:cs typeface="Arial"/>
              </a:rPr>
              <a:t>is</a:t>
            </a:r>
            <a:r>
              <a:rPr sz="2024" b="1" kern="0" spc="-18" dirty="0">
                <a:solidFill>
                  <a:srgbClr val="24130B"/>
                </a:solidFill>
                <a:latin typeface="Arial"/>
                <a:cs typeface="Arial"/>
              </a:rPr>
              <a:t> </a:t>
            </a:r>
            <a:r>
              <a:rPr sz="2024" b="1" kern="0" dirty="0">
                <a:solidFill>
                  <a:srgbClr val="9437FF"/>
                </a:solidFill>
                <a:latin typeface="Arial"/>
                <a:cs typeface="Arial"/>
              </a:rPr>
              <a:t>merged</a:t>
            </a:r>
            <a:r>
              <a:rPr sz="2024" b="1" kern="0" spc="-18" dirty="0">
                <a:solidFill>
                  <a:srgbClr val="9437FF"/>
                </a:solidFill>
                <a:latin typeface="Arial"/>
                <a:cs typeface="Arial"/>
              </a:rPr>
              <a:t> </a:t>
            </a:r>
            <a:r>
              <a:rPr sz="2024" b="1" kern="0" dirty="0">
                <a:solidFill>
                  <a:srgbClr val="24130B"/>
                </a:solidFill>
                <a:latin typeface="Arial"/>
                <a:cs typeface="Arial"/>
              </a:rPr>
              <a:t>and</a:t>
            </a:r>
            <a:r>
              <a:rPr sz="2024" b="1" kern="0" spc="-16" dirty="0">
                <a:solidFill>
                  <a:srgbClr val="24130B"/>
                </a:solidFill>
                <a:latin typeface="Arial"/>
                <a:cs typeface="Arial"/>
              </a:rPr>
              <a:t> </a:t>
            </a:r>
            <a:r>
              <a:rPr sz="2024" b="1" kern="0" spc="-5" dirty="0">
                <a:solidFill>
                  <a:srgbClr val="24130B"/>
                </a:solidFill>
                <a:latin typeface="Arial"/>
                <a:cs typeface="Arial"/>
              </a:rPr>
              <a:t>rewritten</a:t>
            </a:r>
            <a:endParaRPr sz="2024" kern="0" dirty="0">
              <a:solidFill>
                <a:sysClr val="windowText" lastClr="000000"/>
              </a:solidFill>
              <a:latin typeface="Arial"/>
              <a:cs typeface="Arial"/>
            </a:endParaRPr>
          </a:p>
          <a:p>
            <a:pPr marL="740800" lvl="1" indent="-167503" defTabSz="415869" fontAlgn="auto">
              <a:lnSpc>
                <a:spcPts val="2012"/>
              </a:lnSpc>
              <a:spcBef>
                <a:spcPts val="484"/>
              </a:spcBef>
              <a:spcAft>
                <a:spcPts val="0"/>
              </a:spcAft>
              <a:buClr>
                <a:srgbClr val="24130B"/>
              </a:buClr>
              <a:buFontTx/>
              <a:buChar char="•"/>
              <a:tabLst>
                <a:tab pos="283600" algn="l"/>
                <a:tab pos="5559362" algn="l"/>
              </a:tabLst>
            </a:pPr>
            <a:r>
              <a:rPr sz="1728" kern="0" dirty="0">
                <a:solidFill>
                  <a:srgbClr val="0A519E"/>
                </a:solidFill>
                <a:latin typeface="Arial MT"/>
                <a:cs typeface="Arial MT"/>
              </a:rPr>
              <a:t>Higher</a:t>
            </a:r>
            <a:r>
              <a:rPr sz="1728" kern="0" spc="-25" dirty="0">
                <a:solidFill>
                  <a:srgbClr val="0A519E"/>
                </a:solidFill>
                <a:latin typeface="Arial MT"/>
                <a:cs typeface="Arial MT"/>
              </a:rPr>
              <a:t> </a:t>
            </a:r>
            <a:r>
              <a:rPr sz="1728" kern="0" dirty="0">
                <a:solidFill>
                  <a:srgbClr val="0A519E"/>
                </a:solidFill>
                <a:latin typeface="Arial MT"/>
                <a:cs typeface="Arial MT"/>
              </a:rPr>
              <a:t>level</a:t>
            </a:r>
            <a:r>
              <a:rPr sz="1728" kern="0" spc="-25" dirty="0">
                <a:solidFill>
                  <a:srgbClr val="0A519E"/>
                </a:solidFill>
                <a:latin typeface="Arial MT"/>
                <a:cs typeface="Arial MT"/>
              </a:rPr>
              <a:t> </a:t>
            </a:r>
            <a:r>
              <a:rPr sz="1728" kern="0" dirty="0">
                <a:solidFill>
                  <a:srgbClr val="0A519E"/>
                </a:solidFill>
                <a:latin typeface="Arial MT"/>
                <a:cs typeface="Arial MT"/>
              </a:rPr>
              <a:t>is</a:t>
            </a:r>
            <a:r>
              <a:rPr sz="1728" kern="0" spc="-25" dirty="0">
                <a:solidFill>
                  <a:srgbClr val="0A519E"/>
                </a:solidFill>
                <a:latin typeface="Arial MT"/>
                <a:cs typeface="Arial MT"/>
              </a:rPr>
              <a:t> </a:t>
            </a:r>
            <a:r>
              <a:rPr sz="1728" kern="0" dirty="0">
                <a:solidFill>
                  <a:srgbClr val="0A519E"/>
                </a:solidFill>
                <a:latin typeface="Arial MT"/>
                <a:cs typeface="Arial MT"/>
              </a:rPr>
              <a:t>always</a:t>
            </a:r>
            <a:r>
              <a:rPr sz="1728" kern="0" spc="-23" dirty="0">
                <a:solidFill>
                  <a:srgbClr val="0A519E"/>
                </a:solidFill>
                <a:latin typeface="Arial MT"/>
                <a:cs typeface="Arial MT"/>
              </a:rPr>
              <a:t> </a:t>
            </a:r>
            <a:r>
              <a:rPr sz="1728" kern="0" dirty="0">
                <a:solidFill>
                  <a:srgbClr val="0A519E"/>
                </a:solidFill>
                <a:latin typeface="Arial MT"/>
                <a:cs typeface="Arial MT"/>
              </a:rPr>
              <a:t>merged</a:t>
            </a:r>
            <a:r>
              <a:rPr sz="1728" kern="0" spc="-25" dirty="0">
                <a:solidFill>
                  <a:srgbClr val="0A519E"/>
                </a:solidFill>
                <a:latin typeface="Arial MT"/>
                <a:cs typeface="Arial MT"/>
              </a:rPr>
              <a:t> </a:t>
            </a:r>
            <a:r>
              <a:rPr sz="1728" kern="0" dirty="0">
                <a:solidFill>
                  <a:srgbClr val="0A519E"/>
                </a:solidFill>
                <a:latin typeface="Arial MT"/>
                <a:cs typeface="Arial MT"/>
              </a:rPr>
              <a:t>into</a:t>
            </a:r>
            <a:r>
              <a:rPr sz="1728" kern="0" spc="-25" dirty="0">
                <a:solidFill>
                  <a:srgbClr val="0A519E"/>
                </a:solidFill>
                <a:latin typeface="Arial MT"/>
                <a:cs typeface="Arial MT"/>
              </a:rPr>
              <a:t> </a:t>
            </a:r>
            <a:r>
              <a:rPr sz="1728" kern="0" dirty="0">
                <a:solidFill>
                  <a:srgbClr val="0A519E"/>
                </a:solidFill>
                <a:latin typeface="Arial MT"/>
                <a:cs typeface="Arial MT"/>
              </a:rPr>
              <a:t>next</a:t>
            </a:r>
            <a:r>
              <a:rPr sz="1728" kern="0" spc="-23" dirty="0">
                <a:solidFill>
                  <a:srgbClr val="0A519E"/>
                </a:solidFill>
                <a:latin typeface="Arial MT"/>
                <a:cs typeface="Arial MT"/>
              </a:rPr>
              <a:t> </a:t>
            </a:r>
            <a:r>
              <a:rPr sz="1728" kern="0" dirty="0">
                <a:solidFill>
                  <a:srgbClr val="0A519E"/>
                </a:solidFill>
                <a:latin typeface="Arial MT"/>
                <a:cs typeface="Arial MT"/>
              </a:rPr>
              <a:t>lower</a:t>
            </a:r>
            <a:r>
              <a:rPr sz="1728" kern="0" spc="-25" dirty="0">
                <a:solidFill>
                  <a:srgbClr val="0A519E"/>
                </a:solidFill>
                <a:latin typeface="Arial MT"/>
                <a:cs typeface="Arial MT"/>
              </a:rPr>
              <a:t> </a:t>
            </a:r>
            <a:r>
              <a:rPr sz="1728" kern="0" dirty="0">
                <a:solidFill>
                  <a:srgbClr val="0A519E"/>
                </a:solidFill>
                <a:latin typeface="Arial MT"/>
                <a:cs typeface="Arial MT"/>
              </a:rPr>
              <a:t>level</a:t>
            </a:r>
            <a:r>
              <a:rPr sz="1728" kern="0" spc="-25" dirty="0">
                <a:solidFill>
                  <a:srgbClr val="0A519E"/>
                </a:solidFill>
                <a:latin typeface="Arial MT"/>
                <a:cs typeface="Arial MT"/>
              </a:rPr>
              <a:t> </a:t>
            </a:r>
            <a:r>
              <a:rPr sz="1728" kern="0" spc="-11" dirty="0">
                <a:solidFill>
                  <a:srgbClr val="0A519E"/>
                </a:solidFill>
                <a:latin typeface="Arial MT"/>
                <a:cs typeface="Arial MT"/>
              </a:rPr>
              <a:t>(</a:t>
            </a:r>
            <a:r>
              <a:rPr sz="1728" kern="0" spc="-11" dirty="0" smtClean="0">
                <a:solidFill>
                  <a:srgbClr val="0A519E"/>
                </a:solidFill>
                <a:latin typeface="Arial MT"/>
                <a:cs typeface="Arial MT"/>
              </a:rPr>
              <a:t>C</a:t>
            </a:r>
            <a:r>
              <a:rPr sz="1706" kern="0" spc="-17" baseline="-5555" dirty="0" smtClean="0">
                <a:solidFill>
                  <a:srgbClr val="0A519E"/>
                </a:solidFill>
                <a:latin typeface="Arial MT"/>
                <a:cs typeface="Arial MT"/>
              </a:rPr>
              <a:t>i</a:t>
            </a:r>
            <a:r>
              <a:rPr lang="en-US" sz="1706" kern="0" spc="-17" baseline="-5555" dirty="0" smtClean="0">
                <a:solidFill>
                  <a:srgbClr val="0A519E"/>
                </a:solidFill>
                <a:latin typeface="Arial MT"/>
                <a:cs typeface="Arial MT"/>
              </a:rPr>
              <a:t> </a:t>
            </a:r>
            <a:r>
              <a:rPr sz="1728" kern="0" dirty="0" smtClean="0">
                <a:solidFill>
                  <a:srgbClr val="0A519E"/>
                </a:solidFill>
                <a:latin typeface="Arial MT"/>
                <a:cs typeface="Arial MT"/>
              </a:rPr>
              <a:t>merged</a:t>
            </a:r>
            <a:r>
              <a:rPr sz="1728" kern="0" spc="-16" dirty="0" smtClean="0">
                <a:solidFill>
                  <a:srgbClr val="0A519E"/>
                </a:solidFill>
                <a:latin typeface="Arial MT"/>
                <a:cs typeface="Arial MT"/>
              </a:rPr>
              <a:t> </a:t>
            </a:r>
            <a:r>
              <a:rPr sz="1728" kern="0" spc="23" dirty="0">
                <a:solidFill>
                  <a:srgbClr val="0A519E"/>
                </a:solidFill>
                <a:latin typeface="Arial MT"/>
                <a:cs typeface="Arial MT"/>
              </a:rPr>
              <a:t>with</a:t>
            </a:r>
            <a:r>
              <a:rPr sz="1728" kern="0" spc="-14" dirty="0">
                <a:solidFill>
                  <a:srgbClr val="0A519E"/>
                </a:solidFill>
                <a:latin typeface="Arial MT"/>
                <a:cs typeface="Arial MT"/>
              </a:rPr>
              <a:t> </a:t>
            </a:r>
            <a:r>
              <a:rPr sz="1728" kern="0" spc="-9" dirty="0">
                <a:solidFill>
                  <a:srgbClr val="0A519E"/>
                </a:solidFill>
                <a:latin typeface="Arial MT"/>
                <a:cs typeface="Arial MT"/>
              </a:rPr>
              <a:t>C</a:t>
            </a:r>
            <a:r>
              <a:rPr sz="1706" kern="0" spc="-14" baseline="-5555" dirty="0">
                <a:solidFill>
                  <a:srgbClr val="0A519E"/>
                </a:solidFill>
                <a:latin typeface="Arial MT"/>
                <a:cs typeface="Arial MT"/>
              </a:rPr>
              <a:t>i+1</a:t>
            </a:r>
            <a:r>
              <a:rPr sz="1728" kern="0" spc="-9" dirty="0">
                <a:solidFill>
                  <a:srgbClr val="0A519E"/>
                </a:solidFill>
                <a:latin typeface="Arial MT"/>
                <a:cs typeface="Arial MT"/>
              </a:rPr>
              <a:t>)</a:t>
            </a:r>
            <a:endParaRPr sz="1728" kern="0" dirty="0">
              <a:solidFill>
                <a:sysClr val="windowText" lastClr="000000"/>
              </a:solidFill>
              <a:latin typeface="Arial MT"/>
              <a:cs typeface="Arial MT"/>
            </a:endParaRPr>
          </a:p>
          <a:p>
            <a:pPr marL="788163" lvl="2" indent="-131114" defTabSz="415869" fontAlgn="auto">
              <a:lnSpc>
                <a:spcPts val="2067"/>
              </a:lnSpc>
              <a:spcBef>
                <a:spcPts val="0"/>
              </a:spcBef>
              <a:spcAft>
                <a:spcPts val="0"/>
              </a:spcAft>
              <a:buClr>
                <a:srgbClr val="0A519E"/>
              </a:buClr>
              <a:buSzPct val="125806"/>
              <a:buFont typeface="Microsoft Sans Serif"/>
              <a:buChar char="‣"/>
              <a:tabLst>
                <a:tab pos="330963" algn="l"/>
              </a:tabLst>
            </a:pPr>
            <a:r>
              <a:rPr sz="1410" kern="0" spc="-11" dirty="0">
                <a:solidFill>
                  <a:srgbClr val="24130B"/>
                </a:solidFill>
                <a:latin typeface="Arial MT"/>
                <a:cs typeface="Arial MT"/>
              </a:rPr>
              <a:t>Merging</a:t>
            </a:r>
            <a:r>
              <a:rPr sz="1410" kern="0" spc="-41" dirty="0">
                <a:solidFill>
                  <a:srgbClr val="24130B"/>
                </a:solidFill>
                <a:latin typeface="Arial MT"/>
                <a:cs typeface="Arial MT"/>
              </a:rPr>
              <a:t> </a:t>
            </a:r>
            <a:r>
              <a:rPr sz="1410" kern="0" spc="-16" dirty="0">
                <a:solidFill>
                  <a:srgbClr val="24130B"/>
                </a:solidFill>
                <a:latin typeface="Arial MT"/>
                <a:cs typeface="Arial MT"/>
              </a:rPr>
              <a:t>always</a:t>
            </a:r>
            <a:r>
              <a:rPr sz="1410" kern="0" spc="-39" dirty="0">
                <a:solidFill>
                  <a:srgbClr val="24130B"/>
                </a:solidFill>
                <a:latin typeface="Arial MT"/>
                <a:cs typeface="Arial MT"/>
              </a:rPr>
              <a:t> </a:t>
            </a:r>
            <a:r>
              <a:rPr sz="1410" kern="0" dirty="0">
                <a:solidFill>
                  <a:srgbClr val="24130B"/>
                </a:solidFill>
                <a:latin typeface="Arial MT"/>
                <a:cs typeface="Arial MT"/>
              </a:rPr>
              <a:t>proceeds</a:t>
            </a:r>
            <a:r>
              <a:rPr sz="1410" kern="0" spc="-39" dirty="0">
                <a:solidFill>
                  <a:srgbClr val="24130B"/>
                </a:solidFill>
                <a:latin typeface="Arial MT"/>
                <a:cs typeface="Arial MT"/>
              </a:rPr>
              <a:t> </a:t>
            </a:r>
            <a:r>
              <a:rPr sz="1410" kern="0" dirty="0">
                <a:solidFill>
                  <a:srgbClr val="24130B"/>
                </a:solidFill>
                <a:latin typeface="Arial MT"/>
                <a:cs typeface="Arial MT"/>
              </a:rPr>
              <a:t>top</a:t>
            </a:r>
            <a:r>
              <a:rPr sz="1410" kern="0" spc="-39" dirty="0">
                <a:solidFill>
                  <a:srgbClr val="24130B"/>
                </a:solidFill>
                <a:latin typeface="Arial MT"/>
                <a:cs typeface="Arial MT"/>
              </a:rPr>
              <a:t> </a:t>
            </a:r>
            <a:r>
              <a:rPr sz="1410" kern="0" spc="-9" dirty="0">
                <a:solidFill>
                  <a:srgbClr val="24130B"/>
                </a:solidFill>
                <a:latin typeface="Arial MT"/>
                <a:cs typeface="Arial MT"/>
              </a:rPr>
              <a:t>down</a:t>
            </a:r>
            <a:endParaRPr sz="1410" kern="0" dirty="0">
              <a:solidFill>
                <a:sysClr val="windowText" lastClr="000000"/>
              </a:solidFill>
              <a:latin typeface="Arial MT"/>
              <a:cs typeface="Arial MT"/>
            </a:endParaRPr>
          </a:p>
        </p:txBody>
      </p:sp>
      <p:pic>
        <p:nvPicPr>
          <p:cNvPr id="4" name="object 4"/>
          <p:cNvPicPr/>
          <p:nvPr/>
        </p:nvPicPr>
        <p:blipFill>
          <a:blip r:embed="rId2" cstate="print"/>
          <a:stretch>
            <a:fillRect/>
          </a:stretch>
        </p:blipFill>
        <p:spPr>
          <a:xfrm>
            <a:off x="1619672" y="3573016"/>
            <a:ext cx="5343525" cy="1999215"/>
          </a:xfrm>
          <a:prstGeom prst="rect">
            <a:avLst/>
          </a:prstGeom>
        </p:spPr>
      </p:pic>
      <p:sp>
        <p:nvSpPr>
          <p:cNvPr id="6" name="object 3"/>
          <p:cNvSpPr txBox="1">
            <a:spLocks noGrp="1"/>
          </p:cNvSpPr>
          <p:nvPr/>
        </p:nvSpPr>
        <p:spPr>
          <a:xfrm>
            <a:off x="842821" y="260648"/>
            <a:ext cx="7458358" cy="438178"/>
          </a:xfrm>
          <a:prstGeom prst="rect">
            <a:avLst/>
          </a:prstGeom>
        </p:spPr>
        <p:txBody>
          <a:bodyPr vert="horz" wrap="square" lIns="0" tIns="7220" rIns="0" bIns="0" rtlCol="0">
            <a:spAutoFit/>
          </a:bodyPr>
          <a:ls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Tree>
    <p:extLst>
      <p:ext uri="{BB962C8B-B14F-4D97-AF65-F5344CB8AC3E}">
        <p14:creationId xmlns:p14="http://schemas.microsoft.com/office/powerpoint/2010/main" val="53019083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1560" y="1303902"/>
            <a:ext cx="7553475" cy="1633901"/>
          </a:xfrm>
          <a:prstGeom prst="rect">
            <a:avLst/>
          </a:prstGeom>
        </p:spPr>
        <p:txBody>
          <a:bodyPr vert="horz" wrap="square" lIns="0" tIns="5199" rIns="0" bIns="0" rtlCol="0">
            <a:spAutoFit/>
          </a:bodyPr>
          <a:lstStyle/>
          <a:p>
            <a:pPr marL="173279" indent="-167503" defTabSz="415869" fontAlgn="auto">
              <a:lnSpc>
                <a:spcPts val="2012"/>
              </a:lnSpc>
              <a:spcBef>
                <a:spcPts val="41"/>
              </a:spcBef>
              <a:spcAft>
                <a:spcPts val="0"/>
              </a:spcAft>
              <a:buClr>
                <a:srgbClr val="24130B"/>
              </a:buClr>
              <a:buFontTx/>
              <a:buChar char="•"/>
              <a:tabLst>
                <a:tab pos="173279" algn="l"/>
              </a:tabLst>
            </a:pPr>
            <a:r>
              <a:rPr sz="1728" kern="0" dirty="0">
                <a:solidFill>
                  <a:srgbClr val="0A519E"/>
                </a:solidFill>
                <a:latin typeface="Arial MT"/>
                <a:cs typeface="Arial MT"/>
              </a:rPr>
              <a:t>Recall</a:t>
            </a:r>
            <a:r>
              <a:rPr sz="1728" kern="0" spc="9" dirty="0">
                <a:solidFill>
                  <a:srgbClr val="0A519E"/>
                </a:solidFill>
                <a:latin typeface="Arial MT"/>
                <a:cs typeface="Arial MT"/>
              </a:rPr>
              <a:t> </a:t>
            </a:r>
            <a:r>
              <a:rPr sz="1728" kern="0" dirty="0">
                <a:solidFill>
                  <a:srgbClr val="0A519E"/>
                </a:solidFill>
                <a:latin typeface="Arial MT"/>
                <a:cs typeface="Arial MT"/>
              </a:rPr>
              <a:t>mergesort</a:t>
            </a:r>
            <a:r>
              <a:rPr sz="1728" kern="0" spc="9" dirty="0">
                <a:solidFill>
                  <a:srgbClr val="0A519E"/>
                </a:solidFill>
                <a:latin typeface="Arial MT"/>
                <a:cs typeface="Arial MT"/>
              </a:rPr>
              <a:t> </a:t>
            </a:r>
            <a:r>
              <a:rPr sz="1728" kern="0" dirty="0">
                <a:solidFill>
                  <a:srgbClr val="0A519E"/>
                </a:solidFill>
                <a:latin typeface="Arial MT"/>
                <a:cs typeface="Arial MT"/>
              </a:rPr>
              <a:t>from</a:t>
            </a:r>
            <a:r>
              <a:rPr sz="1728" kern="0" spc="9" dirty="0">
                <a:solidFill>
                  <a:srgbClr val="0A519E"/>
                </a:solidFill>
                <a:latin typeface="Arial MT"/>
                <a:cs typeface="Arial MT"/>
              </a:rPr>
              <a:t> </a:t>
            </a:r>
            <a:r>
              <a:rPr sz="1728" kern="0" dirty="0">
                <a:solidFill>
                  <a:srgbClr val="0A519E"/>
                </a:solidFill>
                <a:latin typeface="Arial MT"/>
                <a:cs typeface="Arial MT"/>
              </a:rPr>
              <a:t>data</a:t>
            </a:r>
            <a:r>
              <a:rPr sz="1728" kern="0" spc="9" dirty="0">
                <a:solidFill>
                  <a:srgbClr val="0A519E"/>
                </a:solidFill>
                <a:latin typeface="Arial MT"/>
                <a:cs typeface="Arial MT"/>
              </a:rPr>
              <a:t> </a:t>
            </a:r>
            <a:r>
              <a:rPr sz="1728" kern="0" spc="-5" dirty="0">
                <a:solidFill>
                  <a:srgbClr val="0A519E"/>
                </a:solidFill>
                <a:latin typeface="Arial MT"/>
                <a:cs typeface="Arial MT"/>
              </a:rPr>
              <a:t>structures/algorithms</a:t>
            </a:r>
            <a:endParaRPr sz="1728" kern="0" dirty="0">
              <a:solidFill>
                <a:sysClr val="windowText" lastClr="000000"/>
              </a:solidFill>
              <a:latin typeface="Arial MT"/>
              <a:cs typeface="Arial MT"/>
            </a:endParaRPr>
          </a:p>
          <a:p>
            <a:pPr marL="220353" lvl="1" indent="-131114" defTabSz="415869" fontAlgn="auto">
              <a:lnSpc>
                <a:spcPts val="2067"/>
              </a:lnSpc>
              <a:spcBef>
                <a:spcPts val="0"/>
              </a:spcBef>
              <a:spcAft>
                <a:spcPts val="0"/>
              </a:spcAft>
              <a:buClr>
                <a:srgbClr val="0A519E"/>
              </a:buClr>
              <a:buSzPct val="125806"/>
              <a:buFont typeface="Microsoft Sans Serif"/>
              <a:buChar char="‣"/>
              <a:tabLst>
                <a:tab pos="220353" algn="l"/>
              </a:tabLst>
            </a:pPr>
            <a:r>
              <a:rPr sz="1410" kern="0" spc="-16" dirty="0">
                <a:solidFill>
                  <a:srgbClr val="24130B"/>
                </a:solidFill>
                <a:latin typeface="Arial MT"/>
                <a:cs typeface="Arial MT"/>
              </a:rPr>
              <a:t>We</a:t>
            </a:r>
            <a:r>
              <a:rPr sz="1410" kern="0" spc="-52" dirty="0">
                <a:solidFill>
                  <a:srgbClr val="24130B"/>
                </a:solidFill>
                <a:latin typeface="Arial MT"/>
                <a:cs typeface="Arial MT"/>
              </a:rPr>
              <a:t> </a:t>
            </a:r>
            <a:r>
              <a:rPr sz="1410" kern="0" dirty="0">
                <a:solidFill>
                  <a:srgbClr val="24130B"/>
                </a:solidFill>
                <a:latin typeface="Arial MT"/>
                <a:cs typeface="Arial MT"/>
              </a:rPr>
              <a:t>can</a:t>
            </a:r>
            <a:r>
              <a:rPr sz="1410" kern="0" spc="-52" dirty="0">
                <a:solidFill>
                  <a:srgbClr val="24130B"/>
                </a:solidFill>
                <a:latin typeface="Arial MT"/>
                <a:cs typeface="Arial MT"/>
              </a:rPr>
              <a:t> </a:t>
            </a:r>
            <a:r>
              <a:rPr sz="1410" kern="0" spc="-20" dirty="0">
                <a:solidFill>
                  <a:srgbClr val="24130B"/>
                </a:solidFill>
                <a:latin typeface="Arial MT"/>
                <a:cs typeface="Arial MT"/>
              </a:rPr>
              <a:t>efficiently</a:t>
            </a:r>
            <a:r>
              <a:rPr sz="1410" kern="0" spc="-50" dirty="0">
                <a:solidFill>
                  <a:srgbClr val="24130B"/>
                </a:solidFill>
                <a:latin typeface="Arial MT"/>
                <a:cs typeface="Arial MT"/>
              </a:rPr>
              <a:t> </a:t>
            </a:r>
            <a:r>
              <a:rPr sz="1410" kern="0" spc="-9" dirty="0">
                <a:solidFill>
                  <a:srgbClr val="24130B"/>
                </a:solidFill>
                <a:latin typeface="Arial MT"/>
                <a:cs typeface="Arial MT"/>
              </a:rPr>
              <a:t>merge</a:t>
            </a:r>
            <a:r>
              <a:rPr sz="1410" kern="0" spc="-52" dirty="0">
                <a:solidFill>
                  <a:srgbClr val="24130B"/>
                </a:solidFill>
                <a:latin typeface="Arial MT"/>
                <a:cs typeface="Arial MT"/>
              </a:rPr>
              <a:t> </a:t>
            </a:r>
            <a:r>
              <a:rPr sz="1410" kern="0" dirty="0">
                <a:solidFill>
                  <a:srgbClr val="24130B"/>
                </a:solidFill>
                <a:latin typeface="Arial MT"/>
                <a:cs typeface="Arial MT"/>
              </a:rPr>
              <a:t>two</a:t>
            </a:r>
            <a:r>
              <a:rPr sz="1410" kern="0" spc="-50" dirty="0">
                <a:solidFill>
                  <a:srgbClr val="24130B"/>
                </a:solidFill>
                <a:latin typeface="Arial MT"/>
                <a:cs typeface="Arial MT"/>
              </a:rPr>
              <a:t> </a:t>
            </a:r>
            <a:r>
              <a:rPr sz="1410" kern="0" dirty="0">
                <a:solidFill>
                  <a:srgbClr val="24130B"/>
                </a:solidFill>
                <a:latin typeface="Arial MT"/>
                <a:cs typeface="Arial MT"/>
              </a:rPr>
              <a:t>sorted</a:t>
            </a:r>
            <a:r>
              <a:rPr sz="1410" kern="0" spc="-52" dirty="0">
                <a:solidFill>
                  <a:srgbClr val="24130B"/>
                </a:solidFill>
                <a:latin typeface="Arial MT"/>
                <a:cs typeface="Arial MT"/>
              </a:rPr>
              <a:t> </a:t>
            </a:r>
            <a:r>
              <a:rPr sz="1410" kern="0" spc="-9" dirty="0">
                <a:solidFill>
                  <a:srgbClr val="24130B"/>
                </a:solidFill>
                <a:latin typeface="Arial MT"/>
                <a:cs typeface="Arial MT"/>
              </a:rPr>
              <a:t>structures</a:t>
            </a:r>
            <a:r>
              <a:rPr sz="1410" kern="0" spc="-50" dirty="0">
                <a:solidFill>
                  <a:srgbClr val="24130B"/>
                </a:solidFill>
                <a:latin typeface="Arial MT"/>
                <a:cs typeface="Arial MT"/>
              </a:rPr>
              <a:t> </a:t>
            </a:r>
            <a:r>
              <a:rPr sz="1410" kern="0" dirty="0">
                <a:solidFill>
                  <a:srgbClr val="24130B"/>
                </a:solidFill>
                <a:latin typeface="Arial MT"/>
                <a:cs typeface="Arial MT"/>
              </a:rPr>
              <a:t>in</a:t>
            </a:r>
            <a:r>
              <a:rPr sz="1410" kern="0" spc="-52" dirty="0">
                <a:solidFill>
                  <a:srgbClr val="24130B"/>
                </a:solidFill>
                <a:latin typeface="Arial MT"/>
                <a:cs typeface="Arial MT"/>
              </a:rPr>
              <a:t> </a:t>
            </a:r>
            <a:r>
              <a:rPr sz="1410" kern="0" spc="-32" dirty="0">
                <a:solidFill>
                  <a:srgbClr val="24130B"/>
                </a:solidFill>
                <a:latin typeface="Arial MT"/>
                <a:cs typeface="Arial MT"/>
              </a:rPr>
              <a:t>linear</a:t>
            </a:r>
            <a:r>
              <a:rPr sz="1410" kern="0" spc="-50" dirty="0">
                <a:solidFill>
                  <a:srgbClr val="24130B"/>
                </a:solidFill>
                <a:latin typeface="Arial MT"/>
                <a:cs typeface="Arial MT"/>
              </a:rPr>
              <a:t> </a:t>
            </a:r>
            <a:r>
              <a:rPr sz="1410" kern="0" dirty="0">
                <a:solidFill>
                  <a:srgbClr val="24130B"/>
                </a:solidFill>
                <a:latin typeface="Arial MT"/>
                <a:cs typeface="Arial MT"/>
              </a:rPr>
              <a:t>time</a:t>
            </a:r>
            <a:r>
              <a:rPr sz="1410" kern="0" spc="-52" dirty="0">
                <a:solidFill>
                  <a:srgbClr val="24130B"/>
                </a:solidFill>
                <a:latin typeface="Arial MT"/>
                <a:cs typeface="Arial MT"/>
              </a:rPr>
              <a:t> </a:t>
            </a:r>
            <a:r>
              <a:rPr sz="1410" kern="0" spc="-5" dirty="0">
                <a:solidFill>
                  <a:srgbClr val="24130B"/>
                </a:solidFill>
                <a:latin typeface="Arial MT"/>
                <a:cs typeface="Arial MT"/>
              </a:rPr>
              <a:t>using</a:t>
            </a:r>
            <a:r>
              <a:rPr sz="1410" kern="0" spc="-50" dirty="0">
                <a:solidFill>
                  <a:srgbClr val="24130B"/>
                </a:solidFill>
                <a:latin typeface="Arial MT"/>
                <a:cs typeface="Arial MT"/>
              </a:rPr>
              <a:t> </a:t>
            </a:r>
            <a:r>
              <a:rPr sz="1410" kern="0" spc="-5" dirty="0">
                <a:solidFill>
                  <a:srgbClr val="24130B"/>
                </a:solidFill>
                <a:latin typeface="Arial MT"/>
                <a:cs typeface="Arial MT"/>
              </a:rPr>
              <a:t>iterators</a:t>
            </a:r>
            <a:endParaRPr sz="1410" kern="0" dirty="0">
              <a:solidFill>
                <a:sysClr val="windowText" lastClr="000000"/>
              </a:solidFill>
              <a:latin typeface="Arial MT"/>
              <a:cs typeface="Arial MT"/>
            </a:endParaRPr>
          </a:p>
          <a:p>
            <a:pPr marL="234504" indent="-228728" defTabSz="415869" fontAlgn="auto">
              <a:lnSpc>
                <a:spcPts val="2012"/>
              </a:lnSpc>
              <a:spcBef>
                <a:spcPts val="382"/>
              </a:spcBef>
              <a:spcAft>
                <a:spcPts val="0"/>
              </a:spcAft>
              <a:buClr>
                <a:srgbClr val="24130B"/>
              </a:buClr>
              <a:buFontTx/>
              <a:buChar char="•"/>
              <a:tabLst>
                <a:tab pos="234504" algn="l"/>
              </a:tabLst>
            </a:pPr>
            <a:r>
              <a:rPr sz="1728" kern="0" dirty="0">
                <a:solidFill>
                  <a:srgbClr val="0A519E"/>
                </a:solidFill>
                <a:latin typeface="Arial MT"/>
                <a:cs typeface="Arial MT"/>
              </a:rPr>
              <a:t>When</a:t>
            </a:r>
            <a:r>
              <a:rPr sz="1728" kern="0" spc="-34" dirty="0">
                <a:solidFill>
                  <a:srgbClr val="0A519E"/>
                </a:solidFill>
                <a:latin typeface="Arial MT"/>
                <a:cs typeface="Arial MT"/>
              </a:rPr>
              <a:t> </a:t>
            </a:r>
            <a:r>
              <a:rPr sz="1728" kern="0" dirty="0">
                <a:solidFill>
                  <a:srgbClr val="0A519E"/>
                </a:solidFill>
                <a:latin typeface="Arial MT"/>
                <a:cs typeface="Arial MT"/>
              </a:rPr>
              <a:t>merging</a:t>
            </a:r>
            <a:r>
              <a:rPr sz="1728" kern="0" spc="-34" dirty="0">
                <a:solidFill>
                  <a:srgbClr val="0A519E"/>
                </a:solidFill>
                <a:latin typeface="Arial MT"/>
                <a:cs typeface="Arial MT"/>
              </a:rPr>
              <a:t> </a:t>
            </a:r>
            <a:r>
              <a:rPr sz="1728" kern="0" spc="43" dirty="0">
                <a:solidFill>
                  <a:srgbClr val="0A519E"/>
                </a:solidFill>
                <a:latin typeface="Arial MT"/>
                <a:cs typeface="Arial MT"/>
              </a:rPr>
              <a:t>two</a:t>
            </a:r>
            <a:r>
              <a:rPr sz="1728" kern="0" spc="-32" dirty="0">
                <a:solidFill>
                  <a:srgbClr val="0A519E"/>
                </a:solidFill>
                <a:latin typeface="Arial MT"/>
                <a:cs typeface="Arial MT"/>
              </a:rPr>
              <a:t> </a:t>
            </a:r>
            <a:r>
              <a:rPr sz="1728" kern="0" dirty="0">
                <a:solidFill>
                  <a:srgbClr val="0A519E"/>
                </a:solidFill>
                <a:latin typeface="Arial MT"/>
                <a:cs typeface="Arial MT"/>
              </a:rPr>
              <a:t>levels,</a:t>
            </a:r>
            <a:r>
              <a:rPr sz="1728" kern="0" spc="-34" dirty="0">
                <a:solidFill>
                  <a:srgbClr val="0A519E"/>
                </a:solidFill>
                <a:latin typeface="Arial MT"/>
                <a:cs typeface="Arial MT"/>
              </a:rPr>
              <a:t> </a:t>
            </a:r>
            <a:r>
              <a:rPr sz="1728" kern="0" dirty="0">
                <a:solidFill>
                  <a:srgbClr val="0A519E"/>
                </a:solidFill>
                <a:latin typeface="Arial MT"/>
                <a:cs typeface="Arial MT"/>
              </a:rPr>
              <a:t>newer</a:t>
            </a:r>
            <a:r>
              <a:rPr sz="1728" kern="0" spc="-34" dirty="0">
                <a:solidFill>
                  <a:srgbClr val="0A519E"/>
                </a:solidFill>
                <a:latin typeface="Arial MT"/>
                <a:cs typeface="Arial MT"/>
              </a:rPr>
              <a:t> </a:t>
            </a:r>
            <a:r>
              <a:rPr sz="1728" kern="0" dirty="0">
                <a:solidFill>
                  <a:srgbClr val="0A519E"/>
                </a:solidFill>
                <a:latin typeface="Arial MT"/>
                <a:cs typeface="Arial MT"/>
              </a:rPr>
              <a:t>key-value</a:t>
            </a:r>
            <a:r>
              <a:rPr sz="1728" kern="0" spc="-32" dirty="0">
                <a:solidFill>
                  <a:srgbClr val="0A519E"/>
                </a:solidFill>
                <a:latin typeface="Arial MT"/>
                <a:cs typeface="Arial MT"/>
              </a:rPr>
              <a:t> </a:t>
            </a:r>
            <a:r>
              <a:rPr sz="1728" kern="0" dirty="0">
                <a:solidFill>
                  <a:srgbClr val="0A519E"/>
                </a:solidFill>
                <a:latin typeface="Arial MT"/>
                <a:cs typeface="Arial MT"/>
              </a:rPr>
              <a:t>pair</a:t>
            </a:r>
            <a:r>
              <a:rPr sz="1728" kern="0" spc="-34" dirty="0">
                <a:solidFill>
                  <a:srgbClr val="0A519E"/>
                </a:solidFill>
                <a:latin typeface="Arial MT"/>
                <a:cs typeface="Arial MT"/>
              </a:rPr>
              <a:t> </a:t>
            </a:r>
            <a:r>
              <a:rPr sz="1728" kern="0" dirty="0">
                <a:solidFill>
                  <a:srgbClr val="0A519E"/>
                </a:solidFill>
                <a:latin typeface="Arial MT"/>
                <a:cs typeface="Arial MT"/>
              </a:rPr>
              <a:t>versions</a:t>
            </a:r>
            <a:r>
              <a:rPr sz="1728" kern="0" spc="-34" dirty="0">
                <a:solidFill>
                  <a:srgbClr val="0A519E"/>
                </a:solidFill>
                <a:latin typeface="Arial MT"/>
                <a:cs typeface="Arial MT"/>
              </a:rPr>
              <a:t> </a:t>
            </a:r>
            <a:r>
              <a:rPr sz="1728" kern="0" dirty="0">
                <a:solidFill>
                  <a:srgbClr val="0A519E"/>
                </a:solidFill>
                <a:latin typeface="Arial MT"/>
                <a:cs typeface="Arial MT"/>
              </a:rPr>
              <a:t>replace</a:t>
            </a:r>
            <a:r>
              <a:rPr sz="1728" kern="0" spc="-32" dirty="0">
                <a:solidFill>
                  <a:srgbClr val="0A519E"/>
                </a:solidFill>
                <a:latin typeface="Arial MT"/>
                <a:cs typeface="Arial MT"/>
              </a:rPr>
              <a:t> </a:t>
            </a:r>
            <a:r>
              <a:rPr sz="1728" kern="0" dirty="0">
                <a:solidFill>
                  <a:srgbClr val="0A519E"/>
                </a:solidFill>
                <a:latin typeface="Arial MT"/>
                <a:cs typeface="Arial MT"/>
              </a:rPr>
              <a:t>older</a:t>
            </a:r>
            <a:r>
              <a:rPr sz="1728" kern="0" spc="-34" dirty="0">
                <a:solidFill>
                  <a:srgbClr val="0A519E"/>
                </a:solidFill>
                <a:latin typeface="Arial MT"/>
                <a:cs typeface="Arial MT"/>
              </a:rPr>
              <a:t> </a:t>
            </a:r>
            <a:r>
              <a:rPr sz="1728" kern="0" spc="-9" dirty="0">
                <a:solidFill>
                  <a:srgbClr val="0A519E"/>
                </a:solidFill>
                <a:latin typeface="Arial MT"/>
                <a:cs typeface="Arial MT"/>
              </a:rPr>
              <a:t>(GC)</a:t>
            </a:r>
            <a:endParaRPr sz="1728" kern="0" dirty="0">
              <a:solidFill>
                <a:sysClr val="windowText" lastClr="000000"/>
              </a:solidFill>
              <a:latin typeface="Arial MT"/>
              <a:cs typeface="Arial MT"/>
            </a:endParaRPr>
          </a:p>
          <a:p>
            <a:pPr marL="220353" lvl="1" indent="-131114" defTabSz="415869" fontAlgn="auto">
              <a:lnSpc>
                <a:spcPts val="2067"/>
              </a:lnSpc>
              <a:spcBef>
                <a:spcPts val="0"/>
              </a:spcBef>
              <a:spcAft>
                <a:spcPts val="0"/>
              </a:spcAft>
              <a:buClr>
                <a:srgbClr val="0A519E"/>
              </a:buClr>
              <a:buSzPct val="125806"/>
              <a:buFont typeface="Microsoft Sans Serif"/>
              <a:buChar char="‣"/>
              <a:tabLst>
                <a:tab pos="220353" algn="l"/>
              </a:tabLst>
            </a:pPr>
            <a:r>
              <a:rPr sz="1410" kern="0" spc="-11" dirty="0">
                <a:solidFill>
                  <a:srgbClr val="24130B"/>
                </a:solidFill>
                <a:latin typeface="Arial MT"/>
                <a:cs typeface="Arial MT"/>
              </a:rPr>
              <a:t>LSM-tree</a:t>
            </a:r>
            <a:r>
              <a:rPr sz="1410" kern="0" spc="-45" dirty="0">
                <a:solidFill>
                  <a:srgbClr val="24130B"/>
                </a:solidFill>
                <a:latin typeface="Arial MT"/>
                <a:cs typeface="Arial MT"/>
              </a:rPr>
              <a:t> </a:t>
            </a:r>
            <a:r>
              <a:rPr sz="1410" kern="0" spc="-20" dirty="0">
                <a:solidFill>
                  <a:srgbClr val="9437FF"/>
                </a:solidFill>
                <a:latin typeface="Arial MT"/>
                <a:cs typeface="Arial MT"/>
              </a:rPr>
              <a:t>invariant</a:t>
            </a:r>
            <a:r>
              <a:rPr sz="1410" kern="0" spc="-20" dirty="0">
                <a:solidFill>
                  <a:srgbClr val="24130B"/>
                </a:solidFill>
                <a:latin typeface="Arial MT"/>
                <a:cs typeface="Arial MT"/>
              </a:rPr>
              <a:t>:</a:t>
            </a:r>
            <a:r>
              <a:rPr sz="1410" kern="0" spc="-45" dirty="0">
                <a:solidFill>
                  <a:srgbClr val="24130B"/>
                </a:solidFill>
                <a:latin typeface="Arial MT"/>
                <a:cs typeface="Arial MT"/>
              </a:rPr>
              <a:t> </a:t>
            </a:r>
            <a:r>
              <a:rPr sz="1410" kern="0" dirty="0">
                <a:solidFill>
                  <a:srgbClr val="24130B"/>
                </a:solidFill>
                <a:latin typeface="Arial MT"/>
                <a:cs typeface="Arial MT"/>
              </a:rPr>
              <a:t>newest</a:t>
            </a:r>
            <a:r>
              <a:rPr sz="1410" kern="0" spc="-45" dirty="0">
                <a:solidFill>
                  <a:srgbClr val="24130B"/>
                </a:solidFill>
                <a:latin typeface="Arial MT"/>
                <a:cs typeface="Arial MT"/>
              </a:rPr>
              <a:t> </a:t>
            </a:r>
            <a:r>
              <a:rPr sz="1410" kern="0" spc="-25" dirty="0">
                <a:solidFill>
                  <a:srgbClr val="24130B"/>
                </a:solidFill>
                <a:latin typeface="Arial MT"/>
                <a:cs typeface="Arial MT"/>
              </a:rPr>
              <a:t>version</a:t>
            </a:r>
            <a:r>
              <a:rPr sz="1410" kern="0" spc="-45" dirty="0">
                <a:solidFill>
                  <a:srgbClr val="24130B"/>
                </a:solidFill>
                <a:latin typeface="Arial MT"/>
                <a:cs typeface="Arial MT"/>
              </a:rPr>
              <a:t> </a:t>
            </a:r>
            <a:r>
              <a:rPr sz="1410" kern="0" dirty="0">
                <a:solidFill>
                  <a:srgbClr val="24130B"/>
                </a:solidFill>
                <a:latin typeface="Arial MT"/>
                <a:cs typeface="Arial MT"/>
              </a:rPr>
              <a:t>of</a:t>
            </a:r>
            <a:r>
              <a:rPr sz="1410" kern="0" spc="-45" dirty="0">
                <a:solidFill>
                  <a:srgbClr val="24130B"/>
                </a:solidFill>
                <a:latin typeface="Arial MT"/>
                <a:cs typeface="Arial MT"/>
              </a:rPr>
              <a:t> </a:t>
            </a:r>
            <a:r>
              <a:rPr sz="1410" kern="0" spc="-9" dirty="0">
                <a:solidFill>
                  <a:srgbClr val="24130B"/>
                </a:solidFill>
                <a:latin typeface="Arial MT"/>
                <a:cs typeface="Arial MT"/>
              </a:rPr>
              <a:t>any</a:t>
            </a:r>
            <a:r>
              <a:rPr sz="1410" kern="0" spc="-45" dirty="0">
                <a:solidFill>
                  <a:srgbClr val="24130B"/>
                </a:solidFill>
                <a:latin typeface="Arial MT"/>
                <a:cs typeface="Arial MT"/>
              </a:rPr>
              <a:t> </a:t>
            </a:r>
            <a:r>
              <a:rPr sz="1410" kern="0" spc="-30" dirty="0">
                <a:solidFill>
                  <a:srgbClr val="24130B"/>
                </a:solidFill>
                <a:latin typeface="Arial MT"/>
                <a:cs typeface="Arial MT"/>
              </a:rPr>
              <a:t>key-</a:t>
            </a:r>
            <a:r>
              <a:rPr sz="1410" kern="0" spc="-11" dirty="0">
                <a:solidFill>
                  <a:srgbClr val="24130B"/>
                </a:solidFill>
                <a:latin typeface="Arial MT"/>
                <a:cs typeface="Arial MT"/>
              </a:rPr>
              <a:t>value</a:t>
            </a:r>
            <a:r>
              <a:rPr sz="1410" kern="0" spc="-45" dirty="0">
                <a:solidFill>
                  <a:srgbClr val="24130B"/>
                </a:solidFill>
                <a:latin typeface="Arial MT"/>
                <a:cs typeface="Arial MT"/>
              </a:rPr>
              <a:t> </a:t>
            </a:r>
            <a:r>
              <a:rPr sz="1410" kern="0" dirty="0">
                <a:solidFill>
                  <a:srgbClr val="24130B"/>
                </a:solidFill>
                <a:latin typeface="Arial MT"/>
                <a:cs typeface="Arial MT"/>
              </a:rPr>
              <a:t>pair</a:t>
            </a:r>
            <a:r>
              <a:rPr sz="1410" kern="0" spc="-45" dirty="0">
                <a:solidFill>
                  <a:srgbClr val="24130B"/>
                </a:solidFill>
                <a:latin typeface="Arial MT"/>
                <a:cs typeface="Arial MT"/>
              </a:rPr>
              <a:t> </a:t>
            </a:r>
            <a:r>
              <a:rPr sz="1410" kern="0" dirty="0">
                <a:solidFill>
                  <a:srgbClr val="24130B"/>
                </a:solidFill>
                <a:latin typeface="Arial MT"/>
                <a:cs typeface="Arial MT"/>
              </a:rPr>
              <a:t>is</a:t>
            </a:r>
            <a:r>
              <a:rPr sz="1410" kern="0" spc="-45" dirty="0">
                <a:solidFill>
                  <a:srgbClr val="24130B"/>
                </a:solidFill>
                <a:latin typeface="Arial MT"/>
                <a:cs typeface="Arial MT"/>
              </a:rPr>
              <a:t> </a:t>
            </a:r>
            <a:r>
              <a:rPr sz="1410" kern="0" spc="-25" dirty="0">
                <a:solidFill>
                  <a:srgbClr val="24130B"/>
                </a:solidFill>
                <a:latin typeface="Arial MT"/>
                <a:cs typeface="Arial MT"/>
              </a:rPr>
              <a:t>version</a:t>
            </a:r>
            <a:r>
              <a:rPr sz="1410" kern="0" spc="-45" dirty="0">
                <a:solidFill>
                  <a:srgbClr val="24130B"/>
                </a:solidFill>
                <a:latin typeface="Arial MT"/>
                <a:cs typeface="Arial MT"/>
              </a:rPr>
              <a:t> </a:t>
            </a:r>
            <a:r>
              <a:rPr sz="1410" kern="0" spc="-18" dirty="0">
                <a:solidFill>
                  <a:srgbClr val="24130B"/>
                </a:solidFill>
                <a:latin typeface="Arial MT"/>
                <a:cs typeface="Arial MT"/>
              </a:rPr>
              <a:t>nearest</a:t>
            </a:r>
            <a:r>
              <a:rPr sz="1410" kern="0" spc="-45" dirty="0">
                <a:solidFill>
                  <a:srgbClr val="24130B"/>
                </a:solidFill>
                <a:latin typeface="Arial MT"/>
                <a:cs typeface="Arial MT"/>
              </a:rPr>
              <a:t> </a:t>
            </a:r>
            <a:r>
              <a:rPr sz="1410" kern="0" dirty="0">
                <a:solidFill>
                  <a:srgbClr val="24130B"/>
                </a:solidFill>
                <a:latin typeface="Arial MT"/>
                <a:cs typeface="Arial MT"/>
              </a:rPr>
              <a:t>to</a:t>
            </a:r>
            <a:r>
              <a:rPr sz="1410" kern="0" spc="-45" dirty="0">
                <a:solidFill>
                  <a:srgbClr val="24130B"/>
                </a:solidFill>
                <a:latin typeface="Arial MT"/>
                <a:cs typeface="Arial MT"/>
              </a:rPr>
              <a:t> </a:t>
            </a:r>
            <a:r>
              <a:rPr sz="1410" kern="0" dirty="0">
                <a:solidFill>
                  <a:srgbClr val="24130B"/>
                </a:solidFill>
                <a:latin typeface="Arial MT"/>
                <a:cs typeface="Arial MT"/>
              </a:rPr>
              <a:t>top</a:t>
            </a:r>
            <a:r>
              <a:rPr sz="1410" kern="0" spc="-45" dirty="0">
                <a:solidFill>
                  <a:srgbClr val="24130B"/>
                </a:solidFill>
                <a:latin typeface="Arial MT"/>
                <a:cs typeface="Arial MT"/>
              </a:rPr>
              <a:t> </a:t>
            </a:r>
            <a:r>
              <a:rPr sz="1410" kern="0" dirty="0">
                <a:solidFill>
                  <a:srgbClr val="24130B"/>
                </a:solidFill>
                <a:latin typeface="Arial MT"/>
                <a:cs typeface="Arial MT"/>
              </a:rPr>
              <a:t>of</a:t>
            </a:r>
            <a:r>
              <a:rPr sz="1410" kern="0" spc="-45" dirty="0">
                <a:solidFill>
                  <a:srgbClr val="24130B"/>
                </a:solidFill>
                <a:latin typeface="Arial MT"/>
                <a:cs typeface="Arial MT"/>
              </a:rPr>
              <a:t> </a:t>
            </a:r>
            <a:r>
              <a:rPr sz="1410" kern="0" spc="-11" dirty="0">
                <a:solidFill>
                  <a:srgbClr val="24130B"/>
                </a:solidFill>
                <a:latin typeface="Arial MT"/>
                <a:cs typeface="Arial MT"/>
              </a:rPr>
              <a:t>LSM-</a:t>
            </a:r>
            <a:r>
              <a:rPr sz="1410" kern="0" spc="-9" dirty="0">
                <a:solidFill>
                  <a:srgbClr val="24130B"/>
                </a:solidFill>
                <a:latin typeface="Arial MT"/>
                <a:cs typeface="Arial MT"/>
              </a:rPr>
              <a:t>tree</a:t>
            </a:r>
            <a:endParaRPr sz="1410" kern="0" dirty="0">
              <a:solidFill>
                <a:sysClr val="windowText" lastClr="000000"/>
              </a:solidFill>
              <a:latin typeface="Arial MT"/>
              <a:cs typeface="Arial MT"/>
            </a:endParaRPr>
          </a:p>
        </p:txBody>
      </p:sp>
      <p:pic>
        <p:nvPicPr>
          <p:cNvPr id="4" name="object 4"/>
          <p:cNvPicPr/>
          <p:nvPr/>
        </p:nvPicPr>
        <p:blipFill>
          <a:blip r:embed="rId2" cstate="print"/>
          <a:stretch>
            <a:fillRect/>
          </a:stretch>
        </p:blipFill>
        <p:spPr>
          <a:xfrm>
            <a:off x="2229005" y="2937803"/>
            <a:ext cx="4493307" cy="2777228"/>
          </a:xfrm>
          <a:prstGeom prst="rect">
            <a:avLst/>
          </a:prstGeom>
        </p:spPr>
      </p:pic>
      <p:sp>
        <p:nvSpPr>
          <p:cNvPr id="6" name="object 3"/>
          <p:cNvSpPr txBox="1">
            <a:spLocks noGrp="1"/>
          </p:cNvSpPr>
          <p:nvPr/>
        </p:nvSpPr>
        <p:spPr>
          <a:xfrm>
            <a:off x="395536" y="280789"/>
            <a:ext cx="7458358" cy="438178"/>
          </a:xfrm>
          <a:prstGeom prst="rect">
            <a:avLst/>
          </a:prstGeom>
        </p:spPr>
        <p:txBody>
          <a:bodyPr vert="horz" wrap="square" lIns="0" tIns="7220" rIns="0" bIns="0" rtlCol="0">
            <a:spAutoFit/>
          </a:bodyPr>
          <a:ls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1037940">
              <a:spcBef>
                <a:spcPts val="57"/>
              </a:spcBef>
            </a:pP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Log-Structured Merge</a:t>
            </a:r>
            <a:r>
              <a:rPr kumimoji="1" lang="en-US" sz="2800" b="1" dirty="0">
                <a:solidFill>
                  <a:srgbClr val="FF0000"/>
                </a:solidFill>
                <a:latin typeface="微软雅黑" panose="020B0503020204020204" pitchFamily="82" charset="2"/>
                <a:ea typeface="微软雅黑" panose="020B0503020204020204" pitchFamily="82" charset="2"/>
                <a:cs typeface="Arial" panose="020B0604020202020204"/>
              </a:rPr>
              <a:t>(LSM)</a:t>
            </a:r>
            <a:r>
              <a:rPr kumimoji="1" sz="2800" b="1" dirty="0">
                <a:solidFill>
                  <a:srgbClr val="FF0000"/>
                </a:solidFill>
                <a:latin typeface="微软雅黑" panose="020B0503020204020204" pitchFamily="82" charset="2"/>
                <a:ea typeface="微软雅黑" panose="020B0503020204020204" pitchFamily="82" charset="2"/>
                <a:cs typeface="Arial" panose="020B0604020202020204"/>
              </a:rPr>
              <a:t> Trees</a:t>
            </a:r>
          </a:p>
        </p:txBody>
      </p:sp>
    </p:spTree>
    <p:extLst>
      <p:ext uri="{BB962C8B-B14F-4D97-AF65-F5344CB8AC3E}">
        <p14:creationId xmlns:p14="http://schemas.microsoft.com/office/powerpoint/2010/main" val="16351805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p:cNvSpPr/>
          <p:nvPr/>
        </p:nvSpPr>
        <p:spPr>
          <a:xfrm>
            <a:off x="4856977" y="3632523"/>
            <a:ext cx="3695741" cy="200554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8" name="Shape18"/>
          <p:cNvSpPr/>
          <p:nvPr/>
        </p:nvSpPr>
        <p:spPr>
          <a:xfrm>
            <a:off x="4856977" y="1730555"/>
            <a:ext cx="3695741" cy="1736993"/>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115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87914" y="488047"/>
            <a:ext cx="7568173" cy="678470"/>
          </a:xfrm>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2</a:t>
            </a:r>
            <a:r>
              <a:rPr lang="zh-CN" altLang="en-US" sz="2800" dirty="0">
                <a:solidFill>
                  <a:srgbClr val="FF0000"/>
                </a:solidFill>
                <a:latin typeface="微软雅黑" panose="020B0503020204020204" pitchFamily="82" charset="2"/>
                <a:ea typeface="微软雅黑" panose="020B0503020204020204" pitchFamily="82" charset="2"/>
              </a:rPr>
              <a:t>阶</a:t>
            </a:r>
            <a:r>
              <a:rPr lang="en-US" altLang="zh-CN" sz="2800" dirty="0" smtClean="0">
                <a:solidFill>
                  <a:srgbClr val="FF0000"/>
                </a:solidFill>
                <a:latin typeface="微软雅黑" panose="020B0503020204020204" pitchFamily="82" charset="2"/>
                <a:ea typeface="微软雅黑" panose="020B0503020204020204" pitchFamily="82" charset="2"/>
              </a:rPr>
              <a:t>LSM</a:t>
            </a:r>
            <a:r>
              <a:rPr lang="zh-CN" altLang="en-US" sz="2800" dirty="0" smtClean="0">
                <a:solidFill>
                  <a:srgbClr val="FF0000"/>
                </a:solidFill>
                <a:latin typeface="微软雅黑" panose="020B0503020204020204" pitchFamily="82" charset="2"/>
                <a:ea typeface="微软雅黑" panose="020B0503020204020204" pitchFamily="82" charset="2"/>
              </a:rPr>
              <a:t>树的实现</a:t>
            </a:r>
            <a:endParaRPr lang="zh-CN" altLang="en-US" sz="2800" dirty="0">
              <a:solidFill>
                <a:srgbClr val="FF0000"/>
              </a:solidFill>
              <a:latin typeface="微软雅黑" panose="020B0503020204020204" pitchFamily="82" charset="2"/>
              <a:ea typeface="微软雅黑" panose="020B0503020204020204" pitchFamily="82" charset="2"/>
            </a:endParaRPr>
          </a:p>
        </p:txBody>
      </p:sp>
      <p:sp>
        <p:nvSpPr>
          <p:cNvPr id="4" name="内容占位符 3"/>
          <p:cNvSpPr>
            <a:spLocks noGrp="1"/>
          </p:cNvSpPr>
          <p:nvPr>
            <p:ph idx="1"/>
          </p:nvPr>
        </p:nvSpPr>
        <p:spPr>
          <a:xfrm>
            <a:off x="270464" y="1895529"/>
            <a:ext cx="4301537" cy="3144037"/>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内存索引</a:t>
            </a:r>
            <a:r>
              <a:rPr lang="en-US" altLang="zh-CN" sz="1800" b="1" dirty="0">
                <a:solidFill>
                  <a:srgbClr val="701988"/>
                </a:solidFill>
                <a:latin typeface="微软雅黑" panose="020B0503020204020204" pitchFamily="82" charset="2"/>
                <a:ea typeface="微软雅黑" panose="020B0503020204020204" pitchFamily="82" charset="2"/>
              </a:rPr>
              <a:t>C</a:t>
            </a:r>
            <a:r>
              <a:rPr lang="en-US" altLang="zh-CN" sz="1800" b="1" baseline="-25000" dirty="0">
                <a:solidFill>
                  <a:srgbClr val="701988"/>
                </a:solidFill>
                <a:latin typeface="微软雅黑" panose="020B0503020204020204" pitchFamily="82" charset="2"/>
                <a:ea typeface="微软雅黑" panose="020B0503020204020204" pitchFamily="82" charset="2"/>
              </a:rPr>
              <a:t>0</a:t>
            </a:r>
            <a:r>
              <a:rPr lang="en-US" altLang="zh-CN" sz="1800" b="1" dirty="0">
                <a:solidFill>
                  <a:srgbClr val="701988"/>
                </a:solidFill>
                <a:latin typeface="微软雅黑" panose="020B0503020204020204" pitchFamily="82" charset="2"/>
                <a:ea typeface="微软雅黑" panose="020B0503020204020204" pitchFamily="82" charset="2"/>
              </a:rPr>
              <a:t>(</a:t>
            </a:r>
            <a:r>
              <a:rPr lang="zh-CN" altLang="en-US" sz="1800" b="1" dirty="0">
                <a:solidFill>
                  <a:srgbClr val="701988"/>
                </a:solidFill>
                <a:latin typeface="微软雅黑" panose="020B0503020204020204" pitchFamily="82" charset="2"/>
                <a:ea typeface="微软雅黑" panose="020B0503020204020204" pitchFamily="82" charset="2"/>
              </a:rPr>
              <a:t>红黑树、</a:t>
            </a:r>
            <a:r>
              <a:rPr lang="en-US" altLang="zh-CN" sz="1800" b="1" dirty="0">
                <a:solidFill>
                  <a:srgbClr val="701988"/>
                </a:solidFill>
                <a:latin typeface="微软雅黑" panose="020B0503020204020204" pitchFamily="82" charset="2"/>
                <a:ea typeface="微软雅黑" panose="020B0503020204020204" pitchFamily="82" charset="2"/>
              </a:rPr>
              <a:t>AVL</a:t>
            </a:r>
            <a:r>
              <a:rPr lang="zh-CN" altLang="en-US" sz="1800" b="1" dirty="0">
                <a:solidFill>
                  <a:srgbClr val="701988"/>
                </a:solidFill>
                <a:latin typeface="微软雅黑" panose="020B0503020204020204" pitchFamily="82" charset="2"/>
                <a:ea typeface="微软雅黑" panose="020B0503020204020204" pitchFamily="82" charset="2"/>
              </a:rPr>
              <a:t>树等</a:t>
            </a:r>
            <a:r>
              <a:rPr lang="en-US" altLang="zh-CN" sz="1800" b="1" dirty="0">
                <a:solidFill>
                  <a:srgbClr val="701988"/>
                </a:solidFill>
                <a:latin typeface="微软雅黑" panose="020B0503020204020204" pitchFamily="82" charset="2"/>
                <a:ea typeface="微软雅黑" panose="020B0503020204020204" pitchFamily="82" charset="2"/>
              </a:rPr>
              <a:t>)</a:t>
            </a: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缓存区中缓存</a:t>
            </a:r>
            <a:r>
              <a:rPr lang="en-US" altLang="zh-CN" sz="1500" dirty="0">
                <a:latin typeface="微软雅黑" panose="020B0503020204020204" pitchFamily="82" charset="2"/>
                <a:ea typeface="微软雅黑" panose="020B0503020204020204" pitchFamily="82" charset="2"/>
              </a:rPr>
              <a:t>C1</a:t>
            </a:r>
            <a:r>
              <a:rPr lang="zh-CN" altLang="en-US" sz="1500" dirty="0">
                <a:latin typeface="微软雅黑" panose="020B0503020204020204" pitchFamily="82" charset="2"/>
                <a:ea typeface="微软雅黑" panose="020B0503020204020204" pitchFamily="82" charset="2"/>
              </a:rPr>
              <a:t>、进行滚动合并</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WAL</a:t>
            </a:r>
            <a:r>
              <a:rPr lang="zh-CN" altLang="en-US" sz="1500" dirty="0">
                <a:latin typeface="微软雅黑" panose="020B0503020204020204" pitchFamily="82" charset="2"/>
                <a:ea typeface="微软雅黑" panose="020B0503020204020204" pitchFamily="82" charset="2"/>
              </a:rPr>
              <a:t>持久化</a:t>
            </a:r>
            <a:r>
              <a:rPr lang="en-US" altLang="zh-CN" sz="1500" dirty="0">
                <a:latin typeface="微软雅黑" panose="020B0503020204020204" pitchFamily="82" charset="2"/>
                <a:ea typeface="微软雅黑" panose="020B0503020204020204" pitchFamily="82" charset="2"/>
              </a:rPr>
              <a:t>C0</a:t>
            </a:r>
            <a:r>
              <a:rPr lang="zh-CN" altLang="en-US" sz="1500" dirty="0">
                <a:latin typeface="微软雅黑" panose="020B0503020204020204" pitchFamily="82" charset="2"/>
                <a:ea typeface="微软雅黑" panose="020B0503020204020204" pitchFamily="82" charset="2"/>
              </a:rPr>
              <a:t>更新</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磁盘索引</a:t>
            </a:r>
            <a:r>
              <a:rPr lang="en-US" altLang="zh-CN" sz="1800" b="1" dirty="0">
                <a:solidFill>
                  <a:srgbClr val="701988"/>
                </a:solidFill>
                <a:latin typeface="微软雅黑" panose="020B0503020204020204" pitchFamily="82" charset="2"/>
                <a:ea typeface="微软雅黑" panose="020B0503020204020204" pitchFamily="82" charset="2"/>
              </a:rPr>
              <a:t>C1(B+</a:t>
            </a:r>
            <a:r>
              <a:rPr lang="zh-CN" altLang="en-US" sz="1800" b="1" dirty="0">
                <a:solidFill>
                  <a:srgbClr val="701988"/>
                </a:solidFill>
                <a:latin typeface="微软雅黑" panose="020B0503020204020204" pitchFamily="82" charset="2"/>
                <a:ea typeface="微软雅黑" panose="020B0503020204020204" pitchFamily="82" charset="2"/>
              </a:rPr>
              <a:t>树</a:t>
            </a:r>
            <a:r>
              <a:rPr lang="en-US" altLang="zh-CN" sz="1800" b="1" dirty="0">
                <a:solidFill>
                  <a:srgbClr val="701988"/>
                </a:solidFill>
                <a:latin typeface="微软雅黑" panose="020B0503020204020204" pitchFamily="82" charset="2"/>
                <a:ea typeface="微软雅黑" panose="020B0503020204020204" pitchFamily="82" charset="2"/>
              </a:rPr>
              <a:t>)</a:t>
            </a: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查找操作</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先在</a:t>
            </a:r>
            <a:r>
              <a:rPr lang="en-US" altLang="zh-CN" sz="1500" dirty="0">
                <a:latin typeface="微软雅黑" panose="020B0503020204020204" pitchFamily="82" charset="2"/>
                <a:ea typeface="微软雅黑" panose="020B0503020204020204" pitchFamily="82" charset="2"/>
              </a:rPr>
              <a:t>C0</a:t>
            </a:r>
            <a:r>
              <a:rPr lang="zh-CN" altLang="en-US" sz="1500" dirty="0">
                <a:latin typeface="微软雅黑" panose="020B0503020204020204" pitchFamily="82" charset="2"/>
                <a:ea typeface="微软雅黑" panose="020B0503020204020204" pitchFamily="82" charset="2"/>
              </a:rPr>
              <a:t>中进行查找，存在则返回</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否则在</a:t>
            </a:r>
            <a:r>
              <a:rPr lang="en-US" altLang="zh-CN" sz="1500" dirty="0">
                <a:latin typeface="微软雅黑" panose="020B0503020204020204" pitchFamily="82" charset="2"/>
                <a:ea typeface="微软雅黑" panose="020B0503020204020204" pitchFamily="82" charset="2"/>
              </a:rPr>
              <a:t>C1</a:t>
            </a:r>
            <a:r>
              <a:rPr lang="zh-CN" altLang="en-US" sz="1500" dirty="0">
                <a:latin typeface="微软雅黑" panose="020B0503020204020204" pitchFamily="82" charset="2"/>
                <a:ea typeface="微软雅黑" panose="020B0503020204020204" pitchFamily="82" charset="2"/>
              </a:rPr>
              <a:t>中进行查找</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stretch>
            <a:fillRect/>
          </a:stretch>
        </p:blipFill>
        <p:spPr>
          <a:xfrm>
            <a:off x="4856977" y="1786717"/>
            <a:ext cx="3499109" cy="1582889"/>
          </a:xfrm>
          <a:prstGeom prst="rect">
            <a:avLst/>
          </a:prstGeom>
        </p:spPr>
      </p:pic>
      <p:pic>
        <p:nvPicPr>
          <p:cNvPr id="7" name="图片 6"/>
          <p:cNvPicPr>
            <a:picLocks noChangeAspect="1"/>
          </p:cNvPicPr>
          <p:nvPr/>
        </p:nvPicPr>
        <p:blipFill>
          <a:blip r:embed="rId3"/>
          <a:stretch>
            <a:fillRect/>
          </a:stretch>
        </p:blipFill>
        <p:spPr>
          <a:xfrm>
            <a:off x="5567729" y="3672234"/>
            <a:ext cx="2378843" cy="190046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p:cNvSpPr/>
          <p:nvPr/>
        </p:nvSpPr>
        <p:spPr>
          <a:xfrm>
            <a:off x="1460592" y="3459549"/>
            <a:ext cx="5445818" cy="2285561"/>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116</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404664"/>
            <a:ext cx="7568173" cy="678470"/>
          </a:xfrm>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2</a:t>
            </a:r>
            <a:r>
              <a:rPr lang="zh-CN" altLang="en-US" sz="2800" dirty="0">
                <a:solidFill>
                  <a:srgbClr val="FF0000"/>
                </a:solidFill>
                <a:latin typeface="微软雅黑" panose="020B0503020204020204" pitchFamily="82" charset="2"/>
                <a:ea typeface="微软雅黑" panose="020B0503020204020204" pitchFamily="82" charset="2"/>
              </a:rPr>
              <a:t>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树滚动合并</a:t>
            </a:r>
          </a:p>
        </p:txBody>
      </p:sp>
      <p:sp>
        <p:nvSpPr>
          <p:cNvPr id="4" name="内容占位符 3"/>
          <p:cNvSpPr>
            <a:spLocks noGrp="1"/>
          </p:cNvSpPr>
          <p:nvPr>
            <p:ph idx="1"/>
          </p:nvPr>
        </p:nvSpPr>
        <p:spPr>
          <a:xfrm>
            <a:off x="1095110" y="1631833"/>
            <a:ext cx="8157410" cy="1799786"/>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合并条件：</a:t>
            </a:r>
            <a:r>
              <a:rPr lang="en-US" altLang="zh-CN" sz="1800" b="1" dirty="0">
                <a:solidFill>
                  <a:srgbClr val="701988"/>
                </a:solidFill>
                <a:latin typeface="微软雅黑" panose="020B0503020204020204" pitchFamily="82" charset="2"/>
                <a:ea typeface="微软雅黑" panose="020B0503020204020204" pitchFamily="82" charset="2"/>
              </a:rPr>
              <a:t>C</a:t>
            </a:r>
            <a:r>
              <a:rPr lang="en-US" altLang="zh-CN" sz="1800" b="1" baseline="-25000" dirty="0">
                <a:solidFill>
                  <a:srgbClr val="701988"/>
                </a:solidFill>
                <a:latin typeface="微软雅黑" panose="020B0503020204020204" pitchFamily="82" charset="2"/>
                <a:ea typeface="微软雅黑" panose="020B0503020204020204" pitchFamily="82" charset="2"/>
              </a:rPr>
              <a:t>0</a:t>
            </a:r>
            <a:r>
              <a:rPr lang="zh-CN" altLang="en-US" sz="1800" b="1" dirty="0">
                <a:solidFill>
                  <a:srgbClr val="701988"/>
                </a:solidFill>
                <a:latin typeface="微软雅黑" panose="020B0503020204020204" pitchFamily="82" charset="2"/>
                <a:ea typeface="微软雅黑" panose="020B0503020204020204" pitchFamily="82" charset="2"/>
              </a:rPr>
              <a:t>树容量达到设定阈值</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滚动合并：</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空置块中加载</a:t>
            </a:r>
            <a:r>
              <a:rPr lang="en-US" altLang="zh-CN" sz="1500" dirty="0">
                <a:latin typeface="微软雅黑" panose="020B0503020204020204" pitchFamily="82" charset="2"/>
                <a:ea typeface="微软雅黑" panose="020B0503020204020204" pitchFamily="82" charset="2"/>
              </a:rPr>
              <a:t>C1</a:t>
            </a:r>
            <a:r>
              <a:rPr lang="zh-CN" altLang="en-US" sz="1500" dirty="0">
                <a:latin typeface="微软雅黑" panose="020B0503020204020204" pitchFamily="82" charset="2"/>
                <a:ea typeface="微软雅黑" panose="020B0503020204020204" pitchFamily="82" charset="2"/>
              </a:rPr>
              <a:t>树叶子节点的连续页面</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填充块中从</a:t>
            </a:r>
            <a:r>
              <a:rPr lang="en-US" altLang="zh-CN" sz="1500" dirty="0">
                <a:latin typeface="微软雅黑" panose="020B0503020204020204" pitchFamily="82" charset="2"/>
                <a:ea typeface="微软雅黑" panose="020B0503020204020204" pitchFamily="82" charset="2"/>
              </a:rPr>
              <a:t>C0</a:t>
            </a:r>
            <a:r>
              <a:rPr lang="zh-CN" altLang="en-US" sz="1500" dirty="0">
                <a:latin typeface="微软雅黑" panose="020B0503020204020204" pitchFamily="82" charset="2"/>
                <a:ea typeface="微软雅黑" panose="020B0503020204020204" pitchFamily="82" charset="2"/>
              </a:rPr>
              <a:t>树中取出节点，与空置块进行合并</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7" name="图片 6"/>
          <p:cNvPicPr>
            <a:picLocks noChangeAspect="1"/>
          </p:cNvPicPr>
          <p:nvPr/>
        </p:nvPicPr>
        <p:blipFill>
          <a:blip r:embed="rId2"/>
          <a:stretch>
            <a:fillRect/>
          </a:stretch>
        </p:blipFill>
        <p:spPr>
          <a:xfrm>
            <a:off x="1725255" y="3615161"/>
            <a:ext cx="4713197" cy="1997646"/>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1777115" y="2306544"/>
            <a:ext cx="5540829" cy="2601686"/>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117</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2</a:t>
            </a:r>
            <a:r>
              <a:rPr lang="zh-CN" altLang="en-US" sz="2800" dirty="0">
                <a:solidFill>
                  <a:srgbClr val="FF0000"/>
                </a:solidFill>
                <a:latin typeface="微软雅黑" panose="020B0503020204020204" pitchFamily="82" charset="2"/>
                <a:ea typeface="微软雅黑" panose="020B0503020204020204" pitchFamily="82" charset="2"/>
              </a:rPr>
              <a:t>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树滚动合并</a:t>
            </a:r>
          </a:p>
        </p:txBody>
      </p:sp>
      <p:sp>
        <p:nvSpPr>
          <p:cNvPr id="4" name="内容占位符 3"/>
          <p:cNvSpPr>
            <a:spLocks noGrp="1"/>
          </p:cNvSpPr>
          <p:nvPr>
            <p:ph idx="1"/>
          </p:nvPr>
        </p:nvSpPr>
        <p:spPr>
          <a:xfrm>
            <a:off x="809777" y="1247032"/>
            <a:ext cx="8155641" cy="3754040"/>
          </a:xfrm>
        </p:spPr>
        <p:txBody>
          <a:bodyPr/>
          <a:lstStyle/>
          <a:p>
            <a:pPr>
              <a:lnSpc>
                <a:spcPct val="150000"/>
              </a:lnSpc>
              <a:buFont typeface="Wingdings" panose="05000000000000000000" pitchFamily="2" charset="2"/>
              <a:buChar char="Ø"/>
            </a:pPr>
            <a:r>
              <a:rPr lang="en-US" altLang="zh-CN" sz="1800" b="1" dirty="0">
                <a:solidFill>
                  <a:srgbClr val="701988"/>
                </a:solidFill>
                <a:latin typeface="微软雅黑" panose="020B0503020204020204" pitchFamily="82" charset="2"/>
                <a:ea typeface="微软雅黑" panose="020B0503020204020204" pitchFamily="82" charset="2"/>
              </a:rPr>
              <a:t>C1</a:t>
            </a:r>
            <a:r>
              <a:rPr lang="zh-CN" altLang="en-US" sz="1800" b="1" dirty="0">
                <a:solidFill>
                  <a:srgbClr val="701988"/>
                </a:solidFill>
                <a:latin typeface="微软雅黑" panose="020B0503020204020204" pitchFamily="82" charset="2"/>
                <a:ea typeface="微软雅黑" panose="020B0503020204020204" pitchFamily="82" charset="2"/>
              </a:rPr>
              <a:t>树参与合并的节点被标记移除</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空置块中来自</a:t>
            </a:r>
            <a:r>
              <a:rPr lang="en-US" altLang="zh-CN" sz="1800" b="1" dirty="0">
                <a:solidFill>
                  <a:srgbClr val="701988"/>
                </a:solidFill>
                <a:latin typeface="微软雅黑" panose="020B0503020204020204" pitchFamily="82" charset="2"/>
                <a:ea typeface="微软雅黑" panose="020B0503020204020204" pitchFamily="82" charset="2"/>
              </a:rPr>
              <a:t>C1</a:t>
            </a:r>
            <a:r>
              <a:rPr lang="zh-CN" altLang="en-US" sz="1800" b="1" dirty="0">
                <a:solidFill>
                  <a:srgbClr val="701988"/>
                </a:solidFill>
                <a:latin typeface="微软雅黑" panose="020B0503020204020204" pitchFamily="82" charset="2"/>
                <a:ea typeface="微软雅黑" panose="020B0503020204020204" pitchFamily="82" charset="2"/>
              </a:rPr>
              <a:t>树的剩余的数据随着</a:t>
            </a:r>
            <a:r>
              <a:rPr lang="en-US" altLang="zh-CN" sz="1800" b="1" dirty="0">
                <a:solidFill>
                  <a:srgbClr val="701988"/>
                </a:solidFill>
                <a:latin typeface="微软雅黑" panose="020B0503020204020204" pitchFamily="82" charset="2"/>
                <a:ea typeface="微软雅黑" panose="020B0503020204020204" pitchFamily="82" charset="2"/>
              </a:rPr>
              <a:t>C0</a:t>
            </a:r>
            <a:r>
              <a:rPr lang="zh-CN" altLang="en-US" sz="1800" b="1" dirty="0">
                <a:solidFill>
                  <a:srgbClr val="701988"/>
                </a:solidFill>
                <a:latin typeface="微软雅黑" panose="020B0503020204020204" pitchFamily="82" charset="2"/>
                <a:ea typeface="微软雅黑" panose="020B0503020204020204" pitchFamily="82" charset="2"/>
              </a:rPr>
              <a:t>树继续合并被消耗</a:t>
            </a:r>
            <a:endParaRPr lang="en-US" altLang="zh-CN" sz="1800" b="1" dirty="0">
              <a:solidFill>
                <a:srgbClr val="701988"/>
              </a:solidFill>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266293"/>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stretch>
            <a:fillRect/>
          </a:stretch>
        </p:blipFill>
        <p:spPr>
          <a:xfrm>
            <a:off x="2147684" y="2499409"/>
            <a:ext cx="4848632" cy="2183390"/>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1777115" y="2883914"/>
            <a:ext cx="5540829" cy="227964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118</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2</a:t>
            </a:r>
            <a:r>
              <a:rPr lang="zh-CN" altLang="en-US" sz="2800" dirty="0">
                <a:solidFill>
                  <a:srgbClr val="FF0000"/>
                </a:solidFill>
                <a:latin typeface="微软雅黑" panose="020B0503020204020204" pitchFamily="82" charset="2"/>
                <a:ea typeface="微软雅黑" panose="020B0503020204020204" pitchFamily="82" charset="2"/>
              </a:rPr>
              <a:t>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树滚动合并</a:t>
            </a:r>
          </a:p>
        </p:txBody>
      </p:sp>
      <p:sp>
        <p:nvSpPr>
          <p:cNvPr id="4" name="内容占位符 3"/>
          <p:cNvSpPr>
            <a:spLocks noGrp="1"/>
          </p:cNvSpPr>
          <p:nvPr>
            <p:ph idx="1"/>
          </p:nvPr>
        </p:nvSpPr>
        <p:spPr>
          <a:xfrm>
            <a:off x="787913" y="1676150"/>
            <a:ext cx="8155641" cy="3754040"/>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填充块满后追加到</a:t>
            </a:r>
            <a:r>
              <a:rPr lang="en-US" altLang="zh-CN" sz="1800" b="1" dirty="0">
                <a:solidFill>
                  <a:srgbClr val="701988"/>
                </a:solidFill>
                <a:latin typeface="微软雅黑" panose="020B0503020204020204" pitchFamily="82" charset="2"/>
                <a:ea typeface="微软雅黑" panose="020B0503020204020204" pitchFamily="82" charset="2"/>
              </a:rPr>
              <a:t>C1</a:t>
            </a:r>
            <a:r>
              <a:rPr lang="zh-CN" altLang="en-US" sz="1800" b="1" dirty="0">
                <a:solidFill>
                  <a:srgbClr val="701988"/>
                </a:solidFill>
                <a:latin typeface="微软雅黑" panose="020B0503020204020204" pitchFamily="82" charset="2"/>
                <a:ea typeface="微软雅黑" panose="020B0503020204020204" pitchFamily="82" charset="2"/>
              </a:rPr>
              <a:t>树文件末尾</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C1</a:t>
            </a:r>
            <a:r>
              <a:rPr lang="zh-CN" altLang="en-US" sz="1500" dirty="0">
                <a:latin typeface="微软雅黑" panose="020B0503020204020204" pitchFamily="82" charset="2"/>
                <a:ea typeface="微软雅黑" panose="020B0503020204020204" pitchFamily="82" charset="2"/>
              </a:rPr>
              <a:t>树结构变化也通过延迟删除、追加更新的方式实现</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135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stretch>
            <a:fillRect/>
          </a:stretch>
        </p:blipFill>
        <p:spPr>
          <a:xfrm>
            <a:off x="2012406" y="2991707"/>
            <a:ext cx="5119187" cy="2064056"/>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形状 39"/>
          <p:cNvSpPr/>
          <p:nvPr/>
        </p:nvSpPr>
        <p:spPr bwMode="auto">
          <a:xfrm>
            <a:off x="534169" y="1747054"/>
            <a:ext cx="8075663" cy="3664149"/>
          </a:xfrm>
          <a:custGeom>
            <a:avLst/>
            <a:gdLst>
              <a:gd name="connsiteX0" fmla="*/ 0 w 6810034"/>
              <a:gd name="connsiteY0" fmla="*/ 0 h 678471"/>
              <a:gd name="connsiteX1" fmla="*/ 6810034 w 6810034"/>
              <a:gd name="connsiteY1" fmla="*/ 0 h 678471"/>
              <a:gd name="connsiteX2" fmla="*/ 6810034 w 6810034"/>
              <a:gd name="connsiteY2" fmla="*/ 678471 h 678471"/>
              <a:gd name="connsiteX3" fmla="*/ 0 w 6810034"/>
              <a:gd name="connsiteY3" fmla="*/ 678471 h 678471"/>
              <a:gd name="connsiteX4" fmla="*/ 0 w 6810034"/>
              <a:gd name="connsiteY4" fmla="*/ 0 h 67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0034" h="678471">
                <a:moveTo>
                  <a:pt x="0" y="0"/>
                </a:moveTo>
                <a:lnTo>
                  <a:pt x="6810034" y="0"/>
                </a:lnTo>
                <a:lnTo>
                  <a:pt x="6810034" y="678471"/>
                </a:lnTo>
                <a:lnTo>
                  <a:pt x="0" y="678471"/>
                </a:lnTo>
                <a:lnTo>
                  <a:pt x="0" y="0"/>
                </a:lnTo>
                <a:close/>
              </a:path>
            </a:pathLst>
          </a:custGeom>
          <a:gradFill>
            <a:gsLst>
              <a:gs pos="0">
                <a:srgbClr val="6F1787">
                  <a:alpha val="20000"/>
                </a:srgbClr>
              </a:gs>
              <a:gs pos="100000">
                <a:srgbClr val="6F1787">
                  <a:alpha val="20000"/>
                </a:srgbClr>
              </a:gs>
              <a:gs pos="48000">
                <a:schemeClr val="bg1">
                  <a:alpha val="0"/>
                </a:schemeClr>
              </a:gs>
            </a:gsLst>
            <a:lin ang="13500000" scaled="0"/>
          </a:gradFill>
          <a:ln w="38100" cap="flat" cmpd="sng" algn="ctr">
            <a:noFill/>
            <a:prstDash val="solid"/>
            <a:round/>
            <a:headEnd type="none" w="med" len="med"/>
            <a:tailEnd type="none" w="med" len="med"/>
          </a:ln>
          <a:effectLst/>
        </p:spPr>
        <p:txBody>
          <a:bodyPr rot="0" spcFirstLastPara="0" vertOverflow="overflow" horzOverflow="overflow" vert="horz" wrap="square" lIns="68580" tIns="34290" rIns="68580" bIns="34290" numCol="1" spcCol="0" rtlCol="0" fromWordArt="0" anchor="t" anchorCtr="0" forceAA="0" compatLnSpc="1">
            <a:noAutofit/>
          </a:bodyPr>
          <a:lstStyle/>
          <a:p>
            <a:pPr algn="ctr" defTabSz="685800">
              <a:spcBef>
                <a:spcPct val="50000"/>
              </a:spcBef>
            </a:pPr>
            <a:endParaRPr kumimoji="1" lang="zh-CN" altLang="en-US" sz="2400" dirty="0">
              <a:solidFill>
                <a:srgbClr val="000000"/>
              </a:solidFill>
              <a:latin typeface="Times New Roman" panose="02020603050405020304" pitchFamily="18" charset="0"/>
              <a:ea typeface="华文楷体" panose="02010600040101010101" pitchFamily="2" charset="-122"/>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119</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2</a:t>
            </a:r>
            <a:r>
              <a:rPr lang="zh-CN" altLang="en-US" sz="2800" dirty="0">
                <a:solidFill>
                  <a:srgbClr val="FF0000"/>
                </a:solidFill>
                <a:latin typeface="微软雅黑" panose="020B0503020204020204" pitchFamily="82" charset="2"/>
                <a:ea typeface="微软雅黑" panose="020B0503020204020204" pitchFamily="82" charset="2"/>
              </a:rPr>
              <a:t>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树索引删除与更新</a:t>
            </a:r>
          </a:p>
        </p:txBody>
      </p:sp>
      <p:sp>
        <p:nvSpPr>
          <p:cNvPr id="4" name="内容占位符 3"/>
          <p:cNvSpPr>
            <a:spLocks noGrp="1"/>
          </p:cNvSpPr>
          <p:nvPr>
            <p:ph idx="1"/>
          </p:nvPr>
        </p:nvSpPr>
        <p:spPr>
          <a:xfrm>
            <a:off x="1389465" y="2130624"/>
            <a:ext cx="5936494" cy="2849495"/>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在</a:t>
            </a:r>
            <a:r>
              <a:rPr lang="en-US" altLang="zh-CN" sz="1800" b="1" dirty="0">
                <a:solidFill>
                  <a:srgbClr val="701988"/>
                </a:solidFill>
                <a:latin typeface="微软雅黑" panose="020B0503020204020204" pitchFamily="82" charset="2"/>
                <a:ea typeface="微软雅黑" panose="020B0503020204020204" pitchFamily="82" charset="2"/>
              </a:rPr>
              <a:t>C0</a:t>
            </a:r>
            <a:r>
              <a:rPr lang="zh-CN" altLang="en-US" sz="1800" b="1" dirty="0">
                <a:solidFill>
                  <a:srgbClr val="701988"/>
                </a:solidFill>
                <a:latin typeface="微软雅黑" panose="020B0503020204020204" pitchFamily="82" charset="2"/>
                <a:ea typeface="微软雅黑" panose="020B0503020204020204" pitchFamily="82" charset="2"/>
              </a:rPr>
              <a:t>中查找删除的条目</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若待删除条目存在，则直接从</a:t>
            </a:r>
            <a:r>
              <a:rPr lang="en-US" altLang="zh-CN" sz="1800" b="1" dirty="0">
                <a:solidFill>
                  <a:srgbClr val="701988"/>
                </a:solidFill>
                <a:latin typeface="微软雅黑" panose="020B0503020204020204" pitchFamily="82" charset="2"/>
                <a:ea typeface="微软雅黑" panose="020B0503020204020204" pitchFamily="82" charset="2"/>
              </a:rPr>
              <a:t>C0</a:t>
            </a:r>
            <a:r>
              <a:rPr lang="zh-CN" altLang="en-US" sz="1800" b="1" dirty="0">
                <a:solidFill>
                  <a:srgbClr val="701988"/>
                </a:solidFill>
                <a:latin typeface="微软雅黑" panose="020B0503020204020204" pitchFamily="82" charset="2"/>
                <a:ea typeface="微软雅黑" panose="020B0503020204020204" pitchFamily="82" charset="2"/>
              </a:rPr>
              <a:t>中删除</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否则在</a:t>
            </a:r>
            <a:r>
              <a:rPr lang="en-US" altLang="zh-CN" sz="1800" b="1" dirty="0">
                <a:solidFill>
                  <a:srgbClr val="701988"/>
                </a:solidFill>
                <a:latin typeface="微软雅黑" panose="020B0503020204020204" pitchFamily="82" charset="2"/>
                <a:ea typeface="微软雅黑" panose="020B0503020204020204" pitchFamily="82" charset="2"/>
              </a:rPr>
              <a:t>C0</a:t>
            </a:r>
            <a:r>
              <a:rPr lang="zh-CN" altLang="en-US" sz="1800" b="1" dirty="0">
                <a:solidFill>
                  <a:srgbClr val="701988"/>
                </a:solidFill>
                <a:latin typeface="微软雅黑" panose="020B0503020204020204" pitchFamily="82" charset="2"/>
                <a:ea typeface="微软雅黑" panose="020B0503020204020204" pitchFamily="82" charset="2"/>
              </a:rPr>
              <a:t>中插入删除条目</a:t>
            </a:r>
            <a:endParaRPr lang="en-US" altLang="zh-CN" sz="1800" b="1" dirty="0">
              <a:solidFill>
                <a:srgbClr val="701988"/>
              </a:solidFill>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合并入</a:t>
            </a:r>
            <a:r>
              <a:rPr lang="en-US" altLang="zh-CN" sz="1500" dirty="0">
                <a:latin typeface="微软雅黑" panose="020B0503020204020204" pitchFamily="82" charset="2"/>
                <a:ea typeface="微软雅黑" panose="020B0503020204020204" pitchFamily="82" charset="2"/>
              </a:rPr>
              <a:t>C</a:t>
            </a:r>
            <a:r>
              <a:rPr lang="en-US" altLang="zh-CN" sz="1500" baseline="-25000" dirty="0">
                <a:latin typeface="微软雅黑" panose="020B0503020204020204" pitchFamily="82" charset="2"/>
                <a:ea typeface="微软雅黑" panose="020B0503020204020204" pitchFamily="82" charset="2"/>
              </a:rPr>
              <a:t>1</a:t>
            </a:r>
            <a:r>
              <a:rPr lang="zh-CN" altLang="en-US" sz="1500" dirty="0">
                <a:latin typeface="微软雅黑" panose="020B0503020204020204" pitchFamily="82" charset="2"/>
                <a:ea typeface="微软雅黑" panose="020B0503020204020204" pitchFamily="82" charset="2"/>
              </a:rPr>
              <a:t>时进行删除</a:t>
            </a:r>
            <a:endParaRPr kumimoji="1" lang="en-US" altLang="zh-CN"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索引更新</a:t>
            </a:r>
            <a:endParaRPr lang="en-US" altLang="zh-CN" sz="1800" b="1" dirty="0">
              <a:solidFill>
                <a:srgbClr val="701988"/>
              </a:solidFill>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视作删除旧条目，插入新条目</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120</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410967"/>
            <a:ext cx="7568173" cy="678470"/>
          </a:xfrm>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2</a:t>
            </a:r>
            <a:r>
              <a:rPr lang="zh-CN" altLang="en-US" sz="2800" dirty="0">
                <a:solidFill>
                  <a:srgbClr val="FF0000"/>
                </a:solidFill>
                <a:latin typeface="微软雅黑" panose="020B0503020204020204" pitchFamily="82" charset="2"/>
                <a:ea typeface="微软雅黑" panose="020B0503020204020204" pitchFamily="82" charset="2"/>
              </a:rPr>
              <a:t>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树分析</a:t>
            </a:r>
          </a:p>
        </p:txBody>
      </p:sp>
      <mc:AlternateContent xmlns:mc="http://schemas.openxmlformats.org/markup-compatibility/2006" xmlns:a14="http://schemas.microsoft.com/office/drawing/2010/main">
        <mc:Choice Requires="a14">
          <p:sp>
            <p:nvSpPr>
              <p:cNvPr id="4" name="内容占位符 3"/>
              <p:cNvSpPr>
                <a:spLocks noGrp="1"/>
              </p:cNvSpPr>
              <p:nvPr>
                <p:ph idx="1"/>
              </p:nvPr>
            </p:nvSpPr>
            <p:spPr>
              <a:xfrm>
                <a:off x="98515" y="1856530"/>
                <a:ext cx="5326573" cy="4067174"/>
              </a:xfrm>
            </p:spPr>
            <p:txBody>
              <a:bodyPr/>
              <a:lstStyle/>
              <a:p>
                <a:pPr>
                  <a:lnSpc>
                    <a:spcPct val="150000"/>
                  </a:lnSpc>
                  <a:spcBef>
                    <a:spcPts val="0"/>
                  </a:spcBef>
                  <a:buFont typeface="Wingdings" panose="05000000000000000000" pitchFamily="2" charset="2"/>
                  <a:buChar char="Ø"/>
                </a:pPr>
                <a:r>
                  <a:rPr lang="zh-CN" altLang="en-US" sz="1500" dirty="0">
                    <a:latin typeface="微软雅黑" panose="020B0503020204020204" pitchFamily="82" charset="2"/>
                    <a:ea typeface="微软雅黑" panose="020B0503020204020204" pitchFamily="82" charset="2"/>
                  </a:rPr>
                  <a:t>合并时，</a:t>
                </a:r>
                <a:r>
                  <a:rPr lang="en-US" altLang="zh-CN" sz="1500" dirty="0">
                    <a:latin typeface="微软雅黑" panose="020B0503020204020204" pitchFamily="82" charset="2"/>
                    <a:ea typeface="微软雅黑" panose="020B0503020204020204" pitchFamily="82" charset="2"/>
                  </a:rPr>
                  <a:t>C1</a:t>
                </a:r>
                <a:r>
                  <a:rPr lang="zh-CN" altLang="en-US" sz="1500" dirty="0">
                    <a:latin typeface="微软雅黑" panose="020B0503020204020204" pitchFamily="82" charset="2"/>
                    <a:ea typeface="微软雅黑" panose="020B0503020204020204" pitchFamily="82" charset="2"/>
                  </a:rPr>
                  <a:t>的每个叶子节点平均插入多少个</a:t>
                </a:r>
                <a:r>
                  <a:rPr lang="en-US" altLang="zh-CN" sz="1500" dirty="0">
                    <a:latin typeface="微软雅黑" panose="020B0503020204020204" pitchFamily="82" charset="2"/>
                    <a:ea typeface="微软雅黑" panose="020B0503020204020204" pitchFamily="82" charset="2"/>
                  </a:rPr>
                  <a:t>C0</a:t>
                </a:r>
                <a:r>
                  <a:rPr lang="zh-CN" altLang="en-US" sz="1500" dirty="0">
                    <a:latin typeface="微软雅黑" panose="020B0503020204020204" pitchFamily="82" charset="2"/>
                    <a:ea typeface="微软雅黑" panose="020B0503020204020204" pitchFamily="82" charset="2"/>
                  </a:rPr>
                  <a:t>索引条目？</a:t>
                </a:r>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500" dirty="0">
                    <a:latin typeface="微软雅黑" panose="020B0503020204020204" pitchFamily="82" charset="2"/>
                    <a:ea typeface="微软雅黑" panose="020B0503020204020204" pitchFamily="82" charset="2"/>
                  </a:rPr>
                  <a:t>用滚动合并参数</a:t>
                </a:r>
                <a:r>
                  <a:rPr lang="en-US" altLang="zh-CN" sz="1500" dirty="0">
                    <a:latin typeface="微软雅黑" panose="020B0503020204020204" pitchFamily="82" charset="2"/>
                    <a:ea typeface="微软雅黑" panose="020B0503020204020204" pitchFamily="82" charset="2"/>
                  </a:rPr>
                  <a:t>M</a:t>
                </a:r>
                <a:r>
                  <a:rPr lang="zh-CN" altLang="en-US" sz="1500" dirty="0">
                    <a:latin typeface="微软雅黑" panose="020B0503020204020204" pitchFamily="82" charset="2"/>
                    <a:ea typeface="微软雅黑" panose="020B0503020204020204" pitchFamily="82" charset="2"/>
                  </a:rPr>
                  <a:t>表示</a:t>
                </a:r>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14:m>
                  <m:oMath xmlns:m="http://schemas.openxmlformats.org/officeDocument/2006/math">
                    <m:f>
                      <m:fPr>
                        <m:ctrlPr>
                          <a:rPr lang="en-US" altLang="zh-CN" sz="1500" i="1">
                            <a:latin typeface="Cambria Math" panose="02040503050406030204" pitchFamily="18" charset="0"/>
                            <a:ea typeface="微软雅黑" panose="020B0503020204020204" pitchFamily="82" charset="2"/>
                          </a:rPr>
                        </m:ctrlPr>
                      </m:fPr>
                      <m:num>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m:rPr>
                                <m:sty m:val="p"/>
                              </m:rPr>
                              <a:rPr lang="en-US" altLang="zh-CN" sz="1500" i="1">
                                <a:latin typeface="Cambria Math" panose="02040503050406030204" pitchFamily="18" charset="0"/>
                                <a:ea typeface="微软雅黑" panose="020B0503020204020204" pitchFamily="82" charset="2"/>
                              </a:rPr>
                              <m:t>p</m:t>
                            </m:r>
                          </m:sub>
                        </m:sSub>
                      </m:num>
                      <m:den>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m:rPr>
                                <m:sty m:val="p"/>
                              </m:rPr>
                              <a:rPr lang="en-US" altLang="zh-CN" sz="1500" i="1">
                                <a:latin typeface="Cambria Math" panose="02040503050406030204" pitchFamily="18" charset="0"/>
                                <a:ea typeface="微软雅黑" panose="020B0503020204020204" pitchFamily="82" charset="2"/>
                              </a:rPr>
                              <m:t>e</m:t>
                            </m:r>
                          </m:sub>
                        </m:sSub>
                      </m:den>
                    </m:f>
                  </m:oMath>
                </a14:m>
                <a:r>
                  <a:rPr lang="zh-CN" altLang="en-US" sz="1500" dirty="0">
                    <a:latin typeface="微软雅黑" panose="020B0503020204020204" pitchFamily="82" charset="2"/>
                    <a:ea typeface="微软雅黑" panose="020B0503020204020204" pitchFamily="82" charset="2"/>
                  </a:rPr>
                  <a:t>为每个页面中索引项数目</a:t>
                </a:r>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14:m>
                  <m:oMath xmlns:m="http://schemas.openxmlformats.org/officeDocument/2006/math">
                    <m:f>
                      <m:fPr>
                        <m:ctrlPr>
                          <a:rPr lang="en-US" altLang="zh-CN" sz="1500" i="1">
                            <a:latin typeface="Cambria Math" panose="02040503050406030204" pitchFamily="18" charset="0"/>
                            <a:ea typeface="微软雅黑" panose="020B0503020204020204" pitchFamily="82" charset="2"/>
                          </a:rPr>
                        </m:ctrlPr>
                      </m:fPr>
                      <m:num>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0</m:t>
                            </m:r>
                          </m:sub>
                        </m:sSub>
                      </m:num>
                      <m:den>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0</m:t>
                            </m:r>
                          </m:sub>
                        </m:sSub>
                        <m:r>
                          <a:rPr lang="en-US" altLang="zh-CN" sz="1500">
                            <a:latin typeface="Cambria Math" panose="02040503050406030204" pitchFamily="18" charset="0"/>
                            <a:ea typeface="微软雅黑" panose="020B0503020204020204" pitchFamily="82" charset="2"/>
                          </a:rPr>
                          <m:t>+</m:t>
                        </m:r>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1</m:t>
                            </m:r>
                          </m:sub>
                        </m:sSub>
                      </m:den>
                    </m:f>
                  </m:oMath>
                </a14:m>
                <a:r>
                  <a:rPr lang="zh-CN" altLang="en-US" sz="1500" dirty="0">
                    <a:latin typeface="微软雅黑" panose="020B0503020204020204" pitchFamily="82" charset="2"/>
                    <a:ea typeface="微软雅黑" panose="020B0503020204020204" pitchFamily="82" charset="2"/>
                  </a:rPr>
                  <a:t>为</a:t>
                </a:r>
                <a:r>
                  <a:rPr lang="en-US" altLang="zh-CN" sz="1500" dirty="0">
                    <a:latin typeface="微软雅黑" panose="020B0503020204020204" pitchFamily="82" charset="2"/>
                    <a:ea typeface="微软雅黑" panose="020B0503020204020204" pitchFamily="82" charset="2"/>
                  </a:rPr>
                  <a:t>C0</a:t>
                </a:r>
                <a:r>
                  <a:rPr lang="zh-CN" altLang="en-US" sz="1500" dirty="0">
                    <a:latin typeface="微软雅黑" panose="020B0503020204020204" pitchFamily="82" charset="2"/>
                    <a:ea typeface="微软雅黑" panose="020B0503020204020204" pitchFamily="82" charset="2"/>
                  </a:rPr>
                  <a:t>索引占总索引的比例</a:t>
                </a:r>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14:m>
                  <m:oMath xmlns:m="http://schemas.openxmlformats.org/officeDocument/2006/math">
                    <m:r>
                      <m:rPr>
                        <m:sty m:val="p"/>
                      </m:rPr>
                      <a:rPr lang="en-US" altLang="zh-CN" sz="1500" i="1" dirty="0">
                        <a:latin typeface="Cambria Math" panose="02040503050406030204" pitchFamily="18" charset="0"/>
                        <a:ea typeface="微软雅黑" panose="020B0503020204020204" pitchFamily="82" charset="2"/>
                      </a:rPr>
                      <m:t>M</m:t>
                    </m:r>
                    <m:r>
                      <a:rPr lang="en-US" altLang="zh-CN" sz="1500">
                        <a:latin typeface="Cambria Math" panose="02040503050406030204" pitchFamily="18" charset="0"/>
                        <a:ea typeface="微软雅黑" panose="020B0503020204020204" pitchFamily="82" charset="2"/>
                      </a:rPr>
                      <m:t>=</m:t>
                    </m:r>
                    <m:f>
                      <m:fPr>
                        <m:ctrlPr>
                          <a:rPr lang="en-US" altLang="zh-CN" sz="1500" i="1">
                            <a:latin typeface="Cambria Math" panose="02040503050406030204" pitchFamily="18" charset="0"/>
                            <a:ea typeface="微软雅黑" panose="020B0503020204020204" pitchFamily="82" charset="2"/>
                          </a:rPr>
                        </m:ctrlPr>
                      </m:fPr>
                      <m:num>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m:rPr>
                                <m:sty m:val="p"/>
                              </m:rPr>
                              <a:rPr lang="en-US" altLang="zh-CN" sz="1500" i="1">
                                <a:latin typeface="Cambria Math" panose="02040503050406030204" pitchFamily="18" charset="0"/>
                                <a:ea typeface="微软雅黑" panose="020B0503020204020204" pitchFamily="82" charset="2"/>
                              </a:rPr>
                              <m:t>p</m:t>
                            </m:r>
                          </m:sub>
                        </m:sSub>
                      </m:num>
                      <m:den>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m:rPr>
                                <m:sty m:val="p"/>
                              </m:rPr>
                              <a:rPr lang="en-US" altLang="zh-CN" sz="1500" i="1">
                                <a:latin typeface="Cambria Math" panose="02040503050406030204" pitchFamily="18" charset="0"/>
                                <a:ea typeface="微软雅黑" panose="020B0503020204020204" pitchFamily="82" charset="2"/>
                              </a:rPr>
                              <m:t>e</m:t>
                            </m:r>
                          </m:sub>
                        </m:sSub>
                      </m:den>
                    </m:f>
                    <m:f>
                      <m:fPr>
                        <m:ctrlPr>
                          <a:rPr lang="en-US" altLang="zh-CN" sz="1500" i="1">
                            <a:latin typeface="Cambria Math" panose="02040503050406030204" pitchFamily="18" charset="0"/>
                            <a:ea typeface="微软雅黑" panose="020B0503020204020204" pitchFamily="82" charset="2"/>
                          </a:rPr>
                        </m:ctrlPr>
                      </m:fPr>
                      <m:num>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0</m:t>
                            </m:r>
                          </m:sub>
                        </m:sSub>
                      </m:num>
                      <m:den>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0</m:t>
                            </m:r>
                          </m:sub>
                        </m:sSub>
                        <m:r>
                          <a:rPr lang="en-US" altLang="zh-CN" sz="1500">
                            <a:latin typeface="Cambria Math" panose="02040503050406030204" pitchFamily="18" charset="0"/>
                            <a:ea typeface="微软雅黑" panose="020B0503020204020204" pitchFamily="82" charset="2"/>
                          </a:rPr>
                          <m:t>+</m:t>
                        </m:r>
                        <m:sSub>
                          <m:sSubPr>
                            <m:ctrlPr>
                              <a:rPr lang="en-US"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1</m:t>
                            </m:r>
                          </m:sub>
                        </m:sSub>
                      </m:den>
                    </m:f>
                  </m:oMath>
                </a14:m>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14:m>
                  <m:oMath xmlns:m="http://schemas.openxmlformats.org/officeDocument/2006/math">
                    <m:r>
                      <m:rPr>
                        <m:sty m:val="p"/>
                      </m:rPr>
                      <a:rPr lang="en-US" altLang="zh-CN" sz="1500" i="1" dirty="0">
                        <a:latin typeface="Cambria Math" panose="02040503050406030204" pitchFamily="18" charset="0"/>
                        <a:ea typeface="微软雅黑" panose="020B0503020204020204" pitchFamily="82" charset="2"/>
                      </a:rPr>
                      <m:t>M</m:t>
                    </m:r>
                  </m:oMath>
                </a14:m>
                <a:r>
                  <a:rPr lang="zh-CN" altLang="en-US" sz="1500" dirty="0">
                    <a:latin typeface="微软雅黑" panose="020B0503020204020204" pitchFamily="82" charset="2"/>
                    <a:ea typeface="微软雅黑" panose="020B0503020204020204" pitchFamily="82" charset="2"/>
                  </a:rPr>
                  <a:t>越小，合并相同数量</a:t>
                </a:r>
                <a:r>
                  <a:rPr lang="en-US" altLang="zh-CN" sz="1500" dirty="0">
                    <a:latin typeface="微软雅黑" panose="020B0503020204020204" pitchFamily="82" charset="2"/>
                    <a:ea typeface="微软雅黑" panose="020B0503020204020204" pitchFamily="82" charset="2"/>
                  </a:rPr>
                  <a:t>C0</a:t>
                </a:r>
                <a:r>
                  <a:rPr lang="zh-CN" altLang="en-US" sz="1500" dirty="0">
                    <a:latin typeface="微软雅黑" panose="020B0503020204020204" pitchFamily="82" charset="2"/>
                    <a:ea typeface="微软雅黑" panose="020B0503020204020204" pitchFamily="82" charset="2"/>
                  </a:rPr>
                  <a:t>条目需要扫描的</a:t>
                </a:r>
                <a:r>
                  <a:rPr lang="en-US" altLang="zh-CN" sz="1500" dirty="0">
                    <a:latin typeface="微软雅黑" panose="020B0503020204020204" pitchFamily="82" charset="2"/>
                    <a:ea typeface="微软雅黑" panose="020B0503020204020204" pitchFamily="82" charset="2"/>
                  </a:rPr>
                  <a:t>C1</a:t>
                </a:r>
                <a:r>
                  <a:rPr lang="zh-CN" altLang="en-US" sz="1500" dirty="0">
                    <a:latin typeface="微软雅黑" panose="020B0503020204020204" pitchFamily="82" charset="2"/>
                    <a:ea typeface="微软雅黑" panose="020B0503020204020204" pitchFamily="82" charset="2"/>
                  </a:rPr>
                  <a:t>页面越多（性能降低）</a:t>
                </a:r>
                <a:endParaRPr lang="en-US" altLang="zh-CN" sz="1500" dirty="0">
                  <a:latin typeface="微软雅黑" panose="020B0503020204020204" pitchFamily="82" charset="2"/>
                  <a:ea typeface="微软雅黑" panose="020B0503020204020204" pitchFamily="82" charset="2"/>
                </a:endParaRPr>
              </a:p>
              <a:p>
                <a:pPr>
                  <a:lnSpc>
                    <a:spcPct val="150000"/>
                  </a:lnSpc>
                  <a:spcBef>
                    <a:spcPts val="0"/>
                  </a:spcBef>
                  <a:buFont typeface="Wingdings" panose="05000000000000000000" pitchFamily="2" charset="2"/>
                  <a:buChar char="Ø"/>
                </a:pPr>
                <a:r>
                  <a:rPr lang="zh-CN" altLang="en-US" sz="1500" dirty="0">
                    <a:latin typeface="微软雅黑" panose="020B0503020204020204" pitchFamily="82" charset="2"/>
                    <a:ea typeface="微软雅黑" panose="020B0503020204020204" pitchFamily="82" charset="2"/>
                  </a:rPr>
                  <a:t>随着数据插入，</a:t>
                </a:r>
                <a14:m>
                  <m:oMath xmlns:m="http://schemas.openxmlformats.org/officeDocument/2006/math">
                    <m:sSub>
                      <m:sSubPr>
                        <m:ctrlPr>
                          <a:rPr lang="zh-CN" altLang="zh-CN" sz="1500" i="1">
                            <a:latin typeface="Cambria Math" panose="02040503050406030204" pitchFamily="18" charset="0"/>
                            <a:ea typeface="微软雅黑" panose="020B0503020204020204" pitchFamily="82" charset="2"/>
                          </a:rPr>
                        </m:ctrlPr>
                      </m:sSubPr>
                      <m:e>
                        <m:r>
                          <m:rPr>
                            <m:sty m:val="p"/>
                          </m:rPr>
                          <a:rPr lang="en-US" altLang="zh-CN" sz="1500" i="1">
                            <a:latin typeface="Cambria Math" panose="02040503050406030204" pitchFamily="18" charset="0"/>
                            <a:ea typeface="微软雅黑" panose="020B0503020204020204" pitchFamily="82" charset="2"/>
                          </a:rPr>
                          <m:t>S</m:t>
                        </m:r>
                      </m:e>
                      <m:sub>
                        <m:r>
                          <a:rPr lang="en-US" altLang="zh-CN" sz="1500" i="1">
                            <a:latin typeface="Cambria Math" panose="02040503050406030204" pitchFamily="18" charset="0"/>
                            <a:ea typeface="微软雅黑" panose="020B0503020204020204" pitchFamily="82" charset="2"/>
                          </a:rPr>
                          <m:t>1</m:t>
                        </m:r>
                      </m:sub>
                    </m:sSub>
                  </m:oMath>
                </a14:m>
                <a:r>
                  <a:rPr lang="zh-CN" altLang="en-US" sz="1500" dirty="0">
                    <a:latin typeface="微软雅黑" panose="020B0503020204020204" pitchFamily="82" charset="2"/>
                    <a:ea typeface="微软雅黑" panose="020B0503020204020204" pitchFamily="82" charset="2"/>
                  </a:rPr>
                  <a:t>增大，</a:t>
                </a:r>
                <a:r>
                  <a:rPr lang="en-US" altLang="zh-CN" sz="1500" dirty="0">
                    <a:latin typeface="微软雅黑" panose="020B0503020204020204" pitchFamily="82" charset="2"/>
                    <a:ea typeface="微软雅黑" panose="020B0503020204020204" pitchFamily="82" charset="2"/>
                  </a:rPr>
                  <a:t>2</a:t>
                </a:r>
                <a:r>
                  <a:rPr lang="zh-CN" altLang="en-US" sz="1500" dirty="0">
                    <a:latin typeface="微软雅黑" panose="020B0503020204020204" pitchFamily="82" charset="2"/>
                    <a:ea typeface="微软雅黑" panose="020B0503020204020204" pitchFamily="82" charset="2"/>
                  </a:rPr>
                  <a:t>阶</a:t>
                </a:r>
                <a:r>
                  <a:rPr lang="en-US" altLang="zh-CN" sz="1500" dirty="0">
                    <a:latin typeface="微软雅黑" panose="020B0503020204020204" pitchFamily="82" charset="2"/>
                    <a:ea typeface="微软雅黑" panose="020B0503020204020204" pitchFamily="82" charset="2"/>
                  </a:rPr>
                  <a:t>LSM</a:t>
                </a:r>
                <a:r>
                  <a:rPr lang="zh-CN" altLang="en-US" sz="1500" dirty="0">
                    <a:latin typeface="微软雅黑" panose="020B0503020204020204" pitchFamily="82" charset="2"/>
                    <a:ea typeface="微软雅黑" panose="020B0503020204020204" pitchFamily="82" charset="2"/>
                  </a:rPr>
                  <a:t>树性能将显著下降</a:t>
                </a:r>
                <a:endParaRPr lang="en-US" altLang="zh-CN" sz="1500" dirty="0">
                  <a:latin typeface="微软雅黑" panose="020B0503020204020204" pitchFamily="82" charset="2"/>
                  <a:ea typeface="微软雅黑" panose="020B0503020204020204" pitchFamily="82" charset="2"/>
                </a:endParaRPr>
              </a:p>
            </p:txBody>
          </p:sp>
        </mc:Choice>
        <mc:Fallback xmlns="">
          <p:sp>
            <p:nvSpPr>
              <p:cNvPr id="4" name="内容占位符 3"/>
              <p:cNvSpPr>
                <a:spLocks noRot="1" noChangeAspect="1" noMove="1" noResize="1" noEditPoints="1" noAdjustHandles="1" noChangeArrowheads="1" noChangeShapeType="1" noTextEdit="1"/>
              </p:cNvSpPr>
              <p:nvPr>
                <p:ph idx="1"/>
              </p:nvPr>
            </p:nvSpPr>
            <p:spPr>
              <a:xfrm>
                <a:off x="98515" y="1856530"/>
                <a:ext cx="5326573" cy="4067174"/>
              </a:xfrm>
              <a:blipFill rotWithShape="1">
                <a:blip r:embed="rId2"/>
                <a:stretch>
                  <a:fillRect l="-2" t="-10" r="5" b="10"/>
                </a:stretch>
              </a:blipFill>
            </p:spPr>
            <p:txBody>
              <a:bodyPr/>
              <a:lstStyle/>
              <a:p>
                <a:r>
                  <a:rPr lang="zh-CN" altLang="en-US">
                    <a:noFill/>
                  </a:rPr>
                  <a:t> </a:t>
                </a:r>
              </a:p>
            </p:txBody>
          </p:sp>
        </mc:Fallback>
      </mc:AlternateContent>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mc:AlternateContent xmlns:mc="http://schemas.openxmlformats.org/markup-compatibility/2006" xmlns:a14="http://schemas.microsoft.com/office/drawing/2010/main">
        <mc:Choice Requires="a14">
          <p:graphicFrame>
            <p:nvGraphicFramePr>
              <p:cNvPr id="7" name="表格 7"/>
              <p:cNvGraphicFramePr>
                <a:graphicFrameLocks noGrp="1"/>
              </p:cNvGraphicFramePr>
              <p:nvPr/>
            </p:nvGraphicFramePr>
            <p:xfrm>
              <a:off x="5482546" y="2561153"/>
              <a:ext cx="3482872" cy="1735709"/>
            </p:xfrm>
            <a:graphic>
              <a:graphicData uri="http://schemas.openxmlformats.org/drawingml/2006/table">
                <a:tbl>
                  <a:tblPr firstRow="1" bandRow="1">
                    <a:tableStyleId>{21E4AEA4-8DFA-4A89-87EB-49C32662AFE0}</a:tableStyleId>
                  </a:tblPr>
                  <a:tblGrid>
                    <a:gridCol w="746570">
                      <a:extLst>
                        <a:ext uri="{9D8B030D-6E8A-4147-A177-3AD203B41FA5}">
                          <a16:colId xmlns:a16="http://schemas.microsoft.com/office/drawing/2014/main" val="20000"/>
                        </a:ext>
                      </a:extLst>
                    </a:gridCol>
                    <a:gridCol w="2736302">
                      <a:extLst>
                        <a:ext uri="{9D8B030D-6E8A-4147-A177-3AD203B41FA5}">
                          <a16:colId xmlns:a16="http://schemas.microsoft.com/office/drawing/2014/main" val="20001"/>
                        </a:ext>
                      </a:extLst>
                    </a:gridCol>
                  </a:tblGrid>
                  <a:tr h="342900">
                    <a:tc>
                      <a:txBody>
                        <a:bodyPr/>
                        <a:lstStyle/>
                        <a:p>
                          <a:pPr algn="ctr"/>
                          <a:r>
                            <a:rPr lang="zh-CN" altLang="en-US" sz="1800" dirty="0">
                              <a:latin typeface="微软雅黑" panose="020B0503020204020204" pitchFamily="82" charset="2"/>
                              <a:ea typeface="微软雅黑" panose="020B0503020204020204" pitchFamily="82" charset="2"/>
                            </a:rPr>
                            <a:t>符号</a:t>
                          </a: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algn="ctr"/>
                          <a:r>
                            <a:rPr lang="zh-CN" altLang="en-US" sz="1800" dirty="0">
                              <a:latin typeface="微软雅黑" panose="020B0503020204020204" pitchFamily="82" charset="2"/>
                              <a:ea typeface="微软雅黑" panose="020B0503020204020204" pitchFamily="82" charset="2"/>
                            </a:rPr>
                            <a:t>含义</a:t>
                          </a: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extLst>
                      <a:ext uri="{0D108BD9-81ED-4DB2-BD59-A6C34878D82A}">
                        <a16:rowId xmlns:a16="http://schemas.microsoft.com/office/drawing/2014/main" val="10000"/>
                      </a:ext>
                    </a:extLst>
                  </a:tr>
                  <a:tr h="342900">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smtClean="0">
                                        <a:effectLst/>
                                        <a:latin typeface="Cambria Math" panose="02040503050406030204" pitchFamily="18" charset="0"/>
                                      </a:rPr>
                                    </m:ctrlPr>
                                  </m:sSubPr>
                                  <m:e>
                                    <m:r>
                                      <a:rPr lang="en-US" altLang="zh-CN" sz="1800" kern="100">
                                        <a:effectLst/>
                                        <a:latin typeface="Cambria Math" panose="02040503050406030204" pitchFamily="18" charset="0"/>
                                      </a:rPr>
                                      <m:t>𝑆</m:t>
                                    </m:r>
                                  </m:e>
                                  <m:sub>
                                    <m:r>
                                      <a:rPr lang="en-US" altLang="zh-CN" sz="1800" kern="100">
                                        <a:effectLst/>
                                        <a:latin typeface="Cambria Math" panose="02040503050406030204" pitchFamily="18" charset="0"/>
                                      </a:rPr>
                                      <m:t>𝑒</m:t>
                                    </m:r>
                                  </m:sub>
                                </m:sSub>
                              </m:oMath>
                            </m:oMathPara>
                          </a14:m>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zh-CN" altLang="zh-CN" sz="1800" kern="100" dirty="0">
                              <a:effectLst/>
                              <a:latin typeface="微软雅黑" panose="020B0503020204020204" pitchFamily="82" charset="2"/>
                              <a:ea typeface="微软雅黑" panose="020B0503020204020204" pitchFamily="82" charset="2"/>
                            </a:rPr>
                            <a:t>单个索引项的大小</a:t>
                          </a:r>
                          <a:endPar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364094">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smtClean="0">
                                        <a:effectLst/>
                                        <a:latin typeface="Cambria Math" panose="02040503050406030204" pitchFamily="18" charset="0"/>
                                      </a:rPr>
                                    </m:ctrlPr>
                                  </m:sSubPr>
                                  <m:e>
                                    <m:r>
                                      <a:rPr lang="en-US" altLang="zh-CN" sz="1800" kern="100">
                                        <a:effectLst/>
                                        <a:latin typeface="Cambria Math" panose="02040503050406030204" pitchFamily="18" charset="0"/>
                                      </a:rPr>
                                      <m:t>𝑆</m:t>
                                    </m:r>
                                  </m:e>
                                  <m:sub>
                                    <m:r>
                                      <a:rPr lang="en-US" altLang="zh-CN" sz="1800" kern="100">
                                        <a:effectLst/>
                                        <a:latin typeface="Cambria Math" panose="02040503050406030204" pitchFamily="18" charset="0"/>
                                      </a:rPr>
                                      <m:t>𝑝</m:t>
                                    </m:r>
                                  </m:sub>
                                </m:sSub>
                              </m:oMath>
                            </m:oMathPara>
                          </a14:m>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r>
                            <a:rPr lang="zh-CN" altLang="zh-CN" sz="1800" kern="100" dirty="0">
                              <a:effectLst/>
                              <a:latin typeface="微软雅黑" panose="020B0503020204020204" pitchFamily="82" charset="2"/>
                              <a:ea typeface="微软雅黑" panose="020B0503020204020204" pitchFamily="82" charset="2"/>
                            </a:rPr>
                            <a:t>磁盘页面的</a:t>
                          </a:r>
                          <a:r>
                            <a:rPr lang="zh-CN" altLang="en-US" sz="1800" kern="100" dirty="0">
                              <a:latin typeface="微软雅黑" panose="020B0503020204020204" pitchFamily="82" charset="2"/>
                              <a:ea typeface="微软雅黑" panose="020B0503020204020204" pitchFamily="82" charset="2"/>
                            </a:rPr>
                            <a:t>大小</a:t>
                          </a:r>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smtClean="0">
                                        <a:effectLst/>
                                        <a:latin typeface="Cambria Math" panose="02040503050406030204" pitchFamily="18" charset="0"/>
                                      </a:rPr>
                                    </m:ctrlPr>
                                  </m:sSubPr>
                                  <m:e>
                                    <m:r>
                                      <a:rPr lang="en-US" altLang="zh-CN" sz="1800" kern="100">
                                        <a:effectLst/>
                                        <a:latin typeface="Cambria Math" panose="02040503050406030204" pitchFamily="18" charset="0"/>
                                      </a:rPr>
                                      <m:t>𝑆</m:t>
                                    </m:r>
                                  </m:e>
                                  <m:sub>
                                    <m:r>
                                      <a:rPr lang="en-US" altLang="zh-CN" sz="1800" kern="100">
                                        <a:effectLst/>
                                        <a:latin typeface="Cambria Math" panose="02040503050406030204" pitchFamily="18" charset="0"/>
                                      </a:rPr>
                                      <m:t>0</m:t>
                                    </m:r>
                                  </m:sub>
                                </m:sSub>
                              </m:oMath>
                            </m:oMathPara>
                          </a14:m>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14:m>
                            <m:oMath xmlns:m="http://schemas.openxmlformats.org/officeDocument/2006/math">
                              <m:sSub>
                                <m:sSubPr>
                                  <m:ctrlPr>
                                    <a:rPr lang="zh-CN" altLang="zh-CN" sz="1800" i="1" smtClean="0">
                                      <a:effectLst/>
                                      <a:latin typeface="Cambria Math" panose="02040503050406030204" pitchFamily="18" charset="0"/>
                                    </a:rPr>
                                  </m:ctrlPr>
                                </m:sSubPr>
                                <m:e>
                                  <m:r>
                                    <a:rPr lang="en-US" altLang="zh-CN" sz="1800" kern="100">
                                      <a:effectLst/>
                                      <a:latin typeface="Cambria Math" panose="02040503050406030204" pitchFamily="18" charset="0"/>
                                    </a:rPr>
                                    <m:t>𝐶</m:t>
                                  </m:r>
                                </m:e>
                                <m:sub>
                                  <m:r>
                                    <a:rPr lang="en-US" altLang="zh-CN" sz="1800" kern="100">
                                      <a:effectLst/>
                                      <a:latin typeface="Cambria Math" panose="02040503050406030204" pitchFamily="18" charset="0"/>
                                    </a:rPr>
                                    <m:t>0</m:t>
                                  </m:r>
                                </m:sub>
                              </m:sSub>
                            </m:oMath>
                          </a14:m>
                          <a:r>
                            <a:rPr lang="zh-CN" altLang="zh-CN" sz="1800" kern="100" dirty="0">
                              <a:effectLst/>
                              <a:latin typeface="微软雅黑" panose="020B0503020204020204" pitchFamily="82" charset="2"/>
                              <a:ea typeface="微软雅黑" panose="020B0503020204020204" pitchFamily="82" charset="2"/>
                            </a:rPr>
                            <a:t>树索引项总容量</a:t>
                          </a:r>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a14:m>
                            <m:oMathPara xmlns:m="http://schemas.openxmlformats.org/officeDocument/2006/math">
                              <m:oMathParaPr>
                                <m:jc m:val="centerGroup"/>
                              </m:oMathParaPr>
                              <m:oMath xmlns:m="http://schemas.openxmlformats.org/officeDocument/2006/math">
                                <m:sSub>
                                  <m:sSubPr>
                                    <m:ctrlPr>
                                      <a:rPr lang="zh-CN" altLang="zh-CN" sz="1800" i="1" smtClean="0">
                                        <a:effectLst/>
                                        <a:latin typeface="Cambria Math" panose="02040503050406030204" pitchFamily="18" charset="0"/>
                                      </a:rPr>
                                    </m:ctrlPr>
                                  </m:sSubPr>
                                  <m:e>
                                    <m:r>
                                      <a:rPr lang="en-US" altLang="zh-CN" sz="1800" kern="100">
                                        <a:effectLst/>
                                        <a:latin typeface="Cambria Math" panose="02040503050406030204" pitchFamily="18" charset="0"/>
                                      </a:rPr>
                                      <m:t>𝑆</m:t>
                                    </m:r>
                                  </m:e>
                                  <m:sub>
                                    <m:r>
                                      <a:rPr lang="en-US" altLang="zh-CN" sz="1800" kern="100">
                                        <a:effectLst/>
                                        <a:latin typeface="Cambria Math" panose="02040503050406030204" pitchFamily="18" charset="0"/>
                                      </a:rPr>
                                      <m:t>1</m:t>
                                    </m:r>
                                  </m:sub>
                                </m:sSub>
                              </m:oMath>
                            </m:oMathPara>
                          </a14:m>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14:m>
                            <m:oMath xmlns:m="http://schemas.openxmlformats.org/officeDocument/2006/math">
                              <m:sSub>
                                <m:sSubPr>
                                  <m:ctrlPr>
                                    <a:rPr lang="zh-CN" altLang="zh-CN" sz="1800" i="1" smtClean="0">
                                      <a:effectLst/>
                                      <a:latin typeface="Cambria Math" panose="02040503050406030204" pitchFamily="18" charset="0"/>
                                    </a:rPr>
                                  </m:ctrlPr>
                                </m:sSubPr>
                                <m:e>
                                  <m:r>
                                    <a:rPr lang="en-US" altLang="zh-CN" sz="1800" kern="100">
                                      <a:effectLst/>
                                      <a:latin typeface="Cambria Math" panose="02040503050406030204" pitchFamily="18" charset="0"/>
                                    </a:rPr>
                                    <m:t>𝐶</m:t>
                                  </m:r>
                                </m:e>
                                <m:sub>
                                  <m:r>
                                    <a:rPr lang="en-US" altLang="zh-CN" sz="1800" kern="100">
                                      <a:effectLst/>
                                      <a:latin typeface="Cambria Math" panose="02040503050406030204" pitchFamily="18" charset="0"/>
                                    </a:rPr>
                                    <m:t>1</m:t>
                                  </m:r>
                                </m:sub>
                              </m:sSub>
                            </m:oMath>
                          </a14:m>
                          <a:r>
                            <a:rPr lang="zh-CN" altLang="zh-CN" sz="1800" kern="100" dirty="0">
                              <a:effectLst/>
                              <a:latin typeface="微软雅黑" panose="020B0503020204020204" pitchFamily="82" charset="2"/>
                              <a:ea typeface="微软雅黑" panose="020B0503020204020204" pitchFamily="82" charset="2"/>
                            </a:rPr>
                            <a:t>树索引项总容量</a:t>
                          </a:r>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7" name="表格 7"/>
              <p:cNvGraphicFramePr>
                <a:graphicFrameLocks noGrp="1"/>
              </p:cNvGraphicFramePr>
              <p:nvPr/>
            </p:nvGraphicFramePr>
            <p:xfrm>
              <a:off x="5482546" y="2561153"/>
              <a:ext cx="3482872" cy="1735709"/>
            </p:xfrm>
            <a:graphic>
              <a:graphicData uri="http://schemas.openxmlformats.org/drawingml/2006/table">
                <a:tbl>
                  <a:tblPr firstRow="1" bandRow="1">
                    <a:tableStyleId>{21E4AEA4-8DFA-4A89-87EB-49C32662AFE0}</a:tableStyleId>
                  </a:tblPr>
                  <a:tblGrid>
                    <a:gridCol w="746570"/>
                    <a:gridCol w="2736302"/>
                  </a:tblGrid>
                  <a:tr h="342900">
                    <a:tc>
                      <a:txBody>
                        <a:bodyPr/>
                        <a:lstStyle/>
                        <a:p>
                          <a:pPr algn="ctr"/>
                          <a:r>
                            <a:rPr lang="zh-CN" altLang="en-US" sz="1800" dirty="0">
                              <a:latin typeface="微软雅黑" panose="020B0503020204020204" pitchFamily="82" charset="2"/>
                              <a:ea typeface="微软雅黑" panose="020B0503020204020204" pitchFamily="82" charset="2"/>
                            </a:rPr>
                            <a:t>符号</a:t>
                          </a:r>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c>
                      <a:txBody>
                        <a:bodyPr/>
                        <a:lstStyle/>
                        <a:p>
                          <a:pPr algn="ctr"/>
                          <a:r>
                            <a:rPr lang="zh-CN" altLang="en-US" sz="1800" dirty="0">
                              <a:latin typeface="微软雅黑" panose="020B0503020204020204" pitchFamily="82" charset="2"/>
                              <a:ea typeface="微软雅黑" panose="020B0503020204020204" pitchFamily="82" charset="2"/>
                            </a:rPr>
                            <a:t>含义</a:t>
                          </a:r>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01988"/>
                        </a:solidFill>
                      </a:tcPr>
                    </a:tc>
                  </a:tr>
                  <a:tr h="342900">
                    <a:tc>
                      <a:txBody>
                        <a:bodyPr/>
                        <a:lstStyle/>
                        <a:p>
                          <a:endParaRPr lang="zh-CN"/>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blipFill>
                          <a:blip r:embed="rId3"/>
                        </a:blipFill>
                      </a:tcPr>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zh-CN" altLang="zh-CN" sz="1800" kern="100" dirty="0">
                              <a:effectLst/>
                              <a:latin typeface="微软雅黑" panose="020B0503020204020204" pitchFamily="82" charset="2"/>
                              <a:ea typeface="微软雅黑" panose="020B0503020204020204" pitchFamily="82" charset="2"/>
                            </a:rPr>
                            <a:t>单个索引项的大小</a:t>
                          </a:r>
                          <a:endPar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r>
                  <a:tr h="363855">
                    <a:tc>
                      <a:txBody>
                        <a:bodyPr/>
                        <a:lstStyle/>
                        <a:p>
                          <a:endParaRPr lang="zh-CN"/>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blipFill>
                          <a:blip r:embed="rId3"/>
                        </a:blipFill>
                      </a:tcPr>
                    </a:tc>
                    <a:tc>
                      <a:txBody>
                        <a:bodyPr/>
                        <a:lstStyle/>
                        <a:p>
                          <a:r>
                            <a:rPr lang="zh-CN" altLang="zh-CN" sz="1800" kern="100" dirty="0">
                              <a:effectLst/>
                              <a:latin typeface="微软雅黑" panose="020B0503020204020204" pitchFamily="82" charset="2"/>
                              <a:ea typeface="微软雅黑" panose="020B0503020204020204" pitchFamily="82" charset="2"/>
                            </a:rPr>
                            <a:t>磁盘页面的</a:t>
                          </a:r>
                          <a:r>
                            <a:rPr lang="zh-CN" altLang="en-US" sz="1800" kern="100" dirty="0">
                              <a:latin typeface="微软雅黑" panose="020B0503020204020204" pitchFamily="82" charset="2"/>
                              <a:ea typeface="微软雅黑" panose="020B0503020204020204" pitchFamily="82" charset="2"/>
                            </a:rPr>
                            <a:t>大小</a:t>
                          </a:r>
                          <a:endParaRPr lang="zh-CN" altLang="en-US" sz="1800" dirty="0">
                            <a:latin typeface="微软雅黑" panose="020B0503020204020204" pitchFamily="82" charset="2"/>
                            <a:ea typeface="微软雅黑" panose="020B0503020204020204" pitchFamily="82" charset="2"/>
                          </a:endParaRPr>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r>
                  <a:tr h="342900">
                    <a:tc>
                      <a:txBody>
                        <a:bodyPr/>
                        <a:lstStyle/>
                        <a:p>
                          <a:endParaRPr lang="zh-CN"/>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blipFill>
                          <a:blip r:embed="rId3"/>
                        </a:blipFill>
                      </a:tcPr>
                    </a:tc>
                    <a:tc>
                      <a:txBody>
                        <a:bodyPr/>
                        <a:lstStyle/>
                        <a:p>
                          <a:endParaRPr lang="zh-CN"/>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blipFill>
                          <a:blip r:embed="rId3"/>
                        </a:blipFill>
                      </a:tcPr>
                    </a:tc>
                  </a:tr>
                  <a:tr h="342900">
                    <a:tc>
                      <a:txBody>
                        <a:bodyPr/>
                        <a:lstStyle/>
                        <a:p>
                          <a:endParaRPr lang="zh-CN"/>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blipFill>
                          <a:blip r:embed="rId3"/>
                        </a:blipFill>
                      </a:tcPr>
                    </a:tc>
                    <a:tc>
                      <a:txBody>
                        <a:bodyPr/>
                        <a:lstStyle/>
                        <a:p>
                          <a:endParaRPr lang="zh-CN"/>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blipFill>
                          <a:blip r:embed="rId3"/>
                        </a:blipFill>
                      </a:tcPr>
                    </a:tc>
                  </a:tr>
                </a:tbl>
              </a:graphicData>
            </a:graphic>
          </p:graphicFrame>
        </mc:Fallback>
      </mc:AlternateContent>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p:cNvSpPr/>
          <p:nvPr/>
        </p:nvSpPr>
        <p:spPr>
          <a:xfrm>
            <a:off x="1153517" y="2750793"/>
            <a:ext cx="6758609" cy="2279644"/>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微软雅黑" panose="020B0503020204020204" pitchFamily="82" charset="2"/>
              <a:ea typeface="微软雅黑" panose="020B0503020204020204" pitchFamily="82" charset="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121</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xfrm>
            <a:off x="728661" y="330567"/>
            <a:ext cx="7568173" cy="678470"/>
          </a:xfrm>
        </p:spPr>
        <p:txBody>
          <a:bodyPr/>
          <a:lstStyle/>
          <a:p>
            <a:r>
              <a:rPr lang="zh-CN" altLang="en-US" sz="2800" dirty="0">
                <a:solidFill>
                  <a:srgbClr val="FF0000"/>
                </a:solidFill>
                <a:latin typeface="微软雅黑" panose="020B0503020204020204" pitchFamily="82" charset="2"/>
                <a:ea typeface="微软雅黑" panose="020B0503020204020204" pitchFamily="82" charset="2"/>
              </a:rPr>
              <a:t>多阶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a:t>
            </a:r>
          </a:p>
        </p:txBody>
      </p:sp>
      <p:sp>
        <p:nvSpPr>
          <p:cNvPr id="4" name="内容占位符 3"/>
          <p:cNvSpPr>
            <a:spLocks noGrp="1"/>
          </p:cNvSpPr>
          <p:nvPr>
            <p:ph idx="1"/>
          </p:nvPr>
        </p:nvSpPr>
        <p:spPr>
          <a:xfrm>
            <a:off x="1093500" y="1702350"/>
            <a:ext cx="8155641" cy="3782248"/>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为降低相邻层级的滚动合并参数，引入磁盘上的多级索引</a:t>
            </a:r>
            <a:endParaRPr lang="en-US" altLang="zh-CN" sz="1800" b="1" dirty="0">
              <a:solidFill>
                <a:srgbClr val="701988"/>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结论：相邻层级容量比例固定时，</a:t>
            </a:r>
            <a:r>
              <a:rPr lang="en-US" altLang="zh-CN" sz="1800" b="1" dirty="0">
                <a:solidFill>
                  <a:srgbClr val="701988"/>
                </a:solidFill>
                <a:latin typeface="微软雅黑" panose="020B0503020204020204" pitchFamily="82" charset="2"/>
                <a:ea typeface="微软雅黑" panose="020B0503020204020204" pitchFamily="82" charset="2"/>
              </a:rPr>
              <a:t>LSM</a:t>
            </a:r>
            <a:r>
              <a:rPr lang="zh-CN" altLang="en-US" sz="1800" b="1" dirty="0">
                <a:solidFill>
                  <a:srgbClr val="701988"/>
                </a:solidFill>
                <a:latin typeface="微软雅黑" panose="020B0503020204020204" pitchFamily="82" charset="2"/>
                <a:ea typeface="微软雅黑" panose="020B0503020204020204" pitchFamily="82" charset="2"/>
              </a:rPr>
              <a:t>树</a:t>
            </a:r>
            <a:r>
              <a:rPr lang="en-US" altLang="zh-CN" sz="1800" b="1" dirty="0">
                <a:solidFill>
                  <a:srgbClr val="701988"/>
                </a:solidFill>
                <a:latin typeface="微软雅黑" panose="020B0503020204020204" pitchFamily="82" charset="2"/>
                <a:ea typeface="微软雅黑" panose="020B0503020204020204" pitchFamily="82" charset="2"/>
              </a:rPr>
              <a:t>I/O</a:t>
            </a:r>
            <a:r>
              <a:rPr lang="zh-CN" altLang="en-US" sz="1800" b="1" dirty="0">
                <a:solidFill>
                  <a:srgbClr val="701988"/>
                </a:solidFill>
                <a:latin typeface="微软雅黑" panose="020B0503020204020204" pitchFamily="82" charset="2"/>
                <a:ea typeface="微软雅黑" panose="020B0503020204020204" pitchFamily="82" charset="2"/>
              </a:rPr>
              <a:t>成本最低</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pic>
        <p:nvPicPr>
          <p:cNvPr id="6" name="图片 5"/>
          <p:cNvPicPr>
            <a:picLocks noChangeAspect="1"/>
          </p:cNvPicPr>
          <p:nvPr/>
        </p:nvPicPr>
        <p:blipFill>
          <a:blip r:embed="rId2"/>
          <a:stretch>
            <a:fillRect/>
          </a:stretch>
        </p:blipFill>
        <p:spPr>
          <a:xfrm>
            <a:off x="1618172" y="3121636"/>
            <a:ext cx="5829300" cy="1630057"/>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Times New Roman" panose="02020603050405020304"/>
                <a:ea typeface="华文楷体" panose="02010600040101010101" pitchFamily="2" charset="-122"/>
              </a:rPr>
              <a:t>122</a:t>
            </a:fld>
            <a:endParaRPr lang="zh-CN" altLang="en-US" sz="1350">
              <a:solidFill>
                <a:srgbClr val="000000"/>
              </a:solidFill>
              <a:latin typeface="Times New Roman" panose="02020603050405020304"/>
              <a:ea typeface="华文楷体" panose="02010600040101010101" pitchFamily="2" charset="-122"/>
            </a:endParaRPr>
          </a:p>
        </p:txBody>
      </p:sp>
      <p:sp>
        <p:nvSpPr>
          <p:cNvPr id="3" name="标题 2"/>
          <p:cNvSpPr>
            <a:spLocks noGrp="1"/>
          </p:cNvSpPr>
          <p:nvPr>
            <p:ph type="title"/>
          </p:nvPr>
        </p:nvSpPr>
        <p:spPr>
          <a:xfrm>
            <a:off x="672269" y="260648"/>
            <a:ext cx="7568173" cy="678470"/>
          </a:xfrm>
        </p:spPr>
        <p:txBody>
          <a:bodyPr/>
          <a:lstStyle/>
          <a:p>
            <a:r>
              <a:rPr lang="zh-CN" altLang="en-US" sz="2800" dirty="0">
                <a:solidFill>
                  <a:srgbClr val="FF0000"/>
                </a:solidFill>
                <a:latin typeface="微软雅黑" panose="020B0503020204020204" pitchFamily="82" charset="2"/>
                <a:ea typeface="微软雅黑" panose="020B0503020204020204" pitchFamily="82" charset="2"/>
              </a:rPr>
              <a:t>多阶</a:t>
            </a:r>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a:t>
            </a:r>
          </a:p>
        </p:txBody>
      </p:sp>
      <p:sp>
        <p:nvSpPr>
          <p:cNvPr id="4" name="内容占位符 3"/>
          <p:cNvSpPr>
            <a:spLocks noGrp="1"/>
          </p:cNvSpPr>
          <p:nvPr>
            <p:ph idx="1"/>
          </p:nvPr>
        </p:nvSpPr>
        <p:spPr>
          <a:xfrm>
            <a:off x="119617" y="1856703"/>
            <a:ext cx="4229100" cy="3754040"/>
          </a:xfrm>
        </p:spPr>
        <p:txBody>
          <a:bodyPr/>
          <a:lstStyle/>
          <a:p>
            <a:r>
              <a:rPr lang="zh-CN" altLang="en-US" sz="2100" dirty="0"/>
              <a:t>插入</a:t>
            </a:r>
            <a:endParaRPr lang="en-US" altLang="zh-CN" sz="2100" dirty="0"/>
          </a:p>
          <a:p>
            <a:pPr lvl="1"/>
            <a:r>
              <a:rPr lang="zh-CN" altLang="en-US" sz="1800" dirty="0"/>
              <a:t>先插入内存，如果内存</a:t>
            </a:r>
            <a:r>
              <a:rPr lang="zh-CN" altLang="en-US" sz="1800" dirty="0" smtClean="0"/>
              <a:t>满则刷新</a:t>
            </a:r>
            <a:r>
              <a:rPr lang="zh-CN" altLang="en-US" sz="1800" dirty="0"/>
              <a:t>到第一层</a:t>
            </a:r>
            <a:endParaRPr lang="en-US" altLang="zh-CN" sz="1800" dirty="0"/>
          </a:p>
          <a:p>
            <a:pPr lvl="1"/>
            <a:r>
              <a:rPr lang="zh-CN" altLang="en-US" sz="1800" dirty="0"/>
              <a:t>第一层</a:t>
            </a:r>
            <a:r>
              <a:rPr lang="zh-CN" altLang="en-US" sz="1800" dirty="0" smtClean="0"/>
              <a:t>满则和</a:t>
            </a:r>
            <a:r>
              <a:rPr lang="zh-CN" altLang="en-US" sz="1800" dirty="0"/>
              <a:t>第二层合并，以此类推</a:t>
            </a:r>
            <a:endParaRPr lang="en-US" altLang="zh-CN" sz="1800" dirty="0"/>
          </a:p>
          <a:p>
            <a:r>
              <a:rPr lang="zh-CN" altLang="en-US" sz="2100" dirty="0"/>
              <a:t>查找</a:t>
            </a:r>
            <a:endParaRPr lang="en-US" altLang="zh-CN" sz="2100" dirty="0"/>
          </a:p>
          <a:p>
            <a:pPr lvl="1"/>
            <a:r>
              <a:rPr lang="zh-CN" altLang="en-US" sz="1800" dirty="0"/>
              <a:t>先查找内存，如果找到返回</a:t>
            </a:r>
            <a:endParaRPr lang="en-US" altLang="zh-CN" sz="1800" dirty="0"/>
          </a:p>
          <a:p>
            <a:pPr lvl="1"/>
            <a:r>
              <a:rPr lang="zh-CN" altLang="en-US" sz="1800" dirty="0"/>
              <a:t>否则逐层往下找</a:t>
            </a:r>
            <a:endParaRPr lang="en-US" altLang="zh-CN" sz="1800" dirty="0"/>
          </a:p>
          <a:p>
            <a:r>
              <a:rPr lang="zh-CN" altLang="en-US" sz="2100" dirty="0"/>
              <a:t>删除</a:t>
            </a:r>
            <a:endParaRPr lang="en-US" altLang="zh-CN" sz="2100" dirty="0"/>
          </a:p>
          <a:p>
            <a:pPr lvl="1"/>
            <a:r>
              <a:rPr lang="zh-CN" altLang="en-US" sz="1800" dirty="0"/>
              <a:t>标记删除</a:t>
            </a:r>
            <a:endParaRPr lang="en-US" altLang="zh-CN" sz="1800" dirty="0"/>
          </a:p>
          <a:p>
            <a:r>
              <a:rPr lang="zh-CN" altLang="en-US" sz="2100" dirty="0"/>
              <a:t>合并</a:t>
            </a:r>
            <a:r>
              <a:rPr lang="en-US" altLang="zh-CN" sz="2100" dirty="0"/>
              <a:t>Compaction</a:t>
            </a:r>
          </a:p>
          <a:p>
            <a:pPr lvl="1"/>
            <a:r>
              <a:rPr lang="zh-CN" altLang="en-US" sz="1800" dirty="0"/>
              <a:t>异步合并删除</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Times New Roman" panose="02020603050405020304"/>
                <a:ea typeface="华文楷体" panose="02010600040101010101" pitchFamily="2" charset="-122"/>
              </a:rPr>
              <a:t>数据库系统</a:t>
            </a:r>
            <a:r>
              <a:rPr lang="en-US" altLang="zh-CN" sz="1350">
                <a:solidFill>
                  <a:srgbClr val="000000"/>
                </a:solidFill>
                <a:latin typeface="Times New Roman" panose="02020603050405020304"/>
                <a:ea typeface="华文楷体" panose="02010600040101010101" pitchFamily="2" charset="-122"/>
              </a:rPr>
              <a:t>—</a:t>
            </a:r>
            <a:r>
              <a:rPr lang="zh-CN" altLang="en-US" sz="1350">
                <a:solidFill>
                  <a:srgbClr val="000000"/>
                </a:solidFill>
                <a:latin typeface="Times New Roman" panose="02020603050405020304"/>
                <a:ea typeface="华文楷体" panose="02010600040101010101" pitchFamily="2" charset="-122"/>
              </a:rPr>
              <a:t>索引</a:t>
            </a:r>
            <a:endParaRPr lang="en-US" altLang="zh-CN" sz="900" dirty="0">
              <a:solidFill>
                <a:srgbClr val="000000"/>
              </a:solidFill>
              <a:latin typeface="Times New Roman" panose="02020603050405020304"/>
              <a:ea typeface="华文楷体" panose="02010600040101010101" pitchFamily="2"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6356" y="1761424"/>
            <a:ext cx="4042186" cy="3691484"/>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123</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en-US" altLang="zh-CN" sz="2800" dirty="0">
                <a:solidFill>
                  <a:srgbClr val="FF0000"/>
                </a:solidFill>
                <a:latin typeface="微软雅黑" panose="020B0503020204020204" pitchFamily="82" charset="2"/>
                <a:ea typeface="微软雅黑" panose="020B0503020204020204" pitchFamily="82" charset="2"/>
              </a:rPr>
              <a:t>LSM</a:t>
            </a:r>
            <a:r>
              <a:rPr lang="zh-CN" altLang="en-US" sz="2800" dirty="0">
                <a:solidFill>
                  <a:srgbClr val="FF0000"/>
                </a:solidFill>
                <a:latin typeface="微软雅黑" panose="020B0503020204020204" pitchFamily="82" charset="2"/>
                <a:ea typeface="微软雅黑" panose="020B0503020204020204" pitchFamily="82" charset="2"/>
              </a:rPr>
              <a:t>树优化</a:t>
            </a:r>
          </a:p>
        </p:txBody>
      </p:sp>
      <p:sp>
        <p:nvSpPr>
          <p:cNvPr id="4" name="内容占位符 3"/>
          <p:cNvSpPr>
            <a:spLocks noGrp="1"/>
          </p:cNvSpPr>
          <p:nvPr>
            <p:ph idx="1"/>
          </p:nvPr>
        </p:nvSpPr>
        <p:spPr>
          <a:xfrm>
            <a:off x="787913" y="1551419"/>
            <a:ext cx="8155641" cy="4217159"/>
          </a:xfrm>
        </p:spPr>
        <p:txBody>
          <a:bodyPr/>
          <a:lstStyle/>
          <a:p>
            <a:pPr>
              <a:lnSpc>
                <a:spcPct val="12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滚动合并实现复杂，增加简化条件</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2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内存部分：采用</a:t>
            </a:r>
            <a:r>
              <a:rPr lang="en-US" altLang="zh-CN" sz="1500" dirty="0">
                <a:latin typeface="微软雅黑" panose="020B0503020204020204" pitchFamily="82" charset="2"/>
                <a:ea typeface="微软雅黑" panose="020B0503020204020204" pitchFamily="82" charset="2"/>
              </a:rPr>
              <a:t>B+</a:t>
            </a:r>
            <a:r>
              <a:rPr lang="zh-CN" altLang="en-US" sz="1500" dirty="0">
                <a:latin typeface="微软雅黑" panose="020B0503020204020204" pitchFamily="82" charset="2"/>
                <a:ea typeface="微软雅黑" panose="020B0503020204020204" pitchFamily="82" charset="2"/>
              </a:rPr>
              <a:t>树、</a:t>
            </a:r>
            <a:r>
              <a:rPr lang="en-US" altLang="zh-CN" sz="1500" dirty="0" err="1">
                <a:latin typeface="微软雅黑" panose="020B0503020204020204" pitchFamily="82" charset="2"/>
                <a:ea typeface="微软雅黑" panose="020B0503020204020204" pitchFamily="82" charset="2"/>
              </a:rPr>
              <a:t>skiplist</a:t>
            </a:r>
            <a:r>
              <a:rPr lang="zh-CN" altLang="en-US" sz="1500" dirty="0">
                <a:latin typeface="微软雅黑" panose="020B0503020204020204" pitchFamily="82" charset="2"/>
                <a:ea typeface="微软雅黑" panose="020B0503020204020204" pitchFamily="82" charset="2"/>
              </a:rPr>
              <a:t>等并发安全索引</a:t>
            </a:r>
            <a:endParaRPr lang="en-US" altLang="zh-CN" sz="1500" dirty="0">
              <a:latin typeface="微软雅黑" panose="020B0503020204020204" pitchFamily="82" charset="2"/>
              <a:ea typeface="微软雅黑" panose="020B0503020204020204" pitchFamily="82" charset="2"/>
            </a:endParaRPr>
          </a:p>
          <a:p>
            <a:pPr lvl="1">
              <a:lnSpc>
                <a:spcPct val="12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磁盘部分：各层只允许通过合并生成新索引与删除，禁止修改</a:t>
            </a:r>
            <a:endParaRPr lang="en-US" altLang="zh-CN" sz="1500" dirty="0">
              <a:latin typeface="微软雅黑" panose="020B0503020204020204" pitchFamily="82" charset="2"/>
              <a:ea typeface="微软雅黑" panose="020B0503020204020204" pitchFamily="82" charset="2"/>
            </a:endParaRPr>
          </a:p>
          <a:p>
            <a:pPr lvl="2">
              <a:lnSpc>
                <a:spcPct val="120000"/>
              </a:lnSpc>
              <a:buSzPct val="50000"/>
              <a:buFont typeface="Wingdings" panose="05000000000000000000" pitchFamily="2" charset="2"/>
              <a:buChar char="p"/>
            </a:pPr>
            <a:r>
              <a:rPr lang="zh-CN" altLang="en-US" sz="1500" dirty="0">
                <a:solidFill>
                  <a:srgbClr val="6F1787"/>
                </a:solidFill>
                <a:latin typeface="微软雅黑" panose="020B0503020204020204" pitchFamily="82" charset="2"/>
                <a:ea typeface="微软雅黑" panose="020B0503020204020204" pitchFamily="82" charset="2"/>
              </a:rPr>
              <a:t>简化并发控制与故障恢复</a:t>
            </a:r>
            <a:endParaRPr lang="en-US" altLang="zh-CN" sz="1500" dirty="0">
              <a:solidFill>
                <a:srgbClr val="6F1787"/>
              </a:solidFill>
              <a:latin typeface="微软雅黑" panose="020B0503020204020204" pitchFamily="82" charset="2"/>
              <a:ea typeface="微软雅黑" panose="020B0503020204020204" pitchFamily="82" charset="2"/>
            </a:endParaRPr>
          </a:p>
          <a:p>
            <a:pPr>
              <a:lnSpc>
                <a:spcPct val="120000"/>
              </a:lnSpc>
              <a:buFont typeface="Wingdings" panose="05000000000000000000" pitchFamily="2" charset="2"/>
              <a:buChar char="Ø"/>
            </a:pPr>
            <a:r>
              <a:rPr lang="en-US" altLang="zh-CN" sz="1800" b="1" dirty="0">
                <a:solidFill>
                  <a:srgbClr val="701988"/>
                </a:solidFill>
                <a:latin typeface="微软雅黑" panose="020B0503020204020204" pitchFamily="82" charset="2"/>
                <a:ea typeface="微软雅黑" panose="020B0503020204020204" pitchFamily="82" charset="2"/>
              </a:rPr>
              <a:t>LSM</a:t>
            </a:r>
            <a:r>
              <a:rPr lang="zh-CN" altLang="en-US" sz="1800" b="1" dirty="0">
                <a:solidFill>
                  <a:srgbClr val="701988"/>
                </a:solidFill>
                <a:latin typeface="微软雅黑" panose="020B0503020204020204" pitchFamily="82" charset="2"/>
                <a:ea typeface="微软雅黑" panose="020B0503020204020204" pitchFamily="82" charset="2"/>
              </a:rPr>
              <a:t>树性能问题</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2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读放大：查找时若未命中，则需逐层索引查询，增加了</a:t>
            </a:r>
            <a:r>
              <a:rPr lang="en-US" altLang="zh-CN" sz="1500" dirty="0">
                <a:latin typeface="微软雅黑" panose="020B0503020204020204" pitchFamily="82" charset="2"/>
                <a:ea typeface="微软雅黑" panose="020B0503020204020204" pitchFamily="82" charset="2"/>
              </a:rPr>
              <a:t>I/O</a:t>
            </a:r>
          </a:p>
          <a:p>
            <a:pPr lvl="2">
              <a:lnSpc>
                <a:spcPct val="120000"/>
              </a:lnSpc>
              <a:buSzPct val="50000"/>
              <a:buFont typeface="Wingdings" panose="05000000000000000000" pitchFamily="2" charset="2"/>
              <a:buChar char="p"/>
            </a:pPr>
            <a:r>
              <a:rPr lang="zh-CN" altLang="en-US" dirty="0">
                <a:solidFill>
                  <a:srgbClr val="6F1787"/>
                </a:solidFill>
                <a:latin typeface="微软雅黑" panose="020B0503020204020204" pitchFamily="82" charset="2"/>
                <a:ea typeface="微软雅黑" panose="020B0503020204020204" pitchFamily="82" charset="2"/>
              </a:rPr>
              <a:t>布隆过滤器优化</a:t>
            </a:r>
            <a:endParaRPr lang="en-US" altLang="zh-CN" dirty="0">
              <a:solidFill>
                <a:srgbClr val="6F1787"/>
              </a:solidFill>
              <a:latin typeface="微软雅黑" panose="020B0503020204020204" pitchFamily="82" charset="2"/>
              <a:ea typeface="微软雅黑" panose="020B0503020204020204" pitchFamily="82" charset="2"/>
            </a:endParaRPr>
          </a:p>
          <a:p>
            <a:pPr lvl="1">
              <a:lnSpc>
                <a:spcPct val="12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写放大：合并时需要在内存中完成，不断读入、归并、写回</a:t>
            </a:r>
            <a:endParaRPr lang="en-US" altLang="zh-CN" sz="1500" dirty="0">
              <a:latin typeface="微软雅黑" panose="020B0503020204020204" pitchFamily="82" charset="2"/>
              <a:ea typeface="微软雅黑" panose="020B0503020204020204" pitchFamily="82" charset="2"/>
            </a:endParaRPr>
          </a:p>
          <a:p>
            <a:pPr lvl="2">
              <a:lnSpc>
                <a:spcPct val="120000"/>
              </a:lnSpc>
              <a:buSzPct val="50000"/>
              <a:buFont typeface="Wingdings" panose="05000000000000000000" pitchFamily="2" charset="2"/>
              <a:buChar char="p"/>
            </a:pPr>
            <a:r>
              <a:rPr lang="zh-CN" altLang="en-US" dirty="0">
                <a:solidFill>
                  <a:srgbClr val="6F1787"/>
                </a:solidFill>
                <a:latin typeface="微软雅黑" panose="020B0503020204020204" pitchFamily="82" charset="2"/>
                <a:ea typeface="微软雅黑" panose="020B0503020204020204" pitchFamily="82" charset="2"/>
              </a:rPr>
              <a:t>分区优化</a:t>
            </a:r>
            <a:endParaRPr lang="en-US" altLang="zh-CN" dirty="0">
              <a:solidFill>
                <a:srgbClr val="6F1787"/>
              </a:solidFill>
              <a:latin typeface="微软雅黑" panose="020B0503020204020204" pitchFamily="82" charset="2"/>
              <a:ea typeface="微软雅黑" panose="020B0503020204020204" pitchFamily="82" charset="2"/>
            </a:endParaRPr>
          </a:p>
          <a:p>
            <a:pPr lvl="1">
              <a:lnSpc>
                <a:spcPct val="120000"/>
              </a:lnSpc>
              <a:buFont typeface="Arial" panose="020B0604020202020204" pitchFamily="34" charset="0"/>
              <a:buChar char="•"/>
            </a:pPr>
            <a:r>
              <a:rPr lang="zh-CN" altLang="en-US" sz="1500" dirty="0">
                <a:latin typeface="微软雅黑" panose="020B0503020204020204" pitchFamily="82" charset="2"/>
                <a:ea typeface="微软雅黑" panose="020B0503020204020204" pitchFamily="82" charset="2"/>
              </a:rPr>
              <a:t>空间放大：键值可能存在于多层中</a:t>
            </a:r>
            <a:endParaRPr lang="en-US" altLang="zh-CN" sz="1500" dirty="0">
              <a:latin typeface="微软雅黑" panose="020B0503020204020204" pitchFamily="82" charset="2"/>
              <a:ea typeface="微软雅黑" panose="020B0503020204020204" pitchFamily="82" charset="2"/>
            </a:endParaRPr>
          </a:p>
          <a:p>
            <a:pPr lvl="2">
              <a:lnSpc>
                <a:spcPct val="120000"/>
              </a:lnSpc>
              <a:buSzPct val="50000"/>
              <a:buFont typeface="Wingdings" panose="05000000000000000000" pitchFamily="2" charset="2"/>
              <a:buChar char="p"/>
            </a:pPr>
            <a:r>
              <a:rPr lang="zh-CN" altLang="en-US" dirty="0">
                <a:solidFill>
                  <a:srgbClr val="6F1787"/>
                </a:solidFill>
                <a:latin typeface="微软雅黑" panose="020B0503020204020204" pitchFamily="82" charset="2"/>
                <a:ea typeface="微软雅黑" panose="020B0503020204020204" pitchFamily="82" charset="2"/>
              </a:rPr>
              <a:t>异步压缩机制，物理删除被标记删除的数据</a:t>
            </a: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 calcmode="lin" valueType="num">
                                      <p:cBhvr additive="base">
                                        <p:cTn id="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anim calcmode="lin" valueType="num">
                                      <p:cBhvr additive="base">
                                        <p:cTn id="1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anim calcmode="lin" valueType="num">
                                      <p:cBhvr additive="base">
                                        <p:cTn id="1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p:cNvSpPr/>
          <p:nvPr/>
        </p:nvSpPr>
        <p:spPr>
          <a:xfrm>
            <a:off x="5113055" y="3041907"/>
            <a:ext cx="3732427" cy="2397842"/>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350" b="1" i="0" u="none" strike="noStrike" kern="1200" cap="none" spc="0" normalizeH="0" baseline="0" noProof="0" dirty="0">
              <a:ln>
                <a:noFill/>
              </a:ln>
              <a:solidFill>
                <a:srgbClr val="000000"/>
              </a:solidFill>
              <a:effectLst/>
              <a:uLnTx/>
              <a:uFillTx/>
              <a:latin typeface="微软雅黑" panose="020B0503020204020204" pitchFamily="82" charset="2"/>
              <a:ea typeface="微软雅黑" panose="020B0503020204020204" pitchFamily="82" charset="2"/>
              <a:cs typeface="+mn-cs"/>
              <a:sym typeface="+mn-ea"/>
            </a:endParaRPr>
          </a:p>
        </p:txBody>
      </p:sp>
      <p:sp>
        <p:nvSpPr>
          <p:cNvPr id="2" name="灯片编号占位符 1"/>
          <p:cNvSpPr>
            <a:spLocks noGrp="1"/>
          </p:cNvSpPr>
          <p:nvPr>
            <p:ph type="sldNum" sz="quarter" idx="10"/>
          </p:nvPr>
        </p:nvSpPr>
        <p:spPr/>
        <p: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fld id="{87BBDC00-B9E2-4EFD-9306-2934E87247C6}" type="slidenum">
              <a:rPr kumimoji="0" lang="zh-CN" altLang="en-US" sz="1350" b="0" i="0" u="none" strike="noStrike" kern="1200" cap="none" spc="0" normalizeH="0" baseline="0" noProof="0">
                <a:ln>
                  <a:noFill/>
                </a:ln>
                <a:solidFill>
                  <a:srgbClr val="000000"/>
                </a:solidFill>
                <a:effectLst/>
                <a:uLnTx/>
                <a:uFillTx/>
                <a:latin typeface="微软雅黑" panose="020B0503020204020204" pitchFamily="82" charset="2"/>
                <a:ea typeface="微软雅黑" panose="020B0503020204020204" pitchFamily="82" charset="2"/>
                <a:cs typeface="+mn-cs"/>
              </a:rPr>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t>124</a:t>
            </a:fld>
            <a:endParaRPr kumimoji="0" lang="zh-CN" altLang="en-US" sz="1350" b="0" i="0" u="none" strike="noStrike" kern="1200" cap="none" spc="0" normalizeH="0" baseline="0" noProof="0">
              <a:ln>
                <a:noFill/>
              </a:ln>
              <a:solidFill>
                <a:srgbClr val="000000"/>
              </a:solidFill>
              <a:effectLst/>
              <a:uLnTx/>
              <a:uFillTx/>
              <a:latin typeface="微软雅黑" panose="020B0503020204020204" pitchFamily="82" charset="2"/>
              <a:ea typeface="微软雅黑" panose="020B0503020204020204" pitchFamily="82" charset="2"/>
              <a:cs typeface="+mn-cs"/>
            </a:endParaRPr>
          </a:p>
        </p:txBody>
      </p:sp>
      <p:sp>
        <p:nvSpPr>
          <p:cNvPr id="3" name="标题 2"/>
          <p:cNvSpPr>
            <a:spLocks noGrp="1"/>
          </p:cNvSpPr>
          <p:nvPr>
            <p:ph type="title"/>
          </p:nvPr>
        </p:nvSpPr>
        <p:spPr>
          <a:xfrm>
            <a:off x="728661" y="415727"/>
            <a:ext cx="7568173" cy="678470"/>
          </a:xfrm>
        </p:spPr>
        <p:txBody>
          <a:bodyPr/>
          <a:lstStyle/>
          <a:p>
            <a:r>
              <a:rPr lang="en-US" altLang="zh-CN" sz="3200" kern="1200" dirty="0">
                <a:solidFill>
                  <a:srgbClr val="FF0000"/>
                </a:solidFill>
                <a:latin typeface="Arial" panose="020B0604020202020204" pitchFamily="34" charset="0"/>
                <a:cs typeface="+mn-cs"/>
              </a:rPr>
              <a:t>LSM</a:t>
            </a:r>
            <a:r>
              <a:rPr lang="zh-CN" altLang="en-US" sz="3200" kern="1200" dirty="0">
                <a:solidFill>
                  <a:srgbClr val="FF0000"/>
                </a:solidFill>
                <a:latin typeface="Arial" panose="020B0604020202020204" pitchFamily="34" charset="0"/>
                <a:cs typeface="+mn-cs"/>
              </a:rPr>
              <a:t>与</a:t>
            </a:r>
            <a:r>
              <a:rPr lang="en-US" altLang="zh-CN" sz="3200" kern="1200" dirty="0">
                <a:solidFill>
                  <a:srgbClr val="FF0000"/>
                </a:solidFill>
                <a:latin typeface="Arial" panose="020B0604020202020204" pitchFamily="34" charset="0"/>
                <a:cs typeface="+mn-cs"/>
              </a:rPr>
              <a:t>B+</a:t>
            </a:r>
            <a:r>
              <a:rPr lang="zh-CN" altLang="en-US" sz="3200" kern="1200" dirty="0">
                <a:solidFill>
                  <a:srgbClr val="FF0000"/>
                </a:solidFill>
                <a:latin typeface="Arial" panose="020B0604020202020204" pitchFamily="34" charset="0"/>
                <a:cs typeface="+mn-cs"/>
              </a:rPr>
              <a:t>树对比</a:t>
            </a:r>
          </a:p>
        </p:txBody>
      </p:sp>
      <p:sp>
        <p:nvSpPr>
          <p:cNvPr id="4" name="内容占位符 3"/>
          <p:cNvSpPr>
            <a:spLocks noGrp="1"/>
          </p:cNvSpPr>
          <p:nvPr>
            <p:ph idx="1"/>
          </p:nvPr>
        </p:nvSpPr>
        <p:spPr>
          <a:xfrm>
            <a:off x="274584" y="1751855"/>
            <a:ext cx="6419438" cy="4117244"/>
          </a:xfrm>
        </p:spPr>
        <p:txBody>
          <a:bodyPr/>
          <a:lstStyle/>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查找更新适用场景</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B+</a:t>
            </a:r>
            <a:r>
              <a:rPr lang="zh-CN" altLang="en-US" sz="1500" dirty="0">
                <a:latin typeface="微软雅黑" panose="020B0503020204020204" pitchFamily="82" charset="2"/>
                <a:ea typeface="微软雅黑" panose="020B0503020204020204" pitchFamily="82" charset="2"/>
              </a:rPr>
              <a:t>树：读写均产生树高次随机</a:t>
            </a:r>
            <a:r>
              <a:rPr lang="en-US" altLang="zh-CN" sz="1500" dirty="0">
                <a:latin typeface="微软雅黑" panose="020B0503020204020204" pitchFamily="82" charset="2"/>
                <a:ea typeface="微软雅黑" panose="020B0503020204020204" pitchFamily="82" charset="2"/>
              </a:rPr>
              <a:t>I/O,</a:t>
            </a:r>
            <a:r>
              <a:rPr lang="zh-CN" altLang="en-US" sz="1500" dirty="0">
                <a:latin typeface="微软雅黑" panose="020B0503020204020204" pitchFamily="82" charset="2"/>
                <a:ea typeface="微软雅黑" panose="020B0503020204020204" pitchFamily="82" charset="2"/>
              </a:rPr>
              <a:t>适用于</a:t>
            </a:r>
            <a:r>
              <a:rPr lang="zh-CN" altLang="en-US" sz="1500" dirty="0">
                <a:solidFill>
                  <a:srgbClr val="6F1787"/>
                </a:solidFill>
                <a:latin typeface="微软雅黑" panose="020B0503020204020204" pitchFamily="82" charset="2"/>
                <a:ea typeface="微软雅黑" panose="020B0503020204020204" pitchFamily="82" charset="2"/>
              </a:rPr>
              <a:t>读密集型负载</a:t>
            </a:r>
            <a:endParaRPr lang="en-US" altLang="zh-CN" sz="1500" dirty="0">
              <a:solidFill>
                <a:srgbClr val="6F1787"/>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LSM</a:t>
            </a:r>
            <a:r>
              <a:rPr lang="zh-CN" altLang="en-US" sz="1500" dirty="0">
                <a:latin typeface="微软雅黑" panose="020B0503020204020204" pitchFamily="82" charset="2"/>
                <a:ea typeface="微软雅黑" panose="020B0503020204020204" pitchFamily="82" charset="2"/>
              </a:rPr>
              <a:t>树：连续写入，读操作需查多层索引，适用于</a:t>
            </a:r>
            <a:r>
              <a:rPr lang="zh-CN" altLang="en-US" sz="1500" dirty="0">
                <a:solidFill>
                  <a:srgbClr val="6F1787"/>
                </a:solidFill>
                <a:latin typeface="微软雅黑" panose="020B0503020204020204" pitchFamily="82" charset="2"/>
                <a:ea typeface="微软雅黑" panose="020B0503020204020204" pitchFamily="82" charset="2"/>
              </a:rPr>
              <a:t>写密集型负载</a:t>
            </a:r>
            <a:endParaRPr lang="en-US" altLang="zh-CN" sz="1500" dirty="0">
              <a:solidFill>
                <a:srgbClr val="6F1787"/>
              </a:solidFill>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整体架构</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B+</a:t>
            </a:r>
            <a:r>
              <a:rPr lang="zh-CN" altLang="en-US" sz="1500" dirty="0">
                <a:latin typeface="微软雅黑" panose="020B0503020204020204" pitchFamily="82" charset="2"/>
                <a:ea typeface="微软雅黑" panose="020B0503020204020204" pitchFamily="82" charset="2"/>
              </a:rPr>
              <a:t>树：所有页面组成一个树状索引</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LSM</a:t>
            </a:r>
            <a:r>
              <a:rPr lang="zh-CN" altLang="en-US" sz="1500" dirty="0">
                <a:latin typeface="微软雅黑" panose="020B0503020204020204" pitchFamily="82" charset="2"/>
                <a:ea typeface="微软雅黑" panose="020B0503020204020204" pitchFamily="82" charset="2"/>
              </a:rPr>
              <a:t>树：分为多个层级，各层间相对独立</a:t>
            </a:r>
            <a:endParaRPr lang="en-US" altLang="zh-CN" sz="150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1800" b="1" dirty="0">
                <a:solidFill>
                  <a:srgbClr val="701988"/>
                </a:solidFill>
                <a:latin typeface="微软雅黑" panose="020B0503020204020204" pitchFamily="82" charset="2"/>
                <a:ea typeface="微软雅黑" panose="020B0503020204020204" pitchFamily="82" charset="2"/>
              </a:rPr>
              <a:t>内存与磁盘功能</a:t>
            </a:r>
            <a:endParaRPr lang="en-US" altLang="zh-CN" sz="1800" b="1" dirty="0">
              <a:solidFill>
                <a:srgbClr val="701988"/>
              </a:solidFill>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B+</a:t>
            </a:r>
            <a:r>
              <a:rPr lang="zh-CN" altLang="en-US" sz="1500" dirty="0">
                <a:latin typeface="微软雅黑" panose="020B0503020204020204" pitchFamily="82" charset="2"/>
                <a:ea typeface="微软雅黑" panose="020B0503020204020204" pitchFamily="82" charset="2"/>
              </a:rPr>
              <a:t>树中内存作为磁盘上索引结构的缓冲区</a:t>
            </a:r>
            <a:endParaRPr lang="en-US" altLang="zh-CN" sz="1500" dirty="0">
              <a:latin typeface="微软雅黑" panose="020B0503020204020204" pitchFamily="82" charset="2"/>
              <a:ea typeface="微软雅黑" panose="020B0503020204020204" pitchFamily="82" charset="2"/>
            </a:endParaRPr>
          </a:p>
          <a:p>
            <a:pPr lvl="1">
              <a:lnSpc>
                <a:spcPct val="150000"/>
              </a:lnSpc>
              <a:buFont typeface="Arial" panose="020B0604020202020204" pitchFamily="34" charset="0"/>
              <a:buChar char="•"/>
            </a:pPr>
            <a:r>
              <a:rPr lang="en-US" altLang="zh-CN" sz="1500" dirty="0">
                <a:latin typeface="微软雅黑" panose="020B0503020204020204" pitchFamily="82" charset="2"/>
                <a:ea typeface="微软雅黑" panose="020B0503020204020204" pitchFamily="82" charset="2"/>
              </a:rPr>
              <a:t>LSM</a:t>
            </a:r>
            <a:r>
              <a:rPr lang="zh-CN" altLang="en-US" sz="1500" dirty="0">
                <a:latin typeface="微软雅黑" panose="020B0503020204020204" pitchFamily="82" charset="2"/>
                <a:ea typeface="微软雅黑" panose="020B0503020204020204" pitchFamily="82" charset="2"/>
              </a:rPr>
              <a:t>树内存索引与磁盘索引相对独立</a:t>
            </a:r>
            <a:endParaRPr lang="en-US" altLang="zh-CN" sz="1500" dirty="0">
              <a:latin typeface="微软雅黑" panose="020B0503020204020204" pitchFamily="82" charset="2"/>
              <a:ea typeface="微软雅黑" panose="020B0503020204020204" pitchFamily="82" charset="2"/>
            </a:endParaRPr>
          </a:p>
          <a:p>
            <a:pPr lvl="1"/>
            <a:endParaRPr kumimoji="1" lang="zh-CN" altLang="en-US"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768578"/>
            <a:ext cx="2889647" cy="232172"/>
          </a:xfrm>
          <a:prstGeom prst="rect">
            <a:avLst/>
          </a:prstGeom>
        </p:spPr>
        <p: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350" b="0" i="0" u="none" strike="noStrike" kern="1200" cap="none" spc="0" normalizeH="0" baseline="0" noProof="0">
                <a:ln>
                  <a:noFill/>
                </a:ln>
                <a:solidFill>
                  <a:srgbClr val="000000"/>
                </a:solidFill>
                <a:effectLst/>
                <a:uLnTx/>
                <a:uFillTx/>
                <a:latin typeface="微软雅黑" panose="020B0503020204020204" pitchFamily="82" charset="2"/>
                <a:ea typeface="微软雅黑" panose="020B0503020204020204" pitchFamily="82" charset="2"/>
                <a:cs typeface="+mn-cs"/>
              </a:rPr>
              <a:t>数据库系统</a:t>
            </a:r>
            <a:r>
              <a:rPr kumimoji="0" lang="en-US" altLang="zh-CN" sz="1350" b="0" i="0" u="none" strike="noStrike" kern="1200" cap="none" spc="0" normalizeH="0" baseline="0" noProof="0">
                <a:ln>
                  <a:noFill/>
                </a:ln>
                <a:solidFill>
                  <a:srgbClr val="000000"/>
                </a:solidFill>
                <a:effectLst/>
                <a:uLnTx/>
                <a:uFillTx/>
                <a:latin typeface="微软雅黑" panose="020B0503020204020204" pitchFamily="82" charset="2"/>
                <a:ea typeface="微软雅黑" panose="020B0503020204020204" pitchFamily="82" charset="2"/>
                <a:cs typeface="+mn-cs"/>
              </a:rPr>
              <a:t>—</a:t>
            </a:r>
            <a:r>
              <a:rPr kumimoji="0" lang="zh-CN" altLang="en-US" sz="1350" b="0" i="0" u="none" strike="noStrike" kern="1200" cap="none" spc="0" normalizeH="0" baseline="0" noProof="0">
                <a:ln>
                  <a:noFill/>
                </a:ln>
                <a:solidFill>
                  <a:srgbClr val="000000"/>
                </a:solidFill>
                <a:effectLst/>
                <a:uLnTx/>
                <a:uFillTx/>
                <a:latin typeface="微软雅黑" panose="020B0503020204020204" pitchFamily="82" charset="2"/>
                <a:ea typeface="微软雅黑" panose="020B0503020204020204" pitchFamily="82" charset="2"/>
                <a:cs typeface="+mn-cs"/>
              </a:rPr>
              <a:t>索引</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82" charset="2"/>
              <a:ea typeface="微软雅黑" panose="020B0503020204020204" pitchFamily="82" charset="2"/>
              <a:cs typeface="+mn-cs"/>
            </a:endParaRPr>
          </a:p>
        </p:txBody>
      </p:sp>
      <p:graphicFrame>
        <p:nvGraphicFramePr>
          <p:cNvPr id="6" name="表格 6"/>
          <p:cNvGraphicFramePr>
            <a:graphicFrameLocks noGrp="1"/>
          </p:cNvGraphicFramePr>
          <p:nvPr/>
        </p:nvGraphicFramePr>
        <p:xfrm>
          <a:off x="5320589" y="3326742"/>
          <a:ext cx="3215145" cy="1714500"/>
        </p:xfrm>
        <a:graphic>
          <a:graphicData uri="http://schemas.openxmlformats.org/drawingml/2006/table">
            <a:tbl>
              <a:tblPr firstRow="1" bandRow="1">
                <a:tableStyleId>{5940675A-B579-460E-94D1-54222C63F5DA}</a:tableStyleId>
              </a:tblPr>
              <a:tblGrid>
                <a:gridCol w="748289">
                  <a:extLst>
                    <a:ext uri="{9D8B030D-6E8A-4147-A177-3AD203B41FA5}">
                      <a16:colId xmlns:a16="http://schemas.microsoft.com/office/drawing/2014/main" val="20000"/>
                    </a:ext>
                  </a:extLst>
                </a:gridCol>
                <a:gridCol w="1189778">
                  <a:extLst>
                    <a:ext uri="{9D8B030D-6E8A-4147-A177-3AD203B41FA5}">
                      <a16:colId xmlns:a16="http://schemas.microsoft.com/office/drawing/2014/main" val="20001"/>
                    </a:ext>
                  </a:extLst>
                </a:gridCol>
                <a:gridCol w="1277078">
                  <a:extLst>
                    <a:ext uri="{9D8B030D-6E8A-4147-A177-3AD203B41FA5}">
                      <a16:colId xmlns:a16="http://schemas.microsoft.com/office/drawing/2014/main" val="20002"/>
                    </a:ext>
                  </a:extLst>
                </a:gridCol>
              </a:tblGrid>
              <a:tr h="342900">
                <a:tc>
                  <a:txBody>
                    <a:bodyPr/>
                    <a:lstStyle/>
                    <a:p>
                      <a:endParaRPr lang="zh-CN" altLang="en-US" sz="1800" dirty="0">
                        <a:latin typeface="微软雅黑" panose="020B0503020204020204" pitchFamily="82" charset="2"/>
                        <a:ea typeface="微软雅黑" panose="020B0503020204020204" pitchFamily="82" charset="2"/>
                      </a:endParaRPr>
                    </a:p>
                  </a:txBody>
                  <a:tcPr marL="68580" marR="68580" marT="34290" marB="34290"/>
                </a:tc>
                <a:tc>
                  <a:txBody>
                    <a:bodyPr/>
                    <a:lstStyle/>
                    <a:p>
                      <a:r>
                        <a:rPr lang="en-US" altLang="zh-CN" sz="1800" dirty="0">
                          <a:latin typeface="微软雅黑" panose="020B0503020204020204" pitchFamily="82" charset="2"/>
                          <a:ea typeface="微软雅黑" panose="020B0503020204020204" pitchFamily="82" charset="2"/>
                        </a:rPr>
                        <a:t>B+</a:t>
                      </a:r>
                      <a:r>
                        <a:rPr lang="zh-CN" altLang="en-US" sz="1800" dirty="0">
                          <a:latin typeface="微软雅黑" panose="020B0503020204020204" pitchFamily="82" charset="2"/>
                          <a:ea typeface="微软雅黑" panose="020B0503020204020204" pitchFamily="82" charset="2"/>
                        </a:rPr>
                        <a:t>树</a:t>
                      </a:r>
                    </a:p>
                  </a:txBody>
                  <a:tcPr marL="68580" marR="68580" marT="34290" marB="34290"/>
                </a:tc>
                <a:tc>
                  <a:txBody>
                    <a:bodyPr/>
                    <a:lstStyle/>
                    <a:p>
                      <a:r>
                        <a:rPr lang="en-US" altLang="zh-CN" sz="1800" dirty="0">
                          <a:latin typeface="微软雅黑" panose="020B0503020204020204" pitchFamily="82" charset="2"/>
                          <a:ea typeface="微软雅黑" panose="020B0503020204020204" pitchFamily="82" charset="2"/>
                        </a:rPr>
                        <a:t>LSM-</a:t>
                      </a:r>
                      <a:r>
                        <a:rPr lang="zh-CN" altLang="en-US" sz="1800" dirty="0">
                          <a:latin typeface="微软雅黑" panose="020B0503020204020204" pitchFamily="82" charset="2"/>
                          <a:ea typeface="微软雅黑" panose="020B0503020204020204" pitchFamily="82" charset="2"/>
                        </a:rPr>
                        <a:t>树</a:t>
                      </a:r>
                    </a:p>
                  </a:txBody>
                  <a:tcPr marL="68580" marR="68580" marT="34290" marB="34290"/>
                </a:tc>
                <a:extLst>
                  <a:ext uri="{0D108BD9-81ED-4DB2-BD59-A6C34878D82A}">
                    <a16:rowId xmlns:a16="http://schemas.microsoft.com/office/drawing/2014/main" val="10000"/>
                  </a:ext>
                </a:extLst>
              </a:tr>
              <a:tr h="342900">
                <a:tc>
                  <a:txBody>
                    <a:bodyPr/>
                    <a:lstStyle/>
                    <a:p>
                      <a:r>
                        <a:rPr lang="zh-CN" altLang="en-US" sz="1800" dirty="0">
                          <a:latin typeface="微软雅黑" panose="020B0503020204020204" pitchFamily="82" charset="2"/>
                          <a:ea typeface="微软雅黑" panose="020B0503020204020204" pitchFamily="82" charset="2"/>
                        </a:rPr>
                        <a:t>插入</a:t>
                      </a:r>
                    </a:p>
                  </a:txBody>
                  <a:tcPr marL="68580" marR="68580" marT="34290" marB="34290"/>
                </a:tc>
                <a:tc>
                  <a:txBody>
                    <a:bodyPr/>
                    <a:lstStyle/>
                    <a:p>
                      <a:r>
                        <a:rPr lang="en-US" altLang="zh-CN" sz="1800" dirty="0">
                          <a:latin typeface="微软雅黑" panose="020B0503020204020204" pitchFamily="82" charset="2"/>
                          <a:ea typeface="微软雅黑" panose="020B0503020204020204" pitchFamily="82" charset="2"/>
                        </a:rPr>
                        <a:t>O(log</a:t>
                      </a:r>
                      <a:r>
                        <a:rPr lang="zh-CN" altLang="en-US" sz="1800" dirty="0">
                          <a:latin typeface="微软雅黑" panose="020B0503020204020204" pitchFamily="82" charset="2"/>
                          <a:ea typeface="微软雅黑" panose="020B0503020204020204" pitchFamily="82" charset="2"/>
                        </a:rPr>
                        <a:t> </a:t>
                      </a:r>
                      <a:r>
                        <a:rPr lang="en-US" altLang="zh-CN" sz="1800" dirty="0">
                          <a:latin typeface="微软雅黑" panose="020B0503020204020204" pitchFamily="82" charset="2"/>
                          <a:ea typeface="微软雅黑" panose="020B0503020204020204" pitchFamily="82" charset="2"/>
                        </a:rPr>
                        <a:t>n)</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en-US" altLang="zh-CN" sz="1800" dirty="0">
                          <a:latin typeface="微软雅黑" panose="020B0503020204020204" pitchFamily="82" charset="2"/>
                          <a:ea typeface="微软雅黑" panose="020B0503020204020204" pitchFamily="82" charset="2"/>
                        </a:rPr>
                        <a:t>O(1)</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extLst>
                  <a:ext uri="{0D108BD9-81ED-4DB2-BD59-A6C34878D82A}">
                    <a16:rowId xmlns:a16="http://schemas.microsoft.com/office/drawing/2014/main" val="10001"/>
                  </a:ext>
                </a:extLst>
              </a:tr>
              <a:tr h="342900">
                <a:tc>
                  <a:txBody>
                    <a:bodyPr/>
                    <a:lstStyle/>
                    <a:p>
                      <a:r>
                        <a:rPr lang="zh-CN" altLang="en-US" sz="1800" dirty="0">
                          <a:latin typeface="微软雅黑" panose="020B0503020204020204" pitchFamily="82" charset="2"/>
                          <a:ea typeface="微软雅黑" panose="020B0503020204020204" pitchFamily="82" charset="2"/>
                        </a:rPr>
                        <a:t>删除</a:t>
                      </a:r>
                    </a:p>
                  </a:txBody>
                  <a:tcPr marL="68580" marR="68580" marT="34290" marB="34290"/>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en-US" altLang="zh-CN" sz="1800" dirty="0">
                          <a:latin typeface="微软雅黑" panose="020B0503020204020204" pitchFamily="82" charset="2"/>
                          <a:ea typeface="微软雅黑" panose="020B0503020204020204" pitchFamily="82" charset="2"/>
                        </a:rPr>
                        <a:t>O(log</a:t>
                      </a:r>
                      <a:r>
                        <a:rPr lang="zh-CN" altLang="en-US" sz="1800" dirty="0">
                          <a:latin typeface="微软雅黑" panose="020B0503020204020204" pitchFamily="82" charset="2"/>
                          <a:ea typeface="微软雅黑" panose="020B0503020204020204" pitchFamily="82" charset="2"/>
                        </a:rPr>
                        <a:t> </a:t>
                      </a:r>
                      <a:r>
                        <a:rPr lang="en-US" altLang="zh-CN" sz="1800" dirty="0">
                          <a:latin typeface="微软雅黑" panose="020B0503020204020204" pitchFamily="82" charset="2"/>
                          <a:ea typeface="微软雅黑" panose="020B0503020204020204" pitchFamily="82" charset="2"/>
                        </a:rPr>
                        <a:t>n)</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en-US" altLang="zh-CN" sz="1800" dirty="0">
                          <a:latin typeface="微软雅黑" panose="020B0503020204020204" pitchFamily="82" charset="2"/>
                          <a:ea typeface="微软雅黑" panose="020B0503020204020204" pitchFamily="82" charset="2"/>
                        </a:rPr>
                        <a:t>O(1)</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extLst>
                  <a:ext uri="{0D108BD9-81ED-4DB2-BD59-A6C34878D82A}">
                    <a16:rowId xmlns:a16="http://schemas.microsoft.com/office/drawing/2014/main" val="10002"/>
                  </a:ext>
                </a:extLst>
              </a:tr>
              <a:tr h="342900">
                <a:tc>
                  <a:txBody>
                    <a:bodyPr/>
                    <a:lstStyle/>
                    <a:p>
                      <a:r>
                        <a:rPr lang="zh-CN" altLang="en-US" sz="1800" dirty="0">
                          <a:latin typeface="微软雅黑" panose="020B0503020204020204" pitchFamily="82" charset="2"/>
                          <a:ea typeface="微软雅黑" panose="020B0503020204020204" pitchFamily="82" charset="2"/>
                        </a:rPr>
                        <a:t>更新</a:t>
                      </a:r>
                    </a:p>
                  </a:txBody>
                  <a:tcPr marL="68580" marR="68580" marT="34290" marB="34290"/>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en-US" altLang="zh-CN" sz="1800" dirty="0">
                          <a:latin typeface="微软雅黑" panose="020B0503020204020204" pitchFamily="82" charset="2"/>
                          <a:ea typeface="微软雅黑" panose="020B0503020204020204" pitchFamily="82" charset="2"/>
                        </a:rPr>
                        <a:t>O(log</a:t>
                      </a:r>
                      <a:r>
                        <a:rPr lang="zh-CN" altLang="en-US" sz="1800" dirty="0">
                          <a:latin typeface="微软雅黑" panose="020B0503020204020204" pitchFamily="82" charset="2"/>
                          <a:ea typeface="微软雅黑" panose="020B0503020204020204" pitchFamily="82" charset="2"/>
                        </a:rPr>
                        <a:t> </a:t>
                      </a:r>
                      <a:r>
                        <a:rPr lang="en-US" altLang="zh-CN" sz="1800" dirty="0">
                          <a:latin typeface="微软雅黑" panose="020B0503020204020204" pitchFamily="82" charset="2"/>
                          <a:ea typeface="微软雅黑" panose="020B0503020204020204" pitchFamily="82" charset="2"/>
                        </a:rPr>
                        <a:t>n)</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tc>
                  <a:txBody>
                    <a:bodyPr/>
                    <a:lstStyle/>
                    <a:p>
                      <a:r>
                        <a:rPr lang="en-US" altLang="zh-CN" sz="1800" dirty="0">
                          <a:latin typeface="微软雅黑" panose="020B0503020204020204" pitchFamily="82" charset="2"/>
                          <a:ea typeface="微软雅黑" panose="020B0503020204020204" pitchFamily="82" charset="2"/>
                        </a:rPr>
                        <a:t>O(1)</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extLst>
                  <a:ext uri="{0D108BD9-81ED-4DB2-BD59-A6C34878D82A}">
                    <a16:rowId xmlns:a16="http://schemas.microsoft.com/office/drawing/2014/main" val="10003"/>
                  </a:ext>
                </a:extLst>
              </a:tr>
              <a:tr h="342900">
                <a:tc>
                  <a:txBody>
                    <a:bodyPr/>
                    <a:lstStyle/>
                    <a:p>
                      <a:r>
                        <a:rPr lang="zh-CN" altLang="en-US" sz="1800" dirty="0">
                          <a:latin typeface="微软雅黑" panose="020B0503020204020204" pitchFamily="82" charset="2"/>
                          <a:ea typeface="微软雅黑" panose="020B0503020204020204" pitchFamily="82" charset="2"/>
                        </a:rPr>
                        <a:t>查询</a:t>
                      </a:r>
                    </a:p>
                  </a:txBody>
                  <a:tcPr marL="68580" marR="68580" marT="34290" marB="34290"/>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en-US" altLang="zh-CN" sz="1800" dirty="0">
                          <a:latin typeface="微软雅黑" panose="020B0503020204020204" pitchFamily="82" charset="2"/>
                          <a:ea typeface="微软雅黑" panose="020B0503020204020204" pitchFamily="82" charset="2"/>
                        </a:rPr>
                        <a:t>O(log</a:t>
                      </a:r>
                      <a:r>
                        <a:rPr lang="zh-CN" altLang="en-US" sz="1800" dirty="0">
                          <a:latin typeface="微软雅黑" panose="020B0503020204020204" pitchFamily="82" charset="2"/>
                          <a:ea typeface="微软雅黑" panose="020B0503020204020204" pitchFamily="82" charset="2"/>
                        </a:rPr>
                        <a:t> </a:t>
                      </a:r>
                      <a:r>
                        <a:rPr lang="en-US" altLang="zh-CN" sz="1800" dirty="0">
                          <a:latin typeface="微软雅黑" panose="020B0503020204020204" pitchFamily="82" charset="2"/>
                          <a:ea typeface="微软雅黑" panose="020B0503020204020204" pitchFamily="82" charset="2"/>
                        </a:rPr>
                        <a:t>n)</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tc>
                  <a:txBody>
                    <a:bodyPr/>
                    <a:lstStyle/>
                    <a:p>
                      <a:pPr marL="0" marR="0" lvl="0" indent="0" algn="l" defTabSz="843915" rtl="0" eaLnBrk="1" fontAlgn="auto" latinLnBrk="0" hangingPunct="1">
                        <a:lnSpc>
                          <a:spcPct val="100000"/>
                        </a:lnSpc>
                        <a:spcBef>
                          <a:spcPts val="0"/>
                        </a:spcBef>
                        <a:spcAft>
                          <a:spcPts val="0"/>
                        </a:spcAft>
                        <a:buClrTx/>
                        <a:buSzTx/>
                        <a:buFontTx/>
                        <a:buNone/>
                        <a:defRPr/>
                      </a:pPr>
                      <a:r>
                        <a:rPr lang="en-US" altLang="zh-CN" sz="1800" dirty="0">
                          <a:latin typeface="微软雅黑" panose="020B0503020204020204" pitchFamily="82" charset="2"/>
                          <a:ea typeface="微软雅黑" panose="020B0503020204020204" pitchFamily="82" charset="2"/>
                        </a:rPr>
                        <a:t>O(L</a:t>
                      </a:r>
                      <a:r>
                        <a:rPr lang="zh-CN" altLang="en-US" sz="1800" dirty="0">
                          <a:latin typeface="微软雅黑" panose="020B0503020204020204" pitchFamily="82" charset="2"/>
                          <a:ea typeface="微软雅黑" panose="020B0503020204020204" pitchFamily="82" charset="2"/>
                        </a:rPr>
                        <a:t>*</a:t>
                      </a:r>
                      <a:r>
                        <a:rPr lang="en-US" altLang="zh-CN" sz="1800" dirty="0">
                          <a:latin typeface="微软雅黑" panose="020B0503020204020204" pitchFamily="82" charset="2"/>
                          <a:ea typeface="微软雅黑" panose="020B0503020204020204" pitchFamily="82" charset="2"/>
                        </a:rPr>
                        <a:t>log</a:t>
                      </a:r>
                      <a:r>
                        <a:rPr lang="zh-CN" altLang="en-US" sz="1800" dirty="0">
                          <a:latin typeface="微软雅黑" panose="020B0503020204020204" pitchFamily="82" charset="2"/>
                          <a:ea typeface="微软雅黑" panose="020B0503020204020204" pitchFamily="82" charset="2"/>
                        </a:rPr>
                        <a:t> </a:t>
                      </a:r>
                      <a:r>
                        <a:rPr lang="en-US" altLang="zh-CN" sz="1800" dirty="0">
                          <a:latin typeface="微软雅黑" panose="020B0503020204020204" pitchFamily="82" charset="2"/>
                          <a:ea typeface="微软雅黑" panose="020B0503020204020204" pitchFamily="82" charset="2"/>
                        </a:rPr>
                        <a:t>n)</a:t>
                      </a:r>
                      <a:endParaRPr lang="zh-CN" altLang="en-US" sz="1800" dirty="0">
                        <a:latin typeface="微软雅黑" panose="020B0503020204020204" pitchFamily="82" charset="2"/>
                        <a:ea typeface="微软雅黑" panose="020B0503020204020204" pitchFamily="82" charset="2"/>
                      </a:endParaRPr>
                    </a:p>
                  </a:txBody>
                  <a:tcPr marL="68580" marR="68580" marT="34290" marB="34290"/>
                </a:tc>
                <a:extLst>
                  <a:ext uri="{0D108BD9-81ED-4DB2-BD59-A6C34878D82A}">
                    <a16:rowId xmlns:a16="http://schemas.microsoft.com/office/drawing/2014/main" val="10004"/>
                  </a:ext>
                </a:extLst>
              </a:tr>
            </a:tbl>
          </a:graphicData>
        </a:graphic>
      </p:graphicFrame>
      <p:sp>
        <p:nvSpPr>
          <p:cNvPr id="8" name="文本框 7"/>
          <p:cNvSpPr txBox="1"/>
          <p:nvPr/>
        </p:nvSpPr>
        <p:spPr>
          <a:xfrm>
            <a:off x="6090919" y="5066523"/>
            <a:ext cx="2153489" cy="323165"/>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82" charset="2"/>
                <a:ea typeface="微软雅黑" panose="020B0503020204020204" pitchFamily="82" charset="2"/>
                <a:cs typeface="+mn-cs"/>
              </a:rPr>
              <a:t>L</a:t>
            </a: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82" charset="2"/>
                <a:ea typeface="微软雅黑" panose="020B0503020204020204" pitchFamily="82" charset="2"/>
                <a:cs typeface="+mn-cs"/>
              </a:rPr>
              <a:t>：层数；</a:t>
            </a:r>
            <a:r>
              <a:rPr kumimoji="0" lang="en-US" altLang="zh-CN" sz="1500" b="0" i="0" u="none" strike="noStrike" kern="1200" cap="none" spc="0" normalizeH="0" baseline="0" noProof="0" dirty="0">
                <a:ln>
                  <a:noFill/>
                </a:ln>
                <a:solidFill>
                  <a:srgbClr val="000000"/>
                </a:solidFill>
                <a:effectLst/>
                <a:uLnTx/>
                <a:uFillTx/>
                <a:latin typeface="微软雅黑" panose="020B0503020204020204" pitchFamily="82" charset="2"/>
                <a:ea typeface="微软雅黑" panose="020B0503020204020204" pitchFamily="82" charset="2"/>
                <a:cs typeface="+mn-cs"/>
              </a:rPr>
              <a:t>n</a:t>
            </a:r>
            <a:r>
              <a:rPr kumimoji="0" lang="zh-CN" altLang="en-US" sz="1500" b="0" i="0" u="none" strike="noStrike" kern="1200" cap="none" spc="0" normalizeH="0" baseline="0" noProof="0" dirty="0">
                <a:ln>
                  <a:noFill/>
                </a:ln>
                <a:solidFill>
                  <a:srgbClr val="000000"/>
                </a:solidFill>
                <a:effectLst/>
                <a:uLnTx/>
                <a:uFillTx/>
                <a:latin typeface="微软雅黑" panose="020B0503020204020204" pitchFamily="82" charset="2"/>
                <a:ea typeface="微软雅黑" panose="020B0503020204020204" pitchFamily="82" charset="2"/>
                <a:cs typeface="+mn-cs"/>
              </a:rPr>
              <a:t>：记录数</a:t>
            </a:r>
          </a:p>
        </p:txBody>
      </p:sp>
    </p:spTree>
    <p:extLst>
      <p:ext uri="{BB962C8B-B14F-4D97-AF65-F5344CB8AC3E}">
        <p14:creationId xmlns:p14="http://schemas.microsoft.com/office/powerpoint/2010/main" val="343263487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p:cNvSpPr/>
          <p:nvPr/>
        </p:nvSpPr>
        <p:spPr>
          <a:xfrm>
            <a:off x="2261570" y="1268760"/>
            <a:ext cx="4714667" cy="3424809"/>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85800" fontAlgn="auto">
              <a:spcBef>
                <a:spcPts val="0"/>
              </a:spcBef>
              <a:spcAft>
                <a:spcPts val="0"/>
              </a:spcAft>
            </a:pPr>
            <a:endParaRPr lang="zh-CN" altLang="en-US" sz="1350" b="1" dirty="0">
              <a:solidFill>
                <a:srgbClr val="000000"/>
              </a:solidFill>
              <a:latin typeface="OPPOSans M" panose="00020600040101010101" pitchFamily="18" charset="-122"/>
              <a:ea typeface="OPPOSans M" panose="00020600040101010101" pitchFamily="18" charset="-122"/>
              <a:sym typeface="+mn-ea"/>
            </a:endParaRPr>
          </a:p>
        </p:txBody>
      </p:sp>
      <p:sp>
        <p:nvSpPr>
          <p:cNvPr id="2" name="灯片编号占位符 1"/>
          <p:cNvSpPr>
            <a:spLocks noGrp="1"/>
          </p:cNvSpPr>
          <p:nvPr>
            <p:ph type="sldNum" sz="quarter" idx="10"/>
          </p:nvPr>
        </p:nvSpPr>
        <p:spPr/>
        <p:txBody>
          <a:bodyPr/>
          <a:lstStyle/>
          <a:p>
            <a:pPr defTabSz="685800" fontAlgn="auto">
              <a:spcBef>
                <a:spcPts val="0"/>
              </a:spcBef>
              <a:spcAft>
                <a:spcPts val="0"/>
              </a:spcAft>
            </a:pPr>
            <a:fld id="{87BBDC00-B9E2-4EFD-9306-2934E87247C6}" type="slidenum">
              <a:rPr lang="zh-CN" altLang="en-US" sz="1350">
                <a:solidFill>
                  <a:srgbClr val="000000"/>
                </a:solidFill>
                <a:latin typeface="微软雅黑" panose="020B0503020204020204" pitchFamily="82" charset="2"/>
                <a:ea typeface="微软雅黑" panose="020B0503020204020204" pitchFamily="82" charset="2"/>
              </a:rPr>
              <a:t>125</a:t>
            </a:fld>
            <a:endParaRPr lang="zh-CN" altLang="en-US" sz="1350">
              <a:solidFill>
                <a:srgbClr val="000000"/>
              </a:solidFill>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p:txBody>
          <a:bodyPr/>
          <a:lstStyle/>
          <a:p>
            <a:r>
              <a:rPr lang="zh-CN" altLang="en-US" sz="2700" dirty="0">
                <a:solidFill>
                  <a:srgbClr val="FF0000"/>
                </a:solidFill>
                <a:latin typeface="微软雅黑" panose="020B0503020204020204" pitchFamily="82" charset="2"/>
                <a:ea typeface="微软雅黑" panose="020B0503020204020204" pitchFamily="82" charset="2"/>
              </a:rPr>
              <a:t>目录</a:t>
            </a:r>
          </a:p>
        </p:txBody>
      </p:sp>
      <p:sp>
        <p:nvSpPr>
          <p:cNvPr id="4" name="内容占位符 3"/>
          <p:cNvSpPr>
            <a:spLocks noGrp="1"/>
          </p:cNvSpPr>
          <p:nvPr>
            <p:ph idx="1"/>
          </p:nvPr>
        </p:nvSpPr>
        <p:spPr>
          <a:xfrm>
            <a:off x="2484300" y="1475009"/>
            <a:ext cx="4355960" cy="3143768"/>
          </a:xfrm>
        </p:spPr>
        <p:txBody>
          <a:bodyPr/>
          <a:lstStyle/>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索引概述</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B+</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dirty="0">
                <a:latin typeface="微软雅黑" panose="020B0503020204020204" pitchFamily="82" charset="2"/>
                <a:ea typeface="微软雅黑" panose="020B0503020204020204" pitchFamily="82" charset="2"/>
              </a:rPr>
              <a:t>哈希索引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err="1">
                <a:latin typeface="微软雅黑" panose="020B0503020204020204" pitchFamily="82" charset="2"/>
                <a:ea typeface="微软雅黑" panose="020B0503020204020204" pitchFamily="82" charset="2"/>
              </a:rPr>
              <a:t>SkipList</a:t>
            </a:r>
            <a:r>
              <a:rPr lang="zh-CN" altLang="en-US" dirty="0">
                <a:latin typeface="微软雅黑" panose="020B0503020204020204" pitchFamily="82" charset="2"/>
                <a:ea typeface="微软雅黑" panose="020B0503020204020204" pitchFamily="82" charset="2"/>
              </a:rPr>
              <a:t>跳表索引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en-US" altLang="zh-CN" dirty="0">
                <a:latin typeface="微软雅黑" panose="020B0503020204020204" pitchFamily="82" charset="2"/>
                <a:ea typeface="微软雅黑" panose="020B0503020204020204" pitchFamily="82" charset="2"/>
              </a:rPr>
              <a:t>LSM</a:t>
            </a:r>
            <a:r>
              <a:rPr lang="zh-CN" altLang="en-US" dirty="0">
                <a:latin typeface="微软雅黑" panose="020B0503020204020204" pitchFamily="82" charset="2"/>
                <a:ea typeface="微软雅黑" panose="020B0503020204020204" pitchFamily="82" charset="2"/>
              </a:rPr>
              <a:t>树索引</a:t>
            </a:r>
            <a:endParaRPr lang="en-US" altLang="zh-CN" dirty="0">
              <a:latin typeface="微软雅黑" panose="020B0503020204020204" pitchFamily="82" charset="2"/>
              <a:ea typeface="微软雅黑" panose="020B0503020204020204" pitchFamily="82" charset="2"/>
            </a:endParaRPr>
          </a:p>
          <a:p>
            <a:pPr marL="342900" indent="-342900">
              <a:buFont typeface="+mj-lt"/>
              <a:buAutoNum type="arabicPeriod"/>
            </a:pPr>
            <a:r>
              <a:rPr lang="zh-CN" altLang="en-US" b="1" dirty="0">
                <a:solidFill>
                  <a:srgbClr val="701988"/>
                </a:solidFill>
                <a:latin typeface="微软雅黑" panose="020B0503020204020204" pitchFamily="82" charset="2"/>
                <a:ea typeface="微软雅黑" panose="020B0503020204020204" pitchFamily="82" charset="2"/>
              </a:rPr>
              <a:t>位图索引</a:t>
            </a:r>
            <a:endParaRPr lang="en-US" altLang="zh-CN" b="1" dirty="0">
              <a:solidFill>
                <a:srgbClr val="701988"/>
              </a:solidFill>
              <a:latin typeface="微软雅黑" panose="020B0503020204020204" pitchFamily="82" charset="2"/>
              <a:ea typeface="微软雅黑" panose="020B0503020204020204" pitchFamily="82" charset="2"/>
            </a:endParaRPr>
          </a:p>
          <a:p>
            <a:pPr marL="0" indent="0">
              <a:buNone/>
            </a:pPr>
            <a:r>
              <a:rPr lang="en-US" altLang="zh-CN" sz="1800" dirty="0" smtClean="0">
                <a:latin typeface="微软雅黑" panose="020B0503020204020204" pitchFamily="82" charset="2"/>
                <a:ea typeface="微软雅黑" panose="020B0503020204020204" pitchFamily="82" charset="2"/>
              </a:rPr>
              <a:t>     </a:t>
            </a:r>
            <a:endParaRPr lang="zh-CN" altLang="en-US" sz="1800" dirty="0">
              <a:latin typeface="微软雅黑" panose="020B0503020204020204" pitchFamily="82" charset="2"/>
              <a:ea typeface="微软雅黑" panose="020B0503020204020204" pitchFamily="82" charset="2"/>
            </a:endParaRPr>
          </a:p>
        </p:txBody>
      </p:sp>
      <p:sp>
        <p:nvSpPr>
          <p:cNvPr id="5" name="页脚占位符 4"/>
          <p:cNvSpPr>
            <a:spLocks noGrp="1"/>
          </p:cNvSpPr>
          <p:nvPr>
            <p:ph type="ftr" sz="quarter" idx="4294967295"/>
          </p:nvPr>
        </p:nvSpPr>
        <p:spPr>
          <a:xfrm>
            <a:off x="3067925" y="5300909"/>
            <a:ext cx="2889647" cy="232172"/>
          </a:xfrm>
          <a:prstGeom prst="rect">
            <a:avLst/>
          </a:prstGeom>
        </p:spPr>
        <p:txBody>
          <a:bodyPr/>
          <a:lstStyle/>
          <a:p>
            <a:pPr defTabSz="685800" fontAlgn="auto">
              <a:spcBef>
                <a:spcPts val="0"/>
              </a:spcBef>
              <a:spcAft>
                <a:spcPts val="0"/>
              </a:spcAft>
              <a:defRPr/>
            </a:pPr>
            <a:r>
              <a:rPr lang="zh-CN" altLang="en-US" sz="1350">
                <a:solidFill>
                  <a:srgbClr val="000000"/>
                </a:solidFill>
                <a:latin typeface="微软雅黑" panose="020B0503020204020204" pitchFamily="82" charset="2"/>
                <a:ea typeface="微软雅黑" panose="020B0503020204020204" pitchFamily="82" charset="2"/>
              </a:rPr>
              <a:t>数据库系统</a:t>
            </a:r>
            <a:r>
              <a:rPr lang="en-US" altLang="zh-CN" sz="1350">
                <a:solidFill>
                  <a:srgbClr val="000000"/>
                </a:solidFill>
                <a:latin typeface="微软雅黑" panose="020B0503020204020204" pitchFamily="82" charset="2"/>
                <a:ea typeface="微软雅黑" panose="020B0503020204020204" pitchFamily="82" charset="2"/>
              </a:rPr>
              <a:t>—</a:t>
            </a:r>
            <a:r>
              <a:rPr lang="zh-CN" altLang="en-US" sz="1350">
                <a:solidFill>
                  <a:srgbClr val="000000"/>
                </a:solidFill>
                <a:latin typeface="微软雅黑" panose="020B0503020204020204" pitchFamily="82" charset="2"/>
                <a:ea typeface="微软雅黑" panose="020B0503020204020204" pitchFamily="82" charset="2"/>
              </a:rPr>
              <a:t>索引</a:t>
            </a:r>
            <a:endParaRPr lang="en-US" altLang="zh-CN" sz="900" dirty="0">
              <a:solidFill>
                <a:srgbClr val="000000"/>
              </a:solidFill>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283241547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位图索引</a:t>
            </a:r>
          </a:p>
        </p:txBody>
      </p:sp>
      <p:sp>
        <p:nvSpPr>
          <p:cNvPr id="93187" name="Rectangle 3"/>
          <p:cNvSpPr>
            <a:spLocks noGrp="1"/>
          </p:cNvSpPr>
          <p:nvPr>
            <p:ph type="body" idx="4294967295"/>
          </p:nvPr>
        </p:nvSpPr>
        <p:spPr/>
        <p:txBody>
          <a:bodyPr vert="horz" wrap="square" lIns="91440" tIns="45720" rIns="91440" bIns="45720" anchor="t" anchorCtr="0"/>
          <a:lstStyle/>
          <a:p>
            <a:r>
              <a:rPr lang="zh-CN" altLang="en-US" sz="2800" b="1" dirty="0">
                <a:ea typeface="宋体" panose="02010600030101010101" pitchFamily="2" charset="-122"/>
                <a:sym typeface="+mn-ea"/>
              </a:rPr>
              <a:t>位图</a:t>
            </a:r>
            <a:r>
              <a:rPr lang="en-US" altLang="zh-CN" sz="2800" dirty="0">
                <a:ea typeface="宋体" panose="02010600030101010101" pitchFamily="2" charset="-122"/>
                <a:sym typeface="+mn-ea"/>
              </a:rPr>
              <a:t>(Bitmap)</a:t>
            </a:r>
            <a:r>
              <a:rPr lang="zh-CN" altLang="en-US" sz="2800" b="1" dirty="0">
                <a:ea typeface="宋体" panose="02010600030101010101" pitchFamily="2" charset="-122"/>
                <a:sym typeface="+mn-ea"/>
              </a:rPr>
              <a:t>即位</a:t>
            </a:r>
            <a:r>
              <a:rPr lang="en-US" altLang="zh-CN" sz="2800" b="1" dirty="0">
                <a:ea typeface="宋体" panose="02010600030101010101" pitchFamily="2" charset="-122"/>
                <a:sym typeface="+mn-ea"/>
              </a:rPr>
              <a:t>(</a:t>
            </a:r>
            <a:r>
              <a:rPr lang="en-US" altLang="zh-CN" sz="2800" dirty="0">
                <a:ea typeface="宋体" panose="02010600030101010101" pitchFamily="2" charset="-122"/>
                <a:sym typeface="+mn-ea"/>
              </a:rPr>
              <a:t>Bit)</a:t>
            </a:r>
            <a:r>
              <a:rPr lang="zh-CN" altLang="en-US" sz="2800" b="1" dirty="0">
                <a:ea typeface="宋体" panose="02010600030101010101" pitchFamily="2" charset="-122"/>
                <a:sym typeface="+mn-ea"/>
              </a:rPr>
              <a:t>的数组</a:t>
            </a:r>
            <a:endParaRPr lang="zh-CN" altLang="en-US" sz="2800" b="1" dirty="0">
              <a:ea typeface="宋体" panose="02010600030101010101" pitchFamily="2" charset="-122"/>
            </a:endParaRPr>
          </a:p>
          <a:p>
            <a:r>
              <a:rPr lang="zh-CN" altLang="en-US" sz="2800" b="1" dirty="0">
                <a:ea typeface="宋体" panose="02010600030101010101" pitchFamily="2" charset="-122"/>
              </a:rPr>
              <a:t>位图索引是一种特殊类型的索引, 用来实现高效的多键查询</a:t>
            </a:r>
          </a:p>
          <a:p>
            <a:r>
              <a:rPr lang="zh-CN" altLang="en-US" sz="2800" b="1" dirty="0">
                <a:ea typeface="宋体" panose="02010600030101010101" pitchFamily="2" charset="-122"/>
              </a:rPr>
              <a:t>假设关系中的记录从0开始顺序编号</a:t>
            </a:r>
          </a:p>
          <a:p>
            <a:pPr lvl="1"/>
            <a:r>
              <a:rPr lang="zh-CN" altLang="en-US" sz="2400" b="1" dirty="0">
                <a:ea typeface="宋体" panose="02010600030101010101" pitchFamily="2" charset="-122"/>
              </a:rPr>
              <a:t>给定数 </a:t>
            </a:r>
            <a:r>
              <a:rPr lang="zh-CN" altLang="en-US" sz="2400" b="1" i="1" dirty="0">
                <a:ea typeface="宋体" panose="02010600030101010101" pitchFamily="2" charset="-122"/>
              </a:rPr>
              <a:t>n</a:t>
            </a:r>
            <a:r>
              <a:rPr lang="zh-CN" altLang="en-US" sz="2400" b="1" dirty="0">
                <a:ea typeface="宋体" panose="02010600030101010101" pitchFamily="2" charset="-122"/>
              </a:rPr>
              <a:t> 必须很容易取得记录</a:t>
            </a:r>
            <a:r>
              <a:rPr lang="zh-CN" altLang="en-US" sz="2400" b="1" i="1" dirty="0">
                <a:ea typeface="宋体" panose="02010600030101010101" pitchFamily="2" charset="-122"/>
              </a:rPr>
              <a:t>n</a:t>
            </a:r>
            <a:endParaRPr lang="zh-CN" altLang="en-US" sz="2400" b="1" dirty="0">
              <a:ea typeface="宋体" panose="02010600030101010101" pitchFamily="2" charset="-122"/>
            </a:endParaRPr>
          </a:p>
          <a:p>
            <a:pPr lvl="1"/>
            <a:r>
              <a:rPr lang="zh-CN" altLang="en-US" sz="2400" b="1" dirty="0">
                <a:ea typeface="宋体" panose="02010600030101010101" pitchFamily="2" charset="-122"/>
              </a:rPr>
              <a:t>如果是定长记录尤其容易</a:t>
            </a:r>
          </a:p>
          <a:p>
            <a:r>
              <a:rPr lang="zh-CN" altLang="en-US" sz="2800" b="1" dirty="0">
                <a:ea typeface="宋体" panose="02010600030101010101" pitchFamily="2" charset="-122"/>
              </a:rPr>
              <a:t>适用于具有相对较少数目的不同值的属性</a:t>
            </a:r>
          </a:p>
          <a:p>
            <a:pPr lvl="1"/>
            <a:r>
              <a:rPr lang="zh-CN" altLang="en-US" sz="2400" b="1" dirty="0">
                <a:ea typeface="宋体" panose="02010600030101010101" pitchFamily="2" charset="-122"/>
              </a:rPr>
              <a:t>例如性别, 国家, 州, …</a:t>
            </a:r>
          </a:p>
          <a:p>
            <a:pPr lvl="1"/>
            <a:r>
              <a:rPr lang="zh-CN" altLang="en-US" sz="2400" b="1" dirty="0">
                <a:ea typeface="宋体" panose="02010600030101010101" pitchFamily="2" charset="-122"/>
              </a:rPr>
              <a:t>例如收入等级(收入分解成少数几个等级, 如0-9999, 10000-19999, 20000-50000, 50000- 无穷大)</a:t>
            </a:r>
          </a:p>
          <a:p>
            <a:endParaRPr lang="zh-CN" altLang="en-US" sz="2800" b="1"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1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18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318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31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3187">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3187">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31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位图索引(续)</a:t>
            </a:r>
          </a:p>
        </p:txBody>
      </p:sp>
      <p:sp>
        <p:nvSpPr>
          <p:cNvPr id="94211" name="Rectangle 3"/>
          <p:cNvSpPr>
            <a:spLocks noGrp="1"/>
          </p:cNvSpPr>
          <p:nvPr>
            <p:ph type="body" idx="4294967295"/>
          </p:nvPr>
        </p:nvSpPr>
        <p:spPr/>
        <p:txBody>
          <a:bodyPr vert="horz" wrap="square" lIns="91440" tIns="45720" rIns="91440" bIns="45720" anchor="t" anchorCtr="0"/>
          <a:lstStyle/>
          <a:p>
            <a:r>
              <a:rPr lang="zh-CN" altLang="en-US" sz="2400" b="1" dirty="0">
                <a:ea typeface="宋体" panose="02010600030101010101" pitchFamily="2" charset="-122"/>
              </a:rPr>
              <a:t>一个属性的最简单形式的位图索引就是对该属性的每个值都有一个位图</a:t>
            </a:r>
          </a:p>
          <a:p>
            <a:r>
              <a:rPr lang="zh-CN" altLang="en-US" sz="2400" b="1" dirty="0">
                <a:ea typeface="宋体" panose="02010600030101010101" pitchFamily="2" charset="-122"/>
              </a:rPr>
              <a:t>位图的位数等于记录个数</a:t>
            </a:r>
          </a:p>
          <a:p>
            <a:r>
              <a:rPr lang="zh-CN" altLang="en-US" sz="2400" b="1" dirty="0">
                <a:ea typeface="宋体" panose="02010600030101010101" pitchFamily="2" charset="-122"/>
              </a:rPr>
              <a:t>在值v的位图中,如果记录在该属性上的值是v, 则对应的位为1, 否则为 0</a:t>
            </a:r>
          </a:p>
        </p:txBody>
      </p:sp>
      <p:pic>
        <p:nvPicPr>
          <p:cNvPr id="95236" name="Picture 4"/>
          <p:cNvPicPr>
            <a:picLocks noChangeAspect="1"/>
          </p:cNvPicPr>
          <p:nvPr/>
        </p:nvPicPr>
        <p:blipFill>
          <a:blip r:embed="rId2"/>
          <a:srcRect l="1224" t="20047" r="2272" b="37529"/>
          <a:stretch>
            <a:fillRect/>
          </a:stretch>
        </p:blipFill>
        <p:spPr>
          <a:xfrm>
            <a:off x="473075" y="3438525"/>
            <a:ext cx="8396288" cy="2768600"/>
          </a:xfrm>
          <a:prstGeom prst="rect">
            <a:avLst/>
          </a:prstGeom>
          <a:noFill/>
          <a:ln w="76200" cap="flat" cmpd="tri">
            <a:solidFill>
              <a:schemeClr val="tx2"/>
            </a:solidFill>
            <a:prstDash val="solid"/>
            <a:miter/>
            <a:headEnd type="none" w="med" len="med"/>
            <a:tailEnd type="none" w="med" len="me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位图索引 (续)</a:t>
            </a:r>
          </a:p>
        </p:txBody>
      </p:sp>
      <p:sp>
        <p:nvSpPr>
          <p:cNvPr id="95235" name="Rectangle 3"/>
          <p:cNvSpPr>
            <a:spLocks noGrp="1"/>
          </p:cNvSpPr>
          <p:nvPr>
            <p:ph type="body" idx="4294967295"/>
          </p:nvPr>
        </p:nvSpPr>
        <p:spPr>
          <a:xfrm>
            <a:off x="752475" y="1047750"/>
            <a:ext cx="7881938" cy="5259388"/>
          </a:xfrm>
        </p:spPr>
        <p:txBody>
          <a:bodyPr vert="horz" wrap="square" lIns="91440" tIns="45720" rIns="91440" bIns="45720" anchor="t" anchorCtr="0"/>
          <a:lstStyle/>
          <a:p>
            <a:pPr marL="381000" indent="-381000"/>
            <a:r>
              <a:rPr lang="zh-CN" altLang="en-US" b="1" dirty="0">
                <a:ea typeface="宋体" panose="02010600030101010101" pitchFamily="2" charset="-122"/>
              </a:rPr>
              <a:t>位图索引对多属性查询很有用</a:t>
            </a:r>
          </a:p>
          <a:p>
            <a:pPr marL="800100" lvl="1" indent="-342900"/>
            <a:r>
              <a:rPr lang="zh-CN" altLang="en-US" sz="1800" b="1" dirty="0">
                <a:ea typeface="宋体" panose="02010600030101010101" pitchFamily="2" charset="-122"/>
              </a:rPr>
              <a:t>对单属性查询不是特别有用</a:t>
            </a:r>
          </a:p>
          <a:p>
            <a:pPr marL="381000" indent="-381000"/>
            <a:r>
              <a:rPr lang="zh-CN" altLang="en-US" b="1" dirty="0">
                <a:ea typeface="宋体" panose="02010600030101010101" pitchFamily="2" charset="-122"/>
              </a:rPr>
              <a:t>可以利用位图运算来解答查询</a:t>
            </a:r>
          </a:p>
          <a:p>
            <a:pPr marL="800100" lvl="1" indent="-342900"/>
            <a:r>
              <a:rPr lang="zh-CN" altLang="en-US" sz="1800" b="1" dirty="0">
                <a:ea typeface="宋体" panose="02010600030101010101" pitchFamily="2" charset="-122"/>
              </a:rPr>
              <a:t>交 (and)</a:t>
            </a:r>
          </a:p>
          <a:p>
            <a:pPr marL="800100" lvl="1" indent="-342900"/>
            <a:r>
              <a:rPr lang="zh-CN" altLang="en-US" sz="1800" b="1" dirty="0">
                <a:ea typeface="宋体" panose="02010600030101010101" pitchFamily="2" charset="-122"/>
              </a:rPr>
              <a:t>并 (or)</a:t>
            </a:r>
          </a:p>
          <a:p>
            <a:pPr marL="800100" lvl="1" indent="-342900"/>
            <a:r>
              <a:rPr lang="zh-CN" altLang="en-US" sz="1800" b="1" dirty="0">
                <a:ea typeface="宋体" panose="02010600030101010101" pitchFamily="2" charset="-122"/>
              </a:rPr>
              <a:t>补 (not) </a:t>
            </a:r>
          </a:p>
          <a:p>
            <a:pPr marL="381000" indent="-381000"/>
            <a:r>
              <a:rPr lang="zh-CN" altLang="en-US" b="1" dirty="0">
                <a:ea typeface="宋体" panose="02010600030101010101" pitchFamily="2" charset="-122"/>
              </a:rPr>
              <a:t>每个运算施加于两个大小相同的位图并对对应的位进行运算, 得到结果位图</a:t>
            </a:r>
          </a:p>
          <a:p>
            <a:pPr marL="800100" lvl="1" indent="-342900"/>
            <a:r>
              <a:rPr lang="zh-CN" altLang="en-US" sz="1800" b="1" dirty="0">
                <a:ea typeface="宋体" panose="02010600030101010101" pitchFamily="2" charset="-122"/>
              </a:rPr>
              <a:t>例如  100110  AND 110011 = 100010</a:t>
            </a:r>
          </a:p>
          <a:p>
            <a:pPr marL="800100" lvl="1" indent="-342900">
              <a:buNone/>
            </a:pPr>
            <a:r>
              <a:rPr lang="zh-CN" altLang="en-US" sz="1800" b="1" dirty="0">
                <a:ea typeface="宋体" panose="02010600030101010101" pitchFamily="2" charset="-122"/>
              </a:rPr>
              <a:t>               100110  OR  110011 = 110111</a:t>
            </a:r>
            <a:br>
              <a:rPr lang="zh-CN" altLang="en-US" sz="1800" b="1" dirty="0">
                <a:ea typeface="宋体" panose="02010600030101010101" pitchFamily="2" charset="-122"/>
              </a:rPr>
            </a:br>
            <a:r>
              <a:rPr lang="zh-CN" altLang="en-US" sz="1800" b="1" dirty="0">
                <a:ea typeface="宋体" panose="02010600030101010101" pitchFamily="2" charset="-122"/>
              </a:rPr>
              <a:t>                       NOT 100110  = 011001</a:t>
            </a:r>
          </a:p>
          <a:p>
            <a:pPr marL="800100" lvl="1" indent="-342900"/>
            <a:r>
              <a:rPr lang="zh-CN" altLang="en-US" sz="1800" b="1" dirty="0">
                <a:ea typeface="宋体" panose="02010600030101010101" pitchFamily="2" charset="-122"/>
              </a:rPr>
              <a:t>收入等级为L1的男性:   10010 AND 10100 = 10000</a:t>
            </a:r>
          </a:p>
          <a:p>
            <a:pPr marL="1200150" lvl="2" indent="-342900"/>
            <a:r>
              <a:rPr lang="zh-CN" altLang="en-US" sz="1800" b="1" dirty="0">
                <a:ea typeface="宋体" panose="02010600030101010101" pitchFamily="2" charset="-122"/>
              </a:rPr>
              <a:t>然后即可读取所需元组.</a:t>
            </a:r>
          </a:p>
          <a:p>
            <a:pPr marL="1200150" lvl="2" indent="-342900"/>
            <a:r>
              <a:rPr lang="zh-CN" altLang="en-US" sz="1800" b="1" dirty="0">
                <a:ea typeface="宋体" panose="02010600030101010101" pitchFamily="2" charset="-122"/>
              </a:rPr>
              <a:t>匹配元组的计数更快</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52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52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523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523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523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523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523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523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5235">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52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26"/>
          <p:cNvSpPr>
            <a:spLocks noGrp="1" noChangeArrowheads="1"/>
          </p:cNvSpPr>
          <p:nvPr>
            <p:ph type="title" idx="4294967295"/>
          </p:nvPr>
        </p:nvSpPr>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位图索引(续)</a:t>
            </a:r>
          </a:p>
        </p:txBody>
      </p:sp>
      <p:sp>
        <p:nvSpPr>
          <p:cNvPr id="96259" name="Rectangle 1027"/>
          <p:cNvSpPr>
            <a:spLocks noGrp="1"/>
          </p:cNvSpPr>
          <p:nvPr>
            <p:ph type="body" idx="4294967295"/>
          </p:nvPr>
        </p:nvSpPr>
        <p:spPr>
          <a:xfrm>
            <a:off x="752475" y="1047750"/>
            <a:ext cx="8126413" cy="4876800"/>
          </a:xfrm>
        </p:spPr>
        <p:txBody>
          <a:bodyPr vert="horz" wrap="square" lIns="91440" tIns="45720" rIns="91440" bIns="45720" anchor="t" anchorCtr="0"/>
          <a:lstStyle/>
          <a:p>
            <a:pPr>
              <a:lnSpc>
                <a:spcPct val="90000"/>
              </a:lnSpc>
            </a:pPr>
            <a:r>
              <a:rPr lang="zh-CN" altLang="en-US" sz="2400" b="1" dirty="0">
                <a:ea typeface="宋体" panose="02010600030101010101" pitchFamily="2" charset="-122"/>
              </a:rPr>
              <a:t>与关系大小相比, 位图索引一般很小。</a:t>
            </a:r>
          </a:p>
          <a:p>
            <a:pPr>
              <a:lnSpc>
                <a:spcPct val="90000"/>
              </a:lnSpc>
            </a:pPr>
            <a:r>
              <a:rPr lang="zh-CN" altLang="en-US" sz="2400" b="1" dirty="0">
                <a:ea typeface="宋体" panose="02010600030101010101" pitchFamily="2" charset="-122"/>
              </a:rPr>
              <a:t>例如若记录为100字节, 单个位图的空间为关系所用空间的1/800 </a:t>
            </a:r>
          </a:p>
          <a:p>
            <a:pPr>
              <a:lnSpc>
                <a:spcPct val="90000"/>
              </a:lnSpc>
            </a:pPr>
            <a:r>
              <a:rPr lang="zh-CN" altLang="en-US" sz="2400" b="1" dirty="0">
                <a:ea typeface="宋体" panose="02010600030101010101" pitchFamily="2" charset="-122"/>
              </a:rPr>
              <a:t>若不同属性值的个数为8, 位图仅为关系大小的1%</a:t>
            </a:r>
          </a:p>
          <a:p>
            <a:pPr>
              <a:lnSpc>
                <a:spcPct val="90000"/>
              </a:lnSpc>
            </a:pPr>
            <a:r>
              <a:rPr lang="zh-CN" altLang="en-US" sz="2400" b="1" dirty="0">
                <a:ea typeface="宋体" panose="02010600030101010101" pitchFamily="2" charset="-122"/>
              </a:rPr>
              <a:t>删除需要恰当地处理</a:t>
            </a:r>
          </a:p>
          <a:p>
            <a:pPr>
              <a:lnSpc>
                <a:spcPct val="90000"/>
              </a:lnSpc>
            </a:pPr>
            <a:r>
              <a:rPr lang="zh-CN" altLang="en-US" sz="2400" b="1" dirty="0">
                <a:solidFill>
                  <a:schemeClr val="tx2"/>
                </a:solidFill>
                <a:ea typeface="宋体" panose="02010600030101010101" pitchFamily="2" charset="-122"/>
              </a:rPr>
              <a:t>存在位图</a:t>
            </a:r>
            <a:r>
              <a:rPr lang="zh-CN" altLang="en-US" sz="2400" b="1" dirty="0">
                <a:ea typeface="宋体" panose="02010600030101010101" pitchFamily="2" charset="-122"/>
              </a:rPr>
              <a:t>指示在一个记录位置是否有合法记录</a:t>
            </a:r>
          </a:p>
          <a:p>
            <a:pPr>
              <a:lnSpc>
                <a:spcPct val="90000"/>
              </a:lnSpc>
            </a:pPr>
            <a:r>
              <a:rPr lang="zh-CN" altLang="en-US" sz="2400" b="1" dirty="0">
                <a:ea typeface="宋体" panose="02010600030101010101" pitchFamily="2" charset="-122"/>
              </a:rPr>
              <a:t>求补时需要</a:t>
            </a:r>
          </a:p>
          <a:p>
            <a:pPr lvl="1">
              <a:lnSpc>
                <a:spcPct val="90000"/>
              </a:lnSpc>
            </a:pPr>
            <a:r>
              <a:rPr lang="en-US" altLang="zh-CN" sz="2000" b="1" dirty="0">
                <a:ea typeface="宋体" panose="02010600030101010101" pitchFamily="2" charset="-122"/>
              </a:rPr>
              <a:t>not(</a:t>
            </a:r>
            <a:r>
              <a:rPr lang="en-US" altLang="zh-CN" sz="2000" b="1" i="1" dirty="0">
                <a:ea typeface="宋体" panose="02010600030101010101" pitchFamily="2" charset="-122"/>
              </a:rPr>
              <a:t>A=v</a:t>
            </a:r>
            <a:r>
              <a:rPr lang="en-US" altLang="zh-CN" sz="2000" b="1" dirty="0">
                <a:ea typeface="宋体" panose="02010600030101010101" pitchFamily="2" charset="-122"/>
              </a:rPr>
              <a:t>):      </a:t>
            </a:r>
            <a:r>
              <a:rPr lang="en-US" altLang="zh-CN" sz="2000" b="1" i="1" dirty="0">
                <a:ea typeface="宋体" panose="02010600030101010101" pitchFamily="2" charset="-122"/>
              </a:rPr>
              <a:t>(NOT bitmap-A-v) AND ExistenceBitmap</a:t>
            </a:r>
          </a:p>
          <a:p>
            <a:pPr>
              <a:lnSpc>
                <a:spcPct val="90000"/>
              </a:lnSpc>
            </a:pPr>
            <a:r>
              <a:rPr lang="zh-CN" altLang="en-US" sz="2400" b="1" dirty="0">
                <a:ea typeface="宋体" panose="02010600030101010101" pitchFamily="2" charset="-122"/>
              </a:rPr>
              <a:t>必须为所有值保存位图, 甚至包括空值。</a:t>
            </a:r>
          </a:p>
          <a:p>
            <a:pPr>
              <a:lnSpc>
                <a:spcPct val="90000"/>
              </a:lnSpc>
            </a:pPr>
            <a:r>
              <a:rPr lang="zh-CN" altLang="en-US" sz="2400" b="1" dirty="0">
                <a:ea typeface="宋体" panose="02010600030101010101" pitchFamily="2" charset="-122"/>
              </a:rPr>
              <a:t>为了对NOT(</a:t>
            </a:r>
            <a:r>
              <a:rPr lang="zh-CN" altLang="en-US" sz="2400" b="1" i="1" dirty="0">
                <a:ea typeface="宋体" panose="02010600030101010101" pitchFamily="2" charset="-122"/>
              </a:rPr>
              <a:t>A=v</a:t>
            </a:r>
            <a:r>
              <a:rPr lang="zh-CN" altLang="en-US" sz="2400" b="1" dirty="0">
                <a:ea typeface="宋体" panose="02010600030101010101" pitchFamily="2" charset="-122"/>
              </a:rPr>
              <a:t>)正确处理SQL空值语义</a:t>
            </a:r>
            <a:r>
              <a:rPr lang="en-US" altLang="zh-CN" sz="2400" b="1" dirty="0">
                <a:ea typeface="宋体" panose="02010600030101010101" pitchFamily="2" charset="-122"/>
              </a:rPr>
              <a:t>:</a:t>
            </a:r>
          </a:p>
          <a:p>
            <a:pPr lvl="1">
              <a:lnSpc>
                <a:spcPct val="90000"/>
              </a:lnSpc>
            </a:pPr>
            <a:r>
              <a:rPr lang="en-US" altLang="zh-CN" sz="2000" b="1" dirty="0">
                <a:ea typeface="宋体" panose="02010600030101010101" pitchFamily="2" charset="-122"/>
              </a:rPr>
              <a:t> </a:t>
            </a:r>
            <a:r>
              <a:rPr lang="zh-CN" altLang="en-US" sz="2000" b="1" dirty="0">
                <a:ea typeface="宋体" panose="02010600030101010101" pitchFamily="2" charset="-122"/>
              </a:rPr>
              <a:t>将上述结果与(NOT </a:t>
            </a:r>
            <a:r>
              <a:rPr lang="zh-CN" altLang="en-US" sz="2000" b="1" i="1" dirty="0">
                <a:ea typeface="宋体" panose="02010600030101010101" pitchFamily="2" charset="-122"/>
              </a:rPr>
              <a:t>bitmap-A-Null</a:t>
            </a:r>
            <a:r>
              <a:rPr lang="zh-CN" altLang="en-US" sz="2000" b="1" dirty="0">
                <a:ea typeface="宋体" panose="02010600030101010101" pitchFamily="2" charset="-122"/>
              </a:rPr>
              <a:t>)求交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62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2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62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6259">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625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6259">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6259">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62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a:xfrm>
            <a:off x="628650" y="122238"/>
            <a:ext cx="8077200" cy="6096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宋体" panose="02010600030101010101" pitchFamily="2" charset="-122"/>
                <a:cs typeface="+mj-cs"/>
              </a:rPr>
              <a:t>位图运算的高效实现</a:t>
            </a:r>
          </a:p>
        </p:txBody>
      </p:sp>
      <p:sp>
        <p:nvSpPr>
          <p:cNvPr id="97283" name="Rectangle 3"/>
          <p:cNvSpPr>
            <a:spLocks noGrp="1"/>
          </p:cNvSpPr>
          <p:nvPr>
            <p:ph type="body" idx="4294967295"/>
          </p:nvPr>
        </p:nvSpPr>
        <p:spPr/>
        <p:txBody>
          <a:bodyPr vert="horz" wrap="square" lIns="91440" tIns="45720" rIns="91440" bIns="45720" anchor="t" anchorCtr="0"/>
          <a:lstStyle/>
          <a:p>
            <a:r>
              <a:rPr lang="zh-CN" altLang="en-US" sz="2400" b="1" dirty="0">
                <a:ea typeface="宋体" panose="02010600030101010101" pitchFamily="2" charset="-122"/>
              </a:rPr>
              <a:t>位图压缩成字; 单个字AND(基本CPU指令) 一次可计算32-64位</a:t>
            </a:r>
          </a:p>
          <a:p>
            <a:pPr lvl="1"/>
            <a:r>
              <a:rPr lang="zh-CN" altLang="en-US" sz="2000" b="1" dirty="0">
                <a:ea typeface="宋体" panose="02010600030101010101" pitchFamily="2" charset="-122"/>
              </a:rPr>
              <a:t>例如1百万位的位图可以仅用31,250条指令进行与</a:t>
            </a:r>
          </a:p>
          <a:p>
            <a:r>
              <a:rPr lang="zh-CN" altLang="en-US" sz="2400" b="1" dirty="0">
                <a:ea typeface="宋体" panose="02010600030101010101" pitchFamily="2" charset="-122"/>
              </a:rPr>
              <a:t>计数1的个数有一个技巧快速完成:</a:t>
            </a:r>
          </a:p>
          <a:p>
            <a:pPr lvl="1"/>
            <a:r>
              <a:rPr lang="zh-CN" altLang="en-US" sz="2000" b="1" dirty="0">
                <a:ea typeface="宋体" panose="02010600030101010101" pitchFamily="2" charset="-122"/>
              </a:rPr>
              <a:t>根据每个字节的值索引到一个预先计算的有256 个元素的数组中, 该元素存储该值对应的二进制表示中的1的个数</a:t>
            </a:r>
          </a:p>
          <a:p>
            <a:pPr lvl="2"/>
            <a:r>
              <a:rPr lang="zh-CN" altLang="en-US" sz="2000" b="1" dirty="0">
                <a:ea typeface="宋体" panose="02010600030101010101" pitchFamily="2" charset="-122"/>
              </a:rPr>
              <a:t>可利用字节对来加速, 但存储代价更高</a:t>
            </a:r>
          </a:p>
          <a:p>
            <a:pPr lvl="1"/>
            <a:r>
              <a:rPr lang="zh-CN" altLang="en-US" sz="2000" b="1" dirty="0">
                <a:ea typeface="宋体" panose="02010600030101010101" pitchFamily="2" charset="-122"/>
              </a:rPr>
              <a:t>将所有计数值相加</a:t>
            </a:r>
          </a:p>
          <a:p>
            <a:r>
              <a:rPr lang="zh-CN" altLang="en-US" sz="2400" b="1" dirty="0">
                <a:ea typeface="宋体" panose="02010600030101010101" pitchFamily="2" charset="-122"/>
              </a:rPr>
              <a:t>对具有大量匹配记录的值, 位图可替代元组标识列表而用于B</a:t>
            </a:r>
            <a:r>
              <a:rPr lang="zh-CN" altLang="en-US" sz="2800" b="1" baseline="30000" dirty="0">
                <a:ea typeface="宋体" panose="02010600030101010101" pitchFamily="2" charset="-122"/>
              </a:rPr>
              <a:t>+</a:t>
            </a:r>
            <a:r>
              <a:rPr lang="zh-CN" altLang="en-US" sz="2400" b="1" dirty="0">
                <a:ea typeface="宋体" panose="02010600030101010101" pitchFamily="2" charset="-122"/>
              </a:rPr>
              <a:t>-树的叶子层</a:t>
            </a:r>
          </a:p>
          <a:p>
            <a:pPr lvl="1"/>
            <a:r>
              <a:rPr lang="zh-CN" altLang="en-US" sz="2000" b="1" dirty="0">
                <a:ea typeface="宋体" panose="02010600030101010101" pitchFamily="2" charset="-122"/>
              </a:rPr>
              <a:t>若超过1/64的记录都具有该值, 就是值得的(假设元组标识是64位的)</a:t>
            </a:r>
          </a:p>
          <a:p>
            <a:pPr lvl="1"/>
            <a:r>
              <a:rPr lang="zh-CN" altLang="en-US" sz="2000" b="1" dirty="0">
                <a:ea typeface="宋体" panose="02010600030101010101" pitchFamily="2" charset="-122"/>
              </a:rPr>
              <a:t>上述技术结合了位图与B</a:t>
            </a:r>
            <a:r>
              <a:rPr lang="zh-CN" altLang="en-US" b="1" baseline="30000" dirty="0">
                <a:ea typeface="宋体" panose="02010600030101010101" pitchFamily="2" charset="-122"/>
              </a:rPr>
              <a:t>+</a:t>
            </a:r>
            <a:r>
              <a:rPr lang="zh-CN" altLang="en-US" sz="2000" b="1" dirty="0">
                <a:ea typeface="宋体" panose="02010600030101010101" pitchFamily="2" charset="-122"/>
              </a:rPr>
              <a:t>-树索引的优点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2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72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2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72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728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728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28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2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6945" name="图片 12"/>
          <p:cNvPicPr>
            <a:picLocks noChangeAspect="1"/>
          </p:cNvPicPr>
          <p:nvPr/>
        </p:nvPicPr>
        <p:blipFill>
          <a:blip r:embed="rId2"/>
          <a:stretch>
            <a:fillRect/>
          </a:stretch>
        </p:blipFill>
        <p:spPr>
          <a:xfrm>
            <a:off x="6732588" y="3860800"/>
            <a:ext cx="1919287" cy="1439863"/>
          </a:xfrm>
          <a:prstGeom prst="rect">
            <a:avLst/>
          </a:prstGeom>
          <a:noFill/>
          <a:ln w="9525">
            <a:noFill/>
          </a:ln>
        </p:spPr>
      </p:pic>
      <p:grpSp>
        <p:nvGrpSpPr>
          <p:cNvPr id="466946" name="组合 3"/>
          <p:cNvGrpSpPr>
            <a:grpSpLocks noChangeAspect="1"/>
          </p:cNvGrpSpPr>
          <p:nvPr/>
        </p:nvGrpSpPr>
        <p:grpSpPr>
          <a:xfrm>
            <a:off x="-1587" y="6473825"/>
            <a:ext cx="12193587" cy="425450"/>
            <a:chOff x="0" y="0"/>
            <a:chExt cx="12224389" cy="424896"/>
          </a:xfrm>
        </p:grpSpPr>
        <p:pic>
          <p:nvPicPr>
            <p:cNvPr id="466947" name="Picture 2" descr="C:\Users\admin\Desktop\1.png"/>
            <p:cNvPicPr>
              <a:picLocks noChangeAspect="1"/>
            </p:cNvPicPr>
            <p:nvPr/>
          </p:nvPicPr>
          <p:blipFill>
            <a:blip r:embed="rId3"/>
            <a:stretch>
              <a:fillRect/>
            </a:stretch>
          </p:blipFill>
          <p:spPr>
            <a:xfrm>
              <a:off x="0" y="0"/>
              <a:ext cx="4904253" cy="400378"/>
            </a:xfrm>
            <a:prstGeom prst="rect">
              <a:avLst/>
            </a:prstGeom>
            <a:noFill/>
            <a:ln w="9525">
              <a:noFill/>
            </a:ln>
          </p:spPr>
        </p:pic>
        <p:pic>
          <p:nvPicPr>
            <p:cNvPr id="466948" name="Picture 2" descr="C:\Users\admin\Desktop\1.png"/>
            <p:cNvPicPr>
              <a:picLocks noChangeAspect="1"/>
            </p:cNvPicPr>
            <p:nvPr/>
          </p:nvPicPr>
          <p:blipFill>
            <a:blip r:embed="rId3"/>
            <a:srcRect l="4613"/>
            <a:stretch>
              <a:fillRect/>
            </a:stretch>
          </p:blipFill>
          <p:spPr>
            <a:xfrm>
              <a:off x="4894628" y="9625"/>
              <a:ext cx="4677907" cy="400378"/>
            </a:xfrm>
            <a:prstGeom prst="rect">
              <a:avLst/>
            </a:prstGeom>
            <a:noFill/>
            <a:ln w="9525">
              <a:noFill/>
            </a:ln>
          </p:spPr>
        </p:pic>
        <p:pic>
          <p:nvPicPr>
            <p:cNvPr id="466949" name="Picture 2" descr="C:\Users\admin\Desktop\1.png"/>
            <p:cNvPicPr>
              <a:picLocks noChangeAspect="1"/>
            </p:cNvPicPr>
            <p:nvPr/>
          </p:nvPicPr>
          <p:blipFill>
            <a:blip r:embed="rId3"/>
            <a:srcRect l="4613" r="41147"/>
            <a:stretch>
              <a:fillRect/>
            </a:stretch>
          </p:blipFill>
          <p:spPr>
            <a:xfrm>
              <a:off x="9564490" y="24518"/>
              <a:ext cx="2659899" cy="400378"/>
            </a:xfrm>
            <a:prstGeom prst="rect">
              <a:avLst/>
            </a:prstGeom>
            <a:noFill/>
            <a:ln w="9525">
              <a:noFill/>
            </a:ln>
          </p:spPr>
        </p:pic>
      </p:grpSp>
      <p:sp>
        <p:nvSpPr>
          <p:cNvPr id="466950" name="TextBox 5"/>
          <p:cNvSpPr/>
          <p:nvPr/>
        </p:nvSpPr>
        <p:spPr>
          <a:xfrm>
            <a:off x="212725" y="2198688"/>
            <a:ext cx="5651500" cy="473075"/>
          </a:xfrm>
          <a:prstGeom prst="rect">
            <a:avLst/>
          </a:prstGeom>
          <a:noFill/>
          <a:ln w="9525">
            <a:noFill/>
          </a:ln>
        </p:spPr>
        <p:txBody>
          <a:bodyPr anchor="t" anchorCtr="0">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25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Part 2</a:t>
            </a:r>
          </a:p>
        </p:txBody>
      </p:sp>
      <p:sp>
        <p:nvSpPr>
          <p:cNvPr id="466951" name="Text Box 9"/>
          <p:cNvSpPr/>
          <p:nvPr/>
        </p:nvSpPr>
        <p:spPr>
          <a:xfrm>
            <a:off x="1835150" y="2074863"/>
            <a:ext cx="5976938" cy="584775"/>
          </a:xfrm>
          <a:prstGeom prst="rect">
            <a:avLst/>
          </a:prstGeom>
          <a:noFill/>
          <a:ln w="9525">
            <a:noFill/>
          </a:ln>
        </p:spPr>
        <p:txBody>
          <a:bodyPr wrap="square" anchor="t" anchorCtr="0">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zh-CN" altLang="en-US" sz="3200" b="1" kern="0" dirty="0">
                <a:solidFill>
                  <a:srgbClr val="FF0000"/>
                </a:solidFill>
                <a:effectLst>
                  <a:outerShdw blurRad="38100" dist="38100" dir="2700000" algn="tl">
                    <a:srgbClr val="000000"/>
                  </a:outerShdw>
                </a:effectLst>
                <a:latin typeface="+mj-lt"/>
                <a:cs typeface="+mj-cs"/>
                <a:sym typeface="微软雅黑" panose="020B0503020204020204" pitchFamily="34" charset="-122"/>
              </a:rPr>
              <a:t>布</a:t>
            </a:r>
            <a:r>
              <a:rPr lang="zh-CN" altLang="en-US" sz="3200" b="1" kern="0" dirty="0">
                <a:solidFill>
                  <a:srgbClr val="FF0000"/>
                </a:solidFill>
                <a:effectLst>
                  <a:outerShdw blurRad="38100" dist="38100" dir="2700000" algn="tl">
                    <a:srgbClr val="000000"/>
                  </a:outerShdw>
                </a:effectLst>
                <a:latin typeface="+mj-lt"/>
                <a:cs typeface="+mj-cs"/>
                <a:sym typeface="微软雅黑" panose="020B0503020204020204" pitchFamily="34" charset="-122"/>
              </a:rPr>
              <a:t>隆过滤器(Bloom Filter)</a:t>
            </a:r>
          </a:p>
        </p:txBody>
      </p:sp>
    </p:spTree>
    <p:extLst>
      <p:ext uri="{BB962C8B-B14F-4D97-AF65-F5344CB8AC3E}">
        <p14:creationId xmlns:p14="http://schemas.microsoft.com/office/powerpoint/2010/main" val="3713287571"/>
      </p:ext>
    </p:extLst>
  </p:cSld>
  <p:clrMapOvr>
    <a:masterClrMapping/>
  </p:clrMapOvr>
  <p:transition>
    <p:pull dir="lu"/>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0017" name="组合 3"/>
          <p:cNvGrpSpPr>
            <a:grpSpLocks noChangeAspect="1"/>
          </p:cNvGrpSpPr>
          <p:nvPr/>
        </p:nvGrpSpPr>
        <p:grpSpPr>
          <a:xfrm>
            <a:off x="-1587" y="6473825"/>
            <a:ext cx="12193587" cy="425450"/>
            <a:chOff x="0" y="0"/>
            <a:chExt cx="12224389" cy="424896"/>
          </a:xfrm>
        </p:grpSpPr>
        <p:pic>
          <p:nvPicPr>
            <p:cNvPr id="470018" name="Picture 2" descr="C:\Users\admin\Desktop\1.png"/>
            <p:cNvPicPr>
              <a:picLocks noChangeAspect="1"/>
            </p:cNvPicPr>
            <p:nvPr/>
          </p:nvPicPr>
          <p:blipFill>
            <a:blip r:embed="rId2"/>
            <a:stretch>
              <a:fillRect/>
            </a:stretch>
          </p:blipFill>
          <p:spPr>
            <a:xfrm>
              <a:off x="0" y="0"/>
              <a:ext cx="4904253" cy="400378"/>
            </a:xfrm>
            <a:prstGeom prst="rect">
              <a:avLst/>
            </a:prstGeom>
            <a:noFill/>
            <a:ln w="9525">
              <a:noFill/>
            </a:ln>
          </p:spPr>
        </p:pic>
        <p:pic>
          <p:nvPicPr>
            <p:cNvPr id="470019" name="Picture 2" descr="C:\Users\admin\Desktop\1.png"/>
            <p:cNvPicPr>
              <a:picLocks noChangeAspect="1"/>
            </p:cNvPicPr>
            <p:nvPr/>
          </p:nvPicPr>
          <p:blipFill>
            <a:blip r:embed="rId2"/>
            <a:srcRect l="4613"/>
            <a:stretch>
              <a:fillRect/>
            </a:stretch>
          </p:blipFill>
          <p:spPr>
            <a:xfrm>
              <a:off x="4894628" y="9625"/>
              <a:ext cx="4677907" cy="400378"/>
            </a:xfrm>
            <a:prstGeom prst="rect">
              <a:avLst/>
            </a:prstGeom>
            <a:noFill/>
            <a:ln w="9525">
              <a:noFill/>
            </a:ln>
          </p:spPr>
        </p:pic>
        <p:pic>
          <p:nvPicPr>
            <p:cNvPr id="470020" name="Picture 2" descr="C:\Users\admin\Desktop\1.png"/>
            <p:cNvPicPr>
              <a:picLocks noChangeAspect="1"/>
            </p:cNvPicPr>
            <p:nvPr/>
          </p:nvPicPr>
          <p:blipFill>
            <a:blip r:embed="rId2"/>
            <a:srcRect l="4613" r="41147"/>
            <a:stretch>
              <a:fillRect/>
            </a:stretch>
          </p:blipFill>
          <p:spPr>
            <a:xfrm>
              <a:off x="9564490" y="24518"/>
              <a:ext cx="2659899" cy="400378"/>
            </a:xfrm>
            <a:prstGeom prst="rect">
              <a:avLst/>
            </a:prstGeom>
            <a:noFill/>
            <a:ln w="9525">
              <a:noFill/>
            </a:ln>
          </p:spPr>
        </p:pic>
      </p:grpSp>
      <p:pic>
        <p:nvPicPr>
          <p:cNvPr id="470021" name="Picture 3" descr="E:\PPT\PPT中国风元素\梅花PNG免抠图素材\3299168202027027296.png"/>
          <p:cNvPicPr>
            <a:picLocks noChangeAspect="1"/>
          </p:cNvPicPr>
          <p:nvPr/>
        </p:nvPicPr>
        <p:blipFill>
          <a:blip r:embed="rId3">
            <a:biLevel thresh="50000"/>
            <a:grayscl/>
          </a:blip>
          <a:stretch>
            <a:fillRect/>
          </a:stretch>
        </p:blipFill>
        <p:spPr>
          <a:xfrm>
            <a:off x="0" y="-862012"/>
            <a:ext cx="4535488" cy="4506912"/>
          </a:xfrm>
          <a:prstGeom prst="rect">
            <a:avLst/>
          </a:prstGeom>
          <a:noFill/>
          <a:ln w="9525">
            <a:noFill/>
          </a:ln>
        </p:spPr>
      </p:pic>
      <p:sp>
        <p:nvSpPr>
          <p:cNvPr id="15370" name="Text Box 13"/>
          <p:cNvSpPr/>
          <p:nvPr/>
        </p:nvSpPr>
        <p:spPr>
          <a:xfrm>
            <a:off x="431800" y="1484313"/>
            <a:ext cx="8712200" cy="3859518"/>
          </a:xfrm>
          <a:prstGeom prst="rect">
            <a:avLst/>
          </a:prstGeom>
          <a:noFill/>
          <a:ln w="9525">
            <a:noFill/>
          </a:ln>
        </p:spPr>
        <p:txBody>
          <a:bodyPr anchor="t" anchorCtr="0">
            <a:spAutoFit/>
          </a:bodyPr>
          <a:lstStyle/>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Char char="Ø"/>
              <a:tabLst/>
              <a:defRPr/>
            </a:pPr>
            <a:r>
              <a:rPr kumimoji="0" lang="zh-CN" altLang="en-US" sz="27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微软雅黑" panose="020B0503020204020204" pitchFamily="34" charset="-122"/>
              </a:rPr>
              <a:t>假设有1亿个不重复的正整数(大致范围已知)，查询是否存在某个数</a:t>
            </a:r>
            <a:r>
              <a:rPr kumimoji="0" lang="en-US" altLang="zh-CN"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sym typeface="微软雅黑" panose="020B0503020204020204" pitchFamily="34" charset="-122"/>
              </a:rPr>
              <a:t>?</a:t>
            </a: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Char char="Ø"/>
              <a:tabLst/>
              <a:defRPr/>
            </a:pPr>
            <a:r>
              <a:rPr kumimoji="0" lang="zh-CN" altLang="en-US" sz="2700" b="1"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sym typeface="微软雅黑" panose="020B0503020204020204" pitchFamily="34" charset="-122"/>
              </a:rPr>
              <a:t>可以</a:t>
            </a:r>
            <a:r>
              <a:rPr kumimoji="0" lang="zh-CN" altLang="en-US" sz="27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微软雅黑" panose="020B0503020204020204" pitchFamily="34" charset="-122"/>
              </a:rPr>
              <a:t>使用位图来实现，但若是1亿个邮件地址，如何确定某个邮件地址是否在这1亿个地址中？</a:t>
            </a: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Char char="Ø"/>
              <a:tabLst/>
              <a:defRPr/>
            </a:pPr>
            <a:r>
              <a:rPr kumimoji="0" lang="zh-CN" altLang="en-US" sz="27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微软雅黑" panose="020B0503020204020204" pitchFamily="34" charset="-122"/>
              </a:rPr>
              <a:t>分析: 通常情况下可利用Hash表，但Hash表不可避免的会发生碰撞，且Hash表需要较大的存储空间。</a:t>
            </a: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Char char="Ø"/>
              <a:tabLst/>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None/>
              <a:tabLst/>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70023" name="标题 1"/>
          <p:cNvSpPr txBox="1"/>
          <p:nvPr/>
        </p:nvSpPr>
        <p:spPr>
          <a:xfrm>
            <a:off x="298450" y="228600"/>
            <a:ext cx="8540750" cy="679450"/>
          </a:xfrm>
          <a:prstGeom prst="rect">
            <a:avLst/>
          </a:prstGeom>
          <a:noFill/>
          <a:ln w="9525">
            <a:noFill/>
          </a:ln>
        </p:spPr>
        <p:txBody>
          <a:bodyPr anchor="t" anchorCtr="0"/>
          <a:lstStyle/>
          <a:p>
            <a:pPr algn="ctr"/>
            <a:r>
              <a:rPr lang="zh-CN" altLang="en-US" sz="3200" b="1" kern="0" dirty="0">
                <a:solidFill>
                  <a:srgbClr val="FF0000"/>
                </a:solidFill>
                <a:effectLst>
                  <a:outerShdw blurRad="38100" dist="38100" dir="2700000" algn="tl">
                    <a:srgbClr val="000000"/>
                  </a:outerShdw>
                </a:effectLst>
                <a:latin typeface="+mj-lt"/>
                <a:cs typeface="+mj-cs"/>
              </a:rPr>
              <a:t>布隆过滤器：</a:t>
            </a:r>
            <a:r>
              <a:rPr lang="zh-CN" altLang="en-US" sz="3200" b="1" kern="0" dirty="0">
                <a:solidFill>
                  <a:srgbClr val="FF0000"/>
                </a:solidFill>
                <a:effectLst>
                  <a:outerShdw blurRad="38100" dist="38100" dir="2700000" algn="tl">
                    <a:srgbClr val="000000"/>
                  </a:outerShdw>
                </a:effectLst>
                <a:latin typeface="+mj-lt"/>
                <a:cs typeface="+mj-cs"/>
                <a:sym typeface="微软雅黑" panose="020B0503020204020204" pitchFamily="34" charset="-122"/>
              </a:rPr>
              <a:t>问题描述</a:t>
            </a:r>
            <a:endParaRPr lang="zh-CN" altLang="en-US" sz="3200" b="1" kern="0" dirty="0">
              <a:solidFill>
                <a:srgbClr val="FF0000"/>
              </a:solidFill>
              <a:effectLst>
                <a:outerShdw blurRad="38100" dist="38100" dir="2700000" algn="tl">
                  <a:srgbClr val="000000"/>
                </a:outerShdw>
              </a:effectLst>
              <a:latin typeface="+mj-lt"/>
              <a:cs typeface="+mj-cs"/>
            </a:endParaRPr>
          </a:p>
        </p:txBody>
      </p:sp>
    </p:spTree>
    <p:extLst>
      <p:ext uri="{BB962C8B-B14F-4D97-AF65-F5344CB8AC3E}">
        <p14:creationId xmlns:p14="http://schemas.microsoft.com/office/powerpoint/2010/main" val="1486845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70">
                                            <p:txEl>
                                              <p:pRg st="0" end="0"/>
                                            </p:txEl>
                                          </p:spTgt>
                                        </p:tgtEl>
                                        <p:attrNameLst>
                                          <p:attrName>style.visibility</p:attrName>
                                        </p:attrNameLst>
                                      </p:cBhvr>
                                      <p:to>
                                        <p:strVal val="visible"/>
                                      </p:to>
                                    </p:set>
                                    <p:animEffect transition="in" filter="fade">
                                      <p:cBhvr>
                                        <p:cTn id="7" dur="1000"/>
                                        <p:tgtEl>
                                          <p:spTgt spid="15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70">
                                            <p:txEl>
                                              <p:pRg st="1" end="1"/>
                                            </p:txEl>
                                          </p:spTgt>
                                        </p:tgtEl>
                                        <p:attrNameLst>
                                          <p:attrName>style.visibility</p:attrName>
                                        </p:attrNameLst>
                                      </p:cBhvr>
                                      <p:to>
                                        <p:strVal val="visible"/>
                                      </p:to>
                                    </p:set>
                                    <p:animEffect transition="in" filter="fade">
                                      <p:cBhvr>
                                        <p:cTn id="12" dur="1000"/>
                                        <p:tgtEl>
                                          <p:spTgt spid="153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70">
                                            <p:txEl>
                                              <p:pRg st="2" end="2"/>
                                            </p:txEl>
                                          </p:spTgt>
                                        </p:tgtEl>
                                        <p:attrNameLst>
                                          <p:attrName>style.visibility</p:attrName>
                                        </p:attrNameLst>
                                      </p:cBhvr>
                                      <p:to>
                                        <p:strVal val="visible"/>
                                      </p:to>
                                    </p:set>
                                    <p:animEffect transition="in" filter="fade">
                                      <p:cBhvr>
                                        <p:cTn id="17" dur="1000"/>
                                        <p:tgtEl>
                                          <p:spTgt spid="1537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1" name="标题 1"/>
          <p:cNvSpPr>
            <a:spLocks noGrp="1" noRot="1"/>
          </p:cNvSpPr>
          <p:nvPr>
            <p:ph type="title"/>
          </p:nvPr>
        </p:nvSpPr>
        <p:spPr/>
        <p:txBody>
          <a:bodyPr anchor="ctr" anchorCtr="0"/>
          <a:lstStyle/>
          <a:p>
            <a:r>
              <a:rPr lang="zh-CN" altLang="en-US" sz="3200" dirty="0">
                <a:solidFill>
                  <a:srgbClr val="FF0000"/>
                </a:solidFill>
                <a:effectLst>
                  <a:outerShdw blurRad="38100" dist="38100" dir="2700000" algn="tl">
                    <a:srgbClr val="000000"/>
                  </a:outerShdw>
                </a:effectLst>
                <a:latin typeface="+mj-lt"/>
                <a:ea typeface="宋体" panose="02010600030101010101" pitchFamily="2" charset="-122"/>
                <a:cs typeface="+mj-cs"/>
              </a:rPr>
              <a:t>布隆过滤器起源</a:t>
            </a:r>
          </a:p>
        </p:txBody>
      </p:sp>
      <p:sp>
        <p:nvSpPr>
          <p:cNvPr id="471042" name="内容占位符 2"/>
          <p:cNvSpPr>
            <a:spLocks noGrp="1" noRot="1"/>
          </p:cNvSpPr>
          <p:nvPr>
            <p:ph idx="1"/>
          </p:nvPr>
        </p:nvSpPr>
        <p:spPr/>
        <p:txBody>
          <a:bodyPr anchor="t" anchorCtr="0"/>
          <a:lstStyle/>
          <a:p>
            <a:pPr eaLnBrk="1" hangingPunct="1"/>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布隆过滤器</a:t>
            </a:r>
            <a:r>
              <a:rPr kumimoji="0" lang="en-US" altLang="zh-CN" sz="2700" b="1" kern="1200" dirty="0">
                <a:solidFill>
                  <a:srgbClr val="000000"/>
                </a:solidFill>
                <a:latin typeface="Times New Roman" panose="02020603050405020304" pitchFamily="18" charset="0"/>
                <a:ea typeface="宋体" panose="02010600030101010101" pitchFamily="2" charset="-122"/>
                <a:cs typeface="+mn-cs"/>
              </a:rPr>
              <a:t>(Bloom Filter)</a:t>
            </a:r>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是</a:t>
            </a:r>
            <a:r>
              <a:rPr kumimoji="0" lang="en-US" altLang="zh-CN" sz="2700" b="1" kern="1200" dirty="0">
                <a:solidFill>
                  <a:srgbClr val="000000"/>
                </a:solidFill>
                <a:latin typeface="Times New Roman" panose="02020603050405020304" pitchFamily="18" charset="0"/>
                <a:ea typeface="宋体" panose="02010600030101010101" pitchFamily="2" charset="-122"/>
                <a:cs typeface="+mn-cs"/>
              </a:rPr>
              <a:t>1970</a:t>
            </a:r>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年由布隆提出的一种高效率的随机数据结构。</a:t>
            </a:r>
            <a:endParaRPr kumimoji="0" lang="en-US" altLang="zh-CN" sz="2700" b="1" kern="1200" dirty="0">
              <a:solidFill>
                <a:srgbClr val="000000"/>
              </a:solidFill>
              <a:latin typeface="Times New Roman" panose="02020603050405020304" pitchFamily="18" charset="0"/>
              <a:ea typeface="宋体" panose="02010600030101010101" pitchFamily="2" charset="-122"/>
              <a:cs typeface="+mn-cs"/>
            </a:endParaRPr>
          </a:p>
          <a:p>
            <a:r>
              <a:rPr kumimoji="0" lang="en-US" altLang="zh-CN" sz="2700" b="1" kern="1200" dirty="0">
                <a:solidFill>
                  <a:srgbClr val="000000"/>
                </a:solidFill>
                <a:latin typeface="Times New Roman" panose="02020603050405020304" pitchFamily="18" charset="0"/>
                <a:ea typeface="宋体" panose="02010600030101010101" pitchFamily="2" charset="-122"/>
              </a:rPr>
              <a:t>Bloom Filter</a:t>
            </a:r>
            <a:r>
              <a:rPr kumimoji="0" lang="zh-CN" altLang="en-US" sz="2700" b="1" kern="1200" dirty="0" smtClean="0">
                <a:solidFill>
                  <a:srgbClr val="000000"/>
                </a:solidFill>
                <a:latin typeface="Times New Roman" panose="02020603050405020304" pitchFamily="18" charset="0"/>
                <a:ea typeface="宋体" panose="02010600030101010101" pitchFamily="2" charset="-122"/>
                <a:cs typeface="+mn-cs"/>
              </a:rPr>
              <a:t>实际上</a:t>
            </a:r>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是一</a:t>
            </a:r>
            <a:r>
              <a:rPr kumimoji="0" lang="zh-CN" altLang="en-US" sz="2700" b="1" kern="1200" dirty="0" smtClean="0">
                <a:solidFill>
                  <a:srgbClr val="000000"/>
                </a:solidFill>
                <a:latin typeface="Times New Roman" panose="02020603050405020304" pitchFamily="18" charset="0"/>
                <a:ea typeface="宋体" panose="02010600030101010101" pitchFamily="2" charset="-122"/>
                <a:cs typeface="+mn-cs"/>
              </a:rPr>
              <a:t>个二进制</a:t>
            </a:r>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向量和一系列随机映射函数。</a:t>
            </a:r>
            <a:endParaRPr kumimoji="0" lang="en-US" altLang="zh-CN" sz="2700" b="1" kern="1200" dirty="0">
              <a:solidFill>
                <a:srgbClr val="000000"/>
              </a:solidFill>
              <a:latin typeface="Times New Roman" panose="02020603050405020304" pitchFamily="18" charset="0"/>
              <a:ea typeface="宋体" panose="02010600030101010101" pitchFamily="2" charset="-122"/>
              <a:cs typeface="+mn-cs"/>
            </a:endParaRPr>
          </a:p>
          <a:p>
            <a:pPr eaLnBrk="1" hangingPunct="1"/>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布隆过滤器可以用于检索一个元素是否在一个集合中。</a:t>
            </a:r>
            <a:endParaRPr kumimoji="0" lang="en-US" altLang="zh-CN" sz="2700" b="1" kern="1200" dirty="0">
              <a:solidFill>
                <a:srgbClr val="000000"/>
              </a:solidFill>
              <a:latin typeface="Times New Roman" panose="02020603050405020304" pitchFamily="18" charset="0"/>
              <a:ea typeface="宋体" panose="02010600030101010101" pitchFamily="2" charset="-122"/>
              <a:cs typeface="+mn-cs"/>
            </a:endParaRPr>
          </a:p>
          <a:p>
            <a:pPr eaLnBrk="1" hangingPunct="1"/>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优点：空间效率和查询时间都远远超过一般的算法。</a:t>
            </a:r>
            <a:endParaRPr kumimoji="0" lang="en-US" altLang="zh-CN" sz="2700" b="1" kern="1200" dirty="0">
              <a:solidFill>
                <a:srgbClr val="000000"/>
              </a:solidFill>
              <a:latin typeface="Times New Roman" panose="02020603050405020304" pitchFamily="18" charset="0"/>
              <a:ea typeface="宋体" panose="02010600030101010101" pitchFamily="2" charset="-122"/>
              <a:cs typeface="+mn-cs"/>
            </a:endParaRPr>
          </a:p>
          <a:p>
            <a:pPr eaLnBrk="1" hangingPunct="1"/>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缺点：有一定的误</a:t>
            </a:r>
            <a:r>
              <a:rPr kumimoji="0" lang="zh-CN" altLang="en-US" sz="2700" b="1" kern="1200" dirty="0" smtClean="0">
                <a:solidFill>
                  <a:srgbClr val="000000"/>
                </a:solidFill>
                <a:latin typeface="Times New Roman" panose="02020603050405020304" pitchFamily="18" charset="0"/>
                <a:ea typeface="宋体" panose="02010600030101010101" pitchFamily="2" charset="-122"/>
                <a:cs typeface="+mn-cs"/>
              </a:rPr>
              <a:t>识别率。</a:t>
            </a:r>
            <a:endParaRPr kumimoji="0" lang="en-US" altLang="zh-CN" sz="2700" b="1" kern="1200" dirty="0">
              <a:solidFill>
                <a:srgbClr val="000000"/>
              </a:solidFill>
              <a:latin typeface="Times New Roman" panose="02020603050405020304" pitchFamily="18" charset="0"/>
              <a:ea typeface="宋体" panose="02010600030101010101" pitchFamily="2" charset="-122"/>
              <a:cs typeface="+mn-cs"/>
            </a:endParaRPr>
          </a:p>
          <a:p>
            <a:pPr eaLnBrk="1" hangingPunct="1"/>
            <a:r>
              <a:rPr kumimoji="0" lang="zh-CN" altLang="en-US" sz="2700" b="1" kern="1200" dirty="0">
                <a:solidFill>
                  <a:srgbClr val="000000"/>
                </a:solidFill>
                <a:latin typeface="Times New Roman" panose="02020603050405020304" pitchFamily="18" charset="0"/>
                <a:ea typeface="宋体" panose="02010600030101010101" pitchFamily="2" charset="-122"/>
                <a:cs typeface="+mn-cs"/>
              </a:rPr>
              <a:t>两个百科：</a:t>
            </a:r>
            <a:endParaRPr kumimoji="0" lang="en-US" altLang="zh-CN" sz="2700" b="1" kern="1200" dirty="0">
              <a:solidFill>
                <a:srgbClr val="000000"/>
              </a:solidFill>
              <a:latin typeface="Times New Roman" panose="02020603050405020304" pitchFamily="18" charset="0"/>
              <a:ea typeface="宋体" panose="02010600030101010101" pitchFamily="2" charset="-122"/>
              <a:cs typeface="+mn-cs"/>
            </a:endParaRPr>
          </a:p>
          <a:p>
            <a:pPr lvl="1" eaLnBrk="1" hangingPunct="1">
              <a:lnSpc>
                <a:spcPct val="80000"/>
              </a:lnSpc>
            </a:pPr>
            <a:r>
              <a:rPr lang="en-US" altLang="zh-CN" sz="2400" dirty="0">
                <a:hlinkClick r:id="rId2"/>
              </a:rPr>
              <a:t>http://zh.wikipedia.org/zh/%E5%B8%83%E9%9A%86%E8%BF%87%E6%BB%A4%E5%99%A8</a:t>
            </a:r>
            <a:endParaRPr lang="en-US" altLang="zh-CN" sz="2400" dirty="0"/>
          </a:p>
          <a:p>
            <a:pPr lvl="1" eaLnBrk="1" hangingPunct="1">
              <a:lnSpc>
                <a:spcPct val="80000"/>
              </a:lnSpc>
            </a:pPr>
            <a:r>
              <a:rPr lang="en-US" altLang="zh-CN" sz="2400" dirty="0">
                <a:hlinkClick r:id="rId3"/>
              </a:rPr>
              <a:t>http://en.wikipedia.org/wiki/Bloom_filter</a:t>
            </a:r>
            <a:endParaRPr lang="zh-CN" altLang="en-US" sz="2400" dirty="0"/>
          </a:p>
        </p:txBody>
      </p:sp>
    </p:spTree>
    <p:extLst>
      <p:ext uri="{BB962C8B-B14F-4D97-AF65-F5344CB8AC3E}">
        <p14:creationId xmlns:p14="http://schemas.microsoft.com/office/powerpoint/2010/main" val="2959592405"/>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2065" name="内容占位符 4" descr="649px-Bloom_filter.svg.png"/>
          <p:cNvPicPr>
            <a:picLocks noChangeAspect="1"/>
          </p:cNvPicPr>
          <p:nvPr/>
        </p:nvPicPr>
        <p:blipFill>
          <a:blip r:embed="rId2"/>
          <a:stretch>
            <a:fillRect/>
          </a:stretch>
        </p:blipFill>
        <p:spPr>
          <a:xfrm>
            <a:off x="2786063" y="214313"/>
            <a:ext cx="6181725" cy="2219325"/>
          </a:xfrm>
          <a:prstGeom prst="rect">
            <a:avLst/>
          </a:prstGeom>
          <a:noFill/>
          <a:ln w="9525">
            <a:noFill/>
          </a:ln>
        </p:spPr>
      </p:pic>
      <p:sp>
        <p:nvSpPr>
          <p:cNvPr id="472066" name="标题 1"/>
          <p:cNvSpPr>
            <a:spLocks noGrp="1" noRot="1"/>
          </p:cNvSpPr>
          <p:nvPr>
            <p:ph type="title"/>
          </p:nvPr>
        </p:nvSpPr>
        <p:spPr/>
        <p:txBody>
          <a:bodyPr anchor="ctr" anchorCtr="0"/>
          <a:lstStyle/>
          <a:p>
            <a:pPr algn="l"/>
            <a:r>
              <a:rPr lang="zh-CN" altLang="en-US" sz="3200" dirty="0">
                <a:solidFill>
                  <a:srgbClr val="FF0000"/>
                </a:solidFill>
                <a:effectLst>
                  <a:outerShdw blurRad="38100" dist="38100" dir="2700000" algn="tl">
                    <a:srgbClr val="000000"/>
                  </a:outerShdw>
                </a:effectLst>
                <a:latin typeface="+mj-lt"/>
                <a:ea typeface="宋体" panose="02010600030101010101" pitchFamily="2" charset="-122"/>
                <a:cs typeface="+mj-cs"/>
              </a:rPr>
              <a:t>原理说明</a:t>
            </a:r>
          </a:p>
        </p:txBody>
      </p:sp>
      <p:sp>
        <p:nvSpPr>
          <p:cNvPr id="472067" name="内容占位符 2"/>
          <p:cNvSpPr>
            <a:spLocks noGrp="1" noRot="1"/>
          </p:cNvSpPr>
          <p:nvPr>
            <p:ph idx="1"/>
          </p:nvPr>
        </p:nvSpPr>
        <p:spPr>
          <a:xfrm>
            <a:off x="216413" y="2204864"/>
            <a:ext cx="8592671" cy="4876801"/>
          </a:xfrm>
        </p:spPr>
        <p:txBody>
          <a:bodyPr anchor="t" anchorCtr="0"/>
          <a:lstStyle/>
          <a:p>
            <a:pPr eaLnBrk="1" hangingPunct="1">
              <a:lnSpc>
                <a:spcPct val="80000"/>
              </a:lnSpc>
            </a:pPr>
            <a:r>
              <a:rPr lang="zh-CN" altLang="en-US" sz="2000" b="1" dirty="0"/>
              <a:t>采用包含</a:t>
            </a:r>
            <a:r>
              <a:rPr lang="en-US" altLang="zh-CN" sz="2000" b="1" dirty="0"/>
              <a:t>m</a:t>
            </a:r>
            <a:r>
              <a:rPr lang="zh-CN" altLang="en-US" sz="2000" b="1" dirty="0"/>
              <a:t>位的位数组存储，</a:t>
            </a:r>
            <a:r>
              <a:rPr lang="en-US" altLang="zh-CN" sz="2000" b="1" dirty="0"/>
              <a:t/>
            </a:r>
            <a:br>
              <a:rPr lang="en-US" altLang="zh-CN" sz="2000" b="1" dirty="0"/>
            </a:br>
            <a:r>
              <a:rPr lang="zh-CN" altLang="en-US" sz="2000" b="1" dirty="0"/>
              <a:t>将</a:t>
            </a:r>
            <a:r>
              <a:rPr lang="en-US" altLang="zh-CN" sz="2000" b="1" dirty="0"/>
              <a:t>n</a:t>
            </a:r>
            <a:r>
              <a:rPr lang="zh-CN" altLang="en-US" sz="2000" b="1" dirty="0"/>
              <a:t>个元素集合</a:t>
            </a:r>
            <a:r>
              <a:rPr lang="en-US" altLang="zh-CN" sz="2000" b="1" dirty="0"/>
              <a:t>S={x</a:t>
            </a:r>
            <a:r>
              <a:rPr lang="en-US" altLang="zh-CN" sz="2000" b="1" baseline="-25000" dirty="0"/>
              <a:t>1</a:t>
            </a:r>
            <a:r>
              <a:rPr lang="en-US" altLang="zh-CN" sz="2000" b="1" dirty="0"/>
              <a:t>, x</a:t>
            </a:r>
            <a:r>
              <a:rPr lang="en-US" altLang="zh-CN" sz="2000" b="1" baseline="-25000" dirty="0"/>
              <a:t>2</a:t>
            </a:r>
            <a:r>
              <a:rPr lang="en-US" altLang="zh-CN" sz="2000" b="1" dirty="0"/>
              <a:t>,…,</a:t>
            </a:r>
            <a:r>
              <a:rPr lang="en-US" altLang="zh-CN" sz="2000" b="1" dirty="0" err="1"/>
              <a:t>x</a:t>
            </a:r>
            <a:r>
              <a:rPr lang="en-US" altLang="zh-CN" sz="2000" b="1" baseline="-25000" dirty="0" err="1"/>
              <a:t>n</a:t>
            </a:r>
            <a:r>
              <a:rPr lang="en-US" altLang="zh-CN" sz="2000" b="1" dirty="0"/>
              <a:t>} </a:t>
            </a:r>
            <a:r>
              <a:rPr lang="zh-CN" altLang="en-US" sz="2000" b="1" dirty="0"/>
              <a:t>，</a:t>
            </a:r>
            <a:r>
              <a:rPr lang="en-US" altLang="zh-CN" sz="2000" b="1" dirty="0"/>
              <a:t/>
            </a:r>
            <a:br>
              <a:rPr lang="en-US" altLang="zh-CN" sz="2000" b="1" dirty="0"/>
            </a:br>
            <a:r>
              <a:rPr lang="zh-CN" altLang="en-US" sz="2000" b="1" dirty="0"/>
              <a:t>用</a:t>
            </a:r>
            <a:r>
              <a:rPr lang="en-US" altLang="zh-CN" sz="2000" b="1" dirty="0"/>
              <a:t>k</a:t>
            </a:r>
            <a:r>
              <a:rPr lang="zh-CN" altLang="en-US" sz="2000" b="1" dirty="0"/>
              <a:t>个相互独立的哈希函数</a:t>
            </a:r>
            <a:r>
              <a:rPr lang="en-US" altLang="zh-CN" sz="2000" b="1" dirty="0"/>
              <a:t/>
            </a:r>
            <a:br>
              <a:rPr lang="en-US" altLang="zh-CN" sz="2000" b="1" dirty="0"/>
            </a:br>
            <a:r>
              <a:rPr lang="zh-CN" altLang="en-US" sz="2000" b="1" dirty="0"/>
              <a:t>映射到</a:t>
            </a:r>
            <a:r>
              <a:rPr lang="en-US" altLang="zh-CN" sz="2000" b="1" dirty="0"/>
              <a:t>{1,…,m}</a:t>
            </a:r>
            <a:r>
              <a:rPr lang="zh-CN" altLang="en-US" sz="2000" b="1" dirty="0"/>
              <a:t>的范围中。</a:t>
            </a:r>
            <a:endParaRPr lang="en-US" altLang="zh-CN" sz="2000" b="1" dirty="0"/>
          </a:p>
          <a:p>
            <a:pPr eaLnBrk="1" hangingPunct="1">
              <a:lnSpc>
                <a:spcPct val="80000"/>
              </a:lnSpc>
            </a:pPr>
            <a:r>
              <a:rPr lang="zh-CN" altLang="en-US" sz="2000" b="1" dirty="0"/>
              <a:t>插入</a:t>
            </a:r>
            <a:endParaRPr lang="en-US" altLang="zh-CN" sz="2000" b="1" dirty="0"/>
          </a:p>
          <a:p>
            <a:pPr lvl="1" eaLnBrk="1" hangingPunct="1">
              <a:lnSpc>
                <a:spcPct val="80000"/>
              </a:lnSpc>
            </a:pPr>
            <a:r>
              <a:rPr lang="zh-CN" altLang="en-US" sz="1800" b="1" dirty="0"/>
              <a:t>如图</a:t>
            </a:r>
            <a:r>
              <a:rPr lang="en-US" altLang="zh-CN" sz="1800" b="1" dirty="0"/>
              <a:t>S{</a:t>
            </a:r>
            <a:r>
              <a:rPr lang="en-US" altLang="zh-CN" sz="1800" b="1" dirty="0" err="1"/>
              <a:t>x,y,z</a:t>
            </a:r>
            <a:r>
              <a:rPr lang="en-US" altLang="zh-CN" sz="1800" b="1" dirty="0"/>
              <a:t>}</a:t>
            </a:r>
            <a:r>
              <a:rPr lang="zh-CN" altLang="en-US" sz="1800" b="1" dirty="0"/>
              <a:t>集合中的每个元素，用</a:t>
            </a:r>
            <a:r>
              <a:rPr lang="en-US" altLang="zh-CN" sz="1800" b="1" dirty="0"/>
              <a:t>3</a:t>
            </a:r>
            <a:r>
              <a:rPr lang="zh-CN" altLang="en-US" sz="1800" b="1" dirty="0"/>
              <a:t>个</a:t>
            </a:r>
            <a:r>
              <a:rPr lang="en-US" altLang="zh-CN" sz="1800" b="1" dirty="0"/>
              <a:t>hash</a:t>
            </a:r>
            <a:r>
              <a:rPr lang="zh-CN" altLang="en-US" sz="1800" b="1" dirty="0"/>
              <a:t>函数映射到</a:t>
            </a:r>
            <a:r>
              <a:rPr lang="en-US" altLang="zh-CN" sz="1800" b="1" dirty="0"/>
              <a:t>{1,…,18}</a:t>
            </a:r>
            <a:r>
              <a:rPr lang="zh-CN" altLang="en-US" sz="1800" b="1" dirty="0"/>
              <a:t>范围内，将相应的位置为</a:t>
            </a:r>
            <a:r>
              <a:rPr lang="en-US" altLang="zh-CN" sz="1800" b="1" dirty="0"/>
              <a:t>1</a:t>
            </a:r>
          </a:p>
          <a:p>
            <a:pPr eaLnBrk="1" hangingPunct="1">
              <a:lnSpc>
                <a:spcPct val="80000"/>
              </a:lnSpc>
            </a:pPr>
            <a:r>
              <a:rPr lang="zh-CN" altLang="en-US" sz="2000" b="1" dirty="0"/>
              <a:t>查询</a:t>
            </a:r>
            <a:endParaRPr lang="en-US" altLang="zh-CN" sz="2000" b="1" dirty="0"/>
          </a:p>
          <a:p>
            <a:pPr lvl="1" eaLnBrk="1" hangingPunct="1">
              <a:lnSpc>
                <a:spcPct val="80000"/>
              </a:lnSpc>
            </a:pPr>
            <a:r>
              <a:rPr lang="en-US" altLang="zh-CN" sz="1800" b="1" dirty="0"/>
              <a:t>w</a:t>
            </a:r>
            <a:r>
              <a:rPr lang="zh-CN" altLang="en-US" sz="1800" b="1" dirty="0"/>
              <a:t>表示待查询元素</a:t>
            </a:r>
            <a:endParaRPr lang="en-US" altLang="zh-CN" sz="1800" b="1" dirty="0"/>
          </a:p>
          <a:p>
            <a:pPr lvl="1" eaLnBrk="1" hangingPunct="1">
              <a:lnSpc>
                <a:spcPct val="80000"/>
              </a:lnSpc>
            </a:pPr>
            <a:r>
              <a:rPr lang="zh-CN" altLang="en-US" sz="1800" b="1" dirty="0"/>
              <a:t>用相同的</a:t>
            </a:r>
            <a:r>
              <a:rPr lang="en-US" altLang="zh-CN" sz="1800" b="1" dirty="0"/>
              <a:t>3</a:t>
            </a:r>
            <a:r>
              <a:rPr lang="zh-CN" altLang="en-US" sz="1800" b="1" dirty="0"/>
              <a:t>个</a:t>
            </a:r>
            <a:r>
              <a:rPr lang="en-US" altLang="zh-CN" sz="1800" b="1" dirty="0"/>
              <a:t>hash</a:t>
            </a:r>
            <a:r>
              <a:rPr lang="zh-CN" altLang="en-US" sz="1800" b="1" dirty="0"/>
              <a:t>函数，将</a:t>
            </a:r>
            <a:r>
              <a:rPr lang="en-US" altLang="zh-CN" sz="1800" b="1" dirty="0"/>
              <a:t>w</a:t>
            </a:r>
            <a:r>
              <a:rPr lang="zh-CN" altLang="en-US" sz="1800" b="1" dirty="0"/>
              <a:t>映射到</a:t>
            </a:r>
            <a:r>
              <a:rPr lang="en-US" altLang="zh-CN" sz="1800" b="1" dirty="0"/>
              <a:t>{1,…,18}</a:t>
            </a:r>
            <a:r>
              <a:rPr lang="zh-CN" altLang="en-US" sz="1800" b="1" dirty="0"/>
              <a:t>范围内</a:t>
            </a:r>
            <a:endParaRPr lang="en-US" altLang="zh-CN" sz="1800" b="1" dirty="0"/>
          </a:p>
          <a:p>
            <a:pPr lvl="1" eaLnBrk="1" hangingPunct="1">
              <a:lnSpc>
                <a:spcPct val="80000"/>
              </a:lnSpc>
            </a:pPr>
            <a:r>
              <a:rPr lang="zh-CN" altLang="en-US" sz="1800" b="1" dirty="0"/>
              <a:t>如果每位都是</a:t>
            </a:r>
            <a:r>
              <a:rPr lang="en-US" altLang="zh-CN" sz="1800" b="1" dirty="0"/>
              <a:t>1</a:t>
            </a:r>
            <a:r>
              <a:rPr lang="zh-CN" altLang="en-US" sz="1800" b="1" dirty="0"/>
              <a:t>，则表示</a:t>
            </a:r>
            <a:r>
              <a:rPr lang="en-US" altLang="zh-CN" sz="1800" b="1" dirty="0"/>
              <a:t>w</a:t>
            </a:r>
            <a:r>
              <a:rPr lang="zh-CN" altLang="en-US" sz="1800" b="1" dirty="0"/>
              <a:t>在集合中，否表表示不在集合中</a:t>
            </a:r>
          </a:p>
          <a:p>
            <a:pPr eaLnBrk="1" hangingPunct="1">
              <a:lnSpc>
                <a:spcPct val="80000"/>
              </a:lnSpc>
            </a:pPr>
            <a:r>
              <a:rPr lang="zh-CN" altLang="en-US" sz="2000" b="1" dirty="0"/>
              <a:t>在判断一个元素是否属于某个集合时，有可能会把不属于这个集合的元素误认为属于这个集合（</a:t>
            </a:r>
            <a:r>
              <a:rPr lang="en-US" altLang="zh-CN" sz="2000" b="1" dirty="0"/>
              <a:t>false positive</a:t>
            </a:r>
            <a:r>
              <a:rPr lang="zh-CN" altLang="en-US" sz="2000" b="1" dirty="0"/>
              <a:t>假阳性，误报）</a:t>
            </a:r>
          </a:p>
          <a:p>
            <a:pPr eaLnBrk="1" hangingPunct="1">
              <a:lnSpc>
                <a:spcPct val="80000"/>
              </a:lnSpc>
            </a:pPr>
            <a:r>
              <a:rPr lang="zh-CN" altLang="en-US" sz="2000" b="1" dirty="0"/>
              <a:t>它通过极少的错误换取了存储空间的极大节省。</a:t>
            </a:r>
            <a:endParaRPr lang="en-US" altLang="zh-CN" sz="2000" b="1" dirty="0"/>
          </a:p>
          <a:p>
            <a:pPr eaLnBrk="1" hangingPunct="1">
              <a:lnSpc>
                <a:spcPct val="80000"/>
              </a:lnSpc>
            </a:pPr>
            <a:r>
              <a:rPr lang="en-US" altLang="zh-CN" sz="2000" dirty="0">
                <a:hlinkClick r:id="rId3"/>
              </a:rPr>
              <a:t>http://blog.csdn.net/jiaomeng/archive/2007/01/27/1495500.aspx</a:t>
            </a:r>
            <a:endParaRPr lang="en-US" altLang="zh-CN" sz="2000" dirty="0"/>
          </a:p>
        </p:txBody>
      </p:sp>
    </p:spTree>
    <p:extLst>
      <p:ext uri="{BB962C8B-B14F-4D97-AF65-F5344CB8AC3E}">
        <p14:creationId xmlns:p14="http://schemas.microsoft.com/office/powerpoint/2010/main" val="2551031044"/>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3089" name="组合 3"/>
          <p:cNvGrpSpPr>
            <a:grpSpLocks noChangeAspect="1"/>
          </p:cNvGrpSpPr>
          <p:nvPr/>
        </p:nvGrpSpPr>
        <p:grpSpPr>
          <a:xfrm>
            <a:off x="-1587" y="6473825"/>
            <a:ext cx="12193587" cy="425450"/>
            <a:chOff x="0" y="0"/>
            <a:chExt cx="12224389" cy="424896"/>
          </a:xfrm>
        </p:grpSpPr>
        <p:pic>
          <p:nvPicPr>
            <p:cNvPr id="473090" name="Picture 2" descr="C:\Users\admin\Desktop\1.png"/>
            <p:cNvPicPr>
              <a:picLocks noChangeAspect="1"/>
            </p:cNvPicPr>
            <p:nvPr/>
          </p:nvPicPr>
          <p:blipFill>
            <a:blip r:embed="rId2"/>
            <a:stretch>
              <a:fillRect/>
            </a:stretch>
          </p:blipFill>
          <p:spPr>
            <a:xfrm>
              <a:off x="0" y="0"/>
              <a:ext cx="4904253" cy="400378"/>
            </a:xfrm>
            <a:prstGeom prst="rect">
              <a:avLst/>
            </a:prstGeom>
            <a:noFill/>
            <a:ln w="9525">
              <a:noFill/>
            </a:ln>
          </p:spPr>
        </p:pic>
        <p:pic>
          <p:nvPicPr>
            <p:cNvPr id="473091" name="Picture 2" descr="C:\Users\admin\Desktop\1.png"/>
            <p:cNvPicPr>
              <a:picLocks noChangeAspect="1"/>
            </p:cNvPicPr>
            <p:nvPr/>
          </p:nvPicPr>
          <p:blipFill>
            <a:blip r:embed="rId2"/>
            <a:srcRect l="4613"/>
            <a:stretch>
              <a:fillRect/>
            </a:stretch>
          </p:blipFill>
          <p:spPr>
            <a:xfrm>
              <a:off x="4894628" y="9625"/>
              <a:ext cx="4677907" cy="400378"/>
            </a:xfrm>
            <a:prstGeom prst="rect">
              <a:avLst/>
            </a:prstGeom>
            <a:noFill/>
            <a:ln w="9525">
              <a:noFill/>
            </a:ln>
          </p:spPr>
        </p:pic>
        <p:pic>
          <p:nvPicPr>
            <p:cNvPr id="473092" name="Picture 2" descr="C:\Users\admin\Desktop\1.png"/>
            <p:cNvPicPr>
              <a:picLocks noChangeAspect="1"/>
            </p:cNvPicPr>
            <p:nvPr/>
          </p:nvPicPr>
          <p:blipFill>
            <a:blip r:embed="rId2"/>
            <a:srcRect l="4613" r="41147"/>
            <a:stretch>
              <a:fillRect/>
            </a:stretch>
          </p:blipFill>
          <p:spPr>
            <a:xfrm>
              <a:off x="9564490" y="24518"/>
              <a:ext cx="2659899" cy="400378"/>
            </a:xfrm>
            <a:prstGeom prst="rect">
              <a:avLst/>
            </a:prstGeom>
            <a:noFill/>
            <a:ln w="9525">
              <a:noFill/>
            </a:ln>
          </p:spPr>
        </p:pic>
      </p:grpSp>
      <p:pic>
        <p:nvPicPr>
          <p:cNvPr id="473093" name="Picture 3" descr="E:\PPT\PPT中国风元素\梅花PNG免抠图素材\3299168202027027296.png"/>
          <p:cNvPicPr>
            <a:picLocks noChangeAspect="1"/>
          </p:cNvPicPr>
          <p:nvPr/>
        </p:nvPicPr>
        <p:blipFill>
          <a:blip r:embed="rId3">
            <a:biLevel thresh="50000"/>
            <a:grayscl/>
          </a:blip>
          <a:stretch>
            <a:fillRect/>
          </a:stretch>
        </p:blipFill>
        <p:spPr>
          <a:xfrm>
            <a:off x="0" y="-862012"/>
            <a:ext cx="4535488" cy="4506912"/>
          </a:xfrm>
          <a:prstGeom prst="rect">
            <a:avLst/>
          </a:prstGeom>
          <a:noFill/>
          <a:ln w="9525">
            <a:noFill/>
          </a:ln>
        </p:spPr>
      </p:pic>
      <p:sp>
        <p:nvSpPr>
          <p:cNvPr id="473094" name="TextBox 5"/>
          <p:cNvSpPr/>
          <p:nvPr/>
        </p:nvSpPr>
        <p:spPr>
          <a:xfrm>
            <a:off x="1476375" y="476250"/>
            <a:ext cx="7632700" cy="683264"/>
          </a:xfrm>
          <a:prstGeom prst="rect">
            <a:avLst/>
          </a:prstGeom>
          <a:noFill/>
          <a:ln w="9525">
            <a:noFill/>
          </a:ln>
        </p:spPr>
        <p:txBody>
          <a:bodyPr wrap="square" anchor="t" anchorCtr="0">
            <a:spAutoFit/>
          </a:bodyPr>
          <a:lstStyle/>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1" lang="zh-CN" altLang="en-US" sz="3200" b="1" dirty="0">
                <a:solidFill>
                  <a:srgbClr val="FF0000"/>
                </a:solidFill>
                <a:effectLst>
                  <a:outerShdw blurRad="38100" dist="38100" dir="2700000" algn="tl">
                    <a:srgbClr val="000000"/>
                  </a:outerShdw>
                </a:effectLst>
                <a:latin typeface="+mj-lt"/>
                <a:cs typeface="+mj-cs"/>
                <a:sym typeface="微软雅黑" panose="020B0503020204020204" pitchFamily="34" charset="-122"/>
              </a:rPr>
              <a:t>布隆</a:t>
            </a:r>
            <a:r>
              <a:rPr kumimoji="1" lang="zh-CN" altLang="en-US" sz="3200" b="1" dirty="0" smtClean="0">
                <a:solidFill>
                  <a:srgbClr val="FF0000"/>
                </a:solidFill>
                <a:effectLst>
                  <a:outerShdw blurRad="38100" dist="38100" dir="2700000" algn="tl">
                    <a:srgbClr val="000000"/>
                  </a:outerShdw>
                </a:effectLst>
                <a:latin typeface="+mj-lt"/>
                <a:cs typeface="+mj-cs"/>
                <a:sym typeface="微软雅黑" panose="020B0503020204020204" pitchFamily="34" charset="-122"/>
              </a:rPr>
              <a:t>过滤器的</a:t>
            </a:r>
            <a:r>
              <a:rPr kumimoji="1" lang="zh-CN" altLang="en-US" sz="3200" b="1" dirty="0">
                <a:solidFill>
                  <a:srgbClr val="FF0000"/>
                </a:solidFill>
                <a:effectLst>
                  <a:outerShdw blurRad="38100" dist="38100" dir="2700000" algn="tl">
                    <a:srgbClr val="000000"/>
                  </a:outerShdw>
                </a:effectLst>
                <a:latin typeface="+mj-lt"/>
                <a:cs typeface="+mj-cs"/>
                <a:sym typeface="微软雅黑" panose="020B0503020204020204" pitchFamily="34" charset="-122"/>
              </a:rPr>
              <a:t>问题：误判</a:t>
            </a:r>
            <a:r>
              <a:rPr kumimoji="1" lang="en-US" altLang="zh-CN" sz="3200" b="1" dirty="0">
                <a:solidFill>
                  <a:srgbClr val="FF0000"/>
                </a:solidFill>
                <a:effectLst>
                  <a:outerShdw blurRad="38100" dist="38100" dir="2700000" algn="tl">
                    <a:srgbClr val="000000"/>
                  </a:outerShdw>
                </a:effectLst>
                <a:latin typeface="+mj-lt"/>
                <a:cs typeface="+mj-cs"/>
                <a:sym typeface="微软雅黑" panose="020B0503020204020204" pitchFamily="34" charset="-122"/>
              </a:rPr>
              <a:t>(</a:t>
            </a:r>
            <a:r>
              <a:rPr kumimoji="1" lang="zh-CN" altLang="en-US" sz="3200" b="1" dirty="0">
                <a:solidFill>
                  <a:srgbClr val="FF0000"/>
                </a:solidFill>
                <a:effectLst>
                  <a:outerShdw blurRad="38100" dist="38100" dir="2700000" algn="tl">
                    <a:srgbClr val="000000"/>
                  </a:outerShdw>
                </a:effectLst>
                <a:latin typeface="+mj-lt"/>
                <a:cs typeface="+mj-cs"/>
                <a:sym typeface="微软雅黑" panose="020B0503020204020204" pitchFamily="34" charset="-122"/>
              </a:rPr>
              <a:t>假阳性</a:t>
            </a:r>
            <a:r>
              <a:rPr kumimoji="1" lang="en-US" altLang="zh-CN" sz="3200" b="1" dirty="0">
                <a:solidFill>
                  <a:srgbClr val="FF0000"/>
                </a:solidFill>
                <a:effectLst>
                  <a:outerShdw blurRad="38100" dist="38100" dir="2700000" algn="tl">
                    <a:srgbClr val="000000"/>
                  </a:outerShdw>
                </a:effectLst>
                <a:latin typeface="+mj-lt"/>
                <a:cs typeface="+mj-cs"/>
                <a:sym typeface="微软雅黑" panose="020B0503020204020204" pitchFamily="34" charset="-122"/>
              </a:rPr>
              <a:t>)</a:t>
            </a:r>
            <a:endParaRPr kumimoji="1" lang="zh-CN" altLang="en-US" sz="3200" b="1" dirty="0">
              <a:solidFill>
                <a:srgbClr val="FF0000"/>
              </a:solidFill>
              <a:effectLst>
                <a:outerShdw blurRad="38100" dist="38100" dir="2700000" algn="tl">
                  <a:srgbClr val="000000"/>
                </a:outerShdw>
              </a:effectLst>
              <a:latin typeface="+mj-lt"/>
              <a:cs typeface="+mj-cs"/>
              <a:sym typeface="微软雅黑" panose="020B0503020204020204" pitchFamily="34" charset="-122"/>
            </a:endParaRPr>
          </a:p>
        </p:txBody>
      </p:sp>
      <p:sp>
        <p:nvSpPr>
          <p:cNvPr id="473095" name="Text Box 13"/>
          <p:cNvSpPr/>
          <p:nvPr/>
        </p:nvSpPr>
        <p:spPr>
          <a:xfrm>
            <a:off x="323850" y="1557338"/>
            <a:ext cx="8712200" cy="1754187"/>
          </a:xfrm>
          <a:prstGeom prst="rect">
            <a:avLst/>
          </a:prstGeom>
          <a:noFill/>
          <a:ln w="9525">
            <a:noFill/>
          </a:ln>
        </p:spPr>
        <p:txBody>
          <a:bodyPr anchor="t" anchorCtr="0">
            <a:spAutoFit/>
          </a:bodyPr>
          <a:lstStyle/>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若集合中的若干个元素通过映射之后得到的数值恰巧同为g1,g2,.....gk，那么这种情况下就会造成误判。</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布隆过滤器的误判率和这k个映射函数的设计有关。</a:t>
            </a: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另外布隆过滤器不允许删除元素</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可以用计数器进行改进</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None/>
              <a:tabLst/>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443" name="Text Box 13"/>
          <p:cNvSpPr/>
          <p:nvPr/>
        </p:nvSpPr>
        <p:spPr>
          <a:xfrm>
            <a:off x="330200" y="3333750"/>
            <a:ext cx="8850313" cy="2751138"/>
          </a:xfrm>
          <a:prstGeom prst="rect">
            <a:avLst/>
          </a:prstGeom>
          <a:noFill/>
          <a:ln w="9525">
            <a:noFill/>
          </a:ln>
        </p:spPr>
        <p:txBody>
          <a:bodyPr anchor="t" anchorCtr="0">
            <a:spAutoFit/>
          </a:bodyPr>
          <a:lstStyle/>
          <a:p>
            <a:pPr marL="285750" marR="0" lvl="0" indent="-285750" algn="l" defTabSz="914400" rtl="0" eaLnBrk="1" fontAlgn="base" latinLnBrk="0" hangingPunct="1">
              <a:lnSpc>
                <a:spcPct val="120000"/>
              </a:lnSpc>
              <a:spcBef>
                <a:spcPct val="0"/>
              </a:spcBef>
              <a:spcAft>
                <a:spcPct val="0"/>
              </a:spcAft>
              <a:buClrTx/>
              <a:buSzTx/>
              <a:buFont typeface="Wingdings" panose="05000000000000000000" pitchFamily="2" charset="2"/>
              <a:buChar char="Ø"/>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邮件实例分析： 假设一个邮件地址为8 bytes</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使用hash存储，装填因子为0.5，则需要1*10^8*8/0.5 bytes = 1.6G</a:t>
            </a: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使用布隆过滤器，空间利用率为50%，k=8，则需要1*10^8*8/0.5 bits = 200MB</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显然，布隆所需空间比哈希结构小得多。</a:t>
            </a: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PS: 误判率为p，位数组大小为m，集合数据个数为n，映射函数个数为k</a:t>
            </a: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这几个量存在一定的关系，通常是先设定一个误判率，然后去确定m和k。</a:t>
            </a:r>
          </a:p>
          <a:p>
            <a:pPr marL="285750" marR="0" lvl="0" indent="-285750" algn="l" defTabSz="914400" rtl="0" eaLnBrk="1" fontAlgn="base" latinLnBrk="0" hangingPunct="1">
              <a:lnSpc>
                <a:spcPct val="120000"/>
              </a:lnSpc>
              <a:spcBef>
                <a:spcPct val="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p>
        </p:txBody>
      </p:sp>
    </p:spTree>
    <p:extLst>
      <p:ext uri="{BB962C8B-B14F-4D97-AF65-F5344CB8AC3E}">
        <p14:creationId xmlns:p14="http://schemas.microsoft.com/office/powerpoint/2010/main" val="36974460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43">
                                            <p:txEl>
                                              <p:pRg st="0" end="0"/>
                                            </p:txEl>
                                          </p:spTgt>
                                        </p:tgtEl>
                                        <p:attrNameLst>
                                          <p:attrName>style.visibility</p:attrName>
                                        </p:attrNameLst>
                                      </p:cBhvr>
                                      <p:to>
                                        <p:strVal val="visible"/>
                                      </p:to>
                                    </p:set>
                                    <p:animEffect transition="in" filter="fade">
                                      <p:cBhvr>
                                        <p:cTn id="7" dur="1000"/>
                                        <p:tgtEl>
                                          <p:spTgt spid="18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43">
                                            <p:txEl>
                                              <p:pRg st="1" end="1"/>
                                            </p:txEl>
                                          </p:spTgt>
                                        </p:tgtEl>
                                        <p:attrNameLst>
                                          <p:attrName>style.visibility</p:attrName>
                                        </p:attrNameLst>
                                      </p:cBhvr>
                                      <p:to>
                                        <p:strVal val="visible"/>
                                      </p:to>
                                    </p:set>
                                    <p:animEffect transition="in" filter="fade">
                                      <p:cBhvr>
                                        <p:cTn id="12" dur="1000"/>
                                        <p:tgtEl>
                                          <p:spTgt spid="18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443">
                                            <p:txEl>
                                              <p:pRg st="2" end="2"/>
                                            </p:txEl>
                                          </p:spTgt>
                                        </p:tgtEl>
                                        <p:attrNameLst>
                                          <p:attrName>style.visibility</p:attrName>
                                        </p:attrNameLst>
                                      </p:cBhvr>
                                      <p:to>
                                        <p:strVal val="visible"/>
                                      </p:to>
                                    </p:set>
                                    <p:animEffect transition="in" filter="fade">
                                      <p:cBhvr>
                                        <p:cTn id="17" dur="1000"/>
                                        <p:tgtEl>
                                          <p:spTgt spid="184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443">
                                            <p:txEl>
                                              <p:pRg st="3" end="3"/>
                                            </p:txEl>
                                          </p:spTgt>
                                        </p:tgtEl>
                                        <p:attrNameLst>
                                          <p:attrName>style.visibility</p:attrName>
                                        </p:attrNameLst>
                                      </p:cBhvr>
                                      <p:to>
                                        <p:strVal val="visible"/>
                                      </p:to>
                                    </p:set>
                                    <p:animEffect transition="in" filter="fade">
                                      <p:cBhvr>
                                        <p:cTn id="22" dur="1000"/>
                                        <p:tgtEl>
                                          <p:spTgt spid="184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443">
                                            <p:txEl>
                                              <p:pRg st="5" end="5"/>
                                            </p:txEl>
                                          </p:spTgt>
                                        </p:tgtEl>
                                        <p:attrNameLst>
                                          <p:attrName>style.visibility</p:attrName>
                                        </p:attrNameLst>
                                      </p:cBhvr>
                                      <p:to>
                                        <p:strVal val="visible"/>
                                      </p:to>
                                    </p:set>
                                    <p:animEffect transition="in" filter="fade">
                                      <p:cBhvr>
                                        <p:cTn id="27" dur="1000"/>
                                        <p:tgtEl>
                                          <p:spTgt spid="18443">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8443">
                                            <p:txEl>
                                              <p:pRg st="6" end="6"/>
                                            </p:txEl>
                                          </p:spTgt>
                                        </p:tgtEl>
                                        <p:attrNameLst>
                                          <p:attrName>style.visibility</p:attrName>
                                        </p:attrNameLst>
                                      </p:cBhvr>
                                      <p:to>
                                        <p:strVal val="visible"/>
                                      </p:to>
                                    </p:set>
                                    <p:animEffect transition="in" filter="fade">
                                      <p:cBhvr>
                                        <p:cTn id="30" dur="1000"/>
                                        <p:tgtEl>
                                          <p:spTgt spid="1844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8443">
                                            <p:txEl>
                                              <p:pRg st="7" end="7"/>
                                            </p:txEl>
                                          </p:spTgt>
                                        </p:tgtEl>
                                        <p:attrNameLst>
                                          <p:attrName>style.visibility</p:attrName>
                                        </p:attrNameLst>
                                      </p:cBhvr>
                                      <p:to>
                                        <p:strVal val="visible"/>
                                      </p:to>
                                    </p:set>
                                    <p:animEffect transition="in" filter="fade">
                                      <p:cBhvr>
                                        <p:cTn id="33" dur="1000"/>
                                        <p:tgtEl>
                                          <p:spTgt spid="184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3" name="标题 1"/>
          <p:cNvSpPr>
            <a:spLocks noGrp="1" noRot="1"/>
          </p:cNvSpPr>
          <p:nvPr>
            <p:ph type="title"/>
          </p:nvPr>
        </p:nvSpPr>
        <p:spPr>
          <a:xfrm>
            <a:off x="740848" y="275499"/>
            <a:ext cx="7568173" cy="678470"/>
          </a:xfrm>
        </p:spPr>
        <p:txBody>
          <a:bodyPr anchor="ctr" anchorCtr="0"/>
          <a:lstStyle/>
          <a:p>
            <a:pPr eaLnBrk="1" hangingPunct="1"/>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错误率估计</a:t>
            </a:r>
          </a:p>
        </p:txBody>
      </p:sp>
      <p:sp>
        <p:nvSpPr>
          <p:cNvPr id="474114" name="内容占位符 2"/>
          <p:cNvSpPr>
            <a:spLocks noGrp="1" noRot="1"/>
          </p:cNvSpPr>
          <p:nvPr>
            <p:ph idx="1"/>
          </p:nvPr>
        </p:nvSpPr>
        <p:spPr/>
        <p:txBody>
          <a:bodyPr anchor="t" anchorCtr="0"/>
          <a:lstStyle/>
          <a:p>
            <a:pPr eaLnBrk="1" hangingPunct="1"/>
            <a:r>
              <a:rPr lang="zh-CN" altLang="en-US"/>
              <a:t>当集合</a:t>
            </a:r>
            <a:r>
              <a:rPr lang="en-US" altLang="zh-CN"/>
              <a:t>S={x</a:t>
            </a:r>
            <a:r>
              <a:rPr lang="en-US" altLang="zh-CN" baseline="-25000"/>
              <a:t>1</a:t>
            </a:r>
            <a:r>
              <a:rPr lang="en-US" altLang="zh-CN"/>
              <a:t>, x</a:t>
            </a:r>
            <a:r>
              <a:rPr lang="en-US" altLang="zh-CN" baseline="-25000"/>
              <a:t>2</a:t>
            </a:r>
            <a:r>
              <a:rPr lang="en-US" altLang="zh-CN"/>
              <a:t>,…,x</a:t>
            </a:r>
            <a:r>
              <a:rPr lang="en-US" altLang="zh-CN" baseline="-25000"/>
              <a:t>n</a:t>
            </a:r>
            <a:r>
              <a:rPr lang="en-US" altLang="zh-CN"/>
              <a:t>}</a:t>
            </a:r>
            <a:r>
              <a:rPr lang="zh-CN" altLang="en-US"/>
              <a:t>的所有元素都被</a:t>
            </a:r>
            <a:r>
              <a:rPr lang="en-US" altLang="zh-CN"/>
              <a:t>k</a:t>
            </a:r>
            <a:r>
              <a:rPr lang="zh-CN" altLang="en-US"/>
              <a:t>个哈希函数映射到</a:t>
            </a:r>
            <a:r>
              <a:rPr lang="en-US" altLang="zh-CN"/>
              <a:t>m</a:t>
            </a:r>
            <a:r>
              <a:rPr lang="zh-CN" altLang="en-US"/>
              <a:t>位的位数组中时，这个位数组中某一位还是</a:t>
            </a:r>
            <a:r>
              <a:rPr lang="en-US" altLang="zh-CN"/>
              <a:t>0</a:t>
            </a:r>
            <a:r>
              <a:rPr lang="zh-CN" altLang="en-US"/>
              <a:t>的概率是：</a:t>
            </a:r>
            <a:endParaRPr lang="en-US" altLang="zh-CN"/>
          </a:p>
          <a:p>
            <a:pPr eaLnBrk="1" hangingPunct="1"/>
            <a:endParaRPr lang="en-US" altLang="zh-CN"/>
          </a:p>
          <a:p>
            <a:pPr eaLnBrk="1" hangingPunct="1"/>
            <a:r>
              <a:rPr lang="el-GR" altLang="zh-CN"/>
              <a:t>(1-</a:t>
            </a:r>
            <a:r>
              <a:rPr lang="en-US" altLang="zh-CN"/>
              <a:t>p</a:t>
            </a:r>
            <a:r>
              <a:rPr lang="el-GR" altLang="zh-CN"/>
              <a:t>)</a:t>
            </a:r>
            <a:r>
              <a:rPr lang="en-US" altLang="zh-CN" baseline="30000"/>
              <a:t>k</a:t>
            </a:r>
            <a:r>
              <a:rPr lang="zh-CN" altLang="en-US"/>
              <a:t>表示</a:t>
            </a:r>
            <a:r>
              <a:rPr lang="en-US" altLang="zh-CN"/>
              <a:t>k</a:t>
            </a:r>
            <a:r>
              <a:rPr lang="zh-CN" altLang="en-US"/>
              <a:t>次哈希都刚好选中</a:t>
            </a:r>
            <a:r>
              <a:rPr lang="en-US" altLang="zh-CN"/>
              <a:t>1</a:t>
            </a:r>
            <a:r>
              <a:rPr lang="zh-CN" altLang="en-US"/>
              <a:t>的区域，即</a:t>
            </a:r>
            <a:r>
              <a:rPr lang="en-US" altLang="zh-CN"/>
              <a:t>false positive rate:</a:t>
            </a:r>
            <a:endParaRPr lang="zh-CN" altLang="en-US"/>
          </a:p>
        </p:txBody>
      </p:sp>
      <p:graphicFrame>
        <p:nvGraphicFramePr>
          <p:cNvPr id="474115" name="Object 2"/>
          <p:cNvGraphicFramePr>
            <a:graphicFrameLocks noChangeAspect="1"/>
          </p:cNvGraphicFramePr>
          <p:nvPr/>
        </p:nvGraphicFramePr>
        <p:xfrm>
          <a:off x="2627313" y="3000375"/>
          <a:ext cx="2962275" cy="785813"/>
        </p:xfrm>
        <a:graphic>
          <a:graphicData uri="http://schemas.openxmlformats.org/presentationml/2006/ole">
            <mc:AlternateContent xmlns:mc="http://schemas.openxmlformats.org/markup-compatibility/2006">
              <mc:Choice xmlns:v="urn:schemas-microsoft-com:vml" Requires="v">
                <p:oleObj spid="_x0000_s11272" r:id="rId3" imgW="31394400" imgH="9448800" progId="Equation.3">
                  <p:embed/>
                </p:oleObj>
              </mc:Choice>
              <mc:Fallback>
                <p:oleObj r:id="rId3" imgW="31394400" imgH="9448800" progId="Equation.3">
                  <p:embed/>
                  <p:pic>
                    <p:nvPicPr>
                      <p:cNvPr id="474115" name="Object 2"/>
                      <p:cNvPicPr/>
                      <p:nvPr/>
                    </p:nvPicPr>
                    <p:blipFill>
                      <a:blip r:embed="rId4"/>
                      <a:stretch>
                        <a:fillRect/>
                      </a:stretch>
                    </p:blipFill>
                    <p:spPr>
                      <a:xfrm>
                        <a:off x="2627313" y="3000375"/>
                        <a:ext cx="2962275" cy="785813"/>
                      </a:xfrm>
                      <a:prstGeom prst="rect">
                        <a:avLst/>
                      </a:prstGeom>
                      <a:noFill/>
                      <a:ln w="38100">
                        <a:noFill/>
                        <a:miter/>
                      </a:ln>
                    </p:spPr>
                  </p:pic>
                </p:oleObj>
              </mc:Fallback>
            </mc:AlternateContent>
          </a:graphicData>
        </a:graphic>
      </p:graphicFrame>
      <p:graphicFrame>
        <p:nvGraphicFramePr>
          <p:cNvPr id="474116" name="Object 3"/>
          <p:cNvGraphicFramePr>
            <a:graphicFrameLocks noChangeAspect="1"/>
          </p:cNvGraphicFramePr>
          <p:nvPr/>
        </p:nvGraphicFramePr>
        <p:xfrm>
          <a:off x="2268538" y="4945063"/>
          <a:ext cx="4000500" cy="571500"/>
        </p:xfrm>
        <a:graphic>
          <a:graphicData uri="http://schemas.openxmlformats.org/presentationml/2006/ole">
            <mc:AlternateContent xmlns:mc="http://schemas.openxmlformats.org/markup-compatibility/2006">
              <mc:Choice xmlns:v="urn:schemas-microsoft-com:vml" Requires="v">
                <p:oleObj spid="_x0000_s11273" r:id="rId5" imgW="38404800" imgH="5486400" progId="Equation.3">
                  <p:embed/>
                </p:oleObj>
              </mc:Choice>
              <mc:Fallback>
                <p:oleObj r:id="rId5" imgW="38404800" imgH="5486400" progId="Equation.3">
                  <p:embed/>
                  <p:pic>
                    <p:nvPicPr>
                      <p:cNvPr id="474116" name="Object 3"/>
                      <p:cNvPicPr/>
                      <p:nvPr/>
                    </p:nvPicPr>
                    <p:blipFill>
                      <a:blip r:embed="rId6"/>
                      <a:stretch>
                        <a:fillRect/>
                      </a:stretch>
                    </p:blipFill>
                    <p:spPr>
                      <a:xfrm>
                        <a:off x="2268538" y="4945063"/>
                        <a:ext cx="4000500" cy="5715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66351912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7" name="标题 1"/>
          <p:cNvSpPr>
            <a:spLocks noGrp="1" noRot="1"/>
          </p:cNvSpPr>
          <p:nvPr>
            <p:ph type="title"/>
          </p:nvPr>
        </p:nvSpPr>
        <p:spPr/>
        <p:txBody>
          <a:bodyPr anchor="ctr" anchorCtr="0"/>
          <a:lstStyle/>
          <a:p>
            <a:pPr algn="l" eaLnBrk="1" hangingPunct="1"/>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哈希函数个数</a:t>
            </a:r>
            <a:r>
              <a:rPr lang="en-US" altLang="zh-CN"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k</a:t>
            </a:r>
            <a:endPar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endParaRPr>
          </a:p>
        </p:txBody>
      </p:sp>
      <p:sp>
        <p:nvSpPr>
          <p:cNvPr id="475138" name="内容占位符 2"/>
          <p:cNvSpPr>
            <a:spLocks noGrp="1" noRot="1"/>
          </p:cNvSpPr>
          <p:nvPr>
            <p:ph idx="1"/>
          </p:nvPr>
        </p:nvSpPr>
        <p:spPr/>
        <p:txBody>
          <a:bodyPr anchor="t" anchorCtr="0"/>
          <a:lstStyle/>
          <a:p>
            <a:pPr eaLnBrk="1" hangingPunct="1">
              <a:lnSpc>
                <a:spcPct val="90000"/>
              </a:lnSpc>
            </a:pPr>
            <a:r>
              <a:rPr lang="en-US" altLang="zh-CN" sz="3000" dirty="0"/>
              <a:t>Hash</a:t>
            </a:r>
            <a:r>
              <a:rPr lang="zh-CN" altLang="en-US" sz="3000" dirty="0"/>
              <a:t>函数的个数</a:t>
            </a:r>
            <a:r>
              <a:rPr lang="en-US" altLang="zh-CN" sz="3000" dirty="0"/>
              <a:t>k</a:t>
            </a:r>
            <a:r>
              <a:rPr lang="zh-CN" altLang="en-US" sz="3000" dirty="0"/>
              <a:t>不是</a:t>
            </a:r>
            <a:r>
              <a:rPr lang="en-US" altLang="zh-CN" sz="3000" dirty="0"/>
              <a:t/>
            </a:r>
            <a:br>
              <a:rPr lang="en-US" altLang="zh-CN" sz="3000" dirty="0"/>
            </a:br>
            <a:r>
              <a:rPr lang="zh-CN" altLang="en-US" sz="3000" dirty="0"/>
              <a:t>越大越好，</a:t>
            </a:r>
            <a:r>
              <a:rPr lang="en-US" altLang="zh-CN" sz="3000" dirty="0"/>
              <a:t>k</a:t>
            </a:r>
            <a:r>
              <a:rPr lang="zh-CN" altLang="en-US" sz="3000" dirty="0"/>
              <a:t>如何取，</a:t>
            </a:r>
            <a:r>
              <a:rPr lang="en-US" altLang="zh-CN" sz="3000" dirty="0"/>
              <a:t/>
            </a:r>
            <a:br>
              <a:rPr lang="en-US" altLang="zh-CN" sz="3000" dirty="0"/>
            </a:br>
            <a:r>
              <a:rPr lang="zh-CN" altLang="en-US" sz="3000" dirty="0"/>
              <a:t>才能使得</a:t>
            </a:r>
            <a:r>
              <a:rPr lang="en-US" altLang="zh-CN" sz="3000" dirty="0"/>
              <a:t>f</a:t>
            </a:r>
            <a:r>
              <a:rPr lang="zh-CN" altLang="en-US" sz="3000" dirty="0"/>
              <a:t>最小？</a:t>
            </a:r>
            <a:endParaRPr lang="en-US" altLang="zh-CN" sz="3000" dirty="0"/>
          </a:p>
          <a:p>
            <a:pPr eaLnBrk="1" hangingPunct="1">
              <a:lnSpc>
                <a:spcPct val="90000"/>
              </a:lnSpc>
            </a:pPr>
            <a:endParaRPr lang="en-US" altLang="zh-CN" sz="3000" dirty="0"/>
          </a:p>
          <a:p>
            <a:pPr eaLnBrk="1" hangingPunct="1">
              <a:lnSpc>
                <a:spcPct val="90000"/>
              </a:lnSpc>
            </a:pPr>
            <a:endParaRPr lang="en-US" altLang="zh-CN" sz="3000" dirty="0"/>
          </a:p>
          <a:p>
            <a:pPr eaLnBrk="1" hangingPunct="1">
              <a:lnSpc>
                <a:spcPct val="90000"/>
              </a:lnSpc>
            </a:pPr>
            <a:endParaRPr lang="en-US" altLang="zh-CN" sz="3000" dirty="0"/>
          </a:p>
          <a:p>
            <a:pPr eaLnBrk="1" hangingPunct="1">
              <a:lnSpc>
                <a:spcPct val="90000"/>
              </a:lnSpc>
            </a:pPr>
            <a:endParaRPr lang="en-US" altLang="zh-CN" sz="3000" dirty="0" smtClean="0"/>
          </a:p>
          <a:p>
            <a:pPr eaLnBrk="1" hangingPunct="1">
              <a:lnSpc>
                <a:spcPct val="90000"/>
              </a:lnSpc>
            </a:pPr>
            <a:endParaRPr lang="en-US" altLang="zh-CN" sz="3000" dirty="0"/>
          </a:p>
          <a:p>
            <a:pPr eaLnBrk="1" hangingPunct="1">
              <a:lnSpc>
                <a:spcPct val="90000"/>
              </a:lnSpc>
            </a:pPr>
            <a:r>
              <a:rPr lang="zh-CN" altLang="en-US" sz="3000" dirty="0"/>
              <a:t>所以，</a:t>
            </a:r>
            <a:r>
              <a:rPr lang="en-US" altLang="zh-CN" sz="3000" dirty="0"/>
              <a:t>p=1/2</a:t>
            </a:r>
            <a:r>
              <a:rPr lang="zh-CN" altLang="en-US" sz="3000" dirty="0"/>
              <a:t>时错误率最小，也就是让一半的位空着</a:t>
            </a:r>
            <a:endParaRPr lang="en-US" altLang="zh-CN" sz="3000" dirty="0"/>
          </a:p>
          <a:p>
            <a:pPr eaLnBrk="1" hangingPunct="1">
              <a:lnSpc>
                <a:spcPct val="90000"/>
              </a:lnSpc>
            </a:pPr>
            <a:endParaRPr lang="zh-CN" altLang="en-US" sz="3000" dirty="0"/>
          </a:p>
        </p:txBody>
      </p:sp>
      <p:pic>
        <p:nvPicPr>
          <p:cNvPr id="475139" name="Picture 2"/>
          <p:cNvPicPr>
            <a:picLocks noChangeAspect="1"/>
          </p:cNvPicPr>
          <p:nvPr/>
        </p:nvPicPr>
        <p:blipFill>
          <a:blip r:embed="rId3"/>
          <a:stretch>
            <a:fillRect/>
          </a:stretch>
        </p:blipFill>
        <p:spPr>
          <a:xfrm>
            <a:off x="4902200" y="142875"/>
            <a:ext cx="4043363" cy="3000375"/>
          </a:xfrm>
          <a:prstGeom prst="rect">
            <a:avLst/>
          </a:prstGeom>
          <a:noFill/>
          <a:ln w="9525">
            <a:noFill/>
          </a:ln>
        </p:spPr>
      </p:pic>
      <p:graphicFrame>
        <p:nvGraphicFramePr>
          <p:cNvPr id="475140" name="Object 3"/>
          <p:cNvGraphicFramePr>
            <a:graphicFrameLocks noChangeAspect="1"/>
          </p:cNvGraphicFramePr>
          <p:nvPr/>
        </p:nvGraphicFramePr>
        <p:xfrm>
          <a:off x="785813" y="2708002"/>
          <a:ext cx="5572125" cy="2089150"/>
        </p:xfrm>
        <a:graphic>
          <a:graphicData uri="http://schemas.openxmlformats.org/presentationml/2006/ole">
            <mc:AlternateContent xmlns:mc="http://schemas.openxmlformats.org/markup-compatibility/2006">
              <mc:Choice xmlns:v="urn:schemas-microsoft-com:vml" Requires="v">
                <p:oleObj spid="_x0000_s12296" r:id="rId4" imgW="73152000" imgH="27432000" progId="Equation.3">
                  <p:embed/>
                </p:oleObj>
              </mc:Choice>
              <mc:Fallback>
                <p:oleObj r:id="rId4" imgW="73152000" imgH="27432000" progId="Equation.3">
                  <p:embed/>
                  <p:pic>
                    <p:nvPicPr>
                      <p:cNvPr id="475140" name="Object 3"/>
                      <p:cNvPicPr/>
                      <p:nvPr/>
                    </p:nvPicPr>
                    <p:blipFill>
                      <a:blip r:embed="rId5"/>
                      <a:stretch>
                        <a:fillRect/>
                      </a:stretch>
                    </p:blipFill>
                    <p:spPr>
                      <a:xfrm>
                        <a:off x="785813" y="2708002"/>
                        <a:ext cx="5572125" cy="2089150"/>
                      </a:xfrm>
                      <a:prstGeom prst="rect">
                        <a:avLst/>
                      </a:prstGeom>
                      <a:noFill/>
                      <a:ln w="38100">
                        <a:noFill/>
                        <a:miter/>
                      </a:ln>
                    </p:spPr>
                  </p:pic>
                </p:oleObj>
              </mc:Fallback>
            </mc:AlternateContent>
          </a:graphicData>
        </a:graphic>
      </p:graphicFrame>
      <p:graphicFrame>
        <p:nvGraphicFramePr>
          <p:cNvPr id="475141" name="Object 4"/>
          <p:cNvGraphicFramePr>
            <a:graphicFrameLocks noChangeAspect="1"/>
          </p:cNvGraphicFramePr>
          <p:nvPr/>
        </p:nvGraphicFramePr>
        <p:xfrm>
          <a:off x="2500313" y="5825381"/>
          <a:ext cx="2143125" cy="915987"/>
        </p:xfrm>
        <a:graphic>
          <a:graphicData uri="http://schemas.openxmlformats.org/presentationml/2006/ole">
            <mc:AlternateContent xmlns:mc="http://schemas.openxmlformats.org/markup-compatibility/2006">
              <mc:Choice xmlns:v="urn:schemas-microsoft-com:vml" Requires="v">
                <p:oleObj spid="_x0000_s12297" r:id="rId6" imgW="17678400" imgH="9448800" progId="Equation.3">
                  <p:embed/>
                </p:oleObj>
              </mc:Choice>
              <mc:Fallback>
                <p:oleObj r:id="rId6" imgW="17678400" imgH="9448800" progId="Equation.3">
                  <p:embed/>
                  <p:pic>
                    <p:nvPicPr>
                      <p:cNvPr id="475141" name="Object 4"/>
                      <p:cNvPicPr/>
                      <p:nvPr/>
                    </p:nvPicPr>
                    <p:blipFill>
                      <a:blip r:embed="rId7"/>
                      <a:stretch>
                        <a:fillRect/>
                      </a:stretch>
                    </p:blipFill>
                    <p:spPr>
                      <a:xfrm>
                        <a:off x="2500313" y="5825381"/>
                        <a:ext cx="2143125" cy="915987"/>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89894546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1" name="标题 1"/>
          <p:cNvSpPr>
            <a:spLocks noGrp="1" noRot="1"/>
          </p:cNvSpPr>
          <p:nvPr>
            <p:ph type="title"/>
          </p:nvPr>
        </p:nvSpPr>
        <p:spPr/>
        <p:txBody>
          <a:bodyPr anchor="ctr" anchorCtr="0"/>
          <a:lstStyle/>
          <a:p>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需要对少</a:t>
            </a:r>
            <a:r>
              <a:rPr lang="zh-CN" altLang="en-US" sz="3200" kern="1200" dirty="0" smtClean="0">
                <a:solidFill>
                  <a:srgbClr val="FF0000"/>
                </a:solidFill>
                <a:effectLst>
                  <a:outerShdw blurRad="38100" dist="38100" dir="2700000" algn="tl">
                    <a:srgbClr val="000000"/>
                  </a:outerShdw>
                </a:effectLst>
                <a:latin typeface="+mj-lt"/>
                <a:ea typeface="宋体" panose="02010600030101010101" pitchFamily="2" charset="-122"/>
                <a:cs typeface="+mj-cs"/>
              </a:rPr>
              <a:t>位？</a:t>
            </a:r>
            <a:r>
              <a:rPr lang="en-US" altLang="zh-CN"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(m)</a:t>
            </a:r>
            <a:endPar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endParaRPr>
          </a:p>
        </p:txBody>
      </p:sp>
      <p:sp>
        <p:nvSpPr>
          <p:cNvPr id="476162" name="内容占位符 2"/>
          <p:cNvSpPr>
            <a:spLocks noGrp="1" noRot="1"/>
          </p:cNvSpPr>
          <p:nvPr>
            <p:ph idx="1"/>
          </p:nvPr>
        </p:nvSpPr>
        <p:spPr/>
        <p:txBody>
          <a:bodyPr anchor="t" anchorCtr="0"/>
          <a:lstStyle/>
          <a:p>
            <a:pPr eaLnBrk="1" hangingPunct="1"/>
            <a:r>
              <a:rPr lang="zh-CN" altLang="en-US" dirty="0"/>
              <a:t>推导过程略，直接上结果公式：</a:t>
            </a:r>
            <a:r>
              <a:rPr lang="en-US" altLang="zh-CN" dirty="0"/>
              <a:t/>
            </a:r>
            <a:br>
              <a:rPr lang="en-US" altLang="zh-CN" dirty="0"/>
            </a:br>
            <a:r>
              <a:rPr lang="en-US" altLang="zh-CN" dirty="0"/>
              <a:t>(</a:t>
            </a:r>
            <a:r>
              <a:rPr lang="zh-CN" altLang="en-US" dirty="0"/>
              <a:t>假设，允许的</a:t>
            </a:r>
            <a:r>
              <a:rPr lang="en-US" altLang="zh-CN" dirty="0"/>
              <a:t>false rate</a:t>
            </a:r>
            <a:r>
              <a:rPr lang="zh-CN" altLang="en-US" dirty="0"/>
              <a:t>为</a:t>
            </a:r>
            <a:r>
              <a:rPr lang="en-US" altLang="zh-CN" dirty="0"/>
              <a:t>f</a:t>
            </a:r>
            <a:r>
              <a:rPr lang="en-US" altLang="zh-CN" dirty="0" smtClean="0"/>
              <a:t>’)</a:t>
            </a:r>
            <a:endParaRPr lang="en-US" altLang="zh-CN" dirty="0"/>
          </a:p>
          <a:p>
            <a:pPr eaLnBrk="1" hangingPunct="1"/>
            <a:endParaRPr lang="zh-CN" altLang="en-US" dirty="0"/>
          </a:p>
        </p:txBody>
      </p:sp>
      <p:graphicFrame>
        <p:nvGraphicFramePr>
          <p:cNvPr id="476163" name="Object 2"/>
          <p:cNvGraphicFramePr>
            <a:graphicFrameLocks noChangeAspect="1"/>
          </p:cNvGraphicFramePr>
          <p:nvPr/>
        </p:nvGraphicFramePr>
        <p:xfrm>
          <a:off x="2286000" y="2714625"/>
          <a:ext cx="4686300" cy="1447800"/>
        </p:xfrm>
        <a:graphic>
          <a:graphicData uri="http://schemas.openxmlformats.org/presentationml/2006/ole">
            <mc:AlternateContent xmlns:mc="http://schemas.openxmlformats.org/markup-compatibility/2006">
              <mc:Choice xmlns:v="urn:schemas-microsoft-com:vml" Requires="v">
                <p:oleObj spid="_x0000_s13317" r:id="rId3" imgW="37490400" imgH="11582400" progId="Equation.3">
                  <p:embed/>
                </p:oleObj>
              </mc:Choice>
              <mc:Fallback>
                <p:oleObj r:id="rId3" imgW="37490400" imgH="11582400" progId="Equation.3">
                  <p:embed/>
                  <p:pic>
                    <p:nvPicPr>
                      <p:cNvPr id="476163" name="Object 2"/>
                      <p:cNvPicPr/>
                      <p:nvPr/>
                    </p:nvPicPr>
                    <p:blipFill>
                      <a:blip r:embed="rId4"/>
                      <a:stretch>
                        <a:fillRect/>
                      </a:stretch>
                    </p:blipFill>
                    <p:spPr>
                      <a:xfrm>
                        <a:off x="2286000" y="2714625"/>
                        <a:ext cx="4686300" cy="144780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870399274"/>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5" name="标题 1"/>
          <p:cNvSpPr>
            <a:spLocks noGrp="1" noRot="1"/>
          </p:cNvSpPr>
          <p:nvPr>
            <p:ph type="title"/>
          </p:nvPr>
        </p:nvSpPr>
        <p:spPr/>
        <p:txBody>
          <a:bodyPr anchor="ctr" anchorCtr="0"/>
          <a:lstStyle/>
          <a:p>
            <a:pPr eaLnBrk="1" hangingPunct="1"/>
            <a:r>
              <a:rPr lang="en-US" altLang="zh-CN"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Hash</a:t>
            </a:r>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算法</a:t>
            </a:r>
          </a:p>
        </p:txBody>
      </p:sp>
      <p:sp>
        <p:nvSpPr>
          <p:cNvPr id="477186" name="内容占位符 2"/>
          <p:cNvSpPr>
            <a:spLocks noGrp="1" noRot="1"/>
          </p:cNvSpPr>
          <p:nvPr>
            <p:ph idx="1"/>
          </p:nvPr>
        </p:nvSpPr>
        <p:spPr>
          <a:xfrm>
            <a:off x="609600" y="1600200"/>
            <a:ext cx="8355013" cy="4498975"/>
          </a:xfrm>
        </p:spPr>
        <p:txBody>
          <a:bodyPr anchor="t" anchorCtr="0"/>
          <a:lstStyle/>
          <a:p>
            <a:pPr eaLnBrk="1" hangingPunct="1"/>
            <a:r>
              <a:rPr lang="en-US" altLang="zh-CN" dirty="0"/>
              <a:t>K</a:t>
            </a:r>
            <a:r>
              <a:rPr lang="zh-CN" altLang="en-US" dirty="0"/>
              <a:t>个</a:t>
            </a:r>
            <a:r>
              <a:rPr lang="en-US" altLang="zh-CN" dirty="0"/>
              <a:t>hash</a:t>
            </a:r>
            <a:r>
              <a:rPr lang="zh-CN" altLang="en-US" dirty="0"/>
              <a:t>越相互独立效果越好</a:t>
            </a:r>
            <a:endParaRPr lang="en-US" altLang="zh-CN" dirty="0"/>
          </a:p>
          <a:p>
            <a:pPr eaLnBrk="1" hangingPunct="1"/>
            <a:r>
              <a:rPr lang="zh-CN" altLang="en-US" dirty="0"/>
              <a:t>可能常用的算法</a:t>
            </a:r>
            <a:endParaRPr lang="en-US" altLang="zh-CN" dirty="0"/>
          </a:p>
          <a:p>
            <a:pPr lvl="1" eaLnBrk="1" hangingPunct="1"/>
            <a:r>
              <a:rPr lang="en-US" altLang="zh-CN" dirty="0"/>
              <a:t>Jenkins </a:t>
            </a:r>
            <a:r>
              <a:rPr lang="en-US" altLang="zh-CN" dirty="0">
                <a:hlinkClick r:id="rId2"/>
              </a:rPr>
              <a:t>http://burtleburtle.net/bob/hash/doobs.html</a:t>
            </a:r>
            <a:endParaRPr lang="en-US" altLang="zh-CN" dirty="0"/>
          </a:p>
          <a:p>
            <a:pPr lvl="1" eaLnBrk="1" hangingPunct="1"/>
            <a:r>
              <a:rPr lang="en-US" altLang="zh-CN" dirty="0" err="1"/>
              <a:t>MurMur</a:t>
            </a:r>
            <a:r>
              <a:rPr lang="zh-CN" altLang="en-US" dirty="0"/>
              <a:t>，</a:t>
            </a:r>
            <a:r>
              <a:rPr lang="en-US" altLang="zh-CN" dirty="0" err="1"/>
              <a:t>hadoop</a:t>
            </a:r>
            <a:r>
              <a:rPr lang="zh-CN" altLang="en-US" dirty="0"/>
              <a:t>中比较常用</a:t>
            </a:r>
            <a:r>
              <a:rPr lang="en-US" altLang="zh-CN" dirty="0"/>
              <a:t> </a:t>
            </a:r>
            <a:r>
              <a:rPr lang="en-US" altLang="zh-CN" dirty="0">
                <a:hlinkClick r:id="rId3"/>
              </a:rPr>
              <a:t>http://murmurhash.googlepages.com/</a:t>
            </a:r>
            <a:endParaRPr lang="en-US" altLang="zh-CN" dirty="0"/>
          </a:p>
          <a:p>
            <a:pPr lvl="1" eaLnBrk="1" hangingPunct="1"/>
            <a:r>
              <a:rPr lang="zh-CN" altLang="en-US" dirty="0"/>
              <a:t>更多：</a:t>
            </a:r>
            <a:r>
              <a:rPr lang="en-US" altLang="zh-CN" dirty="0">
                <a:hlinkClick r:id="rId4"/>
              </a:rPr>
              <a:t>http://www.partow.net/programming/hashfunctions/</a:t>
            </a:r>
            <a:endParaRPr lang="en-US" altLang="zh-CN" dirty="0"/>
          </a:p>
        </p:txBody>
      </p:sp>
    </p:spTree>
    <p:extLst>
      <p:ext uri="{BB962C8B-B14F-4D97-AF65-F5344CB8AC3E}">
        <p14:creationId xmlns:p14="http://schemas.microsoft.com/office/powerpoint/2010/main" val="2821147762"/>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内容占位符 2"/>
          <p:cNvSpPr>
            <a:spLocks noGrp="1" noRot="1"/>
          </p:cNvSpPr>
          <p:nvPr>
            <p:ph idx="1"/>
          </p:nvPr>
        </p:nvSpPr>
        <p:spPr>
          <a:xfrm>
            <a:off x="216413" y="1419224"/>
            <a:ext cx="8592671" cy="4876801"/>
          </a:xfrm>
        </p:spPr>
        <p:txBody>
          <a:bodyPr anchor="t" anchorCtr="0"/>
          <a:lstStyle/>
          <a:p>
            <a:pPr eaLnBrk="1" hangingPunct="1"/>
            <a:r>
              <a:rPr lang="zh-CN" altLang="en-US" dirty="0"/>
              <a:t>标准</a:t>
            </a:r>
            <a:r>
              <a:rPr lang="en-US" altLang="zh-CN" dirty="0"/>
              <a:t>Bloom Filter</a:t>
            </a:r>
            <a:r>
              <a:rPr lang="zh-CN" altLang="en-US" dirty="0"/>
              <a:t>中，</a:t>
            </a:r>
            <a:r>
              <a:rPr lang="en-US" altLang="zh-CN" dirty="0"/>
              <a:t>m</a:t>
            </a:r>
            <a:r>
              <a:rPr lang="zh-CN" altLang="en-US" dirty="0"/>
              <a:t>长数组，每</a:t>
            </a:r>
            <a:r>
              <a:rPr lang="en-US" altLang="zh-CN" dirty="0"/>
              <a:t>unit</a:t>
            </a:r>
            <a:r>
              <a:rPr lang="zh-CN" altLang="en-US" dirty="0"/>
              <a:t>用</a:t>
            </a:r>
            <a:r>
              <a:rPr lang="en-US" altLang="zh-CN" dirty="0"/>
              <a:t>1</a:t>
            </a:r>
            <a:r>
              <a:rPr lang="zh-CN" altLang="en-US" dirty="0"/>
              <a:t>位表示，只能表示</a:t>
            </a:r>
            <a:r>
              <a:rPr lang="en-US" altLang="zh-CN" dirty="0"/>
              <a:t>[0, 1]</a:t>
            </a:r>
          </a:p>
          <a:p>
            <a:pPr eaLnBrk="1" hangingPunct="1"/>
            <a:r>
              <a:rPr lang="zh-CN" altLang="en-US" dirty="0"/>
              <a:t>如果每个</a:t>
            </a:r>
            <a:r>
              <a:rPr lang="en-US" altLang="zh-CN" dirty="0"/>
              <a:t>unit</a:t>
            </a:r>
            <a:r>
              <a:rPr lang="zh-CN" altLang="en-US" dirty="0"/>
              <a:t>用多位表示，如</a:t>
            </a:r>
            <a:r>
              <a:rPr lang="en-US" altLang="zh-CN" dirty="0"/>
              <a:t>3</a:t>
            </a:r>
            <a:r>
              <a:rPr lang="zh-CN" altLang="en-US" dirty="0"/>
              <a:t>位，则可以表示</a:t>
            </a:r>
            <a:r>
              <a:rPr lang="en-US" altLang="zh-CN" dirty="0"/>
              <a:t>[0,1,…,7]</a:t>
            </a:r>
            <a:endParaRPr lang="zh-CN" altLang="en-US" dirty="0"/>
          </a:p>
        </p:txBody>
      </p:sp>
      <p:pic>
        <p:nvPicPr>
          <p:cNvPr id="478211" name="图片 4" descr="bloom_filter_counting.png"/>
          <p:cNvPicPr>
            <a:picLocks noChangeAspect="1"/>
          </p:cNvPicPr>
          <p:nvPr/>
        </p:nvPicPr>
        <p:blipFill>
          <a:blip r:embed="rId2"/>
          <a:stretch>
            <a:fillRect/>
          </a:stretch>
        </p:blipFill>
        <p:spPr>
          <a:xfrm>
            <a:off x="1143000" y="3857625"/>
            <a:ext cx="7162800" cy="2571750"/>
          </a:xfrm>
          <a:prstGeom prst="rect">
            <a:avLst/>
          </a:prstGeom>
          <a:noFill/>
          <a:ln w="9525">
            <a:noFill/>
          </a:ln>
        </p:spPr>
      </p:pic>
      <p:sp>
        <p:nvSpPr>
          <p:cNvPr id="5" name="标题 1"/>
          <p:cNvSpPr txBox="1">
            <a:spLocks noRot="1"/>
          </p:cNvSpPr>
          <p:nvPr/>
        </p:nvSpPr>
        <p:spPr bwMode="auto">
          <a:xfrm>
            <a:off x="611560" y="260648"/>
            <a:ext cx="7568173" cy="678470"/>
          </a:xfrm>
          <a:prstGeom prst="rect">
            <a:avLst/>
          </a:prstGeom>
          <a:noFill/>
          <a:ln>
            <a:noFill/>
          </a:ln>
          <a:effectLst/>
        </p:spPr>
        <p:txBody>
          <a:bodyPr vert="horz" wrap="square" lIns="91440" tIns="45720" rIns="91440" bIns="45720" numCol="1" anchor="ctr" anchorCtr="0" compatLnSpc="1"/>
          <a:lstStyle>
            <a:lvl1pPr algn="ctr" rtl="0" eaLnBrk="1" fontAlgn="base" hangingPunct="1">
              <a:spcBef>
                <a:spcPct val="0"/>
              </a:spcBef>
              <a:spcAft>
                <a:spcPct val="0"/>
              </a:spcAft>
              <a:defRPr kumimoji="1" sz="36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316230"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633095"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949325"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266190" algn="l" rtl="0" eaLnBrk="1" fontAlgn="base" hangingPunct="1">
              <a:spcBef>
                <a:spcPct val="0"/>
              </a:spcBef>
              <a:spcAft>
                <a:spcPct val="0"/>
              </a:spcAft>
              <a:defRPr kumimoji="1" sz="3045"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a:buFontTx/>
            </a:pPr>
            <a:r>
              <a:rPr lang="zh-CN" altLang="en-US" sz="3200" kern="1200" dirty="0" smtClean="0">
                <a:solidFill>
                  <a:srgbClr val="FF0000"/>
                </a:solidFill>
                <a:effectLst>
                  <a:outerShdw blurRad="38100" dist="38100" dir="2700000" algn="tl">
                    <a:srgbClr val="000000"/>
                  </a:outerShdw>
                </a:effectLst>
                <a:latin typeface="+mj-lt"/>
                <a:ea typeface="宋体" panose="02010600030101010101" pitchFamily="2" charset="-122"/>
                <a:cs typeface="+mj-cs"/>
              </a:rPr>
              <a:t>扩展：计数型</a:t>
            </a:r>
            <a:r>
              <a:rPr lang="en-US" altLang="zh-CN" sz="3200" kern="1200" dirty="0" smtClean="0">
                <a:solidFill>
                  <a:srgbClr val="FF0000"/>
                </a:solidFill>
                <a:effectLst>
                  <a:outerShdw blurRad="38100" dist="38100" dir="2700000" algn="tl">
                    <a:srgbClr val="000000"/>
                  </a:outerShdw>
                </a:effectLst>
                <a:latin typeface="+mj-lt"/>
                <a:ea typeface="宋体" panose="02010600030101010101" pitchFamily="2" charset="-122"/>
                <a:cs typeface="+mj-cs"/>
              </a:rPr>
              <a:t>Bloom Filter</a:t>
            </a:r>
            <a:endPar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endParaRPr>
          </a:p>
        </p:txBody>
      </p:sp>
    </p:spTree>
    <p:extLst>
      <p:ext uri="{BB962C8B-B14F-4D97-AF65-F5344CB8AC3E}">
        <p14:creationId xmlns:p14="http://schemas.microsoft.com/office/powerpoint/2010/main" val="1880721240"/>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7" name="标题 1"/>
          <p:cNvSpPr>
            <a:spLocks noGrp="1" noRot="1"/>
          </p:cNvSpPr>
          <p:nvPr>
            <p:ph type="title"/>
          </p:nvPr>
        </p:nvSpPr>
        <p:spPr/>
        <p:txBody>
          <a:bodyPr anchor="ctr" anchorCtr="0"/>
          <a:lstStyle/>
          <a:p>
            <a:pPr eaLnBrk="1" hangingPunct="1"/>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扩展：用于解决规模增长问题</a:t>
            </a:r>
          </a:p>
        </p:txBody>
      </p:sp>
      <p:sp>
        <p:nvSpPr>
          <p:cNvPr id="480258" name="内容占位符 2"/>
          <p:cNvSpPr>
            <a:spLocks noGrp="1" noRot="1"/>
          </p:cNvSpPr>
          <p:nvPr>
            <p:ph idx="1"/>
          </p:nvPr>
        </p:nvSpPr>
        <p:spPr/>
        <p:txBody>
          <a:bodyPr anchor="t" anchorCtr="0"/>
          <a:lstStyle/>
          <a:p>
            <a:pPr eaLnBrk="1" hangingPunct="1"/>
            <a:r>
              <a:rPr lang="zh-CN" altLang="en-US" sz="2800" b="1" dirty="0"/>
              <a:t>拆分型布鲁姆过滤器</a:t>
            </a:r>
            <a:endParaRPr lang="en-US" altLang="zh-CN" sz="2800" b="1" dirty="0"/>
          </a:p>
          <a:p>
            <a:pPr eaLnBrk="1" hangingPunct="1"/>
            <a:r>
              <a:rPr lang="zh-CN" altLang="en-US" sz="2800" b="1" dirty="0"/>
              <a:t>动态布鲁姆过滤器</a:t>
            </a:r>
            <a:endParaRPr lang="en-US" altLang="zh-CN" sz="2800" b="1" dirty="0"/>
          </a:p>
          <a:p>
            <a:pPr eaLnBrk="1" hangingPunct="1"/>
            <a:r>
              <a:rPr lang="zh-CN" altLang="en-US" sz="2800" b="1" dirty="0"/>
              <a:t>可扩展布鲁姆过滤器</a:t>
            </a:r>
          </a:p>
        </p:txBody>
      </p:sp>
      <p:pic>
        <p:nvPicPr>
          <p:cNvPr id="6146" name="Picture 2"/>
          <p:cNvPicPr>
            <a:picLocks noChangeAspect="1" noChangeArrowheads="1"/>
          </p:cNvPicPr>
          <p:nvPr/>
        </p:nvPicPr>
        <p:blipFill>
          <a:blip r:embed="rId2"/>
          <a:srcRect/>
          <a:stretch>
            <a:fillRect/>
          </a:stretch>
        </p:blipFill>
        <p:spPr bwMode="auto">
          <a:xfrm>
            <a:off x="4572000" y="1285875"/>
            <a:ext cx="4391025" cy="2643188"/>
          </a:xfrm>
          <a:prstGeom prst="rect">
            <a:avLst/>
          </a:prstGeom>
          <a:noFill/>
          <a:ln w="9525">
            <a:solidFill>
              <a:schemeClr val="accent1"/>
            </a:solidFill>
            <a:miter lim="800000"/>
            <a:headEnd/>
            <a:tailEnd/>
          </a:ln>
          <a:effectLst>
            <a:outerShdw blurRad="50800" dist="50800" dir="5400000" sx="1000" sy="1000" algn="ctr" rotWithShape="0">
              <a:srgbClr val="000000">
                <a:alpha val="42000"/>
              </a:srgbClr>
            </a:outerShdw>
          </a:effectLst>
        </p:spPr>
      </p:pic>
      <p:pic>
        <p:nvPicPr>
          <p:cNvPr id="480260" name="Picture 3"/>
          <p:cNvPicPr>
            <a:picLocks noChangeAspect="1"/>
          </p:cNvPicPr>
          <p:nvPr/>
        </p:nvPicPr>
        <p:blipFill>
          <a:blip r:embed="rId3"/>
          <a:stretch>
            <a:fillRect/>
          </a:stretch>
        </p:blipFill>
        <p:spPr>
          <a:xfrm>
            <a:off x="571500" y="4357688"/>
            <a:ext cx="6972300" cy="2247900"/>
          </a:xfrm>
          <a:prstGeom prst="rect">
            <a:avLst/>
          </a:prstGeom>
          <a:noFill/>
          <a:ln w="9525" cap="flat" cmpd="sng">
            <a:solidFill>
              <a:schemeClr val="accent1"/>
            </a:solidFill>
            <a:prstDash val="solid"/>
            <a:miter/>
            <a:headEnd type="none" w="med" len="med"/>
            <a:tailEnd type="none" w="med" len="med"/>
          </a:ln>
        </p:spPr>
      </p:pic>
    </p:spTree>
    <p:extLst>
      <p:ext uri="{BB962C8B-B14F-4D97-AF65-F5344CB8AC3E}">
        <p14:creationId xmlns:p14="http://schemas.microsoft.com/office/powerpoint/2010/main" val="29126758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1" name="标题 1"/>
          <p:cNvSpPr>
            <a:spLocks noGrp="1" noRot="1"/>
          </p:cNvSpPr>
          <p:nvPr>
            <p:ph type="title"/>
          </p:nvPr>
        </p:nvSpPr>
        <p:spPr>
          <a:xfrm>
            <a:off x="740848" y="277370"/>
            <a:ext cx="7568173" cy="678470"/>
          </a:xfrm>
        </p:spPr>
        <p:txBody>
          <a:bodyPr anchor="ctr" anchorCtr="0"/>
          <a:lstStyle/>
          <a:p>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扩展：多维</a:t>
            </a:r>
            <a:r>
              <a:rPr lang="en-US" altLang="zh-CN"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Bloom </a:t>
            </a:r>
            <a:r>
              <a:rPr lang="en-US" altLang="zh-CN" sz="3200" kern="1200" dirty="0" smtClean="0">
                <a:solidFill>
                  <a:srgbClr val="FF0000"/>
                </a:solidFill>
                <a:effectLst>
                  <a:outerShdw blurRad="38100" dist="38100" dir="2700000" algn="tl">
                    <a:srgbClr val="000000"/>
                  </a:outerShdw>
                </a:effectLst>
                <a:latin typeface="+mj-lt"/>
                <a:ea typeface="宋体" panose="02010600030101010101" pitchFamily="2" charset="-122"/>
                <a:cs typeface="+mj-cs"/>
              </a:rPr>
              <a:t>Filter</a:t>
            </a:r>
            <a:endPar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endParaRPr>
          </a:p>
        </p:txBody>
      </p:sp>
      <p:sp>
        <p:nvSpPr>
          <p:cNvPr id="481282" name="内容占位符 2"/>
          <p:cNvSpPr>
            <a:spLocks noGrp="1" noRot="1"/>
          </p:cNvSpPr>
          <p:nvPr>
            <p:ph idx="1"/>
          </p:nvPr>
        </p:nvSpPr>
        <p:spPr/>
        <p:txBody>
          <a:bodyPr anchor="t" anchorCtr="0"/>
          <a:lstStyle/>
          <a:p>
            <a:pPr eaLnBrk="1" hangingPunct="1"/>
            <a:r>
              <a:rPr lang="zh-CN" altLang="en-US" sz="2800" b="1" dirty="0"/>
              <a:t>用多个标准布鲁姆过滤器表示多维集合的单属性域。</a:t>
            </a:r>
            <a:endParaRPr lang="en-US" altLang="zh-CN" sz="2800" b="1" dirty="0"/>
          </a:p>
          <a:p>
            <a:pPr eaLnBrk="1" hangingPunct="1"/>
            <a:r>
              <a:rPr lang="zh-CN" altLang="en-US" sz="2800" b="1" dirty="0"/>
              <a:t>多过滤器共同完成元素的表示及是否属于集合的查询判断</a:t>
            </a:r>
            <a:r>
              <a:rPr lang="zh-CN" altLang="en-US" dirty="0"/>
              <a:t>。</a:t>
            </a:r>
          </a:p>
        </p:txBody>
      </p:sp>
      <p:pic>
        <p:nvPicPr>
          <p:cNvPr id="481283" name="Picture 2"/>
          <p:cNvPicPr>
            <a:picLocks noChangeAspect="1"/>
          </p:cNvPicPr>
          <p:nvPr/>
        </p:nvPicPr>
        <p:blipFill>
          <a:blip r:embed="rId2"/>
          <a:stretch>
            <a:fillRect/>
          </a:stretch>
        </p:blipFill>
        <p:spPr>
          <a:xfrm>
            <a:off x="4286250" y="3214688"/>
            <a:ext cx="4438650" cy="3448050"/>
          </a:xfrm>
          <a:prstGeom prst="rect">
            <a:avLst/>
          </a:prstGeom>
          <a:noFill/>
          <a:ln w="9525" cap="flat" cmpd="sng">
            <a:solidFill>
              <a:schemeClr val="accent1"/>
            </a:solidFill>
            <a:prstDash val="solid"/>
            <a:miter/>
            <a:headEnd type="none" w="med" len="med"/>
            <a:tailEnd type="none" w="med" len="med"/>
          </a:ln>
        </p:spPr>
      </p:pic>
    </p:spTree>
    <p:extLst>
      <p:ext uri="{BB962C8B-B14F-4D97-AF65-F5344CB8AC3E}">
        <p14:creationId xmlns:p14="http://schemas.microsoft.com/office/powerpoint/2010/main" val="2427046732"/>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29" name="标题 1"/>
          <p:cNvSpPr>
            <a:spLocks noGrp="1" noRot="1"/>
          </p:cNvSpPr>
          <p:nvPr>
            <p:ph type="title"/>
          </p:nvPr>
        </p:nvSpPr>
        <p:spPr>
          <a:xfrm>
            <a:off x="740848" y="404664"/>
            <a:ext cx="7568173" cy="678470"/>
          </a:xfrm>
        </p:spPr>
        <p:txBody>
          <a:bodyPr anchor="ctr" anchorCtr="0"/>
          <a:lstStyle/>
          <a:p>
            <a:pPr eaLnBrk="1" hangingPunct="1"/>
            <a:r>
              <a:rPr lang="en-US" altLang="zh-CN"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Bloom Filter</a:t>
            </a:r>
            <a:r>
              <a:rPr lang="zh-CN" altLang="en-US" sz="3200" kern="1200" dirty="0">
                <a:solidFill>
                  <a:srgbClr val="FF0000"/>
                </a:solidFill>
                <a:effectLst>
                  <a:outerShdw blurRad="38100" dist="38100" dir="2700000" algn="tl">
                    <a:srgbClr val="000000"/>
                  </a:outerShdw>
                </a:effectLst>
                <a:latin typeface="+mj-lt"/>
                <a:ea typeface="宋体" panose="02010600030101010101" pitchFamily="2" charset="-122"/>
                <a:cs typeface="+mj-cs"/>
              </a:rPr>
              <a:t>应用</a:t>
            </a:r>
          </a:p>
        </p:txBody>
      </p:sp>
      <p:sp>
        <p:nvSpPr>
          <p:cNvPr id="483330" name="内容占位符 2"/>
          <p:cNvSpPr>
            <a:spLocks noGrp="1" noRot="1"/>
          </p:cNvSpPr>
          <p:nvPr>
            <p:ph idx="1"/>
          </p:nvPr>
        </p:nvSpPr>
        <p:spPr/>
        <p:txBody>
          <a:bodyPr anchor="t" anchorCtr="0"/>
          <a:lstStyle/>
          <a:p>
            <a:pPr eaLnBrk="1" hangingPunct="1"/>
            <a:r>
              <a:rPr lang="zh-CN" altLang="en-US" b="1" dirty="0"/>
              <a:t>网络爬虫，</a:t>
            </a:r>
            <a:r>
              <a:rPr lang="en-US" altLang="zh-CN" b="1" dirty="0" err="1"/>
              <a:t>url</a:t>
            </a:r>
            <a:r>
              <a:rPr lang="en-US" altLang="zh-CN" b="1" dirty="0"/>
              <a:t> </a:t>
            </a:r>
            <a:r>
              <a:rPr lang="zh-CN" altLang="en-US" b="1" dirty="0"/>
              <a:t>去重</a:t>
            </a:r>
            <a:endParaRPr lang="en-US" altLang="zh-CN" b="1" dirty="0"/>
          </a:p>
          <a:p>
            <a:pPr eaLnBrk="1" hangingPunct="1"/>
            <a:r>
              <a:rPr lang="zh-CN" altLang="en-US" b="1" dirty="0"/>
              <a:t>垃圾邮件地址过滤</a:t>
            </a:r>
            <a:endParaRPr lang="en-US" altLang="zh-CN" b="1" dirty="0"/>
          </a:p>
          <a:p>
            <a:pPr eaLnBrk="1" hangingPunct="1"/>
            <a:r>
              <a:rPr lang="en-US" altLang="zh-CN" b="1" dirty="0"/>
              <a:t>Proxy cache</a:t>
            </a:r>
            <a:r>
              <a:rPr lang="zh-CN" altLang="en-US" b="1" dirty="0"/>
              <a:t>命中查询</a:t>
            </a:r>
            <a:endParaRPr lang="en-US" altLang="zh-CN" b="1" dirty="0"/>
          </a:p>
          <a:p>
            <a:pPr eaLnBrk="1" hangingPunct="1"/>
            <a:r>
              <a:rPr lang="en-US" altLang="zh-CN" b="1" dirty="0" err="1"/>
              <a:t>Bigtable</a:t>
            </a:r>
            <a:r>
              <a:rPr lang="zh-CN" altLang="en-US" b="1" dirty="0"/>
              <a:t>、</a:t>
            </a:r>
            <a:r>
              <a:rPr lang="en-US" altLang="zh-CN" b="1" dirty="0" err="1"/>
              <a:t>Hadoop</a:t>
            </a:r>
            <a:r>
              <a:rPr lang="zh-CN" altLang="en-US" b="1" dirty="0"/>
              <a:t>、</a:t>
            </a:r>
            <a:r>
              <a:rPr lang="en-US" altLang="zh-CN" b="1" dirty="0"/>
              <a:t>Cassandra</a:t>
            </a:r>
            <a:r>
              <a:rPr lang="zh-CN" altLang="en-US" b="1" dirty="0"/>
              <a:t>、</a:t>
            </a:r>
            <a:r>
              <a:rPr lang="en-US" altLang="zh-CN" b="1" dirty="0" err="1"/>
              <a:t>Hbase</a:t>
            </a:r>
            <a:endParaRPr lang="en-US" altLang="zh-CN" b="1" dirty="0"/>
          </a:p>
          <a:p>
            <a:pPr eaLnBrk="1" hangingPunct="1"/>
            <a:r>
              <a:rPr lang="zh-CN" altLang="en-US" b="1" dirty="0"/>
              <a:t>封包路由</a:t>
            </a:r>
            <a:endParaRPr lang="en-US" altLang="zh-CN" b="1" dirty="0"/>
          </a:p>
          <a:p>
            <a:pPr eaLnBrk="1" hangingPunct="1"/>
            <a:r>
              <a:rPr lang="zh-CN" altLang="en-US" b="1" dirty="0"/>
              <a:t>分布式环境中资源定位</a:t>
            </a:r>
          </a:p>
        </p:txBody>
      </p:sp>
    </p:spTree>
    <p:extLst>
      <p:ext uri="{BB962C8B-B14F-4D97-AF65-F5344CB8AC3E}">
        <p14:creationId xmlns:p14="http://schemas.microsoft.com/office/powerpoint/2010/main" val="23309178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270531d4-109d-40e6-b046-7165b6a5201b"/>
  <p:tag name="COMMONDATA" val="eyJoZGlkIjoiODdiM2M1Y2FmMDM4MjU3MDg3MmRmOGQ1YzFjYmI0YTcifQ=="/>
</p:tagLst>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ntroductioin to Trec2007">
      <a:majorFont>
        <a:latin typeface="华文楷体"/>
        <a:ea typeface="华文楷体"/>
        <a:cs typeface=""/>
      </a:majorFont>
      <a:minorFont>
        <a:latin typeface="Times New Roman"/>
        <a:ea typeface="华文楷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华文楷体" panose="02010600040101010101"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spPr>
      <a:bodyPr vert="horz" wrap="non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db-book">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db-book">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Helvetica"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Helvetica" pitchFamily="1" charset="0"/>
          </a:defRPr>
        </a:defPPr>
      </a:lstStyle>
    </a:lnDef>
  </a:objectDefaults>
  <a:extraClrSchemeLst>
    <a:extraClrScheme>
      <a:clrScheme name="db-book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2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ntroductioin to Trec2007">
      <a:majorFont>
        <a:latin typeface="华文楷体"/>
        <a:ea typeface="华文楷体"/>
        <a:cs typeface=""/>
      </a:majorFont>
      <a:minorFont>
        <a:latin typeface="Times New Roman"/>
        <a:ea typeface="华文楷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CDESIGNN</Template>
  <TotalTime>337</TotalTime>
  <Words>11076</Words>
  <Application>Microsoft Office PowerPoint</Application>
  <PresentationFormat>全屏显示(4:3)</PresentationFormat>
  <Paragraphs>2358</Paragraphs>
  <Slides>143</Slides>
  <Notes>5</Notes>
  <HiddenSlides>0</HiddenSlides>
  <MMClips>0</MMClips>
  <ScaleCrop>false</ScaleCrop>
  <HeadingPairs>
    <vt:vector size="8" baseType="variant">
      <vt:variant>
        <vt:lpstr>已用的字体</vt:lpstr>
      </vt:variant>
      <vt:variant>
        <vt:i4>21</vt:i4>
      </vt:variant>
      <vt:variant>
        <vt:lpstr>主题</vt:lpstr>
      </vt:variant>
      <vt:variant>
        <vt:i4>8</vt:i4>
      </vt:variant>
      <vt:variant>
        <vt:lpstr>嵌入 OLE 服务器</vt:lpstr>
      </vt:variant>
      <vt:variant>
        <vt:i4>2</vt:i4>
      </vt:variant>
      <vt:variant>
        <vt:lpstr>幻灯片标题</vt:lpstr>
      </vt:variant>
      <vt:variant>
        <vt:i4>143</vt:i4>
      </vt:variant>
    </vt:vector>
  </HeadingPairs>
  <TitlesOfParts>
    <vt:vector size="174" baseType="lpstr">
      <vt:lpstr>Arial MT</vt:lpstr>
      <vt:lpstr>Monotype Sorts</vt:lpstr>
      <vt:lpstr>OPPOSans M</vt:lpstr>
      <vt:lpstr>等线</vt:lpstr>
      <vt:lpstr>黑体</vt:lpstr>
      <vt:lpstr>黑体</vt:lpstr>
      <vt:lpstr>华文楷体</vt:lpstr>
      <vt:lpstr>华文中宋</vt:lpstr>
      <vt:lpstr>楷体_GB2312</vt:lpstr>
      <vt:lpstr>宋体</vt:lpstr>
      <vt:lpstr>微软雅黑</vt:lpstr>
      <vt:lpstr>Arial</vt:lpstr>
      <vt:lpstr>Cambria Math</vt:lpstr>
      <vt:lpstr>Courier New</vt:lpstr>
      <vt:lpstr>Helvetica</vt:lpstr>
      <vt:lpstr>Microsoft Sans Serif</vt:lpstr>
      <vt:lpstr>Palatino Linotype</vt:lpstr>
      <vt:lpstr>Symbol</vt:lpstr>
      <vt:lpstr>Times New Roman</vt:lpstr>
      <vt:lpstr>Wingdings</vt:lpstr>
      <vt:lpstr>Wingdings 2</vt:lpstr>
      <vt:lpstr>吉祥如意</vt:lpstr>
      <vt:lpstr>自定义设计方案</vt:lpstr>
      <vt:lpstr>3_973青年-李国良v0.1</vt:lpstr>
      <vt:lpstr>默认设计模板</vt:lpstr>
      <vt:lpstr>db-book</vt:lpstr>
      <vt:lpstr>Office Theme</vt:lpstr>
      <vt:lpstr>2_973青年-李国良v0.1</vt:lpstr>
      <vt:lpstr>1_Office Theme</vt:lpstr>
      <vt:lpstr>Equation</vt:lpstr>
      <vt:lpstr>Equation.3</vt:lpstr>
      <vt:lpstr>PowerPoint 演示文稿</vt:lpstr>
      <vt:lpstr>索引与哈希</vt:lpstr>
      <vt:lpstr>索引</vt:lpstr>
      <vt:lpstr>目录</vt:lpstr>
      <vt:lpstr>索引概述</vt:lpstr>
      <vt:lpstr>索引概述</vt:lpstr>
      <vt:lpstr>索引分类--按照物理存储类型</vt:lpstr>
      <vt:lpstr>索引分类--按照指针记录的粒度</vt:lpstr>
      <vt:lpstr>索引分类--按照层数</vt:lpstr>
      <vt:lpstr>索引分类--按照索引键特性</vt:lpstr>
      <vt:lpstr>索引分类--按照索引键个数</vt:lpstr>
      <vt:lpstr>索引组织表</vt:lpstr>
      <vt:lpstr>索引类型</vt:lpstr>
      <vt:lpstr>PowerPoint 演示文稿</vt:lpstr>
      <vt:lpstr>目录</vt:lpstr>
      <vt:lpstr>B+树索引结构</vt:lpstr>
      <vt:lpstr>B+树索引结构</vt:lpstr>
      <vt:lpstr>B+查找算法2025-10-14</vt:lpstr>
      <vt:lpstr>B+查找算法</vt:lpstr>
      <vt:lpstr>B+插入算法</vt:lpstr>
      <vt:lpstr>B+插入算法</vt:lpstr>
      <vt:lpstr>B+插入算法</vt:lpstr>
      <vt:lpstr>B+插入算法</vt:lpstr>
      <vt:lpstr>B+插入算法</vt:lpstr>
      <vt:lpstr>PowerPoint 演示文稿</vt:lpstr>
      <vt:lpstr>PowerPoint 演示文稿</vt:lpstr>
      <vt:lpstr>PowerPoint 演示文稿</vt:lpstr>
      <vt:lpstr>PowerPoint 演示文稿</vt:lpstr>
      <vt:lpstr>PowerPoint 演示文稿</vt:lpstr>
      <vt:lpstr>PowerPoint 演示文稿</vt:lpstr>
      <vt:lpstr>B+删除算法</vt:lpstr>
      <vt:lpstr>B+删除算法</vt:lpstr>
      <vt:lpstr>B+删除算法</vt:lpstr>
      <vt:lpstr>B+删除算法</vt:lpstr>
      <vt:lpstr>B+删除算法</vt:lpstr>
      <vt:lpstr>B+删除算法</vt:lpstr>
      <vt:lpstr>B+删除算法</vt:lpstr>
      <vt:lpstr>B+删除算法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哈希函数</vt:lpstr>
      <vt:lpstr>哈希函数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一致性哈希</vt:lpstr>
      <vt:lpstr>一致性哈希</vt:lpstr>
      <vt:lpstr>一致性哈希</vt:lpstr>
      <vt:lpstr>一致性哈希</vt:lpstr>
      <vt:lpstr>目录</vt:lpstr>
      <vt:lpstr>概述</vt:lpstr>
      <vt:lpstr>原理及实现</vt:lpstr>
      <vt:lpstr>特点</vt:lpstr>
      <vt:lpstr>跳表的基本结构</vt:lpstr>
      <vt:lpstr>跳表的基本结构</vt:lpstr>
      <vt:lpstr>跳表的基本结构:例</vt:lpstr>
      <vt:lpstr>跳表基本操作</vt:lpstr>
      <vt:lpstr>跳表基本操作-查找</vt:lpstr>
      <vt:lpstr>跳表基本操作-查找：例1</vt:lpstr>
      <vt:lpstr>跳表基本操作-查找：例2</vt:lpstr>
      <vt:lpstr>跳表基本操作-查找：复杂度</vt:lpstr>
      <vt:lpstr>跳表基本操作-插入</vt:lpstr>
      <vt:lpstr>跳表基本操作-插入:例</vt:lpstr>
      <vt:lpstr>跳表基本操作-插入:例</vt:lpstr>
      <vt:lpstr>跳表基本操作-删除</vt:lpstr>
      <vt:lpstr>跳表基本操作-删除:例</vt:lpstr>
      <vt:lpstr>跳表基本操作-删除:例</vt:lpstr>
      <vt:lpstr>目录</vt:lpstr>
      <vt:lpstr>LSM树索引</vt:lpstr>
      <vt:lpstr>Log-Structured Merge(LSM) Trees</vt:lpstr>
      <vt:lpstr>Log-Structured Merge(LSM) Trees</vt:lpstr>
      <vt:lpstr>PowerPoint 演示文稿</vt:lpstr>
      <vt:lpstr>PowerPoint 演示文稿</vt:lpstr>
      <vt:lpstr>PowerPoint 演示文稿</vt:lpstr>
      <vt:lpstr>PowerPoint 演示文稿</vt:lpstr>
      <vt:lpstr>PowerPoint 演示文稿</vt:lpstr>
      <vt:lpstr>PowerPoint 演示文稿</vt:lpstr>
      <vt:lpstr>2阶LSM树的实现</vt:lpstr>
      <vt:lpstr>2阶LSM树滚动合并</vt:lpstr>
      <vt:lpstr>2阶LSM树滚动合并</vt:lpstr>
      <vt:lpstr>2阶LSM树滚动合并</vt:lpstr>
      <vt:lpstr>2阶LSM树索引删除与更新</vt:lpstr>
      <vt:lpstr>2阶LSM树分析</vt:lpstr>
      <vt:lpstr>多阶LSM树</vt:lpstr>
      <vt:lpstr>多阶LSM树</vt:lpstr>
      <vt:lpstr>LSM树优化</vt:lpstr>
      <vt:lpstr>LSM与B+树对比</vt:lpstr>
      <vt:lpstr>目录</vt:lpstr>
      <vt:lpstr>位图索引</vt:lpstr>
      <vt:lpstr>位图索引(续)</vt:lpstr>
      <vt:lpstr>位图索引 (续)</vt:lpstr>
      <vt:lpstr>位图索引(续)</vt:lpstr>
      <vt:lpstr>位图运算的高效实现</vt:lpstr>
      <vt:lpstr>PowerPoint 演示文稿</vt:lpstr>
      <vt:lpstr>PowerPoint 演示文稿</vt:lpstr>
      <vt:lpstr>布隆过滤器起源</vt:lpstr>
      <vt:lpstr>原理说明</vt:lpstr>
      <vt:lpstr>PowerPoint 演示文稿</vt:lpstr>
      <vt:lpstr>错误率估计</vt:lpstr>
      <vt:lpstr>哈希函数个数k</vt:lpstr>
      <vt:lpstr>需要对少位？(m)</vt:lpstr>
      <vt:lpstr>Hash算法</vt:lpstr>
      <vt:lpstr>PowerPoint 演示文稿</vt:lpstr>
      <vt:lpstr>扩展：用于解决规模增长问题</vt:lpstr>
      <vt:lpstr>扩展：多维Bloom Filter</vt:lpstr>
      <vt:lpstr>Bloom Filter应用</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第二部分 数据库系统实现技术</dc:title>
  <dc:creator>MC SYSTEM</dc:creator>
  <cp:lastModifiedBy>pc</cp:lastModifiedBy>
  <cp:revision>135</cp:revision>
  <dcterms:created xsi:type="dcterms:W3CDTF">2005-10-09T16:13:00Z</dcterms:created>
  <dcterms:modified xsi:type="dcterms:W3CDTF">2025-10-20T07:11:07Z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2052-12.1.0.18240</vt:lpwstr>
  </property>
  <property fmtid="{D5CDD505-2E9C-101B-9397-08002B2CF9AE}" pid="3" name="ICV">
    <vt:lpwstr>DB6A7BD0D39E4A3A8C2B8A981C1EF068_13</vt:lpwstr>
  </property>
</Properties>
</file>