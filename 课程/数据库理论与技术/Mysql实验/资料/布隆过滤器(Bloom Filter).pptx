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55" r:id="rId2"/>
    <p:sldId id="2558" r:id="rId3"/>
    <p:sldId id="2559" r:id="rId4"/>
    <p:sldId id="2560" r:id="rId5"/>
    <p:sldId id="2561" r:id="rId6"/>
    <p:sldId id="2562" r:id="rId7"/>
    <p:sldId id="2563" r:id="rId8"/>
    <p:sldId id="2564" r:id="rId9"/>
    <p:sldId id="2565" r:id="rId10"/>
    <p:sldId id="2566" r:id="rId11"/>
    <p:sldId id="2568" r:id="rId12"/>
    <p:sldId id="2569" r:id="rId13"/>
    <p:sldId id="2571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77" d="100"/>
          <a:sy n="77" d="100"/>
        </p:scale>
        <p:origin x="1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1" y="1201272"/>
            <a:ext cx="11456895" cy="4876801"/>
          </a:xfrm>
        </p:spPr>
        <p:txBody>
          <a:bodyPr/>
          <a:lstStyle>
            <a:lvl1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34C0-35A8-654C-9FBA-7B4E017BD630}" type="slidenum">
              <a:r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4568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1050553" y="109584"/>
            <a:ext cx="10090897" cy="6784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457201" y="1125538"/>
            <a:ext cx="10874188" cy="500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en-US" altLang="zh-CN" dirty="0" err="1"/>
              <a:t>单击此处编辑母版文本样式</a:t>
            </a:r>
            <a:endParaRPr lang="en-US" altLang="zh-CN" dirty="0"/>
          </a:p>
          <a:p>
            <a:pPr lvl="1"/>
            <a:r>
              <a:rPr lang="en-US" altLang="zh-CN" dirty="0" err="1"/>
              <a:t>第二级</a:t>
            </a:r>
            <a:endParaRPr lang="en-US" altLang="zh-CN" dirty="0"/>
          </a:p>
          <a:p>
            <a:pPr lvl="2"/>
            <a:r>
              <a:rPr lang="en-US" altLang="zh-CN" dirty="0" err="1"/>
              <a:t>第三级</a:t>
            </a:r>
            <a:endParaRPr lang="en-US" altLang="zh-CN" dirty="0"/>
          </a:p>
          <a:p>
            <a:pPr lvl="3"/>
            <a:r>
              <a:rPr lang="en-US" altLang="zh-CN" dirty="0" err="1"/>
              <a:t>第四级</a:t>
            </a:r>
            <a:endParaRPr lang="en-US" altLang="zh-CN" dirty="0"/>
          </a:p>
          <a:p>
            <a:pPr lvl="4"/>
            <a:r>
              <a:rPr lang="en-US" altLang="zh-CN" dirty="0" err="1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14222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97934" y="6245225"/>
            <a:ext cx="3052233" cy="47625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1367" y="6245225"/>
            <a:ext cx="3860800" cy="476250"/>
          </a:xfrm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zh-CN" sz="1400" strike="noStrike" noProof="1"/>
          </a:p>
        </p:txBody>
      </p:sp>
    </p:spTree>
    <p:extLst>
      <p:ext uri="{BB962C8B-B14F-4D97-AF65-F5344CB8AC3E}">
        <p14:creationId xmlns:p14="http://schemas.microsoft.com/office/powerpoint/2010/main" val="3276479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971552" y="53752"/>
            <a:ext cx="10090897" cy="6784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1" y="1201272"/>
            <a:ext cx="11456895" cy="554009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1571088" y="6517146"/>
            <a:ext cx="76560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7BBDC00-B9E2-4EFD-9306-2934E8724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678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 b="1" i="0">
          <a:solidFill>
            <a:schemeClr val="tx2"/>
          </a:solidFill>
          <a:effectLst/>
          <a:latin typeface="Arial" panose="020B0604020202020204"/>
          <a:ea typeface="黑体" panose="02010609060101010101" pitchFamily="49" charset="-122"/>
          <a:cs typeface="Arial" panose="020B0604020202020204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045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华文楷体" panose="02010600040101010101" pitchFamily="2" charset="-122"/>
          <a:ea typeface="华文楷体" panose="0201060004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045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华文楷体" panose="02010600040101010101" pitchFamily="2" charset="-122"/>
          <a:ea typeface="华文楷体" panose="0201060004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045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华文楷体" panose="02010600040101010101" pitchFamily="2" charset="-122"/>
          <a:ea typeface="华文楷体" panose="0201060004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045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华文楷体" panose="02010600040101010101" pitchFamily="2" charset="-122"/>
          <a:ea typeface="华文楷体" panose="02010600040101010101" pitchFamily="2" charset="-122"/>
        </a:defRPr>
      </a:lvl5pPr>
      <a:lvl6pPr marL="316230" algn="l" rtl="0" eaLnBrk="1" fontAlgn="base" hangingPunct="1">
        <a:spcBef>
          <a:spcPct val="0"/>
        </a:spcBef>
        <a:spcAft>
          <a:spcPct val="0"/>
        </a:spcAft>
        <a:defRPr kumimoji="1" sz="3045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华文楷体" panose="02010600040101010101" pitchFamily="2" charset="-122"/>
          <a:ea typeface="华文楷体" panose="02010600040101010101" pitchFamily="2" charset="-122"/>
        </a:defRPr>
      </a:lvl6pPr>
      <a:lvl7pPr marL="633095" algn="l" rtl="0" eaLnBrk="1" fontAlgn="base" hangingPunct="1">
        <a:spcBef>
          <a:spcPct val="0"/>
        </a:spcBef>
        <a:spcAft>
          <a:spcPct val="0"/>
        </a:spcAft>
        <a:defRPr kumimoji="1" sz="3045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华文楷体" panose="02010600040101010101" pitchFamily="2" charset="-122"/>
          <a:ea typeface="华文楷体" panose="02010600040101010101" pitchFamily="2" charset="-122"/>
        </a:defRPr>
      </a:lvl7pPr>
      <a:lvl8pPr marL="949325" algn="l" rtl="0" eaLnBrk="1" fontAlgn="base" hangingPunct="1">
        <a:spcBef>
          <a:spcPct val="0"/>
        </a:spcBef>
        <a:spcAft>
          <a:spcPct val="0"/>
        </a:spcAft>
        <a:defRPr kumimoji="1" sz="3045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华文楷体" panose="02010600040101010101" pitchFamily="2" charset="-122"/>
          <a:ea typeface="华文楷体" panose="02010600040101010101" pitchFamily="2" charset="-122"/>
        </a:defRPr>
      </a:lvl8pPr>
      <a:lvl9pPr marL="1266190" algn="l" rtl="0" eaLnBrk="1" fontAlgn="base" hangingPunct="1">
        <a:spcBef>
          <a:spcPct val="0"/>
        </a:spcBef>
        <a:spcAft>
          <a:spcPct val="0"/>
        </a:spcAft>
        <a:defRPr kumimoji="1" sz="3045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华文楷体" panose="02010600040101010101" pitchFamily="2" charset="-122"/>
          <a:ea typeface="华文楷体" panose="02010600040101010101" pitchFamily="2" charset="-122"/>
        </a:defRPr>
      </a:lvl9pPr>
    </p:titleStyle>
    <p:bodyStyle>
      <a:lvl1pPr marL="237490" indent="-237490" algn="l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p"/>
        <a:defRPr kumimoji="1" sz="2400" b="0">
          <a:solidFill>
            <a:schemeClr val="tx1"/>
          </a:solidFill>
          <a:effectLst/>
          <a:latin typeface="Arial" panose="020B0604020202020204"/>
          <a:ea typeface="黑体" panose="02010609060101010101" pitchFamily="49" charset="-122"/>
          <a:cs typeface="Arial" panose="020B0604020202020204"/>
        </a:defRPr>
      </a:lvl1pPr>
      <a:lvl2pPr marL="514350" indent="-198120" algn="l" rtl="0" eaLnBrk="1" fontAlgn="base" hangingPunct="1">
        <a:spcBef>
          <a:spcPct val="20000"/>
        </a:spcBef>
        <a:spcAft>
          <a:spcPct val="0"/>
        </a:spcAft>
        <a:buChar char="–"/>
        <a:defRPr kumimoji="1" sz="2100" b="0">
          <a:solidFill>
            <a:schemeClr val="tx1"/>
          </a:solidFill>
          <a:effectLst/>
          <a:latin typeface="Arial" panose="020B0604020202020204"/>
          <a:ea typeface="黑体" panose="02010609060101010101" pitchFamily="49" charset="-122"/>
          <a:cs typeface="Arial" panose="020B0604020202020204"/>
        </a:defRPr>
      </a:lvl2pPr>
      <a:lvl3pPr marL="791210" indent="-158115" algn="l" rtl="0" eaLnBrk="1" fontAlgn="base" hangingPunct="1">
        <a:spcBef>
          <a:spcPct val="20000"/>
        </a:spcBef>
        <a:spcAft>
          <a:spcPct val="0"/>
        </a:spcAft>
        <a:buChar char="•"/>
        <a:defRPr kumimoji="1" sz="1800" b="0">
          <a:solidFill>
            <a:schemeClr val="tx1"/>
          </a:solidFill>
          <a:effectLst/>
          <a:latin typeface="Arial" panose="020B0604020202020204"/>
          <a:ea typeface="黑体" panose="02010609060101010101" pitchFamily="49" charset="-122"/>
          <a:cs typeface="Arial" panose="020B0604020202020204"/>
        </a:defRPr>
      </a:lvl3pPr>
      <a:lvl4pPr marL="1108075" indent="-158115" algn="l" rtl="0" eaLnBrk="1" fontAlgn="base" hangingPunct="1">
        <a:spcBef>
          <a:spcPct val="20000"/>
        </a:spcBef>
        <a:spcAft>
          <a:spcPct val="0"/>
        </a:spcAft>
        <a:buChar char="–"/>
        <a:defRPr kumimoji="1" sz="1385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4pPr>
      <a:lvl5pPr marL="1424305" indent="-158115" algn="l" rtl="0" eaLnBrk="1" fontAlgn="base" hangingPunct="1">
        <a:spcBef>
          <a:spcPct val="20000"/>
        </a:spcBef>
        <a:spcAft>
          <a:spcPct val="0"/>
        </a:spcAft>
        <a:buChar char="»"/>
        <a:defRPr kumimoji="1" sz="1385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5pPr>
      <a:lvl6pPr marL="1741170" indent="-158115" algn="l" rtl="0" eaLnBrk="1" fontAlgn="base" hangingPunct="1">
        <a:spcBef>
          <a:spcPct val="20000"/>
        </a:spcBef>
        <a:spcAft>
          <a:spcPct val="0"/>
        </a:spcAft>
        <a:buChar char="»"/>
        <a:defRPr kumimoji="1" sz="1385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2057400" indent="-158115" algn="l" rtl="0" eaLnBrk="1" fontAlgn="base" hangingPunct="1">
        <a:spcBef>
          <a:spcPct val="20000"/>
        </a:spcBef>
        <a:spcAft>
          <a:spcPct val="0"/>
        </a:spcAft>
        <a:buChar char="»"/>
        <a:defRPr kumimoji="1" sz="1385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2374265" indent="-158115" algn="l" rtl="0" eaLnBrk="1" fontAlgn="base" hangingPunct="1">
        <a:spcBef>
          <a:spcPct val="20000"/>
        </a:spcBef>
        <a:spcAft>
          <a:spcPct val="0"/>
        </a:spcAft>
        <a:buChar char="»"/>
        <a:defRPr kumimoji="1" sz="1385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2690495" indent="-158115" algn="l" rtl="0" eaLnBrk="1" fontAlgn="base" hangingPunct="1">
        <a:spcBef>
          <a:spcPct val="20000"/>
        </a:spcBef>
        <a:spcAft>
          <a:spcPct val="0"/>
        </a:spcAft>
        <a:buChar char="»"/>
        <a:defRPr kumimoji="1" sz="1385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633095" rtl="0" eaLnBrk="1" latinLnBrk="0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1pPr>
      <a:lvl2pPr marL="316230" algn="l" defTabSz="633095" rtl="0" eaLnBrk="1" latinLnBrk="0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2pPr>
      <a:lvl3pPr marL="633095" algn="l" defTabSz="633095" rtl="0" eaLnBrk="1" latinLnBrk="0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3pPr>
      <a:lvl4pPr marL="949325" algn="l" defTabSz="633095" rtl="0" eaLnBrk="1" latinLnBrk="0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4pPr>
      <a:lvl5pPr marL="1266190" algn="l" defTabSz="633095" rtl="0" eaLnBrk="1" latinLnBrk="0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5pPr>
      <a:lvl6pPr marL="1582420" algn="l" defTabSz="633095" rtl="0" eaLnBrk="1" latinLnBrk="0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6pPr>
      <a:lvl7pPr marL="1899285" algn="l" defTabSz="633095" rtl="0" eaLnBrk="1" latinLnBrk="0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7pPr>
      <a:lvl8pPr marL="2215515" algn="l" defTabSz="633095" rtl="0" eaLnBrk="1" latinLnBrk="0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8pPr>
      <a:lvl9pPr marL="2532380" algn="l" defTabSz="633095" rtl="0" eaLnBrk="1" latinLnBrk="0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Bloom_filter" TargetMode="External"/><Relationship Id="rId2" Type="http://schemas.openxmlformats.org/officeDocument/2006/relationships/hyperlink" Target="http://zh.wikipedia.org/zh/%E5%B8%83%E9%9A%86%E8%BF%87%E6%BB%A4%E5%99%A8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blog.csdn.net/jiaomeng/archive/2007/01/27/1495500.aspx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murmurhash.googlepages.com/" TargetMode="External"/><Relationship Id="rId2" Type="http://schemas.openxmlformats.org/officeDocument/2006/relationships/hyperlink" Target="http://burtleburtle.net/bob/hash/doobs.html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partow.net/programming/hashfunctions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945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589" y="3860801"/>
            <a:ext cx="1919287" cy="143986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66946" name="组合 3"/>
          <p:cNvGrpSpPr>
            <a:grpSpLocks noChangeAspect="1"/>
          </p:cNvGrpSpPr>
          <p:nvPr/>
        </p:nvGrpSpPr>
        <p:grpSpPr>
          <a:xfrm>
            <a:off x="1522414" y="6473825"/>
            <a:ext cx="12193587" cy="425450"/>
            <a:chOff x="0" y="0"/>
            <a:chExt cx="12224389" cy="424896"/>
          </a:xfrm>
        </p:grpSpPr>
        <p:pic>
          <p:nvPicPr>
            <p:cNvPr id="466947" name="Picture 2" descr="C:\Users\admin\Desktop\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04253" cy="40037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6948" name="Picture 2" descr="C:\Users\admin\Desktop\1.png"/>
            <p:cNvPicPr>
              <a:picLocks noChangeAspect="1"/>
            </p:cNvPicPr>
            <p:nvPr/>
          </p:nvPicPr>
          <p:blipFill>
            <a:blip r:embed="rId3"/>
            <a:srcRect l="4613"/>
            <a:stretch>
              <a:fillRect/>
            </a:stretch>
          </p:blipFill>
          <p:spPr>
            <a:xfrm>
              <a:off x="4894628" y="9625"/>
              <a:ext cx="4677907" cy="40037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6949" name="Picture 2" descr="C:\Users\admin\Desktop\1.png"/>
            <p:cNvPicPr>
              <a:picLocks noChangeAspect="1"/>
            </p:cNvPicPr>
            <p:nvPr/>
          </p:nvPicPr>
          <p:blipFill>
            <a:blip r:embed="rId3"/>
            <a:srcRect l="4613" r="41147"/>
            <a:stretch>
              <a:fillRect/>
            </a:stretch>
          </p:blipFill>
          <p:spPr>
            <a:xfrm>
              <a:off x="9564490" y="24518"/>
              <a:ext cx="2659899" cy="400378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466950" name="TextBox 5"/>
          <p:cNvSpPr/>
          <p:nvPr/>
        </p:nvSpPr>
        <p:spPr>
          <a:xfrm>
            <a:off x="1736725" y="2198689"/>
            <a:ext cx="5651500" cy="4730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Part 2</a:t>
            </a:r>
          </a:p>
        </p:txBody>
      </p:sp>
      <p:sp>
        <p:nvSpPr>
          <p:cNvPr id="466951" name="Text Box 9"/>
          <p:cNvSpPr/>
          <p:nvPr/>
        </p:nvSpPr>
        <p:spPr>
          <a:xfrm>
            <a:off x="3359150" y="2074864"/>
            <a:ext cx="5976938" cy="5847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/>
                <a:ea typeface="宋体" panose="02010600030101010101" pitchFamily="2" charset="-122"/>
                <a:sym typeface="微软雅黑" panose="020B0503020204020204" pitchFamily="34" charset="-122"/>
              </a:rPr>
              <a:t>布隆过滤器(Bloom Filter)</a:t>
            </a:r>
          </a:p>
        </p:txBody>
      </p:sp>
    </p:spTree>
    <p:extLst>
      <p:ext uri="{BB962C8B-B14F-4D97-AF65-F5344CB8AC3E}">
        <p14:creationId xmlns:p14="http://schemas.microsoft.com/office/powerpoint/2010/main" val="3713287571"/>
      </p:ext>
    </p:extLst>
  </p:cSld>
  <p:clrMapOvr>
    <a:masterClrMapping/>
  </p:clrMapOvr>
  <p:transition>
    <p:pull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017" name="组合 3"/>
          <p:cNvGrpSpPr>
            <a:grpSpLocks noChangeAspect="1"/>
          </p:cNvGrpSpPr>
          <p:nvPr/>
        </p:nvGrpSpPr>
        <p:grpSpPr>
          <a:xfrm>
            <a:off x="1522414" y="6473825"/>
            <a:ext cx="12193587" cy="425450"/>
            <a:chOff x="0" y="0"/>
            <a:chExt cx="12224389" cy="424896"/>
          </a:xfrm>
        </p:grpSpPr>
        <p:pic>
          <p:nvPicPr>
            <p:cNvPr id="470018" name="Picture 2" descr="C:\Users\admin\Desktop\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04253" cy="40037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70019" name="Picture 2" descr="C:\Users\admin\Desktop\1.png"/>
            <p:cNvPicPr>
              <a:picLocks noChangeAspect="1"/>
            </p:cNvPicPr>
            <p:nvPr/>
          </p:nvPicPr>
          <p:blipFill>
            <a:blip r:embed="rId2"/>
            <a:srcRect l="4613"/>
            <a:stretch>
              <a:fillRect/>
            </a:stretch>
          </p:blipFill>
          <p:spPr>
            <a:xfrm>
              <a:off x="4894628" y="9625"/>
              <a:ext cx="4677907" cy="40037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70020" name="Picture 2" descr="C:\Users\admin\Desktop\1.png"/>
            <p:cNvPicPr>
              <a:picLocks noChangeAspect="1"/>
            </p:cNvPicPr>
            <p:nvPr/>
          </p:nvPicPr>
          <p:blipFill>
            <a:blip r:embed="rId2"/>
            <a:srcRect l="4613" r="41147"/>
            <a:stretch>
              <a:fillRect/>
            </a:stretch>
          </p:blipFill>
          <p:spPr>
            <a:xfrm>
              <a:off x="9564490" y="24518"/>
              <a:ext cx="2659899" cy="400378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470021" name="Picture 3" descr="E:\PPT\PPT中国风元素\梅花PNG免抠图素材\3299168202027027296.png"/>
          <p:cNvPicPr>
            <a:picLocks noChangeAspect="1"/>
          </p:cNvPicPr>
          <p:nvPr/>
        </p:nvPicPr>
        <p:blipFill>
          <a:blip r:embed="rId3">
            <a:biLevel thresh="50000"/>
            <a:grayscl/>
          </a:blip>
          <a:stretch>
            <a:fillRect/>
          </a:stretch>
        </p:blipFill>
        <p:spPr>
          <a:xfrm>
            <a:off x="1524000" y="-862012"/>
            <a:ext cx="4535488" cy="4506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70" name="Text Box 13"/>
          <p:cNvSpPr/>
          <p:nvPr/>
        </p:nvSpPr>
        <p:spPr>
          <a:xfrm>
            <a:off x="1955800" y="1484313"/>
            <a:ext cx="8712200" cy="385951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285750" indent="-28575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7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pitchFamily="34" charset="-122"/>
              </a:rPr>
              <a:t>假设有1亿个不重复的正整数(大致范围已知)，查询是否存在某个数</a:t>
            </a:r>
            <a:r>
              <a:rPr lang="en-US" altLang="zh-CN" sz="27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pitchFamily="34" charset="-122"/>
              </a:rPr>
              <a:t>?</a:t>
            </a:r>
          </a:p>
          <a:p>
            <a:pPr marL="285750" indent="-28575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7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pitchFamily="34" charset="-122"/>
              </a:rPr>
              <a:t>可以使用位图来实现，但若是1亿个邮件地址，如何确定某个邮件地址是否在这1亿个地址中？</a:t>
            </a:r>
          </a:p>
          <a:p>
            <a:pPr marL="285750" indent="-28575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7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pitchFamily="34" charset="-122"/>
              </a:rPr>
              <a:t>分析: 通常情况下可利用Hash表，但Hash表不可避免的会发生碰撞，且Hash表需要较大的存储空间。</a:t>
            </a:r>
          </a:p>
          <a:p>
            <a:pPr marL="285750" indent="-28575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85750" indent="-28575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0023" name="标题 1"/>
          <p:cNvSpPr txBox="1"/>
          <p:nvPr/>
        </p:nvSpPr>
        <p:spPr>
          <a:xfrm>
            <a:off x="1822450" y="228600"/>
            <a:ext cx="8540750" cy="679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/>
                <a:ea typeface="宋体" panose="02010600030101010101" pitchFamily="2" charset="-122"/>
              </a:rPr>
              <a:t>布隆过滤器：</a:t>
            </a:r>
            <a:r>
              <a:rPr lang="zh-CN" altLang="en-US" sz="32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/>
                <a:ea typeface="宋体" panose="02010600030101010101" pitchFamily="2" charset="-122"/>
                <a:sym typeface="微软雅黑" panose="020B0503020204020204" pitchFamily="34" charset="-122"/>
              </a:rPr>
              <a:t>问题描述</a:t>
            </a:r>
            <a:endParaRPr lang="zh-CN" altLang="en-US" sz="3200" b="1" kern="0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楷体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68454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1" name="标题 1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宋体" panose="02010600030101010101" pitchFamily="2" charset="-122"/>
                <a:cs typeface="+mj-cs"/>
              </a:rPr>
              <a:t>布隆过滤器起源</a:t>
            </a:r>
          </a:p>
        </p:txBody>
      </p:sp>
      <p:sp>
        <p:nvSpPr>
          <p:cNvPr id="471042" name="内容占位符 2"/>
          <p:cNvSpPr>
            <a:spLocks noGrp="1" noRot="1"/>
          </p:cNvSpPr>
          <p:nvPr>
            <p:ph idx="1"/>
          </p:nvPr>
        </p:nvSpPr>
        <p:spPr/>
        <p:txBody>
          <a:bodyPr anchor="t" anchorCtr="0"/>
          <a:lstStyle/>
          <a:p>
            <a:pPr eaLnBrk="1" hangingPunct="1"/>
            <a:r>
              <a:rPr kumimoji="0" lang="zh-CN" altLang="en-US" sz="27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布隆过滤器</a:t>
            </a:r>
            <a:r>
              <a:rPr kumimoji="0" lang="en-US" altLang="zh-CN" sz="27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(Bloom Filter)</a:t>
            </a:r>
            <a:r>
              <a:rPr kumimoji="0" lang="zh-CN" altLang="en-US" sz="27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</a:t>
            </a:r>
            <a:r>
              <a:rPr kumimoji="0" lang="en-US" altLang="zh-CN" sz="27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1970</a:t>
            </a:r>
            <a:r>
              <a:rPr kumimoji="0" lang="zh-CN" altLang="en-US" sz="27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年由布隆提出的一种高效率的随机数据结构。</a:t>
            </a:r>
            <a:endParaRPr kumimoji="0" lang="en-US" altLang="zh-CN" sz="2700" b="1" kern="1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0" lang="en-US" altLang="zh-CN" sz="27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Bloom Filter</a:t>
            </a:r>
            <a:r>
              <a:rPr kumimoji="0" lang="zh-CN" altLang="en-US" sz="27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实际上是一个二进制向量和一系列随机映射函数。</a:t>
            </a:r>
            <a:endParaRPr kumimoji="0" lang="en-US" altLang="zh-CN" sz="2700" b="1" kern="1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eaLnBrk="1" hangingPunct="1"/>
            <a:r>
              <a:rPr kumimoji="0" lang="zh-CN" altLang="en-US" sz="27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布隆过滤器可以用于检索一个元素是否在一个集合中。</a:t>
            </a:r>
            <a:endParaRPr kumimoji="0" lang="en-US" altLang="zh-CN" sz="2700" b="1" kern="1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eaLnBrk="1" hangingPunct="1"/>
            <a:r>
              <a:rPr kumimoji="0" lang="zh-CN" altLang="en-US" sz="27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优点：空间效率和查询时间都远远超过一般的算法。</a:t>
            </a:r>
            <a:endParaRPr kumimoji="0" lang="en-US" altLang="zh-CN" sz="2700" b="1" kern="1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eaLnBrk="1" hangingPunct="1"/>
            <a:r>
              <a:rPr kumimoji="0" lang="zh-CN" altLang="en-US" sz="27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缺点：有一定的误识别率。</a:t>
            </a:r>
            <a:endParaRPr kumimoji="0" lang="en-US" altLang="zh-CN" sz="2700" b="1" kern="1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eaLnBrk="1" hangingPunct="1"/>
            <a:r>
              <a:rPr kumimoji="0" lang="zh-CN" altLang="en-US" sz="27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两个百科：</a:t>
            </a:r>
            <a:endParaRPr kumimoji="0" lang="en-US" altLang="zh-CN" sz="2700" b="1" kern="1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hlinkClick r:id="rId2"/>
              </a:rPr>
              <a:t>http://zh.wikipedia.org/zh/%E5%B8%83%E9%9A%86%E8%BF%87%E6%BB%A4%E5%99%A8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hlinkClick r:id="rId3"/>
              </a:rPr>
              <a:t>http://en.wikipedia.org/wiki/Bloom_filter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59592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065" name="内容占位符 4" descr="649px-Bloom_filter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064" y="214314"/>
            <a:ext cx="6181725" cy="2219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2066" name="标题 1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lstStyle/>
          <a:p>
            <a:pPr algn="l"/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宋体" panose="02010600030101010101" pitchFamily="2" charset="-122"/>
                <a:cs typeface="+mj-cs"/>
              </a:rPr>
              <a:t>原理说明</a:t>
            </a:r>
          </a:p>
        </p:txBody>
      </p:sp>
      <p:sp>
        <p:nvSpPr>
          <p:cNvPr id="472067" name="内容占位符 2"/>
          <p:cNvSpPr>
            <a:spLocks noGrp="1" noRot="1"/>
          </p:cNvSpPr>
          <p:nvPr>
            <p:ph idx="1"/>
          </p:nvPr>
        </p:nvSpPr>
        <p:spPr>
          <a:xfrm>
            <a:off x="1740414" y="2204865"/>
            <a:ext cx="8592671" cy="4876801"/>
          </a:xfrm>
        </p:spPr>
        <p:txBody>
          <a:bodyPr anchor="t" anchorCtr="0"/>
          <a:lstStyle/>
          <a:p>
            <a:pPr eaLnBrk="1" hangingPunct="1">
              <a:lnSpc>
                <a:spcPct val="80000"/>
              </a:lnSpc>
            </a:pPr>
            <a:r>
              <a:rPr lang="zh-CN" altLang="en-US" sz="2000" b="1" dirty="0"/>
              <a:t>采用包含</a:t>
            </a:r>
            <a:r>
              <a:rPr lang="en-US" altLang="zh-CN" sz="2000" b="1" dirty="0"/>
              <a:t>m</a:t>
            </a:r>
            <a:r>
              <a:rPr lang="zh-CN" altLang="en-US" sz="2000" b="1" dirty="0"/>
              <a:t>位的位数组存储，</a:t>
            </a:r>
            <a:br>
              <a:rPr lang="en-US" altLang="zh-CN" sz="2000" b="1" dirty="0"/>
            </a:br>
            <a:r>
              <a:rPr lang="zh-CN" altLang="en-US" sz="2000" b="1" dirty="0"/>
              <a:t>将</a:t>
            </a:r>
            <a:r>
              <a:rPr lang="en-US" altLang="zh-CN" sz="2000" b="1" dirty="0"/>
              <a:t>n</a:t>
            </a:r>
            <a:r>
              <a:rPr lang="zh-CN" altLang="en-US" sz="2000" b="1" dirty="0"/>
              <a:t>个元素集合</a:t>
            </a:r>
            <a:r>
              <a:rPr lang="en-US" altLang="zh-CN" sz="2000" b="1" dirty="0"/>
              <a:t>S={x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, x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,…,</a:t>
            </a:r>
            <a:r>
              <a:rPr lang="en-US" altLang="zh-CN" sz="2000" b="1" dirty="0" err="1"/>
              <a:t>x</a:t>
            </a:r>
            <a:r>
              <a:rPr lang="en-US" altLang="zh-CN" sz="2000" b="1" baseline="-25000" dirty="0" err="1"/>
              <a:t>n</a:t>
            </a:r>
            <a:r>
              <a:rPr lang="en-US" altLang="zh-CN" sz="2000" b="1" dirty="0"/>
              <a:t>} </a:t>
            </a:r>
            <a:r>
              <a:rPr lang="zh-CN" altLang="en-US" sz="2000" b="1" dirty="0"/>
              <a:t>，</a:t>
            </a:r>
            <a:br>
              <a:rPr lang="en-US" altLang="zh-CN" sz="2000" b="1" dirty="0"/>
            </a:br>
            <a:r>
              <a:rPr lang="zh-CN" altLang="en-US" sz="2000" b="1" dirty="0"/>
              <a:t>用</a:t>
            </a:r>
            <a:r>
              <a:rPr lang="en-US" altLang="zh-CN" sz="2000" b="1" dirty="0"/>
              <a:t>k</a:t>
            </a:r>
            <a:r>
              <a:rPr lang="zh-CN" altLang="en-US" sz="2000" b="1" dirty="0"/>
              <a:t>个相互独立的哈希函数</a:t>
            </a:r>
            <a:br>
              <a:rPr lang="en-US" altLang="zh-CN" sz="2000" b="1" dirty="0"/>
            </a:br>
            <a:r>
              <a:rPr lang="zh-CN" altLang="en-US" sz="2000" b="1" dirty="0"/>
              <a:t>映射到</a:t>
            </a:r>
            <a:r>
              <a:rPr lang="en-US" altLang="zh-CN" sz="2000" b="1" dirty="0"/>
              <a:t>{1,…,m}</a:t>
            </a:r>
            <a:r>
              <a:rPr lang="zh-CN" altLang="en-US" sz="2000" b="1" dirty="0"/>
              <a:t>的范围中。</a:t>
            </a:r>
            <a:endParaRPr lang="en-US" altLang="zh-CN" sz="2000" b="1" dirty="0"/>
          </a:p>
          <a:p>
            <a:pPr eaLnBrk="1" hangingPunct="1">
              <a:lnSpc>
                <a:spcPct val="80000"/>
              </a:lnSpc>
            </a:pPr>
            <a:r>
              <a:rPr lang="zh-CN" altLang="en-US" sz="2000" b="1" dirty="0"/>
              <a:t>插入</a:t>
            </a:r>
            <a:endParaRPr lang="en-US" altLang="zh-CN" sz="2000" b="1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1800" b="1" dirty="0"/>
              <a:t>如图</a:t>
            </a:r>
            <a:r>
              <a:rPr lang="en-US" altLang="zh-CN" sz="1800" b="1" dirty="0"/>
              <a:t>S{</a:t>
            </a:r>
            <a:r>
              <a:rPr lang="en-US" altLang="zh-CN" sz="1800" b="1" dirty="0" err="1"/>
              <a:t>x,y,z</a:t>
            </a:r>
            <a:r>
              <a:rPr lang="en-US" altLang="zh-CN" sz="1800" b="1" dirty="0"/>
              <a:t>}</a:t>
            </a:r>
            <a:r>
              <a:rPr lang="zh-CN" altLang="en-US" sz="1800" b="1" dirty="0"/>
              <a:t>集合中的每个元素，用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个</a:t>
            </a:r>
            <a:r>
              <a:rPr lang="en-US" altLang="zh-CN" sz="1800" b="1" dirty="0"/>
              <a:t>hash</a:t>
            </a:r>
            <a:r>
              <a:rPr lang="zh-CN" altLang="en-US" sz="1800" b="1" dirty="0"/>
              <a:t>函数映射到</a:t>
            </a:r>
            <a:r>
              <a:rPr lang="en-US" altLang="zh-CN" sz="1800" b="1" dirty="0"/>
              <a:t>{1,…,18}</a:t>
            </a:r>
            <a:r>
              <a:rPr lang="zh-CN" altLang="en-US" sz="1800" b="1" dirty="0"/>
              <a:t>范围内，将相应的位置为</a:t>
            </a:r>
            <a:r>
              <a:rPr lang="en-US" altLang="zh-CN" sz="1800" b="1" dirty="0"/>
              <a:t>1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000" b="1" dirty="0"/>
              <a:t>查询</a:t>
            </a:r>
            <a:endParaRPr lang="en-US" altLang="zh-CN" sz="2000" b="1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1800" b="1" dirty="0"/>
              <a:t>w</a:t>
            </a:r>
            <a:r>
              <a:rPr lang="zh-CN" altLang="en-US" sz="1800" b="1" dirty="0"/>
              <a:t>表示待查询元素</a:t>
            </a:r>
            <a:endParaRPr lang="en-US" altLang="zh-CN" sz="1800" b="1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1800" b="1" dirty="0"/>
              <a:t>用相同的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个</a:t>
            </a:r>
            <a:r>
              <a:rPr lang="en-US" altLang="zh-CN" sz="1800" b="1" dirty="0"/>
              <a:t>hash</a:t>
            </a:r>
            <a:r>
              <a:rPr lang="zh-CN" altLang="en-US" sz="1800" b="1" dirty="0"/>
              <a:t>函数，将</a:t>
            </a:r>
            <a:r>
              <a:rPr lang="en-US" altLang="zh-CN" sz="1800" b="1" dirty="0"/>
              <a:t>w</a:t>
            </a:r>
            <a:r>
              <a:rPr lang="zh-CN" altLang="en-US" sz="1800" b="1" dirty="0"/>
              <a:t>映射到</a:t>
            </a:r>
            <a:r>
              <a:rPr lang="en-US" altLang="zh-CN" sz="1800" b="1" dirty="0"/>
              <a:t>{1,…,18}</a:t>
            </a:r>
            <a:r>
              <a:rPr lang="zh-CN" altLang="en-US" sz="1800" b="1" dirty="0"/>
              <a:t>范围内</a:t>
            </a:r>
            <a:endParaRPr lang="en-US" altLang="zh-CN" sz="1800" b="1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1800" b="1" dirty="0"/>
              <a:t>如果每位都是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，则表示</a:t>
            </a:r>
            <a:r>
              <a:rPr lang="en-US" altLang="zh-CN" sz="1800" b="1" dirty="0"/>
              <a:t>w</a:t>
            </a:r>
            <a:r>
              <a:rPr lang="zh-CN" altLang="en-US" sz="1800" b="1" dirty="0"/>
              <a:t>在集合中，否表表示不在集合中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000" b="1" dirty="0"/>
              <a:t>在判断一个元素是否属于某个集合时，有可能会把不属于这个集合的元素误认为属于这个集合（</a:t>
            </a:r>
            <a:r>
              <a:rPr lang="en-US" altLang="zh-CN" sz="2000" b="1" dirty="0"/>
              <a:t>false positive</a:t>
            </a:r>
            <a:r>
              <a:rPr lang="zh-CN" altLang="en-US" sz="2000" b="1" dirty="0"/>
              <a:t>假阳性，误报）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000" b="1" dirty="0"/>
              <a:t>它通过极少的错误换取了存储空间的极大节省。</a:t>
            </a:r>
            <a:endParaRPr lang="en-US" altLang="zh-CN" sz="2000" b="1" dirty="0"/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hlinkClick r:id="rId3"/>
              </a:rPr>
              <a:t>http://blog.csdn.net/jiaomeng/archive/2007/01/27/1495500.aspx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551031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089" name="组合 3"/>
          <p:cNvGrpSpPr>
            <a:grpSpLocks noChangeAspect="1"/>
          </p:cNvGrpSpPr>
          <p:nvPr/>
        </p:nvGrpSpPr>
        <p:grpSpPr>
          <a:xfrm>
            <a:off x="1522414" y="6473825"/>
            <a:ext cx="12193587" cy="425450"/>
            <a:chOff x="0" y="0"/>
            <a:chExt cx="12224389" cy="424896"/>
          </a:xfrm>
        </p:grpSpPr>
        <p:pic>
          <p:nvPicPr>
            <p:cNvPr id="473090" name="Picture 2" descr="C:\Users\admin\Desktop\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04253" cy="40037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73091" name="Picture 2" descr="C:\Users\admin\Desktop\1.png"/>
            <p:cNvPicPr>
              <a:picLocks noChangeAspect="1"/>
            </p:cNvPicPr>
            <p:nvPr/>
          </p:nvPicPr>
          <p:blipFill>
            <a:blip r:embed="rId2"/>
            <a:srcRect l="4613"/>
            <a:stretch>
              <a:fillRect/>
            </a:stretch>
          </p:blipFill>
          <p:spPr>
            <a:xfrm>
              <a:off x="4894628" y="9625"/>
              <a:ext cx="4677907" cy="40037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73092" name="Picture 2" descr="C:\Users\admin\Desktop\1.png"/>
            <p:cNvPicPr>
              <a:picLocks noChangeAspect="1"/>
            </p:cNvPicPr>
            <p:nvPr/>
          </p:nvPicPr>
          <p:blipFill>
            <a:blip r:embed="rId2"/>
            <a:srcRect l="4613" r="41147"/>
            <a:stretch>
              <a:fillRect/>
            </a:stretch>
          </p:blipFill>
          <p:spPr>
            <a:xfrm>
              <a:off x="9564490" y="24518"/>
              <a:ext cx="2659899" cy="400378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473093" name="Picture 3" descr="E:\PPT\PPT中国风元素\梅花PNG免抠图素材\3299168202027027296.png"/>
          <p:cNvPicPr>
            <a:picLocks noChangeAspect="1"/>
          </p:cNvPicPr>
          <p:nvPr/>
        </p:nvPicPr>
        <p:blipFill>
          <a:blip r:embed="rId3">
            <a:biLevel thresh="50000"/>
            <a:grayscl/>
          </a:blip>
          <a:stretch>
            <a:fillRect/>
          </a:stretch>
        </p:blipFill>
        <p:spPr>
          <a:xfrm>
            <a:off x="1524000" y="-862012"/>
            <a:ext cx="4535488" cy="4506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3094" name="TextBox 5"/>
          <p:cNvSpPr/>
          <p:nvPr/>
        </p:nvSpPr>
        <p:spPr>
          <a:xfrm>
            <a:off x="3000375" y="476250"/>
            <a:ext cx="7632700" cy="6402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285750" indent="-28575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/>
                <a:ea typeface="宋体" panose="02010600030101010101" pitchFamily="2" charset="-122"/>
                <a:sym typeface="微软雅黑" panose="020B0503020204020204" pitchFamily="34" charset="-122"/>
              </a:rPr>
              <a:t>布隆过滤器的问题：误判</a:t>
            </a: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/>
                <a:ea typeface="宋体" panose="02010600030101010101" pitchFamily="2" charset="-122"/>
                <a:sym typeface="微软雅黑" panose="020B0503020204020204" pitchFamily="34" charset="-122"/>
              </a:rPr>
              <a:t>(</a:t>
            </a:r>
            <a:r>
              <a:rPr kumimoji="1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/>
                <a:ea typeface="宋体" panose="02010600030101010101" pitchFamily="2" charset="-122"/>
                <a:sym typeface="微软雅黑" panose="020B0503020204020204" pitchFamily="34" charset="-122"/>
              </a:rPr>
              <a:t>假阳性</a:t>
            </a: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/>
                <a:ea typeface="宋体" panose="02010600030101010101" pitchFamily="2" charset="-122"/>
                <a:sym typeface="微软雅黑" panose="020B0503020204020204" pitchFamily="34" charset="-122"/>
              </a:rPr>
              <a:t>)</a:t>
            </a:r>
            <a:endParaRPr kumimoji="1" lang="zh-CN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楷体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473095" name="Text Box 13"/>
          <p:cNvSpPr/>
          <p:nvPr/>
        </p:nvSpPr>
        <p:spPr>
          <a:xfrm>
            <a:off x="1847850" y="1557339"/>
            <a:ext cx="8712200" cy="17541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285750" indent="-28575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若集合中的若干个元素通过映射之后得到的数值恰巧同为g1,g2,.....gk，那么这种情况下就会造成误判。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布隆过滤器的误判率和这k个映射函数的设计有关。</a:t>
            </a:r>
          </a:p>
          <a:p>
            <a:pPr marL="285750" indent="-28575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另外布隆过滤器不允许删除元素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可以用计数器进行改进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indent="-28575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43" name="Text Box 13"/>
          <p:cNvSpPr/>
          <p:nvPr/>
        </p:nvSpPr>
        <p:spPr>
          <a:xfrm>
            <a:off x="1854201" y="3333750"/>
            <a:ext cx="8850313" cy="27511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285750" indent="-28575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邮件实例分析： 假设一个邮件地址为8 bytes</a:t>
            </a:r>
            <a:endParaRPr lang="zh-CN" altLang="en-US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85750" indent="-28575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使用hash存储，装填因子为0.5，则需要1*10^8*8/0.5 bytes = 1.6G</a:t>
            </a:r>
          </a:p>
          <a:p>
            <a:pPr marL="285750" indent="-28575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使用布隆过滤器，空间利用率为50%，k=8，则需要1*10^8*8/0.5 bits = 200MB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显然，布隆所需空间比哈希结构小得多。</a:t>
            </a:r>
          </a:p>
          <a:p>
            <a:pPr marL="285750" indent="-28575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PS: 误判率为p，位数组大小为m，集合数据个数为n，映射函数个数为k</a:t>
            </a:r>
          </a:p>
          <a:p>
            <a:pPr marL="285750" indent="-28575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这几个量存在一定的关系，通常是先设定一个误判率，然后去确定m和k。</a:t>
            </a:r>
          </a:p>
          <a:p>
            <a:pPr marL="285750" indent="-28575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6974460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3" name="标题 1"/>
          <p:cNvSpPr>
            <a:spLocks noGrp="1" noRot="1"/>
          </p:cNvSpPr>
          <p:nvPr>
            <p:ph type="title"/>
          </p:nvPr>
        </p:nvSpPr>
        <p:spPr>
          <a:xfrm>
            <a:off x="2264849" y="275499"/>
            <a:ext cx="7568173" cy="678470"/>
          </a:xfrm>
        </p:spPr>
        <p:txBody>
          <a:bodyPr anchor="ctr" anchorCtr="0"/>
          <a:lstStyle/>
          <a:p>
            <a:pPr eaLnBrk="1" hangingPunct="1"/>
            <a:r>
              <a:rPr lang="zh-CN" altLang="en-US" sz="3200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宋体" panose="02010600030101010101" pitchFamily="2" charset="-122"/>
                <a:cs typeface="+mj-cs"/>
              </a:rPr>
              <a:t>错误率估计</a:t>
            </a:r>
          </a:p>
        </p:txBody>
      </p:sp>
      <p:sp>
        <p:nvSpPr>
          <p:cNvPr id="474114" name="内容占位符 2"/>
          <p:cNvSpPr>
            <a:spLocks noGrp="1" noRot="1"/>
          </p:cNvSpPr>
          <p:nvPr>
            <p:ph idx="1"/>
          </p:nvPr>
        </p:nvSpPr>
        <p:spPr/>
        <p:txBody>
          <a:bodyPr anchor="t" anchorCtr="0"/>
          <a:lstStyle/>
          <a:p>
            <a:pPr eaLnBrk="1" hangingPunct="1"/>
            <a:r>
              <a:rPr lang="zh-CN" altLang="en-US"/>
              <a:t>当集合</a:t>
            </a:r>
            <a:r>
              <a:rPr lang="en-US" altLang="zh-CN"/>
              <a:t>S={x</a:t>
            </a:r>
            <a:r>
              <a:rPr lang="en-US" altLang="zh-CN" baseline="-25000"/>
              <a:t>1</a:t>
            </a:r>
            <a:r>
              <a:rPr lang="en-US" altLang="zh-CN"/>
              <a:t>, x</a:t>
            </a:r>
            <a:r>
              <a:rPr lang="en-US" altLang="zh-CN" baseline="-25000"/>
              <a:t>2</a:t>
            </a:r>
            <a:r>
              <a:rPr lang="en-US" altLang="zh-CN"/>
              <a:t>,…,x</a:t>
            </a:r>
            <a:r>
              <a:rPr lang="en-US" altLang="zh-CN" baseline="-25000"/>
              <a:t>n</a:t>
            </a:r>
            <a:r>
              <a:rPr lang="en-US" altLang="zh-CN"/>
              <a:t>}</a:t>
            </a:r>
            <a:r>
              <a:rPr lang="zh-CN" altLang="en-US"/>
              <a:t>的所有元素都被</a:t>
            </a:r>
            <a:r>
              <a:rPr lang="en-US" altLang="zh-CN"/>
              <a:t>k</a:t>
            </a:r>
            <a:r>
              <a:rPr lang="zh-CN" altLang="en-US"/>
              <a:t>个哈希函数映射到</a:t>
            </a:r>
            <a:r>
              <a:rPr lang="en-US" altLang="zh-CN"/>
              <a:t>m</a:t>
            </a:r>
            <a:r>
              <a:rPr lang="zh-CN" altLang="en-US"/>
              <a:t>位的位数组中时，这个位数组中某一位还是</a:t>
            </a:r>
            <a:r>
              <a:rPr lang="en-US" altLang="zh-CN"/>
              <a:t>0</a:t>
            </a:r>
            <a:r>
              <a:rPr lang="zh-CN" altLang="en-US"/>
              <a:t>的概率是：</a:t>
            </a:r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r>
              <a:rPr lang="el-GR" altLang="zh-CN"/>
              <a:t>(1-</a:t>
            </a:r>
            <a:r>
              <a:rPr lang="en-US" altLang="zh-CN"/>
              <a:t>p</a:t>
            </a:r>
            <a:r>
              <a:rPr lang="el-GR" altLang="zh-CN"/>
              <a:t>)</a:t>
            </a:r>
            <a:r>
              <a:rPr lang="en-US" altLang="zh-CN" baseline="30000"/>
              <a:t>k</a:t>
            </a:r>
            <a:r>
              <a:rPr lang="zh-CN" altLang="en-US"/>
              <a:t>表示</a:t>
            </a:r>
            <a:r>
              <a:rPr lang="en-US" altLang="zh-CN"/>
              <a:t>k</a:t>
            </a:r>
            <a:r>
              <a:rPr lang="zh-CN" altLang="en-US"/>
              <a:t>次哈希都刚好选中</a:t>
            </a:r>
            <a:r>
              <a:rPr lang="en-US" altLang="zh-CN"/>
              <a:t>1</a:t>
            </a:r>
            <a:r>
              <a:rPr lang="zh-CN" altLang="en-US"/>
              <a:t>的区域，即</a:t>
            </a:r>
            <a:r>
              <a:rPr lang="en-US" altLang="zh-CN"/>
              <a:t>false positive rate:</a:t>
            </a:r>
            <a:endParaRPr lang="zh-CN" altLang="en-US"/>
          </a:p>
        </p:txBody>
      </p:sp>
      <p:graphicFrame>
        <p:nvGraphicFramePr>
          <p:cNvPr id="474115" name="Object 2"/>
          <p:cNvGraphicFramePr>
            <a:graphicFrameLocks noChangeAspect="1"/>
          </p:cNvGraphicFramePr>
          <p:nvPr/>
        </p:nvGraphicFramePr>
        <p:xfrm>
          <a:off x="4151314" y="3000376"/>
          <a:ext cx="2962275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r:id="rId3" imgW="31394400" imgH="9448800" progId="Equation.3">
                  <p:embed/>
                </p:oleObj>
              </mc:Choice>
              <mc:Fallback>
                <p:oleObj r:id="rId3" imgW="31394400" imgH="9448800" progId="Equation.3">
                  <p:embed/>
                  <p:pic>
                    <p:nvPicPr>
                      <p:cNvPr id="474115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1314" y="3000376"/>
                        <a:ext cx="2962275" cy="785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16" name="Object 3"/>
          <p:cNvGraphicFramePr>
            <a:graphicFrameLocks noChangeAspect="1"/>
          </p:cNvGraphicFramePr>
          <p:nvPr/>
        </p:nvGraphicFramePr>
        <p:xfrm>
          <a:off x="3792538" y="4945063"/>
          <a:ext cx="4000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r:id="rId5" imgW="38404800" imgH="5486400" progId="Equation.3">
                  <p:embed/>
                </p:oleObj>
              </mc:Choice>
              <mc:Fallback>
                <p:oleObj r:id="rId5" imgW="38404800" imgH="5486400" progId="Equation.3">
                  <p:embed/>
                  <p:pic>
                    <p:nvPicPr>
                      <p:cNvPr id="474116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92538" y="4945063"/>
                        <a:ext cx="40005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3519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7" name="标题 1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lstStyle/>
          <a:p>
            <a:pPr algn="l" eaLnBrk="1" hangingPunct="1"/>
            <a:r>
              <a:rPr lang="zh-CN" altLang="en-US" sz="3200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宋体" panose="02010600030101010101" pitchFamily="2" charset="-122"/>
                <a:cs typeface="+mj-cs"/>
              </a:rPr>
              <a:t>哈希函数个数</a:t>
            </a:r>
            <a:r>
              <a:rPr lang="en-US" altLang="zh-CN" sz="3200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宋体" panose="02010600030101010101" pitchFamily="2" charset="-122"/>
                <a:cs typeface="+mj-cs"/>
              </a:rPr>
              <a:t>k</a:t>
            </a:r>
            <a:endParaRPr lang="zh-CN" altLang="en-US" sz="3200" kern="1200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75138" name="内容占位符 2"/>
          <p:cNvSpPr>
            <a:spLocks noGrp="1" noRot="1"/>
          </p:cNvSpPr>
          <p:nvPr>
            <p:ph idx="1"/>
          </p:nvPr>
        </p:nvSpPr>
        <p:spPr/>
        <p:txBody>
          <a:bodyPr anchor="t" anchorCtr="0"/>
          <a:lstStyle/>
          <a:p>
            <a:pPr eaLnBrk="1" hangingPunct="1">
              <a:lnSpc>
                <a:spcPct val="90000"/>
              </a:lnSpc>
            </a:pPr>
            <a:r>
              <a:rPr lang="en-US" altLang="zh-CN" sz="3000" dirty="0"/>
              <a:t>Hash</a:t>
            </a:r>
            <a:r>
              <a:rPr lang="zh-CN" altLang="en-US" sz="3000" dirty="0"/>
              <a:t>函数的个数</a:t>
            </a:r>
            <a:r>
              <a:rPr lang="en-US" altLang="zh-CN" sz="3000" dirty="0"/>
              <a:t>k</a:t>
            </a:r>
            <a:r>
              <a:rPr lang="zh-CN" altLang="en-US" sz="3000" dirty="0"/>
              <a:t>不是</a:t>
            </a:r>
            <a:br>
              <a:rPr lang="en-US" altLang="zh-CN" sz="3000" dirty="0"/>
            </a:br>
            <a:r>
              <a:rPr lang="zh-CN" altLang="en-US" sz="3000" dirty="0"/>
              <a:t>越大越好，</a:t>
            </a:r>
            <a:r>
              <a:rPr lang="en-US" altLang="zh-CN" sz="3000" dirty="0"/>
              <a:t>k</a:t>
            </a:r>
            <a:r>
              <a:rPr lang="zh-CN" altLang="en-US" sz="3000" dirty="0"/>
              <a:t>如何取，</a:t>
            </a:r>
            <a:br>
              <a:rPr lang="en-US" altLang="zh-CN" sz="3000" dirty="0"/>
            </a:br>
            <a:r>
              <a:rPr lang="zh-CN" altLang="en-US" sz="3000" dirty="0"/>
              <a:t>才能使得</a:t>
            </a:r>
            <a:r>
              <a:rPr lang="en-US" altLang="zh-CN" sz="3000" dirty="0"/>
              <a:t>f</a:t>
            </a:r>
            <a:r>
              <a:rPr lang="zh-CN" altLang="en-US" sz="3000" dirty="0"/>
              <a:t>最小？</a:t>
            </a:r>
            <a:endParaRPr lang="en-US" altLang="zh-CN" sz="3000" dirty="0"/>
          </a:p>
          <a:p>
            <a:pPr eaLnBrk="1" hangingPunct="1">
              <a:lnSpc>
                <a:spcPct val="90000"/>
              </a:lnSpc>
            </a:pPr>
            <a:endParaRPr lang="en-US" altLang="zh-CN" sz="3000" dirty="0"/>
          </a:p>
          <a:p>
            <a:pPr eaLnBrk="1" hangingPunct="1">
              <a:lnSpc>
                <a:spcPct val="90000"/>
              </a:lnSpc>
            </a:pPr>
            <a:endParaRPr lang="en-US" altLang="zh-CN" sz="3000" dirty="0"/>
          </a:p>
          <a:p>
            <a:pPr eaLnBrk="1" hangingPunct="1">
              <a:lnSpc>
                <a:spcPct val="90000"/>
              </a:lnSpc>
            </a:pPr>
            <a:endParaRPr lang="en-US" altLang="zh-CN" sz="3000" dirty="0"/>
          </a:p>
          <a:p>
            <a:pPr eaLnBrk="1" hangingPunct="1">
              <a:lnSpc>
                <a:spcPct val="90000"/>
              </a:lnSpc>
            </a:pPr>
            <a:endParaRPr lang="en-US" altLang="zh-CN" sz="3000" dirty="0"/>
          </a:p>
          <a:p>
            <a:pPr eaLnBrk="1" hangingPunct="1">
              <a:lnSpc>
                <a:spcPct val="90000"/>
              </a:lnSpc>
            </a:pPr>
            <a:endParaRPr lang="en-US" altLang="zh-CN" sz="30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3000" dirty="0"/>
              <a:t>所以，</a:t>
            </a:r>
            <a:r>
              <a:rPr lang="en-US" altLang="zh-CN" sz="3000" dirty="0"/>
              <a:t>p=1/2</a:t>
            </a:r>
            <a:r>
              <a:rPr lang="zh-CN" altLang="en-US" sz="3000" dirty="0"/>
              <a:t>时错误率最小，也就是让一半的位空着</a:t>
            </a:r>
            <a:endParaRPr lang="en-US" altLang="zh-CN" sz="3000" dirty="0"/>
          </a:p>
          <a:p>
            <a:pPr eaLnBrk="1" hangingPunct="1">
              <a:lnSpc>
                <a:spcPct val="90000"/>
              </a:lnSpc>
            </a:pPr>
            <a:endParaRPr lang="zh-CN" altLang="en-US" sz="3000" dirty="0"/>
          </a:p>
        </p:txBody>
      </p:sp>
      <p:pic>
        <p:nvPicPr>
          <p:cNvPr id="475139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201" y="142876"/>
            <a:ext cx="4043363" cy="300037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75140" name="Object 3"/>
          <p:cNvGraphicFramePr>
            <a:graphicFrameLocks noChangeAspect="1"/>
          </p:cNvGraphicFramePr>
          <p:nvPr/>
        </p:nvGraphicFramePr>
        <p:xfrm>
          <a:off x="2309814" y="2708002"/>
          <a:ext cx="5572125" cy="20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r:id="rId4" imgW="73152000" imgH="27432000" progId="Equation.3">
                  <p:embed/>
                </p:oleObj>
              </mc:Choice>
              <mc:Fallback>
                <p:oleObj r:id="rId4" imgW="73152000" imgH="27432000" progId="Equation.3">
                  <p:embed/>
                  <p:pic>
                    <p:nvPicPr>
                      <p:cNvPr id="475140" name="Object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09814" y="2708002"/>
                        <a:ext cx="5572125" cy="2089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41" name="Object 4"/>
          <p:cNvGraphicFramePr>
            <a:graphicFrameLocks noChangeAspect="1"/>
          </p:cNvGraphicFramePr>
          <p:nvPr/>
        </p:nvGraphicFramePr>
        <p:xfrm>
          <a:off x="4024314" y="5825382"/>
          <a:ext cx="2143125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r:id="rId6" imgW="17678400" imgH="9448800" progId="Equation.3">
                  <p:embed/>
                </p:oleObj>
              </mc:Choice>
              <mc:Fallback>
                <p:oleObj r:id="rId6" imgW="17678400" imgH="9448800" progId="Equation.3">
                  <p:embed/>
                  <p:pic>
                    <p:nvPicPr>
                      <p:cNvPr id="475141" name="Object 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24314" y="5825382"/>
                        <a:ext cx="2143125" cy="915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8945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1" name="标题 1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sz="3200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宋体" panose="02010600030101010101" pitchFamily="2" charset="-122"/>
                <a:cs typeface="+mj-cs"/>
              </a:rPr>
              <a:t>需要对少位？</a:t>
            </a:r>
            <a:r>
              <a:rPr lang="en-US" altLang="zh-CN" sz="3200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宋体" panose="02010600030101010101" pitchFamily="2" charset="-122"/>
                <a:cs typeface="+mj-cs"/>
              </a:rPr>
              <a:t>(m)</a:t>
            </a:r>
            <a:endParaRPr lang="zh-CN" altLang="en-US" sz="3200" kern="1200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76162" name="内容占位符 2"/>
          <p:cNvSpPr>
            <a:spLocks noGrp="1" noRot="1"/>
          </p:cNvSpPr>
          <p:nvPr>
            <p:ph idx="1"/>
          </p:nvPr>
        </p:nvSpPr>
        <p:spPr/>
        <p:txBody>
          <a:bodyPr anchor="t" anchorCtr="0"/>
          <a:lstStyle/>
          <a:p>
            <a:pPr eaLnBrk="1" hangingPunct="1"/>
            <a:r>
              <a:rPr lang="zh-CN" altLang="en-US" dirty="0"/>
              <a:t>推导过程略，直接上结果公式：</a:t>
            </a:r>
            <a:br>
              <a:rPr lang="en-US" altLang="zh-CN" dirty="0"/>
            </a:br>
            <a:r>
              <a:rPr lang="en-US" altLang="zh-CN" dirty="0"/>
              <a:t>(</a:t>
            </a:r>
            <a:r>
              <a:rPr lang="zh-CN" altLang="en-US" dirty="0"/>
              <a:t>假设，允许的</a:t>
            </a:r>
            <a:r>
              <a:rPr lang="en-US" altLang="zh-CN" dirty="0"/>
              <a:t>false rate</a:t>
            </a:r>
            <a:r>
              <a:rPr lang="zh-CN" altLang="en-US" dirty="0"/>
              <a:t>为</a:t>
            </a:r>
            <a:r>
              <a:rPr lang="en-US" altLang="zh-CN" dirty="0"/>
              <a:t>f’)</a:t>
            </a:r>
          </a:p>
          <a:p>
            <a:pPr eaLnBrk="1" hangingPunct="1"/>
            <a:endParaRPr lang="zh-CN" altLang="en-US" dirty="0"/>
          </a:p>
        </p:txBody>
      </p:sp>
      <p:graphicFrame>
        <p:nvGraphicFramePr>
          <p:cNvPr id="476163" name="Object 2"/>
          <p:cNvGraphicFramePr>
            <a:graphicFrameLocks noChangeAspect="1"/>
          </p:cNvGraphicFramePr>
          <p:nvPr/>
        </p:nvGraphicFramePr>
        <p:xfrm>
          <a:off x="3810000" y="2714625"/>
          <a:ext cx="46863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r:id="rId3" imgW="37490400" imgH="11582400" progId="Equation.3">
                  <p:embed/>
                </p:oleObj>
              </mc:Choice>
              <mc:Fallback>
                <p:oleObj r:id="rId3" imgW="37490400" imgH="11582400" progId="Equation.3">
                  <p:embed/>
                  <p:pic>
                    <p:nvPicPr>
                      <p:cNvPr id="47616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0" y="2714625"/>
                        <a:ext cx="4686300" cy="1447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0399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5" name="标题 1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lstStyle/>
          <a:p>
            <a:pPr eaLnBrk="1" hangingPunct="1"/>
            <a:r>
              <a:rPr lang="en-US" altLang="zh-CN" sz="3200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宋体" panose="02010600030101010101" pitchFamily="2" charset="-122"/>
                <a:cs typeface="+mj-cs"/>
              </a:rPr>
              <a:t>Hash</a:t>
            </a:r>
            <a:r>
              <a:rPr lang="zh-CN" altLang="en-US" sz="3200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宋体" panose="02010600030101010101" pitchFamily="2" charset="-122"/>
                <a:cs typeface="+mj-cs"/>
              </a:rPr>
              <a:t>算法</a:t>
            </a:r>
          </a:p>
        </p:txBody>
      </p:sp>
      <p:sp>
        <p:nvSpPr>
          <p:cNvPr id="477186" name="内容占位符 2"/>
          <p:cNvSpPr>
            <a:spLocks noGrp="1" noRot="1"/>
          </p:cNvSpPr>
          <p:nvPr>
            <p:ph idx="1"/>
          </p:nvPr>
        </p:nvSpPr>
        <p:spPr>
          <a:xfrm>
            <a:off x="2133601" y="1600201"/>
            <a:ext cx="8355013" cy="4498975"/>
          </a:xfrm>
        </p:spPr>
        <p:txBody>
          <a:bodyPr anchor="t" anchorCtr="0"/>
          <a:lstStyle/>
          <a:p>
            <a:pPr eaLnBrk="1" hangingPunct="1"/>
            <a:r>
              <a:rPr lang="en-US" altLang="zh-CN" dirty="0"/>
              <a:t>K</a:t>
            </a:r>
            <a:r>
              <a:rPr lang="zh-CN" altLang="en-US" dirty="0"/>
              <a:t>个</a:t>
            </a:r>
            <a:r>
              <a:rPr lang="en-US" altLang="zh-CN" dirty="0"/>
              <a:t>hash</a:t>
            </a:r>
            <a:r>
              <a:rPr lang="zh-CN" altLang="en-US" dirty="0"/>
              <a:t>越相互独立效果越好</a:t>
            </a:r>
            <a:endParaRPr lang="en-US" altLang="zh-CN" dirty="0"/>
          </a:p>
          <a:p>
            <a:pPr eaLnBrk="1" hangingPunct="1"/>
            <a:r>
              <a:rPr lang="zh-CN" altLang="en-US" dirty="0"/>
              <a:t>可能常用的算法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Jenkins </a:t>
            </a:r>
            <a:r>
              <a:rPr lang="en-US" altLang="zh-CN" dirty="0">
                <a:hlinkClick r:id="rId2"/>
              </a:rPr>
              <a:t>http://burtleburtle.net/bob/hash/doobs.html</a:t>
            </a:r>
            <a:endParaRPr lang="en-US" altLang="zh-CN" dirty="0"/>
          </a:p>
          <a:p>
            <a:pPr lvl="1" eaLnBrk="1" hangingPunct="1"/>
            <a:r>
              <a:rPr lang="en-US" altLang="zh-CN" dirty="0" err="1"/>
              <a:t>MurMur</a:t>
            </a:r>
            <a:r>
              <a:rPr lang="zh-CN" altLang="en-US" dirty="0"/>
              <a:t>，</a:t>
            </a:r>
            <a:r>
              <a:rPr lang="en-US" altLang="zh-CN" dirty="0" err="1"/>
              <a:t>hadoop</a:t>
            </a:r>
            <a:r>
              <a:rPr lang="zh-CN" altLang="en-US" dirty="0"/>
              <a:t>中比较常用</a:t>
            </a:r>
            <a:r>
              <a:rPr lang="en-US" altLang="zh-CN" dirty="0"/>
              <a:t> </a:t>
            </a:r>
            <a:r>
              <a:rPr lang="en-US" altLang="zh-CN" dirty="0">
                <a:hlinkClick r:id="rId3"/>
              </a:rPr>
              <a:t>http://murmurhash.googlepages.com/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更多：</a:t>
            </a:r>
            <a:r>
              <a:rPr lang="en-US" altLang="zh-CN" dirty="0">
                <a:hlinkClick r:id="rId4"/>
              </a:rPr>
              <a:t>http://www.partow.net/programming/hashfunctions/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21147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内容占位符 2"/>
          <p:cNvSpPr>
            <a:spLocks noGrp="1" noRot="1"/>
          </p:cNvSpPr>
          <p:nvPr>
            <p:ph idx="1"/>
          </p:nvPr>
        </p:nvSpPr>
        <p:spPr>
          <a:xfrm>
            <a:off x="1740414" y="1419225"/>
            <a:ext cx="8592671" cy="4876801"/>
          </a:xfrm>
        </p:spPr>
        <p:txBody>
          <a:bodyPr anchor="t" anchorCtr="0"/>
          <a:lstStyle/>
          <a:p>
            <a:pPr eaLnBrk="1" hangingPunct="1"/>
            <a:r>
              <a:rPr lang="zh-CN" altLang="en-US" dirty="0"/>
              <a:t>标准</a:t>
            </a:r>
            <a:r>
              <a:rPr lang="en-US" altLang="zh-CN" dirty="0"/>
              <a:t>Bloom Filter</a:t>
            </a:r>
            <a:r>
              <a:rPr lang="zh-CN" altLang="en-US" dirty="0"/>
              <a:t>中，</a:t>
            </a:r>
            <a:r>
              <a:rPr lang="en-US" altLang="zh-CN" dirty="0"/>
              <a:t>m</a:t>
            </a:r>
            <a:r>
              <a:rPr lang="zh-CN" altLang="en-US" dirty="0"/>
              <a:t>长数组，每</a:t>
            </a:r>
            <a:r>
              <a:rPr lang="en-US" altLang="zh-CN" dirty="0"/>
              <a:t>unit</a:t>
            </a:r>
            <a:r>
              <a:rPr lang="zh-CN" altLang="en-US" dirty="0"/>
              <a:t>用</a:t>
            </a:r>
            <a:r>
              <a:rPr lang="en-US" altLang="zh-CN" dirty="0"/>
              <a:t>1</a:t>
            </a:r>
            <a:r>
              <a:rPr lang="zh-CN" altLang="en-US" dirty="0"/>
              <a:t>位表示，只能表示</a:t>
            </a:r>
            <a:r>
              <a:rPr lang="en-US" altLang="zh-CN" dirty="0"/>
              <a:t>[0, 1]</a:t>
            </a:r>
          </a:p>
          <a:p>
            <a:pPr eaLnBrk="1" hangingPunct="1"/>
            <a:r>
              <a:rPr lang="zh-CN" altLang="en-US" dirty="0"/>
              <a:t>如果每个</a:t>
            </a:r>
            <a:r>
              <a:rPr lang="en-US" altLang="zh-CN" dirty="0"/>
              <a:t>unit</a:t>
            </a:r>
            <a:r>
              <a:rPr lang="zh-CN" altLang="en-US" dirty="0"/>
              <a:t>用多位表示，如</a:t>
            </a:r>
            <a:r>
              <a:rPr lang="en-US" altLang="zh-CN" dirty="0"/>
              <a:t>3</a:t>
            </a:r>
            <a:r>
              <a:rPr lang="zh-CN" altLang="en-US" dirty="0"/>
              <a:t>位，则可以表示</a:t>
            </a:r>
            <a:r>
              <a:rPr lang="en-US" altLang="zh-CN" dirty="0"/>
              <a:t>[0,1,…,7]</a:t>
            </a:r>
            <a:endParaRPr lang="zh-CN" altLang="en-US" dirty="0"/>
          </a:p>
        </p:txBody>
      </p:sp>
      <p:pic>
        <p:nvPicPr>
          <p:cNvPr id="478211" name="图片 4" descr="bloom_filter_cou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3857625"/>
            <a:ext cx="7162800" cy="2571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标题 1"/>
          <p:cNvSpPr txBox="1">
            <a:spLocks noRot="1"/>
          </p:cNvSpPr>
          <p:nvPr/>
        </p:nvSpPr>
        <p:spPr bwMode="auto">
          <a:xfrm>
            <a:off x="2135561" y="260648"/>
            <a:ext cx="7568173" cy="6784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 i="0">
                <a:solidFill>
                  <a:schemeClr val="tx2"/>
                </a:solidFill>
                <a:effectLst/>
                <a:latin typeface="Arial" panose="020B0604020202020204"/>
                <a:ea typeface="黑体" panose="02010609060101010101" pitchFamily="49" charset="-122"/>
                <a:cs typeface="Arial" panose="020B0604020202020204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45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45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45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45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3162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45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6pPr>
            <a:lvl7pPr marL="63309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45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7pPr>
            <a:lvl8pPr marL="94932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45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8pPr>
            <a:lvl9pPr marL="126619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45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9pPr>
          </a:lstStyle>
          <a:p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/>
                <a:ea typeface="宋体" panose="02010600030101010101" pitchFamily="2" charset="-122"/>
              </a:rPr>
              <a:t>扩展：计数型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/>
                <a:ea typeface="宋体" panose="02010600030101010101" pitchFamily="2" charset="-122"/>
              </a:rPr>
              <a:t>Bloom Filter</a:t>
            </a:r>
            <a:endParaRPr lang="zh-CN" altLang="en-US" sz="3200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楷体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0721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7" name="标题 1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lstStyle/>
          <a:p>
            <a:pPr eaLnBrk="1" hangingPunct="1"/>
            <a:r>
              <a:rPr lang="zh-CN" altLang="en-US" sz="3200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宋体" panose="02010600030101010101" pitchFamily="2" charset="-122"/>
                <a:cs typeface="+mj-cs"/>
              </a:rPr>
              <a:t>扩展：用于解决规模增长问题</a:t>
            </a:r>
          </a:p>
        </p:txBody>
      </p:sp>
      <p:sp>
        <p:nvSpPr>
          <p:cNvPr id="480258" name="内容占位符 2"/>
          <p:cNvSpPr>
            <a:spLocks noGrp="1" noRot="1"/>
          </p:cNvSpPr>
          <p:nvPr>
            <p:ph idx="1"/>
          </p:nvPr>
        </p:nvSpPr>
        <p:spPr/>
        <p:txBody>
          <a:bodyPr anchor="t" anchorCtr="0"/>
          <a:lstStyle/>
          <a:p>
            <a:pPr eaLnBrk="1" hangingPunct="1"/>
            <a:r>
              <a:rPr lang="zh-CN" altLang="en-US" sz="2800" b="1" dirty="0"/>
              <a:t>拆分型布鲁姆过滤器</a:t>
            </a:r>
            <a:endParaRPr lang="en-US" altLang="zh-CN" sz="2800" b="1" dirty="0"/>
          </a:p>
          <a:p>
            <a:pPr eaLnBrk="1" hangingPunct="1"/>
            <a:r>
              <a:rPr lang="zh-CN" altLang="en-US" sz="2800" b="1" dirty="0"/>
              <a:t>动态布鲁姆过滤器</a:t>
            </a:r>
            <a:endParaRPr lang="en-US" altLang="zh-CN" sz="2800" b="1" dirty="0"/>
          </a:p>
          <a:p>
            <a:pPr eaLnBrk="1" hangingPunct="1"/>
            <a:r>
              <a:rPr lang="zh-CN" altLang="en-US" sz="2800" b="1" dirty="0"/>
              <a:t>可扩展布鲁姆过滤器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1" y="1285875"/>
            <a:ext cx="4391025" cy="26431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>
            <a:outerShdw blurRad="50800" dist="50800" dir="5400000" sx="1000" sy="1000" algn="ctr" rotWithShape="0">
              <a:srgbClr val="000000">
                <a:alpha val="42000"/>
              </a:srgbClr>
            </a:outerShdw>
          </a:effectLst>
        </p:spPr>
      </p:pic>
      <p:pic>
        <p:nvPicPr>
          <p:cNvPr id="480260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4357688"/>
            <a:ext cx="6972300" cy="22479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291267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1" name="标题 1"/>
          <p:cNvSpPr>
            <a:spLocks noGrp="1" noRot="1"/>
          </p:cNvSpPr>
          <p:nvPr>
            <p:ph type="title"/>
          </p:nvPr>
        </p:nvSpPr>
        <p:spPr>
          <a:xfrm>
            <a:off x="2264849" y="277370"/>
            <a:ext cx="7568173" cy="678470"/>
          </a:xfrm>
        </p:spPr>
        <p:txBody>
          <a:bodyPr anchor="ctr" anchorCtr="0"/>
          <a:lstStyle/>
          <a:p>
            <a:r>
              <a:rPr lang="zh-CN" altLang="en-US" sz="3200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宋体" panose="02010600030101010101" pitchFamily="2" charset="-122"/>
                <a:cs typeface="+mj-cs"/>
              </a:rPr>
              <a:t>扩展：多维</a:t>
            </a:r>
            <a:r>
              <a:rPr lang="en-US" altLang="zh-CN" sz="3200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宋体" panose="02010600030101010101" pitchFamily="2" charset="-122"/>
                <a:cs typeface="+mj-cs"/>
              </a:rPr>
              <a:t>Bloom Filter</a:t>
            </a:r>
            <a:endParaRPr lang="zh-CN" altLang="en-US" sz="3200" kern="1200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81282" name="内容占位符 2"/>
          <p:cNvSpPr>
            <a:spLocks noGrp="1" noRot="1"/>
          </p:cNvSpPr>
          <p:nvPr>
            <p:ph idx="1"/>
          </p:nvPr>
        </p:nvSpPr>
        <p:spPr/>
        <p:txBody>
          <a:bodyPr anchor="t" anchorCtr="0"/>
          <a:lstStyle/>
          <a:p>
            <a:pPr eaLnBrk="1" hangingPunct="1"/>
            <a:r>
              <a:rPr lang="zh-CN" altLang="en-US" sz="2800" b="1" dirty="0"/>
              <a:t>用多个标准布鲁姆过滤器表示多维集合的单属性域。</a:t>
            </a:r>
            <a:endParaRPr lang="en-US" altLang="zh-CN" sz="2800" b="1" dirty="0"/>
          </a:p>
          <a:p>
            <a:pPr eaLnBrk="1" hangingPunct="1"/>
            <a:r>
              <a:rPr lang="zh-CN" altLang="en-US" sz="2800" b="1" dirty="0"/>
              <a:t>多过滤器共同完成元素的表示及是否属于集合的查询判断</a:t>
            </a:r>
            <a:r>
              <a:rPr lang="zh-CN" altLang="en-US" dirty="0"/>
              <a:t>。</a:t>
            </a:r>
          </a:p>
        </p:txBody>
      </p:sp>
      <p:pic>
        <p:nvPicPr>
          <p:cNvPr id="48128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3214688"/>
            <a:ext cx="4438650" cy="344805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2427046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29" name="标题 1"/>
          <p:cNvSpPr>
            <a:spLocks noGrp="1" noRot="1"/>
          </p:cNvSpPr>
          <p:nvPr>
            <p:ph type="title"/>
          </p:nvPr>
        </p:nvSpPr>
        <p:spPr>
          <a:xfrm>
            <a:off x="2264849" y="404664"/>
            <a:ext cx="7568173" cy="678470"/>
          </a:xfrm>
        </p:spPr>
        <p:txBody>
          <a:bodyPr anchor="ctr" anchorCtr="0"/>
          <a:lstStyle/>
          <a:p>
            <a:pPr eaLnBrk="1" hangingPunct="1"/>
            <a:r>
              <a:rPr lang="en-US" altLang="zh-CN" sz="3200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宋体" panose="02010600030101010101" pitchFamily="2" charset="-122"/>
                <a:cs typeface="+mj-cs"/>
              </a:rPr>
              <a:t>Bloom Filter</a:t>
            </a:r>
            <a:r>
              <a:rPr lang="zh-CN" altLang="en-US" sz="3200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宋体" panose="02010600030101010101" pitchFamily="2" charset="-122"/>
                <a:cs typeface="+mj-cs"/>
              </a:rPr>
              <a:t>应用</a:t>
            </a:r>
          </a:p>
        </p:txBody>
      </p:sp>
      <p:sp>
        <p:nvSpPr>
          <p:cNvPr id="483330" name="内容占位符 2"/>
          <p:cNvSpPr>
            <a:spLocks noGrp="1" noRot="1"/>
          </p:cNvSpPr>
          <p:nvPr>
            <p:ph idx="1"/>
          </p:nvPr>
        </p:nvSpPr>
        <p:spPr/>
        <p:txBody>
          <a:bodyPr anchor="t" anchorCtr="0"/>
          <a:lstStyle/>
          <a:p>
            <a:pPr eaLnBrk="1" hangingPunct="1"/>
            <a:r>
              <a:rPr lang="zh-CN" altLang="en-US" b="1" dirty="0"/>
              <a:t>网络爬虫，</a:t>
            </a:r>
            <a:r>
              <a:rPr lang="en-US" altLang="zh-CN" b="1" dirty="0" err="1"/>
              <a:t>url</a:t>
            </a:r>
            <a:r>
              <a:rPr lang="en-US" altLang="zh-CN" b="1" dirty="0"/>
              <a:t> </a:t>
            </a:r>
            <a:r>
              <a:rPr lang="zh-CN" altLang="en-US" b="1" dirty="0"/>
              <a:t>去重</a:t>
            </a:r>
            <a:endParaRPr lang="en-US" altLang="zh-CN" b="1" dirty="0"/>
          </a:p>
          <a:p>
            <a:pPr eaLnBrk="1" hangingPunct="1"/>
            <a:r>
              <a:rPr lang="zh-CN" altLang="en-US" b="1" dirty="0"/>
              <a:t>垃圾邮件地址过滤</a:t>
            </a:r>
            <a:endParaRPr lang="en-US" altLang="zh-CN" b="1" dirty="0"/>
          </a:p>
          <a:p>
            <a:pPr eaLnBrk="1" hangingPunct="1"/>
            <a:r>
              <a:rPr lang="en-US" altLang="zh-CN" b="1" dirty="0"/>
              <a:t>Proxy cache</a:t>
            </a:r>
            <a:r>
              <a:rPr lang="zh-CN" altLang="en-US" b="1" dirty="0"/>
              <a:t>命中查询</a:t>
            </a:r>
            <a:endParaRPr lang="en-US" altLang="zh-CN" b="1" dirty="0"/>
          </a:p>
          <a:p>
            <a:pPr eaLnBrk="1" hangingPunct="1"/>
            <a:r>
              <a:rPr lang="en-US" altLang="zh-CN" b="1" dirty="0" err="1"/>
              <a:t>Bigtable</a:t>
            </a:r>
            <a:r>
              <a:rPr lang="zh-CN" altLang="en-US" b="1" dirty="0"/>
              <a:t>、</a:t>
            </a:r>
            <a:r>
              <a:rPr lang="en-US" altLang="zh-CN" b="1" dirty="0" err="1"/>
              <a:t>Hadoop</a:t>
            </a:r>
            <a:r>
              <a:rPr lang="zh-CN" altLang="en-US" b="1" dirty="0"/>
              <a:t>、</a:t>
            </a:r>
            <a:r>
              <a:rPr lang="en-US" altLang="zh-CN" b="1" dirty="0"/>
              <a:t>Cassandra</a:t>
            </a:r>
            <a:r>
              <a:rPr lang="zh-CN" altLang="en-US" b="1" dirty="0"/>
              <a:t>、</a:t>
            </a:r>
            <a:r>
              <a:rPr lang="en-US" altLang="zh-CN" b="1" dirty="0" err="1"/>
              <a:t>Hbase</a:t>
            </a:r>
            <a:endParaRPr lang="en-US" altLang="zh-CN" b="1" dirty="0"/>
          </a:p>
          <a:p>
            <a:pPr eaLnBrk="1" hangingPunct="1"/>
            <a:r>
              <a:rPr lang="zh-CN" altLang="en-US" b="1" dirty="0"/>
              <a:t>封包路由</a:t>
            </a:r>
            <a:endParaRPr lang="en-US" altLang="zh-CN" b="1" dirty="0"/>
          </a:p>
          <a:p>
            <a:pPr eaLnBrk="1" hangingPunct="1"/>
            <a:r>
              <a:rPr lang="zh-CN" altLang="en-US" b="1" dirty="0"/>
              <a:t>分布式环境中资源定位</a:t>
            </a:r>
          </a:p>
        </p:txBody>
      </p:sp>
    </p:spTree>
    <p:extLst>
      <p:ext uri="{BB962C8B-B14F-4D97-AF65-F5344CB8AC3E}">
        <p14:creationId xmlns:p14="http://schemas.microsoft.com/office/powerpoint/2010/main" val="2330917852"/>
      </p:ext>
    </p:extLst>
  </p:cSld>
  <p:clrMapOvr>
    <a:masterClrMapping/>
  </p:clrMapOvr>
</p:sld>
</file>

<file path=ppt/theme/theme1.xml><?xml version="1.0" encoding="utf-8"?>
<a:theme xmlns:a="http://schemas.openxmlformats.org/drawingml/2006/main" name="3_973青年-李国良v0.1">
  <a:themeElements>
    <a:clrScheme name="Introductioin to Trec2007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Introductioin to Trec2007">
      <a:majorFont>
        <a:latin typeface="华文楷体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华文楷体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华文楷体" panose="02010600040101010101" pitchFamily="2" charset="-122"/>
          </a:defRPr>
        </a:defPPr>
      </a:lstStyle>
    </a:lnDef>
  </a:objectDefaults>
  <a:extraClrSchemeLst>
    <a:extraClrScheme>
      <a:clrScheme name="Introductioin to Trec2007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ductioin to Trec2007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in to Trec2007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in to Trec2007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in to Trec200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in to Trec200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in to Trec200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953</Words>
  <Application>Microsoft Office PowerPoint</Application>
  <PresentationFormat>宽屏</PresentationFormat>
  <Paragraphs>75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黑体</vt:lpstr>
      <vt:lpstr>华文楷体</vt:lpstr>
      <vt:lpstr>微软雅黑</vt:lpstr>
      <vt:lpstr>Arial</vt:lpstr>
      <vt:lpstr>Times New Roman</vt:lpstr>
      <vt:lpstr>Wingdings</vt:lpstr>
      <vt:lpstr>3_973青年-李国良v0.1</vt:lpstr>
      <vt:lpstr>Equation.3</vt:lpstr>
      <vt:lpstr>PowerPoint 演示文稿</vt:lpstr>
      <vt:lpstr>PowerPoint 演示文稿</vt:lpstr>
      <vt:lpstr>布隆过滤器起源</vt:lpstr>
      <vt:lpstr>原理说明</vt:lpstr>
      <vt:lpstr>PowerPoint 演示文稿</vt:lpstr>
      <vt:lpstr>错误率估计</vt:lpstr>
      <vt:lpstr>哈希函数个数k</vt:lpstr>
      <vt:lpstr>需要对少位？(m)</vt:lpstr>
      <vt:lpstr>Hash算法</vt:lpstr>
      <vt:lpstr>PowerPoint 演示文稿</vt:lpstr>
      <vt:lpstr>扩展：用于解决规模增长问题</vt:lpstr>
      <vt:lpstr>扩展：多维Bloom Filter</vt:lpstr>
      <vt:lpstr>Bloom Filter应用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houdi</dc:creator>
  <cp:lastModifiedBy>houdi</cp:lastModifiedBy>
  <cp:revision>1</cp:revision>
  <dcterms:created xsi:type="dcterms:W3CDTF">2025-10-27T10:17:04Z</dcterms:created>
  <dcterms:modified xsi:type="dcterms:W3CDTF">2025-10-27T10:18:42Z</dcterms:modified>
</cp:coreProperties>
</file>