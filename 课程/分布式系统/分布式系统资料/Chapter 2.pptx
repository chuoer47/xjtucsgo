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handoutMasterIdLst>
    <p:handoutMasterId r:id="rId66"/>
  </p:handoutMasterIdLst>
  <p:sldIdLst>
    <p:sldId id="316" r:id="rId2"/>
    <p:sldId id="446" r:id="rId3"/>
    <p:sldId id="445" r:id="rId4"/>
    <p:sldId id="422" r:id="rId5"/>
    <p:sldId id="431" r:id="rId6"/>
    <p:sldId id="449" r:id="rId7"/>
    <p:sldId id="570" r:id="rId8"/>
    <p:sldId id="451" r:id="rId9"/>
    <p:sldId id="454" r:id="rId10"/>
    <p:sldId id="453" r:id="rId11"/>
    <p:sldId id="439" r:id="rId12"/>
    <p:sldId id="465" r:id="rId13"/>
    <p:sldId id="466" r:id="rId14"/>
    <p:sldId id="464" r:id="rId15"/>
    <p:sldId id="456" r:id="rId16"/>
    <p:sldId id="458" r:id="rId17"/>
    <p:sldId id="467" r:id="rId18"/>
    <p:sldId id="462" r:id="rId19"/>
    <p:sldId id="459" r:id="rId20"/>
    <p:sldId id="461" r:id="rId21"/>
    <p:sldId id="463" r:id="rId22"/>
    <p:sldId id="573" r:id="rId23"/>
    <p:sldId id="468" r:id="rId24"/>
    <p:sldId id="470" r:id="rId25"/>
    <p:sldId id="474" r:id="rId26"/>
    <p:sldId id="475" r:id="rId27"/>
    <p:sldId id="477" r:id="rId28"/>
    <p:sldId id="476" r:id="rId29"/>
    <p:sldId id="426" r:id="rId30"/>
    <p:sldId id="472" r:id="rId31"/>
    <p:sldId id="428" r:id="rId32"/>
    <p:sldId id="572" r:id="rId33"/>
    <p:sldId id="478" r:id="rId34"/>
    <p:sldId id="483" r:id="rId35"/>
    <p:sldId id="480" r:id="rId36"/>
    <p:sldId id="481" r:id="rId37"/>
    <p:sldId id="568" r:id="rId38"/>
    <p:sldId id="569" r:id="rId39"/>
    <p:sldId id="482" r:id="rId40"/>
    <p:sldId id="502" r:id="rId41"/>
    <p:sldId id="486" r:id="rId42"/>
    <p:sldId id="487" r:id="rId43"/>
    <p:sldId id="575" r:id="rId44"/>
    <p:sldId id="488" r:id="rId45"/>
    <p:sldId id="489" r:id="rId46"/>
    <p:sldId id="515" r:id="rId47"/>
    <p:sldId id="512" r:id="rId48"/>
    <p:sldId id="490" r:id="rId49"/>
    <p:sldId id="491" r:id="rId50"/>
    <p:sldId id="507" r:id="rId51"/>
    <p:sldId id="492" r:id="rId52"/>
    <p:sldId id="493" r:id="rId53"/>
    <p:sldId id="494" r:id="rId54"/>
    <p:sldId id="503" r:id="rId55"/>
    <p:sldId id="509" r:id="rId56"/>
    <p:sldId id="496" r:id="rId57"/>
    <p:sldId id="497" r:id="rId58"/>
    <p:sldId id="504" r:id="rId59"/>
    <p:sldId id="499" r:id="rId60"/>
    <p:sldId id="574" r:id="rId61"/>
    <p:sldId id="505" r:id="rId62"/>
    <p:sldId id="546" r:id="rId63"/>
    <p:sldId id="547" r:id="rId64"/>
  </p:sldIdLst>
  <p:sldSz cx="9144000" cy="6858000" type="screen4x3"/>
  <p:notesSz cx="6858000" cy="9144000"/>
  <p:custDataLst>
    <p:tags r:id="rId67"/>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rgbClr val="3366FF"/>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6600"/>
    <a:srgbClr val="000099"/>
    <a:srgbClr val="FF9900"/>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0"/>
    <p:restoredTop sz="84841" autoAdjust="0"/>
  </p:normalViewPr>
  <p:slideViewPr>
    <p:cSldViewPr snapToGrid="0" showGuides="1">
      <p:cViewPr varScale="1">
        <p:scale>
          <a:sx n="106" d="100"/>
          <a:sy n="106" d="100"/>
        </p:scale>
        <p:origin x="200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805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8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787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defRPr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787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787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lnSpc>
                <a:spcPct val="100000"/>
              </a:lnSpc>
              <a:defRPr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C057194-AF03-404A-A050-68EACB30E649}"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20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defRPr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3210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21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2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lnSpc>
                <a:spcPct val="100000"/>
              </a:lnSpc>
              <a:defRPr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F25AE5B-0228-4FA1-9435-6E7152BE189B}"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单机</a:t>
            </a:r>
            <a:r>
              <a:rPr lang="en-US" altLang="zh-CN"/>
              <a:t>-</a:t>
            </a:r>
            <a:r>
              <a:rPr lang="zh-CN" altLang="en-US"/>
              <a:t>进程同步：协作，互斥，共享内存通信</a:t>
            </a:r>
          </a:p>
          <a:p>
            <a:endParaRPr lang="zh-CN" altLang="en-US"/>
          </a:p>
          <a:p>
            <a:r>
              <a:rPr lang="zh-CN" altLang="en-US"/>
              <a:t>多机</a:t>
            </a:r>
            <a:r>
              <a:rPr lang="en-US" altLang="zh-CN"/>
              <a:t>-</a:t>
            </a:r>
            <a:r>
              <a:rPr lang="zh-CN" altLang="en-US"/>
              <a:t>进程同步：不同进程位于不同机器上，通过网络通信</a:t>
            </a:r>
            <a:r>
              <a:rPr lang="en-US" altLang="zh-CN"/>
              <a:t>-communication</a:t>
            </a:r>
            <a:r>
              <a:rPr lang="zh-CN" altLang="en-US"/>
              <a:t>，</a:t>
            </a:r>
            <a:r>
              <a:rPr lang="en-US" altLang="zh-CN" b="1" dirty="0">
                <a:solidFill>
                  <a:srgbClr val="000099"/>
                </a:solidFill>
                <a:ea typeface="宋体" panose="02010600030101010101" pitchFamily="2" charset="-122"/>
                <a:sym typeface="+mn-ea"/>
              </a:rPr>
              <a:t>sending and receiving of data</a:t>
            </a:r>
            <a:r>
              <a:rPr lang="zh-CN" altLang="en-US" b="1" dirty="0">
                <a:solidFill>
                  <a:srgbClr val="000099"/>
                </a:solidFill>
                <a:ea typeface="宋体" panose="02010600030101010101" pitchFamily="2" charset="-122"/>
                <a:sym typeface="+mn-ea"/>
              </a:rPr>
              <a:t>时通过事件同步</a:t>
            </a:r>
            <a:endParaRPr lang="zh-CN" altLang="en-US"/>
          </a:p>
          <a:p>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从什么角度划分？通信控制方式？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olidFill>
                  <a:srgbClr val="000099"/>
                </a:solidFill>
                <a:ea typeface="宋体" panose="02010600030101010101" pitchFamily="2" charset="-122"/>
                <a:sym typeface="+mn-ea"/>
              </a:rPr>
              <a:t>根据网络是否是</a:t>
            </a:r>
            <a:r>
              <a:rPr lang="en-US" altLang="zh-CN" dirty="0">
                <a:solidFill>
                  <a:srgbClr val="000099"/>
                </a:solidFill>
                <a:ea typeface="宋体" panose="02010600030101010101" pitchFamily="2" charset="-122"/>
                <a:sym typeface="+mn-ea"/>
              </a:rPr>
              <a:t>connection-oriented</a:t>
            </a:r>
            <a:r>
              <a:rPr lang="zh-CN" altLang="en-US" dirty="0">
                <a:solidFill>
                  <a:srgbClr val="000099"/>
                </a:solidFill>
                <a:ea typeface="宋体" panose="02010600030101010101" pitchFamily="2" charset="-122"/>
                <a:sym typeface="+mn-ea"/>
              </a:rPr>
              <a:t>，</a:t>
            </a:r>
            <a:r>
              <a:rPr lang="en-US" altLang="zh-CN" dirty="0">
                <a:solidFill>
                  <a:srgbClr val="FF0000"/>
                </a:solidFill>
                <a:ea typeface="宋体" panose="02010600030101010101" pitchFamily="2" charset="-122"/>
                <a:sym typeface="+mn-ea"/>
              </a:rPr>
              <a:t>Event synchronization</a:t>
            </a:r>
            <a:r>
              <a:rPr lang="zh-CN" altLang="en-US" dirty="0">
                <a:solidFill>
                  <a:srgbClr val="FF0000"/>
                </a:solidFill>
                <a:ea typeface="宋体" panose="02010600030101010101" pitchFamily="2" charset="-122"/>
                <a:sym typeface="+mn-ea"/>
              </a:rPr>
              <a:t>分为同步和异步；</a:t>
            </a:r>
          </a:p>
          <a:p>
            <a:endParaRPr lang="zh-CN" altLang="en-US" dirty="0">
              <a:solidFill>
                <a:srgbClr val="FF0000"/>
              </a:solidFill>
              <a:ea typeface="宋体" panose="02010600030101010101" pitchFamily="2" charset="-122"/>
              <a:sym typeface="+mn-ea"/>
            </a:endParaRPr>
          </a:p>
          <a:p>
            <a:r>
              <a:rPr lang="en-US" altLang="zh-CN" dirty="0">
                <a:solidFill>
                  <a:srgbClr val="FF0000"/>
                </a:solidFill>
                <a:ea typeface="宋体" panose="02010600030101010101" pitchFamily="2" charset="-122"/>
                <a:sym typeface="+mn-ea"/>
              </a:rPr>
              <a:t>Event</a:t>
            </a:r>
            <a:r>
              <a:rPr lang="zh-CN" altLang="en-US" dirty="0">
                <a:solidFill>
                  <a:srgbClr val="FF0000"/>
                </a:solidFill>
                <a:ea typeface="宋体" panose="02010600030101010101" pitchFamily="2" charset="-122"/>
                <a:sym typeface="+mn-ea"/>
              </a:rPr>
              <a:t>？</a:t>
            </a:r>
          </a:p>
          <a:p>
            <a:r>
              <a:rPr lang="en-US" altLang="zh-CN" noProof="0" dirty="0">
                <a:ln>
                  <a:noFill/>
                </a:ln>
                <a:solidFill>
                  <a:srgbClr val="000099"/>
                </a:solidFill>
                <a:effectLst/>
                <a:uLnTx/>
                <a:uFillTx/>
                <a:latin typeface="+mn-lt"/>
                <a:ea typeface="宋体" panose="02010600030101010101" pitchFamily="2" charset="-122"/>
                <a:sym typeface="+mn-ea"/>
              </a:rPr>
              <a:t>With the abstraction provided by this model</a:t>
            </a:r>
            <a:r>
              <a:rPr lang="zh-CN" altLang="en-US" noProof="0" dirty="0">
                <a:ln>
                  <a:noFill/>
                </a:ln>
                <a:solidFill>
                  <a:srgbClr val="000099"/>
                </a:solidFill>
                <a:effectLst/>
                <a:uLnTx/>
                <a:uFillTx/>
                <a:latin typeface="+mn-lt"/>
                <a:ea typeface="宋体" panose="02010600030101010101" pitchFamily="2" charset="-122"/>
                <a:sym typeface="+mn-ea"/>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socket</a:t>
            </a:r>
            <a:r>
              <a:rPr lang="zh-CN" altLang="en-US"/>
              <a:t>如何使用？和</a:t>
            </a:r>
            <a:r>
              <a:rPr lang="en-US" altLang="zh-CN"/>
              <a:t>bind, listen</a:t>
            </a:r>
            <a:r>
              <a:rPr lang="zh-CN" altLang="en-US"/>
              <a:t>的关系？</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FF0000"/>
                </a:solidFill>
                <a:ea typeface="宋体" panose="02010600030101010101" pitchFamily="2" charset="-122"/>
                <a:sym typeface="+mn-ea"/>
              </a:rPr>
              <a:t>Event synchronization</a:t>
            </a:r>
            <a:r>
              <a:rPr lang="zh-CN" altLang="en-US" dirty="0">
                <a:solidFill>
                  <a:srgbClr val="FF0000"/>
                </a:solidFill>
                <a:ea typeface="宋体" panose="02010600030101010101" pitchFamily="2" charset="-122"/>
                <a:sym typeface="+mn-ea"/>
              </a:rPr>
              <a:t>？</a:t>
            </a:r>
            <a:r>
              <a:rPr lang="en-US" altLang="zh-CN" dirty="0">
                <a:solidFill>
                  <a:srgbClr val="FF0000"/>
                </a:solidFill>
                <a:ea typeface="宋体" panose="02010600030101010101" pitchFamily="2" charset="-122"/>
                <a:sym typeface="+mn-ea"/>
              </a:rPr>
              <a:t> </a:t>
            </a:r>
            <a:r>
              <a:rPr lang="zh-CN" altLang="en-US" dirty="0">
                <a:solidFill>
                  <a:srgbClr val="FF0000"/>
                </a:solidFill>
                <a:ea typeface="宋体" panose="02010600030101010101" pitchFamily="2" charset="-122"/>
                <a:sym typeface="+mn-ea"/>
              </a:rPr>
              <a:t>同步还是异步？</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000099"/>
                </a:solidFill>
                <a:ea typeface="宋体" panose="02010600030101010101" pitchFamily="2" charset="-122"/>
                <a:sym typeface="+mn-ea"/>
              </a:rPr>
              <a:t>two prevalent APIs</a:t>
            </a:r>
            <a:r>
              <a:rPr lang="zh-CN" altLang="en-US" dirty="0">
                <a:solidFill>
                  <a:srgbClr val="000099"/>
                </a:solidFill>
                <a:ea typeface="宋体" panose="02010600030101010101" pitchFamily="2" charset="-122"/>
                <a:sym typeface="+mn-ea"/>
              </a:rPr>
              <a:t>？</a:t>
            </a:r>
          </a:p>
          <a:p>
            <a:endParaRPr lang="zh-CN" altLang="en-US" dirty="0">
              <a:solidFill>
                <a:srgbClr val="000099"/>
              </a:solidFill>
              <a:ea typeface="宋体" panose="02010600030101010101" pitchFamily="2" charset="-122"/>
              <a:sym typeface="+mn-ea"/>
            </a:endParaRPr>
          </a:p>
          <a:p>
            <a:r>
              <a:rPr lang="en-US" altLang="zh-CN" b="1" i="1" dirty="0">
                <a:solidFill>
                  <a:srgbClr val="FF3300"/>
                </a:solidFill>
                <a:ea typeface="宋体" panose="02010600030101010101" pitchFamily="2" charset="-122"/>
                <a:sym typeface="+mn-ea"/>
              </a:rPr>
              <a:t>rpcgen</a:t>
            </a:r>
            <a:r>
              <a:rPr lang="zh-CN" altLang="en-US" b="1" i="1" dirty="0">
                <a:solidFill>
                  <a:srgbClr val="FF3300"/>
                </a:solidFill>
                <a:ea typeface="宋体" panose="02010600030101010101" pitchFamily="2" charset="-122"/>
                <a:sym typeface="+mn-ea"/>
              </a:rPr>
              <a:t>？</a:t>
            </a:r>
            <a:r>
              <a:rPr lang="en-US" altLang="zh-CN" dirty="0">
                <a:solidFill>
                  <a:srgbClr val="000099"/>
                </a:solidFill>
                <a:ea typeface="宋体" panose="02010600030101010101" pitchFamily="2" charset="-122"/>
                <a:sym typeface="+mn-ea"/>
              </a:rPr>
              <a:t>RPC</a:t>
            </a:r>
            <a:r>
              <a:rPr lang="zh-CN" altLang="zh-CN" dirty="0">
                <a:solidFill>
                  <a:srgbClr val="000099"/>
                </a:solidFill>
                <a:ea typeface="宋体" panose="02010600030101010101" pitchFamily="2" charset="-122"/>
                <a:sym typeface="+mn-ea"/>
              </a:rPr>
              <a:t>服务器程序的大多数代码？包含实现客户机和服务器程序所需要的大部分源代码？</a:t>
            </a:r>
            <a:endParaRPr lang="zh-CN" altLang="en-US" b="1" i="1" dirty="0">
              <a:solidFill>
                <a:srgbClr val="FF3300"/>
              </a:solidFill>
              <a:ea typeface="宋体" panose="02010600030101010101" pitchFamily="2" charset="-122"/>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service</a:t>
            </a:r>
            <a:r>
              <a:rPr lang="zh-CN" altLang="en-US"/>
              <a:t>如何定义？</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基于</a:t>
            </a:r>
            <a:r>
              <a:rPr lang="en-US" altLang="zh-CN" dirty="0"/>
              <a:t>message-passing-</a:t>
            </a:r>
            <a:r>
              <a:rPr lang="zh-CN" altLang="en-US" dirty="0"/>
              <a:t>可靠通信；</a:t>
            </a:r>
          </a:p>
          <a:p>
            <a:endParaRPr lang="zh-CN" altLang="en-US" dirty="0"/>
          </a:p>
          <a:p>
            <a:r>
              <a:rPr lang="en-US" altLang="zh-CN" dirty="0"/>
              <a:t>send-receive</a:t>
            </a:r>
            <a:r>
              <a:rPr lang="zh-CN" altLang="en-US" dirty="0"/>
              <a:t>进行通信；</a:t>
            </a:r>
          </a:p>
          <a:p>
            <a:endParaRPr lang="zh-CN" altLang="en-US" dirty="0"/>
          </a:p>
          <a:p>
            <a:r>
              <a:rPr lang="zh-CN" altLang="en-US" dirty="0"/>
              <a:t>事件同步：同步</a:t>
            </a:r>
          </a:p>
          <a:p>
            <a:r>
              <a:rPr lang="en-US" altLang="zh-CN" dirty="0"/>
              <a:t>1.</a:t>
            </a:r>
            <a:endParaRPr lang="zh-CN" altLang="en-US" dirty="0"/>
          </a:p>
          <a:p>
            <a:r>
              <a:rPr lang="en-US" altLang="zh-CN" dirty="0">
                <a:solidFill>
                  <a:srgbClr val="FF3300"/>
                </a:solidFill>
                <a:ea typeface="宋体" panose="02010600030101010101" pitchFamily="2" charset="-122"/>
                <a:sym typeface="+mn-ea"/>
              </a:rPr>
              <a:t>the server process waits for requests</a:t>
            </a:r>
            <a:r>
              <a:rPr lang="zh-CN" altLang="en-US" dirty="0">
                <a:solidFill>
                  <a:srgbClr val="FF3300"/>
                </a:solidFill>
                <a:ea typeface="宋体" panose="02010600030101010101" pitchFamily="2" charset="-122"/>
                <a:sym typeface="+mn-ea"/>
              </a:rPr>
              <a:t>（</a:t>
            </a:r>
            <a:r>
              <a:rPr lang="en-US" altLang="zh-CN" dirty="0">
                <a:solidFill>
                  <a:srgbClr val="FF3300"/>
                </a:solidFill>
                <a:ea typeface="宋体" panose="02010600030101010101" pitchFamily="2" charset="-122"/>
                <a:sym typeface="+mn-ea"/>
              </a:rPr>
              <a:t>receive</a:t>
            </a:r>
            <a:r>
              <a:rPr lang="zh-CN" altLang="en-US" dirty="0">
                <a:solidFill>
                  <a:srgbClr val="FF3300"/>
                </a:solidFill>
                <a:ea typeface="宋体" panose="02010600030101010101" pitchFamily="2" charset="-122"/>
                <a:sym typeface="+mn-ea"/>
              </a:rPr>
              <a:t>）</a:t>
            </a:r>
            <a:r>
              <a:rPr lang="en-US" altLang="zh-CN" dirty="0">
                <a:solidFill>
                  <a:srgbClr val="FF3300"/>
                </a:solidFill>
                <a:ea typeface="宋体" panose="02010600030101010101" pitchFamily="2" charset="-122"/>
                <a:sym typeface="+mn-ea"/>
              </a:rPr>
              <a:t>, client send</a:t>
            </a:r>
          </a:p>
          <a:p>
            <a:endParaRPr lang="en-US" altLang="zh-CN" dirty="0">
              <a:solidFill>
                <a:srgbClr val="FF3300"/>
              </a:solidFill>
              <a:ea typeface="宋体" panose="02010600030101010101" pitchFamily="2" charset="-122"/>
              <a:sym typeface="+mn-ea"/>
            </a:endParaRPr>
          </a:p>
          <a:p>
            <a:r>
              <a:rPr lang="en-US" altLang="zh-CN" dirty="0">
                <a:solidFill>
                  <a:srgbClr val="FF3300"/>
                </a:solidFill>
                <a:ea typeface="宋体" panose="02010600030101010101" pitchFamily="2" charset="-122"/>
                <a:sym typeface="+mn-ea"/>
              </a:rPr>
              <a:t>2.</a:t>
            </a:r>
          </a:p>
          <a:p>
            <a:r>
              <a:rPr lang="en-US" altLang="zh-CN" dirty="0">
                <a:solidFill>
                  <a:srgbClr val="FF3300"/>
                </a:solidFill>
                <a:ea typeface="宋体" panose="02010600030101010101" pitchFamily="2" charset="-122"/>
                <a:sym typeface="+mn-ea"/>
              </a:rPr>
              <a:t>the client in turn waits for responses </a:t>
            </a:r>
            <a:r>
              <a:rPr lang="zh-CN" altLang="en-US" dirty="0">
                <a:solidFill>
                  <a:srgbClr val="FF3300"/>
                </a:solidFill>
                <a:ea typeface="宋体" panose="02010600030101010101" pitchFamily="2" charset="-122"/>
                <a:sym typeface="+mn-ea"/>
              </a:rPr>
              <a:t>（</a:t>
            </a:r>
            <a:r>
              <a:rPr lang="en-US" altLang="zh-CN" dirty="0">
                <a:solidFill>
                  <a:srgbClr val="FF3300"/>
                </a:solidFill>
                <a:ea typeface="宋体" panose="02010600030101010101" pitchFamily="2" charset="-122"/>
                <a:sym typeface="+mn-ea"/>
              </a:rPr>
              <a:t>receive</a:t>
            </a:r>
            <a:r>
              <a:rPr lang="zh-CN" altLang="en-US" dirty="0">
                <a:solidFill>
                  <a:srgbClr val="FF3300"/>
                </a:solidFill>
                <a:ea typeface="宋体" panose="02010600030101010101" pitchFamily="2" charset="-122"/>
                <a:sym typeface="+mn-ea"/>
              </a:rPr>
              <a:t>）</a:t>
            </a:r>
            <a:r>
              <a:rPr lang="en-US" altLang="zh-CN" dirty="0">
                <a:solidFill>
                  <a:srgbClr val="FF3300"/>
                </a:solidFill>
                <a:ea typeface="宋体" panose="02010600030101010101" pitchFamily="2" charset="-122"/>
                <a:sym typeface="+mn-ea"/>
              </a:rPr>
              <a:t>, server send</a:t>
            </a:r>
          </a:p>
          <a:p>
            <a:endParaRPr lang="en-US" altLang="zh-CN" dirty="0">
              <a:solidFill>
                <a:srgbClr val="FF3300"/>
              </a:solidFill>
              <a:ea typeface="宋体" panose="02010600030101010101" pitchFamily="2" charset="-122"/>
              <a:sym typeface="+mn-ea"/>
            </a:endParaRPr>
          </a:p>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ea typeface="宋体" panose="02010600030101010101" pitchFamily="2" charset="-122"/>
                <a:sym typeface="+mn-ea"/>
              </a:rPr>
              <a:t>server</a:t>
            </a:r>
            <a:r>
              <a:rPr lang="zh-CN" altLang="en-US" dirty="0">
                <a:ea typeface="宋体" panose="02010600030101010101" pitchFamily="2" charset="-122"/>
                <a:sym typeface="+mn-ea"/>
              </a:rPr>
              <a:t>端存有文件系统供</a:t>
            </a:r>
            <a:r>
              <a:rPr lang="en-US" altLang="zh-CN" dirty="0">
                <a:ea typeface="宋体" panose="02010600030101010101" pitchFamily="2" charset="-122"/>
                <a:sym typeface="+mn-ea"/>
              </a:rPr>
              <a:t>client</a:t>
            </a:r>
            <a:r>
              <a:rPr lang="zh-CN" altLang="en-US" dirty="0">
                <a:ea typeface="宋体" panose="02010600030101010101" pitchFamily="2" charset="-122"/>
                <a:sym typeface="+mn-ea"/>
              </a:rPr>
              <a:t>端访问：</a:t>
            </a:r>
            <a:endParaRPr lang="en-US" altLang="zh-CN" dirty="0">
              <a:ea typeface="宋体" panose="02010600030101010101" pitchFamily="2" charset="-122"/>
              <a:sym typeface="+mn-ea"/>
            </a:endParaRPr>
          </a:p>
          <a:p>
            <a:endParaRPr lang="en-US" altLang="zh-CN" i="1" dirty="0">
              <a:ea typeface="宋体" panose="02010600030101010101" pitchFamily="2" charset="-122"/>
              <a:sym typeface="+mn-ea"/>
            </a:endParaRPr>
          </a:p>
          <a:p>
            <a:r>
              <a:rPr lang="en-US" altLang="zh-CN" i="1" dirty="0">
                <a:ea typeface="宋体" panose="02010600030101010101" pitchFamily="2" charset="-122"/>
                <a:sym typeface="+mn-ea"/>
              </a:rPr>
              <a:t>header.h</a:t>
            </a:r>
            <a:r>
              <a:rPr lang="en-US" altLang="zh-CN" dirty="0">
                <a:ea typeface="宋体" panose="02010600030101010101" pitchFamily="2" charset="-122"/>
                <a:sym typeface="+mn-ea"/>
              </a:rPr>
              <a:t> file</a:t>
            </a:r>
            <a:r>
              <a:rPr lang="zh-CN" altLang="en-US" dirty="0">
                <a:ea typeface="宋体" panose="02010600030101010101" pitchFamily="2" charset="-122"/>
                <a:sym typeface="+mn-ea"/>
              </a:rPr>
              <a:t>，加载到</a:t>
            </a:r>
            <a:r>
              <a:rPr lang="en-US" altLang="zh-CN" dirty="0">
                <a:ea typeface="宋体" panose="02010600030101010101" pitchFamily="2" charset="-122"/>
                <a:sym typeface="+mn-ea"/>
              </a:rPr>
              <a:t>client</a:t>
            </a:r>
            <a:r>
              <a:rPr lang="zh-CN" altLang="en-US" dirty="0">
                <a:ea typeface="宋体" panose="02010600030101010101" pitchFamily="2" charset="-122"/>
                <a:sym typeface="+mn-ea"/>
              </a:rPr>
              <a:t>和</a:t>
            </a:r>
            <a:r>
              <a:rPr lang="en-US" altLang="zh-CN" dirty="0">
                <a:ea typeface="宋体" panose="02010600030101010101" pitchFamily="2" charset="-122"/>
                <a:sym typeface="+mn-ea"/>
              </a:rPr>
              <a:t>server</a:t>
            </a:r>
            <a:r>
              <a:rPr lang="zh-CN" altLang="en-US" dirty="0">
                <a:ea typeface="宋体" panose="02010600030101010101" pitchFamily="2" charset="-122"/>
                <a:sym typeface="+mn-ea"/>
              </a:rPr>
              <a:t>进程的源程序里使用；</a:t>
            </a:r>
          </a:p>
          <a:p>
            <a:endParaRPr lang="zh-CN" altLang="en-US" dirty="0">
              <a:ea typeface="宋体" panose="02010600030101010101" pitchFamily="2" charset="-122"/>
              <a:sym typeface="+mn-ea"/>
            </a:endParaRPr>
          </a:p>
          <a:p>
            <a:r>
              <a:rPr lang="zh-CN" altLang="en-US" dirty="0">
                <a:ea typeface="宋体" panose="02010600030101010101" pitchFamily="2" charset="-122"/>
                <a:sym typeface="+mn-ea"/>
              </a:rPr>
              <a:t>参数，可调用的方法，包含对文件的四种操作；</a:t>
            </a:r>
          </a:p>
          <a:p>
            <a:endParaRPr lang="zh-CN" altLang="en-US" dirty="0">
              <a:ea typeface="宋体" panose="02010600030101010101" pitchFamily="2" charset="-122"/>
              <a:sym typeface="+mn-ea"/>
            </a:endParaRPr>
          </a:p>
          <a:p>
            <a:r>
              <a:rPr lang="zh-CN" altLang="en-US" dirty="0">
                <a:ea typeface="宋体" panose="02010600030101010101" pitchFamily="2" charset="-122"/>
                <a:sym typeface="+mn-ea"/>
              </a:rPr>
              <a:t>错误处理；</a:t>
            </a:r>
          </a:p>
          <a:p>
            <a:endParaRPr lang="zh-CN" altLang="en-US" dirty="0">
              <a:ea typeface="宋体" panose="02010600030101010101" pitchFamily="2" charset="-122"/>
              <a:sym typeface="+mn-ea"/>
            </a:endParaRPr>
          </a:p>
          <a:p>
            <a:r>
              <a:rPr lang="zh-CN" altLang="en-US" dirty="0">
                <a:ea typeface="宋体" panose="02010600030101010101" pitchFamily="2" charset="-122"/>
                <a:sym typeface="+mn-ea"/>
              </a:rPr>
              <a:t>传输消息格式；</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send</a:t>
            </a:r>
            <a:r>
              <a:rPr lang="zh-CN" altLang="en-US" dirty="0"/>
              <a:t>和</a:t>
            </a:r>
            <a:r>
              <a:rPr lang="en-US" altLang="zh-CN" dirty="0"/>
              <a:t>receive</a:t>
            </a:r>
            <a:r>
              <a:rPr lang="zh-CN" altLang="en-US" dirty="0"/>
              <a:t>如何定义？和</a:t>
            </a:r>
            <a:r>
              <a:rPr lang="en-US" altLang="zh-CN" dirty="0"/>
              <a:t>message passing</a:t>
            </a:r>
            <a:r>
              <a:rPr lang="zh-CN" altLang="en-US" dirty="0"/>
              <a:t>有何区别？</a:t>
            </a:r>
          </a:p>
          <a:p>
            <a:endParaRPr lang="zh-CN" altLang="en-US" dirty="0"/>
          </a:p>
          <a:p>
            <a:r>
              <a:rPr lang="en-US" altLang="zh-CN" dirty="0"/>
              <a:t>server</a:t>
            </a:r>
            <a:r>
              <a:rPr lang="zh-CN" altLang="en-US" dirty="0"/>
              <a:t>：</a:t>
            </a:r>
            <a:r>
              <a:rPr lang="en-US" altLang="zh-CN" dirty="0"/>
              <a:t>receive</a:t>
            </a:r>
            <a:r>
              <a:rPr lang="zh-CN" altLang="en-US" dirty="0"/>
              <a:t>监听</a:t>
            </a:r>
          </a:p>
          <a:p>
            <a:endParaRPr lang="zh-CN" altLang="en-US" dirty="0"/>
          </a:p>
          <a:p>
            <a:r>
              <a:rPr lang="en-US" altLang="zh-CN" dirty="0"/>
              <a:t>client</a:t>
            </a:r>
            <a:r>
              <a:rPr lang="zh-CN" altLang="en-US" dirty="0"/>
              <a:t>：文件操作类型放进</a:t>
            </a:r>
            <a:r>
              <a:rPr lang="en-US" altLang="zh-CN" dirty="0"/>
              <a:t>ml</a:t>
            </a:r>
            <a:r>
              <a:rPr lang="zh-CN" altLang="en-US" dirty="0"/>
              <a:t>里，</a:t>
            </a:r>
            <a:r>
              <a:rPr lang="en-US" altLang="zh-CN" dirty="0"/>
              <a:t>send</a:t>
            </a:r>
            <a:r>
              <a:rPr lang="zh-CN" altLang="en-US" dirty="0"/>
              <a:t>给</a:t>
            </a:r>
            <a:r>
              <a:rPr lang="en-US" altLang="zh-CN" dirty="0"/>
              <a:t>server</a:t>
            </a:r>
          </a:p>
          <a:p>
            <a:endParaRPr lang="en-US" altLang="zh-CN" dirty="0"/>
          </a:p>
          <a:p>
            <a:r>
              <a:rPr lang="en-US" altLang="zh-CN" dirty="0"/>
              <a:t>server</a:t>
            </a:r>
            <a:r>
              <a:rPr lang="zh-CN" altLang="en-US" dirty="0"/>
              <a:t>：根据</a:t>
            </a:r>
            <a:r>
              <a:rPr lang="en-US" altLang="zh-CN" dirty="0"/>
              <a:t>ml</a:t>
            </a:r>
            <a:r>
              <a:rPr lang="zh-CN" altLang="en-US" dirty="0"/>
              <a:t>里的操作类型进行文件操作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000099"/>
                </a:solidFill>
                <a:ea typeface="宋体" panose="02010600030101010101" pitchFamily="2" charset="-122"/>
                <a:sym typeface="+mn-ea"/>
              </a:rPr>
              <a:t>efficient abstraction for the delivery of network services</a:t>
            </a:r>
            <a:r>
              <a:rPr lang="zh-CN" altLang="en-US" dirty="0">
                <a:solidFill>
                  <a:srgbClr val="000099"/>
                </a:solidFill>
                <a:ea typeface="宋体" panose="02010600030101010101" pitchFamily="2" charset="-122"/>
                <a:sym typeface="+mn-ea"/>
              </a:rPr>
              <a:t>？</a:t>
            </a:r>
          </a:p>
          <a:p>
            <a:endParaRPr lang="zh-CN" altLang="en-US" dirty="0">
              <a:solidFill>
                <a:srgbClr val="000099"/>
              </a:solidFill>
              <a:ea typeface="宋体" panose="02010600030101010101" pitchFamily="2" charset="-122"/>
              <a:sym typeface="+mn-ea"/>
            </a:endParaRPr>
          </a:p>
          <a:p>
            <a:r>
              <a:rPr lang="zh-CN" altLang="en-US" dirty="0">
                <a:solidFill>
                  <a:srgbClr val="000099"/>
                </a:solidFill>
                <a:ea typeface="宋体" panose="02010600030101010101" pitchFamily="2" charset="-122"/>
                <a:sym typeface="+mn-ea"/>
              </a:rPr>
              <a:t>具体是什么</a:t>
            </a:r>
            <a:r>
              <a:rPr lang="en-US" altLang="zh-CN" dirty="0">
                <a:solidFill>
                  <a:srgbClr val="000099"/>
                </a:solidFill>
                <a:ea typeface="宋体" panose="02010600030101010101" pitchFamily="2" charset="-122"/>
                <a:sym typeface="+mn-ea"/>
              </a:rPr>
              <a:t>operation</a:t>
            </a:r>
            <a:r>
              <a:rPr lang="zh-CN" altLang="en-US" dirty="0">
                <a:solidFill>
                  <a:srgbClr val="000099"/>
                </a:solidFill>
                <a:ea typeface="宋体" panose="02010600030101010101" pitchFamily="2" charset="-122"/>
                <a:sym typeface="+mn-ea"/>
              </a:rPr>
              <a:t>？</a:t>
            </a:r>
          </a:p>
          <a:p>
            <a:endParaRPr lang="zh-CN" altLang="en-US" dirty="0">
              <a:solidFill>
                <a:srgbClr val="000099"/>
              </a:solidFill>
              <a:ea typeface="宋体" panose="02010600030101010101" pitchFamily="2" charset="-122"/>
              <a:sym typeface="+mn-ea"/>
            </a:endParaRPr>
          </a:p>
          <a:p>
            <a:r>
              <a:rPr lang="en-US" altLang="zh-CN" dirty="0">
                <a:solidFill>
                  <a:srgbClr val="000099"/>
                </a:solidFill>
                <a:ea typeface="宋体" panose="02010600030101010101" pitchFamily="2" charset="-122"/>
                <a:sym typeface="+mn-ea"/>
              </a:rPr>
              <a:t>event synchronization</a:t>
            </a:r>
            <a:r>
              <a:rPr lang="zh-CN" altLang="en-US" dirty="0">
                <a:solidFill>
                  <a:srgbClr val="000099"/>
                </a:solidFill>
                <a:ea typeface="宋体" panose="02010600030101010101" pitchFamily="2" charset="-122"/>
                <a:sym typeface="+mn-ea"/>
              </a:rPr>
              <a:t>如何理解？</a:t>
            </a:r>
            <a:r>
              <a:rPr lang="en-US" altLang="zh-CN" dirty="0">
                <a:solidFill>
                  <a:srgbClr val="FF3300"/>
                </a:solidFill>
                <a:ea typeface="宋体" panose="02010600030101010101" pitchFamily="2" charset="-122"/>
                <a:sym typeface="+mn-ea"/>
              </a:rPr>
              <a:t>the server process waits for requests, and the client in turn waits for responses</a:t>
            </a:r>
            <a:endParaRPr lang="zh-CN" altLang="en-US" dirty="0">
              <a:solidFill>
                <a:srgbClr val="000099"/>
              </a:solidFill>
              <a:ea typeface="宋体" panose="02010600030101010101" pitchFamily="2" charset="-122"/>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用户接口程序：为用户提供接口，使得用户可以和</a:t>
            </a:r>
            <a:r>
              <a:rPr lang="zh-CN" altLang="en-US">
                <a:sym typeface="+mn-ea"/>
              </a:rPr>
              <a:t>应用程序交互；</a:t>
            </a:r>
            <a:endParaRPr lang="zh-CN" altLang="en-US"/>
          </a:p>
          <a:p>
            <a:endParaRPr lang="zh-CN" altLang="en-US"/>
          </a:p>
          <a:p>
            <a:r>
              <a:rPr lang="zh-CN" altLang="en-US"/>
              <a:t>应用程序：三部分：</a:t>
            </a:r>
            <a:r>
              <a:rPr lang="zh-CN" altLang="en-US">
                <a:sym typeface="+mn-ea"/>
              </a:rPr>
              <a:t>和用户接口程序交互；应用核心逻辑；和数据库程序交互；</a:t>
            </a:r>
            <a:endParaRPr lang="zh-CN" altLang="en-US"/>
          </a:p>
          <a:p>
            <a:endParaRPr lang="zh-CN" altLang="en-US"/>
          </a:p>
          <a:p>
            <a:endParaRPr lang="zh-CN" altLang="en-US"/>
          </a:p>
          <a:p>
            <a:r>
              <a:rPr lang="zh-CN" altLang="en-US"/>
              <a:t>数据库程序：</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user interface</a:t>
            </a:r>
            <a:r>
              <a:rPr lang="zh-CN" altLang="en-US"/>
              <a:t>：通过键盘敲入关键词，返回包含关键词的网页列表；</a:t>
            </a:r>
          </a:p>
          <a:p>
            <a:endParaRPr lang="zh-CN" altLang="en-US"/>
          </a:p>
          <a:p>
            <a:r>
              <a:rPr lang="en-US" altLang="zh-CN"/>
              <a:t>HTML</a:t>
            </a:r>
            <a:r>
              <a:rPr lang="zh-CN" altLang="en-US"/>
              <a:t>页包含查询结果；</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左：紧耦合，用于专用场景；部分用户程序放到服务器端；</a:t>
            </a:r>
            <a:endParaRPr lang="en-US" altLang="zh-CN"/>
          </a:p>
          <a:p>
            <a:endParaRPr lang="en-US" altLang="zh-CN"/>
          </a:p>
          <a:p>
            <a:endParaRPr lang="zh-CN" altLang="en-US"/>
          </a:p>
          <a:p>
            <a:r>
              <a:rPr lang="zh-CN" altLang="en-US"/>
              <a:t>右：部分应用程序，部分数数据库程序放到</a:t>
            </a:r>
            <a:r>
              <a:rPr lang="en-US" altLang="zh-CN"/>
              <a:t>server</a:t>
            </a:r>
            <a:r>
              <a:rPr lang="zh-CN" altLang="en-US"/>
              <a:t>端，减少服务器开销</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在服务器端或者</a:t>
            </a:r>
            <a:r>
              <a:rPr lang="en-US" altLang="zh-CN"/>
              <a:t>client</a:t>
            </a:r>
            <a:r>
              <a:rPr lang="zh-CN" altLang="en-US"/>
              <a:t>端横向扩展</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kern="0" noProof="0" dirty="0">
                <a:ln>
                  <a:noFill/>
                </a:ln>
                <a:solidFill>
                  <a:srgbClr val="FF3300"/>
                </a:solidFill>
                <a:effectLst/>
                <a:uLnTx/>
                <a:uFillTx/>
                <a:latin typeface="+mn-lt"/>
                <a:ea typeface="宋体" panose="02010600030101010101" pitchFamily="2" charset="-122"/>
                <a:cs typeface="Arial" panose="020B0604020202020204" pitchFamily="34" charset="0"/>
                <a:sym typeface="+mn-ea"/>
              </a:rPr>
              <a:t>resources and services</a:t>
            </a:r>
            <a:r>
              <a:rPr lang="zh-CN" altLang="en-US" kern="0" noProof="0" dirty="0">
                <a:ln>
                  <a:noFill/>
                </a:ln>
                <a:solidFill>
                  <a:srgbClr val="FF3300"/>
                </a:solidFill>
                <a:effectLst/>
                <a:uLnTx/>
                <a:uFillTx/>
                <a:latin typeface="+mn-lt"/>
                <a:ea typeface="宋体" panose="02010600030101010101" pitchFamily="2" charset="-122"/>
                <a:cs typeface="Arial" panose="020B0604020202020204" pitchFamily="34" charset="0"/>
                <a:sym typeface="+mn-ea"/>
              </a:rPr>
              <a:t>？</a:t>
            </a:r>
          </a:p>
          <a:p>
            <a:endParaRPr lang="zh-CN" altLang="en-US" kern="0" noProof="0" dirty="0">
              <a:ln>
                <a:noFill/>
              </a:ln>
              <a:solidFill>
                <a:srgbClr val="FF3300"/>
              </a:solidFill>
              <a:effectLst/>
              <a:uLnTx/>
              <a:uFillTx/>
              <a:latin typeface="+mn-lt"/>
              <a:ea typeface="宋体" panose="02010600030101010101" pitchFamily="2" charset="-122"/>
              <a:cs typeface="Arial" panose="020B0604020202020204" pitchFamily="34" charset="0"/>
              <a:sym typeface="+mn-ea"/>
            </a:endParaRPr>
          </a:p>
          <a:p>
            <a:r>
              <a:rPr lang="en-US" altLang="zh-CN" kern="0" noProof="0" dirty="0">
                <a:ln>
                  <a:noFill/>
                </a:ln>
                <a:solidFill>
                  <a:srgbClr val="000099"/>
                </a:solidFill>
                <a:effectLst/>
                <a:uLnTx/>
                <a:uFillTx/>
                <a:latin typeface="+mn-lt"/>
                <a:ea typeface="宋体" panose="02010600030101010101" pitchFamily="2" charset="-122"/>
                <a:cs typeface="Arial" panose="020B0604020202020204" pitchFamily="34" charset="0"/>
                <a:sym typeface="+mn-ea"/>
              </a:rPr>
              <a:t>processing cycles</a:t>
            </a:r>
            <a:r>
              <a:rPr lang="zh-CN" altLang="en-US" kern="0" noProof="0" dirty="0">
                <a:ln>
                  <a:noFill/>
                </a:ln>
                <a:solidFill>
                  <a:srgbClr val="000099"/>
                </a:solidFill>
                <a:effectLst/>
                <a:uLnTx/>
                <a:uFillTx/>
                <a:latin typeface="+mn-lt"/>
                <a:ea typeface="宋体" panose="02010600030101010101" pitchFamily="2" charset="-122"/>
                <a:cs typeface="Arial" panose="020B0604020202020204" pitchFamily="34" charset="0"/>
                <a:sym typeface="+mn-ea"/>
              </a:rP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纳普斯特</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latin typeface="+mn-lt"/>
                <a:ea typeface="宋体" panose="02010600030101010101" pitchFamily="2" charset="-122"/>
                <a:sym typeface="+mn-ea"/>
              </a:rPr>
              <a:t>Copyright infringement(</a:t>
            </a:r>
            <a:r>
              <a:rPr lang="zh-CN" altLang="en-US" dirty="0">
                <a:latin typeface="+mn-lt"/>
                <a:ea typeface="宋体" panose="02010600030101010101" pitchFamily="2" charset="-122"/>
                <a:sym typeface="+mn-ea"/>
              </a:rPr>
              <a:t>版权问题</a:t>
            </a:r>
            <a:r>
              <a:rPr lang="en-US" altLang="zh-CN" dirty="0">
                <a:latin typeface="+mn-lt"/>
                <a:ea typeface="宋体" panose="02010600030101010101" pitchFamily="2" charset="-122"/>
                <a:sym typeface="+mn-ea"/>
              </a:rPr>
              <a:t>)</a:t>
            </a:r>
          </a:p>
          <a:p>
            <a:endParaRPr lang="en-US" altLang="zh-CN" dirty="0">
              <a:latin typeface="+mn-lt"/>
              <a:ea typeface="宋体" panose="02010600030101010101" pitchFamily="2" charset="-122"/>
              <a:cs typeface="+mn-cs"/>
              <a:sym typeface="+mn-ea"/>
            </a:endParaRPr>
          </a:p>
          <a:p>
            <a:r>
              <a:rPr lang="en-US" altLang="zh-CN" dirty="0">
                <a:latin typeface="+mn-lt"/>
                <a:ea typeface="宋体" panose="02010600030101010101" pitchFamily="2" charset="-122"/>
                <a:cs typeface="+mn-cs"/>
              </a:rPr>
              <a:t>努特拉</a:t>
            </a:r>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endParaRPr lang="zh-CN" altLang="en-US"/>
          </a:p>
          <a:p>
            <a:r>
              <a:rPr lang="en-US" altLang="zh-CN" dirty="0">
                <a:latin typeface="+mn-lt"/>
                <a:ea typeface="宋体" panose="02010600030101010101" pitchFamily="2" charset="-122"/>
                <a:sym typeface="+mn-ea"/>
              </a:rPr>
              <a:t>public domain</a:t>
            </a:r>
            <a:endParaRPr lang="zh-CN" altLang="en-US"/>
          </a:p>
          <a:p>
            <a:r>
              <a:rPr lang="zh-CN" altLang="en-US" b="1" dirty="0">
                <a:solidFill>
                  <a:srgbClr val="336699"/>
                </a:solidFill>
                <a:latin typeface="+mn-lt"/>
                <a:ea typeface="宋体" panose="02010600030101010101" pitchFamily="2" charset="-122"/>
                <a:sym typeface="+mn-ea"/>
              </a:rPr>
              <a:t>覆盖网络？</a:t>
            </a:r>
            <a:endParaRPr lang="en-US" altLang="zh-CN" b="1" dirty="0">
              <a:solidFill>
                <a:srgbClr val="336699"/>
              </a:solidFill>
              <a:latin typeface="+mn-lt"/>
              <a:ea typeface="宋体" panose="02010600030101010101" pitchFamily="2" charset="-122"/>
              <a:sym typeface="+mn-ea"/>
            </a:endParaRPr>
          </a:p>
          <a:p>
            <a:endParaRPr lang="zh-CN" altLang="en-US"/>
          </a:p>
          <a:p>
            <a:r>
              <a:rPr lang="en-US" altLang="zh-CN" dirty="0">
                <a:solidFill>
                  <a:srgbClr val="3602CA"/>
                </a:solidFill>
                <a:latin typeface="+mn-lt"/>
                <a:ea typeface="宋体" panose="02010600030101010101" pitchFamily="2" charset="-122"/>
                <a:sym typeface="+mn-ea"/>
              </a:rPr>
              <a:t>Edge is not a physical link?</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DHT</a:t>
            </a:r>
            <a:r>
              <a:rPr lang="zh-CN" altLang="en-US"/>
              <a:t>结构？</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solidFill>
                  <a:schemeClr val="accent2"/>
                </a:solidFill>
                <a:latin typeface="宋体" panose="02010600030101010101" pitchFamily="2" charset="-122"/>
                <a:ea typeface="宋体" panose="02010600030101010101" pitchFamily="2" charset="-122"/>
                <a:sym typeface="+mn-ea"/>
              </a:rPr>
              <a:t>服务器集中，易出现性能瓶颈与单点失效</a:t>
            </a:r>
          </a:p>
          <a:p>
            <a:endParaRPr lang="zh-CN" altLang="en-US" b="1" dirty="0">
              <a:solidFill>
                <a:schemeClr val="accent2"/>
              </a:solidFill>
              <a:latin typeface="宋体" panose="02010600030101010101" pitchFamily="2" charset="-122"/>
              <a:ea typeface="宋体" panose="02010600030101010101" pitchFamily="2" charset="-122"/>
              <a:sym typeface="+mn-ea"/>
            </a:endParaRPr>
          </a:p>
          <a:p>
            <a:r>
              <a:rPr lang="zh-CN" altLang="en-US" b="1" dirty="0">
                <a:solidFill>
                  <a:schemeClr val="accent2"/>
                </a:solidFill>
                <a:latin typeface="宋体" panose="02010600030101010101" pitchFamily="2" charset="-122"/>
                <a:ea typeface="宋体" panose="02010600030101010101" pitchFamily="2" charset="-122"/>
                <a:sym typeface="+mn-ea"/>
              </a:rPr>
              <a:t>安全性问题和版权问题</a:t>
            </a:r>
            <a:endParaRPr lang="en-US" altLang="zh-CN" b="1" dirty="0">
              <a:solidFill>
                <a:srgbClr val="FF3300"/>
              </a:solidFill>
              <a:ea typeface="宋体" panose="02010600030101010101" pitchFamily="2" charset="-122"/>
              <a:sym typeface="+mn-ea"/>
            </a:endParaRPr>
          </a:p>
          <a:p>
            <a:endParaRPr lang="en-US" altLang="zh-CN" b="1" dirty="0">
              <a:solidFill>
                <a:srgbClr val="FF3300"/>
              </a:solidFill>
              <a:ea typeface="宋体" panose="02010600030101010101" pitchFamily="2" charset="-122"/>
              <a:sym typeface="+mn-ea"/>
            </a:endParaRPr>
          </a:p>
          <a:p>
            <a:endParaRPr lang="en-US" altLang="zh-CN" b="1" dirty="0">
              <a:solidFill>
                <a:srgbClr val="FF3300"/>
              </a:solidFill>
              <a:ea typeface="宋体" panose="02010600030101010101" pitchFamily="2" charset="-122"/>
              <a:sym typeface="+mn-ea"/>
            </a:endParaRPr>
          </a:p>
          <a:p>
            <a:r>
              <a:rPr lang="en-US" altLang="zh-CN" b="1" dirty="0">
                <a:solidFill>
                  <a:srgbClr val="FF3300"/>
                </a:solidFill>
                <a:ea typeface="宋体" panose="02010600030101010101" pitchFamily="2" charset="-122"/>
                <a:sym typeface="+mn-ea"/>
              </a:rPr>
              <a:t>instant messaging</a:t>
            </a:r>
            <a:r>
              <a:rPr lang="zh-CN" altLang="en-US" b="1" dirty="0">
                <a:solidFill>
                  <a:srgbClr val="FF3300"/>
                </a:solidFill>
                <a:ea typeface="宋体" panose="02010600030101010101" pitchFamily="2" charset="-122"/>
                <a:sym typeface="+mn-ea"/>
              </a:rPr>
              <a:t>？</a:t>
            </a:r>
            <a:endParaRPr lang="en-US" altLang="zh-CN" b="1" dirty="0">
              <a:solidFill>
                <a:srgbClr val="FF3300"/>
              </a:solidFill>
              <a:ea typeface="宋体" panose="02010600030101010101" pitchFamily="2" charset="-122"/>
              <a:sym typeface="+mn-ea"/>
            </a:endParaRPr>
          </a:p>
          <a:p>
            <a:endParaRPr lang="zh-CN" altLang="en-US"/>
          </a:p>
          <a:p>
            <a:r>
              <a:rPr lang="en-US" altLang="zh-CN" b="1" dirty="0">
                <a:solidFill>
                  <a:srgbClr val="FF3300"/>
                </a:solidFill>
                <a:ea typeface="宋体" panose="02010600030101010101" pitchFamily="2" charset="-122"/>
                <a:sym typeface="+mn-ea"/>
              </a:rPr>
              <a:t>video conferencing</a:t>
            </a:r>
            <a:r>
              <a:rPr lang="zh-CN" altLang="en-US" b="1" dirty="0">
                <a:solidFill>
                  <a:srgbClr val="FF3300"/>
                </a:solidFill>
                <a:ea typeface="宋体" panose="02010600030101010101" pitchFamily="2" charset="-122"/>
                <a:sym typeface="+mn-ea"/>
              </a:rPr>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noProof="0" dirty="0">
                <a:ln>
                  <a:noFill/>
                </a:ln>
                <a:solidFill>
                  <a:srgbClr val="000099"/>
                </a:solidFill>
                <a:effectLst/>
                <a:uLnTx/>
                <a:uFillTx/>
                <a:ea typeface="宋体" panose="02010600030101010101" pitchFamily="2" charset="-122"/>
                <a:sym typeface="+mn-ea"/>
              </a:rPr>
              <a:t>Message</a:t>
            </a:r>
            <a:r>
              <a:rPr lang="zh-CN" altLang="en-US" noProof="0" dirty="0">
                <a:ln>
                  <a:noFill/>
                </a:ln>
                <a:solidFill>
                  <a:srgbClr val="000099"/>
                </a:solidFill>
                <a:effectLst/>
                <a:uLnTx/>
                <a:uFillTx/>
                <a:ea typeface="宋体" panose="02010600030101010101" pitchFamily="2" charset="-122"/>
                <a:sym typeface="+mn-ea"/>
              </a:rPr>
              <a:t>－</a:t>
            </a:r>
            <a:r>
              <a:rPr lang="en-US" altLang="zh-CN" noProof="0" dirty="0">
                <a:ln>
                  <a:noFill/>
                </a:ln>
                <a:solidFill>
                  <a:srgbClr val="000099"/>
                </a:solidFill>
                <a:effectLst/>
                <a:uLnTx/>
                <a:uFillTx/>
                <a:ea typeface="宋体" panose="02010600030101010101" pitchFamily="2" charset="-122"/>
                <a:sym typeface="+mn-ea"/>
              </a:rPr>
              <a:t>Oriented Middleware</a:t>
            </a:r>
          </a:p>
          <a:p>
            <a:endParaRPr lang="zh-CN" altLang="en-US"/>
          </a:p>
          <a:p>
            <a:r>
              <a:rPr lang="en-US" altLang="zh-CN"/>
              <a:t>abstraction</a:t>
            </a:r>
            <a:r>
              <a:rPr lang="zh-CN" altLang="en-US"/>
              <a:t>如何定义？</a:t>
            </a:r>
          </a:p>
          <a:p>
            <a:endParaRPr lang="zh-CN" altLang="en-US"/>
          </a:p>
          <a:p>
            <a:r>
              <a:rPr lang="zh-CN" altLang="en-US"/>
              <a:t>和</a:t>
            </a:r>
            <a:r>
              <a:rPr lang="en-US" altLang="zh-CN"/>
              <a:t>message passing</a:t>
            </a:r>
            <a:r>
              <a:rPr lang="zh-CN" altLang="en-US"/>
              <a:t>的区别：</a:t>
            </a:r>
            <a:r>
              <a:rPr lang="en-US" altLang="zh-CN" kern="0" noProof="0" dirty="0">
                <a:ln>
                  <a:noFill/>
                </a:ln>
                <a:solidFill>
                  <a:srgbClr val="FF3300"/>
                </a:solidFill>
                <a:effectLst/>
                <a:uLnTx/>
                <a:uFillTx/>
                <a:latin typeface="+mn-lt"/>
                <a:ea typeface="宋体" panose="02010600030101010101" pitchFamily="2" charset="-122"/>
                <a:cs typeface="Times New Roman" panose="02020603050405020304" pitchFamily="18" charset="0"/>
                <a:sym typeface="+mn-ea"/>
              </a:rPr>
              <a:t>asynchronously, in a decoupled manner</a:t>
            </a:r>
            <a:r>
              <a:rPr lang="zh-CN" altLang="en-US" kern="0" noProof="0" dirty="0">
                <a:ln>
                  <a:noFill/>
                </a:ln>
                <a:solidFill>
                  <a:srgbClr val="FF3300"/>
                </a:solidFill>
                <a:effectLst/>
                <a:uLnTx/>
                <a:uFillTx/>
                <a:latin typeface="+mn-lt"/>
                <a:ea typeface="宋体" panose="02010600030101010101" pitchFamily="2" charset="-122"/>
                <a:cs typeface="Times New Roman" panose="02020603050405020304" pitchFamily="18" charset="0"/>
                <a:sym typeface="+mn-ea"/>
              </a:rPr>
              <a:t>；</a:t>
            </a:r>
            <a:endParaRPr lang="en-US" altLang="zh-CN" kern="0" noProof="0" dirty="0">
              <a:ln>
                <a:noFill/>
              </a:ln>
              <a:solidFill>
                <a:srgbClr val="FF3300"/>
              </a:solidFill>
              <a:effectLst/>
              <a:uLnTx/>
              <a:uFillTx/>
              <a:latin typeface="+mn-lt"/>
              <a:ea typeface="宋体" panose="02010600030101010101" pitchFamily="2" charset="-122"/>
              <a:cs typeface="Times New Roman" panose="02020603050405020304" pitchFamily="18" charset="0"/>
              <a:sym typeface="+mn-ea"/>
            </a:endParaRPr>
          </a:p>
          <a:p>
            <a:endParaRPr lang="zh-CN" altLang="en-US"/>
          </a:p>
          <a:p>
            <a:r>
              <a:rPr lang="zh-CN" altLang="en-US"/>
              <a:t>事件同步；</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FF3300"/>
                </a:solidFill>
                <a:ea typeface="宋体" panose="02010600030101010101" pitchFamily="2" charset="-122"/>
                <a:sym typeface="+mn-ea"/>
              </a:rPr>
              <a:t>message queue</a:t>
            </a:r>
          </a:p>
          <a:p>
            <a:r>
              <a:rPr lang="en-US" altLang="zh-CN" dirty="0">
                <a:solidFill>
                  <a:srgbClr val="FF3300"/>
                </a:solidFill>
                <a:ea typeface="宋体" panose="02010600030101010101" pitchFamily="2" charset="-122"/>
                <a:sym typeface="+mn-ea"/>
              </a:rPr>
              <a:t>message depository</a:t>
            </a:r>
            <a:r>
              <a:rPr lang="zh-CN" altLang="en-US" dirty="0">
                <a:solidFill>
                  <a:srgbClr val="FF3300"/>
                </a:solidFill>
                <a:ea typeface="宋体" panose="02010600030101010101" pitchFamily="2" charset="-122"/>
                <a:sym typeface="+mn-ea"/>
              </a:rPr>
              <a:t>？</a:t>
            </a:r>
          </a:p>
          <a:p>
            <a:endParaRPr lang="zh-CN" altLang="en-US" dirty="0">
              <a:solidFill>
                <a:srgbClr val="FF3300"/>
              </a:solidFill>
              <a:ea typeface="宋体" panose="02010600030101010101" pitchFamily="2" charset="-122"/>
              <a:sym typeface="+mn-ea"/>
            </a:endParaRPr>
          </a:p>
          <a:p>
            <a:r>
              <a:rPr lang="zh-CN" altLang="en-US" dirty="0">
                <a:solidFill>
                  <a:srgbClr val="FF3300"/>
                </a:solidFill>
                <a:ea typeface="宋体" panose="02010600030101010101" pitchFamily="2" charset="-122"/>
                <a:sym typeface="+mn-ea"/>
              </a:rPr>
              <a:t>点对点发送：</a:t>
            </a:r>
            <a:r>
              <a:rPr lang="en-US" altLang="zh-CN" dirty="0">
                <a:solidFill>
                  <a:srgbClr val="FF3300"/>
                </a:solidFill>
                <a:ea typeface="宋体" panose="02010600030101010101" pitchFamily="2" charset="-122"/>
                <a:sym typeface="+mn-ea"/>
              </a:rPr>
              <a:t>send</a:t>
            </a:r>
            <a:r>
              <a:rPr lang="zh-CN" altLang="en-US" dirty="0">
                <a:solidFill>
                  <a:srgbClr val="FF3300"/>
                </a:solidFill>
                <a:ea typeface="宋体" panose="02010600030101010101" pitchFamily="2" charset="-122"/>
                <a:sym typeface="+mn-ea"/>
              </a:rPr>
              <a:t>和</a:t>
            </a:r>
            <a:r>
              <a:rPr lang="en-US" altLang="zh-CN" dirty="0">
                <a:solidFill>
                  <a:srgbClr val="FF3300"/>
                </a:solidFill>
                <a:ea typeface="宋体" panose="02010600030101010101" pitchFamily="2" charset="-122"/>
                <a:sym typeface="+mn-ea"/>
              </a:rPr>
              <a:t>receive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一对多发送：</a:t>
            </a:r>
            <a:r>
              <a:rPr lang="en-US" altLang="zh-CN" dirty="0">
                <a:solidFill>
                  <a:srgbClr val="FF3300"/>
                </a:solidFill>
                <a:ea typeface="宋体" panose="02010600030101010101" pitchFamily="2" charset="-122"/>
                <a:sym typeface="+mn-ea"/>
              </a:rPr>
              <a:t>publish</a:t>
            </a:r>
            <a:r>
              <a:rPr lang="zh-CN" altLang="en-US" dirty="0">
                <a:solidFill>
                  <a:srgbClr val="FF3300"/>
                </a:solidFill>
                <a:ea typeface="宋体" panose="02010600030101010101" pitchFamily="2" charset="-122"/>
                <a:sym typeface="+mn-ea"/>
              </a:rPr>
              <a:t>和</a:t>
            </a:r>
            <a:r>
              <a:rPr lang="en-US" altLang="zh-CN" dirty="0">
                <a:solidFill>
                  <a:srgbClr val="FF3300"/>
                </a:solidFill>
                <a:ea typeface="宋体" panose="02010600030101010101" pitchFamily="2" charset="-122"/>
                <a:sym typeface="+mn-ea"/>
              </a:rPr>
              <a:t>subscribe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双方都收到</a:t>
            </a:r>
            <a:r>
              <a:rPr lang="en-US" altLang="zh-CN"/>
              <a:t>new-bid</a:t>
            </a:r>
            <a:r>
              <a:rPr lang="zh-CN" altLang="en-US"/>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000099"/>
                </a:solidFill>
                <a:ea typeface="宋体" panose="02010600030101010101" pitchFamily="2" charset="-122"/>
                <a:sym typeface="+mn-ea"/>
              </a:rPr>
              <a:t>Java’s  Message Service(JMS)</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如何抽象？</a:t>
            </a:r>
          </a:p>
          <a:p>
            <a:r>
              <a:rPr lang="zh-CN" altLang="en-US"/>
              <a:t>把服务抽象为对象？</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和</a:t>
            </a:r>
            <a:r>
              <a:rPr lang="en-US" altLang="zh-CN"/>
              <a:t>RPC</a:t>
            </a:r>
            <a:r>
              <a:rPr lang="zh-CN" altLang="en-US"/>
              <a:t>的区别</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stub</a:t>
            </a:r>
            <a:r>
              <a:rPr lang="zh-CN" altLang="en-US"/>
              <a:t>？</a:t>
            </a:r>
            <a:r>
              <a:rPr lang="en-US" altLang="zh-CN"/>
              <a:t>skeletion</a:t>
            </a:r>
            <a:r>
              <a:rPr lang="zh-CN" altLang="en-US"/>
              <a:t>？</a:t>
            </a:r>
          </a:p>
          <a:p>
            <a:endParaRPr lang="zh-CN" altLang="en-US"/>
          </a:p>
          <a:p>
            <a:r>
              <a:rPr lang="en-US" altLang="zh-CN"/>
              <a:t>RMI</a:t>
            </a:r>
            <a:r>
              <a:rPr lang="zh-CN" altLang="en-US"/>
              <a:t>注册表？</a:t>
            </a:r>
          </a:p>
          <a:p>
            <a:endParaRPr lang="zh-CN" altLang="en-US"/>
          </a:p>
          <a:p>
            <a:r>
              <a:rPr lang="zh-CN" altLang="en-US"/>
              <a:t>两个角色</a:t>
            </a:r>
          </a:p>
          <a:p>
            <a:endParaRPr lang="zh-CN" altLang="en-US"/>
          </a:p>
          <a:p>
            <a:r>
              <a:rPr lang="zh-CN" altLang="en-US"/>
              <a:t>操作：调用方法，得到返回结果</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FF3300"/>
                </a:solidFill>
                <a:ea typeface="Arial Unicode MS" pitchFamily="34" charset="-122"/>
                <a:sym typeface="+mn-ea"/>
              </a:rPr>
              <a:t>at run time</a:t>
            </a:r>
            <a:r>
              <a:rPr lang="zh-CN" altLang="en-US" dirty="0">
                <a:solidFill>
                  <a:srgbClr val="FF3300"/>
                </a:solidFill>
                <a:ea typeface="Arial Unicode MS" pitchFamily="34" charset="-122"/>
                <a:sym typeface="+mn-ea"/>
              </a:rPr>
              <a:t>？</a:t>
            </a:r>
          </a:p>
          <a:p>
            <a:endParaRPr lang="zh-CN" altLang="en-US" dirty="0">
              <a:solidFill>
                <a:srgbClr val="FF3300"/>
              </a:solidFill>
              <a:ea typeface="Arial Unicode MS" pitchFamily="34" charset="-122"/>
              <a:sym typeface="+mn-ea"/>
            </a:endParaRPr>
          </a:p>
          <a:p>
            <a:r>
              <a:rPr lang="en-US" altLang="zh-CN" dirty="0">
                <a:solidFill>
                  <a:srgbClr val="000099"/>
                </a:solidFill>
                <a:latin typeface="宋体" panose="02010600030101010101" pitchFamily="2" charset="-122"/>
                <a:ea typeface="宋体" panose="02010600030101010101" pitchFamily="2" charset="-122"/>
                <a:sym typeface="+mn-ea"/>
              </a:rPr>
              <a:t>3</a:t>
            </a:r>
            <a:r>
              <a:rPr lang="zh-CN" altLang="en-US" dirty="0">
                <a:solidFill>
                  <a:srgbClr val="000099"/>
                </a:solidFill>
                <a:latin typeface="宋体" panose="02010600030101010101" pitchFamily="2" charset="-122"/>
                <a:ea typeface="宋体" panose="02010600030101010101" pitchFamily="2" charset="-122"/>
                <a:sym typeface="+mn-ea"/>
              </a:rPr>
              <a:t>个角色</a:t>
            </a:r>
            <a:r>
              <a:rPr lang="en-US" altLang="zh-CN" dirty="0">
                <a:solidFill>
                  <a:srgbClr val="000099"/>
                </a:solidFill>
                <a:latin typeface="宋体" panose="02010600030101010101" pitchFamily="2" charset="-122"/>
                <a:ea typeface="宋体" panose="02010600030101010101" pitchFamily="2" charset="-122"/>
                <a:sym typeface="+mn-ea"/>
              </a:rPr>
              <a:t>,</a:t>
            </a:r>
            <a:r>
              <a:rPr lang="zh-CN" altLang="en-US" dirty="0">
                <a:solidFill>
                  <a:srgbClr val="000099"/>
                </a:solidFill>
                <a:latin typeface="宋体" panose="02010600030101010101" pitchFamily="2" charset="-122"/>
                <a:ea typeface="宋体" panose="02010600030101010101" pitchFamily="2" charset="-122"/>
                <a:sym typeface="+mn-ea"/>
              </a:rPr>
              <a:t>实现了服务动态性</a:t>
            </a:r>
            <a:r>
              <a:rPr lang="en-US" altLang="zh-CN" dirty="0">
                <a:solidFill>
                  <a:srgbClr val="000099"/>
                </a:solidFill>
                <a:latin typeface="宋体" panose="02010600030101010101" pitchFamily="2" charset="-122"/>
                <a:ea typeface="宋体" panose="02010600030101010101" pitchFamily="2" charset="-122"/>
                <a:sym typeface="+mn-ea"/>
              </a:rPr>
              <a:t>,</a:t>
            </a:r>
            <a:r>
              <a:rPr lang="zh-CN" altLang="en-US" dirty="0">
                <a:solidFill>
                  <a:srgbClr val="000099"/>
                </a:solidFill>
                <a:latin typeface="宋体" panose="02010600030101010101" pitchFamily="2" charset="-122"/>
                <a:ea typeface="宋体" panose="02010600030101010101" pitchFamily="2" charset="-122"/>
                <a:sym typeface="+mn-ea"/>
              </a:rPr>
              <a:t>独立于语言？</a:t>
            </a:r>
          </a:p>
          <a:p>
            <a:endParaRPr lang="zh-CN" altLang="en-US" dirty="0">
              <a:solidFill>
                <a:srgbClr val="FF3300"/>
              </a:solidFill>
              <a:ea typeface="Arial Unicode MS" pitchFamily="34" charset="-122"/>
              <a:sym typeface="+mn-ea"/>
            </a:endParaRPr>
          </a:p>
          <a:p>
            <a:r>
              <a:rPr lang="zh-CN" altLang="en-US" dirty="0">
                <a:solidFill>
                  <a:srgbClr val="FF3300"/>
                </a:solidFill>
                <a:ea typeface="Arial Unicode MS" pitchFamily="34" charset="-122"/>
                <a:sym typeface="+mn-ea"/>
              </a:rPr>
              <a:t>操作：</a:t>
            </a:r>
            <a:r>
              <a:rPr lang="zh-CN" altLang="en-US" b="1" dirty="0">
                <a:solidFill>
                  <a:schemeClr val="accent2"/>
                </a:solidFill>
                <a:ea typeface="宋体" panose="02010600030101010101" pitchFamily="2" charset="-122"/>
                <a:sym typeface="+mn-ea"/>
              </a:rPr>
              <a:t>公布、查找、绑定</a:t>
            </a:r>
            <a:endParaRPr lang="zh-CN" altLang="en-US" dirty="0">
              <a:solidFill>
                <a:srgbClr val="FF3300"/>
              </a:solidFill>
              <a:ea typeface="Arial Unicode MS" pitchFamily="34" charset="-122"/>
              <a:sym typeface="+mn-ea"/>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和</a:t>
            </a:r>
            <a:r>
              <a:rPr lang="en-US" altLang="zh-CN"/>
              <a:t>client-server</a:t>
            </a:r>
            <a:r>
              <a:rPr lang="zh-CN" altLang="en-US"/>
              <a:t>泛型的区别？</a:t>
            </a:r>
          </a:p>
          <a:p>
            <a:r>
              <a:rPr lang="en-US" altLang="zh-CN" dirty="0">
                <a:solidFill>
                  <a:srgbClr val="000099"/>
                </a:solidFill>
                <a:ea typeface="Arial Unicode MS" pitchFamily="34" charset="-122"/>
                <a:sym typeface="+mn-ea"/>
              </a:rPr>
              <a:t>Simple Object Access Protocol</a:t>
            </a:r>
            <a:r>
              <a:rPr lang="zh-CN" altLang="en-US" dirty="0">
                <a:solidFill>
                  <a:srgbClr val="000099"/>
                </a:solidFill>
                <a:ea typeface="Arial Unicode MS" pitchFamily="34" charset="-122"/>
                <a:sym typeface="+mn-ea"/>
              </a:rPr>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service requestor: client?</a:t>
            </a:r>
          </a:p>
          <a:p>
            <a:r>
              <a:rPr lang="en-US" altLang="zh-CN"/>
              <a:t>service provider: server?</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？内联网</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object</a:t>
            </a:r>
            <a:r>
              <a:rPr lang="zh-CN" altLang="en-US"/>
              <a:t>？</a:t>
            </a:r>
          </a:p>
          <a:p>
            <a:endParaRPr lang="zh-CN" altLang="en-US"/>
          </a:p>
          <a:p>
            <a:r>
              <a:rPr lang="zh-CN" altLang="en-US" dirty="0">
                <a:solidFill>
                  <a:srgbClr val="000099"/>
                </a:solidFill>
                <a:ea typeface="Arial Unicode MS" pitchFamily="34" charset="-122"/>
                <a:sym typeface="+mn-ea"/>
              </a:rPr>
              <a:t>与</a:t>
            </a:r>
            <a:r>
              <a:rPr lang="en-US" altLang="zh-CN" dirty="0">
                <a:solidFill>
                  <a:srgbClr val="000099"/>
                </a:solidFill>
                <a:ea typeface="Arial Unicode MS" pitchFamily="34" charset="-122"/>
                <a:sym typeface="+mn-ea"/>
              </a:rPr>
              <a:t>RMI</a:t>
            </a:r>
            <a:r>
              <a:rPr lang="zh-CN" altLang="en-US" dirty="0">
                <a:solidFill>
                  <a:srgbClr val="000099"/>
                </a:solidFill>
                <a:ea typeface="Arial Unicode MS" pitchFamily="34" charset="-122"/>
                <a:sym typeface="+mn-ea"/>
              </a:rPr>
              <a:t>的区别？</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应用对象？领域设施？公用设施？</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IDL</a:t>
            </a:r>
            <a:r>
              <a:rPr lang="zh-CN" altLang="en-US"/>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kern="0" noProof="0" dirty="0">
                <a:ln>
                  <a:noFill/>
                </a:ln>
                <a:solidFill>
                  <a:srgbClr val="FF0000"/>
                </a:solidFill>
                <a:effectLst/>
                <a:uLnTx/>
                <a:uFillTx/>
                <a:latin typeface="+mn-lt"/>
                <a:ea typeface="宋体" panose="02010600030101010101" pitchFamily="2" charset="-122"/>
                <a:cs typeface="Times New Roman" panose="02020603050405020304" pitchFamily="18" charset="0"/>
                <a:sym typeface="+mn-ea"/>
              </a:rPr>
              <a:t>logical entities</a:t>
            </a:r>
            <a:r>
              <a:rPr lang="zh-CN" altLang="en-US" kern="0" noProof="0" dirty="0">
                <a:ln>
                  <a:noFill/>
                </a:ln>
                <a:solidFill>
                  <a:srgbClr val="FF0000"/>
                </a:solidFill>
                <a:effectLst/>
                <a:uLnTx/>
                <a:uFillTx/>
                <a:latin typeface="+mn-lt"/>
                <a:ea typeface="宋体" panose="02010600030101010101" pitchFamily="2" charset="-122"/>
                <a:cs typeface="Times New Roman" panose="02020603050405020304" pitchFamily="18" charset="0"/>
                <a:sym typeface="+mn-ea"/>
              </a:rPr>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1" dirty="0">
                <a:solidFill>
                  <a:srgbClr val="FF3300"/>
                </a:solidFill>
                <a:ea typeface="Arial Unicode MS" pitchFamily="34" charset="-122"/>
                <a:sym typeface="+mn-ea"/>
              </a:rPr>
              <a:t>hide </a:t>
            </a:r>
            <a:r>
              <a:rPr lang="en-US" altLang="zh-CN" b="1" dirty="0">
                <a:solidFill>
                  <a:srgbClr val="000099"/>
                </a:solidFill>
                <a:ea typeface="Arial Unicode MS" pitchFamily="34" charset="-122"/>
                <a:sym typeface="+mn-ea"/>
              </a:rPr>
              <a:t>resource</a:t>
            </a:r>
            <a:r>
              <a:rPr lang="zh-CN" altLang="en-US" b="1" dirty="0">
                <a:solidFill>
                  <a:srgbClr val="000099"/>
                </a:solidFill>
                <a:ea typeface="Arial Unicode MS" pitchFamily="34" charset="-122"/>
                <a:sym typeface="+mn-ea"/>
              </a:rPr>
              <a:t>？</a:t>
            </a:r>
            <a:r>
              <a:rPr lang="en-US" altLang="zh-CN" b="1" dirty="0">
                <a:solidFill>
                  <a:srgbClr val="000099"/>
                </a:solidFill>
                <a:ea typeface="Arial Unicode MS" pitchFamily="34" charset="-122"/>
                <a:sym typeface="+mn-ea"/>
              </a:rPr>
              <a:t>object </a:t>
            </a:r>
            <a:r>
              <a:rPr lang="en-US" altLang="zh-CN" b="1" dirty="0">
                <a:solidFill>
                  <a:srgbClr val="FF3300"/>
                </a:solidFill>
                <a:ea typeface="Arial Unicode MS" pitchFamily="34" charset="-122"/>
                <a:sym typeface="+mn-ea"/>
              </a:rPr>
              <a:t>lookup</a:t>
            </a:r>
            <a:r>
              <a:rPr lang="zh-CN" altLang="en-US" b="1" dirty="0">
                <a:solidFill>
                  <a:srgbClr val="FF3300"/>
                </a:solidFill>
                <a:ea typeface="Arial Unicode MS" pitchFamily="34" charset="-122"/>
                <a:sym typeface="+mn-ea"/>
              </a:rPr>
              <a:t>？（</a:t>
            </a:r>
            <a:r>
              <a:rPr lang="en-US" altLang="zh-CN" b="1" dirty="0">
                <a:solidFill>
                  <a:srgbClr val="000099"/>
                </a:solidFill>
                <a:ea typeface="Arial Unicode MS" pitchFamily="34" charset="-122"/>
                <a:sym typeface="+mn-ea"/>
              </a:rPr>
              <a:t>remote method invocation, object request broker, or network services</a:t>
            </a:r>
            <a:r>
              <a:rPr lang="zh-CN" altLang="en-US" b="1" dirty="0">
                <a:solidFill>
                  <a:srgbClr val="FF3300"/>
                </a:solidFill>
                <a:ea typeface="Arial Unicode MS" pitchFamily="34" charset="-122"/>
                <a:sym typeface="+mn-ea"/>
              </a:rPr>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olidFill>
                  <a:srgbClr val="000099"/>
                </a:solidFill>
                <a:ea typeface="Arial Unicode MS" pitchFamily="34" charset="-122"/>
                <a:sym typeface="+mn-ea"/>
              </a:rPr>
              <a:t>as </a:t>
            </a:r>
            <a:r>
              <a:rPr lang="en-US" altLang="zh-CN" dirty="0">
                <a:solidFill>
                  <a:srgbClr val="FF0000"/>
                </a:solidFill>
                <a:ea typeface="Arial Unicode MS" pitchFamily="34" charset="-122"/>
                <a:sym typeface="+mn-ea"/>
              </a:rPr>
              <a:t>components</a:t>
            </a:r>
            <a:r>
              <a:rPr lang="en-US" altLang="zh-CN" dirty="0">
                <a:solidFill>
                  <a:srgbClr val="000099"/>
                </a:solidFill>
                <a:ea typeface="Arial Unicode MS" pitchFamily="34" charset="-122"/>
                <a:sym typeface="+mn-ea"/>
              </a:rPr>
              <a:t> are essentially specialized, packaged objects designed to interact with each other through standardized interfaces</a:t>
            </a:r>
            <a:r>
              <a:rPr lang="zh-CN" altLang="en-US" dirty="0">
                <a:solidFill>
                  <a:srgbClr val="000099"/>
                </a:solidFill>
                <a:ea typeface="Arial Unicode MS" pitchFamily="34" charset="-122"/>
                <a:sym typeface="+mn-ea"/>
              </a:rPr>
              <a:t>？</a:t>
            </a:r>
          </a:p>
          <a:p>
            <a:endParaRPr lang="zh-CN" altLang="en-US" dirty="0">
              <a:solidFill>
                <a:srgbClr val="000099"/>
              </a:solidFill>
              <a:ea typeface="Arial Unicode MS" pitchFamily="34" charset="-122"/>
              <a:sym typeface="+mn-ea"/>
            </a:endParaRPr>
          </a:p>
          <a:p>
            <a:endParaRPr lang="zh-CN" altLang="en-US" dirty="0">
              <a:solidFill>
                <a:srgbClr val="000099"/>
              </a:solidFill>
              <a:ea typeface="Arial Unicode MS" pitchFamily="34" charset="-122"/>
              <a:sym typeface="+mn-ea"/>
            </a:endParaRPr>
          </a:p>
          <a:p>
            <a:r>
              <a:rPr lang="en-US" altLang="zh-CN" dirty="0">
                <a:solidFill>
                  <a:srgbClr val="000099"/>
                </a:solidFill>
                <a:ea typeface="Arial Unicode MS" pitchFamily="34" charset="-122"/>
                <a:sym typeface="+mn-ea"/>
              </a:rPr>
              <a:t>middleware facilities</a:t>
            </a:r>
            <a:r>
              <a:rPr lang="zh-CN" altLang="en-US" dirty="0">
                <a:solidFill>
                  <a:srgbClr val="000099"/>
                </a:solidFill>
                <a:ea typeface="Arial Unicode MS" pitchFamily="34" charset="-122"/>
                <a:sym typeface="+mn-ea"/>
              </a:rPr>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t>62</a:t>
            </a:fld>
            <a:endParaRPr lang="zh-CN" altLang="en-US" sz="1200" dirty="0">
              <a:solidFill>
                <a:schemeClr val="tx1"/>
              </a:solidFill>
              <a:latin typeface="Times New Roman" panose="02020603050405020304" pitchFamily="18" charset="0"/>
              <a:ea typeface="宋体" panose="02010600030101010101" pitchFamily="2" charset="-122"/>
            </a:endParaRPr>
          </a:p>
        </p:txBody>
      </p:sp>
      <p:sp>
        <p:nvSpPr>
          <p:cNvPr id="67587" name="Rectangle 2"/>
          <p:cNvSpPr>
            <a:spLocks noGrp="1" noRot="1" noChangeAspect="1" noTextEdit="1"/>
          </p:cNvSpPr>
          <p:nvPr>
            <p:ph type="sldImg"/>
          </p:nvPr>
        </p:nvSpPr>
        <p:spPr/>
      </p:sp>
      <p:sp>
        <p:nvSpPr>
          <p:cNvPr id="67588"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t>63</a:t>
            </a:fld>
            <a:endParaRPr lang="zh-CN" altLang="en-US" sz="1200" dirty="0">
              <a:solidFill>
                <a:schemeClr val="tx1"/>
              </a:solidFill>
              <a:latin typeface="Times New Roman" panose="02020603050405020304" pitchFamily="18" charset="0"/>
              <a:ea typeface="宋体" panose="02010600030101010101" pitchFamily="2" charset="-122"/>
            </a:endParaRPr>
          </a:p>
        </p:txBody>
      </p:sp>
      <p:sp>
        <p:nvSpPr>
          <p:cNvPr id="69635" name="Rectangle 2"/>
          <p:cNvSpPr>
            <a:spLocks noGrp="1" noRot="1" noChangeAspect="1" noTextEdit="1"/>
          </p:cNvSpPr>
          <p:nvPr>
            <p:ph type="sldImg"/>
          </p:nvPr>
        </p:nvSpPr>
        <p:spPr/>
      </p:sp>
      <p:sp>
        <p:nvSpPr>
          <p:cNvPr id="69636"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0" y="5715000"/>
            <a:ext cx="4495800" cy="838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5715000"/>
            <a:ext cx="4495800" cy="838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hlink"/>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lstStyle/>
          <a:p>
            <a:pPr lvl="0"/>
            <a:r>
              <a:rPr lang="en-US" altLang="zh-CN" dirty="0"/>
              <a:t>Click to edit Master title style</a:t>
            </a:r>
          </a:p>
        </p:txBody>
      </p:sp>
      <p:sp>
        <p:nvSpPr>
          <p:cNvPr id="1027" name="Rectangle 3"/>
          <p:cNvSpPr>
            <a:spLocks noGrp="1"/>
          </p:cNvSpPr>
          <p:nvPr>
            <p:ph type="body" idx="1"/>
          </p:nvPr>
        </p:nvSpPr>
        <p:spPr>
          <a:xfrm>
            <a:off x="0" y="5715000"/>
            <a:ext cx="9144000" cy="8382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defRPr sz="1400">
                <a:solidFill>
                  <a:schemeClr val="tx1"/>
                </a:solidFill>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lnSpc>
                <a:spcPct val="100000"/>
              </a:lnSpc>
              <a:defRPr sz="1400">
                <a:solidFill>
                  <a:schemeClr val="tx1"/>
                </a:solidFill>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defRPr sz="14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B6497FA-7FA3-4242-9055-AB5CDA3B2C0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6.w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18.xml"/><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17.wmf"/><Relationship Id="rId10" Type="http://schemas.openxmlformats.org/officeDocument/2006/relationships/image" Target="../media/image19.png"/><Relationship Id="rId4" Type="http://schemas.openxmlformats.org/officeDocument/2006/relationships/oleObject" Target="../embeddings/oleObject4.bin"/><Relationship Id="rId9"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oleObject" Target="../embeddings/oleObject8.bin"/><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image" Target="../media/image17.wmf"/><Relationship Id="rId9" Type="http://schemas.openxmlformats.org/officeDocument/2006/relationships/oleObject" Target="../embeddings/oleObject13.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1.wmf"/><Relationship Id="rId4" Type="http://schemas.openxmlformats.org/officeDocument/2006/relationships/oleObject" Target="../embeddings/oleObject14.bin"/></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3.wmf"/><Relationship Id="rId4" Type="http://schemas.openxmlformats.org/officeDocument/2006/relationships/oleObject" Target="../embeddings/oleObject15.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4.wmf"/><Relationship Id="rId4" Type="http://schemas.openxmlformats.org/officeDocument/2006/relationships/oleObject" Target="../embeddings/oleObject16.bin"/></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7.wmf"/><Relationship Id="rId4" Type="http://schemas.openxmlformats.org/officeDocument/2006/relationships/oleObject" Target="../embeddings/oleObject17.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8.wmf"/><Relationship Id="rId4" Type="http://schemas.openxmlformats.org/officeDocument/2006/relationships/oleObject" Target="../embeddings/oleObject18.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29.wmf"/><Relationship Id="rId4" Type="http://schemas.openxmlformats.org/officeDocument/2006/relationships/oleObject" Target="../embeddings/oleObject19.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30.wmf"/></Relationships>
</file>

<file path=ppt/slides/_rels/slide57.xml.rels><?xml version="1.0" encoding="UTF-8" standalone="yes"?>
<Relationships xmlns="http://schemas.openxmlformats.org/package/2006/relationships"><Relationship Id="rId2" Type="http://schemas.openxmlformats.org/officeDocument/2006/relationships/hyperlink" Target="http://www.meitca.com/HSL/Projects/Concordia/Welcome.html"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31.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ctrTitle"/>
          </p:nvPr>
        </p:nvSpPr>
        <p:spPr>
          <a:xfrm>
            <a:off x="685800" y="2286000"/>
            <a:ext cx="7772400" cy="1143000"/>
          </a:xfrm>
        </p:spPr>
        <p:txBody>
          <a:bodyPr vert="horz" wrap="square" lIns="91440" tIns="45720" rIns="91440" bIns="45720" anchor="ctr" anchorCtr="0"/>
          <a:lstStyle/>
          <a:p>
            <a:pPr eaLnBrk="1" hangingPunct="1">
              <a:buClrTx/>
              <a:buSzTx/>
              <a:buFontTx/>
            </a:pPr>
            <a:r>
              <a:rPr lang="en-US" altLang="zh-CN" dirty="0">
                <a:ea typeface="宋体" panose="02010600030101010101" pitchFamily="2" charset="-122"/>
              </a:rPr>
              <a:t>Distributed Computing Paradigm</a:t>
            </a:r>
          </a:p>
        </p:txBody>
      </p:sp>
      <p:sp>
        <p:nvSpPr>
          <p:cNvPr id="4099" name="Rectangle 3"/>
          <p:cNvSpPr>
            <a:spLocks noGrp="1"/>
          </p:cNvSpPr>
          <p:nvPr>
            <p:ph type="subTitle" idx="1"/>
          </p:nvPr>
        </p:nvSpPr>
        <p:spPr>
          <a:xfrm>
            <a:off x="2870200" y="3886200"/>
            <a:ext cx="3733800" cy="558800"/>
          </a:xfrm>
        </p:spPr>
        <p:txBody>
          <a:bodyPr vert="horz" wrap="square" lIns="91440" tIns="45720" rIns="91440" bIns="45720" anchor="t" anchorCtr="0"/>
          <a:lstStyle/>
          <a:p>
            <a:pPr eaLnBrk="1" hangingPunct="1">
              <a:lnSpc>
                <a:spcPct val="90000"/>
              </a:lnSpc>
              <a:buSzTx/>
              <a:buFontTx/>
            </a:pPr>
            <a:r>
              <a:rPr lang="en-US" altLang="zh-CN" dirty="0">
                <a:latin typeface="+mn-lt"/>
                <a:ea typeface="宋体" panose="02010600030101010101" pitchFamily="2" charset="-122"/>
                <a:cs typeface="+mn-cs"/>
              </a:rPr>
              <a:t>Chapter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279400" y="157163"/>
            <a:ext cx="8609013" cy="652462"/>
          </a:xfrm>
        </p:spPr>
        <p:txBody>
          <a:bodyPr vert="horz" wrap="square" lIns="91440" tIns="45720" rIns="91440" bIns="45720" anchor="ctr" anchorCtr="0"/>
          <a:lstStyle/>
          <a:p>
            <a:pPr eaLnBrk="1" hangingPunct="1"/>
            <a:r>
              <a:rPr lang="en-US" altLang="zh-CN" dirty="0">
                <a:ea typeface="宋体" panose="02010600030101010101" pitchFamily="2" charset="-122"/>
              </a:rPr>
              <a:t>2.1 Paradigm and Abstraction</a:t>
            </a:r>
          </a:p>
        </p:txBody>
      </p:sp>
      <p:sp>
        <p:nvSpPr>
          <p:cNvPr id="5123" name="Rectangle 4"/>
          <p:cNvSpPr/>
          <p:nvPr/>
        </p:nvSpPr>
        <p:spPr>
          <a:xfrm>
            <a:off x="3600450" y="1919288"/>
            <a:ext cx="3429000" cy="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5124" name="Rectangle 5" descr="Rectangle: Click to edit Master text styles&#10;Second level&#10;Third level&#10;Fourth level&#10;Fifth level"/>
          <p:cNvSpPr>
            <a:spLocks noGrp="1"/>
          </p:cNvSpPr>
          <p:nvPr>
            <p:ph idx="1"/>
          </p:nvPr>
        </p:nvSpPr>
        <p:spPr>
          <a:xfrm>
            <a:off x="185738" y="1014413"/>
            <a:ext cx="8791575" cy="4754562"/>
          </a:xfrm>
        </p:spPr>
        <p:txBody>
          <a:bodyPr vert="horz" wrap="square" lIns="91440" tIns="45720" rIns="91440" bIns="45720" anchor="t" anchorCtr="0"/>
          <a:lstStyle/>
          <a:p>
            <a:pPr algn="l" eaLnBrk="1" hangingPunct="1">
              <a:lnSpc>
                <a:spcPct val="150000"/>
              </a:lnSpc>
              <a:buNone/>
            </a:pPr>
            <a:r>
              <a:rPr lang="en-US" altLang="zh-CN" sz="2000" dirty="0">
                <a:solidFill>
                  <a:srgbClr val="FF0000"/>
                </a:solidFill>
                <a:ea typeface="宋体" panose="02010600030101010101" pitchFamily="2" charset="-122"/>
              </a:rPr>
              <a:t>Paradigm: </a:t>
            </a:r>
          </a:p>
          <a:p>
            <a:pPr lvl="1" eaLnBrk="1" hangingPunct="1">
              <a:lnSpc>
                <a:spcPct val="150000"/>
              </a:lnSpc>
              <a:buFont typeface="Wingdings" panose="05000000000000000000" pitchFamily="2" charset="2"/>
              <a:buChar char="p"/>
            </a:pPr>
            <a:r>
              <a:rPr lang="en-US" altLang="zh-CN" sz="2000" dirty="0">
                <a:solidFill>
                  <a:srgbClr val="000099"/>
                </a:solidFill>
                <a:ea typeface="宋体" panose="02010600030101010101" pitchFamily="2" charset="-122"/>
              </a:rPr>
              <a:t>Paradigm means  “a pattern, example, or model.”</a:t>
            </a:r>
          </a:p>
          <a:p>
            <a:pPr lvl="1" eaLnBrk="1" hangingPunct="1">
              <a:lnSpc>
                <a:spcPct val="150000"/>
              </a:lnSpc>
              <a:buFont typeface="Wingdings" panose="05000000000000000000" pitchFamily="2" charset="2"/>
              <a:buChar char="p"/>
            </a:pPr>
            <a:r>
              <a:rPr lang="zh-CN" altLang="en-US" sz="2000" dirty="0">
                <a:solidFill>
                  <a:srgbClr val="000099"/>
                </a:solidFill>
                <a:ea typeface="宋体" panose="02010600030101010101" pitchFamily="2" charset="-122"/>
              </a:rPr>
              <a:t>一种广义的模型、框架、思维方式</a:t>
            </a:r>
            <a:r>
              <a:rPr lang="en-US" altLang="zh-CN" sz="2000" dirty="0">
                <a:solidFill>
                  <a:srgbClr val="000099"/>
                </a:solidFill>
                <a:ea typeface="宋体" panose="02010600030101010101" pitchFamily="2" charset="-122"/>
              </a:rPr>
              <a:t>;</a:t>
            </a:r>
            <a:endParaRPr lang="zh-CN" altLang="en-US" sz="2000" dirty="0">
              <a:solidFill>
                <a:srgbClr val="000099"/>
              </a:solidFill>
              <a:ea typeface="宋体" panose="02010600030101010101" pitchFamily="2" charset="-122"/>
            </a:endParaRPr>
          </a:p>
          <a:p>
            <a:pPr algn="l" eaLnBrk="1" hangingPunct="1">
              <a:lnSpc>
                <a:spcPct val="150000"/>
              </a:lnSpc>
              <a:buNone/>
            </a:pPr>
            <a:r>
              <a:rPr lang="en-US" altLang="zh-CN" sz="2000" dirty="0">
                <a:solidFill>
                  <a:srgbClr val="FF0000"/>
                </a:solidFill>
                <a:ea typeface="宋体" panose="02010600030101010101" pitchFamily="2" charset="-122"/>
              </a:rPr>
              <a:t>Abstractions:</a:t>
            </a:r>
          </a:p>
          <a:p>
            <a:pPr lvl="1" eaLnBrk="1" hangingPunct="1">
              <a:lnSpc>
                <a:spcPct val="150000"/>
              </a:lnSpc>
              <a:buFont typeface="Wingdings" panose="05000000000000000000" pitchFamily="2" charset="2"/>
              <a:buChar char="p"/>
            </a:pPr>
            <a:r>
              <a:rPr lang="en-US" altLang="zh-CN" sz="2000" dirty="0">
                <a:solidFill>
                  <a:srgbClr val="000099"/>
                </a:solidFill>
                <a:ea typeface="宋体" panose="02010600030101010101" pitchFamily="2" charset="-122"/>
              </a:rPr>
              <a:t>Abstraction is the idea of </a:t>
            </a:r>
            <a:r>
              <a:rPr lang="en-US" altLang="zh-CN" sz="2000" b="1" i="1" dirty="0">
                <a:solidFill>
                  <a:srgbClr val="FF3300"/>
                </a:solidFill>
                <a:ea typeface="宋体" panose="02010600030101010101" pitchFamily="2" charset="-122"/>
              </a:rPr>
              <a:t>detail hiding</a:t>
            </a:r>
            <a:r>
              <a:rPr lang="en-US" altLang="zh-CN" sz="2000" dirty="0">
                <a:solidFill>
                  <a:srgbClr val="000099"/>
                </a:solidFill>
                <a:ea typeface="宋体" panose="02010600030101010101" pitchFamily="2" charset="-122"/>
              </a:rPr>
              <a:t>. </a:t>
            </a:r>
          </a:p>
          <a:p>
            <a:pPr lvl="1" eaLnBrk="1" hangingPunct="1">
              <a:lnSpc>
                <a:spcPct val="150000"/>
              </a:lnSpc>
              <a:buFont typeface="Wingdings" panose="05000000000000000000" pitchFamily="2" charset="2"/>
              <a:buChar char="p"/>
            </a:pPr>
            <a:r>
              <a:rPr lang="en-US" altLang="zh-CN" sz="2000" dirty="0">
                <a:solidFill>
                  <a:srgbClr val="000099"/>
                </a:solidFill>
                <a:ea typeface="宋体" panose="02010600030101010101" pitchFamily="2" charset="-122"/>
              </a:rPr>
              <a:t>In software engineering, abstraction is realized with the provision of tools or facilities which allow software to be built without the developer having to be cognizant of some of the underlying complexities.(</a:t>
            </a:r>
            <a:r>
              <a:rPr lang="zh-CN" altLang="en-US" sz="2000" dirty="0">
                <a:solidFill>
                  <a:srgbClr val="000099"/>
                </a:solidFill>
                <a:ea typeface="宋体" panose="02010600030101010101" pitchFamily="2" charset="-122"/>
              </a:rPr>
              <a:t>工具和设施就是一种抽象实现，使开发人员可以简化开发</a:t>
            </a:r>
            <a:r>
              <a:rPr lang="en-US" altLang="zh-CN" sz="2000" dirty="0">
                <a:solidFill>
                  <a:srgbClr val="000099"/>
                </a:solidFill>
                <a:ea typeface="宋体" panose="02010600030101010101" pitchFamily="2" charset="-122"/>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279400" y="169863"/>
            <a:ext cx="8609013" cy="819150"/>
          </a:xfrm>
        </p:spPr>
        <p:txBody>
          <a:bodyPr vert="horz" wrap="square" lIns="91440" tIns="45720" rIns="91440" bIns="45720" anchor="ctr" anchorCtr="0"/>
          <a:lstStyle/>
          <a:p>
            <a:pPr eaLnBrk="1" hangingPunct="1"/>
            <a:r>
              <a:rPr lang="en-US" altLang="zh-CN" dirty="0">
                <a:ea typeface="宋体" panose="02010600030101010101" pitchFamily="2" charset="-122"/>
              </a:rPr>
              <a:t>2.1 Paradigm and Abstraction</a:t>
            </a:r>
          </a:p>
        </p:txBody>
      </p:sp>
      <p:sp>
        <p:nvSpPr>
          <p:cNvPr id="6147" name="Rectangle 3"/>
          <p:cNvSpPr/>
          <p:nvPr/>
        </p:nvSpPr>
        <p:spPr>
          <a:xfrm>
            <a:off x="277813" y="1084263"/>
            <a:ext cx="8610600" cy="506095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just" eaLnBrk="1" hangingPunct="1">
              <a:lnSpc>
                <a:spcPct val="150000"/>
              </a:lnSpc>
              <a:buFont typeface="Wingdings" panose="05000000000000000000" pitchFamily="2" charset="2"/>
              <a:buChar char="u"/>
            </a:pPr>
            <a:r>
              <a:rPr lang="en-US" altLang="zh-CN" sz="2200" b="1" dirty="0">
                <a:solidFill>
                  <a:srgbClr val="000099"/>
                </a:solidFill>
                <a:latin typeface="Arial Unicode MS" pitchFamily="34" charset="-122"/>
                <a:ea typeface="宋体" panose="02010600030101010101" pitchFamily="2" charset="-122"/>
              </a:rPr>
              <a:t>Important characteristics that distinguish distributed applications from conventional applications which run on a single machine:   </a:t>
            </a:r>
          </a:p>
          <a:p>
            <a:pPr marL="742950" lvl="1" indent="-285750" algn="just" eaLnBrk="1" hangingPunct="1">
              <a:lnSpc>
                <a:spcPct val="150000"/>
              </a:lnSpc>
              <a:buFont typeface="Wingdings" panose="05000000000000000000" pitchFamily="2" charset="2"/>
              <a:buChar char="Ø"/>
            </a:pPr>
            <a:r>
              <a:rPr lang="en-US" altLang="zh-CN" sz="2200" b="1" i="1" dirty="0">
                <a:solidFill>
                  <a:srgbClr val="FF0000"/>
                </a:solidFill>
                <a:ea typeface="宋体" panose="02010600030101010101" pitchFamily="2" charset="-122"/>
              </a:rPr>
              <a:t>Interprocess communication</a:t>
            </a:r>
            <a:r>
              <a:rPr lang="en-US" altLang="zh-CN" sz="2200" b="1" dirty="0">
                <a:solidFill>
                  <a:srgbClr val="FF0000"/>
                </a:solidFill>
                <a:ea typeface="宋体" panose="02010600030101010101" pitchFamily="2" charset="-122"/>
              </a:rPr>
              <a:t>: </a:t>
            </a:r>
            <a:r>
              <a:rPr lang="en-US" altLang="zh-CN" sz="2200" b="1" dirty="0">
                <a:solidFill>
                  <a:srgbClr val="000099"/>
                </a:solidFill>
                <a:ea typeface="宋体" panose="02010600030101010101" pitchFamily="2" charset="-122"/>
              </a:rPr>
              <a:t>A distributed application requires the participation of two or more independent entities (processes).  To do so, the processes must have the ability to exchange data among themselves.</a:t>
            </a:r>
          </a:p>
          <a:p>
            <a:pPr marL="742950" lvl="1" indent="-285750" algn="just" eaLnBrk="1" hangingPunct="1">
              <a:lnSpc>
                <a:spcPct val="150000"/>
              </a:lnSpc>
              <a:buFont typeface="Wingdings" panose="05000000000000000000" pitchFamily="2" charset="2"/>
              <a:buChar char="Ø"/>
            </a:pPr>
            <a:r>
              <a:rPr lang="en-US" altLang="zh-CN" sz="2200" b="1" i="1" dirty="0">
                <a:solidFill>
                  <a:srgbClr val="FF0000"/>
                </a:solidFill>
                <a:ea typeface="宋体" panose="02010600030101010101" pitchFamily="2" charset="-122"/>
              </a:rPr>
              <a:t>Event synchronization</a:t>
            </a:r>
            <a:r>
              <a:rPr lang="en-US" altLang="zh-CN" sz="2200" b="1" dirty="0">
                <a:solidFill>
                  <a:srgbClr val="FF0000"/>
                </a:solidFill>
                <a:ea typeface="宋体" panose="02010600030101010101" pitchFamily="2" charset="-122"/>
              </a:rPr>
              <a:t>: </a:t>
            </a:r>
            <a:r>
              <a:rPr lang="en-US" altLang="zh-CN" sz="2200" b="1" dirty="0">
                <a:solidFill>
                  <a:srgbClr val="000099"/>
                </a:solidFill>
                <a:ea typeface="宋体" panose="02010600030101010101" pitchFamily="2" charset="-122"/>
              </a:rPr>
              <a:t>The sending and receiving of data among the participants of a distributed application must be synchronized.</a:t>
            </a:r>
          </a:p>
        </p:txBody>
      </p:sp>
      <p:sp>
        <p:nvSpPr>
          <p:cNvPr id="6148" name="Rectangle 4"/>
          <p:cNvSpPr/>
          <p:nvPr/>
        </p:nvSpPr>
        <p:spPr>
          <a:xfrm>
            <a:off x="3600450" y="1919288"/>
            <a:ext cx="3429000" cy="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p:nvPr/>
        </p:nvSpPr>
        <p:spPr>
          <a:xfrm>
            <a:off x="3600450" y="1919288"/>
            <a:ext cx="3429000" cy="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7171" name="Rectangle 22"/>
          <p:cNvSpPr/>
          <p:nvPr/>
        </p:nvSpPr>
        <p:spPr>
          <a:xfrm>
            <a:off x="219075" y="82550"/>
            <a:ext cx="8697913" cy="739775"/>
          </a:xfrm>
          <a:prstGeom prst="rect">
            <a:avLst/>
          </a:prstGeom>
          <a:noFill/>
          <a:ln w="9525">
            <a:noFill/>
          </a:ln>
        </p:spPr>
        <p:txBody>
          <a:bodyPr anchor="b"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4400" dirty="0">
                <a:solidFill>
                  <a:srgbClr val="FF0000"/>
                </a:solidFill>
                <a:ea typeface="宋体" panose="02010600030101010101" pitchFamily="2" charset="-122"/>
              </a:rPr>
              <a:t>2.1 Overview of presented Paradigms</a:t>
            </a:r>
          </a:p>
        </p:txBody>
      </p:sp>
      <p:sp>
        <p:nvSpPr>
          <p:cNvPr id="7172" name="Rectangle 23" descr="Rectangle: Click to edit Master text styles&#10;Second level&#10;Third level&#10;Fourth level&#10;Fifth level"/>
          <p:cNvSpPr>
            <a:spLocks noGrp="1"/>
          </p:cNvSpPr>
          <p:nvPr>
            <p:ph idx="1"/>
          </p:nvPr>
        </p:nvSpPr>
        <p:spPr>
          <a:xfrm>
            <a:off x="504825" y="941388"/>
            <a:ext cx="8124825" cy="5492750"/>
          </a:xfrm>
        </p:spPr>
        <p:txBody>
          <a:bodyPr vert="horz" wrap="square" lIns="91440" tIns="45720" rIns="91440" bIns="45720" anchor="t" anchorCtr="0"/>
          <a:lstStyle/>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Message passing  </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Remote Procedure Call</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Client-server</a:t>
            </a:r>
            <a:endParaRPr lang="en-US" altLang="zh-CN" sz="2000" dirty="0">
              <a:solidFill>
                <a:srgbClr val="000099"/>
              </a:solidFill>
              <a:ea typeface="宋体" panose="02010600030101010101" pitchFamily="2" charset="-122"/>
            </a:endParaRP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Peer-to-Peer</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Message system</a:t>
            </a:r>
            <a:r>
              <a:rPr lang="en-US" altLang="zh-CN" sz="2000" dirty="0">
                <a:solidFill>
                  <a:srgbClr val="000099"/>
                </a:solidFill>
                <a:ea typeface="宋体" panose="02010600030101010101" pitchFamily="2" charset="-122"/>
              </a:rPr>
              <a:t>: </a:t>
            </a:r>
          </a:p>
          <a:p>
            <a:pPr lvl="1" eaLnBrk="1" hangingPunct="1">
              <a:buFontTx/>
              <a:buChar char="•"/>
            </a:pPr>
            <a:r>
              <a:rPr lang="en-US" altLang="zh-CN" sz="2000" b="1" dirty="0">
                <a:solidFill>
                  <a:srgbClr val="FF0000"/>
                </a:solidFill>
                <a:ea typeface="宋体" panose="02010600030101010101" pitchFamily="2" charset="-122"/>
              </a:rPr>
              <a:t>Point-to-point; </a:t>
            </a:r>
          </a:p>
          <a:p>
            <a:pPr lvl="1" eaLnBrk="1" hangingPunct="1">
              <a:buFontTx/>
              <a:buChar char="•"/>
            </a:pPr>
            <a:r>
              <a:rPr lang="en-US" altLang="zh-CN" sz="2000" b="1" dirty="0">
                <a:solidFill>
                  <a:srgbClr val="FF0000"/>
                </a:solidFill>
                <a:ea typeface="宋体" panose="02010600030101010101" pitchFamily="2" charset="-122"/>
              </a:rPr>
              <a:t>Publish/Subscribe </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Distributed objects:</a:t>
            </a:r>
          </a:p>
          <a:p>
            <a:pPr lvl="1" eaLnBrk="1" hangingPunct="1">
              <a:buFontTx/>
              <a:buChar char="•"/>
            </a:pPr>
            <a:r>
              <a:rPr lang="en-US" altLang="zh-CN" sz="2000" b="1" dirty="0">
                <a:solidFill>
                  <a:srgbClr val="FF0000"/>
                </a:solidFill>
                <a:ea typeface="宋体" panose="02010600030101010101" pitchFamily="2" charset="-122"/>
              </a:rPr>
              <a:t>Remote method invocation</a:t>
            </a:r>
            <a:r>
              <a:rPr lang="en-US" altLang="zh-CN" sz="2000" dirty="0">
                <a:solidFill>
                  <a:srgbClr val="FF0000"/>
                </a:solidFill>
                <a:ea typeface="宋体" panose="02010600030101010101" pitchFamily="2" charset="-122"/>
              </a:rPr>
              <a:t> </a:t>
            </a:r>
          </a:p>
          <a:p>
            <a:pPr lvl="1" eaLnBrk="1" hangingPunct="1">
              <a:buFontTx/>
              <a:buChar char="•"/>
            </a:pPr>
            <a:r>
              <a:rPr lang="en-US" altLang="zh-CN" sz="2000" b="1" dirty="0">
                <a:solidFill>
                  <a:srgbClr val="FF0000"/>
                </a:solidFill>
                <a:ea typeface="宋体" panose="02010600030101010101" pitchFamily="2" charset="-122"/>
              </a:rPr>
              <a:t>Network services</a:t>
            </a:r>
            <a:endParaRPr lang="en-US" altLang="zh-CN" sz="2000" dirty="0">
              <a:solidFill>
                <a:srgbClr val="FF0000"/>
              </a:solidFill>
              <a:ea typeface="宋体" panose="02010600030101010101" pitchFamily="2" charset="-122"/>
            </a:endParaRPr>
          </a:p>
          <a:p>
            <a:pPr lvl="1" eaLnBrk="1" hangingPunct="1">
              <a:buFontTx/>
              <a:buChar char="•"/>
            </a:pPr>
            <a:r>
              <a:rPr lang="en-US" altLang="zh-CN" sz="2000" b="1" dirty="0">
                <a:solidFill>
                  <a:srgbClr val="FF0000"/>
                </a:solidFill>
                <a:ea typeface="宋体" panose="02010600030101010101" pitchFamily="2" charset="-122"/>
              </a:rPr>
              <a:t>Object Request Broker</a:t>
            </a:r>
            <a:r>
              <a:rPr lang="en-US" altLang="zh-CN" sz="2000" dirty="0">
                <a:solidFill>
                  <a:srgbClr val="FF0000"/>
                </a:solidFill>
                <a:ea typeface="宋体" panose="02010600030101010101" pitchFamily="2" charset="-122"/>
              </a:rPr>
              <a:t> </a:t>
            </a:r>
          </a:p>
          <a:p>
            <a:pPr lvl="1" eaLnBrk="1" hangingPunct="1">
              <a:buFontTx/>
              <a:buChar char="•"/>
            </a:pPr>
            <a:r>
              <a:rPr lang="en-US" altLang="zh-CN" sz="2000" b="1" dirty="0">
                <a:solidFill>
                  <a:srgbClr val="FF0000"/>
                </a:solidFill>
                <a:ea typeface="宋体" panose="02010600030101010101" pitchFamily="2" charset="-122"/>
              </a:rPr>
              <a:t>Object space</a:t>
            </a:r>
            <a:r>
              <a:rPr lang="en-US" altLang="zh-CN" sz="2000" dirty="0">
                <a:solidFill>
                  <a:srgbClr val="FF0000"/>
                </a:solidFill>
                <a:ea typeface="宋体" panose="02010600030101010101" pitchFamily="2" charset="-122"/>
              </a:rPr>
              <a:t> </a:t>
            </a:r>
          </a:p>
          <a:p>
            <a:pPr lvl="1" eaLnBrk="1" hangingPunct="1">
              <a:buFontTx/>
              <a:buChar char="•"/>
            </a:pPr>
            <a:r>
              <a:rPr lang="en-US" altLang="zh-CN" sz="2000" b="1" dirty="0">
                <a:solidFill>
                  <a:srgbClr val="FF0000"/>
                </a:solidFill>
                <a:ea typeface="宋体" panose="02010600030101010101" pitchFamily="2" charset="-122"/>
              </a:rPr>
              <a:t>Component Based Technologies</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Mobile agents</a:t>
            </a:r>
            <a:endParaRPr lang="en-US" altLang="zh-CN" sz="2000" dirty="0">
              <a:solidFill>
                <a:srgbClr val="000099"/>
              </a:solidFill>
              <a:ea typeface="宋体" panose="02010600030101010101" pitchFamily="2" charset="-122"/>
            </a:endParaRP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Collaborative applications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117475" y="104775"/>
            <a:ext cx="8609013" cy="652463"/>
          </a:xfrm>
        </p:spPr>
        <p:txBody>
          <a:bodyPr vert="horz" wrap="square" lIns="91440" tIns="45720" rIns="91440" bIns="45720" anchor="ctr" anchorCtr="0"/>
          <a:lstStyle/>
          <a:p>
            <a:pPr eaLnBrk="1" hangingPunct="1"/>
            <a:r>
              <a:rPr lang="en-US" altLang="zh-CN" dirty="0">
                <a:ea typeface="宋体" panose="02010600030101010101" pitchFamily="2" charset="-122"/>
              </a:rPr>
              <a:t>2.2 The Message Passing Paradigm</a:t>
            </a:r>
          </a:p>
        </p:txBody>
      </p:sp>
      <p:sp>
        <p:nvSpPr>
          <p:cNvPr id="8195" name="Rectangle 28" descr="Rectangle: Click to edit Master text styles&#10;Second level&#10;Third level&#10;Fourth level&#10;Fifth level"/>
          <p:cNvSpPr>
            <a:spLocks noGrp="1"/>
          </p:cNvSpPr>
          <p:nvPr>
            <p:ph idx="1"/>
          </p:nvPr>
        </p:nvSpPr>
        <p:spPr>
          <a:xfrm>
            <a:off x="0" y="852488"/>
            <a:ext cx="9144000" cy="3071812"/>
          </a:xfrm>
        </p:spPr>
        <p:txBody>
          <a:bodyPr vert="horz" wrap="square" lIns="91440" tIns="45720" rIns="91440" bIns="45720" anchor="t" anchorCtr="0"/>
          <a:lstStyle/>
          <a:p>
            <a:pPr algn="l" eaLnBrk="1" hangingPunct="1">
              <a:lnSpc>
                <a:spcPct val="150000"/>
              </a:lnSpc>
              <a:buNone/>
            </a:pPr>
            <a:r>
              <a:rPr lang="zh-CN" altLang="en-US" sz="2000" b="1" dirty="0">
                <a:solidFill>
                  <a:srgbClr val="000099"/>
                </a:solidFill>
                <a:ea typeface="宋体" panose="02010600030101010101" pitchFamily="2" charset="-122"/>
              </a:rPr>
              <a:t>    </a:t>
            </a:r>
            <a:r>
              <a:rPr lang="en-US" altLang="zh-CN" sz="2000" b="1" dirty="0">
                <a:solidFill>
                  <a:srgbClr val="000099"/>
                </a:solidFill>
                <a:ea typeface="宋体" panose="02010600030101010101" pitchFamily="2" charset="-122"/>
              </a:rPr>
              <a:t>Message passing is the most fundamental paradigm for distributed applications.  </a:t>
            </a:r>
          </a:p>
          <a:p>
            <a:pPr lvl="1" eaLnBrk="1" hangingPunct="1">
              <a:lnSpc>
                <a:spcPct val="150000"/>
              </a:lnSpc>
            </a:pPr>
            <a:r>
              <a:rPr lang="en-US" altLang="zh-CN" sz="2000" b="1" dirty="0">
                <a:solidFill>
                  <a:srgbClr val="000099"/>
                </a:solidFill>
                <a:ea typeface="宋体" panose="02010600030101010101" pitchFamily="2" charset="-122"/>
              </a:rPr>
              <a:t>A process </a:t>
            </a:r>
            <a:r>
              <a:rPr lang="en-US" altLang="zh-CN" sz="2000" b="1" dirty="0">
                <a:solidFill>
                  <a:srgbClr val="FF3300"/>
                </a:solidFill>
                <a:ea typeface="宋体" panose="02010600030101010101" pitchFamily="2" charset="-122"/>
              </a:rPr>
              <a:t>sends</a:t>
            </a:r>
            <a:r>
              <a:rPr lang="en-US" altLang="zh-CN" sz="2000" b="1" dirty="0">
                <a:solidFill>
                  <a:srgbClr val="000099"/>
                </a:solidFill>
                <a:ea typeface="宋体" panose="02010600030101010101" pitchFamily="2" charset="-122"/>
              </a:rPr>
              <a:t> a message representing a request.  </a:t>
            </a:r>
          </a:p>
          <a:p>
            <a:pPr lvl="1" eaLnBrk="1" hangingPunct="1">
              <a:lnSpc>
                <a:spcPct val="150000"/>
              </a:lnSpc>
            </a:pPr>
            <a:r>
              <a:rPr lang="en-US" altLang="zh-CN" sz="2000" b="1" dirty="0">
                <a:solidFill>
                  <a:srgbClr val="000099"/>
                </a:solidFill>
                <a:ea typeface="宋体" panose="02010600030101010101" pitchFamily="2" charset="-122"/>
              </a:rPr>
              <a:t>The message is delivered to a </a:t>
            </a:r>
            <a:r>
              <a:rPr lang="en-US" altLang="zh-CN" sz="2000" b="1" dirty="0">
                <a:solidFill>
                  <a:srgbClr val="FF3300"/>
                </a:solidFill>
                <a:ea typeface="宋体" panose="02010600030101010101" pitchFamily="2" charset="-122"/>
              </a:rPr>
              <a:t>receiver</a:t>
            </a:r>
            <a:r>
              <a:rPr lang="en-US" altLang="zh-CN" sz="2000" b="1" dirty="0">
                <a:solidFill>
                  <a:srgbClr val="000099"/>
                </a:solidFill>
                <a:ea typeface="宋体" panose="02010600030101010101" pitchFamily="2" charset="-122"/>
              </a:rPr>
              <a:t>, which processes the request, and </a:t>
            </a:r>
            <a:r>
              <a:rPr lang="en-US" altLang="zh-CN" sz="2000" b="1" dirty="0">
                <a:solidFill>
                  <a:srgbClr val="FF3300"/>
                </a:solidFill>
                <a:ea typeface="宋体" panose="02010600030101010101" pitchFamily="2" charset="-122"/>
              </a:rPr>
              <a:t>sends</a:t>
            </a:r>
            <a:r>
              <a:rPr lang="en-US" altLang="zh-CN" sz="2000" b="1" dirty="0">
                <a:solidFill>
                  <a:srgbClr val="000099"/>
                </a:solidFill>
                <a:ea typeface="宋体" panose="02010600030101010101" pitchFamily="2" charset="-122"/>
              </a:rPr>
              <a:t> a  message in response. </a:t>
            </a:r>
          </a:p>
          <a:p>
            <a:pPr lvl="1" eaLnBrk="1" hangingPunct="1">
              <a:lnSpc>
                <a:spcPct val="150000"/>
              </a:lnSpc>
            </a:pPr>
            <a:r>
              <a:rPr lang="en-US" altLang="zh-CN" sz="2000" b="1" dirty="0">
                <a:solidFill>
                  <a:srgbClr val="000099"/>
                </a:solidFill>
                <a:ea typeface="宋体" panose="02010600030101010101" pitchFamily="2" charset="-122"/>
              </a:rPr>
              <a:t>In turn, the reply may trigger a further </a:t>
            </a:r>
            <a:r>
              <a:rPr lang="en-US" altLang="zh-CN" sz="2000" b="1" dirty="0">
                <a:solidFill>
                  <a:srgbClr val="FF3300"/>
                </a:solidFill>
                <a:ea typeface="宋体" panose="02010600030101010101" pitchFamily="2" charset="-122"/>
              </a:rPr>
              <a:t>request</a:t>
            </a:r>
            <a:r>
              <a:rPr lang="en-US" altLang="zh-CN" sz="2000" b="1" dirty="0">
                <a:solidFill>
                  <a:srgbClr val="000099"/>
                </a:solidFill>
                <a:ea typeface="宋体" panose="02010600030101010101" pitchFamily="2" charset="-122"/>
              </a:rPr>
              <a:t>, which leads to a subsequent </a:t>
            </a:r>
            <a:r>
              <a:rPr lang="en-US" altLang="zh-CN" sz="2000" b="1" dirty="0">
                <a:solidFill>
                  <a:srgbClr val="FF3300"/>
                </a:solidFill>
                <a:ea typeface="宋体" panose="02010600030101010101" pitchFamily="2" charset="-122"/>
              </a:rPr>
              <a:t>reply,</a:t>
            </a:r>
            <a:r>
              <a:rPr lang="en-US" altLang="zh-CN" sz="2000" b="1" dirty="0">
                <a:solidFill>
                  <a:srgbClr val="000099"/>
                </a:solidFill>
                <a:ea typeface="宋体" panose="02010600030101010101" pitchFamily="2" charset="-122"/>
              </a:rPr>
              <a:t> and so forth.  </a:t>
            </a:r>
          </a:p>
        </p:txBody>
      </p:sp>
      <p:grpSp>
        <p:nvGrpSpPr>
          <p:cNvPr id="8196" name="Group 15"/>
          <p:cNvGrpSpPr/>
          <p:nvPr/>
        </p:nvGrpSpPr>
        <p:grpSpPr>
          <a:xfrm>
            <a:off x="1724025" y="4254500"/>
            <a:ext cx="5842000" cy="2398713"/>
            <a:chOff x="1023" y="1339"/>
            <a:chExt cx="3680" cy="2245"/>
          </a:xfrm>
        </p:grpSpPr>
        <p:sp>
          <p:nvSpPr>
            <p:cNvPr id="8197" name="Oval 5"/>
            <p:cNvSpPr/>
            <p:nvPr/>
          </p:nvSpPr>
          <p:spPr>
            <a:xfrm>
              <a:off x="4104" y="1720"/>
              <a:ext cx="368" cy="184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8198" name="Line 6"/>
            <p:cNvSpPr/>
            <p:nvPr/>
          </p:nvSpPr>
          <p:spPr>
            <a:xfrm>
              <a:off x="1712" y="2176"/>
              <a:ext cx="2336" cy="8"/>
            </a:xfrm>
            <a:prstGeom prst="line">
              <a:avLst/>
            </a:prstGeom>
            <a:ln w="9525" cap="flat" cmpd="sng">
              <a:solidFill>
                <a:schemeClr val="tx1"/>
              </a:solidFill>
              <a:prstDash val="solid"/>
              <a:headEnd type="none" w="med" len="med"/>
              <a:tailEnd type="triangle" w="med" len="med"/>
            </a:ln>
          </p:spPr>
        </p:sp>
        <p:sp>
          <p:nvSpPr>
            <p:cNvPr id="8199" name="Line 7"/>
            <p:cNvSpPr/>
            <p:nvPr/>
          </p:nvSpPr>
          <p:spPr>
            <a:xfrm>
              <a:off x="1728" y="3112"/>
              <a:ext cx="2336" cy="8"/>
            </a:xfrm>
            <a:prstGeom prst="line">
              <a:avLst/>
            </a:prstGeom>
            <a:ln w="9525" cap="flat" cmpd="sng">
              <a:solidFill>
                <a:schemeClr val="tx1"/>
              </a:solidFill>
              <a:prstDash val="solid"/>
              <a:headEnd type="none" w="med" len="med"/>
              <a:tailEnd type="triangle" w="med" len="med"/>
            </a:ln>
          </p:spPr>
        </p:sp>
        <p:sp>
          <p:nvSpPr>
            <p:cNvPr id="8200" name="Line 8"/>
            <p:cNvSpPr/>
            <p:nvPr/>
          </p:nvSpPr>
          <p:spPr>
            <a:xfrm flipH="1">
              <a:off x="1720" y="2648"/>
              <a:ext cx="2304" cy="0"/>
            </a:xfrm>
            <a:prstGeom prst="line">
              <a:avLst/>
            </a:prstGeom>
            <a:ln w="9525" cap="flat" cmpd="sng">
              <a:solidFill>
                <a:schemeClr val="tx1"/>
              </a:solidFill>
              <a:prstDash val="solid"/>
              <a:headEnd type="none" w="med" len="med"/>
              <a:tailEnd type="triangle" w="med" len="med"/>
            </a:ln>
          </p:spPr>
        </p:sp>
        <p:sp>
          <p:nvSpPr>
            <p:cNvPr id="8201" name="Oval 9"/>
            <p:cNvSpPr/>
            <p:nvPr/>
          </p:nvSpPr>
          <p:spPr>
            <a:xfrm>
              <a:off x="1272" y="1744"/>
              <a:ext cx="368" cy="184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8202" name="Rectangle 10"/>
            <p:cNvSpPr/>
            <p:nvPr/>
          </p:nvSpPr>
          <p:spPr>
            <a:xfrm>
              <a:off x="3823" y="1339"/>
              <a:ext cx="880" cy="307"/>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zh-CN" altLang="en-US" sz="2000" dirty="0">
                  <a:solidFill>
                    <a:srgbClr val="000099"/>
                  </a:solidFill>
                  <a:ea typeface="宋体" panose="02010600030101010101" pitchFamily="2" charset="-122"/>
                </a:rPr>
                <a:t>进程</a:t>
              </a:r>
              <a:r>
                <a:rPr lang="en-US" altLang="zh-CN" sz="2000" dirty="0">
                  <a:solidFill>
                    <a:srgbClr val="000099"/>
                  </a:solidFill>
                  <a:ea typeface="宋体" panose="02010600030101010101" pitchFamily="2" charset="-122"/>
                </a:rPr>
                <a:t>B </a:t>
              </a:r>
            </a:p>
          </p:txBody>
        </p:sp>
        <p:sp>
          <p:nvSpPr>
            <p:cNvPr id="8203" name="Rectangle 11"/>
            <p:cNvSpPr/>
            <p:nvPr/>
          </p:nvSpPr>
          <p:spPr>
            <a:xfrm>
              <a:off x="1023" y="1395"/>
              <a:ext cx="880" cy="307"/>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zh-CN" altLang="en-US" sz="2000" dirty="0">
                  <a:solidFill>
                    <a:srgbClr val="000099"/>
                  </a:solidFill>
                  <a:ea typeface="宋体" panose="02010600030101010101" pitchFamily="2" charset="-122"/>
                </a:rPr>
                <a:t>进程</a:t>
              </a:r>
              <a:r>
                <a:rPr lang="en-US" altLang="zh-CN" sz="2000" dirty="0">
                  <a:solidFill>
                    <a:srgbClr val="000099"/>
                  </a:solidFill>
                  <a:ea typeface="宋体" panose="02010600030101010101" pitchFamily="2" charset="-122"/>
                </a:rPr>
                <a:t>A </a:t>
              </a:r>
            </a:p>
          </p:txBody>
        </p:sp>
        <p:sp>
          <p:nvSpPr>
            <p:cNvPr id="8204" name="Rectangle 12"/>
            <p:cNvSpPr/>
            <p:nvPr/>
          </p:nvSpPr>
          <p:spPr>
            <a:xfrm>
              <a:off x="1727" y="1851"/>
              <a:ext cx="2344" cy="307"/>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en-US" altLang="zh-CN" sz="2000" dirty="0">
                  <a:solidFill>
                    <a:srgbClr val="000099"/>
                  </a:solidFill>
                  <a:ea typeface="宋体" panose="02010600030101010101" pitchFamily="2" charset="-122"/>
                </a:rPr>
                <a:t>Send                M1            receive</a:t>
              </a:r>
            </a:p>
          </p:txBody>
        </p:sp>
        <p:sp>
          <p:nvSpPr>
            <p:cNvPr id="8205" name="Rectangle 13"/>
            <p:cNvSpPr/>
            <p:nvPr/>
          </p:nvSpPr>
          <p:spPr>
            <a:xfrm>
              <a:off x="1751" y="2299"/>
              <a:ext cx="2344" cy="307"/>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en-US" altLang="zh-CN" sz="2000" dirty="0">
                  <a:solidFill>
                    <a:srgbClr val="000099"/>
                  </a:solidFill>
                  <a:ea typeface="宋体" panose="02010600030101010101" pitchFamily="2" charset="-122"/>
                </a:rPr>
                <a:t>Receive          M2                Send </a:t>
              </a:r>
            </a:p>
          </p:txBody>
        </p:sp>
        <p:sp>
          <p:nvSpPr>
            <p:cNvPr id="8206" name="Rectangle 14"/>
            <p:cNvSpPr/>
            <p:nvPr/>
          </p:nvSpPr>
          <p:spPr>
            <a:xfrm>
              <a:off x="1743" y="2795"/>
              <a:ext cx="2344" cy="307"/>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en-US" altLang="zh-CN" sz="2000" dirty="0">
                  <a:solidFill>
                    <a:srgbClr val="000099"/>
                  </a:solidFill>
                  <a:ea typeface="宋体" panose="02010600030101010101" pitchFamily="2" charset="-122"/>
                </a:rPr>
                <a:t>Send                M3            receive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174625" y="0"/>
            <a:ext cx="8609013" cy="1098550"/>
          </a:xfrm>
        </p:spPr>
        <p:txBody>
          <a:bodyPr vert="horz" wrap="square" lIns="91440" tIns="45720" rIns="91440" bIns="45720" anchor="ctr" anchorCtr="0"/>
          <a:lstStyle/>
          <a:p>
            <a:pPr eaLnBrk="1" hangingPunct="1"/>
            <a:r>
              <a:rPr lang="en-US" altLang="zh-CN" dirty="0">
                <a:ea typeface="宋体" panose="02010600030101010101" pitchFamily="2" charset="-122"/>
              </a:rPr>
              <a:t>2.2 The Message Passing Paradigm</a:t>
            </a:r>
          </a:p>
        </p:txBody>
      </p:sp>
      <p:sp>
        <p:nvSpPr>
          <p:cNvPr id="9219" name="Rectangle 16" descr="Rectangle: Click to edit Master text styles&#10;Second level&#10;Third level&#10;Fourth level&#10;Fifth level"/>
          <p:cNvSpPr>
            <a:spLocks noGrp="1"/>
          </p:cNvSpPr>
          <p:nvPr>
            <p:ph idx="1"/>
          </p:nvPr>
        </p:nvSpPr>
        <p:spPr>
          <a:xfrm>
            <a:off x="376238" y="1030288"/>
            <a:ext cx="8407400" cy="2544762"/>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400" dirty="0">
                <a:solidFill>
                  <a:srgbClr val="000099"/>
                </a:solidFill>
                <a:ea typeface="宋体" panose="02010600030101010101" pitchFamily="2" charset="-122"/>
              </a:rPr>
              <a:t>The basic operations: </a:t>
            </a:r>
            <a:r>
              <a:rPr lang="en-US" altLang="zh-CN" sz="2400" i="1" dirty="0">
                <a:solidFill>
                  <a:srgbClr val="FF3300"/>
                </a:solidFill>
                <a:ea typeface="宋体" panose="02010600030101010101" pitchFamily="2" charset="-122"/>
              </a:rPr>
              <a:t>send</a:t>
            </a:r>
            <a:r>
              <a:rPr lang="en-US" altLang="zh-CN" sz="2400" dirty="0">
                <a:solidFill>
                  <a:srgbClr val="FF3300"/>
                </a:solidFill>
                <a:ea typeface="宋体" panose="02010600030101010101" pitchFamily="2" charset="-122"/>
              </a:rPr>
              <a:t>,</a:t>
            </a:r>
            <a:r>
              <a:rPr lang="en-US" altLang="zh-CN" sz="2400" dirty="0">
                <a:solidFill>
                  <a:srgbClr val="000099"/>
                </a:solidFill>
                <a:ea typeface="宋体" panose="02010600030101010101" pitchFamily="2" charset="-122"/>
              </a:rPr>
              <a:t> and </a:t>
            </a:r>
            <a:r>
              <a:rPr lang="en-US" altLang="zh-CN" sz="2400" i="1" dirty="0">
                <a:solidFill>
                  <a:srgbClr val="FF3300"/>
                </a:solidFill>
                <a:ea typeface="宋体" panose="02010600030101010101" pitchFamily="2" charset="-122"/>
              </a:rPr>
              <a:t>receive</a:t>
            </a:r>
            <a:r>
              <a:rPr lang="en-US" altLang="zh-CN" sz="2400" dirty="0">
                <a:solidFill>
                  <a:srgbClr val="000099"/>
                </a:solidFill>
                <a:ea typeface="宋体" panose="02010600030101010101" pitchFamily="2" charset="-122"/>
              </a:rPr>
              <a:t>.  </a:t>
            </a:r>
          </a:p>
          <a:p>
            <a:pPr algn="l" eaLnBrk="1" hangingPunct="1">
              <a:lnSpc>
                <a:spcPct val="150000"/>
              </a:lnSpc>
              <a:buFont typeface="Wingdings" panose="05000000000000000000" pitchFamily="2" charset="2"/>
              <a:buChar char="u"/>
            </a:pPr>
            <a:r>
              <a:rPr lang="en-US" altLang="zh-CN" sz="2400" dirty="0">
                <a:solidFill>
                  <a:srgbClr val="000099"/>
                </a:solidFill>
                <a:ea typeface="宋体" panose="02010600030101010101" pitchFamily="2" charset="-122"/>
              </a:rPr>
              <a:t>For connection-oriented communication, the operations </a:t>
            </a:r>
            <a:r>
              <a:rPr lang="en-US" altLang="zh-CN" sz="2400" i="1" dirty="0">
                <a:solidFill>
                  <a:srgbClr val="FF0000"/>
                </a:solidFill>
                <a:ea typeface="宋体" panose="02010600030101010101" pitchFamily="2" charset="-122"/>
              </a:rPr>
              <a:t>connect</a:t>
            </a:r>
            <a:r>
              <a:rPr lang="en-US" altLang="zh-CN" sz="2400" dirty="0">
                <a:solidFill>
                  <a:srgbClr val="FF3300"/>
                </a:solidFill>
                <a:ea typeface="宋体" panose="02010600030101010101" pitchFamily="2" charset="-122"/>
              </a:rPr>
              <a:t> </a:t>
            </a:r>
            <a:r>
              <a:rPr lang="en-US" altLang="zh-CN" sz="2400" dirty="0">
                <a:solidFill>
                  <a:srgbClr val="000099"/>
                </a:solidFill>
                <a:ea typeface="宋体" panose="02010600030101010101" pitchFamily="2" charset="-122"/>
              </a:rPr>
              <a:t>and </a:t>
            </a:r>
            <a:r>
              <a:rPr lang="en-US" altLang="zh-CN" sz="2400" i="1" dirty="0">
                <a:solidFill>
                  <a:srgbClr val="FF0000"/>
                </a:solidFill>
                <a:ea typeface="宋体" panose="02010600030101010101" pitchFamily="2" charset="-122"/>
              </a:rPr>
              <a:t>disconnect</a:t>
            </a:r>
            <a:r>
              <a:rPr lang="en-US" altLang="zh-CN" sz="2400" dirty="0">
                <a:solidFill>
                  <a:srgbClr val="FF0000"/>
                </a:solidFill>
                <a:ea typeface="宋体" panose="02010600030101010101" pitchFamily="2" charset="-122"/>
              </a:rPr>
              <a:t> </a:t>
            </a:r>
            <a:r>
              <a:rPr lang="en-US" altLang="zh-CN" sz="2400" dirty="0">
                <a:solidFill>
                  <a:srgbClr val="000099"/>
                </a:solidFill>
                <a:ea typeface="宋体" panose="02010600030101010101" pitchFamily="2" charset="-122"/>
              </a:rPr>
              <a:t>are also required.</a:t>
            </a:r>
          </a:p>
          <a:p>
            <a:pPr algn="l" eaLnBrk="1" hangingPunct="1">
              <a:lnSpc>
                <a:spcPct val="150000"/>
              </a:lnSpc>
              <a:buFont typeface="Wingdings" panose="05000000000000000000" pitchFamily="2" charset="2"/>
              <a:buChar char="u"/>
            </a:pPr>
            <a:r>
              <a:rPr lang="en-US" altLang="zh-CN" sz="2400" b="1" i="1" dirty="0">
                <a:solidFill>
                  <a:srgbClr val="FF0000"/>
                </a:solidFill>
                <a:ea typeface="宋体" panose="02010600030101010101" pitchFamily="2" charset="-122"/>
              </a:rPr>
              <a:t>Event synchronization</a:t>
            </a:r>
            <a:r>
              <a:rPr lang="en-US" altLang="zh-CN" sz="2400" b="1" i="1" dirty="0">
                <a:ea typeface="宋体" panose="02010600030101010101" pitchFamily="2" charset="-122"/>
              </a:rPr>
              <a:t>(s</a:t>
            </a:r>
            <a:r>
              <a:rPr lang="en-US" altLang="zh-CN" sz="2400" dirty="0">
                <a:ea typeface="宋体" panose="02010600030101010101" pitchFamily="2" charset="-122"/>
              </a:rPr>
              <a:t>ynchronous/asynchronous</a:t>
            </a:r>
            <a:r>
              <a:rPr lang="en-US" altLang="zh-CN" sz="2400" b="1" i="1" dirty="0">
                <a:ea typeface="宋体" panose="02010600030101010101" pitchFamily="2" charset="-122"/>
              </a:rPr>
              <a:t>)</a:t>
            </a:r>
            <a:r>
              <a:rPr lang="en-US" altLang="zh-CN" sz="2400" dirty="0">
                <a:solidFill>
                  <a:srgbClr val="000099"/>
                </a:solidFill>
                <a:ea typeface="宋体" panose="02010600030101010101" pitchFamily="2" charset="-122"/>
              </a:rPr>
              <a:t>   </a:t>
            </a:r>
          </a:p>
        </p:txBody>
      </p:sp>
      <p:sp>
        <p:nvSpPr>
          <p:cNvPr id="9220" name="矩形 1"/>
          <p:cNvSpPr>
            <a:spLocks noChangeArrowheads="1"/>
          </p:cNvSpPr>
          <p:nvPr/>
        </p:nvSpPr>
        <p:spPr bwMode="auto">
          <a:xfrm>
            <a:off x="450850" y="3857625"/>
            <a:ext cx="84074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spcBef>
                <a:spcPct val="20000"/>
              </a:spcBef>
              <a:buClr>
                <a:schemeClr val="accent2"/>
              </a:buClr>
              <a:buChar char="•"/>
              <a:defRPr sz="32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en-US" altLang="zh-CN" sz="2400" b="0" i="0" u="none" strike="noStrike" kern="1200" cap="none" spc="0" normalizeH="0" baseline="0" noProof="0" dirty="0">
                <a:ln>
                  <a:noFill/>
                </a:ln>
                <a:solidFill>
                  <a:srgbClr val="000099"/>
                </a:solidFill>
                <a:effectLst/>
                <a:uLnTx/>
                <a:uFillTx/>
                <a:latin typeface="+mn-lt"/>
                <a:ea typeface="宋体" panose="02010600030101010101" pitchFamily="2" charset="-122"/>
                <a:cs typeface="+mn-cs"/>
              </a:rPr>
              <a:t>With the abstraction provided by this model, the interconnected processes perform input and output to each other, in a manner similar to file I/O. The I/O operations encapsulate the detail of network communication at the operating-system level.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174625" y="0"/>
            <a:ext cx="8609013" cy="1098550"/>
          </a:xfrm>
        </p:spPr>
        <p:txBody>
          <a:bodyPr vert="horz" wrap="square" lIns="91440" tIns="45720" rIns="91440" bIns="45720" anchor="ctr" anchorCtr="0"/>
          <a:lstStyle/>
          <a:p>
            <a:pPr eaLnBrk="1" hangingPunct="1"/>
            <a:r>
              <a:rPr lang="en-US" altLang="zh-CN" dirty="0">
                <a:ea typeface="宋体" panose="02010600030101010101" pitchFamily="2" charset="-122"/>
              </a:rPr>
              <a:t>2.2 The Message Passing Paradigm</a:t>
            </a:r>
          </a:p>
        </p:txBody>
      </p:sp>
      <p:sp>
        <p:nvSpPr>
          <p:cNvPr id="10243" name="Rectangle 16" descr="Rectangle: Click to edit Master text styles&#10;Second level&#10;Third level&#10;Fourth level&#10;Fifth level"/>
          <p:cNvSpPr>
            <a:spLocks noGrp="1"/>
          </p:cNvSpPr>
          <p:nvPr>
            <p:ph idx="1"/>
          </p:nvPr>
        </p:nvSpPr>
        <p:spPr>
          <a:xfrm>
            <a:off x="174625" y="881063"/>
            <a:ext cx="8928100" cy="1712912"/>
          </a:xfrm>
        </p:spPr>
        <p:txBody>
          <a:bodyPr vert="horz" wrap="square" lIns="91440" tIns="45720" rIns="91440" bIns="45720" anchor="t" anchorCtr="0"/>
          <a:lstStyle/>
          <a:p>
            <a:pPr marL="342900" lvl="1" indent="-342900" eaLnBrk="1" hangingPunct="1">
              <a:lnSpc>
                <a:spcPct val="150000"/>
              </a:lnSpc>
              <a:buFont typeface="Wingdings" panose="05000000000000000000" pitchFamily="2" charset="2"/>
              <a:buChar char="u"/>
            </a:pPr>
            <a:r>
              <a:rPr lang="en-US" altLang="zh-CN" sz="2200" dirty="0">
                <a:solidFill>
                  <a:srgbClr val="000099"/>
                </a:solidFill>
                <a:ea typeface="宋体" panose="02010600030101010101" pitchFamily="2" charset="-122"/>
              </a:rPr>
              <a:t>The </a:t>
            </a:r>
            <a:r>
              <a:rPr lang="en-US" altLang="zh-CN" sz="2200" dirty="0">
                <a:solidFill>
                  <a:srgbClr val="FF0000"/>
                </a:solidFill>
                <a:ea typeface="宋体" panose="02010600030101010101" pitchFamily="2" charset="-122"/>
              </a:rPr>
              <a:t>socket </a:t>
            </a:r>
            <a:r>
              <a:rPr lang="en-US" altLang="zh-CN" sz="2200" dirty="0">
                <a:solidFill>
                  <a:srgbClr val="000099"/>
                </a:solidFill>
                <a:ea typeface="宋体" panose="02010600030101010101" pitchFamily="2" charset="-122"/>
              </a:rPr>
              <a:t>application programming interface is based on this paradigm. </a:t>
            </a:r>
          </a:p>
          <a:p>
            <a:pPr marL="342900" lvl="1" indent="-342900" eaLnBrk="1" hangingPunct="1">
              <a:lnSpc>
                <a:spcPct val="150000"/>
              </a:lnSpc>
              <a:buNone/>
            </a:pPr>
            <a:r>
              <a:rPr lang="en-US" altLang="zh-CN" sz="2200" dirty="0">
                <a:solidFill>
                  <a:srgbClr val="000099"/>
                </a:solidFill>
                <a:ea typeface="宋体" panose="02010600030101010101" pitchFamily="2" charset="-122"/>
              </a:rPr>
              <a:t>          http://www.sockets.com/               </a:t>
            </a:r>
          </a:p>
          <a:p>
            <a:pPr marL="342900" lvl="1" indent="-342900" eaLnBrk="1" hangingPunct="1">
              <a:lnSpc>
                <a:spcPct val="150000"/>
              </a:lnSpc>
              <a:buNone/>
            </a:pPr>
            <a:r>
              <a:rPr lang="en-US" altLang="zh-CN" sz="2200" dirty="0">
                <a:solidFill>
                  <a:srgbClr val="000099"/>
                </a:solidFill>
                <a:ea typeface="宋体" panose="02010600030101010101" pitchFamily="2" charset="-122"/>
              </a:rPr>
              <a:t>          hfdgdgttp://java.sun.com/products/jdk/1.2/docs/api/index.html</a:t>
            </a:r>
          </a:p>
        </p:txBody>
      </p:sp>
      <p:sp>
        <p:nvSpPr>
          <p:cNvPr id="4" name="Rectangle 3"/>
          <p:cNvSpPr txBox="1">
            <a:spLocks noChangeArrowheads="1"/>
          </p:cNvSpPr>
          <p:nvPr/>
        </p:nvSpPr>
        <p:spPr bwMode="auto">
          <a:xfrm>
            <a:off x="1355725" y="5927725"/>
            <a:ext cx="6848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Connection-oriented communication pattern using sockets.</a:t>
            </a:r>
          </a:p>
        </p:txBody>
      </p:sp>
      <p:pic>
        <p:nvPicPr>
          <p:cNvPr id="10245" name="Picture 6"/>
          <p:cNvPicPr>
            <a:picLocks noChangeAspect="1"/>
          </p:cNvPicPr>
          <p:nvPr/>
        </p:nvPicPr>
        <p:blipFill>
          <a:blip r:embed="rId3"/>
          <a:srcRect l="21165" t="46677" r="19241" b="40785"/>
          <a:stretch>
            <a:fillRect/>
          </a:stretch>
        </p:blipFill>
        <p:spPr>
          <a:xfrm>
            <a:off x="96838" y="2851150"/>
            <a:ext cx="8931275" cy="2817813"/>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vert="horz" wrap="square" lIns="91440" tIns="45720" rIns="91440" bIns="45720" anchor="ctr" anchorCtr="0"/>
          <a:lstStyle/>
          <a:p>
            <a:pPr algn="just" eaLnBrk="1" hangingPunct="1">
              <a:buNone/>
            </a:pPr>
            <a:r>
              <a:rPr lang="en-US" altLang="zh-CN" dirty="0">
                <a:solidFill>
                  <a:srgbClr val="FF3300"/>
                </a:solidFill>
                <a:ea typeface="宋体" panose="02010600030101010101" pitchFamily="2" charset="-122"/>
              </a:rPr>
              <a:t>2.3 Remote Procedure Call </a:t>
            </a:r>
          </a:p>
        </p:txBody>
      </p:sp>
      <p:sp>
        <p:nvSpPr>
          <p:cNvPr id="11267" name="Rectangle 5" descr="Rectangle: Click to edit Master text styles&#10;Second level&#10;Third level&#10;Fourth level&#10;Fifth level"/>
          <p:cNvSpPr>
            <a:spLocks noGrp="1"/>
          </p:cNvSpPr>
          <p:nvPr>
            <p:ph idx="1"/>
          </p:nvPr>
        </p:nvSpPr>
        <p:spPr>
          <a:xfrm>
            <a:off x="533400" y="1131888"/>
            <a:ext cx="8124825" cy="5492750"/>
          </a:xfrm>
        </p:spPr>
        <p:txBody>
          <a:bodyPr vert="horz" wrap="square" lIns="91440" tIns="45720" rIns="91440" bIns="45720" anchor="t" anchorCtr="0"/>
          <a:lstStyle/>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Message passing  </a:t>
            </a:r>
          </a:p>
          <a:p>
            <a:pPr algn="l" eaLnBrk="1" hangingPunct="1">
              <a:buFont typeface="Wingdings" panose="05000000000000000000" pitchFamily="2" charset="2"/>
              <a:buChar char="Ø"/>
            </a:pPr>
            <a:r>
              <a:rPr lang="en-US" altLang="zh-CN" sz="2400" b="1" dirty="0">
                <a:solidFill>
                  <a:srgbClr val="FF3300"/>
                </a:solidFill>
                <a:ea typeface="宋体" panose="02010600030101010101" pitchFamily="2" charset="-122"/>
              </a:rPr>
              <a:t>Remote Procedure Call</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Client-server</a:t>
            </a:r>
            <a:endParaRPr lang="en-US" altLang="zh-CN" sz="2000" dirty="0">
              <a:solidFill>
                <a:srgbClr val="000099"/>
              </a:solidFill>
              <a:ea typeface="宋体" panose="02010600030101010101" pitchFamily="2" charset="-122"/>
            </a:endParaRP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Peer-to-Peer</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Message system</a:t>
            </a:r>
            <a:r>
              <a:rPr lang="en-US" altLang="zh-CN" sz="2000" dirty="0">
                <a:solidFill>
                  <a:srgbClr val="000099"/>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Point-to-point;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Publish/Subscribe</a:t>
            </a:r>
            <a:r>
              <a:rPr lang="en-US" altLang="zh-CN" sz="2000" b="1" dirty="0">
                <a:solidFill>
                  <a:srgbClr val="000099"/>
                </a:solidFill>
                <a:ea typeface="宋体" panose="02010600030101010101" pitchFamily="2" charset="-122"/>
              </a:rPr>
              <a:t> </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Distributed objects:</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Remote method invocation</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Network services</a:t>
            </a:r>
            <a:endParaRPr lang="en-US" altLang="zh-CN" sz="2000" dirty="0">
              <a:solidFill>
                <a:srgbClr val="FF6600"/>
              </a:solidFill>
              <a:ea typeface="宋体" panose="02010600030101010101" pitchFamily="2" charset="-122"/>
            </a:endParaRP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Object Request Broker</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Object space</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Component Based Technologies</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Mobile agents</a:t>
            </a:r>
            <a:endParaRPr lang="en-US" altLang="zh-CN" sz="2000" dirty="0">
              <a:solidFill>
                <a:srgbClr val="000099"/>
              </a:solidFill>
              <a:ea typeface="宋体" panose="02010600030101010101" pitchFamily="2" charset="-122"/>
            </a:endParaRP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Collaborative applications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433388" y="103188"/>
            <a:ext cx="8135937" cy="598487"/>
          </a:xfrm>
        </p:spPr>
        <p:txBody>
          <a:bodyPr vert="horz" wrap="square" lIns="91440" tIns="45720" rIns="91440" bIns="45720" anchor="ctr" anchorCtr="0"/>
          <a:lstStyle/>
          <a:p>
            <a:pPr algn="just" eaLnBrk="1" hangingPunct="1">
              <a:buNone/>
            </a:pPr>
            <a:r>
              <a:rPr lang="en-US" altLang="zh-CN" dirty="0">
                <a:solidFill>
                  <a:srgbClr val="FF3300"/>
                </a:solidFill>
                <a:ea typeface="宋体" panose="02010600030101010101" pitchFamily="2" charset="-122"/>
              </a:rPr>
              <a:t>2.3 Remote Procedure Call </a:t>
            </a:r>
          </a:p>
        </p:txBody>
      </p:sp>
      <p:sp>
        <p:nvSpPr>
          <p:cNvPr id="12291" name="Rectangle 3"/>
          <p:cNvSpPr>
            <a:spLocks noGrp="1"/>
          </p:cNvSpPr>
          <p:nvPr>
            <p:ph idx="1"/>
          </p:nvPr>
        </p:nvSpPr>
        <p:spPr>
          <a:xfrm>
            <a:off x="-223837" y="4075113"/>
            <a:ext cx="9275762" cy="2984500"/>
          </a:xfrm>
        </p:spPr>
        <p:txBody>
          <a:bodyPr vert="horz" wrap="square" lIns="91440" tIns="45720" rIns="91440" bIns="45720" anchor="t" anchorCtr="0"/>
          <a:lstStyle/>
          <a:p>
            <a:pPr lvl="1" eaLnBrk="1" hangingPunct="1">
              <a:lnSpc>
                <a:spcPct val="150000"/>
              </a:lnSpc>
              <a:buFont typeface="Wingdings" panose="05000000000000000000" pitchFamily="2" charset="2"/>
              <a:buChar char="p"/>
            </a:pPr>
            <a:r>
              <a:rPr lang="en-US" altLang="zh-CN" sz="2200" dirty="0">
                <a:solidFill>
                  <a:srgbClr val="000099"/>
                </a:solidFill>
                <a:ea typeface="宋体" panose="02010600030101010101" pitchFamily="2" charset="-122"/>
              </a:rPr>
              <a:t>A process, </a:t>
            </a:r>
            <a:r>
              <a:rPr lang="en-US" altLang="zh-CN" sz="2200" i="1" dirty="0">
                <a:solidFill>
                  <a:srgbClr val="000099"/>
                </a:solidFill>
                <a:ea typeface="宋体" panose="02010600030101010101" pitchFamily="2" charset="-122"/>
              </a:rPr>
              <a:t> A</a:t>
            </a:r>
            <a:r>
              <a:rPr lang="en-US" altLang="zh-CN" sz="2200" dirty="0">
                <a:solidFill>
                  <a:srgbClr val="000099"/>
                </a:solidFill>
                <a:ea typeface="宋体" panose="02010600030101010101" pitchFamily="2" charset="-122"/>
              </a:rPr>
              <a:t>, wishing to make a request to another process, </a:t>
            </a:r>
            <a:r>
              <a:rPr lang="en-US" altLang="zh-CN" sz="2200" i="1" dirty="0">
                <a:solidFill>
                  <a:srgbClr val="000099"/>
                </a:solidFill>
                <a:ea typeface="宋体" panose="02010600030101010101" pitchFamily="2" charset="-122"/>
              </a:rPr>
              <a:t>B</a:t>
            </a:r>
            <a:r>
              <a:rPr lang="en-US" altLang="zh-CN" sz="2200" dirty="0">
                <a:solidFill>
                  <a:srgbClr val="000099"/>
                </a:solidFill>
                <a:ea typeface="宋体" panose="02010600030101010101" pitchFamily="2" charset="-122"/>
              </a:rPr>
              <a:t>, </a:t>
            </a:r>
            <a:r>
              <a:rPr lang="en-US" altLang="zh-CN" sz="2200" dirty="0">
                <a:solidFill>
                  <a:srgbClr val="FF3300"/>
                </a:solidFill>
                <a:ea typeface="宋体" panose="02010600030101010101" pitchFamily="2" charset="-122"/>
              </a:rPr>
              <a:t>issues a procedure call to </a:t>
            </a:r>
            <a:r>
              <a:rPr lang="en-US" altLang="zh-CN" sz="2200" i="1" dirty="0">
                <a:solidFill>
                  <a:srgbClr val="FF3300"/>
                </a:solidFill>
                <a:ea typeface="宋体" panose="02010600030101010101" pitchFamily="2" charset="-122"/>
              </a:rPr>
              <a:t>B</a:t>
            </a:r>
            <a:r>
              <a:rPr lang="en-US" altLang="zh-CN" sz="2200" dirty="0">
                <a:solidFill>
                  <a:srgbClr val="FF3300"/>
                </a:solidFill>
                <a:ea typeface="宋体" panose="02010600030101010101" pitchFamily="2" charset="-122"/>
              </a:rPr>
              <a:t>,</a:t>
            </a:r>
            <a:r>
              <a:rPr lang="en-US" altLang="zh-CN" sz="2200" dirty="0">
                <a:solidFill>
                  <a:srgbClr val="000099"/>
                </a:solidFill>
                <a:ea typeface="宋体" panose="02010600030101010101" pitchFamily="2" charset="-122"/>
              </a:rPr>
              <a:t> passing with the call a list of argument values.   </a:t>
            </a:r>
          </a:p>
          <a:p>
            <a:pPr lvl="1" eaLnBrk="1" hangingPunct="1">
              <a:lnSpc>
                <a:spcPct val="150000"/>
              </a:lnSpc>
              <a:buFont typeface="Wingdings" panose="05000000000000000000" pitchFamily="2" charset="2"/>
              <a:buChar char="p"/>
            </a:pPr>
            <a:r>
              <a:rPr lang="en-US" altLang="zh-CN" sz="2200" dirty="0">
                <a:solidFill>
                  <a:srgbClr val="000099"/>
                </a:solidFill>
                <a:ea typeface="宋体" panose="02010600030101010101" pitchFamily="2" charset="-122"/>
              </a:rPr>
              <a:t>As in the case of  local procedure calls, </a:t>
            </a:r>
            <a:r>
              <a:rPr lang="en-US" altLang="zh-CN" sz="2200" dirty="0">
                <a:solidFill>
                  <a:srgbClr val="FF3300"/>
                </a:solidFill>
                <a:ea typeface="宋体" panose="02010600030101010101" pitchFamily="2" charset="-122"/>
              </a:rPr>
              <a:t>a remote procedure call triggers a predefined action in a procedure provided by process </a:t>
            </a:r>
            <a:r>
              <a:rPr lang="en-US" altLang="zh-CN" sz="2200" i="1" dirty="0">
                <a:solidFill>
                  <a:srgbClr val="FF3300"/>
                </a:solidFill>
                <a:ea typeface="宋体" panose="02010600030101010101" pitchFamily="2" charset="-122"/>
              </a:rPr>
              <a:t>B</a:t>
            </a:r>
            <a:r>
              <a:rPr lang="en-US" altLang="zh-CN" sz="2200" dirty="0">
                <a:solidFill>
                  <a:srgbClr val="000099"/>
                </a:solidFill>
                <a:ea typeface="宋体" panose="02010600030101010101" pitchFamily="2" charset="-122"/>
              </a:rPr>
              <a:t>.  </a:t>
            </a:r>
          </a:p>
          <a:p>
            <a:pPr lvl="1" eaLnBrk="1" hangingPunct="1">
              <a:lnSpc>
                <a:spcPct val="150000"/>
              </a:lnSpc>
              <a:buFont typeface="Wingdings" panose="05000000000000000000" pitchFamily="2" charset="2"/>
              <a:buChar char="p"/>
            </a:pPr>
            <a:r>
              <a:rPr lang="en-US" altLang="zh-CN" sz="2200" dirty="0">
                <a:solidFill>
                  <a:srgbClr val="000099"/>
                </a:solidFill>
                <a:ea typeface="宋体" panose="02010600030101010101" pitchFamily="2" charset="-122"/>
              </a:rPr>
              <a:t>At the completion of the procedure, </a:t>
            </a:r>
            <a:r>
              <a:rPr lang="en-US" altLang="zh-CN" sz="2200" dirty="0">
                <a:solidFill>
                  <a:srgbClr val="FF3300"/>
                </a:solidFill>
                <a:ea typeface="宋体" panose="02010600030101010101" pitchFamily="2" charset="-122"/>
              </a:rPr>
              <a:t>process </a:t>
            </a:r>
            <a:r>
              <a:rPr lang="en-US" altLang="zh-CN" sz="2200" i="1" dirty="0">
                <a:solidFill>
                  <a:srgbClr val="FF3300"/>
                </a:solidFill>
                <a:ea typeface="宋体" panose="02010600030101010101" pitchFamily="2" charset="-122"/>
              </a:rPr>
              <a:t>B</a:t>
            </a:r>
            <a:r>
              <a:rPr lang="en-US" altLang="zh-CN" sz="2200" dirty="0">
                <a:solidFill>
                  <a:srgbClr val="FF3300"/>
                </a:solidFill>
                <a:ea typeface="宋体" panose="02010600030101010101" pitchFamily="2" charset="-122"/>
              </a:rPr>
              <a:t> returns a value to process </a:t>
            </a:r>
            <a:r>
              <a:rPr lang="en-US" altLang="zh-CN" sz="2200" i="1" dirty="0">
                <a:solidFill>
                  <a:srgbClr val="FF3300"/>
                </a:solidFill>
                <a:ea typeface="宋体" panose="02010600030101010101" pitchFamily="2" charset="-122"/>
              </a:rPr>
              <a:t>A</a:t>
            </a:r>
            <a:r>
              <a:rPr lang="en-US" altLang="zh-CN" sz="2200" dirty="0">
                <a:solidFill>
                  <a:srgbClr val="FF3300"/>
                </a:solidFill>
                <a:ea typeface="宋体" panose="02010600030101010101" pitchFamily="2" charset="-122"/>
              </a:rPr>
              <a:t>.</a:t>
            </a:r>
            <a:r>
              <a:rPr lang="en-US" altLang="zh-CN" sz="2200" dirty="0">
                <a:solidFill>
                  <a:srgbClr val="000099"/>
                </a:solidFill>
                <a:ea typeface="宋体" panose="02010600030101010101" pitchFamily="2" charset="-122"/>
              </a:rPr>
              <a:t>  </a:t>
            </a:r>
          </a:p>
        </p:txBody>
      </p:sp>
      <p:sp>
        <p:nvSpPr>
          <p:cNvPr id="4" name="Rectangle 3"/>
          <p:cNvSpPr txBox="1">
            <a:spLocks noChangeArrowheads="1"/>
          </p:cNvSpPr>
          <p:nvPr/>
        </p:nvSpPr>
        <p:spPr bwMode="auto">
          <a:xfrm>
            <a:off x="152400" y="657225"/>
            <a:ext cx="8899525"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en-US" altLang="zh-CN" sz="2200" b="0" i="0" u="none" strike="noStrike" kern="0" cap="none" spc="0" normalizeH="0" baseline="0" noProof="0" dirty="0" err="1">
                <a:ln>
                  <a:noFill/>
                </a:ln>
                <a:solidFill>
                  <a:srgbClr val="000099"/>
                </a:solidFill>
                <a:effectLst/>
                <a:uLnTx/>
                <a:uFillTx/>
                <a:latin typeface="+mn-lt"/>
                <a:ea typeface="宋体" panose="02010600030101010101" pitchFamily="2" charset="-122"/>
                <a:cs typeface="Times New Roman" panose="02020603050405020304" pitchFamily="18" charset="0"/>
              </a:rPr>
              <a:t>Interprocess</a:t>
            </a:r>
            <a:r>
              <a:rPr kumimoji="0" lang="en-US" altLang="zh-CN" sz="22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 communications proceed as procedure, or function, calls, which are familiar to application programmers.</a:t>
            </a:r>
            <a:r>
              <a:rPr kumimoji="0" lang="en-US" altLang="zh-CN" sz="2200" b="0" i="0" u="none" strike="noStrike" kern="120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  </a:t>
            </a:r>
            <a:endParaRPr kumimoji="0" lang="en-US" altLang="zh-CN" sz="22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endParaRPr>
          </a:p>
        </p:txBody>
      </p:sp>
      <p:grpSp>
        <p:nvGrpSpPr>
          <p:cNvPr id="12293" name="组合 4"/>
          <p:cNvGrpSpPr/>
          <p:nvPr/>
        </p:nvGrpSpPr>
        <p:grpSpPr>
          <a:xfrm>
            <a:off x="1376363" y="1735138"/>
            <a:ext cx="5826125" cy="2235200"/>
            <a:chOff x="1816100" y="2363784"/>
            <a:chExt cx="5826125" cy="2485728"/>
          </a:xfrm>
        </p:grpSpPr>
        <p:sp>
          <p:nvSpPr>
            <p:cNvPr id="12294" name="Rectangle 7"/>
            <p:cNvSpPr/>
            <p:nvPr/>
          </p:nvSpPr>
          <p:spPr>
            <a:xfrm>
              <a:off x="1816100" y="2716391"/>
              <a:ext cx="1536700" cy="213312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12295" name="Rectangle 8"/>
            <p:cNvSpPr/>
            <p:nvPr/>
          </p:nvSpPr>
          <p:spPr>
            <a:xfrm>
              <a:off x="3727450" y="2954338"/>
              <a:ext cx="2039938" cy="5143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12296" name="Rectangle 9"/>
            <p:cNvSpPr/>
            <p:nvPr/>
          </p:nvSpPr>
          <p:spPr>
            <a:xfrm>
              <a:off x="3754438" y="3914775"/>
              <a:ext cx="2039937" cy="5143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12297" name="Rectangle 10"/>
            <p:cNvSpPr/>
            <p:nvPr/>
          </p:nvSpPr>
          <p:spPr>
            <a:xfrm>
              <a:off x="6105525" y="2817347"/>
              <a:ext cx="1536700" cy="203216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12298" name="Rectangle 11"/>
            <p:cNvSpPr/>
            <p:nvPr/>
          </p:nvSpPr>
          <p:spPr>
            <a:xfrm>
              <a:off x="1930400" y="2363784"/>
              <a:ext cx="1308100" cy="34926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r>
                <a:rPr lang="en-US" altLang="zh-CN" sz="1600" dirty="0">
                  <a:latin typeface="Arial" panose="020B0604020202020204" pitchFamily="34" charset="0"/>
                  <a:ea typeface="黑体" panose="02010609060101010101" pitchFamily="49" charset="-122"/>
                </a:rPr>
                <a:t>Process A</a:t>
              </a:r>
              <a:endParaRPr lang="zh-CN" altLang="en-US" sz="1600" dirty="0">
                <a:latin typeface="Arial" panose="020B0604020202020204" pitchFamily="34" charset="0"/>
                <a:ea typeface="黑体" panose="02010609060101010101" pitchFamily="49" charset="-122"/>
              </a:endParaRPr>
            </a:p>
          </p:txBody>
        </p:sp>
        <p:sp>
          <p:nvSpPr>
            <p:cNvPr id="12299" name="Rectangle 12"/>
            <p:cNvSpPr/>
            <p:nvPr/>
          </p:nvSpPr>
          <p:spPr>
            <a:xfrm>
              <a:off x="6145213" y="2502193"/>
              <a:ext cx="1308100" cy="34926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r>
                <a:rPr lang="en-US" altLang="zh-CN" sz="1600" dirty="0">
                  <a:latin typeface="Arial" panose="020B0604020202020204" pitchFamily="34" charset="0"/>
                  <a:ea typeface="黑体" panose="02010609060101010101" pitchFamily="49" charset="-122"/>
                </a:rPr>
                <a:t>Process B</a:t>
              </a:r>
              <a:endParaRPr lang="zh-CN" altLang="en-US" sz="1600" dirty="0">
                <a:latin typeface="Arial" panose="020B0604020202020204" pitchFamily="34" charset="0"/>
                <a:ea typeface="黑体" panose="02010609060101010101" pitchFamily="49" charset="-122"/>
              </a:endParaRPr>
            </a:p>
          </p:txBody>
        </p:sp>
        <p:sp>
          <p:nvSpPr>
            <p:cNvPr id="12300" name="Rectangle 13"/>
            <p:cNvSpPr/>
            <p:nvPr/>
          </p:nvSpPr>
          <p:spPr>
            <a:xfrm>
              <a:off x="6599238" y="2919413"/>
              <a:ext cx="515937" cy="154781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12301" name="Rectangle 14"/>
            <p:cNvSpPr/>
            <p:nvPr/>
          </p:nvSpPr>
          <p:spPr>
            <a:xfrm>
              <a:off x="3990975" y="3071813"/>
              <a:ext cx="1522413" cy="28416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r>
                <a:rPr lang="en-US" altLang="zh-CN" sz="1400" dirty="0">
                  <a:latin typeface="Arial" panose="020B0604020202020204" pitchFamily="34" charset="0"/>
                  <a:ea typeface="黑体" panose="02010609060101010101" pitchFamily="49" charset="-122"/>
                </a:rPr>
                <a:t>Proc1(arg1,arg2)</a:t>
              </a:r>
              <a:endParaRPr lang="zh-CN" altLang="en-US" sz="1400" dirty="0">
                <a:latin typeface="Arial" panose="020B0604020202020204" pitchFamily="34" charset="0"/>
                <a:ea typeface="黑体" panose="02010609060101010101" pitchFamily="49" charset="-122"/>
              </a:endParaRPr>
            </a:p>
          </p:txBody>
        </p:sp>
        <p:sp>
          <p:nvSpPr>
            <p:cNvPr id="12302" name="Rectangle 15"/>
            <p:cNvSpPr/>
            <p:nvPr/>
          </p:nvSpPr>
          <p:spPr>
            <a:xfrm>
              <a:off x="4427538" y="4033838"/>
              <a:ext cx="717550" cy="28416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r>
                <a:rPr lang="zh-CN" altLang="en-US" sz="1400" dirty="0">
                  <a:latin typeface="Arial" panose="020B0604020202020204" pitchFamily="34" charset="0"/>
                  <a:ea typeface="黑体" panose="02010609060101010101" pitchFamily="49" charset="-122"/>
                </a:rPr>
                <a:t>返回值</a:t>
              </a:r>
            </a:p>
          </p:txBody>
        </p:sp>
        <p:sp>
          <p:nvSpPr>
            <p:cNvPr id="12303" name="Line 16"/>
            <p:cNvSpPr/>
            <p:nvPr/>
          </p:nvSpPr>
          <p:spPr>
            <a:xfrm>
              <a:off x="2527300" y="2817813"/>
              <a:ext cx="0" cy="411162"/>
            </a:xfrm>
            <a:prstGeom prst="line">
              <a:avLst/>
            </a:prstGeom>
            <a:ln w="9525" cap="flat" cmpd="sng">
              <a:solidFill>
                <a:schemeClr val="tx1"/>
              </a:solidFill>
              <a:prstDash val="solid"/>
              <a:headEnd type="none" w="med" len="med"/>
              <a:tailEnd type="none" w="med" len="med"/>
            </a:ln>
          </p:spPr>
        </p:sp>
        <p:sp>
          <p:nvSpPr>
            <p:cNvPr id="12304" name="Line 17"/>
            <p:cNvSpPr/>
            <p:nvPr/>
          </p:nvSpPr>
          <p:spPr>
            <a:xfrm>
              <a:off x="2532063" y="3217863"/>
              <a:ext cx="1184275" cy="0"/>
            </a:xfrm>
            <a:prstGeom prst="line">
              <a:avLst/>
            </a:prstGeom>
            <a:ln w="9525" cap="flat" cmpd="sng">
              <a:solidFill>
                <a:schemeClr val="tx1"/>
              </a:solidFill>
              <a:prstDash val="solid"/>
              <a:headEnd type="none" w="med" len="med"/>
              <a:tailEnd type="triangle" w="med" len="med"/>
            </a:ln>
          </p:spPr>
        </p:sp>
        <p:sp>
          <p:nvSpPr>
            <p:cNvPr id="12305" name="Line 18"/>
            <p:cNvSpPr/>
            <p:nvPr/>
          </p:nvSpPr>
          <p:spPr>
            <a:xfrm flipH="1">
              <a:off x="2566988" y="4149725"/>
              <a:ext cx="1184275" cy="0"/>
            </a:xfrm>
            <a:prstGeom prst="line">
              <a:avLst/>
            </a:prstGeom>
            <a:ln w="9525" cap="flat" cmpd="sng">
              <a:solidFill>
                <a:schemeClr val="tx1"/>
              </a:solidFill>
              <a:prstDash val="solid"/>
              <a:headEnd type="none" w="med" len="med"/>
              <a:tailEnd type="none" w="med" len="med"/>
            </a:ln>
          </p:spPr>
        </p:sp>
        <p:sp>
          <p:nvSpPr>
            <p:cNvPr id="12306" name="Line 19"/>
            <p:cNvSpPr/>
            <p:nvPr/>
          </p:nvSpPr>
          <p:spPr>
            <a:xfrm>
              <a:off x="2566988" y="4149725"/>
              <a:ext cx="0" cy="550863"/>
            </a:xfrm>
            <a:prstGeom prst="line">
              <a:avLst/>
            </a:prstGeom>
            <a:ln w="9525" cap="flat" cmpd="sng">
              <a:solidFill>
                <a:schemeClr val="tx1"/>
              </a:solidFill>
              <a:prstDash val="solid"/>
              <a:headEnd type="none" w="med" len="med"/>
              <a:tailEnd type="triangle" w="med" len="med"/>
            </a:ln>
          </p:spPr>
        </p:sp>
        <p:sp>
          <p:nvSpPr>
            <p:cNvPr id="12307" name="Line 20"/>
            <p:cNvSpPr/>
            <p:nvPr/>
          </p:nvSpPr>
          <p:spPr>
            <a:xfrm>
              <a:off x="5767388" y="3176588"/>
              <a:ext cx="1020762" cy="0"/>
            </a:xfrm>
            <a:prstGeom prst="line">
              <a:avLst/>
            </a:prstGeom>
            <a:ln w="9525" cap="flat" cmpd="sng">
              <a:solidFill>
                <a:schemeClr val="tx1"/>
              </a:solidFill>
              <a:prstDash val="solid"/>
              <a:headEnd type="none" w="med" len="med"/>
              <a:tailEnd type="none" w="med" len="med"/>
            </a:ln>
          </p:spPr>
        </p:sp>
        <p:sp>
          <p:nvSpPr>
            <p:cNvPr id="12308" name="Line 21"/>
            <p:cNvSpPr/>
            <p:nvPr/>
          </p:nvSpPr>
          <p:spPr>
            <a:xfrm>
              <a:off x="6799263" y="3176588"/>
              <a:ext cx="0" cy="1008062"/>
            </a:xfrm>
            <a:prstGeom prst="line">
              <a:avLst/>
            </a:prstGeom>
            <a:ln w="9525" cap="flat" cmpd="sng">
              <a:solidFill>
                <a:schemeClr val="tx1"/>
              </a:solidFill>
              <a:prstDash val="solid"/>
              <a:headEnd type="none" w="med" len="med"/>
              <a:tailEnd type="none" w="med" len="med"/>
            </a:ln>
          </p:spPr>
        </p:sp>
        <p:sp>
          <p:nvSpPr>
            <p:cNvPr id="12309" name="Line 22"/>
            <p:cNvSpPr/>
            <p:nvPr/>
          </p:nvSpPr>
          <p:spPr>
            <a:xfrm flipH="1">
              <a:off x="5756275" y="4184650"/>
              <a:ext cx="1042988" cy="0"/>
            </a:xfrm>
            <a:prstGeom prst="line">
              <a:avLst/>
            </a:prstGeom>
            <a:ln w="9525" cap="flat" cmpd="sng">
              <a:solidFill>
                <a:schemeClr val="tx1"/>
              </a:solidFill>
              <a:prstDash val="solid"/>
              <a:headEnd type="none" w="med" len="med"/>
              <a:tailEnd type="triangle" w="med" len="med"/>
            </a:ln>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292100" y="190500"/>
            <a:ext cx="8674100" cy="508000"/>
          </a:xfrm>
        </p:spPr>
        <p:txBody>
          <a:bodyPr vert="horz" wrap="square" lIns="91440" tIns="45720" rIns="91440" bIns="45720" anchor="ctr" anchorCtr="0"/>
          <a:lstStyle/>
          <a:p>
            <a:pPr algn="just" eaLnBrk="1" hangingPunct="1">
              <a:buNone/>
            </a:pPr>
            <a:r>
              <a:rPr lang="en-US" altLang="zh-CN" dirty="0">
                <a:solidFill>
                  <a:srgbClr val="FF3300"/>
                </a:solidFill>
                <a:ea typeface="宋体" panose="02010600030101010101" pitchFamily="2" charset="-122"/>
              </a:rPr>
              <a:t>2.3 Remote Procedure Call </a:t>
            </a:r>
          </a:p>
        </p:txBody>
      </p:sp>
      <p:sp>
        <p:nvSpPr>
          <p:cNvPr id="13315" name="Rectangle 3"/>
          <p:cNvSpPr>
            <a:spLocks noGrp="1"/>
          </p:cNvSpPr>
          <p:nvPr>
            <p:ph idx="1"/>
          </p:nvPr>
        </p:nvSpPr>
        <p:spPr>
          <a:xfrm>
            <a:off x="63500" y="3230563"/>
            <a:ext cx="8902700" cy="3552825"/>
          </a:xfrm>
        </p:spPr>
        <p:txBody>
          <a:bodyPr vert="horz" wrap="square" lIns="91440" tIns="45720" rIns="91440" bIns="45720" anchor="t" anchorCtr="0"/>
          <a:lstStyle/>
          <a:p>
            <a:pPr algn="just" eaLnBrk="1" hangingPunct="1">
              <a:lnSpc>
                <a:spcPct val="150000"/>
              </a:lnSpc>
              <a:buFont typeface="Wingdings" panose="05000000000000000000" pitchFamily="2" charset="2"/>
              <a:buChar char="Ø"/>
            </a:pPr>
            <a:r>
              <a:rPr lang="en-US" altLang="zh-CN" sz="2000" dirty="0">
                <a:solidFill>
                  <a:srgbClr val="000099"/>
                </a:solidFill>
                <a:ea typeface="宋体" panose="02010600030101010101" pitchFamily="2" charset="-122"/>
              </a:rPr>
              <a:t>Since its introduction in the early 1980s, the RPC model has been widely in use in network applications. There are two prevalent APIs for Remote Procedure Calls. </a:t>
            </a:r>
          </a:p>
          <a:p>
            <a:pPr lvl="1" algn="just" eaLnBrk="1" hangingPunct="1">
              <a:lnSpc>
                <a:spcPct val="150000"/>
              </a:lnSpc>
              <a:buFont typeface="Wingdings" panose="05000000000000000000" pitchFamily="2" charset="2"/>
              <a:buChar char="p"/>
            </a:pPr>
            <a:r>
              <a:rPr lang="en-US" altLang="zh-CN" sz="2000" dirty="0">
                <a:solidFill>
                  <a:srgbClr val="000099"/>
                </a:solidFill>
                <a:ea typeface="宋体" panose="02010600030101010101" pitchFamily="2" charset="-122"/>
              </a:rPr>
              <a:t>The </a:t>
            </a:r>
            <a:r>
              <a:rPr lang="en-US" altLang="zh-CN" sz="2000" b="1" i="1" dirty="0">
                <a:solidFill>
                  <a:srgbClr val="FF3300"/>
                </a:solidFill>
                <a:ea typeface="宋体" panose="02010600030101010101" pitchFamily="2" charset="-122"/>
              </a:rPr>
              <a:t>Open Network Computing Remote Procedure Call</a:t>
            </a:r>
            <a:r>
              <a:rPr lang="en-US" altLang="zh-CN" sz="2000" dirty="0">
                <a:solidFill>
                  <a:srgbClr val="000099"/>
                </a:solidFill>
                <a:ea typeface="宋体" panose="02010600030101010101" pitchFamily="2" charset="-122"/>
              </a:rPr>
              <a:t>, evolved from the RPC API originated from Sun Microsystems in the early 1980s.  </a:t>
            </a:r>
          </a:p>
          <a:p>
            <a:pPr lvl="1" algn="just" eaLnBrk="1" hangingPunct="1">
              <a:lnSpc>
                <a:spcPct val="150000"/>
              </a:lnSpc>
              <a:buFont typeface="Wingdings" panose="05000000000000000000" pitchFamily="2" charset="2"/>
              <a:buChar char="p"/>
            </a:pPr>
            <a:r>
              <a:rPr lang="en-US" altLang="zh-CN" sz="2000" dirty="0">
                <a:solidFill>
                  <a:srgbClr val="000099"/>
                </a:solidFill>
                <a:ea typeface="宋体" panose="02010600030101010101" pitchFamily="2" charset="-122"/>
              </a:rPr>
              <a:t>The </a:t>
            </a:r>
            <a:r>
              <a:rPr lang="en-US" altLang="zh-CN" sz="2000" b="1" i="1" dirty="0">
                <a:solidFill>
                  <a:srgbClr val="FF3300"/>
                </a:solidFill>
                <a:ea typeface="宋体" panose="02010600030101010101" pitchFamily="2" charset="-122"/>
              </a:rPr>
              <a:t>Open Group Distributed Computing Environment</a:t>
            </a:r>
            <a:r>
              <a:rPr lang="en-US" altLang="zh-CN" sz="2000" dirty="0">
                <a:solidFill>
                  <a:srgbClr val="000099"/>
                </a:solidFill>
                <a:ea typeface="宋体" panose="02010600030101010101" pitchFamily="2" charset="-122"/>
              </a:rPr>
              <a:t> (DCE) RPC.  </a:t>
            </a:r>
          </a:p>
          <a:p>
            <a:pPr algn="just" eaLnBrk="1" hangingPunct="1">
              <a:lnSpc>
                <a:spcPct val="150000"/>
              </a:lnSpc>
              <a:buFont typeface="Wingdings" panose="05000000000000000000" pitchFamily="2" charset="2"/>
              <a:buChar char="Ø"/>
            </a:pPr>
            <a:r>
              <a:rPr lang="en-US" altLang="zh-CN" sz="2000" dirty="0">
                <a:solidFill>
                  <a:srgbClr val="000099"/>
                </a:solidFill>
                <a:ea typeface="宋体" panose="02010600030101010101" pitchFamily="2" charset="-122"/>
              </a:rPr>
              <a:t>Both APIs provide a tool, </a:t>
            </a:r>
            <a:r>
              <a:rPr lang="en-US" altLang="zh-CN" sz="2000" b="1" i="1" dirty="0">
                <a:solidFill>
                  <a:srgbClr val="FF3300"/>
                </a:solidFill>
                <a:ea typeface="宋体" panose="02010600030101010101" pitchFamily="2" charset="-122"/>
              </a:rPr>
              <a:t>rpcgen</a:t>
            </a:r>
            <a:r>
              <a:rPr lang="en-US" altLang="zh-CN" sz="2000" dirty="0">
                <a:solidFill>
                  <a:srgbClr val="000099"/>
                </a:solidFill>
                <a:ea typeface="宋体" panose="02010600030101010101" pitchFamily="2" charset="-122"/>
              </a:rPr>
              <a:t>,</a:t>
            </a:r>
            <a:r>
              <a:rPr lang="zh-CN" altLang="zh-CN" sz="2000" dirty="0">
                <a:solidFill>
                  <a:srgbClr val="000099"/>
                </a:solidFill>
                <a:ea typeface="宋体" panose="02010600030101010101" pitchFamily="2" charset="-122"/>
              </a:rPr>
              <a:t>可以自动生成</a:t>
            </a:r>
            <a:r>
              <a:rPr lang="en-US" altLang="zh-CN" sz="2000" dirty="0">
                <a:solidFill>
                  <a:srgbClr val="000099"/>
                </a:solidFill>
                <a:ea typeface="宋体" panose="02010600030101010101" pitchFamily="2" charset="-122"/>
              </a:rPr>
              <a:t>RPC</a:t>
            </a:r>
            <a:r>
              <a:rPr lang="zh-CN" altLang="zh-CN" sz="2000" dirty="0">
                <a:solidFill>
                  <a:srgbClr val="000099"/>
                </a:solidFill>
                <a:ea typeface="宋体" panose="02010600030101010101" pitchFamily="2" charset="-122"/>
              </a:rPr>
              <a:t>服务器程序的大多数代码，包含实现客户机和服务器程序所需要的大部分源代码。</a:t>
            </a:r>
            <a:endParaRPr lang="en-US" altLang="zh-CN" sz="2000" dirty="0">
              <a:solidFill>
                <a:srgbClr val="000099"/>
              </a:solidFill>
              <a:ea typeface="宋体" panose="02010600030101010101" pitchFamily="2" charset="-122"/>
            </a:endParaRPr>
          </a:p>
        </p:txBody>
      </p:sp>
      <p:graphicFrame>
        <p:nvGraphicFramePr>
          <p:cNvPr id="13316" name="Object 3" descr="Rectangle: Click to edit Master text styles&#10;Second level&#10;Third level&#10;Fourth level&#10;Fifth level"/>
          <p:cNvGraphicFramePr>
            <a:graphicFrameLocks noChangeAspect="1"/>
          </p:cNvGraphicFramePr>
          <p:nvPr/>
        </p:nvGraphicFramePr>
        <p:xfrm>
          <a:off x="1222375" y="590550"/>
          <a:ext cx="6408738" cy="2651125"/>
        </p:xfrm>
        <a:graphic>
          <a:graphicData uri="http://schemas.openxmlformats.org/presentationml/2006/ole">
            <mc:AlternateContent xmlns:mc="http://schemas.openxmlformats.org/markup-compatibility/2006">
              <mc:Choice xmlns:v="urn:schemas-microsoft-com:vml" Requires="v">
                <p:oleObj spid="_x0000_s3079" r:id="rId4" imgW="3666490" imgH="1737360" progId="SmartDraw.2">
                  <p:embed/>
                </p:oleObj>
              </mc:Choice>
              <mc:Fallback>
                <p:oleObj r:id="rId4" imgW="3666490" imgH="1737360" progId="SmartDraw.2">
                  <p:embed/>
                  <p:pic>
                    <p:nvPicPr>
                      <p:cNvPr id="0" name="图片 3075"/>
                      <p:cNvPicPr/>
                      <p:nvPr/>
                    </p:nvPicPr>
                    <p:blipFill>
                      <a:blip r:embed="rId5"/>
                      <a:stretch>
                        <a:fillRect/>
                      </a:stretch>
                    </p:blipFill>
                    <p:spPr>
                      <a:xfrm>
                        <a:off x="1222375" y="590550"/>
                        <a:ext cx="6408738" cy="2651125"/>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1193800" y="0"/>
            <a:ext cx="7048500" cy="747713"/>
          </a:xfrm>
        </p:spPr>
        <p:txBody>
          <a:bodyPr vert="horz" wrap="square" lIns="91440" tIns="45720" rIns="91440" bIns="45720" anchor="ctr" anchorCtr="0"/>
          <a:lstStyle/>
          <a:p>
            <a:pPr eaLnBrk="1" hangingPunct="1"/>
            <a:r>
              <a:rPr lang="en-US" altLang="zh-CN" dirty="0">
                <a:ea typeface="宋体" panose="02010600030101010101" pitchFamily="2" charset="-122"/>
              </a:rPr>
              <a:t>2.3 Remote Procedure Call</a:t>
            </a:r>
          </a:p>
        </p:txBody>
      </p:sp>
      <p:sp>
        <p:nvSpPr>
          <p:cNvPr id="14339" name="Rectangle 3"/>
          <p:cNvSpPr>
            <a:spLocks noGrp="1"/>
          </p:cNvSpPr>
          <p:nvPr>
            <p:ph idx="1"/>
          </p:nvPr>
        </p:nvSpPr>
        <p:spPr>
          <a:xfrm>
            <a:off x="414338" y="747713"/>
            <a:ext cx="8166100" cy="4972050"/>
          </a:xfrm>
        </p:spPr>
        <p:txBody>
          <a:bodyPr vert="horz" wrap="square" lIns="91440" tIns="45720" rIns="91440" bIns="45720" anchor="t" anchorCtr="0"/>
          <a:lstStyle/>
          <a:p>
            <a:pPr algn="l">
              <a:lnSpc>
                <a:spcPct val="150000"/>
              </a:lnSpc>
              <a:buNone/>
            </a:pPr>
            <a:r>
              <a:rPr lang="zh-CN" altLang="en-US" sz="2400" b="1" dirty="0">
                <a:solidFill>
                  <a:srgbClr val="FF0000"/>
                </a:solidFill>
                <a:latin typeface="宋体" panose="02010600030101010101" pitchFamily="2" charset="-122"/>
                <a:ea typeface="宋体" panose="02010600030101010101" pitchFamily="2" charset="-122"/>
              </a:rPr>
              <a:t>一种拍卖系统的</a:t>
            </a:r>
            <a:r>
              <a:rPr lang="en-US" altLang="zh-CN" sz="2400" b="1" dirty="0">
                <a:solidFill>
                  <a:srgbClr val="FF0000"/>
                </a:solidFill>
                <a:latin typeface="宋体" panose="02010600030101010101" pitchFamily="2" charset="-122"/>
                <a:ea typeface="宋体" panose="02010600030101010101" pitchFamily="2" charset="-122"/>
              </a:rPr>
              <a:t>RPC</a:t>
            </a:r>
            <a:r>
              <a:rPr lang="zh-CN" altLang="en-US" sz="2400" b="1" dirty="0">
                <a:solidFill>
                  <a:srgbClr val="FF0000"/>
                </a:solidFill>
                <a:latin typeface="宋体" panose="02010600030101010101" pitchFamily="2" charset="-122"/>
                <a:ea typeface="宋体" panose="02010600030101010101" pitchFamily="2" charset="-122"/>
              </a:rPr>
              <a:t>实现：</a:t>
            </a:r>
          </a:p>
          <a:p>
            <a:pPr algn="l">
              <a:lnSpc>
                <a:spcPct val="150000"/>
              </a:lnSpc>
            </a:pPr>
            <a:r>
              <a:rPr lang="zh-CN" altLang="en-US" sz="2400" b="1" dirty="0">
                <a:solidFill>
                  <a:srgbClr val="FF0000"/>
                </a:solidFill>
                <a:latin typeface="宋体" panose="02010600030101010101" pitchFamily="2" charset="-122"/>
                <a:ea typeface="宋体" panose="02010600030101010101" pitchFamily="2" charset="-122"/>
              </a:rPr>
              <a:t>拍卖者</a:t>
            </a:r>
            <a:r>
              <a:rPr lang="zh-CN" altLang="en-US" sz="2400" b="1" dirty="0">
                <a:solidFill>
                  <a:srgbClr val="000099"/>
                </a:solidFill>
                <a:latin typeface="宋体" panose="02010600030101010101" pitchFamily="2" charset="-122"/>
                <a:ea typeface="宋体" panose="02010600030101010101" pitchFamily="2" charset="-122"/>
              </a:rPr>
              <a:t>为</a:t>
            </a:r>
            <a:r>
              <a:rPr lang="zh-CN" altLang="en-US" sz="2400" b="1" dirty="0">
                <a:solidFill>
                  <a:srgbClr val="FF0000"/>
                </a:solidFill>
                <a:latin typeface="宋体" panose="02010600030101010101" pitchFamily="2" charset="-122"/>
                <a:ea typeface="宋体" panose="02010600030101010101" pitchFamily="2" charset="-122"/>
              </a:rPr>
              <a:t>竟拍者</a:t>
            </a:r>
            <a:r>
              <a:rPr lang="zh-CN" altLang="en-US" sz="2400" b="1" dirty="0">
                <a:solidFill>
                  <a:srgbClr val="000099"/>
                </a:solidFill>
                <a:latin typeface="宋体" panose="02010600030101010101" pitchFamily="2" charset="-122"/>
                <a:ea typeface="宋体" panose="02010600030101010101" pitchFamily="2" charset="-122"/>
              </a:rPr>
              <a:t>提供</a:t>
            </a:r>
            <a:r>
              <a:rPr lang="en-US" altLang="zh-CN" sz="2400" b="1" dirty="0">
                <a:solidFill>
                  <a:srgbClr val="000099"/>
                </a:solidFill>
                <a:latin typeface="宋体" panose="02010600030101010101" pitchFamily="2" charset="-122"/>
                <a:ea typeface="宋体" panose="02010600030101010101" pitchFamily="2" charset="-122"/>
              </a:rPr>
              <a:t>2</a:t>
            </a:r>
            <a:r>
              <a:rPr lang="zh-CN" altLang="en-US" sz="2400" b="1" dirty="0">
                <a:solidFill>
                  <a:srgbClr val="000099"/>
                </a:solidFill>
                <a:latin typeface="宋体" panose="02010600030101010101" pitchFamily="2" charset="-122"/>
                <a:ea typeface="宋体" panose="02010600030101010101" pitchFamily="2" charset="-122"/>
              </a:rPr>
              <a:t>个远程过程：</a:t>
            </a:r>
          </a:p>
          <a:p>
            <a:pPr algn="l">
              <a:lnSpc>
                <a:spcPct val="150000"/>
              </a:lnSpc>
              <a:buNone/>
            </a:pPr>
            <a:r>
              <a:rPr lang="zh-CN" altLang="en-US" sz="2400" b="1" dirty="0">
                <a:solidFill>
                  <a:srgbClr val="000099"/>
                </a:solidFill>
                <a:latin typeface="宋体" panose="02010600030101010101" pitchFamily="2" charset="-122"/>
                <a:ea typeface="宋体" panose="02010600030101010101" pitchFamily="2" charset="-122"/>
              </a:rPr>
              <a:t>        </a:t>
            </a:r>
            <a:r>
              <a:rPr lang="en-US" altLang="zh-CN" sz="2400" b="1" dirty="0">
                <a:solidFill>
                  <a:srgbClr val="000099"/>
                </a:solidFill>
                <a:latin typeface="宋体" panose="02010600030101010101" pitchFamily="2" charset="-122"/>
                <a:ea typeface="宋体" panose="02010600030101010101" pitchFamily="2" charset="-122"/>
              </a:rPr>
              <a:t>1.</a:t>
            </a:r>
            <a:r>
              <a:rPr lang="zh-CN" altLang="en-US" sz="2400" b="1" dirty="0">
                <a:solidFill>
                  <a:srgbClr val="000099"/>
                </a:solidFill>
                <a:latin typeface="宋体" panose="02010600030101010101" pitchFamily="2" charset="-122"/>
                <a:ea typeface="宋体" panose="02010600030101010101" pitchFamily="2" charset="-122"/>
              </a:rPr>
              <a:t>竟拍者注册过程；</a:t>
            </a:r>
          </a:p>
          <a:p>
            <a:pPr algn="l">
              <a:lnSpc>
                <a:spcPct val="150000"/>
              </a:lnSpc>
              <a:buNone/>
            </a:pPr>
            <a:r>
              <a:rPr lang="en-US" altLang="zh-CN" sz="2400" b="1" dirty="0">
                <a:solidFill>
                  <a:srgbClr val="000099"/>
                </a:solidFill>
                <a:latin typeface="宋体" panose="02010600030101010101" pitchFamily="2" charset="-122"/>
                <a:ea typeface="宋体" panose="02010600030101010101" pitchFamily="2" charset="-122"/>
              </a:rPr>
              <a:t>        2.</a:t>
            </a:r>
            <a:r>
              <a:rPr lang="zh-CN" altLang="en-US" sz="2400" b="1" dirty="0">
                <a:solidFill>
                  <a:srgbClr val="000099"/>
                </a:solidFill>
                <a:latin typeface="宋体" panose="02010600030101010101" pitchFamily="2" charset="-122"/>
                <a:ea typeface="宋体" panose="02010600030101010101" pitchFamily="2" charset="-122"/>
              </a:rPr>
              <a:t>竟拍者投标过程；</a:t>
            </a:r>
          </a:p>
          <a:p>
            <a:pPr algn="l">
              <a:lnSpc>
                <a:spcPct val="150000"/>
              </a:lnSpc>
            </a:pPr>
            <a:r>
              <a:rPr lang="zh-CN" altLang="en-US" sz="2400" b="1" dirty="0">
                <a:solidFill>
                  <a:srgbClr val="FF0000"/>
                </a:solidFill>
                <a:latin typeface="宋体" panose="02010600030101010101" pitchFamily="2" charset="-122"/>
                <a:ea typeface="宋体" panose="02010600030101010101" pitchFamily="2" charset="-122"/>
              </a:rPr>
              <a:t>竟拍者</a:t>
            </a:r>
            <a:r>
              <a:rPr lang="zh-CN" altLang="en-US" sz="2400" b="1" dirty="0">
                <a:solidFill>
                  <a:srgbClr val="000099"/>
                </a:solidFill>
                <a:latin typeface="宋体" panose="02010600030101010101" pitchFamily="2" charset="-122"/>
                <a:ea typeface="宋体" panose="02010600030101010101" pitchFamily="2" charset="-122"/>
              </a:rPr>
              <a:t>为</a:t>
            </a:r>
            <a:r>
              <a:rPr lang="zh-CN" altLang="en-US" sz="2400" b="1" dirty="0">
                <a:solidFill>
                  <a:srgbClr val="FF0000"/>
                </a:solidFill>
                <a:latin typeface="宋体" panose="02010600030101010101" pitchFamily="2" charset="-122"/>
                <a:ea typeface="宋体" panose="02010600030101010101" pitchFamily="2" charset="-122"/>
              </a:rPr>
              <a:t>拍卖者</a:t>
            </a:r>
            <a:r>
              <a:rPr lang="zh-CN" altLang="en-US" sz="2400" b="1" dirty="0">
                <a:solidFill>
                  <a:srgbClr val="000099"/>
                </a:solidFill>
                <a:latin typeface="宋体" panose="02010600030101010101" pitchFamily="2" charset="-122"/>
                <a:ea typeface="宋体" panose="02010600030101010101" pitchFamily="2" charset="-122"/>
              </a:rPr>
              <a:t>提供</a:t>
            </a:r>
            <a:r>
              <a:rPr lang="en-US" altLang="zh-CN" sz="2400" b="1" dirty="0">
                <a:solidFill>
                  <a:srgbClr val="000099"/>
                </a:solidFill>
                <a:latin typeface="宋体" panose="02010600030101010101" pitchFamily="2" charset="-122"/>
                <a:ea typeface="宋体" panose="02010600030101010101" pitchFamily="2" charset="-122"/>
              </a:rPr>
              <a:t>3</a:t>
            </a:r>
            <a:r>
              <a:rPr lang="zh-CN" altLang="en-US" sz="2400" b="1" dirty="0">
                <a:solidFill>
                  <a:srgbClr val="000099"/>
                </a:solidFill>
                <a:latin typeface="宋体" panose="02010600030101010101" pitchFamily="2" charset="-122"/>
                <a:ea typeface="宋体" panose="02010600030101010101" pitchFamily="2" charset="-122"/>
              </a:rPr>
              <a:t>个远程过程：</a:t>
            </a:r>
          </a:p>
          <a:p>
            <a:pPr algn="l">
              <a:lnSpc>
                <a:spcPct val="150000"/>
              </a:lnSpc>
              <a:buNone/>
            </a:pPr>
            <a:r>
              <a:rPr lang="en-US" altLang="zh-CN" sz="2400" b="1" dirty="0">
                <a:solidFill>
                  <a:srgbClr val="000099"/>
                </a:solidFill>
                <a:latin typeface="宋体" panose="02010600030101010101" pitchFamily="2" charset="-122"/>
                <a:ea typeface="宋体" panose="02010600030101010101" pitchFamily="2" charset="-122"/>
              </a:rPr>
              <a:t>        1.</a:t>
            </a:r>
            <a:r>
              <a:rPr lang="zh-CN" altLang="en-US" sz="2400" b="1" dirty="0">
                <a:solidFill>
                  <a:srgbClr val="000099"/>
                </a:solidFill>
                <a:latin typeface="宋体" panose="02010600030101010101" pitchFamily="2" charset="-122"/>
                <a:ea typeface="宋体" panose="02010600030101010101" pitchFamily="2" charset="-122"/>
              </a:rPr>
              <a:t>允许拍卖者向竟拍者宣布拍卖开始</a:t>
            </a:r>
            <a:r>
              <a:rPr lang="en-US" altLang="zh-CN" sz="2400" b="1" dirty="0">
                <a:solidFill>
                  <a:srgbClr val="000099"/>
                </a:solidFill>
                <a:latin typeface="宋体" panose="02010600030101010101" pitchFamily="2" charset="-122"/>
                <a:ea typeface="宋体" panose="02010600030101010101" pitchFamily="2" charset="-122"/>
              </a:rPr>
              <a:t>;</a:t>
            </a:r>
          </a:p>
          <a:p>
            <a:pPr algn="l">
              <a:lnSpc>
                <a:spcPct val="150000"/>
              </a:lnSpc>
              <a:buNone/>
            </a:pPr>
            <a:r>
              <a:rPr lang="en-US" altLang="zh-CN" sz="2400" b="1" dirty="0">
                <a:solidFill>
                  <a:srgbClr val="000099"/>
                </a:solidFill>
                <a:latin typeface="宋体" panose="02010600030101010101" pitchFamily="2" charset="-122"/>
                <a:ea typeface="宋体" panose="02010600030101010101" pitchFamily="2" charset="-122"/>
              </a:rPr>
              <a:t>        2.</a:t>
            </a:r>
            <a:r>
              <a:rPr lang="zh-CN" altLang="en-US" sz="2400" b="1" dirty="0">
                <a:solidFill>
                  <a:srgbClr val="000099"/>
                </a:solidFill>
                <a:latin typeface="宋体" panose="02010600030101010101" pitchFamily="2" charset="-122"/>
                <a:ea typeface="宋体" panose="02010600030101010101" pitchFamily="2" charset="-122"/>
              </a:rPr>
              <a:t>允许拍卖者向竟拍者通告最新标价</a:t>
            </a:r>
            <a:r>
              <a:rPr lang="en-US" altLang="zh-CN" sz="2400" b="1" dirty="0">
                <a:solidFill>
                  <a:srgbClr val="000099"/>
                </a:solidFill>
                <a:latin typeface="宋体" panose="02010600030101010101" pitchFamily="2" charset="-122"/>
                <a:ea typeface="宋体" panose="02010600030101010101" pitchFamily="2" charset="-122"/>
              </a:rPr>
              <a:t>;</a:t>
            </a:r>
          </a:p>
          <a:p>
            <a:pPr algn="l">
              <a:lnSpc>
                <a:spcPct val="150000"/>
              </a:lnSpc>
              <a:buNone/>
            </a:pPr>
            <a:r>
              <a:rPr lang="en-US" altLang="zh-CN" sz="2400" b="1" dirty="0">
                <a:solidFill>
                  <a:srgbClr val="000099"/>
                </a:solidFill>
                <a:latin typeface="宋体" panose="02010600030101010101" pitchFamily="2" charset="-122"/>
                <a:ea typeface="宋体" panose="02010600030101010101" pitchFamily="2" charset="-122"/>
              </a:rPr>
              <a:t>        3.</a:t>
            </a:r>
            <a:r>
              <a:rPr lang="zh-CN" altLang="en-US" sz="2400" b="1" dirty="0">
                <a:solidFill>
                  <a:srgbClr val="000099"/>
                </a:solidFill>
                <a:latin typeface="宋体" panose="02010600030101010101" pitchFamily="2" charset="-122"/>
                <a:ea typeface="宋体" panose="02010600030101010101" pitchFamily="2" charset="-122"/>
              </a:rPr>
              <a:t>允许拍卖者向竟拍者宣布拍卖结束</a:t>
            </a:r>
            <a:r>
              <a:rPr lang="en-US" altLang="zh-CN" sz="2400" b="1" dirty="0">
                <a:solidFill>
                  <a:srgbClr val="000099"/>
                </a:solidFill>
                <a:latin typeface="宋体" panose="02010600030101010101" pitchFamily="2" charset="-122"/>
                <a:ea typeface="宋体" panose="02010600030101010101" pitchFamily="2" charset="-122"/>
              </a:rPr>
              <a:t>.</a:t>
            </a:r>
          </a:p>
          <a:p>
            <a:pPr algn="l">
              <a:lnSpc>
                <a:spcPct val="150000"/>
              </a:lnSpc>
              <a:buNone/>
            </a:pPr>
            <a:r>
              <a:rPr lang="zh-CN" altLang="en-US" sz="2400" b="1" dirty="0">
                <a:solidFill>
                  <a:srgbClr val="FF0000"/>
                </a:solidFill>
                <a:latin typeface="宋体" panose="02010600030101010101" pitchFamily="2" charset="-122"/>
                <a:ea typeface="宋体" panose="02010600030101010101" pitchFamily="2" charset="-122"/>
              </a:rPr>
              <a:t>思考题：写出拍卖系统的程序框架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p:txBody>
          <a:bodyPr vert="horz" wrap="square" lIns="91440" tIns="45720" rIns="91440" bIns="45720" anchor="ctr" anchorCtr="0"/>
          <a:lstStyle/>
          <a:p>
            <a:pPr algn="just" eaLnBrk="1" hangingPunct="1">
              <a:buNone/>
            </a:pPr>
            <a:r>
              <a:rPr lang="en-US" altLang="zh-CN" dirty="0">
                <a:ea typeface="宋体" panose="02010600030101010101" pitchFamily="2" charset="-122"/>
              </a:rPr>
              <a:t>2.4 Client-Server Paradigm</a:t>
            </a:r>
          </a:p>
        </p:txBody>
      </p:sp>
      <p:sp>
        <p:nvSpPr>
          <p:cNvPr id="15363" name="Rectangle 3" descr="Rectangle: Click to edit Master text styles&#10;Second level&#10;Third level&#10;Fourth level&#10;Fifth level"/>
          <p:cNvSpPr>
            <a:spLocks noGrp="1"/>
          </p:cNvSpPr>
          <p:nvPr>
            <p:ph idx="1"/>
          </p:nvPr>
        </p:nvSpPr>
        <p:spPr>
          <a:xfrm>
            <a:off x="533400" y="1131888"/>
            <a:ext cx="8124825" cy="5492750"/>
          </a:xfrm>
        </p:spPr>
        <p:txBody>
          <a:bodyPr vert="horz" wrap="square" lIns="91440" tIns="45720" rIns="91440" bIns="45720" anchor="t" anchorCtr="0"/>
          <a:lstStyle/>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Message passing  </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Remote Procedure Call</a:t>
            </a:r>
          </a:p>
          <a:p>
            <a:pPr algn="l" eaLnBrk="1" hangingPunct="1">
              <a:buFont typeface="Wingdings" panose="05000000000000000000" pitchFamily="2" charset="2"/>
              <a:buChar char="Ø"/>
            </a:pPr>
            <a:r>
              <a:rPr lang="en-US" altLang="zh-CN" sz="2400" b="1" dirty="0">
                <a:solidFill>
                  <a:srgbClr val="FF3300"/>
                </a:solidFill>
                <a:ea typeface="宋体" panose="02010600030101010101" pitchFamily="2" charset="-122"/>
              </a:rPr>
              <a:t>Client-server</a:t>
            </a:r>
            <a:endParaRPr lang="en-US" altLang="zh-CN" sz="2400" dirty="0">
              <a:solidFill>
                <a:srgbClr val="FF3300"/>
              </a:solidFill>
              <a:ea typeface="宋体" panose="02010600030101010101" pitchFamily="2" charset="-122"/>
            </a:endParaRP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Peer-to-Peer</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Message system</a:t>
            </a:r>
            <a:r>
              <a:rPr lang="en-US" altLang="zh-CN" sz="2000" dirty="0">
                <a:solidFill>
                  <a:srgbClr val="000099"/>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Point-to-point;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Publish/Subscribe</a:t>
            </a:r>
            <a:r>
              <a:rPr lang="en-US" altLang="zh-CN" sz="2000" b="1" dirty="0">
                <a:solidFill>
                  <a:srgbClr val="000099"/>
                </a:solidFill>
                <a:ea typeface="宋体" panose="02010600030101010101" pitchFamily="2" charset="-122"/>
              </a:rPr>
              <a:t> </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Distributed objects:</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Remote method invocation</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Network services</a:t>
            </a:r>
            <a:endParaRPr lang="en-US" altLang="zh-CN" sz="2000" dirty="0">
              <a:solidFill>
                <a:srgbClr val="FF6600"/>
              </a:solidFill>
              <a:ea typeface="宋体" panose="02010600030101010101" pitchFamily="2" charset="-122"/>
            </a:endParaRP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Object Request Broker</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Object space</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Component Based Technologies</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Mobile agents</a:t>
            </a:r>
            <a:endParaRPr lang="en-US" altLang="zh-CN" sz="2000" dirty="0">
              <a:solidFill>
                <a:srgbClr val="000099"/>
              </a:solidFill>
              <a:ea typeface="宋体" panose="02010600030101010101" pitchFamily="2" charset="-122"/>
            </a:endParaRP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Collaborative applications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p:cNvSpPr>
          <p:nvPr>
            <p:ph idx="1"/>
          </p:nvPr>
        </p:nvSpPr>
        <p:spPr>
          <a:xfrm>
            <a:off x="0" y="838200"/>
            <a:ext cx="9144000" cy="889000"/>
          </a:xfrm>
        </p:spPr>
        <p:txBody>
          <a:bodyPr vert="horz" wrap="square" lIns="91440" tIns="45720" rIns="91440" bIns="45720" anchor="t" anchorCtr="0"/>
          <a:lstStyle/>
          <a:p>
            <a:pPr algn="just" eaLnBrk="1" hangingPunct="1">
              <a:buFont typeface="Wingdings" panose="05000000000000000000" pitchFamily="2" charset="2"/>
              <a:buChar char="Ø"/>
            </a:pPr>
            <a:r>
              <a:rPr lang="en-US" altLang="zh-CN" sz="2400" dirty="0">
                <a:solidFill>
                  <a:srgbClr val="000099"/>
                </a:solidFill>
                <a:ea typeface="宋体" panose="02010600030101010101" pitchFamily="2" charset="-122"/>
              </a:rPr>
              <a:t>Perhaps the best known paradigm for network applications, the </a:t>
            </a:r>
            <a:r>
              <a:rPr lang="en-US" altLang="zh-CN" sz="2400" b="1" i="1" dirty="0">
                <a:solidFill>
                  <a:srgbClr val="FF3300"/>
                </a:solidFill>
                <a:ea typeface="宋体" panose="02010600030101010101" pitchFamily="2" charset="-122"/>
              </a:rPr>
              <a:t>client-server</a:t>
            </a:r>
            <a:r>
              <a:rPr lang="en-US" altLang="zh-CN" sz="2400" dirty="0">
                <a:solidFill>
                  <a:srgbClr val="000099"/>
                </a:solidFill>
                <a:ea typeface="宋体" panose="02010600030101010101" pitchFamily="2" charset="-122"/>
              </a:rPr>
              <a:t> model, assigns asymmetric roles to two collaborating processes.</a:t>
            </a:r>
          </a:p>
        </p:txBody>
      </p:sp>
      <p:graphicFrame>
        <p:nvGraphicFramePr>
          <p:cNvPr id="16387" name="Object 4"/>
          <p:cNvGraphicFramePr>
            <a:graphicFrameLocks noChangeAspect="1"/>
          </p:cNvGraphicFramePr>
          <p:nvPr/>
        </p:nvGraphicFramePr>
        <p:xfrm>
          <a:off x="787400" y="1828800"/>
          <a:ext cx="7747000" cy="4864100"/>
        </p:xfrm>
        <a:graphic>
          <a:graphicData uri="http://schemas.openxmlformats.org/presentationml/2006/ole">
            <mc:AlternateContent xmlns:mc="http://schemas.openxmlformats.org/markup-compatibility/2006">
              <mc:Choice xmlns:v="urn:schemas-microsoft-com:vml" Requires="v">
                <p:oleObj spid="_x0000_s4098" r:id="rId4" imgW="4626610" imgH="3465830" progId="SmartDraw.2">
                  <p:embed/>
                </p:oleObj>
              </mc:Choice>
              <mc:Fallback>
                <p:oleObj r:id="rId4" imgW="4626610" imgH="3465830" progId="SmartDraw.2">
                  <p:embed/>
                  <p:pic>
                    <p:nvPicPr>
                      <p:cNvPr id="0" name="图片 3086"/>
                      <p:cNvPicPr/>
                      <p:nvPr/>
                    </p:nvPicPr>
                    <p:blipFill>
                      <a:blip r:embed="rId5"/>
                      <a:stretch>
                        <a:fillRect/>
                      </a:stretch>
                    </p:blipFill>
                    <p:spPr>
                      <a:xfrm>
                        <a:off x="787400" y="1828800"/>
                        <a:ext cx="7747000" cy="4864100"/>
                      </a:xfrm>
                      <a:prstGeom prst="rect">
                        <a:avLst/>
                      </a:prstGeom>
                      <a:noFill/>
                      <a:ln w="38100">
                        <a:noFill/>
                        <a:miter/>
                      </a:ln>
                    </p:spPr>
                  </p:pic>
                </p:oleObj>
              </mc:Fallback>
            </mc:AlternateContent>
          </a:graphicData>
        </a:graphic>
      </p:graphicFrame>
      <p:sp>
        <p:nvSpPr>
          <p:cNvPr id="16388" name="Rectangle 6"/>
          <p:cNvSpPr>
            <a:spLocks noGrp="1"/>
          </p:cNvSpPr>
          <p:nvPr>
            <p:ph type="title"/>
          </p:nvPr>
        </p:nvSpPr>
        <p:spPr>
          <a:xfrm>
            <a:off x="0" y="0"/>
            <a:ext cx="9144000" cy="965200"/>
          </a:xfrm>
        </p:spPr>
        <p:txBody>
          <a:bodyPr vert="horz" wrap="square" lIns="91440" tIns="45720" rIns="91440" bIns="45720" anchor="ctr" anchorCtr="0"/>
          <a:lstStyle/>
          <a:p>
            <a:pPr algn="just" eaLnBrk="1" hangingPunct="1"/>
            <a:r>
              <a:rPr lang="en-US" altLang="zh-CN" dirty="0">
                <a:ea typeface="宋体" panose="02010600030101010101" pitchFamily="2" charset="-122"/>
              </a:rPr>
              <a:t>2.4 Client-Server Paradigm</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p:cNvSpPr>
          <p:nvPr>
            <p:ph idx="1"/>
          </p:nvPr>
        </p:nvSpPr>
        <p:spPr>
          <a:xfrm>
            <a:off x="2454275" y="6051550"/>
            <a:ext cx="4229100" cy="482600"/>
          </a:xfrm>
        </p:spPr>
        <p:txBody>
          <a:bodyPr vert="horz" wrap="square" lIns="91440" tIns="45720" rIns="91440" bIns="45720" anchor="t" anchorCtr="0"/>
          <a:lstStyle/>
          <a:p>
            <a:pPr eaLnBrk="1" hangingPunct="1">
              <a:buNone/>
            </a:pPr>
            <a:r>
              <a:rPr lang="en-US" altLang="zh-CN" sz="2400" dirty="0">
                <a:solidFill>
                  <a:srgbClr val="000099"/>
                </a:solidFill>
                <a:ea typeface="宋体" panose="02010600030101010101" pitchFamily="2" charset="-122"/>
              </a:rPr>
              <a:t>client – server</a:t>
            </a:r>
            <a:r>
              <a:rPr lang="zh-CN" altLang="en-US" sz="2400" dirty="0">
                <a:solidFill>
                  <a:srgbClr val="000099"/>
                </a:solidFill>
                <a:ea typeface="宋体" panose="02010600030101010101" pitchFamily="2" charset="-122"/>
              </a:rPr>
              <a:t> </a:t>
            </a:r>
            <a:r>
              <a:rPr lang="en-US" altLang="zh-CN" sz="2400" dirty="0">
                <a:solidFill>
                  <a:srgbClr val="000099"/>
                </a:solidFill>
                <a:ea typeface="宋体" panose="02010600030101010101" pitchFamily="2" charset="-122"/>
              </a:rPr>
              <a:t>paradigm.</a:t>
            </a:r>
          </a:p>
        </p:txBody>
      </p:sp>
      <p:sp>
        <p:nvSpPr>
          <p:cNvPr id="17411" name="Text Box 4"/>
          <p:cNvSpPr txBox="1"/>
          <p:nvPr/>
        </p:nvSpPr>
        <p:spPr>
          <a:xfrm>
            <a:off x="3992563" y="3898900"/>
            <a:ext cx="1295400"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400" dirty="0">
                <a:ea typeface="宋体" panose="02010600030101010101" pitchFamily="2" charset="-122"/>
              </a:rPr>
              <a:t>1.25</a:t>
            </a:r>
          </a:p>
        </p:txBody>
      </p:sp>
      <p:pic>
        <p:nvPicPr>
          <p:cNvPr id="17412" name="Picture 5"/>
          <p:cNvPicPr>
            <a:picLocks noChangeAspect="1"/>
          </p:cNvPicPr>
          <p:nvPr/>
        </p:nvPicPr>
        <p:blipFill>
          <a:blip r:embed="rId3"/>
          <a:srcRect l="32924" t="46828" r="30144" b="40483"/>
          <a:stretch>
            <a:fillRect/>
          </a:stretch>
        </p:blipFill>
        <p:spPr>
          <a:xfrm>
            <a:off x="990600" y="1955800"/>
            <a:ext cx="7277100" cy="3811588"/>
          </a:xfrm>
          <a:prstGeom prst="rect">
            <a:avLst/>
          </a:prstGeom>
          <a:noFill/>
          <a:ln w="9525">
            <a:noFill/>
          </a:ln>
        </p:spPr>
      </p:pic>
      <p:sp>
        <p:nvSpPr>
          <p:cNvPr id="17413" name="Rectangle 6"/>
          <p:cNvSpPr/>
          <p:nvPr/>
        </p:nvSpPr>
        <p:spPr>
          <a:xfrm>
            <a:off x="611188" y="1120775"/>
            <a:ext cx="8102600" cy="536575"/>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en-US" altLang="zh-CN" sz="2800" dirty="0">
                <a:solidFill>
                  <a:srgbClr val="000099"/>
                </a:solidFill>
                <a:ea typeface="宋体" panose="02010600030101010101" pitchFamily="2" charset="-122"/>
              </a:rPr>
              <a:t>Client</a:t>
            </a:r>
            <a:r>
              <a:rPr lang="zh-CN" altLang="en-US" sz="2800" dirty="0">
                <a:solidFill>
                  <a:srgbClr val="000099"/>
                </a:solidFill>
                <a:ea typeface="宋体" panose="02010600030101010101" pitchFamily="2" charset="-122"/>
              </a:rPr>
              <a:t>和</a:t>
            </a:r>
            <a:r>
              <a:rPr lang="en-US" altLang="zh-CN" sz="2800" dirty="0">
                <a:solidFill>
                  <a:srgbClr val="000099"/>
                </a:solidFill>
                <a:ea typeface="宋体" panose="02010600030101010101" pitchFamily="2" charset="-122"/>
              </a:rPr>
              <a:t>server</a:t>
            </a:r>
            <a:r>
              <a:rPr lang="zh-CN" altLang="en-US" sz="2800" dirty="0">
                <a:solidFill>
                  <a:srgbClr val="000099"/>
                </a:solidFill>
                <a:ea typeface="宋体" panose="02010600030101010101" pitchFamily="2" charset="-122"/>
              </a:rPr>
              <a:t>分别扮演服务请求者和服务提供者</a:t>
            </a:r>
          </a:p>
        </p:txBody>
      </p:sp>
      <p:sp>
        <p:nvSpPr>
          <p:cNvPr id="17414" name="Rectangle 8"/>
          <p:cNvSpPr>
            <a:spLocks noGrp="1"/>
          </p:cNvSpPr>
          <p:nvPr>
            <p:ph type="title"/>
          </p:nvPr>
        </p:nvSpPr>
        <p:spPr/>
        <p:txBody>
          <a:bodyPr vert="horz" wrap="square" lIns="91440" tIns="45720" rIns="91440" bIns="45720" anchor="ctr" anchorCtr="0"/>
          <a:lstStyle/>
          <a:p>
            <a:pPr algn="just" eaLnBrk="1" hangingPunct="1"/>
            <a:r>
              <a:rPr lang="en-US" altLang="zh-CN" dirty="0">
                <a:ea typeface="宋体" panose="02010600030101010101" pitchFamily="2" charset="-122"/>
              </a:rPr>
              <a:t>2.4 Client-Server Paradigm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0" y="0"/>
            <a:ext cx="9144000" cy="736600"/>
          </a:xfrm>
        </p:spPr>
        <p:txBody>
          <a:bodyPr vert="horz" wrap="square" lIns="91440" tIns="45720" rIns="91440" bIns="45720" anchor="ctr" anchorCtr="0"/>
          <a:lstStyle/>
          <a:p>
            <a:pPr eaLnBrk="1" hangingPunct="1"/>
            <a:r>
              <a:rPr lang="en-US" altLang="zh-CN" dirty="0">
                <a:ea typeface="宋体" panose="02010600030101010101" pitchFamily="2" charset="-122"/>
              </a:rPr>
              <a:t>An Example Client and Server (1)</a:t>
            </a:r>
          </a:p>
        </p:txBody>
      </p:sp>
      <p:sp>
        <p:nvSpPr>
          <p:cNvPr id="18435" name="Rectangle 3"/>
          <p:cNvSpPr>
            <a:spLocks noGrp="1"/>
          </p:cNvSpPr>
          <p:nvPr>
            <p:ph idx="1"/>
          </p:nvPr>
        </p:nvSpPr>
        <p:spPr>
          <a:xfrm>
            <a:off x="1622425" y="6518275"/>
            <a:ext cx="5045075" cy="339725"/>
          </a:xfrm>
        </p:spPr>
        <p:txBody>
          <a:bodyPr vert="horz" wrap="square" lIns="91440" tIns="45720" rIns="91440" bIns="45720" anchor="t" anchorCtr="0"/>
          <a:lstStyle/>
          <a:p>
            <a:pPr eaLnBrk="1" hangingPunct="1">
              <a:lnSpc>
                <a:spcPct val="80000"/>
              </a:lnSpc>
              <a:buNone/>
            </a:pPr>
            <a:r>
              <a:rPr lang="en-US" altLang="zh-CN" sz="1800" dirty="0">
                <a:ea typeface="宋体" panose="02010600030101010101" pitchFamily="2" charset="-122"/>
              </a:rPr>
              <a:t>The </a:t>
            </a:r>
            <a:r>
              <a:rPr lang="en-US" altLang="zh-CN" sz="1800" i="1" dirty="0">
                <a:ea typeface="宋体" panose="02010600030101010101" pitchFamily="2" charset="-122"/>
              </a:rPr>
              <a:t>header.h</a:t>
            </a:r>
            <a:r>
              <a:rPr lang="en-US" altLang="zh-CN" sz="1800" dirty="0">
                <a:ea typeface="宋体" panose="02010600030101010101" pitchFamily="2" charset="-122"/>
              </a:rPr>
              <a:t> file used by the client and server.</a:t>
            </a:r>
          </a:p>
        </p:txBody>
      </p:sp>
      <p:pic>
        <p:nvPicPr>
          <p:cNvPr id="18436" name="Picture 4"/>
          <p:cNvPicPr>
            <a:picLocks noChangeAspect="1"/>
          </p:cNvPicPr>
          <p:nvPr/>
        </p:nvPicPr>
        <p:blipFill>
          <a:blip r:embed="rId3"/>
          <a:stretch>
            <a:fillRect/>
          </a:stretch>
        </p:blipFill>
        <p:spPr>
          <a:xfrm>
            <a:off x="876300" y="688975"/>
            <a:ext cx="6970713" cy="58293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0" y="0"/>
            <a:ext cx="9144000" cy="539750"/>
          </a:xfrm>
        </p:spPr>
        <p:txBody>
          <a:bodyPr vert="horz" wrap="square" lIns="91440" tIns="45720" rIns="91440" bIns="45720" anchor="ctr" anchorCtr="0"/>
          <a:lstStyle/>
          <a:p>
            <a:pPr eaLnBrk="1" hangingPunct="1"/>
            <a:r>
              <a:rPr lang="en-US" altLang="zh-CN" dirty="0">
                <a:ea typeface="宋体" panose="02010600030101010101" pitchFamily="2" charset="-122"/>
              </a:rPr>
              <a:t>An Example Client and Server (2)</a:t>
            </a:r>
          </a:p>
        </p:txBody>
      </p:sp>
      <p:sp>
        <p:nvSpPr>
          <p:cNvPr id="19459" name="Rectangle 3"/>
          <p:cNvSpPr>
            <a:spLocks noGrp="1"/>
          </p:cNvSpPr>
          <p:nvPr>
            <p:ph idx="1"/>
          </p:nvPr>
        </p:nvSpPr>
        <p:spPr>
          <a:xfrm>
            <a:off x="4305300" y="6386513"/>
            <a:ext cx="4838700" cy="288925"/>
          </a:xfrm>
        </p:spPr>
        <p:txBody>
          <a:bodyPr vert="horz" wrap="square" lIns="91440" tIns="45720" rIns="91440" bIns="45720" anchor="t" anchorCtr="0"/>
          <a:lstStyle/>
          <a:p>
            <a:pPr eaLnBrk="1" hangingPunct="1">
              <a:buNone/>
            </a:pPr>
            <a:r>
              <a:rPr lang="en-US" altLang="zh-CN" sz="2000" dirty="0">
                <a:ea typeface="宋体" panose="02010600030101010101" pitchFamily="2" charset="-122"/>
              </a:rPr>
              <a:t>A client using the server to copy a file.</a:t>
            </a:r>
          </a:p>
        </p:txBody>
      </p:sp>
      <p:pic>
        <p:nvPicPr>
          <p:cNvPr id="19460" name="Picture 5"/>
          <p:cNvPicPr>
            <a:picLocks noChangeAspect="1"/>
          </p:cNvPicPr>
          <p:nvPr/>
        </p:nvPicPr>
        <p:blipFill>
          <a:blip r:embed="rId3"/>
          <a:stretch>
            <a:fillRect/>
          </a:stretch>
        </p:blipFill>
        <p:spPr>
          <a:xfrm>
            <a:off x="4206875" y="560388"/>
            <a:ext cx="4937125" cy="5741987"/>
          </a:xfrm>
          <a:prstGeom prst="rect">
            <a:avLst/>
          </a:prstGeom>
          <a:noFill/>
          <a:ln w="9525">
            <a:noFill/>
          </a:ln>
        </p:spPr>
      </p:pic>
      <p:sp>
        <p:nvSpPr>
          <p:cNvPr id="19461" name="Text Box 6"/>
          <p:cNvSpPr txBox="1"/>
          <p:nvPr/>
        </p:nvSpPr>
        <p:spPr>
          <a:xfrm>
            <a:off x="3295650" y="952500"/>
            <a:ext cx="457200"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2400" dirty="0">
              <a:ea typeface="宋体" panose="02010600030101010101" pitchFamily="2" charset="-122"/>
            </a:endParaRPr>
          </a:p>
        </p:txBody>
      </p:sp>
      <p:sp>
        <p:nvSpPr>
          <p:cNvPr id="8" name="Rectangle 3"/>
          <p:cNvSpPr txBox="1">
            <a:spLocks noChangeArrowheads="1"/>
          </p:cNvSpPr>
          <p:nvPr/>
        </p:nvSpPr>
        <p:spPr bwMode="auto">
          <a:xfrm>
            <a:off x="0" y="5827713"/>
            <a:ext cx="37401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90000"/>
              </a:lnSpc>
              <a:spcBef>
                <a:spcPct val="20000"/>
              </a:spcBef>
              <a:spcAft>
                <a:spcPct val="0"/>
              </a:spcAft>
              <a:buClr>
                <a:schemeClr val="accent2"/>
              </a:buClr>
              <a:buSzTx/>
              <a:buFontTx/>
              <a:buNone/>
              <a:defRPr/>
            </a:pPr>
            <a:r>
              <a:rPr kumimoji="0" lang="en-US" altLang="zh-CN" sz="2400" b="0" i="0" u="none" strike="noStrike" kern="0" cap="none" spc="0" normalizeH="0" baseline="0" noProof="0">
                <a:ln>
                  <a:noFill/>
                </a:ln>
                <a:solidFill>
                  <a:schemeClr val="tx1"/>
                </a:solidFill>
                <a:effectLst/>
                <a:uLnTx/>
                <a:uFillTx/>
                <a:latin typeface="+mn-lt"/>
                <a:ea typeface="宋体" panose="02010600030101010101" pitchFamily="2" charset="-122"/>
                <a:cs typeface="+mn-cs"/>
              </a:rPr>
              <a:t>A sample server.</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9463" name="Picture 4"/>
          <p:cNvPicPr>
            <a:picLocks noChangeAspect="1"/>
          </p:cNvPicPr>
          <p:nvPr/>
        </p:nvPicPr>
        <p:blipFill>
          <a:blip r:embed="rId4"/>
          <a:stretch>
            <a:fillRect/>
          </a:stretch>
        </p:blipFill>
        <p:spPr>
          <a:xfrm>
            <a:off x="-12700" y="1022350"/>
            <a:ext cx="4135438" cy="4797425"/>
          </a:xfrm>
          <a:prstGeom prst="rect">
            <a:avLst/>
          </a:prstGeom>
          <a:noFill/>
          <a:ln w="9525">
            <a:noFill/>
          </a:ln>
        </p:spPr>
      </p:pic>
      <p:cxnSp>
        <p:nvCxnSpPr>
          <p:cNvPr id="19464" name="直接箭头连接符 2"/>
          <p:cNvCxnSpPr/>
          <p:nvPr/>
        </p:nvCxnSpPr>
        <p:spPr>
          <a:xfrm flipH="1" flipV="1">
            <a:off x="1817688" y="2925763"/>
            <a:ext cx="2862262" cy="423862"/>
          </a:xfrm>
          <a:prstGeom prst="straightConnector1">
            <a:avLst/>
          </a:prstGeom>
          <a:ln w="9525" cap="flat" cmpd="sng">
            <a:solidFill>
              <a:srgbClr val="FF3300"/>
            </a:solidFill>
            <a:prstDash val="solid"/>
            <a:headEnd type="none" w="med" len="med"/>
            <a:tailEnd type="triangle" w="med" len="med"/>
          </a:ln>
        </p:spPr>
      </p:cxnSp>
      <p:cxnSp>
        <p:nvCxnSpPr>
          <p:cNvPr id="19465" name="直接箭头连接符 11"/>
          <p:cNvCxnSpPr/>
          <p:nvPr/>
        </p:nvCxnSpPr>
        <p:spPr>
          <a:xfrm flipV="1">
            <a:off x="1581150" y="3565525"/>
            <a:ext cx="3098800" cy="1492250"/>
          </a:xfrm>
          <a:prstGeom prst="straightConnector1">
            <a:avLst/>
          </a:prstGeom>
          <a:ln w="9525" cap="flat" cmpd="sng">
            <a:solidFill>
              <a:srgbClr val="FF3300"/>
            </a:solidFill>
            <a:prstDash val="solid"/>
            <a:headEnd type="none" w="med" len="med"/>
            <a:tailEnd type="triangle" w="med" len="med"/>
          </a:ln>
        </p:spPr>
      </p:cxnSp>
      <p:cxnSp>
        <p:nvCxnSpPr>
          <p:cNvPr id="19466" name="直接箭头连接符 14"/>
          <p:cNvCxnSpPr/>
          <p:nvPr/>
        </p:nvCxnSpPr>
        <p:spPr>
          <a:xfrm>
            <a:off x="1581150" y="5075238"/>
            <a:ext cx="3098800" cy="152400"/>
          </a:xfrm>
          <a:prstGeom prst="straightConnector1">
            <a:avLst/>
          </a:prstGeom>
          <a:ln w="9525" cap="flat" cmpd="sng">
            <a:solidFill>
              <a:srgbClr val="FF3300"/>
            </a:solidFill>
            <a:prstDash val="solid"/>
            <a:headEnd type="none" w="med" len="med"/>
            <a:tailEnd type="triangle" w="med" len="med"/>
          </a:ln>
        </p:spPr>
      </p:cxnSp>
      <p:cxnSp>
        <p:nvCxnSpPr>
          <p:cNvPr id="19467" name="直接箭头连接符 21"/>
          <p:cNvCxnSpPr/>
          <p:nvPr/>
        </p:nvCxnSpPr>
        <p:spPr>
          <a:xfrm flipH="1" flipV="1">
            <a:off x="1817688" y="2973388"/>
            <a:ext cx="2862262" cy="2046287"/>
          </a:xfrm>
          <a:prstGeom prst="straightConnector1">
            <a:avLst/>
          </a:prstGeom>
          <a:ln w="9525" cap="flat" cmpd="sng">
            <a:solidFill>
              <a:srgbClr val="FF3300"/>
            </a:solidFill>
            <a:prstDash val="soli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p:cNvSpPr>
          <p:nvPr>
            <p:ph idx="1"/>
          </p:nvPr>
        </p:nvSpPr>
        <p:spPr>
          <a:xfrm>
            <a:off x="207963" y="1066800"/>
            <a:ext cx="8597900" cy="4965700"/>
          </a:xfrm>
        </p:spPr>
        <p:txBody>
          <a:bodyPr vert="horz" wrap="square" lIns="91440" tIns="45720" rIns="91440" bIns="45720" anchor="t" anchorCtr="0"/>
          <a:lstStyle/>
          <a:p>
            <a:pPr algn="just" eaLnBrk="1" hangingPunct="1">
              <a:lnSpc>
                <a:spcPct val="130000"/>
              </a:lnSpc>
              <a:buFont typeface="Wingdings" panose="05000000000000000000" pitchFamily="2" charset="2"/>
              <a:buChar char="Ø"/>
            </a:pPr>
            <a:r>
              <a:rPr lang="en-US" altLang="zh-CN" sz="2200" dirty="0">
                <a:solidFill>
                  <a:srgbClr val="000099"/>
                </a:solidFill>
                <a:ea typeface="宋体" panose="02010600030101010101" pitchFamily="2" charset="-122"/>
              </a:rPr>
              <a:t>The client-server model provides an efficient abstraction for the delivery of network services.  </a:t>
            </a:r>
          </a:p>
          <a:p>
            <a:pPr algn="just" eaLnBrk="1" hangingPunct="1">
              <a:lnSpc>
                <a:spcPct val="130000"/>
              </a:lnSpc>
              <a:buFont typeface="Wingdings" panose="05000000000000000000" pitchFamily="2" charset="2"/>
              <a:buChar char="Ø"/>
            </a:pPr>
            <a:r>
              <a:rPr lang="en-US" altLang="zh-CN" sz="2200" dirty="0">
                <a:solidFill>
                  <a:srgbClr val="000099"/>
                </a:solidFill>
                <a:ea typeface="宋体" panose="02010600030101010101" pitchFamily="2" charset="-122"/>
              </a:rPr>
              <a:t>Operations required include those for a </a:t>
            </a:r>
            <a:r>
              <a:rPr lang="en-US" altLang="zh-CN" sz="2200" dirty="0">
                <a:solidFill>
                  <a:srgbClr val="FF3300"/>
                </a:solidFill>
                <a:ea typeface="宋体" panose="02010600030101010101" pitchFamily="2" charset="-122"/>
              </a:rPr>
              <a:t>server process to listen and to accept requests</a:t>
            </a:r>
            <a:r>
              <a:rPr lang="en-US" altLang="zh-CN" sz="2200" dirty="0">
                <a:solidFill>
                  <a:srgbClr val="000099"/>
                </a:solidFill>
                <a:ea typeface="宋体" panose="02010600030101010101" pitchFamily="2" charset="-122"/>
              </a:rPr>
              <a:t>, and for a </a:t>
            </a:r>
            <a:r>
              <a:rPr lang="en-US" altLang="zh-CN" sz="2200" dirty="0">
                <a:solidFill>
                  <a:srgbClr val="FF3300"/>
                </a:solidFill>
                <a:ea typeface="宋体" panose="02010600030101010101" pitchFamily="2" charset="-122"/>
              </a:rPr>
              <a:t>client process to</a:t>
            </a:r>
            <a:r>
              <a:rPr lang="en-US" altLang="zh-CN" sz="2200" dirty="0">
                <a:solidFill>
                  <a:srgbClr val="000099"/>
                </a:solidFill>
                <a:ea typeface="宋体" panose="02010600030101010101" pitchFamily="2" charset="-122"/>
              </a:rPr>
              <a:t> </a:t>
            </a:r>
            <a:r>
              <a:rPr lang="en-US" altLang="zh-CN" sz="2200" dirty="0">
                <a:solidFill>
                  <a:srgbClr val="FF3300"/>
                </a:solidFill>
                <a:ea typeface="宋体" panose="02010600030101010101" pitchFamily="2" charset="-122"/>
              </a:rPr>
              <a:t>issue requests and accept responses</a:t>
            </a:r>
            <a:r>
              <a:rPr lang="en-US" altLang="zh-CN" sz="2200" dirty="0">
                <a:solidFill>
                  <a:srgbClr val="000099"/>
                </a:solidFill>
                <a:ea typeface="宋体" panose="02010600030101010101" pitchFamily="2" charset="-122"/>
              </a:rPr>
              <a:t>.  </a:t>
            </a:r>
          </a:p>
          <a:p>
            <a:pPr algn="just" eaLnBrk="1" hangingPunct="1">
              <a:lnSpc>
                <a:spcPct val="130000"/>
              </a:lnSpc>
              <a:buFont typeface="Wingdings" panose="05000000000000000000" pitchFamily="2" charset="2"/>
              <a:buChar char="Ø"/>
            </a:pPr>
            <a:r>
              <a:rPr lang="en-US" altLang="zh-CN" sz="2200" dirty="0">
                <a:solidFill>
                  <a:srgbClr val="000099"/>
                </a:solidFill>
                <a:ea typeface="宋体" panose="02010600030101010101" pitchFamily="2" charset="-122"/>
              </a:rPr>
              <a:t>By assigning asymmetric roles to the two sides, event synchronization is simplified: </a:t>
            </a:r>
            <a:r>
              <a:rPr lang="en-US" altLang="zh-CN" sz="2200" dirty="0">
                <a:solidFill>
                  <a:srgbClr val="FF3300"/>
                </a:solidFill>
                <a:ea typeface="宋体" panose="02010600030101010101" pitchFamily="2" charset="-122"/>
              </a:rPr>
              <a:t>the server process waits for requests, and the client in turn waits for responses.</a:t>
            </a:r>
          </a:p>
          <a:p>
            <a:pPr algn="just" eaLnBrk="1" hangingPunct="1">
              <a:lnSpc>
                <a:spcPct val="130000"/>
              </a:lnSpc>
              <a:buFont typeface="Wingdings" panose="05000000000000000000" pitchFamily="2" charset="2"/>
              <a:buChar char="Ø"/>
            </a:pPr>
            <a:r>
              <a:rPr lang="en-US" altLang="zh-CN" sz="2200" dirty="0">
                <a:solidFill>
                  <a:srgbClr val="000099"/>
                </a:solidFill>
                <a:ea typeface="宋体" panose="02010600030101010101" pitchFamily="2" charset="-122"/>
              </a:rPr>
              <a:t>Many Internet services are client-server applications. Well known Internet services include </a:t>
            </a:r>
            <a:r>
              <a:rPr lang="en-US" altLang="zh-CN" sz="2200" dirty="0">
                <a:solidFill>
                  <a:srgbClr val="FF3300"/>
                </a:solidFill>
                <a:ea typeface="宋体" panose="02010600030101010101" pitchFamily="2" charset="-122"/>
              </a:rPr>
              <a:t>HTTP, FTP, DNS, finger, gopher,</a:t>
            </a:r>
            <a:r>
              <a:rPr lang="en-US" altLang="zh-CN" sz="2200" dirty="0">
                <a:solidFill>
                  <a:srgbClr val="000099"/>
                </a:solidFill>
                <a:ea typeface="宋体" panose="02010600030101010101" pitchFamily="2" charset="-122"/>
              </a:rPr>
              <a:t> etc. </a:t>
            </a:r>
          </a:p>
        </p:txBody>
      </p:sp>
      <p:sp>
        <p:nvSpPr>
          <p:cNvPr id="20483" name="Rectangle 5"/>
          <p:cNvSpPr>
            <a:spLocks noGrp="1"/>
          </p:cNvSpPr>
          <p:nvPr>
            <p:ph type="title"/>
          </p:nvPr>
        </p:nvSpPr>
        <p:spPr>
          <a:xfrm>
            <a:off x="0" y="0"/>
            <a:ext cx="9144000" cy="990600"/>
          </a:xfrm>
        </p:spPr>
        <p:txBody>
          <a:bodyPr vert="horz" wrap="square" lIns="91440" tIns="45720" rIns="91440" bIns="45720" anchor="ctr" anchorCtr="0"/>
          <a:lstStyle/>
          <a:p>
            <a:pPr algn="just" eaLnBrk="1" hangingPunct="1"/>
            <a:r>
              <a:rPr lang="en-US" altLang="zh-CN" dirty="0">
                <a:ea typeface="宋体" panose="02010600030101010101" pitchFamily="2" charset="-122"/>
              </a:rPr>
              <a:t>2.4 Client-Server Paradigm</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0" y="0"/>
            <a:ext cx="9144000" cy="711200"/>
          </a:xfrm>
        </p:spPr>
        <p:txBody>
          <a:bodyPr vert="horz" wrap="square" lIns="91440" tIns="45720" rIns="91440" bIns="45720" anchor="ctr" anchorCtr="0"/>
          <a:lstStyle/>
          <a:p>
            <a:pPr eaLnBrk="1" hangingPunct="1"/>
            <a:r>
              <a:rPr lang="en-US" altLang="zh-CN" dirty="0">
                <a:ea typeface="宋体" panose="02010600030101010101" pitchFamily="2" charset="-122"/>
              </a:rPr>
              <a:t>Multitiered Architectures</a:t>
            </a:r>
          </a:p>
        </p:txBody>
      </p:sp>
      <p:sp>
        <p:nvSpPr>
          <p:cNvPr id="21507" name="Rectangle 3"/>
          <p:cNvSpPr>
            <a:spLocks noGrp="1"/>
          </p:cNvSpPr>
          <p:nvPr>
            <p:ph idx="1"/>
          </p:nvPr>
        </p:nvSpPr>
        <p:spPr>
          <a:xfrm>
            <a:off x="1155700" y="6019800"/>
            <a:ext cx="6807200" cy="533400"/>
          </a:xfrm>
        </p:spPr>
        <p:txBody>
          <a:bodyPr vert="horz" wrap="square" lIns="91440" tIns="45720" rIns="91440" bIns="45720" anchor="t" anchorCtr="0"/>
          <a:lstStyle/>
          <a:p>
            <a:pPr eaLnBrk="1" hangingPunct="1">
              <a:buNone/>
            </a:pPr>
            <a:r>
              <a:rPr lang="en-US" altLang="zh-CN" sz="2400" dirty="0">
                <a:ea typeface="宋体" panose="02010600030101010101" pitchFamily="2" charset="-122"/>
              </a:rPr>
              <a:t>An example of a server acting as a client.</a:t>
            </a:r>
          </a:p>
        </p:txBody>
      </p:sp>
      <p:sp>
        <p:nvSpPr>
          <p:cNvPr id="21508" name="Text Box 4"/>
          <p:cNvSpPr txBox="1"/>
          <p:nvPr/>
        </p:nvSpPr>
        <p:spPr>
          <a:xfrm>
            <a:off x="3581400" y="2971800"/>
            <a:ext cx="1295400"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400" dirty="0">
                <a:ea typeface="宋体" panose="02010600030101010101" pitchFamily="2" charset="-122"/>
              </a:rPr>
              <a:t>1-30</a:t>
            </a:r>
          </a:p>
        </p:txBody>
      </p:sp>
      <p:pic>
        <p:nvPicPr>
          <p:cNvPr id="21509" name="Picture 5"/>
          <p:cNvPicPr>
            <a:picLocks noChangeAspect="1"/>
          </p:cNvPicPr>
          <p:nvPr/>
        </p:nvPicPr>
        <p:blipFill>
          <a:blip r:embed="rId3"/>
          <a:srcRect l="27151" t="45166" r="24345" b="38821"/>
          <a:stretch>
            <a:fillRect/>
          </a:stretch>
        </p:blipFill>
        <p:spPr>
          <a:xfrm>
            <a:off x="249238" y="1270000"/>
            <a:ext cx="8643937" cy="4318000"/>
          </a:xfrm>
          <a:prstGeom prst="rect">
            <a:avLst/>
          </a:prstGeom>
          <a:noFill/>
          <a:ln w="9525">
            <a:noFill/>
          </a:ln>
        </p:spPr>
      </p:pic>
      <p:sp>
        <p:nvSpPr>
          <p:cNvPr id="21510" name="Rectangle 6"/>
          <p:cNvSpPr/>
          <p:nvPr/>
        </p:nvSpPr>
        <p:spPr>
          <a:xfrm>
            <a:off x="1397000" y="711200"/>
            <a:ext cx="6350000" cy="3937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zh-CN" altLang="en-US" sz="2000" dirty="0">
                <a:solidFill>
                  <a:srgbClr val="000099"/>
                </a:solidFill>
                <a:ea typeface="宋体" panose="02010600030101010101" pitchFamily="2" charset="-122"/>
              </a:rPr>
              <a:t>服务器有时会担任客户机的角色</a:t>
            </a:r>
            <a:r>
              <a:rPr lang="en-US" altLang="zh-CN" sz="2000" dirty="0">
                <a:solidFill>
                  <a:srgbClr val="000099"/>
                </a:solidFill>
                <a:ea typeface="宋体" panose="02010600030101010101" pitchFamily="2" charset="-122"/>
              </a:rPr>
              <a:t>,  </a:t>
            </a:r>
            <a:r>
              <a:rPr lang="zh-CN" altLang="en-US" sz="2000" dirty="0">
                <a:solidFill>
                  <a:srgbClr val="000099"/>
                </a:solidFill>
                <a:ea typeface="宋体" panose="02010600030101010101" pitchFamily="2" charset="-122"/>
              </a:rPr>
              <a:t>形成多层体系结构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0" y="92075"/>
            <a:ext cx="2759075" cy="722313"/>
          </a:xfrm>
        </p:spPr>
        <p:txBody>
          <a:bodyPr vert="horz" wrap="square" lIns="91440" tIns="45720" rIns="91440" bIns="45720" anchor="ctr" anchorCtr="0"/>
          <a:lstStyle/>
          <a:p>
            <a:pPr eaLnBrk="1" hangingPunct="1"/>
            <a:r>
              <a:rPr lang="zh-CN" altLang="en-US" dirty="0">
                <a:ea typeface="宋体" panose="02010600030101010101" pitchFamily="2" charset="-122"/>
              </a:rPr>
              <a:t>举例</a:t>
            </a:r>
            <a:endParaRPr lang="en-US" altLang="zh-CN" sz="3200" dirty="0">
              <a:ea typeface="宋体" panose="02010600030101010101" pitchFamily="2" charset="-122"/>
            </a:endParaRPr>
          </a:p>
        </p:txBody>
      </p:sp>
      <p:sp>
        <p:nvSpPr>
          <p:cNvPr id="22531" name="Rectangle 3"/>
          <p:cNvSpPr>
            <a:spLocks noGrp="1"/>
          </p:cNvSpPr>
          <p:nvPr>
            <p:ph idx="1"/>
          </p:nvPr>
        </p:nvSpPr>
        <p:spPr>
          <a:xfrm>
            <a:off x="265113" y="5634038"/>
            <a:ext cx="8812212" cy="723900"/>
          </a:xfrm>
        </p:spPr>
        <p:txBody>
          <a:bodyPr vert="horz" wrap="square" lIns="91440" tIns="45720" rIns="91440" bIns="45720" anchor="t" anchorCtr="0"/>
          <a:lstStyle/>
          <a:p>
            <a:pPr algn="l" eaLnBrk="1" hangingPunct="1">
              <a:lnSpc>
                <a:spcPct val="80000"/>
              </a:lnSpc>
              <a:buNone/>
            </a:pPr>
            <a:r>
              <a:rPr lang="en-US" altLang="zh-CN" sz="2400" dirty="0">
                <a:solidFill>
                  <a:srgbClr val="000099"/>
                </a:solidFill>
                <a:ea typeface="宋体" panose="02010600030101010101" pitchFamily="2" charset="-122"/>
              </a:rPr>
              <a:t>    The general organization of an Internet search engine into three different layers</a:t>
            </a:r>
          </a:p>
        </p:txBody>
      </p:sp>
      <p:sp>
        <p:nvSpPr>
          <p:cNvPr id="22532" name="Text Box 4"/>
          <p:cNvSpPr txBox="1"/>
          <p:nvPr/>
        </p:nvSpPr>
        <p:spPr>
          <a:xfrm>
            <a:off x="3276600" y="3048000"/>
            <a:ext cx="1066800"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400" dirty="0">
                <a:ea typeface="宋体" panose="02010600030101010101" pitchFamily="2" charset="-122"/>
              </a:rPr>
              <a:t>1-28</a:t>
            </a:r>
          </a:p>
        </p:txBody>
      </p:sp>
      <p:pic>
        <p:nvPicPr>
          <p:cNvPr id="22533" name="Picture 5"/>
          <p:cNvPicPr>
            <a:picLocks noChangeAspect="1"/>
          </p:cNvPicPr>
          <p:nvPr/>
        </p:nvPicPr>
        <p:blipFill>
          <a:blip r:embed="rId3"/>
          <a:srcRect l="24345" t="42598" r="21593" b="36858"/>
          <a:stretch>
            <a:fillRect/>
          </a:stretch>
        </p:blipFill>
        <p:spPr>
          <a:xfrm>
            <a:off x="460375" y="852488"/>
            <a:ext cx="8147050" cy="44958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12700" y="-174625"/>
            <a:ext cx="9144000" cy="1143000"/>
          </a:xfrm>
        </p:spPr>
        <p:txBody>
          <a:bodyPr vert="horz" wrap="square" lIns="91440" tIns="45720" rIns="91440" bIns="45720" anchor="ctr" anchorCtr="0"/>
          <a:lstStyle/>
          <a:p>
            <a:pPr eaLnBrk="1" hangingPunct="1"/>
            <a:r>
              <a:rPr lang="en-US" altLang="zh-CN" dirty="0">
                <a:ea typeface="宋体" panose="02010600030101010101" pitchFamily="2" charset="-122"/>
              </a:rPr>
              <a:t>Multitiered Architectures</a:t>
            </a:r>
          </a:p>
        </p:txBody>
      </p:sp>
      <p:sp>
        <p:nvSpPr>
          <p:cNvPr id="23555" name="Rectangle 3"/>
          <p:cNvSpPr>
            <a:spLocks noGrp="1"/>
          </p:cNvSpPr>
          <p:nvPr>
            <p:ph idx="1"/>
          </p:nvPr>
        </p:nvSpPr>
        <p:spPr>
          <a:xfrm>
            <a:off x="38100" y="6161088"/>
            <a:ext cx="9144000" cy="476250"/>
          </a:xfrm>
        </p:spPr>
        <p:txBody>
          <a:bodyPr vert="horz" wrap="square" lIns="91440" tIns="45720" rIns="91440" bIns="45720" anchor="t" anchorCtr="0"/>
          <a:lstStyle/>
          <a:p>
            <a:pPr eaLnBrk="1" hangingPunct="1">
              <a:buNone/>
            </a:pPr>
            <a:r>
              <a:rPr lang="en-US" altLang="zh-CN" sz="2400" dirty="0">
                <a:ea typeface="宋体" panose="02010600030101010101" pitchFamily="2" charset="-122"/>
              </a:rPr>
              <a:t>Alternative client-server organizations (a) – (e).</a:t>
            </a:r>
          </a:p>
        </p:txBody>
      </p:sp>
      <p:sp>
        <p:nvSpPr>
          <p:cNvPr id="23556" name="Text Box 4"/>
          <p:cNvSpPr txBox="1"/>
          <p:nvPr/>
        </p:nvSpPr>
        <p:spPr>
          <a:xfrm>
            <a:off x="3276600" y="2819400"/>
            <a:ext cx="1371600"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400" dirty="0">
                <a:ea typeface="宋体" panose="02010600030101010101" pitchFamily="2" charset="-122"/>
              </a:rPr>
              <a:t>1-29</a:t>
            </a:r>
          </a:p>
        </p:txBody>
      </p:sp>
      <p:pic>
        <p:nvPicPr>
          <p:cNvPr id="23557" name="Picture 5"/>
          <p:cNvPicPr>
            <a:picLocks noChangeAspect="1"/>
          </p:cNvPicPr>
          <p:nvPr/>
        </p:nvPicPr>
        <p:blipFill>
          <a:blip r:embed="rId3"/>
          <a:srcRect l="20309" t="42145" r="18600" b="36707"/>
          <a:stretch>
            <a:fillRect/>
          </a:stretch>
        </p:blipFill>
        <p:spPr>
          <a:xfrm>
            <a:off x="38100" y="1443038"/>
            <a:ext cx="9067800" cy="4479925"/>
          </a:xfrm>
          <a:prstGeom prst="rect">
            <a:avLst/>
          </a:prstGeom>
          <a:noFill/>
          <a:ln w="9525">
            <a:noFill/>
          </a:ln>
        </p:spPr>
      </p:pic>
      <p:sp>
        <p:nvSpPr>
          <p:cNvPr id="23558" name="矩形 1"/>
          <p:cNvSpPr/>
          <p:nvPr/>
        </p:nvSpPr>
        <p:spPr>
          <a:xfrm>
            <a:off x="84138" y="836613"/>
            <a:ext cx="3519487"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zh-CN" altLang="en-US" sz="2000" dirty="0">
                <a:latin typeface="Arial" panose="020B0604020202020204" pitchFamily="34" charset="0"/>
                <a:ea typeface="宋体" panose="02010600030101010101" pitchFamily="2" charset="-122"/>
              </a:rPr>
              <a:t>客户端与服务器端划分部署：</a:t>
            </a:r>
            <a:endParaRPr lang="zh-CN" altLang="en-US" sz="2000" dirty="0">
              <a:latin typeface="Arial" panose="020B0604020202020204" pitchFamily="34" charset="0"/>
              <a:ea typeface="黑体"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0" y="0"/>
            <a:ext cx="9144000" cy="1214438"/>
          </a:xfrm>
        </p:spPr>
        <p:txBody>
          <a:bodyPr vert="horz" wrap="square" lIns="91440" tIns="45720" rIns="91440" bIns="45720" anchor="ctr" anchorCtr="0"/>
          <a:lstStyle/>
          <a:p>
            <a:pPr algn="l" eaLnBrk="1" hangingPunct="1"/>
            <a:r>
              <a:rPr lang="en-US" altLang="zh-CN" dirty="0">
                <a:ea typeface="宋体" panose="02010600030101010101" pitchFamily="2" charset="-122"/>
              </a:rPr>
              <a:t>           Modern Architectures</a:t>
            </a:r>
            <a:br>
              <a:rPr lang="en-US" altLang="zh-CN" dirty="0">
                <a:ea typeface="宋体" panose="02010600030101010101" pitchFamily="2" charset="-122"/>
              </a:rPr>
            </a:br>
            <a:r>
              <a:rPr lang="zh-CN" altLang="en-US" sz="2400" dirty="0">
                <a:solidFill>
                  <a:schemeClr val="tx1"/>
                </a:solidFill>
                <a:ea typeface="宋体" panose="02010600030101010101" pitchFamily="2" charset="-122"/>
              </a:rPr>
              <a:t>多层也可以按横向划分</a:t>
            </a:r>
            <a:r>
              <a:rPr lang="en-US" altLang="zh-CN" sz="2400" dirty="0">
                <a:solidFill>
                  <a:schemeClr val="tx1"/>
                </a:solidFill>
                <a:ea typeface="宋体" panose="02010600030101010101" pitchFamily="2" charset="-122"/>
              </a:rPr>
              <a:t>(horizontal distribution)</a:t>
            </a:r>
            <a:r>
              <a:rPr lang="zh-CN" altLang="en-US" sz="2400" dirty="0">
                <a:solidFill>
                  <a:schemeClr val="tx1"/>
                </a:solidFill>
                <a:ea typeface="宋体" panose="02010600030101010101" pitchFamily="2" charset="-122"/>
              </a:rPr>
              <a:t>  实现负载均衡</a:t>
            </a:r>
            <a:endParaRPr lang="en-US" altLang="zh-CN" sz="3600" dirty="0">
              <a:ea typeface="宋体" panose="02010600030101010101" pitchFamily="2" charset="-122"/>
            </a:endParaRPr>
          </a:p>
        </p:txBody>
      </p:sp>
      <p:sp>
        <p:nvSpPr>
          <p:cNvPr id="24579" name="Rectangle 3"/>
          <p:cNvSpPr>
            <a:spLocks noGrp="1"/>
          </p:cNvSpPr>
          <p:nvPr>
            <p:ph idx="1"/>
          </p:nvPr>
        </p:nvSpPr>
        <p:spPr>
          <a:xfrm>
            <a:off x="698500" y="6016625"/>
            <a:ext cx="7797800" cy="447675"/>
          </a:xfrm>
        </p:spPr>
        <p:txBody>
          <a:bodyPr vert="horz" wrap="square" lIns="91440" tIns="45720" rIns="91440" bIns="45720" anchor="t" anchorCtr="0"/>
          <a:lstStyle/>
          <a:p>
            <a:pPr eaLnBrk="1" hangingPunct="1">
              <a:buNone/>
            </a:pPr>
            <a:r>
              <a:rPr lang="en-US" altLang="zh-CN" sz="2400" dirty="0">
                <a:ea typeface="宋体" panose="02010600030101010101" pitchFamily="2" charset="-122"/>
              </a:rPr>
              <a:t>An example of horizontal distribution of a Web service.</a:t>
            </a:r>
          </a:p>
        </p:txBody>
      </p:sp>
      <p:sp>
        <p:nvSpPr>
          <p:cNvPr id="24580" name="Text Box 4"/>
          <p:cNvSpPr txBox="1"/>
          <p:nvPr/>
        </p:nvSpPr>
        <p:spPr>
          <a:xfrm>
            <a:off x="3886200" y="2514600"/>
            <a:ext cx="1524000"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400" dirty="0">
                <a:ea typeface="宋体" panose="02010600030101010101" pitchFamily="2" charset="-122"/>
              </a:rPr>
              <a:t>1-31</a:t>
            </a:r>
          </a:p>
        </p:txBody>
      </p:sp>
      <p:pic>
        <p:nvPicPr>
          <p:cNvPr id="24581" name="Picture 5"/>
          <p:cNvPicPr>
            <a:picLocks noChangeAspect="1"/>
          </p:cNvPicPr>
          <p:nvPr/>
        </p:nvPicPr>
        <p:blipFill>
          <a:blip r:embed="rId3"/>
          <a:srcRect l="26938" t="43051" r="21593" b="37915"/>
          <a:stretch>
            <a:fillRect/>
          </a:stretch>
        </p:blipFill>
        <p:spPr>
          <a:xfrm>
            <a:off x="433388" y="1322388"/>
            <a:ext cx="8424862" cy="441325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0" y="0"/>
            <a:ext cx="7756525" cy="788988"/>
          </a:xfrm>
        </p:spPr>
        <p:txBody>
          <a:bodyPr vert="horz" wrap="square" lIns="91440" tIns="45720" rIns="91440" bIns="45720" anchor="ctr" anchorCtr="0"/>
          <a:lstStyle/>
          <a:p>
            <a:pPr algn="l" eaLnBrk="1" hangingPunct="1"/>
            <a:r>
              <a:rPr lang="zh-CN" altLang="en-US" sz="3200" dirty="0">
                <a:ea typeface="宋体" panose="02010600030101010101" pitchFamily="2" charset="-122"/>
              </a:rPr>
              <a:t>云计算</a:t>
            </a:r>
            <a:r>
              <a:rPr lang="en-US" altLang="zh-CN" sz="3200" dirty="0">
                <a:ea typeface="宋体" panose="02010600030101010101" pitchFamily="2" charset="-122"/>
              </a:rPr>
              <a:t>——Client-Server</a:t>
            </a:r>
            <a:r>
              <a:rPr lang="zh-CN" altLang="en-US" sz="3200" dirty="0">
                <a:ea typeface="宋体" panose="02010600030101010101" pitchFamily="2" charset="-122"/>
              </a:rPr>
              <a:t>的一种商业实现</a:t>
            </a:r>
            <a:endParaRPr lang="en-US" altLang="zh-CN" sz="3200" dirty="0">
              <a:ea typeface="宋体" panose="02010600030101010101" pitchFamily="2" charset="-122"/>
            </a:endParaRPr>
          </a:p>
        </p:txBody>
      </p:sp>
      <p:pic>
        <p:nvPicPr>
          <p:cNvPr id="8" name="图片 7" descr="云计算图2.jpg"/>
          <p:cNvPicPr>
            <a:picLocks noChangeAspect="1"/>
          </p:cNvPicPr>
          <p:nvPr/>
        </p:nvPicPr>
        <p:blipFill>
          <a:blip r:embed="rId3"/>
          <a:stretch>
            <a:fillRect/>
          </a:stretch>
        </p:blipFill>
        <p:spPr>
          <a:xfrm>
            <a:off x="4613275" y="3694113"/>
            <a:ext cx="4597400" cy="2986087"/>
          </a:xfrm>
          <a:prstGeom prst="rect">
            <a:avLst/>
          </a:prstGeom>
          <a:noFill/>
          <a:ln w="9525">
            <a:noFill/>
          </a:ln>
        </p:spPr>
      </p:pic>
      <p:pic>
        <p:nvPicPr>
          <p:cNvPr id="10" name="图片 9" descr="云计算图4.jpg"/>
          <p:cNvPicPr>
            <a:picLocks noChangeAspect="1"/>
          </p:cNvPicPr>
          <p:nvPr/>
        </p:nvPicPr>
        <p:blipFill>
          <a:blip r:embed="rId4"/>
          <a:stretch>
            <a:fillRect/>
          </a:stretch>
        </p:blipFill>
        <p:spPr>
          <a:xfrm>
            <a:off x="4613275" y="708025"/>
            <a:ext cx="4622800" cy="2959100"/>
          </a:xfrm>
          <a:prstGeom prst="rect">
            <a:avLst/>
          </a:prstGeom>
          <a:noFill/>
          <a:ln w="9525">
            <a:noFill/>
          </a:ln>
        </p:spPr>
      </p:pic>
      <p:pic>
        <p:nvPicPr>
          <p:cNvPr id="11" name="图片 10" descr="云计算图3.jpg"/>
          <p:cNvPicPr>
            <a:picLocks noChangeAspect="1"/>
          </p:cNvPicPr>
          <p:nvPr/>
        </p:nvPicPr>
        <p:blipFill>
          <a:blip r:embed="rId5"/>
          <a:stretch>
            <a:fillRect/>
          </a:stretch>
        </p:blipFill>
        <p:spPr>
          <a:xfrm>
            <a:off x="28575" y="754063"/>
            <a:ext cx="4508500" cy="2940050"/>
          </a:xfrm>
          <a:prstGeom prst="rect">
            <a:avLst/>
          </a:prstGeom>
          <a:noFill/>
          <a:ln w="9525">
            <a:noFill/>
          </a:ln>
        </p:spPr>
      </p:pic>
      <p:pic>
        <p:nvPicPr>
          <p:cNvPr id="25606" name="图片 11" descr="数据中心图6.jpg"/>
          <p:cNvPicPr>
            <a:picLocks noChangeAspect="1"/>
          </p:cNvPicPr>
          <p:nvPr/>
        </p:nvPicPr>
        <p:blipFill>
          <a:blip r:embed="rId6"/>
          <a:stretch>
            <a:fillRect/>
          </a:stretch>
        </p:blipFill>
        <p:spPr>
          <a:xfrm>
            <a:off x="66675" y="3694113"/>
            <a:ext cx="4508500" cy="2986087"/>
          </a:xfrm>
          <a:prstGeom prst="rect">
            <a:avLst/>
          </a:prstGeom>
          <a:noFill/>
          <a:ln w="9525">
            <a:noFill/>
          </a:ln>
        </p:spPr>
      </p:pic>
      <p:sp>
        <p:nvSpPr>
          <p:cNvPr id="25607" name="右箭头 1"/>
          <p:cNvSpPr/>
          <p:nvPr/>
        </p:nvSpPr>
        <p:spPr>
          <a:xfrm rot="5400000">
            <a:off x="1803400" y="3517900"/>
            <a:ext cx="339725" cy="334963"/>
          </a:xfrm>
          <a:prstGeom prst="rightArrow">
            <a:avLst>
              <a:gd name="adj1" fmla="val 50000"/>
              <a:gd name="adj2" fmla="val 50011"/>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25608" name="左大括号 2"/>
          <p:cNvSpPr/>
          <p:nvPr/>
        </p:nvSpPr>
        <p:spPr>
          <a:xfrm>
            <a:off x="4322763" y="788988"/>
            <a:ext cx="252412" cy="2878137"/>
          </a:xfrm>
          <a:prstGeom prst="leftBrace">
            <a:avLst>
              <a:gd name="adj1" fmla="val 8340"/>
              <a:gd name="adj2" fmla="val 50000"/>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25609" name="右箭头 3"/>
          <p:cNvSpPr/>
          <p:nvPr/>
        </p:nvSpPr>
        <p:spPr>
          <a:xfrm rot="-2631951" flipV="1">
            <a:off x="2667000" y="2878138"/>
            <a:ext cx="1995488" cy="185737"/>
          </a:xfrm>
          <a:prstGeom prst="rightArrow">
            <a:avLst>
              <a:gd name="adj1" fmla="val 50000"/>
              <a:gd name="adj2" fmla="val 49788"/>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25610" name="下箭头 12"/>
          <p:cNvSpPr/>
          <p:nvPr/>
        </p:nvSpPr>
        <p:spPr>
          <a:xfrm>
            <a:off x="6646863" y="3082925"/>
            <a:ext cx="277812" cy="866775"/>
          </a:xfrm>
          <a:prstGeom prst="downArrow">
            <a:avLst>
              <a:gd name="adj1" fmla="val 50000"/>
              <a:gd name="adj2" fmla="val 49992"/>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strVal val="#ppt_w*0.70"/>
                                          </p:val>
                                        </p:tav>
                                        <p:tav tm="100000">
                                          <p:val>
                                            <p:strVal val="#ppt_w"/>
                                          </p:val>
                                        </p:tav>
                                      </p:tavLst>
                                    </p:anim>
                                    <p:anim calcmode="lin" valueType="num">
                                      <p:cBhvr>
                                        <p:cTn id="14" dur="1000" fill="hold"/>
                                        <p:tgtEl>
                                          <p:spTgt spid="10"/>
                                        </p:tgtEl>
                                        <p:attrNameLst>
                                          <p:attrName>ppt_h</p:attrName>
                                        </p:attrNameLst>
                                      </p:cBhvr>
                                      <p:tavLst>
                                        <p:tav tm="0">
                                          <p:val>
                                            <p:strVal val="#ppt_h"/>
                                          </p:val>
                                        </p:tav>
                                        <p:tav tm="100000">
                                          <p:val>
                                            <p:strVal val="#ppt_h"/>
                                          </p:val>
                                        </p:tav>
                                      </p:tavLst>
                                    </p:anim>
                                    <p:animEffect transition="in" filter="fade">
                                      <p:cBhvr>
                                        <p:cTn id="15" dur="1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p:txBody>
          <a:bodyPr vert="horz" wrap="square" lIns="91440" tIns="45720" rIns="91440" bIns="45720" anchor="ctr" anchorCtr="0"/>
          <a:lstStyle/>
          <a:p>
            <a:pPr algn="just" eaLnBrk="1" hangingPunct="1">
              <a:buNone/>
            </a:pPr>
            <a:r>
              <a:rPr lang="en-US" altLang="zh-CN" dirty="0">
                <a:ea typeface="宋体" panose="02010600030101010101" pitchFamily="2" charset="-122"/>
              </a:rPr>
              <a:t>2.5. Peer-to-Peer Paradigm</a:t>
            </a:r>
          </a:p>
        </p:txBody>
      </p:sp>
      <p:sp>
        <p:nvSpPr>
          <p:cNvPr id="26627" name="Rectangle 3" descr="Rectangle: Click to edit Master text styles&#10;Second level&#10;Third level&#10;Fourth level&#10;Fifth level"/>
          <p:cNvSpPr>
            <a:spLocks noGrp="1"/>
          </p:cNvSpPr>
          <p:nvPr>
            <p:ph idx="1"/>
          </p:nvPr>
        </p:nvSpPr>
        <p:spPr>
          <a:xfrm>
            <a:off x="533400" y="1131888"/>
            <a:ext cx="8124825" cy="5492750"/>
          </a:xfrm>
        </p:spPr>
        <p:txBody>
          <a:bodyPr vert="horz" wrap="square" lIns="91440" tIns="45720" rIns="91440" bIns="45720" anchor="t" anchorCtr="0"/>
          <a:lstStyle/>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Message passing  </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Remote Procedure Call</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Client-server</a:t>
            </a:r>
            <a:endParaRPr lang="en-US" altLang="zh-CN" sz="2000" dirty="0">
              <a:solidFill>
                <a:srgbClr val="000099"/>
              </a:solidFill>
              <a:ea typeface="宋体" panose="02010600030101010101" pitchFamily="2" charset="-122"/>
            </a:endParaRPr>
          </a:p>
          <a:p>
            <a:pPr algn="l" eaLnBrk="1" hangingPunct="1">
              <a:buFont typeface="Wingdings" panose="05000000000000000000" pitchFamily="2" charset="2"/>
              <a:buChar char="Ø"/>
            </a:pPr>
            <a:r>
              <a:rPr lang="en-US" altLang="zh-CN" sz="2400" b="1" dirty="0">
                <a:solidFill>
                  <a:srgbClr val="FF3300"/>
                </a:solidFill>
                <a:ea typeface="宋体" panose="02010600030101010101" pitchFamily="2" charset="-122"/>
              </a:rPr>
              <a:t>Peer-to-Peer</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Message system</a:t>
            </a:r>
            <a:r>
              <a:rPr lang="en-US" altLang="zh-CN" sz="2000" dirty="0">
                <a:solidFill>
                  <a:srgbClr val="000099"/>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Point-to-point;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Publish/Subscribe</a:t>
            </a:r>
            <a:r>
              <a:rPr lang="en-US" altLang="zh-CN" sz="2000" b="1" dirty="0">
                <a:solidFill>
                  <a:srgbClr val="000099"/>
                </a:solidFill>
                <a:ea typeface="宋体" panose="02010600030101010101" pitchFamily="2" charset="-122"/>
              </a:rPr>
              <a:t> </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Distributed objects:</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Remote method invocation</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Network services</a:t>
            </a:r>
            <a:endParaRPr lang="en-US" altLang="zh-CN" sz="2000" dirty="0">
              <a:solidFill>
                <a:srgbClr val="FF6600"/>
              </a:solidFill>
              <a:ea typeface="宋体" panose="02010600030101010101" pitchFamily="2" charset="-122"/>
            </a:endParaRP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Object Request Broker</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Object space</a:t>
            </a:r>
            <a:r>
              <a:rPr lang="en-US" altLang="zh-CN" sz="2000" dirty="0">
                <a:solidFill>
                  <a:srgbClr val="FF66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6600"/>
                </a:solidFill>
                <a:ea typeface="宋体" panose="02010600030101010101" pitchFamily="2" charset="-122"/>
              </a:rPr>
              <a:t>Component Based Technologies</a:t>
            </a: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Mobile agents</a:t>
            </a:r>
            <a:endParaRPr lang="en-US" altLang="zh-CN" sz="2000" dirty="0">
              <a:solidFill>
                <a:srgbClr val="000099"/>
              </a:solidFill>
              <a:ea typeface="宋体" panose="02010600030101010101" pitchFamily="2" charset="-122"/>
            </a:endParaRPr>
          </a:p>
          <a:p>
            <a:pPr algn="l" eaLnBrk="1" hangingPunct="1">
              <a:buFont typeface="Wingdings" panose="05000000000000000000" pitchFamily="2" charset="2"/>
              <a:buChar char="Ø"/>
            </a:pPr>
            <a:r>
              <a:rPr lang="en-US" altLang="zh-CN" sz="2000" b="1" dirty="0">
                <a:solidFill>
                  <a:srgbClr val="000099"/>
                </a:solidFill>
                <a:ea typeface="宋体" panose="02010600030101010101" pitchFamily="2" charset="-122"/>
              </a:rPr>
              <a:t>Collaborative applications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4"/>
          <p:cNvGraphicFramePr>
            <a:graphicFrameLocks noChangeAspect="1"/>
          </p:cNvGraphicFramePr>
          <p:nvPr/>
        </p:nvGraphicFramePr>
        <p:xfrm>
          <a:off x="2701925" y="3781425"/>
          <a:ext cx="4181475" cy="2395538"/>
        </p:xfrm>
        <a:graphic>
          <a:graphicData uri="http://schemas.openxmlformats.org/presentationml/2006/ole">
            <mc:AlternateContent xmlns:mc="http://schemas.openxmlformats.org/markup-compatibility/2006">
              <mc:Choice xmlns:v="urn:schemas-microsoft-com:vml" Requires="v">
                <p:oleObj spid="_x0000_s5122" r:id="rId4" imgW="1623060" imgH="2377440" progId="SmartDraw.2">
                  <p:embed/>
                </p:oleObj>
              </mc:Choice>
              <mc:Fallback>
                <p:oleObj r:id="rId4" imgW="1623060" imgH="2377440" progId="SmartDraw.2">
                  <p:embed/>
                  <p:pic>
                    <p:nvPicPr>
                      <p:cNvPr id="0" name="图片 3085"/>
                      <p:cNvPicPr/>
                      <p:nvPr/>
                    </p:nvPicPr>
                    <p:blipFill>
                      <a:blip r:embed="rId5"/>
                      <a:stretch>
                        <a:fillRect/>
                      </a:stretch>
                    </p:blipFill>
                    <p:spPr>
                      <a:xfrm>
                        <a:off x="2701925" y="3781425"/>
                        <a:ext cx="4181475" cy="2395538"/>
                      </a:xfrm>
                      <a:prstGeom prst="rect">
                        <a:avLst/>
                      </a:prstGeom>
                      <a:noFill/>
                      <a:ln w="38100">
                        <a:noFill/>
                        <a:miter/>
                      </a:ln>
                    </p:spPr>
                  </p:pic>
                </p:oleObj>
              </mc:Fallback>
            </mc:AlternateContent>
          </a:graphicData>
        </a:graphic>
      </p:graphicFrame>
      <p:sp>
        <p:nvSpPr>
          <p:cNvPr id="27651" name="Rectangle 6"/>
          <p:cNvSpPr>
            <a:spLocks noGrp="1"/>
          </p:cNvSpPr>
          <p:nvPr>
            <p:ph type="title"/>
          </p:nvPr>
        </p:nvSpPr>
        <p:spPr>
          <a:xfrm>
            <a:off x="0" y="0"/>
            <a:ext cx="7389813" cy="639763"/>
          </a:xfrm>
        </p:spPr>
        <p:txBody>
          <a:bodyPr vert="horz" wrap="square" lIns="91440" tIns="45720" rIns="91440" bIns="45720" anchor="ctr" anchorCtr="0"/>
          <a:lstStyle/>
          <a:p>
            <a:pPr algn="just" eaLnBrk="1" hangingPunct="1"/>
            <a:r>
              <a:rPr lang="en-US" altLang="zh-CN" dirty="0">
                <a:ea typeface="宋体" panose="02010600030101010101" pitchFamily="2" charset="-122"/>
              </a:rPr>
              <a:t>2.5. Peer-to-Peer Paradigm</a:t>
            </a:r>
          </a:p>
        </p:txBody>
      </p:sp>
      <p:sp>
        <p:nvSpPr>
          <p:cNvPr id="6" name="Rectangle 3"/>
          <p:cNvSpPr txBox="1">
            <a:spLocks noChangeArrowheads="1"/>
          </p:cNvSpPr>
          <p:nvPr/>
        </p:nvSpPr>
        <p:spPr bwMode="auto">
          <a:xfrm>
            <a:off x="155575" y="639763"/>
            <a:ext cx="85217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en-US" altLang="zh-CN" sz="2000" b="0" i="1" u="none" strike="noStrike" kern="0" cap="none" spc="0" normalizeH="0" baseline="0" noProof="0" dirty="0">
                <a:ln>
                  <a:noFill/>
                </a:ln>
                <a:solidFill>
                  <a:srgbClr val="000099"/>
                </a:solidFill>
                <a:effectLst/>
                <a:uLnTx/>
                <a:uFillTx/>
                <a:latin typeface="+mn-lt"/>
                <a:ea typeface="宋体" panose="02010600030101010101" pitchFamily="2" charset="-122"/>
                <a:cs typeface="Arial" panose="020B0604020202020204" pitchFamily="34" charset="0"/>
              </a:rPr>
              <a:t>Peer-to-peer</a:t>
            </a:r>
            <a:r>
              <a:rPr kumimoji="0" lang="en-US" altLang="zh-CN" sz="2000" b="0" i="0" u="none" strike="noStrike" kern="0" cap="none" spc="0" normalizeH="0" baseline="0" noProof="0" dirty="0">
                <a:ln>
                  <a:noFill/>
                </a:ln>
                <a:solidFill>
                  <a:srgbClr val="000099"/>
                </a:solidFill>
                <a:effectLst/>
                <a:uLnTx/>
                <a:uFillTx/>
                <a:latin typeface="+mn-lt"/>
                <a:ea typeface="宋体" panose="02010600030101010101" pitchFamily="2" charset="-122"/>
                <a:cs typeface="Arial" panose="020B0604020202020204" pitchFamily="34" charset="0"/>
              </a:rPr>
              <a:t> is an architecture where computer </a:t>
            </a:r>
            <a:r>
              <a:rPr kumimoji="0" lang="en-US" altLang="zh-CN" sz="2000" b="0" i="0" u="none" strike="noStrike" kern="0" cap="none" spc="0" normalizeH="0" baseline="0" noProof="0" dirty="0">
                <a:ln>
                  <a:noFill/>
                </a:ln>
                <a:solidFill>
                  <a:srgbClr val="FF3300"/>
                </a:solidFill>
                <a:effectLst/>
                <a:uLnTx/>
                <a:uFillTx/>
                <a:latin typeface="+mn-lt"/>
                <a:ea typeface="宋体" panose="02010600030101010101" pitchFamily="2" charset="-122"/>
                <a:cs typeface="Arial" panose="020B0604020202020204" pitchFamily="34" charset="0"/>
              </a:rPr>
              <a:t>resources and services are direct exchanged</a:t>
            </a:r>
            <a:r>
              <a:rPr kumimoji="0" lang="en-US" altLang="zh-CN" sz="2000" b="0" i="0" u="none" strike="noStrike" kern="0" cap="none" spc="0" normalizeH="0" baseline="0" noProof="0" dirty="0">
                <a:ln>
                  <a:noFill/>
                </a:ln>
                <a:solidFill>
                  <a:srgbClr val="000099"/>
                </a:solidFill>
                <a:effectLst/>
                <a:uLnTx/>
                <a:uFillTx/>
                <a:latin typeface="+mn-lt"/>
                <a:ea typeface="宋体" panose="02010600030101010101" pitchFamily="2" charset="-122"/>
                <a:cs typeface="Arial" panose="020B0604020202020204" pitchFamily="34" charset="0"/>
              </a:rPr>
              <a:t> between computer systems. These resources and services include the exchange of information, processing cycles, cache storage, and disk storage for files.</a:t>
            </a:r>
            <a:r>
              <a:rPr kumimoji="0" lang="zh-CN" altLang="en-US" sz="2000" b="0" i="0" u="none" strike="noStrike" kern="120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 </a:t>
            </a:r>
            <a:endParaRPr kumimoji="0" lang="en-US" altLang="zh-CN" sz="2000" b="0" i="0" u="none" strike="noStrike" kern="120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en-US" altLang="zh-CN" sz="2000" b="0" i="0" u="none" strike="noStrike" kern="120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The participating processes play equal roles, with </a:t>
            </a:r>
            <a:r>
              <a:rPr kumimoji="0" lang="en-US" altLang="zh-CN" sz="2000" b="0" i="0" u="none" strike="noStrike" kern="1200" cap="none" spc="0" normalizeH="0" baseline="0" noProof="0" dirty="0">
                <a:ln>
                  <a:noFill/>
                </a:ln>
                <a:solidFill>
                  <a:srgbClr val="FF3300"/>
                </a:solidFill>
                <a:effectLst/>
                <a:uLnTx/>
                <a:uFillTx/>
                <a:latin typeface="+mn-lt"/>
                <a:ea typeface="宋体" panose="02010600030101010101" pitchFamily="2" charset="-122"/>
                <a:cs typeface="Times New Roman" panose="02020603050405020304" pitchFamily="18" charset="0"/>
              </a:rPr>
              <a:t>equivalent capabilities and responsibilities</a:t>
            </a:r>
            <a:r>
              <a:rPr kumimoji="0" lang="en-US" altLang="zh-CN" sz="2000" b="0" i="0" u="none" strike="noStrike" kern="120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 (hence the term “peer”, </a:t>
            </a:r>
            <a:r>
              <a:rPr kumimoji="0" lang="zh-CN" altLang="en-US" sz="2000" b="0" i="0" u="none" strike="noStrike" kern="120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角色平等</a:t>
            </a:r>
            <a:r>
              <a:rPr kumimoji="0" lang="en-US" altLang="zh-CN" sz="2000" b="0" i="0" u="none" strike="noStrike" kern="120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a:t>
            </a:r>
            <a:endParaRPr kumimoji="0" lang="zh-CN" altLang="en-US" sz="2000" b="0" i="0" u="none" strike="noStrike" kern="120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endParaRPr kumimoji="0" lang="en-US" altLang="zh-CN" sz="2000" b="0" i="0" u="none" strike="noStrike" kern="0" cap="none" spc="0" normalizeH="0" baseline="0" noProof="0" dirty="0">
              <a:ln>
                <a:noFill/>
              </a:ln>
              <a:solidFill>
                <a:srgbClr val="000099"/>
              </a:solidFill>
              <a:effectLst/>
              <a:uLnTx/>
              <a:uFillTx/>
              <a:latin typeface="+mn-lt"/>
              <a:ea typeface="宋体" panose="02010600030101010101" pitchFamily="2" charset="-122"/>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p:nvPr/>
        </p:nvSpPr>
        <p:spPr>
          <a:xfrm>
            <a:off x="152400" y="2300288"/>
            <a:ext cx="3103563" cy="531812"/>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2000" dirty="0">
                <a:solidFill>
                  <a:srgbClr val="FF0000"/>
                </a:solidFill>
                <a:ea typeface="宋体" panose="02010600030101010101" pitchFamily="2" charset="-122"/>
              </a:rPr>
              <a:t>P2P: centralized directory</a:t>
            </a:r>
          </a:p>
        </p:txBody>
      </p:sp>
      <p:sp>
        <p:nvSpPr>
          <p:cNvPr id="28675" name="Rectangle 3"/>
          <p:cNvSpPr/>
          <p:nvPr/>
        </p:nvSpPr>
        <p:spPr>
          <a:xfrm>
            <a:off x="122238" y="2741613"/>
            <a:ext cx="4229100" cy="3316287"/>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30000"/>
              </a:lnSpc>
              <a:buNone/>
            </a:pPr>
            <a:r>
              <a:rPr lang="en-US" altLang="zh-CN" sz="2000" dirty="0">
                <a:ea typeface="宋体" panose="02010600030101010101" pitchFamily="2" charset="-122"/>
              </a:rPr>
              <a:t>original “</a:t>
            </a:r>
            <a:r>
              <a:rPr lang="en-US" altLang="zh-CN" sz="2000" dirty="0">
                <a:solidFill>
                  <a:srgbClr val="200AC2"/>
                </a:solidFill>
                <a:ea typeface="宋体" panose="02010600030101010101" pitchFamily="2" charset="-122"/>
              </a:rPr>
              <a:t>Napster</a:t>
            </a:r>
            <a:r>
              <a:rPr lang="en-US" altLang="zh-CN" sz="2000" dirty="0">
                <a:ea typeface="宋体" panose="02010600030101010101" pitchFamily="2" charset="-122"/>
              </a:rPr>
              <a:t>” design</a:t>
            </a:r>
          </a:p>
          <a:p>
            <a:pPr marL="0" lvl="0" indent="0" algn="l" eaLnBrk="1" hangingPunct="1">
              <a:lnSpc>
                <a:spcPct val="130000"/>
              </a:lnSpc>
              <a:buNone/>
            </a:pPr>
            <a:r>
              <a:rPr lang="en-US" altLang="zh-CN" sz="2000" dirty="0">
                <a:ea typeface="宋体" panose="02010600030101010101" pitchFamily="2" charset="-122"/>
              </a:rPr>
              <a:t>1) when </a:t>
            </a:r>
            <a:r>
              <a:rPr lang="en-US" altLang="zh-CN" sz="2000" dirty="0">
                <a:solidFill>
                  <a:srgbClr val="200AC2"/>
                </a:solidFill>
                <a:ea typeface="宋体" panose="02010600030101010101" pitchFamily="2" charset="-122"/>
              </a:rPr>
              <a:t>peer</a:t>
            </a:r>
            <a:r>
              <a:rPr lang="en-US" altLang="zh-CN" sz="2000" dirty="0">
                <a:ea typeface="宋体" panose="02010600030101010101" pitchFamily="2" charset="-122"/>
              </a:rPr>
              <a:t> connects, it informs </a:t>
            </a:r>
            <a:r>
              <a:rPr lang="en-US" altLang="zh-CN" sz="2000" dirty="0">
                <a:solidFill>
                  <a:srgbClr val="008080"/>
                </a:solidFill>
                <a:ea typeface="宋体" panose="02010600030101010101" pitchFamily="2" charset="-122"/>
              </a:rPr>
              <a:t>central server</a:t>
            </a:r>
            <a:r>
              <a:rPr lang="en-US" altLang="zh-CN" sz="2000" dirty="0">
                <a:ea typeface="宋体" panose="02010600030101010101" pitchFamily="2" charset="-122"/>
              </a:rPr>
              <a:t>:</a:t>
            </a:r>
          </a:p>
          <a:p>
            <a:pPr marL="742950" lvl="1" indent="-285750" eaLnBrk="1" hangingPunct="1">
              <a:lnSpc>
                <a:spcPct val="130000"/>
              </a:lnSpc>
            </a:pPr>
            <a:r>
              <a:rPr lang="en-US" altLang="zh-CN" sz="2000" dirty="0">
                <a:solidFill>
                  <a:srgbClr val="200AC2"/>
                </a:solidFill>
                <a:ea typeface="宋体" panose="02010600030101010101" pitchFamily="2" charset="-122"/>
              </a:rPr>
              <a:t>IP address</a:t>
            </a:r>
          </a:p>
          <a:p>
            <a:pPr marL="742950" lvl="1" indent="-285750" eaLnBrk="1" hangingPunct="1">
              <a:lnSpc>
                <a:spcPct val="130000"/>
              </a:lnSpc>
            </a:pPr>
            <a:r>
              <a:rPr lang="en-US" altLang="zh-CN" sz="2000" dirty="0">
                <a:solidFill>
                  <a:srgbClr val="200AC2"/>
                </a:solidFill>
                <a:ea typeface="宋体" panose="02010600030101010101" pitchFamily="2" charset="-122"/>
              </a:rPr>
              <a:t>contents</a:t>
            </a:r>
          </a:p>
          <a:p>
            <a:pPr marL="0" lvl="0" indent="0" algn="l" eaLnBrk="1" hangingPunct="1">
              <a:lnSpc>
                <a:spcPct val="130000"/>
              </a:lnSpc>
              <a:buNone/>
            </a:pPr>
            <a:r>
              <a:rPr lang="en-US" altLang="zh-CN" sz="2000" dirty="0">
                <a:ea typeface="宋体" panose="02010600030101010101" pitchFamily="2" charset="-122"/>
              </a:rPr>
              <a:t>2) Alice queries for “Hey Jude”</a:t>
            </a:r>
          </a:p>
          <a:p>
            <a:pPr marL="0" lvl="0" indent="0" algn="l" eaLnBrk="1" hangingPunct="1">
              <a:lnSpc>
                <a:spcPct val="130000"/>
              </a:lnSpc>
              <a:buNone/>
            </a:pPr>
            <a:r>
              <a:rPr lang="en-US" altLang="zh-CN" sz="2000" dirty="0">
                <a:ea typeface="宋体" panose="02010600030101010101" pitchFamily="2" charset="-122"/>
              </a:rPr>
              <a:t>3) Alice requests file from Bob</a:t>
            </a:r>
          </a:p>
        </p:txBody>
      </p:sp>
      <p:grpSp>
        <p:nvGrpSpPr>
          <p:cNvPr id="28676" name="Group 44"/>
          <p:cNvGrpSpPr/>
          <p:nvPr/>
        </p:nvGrpSpPr>
        <p:grpSpPr>
          <a:xfrm>
            <a:off x="4381500" y="1612900"/>
            <a:ext cx="4683125" cy="5164138"/>
            <a:chOff x="2627" y="498"/>
            <a:chExt cx="2950" cy="3253"/>
          </a:xfrm>
        </p:grpSpPr>
        <p:graphicFrame>
          <p:nvGraphicFramePr>
            <p:cNvPr id="28680" name="Object 5"/>
            <p:cNvGraphicFramePr>
              <a:graphicFrameLocks noChangeAspect="1"/>
            </p:cNvGraphicFramePr>
            <p:nvPr/>
          </p:nvGraphicFramePr>
          <p:xfrm>
            <a:off x="3866" y="2936"/>
            <a:ext cx="571" cy="458"/>
          </p:xfrm>
          <a:graphic>
            <a:graphicData uri="http://schemas.openxmlformats.org/presentationml/2006/ole">
              <mc:AlternateContent xmlns:mc="http://schemas.openxmlformats.org/markup-compatibility/2006">
                <mc:Choice xmlns:v="urn:schemas-microsoft-com:vml" Requires="v">
                  <p:oleObj spid="_x0000_s6149" r:id="rId4" imgW="1307465" imgH="1083945" progId="MS_ClipArt_Gallery.2">
                    <p:embed/>
                  </p:oleObj>
                </mc:Choice>
                <mc:Fallback>
                  <p:oleObj r:id="rId4" imgW="1307465" imgH="1083945" progId="MS_ClipArt_Gallery.2">
                    <p:embed/>
                    <p:pic>
                      <p:nvPicPr>
                        <p:cNvPr id="0" name="图片 3081"/>
                        <p:cNvPicPr/>
                        <p:nvPr/>
                      </p:nvPicPr>
                      <p:blipFill>
                        <a:blip r:embed="rId5"/>
                        <a:stretch>
                          <a:fillRect/>
                        </a:stretch>
                      </p:blipFill>
                      <p:spPr>
                        <a:xfrm>
                          <a:off x="3866" y="2936"/>
                          <a:ext cx="571" cy="458"/>
                        </a:xfrm>
                        <a:prstGeom prst="rect">
                          <a:avLst/>
                        </a:prstGeom>
                        <a:noFill/>
                        <a:ln w="38100">
                          <a:noFill/>
                          <a:miter/>
                        </a:ln>
                      </p:spPr>
                    </p:pic>
                  </p:oleObj>
                </mc:Fallback>
              </mc:AlternateContent>
            </a:graphicData>
          </a:graphic>
        </p:graphicFrame>
        <p:grpSp>
          <p:nvGrpSpPr>
            <p:cNvPr id="28681" name="Group 6"/>
            <p:cNvGrpSpPr/>
            <p:nvPr/>
          </p:nvGrpSpPr>
          <p:grpSpPr>
            <a:xfrm>
              <a:off x="2978" y="1557"/>
              <a:ext cx="255" cy="472"/>
              <a:chOff x="4180" y="783"/>
              <a:chExt cx="150" cy="307"/>
            </a:xfrm>
          </p:grpSpPr>
          <p:sp>
            <p:nvSpPr>
              <p:cNvPr id="28707" name="AutoShape 7"/>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28708" name="Rectangle 8"/>
              <p:cNvSpPr/>
              <p:nvPr/>
            </p:nvSpPr>
            <p:spPr>
              <a:xfrm>
                <a:off x="4256" y="785"/>
                <a:ext cx="69" cy="236"/>
              </a:xfrm>
              <a:prstGeom prst="rect">
                <a:avLst/>
              </a:prstGeom>
              <a:solidFill>
                <a:srgbClr val="33CCCC"/>
              </a:solidFill>
              <a:ln w="9525">
                <a:noFill/>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28709" name="Rectangle 9"/>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28710" name="AutoShape 10"/>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28711" name="Line 11"/>
              <p:cNvSpPr/>
              <p:nvPr/>
            </p:nvSpPr>
            <p:spPr>
              <a:xfrm>
                <a:off x="4330" y="788"/>
                <a:ext cx="0" cy="231"/>
              </a:xfrm>
              <a:prstGeom prst="line">
                <a:avLst/>
              </a:prstGeom>
              <a:ln w="9525" cap="flat" cmpd="sng">
                <a:solidFill>
                  <a:srgbClr val="000000"/>
                </a:solidFill>
                <a:prstDash val="solid"/>
                <a:headEnd type="none" w="med" len="med"/>
                <a:tailEnd type="none" w="med" len="med"/>
              </a:ln>
            </p:spPr>
          </p:sp>
          <p:sp>
            <p:nvSpPr>
              <p:cNvPr id="28712" name="Line 12"/>
              <p:cNvSpPr/>
              <p:nvPr/>
            </p:nvSpPr>
            <p:spPr>
              <a:xfrm flipH="1">
                <a:off x="4276" y="1019"/>
                <a:ext cx="54" cy="69"/>
              </a:xfrm>
              <a:prstGeom prst="line">
                <a:avLst/>
              </a:prstGeom>
              <a:ln w="9525" cap="flat" cmpd="sng">
                <a:solidFill>
                  <a:srgbClr val="000000"/>
                </a:solidFill>
                <a:prstDash val="solid"/>
                <a:headEnd type="none" w="med" len="med"/>
                <a:tailEnd type="none" w="med" len="med"/>
              </a:ln>
            </p:spPr>
          </p:sp>
          <p:sp>
            <p:nvSpPr>
              <p:cNvPr id="28713" name="Rectangle 13"/>
              <p:cNvSpPr/>
              <p:nvPr/>
            </p:nvSpPr>
            <p:spPr>
              <a:xfrm>
                <a:off x="4193" y="883"/>
                <a:ext cx="63" cy="136"/>
              </a:xfrm>
              <a:prstGeom prst="rect">
                <a:avLst/>
              </a:prstGeom>
              <a:solidFill>
                <a:srgbClr val="3333CC"/>
              </a:solidFill>
              <a:ln w="9525" cap="flat" cmpd="sng">
                <a:solidFill>
                  <a:srgbClr val="000000"/>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28714" name="Rectangle 14"/>
              <p:cNvSpPr/>
              <p:nvPr/>
            </p:nvSpPr>
            <p:spPr>
              <a:xfrm>
                <a:off x="4202" y="924"/>
                <a:ext cx="48" cy="48"/>
              </a:xfrm>
              <a:prstGeom prst="rect">
                <a:avLst/>
              </a:prstGeom>
              <a:solidFill>
                <a:srgbClr val="FFFFFF"/>
              </a:solidFill>
              <a:ln w="9525">
                <a:noFill/>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grpSp>
        <p:sp>
          <p:nvSpPr>
            <p:cNvPr id="28682" name="Text Box 15"/>
            <p:cNvSpPr txBox="1"/>
            <p:nvPr/>
          </p:nvSpPr>
          <p:spPr>
            <a:xfrm>
              <a:off x="2899" y="2936"/>
              <a:ext cx="116" cy="288"/>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endParaRPr lang="zh-CN" altLang="en-US" sz="2400" dirty="0">
                <a:solidFill>
                  <a:srgbClr val="000000"/>
                </a:solidFill>
                <a:ea typeface="宋体" panose="02010600030101010101" pitchFamily="2" charset="-122"/>
              </a:endParaRPr>
            </a:p>
          </p:txBody>
        </p:sp>
        <p:graphicFrame>
          <p:nvGraphicFramePr>
            <p:cNvPr id="28683" name="Object 16"/>
            <p:cNvGraphicFramePr>
              <a:graphicFrameLocks noChangeAspect="1"/>
            </p:cNvGraphicFramePr>
            <p:nvPr/>
          </p:nvGraphicFramePr>
          <p:xfrm>
            <a:off x="5119" y="1841"/>
            <a:ext cx="458" cy="367"/>
          </p:xfrm>
          <a:graphic>
            <a:graphicData uri="http://schemas.openxmlformats.org/presentationml/2006/ole">
              <mc:AlternateContent xmlns:mc="http://schemas.openxmlformats.org/markup-compatibility/2006">
                <mc:Choice xmlns:v="urn:schemas-microsoft-com:vml" Requires="v">
                  <p:oleObj spid="_x0000_s6150" r:id="rId6" imgW="1307465" imgH="1083945" progId="MS_ClipArt_Gallery.2">
                    <p:embed/>
                  </p:oleObj>
                </mc:Choice>
                <mc:Fallback>
                  <p:oleObj r:id="rId6" imgW="1307465" imgH="1083945" progId="MS_ClipArt_Gallery.2">
                    <p:embed/>
                    <p:pic>
                      <p:nvPicPr>
                        <p:cNvPr id="0" name="图片 3083"/>
                        <p:cNvPicPr/>
                        <p:nvPr/>
                      </p:nvPicPr>
                      <p:blipFill>
                        <a:blip r:embed="rId5"/>
                        <a:stretch>
                          <a:fillRect/>
                        </a:stretch>
                      </p:blipFill>
                      <p:spPr>
                        <a:xfrm>
                          <a:off x="5119" y="1841"/>
                          <a:ext cx="458" cy="367"/>
                        </a:xfrm>
                        <a:prstGeom prst="rect">
                          <a:avLst/>
                        </a:prstGeom>
                        <a:noFill/>
                        <a:ln w="38100">
                          <a:noFill/>
                          <a:miter/>
                        </a:ln>
                      </p:spPr>
                    </p:pic>
                  </p:oleObj>
                </mc:Fallback>
              </mc:AlternateContent>
            </a:graphicData>
          </a:graphic>
        </p:graphicFrame>
        <p:graphicFrame>
          <p:nvGraphicFramePr>
            <p:cNvPr id="28684" name="Object 17"/>
            <p:cNvGraphicFramePr>
              <a:graphicFrameLocks noChangeAspect="1"/>
            </p:cNvGraphicFramePr>
            <p:nvPr/>
          </p:nvGraphicFramePr>
          <p:xfrm>
            <a:off x="4695" y="2412"/>
            <a:ext cx="466" cy="374"/>
          </p:xfrm>
          <a:graphic>
            <a:graphicData uri="http://schemas.openxmlformats.org/presentationml/2006/ole">
              <mc:AlternateContent xmlns:mc="http://schemas.openxmlformats.org/markup-compatibility/2006">
                <mc:Choice xmlns:v="urn:schemas-microsoft-com:vml" Requires="v">
                  <p:oleObj spid="_x0000_s6151" r:id="rId7" imgW="1307465" imgH="1083945" progId="MS_ClipArt_Gallery.2">
                    <p:embed/>
                  </p:oleObj>
                </mc:Choice>
                <mc:Fallback>
                  <p:oleObj r:id="rId7" imgW="1307465" imgH="1083945" progId="MS_ClipArt_Gallery.2">
                    <p:embed/>
                    <p:pic>
                      <p:nvPicPr>
                        <p:cNvPr id="0" name="图片 3084"/>
                        <p:cNvPicPr/>
                        <p:nvPr/>
                      </p:nvPicPr>
                      <p:blipFill>
                        <a:blip r:embed="rId5"/>
                        <a:stretch>
                          <a:fillRect/>
                        </a:stretch>
                      </p:blipFill>
                      <p:spPr>
                        <a:xfrm>
                          <a:off x="4695" y="2412"/>
                          <a:ext cx="466" cy="374"/>
                        </a:xfrm>
                        <a:prstGeom prst="rect">
                          <a:avLst/>
                        </a:prstGeom>
                        <a:noFill/>
                        <a:ln w="38100">
                          <a:noFill/>
                          <a:miter/>
                        </a:ln>
                      </p:spPr>
                    </p:pic>
                  </p:oleObj>
                </mc:Fallback>
              </mc:AlternateContent>
            </a:graphicData>
          </a:graphic>
        </p:graphicFrame>
        <p:graphicFrame>
          <p:nvGraphicFramePr>
            <p:cNvPr id="28685" name="Object 18"/>
            <p:cNvGraphicFramePr>
              <a:graphicFrameLocks noChangeAspect="1"/>
            </p:cNvGraphicFramePr>
            <p:nvPr/>
          </p:nvGraphicFramePr>
          <p:xfrm>
            <a:off x="4618" y="1092"/>
            <a:ext cx="475" cy="382"/>
          </p:xfrm>
          <a:graphic>
            <a:graphicData uri="http://schemas.openxmlformats.org/presentationml/2006/ole">
              <mc:AlternateContent xmlns:mc="http://schemas.openxmlformats.org/markup-compatibility/2006">
                <mc:Choice xmlns:v="urn:schemas-microsoft-com:vml" Requires="v">
                  <p:oleObj spid="_x0000_s6152" r:id="rId8" imgW="1307465" imgH="1083945" progId="MS_ClipArt_Gallery.2">
                    <p:embed/>
                  </p:oleObj>
                </mc:Choice>
                <mc:Fallback>
                  <p:oleObj r:id="rId8" imgW="1307465" imgH="1083945" progId="MS_ClipArt_Gallery.2">
                    <p:embed/>
                    <p:pic>
                      <p:nvPicPr>
                        <p:cNvPr id="0" name="图片 3082"/>
                        <p:cNvPicPr/>
                        <p:nvPr/>
                      </p:nvPicPr>
                      <p:blipFill>
                        <a:blip r:embed="rId5"/>
                        <a:stretch>
                          <a:fillRect/>
                        </a:stretch>
                      </p:blipFill>
                      <p:spPr>
                        <a:xfrm>
                          <a:off x="4618" y="1092"/>
                          <a:ext cx="475" cy="382"/>
                        </a:xfrm>
                        <a:prstGeom prst="rect">
                          <a:avLst/>
                        </a:prstGeom>
                        <a:noFill/>
                        <a:ln w="38100">
                          <a:noFill/>
                          <a:miter/>
                        </a:ln>
                      </p:spPr>
                    </p:pic>
                  </p:oleObj>
                </mc:Fallback>
              </mc:AlternateContent>
            </a:graphicData>
          </a:graphic>
        </p:graphicFrame>
        <p:sp>
          <p:nvSpPr>
            <p:cNvPr id="28686" name="Text Box 19"/>
            <p:cNvSpPr txBox="1"/>
            <p:nvPr/>
          </p:nvSpPr>
          <p:spPr>
            <a:xfrm>
              <a:off x="2627" y="1114"/>
              <a:ext cx="982" cy="326"/>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r>
                <a:rPr lang="en-US" altLang="zh-CN" sz="1400" dirty="0">
                  <a:solidFill>
                    <a:srgbClr val="000000"/>
                  </a:solidFill>
                  <a:latin typeface="Comic Sans MS" panose="030F0702030302020204" pitchFamily="66" charset="0"/>
                  <a:ea typeface="宋体" panose="02010600030101010101" pitchFamily="2" charset="-122"/>
                </a:rPr>
                <a:t>centralized</a:t>
              </a:r>
            </a:p>
            <a:p>
              <a:pPr marL="0" lvl="0" indent="0">
                <a:spcBef>
                  <a:spcPct val="0"/>
                </a:spcBef>
                <a:buClrTx/>
                <a:buNone/>
              </a:pPr>
              <a:r>
                <a:rPr lang="en-US" altLang="zh-CN" sz="1400" dirty="0">
                  <a:solidFill>
                    <a:srgbClr val="000000"/>
                  </a:solidFill>
                  <a:latin typeface="Comic Sans MS" panose="030F0702030302020204" pitchFamily="66" charset="0"/>
                  <a:ea typeface="宋体" panose="02010600030101010101" pitchFamily="2" charset="-122"/>
                </a:rPr>
                <a:t>directory server</a:t>
              </a:r>
              <a:endParaRPr lang="en-US" altLang="zh-CN" sz="2400" dirty="0">
                <a:solidFill>
                  <a:srgbClr val="000000"/>
                </a:solidFill>
                <a:ea typeface="宋体" panose="02010600030101010101" pitchFamily="2" charset="-122"/>
              </a:endParaRPr>
            </a:p>
          </p:txBody>
        </p:sp>
        <p:sp>
          <p:nvSpPr>
            <p:cNvPr id="28687" name="Text Box 20"/>
            <p:cNvSpPr txBox="1"/>
            <p:nvPr/>
          </p:nvSpPr>
          <p:spPr>
            <a:xfrm>
              <a:off x="4930" y="1553"/>
              <a:ext cx="407" cy="19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r>
                <a:rPr lang="en-US" altLang="zh-CN" sz="1400" dirty="0">
                  <a:solidFill>
                    <a:srgbClr val="000000"/>
                  </a:solidFill>
                  <a:latin typeface="Comic Sans MS" panose="030F0702030302020204" pitchFamily="66" charset="0"/>
                  <a:ea typeface="宋体" panose="02010600030101010101" pitchFamily="2" charset="-122"/>
                </a:rPr>
                <a:t>peers</a:t>
              </a:r>
              <a:endParaRPr lang="en-US" altLang="zh-CN" sz="1400" dirty="0">
                <a:solidFill>
                  <a:srgbClr val="000000"/>
                </a:solidFill>
                <a:ea typeface="宋体" panose="02010600030101010101" pitchFamily="2" charset="-122"/>
              </a:endParaRPr>
            </a:p>
          </p:txBody>
        </p:sp>
        <p:sp>
          <p:nvSpPr>
            <p:cNvPr id="28688" name="Line 21"/>
            <p:cNvSpPr/>
            <p:nvPr/>
          </p:nvSpPr>
          <p:spPr>
            <a:xfrm flipH="1">
              <a:off x="3365" y="1610"/>
              <a:ext cx="689" cy="173"/>
            </a:xfrm>
            <a:prstGeom prst="line">
              <a:avLst/>
            </a:prstGeom>
            <a:ln w="28575">
              <a:noFill/>
            </a:ln>
          </p:spPr>
        </p:sp>
        <p:sp>
          <p:nvSpPr>
            <p:cNvPr id="28689" name="Line 22"/>
            <p:cNvSpPr/>
            <p:nvPr/>
          </p:nvSpPr>
          <p:spPr>
            <a:xfrm flipH="1" flipV="1">
              <a:off x="3302" y="1783"/>
              <a:ext cx="1754" cy="231"/>
            </a:xfrm>
            <a:prstGeom prst="line">
              <a:avLst/>
            </a:prstGeom>
            <a:ln w="28575" cap="flat" cmpd="sng">
              <a:solidFill>
                <a:srgbClr val="000000"/>
              </a:solidFill>
              <a:prstDash val="sysDot"/>
              <a:headEnd type="none" w="med" len="med"/>
              <a:tailEnd type="triangle" w="med" len="med"/>
            </a:ln>
          </p:spPr>
        </p:sp>
        <p:sp>
          <p:nvSpPr>
            <p:cNvPr id="28690" name="Line 23"/>
            <p:cNvSpPr/>
            <p:nvPr/>
          </p:nvSpPr>
          <p:spPr>
            <a:xfrm flipH="1">
              <a:off x="3365" y="1553"/>
              <a:ext cx="626" cy="115"/>
            </a:xfrm>
            <a:prstGeom prst="line">
              <a:avLst/>
            </a:prstGeom>
            <a:ln w="28575">
              <a:noFill/>
            </a:ln>
          </p:spPr>
        </p:sp>
        <p:sp>
          <p:nvSpPr>
            <p:cNvPr id="28691" name="Line 24"/>
            <p:cNvSpPr/>
            <p:nvPr/>
          </p:nvSpPr>
          <p:spPr>
            <a:xfrm flipH="1">
              <a:off x="3365" y="1553"/>
              <a:ext cx="689" cy="115"/>
            </a:xfrm>
            <a:prstGeom prst="line">
              <a:avLst/>
            </a:prstGeom>
            <a:ln w="28575">
              <a:noFill/>
            </a:ln>
          </p:spPr>
        </p:sp>
        <p:sp>
          <p:nvSpPr>
            <p:cNvPr id="28692" name="Line 25"/>
            <p:cNvSpPr/>
            <p:nvPr/>
          </p:nvSpPr>
          <p:spPr>
            <a:xfrm flipH="1" flipV="1">
              <a:off x="3302" y="1956"/>
              <a:ext cx="1379" cy="634"/>
            </a:xfrm>
            <a:prstGeom prst="line">
              <a:avLst/>
            </a:prstGeom>
            <a:ln w="28575" cap="flat" cmpd="sng">
              <a:solidFill>
                <a:srgbClr val="000000"/>
              </a:solidFill>
              <a:prstDash val="sysDot"/>
              <a:headEnd type="none" w="med" len="med"/>
              <a:tailEnd type="triangle" w="med" len="med"/>
            </a:ln>
          </p:spPr>
        </p:sp>
        <p:sp>
          <p:nvSpPr>
            <p:cNvPr id="28693" name="Line 26"/>
            <p:cNvSpPr/>
            <p:nvPr/>
          </p:nvSpPr>
          <p:spPr>
            <a:xfrm flipH="1">
              <a:off x="3302" y="1265"/>
              <a:ext cx="1254" cy="403"/>
            </a:xfrm>
            <a:prstGeom prst="line">
              <a:avLst/>
            </a:prstGeom>
            <a:ln w="28575" cap="flat" cmpd="sng">
              <a:solidFill>
                <a:srgbClr val="000000"/>
              </a:solidFill>
              <a:prstDash val="sysDot"/>
              <a:headEnd type="none" w="med" len="med"/>
              <a:tailEnd type="triangle" w="med" len="med"/>
            </a:ln>
          </p:spPr>
        </p:sp>
        <p:sp>
          <p:nvSpPr>
            <p:cNvPr id="28694" name="Line 28"/>
            <p:cNvSpPr/>
            <p:nvPr/>
          </p:nvSpPr>
          <p:spPr>
            <a:xfrm flipH="1" flipV="1">
              <a:off x="3239" y="2014"/>
              <a:ext cx="815" cy="864"/>
            </a:xfrm>
            <a:prstGeom prst="line">
              <a:avLst/>
            </a:prstGeom>
            <a:ln w="28575" cap="flat" cmpd="sng">
              <a:solidFill>
                <a:srgbClr val="000000"/>
              </a:solidFill>
              <a:prstDash val="sysDot"/>
              <a:headEnd type="none" w="med" len="med"/>
              <a:tailEnd type="triangle" w="med" len="med"/>
            </a:ln>
          </p:spPr>
        </p:sp>
        <p:sp>
          <p:nvSpPr>
            <p:cNvPr id="28695" name="Line 29"/>
            <p:cNvSpPr/>
            <p:nvPr/>
          </p:nvSpPr>
          <p:spPr>
            <a:xfrm>
              <a:off x="3114" y="2071"/>
              <a:ext cx="815" cy="922"/>
            </a:xfrm>
            <a:prstGeom prst="line">
              <a:avLst/>
            </a:prstGeom>
            <a:ln w="28575" cap="flat" cmpd="sng">
              <a:solidFill>
                <a:srgbClr val="000000"/>
              </a:solidFill>
              <a:prstDash val="solid"/>
              <a:headEnd type="triangle" w="med" len="med"/>
              <a:tailEnd type="triangle" w="med" len="med"/>
            </a:ln>
          </p:spPr>
        </p:sp>
        <p:sp>
          <p:nvSpPr>
            <p:cNvPr id="28696" name="Line 30"/>
            <p:cNvSpPr/>
            <p:nvPr/>
          </p:nvSpPr>
          <p:spPr>
            <a:xfrm flipH="1">
              <a:off x="4429" y="1495"/>
              <a:ext cx="377" cy="1498"/>
            </a:xfrm>
            <a:prstGeom prst="line">
              <a:avLst/>
            </a:prstGeom>
            <a:ln w="28575" cap="flat" cmpd="sng">
              <a:solidFill>
                <a:srgbClr val="FF6600"/>
              </a:solidFill>
              <a:prstDash val="solid"/>
              <a:headEnd type="none" w="med" len="med"/>
              <a:tailEnd type="triangle" w="med" len="med"/>
            </a:ln>
          </p:spPr>
        </p:sp>
        <p:sp>
          <p:nvSpPr>
            <p:cNvPr id="28697" name="Text Box 32"/>
            <p:cNvSpPr txBox="1"/>
            <p:nvPr/>
          </p:nvSpPr>
          <p:spPr>
            <a:xfrm>
              <a:off x="4033" y="3404"/>
              <a:ext cx="439" cy="230"/>
            </a:xfrm>
            <a:prstGeom prst="rect">
              <a:avLst/>
            </a:prstGeom>
            <a:solidFill>
              <a:srgbClr val="FFFFFF"/>
            </a:solidFill>
            <a:ln w="28575">
              <a:noFill/>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r>
                <a:rPr lang="en-US" altLang="zh-CN" sz="1400" dirty="0">
                  <a:latin typeface="Comic Sans MS" panose="030F0702030302020204" pitchFamily="66" charset="0"/>
                  <a:ea typeface="宋体" panose="02010600030101010101" pitchFamily="2" charset="-122"/>
                </a:rPr>
                <a:t>Alice</a:t>
              </a:r>
            </a:p>
          </p:txBody>
        </p:sp>
        <p:sp>
          <p:nvSpPr>
            <p:cNvPr id="28698" name="Text Box 33"/>
            <p:cNvSpPr txBox="1"/>
            <p:nvPr/>
          </p:nvSpPr>
          <p:spPr>
            <a:xfrm>
              <a:off x="4964" y="919"/>
              <a:ext cx="438" cy="230"/>
            </a:xfrm>
            <a:prstGeom prst="rect">
              <a:avLst/>
            </a:prstGeom>
            <a:solidFill>
              <a:srgbClr val="FFFFFF"/>
            </a:solidFill>
            <a:ln w="28575">
              <a:noFill/>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r>
                <a:rPr lang="en-US" altLang="zh-CN" sz="1400" dirty="0">
                  <a:latin typeface="Comic Sans MS" panose="030F0702030302020204" pitchFamily="66" charset="0"/>
                  <a:ea typeface="宋体" panose="02010600030101010101" pitchFamily="2" charset="-122"/>
                </a:rPr>
                <a:t>Bob</a:t>
              </a:r>
            </a:p>
          </p:txBody>
        </p:sp>
        <p:sp>
          <p:nvSpPr>
            <p:cNvPr id="28699" name="Oval 34"/>
            <p:cNvSpPr/>
            <p:nvPr/>
          </p:nvSpPr>
          <p:spPr>
            <a:xfrm>
              <a:off x="3855" y="1402"/>
              <a:ext cx="167" cy="146"/>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buSzPct val="85000"/>
                <a:buFont typeface="ZapfDingbats" pitchFamily="82" charset="2"/>
                <a:buNone/>
              </a:pPr>
              <a:r>
                <a:rPr lang="en-US" altLang="zh-CN" sz="1400" dirty="0">
                  <a:latin typeface="Comic Sans MS" panose="030F0702030302020204" pitchFamily="66" charset="0"/>
                  <a:ea typeface="宋体" panose="02010600030101010101" pitchFamily="2" charset="-122"/>
                </a:rPr>
                <a:t>1</a:t>
              </a:r>
            </a:p>
          </p:txBody>
        </p:sp>
        <p:sp>
          <p:nvSpPr>
            <p:cNvPr id="28700" name="Oval 35"/>
            <p:cNvSpPr/>
            <p:nvPr/>
          </p:nvSpPr>
          <p:spPr>
            <a:xfrm>
              <a:off x="3884" y="1775"/>
              <a:ext cx="167" cy="146"/>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buSzPct val="85000"/>
                <a:buFont typeface="ZapfDingbats" pitchFamily="82" charset="2"/>
                <a:buNone/>
              </a:pPr>
              <a:r>
                <a:rPr lang="en-US" altLang="zh-CN" sz="1400" dirty="0">
                  <a:latin typeface="Comic Sans MS" panose="030F0702030302020204" pitchFamily="66" charset="0"/>
                  <a:ea typeface="宋体" panose="02010600030101010101" pitchFamily="2" charset="-122"/>
                </a:rPr>
                <a:t>1</a:t>
              </a:r>
            </a:p>
          </p:txBody>
        </p:sp>
        <p:sp>
          <p:nvSpPr>
            <p:cNvPr id="28701" name="Oval 36"/>
            <p:cNvSpPr/>
            <p:nvPr/>
          </p:nvSpPr>
          <p:spPr>
            <a:xfrm>
              <a:off x="3888" y="2203"/>
              <a:ext cx="166" cy="146"/>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buSzPct val="85000"/>
                <a:buFont typeface="ZapfDingbats" pitchFamily="82" charset="2"/>
                <a:buNone/>
              </a:pPr>
              <a:r>
                <a:rPr lang="en-US" altLang="zh-CN" sz="1400" dirty="0">
                  <a:latin typeface="Comic Sans MS" panose="030F0702030302020204" pitchFamily="66" charset="0"/>
                  <a:ea typeface="宋体" panose="02010600030101010101" pitchFamily="2" charset="-122"/>
                </a:rPr>
                <a:t>1</a:t>
              </a:r>
            </a:p>
          </p:txBody>
        </p:sp>
        <p:sp>
          <p:nvSpPr>
            <p:cNvPr id="28702" name="Oval 37"/>
            <p:cNvSpPr/>
            <p:nvPr/>
          </p:nvSpPr>
          <p:spPr>
            <a:xfrm>
              <a:off x="3671" y="2479"/>
              <a:ext cx="167" cy="146"/>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buSzPct val="85000"/>
                <a:buFont typeface="ZapfDingbats" pitchFamily="82" charset="2"/>
                <a:buNone/>
              </a:pPr>
              <a:r>
                <a:rPr lang="en-US" altLang="zh-CN" sz="1400" dirty="0">
                  <a:latin typeface="Comic Sans MS" panose="030F0702030302020204" pitchFamily="66" charset="0"/>
                  <a:ea typeface="宋体" panose="02010600030101010101" pitchFamily="2" charset="-122"/>
                </a:rPr>
                <a:t>1</a:t>
              </a:r>
            </a:p>
          </p:txBody>
        </p:sp>
        <p:sp>
          <p:nvSpPr>
            <p:cNvPr id="28703" name="Oval 38"/>
            <p:cNvSpPr/>
            <p:nvPr/>
          </p:nvSpPr>
          <p:spPr>
            <a:xfrm>
              <a:off x="3403" y="2440"/>
              <a:ext cx="166" cy="146"/>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buSzPct val="85000"/>
                <a:buFont typeface="ZapfDingbats" pitchFamily="82" charset="2"/>
                <a:buNone/>
              </a:pPr>
              <a:r>
                <a:rPr lang="en-US" altLang="zh-CN" sz="1400" dirty="0">
                  <a:latin typeface="Comic Sans MS" panose="030F0702030302020204" pitchFamily="66" charset="0"/>
                  <a:ea typeface="宋体" panose="02010600030101010101" pitchFamily="2" charset="-122"/>
                </a:rPr>
                <a:t>2</a:t>
              </a:r>
            </a:p>
          </p:txBody>
        </p:sp>
        <p:sp>
          <p:nvSpPr>
            <p:cNvPr id="28704" name="Oval 39"/>
            <p:cNvSpPr/>
            <p:nvPr/>
          </p:nvSpPr>
          <p:spPr>
            <a:xfrm>
              <a:off x="4549" y="2156"/>
              <a:ext cx="166" cy="146"/>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buSzPct val="85000"/>
                <a:buFont typeface="ZapfDingbats" pitchFamily="82" charset="2"/>
                <a:buNone/>
              </a:pPr>
              <a:r>
                <a:rPr lang="en-US" altLang="zh-CN" sz="1400" dirty="0">
                  <a:latin typeface="Comic Sans MS" panose="030F0702030302020204" pitchFamily="66" charset="0"/>
                  <a:ea typeface="宋体" panose="02010600030101010101" pitchFamily="2" charset="-122"/>
                </a:rPr>
                <a:t>3</a:t>
              </a:r>
            </a:p>
          </p:txBody>
        </p:sp>
        <p:pic>
          <p:nvPicPr>
            <p:cNvPr id="28705" name="Picture 40" descr="Bob"/>
            <p:cNvPicPr>
              <a:picLocks noChangeAspect="1"/>
            </p:cNvPicPr>
            <p:nvPr/>
          </p:nvPicPr>
          <p:blipFill>
            <a:blip r:embed="rId9"/>
            <a:stretch>
              <a:fillRect/>
            </a:stretch>
          </p:blipFill>
          <p:spPr>
            <a:xfrm>
              <a:off x="4978" y="498"/>
              <a:ext cx="463" cy="435"/>
            </a:xfrm>
            <a:prstGeom prst="rect">
              <a:avLst/>
            </a:prstGeom>
            <a:noFill/>
            <a:ln w="9525">
              <a:noFill/>
            </a:ln>
          </p:spPr>
        </p:pic>
        <p:pic>
          <p:nvPicPr>
            <p:cNvPr id="28706" name="Picture 41" descr="Alice"/>
            <p:cNvPicPr>
              <a:picLocks noChangeAspect="1"/>
            </p:cNvPicPr>
            <p:nvPr/>
          </p:nvPicPr>
          <p:blipFill>
            <a:blip r:embed="rId10"/>
            <a:stretch>
              <a:fillRect/>
            </a:stretch>
          </p:blipFill>
          <p:spPr>
            <a:xfrm>
              <a:off x="4503" y="3314"/>
              <a:ext cx="385" cy="437"/>
            </a:xfrm>
            <a:prstGeom prst="rect">
              <a:avLst/>
            </a:prstGeom>
            <a:noFill/>
            <a:ln w="9525">
              <a:noFill/>
            </a:ln>
          </p:spPr>
        </p:pic>
      </p:grpSp>
      <p:sp>
        <p:nvSpPr>
          <p:cNvPr id="28677" name="Text Box 42"/>
          <p:cNvSpPr txBox="1"/>
          <p:nvPr/>
        </p:nvSpPr>
        <p:spPr>
          <a:xfrm>
            <a:off x="14288" y="6408738"/>
            <a:ext cx="6484937" cy="3683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b="1" dirty="0">
                <a:latin typeface="Tahoma" panose="020B0604030504040204" pitchFamily="34" charset="0"/>
                <a:ea typeface="宋体" panose="02010600030101010101" pitchFamily="2" charset="-122"/>
              </a:rPr>
              <a:t>Ref</a:t>
            </a:r>
            <a:r>
              <a:rPr lang="en-US" altLang="zh-CN" sz="1800" dirty="0">
                <a:latin typeface="Tahoma" panose="020B0604030504040204" pitchFamily="34" charset="0"/>
                <a:ea typeface="宋体" panose="02010600030101010101" pitchFamily="2" charset="-122"/>
              </a:rPr>
              <a:t>: Computer Networking, Jim F. Kurose and Keith W. Ross </a:t>
            </a:r>
          </a:p>
        </p:txBody>
      </p:sp>
      <p:sp>
        <p:nvSpPr>
          <p:cNvPr id="41" name="Rectangle 3"/>
          <p:cNvSpPr txBox="1">
            <a:spLocks noChangeArrowheads="1"/>
          </p:cNvSpPr>
          <p:nvPr/>
        </p:nvSpPr>
        <p:spPr>
          <a:xfrm>
            <a:off x="0" y="676275"/>
            <a:ext cx="8894763" cy="1457325"/>
          </a:xfrm>
          <a:prstGeom prst="rect">
            <a:avLst/>
          </a:prstGeom>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1" i="1"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Napster.com</a:t>
            </a:r>
            <a:r>
              <a:rPr kumimoji="0" lang="zh-CN" altLang="en-US"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是</a:t>
            </a:r>
            <a:r>
              <a:rPr kumimoji="0" lang="en-US" altLang="zh-CN"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P2P</a:t>
            </a:r>
            <a:r>
              <a:rPr kumimoji="0" lang="zh-CN" altLang="en-US"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的一个里程碑</a:t>
            </a:r>
            <a:r>
              <a:rPr kumimoji="0" lang="en-US" altLang="zh-CN"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为用户提供了一个上传、检索和下载作品的平台，可以将在线用户的</a:t>
            </a:r>
            <a:r>
              <a:rPr kumimoji="0" lang="en-US" altLang="zh-CN"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MP3</a:t>
            </a:r>
            <a:r>
              <a:rPr kumimoji="0" lang="zh-CN" altLang="en-US"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音乐信息进行自动搜寻并分类整理。</a:t>
            </a:r>
            <a:r>
              <a:rPr kumimoji="0" lang="en-US" altLang="zh-CN"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2001</a:t>
            </a:r>
            <a:r>
              <a:rPr kumimoji="0" lang="zh-CN" altLang="en-US"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rPr>
              <a:t>年被传媒巨头贝塔斯曼集团收购。</a:t>
            </a:r>
            <a:endParaRPr kumimoji="0" lang="en-US" altLang="zh-CN" sz="20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42" name="Rectangle 5"/>
          <p:cNvSpPr txBox="1">
            <a:spLocks noChangeArrowheads="1"/>
          </p:cNvSpPr>
          <p:nvPr/>
        </p:nvSpPr>
        <p:spPr>
          <a:xfrm>
            <a:off x="0" y="0"/>
            <a:ext cx="6554788" cy="804863"/>
          </a:xfrm>
          <a:prstGeom prst="rect">
            <a:avLst/>
          </a:prstGeom>
          <a:noFill/>
        </p:spPr>
        <p:txBody>
          <a:bodyP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2.5. Peer-to-Peer Paradigm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457200" y="0"/>
            <a:ext cx="8151813" cy="796925"/>
          </a:xfrm>
        </p:spPr>
        <p:txBody>
          <a:bodyPr vert="horz" wrap="square" lIns="91440" tIns="45720" rIns="91440" bIns="45720" anchor="ctr" anchorCtr="0"/>
          <a:lstStyle/>
          <a:p>
            <a:pPr eaLnBrk="1" hangingPunct="1"/>
            <a:r>
              <a:rPr lang="en-US" altLang="zh-CN" sz="3600" dirty="0">
                <a:ea typeface="宋体" panose="02010600030101010101" pitchFamily="2" charset="-122"/>
              </a:rPr>
              <a:t>P2P: problems with centralized directory</a:t>
            </a:r>
          </a:p>
        </p:txBody>
      </p:sp>
      <p:sp>
        <p:nvSpPr>
          <p:cNvPr id="29699" name="Rectangle 3"/>
          <p:cNvSpPr>
            <a:spLocks noGrp="1"/>
          </p:cNvSpPr>
          <p:nvPr>
            <p:ph sz="half" idx="1"/>
          </p:nvPr>
        </p:nvSpPr>
        <p:spPr>
          <a:xfrm>
            <a:off x="681038" y="1400175"/>
            <a:ext cx="5403850" cy="1436688"/>
          </a:xfrm>
        </p:spPr>
        <p:txBody>
          <a:bodyPr vert="horz" wrap="square" lIns="91440" tIns="45720" rIns="91440" bIns="45720" anchor="t" anchorCtr="0"/>
          <a:lstStyle/>
          <a:p>
            <a:pPr marL="0" indent="0" algn="l" eaLnBrk="1" hangingPunct="1">
              <a:buSzTx/>
              <a:buFont typeface="Wingdings" panose="05000000000000000000" pitchFamily="2" charset="2"/>
              <a:buChar char="Ø"/>
            </a:pPr>
            <a:r>
              <a:rPr lang="en-US" altLang="zh-CN" sz="2400" dirty="0">
                <a:latin typeface="+mn-lt"/>
                <a:ea typeface="宋体" panose="02010600030101010101" pitchFamily="2" charset="-122"/>
                <a:cs typeface="+mn-cs"/>
              </a:rPr>
              <a:t>Single point of failure</a:t>
            </a:r>
          </a:p>
          <a:p>
            <a:pPr marL="0" indent="0" algn="l" eaLnBrk="1" hangingPunct="1">
              <a:buSzTx/>
              <a:buFont typeface="Wingdings" panose="05000000000000000000" pitchFamily="2" charset="2"/>
              <a:buChar char="Ø"/>
            </a:pPr>
            <a:r>
              <a:rPr lang="en-US" altLang="zh-CN" sz="2400" dirty="0">
                <a:solidFill>
                  <a:srgbClr val="3602CA"/>
                </a:solidFill>
                <a:latin typeface="+mn-lt"/>
                <a:ea typeface="宋体" panose="02010600030101010101" pitchFamily="2" charset="-122"/>
                <a:cs typeface="+mn-cs"/>
              </a:rPr>
              <a:t>Performance</a:t>
            </a:r>
            <a:r>
              <a:rPr lang="en-US" altLang="zh-CN" sz="2400" dirty="0">
                <a:latin typeface="+mn-lt"/>
                <a:ea typeface="宋体" panose="02010600030101010101" pitchFamily="2" charset="-122"/>
                <a:cs typeface="+mn-cs"/>
              </a:rPr>
              <a:t> </a:t>
            </a:r>
            <a:r>
              <a:rPr lang="en-US" altLang="zh-CN" sz="2400" dirty="0">
                <a:solidFill>
                  <a:srgbClr val="200AC2"/>
                </a:solidFill>
                <a:latin typeface="+mn-lt"/>
                <a:ea typeface="宋体" panose="02010600030101010101" pitchFamily="2" charset="-122"/>
                <a:cs typeface="+mn-cs"/>
              </a:rPr>
              <a:t>bottleneck</a:t>
            </a:r>
          </a:p>
          <a:p>
            <a:pPr marL="0" indent="0" algn="l" eaLnBrk="1" hangingPunct="1">
              <a:buSzTx/>
              <a:buFont typeface="Wingdings" panose="05000000000000000000" pitchFamily="2" charset="2"/>
              <a:buChar char="Ø"/>
            </a:pPr>
            <a:r>
              <a:rPr lang="en-US" altLang="zh-CN" sz="2400" dirty="0">
                <a:latin typeface="+mn-lt"/>
                <a:ea typeface="宋体" panose="02010600030101010101" pitchFamily="2" charset="-122"/>
                <a:cs typeface="+mn-cs"/>
              </a:rPr>
              <a:t>Copyright infringement(</a:t>
            </a:r>
            <a:r>
              <a:rPr lang="zh-CN" altLang="en-US" sz="2400" dirty="0">
                <a:latin typeface="+mn-lt"/>
                <a:ea typeface="宋体" panose="02010600030101010101" pitchFamily="2" charset="-122"/>
                <a:cs typeface="+mn-cs"/>
              </a:rPr>
              <a:t>版权问题</a:t>
            </a:r>
            <a:r>
              <a:rPr lang="en-US" altLang="zh-CN" sz="2400" dirty="0">
                <a:latin typeface="+mn-lt"/>
                <a:ea typeface="宋体" panose="02010600030101010101" pitchFamily="2" charset="-122"/>
                <a:cs typeface="+mn-cs"/>
              </a:rPr>
              <a:t>)</a:t>
            </a:r>
          </a:p>
          <a:p>
            <a:pPr marL="0" indent="0" algn="l" eaLnBrk="1" hangingPunct="1">
              <a:buSzTx/>
              <a:buFont typeface="Wingdings" panose="05000000000000000000" pitchFamily="2" charset="2"/>
              <a:buChar char="Ø"/>
            </a:pPr>
            <a:endParaRPr lang="zh-CN" altLang="en-US" sz="2400" dirty="0">
              <a:latin typeface="+mn-lt"/>
              <a:ea typeface="宋体" panose="02010600030101010101" pitchFamily="2" charset="-122"/>
              <a:cs typeface="+mn-cs"/>
            </a:endParaRPr>
          </a:p>
        </p:txBody>
      </p:sp>
      <p:sp>
        <p:nvSpPr>
          <p:cNvPr id="29700" name="Rectangle 4"/>
          <p:cNvSpPr>
            <a:spLocks noGrp="1"/>
          </p:cNvSpPr>
          <p:nvPr>
            <p:ph sz="half" idx="2"/>
          </p:nvPr>
        </p:nvSpPr>
        <p:spPr>
          <a:xfrm>
            <a:off x="115888" y="796925"/>
            <a:ext cx="8966200" cy="492125"/>
          </a:xfrm>
          <a:ln w="25400">
            <a:solidFill>
              <a:schemeClr val="accent2">
                <a:alpha val="100000"/>
              </a:schemeClr>
            </a:solidFill>
            <a:miter lim="800000"/>
          </a:ln>
        </p:spPr>
        <p:txBody>
          <a:bodyPr vert="horz" wrap="square" lIns="91440" tIns="45720" rIns="91440" bIns="45720" anchor="t" anchorCtr="0"/>
          <a:lstStyle/>
          <a:p>
            <a:pPr marL="0" indent="0" algn="l" eaLnBrk="1" hangingPunct="1">
              <a:buSzTx/>
              <a:buFontTx/>
              <a:buNone/>
            </a:pPr>
            <a:r>
              <a:rPr lang="en-US" altLang="zh-CN" sz="2400" dirty="0">
                <a:latin typeface="+mn-lt"/>
                <a:ea typeface="宋体" panose="02010600030101010101" pitchFamily="2" charset="-122"/>
                <a:cs typeface="+mn-cs"/>
              </a:rPr>
              <a:t>File transfer is decentralized, but </a:t>
            </a:r>
            <a:r>
              <a:rPr lang="en-US" altLang="zh-CN" sz="2400" dirty="0">
                <a:solidFill>
                  <a:srgbClr val="3602CA"/>
                </a:solidFill>
                <a:latin typeface="+mn-lt"/>
                <a:ea typeface="宋体" panose="02010600030101010101" pitchFamily="2" charset="-122"/>
                <a:cs typeface="+mn-cs"/>
              </a:rPr>
              <a:t>locating contents</a:t>
            </a:r>
            <a:r>
              <a:rPr lang="en-US" altLang="zh-CN" sz="2400" dirty="0">
                <a:latin typeface="+mn-lt"/>
                <a:ea typeface="宋体" panose="02010600030101010101" pitchFamily="2" charset="-122"/>
                <a:cs typeface="+mn-cs"/>
              </a:rPr>
              <a:t> is highly  </a:t>
            </a:r>
            <a:r>
              <a:rPr lang="en-US" altLang="zh-CN" sz="2400" dirty="0">
                <a:solidFill>
                  <a:srgbClr val="3602CA"/>
                </a:solidFill>
                <a:latin typeface="+mn-lt"/>
                <a:ea typeface="宋体" panose="02010600030101010101" pitchFamily="2" charset="-122"/>
                <a:cs typeface="+mn-cs"/>
              </a:rPr>
              <a:t>centralized.</a:t>
            </a:r>
          </a:p>
        </p:txBody>
      </p:sp>
      <p:sp>
        <p:nvSpPr>
          <p:cNvPr id="5" name="Rectangle 2"/>
          <p:cNvSpPr txBox="1">
            <a:spLocks noChangeArrowheads="1"/>
          </p:cNvSpPr>
          <p:nvPr/>
        </p:nvSpPr>
        <p:spPr bwMode="auto">
          <a:xfrm>
            <a:off x="-74612" y="3138488"/>
            <a:ext cx="691673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j-cs"/>
              </a:rPr>
              <a:t>一种完全分布式</a:t>
            </a: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j-cs"/>
              </a:rPr>
              <a:t>p2p</a:t>
            </a:r>
            <a:r>
              <a:rPr kumimoji="0"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j-cs"/>
              </a:rPr>
              <a:t>协议</a:t>
            </a:r>
            <a:r>
              <a:rPr kumimoji="0" lang="en-US" altLang="zh-CN"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Query flooding: </a:t>
            </a:r>
            <a:r>
              <a:rPr kumimoji="0" lang="en-US" altLang="zh-CN" sz="2400" b="0" i="0" u="none" strike="noStrike" kern="0" cap="none" spc="0" normalizeH="0" baseline="0" noProof="0" dirty="0">
                <a:ln>
                  <a:noFill/>
                </a:ln>
                <a:solidFill>
                  <a:srgbClr val="200AC2"/>
                </a:solidFill>
                <a:effectLst/>
                <a:uLnTx/>
                <a:uFillTx/>
                <a:latin typeface="+mj-lt"/>
                <a:ea typeface="宋体" panose="02010600030101010101" pitchFamily="2" charset="-122"/>
                <a:cs typeface="+mj-cs"/>
              </a:rPr>
              <a:t>Gnutella</a:t>
            </a:r>
            <a:endParaRPr kumimoji="0" lang="en-US" altLang="zh-CN"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6" name="Rectangle 3"/>
          <p:cNvSpPr txBox="1">
            <a:spLocks noChangeArrowheads="1"/>
          </p:cNvSpPr>
          <p:nvPr/>
        </p:nvSpPr>
        <p:spPr bwMode="auto">
          <a:xfrm>
            <a:off x="209550" y="3908425"/>
            <a:ext cx="8674100"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4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0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18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1800">
                <a:solidFill>
                  <a:schemeClr val="tx1"/>
                </a:solidFill>
                <a:latin typeface="+mn-lt"/>
              </a:defRPr>
            </a:lvl5pPr>
            <a:lvl6pPr marL="2514600" indent="-228600" algn="l" rtl="0" fontAlgn="base">
              <a:spcBef>
                <a:spcPct val="20000"/>
              </a:spcBef>
              <a:spcAft>
                <a:spcPct val="0"/>
              </a:spcAft>
              <a:buClr>
                <a:schemeClr val="accent2"/>
              </a:buClr>
              <a:buChar char="»"/>
              <a:defRPr sz="1800">
                <a:solidFill>
                  <a:schemeClr val="tx1"/>
                </a:solidFill>
                <a:latin typeface="+mn-lt"/>
              </a:defRPr>
            </a:lvl6pPr>
            <a:lvl7pPr marL="2971800" indent="-228600" algn="l" rtl="0" fontAlgn="base">
              <a:spcBef>
                <a:spcPct val="20000"/>
              </a:spcBef>
              <a:spcAft>
                <a:spcPct val="0"/>
              </a:spcAft>
              <a:buClr>
                <a:schemeClr val="accent2"/>
              </a:buClr>
              <a:buChar char="»"/>
              <a:defRPr sz="1800">
                <a:solidFill>
                  <a:schemeClr val="tx1"/>
                </a:solidFill>
                <a:latin typeface="+mn-lt"/>
              </a:defRPr>
            </a:lvl7pPr>
            <a:lvl8pPr marL="3429000" indent="-228600" algn="l" rtl="0" fontAlgn="base">
              <a:spcBef>
                <a:spcPct val="20000"/>
              </a:spcBef>
              <a:spcAft>
                <a:spcPct val="0"/>
              </a:spcAft>
              <a:buClr>
                <a:schemeClr val="accent2"/>
              </a:buClr>
              <a:buChar char="»"/>
              <a:defRPr sz="1800">
                <a:solidFill>
                  <a:schemeClr val="tx1"/>
                </a:solidFill>
                <a:latin typeface="+mn-lt"/>
              </a:defRPr>
            </a:lvl8pPr>
            <a:lvl9pPr marL="3886200" indent="-228600" algn="l" rtl="0" fontAlgn="base">
              <a:spcBef>
                <a:spcPct val="20000"/>
              </a:spcBef>
              <a:spcAft>
                <a:spcPct val="0"/>
              </a:spcAft>
              <a:buClr>
                <a:schemeClr val="accent2"/>
              </a:buClr>
              <a:buChar char="»"/>
              <a:defRPr sz="18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设一个用户连接</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4</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台计算机，每台计算机又连接</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4 </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台计算机，用户能与其他</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(4 + 4 * 4 = )20</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个用户进行信息交流，消息沿着网络传递</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次（</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TTL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为</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）。假定</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TTL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为</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3</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，则它能进行信息交流的计算机的总数</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4 + 4 * 4 + 4 * 4 * 4 = 84</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。节点数量与它搜寻请求的</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TTL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值</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(Time-To-Live</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生存时间</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和随</a:t>
            </a:r>
            <a:r>
              <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TTL</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增长的节点数目成</a:t>
            </a:r>
            <a:r>
              <a:rPr kumimoji="0"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指数</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增加关系；</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577850" y="0"/>
            <a:ext cx="7772400" cy="1143000"/>
          </a:xfrm>
        </p:spPr>
        <p:txBody>
          <a:bodyPr vert="horz" wrap="square" lIns="91440" tIns="45720" rIns="91440" bIns="45720" anchor="ctr" anchorCtr="0"/>
          <a:lstStyle/>
          <a:p>
            <a:pPr eaLnBrk="1" hangingPunct="1"/>
            <a:r>
              <a:rPr lang="en-US" altLang="zh-CN" dirty="0">
                <a:ea typeface="宋体" panose="02010600030101010101" pitchFamily="2" charset="-122"/>
              </a:rPr>
              <a:t>Gnutella: protocol</a:t>
            </a:r>
          </a:p>
        </p:txBody>
      </p:sp>
      <p:grpSp>
        <p:nvGrpSpPr>
          <p:cNvPr id="30723" name="Group 3"/>
          <p:cNvGrpSpPr/>
          <p:nvPr/>
        </p:nvGrpSpPr>
        <p:grpSpPr>
          <a:xfrm>
            <a:off x="2943225" y="969963"/>
            <a:ext cx="5930900" cy="5129212"/>
            <a:chOff x="768" y="280"/>
            <a:chExt cx="3936" cy="3231"/>
          </a:xfrm>
        </p:grpSpPr>
        <p:graphicFrame>
          <p:nvGraphicFramePr>
            <p:cNvPr id="30727" name="Object 4"/>
            <p:cNvGraphicFramePr>
              <a:graphicFrameLocks noChangeAspect="1"/>
            </p:cNvGraphicFramePr>
            <p:nvPr/>
          </p:nvGraphicFramePr>
          <p:xfrm>
            <a:off x="768" y="2016"/>
            <a:ext cx="432" cy="343"/>
          </p:xfrm>
          <a:graphic>
            <a:graphicData uri="http://schemas.openxmlformats.org/presentationml/2006/ole">
              <mc:AlternateContent xmlns:mc="http://schemas.openxmlformats.org/markup-compatibility/2006">
                <mc:Choice xmlns:v="urn:schemas-microsoft-com:vml" Requires="v">
                  <p:oleObj spid="_x0000_s7175" r:id="rId3" imgW="1307465" imgH="1083945" progId="MS_ClipArt_Gallery.2">
                    <p:embed/>
                  </p:oleObj>
                </mc:Choice>
                <mc:Fallback>
                  <p:oleObj r:id="rId3" imgW="1307465" imgH="1083945" progId="MS_ClipArt_Gallery.2">
                    <p:embed/>
                    <p:pic>
                      <p:nvPicPr>
                        <p:cNvPr id="0" name="图片 3076"/>
                        <p:cNvPicPr/>
                        <p:nvPr/>
                      </p:nvPicPr>
                      <p:blipFill>
                        <a:blip r:embed="rId4"/>
                        <a:stretch>
                          <a:fillRect/>
                        </a:stretch>
                      </p:blipFill>
                      <p:spPr>
                        <a:xfrm>
                          <a:off x="768" y="2016"/>
                          <a:ext cx="432" cy="343"/>
                        </a:xfrm>
                        <a:prstGeom prst="rect">
                          <a:avLst/>
                        </a:prstGeom>
                        <a:noFill/>
                        <a:ln w="38100">
                          <a:noFill/>
                          <a:miter/>
                        </a:ln>
                      </p:spPr>
                    </p:pic>
                  </p:oleObj>
                </mc:Fallback>
              </mc:AlternateContent>
            </a:graphicData>
          </a:graphic>
        </p:graphicFrame>
        <p:graphicFrame>
          <p:nvGraphicFramePr>
            <p:cNvPr id="30728" name="Object 5"/>
            <p:cNvGraphicFramePr>
              <a:graphicFrameLocks noChangeAspect="1"/>
            </p:cNvGraphicFramePr>
            <p:nvPr/>
          </p:nvGraphicFramePr>
          <p:xfrm>
            <a:off x="2160" y="3168"/>
            <a:ext cx="432" cy="343"/>
          </p:xfrm>
          <a:graphic>
            <a:graphicData uri="http://schemas.openxmlformats.org/presentationml/2006/ole">
              <mc:AlternateContent xmlns:mc="http://schemas.openxmlformats.org/markup-compatibility/2006">
                <mc:Choice xmlns:v="urn:schemas-microsoft-com:vml" Requires="v">
                  <p:oleObj spid="_x0000_s7176" r:id="rId5" imgW="1307465" imgH="1083945" progId="MS_ClipArt_Gallery.2">
                    <p:embed/>
                  </p:oleObj>
                </mc:Choice>
                <mc:Fallback>
                  <p:oleObj r:id="rId5" imgW="1307465" imgH="1083945" progId="MS_ClipArt_Gallery.2">
                    <p:embed/>
                    <p:pic>
                      <p:nvPicPr>
                        <p:cNvPr id="0" name="图片 3079"/>
                        <p:cNvPicPr/>
                        <p:nvPr/>
                      </p:nvPicPr>
                      <p:blipFill>
                        <a:blip r:embed="rId4"/>
                        <a:stretch>
                          <a:fillRect/>
                        </a:stretch>
                      </p:blipFill>
                      <p:spPr>
                        <a:xfrm>
                          <a:off x="2160" y="3168"/>
                          <a:ext cx="432" cy="343"/>
                        </a:xfrm>
                        <a:prstGeom prst="rect">
                          <a:avLst/>
                        </a:prstGeom>
                        <a:noFill/>
                        <a:ln w="38100">
                          <a:noFill/>
                          <a:miter/>
                        </a:ln>
                      </p:spPr>
                    </p:pic>
                  </p:oleObj>
                </mc:Fallback>
              </mc:AlternateContent>
            </a:graphicData>
          </a:graphic>
        </p:graphicFrame>
        <p:graphicFrame>
          <p:nvGraphicFramePr>
            <p:cNvPr id="30729" name="Object 6"/>
            <p:cNvGraphicFramePr>
              <a:graphicFrameLocks noChangeAspect="1"/>
            </p:cNvGraphicFramePr>
            <p:nvPr/>
          </p:nvGraphicFramePr>
          <p:xfrm>
            <a:off x="2160" y="2016"/>
            <a:ext cx="432" cy="343"/>
          </p:xfrm>
          <a:graphic>
            <a:graphicData uri="http://schemas.openxmlformats.org/presentationml/2006/ole">
              <mc:AlternateContent xmlns:mc="http://schemas.openxmlformats.org/markup-compatibility/2006">
                <mc:Choice xmlns:v="urn:schemas-microsoft-com:vml" Requires="v">
                  <p:oleObj spid="_x0000_s7177" r:id="rId6" imgW="1307465" imgH="1083945" progId="MS_ClipArt_Gallery.2">
                    <p:embed/>
                  </p:oleObj>
                </mc:Choice>
                <mc:Fallback>
                  <p:oleObj r:id="rId6" imgW="1307465" imgH="1083945" progId="MS_ClipArt_Gallery.2">
                    <p:embed/>
                    <p:pic>
                      <p:nvPicPr>
                        <p:cNvPr id="0" name="图片 3077"/>
                        <p:cNvPicPr/>
                        <p:nvPr/>
                      </p:nvPicPr>
                      <p:blipFill>
                        <a:blip r:embed="rId4"/>
                        <a:stretch>
                          <a:fillRect/>
                        </a:stretch>
                      </p:blipFill>
                      <p:spPr>
                        <a:xfrm>
                          <a:off x="2160" y="2016"/>
                          <a:ext cx="432" cy="343"/>
                        </a:xfrm>
                        <a:prstGeom prst="rect">
                          <a:avLst/>
                        </a:prstGeom>
                        <a:noFill/>
                        <a:ln w="38100">
                          <a:noFill/>
                          <a:miter/>
                        </a:ln>
                      </p:spPr>
                    </p:pic>
                  </p:oleObj>
                </mc:Fallback>
              </mc:AlternateContent>
            </a:graphicData>
          </a:graphic>
        </p:graphicFrame>
        <p:graphicFrame>
          <p:nvGraphicFramePr>
            <p:cNvPr id="30730" name="Object 7"/>
            <p:cNvGraphicFramePr>
              <a:graphicFrameLocks noChangeAspect="1"/>
            </p:cNvGraphicFramePr>
            <p:nvPr/>
          </p:nvGraphicFramePr>
          <p:xfrm>
            <a:off x="2160" y="816"/>
            <a:ext cx="432" cy="343"/>
          </p:xfrm>
          <a:graphic>
            <a:graphicData uri="http://schemas.openxmlformats.org/presentationml/2006/ole">
              <mc:AlternateContent xmlns:mc="http://schemas.openxmlformats.org/markup-compatibility/2006">
                <mc:Choice xmlns:v="urn:schemas-microsoft-com:vml" Requires="v">
                  <p:oleObj spid="_x0000_s7178" r:id="rId7" imgW="1307465" imgH="1083945" progId="MS_ClipArt_Gallery.2">
                    <p:embed/>
                  </p:oleObj>
                </mc:Choice>
                <mc:Fallback>
                  <p:oleObj r:id="rId7" imgW="1307465" imgH="1083945" progId="MS_ClipArt_Gallery.2">
                    <p:embed/>
                    <p:pic>
                      <p:nvPicPr>
                        <p:cNvPr id="0" name="图片 3078"/>
                        <p:cNvPicPr/>
                        <p:nvPr/>
                      </p:nvPicPr>
                      <p:blipFill>
                        <a:blip r:embed="rId4"/>
                        <a:stretch>
                          <a:fillRect/>
                        </a:stretch>
                      </p:blipFill>
                      <p:spPr>
                        <a:xfrm>
                          <a:off x="2160" y="816"/>
                          <a:ext cx="432" cy="343"/>
                        </a:xfrm>
                        <a:prstGeom prst="rect">
                          <a:avLst/>
                        </a:prstGeom>
                        <a:noFill/>
                        <a:ln w="38100">
                          <a:noFill/>
                          <a:miter/>
                        </a:ln>
                      </p:spPr>
                    </p:pic>
                  </p:oleObj>
                </mc:Fallback>
              </mc:AlternateContent>
            </a:graphicData>
          </a:graphic>
        </p:graphicFrame>
        <p:graphicFrame>
          <p:nvGraphicFramePr>
            <p:cNvPr id="30731" name="Object 8"/>
            <p:cNvGraphicFramePr>
              <a:graphicFrameLocks noChangeAspect="1"/>
            </p:cNvGraphicFramePr>
            <p:nvPr/>
          </p:nvGraphicFramePr>
          <p:xfrm>
            <a:off x="4272" y="1968"/>
            <a:ext cx="432" cy="343"/>
          </p:xfrm>
          <a:graphic>
            <a:graphicData uri="http://schemas.openxmlformats.org/presentationml/2006/ole">
              <mc:AlternateContent xmlns:mc="http://schemas.openxmlformats.org/markup-compatibility/2006">
                <mc:Choice xmlns:v="urn:schemas-microsoft-com:vml" Requires="v">
                  <p:oleObj spid="_x0000_s7179" r:id="rId8" imgW="1307465" imgH="1083945" progId="MS_ClipArt_Gallery.2">
                    <p:embed/>
                  </p:oleObj>
                </mc:Choice>
                <mc:Fallback>
                  <p:oleObj r:id="rId8" imgW="1307465" imgH="1083945" progId="MS_ClipArt_Gallery.2">
                    <p:embed/>
                    <p:pic>
                      <p:nvPicPr>
                        <p:cNvPr id="0" name="图片 3075"/>
                        <p:cNvPicPr/>
                        <p:nvPr/>
                      </p:nvPicPr>
                      <p:blipFill>
                        <a:blip r:embed="rId4"/>
                        <a:stretch>
                          <a:fillRect/>
                        </a:stretch>
                      </p:blipFill>
                      <p:spPr>
                        <a:xfrm>
                          <a:off x="4272" y="1968"/>
                          <a:ext cx="432" cy="343"/>
                        </a:xfrm>
                        <a:prstGeom prst="rect">
                          <a:avLst/>
                        </a:prstGeom>
                        <a:noFill/>
                        <a:ln w="38100">
                          <a:noFill/>
                          <a:miter/>
                        </a:ln>
                      </p:spPr>
                    </p:pic>
                  </p:oleObj>
                </mc:Fallback>
              </mc:AlternateContent>
            </a:graphicData>
          </a:graphic>
        </p:graphicFrame>
        <p:graphicFrame>
          <p:nvGraphicFramePr>
            <p:cNvPr id="30732" name="Object 9"/>
            <p:cNvGraphicFramePr>
              <a:graphicFrameLocks noChangeAspect="1"/>
            </p:cNvGraphicFramePr>
            <p:nvPr/>
          </p:nvGraphicFramePr>
          <p:xfrm>
            <a:off x="4272" y="768"/>
            <a:ext cx="432" cy="343"/>
          </p:xfrm>
          <a:graphic>
            <a:graphicData uri="http://schemas.openxmlformats.org/presentationml/2006/ole">
              <mc:AlternateContent xmlns:mc="http://schemas.openxmlformats.org/markup-compatibility/2006">
                <mc:Choice xmlns:v="urn:schemas-microsoft-com:vml" Requires="v">
                  <p:oleObj spid="_x0000_s7180" r:id="rId9" imgW="1307465" imgH="1083945" progId="MS_ClipArt_Gallery.2">
                    <p:embed/>
                  </p:oleObj>
                </mc:Choice>
                <mc:Fallback>
                  <p:oleObj r:id="rId9" imgW="1307465" imgH="1083945" progId="MS_ClipArt_Gallery.2">
                    <p:embed/>
                    <p:pic>
                      <p:nvPicPr>
                        <p:cNvPr id="0" name="图片 3080"/>
                        <p:cNvPicPr/>
                        <p:nvPr/>
                      </p:nvPicPr>
                      <p:blipFill>
                        <a:blip r:embed="rId4"/>
                        <a:stretch>
                          <a:fillRect/>
                        </a:stretch>
                      </p:blipFill>
                      <p:spPr>
                        <a:xfrm>
                          <a:off x="4272" y="768"/>
                          <a:ext cx="432" cy="343"/>
                        </a:xfrm>
                        <a:prstGeom prst="rect">
                          <a:avLst/>
                        </a:prstGeom>
                        <a:noFill/>
                        <a:ln w="38100">
                          <a:noFill/>
                          <a:miter/>
                        </a:ln>
                      </p:spPr>
                    </p:pic>
                  </p:oleObj>
                </mc:Fallback>
              </mc:AlternateContent>
            </a:graphicData>
          </a:graphic>
        </p:graphicFrame>
        <p:sp>
          <p:nvSpPr>
            <p:cNvPr id="30733" name="Line 10"/>
            <p:cNvSpPr/>
            <p:nvPr/>
          </p:nvSpPr>
          <p:spPr>
            <a:xfrm flipV="1">
              <a:off x="1104" y="1104"/>
              <a:ext cx="1104" cy="912"/>
            </a:xfrm>
            <a:prstGeom prst="line">
              <a:avLst/>
            </a:prstGeom>
            <a:ln w="9525" cap="flat" cmpd="sng">
              <a:solidFill>
                <a:schemeClr val="tx1"/>
              </a:solidFill>
              <a:prstDash val="solid"/>
              <a:headEnd type="none" w="med" len="med"/>
              <a:tailEnd type="triangle" w="med" len="med"/>
            </a:ln>
          </p:spPr>
        </p:sp>
        <p:sp>
          <p:nvSpPr>
            <p:cNvPr id="30734" name="Line 11"/>
            <p:cNvSpPr/>
            <p:nvPr/>
          </p:nvSpPr>
          <p:spPr>
            <a:xfrm>
              <a:off x="2544" y="912"/>
              <a:ext cx="1776" cy="0"/>
            </a:xfrm>
            <a:prstGeom prst="line">
              <a:avLst/>
            </a:prstGeom>
            <a:ln w="9525" cap="flat" cmpd="sng">
              <a:solidFill>
                <a:schemeClr val="tx1"/>
              </a:solidFill>
              <a:prstDash val="solid"/>
              <a:headEnd type="none" w="med" len="med"/>
              <a:tailEnd type="triangle" w="med" len="med"/>
            </a:ln>
          </p:spPr>
        </p:sp>
        <p:sp>
          <p:nvSpPr>
            <p:cNvPr id="30735" name="Line 12"/>
            <p:cNvSpPr/>
            <p:nvPr/>
          </p:nvSpPr>
          <p:spPr>
            <a:xfrm>
              <a:off x="2592" y="1056"/>
              <a:ext cx="1728" cy="960"/>
            </a:xfrm>
            <a:prstGeom prst="line">
              <a:avLst/>
            </a:prstGeom>
            <a:ln w="9525" cap="flat" cmpd="sng">
              <a:solidFill>
                <a:schemeClr val="tx1"/>
              </a:solidFill>
              <a:prstDash val="solid"/>
              <a:headEnd type="none" w="med" len="med"/>
              <a:tailEnd type="triangle" w="med" len="med"/>
            </a:ln>
          </p:spPr>
        </p:sp>
        <p:sp>
          <p:nvSpPr>
            <p:cNvPr id="30736" name="Line 13"/>
            <p:cNvSpPr/>
            <p:nvPr/>
          </p:nvSpPr>
          <p:spPr>
            <a:xfrm>
              <a:off x="1152" y="2256"/>
              <a:ext cx="1056" cy="0"/>
            </a:xfrm>
            <a:prstGeom prst="line">
              <a:avLst/>
            </a:prstGeom>
            <a:ln w="9525" cap="flat" cmpd="sng">
              <a:solidFill>
                <a:schemeClr val="tx1"/>
              </a:solidFill>
              <a:prstDash val="solid"/>
              <a:headEnd type="none" w="med" len="med"/>
              <a:tailEnd type="triangle" w="med" len="med"/>
            </a:ln>
          </p:spPr>
        </p:sp>
        <p:sp>
          <p:nvSpPr>
            <p:cNvPr id="30737" name="Line 14"/>
            <p:cNvSpPr/>
            <p:nvPr/>
          </p:nvSpPr>
          <p:spPr>
            <a:xfrm flipH="1">
              <a:off x="1200" y="2160"/>
              <a:ext cx="1008" cy="0"/>
            </a:xfrm>
            <a:prstGeom prst="line">
              <a:avLst/>
            </a:prstGeom>
            <a:ln w="9525" cap="flat" cmpd="sng">
              <a:solidFill>
                <a:schemeClr val="tx1"/>
              </a:solidFill>
              <a:prstDash val="solid"/>
              <a:headEnd type="none" w="med" len="med"/>
              <a:tailEnd type="triangle" w="med" len="med"/>
            </a:ln>
          </p:spPr>
        </p:sp>
        <p:sp>
          <p:nvSpPr>
            <p:cNvPr id="30738" name="Line 15"/>
            <p:cNvSpPr/>
            <p:nvPr/>
          </p:nvSpPr>
          <p:spPr>
            <a:xfrm>
              <a:off x="1152" y="2304"/>
              <a:ext cx="1152" cy="864"/>
            </a:xfrm>
            <a:prstGeom prst="line">
              <a:avLst/>
            </a:prstGeom>
            <a:ln w="9525" cap="flat" cmpd="sng">
              <a:solidFill>
                <a:schemeClr val="tx1"/>
              </a:solidFill>
              <a:prstDash val="solid"/>
              <a:headEnd type="none" w="med" len="med"/>
              <a:tailEnd type="triangle" w="med" len="med"/>
            </a:ln>
          </p:spPr>
        </p:sp>
        <p:sp>
          <p:nvSpPr>
            <p:cNvPr id="30739" name="Text Box 16"/>
            <p:cNvSpPr txBox="1"/>
            <p:nvPr/>
          </p:nvSpPr>
          <p:spPr>
            <a:xfrm>
              <a:off x="1536" y="1968"/>
              <a:ext cx="535" cy="231"/>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Arial" panose="020B0604020202020204" pitchFamily="34" charset="0"/>
                  <a:ea typeface="宋体" panose="02010600030101010101" pitchFamily="2" charset="-122"/>
                </a:rPr>
                <a:t>Query</a:t>
              </a:r>
            </a:p>
          </p:txBody>
        </p:sp>
        <p:sp>
          <p:nvSpPr>
            <p:cNvPr id="30740" name="Text Box 17"/>
            <p:cNvSpPr txBox="1"/>
            <p:nvPr/>
          </p:nvSpPr>
          <p:spPr>
            <a:xfrm>
              <a:off x="1392" y="2208"/>
              <a:ext cx="720" cy="231"/>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Arial" panose="020B0604020202020204" pitchFamily="34" charset="0"/>
                  <a:ea typeface="宋体" panose="02010600030101010101" pitchFamily="2" charset="-122"/>
                </a:rPr>
                <a:t>QueryHit</a:t>
              </a:r>
            </a:p>
          </p:txBody>
        </p:sp>
        <p:sp>
          <p:nvSpPr>
            <p:cNvPr id="30741" name="Text Box 18"/>
            <p:cNvSpPr txBox="1"/>
            <p:nvPr/>
          </p:nvSpPr>
          <p:spPr>
            <a:xfrm>
              <a:off x="3216" y="720"/>
              <a:ext cx="536" cy="231"/>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Arial" panose="020B0604020202020204" pitchFamily="34" charset="0"/>
                  <a:ea typeface="宋体" panose="02010600030101010101" pitchFamily="2" charset="-122"/>
                </a:rPr>
                <a:t>Query</a:t>
              </a:r>
            </a:p>
          </p:txBody>
        </p:sp>
        <p:sp>
          <p:nvSpPr>
            <p:cNvPr id="30742" name="Text Box 19"/>
            <p:cNvSpPr txBox="1"/>
            <p:nvPr/>
          </p:nvSpPr>
          <p:spPr>
            <a:xfrm rot="1838329">
              <a:off x="3321" y="1396"/>
              <a:ext cx="551" cy="23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Arial" panose="020B0604020202020204" pitchFamily="34" charset="0"/>
                  <a:ea typeface="宋体" panose="02010600030101010101" pitchFamily="2" charset="-122"/>
                </a:rPr>
                <a:t>Query</a:t>
              </a:r>
            </a:p>
          </p:txBody>
        </p:sp>
        <p:sp>
          <p:nvSpPr>
            <p:cNvPr id="30743" name="Text Box 20"/>
            <p:cNvSpPr txBox="1"/>
            <p:nvPr/>
          </p:nvSpPr>
          <p:spPr>
            <a:xfrm>
              <a:off x="3216" y="960"/>
              <a:ext cx="721" cy="231"/>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Arial" panose="020B0604020202020204" pitchFamily="34" charset="0"/>
                  <a:ea typeface="宋体" panose="02010600030101010101" pitchFamily="2" charset="-122"/>
                </a:rPr>
                <a:t>QueryHit</a:t>
              </a:r>
            </a:p>
          </p:txBody>
        </p:sp>
        <p:sp>
          <p:nvSpPr>
            <p:cNvPr id="30744" name="Text Box 21"/>
            <p:cNvSpPr txBox="1"/>
            <p:nvPr/>
          </p:nvSpPr>
          <p:spPr>
            <a:xfrm rot="-2282823">
              <a:off x="1341" y="1335"/>
              <a:ext cx="535" cy="231"/>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Arial" panose="020B0604020202020204" pitchFamily="34" charset="0"/>
                  <a:ea typeface="宋体" panose="02010600030101010101" pitchFamily="2" charset="-122"/>
                </a:rPr>
                <a:t>Query</a:t>
              </a:r>
            </a:p>
          </p:txBody>
        </p:sp>
        <p:sp>
          <p:nvSpPr>
            <p:cNvPr id="30745" name="Text Box 22"/>
            <p:cNvSpPr txBox="1"/>
            <p:nvPr/>
          </p:nvSpPr>
          <p:spPr>
            <a:xfrm rot="2175888">
              <a:off x="1484" y="2743"/>
              <a:ext cx="536" cy="231"/>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Arial" panose="020B0604020202020204" pitchFamily="34" charset="0"/>
                  <a:ea typeface="宋体" panose="02010600030101010101" pitchFamily="2" charset="-122"/>
                </a:rPr>
                <a:t>Query</a:t>
              </a:r>
            </a:p>
          </p:txBody>
        </p:sp>
        <p:sp>
          <p:nvSpPr>
            <p:cNvPr id="30746" name="Line 23"/>
            <p:cNvSpPr/>
            <p:nvPr/>
          </p:nvSpPr>
          <p:spPr>
            <a:xfrm flipH="1">
              <a:off x="1152" y="1104"/>
              <a:ext cx="1152" cy="960"/>
            </a:xfrm>
            <a:prstGeom prst="line">
              <a:avLst/>
            </a:prstGeom>
            <a:ln w="9525" cap="flat" cmpd="sng">
              <a:solidFill>
                <a:schemeClr val="tx1"/>
              </a:solidFill>
              <a:prstDash val="solid"/>
              <a:headEnd type="none" w="med" len="med"/>
              <a:tailEnd type="triangle" w="med" len="med"/>
            </a:ln>
          </p:spPr>
        </p:sp>
        <p:sp>
          <p:nvSpPr>
            <p:cNvPr id="30747" name="Text Box 24"/>
            <p:cNvSpPr txBox="1"/>
            <p:nvPr/>
          </p:nvSpPr>
          <p:spPr>
            <a:xfrm rot="-2512210">
              <a:off x="1481" y="1539"/>
              <a:ext cx="768" cy="23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Arial" panose="020B0604020202020204" pitchFamily="34" charset="0"/>
                  <a:ea typeface="宋体" panose="02010600030101010101" pitchFamily="2" charset="-122"/>
                </a:rPr>
                <a:t>QueryHit</a:t>
              </a:r>
            </a:p>
          </p:txBody>
        </p:sp>
        <p:sp>
          <p:nvSpPr>
            <p:cNvPr id="30748" name="Freeform 25"/>
            <p:cNvSpPr/>
            <p:nvPr/>
          </p:nvSpPr>
          <p:spPr>
            <a:xfrm>
              <a:off x="888" y="280"/>
              <a:ext cx="3528" cy="1736"/>
            </a:xfrm>
            <a:custGeom>
              <a:avLst/>
              <a:gdLst>
                <a:gd name="txL" fmla="*/ 0 w 3528"/>
                <a:gd name="txT" fmla="*/ 0 h 1736"/>
                <a:gd name="txR" fmla="*/ 3528 w 3528"/>
                <a:gd name="txB" fmla="*/ 1736 h 1736"/>
              </a:gdLst>
              <a:ahLst/>
              <a:cxnLst>
                <a:cxn ang="0">
                  <a:pos x="3528" y="536"/>
                </a:cxn>
                <a:cxn ang="0">
                  <a:pos x="2856" y="248"/>
                </a:cxn>
                <a:cxn ang="0">
                  <a:pos x="1608" y="152"/>
                </a:cxn>
                <a:cxn ang="0">
                  <a:pos x="264" y="1160"/>
                </a:cxn>
                <a:cxn ang="0">
                  <a:pos x="24" y="1736"/>
                </a:cxn>
              </a:cxnLst>
              <a:rect l="txL" t="txT" r="txR" b="txB"/>
              <a:pathLst>
                <a:path w="3528" h="1736">
                  <a:moveTo>
                    <a:pt x="3528" y="536"/>
                  </a:moveTo>
                  <a:cubicBezTo>
                    <a:pt x="3352" y="424"/>
                    <a:pt x="3176" y="312"/>
                    <a:pt x="2856" y="248"/>
                  </a:cubicBezTo>
                  <a:cubicBezTo>
                    <a:pt x="2536" y="184"/>
                    <a:pt x="2040" y="0"/>
                    <a:pt x="1608" y="152"/>
                  </a:cubicBezTo>
                  <a:cubicBezTo>
                    <a:pt x="1176" y="304"/>
                    <a:pt x="528" y="896"/>
                    <a:pt x="264" y="1160"/>
                  </a:cubicBezTo>
                  <a:cubicBezTo>
                    <a:pt x="0" y="1424"/>
                    <a:pt x="64" y="1640"/>
                    <a:pt x="24" y="1736"/>
                  </a:cubicBezTo>
                </a:path>
              </a:pathLst>
            </a:custGeom>
            <a:noFill/>
            <a:ln w="9525" cap="flat" cmpd="sng">
              <a:solidFill>
                <a:srgbClr val="FF0000">
                  <a:alpha val="100000"/>
                </a:srgbClr>
              </a:solidFill>
              <a:prstDash val="solid"/>
              <a:round/>
              <a:headEnd type="none" w="med" len="med"/>
              <a:tailEnd type="triangle" w="med" len="med"/>
            </a:ln>
          </p:spPr>
          <p:txBody>
            <a:bodyPr/>
            <a:lstStyle/>
            <a:p>
              <a:endParaRPr lang="zh-CN" altLang="en-US"/>
            </a:p>
          </p:txBody>
        </p:sp>
        <p:sp>
          <p:nvSpPr>
            <p:cNvPr id="30749" name="Line 26"/>
            <p:cNvSpPr/>
            <p:nvPr/>
          </p:nvSpPr>
          <p:spPr>
            <a:xfrm flipH="1">
              <a:off x="2592" y="1008"/>
              <a:ext cx="1728" cy="0"/>
            </a:xfrm>
            <a:prstGeom prst="line">
              <a:avLst/>
            </a:prstGeom>
            <a:ln w="9525" cap="flat" cmpd="sng">
              <a:solidFill>
                <a:schemeClr val="tx1"/>
              </a:solidFill>
              <a:prstDash val="solid"/>
              <a:headEnd type="none" w="med" len="med"/>
              <a:tailEnd type="triangle" w="med" len="med"/>
            </a:ln>
          </p:spPr>
        </p:sp>
      </p:grpSp>
      <p:sp>
        <p:nvSpPr>
          <p:cNvPr id="30724" name="Text Box 27"/>
          <p:cNvSpPr txBox="1"/>
          <p:nvPr/>
        </p:nvSpPr>
        <p:spPr>
          <a:xfrm>
            <a:off x="5092700" y="1230313"/>
            <a:ext cx="2425700" cy="369887"/>
          </a:xfrm>
          <a:prstGeom prst="rect">
            <a:avLst/>
          </a:prstGeom>
          <a:noFill/>
          <a:ln w="12700">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buSzPct val="85000"/>
              <a:buFont typeface="ZapfDingbats" pitchFamily="82" charset="2"/>
              <a:buNone/>
            </a:pPr>
            <a:r>
              <a:rPr lang="en-US" altLang="zh-CN" sz="1800" dirty="0">
                <a:latin typeface="Comic Sans MS" panose="030F0702030302020204" pitchFamily="66" charset="0"/>
                <a:ea typeface="宋体" panose="02010600030101010101" pitchFamily="2" charset="-122"/>
              </a:rPr>
              <a:t>File transfer:HTTP</a:t>
            </a:r>
          </a:p>
        </p:txBody>
      </p:sp>
      <p:sp>
        <p:nvSpPr>
          <p:cNvPr id="30725" name="Text Box 28"/>
          <p:cNvSpPr txBox="1"/>
          <p:nvPr/>
        </p:nvSpPr>
        <p:spPr>
          <a:xfrm>
            <a:off x="169863" y="1163638"/>
            <a:ext cx="3614737" cy="3563937"/>
          </a:xfrm>
          <a:prstGeom prst="rect">
            <a:avLst/>
          </a:prstGeom>
          <a:noFill/>
          <a:ln w="12700">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buSzPct val="85000"/>
              <a:buFont typeface="ZapfDingbats" pitchFamily="82" charset="2"/>
              <a:buChar char="r"/>
            </a:pPr>
            <a:r>
              <a:rPr lang="zh-CN" altLang="en-US" sz="2400" dirty="0">
                <a:latin typeface="Comic Sans MS" panose="030F0702030302020204" pitchFamily="66" charset="0"/>
                <a:ea typeface="宋体" panose="02010600030101010101" pitchFamily="2" charset="-122"/>
              </a:rPr>
              <a:t> </a:t>
            </a:r>
            <a:r>
              <a:rPr lang="en-US" altLang="zh-CN" sz="2400" dirty="0">
                <a:solidFill>
                  <a:srgbClr val="FF0000"/>
                </a:solidFill>
                <a:latin typeface="Comic Sans MS" panose="030F0702030302020204" pitchFamily="66" charset="0"/>
                <a:ea typeface="宋体" panose="02010600030101010101" pitchFamily="2" charset="-122"/>
              </a:rPr>
              <a:t>Query</a:t>
            </a:r>
            <a:r>
              <a:rPr lang="en-US" altLang="zh-CN" sz="2400" dirty="0">
                <a:solidFill>
                  <a:srgbClr val="000000"/>
                </a:solidFill>
                <a:latin typeface="Comic Sans MS" panose="030F0702030302020204" pitchFamily="66" charset="0"/>
                <a:ea typeface="宋体" panose="02010600030101010101" pitchFamily="2" charset="-122"/>
              </a:rPr>
              <a:t> message</a:t>
            </a:r>
            <a:br>
              <a:rPr lang="en-US" altLang="zh-CN" sz="2400" dirty="0">
                <a:solidFill>
                  <a:srgbClr val="000000"/>
                </a:solidFill>
                <a:latin typeface="Comic Sans MS" panose="030F0702030302020204" pitchFamily="66" charset="0"/>
                <a:ea typeface="宋体" panose="02010600030101010101" pitchFamily="2" charset="-122"/>
              </a:rPr>
            </a:br>
            <a:r>
              <a:rPr lang="en-US" altLang="zh-CN" sz="2400" dirty="0">
                <a:solidFill>
                  <a:srgbClr val="000000"/>
                </a:solidFill>
                <a:latin typeface="Comic Sans MS" panose="030F0702030302020204" pitchFamily="66" charset="0"/>
                <a:ea typeface="宋体" panose="02010600030101010101" pitchFamily="2" charset="-122"/>
              </a:rPr>
              <a:t>sent over existing </a:t>
            </a:r>
            <a:r>
              <a:rPr lang="en-US" altLang="zh-CN" sz="2400" dirty="0">
                <a:solidFill>
                  <a:srgbClr val="3602CA"/>
                </a:solidFill>
                <a:latin typeface="Comic Sans MS" panose="030F0702030302020204" pitchFamily="66" charset="0"/>
                <a:ea typeface="宋体" panose="02010600030101010101" pitchFamily="2" charset="-122"/>
              </a:rPr>
              <a:t>TCP</a:t>
            </a:r>
            <a:br>
              <a:rPr lang="en-US" altLang="zh-CN" sz="2400" dirty="0">
                <a:solidFill>
                  <a:srgbClr val="000000"/>
                </a:solidFill>
                <a:latin typeface="Comic Sans MS" panose="030F0702030302020204" pitchFamily="66" charset="0"/>
                <a:ea typeface="宋体" panose="02010600030101010101" pitchFamily="2" charset="-122"/>
              </a:rPr>
            </a:br>
            <a:r>
              <a:rPr lang="en-US" altLang="zh-CN" sz="2400" dirty="0">
                <a:solidFill>
                  <a:srgbClr val="3602CA"/>
                </a:solidFill>
                <a:latin typeface="Comic Sans MS" panose="030F0702030302020204" pitchFamily="66" charset="0"/>
                <a:ea typeface="宋体" panose="02010600030101010101" pitchFamily="2" charset="-122"/>
              </a:rPr>
              <a:t>connections</a:t>
            </a:r>
          </a:p>
          <a:p>
            <a:pPr marL="0" lvl="0" indent="0" algn="l">
              <a:buSzPct val="85000"/>
              <a:buFont typeface="ZapfDingbats" pitchFamily="82" charset="2"/>
              <a:buChar char="r"/>
            </a:pPr>
            <a:r>
              <a:rPr lang="en-US" altLang="zh-CN" sz="2400" dirty="0">
                <a:solidFill>
                  <a:srgbClr val="000000"/>
                </a:solidFill>
                <a:latin typeface="Comic Sans MS" panose="030F0702030302020204" pitchFamily="66" charset="0"/>
                <a:ea typeface="宋体" panose="02010600030101010101" pitchFamily="2" charset="-122"/>
              </a:rPr>
              <a:t> peers forward</a:t>
            </a:r>
            <a:br>
              <a:rPr lang="en-US" altLang="zh-CN" sz="2400" dirty="0">
                <a:solidFill>
                  <a:srgbClr val="000000"/>
                </a:solidFill>
                <a:latin typeface="Comic Sans MS" panose="030F0702030302020204" pitchFamily="66" charset="0"/>
                <a:ea typeface="宋体" panose="02010600030101010101" pitchFamily="2" charset="-122"/>
              </a:rPr>
            </a:br>
            <a:r>
              <a:rPr lang="en-US" altLang="zh-CN" sz="2400" dirty="0">
                <a:solidFill>
                  <a:srgbClr val="000000"/>
                </a:solidFill>
                <a:latin typeface="Comic Sans MS" panose="030F0702030302020204" pitchFamily="66" charset="0"/>
                <a:ea typeface="宋体" panose="02010600030101010101" pitchFamily="2" charset="-122"/>
              </a:rPr>
              <a:t>Query message</a:t>
            </a:r>
          </a:p>
          <a:p>
            <a:pPr marL="0" lvl="0" indent="0" algn="l">
              <a:buSzPct val="85000"/>
              <a:buFont typeface="ZapfDingbats" pitchFamily="82" charset="2"/>
              <a:buChar char="r"/>
            </a:pPr>
            <a:r>
              <a:rPr lang="en-US" altLang="zh-CN" sz="2400" dirty="0">
                <a:solidFill>
                  <a:srgbClr val="000000"/>
                </a:solidFill>
                <a:latin typeface="Comic Sans MS" panose="030F0702030302020204" pitchFamily="66" charset="0"/>
                <a:ea typeface="宋体" panose="02010600030101010101" pitchFamily="2" charset="-122"/>
              </a:rPr>
              <a:t> </a:t>
            </a:r>
            <a:r>
              <a:rPr lang="en-US" altLang="zh-CN" sz="2400" dirty="0">
                <a:solidFill>
                  <a:srgbClr val="FF0000"/>
                </a:solidFill>
                <a:latin typeface="Comic Sans MS" panose="030F0702030302020204" pitchFamily="66" charset="0"/>
                <a:ea typeface="宋体" panose="02010600030101010101" pitchFamily="2" charset="-122"/>
              </a:rPr>
              <a:t>QueryHit</a:t>
            </a:r>
            <a:r>
              <a:rPr lang="en-US" altLang="zh-CN" sz="2400" dirty="0">
                <a:solidFill>
                  <a:srgbClr val="000000"/>
                </a:solidFill>
                <a:latin typeface="Comic Sans MS" panose="030F0702030302020204" pitchFamily="66" charset="0"/>
                <a:ea typeface="宋体" panose="02010600030101010101" pitchFamily="2" charset="-122"/>
              </a:rPr>
              <a:t> </a:t>
            </a:r>
            <a:br>
              <a:rPr lang="en-US" altLang="zh-CN" sz="2400" dirty="0">
                <a:solidFill>
                  <a:srgbClr val="000000"/>
                </a:solidFill>
                <a:latin typeface="Comic Sans MS" panose="030F0702030302020204" pitchFamily="66" charset="0"/>
                <a:ea typeface="宋体" panose="02010600030101010101" pitchFamily="2" charset="-122"/>
              </a:rPr>
            </a:br>
            <a:r>
              <a:rPr lang="en-US" altLang="zh-CN" sz="2400" dirty="0">
                <a:solidFill>
                  <a:srgbClr val="000000"/>
                </a:solidFill>
                <a:latin typeface="Comic Sans MS" panose="030F0702030302020204" pitchFamily="66" charset="0"/>
                <a:ea typeface="宋体" panose="02010600030101010101" pitchFamily="2" charset="-122"/>
              </a:rPr>
              <a:t>sent over </a:t>
            </a:r>
            <a:br>
              <a:rPr lang="en-US" altLang="zh-CN" sz="2400" dirty="0">
                <a:solidFill>
                  <a:srgbClr val="000000"/>
                </a:solidFill>
                <a:latin typeface="Comic Sans MS" panose="030F0702030302020204" pitchFamily="66" charset="0"/>
                <a:ea typeface="宋体" panose="02010600030101010101" pitchFamily="2" charset="-122"/>
              </a:rPr>
            </a:br>
            <a:r>
              <a:rPr lang="en-US" altLang="zh-CN" sz="2400" dirty="0">
                <a:solidFill>
                  <a:srgbClr val="000000"/>
                </a:solidFill>
                <a:latin typeface="Comic Sans MS" panose="030F0702030302020204" pitchFamily="66" charset="0"/>
                <a:ea typeface="宋体" panose="02010600030101010101" pitchFamily="2" charset="-122"/>
              </a:rPr>
              <a:t>reverse</a:t>
            </a:r>
            <a:br>
              <a:rPr lang="en-US" altLang="zh-CN" sz="2400" dirty="0">
                <a:solidFill>
                  <a:srgbClr val="000000"/>
                </a:solidFill>
                <a:latin typeface="Comic Sans MS" panose="030F0702030302020204" pitchFamily="66" charset="0"/>
                <a:ea typeface="宋体" panose="02010600030101010101" pitchFamily="2" charset="-122"/>
              </a:rPr>
            </a:br>
            <a:r>
              <a:rPr lang="en-US" altLang="zh-CN" sz="2400" dirty="0">
                <a:solidFill>
                  <a:srgbClr val="000000"/>
                </a:solidFill>
                <a:latin typeface="Comic Sans MS" panose="030F0702030302020204" pitchFamily="66" charset="0"/>
                <a:ea typeface="宋体" panose="02010600030101010101" pitchFamily="2" charset="-122"/>
              </a:rPr>
              <a:t>path</a:t>
            </a:r>
          </a:p>
        </p:txBody>
      </p:sp>
      <p:sp>
        <p:nvSpPr>
          <p:cNvPr id="30726" name="Text Box 29"/>
          <p:cNvSpPr txBox="1"/>
          <p:nvPr/>
        </p:nvSpPr>
        <p:spPr>
          <a:xfrm>
            <a:off x="376238" y="6183313"/>
            <a:ext cx="8491537" cy="4572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b="1" dirty="0">
                <a:latin typeface="Tahoma" panose="020B0604030504040204" pitchFamily="34" charset="0"/>
                <a:ea typeface="宋体" panose="02010600030101010101" pitchFamily="2" charset="-122"/>
              </a:rPr>
              <a:t>Ref</a:t>
            </a:r>
            <a:r>
              <a:rPr lang="en-US" altLang="zh-CN" sz="2400" dirty="0">
                <a:latin typeface="Tahoma" panose="020B0604030504040204" pitchFamily="34" charset="0"/>
                <a:ea typeface="宋体" panose="02010600030101010101" pitchFamily="2" charset="-122"/>
              </a:rPr>
              <a:t>: Computer Networking, Jim F. Kurose and Keith W. Ross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596900" y="190500"/>
            <a:ext cx="7772400" cy="896938"/>
          </a:xfrm>
        </p:spPr>
        <p:txBody>
          <a:bodyPr vert="horz" wrap="square" lIns="91440" tIns="45720" rIns="91440" bIns="45720" anchor="ctr" anchorCtr="0"/>
          <a:lstStyle/>
          <a:p>
            <a:pPr eaLnBrk="1" hangingPunct="1"/>
            <a:r>
              <a:rPr lang="en-US" altLang="zh-CN" dirty="0">
                <a:ea typeface="宋体" panose="02010600030101010101" pitchFamily="2" charset="-122"/>
              </a:rPr>
              <a:t>Query flooding: </a:t>
            </a:r>
            <a:r>
              <a:rPr lang="en-US" altLang="zh-CN" dirty="0">
                <a:solidFill>
                  <a:srgbClr val="200AC2"/>
                </a:solidFill>
                <a:ea typeface="宋体" panose="02010600030101010101" pitchFamily="2" charset="-122"/>
              </a:rPr>
              <a:t>Gnutella</a:t>
            </a:r>
          </a:p>
        </p:txBody>
      </p:sp>
      <p:sp>
        <p:nvSpPr>
          <p:cNvPr id="31747" name="Rectangle 3"/>
          <p:cNvSpPr>
            <a:spLocks noGrp="1"/>
          </p:cNvSpPr>
          <p:nvPr>
            <p:ph sz="half" idx="1"/>
          </p:nvPr>
        </p:nvSpPr>
        <p:spPr>
          <a:xfrm>
            <a:off x="190500" y="1562100"/>
            <a:ext cx="3289300" cy="3314700"/>
          </a:xfrm>
        </p:spPr>
        <p:txBody>
          <a:bodyPr vert="horz" wrap="square" lIns="91440" tIns="45720" rIns="91440" bIns="45720" anchor="t" anchorCtr="0"/>
          <a:lstStyle/>
          <a:p>
            <a:pPr marL="0" indent="0" algn="l" eaLnBrk="1" hangingPunct="1">
              <a:lnSpc>
                <a:spcPct val="150000"/>
              </a:lnSpc>
              <a:buSzTx/>
              <a:buFont typeface="Wingdings" panose="05000000000000000000" pitchFamily="2" charset="2"/>
              <a:buChar char="Ø"/>
            </a:pPr>
            <a:r>
              <a:rPr lang="en-US" altLang="zh-CN" sz="2400" dirty="0">
                <a:latin typeface="+mn-lt"/>
                <a:ea typeface="宋体" panose="02010600030101010101" pitchFamily="2" charset="-122"/>
                <a:cs typeface="+mn-cs"/>
              </a:rPr>
              <a:t>fully </a:t>
            </a:r>
            <a:r>
              <a:rPr lang="en-US" altLang="zh-CN" sz="2400" dirty="0">
                <a:solidFill>
                  <a:srgbClr val="200AC2"/>
                </a:solidFill>
                <a:latin typeface="+mn-lt"/>
                <a:ea typeface="宋体" panose="02010600030101010101" pitchFamily="2" charset="-122"/>
                <a:cs typeface="+mn-cs"/>
              </a:rPr>
              <a:t>distributed</a:t>
            </a:r>
          </a:p>
          <a:p>
            <a:pPr lvl="1" eaLnBrk="1" hangingPunct="1">
              <a:lnSpc>
                <a:spcPct val="150000"/>
              </a:lnSpc>
              <a:buFont typeface="Wingdings" panose="05000000000000000000" pitchFamily="2" charset="2"/>
              <a:buNone/>
            </a:pPr>
            <a:r>
              <a:rPr lang="en-US" altLang="zh-CN" b="1" dirty="0">
                <a:solidFill>
                  <a:srgbClr val="006600"/>
                </a:solidFill>
                <a:latin typeface="+mn-lt"/>
                <a:ea typeface="宋体" panose="02010600030101010101" pitchFamily="2" charset="-122"/>
              </a:rPr>
              <a:t>—no</a:t>
            </a:r>
            <a:r>
              <a:rPr lang="en-US" altLang="zh-CN" dirty="0">
                <a:solidFill>
                  <a:srgbClr val="006600"/>
                </a:solidFill>
                <a:latin typeface="+mn-lt"/>
                <a:ea typeface="宋体" panose="02010600030101010101" pitchFamily="2" charset="-122"/>
              </a:rPr>
              <a:t> central server</a:t>
            </a:r>
          </a:p>
          <a:p>
            <a:pPr marL="0" indent="0" algn="l" eaLnBrk="1" hangingPunct="1">
              <a:lnSpc>
                <a:spcPct val="150000"/>
              </a:lnSpc>
              <a:buSzTx/>
              <a:buFont typeface="Wingdings" panose="05000000000000000000" pitchFamily="2" charset="2"/>
              <a:buChar char="Ø"/>
            </a:pPr>
            <a:r>
              <a:rPr lang="en-US" altLang="zh-CN" sz="2400" dirty="0">
                <a:latin typeface="+mn-lt"/>
                <a:ea typeface="宋体" panose="02010600030101010101" pitchFamily="2" charset="-122"/>
                <a:cs typeface="+mn-cs"/>
              </a:rPr>
              <a:t>public domain protocol</a:t>
            </a:r>
          </a:p>
          <a:p>
            <a:pPr marL="0" indent="0" algn="l" eaLnBrk="1" hangingPunct="1">
              <a:lnSpc>
                <a:spcPct val="150000"/>
              </a:lnSpc>
              <a:buSzTx/>
              <a:buFont typeface="Wingdings" panose="05000000000000000000" pitchFamily="2" charset="2"/>
              <a:buChar char="Ø"/>
            </a:pPr>
            <a:r>
              <a:rPr lang="en-US" altLang="zh-CN" sz="2400" dirty="0">
                <a:latin typeface="+mn-lt"/>
                <a:ea typeface="宋体" panose="02010600030101010101" pitchFamily="2" charset="-122"/>
                <a:cs typeface="+mn-cs"/>
              </a:rPr>
              <a:t>many Gnutella clients implementing protocol</a:t>
            </a:r>
          </a:p>
        </p:txBody>
      </p:sp>
      <p:sp>
        <p:nvSpPr>
          <p:cNvPr id="31748" name="Rectangle 4"/>
          <p:cNvSpPr>
            <a:spLocks noGrp="1"/>
          </p:cNvSpPr>
          <p:nvPr>
            <p:ph sz="half" idx="2"/>
          </p:nvPr>
        </p:nvSpPr>
        <p:spPr>
          <a:xfrm>
            <a:off x="3619500" y="1011238"/>
            <a:ext cx="5334000" cy="4919662"/>
          </a:xfrm>
        </p:spPr>
        <p:txBody>
          <a:bodyPr vert="horz" wrap="square" lIns="91440" tIns="45720" rIns="91440" bIns="45720" anchor="t" anchorCtr="0"/>
          <a:lstStyle/>
          <a:p>
            <a:pPr marL="0" indent="0" algn="l" eaLnBrk="1" hangingPunct="1">
              <a:lnSpc>
                <a:spcPct val="150000"/>
              </a:lnSpc>
              <a:buSzTx/>
              <a:buFontTx/>
              <a:buNone/>
            </a:pPr>
            <a:r>
              <a:rPr lang="en-US" altLang="zh-CN" sz="2400" b="1" dirty="0">
                <a:solidFill>
                  <a:srgbClr val="336699"/>
                </a:solidFill>
                <a:latin typeface="+mn-lt"/>
                <a:ea typeface="宋体" panose="02010600030101010101" pitchFamily="2" charset="-122"/>
                <a:cs typeface="+mn-cs"/>
              </a:rPr>
              <a:t>Overlay network</a:t>
            </a:r>
            <a:r>
              <a:rPr lang="en-US" altLang="zh-CN" sz="2400" dirty="0">
                <a:latin typeface="+mn-lt"/>
                <a:ea typeface="宋体" panose="02010600030101010101" pitchFamily="2" charset="-122"/>
                <a:cs typeface="+mn-cs"/>
              </a:rPr>
              <a:t>: </a:t>
            </a:r>
            <a:r>
              <a:rPr lang="en-US" altLang="zh-CN" sz="2400" dirty="0">
                <a:solidFill>
                  <a:srgbClr val="200AC2"/>
                </a:solidFill>
                <a:latin typeface="+mn-lt"/>
                <a:ea typeface="宋体" panose="02010600030101010101" pitchFamily="2" charset="-122"/>
                <a:cs typeface="+mn-cs"/>
              </a:rPr>
              <a:t>graph</a:t>
            </a:r>
          </a:p>
          <a:p>
            <a:pPr marL="0" indent="0" algn="l" eaLnBrk="1" hangingPunct="1">
              <a:lnSpc>
                <a:spcPct val="150000"/>
              </a:lnSpc>
              <a:buSzTx/>
              <a:buFont typeface="Wingdings" panose="05000000000000000000" pitchFamily="2" charset="2"/>
              <a:buChar char="u"/>
            </a:pPr>
            <a:r>
              <a:rPr lang="en-US" altLang="zh-CN" sz="2400" dirty="0">
                <a:solidFill>
                  <a:srgbClr val="200AC2"/>
                </a:solidFill>
                <a:latin typeface="+mn-lt"/>
                <a:ea typeface="宋体" panose="02010600030101010101" pitchFamily="2" charset="-122"/>
                <a:cs typeface="+mn-cs"/>
              </a:rPr>
              <a:t>edge</a:t>
            </a:r>
            <a:r>
              <a:rPr lang="en-US" altLang="zh-CN" sz="2400" dirty="0">
                <a:latin typeface="+mn-lt"/>
                <a:ea typeface="宋体" panose="02010600030101010101" pitchFamily="2" charset="-122"/>
                <a:cs typeface="+mn-cs"/>
              </a:rPr>
              <a:t> between peer X and Y if there’s a </a:t>
            </a:r>
            <a:r>
              <a:rPr lang="en-US" altLang="zh-CN" sz="2400" dirty="0">
                <a:solidFill>
                  <a:srgbClr val="200AC2"/>
                </a:solidFill>
                <a:latin typeface="+mn-lt"/>
                <a:ea typeface="宋体" panose="02010600030101010101" pitchFamily="2" charset="-122"/>
                <a:cs typeface="+mn-cs"/>
              </a:rPr>
              <a:t>TCP connection</a:t>
            </a:r>
          </a:p>
          <a:p>
            <a:pPr marL="0" indent="0" algn="l" eaLnBrk="1" hangingPunct="1">
              <a:lnSpc>
                <a:spcPct val="150000"/>
              </a:lnSpc>
              <a:buSzTx/>
              <a:buFont typeface="Wingdings" panose="05000000000000000000" pitchFamily="2" charset="2"/>
              <a:buChar char="u"/>
            </a:pPr>
            <a:r>
              <a:rPr lang="en-US" altLang="zh-CN" sz="2400" dirty="0">
                <a:latin typeface="+mn-lt"/>
                <a:ea typeface="宋体" panose="02010600030101010101" pitchFamily="2" charset="-122"/>
                <a:cs typeface="+mn-cs"/>
              </a:rPr>
              <a:t>all active </a:t>
            </a:r>
            <a:r>
              <a:rPr lang="en-US" altLang="zh-CN" sz="2400" dirty="0">
                <a:solidFill>
                  <a:srgbClr val="200AC2"/>
                </a:solidFill>
                <a:latin typeface="+mn-lt"/>
                <a:ea typeface="宋体" panose="02010600030101010101" pitchFamily="2" charset="-122"/>
                <a:cs typeface="+mn-cs"/>
              </a:rPr>
              <a:t>peers</a:t>
            </a:r>
            <a:r>
              <a:rPr lang="en-US" altLang="zh-CN" sz="2400" dirty="0">
                <a:latin typeface="+mn-lt"/>
                <a:ea typeface="宋体" panose="02010600030101010101" pitchFamily="2" charset="-122"/>
                <a:cs typeface="+mn-cs"/>
              </a:rPr>
              <a:t> and </a:t>
            </a:r>
            <a:r>
              <a:rPr lang="en-US" altLang="zh-CN" sz="2400" dirty="0">
                <a:solidFill>
                  <a:srgbClr val="200AC2"/>
                </a:solidFill>
                <a:latin typeface="+mn-lt"/>
                <a:ea typeface="宋体" panose="02010600030101010101" pitchFamily="2" charset="-122"/>
                <a:cs typeface="+mn-cs"/>
              </a:rPr>
              <a:t>edges</a:t>
            </a:r>
            <a:r>
              <a:rPr lang="en-US" altLang="zh-CN" sz="2400" dirty="0">
                <a:latin typeface="+mn-lt"/>
                <a:ea typeface="宋体" panose="02010600030101010101" pitchFamily="2" charset="-122"/>
                <a:cs typeface="+mn-cs"/>
              </a:rPr>
              <a:t> is </a:t>
            </a:r>
            <a:r>
              <a:rPr lang="en-US" altLang="zh-CN" sz="2400" b="1" dirty="0">
                <a:solidFill>
                  <a:srgbClr val="006600"/>
                </a:solidFill>
                <a:latin typeface="+mn-lt"/>
                <a:ea typeface="宋体" panose="02010600030101010101" pitchFamily="2" charset="-122"/>
                <a:cs typeface="+mn-cs"/>
              </a:rPr>
              <a:t>overlay network</a:t>
            </a:r>
          </a:p>
          <a:p>
            <a:pPr marL="0" indent="0" algn="l" eaLnBrk="1" hangingPunct="1">
              <a:lnSpc>
                <a:spcPct val="150000"/>
              </a:lnSpc>
              <a:buSzTx/>
              <a:buFont typeface="Wingdings" panose="05000000000000000000" pitchFamily="2" charset="2"/>
              <a:buChar char="u"/>
            </a:pPr>
            <a:r>
              <a:rPr lang="en-US" altLang="zh-CN" sz="2400" dirty="0">
                <a:solidFill>
                  <a:srgbClr val="3602CA"/>
                </a:solidFill>
                <a:latin typeface="+mn-lt"/>
                <a:ea typeface="宋体" panose="02010600030101010101" pitchFamily="2" charset="-122"/>
                <a:cs typeface="+mn-cs"/>
              </a:rPr>
              <a:t>Edge is not a physical link</a:t>
            </a:r>
          </a:p>
          <a:p>
            <a:pPr marL="0" indent="0" algn="l" eaLnBrk="1" hangingPunct="1">
              <a:lnSpc>
                <a:spcPct val="150000"/>
              </a:lnSpc>
              <a:buSzTx/>
              <a:buFont typeface="Wingdings" panose="05000000000000000000" pitchFamily="2" charset="2"/>
              <a:buChar char="u"/>
            </a:pPr>
            <a:r>
              <a:rPr lang="en-US" altLang="zh-CN" sz="2400" dirty="0">
                <a:latin typeface="+mn-lt"/>
                <a:ea typeface="宋体" panose="02010600030101010101" pitchFamily="2" charset="-122"/>
                <a:cs typeface="+mn-cs"/>
              </a:rPr>
              <a:t>Given peer will typically be connected with &lt; 10 overlay neighbors</a:t>
            </a:r>
            <a:endParaRPr lang="en-US" altLang="zh-CN" sz="2000" dirty="0">
              <a:latin typeface="+mn-lt"/>
              <a:ea typeface="宋体" panose="02010600030101010101" pitchFamily="2" charset="-122"/>
              <a:cs typeface="+mn-cs"/>
            </a:endParaRPr>
          </a:p>
        </p:txBody>
      </p:sp>
      <p:sp>
        <p:nvSpPr>
          <p:cNvPr id="31749" name="Text Box 5"/>
          <p:cNvSpPr txBox="1"/>
          <p:nvPr/>
        </p:nvSpPr>
        <p:spPr>
          <a:xfrm>
            <a:off x="406400" y="6218238"/>
            <a:ext cx="8491538" cy="4572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b="1" dirty="0">
                <a:latin typeface="Tahoma" panose="020B0604030504040204" pitchFamily="34" charset="0"/>
                <a:ea typeface="宋体" panose="02010600030101010101" pitchFamily="2" charset="-122"/>
              </a:rPr>
              <a:t>Ref</a:t>
            </a:r>
            <a:r>
              <a:rPr lang="en-US" altLang="zh-CN" sz="2400" dirty="0">
                <a:latin typeface="Tahoma" panose="020B0604030504040204" pitchFamily="34" charset="0"/>
                <a:ea typeface="宋体" panose="02010600030101010101" pitchFamily="2" charset="-122"/>
              </a:rPr>
              <a:t>: Computer Networking, Jim F. Kurose and Keith W. Ross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p:nvPr/>
        </p:nvSpPr>
        <p:spPr>
          <a:xfrm>
            <a:off x="228600" y="860425"/>
            <a:ext cx="8686800" cy="51704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Font typeface="Wingdings" panose="05000000000000000000" pitchFamily="2" charset="2"/>
              <a:buChar char="Ø"/>
            </a:pPr>
            <a:r>
              <a:rPr lang="zh-CN" altLang="en-US" sz="2000" b="1" dirty="0">
                <a:solidFill>
                  <a:srgbClr val="000099"/>
                </a:solidFill>
                <a:latin typeface="宋体" panose="02010600030101010101" pitchFamily="2" charset="-122"/>
                <a:ea typeface="宋体" panose="02010600030101010101" pitchFamily="2" charset="-122"/>
              </a:rPr>
              <a:t>流媒体超大规模应用</a:t>
            </a:r>
            <a:r>
              <a:rPr lang="en-US" altLang="zh-CN" sz="2000" b="1" dirty="0">
                <a:solidFill>
                  <a:srgbClr val="000099"/>
                </a:solidFill>
                <a:latin typeface="宋体" panose="02010600030101010101" pitchFamily="2" charset="-122"/>
                <a:ea typeface="宋体" panose="02010600030101010101" pitchFamily="2" charset="-122"/>
              </a:rPr>
              <a:t>: </a:t>
            </a:r>
            <a:r>
              <a:rPr lang="zh-CN" altLang="en-US" sz="2000" b="1" dirty="0">
                <a:solidFill>
                  <a:srgbClr val="000099"/>
                </a:solidFill>
                <a:latin typeface="宋体" panose="02010600030101010101" pitchFamily="2" charset="-122"/>
                <a:ea typeface="宋体" panose="02010600030101010101" pitchFamily="2" charset="-122"/>
              </a:rPr>
              <a:t>包括流媒体编码发布、广播、播放和超大规模用户直播 。比如</a:t>
            </a:r>
            <a:r>
              <a:rPr lang="en-US" altLang="zh-CN" sz="2000" b="1" dirty="0">
                <a:solidFill>
                  <a:srgbClr val="000099"/>
                </a:solidFill>
                <a:latin typeface="宋体" panose="02010600030101010101" pitchFamily="2" charset="-122"/>
                <a:ea typeface="宋体" panose="02010600030101010101" pitchFamily="2" charset="-122"/>
              </a:rPr>
              <a:t>PPStream</a:t>
            </a:r>
            <a:r>
              <a:rPr lang="zh-CN" altLang="en-US" sz="2000" b="1" dirty="0">
                <a:solidFill>
                  <a:srgbClr val="000099"/>
                </a:solidFill>
                <a:latin typeface="宋体" panose="02010600030101010101" pitchFamily="2" charset="-122"/>
                <a:ea typeface="宋体" panose="02010600030101010101" pitchFamily="2" charset="-122"/>
              </a:rPr>
              <a:t>等；</a:t>
            </a:r>
          </a:p>
          <a:p>
            <a:pPr marL="0" lvl="0" indent="0" algn="l">
              <a:lnSpc>
                <a:spcPct val="150000"/>
              </a:lnSpc>
              <a:spcBef>
                <a:spcPct val="0"/>
              </a:spcBef>
              <a:buClrTx/>
              <a:buFont typeface="Wingdings" panose="05000000000000000000" pitchFamily="2" charset="2"/>
              <a:buChar char="Ø"/>
            </a:pPr>
            <a:r>
              <a:rPr lang="zh-CN" altLang="en-US" sz="2000" b="1" dirty="0">
                <a:solidFill>
                  <a:srgbClr val="000099"/>
                </a:solidFill>
                <a:latin typeface="宋体" panose="02010600030101010101" pitchFamily="2" charset="-122"/>
                <a:ea typeface="宋体" panose="02010600030101010101" pitchFamily="2" charset="-122"/>
              </a:rPr>
              <a:t>即时通信软件</a:t>
            </a:r>
            <a:r>
              <a:rPr lang="en-US" altLang="zh-CN" sz="2000" b="1" dirty="0">
                <a:solidFill>
                  <a:srgbClr val="000099"/>
                </a:solidFill>
                <a:latin typeface="宋体" panose="02010600030101010101" pitchFamily="2" charset="-122"/>
                <a:ea typeface="宋体" panose="02010600030101010101" pitchFamily="2" charset="-122"/>
              </a:rPr>
              <a:t>: </a:t>
            </a:r>
            <a:r>
              <a:rPr lang="zh-CN" altLang="en-US" sz="2000" b="1" dirty="0">
                <a:solidFill>
                  <a:srgbClr val="000099"/>
                </a:solidFill>
                <a:latin typeface="宋体" panose="02010600030101010101" pitchFamily="2" charset="-122"/>
                <a:ea typeface="宋体" panose="02010600030101010101" pitchFamily="2" charset="-122"/>
              </a:rPr>
              <a:t>比如</a:t>
            </a:r>
            <a:r>
              <a:rPr lang="en-US" altLang="zh-CN" sz="2000" b="1" dirty="0">
                <a:solidFill>
                  <a:srgbClr val="000099"/>
                </a:solidFill>
                <a:latin typeface="宋体" panose="02010600030101010101" pitchFamily="2" charset="-122"/>
                <a:ea typeface="宋体" panose="02010600030101010101" pitchFamily="2" charset="-122"/>
              </a:rPr>
              <a:t>ICQ</a:t>
            </a:r>
            <a:r>
              <a:rPr lang="zh-CN" altLang="en-US" sz="2000" b="1" dirty="0">
                <a:solidFill>
                  <a:srgbClr val="000099"/>
                </a:solidFill>
                <a:latin typeface="宋体" panose="02010600030101010101" pitchFamily="2" charset="-122"/>
                <a:ea typeface="宋体" panose="02010600030101010101" pitchFamily="2" charset="-122"/>
              </a:rPr>
              <a:t>、</a:t>
            </a:r>
            <a:r>
              <a:rPr lang="en-US" altLang="zh-CN" sz="2000" b="1" dirty="0">
                <a:solidFill>
                  <a:srgbClr val="000099"/>
                </a:solidFill>
                <a:latin typeface="宋体" panose="02010600030101010101" pitchFamily="2" charset="-122"/>
                <a:ea typeface="宋体" panose="02010600030101010101" pitchFamily="2" charset="-122"/>
              </a:rPr>
              <a:t>QQ</a:t>
            </a:r>
            <a:r>
              <a:rPr lang="zh-CN" altLang="en-US" sz="2000" b="1" dirty="0">
                <a:solidFill>
                  <a:srgbClr val="000099"/>
                </a:solidFill>
                <a:latin typeface="宋体" panose="02010600030101010101" pitchFamily="2" charset="-122"/>
                <a:ea typeface="宋体" panose="02010600030101010101" pitchFamily="2" charset="-122"/>
              </a:rPr>
              <a:t>、</a:t>
            </a:r>
            <a:r>
              <a:rPr lang="en-US" altLang="zh-CN" sz="2000" b="1" dirty="0">
                <a:solidFill>
                  <a:srgbClr val="000099"/>
                </a:solidFill>
                <a:latin typeface="宋体" panose="02010600030101010101" pitchFamily="2" charset="-122"/>
                <a:ea typeface="宋体" panose="02010600030101010101" pitchFamily="2" charset="-122"/>
              </a:rPr>
              <a:t>MSN</a:t>
            </a:r>
            <a:r>
              <a:rPr lang="zh-CN" altLang="en-US" sz="2000" b="1" dirty="0">
                <a:solidFill>
                  <a:srgbClr val="000099"/>
                </a:solidFill>
                <a:latin typeface="宋体" panose="02010600030101010101" pitchFamily="2" charset="-122"/>
                <a:ea typeface="宋体" panose="02010600030101010101" pitchFamily="2" charset="-122"/>
              </a:rPr>
              <a:t>等；</a:t>
            </a:r>
          </a:p>
          <a:p>
            <a:pPr marL="0" lvl="0" indent="0" algn="l">
              <a:lnSpc>
                <a:spcPct val="150000"/>
              </a:lnSpc>
              <a:spcBef>
                <a:spcPct val="0"/>
              </a:spcBef>
              <a:buClrTx/>
              <a:buFont typeface="Wingdings" panose="05000000000000000000" pitchFamily="2" charset="2"/>
              <a:buChar char="Ø"/>
            </a:pPr>
            <a:r>
              <a:rPr lang="zh-CN" altLang="en-US" sz="2000" b="1" dirty="0">
                <a:solidFill>
                  <a:srgbClr val="000099"/>
                </a:solidFill>
                <a:latin typeface="宋体" panose="02010600030101010101" pitchFamily="2" charset="-122"/>
                <a:ea typeface="宋体" panose="02010600030101010101" pitchFamily="2" charset="-122"/>
              </a:rPr>
              <a:t>区块链</a:t>
            </a:r>
            <a:r>
              <a:rPr lang="en-US" altLang="zh-CN" sz="2000" b="1" dirty="0">
                <a:solidFill>
                  <a:srgbClr val="000099"/>
                </a:solidFill>
                <a:latin typeface="宋体" panose="02010600030101010101" pitchFamily="2" charset="-122"/>
                <a:ea typeface="宋体" panose="02010600030101010101" pitchFamily="2" charset="-122"/>
              </a:rPr>
              <a:t>:</a:t>
            </a:r>
            <a:r>
              <a:rPr lang="zh-CN" altLang="en-US" sz="2000" b="1" dirty="0">
                <a:solidFill>
                  <a:srgbClr val="000099"/>
                </a:solidFill>
                <a:latin typeface="宋体" panose="02010600030101010101" pitchFamily="2" charset="-122"/>
                <a:ea typeface="宋体" panose="02010600030101010101" pitchFamily="2" charset="-122"/>
              </a:rPr>
              <a:t>去中心化的分布式账本</a:t>
            </a:r>
            <a:r>
              <a:rPr lang="en-US" altLang="zh-CN" sz="2000" b="1" dirty="0">
                <a:solidFill>
                  <a:srgbClr val="000099"/>
                </a:solidFill>
                <a:latin typeface="宋体" panose="02010600030101010101" pitchFamily="2" charset="-122"/>
                <a:ea typeface="宋体" panose="02010600030101010101" pitchFamily="2" charset="-122"/>
              </a:rPr>
              <a:t>;</a:t>
            </a:r>
          </a:p>
          <a:p>
            <a:pPr marL="0" lvl="0" indent="0" algn="l">
              <a:lnSpc>
                <a:spcPct val="150000"/>
              </a:lnSpc>
              <a:spcBef>
                <a:spcPct val="0"/>
              </a:spcBef>
              <a:buClrTx/>
              <a:buFont typeface="Wingdings" panose="05000000000000000000" pitchFamily="2" charset="2"/>
              <a:buChar char="Ø"/>
            </a:pPr>
            <a:r>
              <a:rPr lang="zh-CN" altLang="en-US" sz="2000" b="1" dirty="0">
                <a:solidFill>
                  <a:srgbClr val="000099"/>
                </a:solidFill>
                <a:latin typeface="宋体" panose="02010600030101010101" pitchFamily="2" charset="-122"/>
                <a:ea typeface="宋体" panose="02010600030101010101" pitchFamily="2" charset="-122"/>
              </a:rPr>
              <a:t>游戏软件</a:t>
            </a:r>
            <a:r>
              <a:rPr lang="en-US" altLang="zh-CN" sz="2000" b="1" dirty="0">
                <a:solidFill>
                  <a:srgbClr val="000099"/>
                </a:solidFill>
                <a:latin typeface="宋体" panose="02010600030101010101" pitchFamily="2" charset="-122"/>
                <a:ea typeface="宋体" panose="02010600030101010101" pitchFamily="2" charset="-122"/>
              </a:rPr>
              <a:t>: </a:t>
            </a:r>
            <a:r>
              <a:rPr lang="zh-CN" altLang="en-US" sz="2000" b="1" dirty="0">
                <a:solidFill>
                  <a:srgbClr val="000099"/>
                </a:solidFill>
                <a:latin typeface="宋体" panose="02010600030101010101" pitchFamily="2" charset="-122"/>
                <a:ea typeface="宋体" panose="02010600030101010101" pitchFamily="2" charset="-122"/>
              </a:rPr>
              <a:t>目前的许多网络游戏都是通过对等网络方式实现的；</a:t>
            </a:r>
          </a:p>
          <a:p>
            <a:pPr marL="0" lvl="0" indent="0" algn="l">
              <a:lnSpc>
                <a:spcPct val="150000"/>
              </a:lnSpc>
              <a:spcBef>
                <a:spcPct val="0"/>
              </a:spcBef>
              <a:buClrTx/>
              <a:buFont typeface="Wingdings" panose="05000000000000000000" pitchFamily="2" charset="2"/>
              <a:buChar char="Ø"/>
            </a:pPr>
            <a:r>
              <a:rPr lang="zh-CN" altLang="en-US" sz="2000" b="1" dirty="0">
                <a:solidFill>
                  <a:srgbClr val="000099"/>
                </a:solidFill>
                <a:latin typeface="宋体" panose="02010600030101010101" pitchFamily="2" charset="-122"/>
                <a:ea typeface="宋体" panose="02010600030101010101" pitchFamily="2" charset="-122"/>
              </a:rPr>
              <a:t>存储软件</a:t>
            </a:r>
            <a:r>
              <a:rPr lang="en-US" altLang="zh-CN" sz="2000" b="1" dirty="0">
                <a:solidFill>
                  <a:srgbClr val="000099"/>
                </a:solidFill>
                <a:latin typeface="宋体" panose="02010600030101010101" pitchFamily="2" charset="-122"/>
                <a:ea typeface="宋体" panose="02010600030101010101" pitchFamily="2" charset="-122"/>
              </a:rPr>
              <a:t>: </a:t>
            </a:r>
            <a:r>
              <a:rPr lang="zh-CN" altLang="en-US" sz="2000" b="1" dirty="0">
                <a:solidFill>
                  <a:srgbClr val="000099"/>
                </a:solidFill>
                <a:latin typeface="宋体" panose="02010600030101010101" pitchFamily="2" charset="-122"/>
                <a:ea typeface="宋体" panose="02010600030101010101" pitchFamily="2" charset="-122"/>
              </a:rPr>
              <a:t>比如</a:t>
            </a:r>
            <a:r>
              <a:rPr lang="en-US" altLang="zh-CN" sz="2000" b="1" dirty="0">
                <a:solidFill>
                  <a:srgbClr val="000099"/>
                </a:solidFill>
                <a:latin typeface="宋体" panose="02010600030101010101" pitchFamily="2" charset="-122"/>
                <a:ea typeface="宋体" panose="02010600030101010101" pitchFamily="2" charset="-122"/>
              </a:rPr>
              <a:t>Farsite</a:t>
            </a:r>
            <a:r>
              <a:rPr lang="zh-CN" altLang="en-US" sz="2000" b="1" dirty="0">
                <a:solidFill>
                  <a:srgbClr val="000099"/>
                </a:solidFill>
                <a:latin typeface="宋体" panose="02010600030101010101" pitchFamily="2" charset="-122"/>
                <a:ea typeface="宋体" panose="02010600030101010101" pitchFamily="2" charset="-122"/>
              </a:rPr>
              <a:t>，用于在网络上将存储对象分散存储。</a:t>
            </a:r>
          </a:p>
          <a:p>
            <a:pPr marL="0" lvl="0" indent="0" algn="l">
              <a:lnSpc>
                <a:spcPct val="150000"/>
              </a:lnSpc>
              <a:spcBef>
                <a:spcPct val="0"/>
              </a:spcBef>
              <a:buClrTx/>
              <a:buFont typeface="Wingdings" panose="05000000000000000000" pitchFamily="2" charset="2"/>
              <a:buChar char="Ø"/>
            </a:pPr>
            <a:r>
              <a:rPr lang="zh-CN" altLang="en-US" sz="2000" b="1" dirty="0">
                <a:solidFill>
                  <a:srgbClr val="000099"/>
                </a:solidFill>
                <a:latin typeface="宋体" panose="02010600030101010101" pitchFamily="2" charset="-122"/>
                <a:ea typeface="宋体" panose="02010600030101010101" pitchFamily="2" charset="-122"/>
              </a:rPr>
              <a:t>数据搜索及查询软件：比如</a:t>
            </a:r>
            <a:r>
              <a:rPr lang="en-US" altLang="zh-CN" sz="2000" b="1" dirty="0">
                <a:solidFill>
                  <a:srgbClr val="000099"/>
                </a:solidFill>
                <a:latin typeface="宋体" panose="02010600030101010101" pitchFamily="2" charset="-122"/>
                <a:ea typeface="宋体" panose="02010600030101010101" pitchFamily="2" charset="-122"/>
              </a:rPr>
              <a:t>Infrasearch</a:t>
            </a:r>
            <a:r>
              <a:rPr lang="zh-CN" altLang="en-US" sz="2000" b="1" dirty="0">
                <a:solidFill>
                  <a:srgbClr val="000099"/>
                </a:solidFill>
                <a:latin typeface="宋体" panose="02010600030101010101" pitchFamily="2" charset="-122"/>
                <a:ea typeface="宋体" panose="02010600030101010101" pitchFamily="2" charset="-122"/>
              </a:rPr>
              <a:t>、</a:t>
            </a:r>
            <a:r>
              <a:rPr lang="en-US" altLang="zh-CN" sz="2000" b="1" dirty="0">
                <a:solidFill>
                  <a:srgbClr val="000099"/>
                </a:solidFill>
                <a:latin typeface="宋体" panose="02010600030101010101" pitchFamily="2" charset="-122"/>
                <a:ea typeface="宋体" panose="02010600030101010101" pitchFamily="2" charset="-122"/>
              </a:rPr>
              <a:t>Pointera</a:t>
            </a:r>
            <a:r>
              <a:rPr lang="zh-CN" altLang="en-US" sz="2000" b="1" dirty="0">
                <a:solidFill>
                  <a:srgbClr val="000099"/>
                </a:solidFill>
                <a:latin typeface="宋体" panose="02010600030101010101" pitchFamily="2" charset="-122"/>
                <a:ea typeface="宋体" panose="02010600030101010101" pitchFamily="2" charset="-122"/>
              </a:rPr>
              <a:t>，用来在对等网络中完成信息检索；</a:t>
            </a:r>
          </a:p>
          <a:p>
            <a:pPr marL="0" lvl="0" indent="0" algn="l">
              <a:lnSpc>
                <a:spcPct val="150000"/>
              </a:lnSpc>
              <a:spcBef>
                <a:spcPct val="0"/>
              </a:spcBef>
              <a:buClrTx/>
              <a:buFont typeface="Wingdings" panose="05000000000000000000" pitchFamily="2" charset="2"/>
              <a:buChar char="Ø"/>
            </a:pPr>
            <a:r>
              <a:rPr lang="zh-CN" altLang="en-US" sz="2000" b="1" dirty="0">
                <a:solidFill>
                  <a:srgbClr val="000099"/>
                </a:solidFill>
                <a:latin typeface="宋体" panose="02010600030101010101" pitchFamily="2" charset="-122"/>
                <a:ea typeface="宋体" panose="02010600030101010101" pitchFamily="2" charset="-122"/>
              </a:rPr>
              <a:t>协同计算软件：比如</a:t>
            </a:r>
            <a:r>
              <a:rPr lang="en-US" altLang="zh-CN" sz="2000" b="1" dirty="0">
                <a:solidFill>
                  <a:srgbClr val="000099"/>
                </a:solidFill>
                <a:latin typeface="宋体" panose="02010600030101010101" pitchFamily="2" charset="-122"/>
                <a:ea typeface="宋体" panose="02010600030101010101" pitchFamily="2" charset="-122"/>
              </a:rPr>
              <a:t>Netbatch</a:t>
            </a:r>
            <a:r>
              <a:rPr lang="zh-CN" altLang="en-US" sz="2000" b="1" dirty="0">
                <a:solidFill>
                  <a:srgbClr val="000099"/>
                </a:solidFill>
                <a:latin typeface="宋体" panose="02010600030101010101" pitchFamily="2" charset="-122"/>
                <a:ea typeface="宋体" panose="02010600030101010101" pitchFamily="2" charset="-122"/>
              </a:rPr>
              <a:t>，可连接几千或上万台</a:t>
            </a:r>
            <a:r>
              <a:rPr lang="en-US" altLang="zh-CN" sz="2000" b="1" dirty="0">
                <a:solidFill>
                  <a:srgbClr val="000099"/>
                </a:solidFill>
                <a:latin typeface="宋体" panose="02010600030101010101" pitchFamily="2" charset="-122"/>
                <a:ea typeface="宋体" panose="02010600030101010101" pitchFamily="2" charset="-122"/>
              </a:rPr>
              <a:t>PC</a:t>
            </a:r>
            <a:r>
              <a:rPr lang="zh-CN" altLang="en-US" sz="2000" b="1" dirty="0">
                <a:solidFill>
                  <a:srgbClr val="000099"/>
                </a:solidFill>
                <a:latin typeface="宋体" panose="02010600030101010101" pitchFamily="2" charset="-122"/>
                <a:ea typeface="宋体" panose="02010600030101010101" pitchFamily="2" charset="-122"/>
              </a:rPr>
              <a:t>，利用其空闲时间进行协同计算；</a:t>
            </a:r>
          </a:p>
          <a:p>
            <a:pPr marL="0" lvl="0" indent="0" algn="l">
              <a:lnSpc>
                <a:spcPct val="150000"/>
              </a:lnSpc>
              <a:spcBef>
                <a:spcPct val="0"/>
              </a:spcBef>
              <a:buClrTx/>
              <a:buFont typeface="Wingdings" panose="05000000000000000000" pitchFamily="2" charset="2"/>
              <a:buChar char="Ø"/>
            </a:pPr>
            <a:r>
              <a:rPr lang="zh-CN" altLang="en-US" sz="2000" b="1" dirty="0">
                <a:solidFill>
                  <a:srgbClr val="000099"/>
                </a:solidFill>
                <a:latin typeface="宋体" panose="02010600030101010101" pitchFamily="2" charset="-122"/>
                <a:ea typeface="宋体" panose="02010600030101010101" pitchFamily="2" charset="-122"/>
              </a:rPr>
              <a:t>协同处理软件：比如</a:t>
            </a:r>
            <a:r>
              <a:rPr lang="en-US" altLang="zh-CN" sz="2000" b="1" dirty="0">
                <a:solidFill>
                  <a:srgbClr val="000099"/>
                </a:solidFill>
                <a:latin typeface="宋体" panose="02010600030101010101" pitchFamily="2" charset="-122"/>
                <a:ea typeface="宋体" panose="02010600030101010101" pitchFamily="2" charset="-122"/>
              </a:rPr>
              <a:t>Groove</a:t>
            </a:r>
            <a:r>
              <a:rPr lang="zh-CN" altLang="en-US" sz="2000" b="1" dirty="0">
                <a:solidFill>
                  <a:srgbClr val="000099"/>
                </a:solidFill>
                <a:latin typeface="宋体" panose="02010600030101010101" pitchFamily="2" charset="-122"/>
                <a:ea typeface="宋体" panose="02010600030101010101" pitchFamily="2" charset="-122"/>
              </a:rPr>
              <a:t>，可用于企业管理。 </a:t>
            </a:r>
          </a:p>
        </p:txBody>
      </p:sp>
      <p:sp>
        <p:nvSpPr>
          <p:cNvPr id="32771" name="Text Box 3"/>
          <p:cNvSpPr txBox="1"/>
          <p:nvPr/>
        </p:nvSpPr>
        <p:spPr>
          <a:xfrm>
            <a:off x="3413125" y="3906838"/>
            <a:ext cx="184150" cy="4572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endParaRPr lang="zh-CN" altLang="en-US" sz="2400" dirty="0">
              <a:ea typeface="宋体" panose="02010600030101010101" pitchFamily="2" charset="-122"/>
            </a:endParaRPr>
          </a:p>
        </p:txBody>
      </p:sp>
      <p:sp>
        <p:nvSpPr>
          <p:cNvPr id="32772" name="Rectangle 6"/>
          <p:cNvSpPr/>
          <p:nvPr/>
        </p:nvSpPr>
        <p:spPr>
          <a:xfrm>
            <a:off x="0" y="-215900"/>
            <a:ext cx="9144000" cy="11430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4400" dirty="0">
                <a:solidFill>
                  <a:srgbClr val="FF0000"/>
                </a:solidFill>
                <a:ea typeface="宋体" panose="02010600030101010101" pitchFamily="2" charset="-122"/>
              </a:rPr>
              <a:t>2.5. Peer-to-Peer Paradigm</a:t>
            </a:r>
            <a:r>
              <a:rPr lang="zh-CN" altLang="en-US" sz="3600" dirty="0">
                <a:solidFill>
                  <a:srgbClr val="FF0000"/>
                </a:solidFill>
                <a:ea typeface="宋体" panose="02010600030101010101" pitchFamily="2" charset="-122"/>
              </a:rPr>
              <a:t>（其他应用）</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p:cNvSpPr>
          <p:nvPr>
            <p:ph idx="1"/>
          </p:nvPr>
        </p:nvSpPr>
        <p:spPr/>
        <p:txBody>
          <a:bodyPr vert="horz" wrap="square" lIns="91440" tIns="45720" rIns="91440" bIns="45720" anchor="t" anchorCtr="0"/>
          <a:lstStyle/>
          <a:p>
            <a:pPr eaLnBrk="1" hangingPunct="1">
              <a:buNone/>
            </a:pPr>
            <a:endParaRPr lang="en-GB" altLang="zh-CN" dirty="0">
              <a:ea typeface="宋体" panose="02010600030101010101" pitchFamily="2" charset="-122"/>
            </a:endParaRPr>
          </a:p>
        </p:txBody>
      </p:sp>
      <p:pic>
        <p:nvPicPr>
          <p:cNvPr id="33795" name="Picture 4" descr="p2p"/>
          <p:cNvPicPr>
            <a:picLocks noChangeAspect="1"/>
          </p:cNvPicPr>
          <p:nvPr/>
        </p:nvPicPr>
        <p:blipFill>
          <a:blip r:embed="rId3"/>
          <a:stretch>
            <a:fillRect/>
          </a:stretch>
        </p:blipFill>
        <p:spPr>
          <a:xfrm>
            <a:off x="0" y="241300"/>
            <a:ext cx="9144000" cy="6234113"/>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p:nvPr/>
        </p:nvSpPr>
        <p:spPr>
          <a:xfrm>
            <a:off x="220663" y="914400"/>
            <a:ext cx="8699500" cy="44386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Font typeface="Wingdings" panose="05000000000000000000" pitchFamily="2" charset="2"/>
              <a:buChar char="u"/>
            </a:pPr>
            <a:r>
              <a:rPr lang="en-US" altLang="zh-CN" sz="2400" b="1" dirty="0">
                <a:solidFill>
                  <a:schemeClr val="accent2"/>
                </a:solidFill>
                <a:latin typeface="宋体" panose="02010600030101010101" pitchFamily="2" charset="-122"/>
                <a:ea typeface="宋体" panose="02010600030101010101" pitchFamily="2" charset="-122"/>
              </a:rPr>
              <a:t>P2P</a:t>
            </a:r>
            <a:r>
              <a:rPr lang="zh-CN" altLang="en-US" sz="2400" b="1" dirty="0">
                <a:solidFill>
                  <a:schemeClr val="accent2"/>
                </a:solidFill>
                <a:latin typeface="宋体" panose="02010600030101010101" pitchFamily="2" charset="-122"/>
                <a:ea typeface="宋体" panose="02010600030101010101" pitchFamily="2" charset="-122"/>
              </a:rPr>
              <a:t>的主要组织结构</a:t>
            </a:r>
            <a:endParaRPr lang="en-US" altLang="zh-CN" sz="2400" b="1" dirty="0">
              <a:solidFill>
                <a:schemeClr val="accent2"/>
              </a:solidFill>
              <a:latin typeface="宋体" panose="02010600030101010101" pitchFamily="2" charset="-122"/>
              <a:ea typeface="宋体" panose="02010600030101010101" pitchFamily="2" charset="-122"/>
            </a:endParaRPr>
          </a:p>
          <a:p>
            <a:pPr marL="0" lvl="0" indent="0" algn="l">
              <a:lnSpc>
                <a:spcPct val="150000"/>
              </a:lnSpc>
              <a:spcBef>
                <a:spcPct val="0"/>
              </a:spcBef>
              <a:buClrTx/>
              <a:buNone/>
            </a:pPr>
            <a:r>
              <a:rPr lang="en-US" altLang="zh-CN" sz="2400" b="1" dirty="0">
                <a:solidFill>
                  <a:schemeClr val="accent2"/>
                </a:solidFill>
                <a:latin typeface="宋体" panose="02010600030101010101" pitchFamily="2" charset="-122"/>
                <a:ea typeface="宋体" panose="02010600030101010101" pitchFamily="2" charset="-122"/>
              </a:rPr>
              <a:t>  (1)DHT</a:t>
            </a:r>
            <a:r>
              <a:rPr lang="zh-CN" altLang="en-US" sz="2400" b="1" dirty="0">
                <a:solidFill>
                  <a:schemeClr val="accent2"/>
                </a:solidFill>
                <a:latin typeface="宋体" panose="02010600030101010101" pitchFamily="2" charset="-122"/>
                <a:ea typeface="宋体" panose="02010600030101010101" pitchFamily="2" charset="-122"/>
              </a:rPr>
              <a:t>结构</a:t>
            </a:r>
          </a:p>
          <a:p>
            <a:pPr marL="0" lvl="0" indent="0" algn="l">
              <a:lnSpc>
                <a:spcPct val="150000"/>
              </a:lnSpc>
              <a:spcBef>
                <a:spcPct val="0"/>
              </a:spcBef>
              <a:buClrTx/>
              <a:buNone/>
            </a:pPr>
            <a:r>
              <a:rPr lang="en-US" altLang="zh-CN" sz="2400" b="1" dirty="0">
                <a:solidFill>
                  <a:schemeClr val="accent2"/>
                </a:solidFill>
                <a:latin typeface="宋体" panose="02010600030101010101" pitchFamily="2" charset="-122"/>
                <a:ea typeface="宋体" panose="02010600030101010101" pitchFamily="2" charset="-122"/>
              </a:rPr>
              <a:t>  (2)</a:t>
            </a:r>
            <a:r>
              <a:rPr lang="zh-CN" altLang="en-US" sz="2400" b="1" dirty="0">
                <a:solidFill>
                  <a:schemeClr val="accent2"/>
                </a:solidFill>
                <a:latin typeface="宋体" panose="02010600030101010101" pitchFamily="2" charset="-122"/>
                <a:ea typeface="宋体" panose="02010600030101010101" pitchFamily="2" charset="-122"/>
              </a:rPr>
              <a:t>树形结构</a:t>
            </a:r>
          </a:p>
          <a:p>
            <a:pPr marL="0" lvl="0" indent="0" algn="l">
              <a:lnSpc>
                <a:spcPct val="150000"/>
              </a:lnSpc>
              <a:spcBef>
                <a:spcPct val="0"/>
              </a:spcBef>
              <a:buClrTx/>
              <a:buNone/>
            </a:pPr>
            <a:r>
              <a:rPr lang="en-US" altLang="zh-CN" sz="2400" b="1" dirty="0">
                <a:solidFill>
                  <a:schemeClr val="accent2"/>
                </a:solidFill>
                <a:latin typeface="宋体" panose="02010600030101010101" pitchFamily="2" charset="-122"/>
                <a:ea typeface="宋体" panose="02010600030101010101" pitchFamily="2" charset="-122"/>
              </a:rPr>
              <a:t>  (3)</a:t>
            </a:r>
            <a:r>
              <a:rPr lang="zh-CN" altLang="en-US" sz="2400" b="1" dirty="0">
                <a:solidFill>
                  <a:schemeClr val="accent2"/>
                </a:solidFill>
                <a:latin typeface="宋体" panose="02010600030101010101" pitchFamily="2" charset="-122"/>
                <a:ea typeface="宋体" panose="02010600030101010101" pitchFamily="2" charset="-122"/>
              </a:rPr>
              <a:t>网状结构</a:t>
            </a:r>
            <a:endParaRPr lang="en-US" altLang="zh-CN" sz="2400" b="1" dirty="0">
              <a:solidFill>
                <a:schemeClr val="accent2"/>
              </a:solidFill>
              <a:latin typeface="宋体" panose="02010600030101010101" pitchFamily="2" charset="-122"/>
              <a:ea typeface="宋体" panose="02010600030101010101" pitchFamily="2" charset="-122"/>
            </a:endParaRPr>
          </a:p>
          <a:p>
            <a:pPr marL="0" lvl="0" indent="0" algn="l">
              <a:lnSpc>
                <a:spcPct val="150000"/>
              </a:lnSpc>
              <a:spcBef>
                <a:spcPct val="0"/>
              </a:spcBef>
              <a:buClrTx/>
              <a:buFont typeface="Wingdings" panose="05000000000000000000" pitchFamily="2" charset="2"/>
              <a:buChar char="u"/>
            </a:pPr>
            <a:r>
              <a:rPr lang="en-US" altLang="zh-CN" sz="2400" b="1" dirty="0">
                <a:solidFill>
                  <a:schemeClr val="accent2"/>
                </a:solidFill>
                <a:latin typeface="宋体" panose="02010600030101010101" pitchFamily="2" charset="-122"/>
                <a:ea typeface="宋体" panose="02010600030101010101" pitchFamily="2" charset="-122"/>
              </a:rPr>
              <a:t>P2P</a:t>
            </a:r>
            <a:r>
              <a:rPr lang="zh-CN" altLang="en-US" sz="2400" b="1" dirty="0">
                <a:solidFill>
                  <a:schemeClr val="accent2"/>
                </a:solidFill>
                <a:latin typeface="宋体" panose="02010600030101010101" pitchFamily="2" charset="-122"/>
                <a:ea typeface="宋体" panose="02010600030101010101" pitchFamily="2" charset="-122"/>
              </a:rPr>
              <a:t>计算尚无统一的标准。</a:t>
            </a:r>
            <a:r>
              <a:rPr lang="en-US" altLang="zh-CN" sz="2400" b="1" dirty="0">
                <a:solidFill>
                  <a:schemeClr val="accent2"/>
                </a:solidFill>
                <a:latin typeface="宋体" panose="02010600030101010101" pitchFamily="2" charset="-122"/>
                <a:ea typeface="宋体" panose="02010600030101010101" pitchFamily="2" charset="-122"/>
              </a:rPr>
              <a:t>2000</a:t>
            </a:r>
            <a:r>
              <a:rPr lang="zh-CN" altLang="en-US" sz="2400" b="1" dirty="0">
                <a:solidFill>
                  <a:schemeClr val="accent2"/>
                </a:solidFill>
                <a:latin typeface="宋体" panose="02010600030101010101" pitchFamily="2" charset="-122"/>
                <a:ea typeface="宋体" panose="02010600030101010101" pitchFamily="2" charset="-122"/>
              </a:rPr>
              <a:t>年</a:t>
            </a:r>
            <a:r>
              <a:rPr lang="en-US" altLang="zh-CN" sz="2400" b="1" dirty="0">
                <a:solidFill>
                  <a:schemeClr val="accent2"/>
                </a:solidFill>
                <a:latin typeface="宋体" panose="02010600030101010101" pitchFamily="2" charset="-122"/>
                <a:ea typeface="宋体" panose="02010600030101010101" pitchFamily="2" charset="-122"/>
              </a:rPr>
              <a:t>8</a:t>
            </a:r>
            <a:r>
              <a:rPr lang="zh-CN" altLang="en-US" sz="2400" b="1" dirty="0">
                <a:solidFill>
                  <a:schemeClr val="accent2"/>
                </a:solidFill>
                <a:latin typeface="宋体" panose="02010600030101010101" pitchFamily="2" charset="-122"/>
                <a:ea typeface="宋体" panose="02010600030101010101" pitchFamily="2" charset="-122"/>
              </a:rPr>
              <a:t>月成立了</a:t>
            </a:r>
            <a:r>
              <a:rPr lang="en-US" altLang="zh-CN" sz="2400" b="1" dirty="0">
                <a:solidFill>
                  <a:schemeClr val="accent2"/>
                </a:solidFill>
                <a:latin typeface="宋体" panose="02010600030101010101" pitchFamily="2" charset="-122"/>
                <a:ea typeface="宋体" panose="02010600030101010101" pitchFamily="2" charset="-122"/>
              </a:rPr>
              <a:t>P2P</a:t>
            </a:r>
            <a:r>
              <a:rPr lang="zh-CN" altLang="en-US" sz="2400" b="1" dirty="0">
                <a:solidFill>
                  <a:schemeClr val="accent2"/>
                </a:solidFill>
                <a:latin typeface="宋体" panose="02010600030101010101" pitchFamily="2" charset="-122"/>
                <a:ea typeface="宋体" panose="02010600030101010101" pitchFamily="2" charset="-122"/>
              </a:rPr>
              <a:t>工作组，成员包括</a:t>
            </a:r>
            <a:r>
              <a:rPr lang="en-US" altLang="zh-CN" sz="2400" b="1" dirty="0">
                <a:solidFill>
                  <a:schemeClr val="accent2"/>
                </a:solidFill>
                <a:latin typeface="宋体" panose="02010600030101010101" pitchFamily="2" charset="-122"/>
                <a:ea typeface="宋体" panose="02010600030101010101" pitchFamily="2" charset="-122"/>
              </a:rPr>
              <a:t>Intel</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a:solidFill>
                  <a:schemeClr val="accent2"/>
                </a:solidFill>
                <a:latin typeface="宋体" panose="02010600030101010101" pitchFamily="2" charset="-122"/>
                <a:ea typeface="宋体" panose="02010600030101010101" pitchFamily="2" charset="-122"/>
              </a:rPr>
              <a:t>IBM</a:t>
            </a:r>
            <a:r>
              <a:rPr lang="zh-CN" altLang="en-US" sz="2400" b="1" dirty="0">
                <a:solidFill>
                  <a:schemeClr val="accent2"/>
                </a:solidFill>
                <a:latin typeface="宋体" panose="02010600030101010101" pitchFamily="2" charset="-122"/>
                <a:ea typeface="宋体" panose="02010600030101010101" pitchFamily="2" charset="-122"/>
              </a:rPr>
              <a:t>和</a:t>
            </a:r>
            <a:r>
              <a:rPr lang="en-US" altLang="zh-CN" sz="2400" b="1" dirty="0">
                <a:solidFill>
                  <a:schemeClr val="accent2"/>
                </a:solidFill>
                <a:latin typeface="宋体" panose="02010600030101010101" pitchFamily="2" charset="-122"/>
                <a:ea typeface="宋体" panose="02010600030101010101" pitchFamily="2" charset="-122"/>
              </a:rPr>
              <a:t>HP</a:t>
            </a:r>
            <a:r>
              <a:rPr lang="zh-CN" altLang="en-US" sz="2400" b="1" dirty="0">
                <a:solidFill>
                  <a:schemeClr val="accent2"/>
                </a:solidFill>
                <a:latin typeface="宋体" panose="02010600030101010101" pitchFamily="2" charset="-122"/>
                <a:ea typeface="宋体" panose="02010600030101010101" pitchFamily="2" charset="-122"/>
              </a:rPr>
              <a:t>公司等；</a:t>
            </a:r>
            <a:endParaRPr lang="en-US" altLang="zh-CN" sz="2400" b="1" dirty="0">
              <a:solidFill>
                <a:schemeClr val="accent2"/>
              </a:solidFill>
              <a:latin typeface="宋体" panose="02010600030101010101" pitchFamily="2" charset="-122"/>
              <a:ea typeface="宋体" panose="02010600030101010101" pitchFamily="2" charset="-122"/>
            </a:endParaRPr>
          </a:p>
          <a:p>
            <a:pPr marL="0" lvl="0" indent="0" algn="l">
              <a:lnSpc>
                <a:spcPct val="150000"/>
              </a:lnSpc>
              <a:spcBef>
                <a:spcPct val="0"/>
              </a:spcBef>
              <a:buClrTx/>
              <a:buFont typeface="Wingdings" panose="05000000000000000000" pitchFamily="2" charset="2"/>
              <a:buChar char="u"/>
            </a:pPr>
            <a:r>
              <a:rPr lang="zh-CN" altLang="en-US" sz="2400" b="1" dirty="0">
                <a:solidFill>
                  <a:schemeClr val="accent2"/>
                </a:solidFill>
                <a:latin typeface="宋体" panose="02010600030101010101" pitchFamily="2" charset="-122"/>
                <a:ea typeface="宋体" panose="02010600030101010101" pitchFamily="2" charset="-122"/>
              </a:rPr>
              <a:t>开源项目包括</a:t>
            </a:r>
            <a:r>
              <a:rPr lang="en-US" altLang="zh-CN" sz="2400" b="1" dirty="0">
                <a:solidFill>
                  <a:schemeClr val="accent2"/>
                </a:solidFill>
                <a:latin typeface="宋体" panose="02010600030101010101" pitchFamily="2" charset="-122"/>
                <a:ea typeface="宋体" panose="02010600030101010101" pitchFamily="2" charset="-122"/>
              </a:rPr>
              <a:t>Project JXTA</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a:solidFill>
                  <a:schemeClr val="accent2"/>
                </a:solidFill>
                <a:latin typeface="宋体" panose="02010600030101010101" pitchFamily="2" charset="-122"/>
                <a:ea typeface="宋体" panose="02010600030101010101" pitchFamily="2" charset="-122"/>
              </a:rPr>
              <a:t>Azureus</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a:solidFill>
                  <a:schemeClr val="accent2"/>
                </a:solidFill>
                <a:latin typeface="宋体" panose="02010600030101010101" pitchFamily="2" charset="-122"/>
                <a:ea typeface="宋体" panose="02010600030101010101" pitchFamily="2" charset="-122"/>
              </a:rPr>
              <a:t>Shareaza</a:t>
            </a:r>
            <a:r>
              <a:rPr lang="zh-CN" altLang="en-US" sz="2400" b="1" dirty="0">
                <a:solidFill>
                  <a:schemeClr val="accent2"/>
                </a:solidFill>
                <a:latin typeface="宋体" panose="02010600030101010101" pitchFamily="2" charset="-122"/>
                <a:ea typeface="宋体" panose="02010600030101010101" pitchFamily="2" charset="-122"/>
              </a:rPr>
              <a:t>等；</a:t>
            </a:r>
          </a:p>
          <a:p>
            <a:pPr marL="0" lvl="0" indent="0" algn="l">
              <a:lnSpc>
                <a:spcPct val="150000"/>
              </a:lnSpc>
              <a:spcBef>
                <a:spcPct val="0"/>
              </a:spcBef>
              <a:buClrTx/>
              <a:buFont typeface="Wingdings" panose="05000000000000000000" pitchFamily="2" charset="2"/>
              <a:buChar char="u"/>
            </a:pPr>
            <a:r>
              <a:rPr lang="zh-CN" altLang="en-US" sz="2400" b="1" dirty="0">
                <a:solidFill>
                  <a:schemeClr val="accent2"/>
                </a:solidFill>
                <a:latin typeface="宋体" panose="02010600030101010101" pitchFamily="2" charset="-122"/>
                <a:ea typeface="宋体" panose="02010600030101010101" pitchFamily="2" charset="-122"/>
              </a:rPr>
              <a:t>主要障碍有版权、监管、网络带宽、管理和安全问题等；</a:t>
            </a:r>
            <a:endParaRPr lang="en-US" altLang="zh-CN" sz="2400" b="1" dirty="0">
              <a:solidFill>
                <a:schemeClr val="accent2"/>
              </a:solidFill>
              <a:latin typeface="宋体" panose="02010600030101010101" pitchFamily="2" charset="-122"/>
              <a:ea typeface="宋体" panose="02010600030101010101" pitchFamily="2" charset="-122"/>
            </a:endParaRPr>
          </a:p>
        </p:txBody>
      </p:sp>
      <p:sp>
        <p:nvSpPr>
          <p:cNvPr id="34819" name="Text Box 3"/>
          <p:cNvSpPr txBox="1"/>
          <p:nvPr/>
        </p:nvSpPr>
        <p:spPr>
          <a:xfrm>
            <a:off x="3413125" y="3906838"/>
            <a:ext cx="184150" cy="4572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endParaRPr lang="zh-CN" altLang="en-US" sz="2400" dirty="0">
              <a:ea typeface="宋体" panose="02010600030101010101" pitchFamily="2" charset="-122"/>
            </a:endParaRPr>
          </a:p>
        </p:txBody>
      </p:sp>
      <p:sp>
        <p:nvSpPr>
          <p:cNvPr id="34820" name="Rectangle 6"/>
          <p:cNvSpPr/>
          <p:nvPr/>
        </p:nvSpPr>
        <p:spPr>
          <a:xfrm>
            <a:off x="0" y="0"/>
            <a:ext cx="6675438" cy="6397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4400" dirty="0">
                <a:solidFill>
                  <a:srgbClr val="FF0000"/>
                </a:solidFill>
                <a:ea typeface="宋体" panose="02010600030101010101" pitchFamily="2" charset="-122"/>
              </a:rPr>
              <a:t>2.5. Peer-to-Peer Paradigm</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p:cNvSpPr>
          <p:nvPr>
            <p:ph idx="1"/>
          </p:nvPr>
        </p:nvSpPr>
        <p:spPr>
          <a:xfrm>
            <a:off x="177800" y="1168400"/>
            <a:ext cx="8737600" cy="4241800"/>
          </a:xfrm>
        </p:spPr>
        <p:txBody>
          <a:bodyPr vert="horz" wrap="square" lIns="91440" tIns="45720" rIns="91440" bIns="45720" anchor="t" anchorCtr="0"/>
          <a:lstStyle/>
          <a:p>
            <a:pPr algn="just" eaLnBrk="1" hangingPunct="1">
              <a:lnSpc>
                <a:spcPct val="150000"/>
              </a:lnSpc>
              <a:buFont typeface="Wingdings" panose="05000000000000000000" pitchFamily="2" charset="2"/>
              <a:buChar char="u"/>
            </a:pPr>
            <a:r>
              <a:rPr lang="en-US" altLang="zh-CN" sz="2400" b="1" dirty="0">
                <a:solidFill>
                  <a:srgbClr val="FF3300"/>
                </a:solidFill>
                <a:ea typeface="宋体" panose="02010600030101010101" pitchFamily="2" charset="-122"/>
              </a:rPr>
              <a:t>The client-server</a:t>
            </a:r>
            <a:r>
              <a:rPr lang="en-US" altLang="zh-CN" sz="2400" b="1" dirty="0">
                <a:solidFill>
                  <a:srgbClr val="000099"/>
                </a:solidFill>
                <a:ea typeface="宋体" panose="02010600030101010101" pitchFamily="2" charset="-122"/>
              </a:rPr>
              <a:t> paradigm is an ideal model for a </a:t>
            </a:r>
            <a:r>
              <a:rPr lang="en-US" altLang="zh-CN" sz="2400" b="1" dirty="0">
                <a:solidFill>
                  <a:srgbClr val="FF3300"/>
                </a:solidFill>
                <a:ea typeface="宋体" panose="02010600030101010101" pitchFamily="2" charset="-122"/>
              </a:rPr>
              <a:t>centralized network</a:t>
            </a:r>
            <a:r>
              <a:rPr lang="en-US" altLang="zh-CN" sz="2400" b="1" dirty="0">
                <a:solidFill>
                  <a:srgbClr val="000099"/>
                </a:solidFill>
                <a:ea typeface="宋体" panose="02010600030101010101" pitchFamily="2" charset="-122"/>
              </a:rPr>
              <a:t> service.</a:t>
            </a:r>
            <a:r>
              <a:rPr lang="zh-CN" altLang="en-US" sz="2400" b="1" dirty="0">
                <a:solidFill>
                  <a:schemeClr val="accent2"/>
                </a:solidFill>
                <a:latin typeface="宋体" panose="02010600030101010101" pitchFamily="2" charset="-122"/>
                <a:ea typeface="宋体" panose="02010600030101010101" pitchFamily="2" charset="-122"/>
              </a:rPr>
              <a:t> 服务器集中，易出现性能瓶颈与单点失效；</a:t>
            </a:r>
            <a:endParaRPr lang="en-US" altLang="zh-CN" sz="2400" b="1" dirty="0">
              <a:solidFill>
                <a:srgbClr val="000099"/>
              </a:solidFill>
              <a:ea typeface="宋体" panose="02010600030101010101" pitchFamily="2" charset="-122"/>
            </a:endParaRPr>
          </a:p>
          <a:p>
            <a:pPr algn="just" eaLnBrk="1" hangingPunct="1">
              <a:lnSpc>
                <a:spcPct val="150000"/>
              </a:lnSpc>
              <a:buFont typeface="Wingdings" panose="05000000000000000000" pitchFamily="2" charset="2"/>
              <a:buChar char="u"/>
            </a:pPr>
            <a:r>
              <a:rPr lang="en-US" altLang="zh-CN" sz="2400" b="1" dirty="0">
                <a:solidFill>
                  <a:srgbClr val="000099"/>
                </a:solidFill>
                <a:ea typeface="宋体" panose="02010600030101010101" pitchFamily="2" charset="-122"/>
              </a:rPr>
              <a:t>The </a:t>
            </a:r>
            <a:r>
              <a:rPr lang="en-US" altLang="zh-CN" sz="2400" b="1" dirty="0">
                <a:solidFill>
                  <a:srgbClr val="FF3300"/>
                </a:solidFill>
                <a:ea typeface="宋体" panose="02010600030101010101" pitchFamily="2" charset="-122"/>
              </a:rPr>
              <a:t>peer-to-peer</a:t>
            </a:r>
            <a:r>
              <a:rPr lang="en-US" altLang="zh-CN" sz="2400" b="1" dirty="0">
                <a:solidFill>
                  <a:srgbClr val="000099"/>
                </a:solidFill>
                <a:ea typeface="宋体" panose="02010600030101010101" pitchFamily="2" charset="-122"/>
              </a:rPr>
              <a:t> paradigm is more appropriate for applications such as </a:t>
            </a:r>
            <a:r>
              <a:rPr lang="en-US" altLang="zh-CN" sz="2400" b="1" dirty="0">
                <a:solidFill>
                  <a:srgbClr val="FF3300"/>
                </a:solidFill>
                <a:ea typeface="宋体" panose="02010600030101010101" pitchFamily="2" charset="-122"/>
              </a:rPr>
              <a:t>instant messaging, peer-to-peer file transfers, video conferencing, and collaborative work.</a:t>
            </a:r>
            <a:r>
              <a:rPr lang="en-US" altLang="zh-CN" sz="2400" b="1" dirty="0">
                <a:solidFill>
                  <a:srgbClr val="000099"/>
                </a:solidFill>
                <a:ea typeface="宋体" panose="02010600030101010101" pitchFamily="2" charset="-122"/>
              </a:rPr>
              <a:t>  </a:t>
            </a:r>
          </a:p>
          <a:p>
            <a:pPr algn="just" eaLnBrk="1" hangingPunct="1">
              <a:lnSpc>
                <a:spcPct val="150000"/>
              </a:lnSpc>
              <a:buFont typeface="Wingdings" panose="05000000000000000000" pitchFamily="2" charset="2"/>
              <a:buChar char="u"/>
            </a:pPr>
            <a:r>
              <a:rPr lang="en-US" altLang="zh-CN" sz="2400" b="1" dirty="0">
                <a:solidFill>
                  <a:srgbClr val="000099"/>
                </a:solidFill>
                <a:ea typeface="宋体" panose="02010600030101010101" pitchFamily="2" charset="-122"/>
              </a:rPr>
              <a:t>It is also possible for an application to be based on both the client-server model and the peer-to-peer model.</a:t>
            </a:r>
          </a:p>
        </p:txBody>
      </p:sp>
      <p:sp>
        <p:nvSpPr>
          <p:cNvPr id="35843" name="Rectangle 5"/>
          <p:cNvSpPr>
            <a:spLocks noGrp="1"/>
          </p:cNvSpPr>
          <p:nvPr>
            <p:ph type="title"/>
          </p:nvPr>
        </p:nvSpPr>
        <p:spPr>
          <a:xfrm>
            <a:off x="0" y="-92075"/>
            <a:ext cx="9144000" cy="931863"/>
          </a:xfrm>
        </p:spPr>
        <p:txBody>
          <a:bodyPr vert="horz" wrap="square" lIns="91440" tIns="45720" rIns="91440" bIns="45720" anchor="ctr" anchorCtr="0"/>
          <a:lstStyle/>
          <a:p>
            <a:pPr algn="just" eaLnBrk="1" hangingPunct="1"/>
            <a:r>
              <a:rPr lang="en-US" altLang="zh-CN" sz="3200" dirty="0">
                <a:ea typeface="宋体" panose="02010600030101010101" pitchFamily="2" charset="-122"/>
              </a:rPr>
              <a:t>2.5. Peer-to-Peer </a:t>
            </a:r>
            <a:r>
              <a:rPr lang="zh-CN" altLang="en-US" sz="3200" dirty="0">
                <a:ea typeface="宋体" panose="02010600030101010101" pitchFamily="2" charset="-122"/>
              </a:rPr>
              <a:t>与</a:t>
            </a:r>
            <a:r>
              <a:rPr lang="en-US" altLang="zh-CN" sz="3200" dirty="0">
                <a:ea typeface="宋体" panose="02010600030101010101" pitchFamily="2" charset="-122"/>
              </a:rPr>
              <a:t>client-server</a:t>
            </a:r>
            <a:r>
              <a:rPr lang="zh-CN" altLang="en-US" sz="3200" dirty="0">
                <a:ea typeface="宋体" panose="02010600030101010101" pitchFamily="2" charset="-122"/>
              </a:rPr>
              <a:t>比较</a:t>
            </a:r>
            <a:endParaRPr lang="en-US" altLang="zh-CN" sz="3200" dirty="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vert="horz" wrap="square" lIns="91440" tIns="45720" rIns="91440" bIns="45720" anchor="ctr" anchorCtr="0"/>
          <a:lstStyle/>
          <a:p>
            <a:pPr algn="just" eaLnBrk="1" hangingPunct="1"/>
            <a:r>
              <a:rPr lang="en-US" altLang="zh-CN" dirty="0">
                <a:ea typeface="宋体" panose="02010600030101010101" pitchFamily="2" charset="-122"/>
              </a:rPr>
              <a:t>2.6</a:t>
            </a:r>
            <a:r>
              <a:rPr lang="en-US" altLang="zh-CN" sz="3600" dirty="0">
                <a:ea typeface="宋体" panose="02010600030101010101" pitchFamily="2" charset="-122"/>
              </a:rPr>
              <a:t>.</a:t>
            </a:r>
            <a:r>
              <a:rPr lang="zh-CN" altLang="en-US" sz="3600" dirty="0">
                <a:ea typeface="宋体" panose="02010600030101010101" pitchFamily="2" charset="-122"/>
              </a:rPr>
              <a:t> </a:t>
            </a:r>
            <a:r>
              <a:rPr lang="en-US" altLang="zh-CN" sz="3600" dirty="0">
                <a:ea typeface="宋体" panose="02010600030101010101" pitchFamily="2" charset="-122"/>
              </a:rPr>
              <a:t>The</a:t>
            </a:r>
            <a:r>
              <a:rPr lang="en-US" altLang="zh-CN" sz="4800" dirty="0">
                <a:ea typeface="宋体" panose="02010600030101010101" pitchFamily="2" charset="-122"/>
              </a:rPr>
              <a:t> </a:t>
            </a:r>
            <a:r>
              <a:rPr lang="en-US" altLang="zh-CN" sz="3600" dirty="0">
                <a:ea typeface="宋体" panose="02010600030101010101" pitchFamily="2" charset="-122"/>
              </a:rPr>
              <a:t>Message System Paradigm</a:t>
            </a:r>
          </a:p>
        </p:txBody>
      </p:sp>
      <p:sp>
        <p:nvSpPr>
          <p:cNvPr id="36867" name="Rectangle 3" descr="Rectangle: Click to edit Master text styles&#10;Second level&#10;Third level&#10;Fourth level&#10;Fifth level"/>
          <p:cNvSpPr>
            <a:spLocks noGrp="1"/>
          </p:cNvSpPr>
          <p:nvPr>
            <p:ph idx="1"/>
          </p:nvPr>
        </p:nvSpPr>
        <p:spPr>
          <a:xfrm>
            <a:off x="558800" y="1004888"/>
            <a:ext cx="8124825" cy="5599112"/>
          </a:xfrm>
        </p:spPr>
        <p:txBody>
          <a:bodyPr vert="horz" wrap="square" lIns="91440" tIns="45720" rIns="91440" bIns="45720" anchor="t" anchorCtr="0"/>
          <a:lstStyle/>
          <a:p>
            <a:pPr algn="l" eaLnBrk="1" hangingPunct="1">
              <a:buFont typeface="Wingdings" panose="05000000000000000000" pitchFamily="2" charset="2"/>
              <a:buChar char="Ø"/>
            </a:pPr>
            <a:r>
              <a:rPr lang="en-US" altLang="zh-CN" sz="2000" b="1" dirty="0">
                <a:ea typeface="宋体" panose="02010600030101010101" pitchFamily="2" charset="-122"/>
              </a:rPr>
              <a:t>Message passing  </a:t>
            </a:r>
          </a:p>
          <a:p>
            <a:pPr algn="l" eaLnBrk="1" hangingPunct="1">
              <a:buFont typeface="Wingdings" panose="05000000000000000000" pitchFamily="2" charset="2"/>
              <a:buChar char="Ø"/>
            </a:pPr>
            <a:r>
              <a:rPr lang="en-US" altLang="zh-CN" sz="2000" b="1" dirty="0">
                <a:ea typeface="宋体" panose="02010600030101010101" pitchFamily="2" charset="-122"/>
              </a:rPr>
              <a:t>Remote Procedure Call</a:t>
            </a:r>
          </a:p>
          <a:p>
            <a:pPr algn="l" eaLnBrk="1" hangingPunct="1">
              <a:buFont typeface="Wingdings" panose="05000000000000000000" pitchFamily="2" charset="2"/>
              <a:buChar char="Ø"/>
            </a:pPr>
            <a:r>
              <a:rPr lang="en-US" altLang="zh-CN" sz="2000" b="1" dirty="0">
                <a:ea typeface="宋体" panose="02010600030101010101" pitchFamily="2" charset="-122"/>
              </a:rPr>
              <a:t>Client-server</a:t>
            </a:r>
            <a:endParaRPr lang="en-US" altLang="zh-CN" sz="2000" dirty="0">
              <a:ea typeface="宋体" panose="02010600030101010101" pitchFamily="2" charset="-122"/>
            </a:endParaRPr>
          </a:p>
          <a:p>
            <a:pPr algn="l" eaLnBrk="1" hangingPunct="1">
              <a:buFont typeface="Wingdings" panose="05000000000000000000" pitchFamily="2" charset="2"/>
              <a:buChar char="Ø"/>
            </a:pPr>
            <a:r>
              <a:rPr lang="en-US" altLang="zh-CN" sz="2000" b="1" dirty="0">
                <a:ea typeface="宋体" panose="02010600030101010101" pitchFamily="2" charset="-122"/>
              </a:rPr>
              <a:t>Peer-to-Peer</a:t>
            </a:r>
          </a:p>
          <a:p>
            <a:pPr algn="l" eaLnBrk="1" hangingPunct="1">
              <a:buFont typeface="Wingdings" panose="05000000000000000000" pitchFamily="2" charset="2"/>
              <a:buChar char="Ø"/>
            </a:pPr>
            <a:r>
              <a:rPr lang="en-US" altLang="zh-CN" sz="2400" b="1" dirty="0">
                <a:solidFill>
                  <a:srgbClr val="FF3300"/>
                </a:solidFill>
                <a:ea typeface="宋体" panose="02010600030101010101" pitchFamily="2" charset="-122"/>
              </a:rPr>
              <a:t>Message system</a:t>
            </a:r>
            <a:r>
              <a:rPr lang="en-US" altLang="zh-CN" sz="2400" dirty="0">
                <a:solidFill>
                  <a:srgbClr val="FF3300"/>
                </a:solidFill>
                <a:ea typeface="宋体" panose="02010600030101010101" pitchFamily="2" charset="-122"/>
              </a:rPr>
              <a:t>:</a:t>
            </a:r>
            <a:r>
              <a:rPr lang="en-US" altLang="zh-CN" sz="2000" dirty="0">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Point-to-point;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Publish/Subscribe </a:t>
            </a:r>
          </a:p>
          <a:p>
            <a:pPr algn="l" eaLnBrk="1" hangingPunct="1">
              <a:buFont typeface="Wingdings" panose="05000000000000000000" pitchFamily="2" charset="2"/>
              <a:buChar char="Ø"/>
            </a:pPr>
            <a:r>
              <a:rPr lang="en-US" altLang="zh-CN" sz="2000" b="1" dirty="0">
                <a:ea typeface="宋体" panose="02010600030101010101" pitchFamily="2" charset="-122"/>
              </a:rPr>
              <a:t>Distributed objects:</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Remote method invocation</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Network services</a:t>
            </a:r>
            <a:endParaRPr lang="en-US" altLang="zh-CN" sz="2000" dirty="0">
              <a:solidFill>
                <a:srgbClr val="FF9900"/>
              </a:solidFill>
              <a:ea typeface="宋体" panose="02010600030101010101" pitchFamily="2" charset="-122"/>
            </a:endParaRP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Object Request Broker</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Object space</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Component Based Technologies</a:t>
            </a:r>
          </a:p>
          <a:p>
            <a:pPr algn="l" eaLnBrk="1" hangingPunct="1">
              <a:buFont typeface="Wingdings" panose="05000000000000000000" pitchFamily="2" charset="2"/>
              <a:buChar char="Ø"/>
            </a:pPr>
            <a:r>
              <a:rPr lang="en-US" altLang="zh-CN" sz="2000" b="1" dirty="0">
                <a:ea typeface="宋体" panose="02010600030101010101" pitchFamily="2" charset="-122"/>
              </a:rPr>
              <a:t>Mobile agents</a:t>
            </a:r>
            <a:endParaRPr lang="en-US" altLang="zh-CN" sz="2000" dirty="0">
              <a:ea typeface="宋体" panose="02010600030101010101" pitchFamily="2" charset="-122"/>
            </a:endParaRPr>
          </a:p>
          <a:p>
            <a:pPr algn="l" eaLnBrk="1" hangingPunct="1">
              <a:buFont typeface="Wingdings" panose="05000000000000000000" pitchFamily="2" charset="2"/>
              <a:buChar char="Ø"/>
            </a:pPr>
            <a:r>
              <a:rPr lang="en-US" altLang="zh-CN" sz="2000" b="1" dirty="0">
                <a:ea typeface="宋体" panose="02010600030101010101" pitchFamily="2" charset="-122"/>
              </a:rPr>
              <a:t>Collaborative applications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Grp="1"/>
          </p:cNvSpPr>
          <p:nvPr>
            <p:ph type="title"/>
          </p:nvPr>
        </p:nvSpPr>
        <p:spPr>
          <a:xfrm>
            <a:off x="0" y="0"/>
            <a:ext cx="9144000" cy="708025"/>
          </a:xfrm>
        </p:spPr>
        <p:txBody>
          <a:bodyPr vert="horz" wrap="square" lIns="91440" tIns="45720" rIns="91440" bIns="45720" anchor="ctr" anchorCtr="0"/>
          <a:lstStyle/>
          <a:p>
            <a:pPr algn="just" eaLnBrk="1" hangingPunct="1"/>
            <a:r>
              <a:rPr lang="en-US" altLang="zh-CN" dirty="0">
                <a:ea typeface="宋体" panose="02010600030101010101" pitchFamily="2" charset="-122"/>
              </a:rPr>
              <a:t>2.6.</a:t>
            </a:r>
            <a:r>
              <a:rPr lang="zh-CN" altLang="en-US" dirty="0">
                <a:ea typeface="宋体" panose="02010600030101010101" pitchFamily="2" charset="-122"/>
              </a:rPr>
              <a:t> </a:t>
            </a:r>
            <a:r>
              <a:rPr lang="en-US" altLang="zh-CN" dirty="0">
                <a:ea typeface="宋体" panose="02010600030101010101" pitchFamily="2" charset="-122"/>
              </a:rPr>
              <a:t>The Message System Paradigm</a:t>
            </a:r>
          </a:p>
        </p:txBody>
      </p:sp>
      <p:grpSp>
        <p:nvGrpSpPr>
          <p:cNvPr id="37891" name="Group 8"/>
          <p:cNvGrpSpPr/>
          <p:nvPr/>
        </p:nvGrpSpPr>
        <p:grpSpPr>
          <a:xfrm>
            <a:off x="992188" y="2303463"/>
            <a:ext cx="6978650" cy="2928937"/>
            <a:chOff x="650" y="1479"/>
            <a:chExt cx="4090" cy="1695"/>
          </a:xfrm>
        </p:grpSpPr>
        <p:sp>
          <p:nvSpPr>
            <p:cNvPr id="37894" name="Rectangle 9"/>
            <p:cNvSpPr/>
            <p:nvPr/>
          </p:nvSpPr>
          <p:spPr>
            <a:xfrm>
              <a:off x="3808" y="1479"/>
              <a:ext cx="880" cy="211"/>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en-US" altLang="zh-CN" sz="2400" dirty="0">
                  <a:ea typeface="宋体" panose="02010600030101010101" pitchFamily="2" charset="-122"/>
                </a:rPr>
                <a:t>sender</a:t>
              </a:r>
              <a:r>
                <a:rPr lang="en-US" altLang="zh-CN" sz="2000" dirty="0">
                  <a:ea typeface="宋体" panose="02010600030101010101" pitchFamily="2" charset="-122"/>
                </a:rPr>
                <a:t> </a:t>
              </a:r>
            </a:p>
          </p:txBody>
        </p:sp>
        <p:sp>
          <p:nvSpPr>
            <p:cNvPr id="37895" name="Rectangle 10"/>
            <p:cNvSpPr/>
            <p:nvPr/>
          </p:nvSpPr>
          <p:spPr>
            <a:xfrm>
              <a:off x="846" y="1483"/>
              <a:ext cx="880" cy="226"/>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en-US" altLang="zh-CN" sz="2400" dirty="0">
                  <a:ea typeface="宋体" panose="02010600030101010101" pitchFamily="2" charset="-122"/>
                </a:rPr>
                <a:t>receiver</a:t>
              </a:r>
              <a:r>
                <a:rPr lang="en-US" altLang="zh-CN" sz="2000" dirty="0">
                  <a:ea typeface="宋体" panose="02010600030101010101" pitchFamily="2" charset="-122"/>
                </a:rPr>
                <a:t> </a:t>
              </a:r>
            </a:p>
          </p:txBody>
        </p:sp>
        <p:sp>
          <p:nvSpPr>
            <p:cNvPr id="37896" name="Rectangle 11"/>
            <p:cNvSpPr/>
            <p:nvPr/>
          </p:nvSpPr>
          <p:spPr>
            <a:xfrm>
              <a:off x="2414" y="2207"/>
              <a:ext cx="990" cy="53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897" name="Rectangle 12"/>
            <p:cNvSpPr/>
            <p:nvPr/>
          </p:nvSpPr>
          <p:spPr>
            <a:xfrm>
              <a:off x="3750" y="2643"/>
              <a:ext cx="990" cy="53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898" name="Rectangle 13"/>
            <p:cNvSpPr/>
            <p:nvPr/>
          </p:nvSpPr>
          <p:spPr>
            <a:xfrm>
              <a:off x="3735" y="1771"/>
              <a:ext cx="990" cy="53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899" name="Rectangle 14"/>
            <p:cNvSpPr/>
            <p:nvPr/>
          </p:nvSpPr>
          <p:spPr>
            <a:xfrm>
              <a:off x="2338" y="1913"/>
              <a:ext cx="1156" cy="197"/>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r>
                <a:rPr lang="en-US" altLang="zh-CN" sz="1800" dirty="0">
                  <a:latin typeface="Arial" panose="020B0604020202020204" pitchFamily="34" charset="0"/>
                  <a:ea typeface="黑体" panose="02010609060101010101" pitchFamily="49" charset="-122"/>
                </a:rPr>
                <a:t>Message System</a:t>
              </a:r>
              <a:endParaRPr lang="zh-CN" altLang="en-US" sz="1800" dirty="0">
                <a:latin typeface="Arial" panose="020B0604020202020204" pitchFamily="34" charset="0"/>
                <a:ea typeface="黑体" panose="02010609060101010101" pitchFamily="49" charset="-122"/>
              </a:endParaRPr>
            </a:p>
          </p:txBody>
        </p:sp>
        <p:sp>
          <p:nvSpPr>
            <p:cNvPr id="37900" name="Rectangle 15"/>
            <p:cNvSpPr/>
            <p:nvPr/>
          </p:nvSpPr>
          <p:spPr>
            <a:xfrm>
              <a:off x="2755" y="2525"/>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01" name="Rectangle 16"/>
            <p:cNvSpPr/>
            <p:nvPr/>
          </p:nvSpPr>
          <p:spPr>
            <a:xfrm>
              <a:off x="2755" y="2267"/>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02" name="Rectangle 17"/>
            <p:cNvSpPr/>
            <p:nvPr/>
          </p:nvSpPr>
          <p:spPr>
            <a:xfrm>
              <a:off x="2438" y="2961"/>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03" name="Rectangle 18"/>
            <p:cNvSpPr/>
            <p:nvPr/>
          </p:nvSpPr>
          <p:spPr>
            <a:xfrm>
              <a:off x="4018" y="2865"/>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04" name="Rectangle 19"/>
            <p:cNvSpPr/>
            <p:nvPr/>
          </p:nvSpPr>
          <p:spPr>
            <a:xfrm>
              <a:off x="4025" y="1949"/>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grpSp>
          <p:nvGrpSpPr>
            <p:cNvPr id="37905" name="Group 20"/>
            <p:cNvGrpSpPr/>
            <p:nvPr/>
          </p:nvGrpSpPr>
          <p:grpSpPr>
            <a:xfrm>
              <a:off x="657" y="1764"/>
              <a:ext cx="1403" cy="531"/>
              <a:chOff x="657" y="1764"/>
              <a:chExt cx="1403" cy="531"/>
            </a:xfrm>
          </p:grpSpPr>
          <p:sp>
            <p:nvSpPr>
              <p:cNvPr id="37920" name="Rectangle 21"/>
              <p:cNvSpPr/>
              <p:nvPr/>
            </p:nvSpPr>
            <p:spPr>
              <a:xfrm>
                <a:off x="657" y="1764"/>
                <a:ext cx="1403" cy="53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21" name="Rectangle 22"/>
              <p:cNvSpPr/>
              <p:nvPr/>
            </p:nvSpPr>
            <p:spPr>
              <a:xfrm>
                <a:off x="953" y="2023"/>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22" name="Rectangle 23"/>
              <p:cNvSpPr/>
              <p:nvPr/>
            </p:nvSpPr>
            <p:spPr>
              <a:xfrm>
                <a:off x="1078" y="2023"/>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23" name="Rectangle 24"/>
              <p:cNvSpPr/>
              <p:nvPr/>
            </p:nvSpPr>
            <p:spPr>
              <a:xfrm>
                <a:off x="827" y="2020"/>
                <a:ext cx="126" cy="9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r>
                  <a:rPr lang="zh-CN" altLang="en-US" sz="1800" dirty="0">
                    <a:solidFill>
                      <a:srgbClr val="3366FF"/>
                    </a:solidFill>
                    <a:latin typeface="Arial" panose="020B0604020202020204" pitchFamily="34" charset="0"/>
                    <a:ea typeface="黑体" panose="02010609060101010101" pitchFamily="49" charset="-122"/>
                  </a:rPr>
                  <a:t> </a:t>
                </a:r>
              </a:p>
            </p:txBody>
          </p:sp>
          <p:sp>
            <p:nvSpPr>
              <p:cNvPr id="37924" name="Rectangle 25"/>
              <p:cNvSpPr/>
              <p:nvPr/>
            </p:nvSpPr>
            <p:spPr>
              <a:xfrm>
                <a:off x="1744" y="2022"/>
                <a:ext cx="112"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25" name="Rectangle 26"/>
              <p:cNvSpPr/>
              <p:nvPr/>
            </p:nvSpPr>
            <p:spPr>
              <a:xfrm>
                <a:off x="1492" y="2023"/>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26" name="Rectangle 27"/>
              <p:cNvSpPr/>
              <p:nvPr/>
            </p:nvSpPr>
            <p:spPr>
              <a:xfrm>
                <a:off x="1619" y="2022"/>
                <a:ext cx="126"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27" name="Rectangle 28"/>
              <p:cNvSpPr/>
              <p:nvPr/>
            </p:nvSpPr>
            <p:spPr>
              <a:xfrm>
                <a:off x="862" y="1804"/>
                <a:ext cx="968" cy="374"/>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lnSpc>
                    <a:spcPct val="75000"/>
                  </a:lnSpc>
                  <a:buNone/>
                </a:pPr>
                <a:r>
                  <a:rPr lang="zh-CN" altLang="en-US" sz="1600" dirty="0">
                    <a:ea typeface="宋体" panose="02010600030101010101" pitchFamily="2" charset="-122"/>
                  </a:rPr>
                  <a:t>消息队列</a:t>
                </a:r>
              </a:p>
              <a:p>
                <a:pPr marL="342900" lvl="0" indent="-342900" eaLnBrk="1" hangingPunct="1">
                  <a:lnSpc>
                    <a:spcPct val="75000"/>
                  </a:lnSpc>
                  <a:buNone/>
                </a:pPr>
                <a:r>
                  <a:rPr lang="en-US" altLang="zh-CN" sz="1600" dirty="0">
                    <a:ea typeface="宋体" panose="02010600030101010101" pitchFamily="2" charset="-122"/>
                  </a:rPr>
                  <a:t>…</a:t>
                </a:r>
                <a:endParaRPr lang="zh-CN" altLang="en-US" sz="1600" dirty="0">
                  <a:ea typeface="宋体" panose="02010600030101010101" pitchFamily="2" charset="-122"/>
                </a:endParaRPr>
              </a:p>
            </p:txBody>
          </p:sp>
        </p:grpSp>
        <p:sp>
          <p:nvSpPr>
            <p:cNvPr id="37906" name="Rectangle 29"/>
            <p:cNvSpPr/>
            <p:nvPr/>
          </p:nvSpPr>
          <p:spPr>
            <a:xfrm>
              <a:off x="2652" y="2922"/>
              <a:ext cx="602" cy="18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r>
                <a:rPr lang="en-US" altLang="zh-CN" sz="1600" dirty="0">
                  <a:latin typeface="Arial" panose="020B0604020202020204" pitchFamily="34" charset="0"/>
                  <a:ea typeface="黑体" panose="02010609060101010101" pitchFamily="49" charset="-122"/>
                </a:rPr>
                <a:t>Message</a:t>
              </a:r>
              <a:endParaRPr lang="zh-CN" altLang="en-US" sz="1600" dirty="0">
                <a:latin typeface="Arial" panose="020B0604020202020204" pitchFamily="34" charset="0"/>
                <a:ea typeface="黑体" panose="02010609060101010101" pitchFamily="49" charset="-122"/>
              </a:endParaRPr>
            </a:p>
          </p:txBody>
        </p:sp>
        <p:grpSp>
          <p:nvGrpSpPr>
            <p:cNvPr id="37907" name="Group 30"/>
            <p:cNvGrpSpPr/>
            <p:nvPr/>
          </p:nvGrpSpPr>
          <p:grpSpPr>
            <a:xfrm>
              <a:off x="650" y="2606"/>
              <a:ext cx="1403" cy="531"/>
              <a:chOff x="657" y="1764"/>
              <a:chExt cx="1403" cy="531"/>
            </a:xfrm>
          </p:grpSpPr>
          <p:sp>
            <p:nvSpPr>
              <p:cNvPr id="37912" name="Rectangle 31"/>
              <p:cNvSpPr/>
              <p:nvPr/>
            </p:nvSpPr>
            <p:spPr>
              <a:xfrm>
                <a:off x="657" y="1764"/>
                <a:ext cx="1403" cy="53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13" name="Rectangle 32"/>
              <p:cNvSpPr/>
              <p:nvPr/>
            </p:nvSpPr>
            <p:spPr>
              <a:xfrm>
                <a:off x="953" y="2023"/>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14" name="Rectangle 33"/>
              <p:cNvSpPr/>
              <p:nvPr/>
            </p:nvSpPr>
            <p:spPr>
              <a:xfrm>
                <a:off x="1078" y="2023"/>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15" name="Rectangle 34"/>
              <p:cNvSpPr/>
              <p:nvPr/>
            </p:nvSpPr>
            <p:spPr>
              <a:xfrm>
                <a:off x="827" y="2020"/>
                <a:ext cx="126" cy="9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r>
                  <a:rPr lang="zh-CN" altLang="en-US" sz="1800" dirty="0">
                    <a:solidFill>
                      <a:srgbClr val="3366FF"/>
                    </a:solidFill>
                    <a:latin typeface="Arial" panose="020B0604020202020204" pitchFamily="34" charset="0"/>
                    <a:ea typeface="黑体" panose="02010609060101010101" pitchFamily="49" charset="-122"/>
                  </a:rPr>
                  <a:t> </a:t>
                </a:r>
              </a:p>
            </p:txBody>
          </p:sp>
          <p:sp>
            <p:nvSpPr>
              <p:cNvPr id="37916" name="Rectangle 35"/>
              <p:cNvSpPr/>
              <p:nvPr/>
            </p:nvSpPr>
            <p:spPr>
              <a:xfrm>
                <a:off x="1744" y="2022"/>
                <a:ext cx="112"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17" name="Rectangle 36"/>
              <p:cNvSpPr/>
              <p:nvPr/>
            </p:nvSpPr>
            <p:spPr>
              <a:xfrm>
                <a:off x="1492" y="2023"/>
                <a:ext cx="126" cy="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18" name="Rectangle 37"/>
              <p:cNvSpPr/>
              <p:nvPr/>
            </p:nvSpPr>
            <p:spPr>
              <a:xfrm>
                <a:off x="1619" y="2022"/>
                <a:ext cx="126"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nSpc>
                    <a:spcPct val="90000"/>
                  </a:lnSpc>
                  <a:spcBef>
                    <a:spcPct val="0"/>
                  </a:spcBef>
                  <a:buClrTx/>
                  <a:buNone/>
                </a:pP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37919" name="Rectangle 38"/>
              <p:cNvSpPr/>
              <p:nvPr/>
            </p:nvSpPr>
            <p:spPr>
              <a:xfrm>
                <a:off x="862" y="1804"/>
                <a:ext cx="968" cy="374"/>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lnSpc>
                    <a:spcPct val="75000"/>
                  </a:lnSpc>
                  <a:buNone/>
                </a:pPr>
                <a:r>
                  <a:rPr lang="zh-CN" altLang="en-US" sz="1600" dirty="0">
                    <a:ea typeface="宋体" panose="02010600030101010101" pitchFamily="2" charset="-122"/>
                  </a:rPr>
                  <a:t>消息队列</a:t>
                </a:r>
              </a:p>
              <a:p>
                <a:pPr marL="342900" lvl="0" indent="-342900" eaLnBrk="1" hangingPunct="1">
                  <a:lnSpc>
                    <a:spcPct val="75000"/>
                  </a:lnSpc>
                  <a:buNone/>
                </a:pPr>
                <a:r>
                  <a:rPr lang="en-US" altLang="zh-CN" sz="1600" dirty="0">
                    <a:ea typeface="宋体" panose="02010600030101010101" pitchFamily="2" charset="-122"/>
                  </a:rPr>
                  <a:t>…</a:t>
                </a:r>
                <a:endParaRPr lang="zh-CN" altLang="en-US" sz="1600" dirty="0">
                  <a:ea typeface="宋体" panose="02010600030101010101" pitchFamily="2" charset="-122"/>
                </a:endParaRPr>
              </a:p>
            </p:txBody>
          </p:sp>
        </p:grpSp>
        <p:sp>
          <p:nvSpPr>
            <p:cNvPr id="37908" name="Line 39"/>
            <p:cNvSpPr/>
            <p:nvPr/>
          </p:nvSpPr>
          <p:spPr>
            <a:xfrm flipH="1" flipV="1">
              <a:off x="1846" y="2082"/>
              <a:ext cx="901" cy="237"/>
            </a:xfrm>
            <a:prstGeom prst="line">
              <a:avLst/>
            </a:prstGeom>
            <a:ln w="9525" cap="flat" cmpd="sng">
              <a:solidFill>
                <a:schemeClr val="tx1"/>
              </a:solidFill>
              <a:prstDash val="solid"/>
              <a:headEnd type="none" w="med" len="med"/>
              <a:tailEnd type="triangle" w="med" len="med"/>
            </a:ln>
          </p:spPr>
        </p:sp>
        <p:sp>
          <p:nvSpPr>
            <p:cNvPr id="37909" name="Line 40"/>
            <p:cNvSpPr/>
            <p:nvPr/>
          </p:nvSpPr>
          <p:spPr>
            <a:xfrm flipH="1">
              <a:off x="1839" y="2562"/>
              <a:ext cx="915" cy="348"/>
            </a:xfrm>
            <a:prstGeom prst="line">
              <a:avLst/>
            </a:prstGeom>
            <a:ln w="9525" cap="flat" cmpd="sng">
              <a:solidFill>
                <a:schemeClr val="tx1"/>
              </a:solidFill>
              <a:prstDash val="solid"/>
              <a:headEnd type="none" w="med" len="med"/>
              <a:tailEnd type="triangle" w="med" len="med"/>
            </a:ln>
          </p:spPr>
        </p:sp>
        <p:sp>
          <p:nvSpPr>
            <p:cNvPr id="37910" name="Line 41"/>
            <p:cNvSpPr/>
            <p:nvPr/>
          </p:nvSpPr>
          <p:spPr>
            <a:xfrm flipH="1">
              <a:off x="2873" y="1994"/>
              <a:ext cx="1144" cy="317"/>
            </a:xfrm>
            <a:prstGeom prst="line">
              <a:avLst/>
            </a:prstGeom>
            <a:ln w="9525" cap="flat" cmpd="sng">
              <a:solidFill>
                <a:schemeClr val="tx1"/>
              </a:solidFill>
              <a:prstDash val="solid"/>
              <a:headEnd type="none" w="med" len="med"/>
              <a:tailEnd type="triangle" w="med" len="med"/>
            </a:ln>
          </p:spPr>
        </p:sp>
        <p:sp>
          <p:nvSpPr>
            <p:cNvPr id="37911" name="Line 42"/>
            <p:cNvSpPr/>
            <p:nvPr/>
          </p:nvSpPr>
          <p:spPr>
            <a:xfrm flipH="1" flipV="1">
              <a:off x="2873" y="2570"/>
              <a:ext cx="1144" cy="332"/>
            </a:xfrm>
            <a:prstGeom prst="line">
              <a:avLst/>
            </a:prstGeom>
            <a:ln w="9525" cap="flat" cmpd="sng">
              <a:solidFill>
                <a:schemeClr val="tx1"/>
              </a:solidFill>
              <a:prstDash val="solid"/>
              <a:headEnd type="none" w="med" len="med"/>
              <a:tailEnd type="triangle" w="med" len="med"/>
            </a:ln>
          </p:spPr>
        </p:sp>
      </p:grpSp>
      <p:sp>
        <p:nvSpPr>
          <p:cNvPr id="49158" name="Rectangle 43"/>
          <p:cNvSpPr>
            <a:spLocks noChangeArrowheads="1"/>
          </p:cNvSpPr>
          <p:nvPr/>
        </p:nvSpPr>
        <p:spPr bwMode="auto">
          <a:xfrm>
            <a:off x="336550" y="5551488"/>
            <a:ext cx="8626475"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spcBef>
                <a:spcPct val="20000"/>
              </a:spcBef>
              <a:buClr>
                <a:schemeClr val="accent2"/>
              </a:buClr>
              <a:buChar char="•"/>
              <a:defRPr sz="32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342900" marR="0" lvl="0" indent="-34290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可以通过一个</a:t>
            </a:r>
            <a:r>
              <a:rPr kumimoji="0" lang="en-US" altLang="zh-CN"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Message</a:t>
            </a:r>
            <a:r>
              <a:rPr kumimoji="0" lang="zh-CN" altLang="en-US"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a:t>
            </a:r>
            <a:r>
              <a:rPr kumimoji="0" lang="en-US" altLang="zh-CN"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Oriented Middleware</a:t>
            </a:r>
            <a:r>
              <a:rPr kumimoji="0" lang="zh-CN" altLang="en-US"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实现消息的异步交换。</a:t>
            </a:r>
            <a:endParaRPr kumimoji="0" lang="en-US" altLang="zh-CN"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110000"/>
              </a:lnSpc>
              <a:spcBef>
                <a:spcPct val="20000"/>
              </a:spcBef>
              <a:spcAft>
                <a:spcPct val="0"/>
              </a:spcAft>
              <a:buClr>
                <a:schemeClr val="accent2"/>
              </a:buClr>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两种类型：（</a:t>
            </a:r>
            <a:r>
              <a:rPr kumimoji="0" lang="en-US" altLang="zh-CN"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1</a:t>
            </a:r>
            <a:r>
              <a:rPr kumimoji="0" lang="zh-CN" altLang="en-US"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a:t>
            </a:r>
            <a:r>
              <a:rPr kumimoji="0" lang="en-US" altLang="zh-CN"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Point-to-point message model;</a:t>
            </a:r>
          </a:p>
          <a:p>
            <a:pPr marL="0" marR="0" lvl="0" indent="0" algn="l" defTabSz="914400" rtl="0" eaLnBrk="1" fontAlgn="base" latinLnBrk="0" hangingPunct="1">
              <a:lnSpc>
                <a:spcPct val="110000"/>
              </a:lnSpc>
              <a:spcBef>
                <a:spcPct val="20000"/>
              </a:spcBef>
              <a:spcAft>
                <a:spcPct val="0"/>
              </a:spcAft>
              <a:buClr>
                <a:schemeClr val="accent2"/>
              </a:buClr>
              <a:buSzTx/>
              <a:buFontTx/>
              <a:buNone/>
              <a:defRPr/>
            </a:pPr>
            <a:r>
              <a:rPr kumimoji="0" lang="en-US" altLang="zh-CN"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                         </a:t>
            </a:r>
            <a:r>
              <a:rPr kumimoji="0" lang="zh-CN" altLang="en-US"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a:t>
            </a:r>
            <a:r>
              <a:rPr kumimoji="0" lang="en-US" altLang="zh-CN"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2</a:t>
            </a:r>
            <a:r>
              <a:rPr kumimoji="0" lang="zh-CN" altLang="en-US"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a:t>
            </a:r>
            <a:r>
              <a:rPr kumimoji="0" lang="en-US" altLang="zh-CN" sz="20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rPr>
              <a:t>Publish/Subscribe message model;</a:t>
            </a:r>
          </a:p>
        </p:txBody>
      </p:sp>
      <p:sp>
        <p:nvSpPr>
          <p:cNvPr id="42" name="Rectangle 3"/>
          <p:cNvSpPr txBox="1">
            <a:spLocks noChangeArrowheads="1"/>
          </p:cNvSpPr>
          <p:nvPr/>
        </p:nvSpPr>
        <p:spPr bwMode="auto">
          <a:xfrm>
            <a:off x="0" y="798513"/>
            <a:ext cx="8963025"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just"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Ø"/>
              <a:defRPr/>
            </a:pPr>
            <a:r>
              <a:rPr kumimoji="0" lang="en-US" altLang="zh-CN" sz="22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A message system serves as an </a:t>
            </a:r>
            <a:r>
              <a:rPr kumimoji="0" lang="en-US" altLang="zh-CN" sz="2200" b="0" i="0" u="none" strike="noStrike" kern="0" cap="none" spc="0" normalizeH="0" baseline="0" noProof="0" dirty="0">
                <a:ln>
                  <a:noFill/>
                </a:ln>
                <a:solidFill>
                  <a:srgbClr val="FF3300"/>
                </a:solidFill>
                <a:effectLst/>
                <a:uLnTx/>
                <a:uFillTx/>
                <a:latin typeface="+mn-lt"/>
                <a:ea typeface="宋体" panose="02010600030101010101" pitchFamily="2" charset="-122"/>
                <a:cs typeface="Times New Roman" panose="02020603050405020304" pitchFamily="18" charset="0"/>
              </a:rPr>
              <a:t>intermediary</a:t>
            </a:r>
            <a:r>
              <a:rPr kumimoji="0" lang="en-US" altLang="zh-CN" sz="22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 among separate, independent processes. It acts as a switch for messages, through which processes exchange messages </a:t>
            </a:r>
            <a:r>
              <a:rPr kumimoji="0" lang="en-US" altLang="zh-CN" sz="2200" b="0" i="0" u="none" strike="noStrike" kern="0" cap="none" spc="0" normalizeH="0" baseline="0" noProof="0" dirty="0">
                <a:ln>
                  <a:noFill/>
                </a:ln>
                <a:solidFill>
                  <a:srgbClr val="FF3300"/>
                </a:solidFill>
                <a:effectLst/>
                <a:uLnTx/>
                <a:uFillTx/>
                <a:latin typeface="+mn-lt"/>
                <a:ea typeface="宋体" panose="02010600030101010101" pitchFamily="2" charset="-122"/>
                <a:cs typeface="Times New Roman" panose="02020603050405020304" pitchFamily="18" charset="0"/>
              </a:rPr>
              <a:t>asynchronously, in a decoupled manner</a:t>
            </a:r>
            <a:r>
              <a:rPr kumimoji="0" lang="zh-CN" altLang="en-US" sz="22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；过程如下：</a:t>
            </a:r>
            <a:r>
              <a:rPr kumimoji="0" lang="en-US" altLang="zh-CN" sz="22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0" y="0"/>
            <a:ext cx="9144000" cy="914400"/>
          </a:xfrm>
        </p:spPr>
        <p:txBody>
          <a:bodyPr vert="horz" wrap="square" lIns="91440" tIns="45720" rIns="91440" bIns="45720" anchor="ctr" anchorCtr="0"/>
          <a:lstStyle/>
          <a:p>
            <a:pPr algn="just" eaLnBrk="1" hangingPunct="1">
              <a:buNone/>
            </a:pPr>
            <a:r>
              <a:rPr lang="en-US" altLang="zh-CN" sz="3600" b="1" dirty="0">
                <a:latin typeface="Arial Unicode MS" pitchFamily="34" charset="-122"/>
                <a:ea typeface="宋体" panose="02010600030101010101" pitchFamily="2" charset="-122"/>
              </a:rPr>
              <a:t>1.The Point-To-Point Message Model</a:t>
            </a:r>
          </a:p>
        </p:txBody>
      </p:sp>
      <p:sp>
        <p:nvSpPr>
          <p:cNvPr id="38915" name="Rectangle 3"/>
          <p:cNvSpPr>
            <a:spLocks noGrp="1"/>
          </p:cNvSpPr>
          <p:nvPr>
            <p:ph idx="1"/>
          </p:nvPr>
        </p:nvSpPr>
        <p:spPr>
          <a:xfrm>
            <a:off x="127000" y="914400"/>
            <a:ext cx="8915400" cy="5524500"/>
          </a:xfrm>
        </p:spPr>
        <p:txBody>
          <a:bodyPr vert="horz" wrap="square" lIns="91440" tIns="45720" rIns="91440" bIns="45720" anchor="t" anchorCtr="0"/>
          <a:lstStyle/>
          <a:p>
            <a:pPr algn="just" eaLnBrk="1" hangingPunct="1">
              <a:lnSpc>
                <a:spcPct val="150000"/>
              </a:lnSpc>
              <a:buNone/>
            </a:pPr>
            <a:r>
              <a:rPr lang="en-US" altLang="zh-CN" sz="2400" dirty="0">
                <a:solidFill>
                  <a:srgbClr val="000099"/>
                </a:solidFill>
                <a:ea typeface="宋体" panose="02010600030101010101" pitchFamily="2" charset="-122"/>
              </a:rPr>
              <a:t>Asynchronous operations.  </a:t>
            </a:r>
          </a:p>
          <a:p>
            <a:pPr algn="just" eaLnBrk="1" hangingPunct="1">
              <a:lnSpc>
                <a:spcPct val="150000"/>
              </a:lnSpc>
              <a:buFont typeface="Wingdings" panose="05000000000000000000" pitchFamily="2" charset="2"/>
              <a:buChar char="Ø"/>
            </a:pPr>
            <a:r>
              <a:rPr lang="en-US" altLang="zh-CN" sz="2400" dirty="0">
                <a:solidFill>
                  <a:srgbClr val="000099"/>
                </a:solidFill>
                <a:ea typeface="宋体" panose="02010600030101010101" pitchFamily="2" charset="-122"/>
              </a:rPr>
              <a:t>A message system forwards a message from the sender </a:t>
            </a:r>
            <a:r>
              <a:rPr lang="en-US" altLang="zh-CN" sz="2400" dirty="0">
                <a:solidFill>
                  <a:srgbClr val="FF3300"/>
                </a:solidFill>
                <a:ea typeface="宋体" panose="02010600030101010101" pitchFamily="2" charset="-122"/>
              </a:rPr>
              <a:t>to the receiver’s message queue</a:t>
            </a:r>
            <a:r>
              <a:rPr lang="en-US" altLang="zh-CN" sz="2400" dirty="0">
                <a:solidFill>
                  <a:srgbClr val="000099"/>
                </a:solidFill>
                <a:ea typeface="宋体" panose="02010600030101010101" pitchFamily="2" charset="-122"/>
              </a:rPr>
              <a:t>. </a:t>
            </a:r>
          </a:p>
          <a:p>
            <a:pPr lvl="1" algn="just" eaLnBrk="1" hangingPunct="1">
              <a:lnSpc>
                <a:spcPct val="150000"/>
              </a:lnSpc>
              <a:buFont typeface="Wingdings" panose="05000000000000000000" pitchFamily="2" charset="2"/>
              <a:buChar char="p"/>
            </a:pPr>
            <a:r>
              <a:rPr lang="en-US" altLang="zh-CN" sz="2400" dirty="0">
                <a:solidFill>
                  <a:srgbClr val="FF3300"/>
                </a:solidFill>
                <a:ea typeface="宋体" panose="02010600030101010101" pitchFamily="2" charset="-122"/>
              </a:rPr>
              <a:t>The middleware provides a message depository</a:t>
            </a:r>
            <a:r>
              <a:rPr lang="en-US" altLang="zh-CN" sz="2400" dirty="0">
                <a:solidFill>
                  <a:srgbClr val="000099"/>
                </a:solidFill>
                <a:ea typeface="宋体" panose="02010600030101010101" pitchFamily="2" charset="-122"/>
              </a:rPr>
              <a:t>, and allows the sending and the receiving to be decoupled. </a:t>
            </a:r>
          </a:p>
          <a:p>
            <a:pPr lvl="1" algn="just" eaLnBrk="1" hangingPunct="1">
              <a:lnSpc>
                <a:spcPct val="150000"/>
              </a:lnSpc>
              <a:buFont typeface="Wingdings" panose="05000000000000000000" pitchFamily="2" charset="2"/>
              <a:buChar char="p"/>
            </a:pPr>
            <a:r>
              <a:rPr lang="en-US" altLang="zh-CN" sz="2400" dirty="0">
                <a:solidFill>
                  <a:srgbClr val="000099"/>
                </a:solidFill>
                <a:ea typeface="宋体" panose="02010600030101010101" pitchFamily="2" charset="-122"/>
              </a:rPr>
              <a:t>Via the middleware, a sender deposits a message in the message </a:t>
            </a:r>
            <a:r>
              <a:rPr lang="en-US" altLang="zh-CN" sz="2400" dirty="0">
                <a:solidFill>
                  <a:srgbClr val="FF3300"/>
                </a:solidFill>
                <a:ea typeface="宋体" panose="02010600030101010101" pitchFamily="2" charset="-122"/>
              </a:rPr>
              <a:t>queue of the receiving process</a:t>
            </a:r>
            <a:r>
              <a:rPr lang="en-US" altLang="zh-CN" sz="2400" dirty="0">
                <a:solidFill>
                  <a:srgbClr val="000099"/>
                </a:solidFill>
                <a:ea typeface="宋体" panose="02010600030101010101" pitchFamily="2" charset="-122"/>
              </a:rPr>
              <a:t>.</a:t>
            </a:r>
          </a:p>
          <a:p>
            <a:pPr lvl="1" algn="just" eaLnBrk="1" hangingPunct="1">
              <a:lnSpc>
                <a:spcPct val="150000"/>
              </a:lnSpc>
              <a:buFont typeface="Wingdings" panose="05000000000000000000" pitchFamily="2" charset="2"/>
              <a:buChar char="p"/>
            </a:pPr>
            <a:r>
              <a:rPr lang="en-US" altLang="zh-CN" sz="2400" dirty="0">
                <a:solidFill>
                  <a:srgbClr val="000099"/>
                </a:solidFill>
                <a:ea typeface="宋体" panose="02010600030101010101" pitchFamily="2" charset="-122"/>
              </a:rPr>
              <a:t>A receiving process extracts the messages from its message queue, and handles each one accordingly.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0" y="266700"/>
            <a:ext cx="9144000" cy="876300"/>
          </a:xfrm>
        </p:spPr>
        <p:txBody>
          <a:bodyPr vert="horz" wrap="square" lIns="91440" tIns="45720" rIns="91440" bIns="45720" anchor="ctr" anchorCtr="0"/>
          <a:lstStyle/>
          <a:p>
            <a:pPr algn="just" eaLnBrk="1" hangingPunct="1">
              <a:buNone/>
            </a:pPr>
            <a:r>
              <a:rPr lang="en-US" altLang="zh-CN" sz="3600" b="1" dirty="0">
                <a:latin typeface="Arial Unicode MS" pitchFamily="34" charset="-122"/>
                <a:ea typeface="宋体" panose="02010600030101010101" pitchFamily="2" charset="-122"/>
              </a:rPr>
              <a:t>2.The Publish/Subscribe Message Model</a:t>
            </a:r>
          </a:p>
        </p:txBody>
      </p:sp>
      <p:sp>
        <p:nvSpPr>
          <p:cNvPr id="39939" name="Rectangle 3"/>
          <p:cNvSpPr>
            <a:spLocks noGrp="1"/>
          </p:cNvSpPr>
          <p:nvPr>
            <p:ph idx="1"/>
          </p:nvPr>
        </p:nvSpPr>
        <p:spPr>
          <a:xfrm>
            <a:off x="469900" y="1219200"/>
            <a:ext cx="8204200" cy="4851400"/>
          </a:xfrm>
        </p:spPr>
        <p:txBody>
          <a:bodyPr vert="horz" wrap="square" lIns="91440" tIns="45720" rIns="91440" bIns="45720" anchor="t" anchorCtr="0"/>
          <a:lstStyle/>
          <a:p>
            <a:pPr algn="just" eaLnBrk="1" hangingPunct="1">
              <a:lnSpc>
                <a:spcPct val="150000"/>
              </a:lnSpc>
              <a:buFont typeface="Wingdings" panose="05000000000000000000" pitchFamily="2" charset="2"/>
              <a:buChar char="Ø"/>
            </a:pPr>
            <a:r>
              <a:rPr lang="en-US" altLang="zh-CN" sz="2800" dirty="0">
                <a:solidFill>
                  <a:srgbClr val="000099"/>
                </a:solidFill>
                <a:ea typeface="宋体" panose="02010600030101010101" pitchFamily="2" charset="-122"/>
              </a:rPr>
              <a:t>The publish/subscribe message model offers a powerful abstraction for </a:t>
            </a:r>
            <a:r>
              <a:rPr lang="en-US" altLang="zh-CN" sz="2800" dirty="0">
                <a:solidFill>
                  <a:srgbClr val="FF3300"/>
                </a:solidFill>
                <a:ea typeface="宋体" panose="02010600030101010101" pitchFamily="2" charset="-122"/>
              </a:rPr>
              <a:t>multicasting or group communication</a:t>
            </a:r>
            <a:r>
              <a:rPr lang="en-US" altLang="zh-CN" sz="2800" dirty="0">
                <a:solidFill>
                  <a:srgbClr val="000099"/>
                </a:solidFill>
                <a:ea typeface="宋体" panose="02010600030101010101" pitchFamily="2" charset="-122"/>
              </a:rPr>
              <a:t>.  </a:t>
            </a:r>
          </a:p>
          <a:p>
            <a:pPr lvl="1" algn="just" eaLnBrk="1" hangingPunct="1">
              <a:lnSpc>
                <a:spcPct val="150000"/>
              </a:lnSpc>
            </a:pPr>
            <a:r>
              <a:rPr lang="en-US" altLang="zh-CN" dirty="0">
                <a:solidFill>
                  <a:srgbClr val="000099"/>
                </a:solidFill>
                <a:ea typeface="宋体" panose="02010600030101010101" pitchFamily="2" charset="-122"/>
              </a:rPr>
              <a:t>The</a:t>
            </a:r>
            <a:r>
              <a:rPr lang="en-US" altLang="zh-CN" dirty="0">
                <a:solidFill>
                  <a:srgbClr val="FF3300"/>
                </a:solidFill>
                <a:ea typeface="宋体" panose="02010600030101010101" pitchFamily="2" charset="-122"/>
              </a:rPr>
              <a:t> </a:t>
            </a:r>
            <a:r>
              <a:rPr lang="en-US" altLang="zh-CN" i="1" dirty="0">
                <a:solidFill>
                  <a:srgbClr val="FF3300"/>
                </a:solidFill>
                <a:ea typeface="宋体" panose="02010600030101010101" pitchFamily="2" charset="-122"/>
              </a:rPr>
              <a:t>publish</a:t>
            </a:r>
            <a:r>
              <a:rPr lang="en-US" altLang="zh-CN" dirty="0">
                <a:solidFill>
                  <a:srgbClr val="000099"/>
                </a:solidFill>
                <a:ea typeface="宋体" panose="02010600030101010101" pitchFamily="2" charset="-122"/>
              </a:rPr>
              <a:t> operation allows a process to </a:t>
            </a:r>
            <a:r>
              <a:rPr lang="en-US" altLang="zh-CN" dirty="0">
                <a:solidFill>
                  <a:srgbClr val="FF3300"/>
                </a:solidFill>
                <a:ea typeface="宋体" panose="02010600030101010101" pitchFamily="2" charset="-122"/>
              </a:rPr>
              <a:t>multicast to a group of processes</a:t>
            </a:r>
            <a:r>
              <a:rPr lang="en-US" altLang="zh-CN" dirty="0">
                <a:solidFill>
                  <a:srgbClr val="000099"/>
                </a:solidFill>
                <a:ea typeface="宋体" panose="02010600030101010101" pitchFamily="2" charset="-122"/>
              </a:rPr>
              <a:t>, </a:t>
            </a:r>
          </a:p>
          <a:p>
            <a:pPr lvl="1" algn="just" eaLnBrk="1" hangingPunct="1">
              <a:lnSpc>
                <a:spcPct val="150000"/>
              </a:lnSpc>
            </a:pPr>
            <a:r>
              <a:rPr lang="en-US" altLang="zh-CN" dirty="0">
                <a:solidFill>
                  <a:srgbClr val="000099"/>
                </a:solidFill>
                <a:ea typeface="宋体" panose="02010600030101010101" pitchFamily="2" charset="-122"/>
              </a:rPr>
              <a:t>and the </a:t>
            </a:r>
            <a:r>
              <a:rPr lang="en-US" altLang="zh-CN" i="1" dirty="0">
                <a:solidFill>
                  <a:srgbClr val="FF3300"/>
                </a:solidFill>
                <a:ea typeface="宋体" panose="02010600030101010101" pitchFamily="2" charset="-122"/>
              </a:rPr>
              <a:t>subscribe</a:t>
            </a:r>
            <a:r>
              <a:rPr lang="en-US" altLang="zh-CN" dirty="0">
                <a:solidFill>
                  <a:srgbClr val="000099"/>
                </a:solidFill>
                <a:ea typeface="宋体" panose="02010600030101010101" pitchFamily="2" charset="-122"/>
              </a:rPr>
              <a:t> operation allows a process to </a:t>
            </a:r>
            <a:r>
              <a:rPr lang="en-US" altLang="zh-CN" dirty="0">
                <a:solidFill>
                  <a:srgbClr val="FF3300"/>
                </a:solidFill>
                <a:ea typeface="宋体" panose="02010600030101010101" pitchFamily="2" charset="-122"/>
              </a:rPr>
              <a:t>listen for such multicast.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0" y="266700"/>
            <a:ext cx="9144000" cy="876300"/>
          </a:xfrm>
        </p:spPr>
        <p:txBody>
          <a:bodyPr vert="horz" wrap="square" lIns="91440" tIns="45720" rIns="91440" bIns="45720" anchor="ctr" anchorCtr="0"/>
          <a:lstStyle/>
          <a:p>
            <a:pPr algn="just" eaLnBrk="1" hangingPunct="1">
              <a:buNone/>
            </a:pPr>
            <a:r>
              <a:rPr lang="en-US" altLang="zh-CN" sz="3600" b="1" dirty="0">
                <a:latin typeface="Arial Unicode MS" pitchFamily="34" charset="-122"/>
                <a:ea typeface="宋体" panose="02010600030101010101" pitchFamily="2" charset="-122"/>
              </a:rPr>
              <a:t>2.The Publish/Subscribe Message Model</a:t>
            </a:r>
          </a:p>
        </p:txBody>
      </p:sp>
      <p:sp>
        <p:nvSpPr>
          <p:cNvPr id="40963" name="Rectangle 3"/>
          <p:cNvSpPr>
            <a:spLocks noGrp="1"/>
          </p:cNvSpPr>
          <p:nvPr>
            <p:ph idx="1"/>
          </p:nvPr>
        </p:nvSpPr>
        <p:spPr>
          <a:xfrm>
            <a:off x="50800" y="1333500"/>
            <a:ext cx="8978900" cy="4394200"/>
          </a:xfrm>
        </p:spPr>
        <p:txBody>
          <a:bodyPr vert="horz" wrap="square" lIns="91440" tIns="45720" rIns="91440" bIns="45720" anchor="t" anchorCtr="0"/>
          <a:lstStyle/>
          <a:p>
            <a:pPr algn="just" eaLnBrk="1" hangingPunct="1">
              <a:lnSpc>
                <a:spcPct val="150000"/>
              </a:lnSpc>
              <a:buFont typeface="Wingdings" panose="05000000000000000000" pitchFamily="2" charset="2"/>
              <a:buChar char="Ø"/>
            </a:pPr>
            <a:r>
              <a:rPr lang="en-US" altLang="zh-CN" sz="2400" dirty="0">
                <a:solidFill>
                  <a:srgbClr val="000099"/>
                </a:solidFill>
                <a:ea typeface="宋体" panose="02010600030101010101" pitchFamily="2" charset="-122"/>
              </a:rPr>
              <a:t>Each </a:t>
            </a:r>
            <a:r>
              <a:rPr lang="en-US" altLang="zh-CN" sz="2400" dirty="0">
                <a:solidFill>
                  <a:srgbClr val="FF3300"/>
                </a:solidFill>
                <a:ea typeface="宋体" panose="02010600030101010101" pitchFamily="2" charset="-122"/>
              </a:rPr>
              <a:t>message</a:t>
            </a:r>
            <a:r>
              <a:rPr lang="en-US" altLang="zh-CN" sz="2400" dirty="0">
                <a:solidFill>
                  <a:srgbClr val="000099"/>
                </a:solidFill>
                <a:ea typeface="宋体" panose="02010600030101010101" pitchFamily="2" charset="-122"/>
              </a:rPr>
              <a:t> is then associated with </a:t>
            </a:r>
            <a:r>
              <a:rPr lang="en-US" altLang="zh-CN" sz="2400" dirty="0">
                <a:solidFill>
                  <a:srgbClr val="FF3300"/>
                </a:solidFill>
                <a:ea typeface="宋体" panose="02010600030101010101" pitchFamily="2" charset="-122"/>
              </a:rPr>
              <a:t>a specific topic or event.</a:t>
            </a:r>
            <a:r>
              <a:rPr lang="en-US" altLang="zh-CN" sz="2400" dirty="0">
                <a:solidFill>
                  <a:srgbClr val="000099"/>
                </a:solidFill>
                <a:ea typeface="宋体" panose="02010600030101010101" pitchFamily="2" charset="-122"/>
              </a:rPr>
              <a:t>   </a:t>
            </a:r>
          </a:p>
          <a:p>
            <a:pPr lvl="1" algn="just" eaLnBrk="1" hangingPunct="1">
              <a:lnSpc>
                <a:spcPct val="150000"/>
              </a:lnSpc>
            </a:pPr>
            <a:r>
              <a:rPr lang="en-US" altLang="zh-CN" sz="2400" dirty="0">
                <a:solidFill>
                  <a:srgbClr val="FF3300"/>
                </a:solidFill>
                <a:ea typeface="宋体" panose="02010600030101010101" pitchFamily="2" charset="-122"/>
              </a:rPr>
              <a:t>Applications</a:t>
            </a:r>
            <a:r>
              <a:rPr lang="en-US" altLang="zh-CN" sz="2400" dirty="0">
                <a:solidFill>
                  <a:srgbClr val="000099"/>
                </a:solidFill>
                <a:ea typeface="宋体" panose="02010600030101010101" pitchFamily="2" charset="-122"/>
              </a:rPr>
              <a:t> interested in the occurrence of a </a:t>
            </a:r>
            <a:r>
              <a:rPr lang="en-US" altLang="zh-CN" sz="2400" dirty="0">
                <a:solidFill>
                  <a:srgbClr val="FF0000"/>
                </a:solidFill>
                <a:ea typeface="宋体" panose="02010600030101010101" pitchFamily="2" charset="-122"/>
              </a:rPr>
              <a:t>specific event </a:t>
            </a:r>
            <a:r>
              <a:rPr lang="en-US" altLang="zh-CN" sz="2400" dirty="0">
                <a:solidFill>
                  <a:srgbClr val="000099"/>
                </a:solidFill>
                <a:ea typeface="宋体" panose="02010600030101010101" pitchFamily="2" charset="-122"/>
              </a:rPr>
              <a:t>may </a:t>
            </a:r>
            <a:r>
              <a:rPr lang="en-US" altLang="zh-CN" sz="2400" i="1" dirty="0">
                <a:solidFill>
                  <a:srgbClr val="FF3300"/>
                </a:solidFill>
                <a:ea typeface="宋体" panose="02010600030101010101" pitchFamily="2" charset="-122"/>
              </a:rPr>
              <a:t>subscribe</a:t>
            </a:r>
            <a:r>
              <a:rPr lang="en-US" altLang="zh-CN" sz="2400" dirty="0">
                <a:solidFill>
                  <a:srgbClr val="000099"/>
                </a:solidFill>
                <a:ea typeface="宋体" panose="02010600030101010101" pitchFamily="2" charset="-122"/>
              </a:rPr>
              <a:t> to messages for that event</a:t>
            </a:r>
            <a:r>
              <a:rPr lang="zh-CN" altLang="en-US" sz="2400" dirty="0">
                <a:solidFill>
                  <a:srgbClr val="000099"/>
                </a:solidFill>
                <a:ea typeface="宋体" panose="02010600030101010101" pitchFamily="2" charset="-122"/>
              </a:rPr>
              <a:t>（订阅感兴趣事件消息）</a:t>
            </a:r>
            <a:r>
              <a:rPr lang="en-US" altLang="zh-CN" sz="2400" dirty="0">
                <a:solidFill>
                  <a:srgbClr val="000099"/>
                </a:solidFill>
                <a:ea typeface="宋体" panose="02010600030101010101" pitchFamily="2" charset="-122"/>
              </a:rPr>
              <a:t>.  </a:t>
            </a:r>
          </a:p>
          <a:p>
            <a:pPr lvl="1" algn="just" eaLnBrk="1" hangingPunct="1">
              <a:lnSpc>
                <a:spcPct val="150000"/>
              </a:lnSpc>
            </a:pPr>
            <a:r>
              <a:rPr lang="en-US" altLang="zh-CN" sz="2400" dirty="0">
                <a:solidFill>
                  <a:srgbClr val="000099"/>
                </a:solidFill>
                <a:ea typeface="宋体" panose="02010600030101010101" pitchFamily="2" charset="-122"/>
              </a:rPr>
              <a:t>When the awaited </a:t>
            </a:r>
            <a:r>
              <a:rPr lang="en-US" altLang="zh-CN" sz="2400" dirty="0">
                <a:solidFill>
                  <a:srgbClr val="FF0000"/>
                </a:solidFill>
                <a:ea typeface="宋体" panose="02010600030101010101" pitchFamily="2" charset="-122"/>
              </a:rPr>
              <a:t>event occurs</a:t>
            </a:r>
            <a:r>
              <a:rPr lang="en-US" altLang="zh-CN" sz="2400" dirty="0">
                <a:solidFill>
                  <a:srgbClr val="000099"/>
                </a:solidFill>
                <a:ea typeface="宋体" panose="02010600030101010101" pitchFamily="2" charset="-122"/>
              </a:rPr>
              <a:t>, the </a:t>
            </a:r>
            <a:r>
              <a:rPr lang="en-US" altLang="zh-CN" sz="2400" dirty="0">
                <a:solidFill>
                  <a:srgbClr val="FF3300"/>
                </a:solidFill>
                <a:ea typeface="宋体" panose="02010600030101010101" pitchFamily="2" charset="-122"/>
              </a:rPr>
              <a:t>process </a:t>
            </a:r>
            <a:r>
              <a:rPr lang="en-US" altLang="zh-CN" sz="2400" i="1" dirty="0">
                <a:solidFill>
                  <a:srgbClr val="FF3300"/>
                </a:solidFill>
                <a:ea typeface="宋体" panose="02010600030101010101" pitchFamily="2" charset="-122"/>
              </a:rPr>
              <a:t>publishes</a:t>
            </a:r>
            <a:r>
              <a:rPr lang="en-US" altLang="zh-CN" sz="2400" dirty="0">
                <a:solidFill>
                  <a:srgbClr val="000099"/>
                </a:solidFill>
                <a:ea typeface="宋体" panose="02010600030101010101" pitchFamily="2" charset="-122"/>
              </a:rPr>
              <a:t> a message announcing the event or topic</a:t>
            </a:r>
            <a:r>
              <a:rPr lang="zh-CN" altLang="en-US" sz="2400" dirty="0">
                <a:solidFill>
                  <a:srgbClr val="000099"/>
                </a:solidFill>
                <a:ea typeface="宋体" panose="02010600030101010101" pitchFamily="2" charset="-122"/>
              </a:rPr>
              <a:t>（事件发生时发布消息）</a:t>
            </a:r>
            <a:r>
              <a:rPr lang="en-US" altLang="zh-CN" sz="2400" dirty="0">
                <a:solidFill>
                  <a:srgbClr val="000099"/>
                </a:solidFill>
                <a:ea typeface="宋体" panose="02010600030101010101" pitchFamily="2" charset="-122"/>
              </a:rPr>
              <a:t>.  </a:t>
            </a:r>
          </a:p>
          <a:p>
            <a:pPr lvl="1" algn="just" eaLnBrk="1" hangingPunct="1">
              <a:lnSpc>
                <a:spcPct val="150000"/>
              </a:lnSpc>
            </a:pPr>
            <a:r>
              <a:rPr lang="en-US" altLang="zh-CN" sz="2400" dirty="0">
                <a:solidFill>
                  <a:srgbClr val="000099"/>
                </a:solidFill>
                <a:ea typeface="宋体" panose="02010600030101010101" pitchFamily="2" charset="-122"/>
              </a:rPr>
              <a:t>The</a:t>
            </a:r>
            <a:r>
              <a:rPr lang="en-US" altLang="zh-CN" sz="2400" dirty="0">
                <a:solidFill>
                  <a:srgbClr val="FF3300"/>
                </a:solidFill>
                <a:ea typeface="宋体" panose="02010600030101010101" pitchFamily="2" charset="-122"/>
              </a:rPr>
              <a:t> middleware</a:t>
            </a:r>
            <a:r>
              <a:rPr lang="en-US" altLang="zh-CN" sz="2400" dirty="0">
                <a:solidFill>
                  <a:srgbClr val="000099"/>
                </a:solidFill>
                <a:ea typeface="宋体" panose="02010600030101010101" pitchFamily="2" charset="-122"/>
              </a:rPr>
              <a:t> message system </a:t>
            </a:r>
            <a:r>
              <a:rPr lang="en-US" altLang="zh-CN" sz="2400" i="1" dirty="0">
                <a:solidFill>
                  <a:srgbClr val="FF3300"/>
                </a:solidFill>
                <a:ea typeface="宋体" panose="02010600030101010101" pitchFamily="2" charset="-122"/>
              </a:rPr>
              <a:t>distributes</a:t>
            </a:r>
            <a:r>
              <a:rPr lang="en-US" altLang="zh-CN" sz="2400" dirty="0">
                <a:solidFill>
                  <a:srgbClr val="000099"/>
                </a:solidFill>
                <a:ea typeface="宋体" panose="02010600030101010101" pitchFamily="2" charset="-122"/>
              </a:rPr>
              <a:t> the message to all its subscribers. </a:t>
            </a:r>
            <a:r>
              <a:rPr lang="zh-CN" altLang="en-US" sz="2400" dirty="0">
                <a:solidFill>
                  <a:srgbClr val="000099"/>
                </a:solidFill>
                <a:ea typeface="宋体" panose="02010600030101010101" pitchFamily="2" charset="-122"/>
              </a:rPr>
              <a:t>（系统将消息送给订阅者）</a:t>
            </a:r>
            <a:endParaRPr lang="en-US" altLang="zh-CN" sz="2400" dirty="0">
              <a:solidFill>
                <a:srgbClr val="000099"/>
              </a:solidFill>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p:nvPr/>
        </p:nvSpPr>
        <p:spPr>
          <a:xfrm>
            <a:off x="0" y="1536700"/>
            <a:ext cx="4610100" cy="50292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742950" lvl="1" indent="-285750" algn="ctr" eaLnBrk="1" hangingPunct="1">
              <a:buNone/>
            </a:pPr>
            <a:r>
              <a:rPr lang="zh-CN" altLang="en-US" sz="2000" b="1" dirty="0">
                <a:solidFill>
                  <a:srgbClr val="C00000"/>
                </a:solidFill>
                <a:ea typeface="宋体" panose="02010600030101010101" pitchFamily="2" charset="-122"/>
              </a:rPr>
              <a:t>竟拍者</a:t>
            </a:r>
            <a:endParaRPr lang="en-US" altLang="zh-CN" sz="2000" b="1" dirty="0">
              <a:solidFill>
                <a:srgbClr val="C00000"/>
              </a:solidFill>
              <a:ea typeface="宋体" panose="02010600030101010101" pitchFamily="2" charset="-122"/>
            </a:endParaRPr>
          </a:p>
          <a:p>
            <a:pPr marL="742950" lvl="1" indent="-285750" algn="ctr" eaLnBrk="1" hangingPunct="1">
              <a:buNone/>
            </a:pP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r>
              <a:rPr lang="zh-CN" altLang="en-US" sz="2000" b="1" dirty="0">
                <a:solidFill>
                  <a:srgbClr val="000099"/>
                </a:solidFill>
                <a:ea typeface="宋体" panose="02010600030101010101" pitchFamily="2" charset="-122"/>
              </a:rPr>
              <a:t>每个竟拍者都</a:t>
            </a:r>
            <a:r>
              <a:rPr lang="zh-CN" altLang="en-US" sz="2000" b="1" dirty="0">
                <a:solidFill>
                  <a:srgbClr val="C00000"/>
                </a:solidFill>
                <a:ea typeface="宋体" panose="02010600030101010101" pitchFamily="2" charset="-122"/>
              </a:rPr>
              <a:t>订阅</a:t>
            </a:r>
            <a:r>
              <a:rPr lang="zh-CN" altLang="en-US" sz="2000" b="1" dirty="0">
                <a:solidFill>
                  <a:srgbClr val="000099"/>
                </a:solidFill>
                <a:ea typeface="宋体" panose="02010600030101010101" pitchFamily="2" charset="-122"/>
              </a:rPr>
              <a:t>一条“</a:t>
            </a:r>
            <a:r>
              <a:rPr lang="en-US" altLang="zh-CN" sz="2000" b="1" dirty="0">
                <a:solidFill>
                  <a:srgbClr val="000099"/>
                </a:solidFill>
                <a:ea typeface="宋体" panose="02010600030101010101" pitchFamily="2" charset="-122"/>
              </a:rPr>
              <a:t>begin-auction”</a:t>
            </a:r>
            <a:r>
              <a:rPr lang="zh-CN" altLang="en-US" sz="2000" b="1" dirty="0">
                <a:solidFill>
                  <a:srgbClr val="000099"/>
                </a:solidFill>
                <a:ea typeface="宋体" panose="02010600030101010101" pitchFamily="2" charset="-122"/>
              </a:rPr>
              <a:t>事件消息</a:t>
            </a:r>
            <a:r>
              <a:rPr lang="en-US" altLang="zh-CN" sz="2000" b="1" dirty="0">
                <a:solidFill>
                  <a:srgbClr val="000099"/>
                </a:solidFill>
                <a:ea typeface="宋体" panose="02010600030101010101" pitchFamily="2" charset="-122"/>
              </a:rPr>
              <a:t>.</a:t>
            </a:r>
          </a:p>
          <a:p>
            <a:pPr marL="742950" lvl="1" indent="-285750" eaLnBrk="1" hangingPunct="1">
              <a:buNone/>
            </a:pP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r>
              <a:rPr lang="zh-CN" altLang="en-US" sz="2000" b="1" dirty="0">
                <a:solidFill>
                  <a:srgbClr val="000099"/>
                </a:solidFill>
                <a:ea typeface="宋体" panose="02010600030101010101" pitchFamily="2" charset="-122"/>
              </a:rPr>
              <a:t>竟拍者在</a:t>
            </a:r>
            <a:r>
              <a:rPr lang="zh-CN" altLang="en-US" sz="2000" b="1" dirty="0">
                <a:solidFill>
                  <a:srgbClr val="FF0000"/>
                </a:solidFill>
                <a:ea typeface="宋体" panose="02010600030101010101" pitchFamily="2" charset="-122"/>
              </a:rPr>
              <a:t>收到</a:t>
            </a:r>
            <a:r>
              <a:rPr lang="zh-CN" altLang="en-US" sz="2000" b="1" dirty="0">
                <a:solidFill>
                  <a:srgbClr val="000099"/>
                </a:solidFill>
                <a:ea typeface="宋体" panose="02010600030101010101" pitchFamily="2" charset="-122"/>
              </a:rPr>
              <a:t>“</a:t>
            </a:r>
            <a:r>
              <a:rPr lang="en-US" altLang="zh-CN" sz="2000" b="1" dirty="0">
                <a:solidFill>
                  <a:srgbClr val="000099"/>
                </a:solidFill>
                <a:ea typeface="宋体" panose="02010600030101010101" pitchFamily="2" charset="-122"/>
              </a:rPr>
              <a:t>begin-auction”</a:t>
            </a:r>
            <a:r>
              <a:rPr lang="zh-CN" altLang="en-US" sz="2000" b="1" dirty="0">
                <a:solidFill>
                  <a:srgbClr val="000099"/>
                </a:solidFill>
                <a:ea typeface="宋体" panose="02010600030101010101" pitchFamily="2" charset="-122"/>
              </a:rPr>
              <a:t>事件消息后，</a:t>
            </a:r>
            <a:r>
              <a:rPr lang="zh-CN" altLang="en-US" sz="2000" b="1" dirty="0">
                <a:solidFill>
                  <a:srgbClr val="C00000"/>
                </a:solidFill>
                <a:ea typeface="宋体" panose="02010600030101010101" pitchFamily="2" charset="-122"/>
              </a:rPr>
              <a:t>订阅</a:t>
            </a:r>
            <a:r>
              <a:rPr lang="zh-CN" altLang="en-US" sz="2000" b="1" dirty="0">
                <a:solidFill>
                  <a:srgbClr val="000099"/>
                </a:solidFill>
                <a:ea typeface="宋体" panose="02010600030101010101" pitchFamily="2" charset="-122"/>
              </a:rPr>
              <a:t>“</a:t>
            </a:r>
            <a:r>
              <a:rPr lang="en-US" altLang="zh-CN" sz="2000" b="1" dirty="0">
                <a:solidFill>
                  <a:srgbClr val="000099"/>
                </a:solidFill>
                <a:ea typeface="宋体" panose="02010600030101010101" pitchFamily="2" charset="-122"/>
              </a:rPr>
              <a:t>end-auction”</a:t>
            </a:r>
            <a:r>
              <a:rPr lang="zh-CN" altLang="en-US" sz="2000" b="1" dirty="0">
                <a:solidFill>
                  <a:srgbClr val="000099"/>
                </a:solidFill>
                <a:ea typeface="宋体" panose="02010600030101010101" pitchFamily="2" charset="-122"/>
              </a:rPr>
              <a:t>与“</a:t>
            </a:r>
            <a:r>
              <a:rPr lang="en-US" altLang="zh-CN" sz="2000" b="1" dirty="0">
                <a:solidFill>
                  <a:srgbClr val="000099"/>
                </a:solidFill>
                <a:ea typeface="宋体" panose="02010600030101010101" pitchFamily="2" charset="-122"/>
              </a:rPr>
              <a:t>new-bid</a:t>
            </a:r>
            <a:r>
              <a:rPr lang="zh-CN" altLang="en-US" sz="2000" b="1" dirty="0">
                <a:solidFill>
                  <a:srgbClr val="000099"/>
                </a:solidFill>
                <a:ea typeface="宋体" panose="02010600030101010101" pitchFamily="2" charset="-122"/>
              </a:rPr>
              <a:t>”事件消息；</a:t>
            </a:r>
            <a:endParaRPr lang="en-US" altLang="zh-CN" sz="2000" b="1" dirty="0">
              <a:solidFill>
                <a:srgbClr val="000099"/>
              </a:solidFill>
              <a:ea typeface="宋体" panose="02010600030101010101" pitchFamily="2" charset="-122"/>
            </a:endParaRPr>
          </a:p>
          <a:p>
            <a:pPr marL="742950" lvl="1" indent="-285750" eaLnBrk="1" hangingPunct="1">
              <a:buNone/>
            </a:pPr>
            <a:endParaRPr lang="zh-CN" altLang="en-US"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r>
              <a:rPr lang="zh-CN" altLang="en-US" sz="2000" b="1" dirty="0">
                <a:solidFill>
                  <a:srgbClr val="FF0000"/>
                </a:solidFill>
                <a:ea typeface="宋体" panose="02010600030101010101" pitchFamily="2" charset="-122"/>
              </a:rPr>
              <a:t>收到</a:t>
            </a:r>
            <a:r>
              <a:rPr lang="zh-CN" altLang="en-US" sz="2000" b="1" dirty="0">
                <a:solidFill>
                  <a:srgbClr val="000099"/>
                </a:solidFill>
                <a:ea typeface="宋体" panose="02010600030101010101" pitchFamily="2" charset="-122"/>
              </a:rPr>
              <a:t>“</a:t>
            </a:r>
            <a:r>
              <a:rPr lang="en-US" altLang="zh-CN" sz="2000" b="1" dirty="0">
                <a:solidFill>
                  <a:srgbClr val="000099"/>
                </a:solidFill>
                <a:ea typeface="宋体" panose="02010600030101010101" pitchFamily="2" charset="-122"/>
              </a:rPr>
              <a:t>new-bid</a:t>
            </a:r>
            <a:r>
              <a:rPr lang="zh-CN" altLang="en-US" sz="2000" b="1" dirty="0">
                <a:solidFill>
                  <a:srgbClr val="000099"/>
                </a:solidFill>
                <a:ea typeface="宋体" panose="02010600030101010101" pitchFamily="2" charset="-122"/>
              </a:rPr>
              <a:t>”事件消息；要出价的竟拍者</a:t>
            </a:r>
            <a:r>
              <a:rPr lang="zh-CN" altLang="en-US" sz="2000" b="1" dirty="0">
                <a:solidFill>
                  <a:srgbClr val="FF0000"/>
                </a:solidFill>
                <a:ea typeface="宋体" panose="02010600030101010101" pitchFamily="2" charset="-122"/>
              </a:rPr>
              <a:t>发布</a:t>
            </a:r>
            <a:r>
              <a:rPr lang="zh-CN" altLang="en-US" sz="2000" b="1" dirty="0">
                <a:solidFill>
                  <a:srgbClr val="000099"/>
                </a:solidFill>
                <a:ea typeface="宋体" panose="02010600030101010101" pitchFamily="2" charset="-122"/>
              </a:rPr>
              <a:t>一条“</a:t>
            </a:r>
            <a:r>
              <a:rPr lang="en-US" altLang="zh-CN" sz="2000" b="1" dirty="0">
                <a:solidFill>
                  <a:srgbClr val="000099"/>
                </a:solidFill>
                <a:ea typeface="宋体" panose="02010600030101010101" pitchFamily="2" charset="-122"/>
              </a:rPr>
              <a:t>new-bid”</a:t>
            </a:r>
            <a:r>
              <a:rPr lang="zh-CN" altLang="en-US" sz="2000" b="1" dirty="0">
                <a:solidFill>
                  <a:srgbClr val="000099"/>
                </a:solidFill>
                <a:ea typeface="宋体" panose="02010600030101010101" pitchFamily="2" charset="-122"/>
              </a:rPr>
              <a:t>事件，否则等待结束；</a:t>
            </a: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r>
              <a:rPr lang="zh-CN" altLang="en-US" sz="2000" b="1" dirty="0">
                <a:solidFill>
                  <a:srgbClr val="000099"/>
                </a:solidFill>
                <a:ea typeface="宋体" panose="02010600030101010101" pitchFamily="2" charset="-122"/>
              </a:rPr>
              <a:t>竟拍者在</a:t>
            </a:r>
            <a:r>
              <a:rPr lang="zh-CN" altLang="en-US" sz="2000" b="1" dirty="0">
                <a:solidFill>
                  <a:srgbClr val="FF0000"/>
                </a:solidFill>
                <a:ea typeface="宋体" panose="02010600030101010101" pitchFamily="2" charset="-122"/>
              </a:rPr>
              <a:t>收到</a:t>
            </a:r>
            <a:r>
              <a:rPr lang="zh-CN" altLang="en-US" sz="2000" b="1" dirty="0">
                <a:solidFill>
                  <a:srgbClr val="000099"/>
                </a:solidFill>
                <a:ea typeface="宋体" panose="02010600030101010101" pitchFamily="2" charset="-122"/>
              </a:rPr>
              <a:t>“</a:t>
            </a:r>
            <a:r>
              <a:rPr lang="en-US" altLang="zh-CN" sz="2000" b="1" dirty="0">
                <a:solidFill>
                  <a:srgbClr val="000099"/>
                </a:solidFill>
                <a:ea typeface="宋体" panose="02010600030101010101" pitchFamily="2" charset="-122"/>
              </a:rPr>
              <a:t>end-auction”</a:t>
            </a:r>
            <a:r>
              <a:rPr lang="zh-CN" altLang="en-US" sz="2000" b="1" dirty="0">
                <a:solidFill>
                  <a:srgbClr val="000099"/>
                </a:solidFill>
                <a:ea typeface="宋体" panose="02010600030101010101" pitchFamily="2" charset="-122"/>
              </a:rPr>
              <a:t>事件消息，拍卖结束；</a:t>
            </a:r>
          </a:p>
        </p:txBody>
      </p:sp>
      <p:sp>
        <p:nvSpPr>
          <p:cNvPr id="41987" name="Rectangle 5"/>
          <p:cNvSpPr>
            <a:spLocks noGrp="1"/>
          </p:cNvSpPr>
          <p:nvPr>
            <p:ph type="title"/>
          </p:nvPr>
        </p:nvSpPr>
        <p:spPr>
          <a:xfrm>
            <a:off x="0" y="0"/>
            <a:ext cx="9144000" cy="1003300"/>
          </a:xfrm>
        </p:spPr>
        <p:txBody>
          <a:bodyPr vert="horz" wrap="square" lIns="91440" tIns="45720" rIns="91440" bIns="45720" anchor="ctr" anchorCtr="0"/>
          <a:lstStyle/>
          <a:p>
            <a:pPr algn="just" eaLnBrk="1" hangingPunct="1"/>
            <a:r>
              <a:rPr lang="en-US" altLang="zh-CN" dirty="0">
                <a:ea typeface="宋体" panose="02010600030101010101" pitchFamily="2" charset="-122"/>
              </a:rPr>
              <a:t>2.6.</a:t>
            </a:r>
            <a:r>
              <a:rPr lang="zh-CN" altLang="en-US" dirty="0">
                <a:ea typeface="宋体" panose="02010600030101010101" pitchFamily="2" charset="-122"/>
              </a:rPr>
              <a:t> </a:t>
            </a:r>
            <a:r>
              <a:rPr lang="en-US" altLang="zh-CN" dirty="0">
                <a:ea typeface="宋体" panose="02010600030101010101" pitchFamily="2" charset="-122"/>
              </a:rPr>
              <a:t>The Message System Paradigm</a:t>
            </a:r>
          </a:p>
        </p:txBody>
      </p:sp>
      <p:sp>
        <p:nvSpPr>
          <p:cNvPr id="41988" name="矩形 3"/>
          <p:cNvSpPr/>
          <p:nvPr/>
        </p:nvSpPr>
        <p:spPr>
          <a:xfrm>
            <a:off x="4381500" y="1790700"/>
            <a:ext cx="4749800" cy="43402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742950" lvl="1" indent="-285750" algn="ctr" eaLnBrk="1" hangingPunct="1">
              <a:buNone/>
            </a:pPr>
            <a:r>
              <a:rPr lang="zh-CN" altLang="en-US" sz="2000" b="1" dirty="0">
                <a:solidFill>
                  <a:srgbClr val="C00000"/>
                </a:solidFill>
                <a:ea typeface="宋体" panose="02010600030101010101" pitchFamily="2" charset="-122"/>
              </a:rPr>
              <a:t>拍卖者</a:t>
            </a:r>
            <a:endParaRPr lang="en-US" altLang="zh-CN" sz="2000" b="1" dirty="0">
              <a:solidFill>
                <a:srgbClr val="C00000"/>
              </a:solidFill>
              <a:ea typeface="宋体" panose="02010600030101010101" pitchFamily="2" charset="-122"/>
            </a:endParaRPr>
          </a:p>
          <a:p>
            <a:pPr marL="742950" lvl="1" indent="-285750" algn="ctr" eaLnBrk="1" hangingPunct="1">
              <a:buNone/>
            </a:pP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r>
              <a:rPr lang="zh-CN" altLang="en-US" sz="2000" b="1" dirty="0">
                <a:solidFill>
                  <a:srgbClr val="000099"/>
                </a:solidFill>
                <a:ea typeface="宋体" panose="02010600030101010101" pitchFamily="2" charset="-122"/>
              </a:rPr>
              <a:t>拍卖者</a:t>
            </a:r>
            <a:r>
              <a:rPr lang="zh-CN" altLang="en-US" sz="2000" b="1" dirty="0">
                <a:solidFill>
                  <a:srgbClr val="FF0000"/>
                </a:solidFill>
                <a:ea typeface="宋体" panose="02010600030101010101" pitchFamily="2" charset="-122"/>
              </a:rPr>
              <a:t>发布</a:t>
            </a:r>
            <a:r>
              <a:rPr lang="zh-CN" altLang="en-US" sz="2000" b="1" dirty="0">
                <a:solidFill>
                  <a:srgbClr val="000099"/>
                </a:solidFill>
                <a:ea typeface="宋体" panose="02010600030101010101" pitchFamily="2" charset="-122"/>
              </a:rPr>
              <a:t>一条“</a:t>
            </a:r>
            <a:r>
              <a:rPr lang="en-US" altLang="zh-CN" sz="2000" b="1" dirty="0">
                <a:solidFill>
                  <a:srgbClr val="000099"/>
                </a:solidFill>
                <a:ea typeface="宋体" panose="02010600030101010101" pitchFamily="2" charset="-122"/>
              </a:rPr>
              <a:t>begin-auction”</a:t>
            </a:r>
            <a:r>
              <a:rPr lang="zh-CN" altLang="en-US" sz="2000" b="1" dirty="0">
                <a:solidFill>
                  <a:srgbClr val="000099"/>
                </a:solidFill>
                <a:ea typeface="宋体" panose="02010600030101010101" pitchFamily="2" charset="-122"/>
              </a:rPr>
              <a:t>事件消息，意味着拍卖会开始</a:t>
            </a:r>
            <a:r>
              <a:rPr lang="en-US" altLang="zh-CN" sz="2000" b="1" dirty="0">
                <a:solidFill>
                  <a:srgbClr val="000099"/>
                </a:solidFill>
                <a:ea typeface="宋体" panose="02010600030101010101" pitchFamily="2" charset="-122"/>
              </a:rPr>
              <a:t>;</a:t>
            </a:r>
          </a:p>
          <a:p>
            <a:pPr marL="742950" lvl="1" indent="-285750" eaLnBrk="1" hangingPunct="1">
              <a:buNone/>
            </a:pP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r>
              <a:rPr lang="zh-CN" altLang="en-US" sz="2000" b="1" dirty="0">
                <a:solidFill>
                  <a:srgbClr val="000099"/>
                </a:solidFill>
                <a:ea typeface="宋体" panose="02010600030101010101" pitchFamily="2" charset="-122"/>
              </a:rPr>
              <a:t>拍卖者</a:t>
            </a:r>
            <a:r>
              <a:rPr lang="zh-CN" altLang="en-US" sz="2000" b="1" dirty="0">
                <a:solidFill>
                  <a:srgbClr val="C00000"/>
                </a:solidFill>
                <a:ea typeface="宋体" panose="02010600030101010101" pitchFamily="2" charset="-122"/>
              </a:rPr>
              <a:t>订阅</a:t>
            </a:r>
            <a:r>
              <a:rPr lang="zh-CN" altLang="en-US" sz="2000" b="1" dirty="0">
                <a:solidFill>
                  <a:srgbClr val="000099"/>
                </a:solidFill>
                <a:ea typeface="宋体" panose="02010600030101010101" pitchFamily="2" charset="-122"/>
              </a:rPr>
              <a:t>“</a:t>
            </a:r>
            <a:r>
              <a:rPr lang="en-US" altLang="zh-CN" sz="2000" b="1" dirty="0">
                <a:solidFill>
                  <a:srgbClr val="000099"/>
                </a:solidFill>
                <a:ea typeface="宋体" panose="02010600030101010101" pitchFamily="2" charset="-122"/>
              </a:rPr>
              <a:t>new-bid”</a:t>
            </a:r>
            <a:r>
              <a:rPr lang="zh-CN" altLang="en-US" sz="2000" b="1" dirty="0">
                <a:solidFill>
                  <a:srgbClr val="000099"/>
                </a:solidFill>
                <a:ea typeface="宋体" panose="02010600030101010101" pitchFamily="2" charset="-122"/>
              </a:rPr>
              <a:t>事件消息；</a:t>
            </a: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r>
              <a:rPr lang="zh-CN" altLang="en-US" sz="2000" b="1" dirty="0">
                <a:solidFill>
                  <a:srgbClr val="000099"/>
                </a:solidFill>
                <a:ea typeface="宋体" panose="02010600030101010101" pitchFamily="2" charset="-122"/>
              </a:rPr>
              <a:t>拍卖者</a:t>
            </a:r>
            <a:r>
              <a:rPr lang="zh-CN" altLang="en-US" sz="2000" b="1" dirty="0">
                <a:solidFill>
                  <a:srgbClr val="FF0000"/>
                </a:solidFill>
                <a:ea typeface="宋体" panose="02010600030101010101" pitchFamily="2" charset="-122"/>
              </a:rPr>
              <a:t>收到</a:t>
            </a:r>
            <a:r>
              <a:rPr lang="zh-CN" altLang="en-US" sz="2000" b="1" dirty="0">
                <a:solidFill>
                  <a:srgbClr val="000099"/>
                </a:solidFill>
                <a:ea typeface="宋体" panose="02010600030101010101" pitchFamily="2" charset="-122"/>
              </a:rPr>
              <a:t>“</a:t>
            </a:r>
            <a:r>
              <a:rPr lang="en-US" altLang="zh-CN" sz="2000" b="1" dirty="0">
                <a:solidFill>
                  <a:srgbClr val="000099"/>
                </a:solidFill>
                <a:ea typeface="宋体" panose="02010600030101010101" pitchFamily="2" charset="-122"/>
              </a:rPr>
              <a:t>new-bid”</a:t>
            </a:r>
            <a:r>
              <a:rPr lang="zh-CN" altLang="en-US" sz="2000" b="1" dirty="0">
                <a:solidFill>
                  <a:srgbClr val="000099"/>
                </a:solidFill>
                <a:ea typeface="宋体" panose="02010600030101010101" pitchFamily="2" charset="-122"/>
              </a:rPr>
              <a:t>事件消息，</a:t>
            </a:r>
            <a:endParaRPr lang="en-US" altLang="zh-CN" sz="2000" b="1" dirty="0">
              <a:solidFill>
                <a:srgbClr val="000099"/>
              </a:solidFill>
              <a:ea typeface="宋体" panose="02010600030101010101" pitchFamily="2" charset="-122"/>
            </a:endParaRPr>
          </a:p>
          <a:p>
            <a:pPr marL="742950" lvl="1" indent="-285750" eaLnBrk="1" hangingPunct="1">
              <a:buNone/>
            </a:pPr>
            <a:r>
              <a:rPr lang="zh-CN" altLang="en-US" sz="2000" b="1" dirty="0">
                <a:solidFill>
                  <a:srgbClr val="FF0000"/>
                </a:solidFill>
                <a:ea typeface="宋体" panose="02010600030101010101" pitchFamily="2" charset="-122"/>
              </a:rPr>
              <a:t>     发布</a:t>
            </a:r>
            <a:r>
              <a:rPr lang="zh-CN" altLang="en-US" sz="2000" b="1" dirty="0">
                <a:solidFill>
                  <a:srgbClr val="000099"/>
                </a:solidFill>
                <a:ea typeface="宋体" panose="02010600030101010101" pitchFamily="2" charset="-122"/>
              </a:rPr>
              <a:t>“</a:t>
            </a:r>
            <a:r>
              <a:rPr lang="en-US" altLang="zh-CN" sz="2000" b="1" dirty="0">
                <a:solidFill>
                  <a:srgbClr val="000099"/>
                </a:solidFill>
                <a:ea typeface="宋体" panose="02010600030101010101" pitchFamily="2" charset="-122"/>
              </a:rPr>
              <a:t>new-bid”</a:t>
            </a:r>
            <a:r>
              <a:rPr lang="zh-CN" altLang="en-US" sz="2000" b="1" dirty="0">
                <a:solidFill>
                  <a:srgbClr val="000099"/>
                </a:solidFill>
                <a:ea typeface="宋体" panose="02010600030101010101" pitchFamily="2" charset="-122"/>
              </a:rPr>
              <a:t>事件消息；重复；</a:t>
            </a:r>
          </a:p>
          <a:p>
            <a:pPr marL="742950" lvl="1" indent="-285750" eaLnBrk="1" hangingPunct="1">
              <a:buFont typeface="Wingdings" panose="05000000000000000000" pitchFamily="2" charset="2"/>
              <a:buChar char="Ø"/>
            </a:pPr>
            <a:endParaRPr lang="en-US" altLang="zh-CN" sz="2000" b="1" dirty="0">
              <a:solidFill>
                <a:srgbClr val="000099"/>
              </a:solidFill>
              <a:ea typeface="宋体" panose="02010600030101010101" pitchFamily="2" charset="-122"/>
            </a:endParaRPr>
          </a:p>
          <a:p>
            <a:pPr marL="742950" lvl="1" indent="-285750" eaLnBrk="1" hangingPunct="1">
              <a:buFont typeface="Wingdings" panose="05000000000000000000" pitchFamily="2" charset="2"/>
              <a:buChar char="Ø"/>
            </a:pPr>
            <a:r>
              <a:rPr lang="zh-CN" altLang="en-US" sz="2000" b="1" dirty="0">
                <a:solidFill>
                  <a:srgbClr val="000099"/>
                </a:solidFill>
                <a:ea typeface="宋体" panose="02010600030101010101" pitchFamily="2" charset="-122"/>
              </a:rPr>
              <a:t>拍卖会结束时，拍卖者</a:t>
            </a:r>
            <a:r>
              <a:rPr lang="zh-CN" altLang="en-US" sz="2000" b="1" dirty="0">
                <a:solidFill>
                  <a:srgbClr val="FF0000"/>
                </a:solidFill>
                <a:ea typeface="宋体" panose="02010600030101010101" pitchFamily="2" charset="-122"/>
              </a:rPr>
              <a:t>发布</a:t>
            </a:r>
            <a:r>
              <a:rPr lang="zh-CN" altLang="en-US" sz="2000" b="1" dirty="0">
                <a:solidFill>
                  <a:srgbClr val="000099"/>
                </a:solidFill>
                <a:ea typeface="宋体" panose="02010600030101010101" pitchFamily="2" charset="-122"/>
              </a:rPr>
              <a:t>一条“</a:t>
            </a:r>
            <a:r>
              <a:rPr lang="en-US" altLang="zh-CN" sz="2000" b="1" dirty="0">
                <a:solidFill>
                  <a:srgbClr val="000099"/>
                </a:solidFill>
                <a:ea typeface="宋体" panose="02010600030101010101" pitchFamily="2" charset="-122"/>
              </a:rPr>
              <a:t>end-auction”</a:t>
            </a:r>
            <a:r>
              <a:rPr lang="zh-CN" altLang="en-US" sz="2000" b="1" dirty="0">
                <a:solidFill>
                  <a:srgbClr val="000099"/>
                </a:solidFill>
                <a:ea typeface="宋体" panose="02010600030101010101" pitchFamily="2" charset="-122"/>
              </a:rPr>
              <a:t>事件消息，</a:t>
            </a:r>
          </a:p>
        </p:txBody>
      </p:sp>
      <p:sp>
        <p:nvSpPr>
          <p:cNvPr id="41989" name="矩形 4"/>
          <p:cNvSpPr/>
          <p:nvPr/>
        </p:nvSpPr>
        <p:spPr>
          <a:xfrm>
            <a:off x="334963" y="876300"/>
            <a:ext cx="5938837" cy="5762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lnSpc>
                <a:spcPct val="150000"/>
              </a:lnSpc>
              <a:buNone/>
            </a:pPr>
            <a:r>
              <a:rPr lang="zh-CN" altLang="en-US" sz="2400" b="1" dirty="0">
                <a:solidFill>
                  <a:srgbClr val="000099"/>
                </a:solidFill>
                <a:ea typeface="宋体" panose="02010600030101010101" pitchFamily="2" charset="-122"/>
              </a:rPr>
              <a:t>举例：采用发布</a:t>
            </a:r>
            <a:r>
              <a:rPr lang="en-US" altLang="zh-CN" sz="2400" b="1" dirty="0">
                <a:solidFill>
                  <a:srgbClr val="000099"/>
                </a:solidFill>
                <a:ea typeface="宋体" panose="02010600030101010101" pitchFamily="2" charset="-122"/>
              </a:rPr>
              <a:t>/</a:t>
            </a:r>
            <a:r>
              <a:rPr lang="zh-CN" altLang="en-US" sz="2400" b="1" dirty="0">
                <a:solidFill>
                  <a:srgbClr val="000099"/>
                </a:solidFill>
                <a:ea typeface="宋体" panose="02010600030101010101" pitchFamily="2" charset="-122"/>
              </a:rPr>
              <a:t>订阅模型的拍卖系统</a:t>
            </a:r>
          </a:p>
        </p:txBody>
      </p:sp>
      <p:cxnSp>
        <p:nvCxnSpPr>
          <p:cNvPr id="41990" name="直接箭头连接符 6"/>
          <p:cNvCxnSpPr/>
          <p:nvPr/>
        </p:nvCxnSpPr>
        <p:spPr>
          <a:xfrm flipV="1">
            <a:off x="3048000" y="1930400"/>
            <a:ext cx="3708400" cy="406400"/>
          </a:xfrm>
          <a:prstGeom prst="straightConnector1">
            <a:avLst/>
          </a:prstGeom>
          <a:ln w="9525" cap="flat" cmpd="thickThin">
            <a:solidFill>
              <a:srgbClr val="FF0000"/>
            </a:solidFill>
            <a:prstDash val="dash"/>
            <a:headEnd type="none" w="med" len="med"/>
            <a:tailEnd type="arrow" w="med" len="med"/>
          </a:ln>
        </p:spPr>
      </p:cxnSp>
      <p:cxnSp>
        <p:nvCxnSpPr>
          <p:cNvPr id="41991" name="直接箭头连接符 9"/>
          <p:cNvCxnSpPr/>
          <p:nvPr/>
        </p:nvCxnSpPr>
        <p:spPr>
          <a:xfrm flipH="1">
            <a:off x="2444750" y="2787650"/>
            <a:ext cx="3606800" cy="646113"/>
          </a:xfrm>
          <a:prstGeom prst="straightConnector1">
            <a:avLst/>
          </a:prstGeom>
          <a:ln w="9525" cap="flat" cmpd="sng">
            <a:solidFill>
              <a:srgbClr val="000099"/>
            </a:solidFill>
            <a:prstDash val="solid"/>
            <a:headEnd type="none" w="med" len="med"/>
            <a:tailEnd type="arrow" w="med" len="med"/>
          </a:ln>
        </p:spPr>
      </p:cxnSp>
      <p:cxnSp>
        <p:nvCxnSpPr>
          <p:cNvPr id="41992" name="直接箭头连接符 11"/>
          <p:cNvCxnSpPr/>
          <p:nvPr/>
        </p:nvCxnSpPr>
        <p:spPr>
          <a:xfrm flipV="1">
            <a:off x="2717800" y="1955800"/>
            <a:ext cx="4089400" cy="1841500"/>
          </a:xfrm>
          <a:prstGeom prst="straightConnector1">
            <a:avLst/>
          </a:prstGeom>
          <a:ln w="9525" cap="flat" cmpd="thickThin">
            <a:solidFill>
              <a:srgbClr val="FF0000"/>
            </a:solidFill>
            <a:prstDash val="dash"/>
            <a:headEnd type="none" w="med" len="med"/>
            <a:tailEnd type="arrow" w="med" len="med"/>
          </a:ln>
        </p:spPr>
      </p:cxnSp>
      <p:cxnSp>
        <p:nvCxnSpPr>
          <p:cNvPr id="41993" name="直接箭头连接符 13"/>
          <p:cNvCxnSpPr/>
          <p:nvPr/>
        </p:nvCxnSpPr>
        <p:spPr>
          <a:xfrm rot="10800000">
            <a:off x="2667000" y="1854200"/>
            <a:ext cx="3556000" cy="1600200"/>
          </a:xfrm>
          <a:prstGeom prst="straightConnector1">
            <a:avLst/>
          </a:prstGeom>
          <a:ln w="9525" cap="flat" cmpd="thickThin">
            <a:solidFill>
              <a:srgbClr val="FF0000"/>
            </a:solidFill>
            <a:prstDash val="dash"/>
            <a:headEnd type="none" w="med" len="med"/>
            <a:tailEnd type="arrow" w="med" len="med"/>
          </a:ln>
        </p:spPr>
      </p:cxnSp>
      <p:cxnSp>
        <p:nvCxnSpPr>
          <p:cNvPr id="41994" name="直接箭头连接符 17"/>
          <p:cNvCxnSpPr/>
          <p:nvPr/>
        </p:nvCxnSpPr>
        <p:spPr>
          <a:xfrm flipH="1">
            <a:off x="1625600" y="4962525"/>
            <a:ext cx="3524250" cy="0"/>
          </a:xfrm>
          <a:prstGeom prst="straightConnector1">
            <a:avLst/>
          </a:prstGeom>
          <a:ln w="9525" cap="flat" cmpd="sng">
            <a:solidFill>
              <a:srgbClr val="000099"/>
            </a:solidFill>
            <a:prstDash val="solid"/>
            <a:headEnd type="none" w="med" len="med"/>
            <a:tailEnd type="arrow" w="med" len="med"/>
          </a:ln>
        </p:spPr>
      </p:cxnSp>
      <p:cxnSp>
        <p:nvCxnSpPr>
          <p:cNvPr id="41995" name="直接箭头连接符 9"/>
          <p:cNvCxnSpPr/>
          <p:nvPr/>
        </p:nvCxnSpPr>
        <p:spPr>
          <a:xfrm flipV="1">
            <a:off x="2908300" y="4600575"/>
            <a:ext cx="3416300" cy="477838"/>
          </a:xfrm>
          <a:prstGeom prst="straightConnector1">
            <a:avLst/>
          </a:prstGeom>
          <a:ln w="9525" cap="flat" cmpd="sng">
            <a:solidFill>
              <a:srgbClr val="000099"/>
            </a:solidFill>
            <a:prstDash val="solid"/>
            <a:headEnd type="none" w="med" len="med"/>
            <a:tailEnd type="arrow" w="med" len="med"/>
          </a:ln>
        </p:spPr>
      </p:cxnSp>
      <p:cxnSp>
        <p:nvCxnSpPr>
          <p:cNvPr id="41996" name="直接箭头连接符 17"/>
          <p:cNvCxnSpPr/>
          <p:nvPr/>
        </p:nvCxnSpPr>
        <p:spPr>
          <a:xfrm flipH="1">
            <a:off x="2519363" y="5710238"/>
            <a:ext cx="5245100" cy="315912"/>
          </a:xfrm>
          <a:prstGeom prst="straightConnector1">
            <a:avLst/>
          </a:prstGeom>
          <a:ln w="9525" cap="flat" cmpd="sng">
            <a:solidFill>
              <a:srgbClr val="000099"/>
            </a:solidFill>
            <a:prstDash val="solid"/>
            <a:headEnd type="none" w="med" len="med"/>
            <a:tailEnd type="arrow"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342900" y="0"/>
            <a:ext cx="8648700" cy="838200"/>
          </a:xfrm>
        </p:spPr>
        <p:txBody>
          <a:bodyPr vert="horz" wrap="square" lIns="91440" tIns="45720" rIns="91440" bIns="45720" anchor="ctr" anchorCtr="0"/>
          <a:lstStyle/>
          <a:p>
            <a:pPr algn="just" eaLnBrk="1" hangingPunct="1"/>
            <a:r>
              <a:rPr lang="en-US" altLang="zh-CN" sz="3200" b="1" dirty="0">
                <a:ea typeface="宋体" panose="02010600030101010101" pitchFamily="2" charset="-122"/>
              </a:rPr>
              <a:t>Toolkits based on the Message-System Paradigm</a:t>
            </a:r>
          </a:p>
        </p:txBody>
      </p:sp>
      <p:sp>
        <p:nvSpPr>
          <p:cNvPr id="43011" name="Rectangle 3"/>
          <p:cNvSpPr>
            <a:spLocks noGrp="1"/>
          </p:cNvSpPr>
          <p:nvPr>
            <p:ph idx="1"/>
          </p:nvPr>
        </p:nvSpPr>
        <p:spPr>
          <a:xfrm>
            <a:off x="0" y="1108075"/>
            <a:ext cx="9144000" cy="5626100"/>
          </a:xfrm>
        </p:spPr>
        <p:txBody>
          <a:bodyPr vert="horz" wrap="square" lIns="91440" tIns="45720" rIns="91440" bIns="45720" anchor="t" anchorCtr="0"/>
          <a:lstStyle/>
          <a:p>
            <a:pPr algn="just" eaLnBrk="1" hangingPunct="1">
              <a:lnSpc>
                <a:spcPct val="150000"/>
              </a:lnSpc>
              <a:buFont typeface="Wingdings" panose="05000000000000000000" pitchFamily="2" charset="2"/>
              <a:buChar char="Ø"/>
            </a:pPr>
            <a:r>
              <a:rPr lang="en-US" altLang="zh-CN" sz="2200" dirty="0">
                <a:solidFill>
                  <a:srgbClr val="000099"/>
                </a:solidFill>
                <a:ea typeface="宋体" panose="02010600030101010101" pitchFamily="2" charset="-122"/>
              </a:rPr>
              <a:t>The MOM(Message Oriented Middleware). The IBM MQ*Series is an example of such a facility. Message Queue Services (MQS) have been in use since the 1980’s.  http://www-4.ibm.com/software/ts/mqseries/  </a:t>
            </a:r>
          </a:p>
          <a:p>
            <a:pPr algn="just" eaLnBrk="1" hangingPunct="1">
              <a:lnSpc>
                <a:spcPct val="150000"/>
              </a:lnSpc>
              <a:buFont typeface="Wingdings" panose="05000000000000000000" pitchFamily="2" charset="2"/>
              <a:buChar char="Ø"/>
            </a:pPr>
            <a:r>
              <a:rPr lang="en-US" altLang="zh-CN" sz="2200" dirty="0">
                <a:solidFill>
                  <a:srgbClr val="000099"/>
                </a:solidFill>
                <a:ea typeface="宋体" panose="02010600030101010101" pitchFamily="2" charset="-122"/>
              </a:rPr>
              <a:t>Other existing support for this paradigm:</a:t>
            </a:r>
          </a:p>
          <a:p>
            <a:pPr lvl="1" algn="just" eaLnBrk="1" hangingPunct="1">
              <a:lnSpc>
                <a:spcPct val="150000"/>
              </a:lnSpc>
            </a:pPr>
            <a:r>
              <a:rPr lang="en-US" altLang="zh-CN" sz="2200" dirty="0">
                <a:solidFill>
                  <a:srgbClr val="000099"/>
                </a:solidFill>
                <a:ea typeface="宋体" panose="02010600030101010101" pitchFamily="2" charset="-122"/>
              </a:rPr>
              <a:t>Microsoft’s Message Queue (MSQ), </a:t>
            </a:r>
          </a:p>
          <a:p>
            <a:pPr lvl="1" algn="just" eaLnBrk="1" hangingPunct="1">
              <a:lnSpc>
                <a:spcPct val="150000"/>
              </a:lnSpc>
              <a:buNone/>
            </a:pPr>
            <a:r>
              <a:rPr lang="en-US" altLang="zh-CN" sz="2200" dirty="0">
                <a:solidFill>
                  <a:srgbClr val="000099"/>
                </a:solidFill>
                <a:ea typeface="宋体" panose="02010600030101010101" pitchFamily="2" charset="-122"/>
              </a:rPr>
              <a:t>	http://msdn.microsoft.com/library/psdk/msmq/msmq_overview_4ilh.htm</a:t>
            </a:r>
          </a:p>
          <a:p>
            <a:pPr lvl="1" algn="just" eaLnBrk="1" hangingPunct="1">
              <a:lnSpc>
                <a:spcPct val="150000"/>
              </a:lnSpc>
            </a:pPr>
            <a:r>
              <a:rPr lang="en-US" altLang="zh-CN" sz="2200" dirty="0">
                <a:solidFill>
                  <a:srgbClr val="000099"/>
                </a:solidFill>
                <a:ea typeface="宋体" panose="02010600030101010101" pitchFamily="2" charset="-122"/>
              </a:rPr>
              <a:t> Java’s  Message Service(JMS)</a:t>
            </a:r>
          </a:p>
          <a:p>
            <a:pPr lvl="1" algn="just" eaLnBrk="1" hangingPunct="1">
              <a:lnSpc>
                <a:spcPct val="150000"/>
              </a:lnSpc>
            </a:pPr>
            <a:r>
              <a:rPr lang="en-US" altLang="zh-CN" sz="2200" dirty="0">
                <a:solidFill>
                  <a:srgbClr val="000099"/>
                </a:solidFill>
                <a:ea typeface="宋体" panose="02010600030101010101" pitchFamily="2" charset="-122"/>
              </a:rPr>
              <a:t>DDS</a:t>
            </a:r>
            <a:r>
              <a:rPr lang="zh-CN" altLang="en-US" sz="2200" dirty="0">
                <a:solidFill>
                  <a:srgbClr val="000099"/>
                </a:solidFill>
                <a:ea typeface="宋体" panose="02010600030101010101" pitchFamily="2" charset="-122"/>
              </a:rPr>
              <a:t>（</a:t>
            </a:r>
            <a:r>
              <a:rPr lang="en-US" altLang="zh-CN" sz="2200" dirty="0">
                <a:solidFill>
                  <a:srgbClr val="000099"/>
                </a:solidFill>
                <a:ea typeface="宋体" panose="02010600030101010101" pitchFamily="2" charset="-122"/>
              </a:rPr>
              <a:t>Data Distribution Service</a:t>
            </a:r>
            <a:r>
              <a:rPr lang="zh-CN" altLang="en-US" sz="2200" dirty="0">
                <a:solidFill>
                  <a:srgbClr val="000099"/>
                </a:solidFill>
                <a:ea typeface="宋体" panose="02010600030101010101" pitchFamily="2" charset="-122"/>
              </a:rPr>
              <a:t>），数据分发服务中间件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p:txBody>
          <a:bodyPr vert="horz" wrap="square" lIns="91440" tIns="45720" rIns="91440" bIns="45720" anchor="ctr" anchorCtr="0"/>
          <a:lstStyle/>
          <a:p>
            <a:pPr algn="just" eaLnBrk="1" hangingPunct="1">
              <a:buNone/>
            </a:pPr>
            <a:r>
              <a:rPr lang="en-US" altLang="zh-CN" sz="4000" dirty="0">
                <a:ea typeface="宋体" panose="02010600030101010101" pitchFamily="2" charset="-122"/>
              </a:rPr>
              <a:t>2.7 Distributed objects Paradigms</a:t>
            </a:r>
          </a:p>
        </p:txBody>
      </p:sp>
      <p:sp>
        <p:nvSpPr>
          <p:cNvPr id="44035" name="Rectangle 3" descr="Rectangle: Click to edit Master text styles&#10;Second level&#10;Third level&#10;Fourth level&#10;Fifth level"/>
          <p:cNvSpPr>
            <a:spLocks noGrp="1"/>
          </p:cNvSpPr>
          <p:nvPr>
            <p:ph idx="1"/>
          </p:nvPr>
        </p:nvSpPr>
        <p:spPr>
          <a:xfrm>
            <a:off x="533400" y="1131888"/>
            <a:ext cx="8124825" cy="5492750"/>
          </a:xfrm>
        </p:spPr>
        <p:txBody>
          <a:bodyPr vert="horz" wrap="square" lIns="91440" tIns="45720" rIns="91440" bIns="45720" anchor="t" anchorCtr="0"/>
          <a:lstStyle/>
          <a:p>
            <a:pPr algn="l" eaLnBrk="1" hangingPunct="1">
              <a:buFont typeface="Wingdings" panose="05000000000000000000" pitchFamily="2" charset="2"/>
              <a:buChar char="Ø"/>
            </a:pPr>
            <a:r>
              <a:rPr lang="en-US" altLang="zh-CN" sz="2000" b="1" dirty="0">
                <a:ea typeface="宋体" panose="02010600030101010101" pitchFamily="2" charset="-122"/>
              </a:rPr>
              <a:t>Message passing  </a:t>
            </a:r>
          </a:p>
          <a:p>
            <a:pPr algn="l" eaLnBrk="1" hangingPunct="1">
              <a:buFont typeface="Wingdings" panose="05000000000000000000" pitchFamily="2" charset="2"/>
              <a:buChar char="Ø"/>
            </a:pPr>
            <a:r>
              <a:rPr lang="en-US" altLang="zh-CN" sz="2000" b="1" dirty="0">
                <a:ea typeface="宋体" panose="02010600030101010101" pitchFamily="2" charset="-122"/>
              </a:rPr>
              <a:t>Remote Procedure Call</a:t>
            </a:r>
          </a:p>
          <a:p>
            <a:pPr algn="l" eaLnBrk="1" hangingPunct="1">
              <a:buFont typeface="Wingdings" panose="05000000000000000000" pitchFamily="2" charset="2"/>
              <a:buChar char="Ø"/>
            </a:pPr>
            <a:r>
              <a:rPr lang="en-US" altLang="zh-CN" sz="2000" b="1" dirty="0">
                <a:ea typeface="宋体" panose="02010600030101010101" pitchFamily="2" charset="-122"/>
              </a:rPr>
              <a:t>Client-server</a:t>
            </a:r>
            <a:endParaRPr lang="en-US" altLang="zh-CN" sz="2000" dirty="0">
              <a:ea typeface="宋体" panose="02010600030101010101" pitchFamily="2" charset="-122"/>
            </a:endParaRPr>
          </a:p>
          <a:p>
            <a:pPr algn="l" eaLnBrk="1" hangingPunct="1">
              <a:buFont typeface="Wingdings" panose="05000000000000000000" pitchFamily="2" charset="2"/>
              <a:buChar char="Ø"/>
            </a:pPr>
            <a:r>
              <a:rPr lang="en-US" altLang="zh-CN" sz="2000" b="1" dirty="0">
                <a:ea typeface="宋体" panose="02010600030101010101" pitchFamily="2" charset="-122"/>
              </a:rPr>
              <a:t>Peer-to-Peer</a:t>
            </a:r>
          </a:p>
          <a:p>
            <a:pPr algn="l" eaLnBrk="1" hangingPunct="1">
              <a:buFont typeface="Wingdings" panose="05000000000000000000" pitchFamily="2" charset="2"/>
              <a:buChar char="Ø"/>
            </a:pPr>
            <a:r>
              <a:rPr lang="en-US" altLang="zh-CN" sz="2000" b="1" dirty="0">
                <a:ea typeface="宋体" panose="02010600030101010101" pitchFamily="2" charset="-122"/>
              </a:rPr>
              <a:t>Message system</a:t>
            </a:r>
            <a:r>
              <a:rPr lang="en-US" altLang="zh-CN" sz="2000" dirty="0">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Point-to-point;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Publish/Subscribe </a:t>
            </a:r>
          </a:p>
          <a:p>
            <a:pPr algn="l" eaLnBrk="1" hangingPunct="1">
              <a:buFont typeface="Wingdings" panose="05000000000000000000" pitchFamily="2" charset="2"/>
              <a:buChar char="Ø"/>
            </a:pPr>
            <a:r>
              <a:rPr lang="en-US" altLang="zh-CN" sz="2400" b="1" dirty="0">
                <a:solidFill>
                  <a:srgbClr val="FF3300"/>
                </a:solidFill>
                <a:ea typeface="宋体" panose="02010600030101010101" pitchFamily="2" charset="-122"/>
              </a:rPr>
              <a:t>Distributed objects:</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Remote method invocation</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Network services</a:t>
            </a:r>
            <a:endParaRPr lang="en-US" altLang="zh-CN" sz="2000" dirty="0">
              <a:solidFill>
                <a:srgbClr val="FF9900"/>
              </a:solidFill>
              <a:ea typeface="宋体" panose="02010600030101010101" pitchFamily="2" charset="-122"/>
            </a:endParaRP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Object Request Broker</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Object space</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Component Based Technology</a:t>
            </a:r>
          </a:p>
          <a:p>
            <a:pPr algn="l" eaLnBrk="1" hangingPunct="1">
              <a:buFont typeface="Wingdings" panose="05000000000000000000" pitchFamily="2" charset="2"/>
              <a:buChar char="Ø"/>
            </a:pPr>
            <a:r>
              <a:rPr lang="en-US" altLang="zh-CN" sz="2000" b="1" dirty="0">
                <a:ea typeface="宋体" panose="02010600030101010101" pitchFamily="2" charset="-122"/>
              </a:rPr>
              <a:t>Mobile agents</a:t>
            </a:r>
            <a:endParaRPr lang="en-US" altLang="zh-CN" sz="2000" dirty="0">
              <a:ea typeface="宋体" panose="02010600030101010101" pitchFamily="2" charset="-122"/>
            </a:endParaRPr>
          </a:p>
          <a:p>
            <a:pPr algn="l" eaLnBrk="1" hangingPunct="1">
              <a:buFont typeface="Wingdings" panose="05000000000000000000" pitchFamily="2" charset="2"/>
              <a:buChar char="Ø"/>
            </a:pPr>
            <a:r>
              <a:rPr lang="en-US" altLang="zh-CN" sz="2000" b="1" dirty="0">
                <a:ea typeface="宋体" panose="02010600030101010101" pitchFamily="2" charset="-122"/>
              </a:rPr>
              <a:t>Collaborative applications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p:cNvSpPr>
          <p:nvPr>
            <p:ph idx="1"/>
          </p:nvPr>
        </p:nvSpPr>
        <p:spPr>
          <a:xfrm>
            <a:off x="152400" y="990600"/>
            <a:ext cx="8801100" cy="5524500"/>
          </a:xfrm>
        </p:spPr>
        <p:txBody>
          <a:bodyPr vert="horz" wrap="square" lIns="91440" tIns="45720" rIns="91440" bIns="45720" anchor="t" anchorCtr="0"/>
          <a:lstStyle/>
          <a:p>
            <a:pPr algn="l" eaLnBrk="1" hangingPunct="1">
              <a:lnSpc>
                <a:spcPct val="120000"/>
              </a:lnSpc>
              <a:buFont typeface="Wingdings" panose="05000000000000000000" pitchFamily="2" charset="2"/>
              <a:buChar char="u"/>
            </a:pPr>
            <a:r>
              <a:rPr lang="en-US" altLang="zh-CN" sz="2400" b="1" dirty="0">
                <a:solidFill>
                  <a:srgbClr val="000099"/>
                </a:solidFill>
                <a:ea typeface="仿宋" panose="02010609060101010101" pitchFamily="49" charset="-122"/>
              </a:rPr>
              <a:t>Distributed object is a natural extension of object-oriented software development.</a:t>
            </a:r>
          </a:p>
          <a:p>
            <a:pPr algn="l" eaLnBrk="1" hangingPunct="1">
              <a:lnSpc>
                <a:spcPct val="120000"/>
              </a:lnSpc>
              <a:buFont typeface="Wingdings" panose="05000000000000000000" pitchFamily="2" charset="2"/>
              <a:buChar char="u"/>
            </a:pPr>
            <a:r>
              <a:rPr lang="en-US" altLang="zh-CN" sz="2400" b="1" dirty="0">
                <a:solidFill>
                  <a:srgbClr val="000099"/>
                </a:solidFill>
                <a:ea typeface="仿宋" panose="02010609060101010101" pitchFamily="49" charset="-122"/>
              </a:rPr>
              <a:t>Applications access </a:t>
            </a:r>
            <a:r>
              <a:rPr lang="en-US" altLang="zh-CN" sz="2400" b="1" dirty="0">
                <a:solidFill>
                  <a:srgbClr val="FF3300"/>
                </a:solidFill>
                <a:ea typeface="仿宋" panose="02010609060101010101" pitchFamily="49" charset="-122"/>
              </a:rPr>
              <a:t>objects distributed</a:t>
            </a:r>
            <a:r>
              <a:rPr lang="en-US" altLang="zh-CN" sz="2400" b="1" dirty="0">
                <a:solidFill>
                  <a:srgbClr val="000099"/>
                </a:solidFill>
                <a:ea typeface="仿宋" panose="02010609060101010101" pitchFamily="49" charset="-122"/>
              </a:rPr>
              <a:t> over a network. Objects provide methods, through the invocation of which an application obtains access to services.</a:t>
            </a:r>
          </a:p>
          <a:p>
            <a:pPr algn="l" eaLnBrk="1" hangingPunct="1">
              <a:lnSpc>
                <a:spcPct val="120000"/>
              </a:lnSpc>
              <a:buFont typeface="Wingdings" panose="05000000000000000000" pitchFamily="2" charset="2"/>
              <a:buChar char="u"/>
            </a:pPr>
            <a:r>
              <a:rPr lang="en-US" altLang="zh-CN" sz="2400" b="1" dirty="0">
                <a:solidFill>
                  <a:srgbClr val="000099"/>
                </a:solidFill>
                <a:ea typeface="仿宋" panose="02010609060101010101" pitchFamily="49" charset="-122"/>
              </a:rPr>
              <a:t>Object-oriented paradigms include:</a:t>
            </a:r>
          </a:p>
          <a:p>
            <a:pPr marL="914400" lvl="1" indent="-457200" eaLnBrk="1" hangingPunct="1">
              <a:lnSpc>
                <a:spcPct val="120000"/>
              </a:lnSpc>
              <a:buFont typeface="Times New Roman" panose="02020603050405020304" pitchFamily="18" charset="0"/>
              <a:buAutoNum type="arabicPeriod"/>
            </a:pPr>
            <a:r>
              <a:rPr lang="en-US" altLang="zh-CN" sz="2400" b="1" dirty="0">
                <a:solidFill>
                  <a:srgbClr val="C00000"/>
                </a:solidFill>
                <a:ea typeface="仿宋" panose="02010609060101010101" pitchFamily="49" charset="-122"/>
              </a:rPr>
              <a:t>Remote method invocation (RMI)</a:t>
            </a:r>
          </a:p>
          <a:p>
            <a:pPr marL="914400" lvl="1" indent="-457200" eaLnBrk="1" hangingPunct="1">
              <a:lnSpc>
                <a:spcPct val="120000"/>
              </a:lnSpc>
              <a:buFont typeface="Times New Roman" panose="02020603050405020304" pitchFamily="18" charset="0"/>
              <a:buAutoNum type="arabicPeriod"/>
            </a:pPr>
            <a:r>
              <a:rPr lang="en-US" altLang="zh-CN" sz="2400" b="1" dirty="0">
                <a:solidFill>
                  <a:srgbClr val="C00000"/>
                </a:solidFill>
                <a:ea typeface="仿宋" panose="02010609060101010101" pitchFamily="49" charset="-122"/>
              </a:rPr>
              <a:t>Network services</a:t>
            </a:r>
          </a:p>
          <a:p>
            <a:pPr marL="914400" lvl="1" indent="-457200" eaLnBrk="1" hangingPunct="1">
              <a:lnSpc>
                <a:spcPct val="120000"/>
              </a:lnSpc>
              <a:buFont typeface="Times New Roman" panose="02020603050405020304" pitchFamily="18" charset="0"/>
              <a:buAutoNum type="arabicPeriod"/>
            </a:pPr>
            <a:r>
              <a:rPr lang="en-US" altLang="zh-CN" sz="2400" b="1" dirty="0">
                <a:solidFill>
                  <a:srgbClr val="C00000"/>
                </a:solidFill>
                <a:ea typeface="仿宋" panose="02010609060101010101" pitchFamily="49" charset="-122"/>
              </a:rPr>
              <a:t>Object Request Broker</a:t>
            </a:r>
          </a:p>
          <a:p>
            <a:pPr marL="914400" lvl="1" indent="-457200" eaLnBrk="1" hangingPunct="1">
              <a:lnSpc>
                <a:spcPct val="120000"/>
              </a:lnSpc>
              <a:buFont typeface="Times New Roman" panose="02020603050405020304" pitchFamily="18" charset="0"/>
              <a:buAutoNum type="arabicPeriod"/>
            </a:pPr>
            <a:r>
              <a:rPr lang="en-US" altLang="zh-CN" sz="2400" b="1" dirty="0">
                <a:solidFill>
                  <a:srgbClr val="C00000"/>
                </a:solidFill>
                <a:ea typeface="仿宋" panose="02010609060101010101" pitchFamily="49" charset="-122"/>
              </a:rPr>
              <a:t>Object spaces</a:t>
            </a:r>
          </a:p>
          <a:p>
            <a:pPr marL="914400" lvl="1" indent="-457200" eaLnBrk="1" hangingPunct="1">
              <a:lnSpc>
                <a:spcPct val="120000"/>
              </a:lnSpc>
              <a:buFont typeface="Times New Roman" panose="02020603050405020304" pitchFamily="18" charset="0"/>
              <a:buAutoNum type="arabicPeriod"/>
            </a:pPr>
            <a:r>
              <a:rPr lang="en-US" altLang="zh-CN" sz="2400" b="1" dirty="0">
                <a:solidFill>
                  <a:srgbClr val="C00000"/>
                </a:solidFill>
                <a:ea typeface="仿宋" panose="02010609060101010101" pitchFamily="49" charset="-122"/>
              </a:rPr>
              <a:t>Component-based Technology</a:t>
            </a:r>
          </a:p>
        </p:txBody>
      </p:sp>
      <p:sp>
        <p:nvSpPr>
          <p:cNvPr id="45059" name="Rectangle 5"/>
          <p:cNvSpPr>
            <a:spLocks noGrp="1"/>
          </p:cNvSpPr>
          <p:nvPr>
            <p:ph type="title"/>
          </p:nvPr>
        </p:nvSpPr>
        <p:spPr>
          <a:xfrm>
            <a:off x="0" y="0"/>
            <a:ext cx="9144000" cy="965200"/>
          </a:xfrm>
        </p:spPr>
        <p:txBody>
          <a:bodyPr vert="horz" wrap="square" lIns="91440" tIns="45720" rIns="91440" bIns="45720" anchor="ctr" anchorCtr="0"/>
          <a:lstStyle/>
          <a:p>
            <a:pPr algn="just" eaLnBrk="1" hangingPunct="1"/>
            <a:r>
              <a:rPr lang="en-US" altLang="zh-CN" dirty="0">
                <a:ea typeface="宋体" panose="02010600030101010101" pitchFamily="2" charset="-122"/>
              </a:rPr>
              <a:t>2.7 Distributed objects Paradigms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p:txBody>
          <a:bodyPr vert="horz" wrap="square" lIns="91440" tIns="45720" rIns="91440" bIns="45720" anchor="ctr" anchorCtr="0"/>
          <a:lstStyle/>
          <a:p>
            <a:pPr algn="just" eaLnBrk="1" hangingPunct="1">
              <a:buNone/>
            </a:pPr>
            <a:r>
              <a:rPr lang="en-US" altLang="zh-CN" sz="4000" b="1" dirty="0">
                <a:ea typeface="宋体" panose="02010600030101010101" pitchFamily="2" charset="-122"/>
              </a:rPr>
              <a:t>1. Remote Method Invocation (RMI)</a:t>
            </a:r>
            <a:r>
              <a:rPr lang="en-US" altLang="zh-CN" sz="4000" dirty="0">
                <a:ea typeface="宋体" panose="02010600030101010101" pitchFamily="2" charset="-122"/>
              </a:rPr>
              <a:t> </a:t>
            </a:r>
          </a:p>
        </p:txBody>
      </p:sp>
      <p:sp>
        <p:nvSpPr>
          <p:cNvPr id="46083" name="Rectangle 3"/>
          <p:cNvSpPr>
            <a:spLocks noGrp="1"/>
          </p:cNvSpPr>
          <p:nvPr>
            <p:ph idx="1"/>
          </p:nvPr>
        </p:nvSpPr>
        <p:spPr>
          <a:xfrm>
            <a:off x="279400" y="1041400"/>
            <a:ext cx="8572500" cy="171767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400" dirty="0">
                <a:solidFill>
                  <a:srgbClr val="000099"/>
                </a:solidFill>
                <a:ea typeface="Arial Unicode MS" pitchFamily="34" charset="-122"/>
              </a:rPr>
              <a:t>A process invokes the methods in an object, which may reside in a </a:t>
            </a:r>
            <a:r>
              <a:rPr lang="en-US" altLang="zh-CN" sz="2400" dirty="0">
                <a:solidFill>
                  <a:srgbClr val="FF3300"/>
                </a:solidFill>
                <a:ea typeface="Arial Unicode MS" pitchFamily="34" charset="-122"/>
              </a:rPr>
              <a:t>remote host</a:t>
            </a:r>
            <a:r>
              <a:rPr lang="en-US" altLang="zh-CN" sz="2400" dirty="0">
                <a:solidFill>
                  <a:srgbClr val="000099"/>
                </a:solidFill>
                <a:ea typeface="Arial Unicode MS" pitchFamily="34" charset="-122"/>
              </a:rPr>
              <a:t>. As with RPC, arguments may be passed with the invocation.</a:t>
            </a:r>
            <a:endParaRPr lang="zh-CN" altLang="en-US" sz="2400" dirty="0">
              <a:solidFill>
                <a:srgbClr val="000099"/>
              </a:solidFill>
              <a:ea typeface="宋体" panose="02010600030101010101" pitchFamily="2" charset="-122"/>
            </a:endParaRPr>
          </a:p>
        </p:txBody>
      </p:sp>
      <p:graphicFrame>
        <p:nvGraphicFramePr>
          <p:cNvPr id="46084" name="Object 4"/>
          <p:cNvGraphicFramePr>
            <a:graphicFrameLocks noChangeAspect="1"/>
          </p:cNvGraphicFramePr>
          <p:nvPr/>
        </p:nvGraphicFramePr>
        <p:xfrm>
          <a:off x="1354138" y="2941638"/>
          <a:ext cx="6934200" cy="3317875"/>
        </p:xfrm>
        <a:graphic>
          <a:graphicData uri="http://schemas.openxmlformats.org/presentationml/2006/ole">
            <mc:AlternateContent xmlns:mc="http://schemas.openxmlformats.org/markup-compatibility/2006">
              <mc:Choice xmlns:v="urn:schemas-microsoft-com:vml" Requires="v">
                <p:oleObj spid="_x0000_s8194" r:id="rId4" imgW="3046730" imgH="1847215" progId="SmartDraw.2">
                  <p:embed/>
                </p:oleObj>
              </mc:Choice>
              <mc:Fallback>
                <p:oleObj r:id="rId4" imgW="3046730" imgH="1847215" progId="SmartDraw.2">
                  <p:embed/>
                  <p:pic>
                    <p:nvPicPr>
                      <p:cNvPr id="0" name="图片 3091"/>
                      <p:cNvPicPr/>
                      <p:nvPr/>
                    </p:nvPicPr>
                    <p:blipFill>
                      <a:blip r:embed="rId5"/>
                      <a:stretch>
                        <a:fillRect/>
                      </a:stretch>
                    </p:blipFill>
                    <p:spPr>
                      <a:xfrm>
                        <a:off x="1354138" y="2941638"/>
                        <a:ext cx="6934200" cy="3317875"/>
                      </a:xfrm>
                      <a:prstGeom prst="rect">
                        <a:avLst/>
                      </a:prstGeom>
                      <a:noFill/>
                      <a:ln w="38100">
                        <a:noFill/>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0" y="0"/>
            <a:ext cx="9144000" cy="549275"/>
          </a:xfrm>
        </p:spPr>
        <p:txBody>
          <a:bodyPr vert="horz" wrap="square" lIns="91440" tIns="45720" rIns="91440" bIns="45720" anchor="ctr" anchorCtr="0"/>
          <a:lstStyle/>
          <a:p>
            <a:pPr algn="just" eaLnBrk="1" hangingPunct="1">
              <a:buNone/>
            </a:pPr>
            <a:r>
              <a:rPr lang="zh-CN" altLang="en-US" sz="3600" b="1" dirty="0">
                <a:ea typeface="宋体" panose="02010600030101010101" pitchFamily="2" charset="-122"/>
              </a:rPr>
              <a:t>例</a:t>
            </a:r>
            <a:r>
              <a:rPr lang="en-US" altLang="zh-CN" sz="3600" b="1" dirty="0">
                <a:ea typeface="宋体" panose="02010600030101010101" pitchFamily="2" charset="-122"/>
              </a:rPr>
              <a:t>. JAVA  RMI</a:t>
            </a:r>
            <a:r>
              <a:rPr lang="en-US" altLang="zh-CN" sz="3600" dirty="0">
                <a:ea typeface="宋体" panose="02010600030101010101" pitchFamily="2" charset="-122"/>
              </a:rPr>
              <a:t> </a:t>
            </a:r>
          </a:p>
        </p:txBody>
      </p:sp>
      <p:sp>
        <p:nvSpPr>
          <p:cNvPr id="47107" name="Rectangle 3"/>
          <p:cNvSpPr>
            <a:spLocks noGrp="1"/>
          </p:cNvSpPr>
          <p:nvPr>
            <p:ph idx="1"/>
          </p:nvPr>
        </p:nvSpPr>
        <p:spPr>
          <a:xfrm>
            <a:off x="203200" y="569913"/>
            <a:ext cx="8572500" cy="105727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zh-CN" altLang="en-US" sz="2000" dirty="0">
                <a:ea typeface="宋体" panose="02010600030101010101" pitchFamily="2" charset="-122"/>
              </a:rPr>
              <a:t>允许运行在一个</a:t>
            </a:r>
            <a:r>
              <a:rPr lang="en-US" altLang="zh-CN" sz="2000" dirty="0">
                <a:ea typeface="宋体" panose="02010600030101010101" pitchFamily="2" charset="-122"/>
              </a:rPr>
              <a:t>java </a:t>
            </a:r>
            <a:r>
              <a:rPr lang="zh-CN" altLang="en-US" sz="2000" dirty="0">
                <a:ea typeface="宋体" panose="02010600030101010101" pitchFamily="2" charset="-122"/>
              </a:rPr>
              <a:t>虚拟机的对象调用运行在另一个</a:t>
            </a:r>
            <a:r>
              <a:rPr lang="en-US" altLang="zh-CN" sz="2000" dirty="0">
                <a:ea typeface="宋体" panose="02010600030101010101" pitchFamily="2" charset="-122"/>
              </a:rPr>
              <a:t>java</a:t>
            </a:r>
            <a:r>
              <a:rPr lang="zh-CN" altLang="en-US" sz="2000" dirty="0">
                <a:ea typeface="宋体" panose="02010600030101010101" pitchFamily="2" charset="-122"/>
              </a:rPr>
              <a:t>虚拟机上对象的方法。两个虚拟机可以在同一个计算机上，也可以不同计算机中。</a:t>
            </a:r>
            <a:endParaRPr lang="zh-CN" altLang="en-US" sz="2000" dirty="0">
              <a:solidFill>
                <a:srgbClr val="000099"/>
              </a:solidFill>
              <a:ea typeface="宋体" panose="02010600030101010101" pitchFamily="2" charset="-122"/>
            </a:endParaRPr>
          </a:p>
        </p:txBody>
      </p:sp>
      <p:pic>
        <p:nvPicPr>
          <p:cNvPr id="47108" name="图片 4" descr="JAVARMI.jpg"/>
          <p:cNvPicPr>
            <a:picLocks noChangeAspect="1"/>
          </p:cNvPicPr>
          <p:nvPr/>
        </p:nvPicPr>
        <p:blipFill>
          <a:blip r:embed="rId3"/>
          <a:stretch>
            <a:fillRect/>
          </a:stretch>
        </p:blipFill>
        <p:spPr>
          <a:xfrm>
            <a:off x="573088" y="1530350"/>
            <a:ext cx="8128000" cy="4992688"/>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279400" y="0"/>
            <a:ext cx="8636000" cy="571500"/>
          </a:xfrm>
        </p:spPr>
        <p:txBody>
          <a:bodyPr vert="horz" wrap="square" lIns="91440" tIns="45720" rIns="91440" bIns="45720" anchor="ctr" anchorCtr="0"/>
          <a:lstStyle/>
          <a:p>
            <a:pPr algn="just" eaLnBrk="1" hangingPunct="1">
              <a:buNone/>
            </a:pPr>
            <a:r>
              <a:rPr lang="en-US" altLang="zh-CN" sz="4000" b="1" dirty="0">
                <a:ea typeface="宋体" panose="02010600030101010101" pitchFamily="2" charset="-122"/>
              </a:rPr>
              <a:t>2. The Network Services Paradigm</a:t>
            </a:r>
            <a:r>
              <a:rPr lang="en-US" altLang="zh-CN" sz="4000" dirty="0">
                <a:ea typeface="宋体" panose="02010600030101010101" pitchFamily="2" charset="-122"/>
              </a:rPr>
              <a:t> </a:t>
            </a:r>
          </a:p>
        </p:txBody>
      </p:sp>
      <p:sp>
        <p:nvSpPr>
          <p:cNvPr id="48131" name="Rectangle 3"/>
          <p:cNvSpPr>
            <a:spLocks noGrp="1"/>
          </p:cNvSpPr>
          <p:nvPr>
            <p:ph idx="1"/>
          </p:nvPr>
        </p:nvSpPr>
        <p:spPr>
          <a:xfrm>
            <a:off x="177800" y="609600"/>
            <a:ext cx="8775700" cy="6248400"/>
          </a:xfrm>
        </p:spPr>
        <p:txBody>
          <a:bodyPr vert="horz" wrap="square" lIns="91440" tIns="45720" rIns="91440" bIns="45720" anchor="t" anchorCtr="0"/>
          <a:lstStyle/>
          <a:p>
            <a:pPr algn="just" eaLnBrk="1" hangingPunct="1">
              <a:lnSpc>
                <a:spcPct val="90000"/>
              </a:lnSpc>
              <a:buFont typeface="Wingdings" panose="05000000000000000000" pitchFamily="2" charset="2"/>
              <a:buChar char="u"/>
            </a:pPr>
            <a:r>
              <a:rPr lang="en-US" altLang="zh-CN" sz="2100" dirty="0">
                <a:solidFill>
                  <a:srgbClr val="000099"/>
                </a:solidFill>
                <a:ea typeface="Arial Unicode MS" pitchFamily="34" charset="-122"/>
              </a:rPr>
              <a:t>Service providers register themselves with </a:t>
            </a:r>
            <a:r>
              <a:rPr lang="en-US" altLang="zh-CN" sz="2100" dirty="0">
                <a:solidFill>
                  <a:srgbClr val="FF3300"/>
                </a:solidFill>
                <a:ea typeface="Arial Unicode MS" pitchFamily="34" charset="-122"/>
              </a:rPr>
              <a:t>directory servers</a:t>
            </a:r>
            <a:r>
              <a:rPr lang="en-US" altLang="zh-CN" sz="2100" dirty="0">
                <a:solidFill>
                  <a:srgbClr val="000099"/>
                </a:solidFill>
                <a:ea typeface="Arial Unicode MS" pitchFamily="34" charset="-122"/>
              </a:rPr>
              <a:t> on a network.  A process desiring a particular service contacts the directory server </a:t>
            </a:r>
            <a:r>
              <a:rPr lang="en-US" altLang="zh-CN" sz="2100" dirty="0">
                <a:solidFill>
                  <a:srgbClr val="FF3300"/>
                </a:solidFill>
                <a:ea typeface="Arial Unicode MS" pitchFamily="34" charset="-122"/>
              </a:rPr>
              <a:t>at run time</a:t>
            </a:r>
            <a:r>
              <a:rPr lang="en-US" altLang="zh-CN" sz="2100" dirty="0">
                <a:solidFill>
                  <a:srgbClr val="000099"/>
                </a:solidFill>
                <a:ea typeface="Arial Unicode MS" pitchFamily="34" charset="-122"/>
              </a:rPr>
              <a:t>, and, if the service is available, will be provided a </a:t>
            </a:r>
            <a:r>
              <a:rPr lang="en-US" altLang="zh-CN" sz="2100" dirty="0">
                <a:solidFill>
                  <a:srgbClr val="FF3300"/>
                </a:solidFill>
                <a:ea typeface="Arial Unicode MS" pitchFamily="34" charset="-122"/>
              </a:rPr>
              <a:t>reference </a:t>
            </a:r>
            <a:r>
              <a:rPr lang="en-US" altLang="zh-CN" sz="2100" dirty="0">
                <a:solidFill>
                  <a:srgbClr val="000099"/>
                </a:solidFill>
                <a:ea typeface="Arial Unicode MS" pitchFamily="34" charset="-122"/>
              </a:rPr>
              <a:t>to the service.  Using the reference, the process interacts with the service.</a:t>
            </a:r>
            <a:r>
              <a:rPr lang="zh-CN" altLang="en-US" sz="2100" dirty="0">
                <a:solidFill>
                  <a:srgbClr val="000099"/>
                </a:solidFill>
                <a:ea typeface="Arial Unicode MS" pitchFamily="34" charset="-122"/>
              </a:rPr>
              <a:t> </a:t>
            </a: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endParaRPr lang="en-US" altLang="zh-CN" sz="2100" dirty="0">
              <a:solidFill>
                <a:srgbClr val="000099"/>
              </a:solidFill>
              <a:ea typeface="Arial Unicode MS" pitchFamily="34" charset="-122"/>
            </a:endParaRPr>
          </a:p>
          <a:p>
            <a:pPr algn="just" eaLnBrk="1" hangingPunct="1">
              <a:lnSpc>
                <a:spcPct val="90000"/>
              </a:lnSpc>
              <a:buFont typeface="Wingdings" panose="05000000000000000000" pitchFamily="2" charset="2"/>
              <a:buChar char="u"/>
            </a:pPr>
            <a:r>
              <a:rPr lang="en-US" altLang="zh-CN" sz="2100" dirty="0">
                <a:solidFill>
                  <a:srgbClr val="000099"/>
                </a:solidFill>
                <a:ea typeface="Arial Unicode MS" pitchFamily="34" charset="-122"/>
              </a:rPr>
              <a:t>This paradigm is essentially an extension of the remote method call paradigm.  </a:t>
            </a:r>
            <a:r>
              <a:rPr lang="en-US" altLang="zh-CN" sz="2100" dirty="0">
                <a:solidFill>
                  <a:srgbClr val="FF0000"/>
                </a:solidFill>
                <a:ea typeface="Arial Unicode MS" pitchFamily="34" charset="-122"/>
              </a:rPr>
              <a:t>The difference is that service objects are registered with a global directory service, allowing them to be look up and accessed </a:t>
            </a:r>
            <a:r>
              <a:rPr lang="en-US" altLang="zh-CN" sz="2100" dirty="0">
                <a:solidFill>
                  <a:srgbClr val="000099"/>
                </a:solidFill>
                <a:ea typeface="Arial Unicode MS" pitchFamily="34" charset="-122"/>
              </a:rPr>
              <a:t>by service requestors on a federated network</a:t>
            </a:r>
            <a:r>
              <a:rPr lang="zh-CN" altLang="en-US" sz="2100" dirty="0">
                <a:solidFill>
                  <a:srgbClr val="000099"/>
                </a:solidFill>
                <a:ea typeface="Arial Unicode MS" pitchFamily="34" charset="-122"/>
              </a:rPr>
              <a:t>（</a:t>
            </a:r>
            <a:r>
              <a:rPr lang="en-US" altLang="zh-CN" sz="1800" dirty="0">
                <a:solidFill>
                  <a:srgbClr val="000099"/>
                </a:solidFill>
                <a:latin typeface="宋体" panose="02010600030101010101" pitchFamily="2" charset="-122"/>
                <a:ea typeface="宋体" panose="02010600030101010101" pitchFamily="2" charset="-122"/>
              </a:rPr>
              <a:t>3</a:t>
            </a:r>
            <a:r>
              <a:rPr lang="zh-CN" altLang="en-US" sz="1800" dirty="0">
                <a:solidFill>
                  <a:srgbClr val="000099"/>
                </a:solidFill>
                <a:latin typeface="宋体" panose="02010600030101010101" pitchFamily="2" charset="-122"/>
                <a:ea typeface="宋体" panose="02010600030101010101" pitchFamily="2" charset="-122"/>
              </a:rPr>
              <a:t>个角色</a:t>
            </a:r>
            <a:r>
              <a:rPr lang="en-US" altLang="zh-CN" sz="1800" dirty="0">
                <a:solidFill>
                  <a:srgbClr val="000099"/>
                </a:solidFill>
                <a:latin typeface="宋体" panose="02010600030101010101" pitchFamily="2" charset="-122"/>
                <a:ea typeface="宋体" panose="02010600030101010101" pitchFamily="2" charset="-122"/>
              </a:rPr>
              <a:t>,</a:t>
            </a:r>
            <a:r>
              <a:rPr lang="zh-CN" altLang="en-US" sz="1800" dirty="0">
                <a:solidFill>
                  <a:srgbClr val="000099"/>
                </a:solidFill>
                <a:latin typeface="宋体" panose="02010600030101010101" pitchFamily="2" charset="-122"/>
                <a:ea typeface="宋体" panose="02010600030101010101" pitchFamily="2" charset="-122"/>
              </a:rPr>
              <a:t>实现了服务动态性</a:t>
            </a:r>
            <a:r>
              <a:rPr lang="en-US" altLang="zh-CN" sz="1800" dirty="0">
                <a:solidFill>
                  <a:srgbClr val="000099"/>
                </a:solidFill>
                <a:latin typeface="宋体" panose="02010600030101010101" pitchFamily="2" charset="-122"/>
                <a:ea typeface="宋体" panose="02010600030101010101" pitchFamily="2" charset="-122"/>
              </a:rPr>
              <a:t>,</a:t>
            </a:r>
            <a:r>
              <a:rPr lang="zh-CN" altLang="en-US" sz="1800" dirty="0">
                <a:solidFill>
                  <a:srgbClr val="000099"/>
                </a:solidFill>
                <a:latin typeface="宋体" panose="02010600030101010101" pitchFamily="2" charset="-122"/>
                <a:ea typeface="宋体" panose="02010600030101010101" pitchFamily="2" charset="-122"/>
              </a:rPr>
              <a:t>独立于语言</a:t>
            </a:r>
            <a:r>
              <a:rPr lang="zh-CN" altLang="en-US" sz="2100" dirty="0">
                <a:solidFill>
                  <a:srgbClr val="000099"/>
                </a:solidFill>
                <a:ea typeface="Arial Unicode MS" pitchFamily="34" charset="-122"/>
              </a:rPr>
              <a:t>）</a:t>
            </a:r>
            <a:endParaRPr lang="en-US" altLang="zh-CN" sz="2100" dirty="0">
              <a:solidFill>
                <a:srgbClr val="000099"/>
              </a:solidFill>
              <a:ea typeface="Arial Unicode MS" pitchFamily="34" charset="-122"/>
            </a:endParaRPr>
          </a:p>
        </p:txBody>
      </p:sp>
      <p:graphicFrame>
        <p:nvGraphicFramePr>
          <p:cNvPr id="48132" name="Object 4"/>
          <p:cNvGraphicFramePr>
            <a:graphicFrameLocks noChangeAspect="1"/>
          </p:cNvGraphicFramePr>
          <p:nvPr/>
        </p:nvGraphicFramePr>
        <p:xfrm>
          <a:off x="1841500" y="1866900"/>
          <a:ext cx="5778500" cy="3454400"/>
        </p:xfrm>
        <a:graphic>
          <a:graphicData uri="http://schemas.openxmlformats.org/presentationml/2006/ole">
            <mc:AlternateContent xmlns:mc="http://schemas.openxmlformats.org/markup-compatibility/2006">
              <mc:Choice xmlns:v="urn:schemas-microsoft-com:vml" Requires="v">
                <p:oleObj spid="_x0000_s9218" r:id="rId4" imgW="3846830" imgH="2002790" progId="SmartDraw.2">
                  <p:embed/>
                </p:oleObj>
              </mc:Choice>
              <mc:Fallback>
                <p:oleObj r:id="rId4" imgW="3846830" imgH="2002790" progId="SmartDraw.2">
                  <p:embed/>
                  <p:pic>
                    <p:nvPicPr>
                      <p:cNvPr id="0" name="图片 3092"/>
                      <p:cNvPicPr/>
                      <p:nvPr/>
                    </p:nvPicPr>
                    <p:blipFill>
                      <a:blip r:embed="rId5"/>
                      <a:stretch>
                        <a:fillRect/>
                      </a:stretch>
                    </p:blipFill>
                    <p:spPr>
                      <a:xfrm>
                        <a:off x="1841500" y="1866900"/>
                        <a:ext cx="5778500" cy="3454400"/>
                      </a:xfrm>
                      <a:prstGeom prst="rect">
                        <a:avLst/>
                      </a:prstGeom>
                      <a:noFill/>
                      <a:ln w="38100">
                        <a:noFill/>
                        <a:miter/>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p:nvPr/>
        </p:nvSpPr>
        <p:spPr>
          <a:xfrm>
            <a:off x="469900" y="304800"/>
            <a:ext cx="8293100" cy="609600"/>
          </a:xfrm>
          <a:prstGeom prst="rect">
            <a:avLst/>
          </a:prstGeom>
          <a:noFill/>
          <a:ln w="9525">
            <a:noFill/>
          </a:ln>
        </p:spPr>
        <p:txBody>
          <a:bodyPr anchor="b"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3600" b="1" dirty="0">
                <a:solidFill>
                  <a:srgbClr val="FF3300"/>
                </a:solidFill>
                <a:ea typeface="宋体" panose="02010600030101010101" pitchFamily="2" charset="-122"/>
              </a:rPr>
              <a:t>2. The Network Services Paradigm</a:t>
            </a:r>
            <a:r>
              <a:rPr lang="en-US" altLang="zh-CN" sz="3600" dirty="0">
                <a:solidFill>
                  <a:srgbClr val="FF3300"/>
                </a:solidFill>
                <a:ea typeface="宋体" panose="02010600030101010101" pitchFamily="2" charset="-122"/>
              </a:rPr>
              <a:t> - 2</a:t>
            </a:r>
          </a:p>
        </p:txBody>
      </p:sp>
      <p:sp>
        <p:nvSpPr>
          <p:cNvPr id="49155" name="Rectangle 4" descr="Rectangle: Click to edit Master text styles&#10;Second level&#10;Third level&#10;Fourth level&#10;Fifth level"/>
          <p:cNvSpPr>
            <a:spLocks noGrp="1"/>
          </p:cNvSpPr>
          <p:nvPr>
            <p:ph idx="1"/>
          </p:nvPr>
        </p:nvSpPr>
        <p:spPr>
          <a:xfrm>
            <a:off x="215900" y="965200"/>
            <a:ext cx="8724900" cy="1854200"/>
          </a:xfrm>
        </p:spPr>
        <p:txBody>
          <a:bodyPr vert="horz" wrap="square" lIns="91440" tIns="45720" rIns="91440" bIns="45720" anchor="t" anchorCtr="0"/>
          <a:lstStyle/>
          <a:p>
            <a:pPr algn="just" eaLnBrk="1" hangingPunct="1">
              <a:lnSpc>
                <a:spcPct val="80000"/>
              </a:lnSpc>
              <a:buFont typeface="Wingdings" panose="05000000000000000000" pitchFamily="2" charset="2"/>
              <a:buChar char="u"/>
            </a:pPr>
            <a:r>
              <a:rPr lang="en-US" altLang="zh-CN" sz="2400" i="1" dirty="0">
                <a:solidFill>
                  <a:srgbClr val="FF3300"/>
                </a:solidFill>
                <a:ea typeface="Arial Unicode MS" pitchFamily="34" charset="-122"/>
              </a:rPr>
              <a:t>Web-services</a:t>
            </a:r>
            <a:r>
              <a:rPr lang="en-US" altLang="zh-CN" sz="2400" dirty="0">
                <a:solidFill>
                  <a:srgbClr val="000099"/>
                </a:solidFill>
                <a:ea typeface="Arial Unicode MS" pitchFamily="34" charset="-122"/>
              </a:rPr>
              <a:t> extend the network of a message network service to the complete </a:t>
            </a:r>
            <a:r>
              <a:rPr lang="en-US" altLang="zh-CN" sz="2400" dirty="0">
                <a:solidFill>
                  <a:srgbClr val="FF3300"/>
                </a:solidFill>
                <a:ea typeface="Arial Unicode MS" pitchFamily="34" charset="-122"/>
              </a:rPr>
              <a:t>internet</a:t>
            </a:r>
            <a:r>
              <a:rPr lang="en-US" altLang="zh-CN" sz="2400" dirty="0">
                <a:solidFill>
                  <a:srgbClr val="000099"/>
                </a:solidFill>
                <a:ea typeface="Arial Unicode MS" pitchFamily="34" charset="-122"/>
              </a:rPr>
              <a:t>.</a:t>
            </a:r>
          </a:p>
          <a:p>
            <a:pPr algn="just" eaLnBrk="1" hangingPunct="1">
              <a:lnSpc>
                <a:spcPct val="80000"/>
              </a:lnSpc>
              <a:buFont typeface="Wingdings" panose="05000000000000000000" pitchFamily="2" charset="2"/>
              <a:buChar char="u"/>
            </a:pPr>
            <a:r>
              <a:rPr lang="en-US" altLang="zh-CN" sz="2400" dirty="0">
                <a:solidFill>
                  <a:srgbClr val="000099"/>
                </a:solidFill>
                <a:ea typeface="Arial Unicode MS" pitchFamily="34" charset="-122"/>
              </a:rPr>
              <a:t>With web-services processes can communicate over </a:t>
            </a:r>
            <a:r>
              <a:rPr lang="en-US" altLang="zh-CN" sz="2400" dirty="0">
                <a:solidFill>
                  <a:srgbClr val="FF3300"/>
                </a:solidFill>
                <a:ea typeface="Arial Unicode MS" pitchFamily="34" charset="-122"/>
              </a:rPr>
              <a:t>HTTP</a:t>
            </a:r>
            <a:r>
              <a:rPr lang="en-US" altLang="zh-CN" sz="2400" dirty="0">
                <a:solidFill>
                  <a:srgbClr val="000099"/>
                </a:solidFill>
                <a:ea typeface="Arial Unicode MS" pitchFamily="34" charset="-122"/>
              </a:rPr>
              <a:t>. </a:t>
            </a:r>
          </a:p>
          <a:p>
            <a:pPr algn="just" eaLnBrk="1" hangingPunct="1">
              <a:lnSpc>
                <a:spcPct val="80000"/>
              </a:lnSpc>
              <a:buFont typeface="Wingdings" panose="05000000000000000000" pitchFamily="2" charset="2"/>
              <a:buChar char="u"/>
            </a:pPr>
            <a:r>
              <a:rPr lang="en-US" altLang="zh-CN" sz="2400" dirty="0">
                <a:solidFill>
                  <a:srgbClr val="000099"/>
                </a:solidFill>
                <a:ea typeface="Arial Unicode MS" pitchFamily="34" charset="-122"/>
              </a:rPr>
              <a:t>Data is transferred using XML-based SOAP (Simple Object Access Protocol). </a:t>
            </a:r>
            <a:endParaRPr lang="en-US" altLang="zh-CN" sz="2400" dirty="0">
              <a:solidFill>
                <a:srgbClr val="000099"/>
              </a:solidFill>
              <a:ea typeface="宋体" panose="02010600030101010101" pitchFamily="2" charset="-122"/>
            </a:endParaRPr>
          </a:p>
        </p:txBody>
      </p:sp>
      <p:graphicFrame>
        <p:nvGraphicFramePr>
          <p:cNvPr id="49156" name="Object 5"/>
          <p:cNvGraphicFramePr>
            <a:graphicFrameLocks noChangeAspect="1"/>
          </p:cNvGraphicFramePr>
          <p:nvPr/>
        </p:nvGraphicFramePr>
        <p:xfrm>
          <a:off x="1358900" y="2997200"/>
          <a:ext cx="6819900" cy="3784600"/>
        </p:xfrm>
        <a:graphic>
          <a:graphicData uri="http://schemas.openxmlformats.org/presentationml/2006/ole">
            <mc:AlternateContent xmlns:mc="http://schemas.openxmlformats.org/markup-compatibility/2006">
              <mc:Choice xmlns:v="urn:schemas-microsoft-com:vml" Requires="v">
                <p:oleObj spid="_x0000_s10242" r:id="rId4" imgW="4014470" imgH="1874520" progId="SmartDraw.2">
                  <p:embed/>
                </p:oleObj>
              </mc:Choice>
              <mc:Fallback>
                <p:oleObj r:id="rId4" imgW="4014470" imgH="1874520" progId="SmartDraw.2">
                  <p:embed/>
                  <p:pic>
                    <p:nvPicPr>
                      <p:cNvPr id="0" name="图片 3093"/>
                      <p:cNvPicPr/>
                      <p:nvPr/>
                    </p:nvPicPr>
                    <p:blipFill>
                      <a:blip r:embed="rId5"/>
                      <a:stretch>
                        <a:fillRect/>
                      </a:stretch>
                    </p:blipFill>
                    <p:spPr>
                      <a:xfrm>
                        <a:off x="1358900" y="2997200"/>
                        <a:ext cx="6819900" cy="3784600"/>
                      </a:xfrm>
                      <a:prstGeom prst="rect">
                        <a:avLst/>
                      </a:prstGeom>
                      <a:noFill/>
                      <a:ln w="38100">
                        <a:noFill/>
                        <a:miter/>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3413125" y="3906838"/>
            <a:ext cx="184150" cy="4572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endParaRPr lang="zh-CN" altLang="en-US" sz="2400" dirty="0">
              <a:ea typeface="宋体" panose="02010600030101010101" pitchFamily="2" charset="-122"/>
            </a:endParaRPr>
          </a:p>
        </p:txBody>
      </p:sp>
      <p:sp>
        <p:nvSpPr>
          <p:cNvPr id="310275" name="Text Box 3"/>
          <p:cNvSpPr txBox="1">
            <a:spLocks noChangeArrowheads="1"/>
          </p:cNvSpPr>
          <p:nvPr/>
        </p:nvSpPr>
        <p:spPr bwMode="auto">
          <a:xfrm>
            <a:off x="293688" y="0"/>
            <a:ext cx="2820988" cy="708025"/>
          </a:xfrm>
          <a:prstGeom prst="rect">
            <a:avLst/>
          </a:prstGeom>
          <a:noFill/>
          <a:ln w="9525">
            <a:noFill/>
            <a:miter lim="800000"/>
          </a:ln>
          <a:effectLst/>
        </p:spPr>
        <p:txBody>
          <a:bodyPr wrap="none">
            <a:spAutoFit/>
          </a:bodyPr>
          <a:lstStyle/>
          <a:p>
            <a:pPr marR="0" defTabSz="914400" eaLnBrk="1" hangingPunct="1">
              <a:buClrTx/>
              <a:buSzTx/>
              <a:buFontTx/>
              <a:buNone/>
              <a:defRPr/>
            </a:pPr>
            <a:r>
              <a:rPr kumimoji="1" lang="en-US" altLang="zh-CN" sz="40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楷体_GB2312" pitchFamily="49" charset="-122"/>
                <a:cs typeface="+mn-cs"/>
              </a:rPr>
              <a:t>Web service</a:t>
            </a:r>
            <a:endParaRPr kumimoji="1" lang="zh-CN" altLang="en-US" sz="40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cs typeface="+mn-cs"/>
            </a:endParaRPr>
          </a:p>
        </p:txBody>
      </p:sp>
      <p:sp>
        <p:nvSpPr>
          <p:cNvPr id="50180" name="Rectangle 4"/>
          <p:cNvSpPr/>
          <p:nvPr/>
        </p:nvSpPr>
        <p:spPr>
          <a:xfrm>
            <a:off x="293688" y="536575"/>
            <a:ext cx="8734425" cy="28622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Font typeface="Wingdings" panose="05000000000000000000" pitchFamily="2" charset="2"/>
              <a:buChar char="u"/>
            </a:pPr>
            <a:r>
              <a:rPr lang="en-US" altLang="zh-CN" sz="2000" b="1" dirty="0">
                <a:solidFill>
                  <a:schemeClr val="accent2"/>
                </a:solidFill>
                <a:latin typeface="宋体" panose="02010600030101010101" pitchFamily="2" charset="-122"/>
                <a:ea typeface="宋体" panose="02010600030101010101" pitchFamily="2" charset="-122"/>
              </a:rPr>
              <a:t>Web service</a:t>
            </a:r>
            <a:r>
              <a:rPr lang="zh-CN" altLang="en-US" sz="2000" b="1" dirty="0">
                <a:solidFill>
                  <a:schemeClr val="accent2"/>
                </a:solidFill>
                <a:latin typeface="宋体" panose="02010600030101010101" pitchFamily="2" charset="-122"/>
                <a:ea typeface="宋体" panose="02010600030101010101" pitchFamily="2" charset="-122"/>
              </a:rPr>
              <a:t>曾被认为是下一代分布式系统开发的模型，可用于建立一种基于</a:t>
            </a:r>
            <a:r>
              <a:rPr lang="en-US" altLang="zh-CN" sz="2000" b="1" dirty="0">
                <a:solidFill>
                  <a:schemeClr val="accent2"/>
                </a:solidFill>
                <a:latin typeface="宋体" panose="02010600030101010101" pitchFamily="2" charset="-122"/>
                <a:ea typeface="宋体" panose="02010600030101010101" pitchFamily="2" charset="-122"/>
              </a:rPr>
              <a:t>Web</a:t>
            </a:r>
            <a:r>
              <a:rPr lang="zh-CN" altLang="en-US" sz="2000" b="1" dirty="0">
                <a:solidFill>
                  <a:schemeClr val="accent2"/>
                </a:solidFill>
                <a:latin typeface="宋体" panose="02010600030101010101" pitchFamily="2" charset="-122"/>
                <a:ea typeface="宋体" panose="02010600030101010101" pitchFamily="2" charset="-122"/>
              </a:rPr>
              <a:t>的、松散耦合的分布式计算平台。</a:t>
            </a:r>
          </a:p>
          <a:p>
            <a:pPr marL="0" lvl="0" indent="0" algn="l">
              <a:lnSpc>
                <a:spcPct val="150000"/>
              </a:lnSpc>
              <a:spcBef>
                <a:spcPct val="0"/>
              </a:spcBef>
              <a:buClrTx/>
              <a:buFont typeface="Wingdings" panose="05000000000000000000" pitchFamily="2" charset="2"/>
              <a:buChar char="u"/>
            </a:pPr>
            <a:r>
              <a:rPr lang="en-US" altLang="zh-CN" sz="2000" b="1" dirty="0">
                <a:solidFill>
                  <a:schemeClr val="accent2"/>
                </a:solidFill>
                <a:latin typeface="宋体" panose="02010600030101010101" pitchFamily="2" charset="-122"/>
                <a:ea typeface="宋体" panose="02010600030101010101" pitchFamily="2" charset="-122"/>
              </a:rPr>
              <a:t>Web service</a:t>
            </a:r>
            <a:r>
              <a:rPr lang="zh-CN" altLang="en-US" sz="2000" b="1" dirty="0">
                <a:solidFill>
                  <a:schemeClr val="accent2"/>
                </a:solidFill>
                <a:latin typeface="宋体" panose="02010600030101010101" pitchFamily="2" charset="-122"/>
                <a:ea typeface="宋体" panose="02010600030101010101" pitchFamily="2" charset="-122"/>
              </a:rPr>
              <a:t>有三个部分组成：</a:t>
            </a:r>
            <a:r>
              <a:rPr lang="zh-CN" altLang="en-US" sz="2000" b="1" dirty="0">
                <a:solidFill>
                  <a:srgbClr val="FF3300"/>
                </a:solidFill>
                <a:latin typeface="宋体" panose="02010600030101010101" pitchFamily="2" charset="-122"/>
                <a:ea typeface="宋体" panose="02010600030101010101" pitchFamily="2" charset="-122"/>
              </a:rPr>
              <a:t>传输、描述和发现</a:t>
            </a:r>
            <a:r>
              <a:rPr lang="zh-CN" altLang="en-US" sz="2000" b="1" dirty="0">
                <a:solidFill>
                  <a:schemeClr val="accent2"/>
                </a:solidFill>
                <a:latin typeface="宋体" panose="02010600030101010101" pitchFamily="2" charset="-122"/>
                <a:ea typeface="宋体" panose="02010600030101010101" pitchFamily="2" charset="-122"/>
              </a:rPr>
              <a:t>。</a:t>
            </a:r>
          </a:p>
          <a:p>
            <a:pPr marL="457200" lvl="1" indent="0">
              <a:lnSpc>
                <a:spcPct val="150000"/>
              </a:lnSpc>
              <a:spcBef>
                <a:spcPct val="0"/>
              </a:spcBef>
              <a:buClrTx/>
              <a:buFont typeface="Wingdings" panose="05000000000000000000" pitchFamily="2" charset="2"/>
              <a:buChar char="ü"/>
            </a:pPr>
            <a:r>
              <a:rPr lang="zh-CN" altLang="en-US" sz="2000" b="1" dirty="0">
                <a:solidFill>
                  <a:srgbClr val="FF0000"/>
                </a:solidFill>
                <a:latin typeface="宋体" panose="02010600030101010101" pitchFamily="2" charset="-122"/>
                <a:ea typeface="宋体" panose="02010600030101010101" pitchFamily="2" charset="-122"/>
              </a:rPr>
              <a:t>传输模块</a:t>
            </a:r>
            <a:r>
              <a:rPr lang="zh-CN" altLang="en-US" sz="2000" b="1" dirty="0">
                <a:solidFill>
                  <a:schemeClr val="accent2"/>
                </a:solidFill>
                <a:latin typeface="宋体" panose="02010600030101010101" pitchFamily="2" charset="-122"/>
                <a:ea typeface="宋体" panose="02010600030101010101" pitchFamily="2" charset="-122"/>
              </a:rPr>
              <a:t>是在线交换的标准；</a:t>
            </a:r>
            <a:endParaRPr lang="en-US" altLang="zh-CN" sz="2000" b="1" dirty="0">
              <a:solidFill>
                <a:schemeClr val="accent2"/>
              </a:solidFill>
              <a:latin typeface="宋体" panose="02010600030101010101" pitchFamily="2" charset="-122"/>
              <a:ea typeface="宋体" panose="02010600030101010101" pitchFamily="2" charset="-122"/>
            </a:endParaRPr>
          </a:p>
          <a:p>
            <a:pPr marL="457200" lvl="1" indent="0">
              <a:lnSpc>
                <a:spcPct val="150000"/>
              </a:lnSpc>
              <a:spcBef>
                <a:spcPct val="0"/>
              </a:spcBef>
              <a:buClrTx/>
              <a:buFont typeface="Wingdings" panose="05000000000000000000" pitchFamily="2" charset="2"/>
              <a:buChar char="ü"/>
            </a:pPr>
            <a:r>
              <a:rPr lang="zh-CN" altLang="en-US" sz="2000" b="1" dirty="0">
                <a:solidFill>
                  <a:srgbClr val="FF0000"/>
                </a:solidFill>
                <a:latin typeface="宋体" panose="02010600030101010101" pitchFamily="2" charset="-122"/>
                <a:ea typeface="宋体" panose="02010600030101010101" pitchFamily="2" charset="-122"/>
              </a:rPr>
              <a:t>描述模块</a:t>
            </a:r>
            <a:r>
              <a:rPr lang="zh-CN" altLang="en-US" sz="2000" b="1" dirty="0">
                <a:solidFill>
                  <a:schemeClr val="accent2"/>
                </a:solidFill>
                <a:latin typeface="宋体" panose="02010600030101010101" pitchFamily="2" charset="-122"/>
                <a:ea typeface="宋体" panose="02010600030101010101" pitchFamily="2" charset="-122"/>
              </a:rPr>
              <a:t>用于描述服务个体或服务的收集；</a:t>
            </a:r>
            <a:endParaRPr lang="en-US" altLang="zh-CN" sz="2000" b="1" dirty="0">
              <a:solidFill>
                <a:schemeClr val="accent2"/>
              </a:solidFill>
              <a:latin typeface="宋体" panose="02010600030101010101" pitchFamily="2" charset="-122"/>
              <a:ea typeface="宋体" panose="02010600030101010101" pitchFamily="2" charset="-122"/>
            </a:endParaRPr>
          </a:p>
          <a:p>
            <a:pPr marL="457200" lvl="1" indent="0">
              <a:lnSpc>
                <a:spcPct val="150000"/>
              </a:lnSpc>
              <a:spcBef>
                <a:spcPct val="0"/>
              </a:spcBef>
              <a:buClrTx/>
              <a:buFont typeface="Wingdings" panose="05000000000000000000" pitchFamily="2" charset="2"/>
              <a:buChar char="ü"/>
            </a:pPr>
            <a:r>
              <a:rPr lang="zh-CN" altLang="en-US" sz="2000" b="1" dirty="0">
                <a:solidFill>
                  <a:srgbClr val="FF0000"/>
                </a:solidFill>
                <a:latin typeface="宋体" panose="02010600030101010101" pitchFamily="2" charset="-122"/>
                <a:ea typeface="宋体" panose="02010600030101010101" pitchFamily="2" charset="-122"/>
              </a:rPr>
              <a:t>发现模块</a:t>
            </a:r>
            <a:r>
              <a:rPr lang="zh-CN" altLang="en-US" sz="2000" b="1" dirty="0">
                <a:solidFill>
                  <a:schemeClr val="accent2"/>
                </a:solidFill>
                <a:latin typeface="宋体" panose="02010600030101010101" pitchFamily="2" charset="-122"/>
                <a:ea typeface="宋体" panose="02010600030101010101" pitchFamily="2" charset="-122"/>
              </a:rPr>
              <a:t>用于服务的发现。</a:t>
            </a:r>
            <a:r>
              <a:rPr lang="zh-CN" altLang="en-US" sz="2000" dirty="0">
                <a:solidFill>
                  <a:schemeClr val="accent2"/>
                </a:solidFill>
                <a:latin typeface="宋体" panose="02010600030101010101" pitchFamily="2" charset="-122"/>
                <a:ea typeface="宋体" panose="02010600030101010101" pitchFamily="2" charset="-122"/>
              </a:rPr>
              <a:t>    </a:t>
            </a:r>
          </a:p>
        </p:txBody>
      </p:sp>
      <p:sp>
        <p:nvSpPr>
          <p:cNvPr id="50181" name="Rectangle 2"/>
          <p:cNvSpPr/>
          <p:nvPr/>
        </p:nvSpPr>
        <p:spPr>
          <a:xfrm>
            <a:off x="-3175" y="4364038"/>
            <a:ext cx="2139950" cy="449262"/>
          </a:xfrm>
          <a:prstGeom prst="rect">
            <a:avLst/>
          </a:prstGeom>
          <a:noFill/>
          <a:ln w="9525">
            <a:noFill/>
          </a:ln>
        </p:spPr>
        <p:txBody>
          <a:bodyPr anchor="b"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b="1" dirty="0">
                <a:solidFill>
                  <a:schemeClr val="accent2"/>
                </a:solidFill>
                <a:latin typeface="Arial" panose="020B0604020202020204" pitchFamily="34" charset="0"/>
                <a:ea typeface="宋体" panose="02010600030101010101" pitchFamily="2" charset="-122"/>
              </a:rPr>
              <a:t>Web </a:t>
            </a:r>
            <a:r>
              <a:rPr lang="zh-CN" altLang="en-US" sz="2400" b="1" dirty="0">
                <a:solidFill>
                  <a:schemeClr val="accent2"/>
                </a:solidFill>
                <a:latin typeface="Arial" panose="020B0604020202020204" pitchFamily="34" charset="0"/>
                <a:ea typeface="宋体" panose="02010600030101010101" pitchFamily="2" charset="-122"/>
              </a:rPr>
              <a:t>服务模型</a:t>
            </a:r>
            <a:endParaRPr lang="zh-CN" altLang="en-US" sz="2400" dirty="0">
              <a:solidFill>
                <a:schemeClr val="accent2"/>
              </a:solidFill>
              <a:latin typeface="Tahoma" panose="020B0604030504040204" pitchFamily="34" charset="0"/>
              <a:ea typeface="宋体" panose="02010600030101010101" pitchFamily="2" charset="-122"/>
            </a:endParaRPr>
          </a:p>
        </p:txBody>
      </p:sp>
      <p:pic>
        <p:nvPicPr>
          <p:cNvPr id="50182" name="Picture 5"/>
          <p:cNvPicPr>
            <a:picLocks noChangeAspect="1"/>
          </p:cNvPicPr>
          <p:nvPr/>
        </p:nvPicPr>
        <p:blipFill>
          <a:blip r:embed="rId3"/>
          <a:stretch>
            <a:fillRect/>
          </a:stretch>
        </p:blipFill>
        <p:spPr>
          <a:xfrm>
            <a:off x="2195513" y="3397250"/>
            <a:ext cx="6700837" cy="2552700"/>
          </a:xfrm>
          <a:prstGeom prst="rect">
            <a:avLst/>
          </a:prstGeom>
          <a:noFill/>
          <a:ln w="9525">
            <a:noFill/>
          </a:ln>
        </p:spPr>
      </p:pic>
      <p:sp>
        <p:nvSpPr>
          <p:cNvPr id="50183" name="Rectangle 6"/>
          <p:cNvSpPr/>
          <p:nvPr/>
        </p:nvSpPr>
        <p:spPr>
          <a:xfrm>
            <a:off x="833438" y="6073775"/>
            <a:ext cx="7072312" cy="7699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just" eaLnBrk="1" hangingPunct="1">
              <a:buClr>
                <a:schemeClr val="folHlink"/>
              </a:buClr>
              <a:buFont typeface="Wingdings" panose="05000000000000000000" pitchFamily="2" charset="2"/>
              <a:buChar char="u"/>
            </a:pPr>
            <a:r>
              <a:rPr lang="zh-CN" altLang="en-US" sz="2000" b="1" dirty="0">
                <a:solidFill>
                  <a:schemeClr val="accent2"/>
                </a:solidFill>
                <a:ea typeface="宋体" panose="02010600030101010101" pitchFamily="2" charset="-122"/>
              </a:rPr>
              <a:t>三个基本角色：服务提供者、服务注册中心、服务请求者。</a:t>
            </a:r>
          </a:p>
          <a:p>
            <a:pPr marL="342900" lvl="0" indent="-342900" algn="just" eaLnBrk="1" hangingPunct="1">
              <a:buClr>
                <a:schemeClr val="folHlink"/>
              </a:buClr>
              <a:buFont typeface="Wingdings" panose="05000000000000000000" pitchFamily="2" charset="2"/>
              <a:buChar char="u"/>
            </a:pPr>
            <a:r>
              <a:rPr lang="zh-CN" altLang="en-US" sz="2000" b="1" dirty="0">
                <a:solidFill>
                  <a:schemeClr val="accent2"/>
                </a:solidFill>
                <a:ea typeface="宋体" panose="02010600030101010101" pitchFamily="2" charset="-122"/>
              </a:rPr>
              <a:t>三个基本操作：公布、查找、绑定。</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p:nvPr/>
        </p:nvSpPr>
        <p:spPr>
          <a:xfrm>
            <a:off x="252413" y="41275"/>
            <a:ext cx="8586787" cy="936625"/>
          </a:xfrm>
          <a:prstGeom prst="rect">
            <a:avLst/>
          </a:prstGeom>
          <a:noFill/>
          <a:ln w="9525">
            <a:noFill/>
          </a:ln>
        </p:spPr>
        <p:txBody>
          <a:bodyPr anchor="b"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b="1" dirty="0">
                <a:solidFill>
                  <a:schemeClr val="accent2"/>
                </a:solidFill>
                <a:latin typeface="Tahoma" panose="020B0604030504040204" pitchFamily="34" charset="0"/>
                <a:ea typeface="黑体" panose="02010609060101010101" pitchFamily="49" charset="-122"/>
              </a:rPr>
              <a:t>Web service</a:t>
            </a:r>
            <a:r>
              <a:rPr lang="zh-CN" altLang="en-US" b="1" dirty="0">
                <a:solidFill>
                  <a:schemeClr val="accent2"/>
                </a:solidFill>
                <a:latin typeface="Tahoma" panose="020B0604030504040204" pitchFamily="34" charset="0"/>
                <a:ea typeface="黑体" panose="02010609060101010101" pitchFamily="49" charset="-122"/>
              </a:rPr>
              <a:t>与其他紧耦合模式的结合</a:t>
            </a:r>
            <a:endParaRPr lang="en-US" altLang="zh-CN" b="1" dirty="0">
              <a:solidFill>
                <a:schemeClr val="accent2"/>
              </a:solidFill>
              <a:latin typeface="Tahoma" panose="020B0604030504040204" pitchFamily="34" charset="0"/>
              <a:ea typeface="黑体" panose="02010609060101010101" pitchFamily="49" charset="-122"/>
            </a:endParaRPr>
          </a:p>
          <a:p>
            <a:pPr marL="0" lvl="0" indent="0" eaLnBrk="1" hangingPunct="1">
              <a:spcBef>
                <a:spcPct val="0"/>
              </a:spcBef>
              <a:buClrTx/>
              <a:buNone/>
            </a:pPr>
            <a:r>
              <a:rPr lang="zh-CN" altLang="en-US" b="1" dirty="0">
                <a:solidFill>
                  <a:schemeClr val="accent2"/>
                </a:solidFill>
                <a:latin typeface="Tahoma" panose="020B0604030504040204" pitchFamily="34" charset="0"/>
                <a:ea typeface="黑体" panose="02010609060101010101" pitchFamily="49" charset="-122"/>
              </a:rPr>
              <a:t>可使系统的适应性更好</a:t>
            </a:r>
          </a:p>
        </p:txBody>
      </p:sp>
      <p:sp>
        <p:nvSpPr>
          <p:cNvPr id="51203" name="Line 3"/>
          <p:cNvSpPr/>
          <p:nvPr/>
        </p:nvSpPr>
        <p:spPr>
          <a:xfrm>
            <a:off x="914400" y="1066800"/>
            <a:ext cx="7162800" cy="0"/>
          </a:xfrm>
          <a:prstGeom prst="line">
            <a:avLst/>
          </a:prstGeom>
          <a:ln w="9525" cap="flat" cmpd="sng">
            <a:solidFill>
              <a:srgbClr val="FFFF00"/>
            </a:solidFill>
            <a:prstDash val="solid"/>
            <a:headEnd type="none" w="med" len="med"/>
            <a:tailEnd type="none" w="med" len="med"/>
          </a:ln>
        </p:spPr>
      </p:sp>
      <p:grpSp>
        <p:nvGrpSpPr>
          <p:cNvPr id="51204" name="Group 4"/>
          <p:cNvGrpSpPr/>
          <p:nvPr/>
        </p:nvGrpSpPr>
        <p:grpSpPr>
          <a:xfrm>
            <a:off x="152400" y="1117600"/>
            <a:ext cx="8686800" cy="4864100"/>
            <a:chOff x="288" y="384"/>
            <a:chExt cx="5184" cy="3652"/>
          </a:xfrm>
        </p:grpSpPr>
        <p:sp>
          <p:nvSpPr>
            <p:cNvPr id="51206" name="Text Box 5"/>
            <p:cNvSpPr txBox="1"/>
            <p:nvPr/>
          </p:nvSpPr>
          <p:spPr>
            <a:xfrm>
              <a:off x="4687" y="803"/>
              <a:ext cx="785" cy="264"/>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CORBA</a:t>
              </a:r>
            </a:p>
          </p:txBody>
        </p:sp>
        <p:sp>
          <p:nvSpPr>
            <p:cNvPr id="51207" name="Text Box 6"/>
            <p:cNvSpPr txBox="1"/>
            <p:nvPr/>
          </p:nvSpPr>
          <p:spPr>
            <a:xfrm>
              <a:off x="4687" y="1082"/>
              <a:ext cx="785" cy="26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RMI</a:t>
              </a:r>
            </a:p>
          </p:txBody>
        </p:sp>
        <p:sp>
          <p:nvSpPr>
            <p:cNvPr id="51208" name="Text Box 7"/>
            <p:cNvSpPr txBox="1"/>
            <p:nvPr/>
          </p:nvSpPr>
          <p:spPr>
            <a:xfrm>
              <a:off x="4687" y="1432"/>
              <a:ext cx="785" cy="264"/>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DCOM</a:t>
              </a:r>
            </a:p>
          </p:txBody>
        </p:sp>
        <p:sp>
          <p:nvSpPr>
            <p:cNvPr id="51209" name="Text Box 9"/>
            <p:cNvSpPr txBox="1"/>
            <p:nvPr/>
          </p:nvSpPr>
          <p:spPr>
            <a:xfrm>
              <a:off x="288" y="594"/>
              <a:ext cx="787" cy="264"/>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CORBA</a:t>
              </a:r>
            </a:p>
          </p:txBody>
        </p:sp>
        <p:sp>
          <p:nvSpPr>
            <p:cNvPr id="51210" name="Text Box 10"/>
            <p:cNvSpPr txBox="1"/>
            <p:nvPr/>
          </p:nvSpPr>
          <p:spPr>
            <a:xfrm>
              <a:off x="288" y="873"/>
              <a:ext cx="787" cy="264"/>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RMI</a:t>
              </a:r>
            </a:p>
          </p:txBody>
        </p:sp>
        <p:sp>
          <p:nvSpPr>
            <p:cNvPr id="51211" name="Text Box 11"/>
            <p:cNvSpPr txBox="1"/>
            <p:nvPr/>
          </p:nvSpPr>
          <p:spPr>
            <a:xfrm>
              <a:off x="288" y="1222"/>
              <a:ext cx="787" cy="264"/>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DCOM</a:t>
              </a:r>
            </a:p>
          </p:txBody>
        </p:sp>
        <p:sp>
          <p:nvSpPr>
            <p:cNvPr id="51212" name="Oval 12"/>
            <p:cNvSpPr/>
            <p:nvPr/>
          </p:nvSpPr>
          <p:spPr>
            <a:xfrm>
              <a:off x="864" y="384"/>
              <a:ext cx="681" cy="146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b="1" dirty="0">
                  <a:solidFill>
                    <a:schemeClr val="accent2"/>
                  </a:solidFill>
                  <a:ea typeface="宋体" panose="02010600030101010101" pitchFamily="2" charset="-122"/>
                </a:rPr>
                <a:t>内聚化应用</a:t>
              </a:r>
            </a:p>
          </p:txBody>
        </p:sp>
        <p:sp>
          <p:nvSpPr>
            <p:cNvPr id="51213" name="Line 13"/>
            <p:cNvSpPr/>
            <p:nvPr/>
          </p:nvSpPr>
          <p:spPr>
            <a:xfrm>
              <a:off x="707" y="1362"/>
              <a:ext cx="367" cy="0"/>
            </a:xfrm>
            <a:prstGeom prst="line">
              <a:avLst/>
            </a:prstGeom>
            <a:ln w="57150" cap="flat" cmpd="sng">
              <a:solidFill>
                <a:srgbClr val="FF0000"/>
              </a:solidFill>
              <a:prstDash val="solid"/>
              <a:headEnd type="none" w="med" len="med"/>
              <a:tailEnd type="none" w="med" len="med"/>
            </a:ln>
          </p:spPr>
        </p:sp>
        <p:sp>
          <p:nvSpPr>
            <p:cNvPr id="51214" name="Line 14"/>
            <p:cNvSpPr/>
            <p:nvPr/>
          </p:nvSpPr>
          <p:spPr>
            <a:xfrm>
              <a:off x="655" y="1012"/>
              <a:ext cx="366" cy="0"/>
            </a:xfrm>
            <a:prstGeom prst="line">
              <a:avLst/>
            </a:prstGeom>
            <a:ln w="57150" cap="flat" cmpd="sng">
              <a:solidFill>
                <a:srgbClr val="FF0000"/>
              </a:solidFill>
              <a:prstDash val="solid"/>
              <a:headEnd type="none" w="med" len="med"/>
              <a:tailEnd type="none" w="med" len="med"/>
            </a:ln>
          </p:spPr>
        </p:sp>
        <p:sp>
          <p:nvSpPr>
            <p:cNvPr id="51215" name="Line 15"/>
            <p:cNvSpPr/>
            <p:nvPr/>
          </p:nvSpPr>
          <p:spPr>
            <a:xfrm>
              <a:off x="1492" y="943"/>
              <a:ext cx="367" cy="0"/>
            </a:xfrm>
            <a:prstGeom prst="line">
              <a:avLst/>
            </a:prstGeom>
            <a:ln w="57150" cap="flat" cmpd="sng">
              <a:solidFill>
                <a:srgbClr val="FF0000"/>
              </a:solidFill>
              <a:prstDash val="solid"/>
              <a:headEnd type="none" w="med" len="med"/>
              <a:tailEnd type="none" w="med" len="med"/>
            </a:ln>
          </p:spPr>
        </p:sp>
        <p:sp>
          <p:nvSpPr>
            <p:cNvPr id="51216" name="Line 16"/>
            <p:cNvSpPr/>
            <p:nvPr/>
          </p:nvSpPr>
          <p:spPr>
            <a:xfrm>
              <a:off x="655" y="803"/>
              <a:ext cx="366" cy="0"/>
            </a:xfrm>
            <a:prstGeom prst="line">
              <a:avLst/>
            </a:prstGeom>
            <a:ln w="57150" cap="flat" cmpd="sng">
              <a:solidFill>
                <a:srgbClr val="FF0000"/>
              </a:solidFill>
              <a:prstDash val="solid"/>
              <a:headEnd type="none" w="med" len="med"/>
              <a:tailEnd type="none" w="med" len="med"/>
            </a:ln>
          </p:spPr>
        </p:sp>
        <p:sp>
          <p:nvSpPr>
            <p:cNvPr id="51217" name="Text Box 17"/>
            <p:cNvSpPr txBox="1"/>
            <p:nvPr/>
          </p:nvSpPr>
          <p:spPr>
            <a:xfrm>
              <a:off x="3379" y="672"/>
              <a:ext cx="605" cy="26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SOAP</a:t>
              </a:r>
            </a:p>
          </p:txBody>
        </p:sp>
        <p:sp>
          <p:nvSpPr>
            <p:cNvPr id="51218" name="Text Box 18"/>
            <p:cNvSpPr txBox="1"/>
            <p:nvPr/>
          </p:nvSpPr>
          <p:spPr>
            <a:xfrm>
              <a:off x="655" y="1711"/>
              <a:ext cx="1047" cy="33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2400" b="1" dirty="0">
                  <a:solidFill>
                    <a:schemeClr val="accent2"/>
                  </a:solidFill>
                  <a:ea typeface="宋体" panose="02010600030101010101" pitchFamily="2" charset="-122"/>
                </a:rPr>
                <a:t>intranet</a:t>
              </a:r>
            </a:p>
          </p:txBody>
        </p:sp>
        <p:sp>
          <p:nvSpPr>
            <p:cNvPr id="51219" name="Oval 19"/>
            <p:cNvSpPr/>
            <p:nvPr/>
          </p:nvSpPr>
          <p:spPr>
            <a:xfrm>
              <a:off x="3797" y="524"/>
              <a:ext cx="680" cy="146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b="1" dirty="0">
                  <a:solidFill>
                    <a:schemeClr val="accent2"/>
                  </a:solidFill>
                  <a:ea typeface="宋体" panose="02010600030101010101" pitchFamily="2" charset="-122"/>
                </a:rPr>
                <a:t>内聚化应用</a:t>
              </a:r>
            </a:p>
          </p:txBody>
        </p:sp>
        <p:sp>
          <p:nvSpPr>
            <p:cNvPr id="51220" name="Line 20"/>
            <p:cNvSpPr/>
            <p:nvPr/>
          </p:nvSpPr>
          <p:spPr>
            <a:xfrm>
              <a:off x="4373" y="1501"/>
              <a:ext cx="366" cy="0"/>
            </a:xfrm>
            <a:prstGeom prst="line">
              <a:avLst/>
            </a:prstGeom>
            <a:ln w="57150" cap="flat" cmpd="sng">
              <a:solidFill>
                <a:srgbClr val="FF0000"/>
              </a:solidFill>
              <a:prstDash val="solid"/>
              <a:headEnd type="none" w="med" len="med"/>
              <a:tailEnd type="none" w="med" len="med"/>
            </a:ln>
          </p:spPr>
        </p:sp>
        <p:sp>
          <p:nvSpPr>
            <p:cNvPr id="51221" name="Line 21"/>
            <p:cNvSpPr/>
            <p:nvPr/>
          </p:nvSpPr>
          <p:spPr>
            <a:xfrm>
              <a:off x="4320" y="1152"/>
              <a:ext cx="367" cy="0"/>
            </a:xfrm>
            <a:prstGeom prst="line">
              <a:avLst/>
            </a:prstGeom>
            <a:ln w="57150" cap="flat" cmpd="sng">
              <a:solidFill>
                <a:srgbClr val="FF0000"/>
              </a:solidFill>
              <a:prstDash val="solid"/>
              <a:headEnd type="none" w="med" len="med"/>
              <a:tailEnd type="none" w="med" len="med"/>
            </a:ln>
          </p:spPr>
        </p:sp>
        <p:sp>
          <p:nvSpPr>
            <p:cNvPr id="51222" name="Line 22"/>
            <p:cNvSpPr/>
            <p:nvPr/>
          </p:nvSpPr>
          <p:spPr>
            <a:xfrm>
              <a:off x="3464" y="909"/>
              <a:ext cx="367" cy="0"/>
            </a:xfrm>
            <a:prstGeom prst="line">
              <a:avLst/>
            </a:prstGeom>
            <a:ln w="57150" cap="flat" cmpd="sng">
              <a:solidFill>
                <a:srgbClr val="FF0000"/>
              </a:solidFill>
              <a:prstDash val="solid"/>
              <a:headEnd type="none" w="med" len="med"/>
              <a:tailEnd type="none" w="med" len="med"/>
            </a:ln>
          </p:spPr>
        </p:sp>
        <p:sp>
          <p:nvSpPr>
            <p:cNvPr id="51223" name="Line 23"/>
            <p:cNvSpPr/>
            <p:nvPr/>
          </p:nvSpPr>
          <p:spPr>
            <a:xfrm>
              <a:off x="4320" y="943"/>
              <a:ext cx="367" cy="0"/>
            </a:xfrm>
            <a:prstGeom prst="line">
              <a:avLst/>
            </a:prstGeom>
            <a:ln w="57150" cap="flat" cmpd="sng">
              <a:solidFill>
                <a:srgbClr val="FF0000"/>
              </a:solidFill>
              <a:prstDash val="solid"/>
              <a:headEnd type="none" w="med" len="med"/>
              <a:tailEnd type="none" w="med" len="med"/>
            </a:ln>
          </p:spPr>
        </p:sp>
        <p:sp>
          <p:nvSpPr>
            <p:cNvPr id="51224" name="Text Box 24"/>
            <p:cNvSpPr txBox="1"/>
            <p:nvPr/>
          </p:nvSpPr>
          <p:spPr>
            <a:xfrm>
              <a:off x="4330" y="1909"/>
              <a:ext cx="1049" cy="329"/>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2400" b="1" dirty="0">
                  <a:solidFill>
                    <a:schemeClr val="accent2"/>
                  </a:solidFill>
                  <a:ea typeface="宋体" panose="02010600030101010101" pitchFamily="2" charset="-122"/>
                </a:rPr>
                <a:t>intranet</a:t>
              </a:r>
            </a:p>
          </p:txBody>
        </p:sp>
        <p:sp>
          <p:nvSpPr>
            <p:cNvPr id="51225" name="Oval 25"/>
            <p:cNvSpPr/>
            <p:nvPr/>
          </p:nvSpPr>
          <p:spPr>
            <a:xfrm>
              <a:off x="2069" y="2380"/>
              <a:ext cx="680" cy="146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b="1" dirty="0">
                  <a:solidFill>
                    <a:schemeClr val="accent2"/>
                  </a:solidFill>
                  <a:ea typeface="宋体" panose="02010600030101010101" pitchFamily="2" charset="-122"/>
                </a:rPr>
                <a:t>内聚化应用</a:t>
              </a:r>
            </a:p>
          </p:txBody>
        </p:sp>
        <p:sp>
          <p:nvSpPr>
            <p:cNvPr id="51226" name="Line 26"/>
            <p:cNvSpPr/>
            <p:nvPr/>
          </p:nvSpPr>
          <p:spPr>
            <a:xfrm>
              <a:off x="1911" y="3357"/>
              <a:ext cx="367" cy="0"/>
            </a:xfrm>
            <a:prstGeom prst="line">
              <a:avLst/>
            </a:prstGeom>
            <a:ln w="57150" cap="flat" cmpd="sng">
              <a:solidFill>
                <a:srgbClr val="FF0000"/>
              </a:solidFill>
              <a:prstDash val="solid"/>
              <a:headEnd type="none" w="med" len="med"/>
              <a:tailEnd type="none" w="med" len="med"/>
            </a:ln>
          </p:spPr>
        </p:sp>
        <p:sp>
          <p:nvSpPr>
            <p:cNvPr id="51227" name="Line 27"/>
            <p:cNvSpPr/>
            <p:nvPr/>
          </p:nvSpPr>
          <p:spPr>
            <a:xfrm>
              <a:off x="1859" y="3008"/>
              <a:ext cx="367" cy="0"/>
            </a:xfrm>
            <a:prstGeom prst="line">
              <a:avLst/>
            </a:prstGeom>
            <a:ln w="57150" cap="flat" cmpd="sng">
              <a:solidFill>
                <a:srgbClr val="FF0000"/>
              </a:solidFill>
              <a:prstDash val="solid"/>
              <a:headEnd type="none" w="med" len="med"/>
              <a:tailEnd type="none" w="med" len="med"/>
            </a:ln>
          </p:spPr>
        </p:sp>
        <p:sp>
          <p:nvSpPr>
            <p:cNvPr id="51228" name="Line 28"/>
            <p:cNvSpPr/>
            <p:nvPr/>
          </p:nvSpPr>
          <p:spPr>
            <a:xfrm>
              <a:off x="2544" y="2496"/>
              <a:ext cx="366" cy="0"/>
            </a:xfrm>
            <a:prstGeom prst="line">
              <a:avLst/>
            </a:prstGeom>
            <a:ln w="57150" cap="flat" cmpd="sng">
              <a:solidFill>
                <a:srgbClr val="FF0000"/>
              </a:solidFill>
              <a:prstDash val="solid"/>
              <a:headEnd type="none" w="med" len="med"/>
              <a:tailEnd type="none" w="med" len="med"/>
            </a:ln>
          </p:spPr>
        </p:sp>
        <p:sp>
          <p:nvSpPr>
            <p:cNvPr id="51229" name="Line 29"/>
            <p:cNvSpPr/>
            <p:nvPr/>
          </p:nvSpPr>
          <p:spPr>
            <a:xfrm>
              <a:off x="1859" y="2799"/>
              <a:ext cx="367" cy="0"/>
            </a:xfrm>
            <a:prstGeom prst="line">
              <a:avLst/>
            </a:prstGeom>
            <a:ln w="57150" cap="flat" cmpd="sng">
              <a:solidFill>
                <a:srgbClr val="FF0000"/>
              </a:solidFill>
              <a:prstDash val="solid"/>
              <a:headEnd type="none" w="med" len="med"/>
              <a:tailEnd type="none" w="med" len="med"/>
            </a:ln>
          </p:spPr>
        </p:sp>
        <p:sp>
          <p:nvSpPr>
            <p:cNvPr id="51230" name="Text Box 30"/>
            <p:cNvSpPr txBox="1"/>
            <p:nvPr/>
          </p:nvSpPr>
          <p:spPr>
            <a:xfrm>
              <a:off x="1492" y="2589"/>
              <a:ext cx="786" cy="264"/>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CORBA</a:t>
              </a:r>
            </a:p>
          </p:txBody>
        </p:sp>
        <p:sp>
          <p:nvSpPr>
            <p:cNvPr id="51231" name="Text Box 31"/>
            <p:cNvSpPr txBox="1"/>
            <p:nvPr/>
          </p:nvSpPr>
          <p:spPr>
            <a:xfrm>
              <a:off x="1492" y="2869"/>
              <a:ext cx="786" cy="26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RMI</a:t>
              </a:r>
            </a:p>
          </p:txBody>
        </p:sp>
        <p:sp>
          <p:nvSpPr>
            <p:cNvPr id="51232" name="Text Box 32"/>
            <p:cNvSpPr txBox="1"/>
            <p:nvPr/>
          </p:nvSpPr>
          <p:spPr>
            <a:xfrm>
              <a:off x="1492" y="3217"/>
              <a:ext cx="786" cy="26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DCOM</a:t>
              </a:r>
            </a:p>
          </p:txBody>
        </p:sp>
        <p:sp>
          <p:nvSpPr>
            <p:cNvPr id="51233" name="Text Box 33"/>
            <p:cNvSpPr txBox="1"/>
            <p:nvPr/>
          </p:nvSpPr>
          <p:spPr>
            <a:xfrm>
              <a:off x="1859" y="3707"/>
              <a:ext cx="1047" cy="329"/>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2400" b="1" dirty="0">
                  <a:solidFill>
                    <a:schemeClr val="accent2"/>
                  </a:solidFill>
                  <a:ea typeface="宋体" panose="02010600030101010101" pitchFamily="2" charset="-122"/>
                </a:rPr>
                <a:t>intranet</a:t>
              </a:r>
            </a:p>
          </p:txBody>
        </p:sp>
        <p:sp>
          <p:nvSpPr>
            <p:cNvPr id="51234" name="Text Box 34"/>
            <p:cNvSpPr txBox="1"/>
            <p:nvPr/>
          </p:nvSpPr>
          <p:spPr>
            <a:xfrm>
              <a:off x="1440" y="719"/>
              <a:ext cx="567" cy="26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SOAP</a:t>
              </a:r>
            </a:p>
          </p:txBody>
        </p:sp>
        <p:sp>
          <p:nvSpPr>
            <p:cNvPr id="51235" name="Text Box 35"/>
            <p:cNvSpPr txBox="1"/>
            <p:nvPr/>
          </p:nvSpPr>
          <p:spPr>
            <a:xfrm>
              <a:off x="2592" y="2544"/>
              <a:ext cx="666" cy="26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800" b="1" dirty="0">
                  <a:solidFill>
                    <a:schemeClr val="accent2"/>
                  </a:solidFill>
                  <a:ea typeface="宋体" panose="02010600030101010101" pitchFamily="2" charset="-122"/>
                </a:rPr>
                <a:t>SOAP</a:t>
              </a:r>
            </a:p>
          </p:txBody>
        </p:sp>
        <p:pic>
          <p:nvPicPr>
            <p:cNvPr id="51236" name="Picture 36" descr="internet cloud smaller"/>
            <p:cNvPicPr>
              <a:picLocks noChangeAspect="1"/>
            </p:cNvPicPr>
            <p:nvPr/>
          </p:nvPicPr>
          <p:blipFill>
            <a:blip r:embed="rId3"/>
            <a:srcRect t="19904"/>
            <a:stretch>
              <a:fillRect/>
            </a:stretch>
          </p:blipFill>
          <p:spPr>
            <a:xfrm>
              <a:off x="1964" y="663"/>
              <a:ext cx="1481" cy="1596"/>
            </a:xfrm>
            <a:prstGeom prst="rect">
              <a:avLst/>
            </a:prstGeom>
            <a:noFill/>
            <a:ln w="9525">
              <a:noFill/>
            </a:ln>
          </p:spPr>
        </p:pic>
        <p:sp>
          <p:nvSpPr>
            <p:cNvPr id="51237" name="Line 37"/>
            <p:cNvSpPr/>
            <p:nvPr/>
          </p:nvSpPr>
          <p:spPr>
            <a:xfrm>
              <a:off x="1754" y="1012"/>
              <a:ext cx="419" cy="210"/>
            </a:xfrm>
            <a:prstGeom prst="line">
              <a:avLst/>
            </a:prstGeom>
            <a:ln w="9525" cap="flat" cmpd="sng">
              <a:solidFill>
                <a:schemeClr val="bg1"/>
              </a:solidFill>
              <a:prstDash val="solid"/>
              <a:headEnd type="triangle" w="med" len="med"/>
              <a:tailEnd type="triangle" w="med" len="med"/>
            </a:ln>
          </p:spPr>
        </p:sp>
        <p:sp>
          <p:nvSpPr>
            <p:cNvPr id="51238" name="Line 38"/>
            <p:cNvSpPr/>
            <p:nvPr/>
          </p:nvSpPr>
          <p:spPr>
            <a:xfrm flipV="1">
              <a:off x="2697" y="1920"/>
              <a:ext cx="105" cy="489"/>
            </a:xfrm>
            <a:prstGeom prst="line">
              <a:avLst/>
            </a:prstGeom>
            <a:ln w="9525" cap="flat" cmpd="sng">
              <a:solidFill>
                <a:schemeClr val="bg1"/>
              </a:solidFill>
              <a:prstDash val="solid"/>
              <a:headEnd type="triangle" w="med" len="med"/>
              <a:tailEnd type="triangle" w="med" len="med"/>
            </a:ln>
          </p:spPr>
        </p:sp>
        <p:sp>
          <p:nvSpPr>
            <p:cNvPr id="51239" name="Line 39"/>
            <p:cNvSpPr/>
            <p:nvPr/>
          </p:nvSpPr>
          <p:spPr>
            <a:xfrm flipH="1">
              <a:off x="3116" y="873"/>
              <a:ext cx="366" cy="209"/>
            </a:xfrm>
            <a:prstGeom prst="line">
              <a:avLst/>
            </a:prstGeom>
            <a:ln w="9525" cap="flat" cmpd="sng">
              <a:solidFill>
                <a:schemeClr val="bg1"/>
              </a:solidFill>
              <a:prstDash val="solid"/>
              <a:headEnd type="triangle" w="med" len="med"/>
              <a:tailEnd type="triangle" w="med" len="med"/>
            </a:ln>
          </p:spPr>
        </p:sp>
        <p:sp>
          <p:nvSpPr>
            <p:cNvPr id="51240" name="Text Box 40"/>
            <p:cNvSpPr txBox="1"/>
            <p:nvPr/>
          </p:nvSpPr>
          <p:spPr>
            <a:xfrm>
              <a:off x="2227" y="1292"/>
              <a:ext cx="1152" cy="374"/>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2800" dirty="0">
                  <a:solidFill>
                    <a:schemeClr val="accent2"/>
                  </a:solidFill>
                  <a:ea typeface="宋体" panose="02010600030101010101" pitchFamily="2" charset="-122"/>
                </a:rPr>
                <a:t>Internet</a:t>
              </a:r>
            </a:p>
          </p:txBody>
        </p:sp>
        <p:sp>
          <p:nvSpPr>
            <p:cNvPr id="51241" name="Text Box 41"/>
            <p:cNvSpPr txBox="1"/>
            <p:nvPr/>
          </p:nvSpPr>
          <p:spPr>
            <a:xfrm>
              <a:off x="3849" y="2479"/>
              <a:ext cx="820" cy="279"/>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zh-CN" altLang="en-US" sz="1800" b="1" dirty="0">
                  <a:solidFill>
                    <a:schemeClr val="accent2"/>
                  </a:solidFill>
                  <a:ea typeface="宋体" panose="02010600030101010101" pitchFamily="2" charset="-122"/>
                </a:rPr>
                <a:t>数据孤岛</a:t>
              </a:r>
            </a:p>
          </p:txBody>
        </p:sp>
        <p:sp>
          <p:nvSpPr>
            <p:cNvPr id="51242" name="AutoShape 42"/>
            <p:cNvSpPr/>
            <p:nvPr/>
          </p:nvSpPr>
          <p:spPr>
            <a:xfrm>
              <a:off x="4163" y="1711"/>
              <a:ext cx="105" cy="768"/>
            </a:xfrm>
            <a:prstGeom prst="upArrow">
              <a:avLst>
                <a:gd name="adj1" fmla="val 50000"/>
                <a:gd name="adj2" fmla="val 182857"/>
              </a:avLst>
            </a:prstGeom>
            <a:solidFill>
              <a:schemeClr val="accent2"/>
            </a:solidFill>
            <a:ln w="9525" cap="flat" cmpd="sng">
              <a:solidFill>
                <a:schemeClr val="tx1"/>
              </a:solidFill>
              <a:prstDash val="solid"/>
              <a:miter/>
              <a:headEnd type="none" w="med" len="med"/>
              <a:tailEnd type="none" w="med" len="med"/>
            </a:ln>
          </p:spPr>
          <p:txBody>
            <a:bodyPr vert="eaVert"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800" dirty="0">
                <a:solidFill>
                  <a:schemeClr val="accent2"/>
                </a:solidFill>
                <a:ea typeface="宋体" panose="02010600030101010101" pitchFamily="2" charset="-122"/>
              </a:endParaRPr>
            </a:p>
          </p:txBody>
        </p:sp>
      </p:grpSp>
      <p:sp>
        <p:nvSpPr>
          <p:cNvPr id="51205" name="矩形 43"/>
          <p:cNvSpPr/>
          <p:nvPr/>
        </p:nvSpPr>
        <p:spPr>
          <a:xfrm>
            <a:off x="584200" y="6245225"/>
            <a:ext cx="8178800" cy="4238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90000"/>
              </a:lnSpc>
              <a:spcBef>
                <a:spcPct val="0"/>
              </a:spcBef>
              <a:buClrTx/>
              <a:buFont typeface="Wingdings" panose="05000000000000000000" pitchFamily="2" charset="2"/>
              <a:buChar char="u"/>
            </a:pPr>
            <a:r>
              <a:rPr lang="en-US" altLang="zh-CN" sz="2400" dirty="0">
                <a:solidFill>
                  <a:srgbClr val="000099"/>
                </a:solidFill>
                <a:latin typeface="Arial" panose="020B0604020202020204" pitchFamily="34" charset="0"/>
                <a:ea typeface="Arial Unicode MS" pitchFamily="34" charset="-122"/>
              </a:rPr>
              <a:t>Java’s </a:t>
            </a:r>
            <a:r>
              <a:rPr lang="en-US" altLang="zh-CN" sz="2400" dirty="0">
                <a:solidFill>
                  <a:srgbClr val="FF3300"/>
                </a:solidFill>
                <a:latin typeface="Arial" panose="020B0604020202020204" pitchFamily="34" charset="0"/>
                <a:ea typeface="Arial Unicode MS" pitchFamily="34" charset="-122"/>
              </a:rPr>
              <a:t>Jini </a:t>
            </a:r>
            <a:r>
              <a:rPr lang="en-US" altLang="zh-CN" sz="2400" dirty="0">
                <a:solidFill>
                  <a:srgbClr val="000099"/>
                </a:solidFill>
                <a:latin typeface="Arial" panose="020B0604020202020204" pitchFamily="34" charset="0"/>
                <a:ea typeface="Arial Unicode MS" pitchFamily="34" charset="-122"/>
              </a:rPr>
              <a:t>technology is also based on this paradigm.</a:t>
            </a:r>
            <a:endParaRPr lang="zh-CN" altLang="en-US" sz="2400" dirty="0">
              <a:solidFill>
                <a:srgbClr val="000099"/>
              </a:solidFill>
              <a:latin typeface="Arial" panose="020B0604020202020204" pitchFamily="34" charset="0"/>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0" y="0"/>
            <a:ext cx="9144000" cy="812800"/>
          </a:xfrm>
        </p:spPr>
        <p:txBody>
          <a:bodyPr vert="horz" wrap="square" lIns="91440" tIns="45720" rIns="91440" bIns="45720" anchor="ctr" anchorCtr="0"/>
          <a:lstStyle/>
          <a:p>
            <a:pPr algn="just" eaLnBrk="1" hangingPunct="1">
              <a:buNone/>
            </a:pPr>
            <a:r>
              <a:rPr lang="en-US" altLang="zh-CN" sz="4000" b="1" dirty="0">
                <a:ea typeface="宋体" panose="02010600030101010101" pitchFamily="2" charset="-122"/>
              </a:rPr>
              <a:t>3.  The O</a:t>
            </a:r>
            <a:r>
              <a:rPr lang="en-US" altLang="zh-CN" sz="4000" b="1" dirty="0">
                <a:solidFill>
                  <a:srgbClr val="FF6600"/>
                </a:solidFill>
                <a:ea typeface="宋体" panose="02010600030101010101" pitchFamily="2" charset="-122"/>
              </a:rPr>
              <a:t>bject</a:t>
            </a:r>
            <a:r>
              <a:rPr lang="en-US" altLang="zh-CN" sz="4000" b="1" dirty="0">
                <a:ea typeface="宋体" panose="02010600030101010101" pitchFamily="2" charset="-122"/>
              </a:rPr>
              <a:t> R</a:t>
            </a:r>
            <a:r>
              <a:rPr lang="en-US" altLang="zh-CN" sz="4000" b="1" dirty="0">
                <a:solidFill>
                  <a:srgbClr val="FF6600"/>
                </a:solidFill>
                <a:ea typeface="宋体" panose="02010600030101010101" pitchFamily="2" charset="-122"/>
              </a:rPr>
              <a:t>equest</a:t>
            </a:r>
            <a:r>
              <a:rPr lang="en-US" altLang="zh-CN" sz="4000" b="1" dirty="0">
                <a:ea typeface="宋体" panose="02010600030101010101" pitchFamily="2" charset="-122"/>
              </a:rPr>
              <a:t> B</a:t>
            </a:r>
            <a:r>
              <a:rPr lang="en-US" altLang="zh-CN" sz="4000" b="1" dirty="0">
                <a:solidFill>
                  <a:srgbClr val="FF6600"/>
                </a:solidFill>
                <a:ea typeface="宋体" panose="02010600030101010101" pitchFamily="2" charset="-122"/>
              </a:rPr>
              <a:t>roker</a:t>
            </a:r>
            <a:r>
              <a:rPr lang="en-US" altLang="zh-CN" sz="4000" b="1" dirty="0">
                <a:ea typeface="宋体" panose="02010600030101010101" pitchFamily="2" charset="-122"/>
              </a:rPr>
              <a:t> Paradigm</a:t>
            </a:r>
            <a:r>
              <a:rPr lang="en-US" altLang="zh-CN" sz="4000" dirty="0">
                <a:ea typeface="宋体" panose="02010600030101010101" pitchFamily="2" charset="-122"/>
              </a:rPr>
              <a:t> </a:t>
            </a:r>
          </a:p>
        </p:txBody>
      </p:sp>
      <p:sp>
        <p:nvSpPr>
          <p:cNvPr id="52227" name="Rectangle 3"/>
          <p:cNvSpPr>
            <a:spLocks noGrp="1"/>
          </p:cNvSpPr>
          <p:nvPr>
            <p:ph idx="1"/>
          </p:nvPr>
        </p:nvSpPr>
        <p:spPr>
          <a:xfrm>
            <a:off x="0" y="2384425"/>
            <a:ext cx="8991600" cy="4165600"/>
          </a:xfrm>
        </p:spPr>
        <p:txBody>
          <a:bodyPr vert="horz" wrap="square" lIns="91440" tIns="45720" rIns="91440" bIns="45720" anchor="t" anchorCtr="0"/>
          <a:lstStyle/>
          <a:p>
            <a:pPr algn="just" eaLnBrk="1" hangingPunct="1">
              <a:lnSpc>
                <a:spcPct val="150000"/>
              </a:lnSpc>
              <a:buFont typeface="Wingdings" panose="05000000000000000000" pitchFamily="2" charset="2"/>
              <a:buChar char="u"/>
            </a:pPr>
            <a:r>
              <a:rPr lang="en-US" altLang="zh-CN" sz="2200" dirty="0">
                <a:solidFill>
                  <a:srgbClr val="000099"/>
                </a:solidFill>
                <a:ea typeface="Arial Unicode MS" pitchFamily="34" charset="-122"/>
              </a:rPr>
              <a:t>An application issues requests to an </a:t>
            </a:r>
            <a:r>
              <a:rPr lang="en-US" altLang="zh-CN" sz="2200" dirty="0">
                <a:solidFill>
                  <a:srgbClr val="FF0000"/>
                </a:solidFill>
                <a:ea typeface="Arial Unicode MS" pitchFamily="34" charset="-122"/>
              </a:rPr>
              <a:t>ORB, </a:t>
            </a:r>
            <a:r>
              <a:rPr lang="en-US" altLang="zh-CN" sz="2200" dirty="0">
                <a:solidFill>
                  <a:srgbClr val="000099"/>
                </a:solidFill>
                <a:ea typeface="Arial Unicode MS" pitchFamily="34" charset="-122"/>
              </a:rPr>
              <a:t>which directs the request to an appropriate object that provides the desired service. </a:t>
            </a:r>
          </a:p>
          <a:p>
            <a:pPr algn="just" eaLnBrk="1" hangingPunct="1">
              <a:lnSpc>
                <a:spcPct val="150000"/>
              </a:lnSpc>
              <a:buFont typeface="Wingdings" panose="05000000000000000000" pitchFamily="2" charset="2"/>
              <a:buChar char="u"/>
            </a:pPr>
            <a:r>
              <a:rPr lang="en-US" altLang="zh-CN" sz="2200" dirty="0">
                <a:solidFill>
                  <a:srgbClr val="000099"/>
                </a:solidFill>
                <a:ea typeface="Arial Unicode MS" pitchFamily="34" charset="-122"/>
              </a:rPr>
              <a:t>The difference is that the ORB in this paradigm functions as a</a:t>
            </a:r>
            <a:r>
              <a:rPr lang="en-US" altLang="zh-CN" sz="2200" dirty="0">
                <a:solidFill>
                  <a:srgbClr val="FF3300"/>
                </a:solidFill>
                <a:ea typeface="Arial Unicode MS" pitchFamily="34" charset="-122"/>
              </a:rPr>
              <a:t> </a:t>
            </a:r>
            <a:r>
              <a:rPr lang="en-US" altLang="zh-CN" sz="2200" dirty="0">
                <a:solidFill>
                  <a:srgbClr val="FF0000"/>
                </a:solidFill>
                <a:ea typeface="Arial Unicode MS" pitchFamily="34" charset="-122"/>
              </a:rPr>
              <a:t>middleware</a:t>
            </a:r>
            <a:r>
              <a:rPr lang="en-US" altLang="zh-CN" sz="2200" dirty="0">
                <a:solidFill>
                  <a:srgbClr val="000099"/>
                </a:solidFill>
                <a:ea typeface="Arial Unicode MS" pitchFamily="34" charset="-122"/>
              </a:rPr>
              <a:t> which allows an application, as an object requestor, to potentially access multiple remote/ local objects.  </a:t>
            </a:r>
          </a:p>
          <a:p>
            <a:pPr algn="just" eaLnBrk="1" hangingPunct="1">
              <a:lnSpc>
                <a:spcPct val="150000"/>
              </a:lnSpc>
              <a:buFont typeface="Wingdings" panose="05000000000000000000" pitchFamily="2" charset="2"/>
              <a:buChar char="u"/>
            </a:pPr>
            <a:r>
              <a:rPr lang="en-US" altLang="zh-CN" sz="2200" dirty="0">
                <a:solidFill>
                  <a:srgbClr val="000099"/>
                </a:solidFill>
                <a:ea typeface="Arial Unicode MS" pitchFamily="34" charset="-122"/>
              </a:rPr>
              <a:t>The request broker may also function as an </a:t>
            </a:r>
            <a:r>
              <a:rPr lang="en-US" altLang="zh-CN" sz="2200" dirty="0">
                <a:solidFill>
                  <a:srgbClr val="FF0000"/>
                </a:solidFill>
                <a:ea typeface="Arial Unicode MS" pitchFamily="34" charset="-122"/>
              </a:rPr>
              <a:t>mediator for heterogeneous objects(</a:t>
            </a:r>
            <a:r>
              <a:rPr lang="zh-CN" altLang="en-US" sz="2200" dirty="0">
                <a:solidFill>
                  <a:srgbClr val="FF0000"/>
                </a:solidFill>
                <a:ea typeface="Arial Unicode MS" pitchFamily="34" charset="-122"/>
              </a:rPr>
              <a:t>异构对象中介</a:t>
            </a:r>
            <a:r>
              <a:rPr lang="en-US" altLang="zh-CN" sz="2200" dirty="0">
                <a:solidFill>
                  <a:srgbClr val="FF0000"/>
                </a:solidFill>
                <a:ea typeface="Arial Unicode MS" pitchFamily="34" charset="-122"/>
              </a:rPr>
              <a:t>), </a:t>
            </a:r>
            <a:r>
              <a:rPr lang="en-US" altLang="zh-CN" sz="2200" dirty="0">
                <a:solidFill>
                  <a:srgbClr val="000099"/>
                </a:solidFill>
                <a:ea typeface="Arial Unicode MS" pitchFamily="34" charset="-122"/>
              </a:rPr>
              <a:t>allowing interactions among objects implemented using different APIs and /or running on different platforms.</a:t>
            </a:r>
            <a:r>
              <a:rPr lang="zh-CN" altLang="en-US" sz="2200" dirty="0">
                <a:solidFill>
                  <a:srgbClr val="000099"/>
                </a:solidFill>
                <a:ea typeface="Arial Unicode MS" pitchFamily="34" charset="-122"/>
              </a:rPr>
              <a:t>与</a:t>
            </a:r>
            <a:r>
              <a:rPr lang="en-US" altLang="zh-CN" sz="2200" dirty="0">
                <a:solidFill>
                  <a:srgbClr val="000099"/>
                </a:solidFill>
                <a:ea typeface="Arial Unicode MS" pitchFamily="34" charset="-122"/>
              </a:rPr>
              <a:t>RMI</a:t>
            </a:r>
            <a:r>
              <a:rPr lang="zh-CN" altLang="en-US" sz="2200" dirty="0">
                <a:solidFill>
                  <a:srgbClr val="000099"/>
                </a:solidFill>
                <a:ea typeface="Arial Unicode MS" pitchFamily="34" charset="-122"/>
              </a:rPr>
              <a:t>的区别</a:t>
            </a:r>
            <a:r>
              <a:rPr lang="en-US" altLang="zh-CN" sz="2200" dirty="0">
                <a:solidFill>
                  <a:srgbClr val="000099"/>
                </a:solidFill>
                <a:ea typeface="Arial Unicode MS" pitchFamily="34" charset="-122"/>
              </a:rPr>
              <a:t>?</a:t>
            </a:r>
          </a:p>
        </p:txBody>
      </p:sp>
      <p:sp>
        <p:nvSpPr>
          <p:cNvPr id="52228" name="Rectangle 3"/>
          <p:cNvSpPr/>
          <p:nvPr/>
        </p:nvSpPr>
        <p:spPr>
          <a:xfrm>
            <a:off x="284163" y="1089025"/>
            <a:ext cx="2109787" cy="481013"/>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609600" lvl="0" indent="-609600" algn="l" eaLnBrk="1" hangingPunct="1">
              <a:lnSpc>
                <a:spcPct val="150000"/>
              </a:lnSpc>
              <a:buNone/>
            </a:pPr>
            <a:r>
              <a:rPr lang="en-US" altLang="zh-CN" sz="2400" dirty="0">
                <a:ea typeface="宋体" panose="02010600030101010101" pitchFamily="2" charset="-122"/>
              </a:rPr>
              <a:t>ORB </a:t>
            </a:r>
            <a:r>
              <a:rPr lang="zh-CN" altLang="en-US" sz="2400" dirty="0">
                <a:ea typeface="宋体" panose="02010600030101010101" pitchFamily="2" charset="-122"/>
              </a:rPr>
              <a:t>基本架构</a:t>
            </a:r>
          </a:p>
        </p:txBody>
      </p:sp>
      <p:graphicFrame>
        <p:nvGraphicFramePr>
          <p:cNvPr id="52229" name="Object 4"/>
          <p:cNvGraphicFramePr>
            <a:graphicFrameLocks noChangeAspect="1"/>
          </p:cNvGraphicFramePr>
          <p:nvPr/>
        </p:nvGraphicFramePr>
        <p:xfrm>
          <a:off x="2509838" y="812800"/>
          <a:ext cx="5603875" cy="1638300"/>
        </p:xfrm>
        <a:graphic>
          <a:graphicData uri="http://schemas.openxmlformats.org/presentationml/2006/ole">
            <mc:AlternateContent xmlns:mc="http://schemas.openxmlformats.org/markup-compatibility/2006">
              <mc:Choice xmlns:v="urn:schemas-microsoft-com:vml" Requires="v">
                <p:oleObj spid="_x0000_s11266" r:id="rId4" imgW="2761615" imgH="923290" progId="SmartDraw.2">
                  <p:embed/>
                </p:oleObj>
              </mc:Choice>
              <mc:Fallback>
                <p:oleObj r:id="rId4" imgW="2761615" imgH="923290" progId="SmartDraw.2">
                  <p:embed/>
                  <p:pic>
                    <p:nvPicPr>
                      <p:cNvPr id="0" name="图片 3094"/>
                      <p:cNvPicPr/>
                      <p:nvPr/>
                    </p:nvPicPr>
                    <p:blipFill>
                      <a:blip r:embed="rId5"/>
                      <a:stretch>
                        <a:fillRect/>
                      </a:stretch>
                    </p:blipFill>
                    <p:spPr>
                      <a:xfrm>
                        <a:off x="2509838" y="812800"/>
                        <a:ext cx="5603875" cy="1638300"/>
                      </a:xfrm>
                      <a:prstGeom prst="rect">
                        <a:avLst/>
                      </a:prstGeom>
                      <a:noFill/>
                      <a:ln w="38100">
                        <a:noFill/>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0" y="0"/>
            <a:ext cx="9144000" cy="714375"/>
          </a:xfrm>
        </p:spPr>
        <p:txBody>
          <a:bodyPr vert="horz" wrap="square" lIns="91440" tIns="45720" rIns="91440" bIns="45720" anchor="ctr" anchorCtr="0"/>
          <a:lstStyle/>
          <a:p>
            <a:pPr algn="just" eaLnBrk="1" hangingPunct="1">
              <a:buNone/>
            </a:pPr>
            <a:r>
              <a:rPr lang="en-US" altLang="zh-CN" sz="4000" b="1" dirty="0">
                <a:ea typeface="宋体" panose="02010600030101010101" pitchFamily="2" charset="-122"/>
              </a:rPr>
              <a:t>3. The Object Request Broker Paradigm </a:t>
            </a:r>
          </a:p>
        </p:txBody>
      </p:sp>
      <p:sp>
        <p:nvSpPr>
          <p:cNvPr id="53251" name="Rectangle 3"/>
          <p:cNvSpPr>
            <a:spLocks noGrp="1"/>
          </p:cNvSpPr>
          <p:nvPr>
            <p:ph idx="1"/>
          </p:nvPr>
        </p:nvSpPr>
        <p:spPr>
          <a:xfrm>
            <a:off x="234950" y="903288"/>
            <a:ext cx="8674100" cy="5359400"/>
          </a:xfrm>
        </p:spPr>
        <p:txBody>
          <a:bodyPr vert="horz" wrap="square" lIns="91440" tIns="45720" rIns="91440" bIns="45720" anchor="t" anchorCtr="0"/>
          <a:lstStyle/>
          <a:p>
            <a:pPr algn="just" eaLnBrk="1" hangingPunct="1">
              <a:lnSpc>
                <a:spcPct val="130000"/>
              </a:lnSpc>
              <a:buFont typeface="Wingdings" panose="05000000000000000000" pitchFamily="2" charset="2"/>
              <a:buChar char="u"/>
            </a:pPr>
            <a:r>
              <a:rPr lang="en-US" altLang="zh-CN" sz="2400" b="1" dirty="0">
                <a:solidFill>
                  <a:srgbClr val="000099"/>
                </a:solidFill>
                <a:ea typeface="Arial Unicode MS" pitchFamily="34" charset="-122"/>
              </a:rPr>
              <a:t>This paradigm is the</a:t>
            </a:r>
            <a:r>
              <a:rPr lang="en-US" altLang="zh-CN" sz="2400" b="1" dirty="0">
                <a:solidFill>
                  <a:srgbClr val="FF3300"/>
                </a:solidFill>
                <a:ea typeface="Arial Unicode MS" pitchFamily="34" charset="-122"/>
              </a:rPr>
              <a:t> basis</a:t>
            </a:r>
            <a:r>
              <a:rPr lang="en-US" altLang="zh-CN" sz="2400" b="1" dirty="0">
                <a:solidFill>
                  <a:srgbClr val="000099"/>
                </a:solidFill>
                <a:ea typeface="Arial Unicode MS" pitchFamily="34" charset="-122"/>
              </a:rPr>
              <a:t> of the Object Management Group’s </a:t>
            </a:r>
            <a:r>
              <a:rPr lang="en-US" altLang="zh-CN" sz="2400" b="1" dirty="0">
                <a:solidFill>
                  <a:srgbClr val="FF3300"/>
                </a:solidFill>
                <a:ea typeface="Arial Unicode MS" pitchFamily="34" charset="-122"/>
              </a:rPr>
              <a:t>CORBA</a:t>
            </a:r>
            <a:r>
              <a:rPr lang="en-US" altLang="zh-CN" sz="2400" b="1" dirty="0">
                <a:solidFill>
                  <a:srgbClr val="000099"/>
                </a:solidFill>
                <a:ea typeface="Arial Unicode MS" pitchFamily="34" charset="-122"/>
              </a:rPr>
              <a:t> (</a:t>
            </a:r>
            <a:r>
              <a:rPr lang="en-US" altLang="zh-CN" sz="2400" b="1" dirty="0">
                <a:solidFill>
                  <a:srgbClr val="FF0000"/>
                </a:solidFill>
                <a:ea typeface="Arial Unicode MS" pitchFamily="34" charset="-122"/>
              </a:rPr>
              <a:t>Common Object Request Broker Architecture</a:t>
            </a:r>
            <a:r>
              <a:rPr lang="en-US" altLang="zh-CN" sz="2400" b="1" dirty="0">
                <a:solidFill>
                  <a:srgbClr val="000099"/>
                </a:solidFill>
                <a:ea typeface="Arial Unicode MS" pitchFamily="34" charset="-122"/>
              </a:rPr>
              <a:t>) architecture. </a:t>
            </a:r>
            <a:r>
              <a:rPr lang="zh-CN" altLang="en-US" sz="2400" b="1" dirty="0">
                <a:solidFill>
                  <a:srgbClr val="000099"/>
                </a:solidFill>
                <a:ea typeface="Arial Unicode MS" pitchFamily="34" charset="-122"/>
              </a:rPr>
              <a:t>（</a:t>
            </a:r>
            <a:r>
              <a:rPr lang="en-US" altLang="zh-CN" sz="2400" b="1" dirty="0">
                <a:solidFill>
                  <a:srgbClr val="000099"/>
                </a:solidFill>
                <a:ea typeface="Arial Unicode MS" pitchFamily="34" charset="-122"/>
              </a:rPr>
              <a:t>http://www.corba.org/</a:t>
            </a:r>
            <a:r>
              <a:rPr lang="zh-CN" altLang="en-US" sz="2400" b="1" dirty="0">
                <a:solidFill>
                  <a:srgbClr val="000099"/>
                </a:solidFill>
                <a:ea typeface="Arial Unicode MS" pitchFamily="34" charset="-122"/>
              </a:rPr>
              <a:t>）</a:t>
            </a:r>
            <a:endParaRPr lang="en-US" altLang="zh-CN" sz="2400" b="1" dirty="0">
              <a:solidFill>
                <a:srgbClr val="000099"/>
              </a:solidFill>
              <a:ea typeface="Arial Unicode MS" pitchFamily="34" charset="-122"/>
            </a:endParaRPr>
          </a:p>
        </p:txBody>
      </p:sp>
      <p:sp>
        <p:nvSpPr>
          <p:cNvPr id="4" name="Rectangle 2"/>
          <p:cNvSpPr txBox="1">
            <a:spLocks noChangeArrowheads="1"/>
          </p:cNvSpPr>
          <p:nvPr/>
        </p:nvSpPr>
        <p:spPr bwMode="auto">
          <a:xfrm>
            <a:off x="982663" y="5672138"/>
            <a:ext cx="717867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002060"/>
                </a:solidFill>
                <a:effectLst/>
                <a:uLnTx/>
                <a:uFillTx/>
                <a:latin typeface="宋体" panose="02010600030101010101" pitchFamily="2" charset="-122"/>
                <a:ea typeface="宋体" panose="02010600030101010101" pitchFamily="2" charset="-122"/>
                <a:cs typeface="+mj-cs"/>
              </a:rPr>
              <a:t>CORBA</a:t>
            </a:r>
            <a:r>
              <a:rPr kumimoji="0" lang="zh-CN" altLang="en-US" sz="2400" b="1" i="0" u="none" strike="noStrike" kern="0" cap="none" spc="0" normalizeH="0" baseline="0" noProof="0" dirty="0">
                <a:ln>
                  <a:noFill/>
                </a:ln>
                <a:solidFill>
                  <a:srgbClr val="002060"/>
                </a:solidFill>
                <a:effectLst/>
                <a:uLnTx/>
                <a:uFillTx/>
                <a:latin typeface="宋体" panose="02010600030101010101" pitchFamily="2" charset="-122"/>
                <a:ea typeface="宋体" panose="02010600030101010101" pitchFamily="2" charset="-122"/>
                <a:cs typeface="+mj-cs"/>
              </a:rPr>
              <a:t>是基于</a:t>
            </a:r>
            <a:r>
              <a:rPr kumimoji="0" lang="en-US" altLang="zh-CN" sz="2400" b="1" i="0" u="none" strike="noStrike" kern="0" cap="none" spc="0" normalizeH="0" baseline="0" noProof="0" dirty="0">
                <a:ln>
                  <a:noFill/>
                </a:ln>
                <a:solidFill>
                  <a:srgbClr val="002060"/>
                </a:solidFill>
                <a:effectLst/>
                <a:uLnTx/>
                <a:uFillTx/>
                <a:latin typeface="宋体" panose="02010600030101010101" pitchFamily="2" charset="-122"/>
                <a:ea typeface="宋体" panose="02010600030101010101" pitchFamily="2" charset="-122"/>
                <a:cs typeface="+mj-cs"/>
              </a:rPr>
              <a:t>ORB</a:t>
            </a:r>
            <a:r>
              <a:rPr kumimoji="0" lang="zh-CN" altLang="en-US" sz="2400" b="1" i="0" u="none" strike="noStrike" kern="0" cap="none" spc="0" normalizeH="0" baseline="0" noProof="0" dirty="0">
                <a:ln>
                  <a:noFill/>
                </a:ln>
                <a:solidFill>
                  <a:srgbClr val="002060"/>
                </a:solidFill>
                <a:effectLst/>
                <a:uLnTx/>
                <a:uFillTx/>
                <a:latin typeface="宋体" panose="02010600030101010101" pitchFamily="2" charset="-122"/>
                <a:ea typeface="宋体" panose="02010600030101010101" pitchFamily="2" charset="-122"/>
                <a:cs typeface="+mj-cs"/>
              </a:rPr>
              <a:t>结构的分布对象范型</a:t>
            </a:r>
            <a:endParaRPr kumimoji="0" lang="en-US" altLang="zh-CN" sz="2400" b="1" i="0" u="none" strike="noStrike" kern="0" cap="none" spc="0" normalizeH="0" baseline="0" noProof="0" dirty="0">
              <a:ln>
                <a:noFill/>
              </a:ln>
              <a:solidFill>
                <a:srgbClr val="002060"/>
              </a:solidFill>
              <a:effectLst/>
              <a:uLnTx/>
              <a:uFillTx/>
              <a:latin typeface="宋体" panose="02010600030101010101" pitchFamily="2" charset="-122"/>
              <a:ea typeface="宋体" panose="02010600030101010101" pitchFamily="2" charset="-122"/>
              <a:cs typeface="+mj-cs"/>
            </a:endParaRPr>
          </a:p>
        </p:txBody>
      </p:sp>
      <p:graphicFrame>
        <p:nvGraphicFramePr>
          <p:cNvPr id="53253" name="Object 3"/>
          <p:cNvGraphicFramePr>
            <a:graphicFrameLocks noChangeAspect="1"/>
          </p:cNvGraphicFramePr>
          <p:nvPr/>
        </p:nvGraphicFramePr>
        <p:xfrm>
          <a:off x="573088" y="2708275"/>
          <a:ext cx="8148637" cy="2963863"/>
        </p:xfrm>
        <a:graphic>
          <a:graphicData uri="http://schemas.openxmlformats.org/presentationml/2006/ole">
            <mc:AlternateContent xmlns:mc="http://schemas.openxmlformats.org/markup-compatibility/2006">
              <mc:Choice xmlns:v="urn:schemas-microsoft-com:vml" Requires="v">
                <p:oleObj spid="_x0000_s12290" r:id="rId4" imgW="4008120" imgH="1917065" progId="Visio.Drawing.5">
                  <p:embed/>
                </p:oleObj>
              </mc:Choice>
              <mc:Fallback>
                <p:oleObj r:id="rId4" imgW="4008120" imgH="1917065" progId="Visio.Drawing.5">
                  <p:embed/>
                  <p:pic>
                    <p:nvPicPr>
                      <p:cNvPr id="0" name="图片 3087"/>
                      <p:cNvPicPr/>
                      <p:nvPr/>
                    </p:nvPicPr>
                    <p:blipFill>
                      <a:blip r:embed="rId5"/>
                      <a:stretch>
                        <a:fillRect/>
                      </a:stretch>
                    </p:blipFill>
                    <p:spPr>
                      <a:xfrm>
                        <a:off x="573088" y="2708275"/>
                        <a:ext cx="8148637" cy="2963863"/>
                      </a:xfrm>
                      <a:prstGeom prst="rect">
                        <a:avLst/>
                      </a:prstGeom>
                      <a:no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6"/>
          <p:cNvSpPr/>
          <p:nvPr/>
        </p:nvSpPr>
        <p:spPr>
          <a:xfrm>
            <a:off x="0" y="304800"/>
            <a:ext cx="9144000" cy="8128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3600" b="1" dirty="0">
                <a:solidFill>
                  <a:srgbClr val="FF0000"/>
                </a:solidFill>
                <a:ea typeface="宋体" panose="02010600030101010101" pitchFamily="2" charset="-122"/>
              </a:rPr>
              <a:t>3. The Object Request Broker Paradigm</a:t>
            </a:r>
            <a:r>
              <a:rPr lang="en-US" altLang="zh-CN" sz="3600" dirty="0">
                <a:solidFill>
                  <a:srgbClr val="FF0000"/>
                </a:solidFill>
                <a:ea typeface="宋体" panose="02010600030101010101" pitchFamily="2" charset="-122"/>
              </a:rPr>
              <a:t> </a:t>
            </a:r>
          </a:p>
        </p:txBody>
      </p:sp>
      <p:sp>
        <p:nvSpPr>
          <p:cNvPr id="5" name="Rectangle 3"/>
          <p:cNvSpPr txBox="1">
            <a:spLocks noChangeArrowheads="1"/>
          </p:cNvSpPr>
          <p:nvPr/>
        </p:nvSpPr>
        <p:spPr bwMode="auto">
          <a:xfrm>
            <a:off x="115888" y="1219200"/>
            <a:ext cx="8674100" cy="397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just"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u"/>
              <a:defRPr/>
            </a:pPr>
            <a:r>
              <a:rPr kumimoji="0" lang="en-US" altLang="zh-CN" sz="2400" b="1" i="0" u="none" strike="noStrike" kern="0" cap="none" spc="0" normalizeH="0" baseline="0" noProof="0" dirty="0">
                <a:ln>
                  <a:noFill/>
                </a:ln>
                <a:solidFill>
                  <a:srgbClr val="000099"/>
                </a:solidFill>
                <a:effectLst/>
                <a:uLnTx/>
                <a:uFillTx/>
                <a:latin typeface="+mn-lt"/>
                <a:ea typeface="Arial Unicode MS" pitchFamily="34" charset="-122"/>
                <a:cs typeface="Times New Roman" panose="02020603050405020304" pitchFamily="18" charset="0"/>
              </a:rPr>
              <a:t>Tool kits based on the architecture include:</a:t>
            </a:r>
          </a:p>
          <a:p>
            <a:pPr marL="742950" marR="0" lvl="1" indent="-285750" algn="just" defTabSz="914400" rtl="0" eaLnBrk="1" fontAlgn="base" latinLnBrk="0" hangingPunct="1">
              <a:lnSpc>
                <a:spcPct val="130000"/>
              </a:lnSpc>
              <a:spcBef>
                <a:spcPct val="20000"/>
              </a:spcBef>
              <a:spcAft>
                <a:spcPct val="0"/>
              </a:spcAft>
              <a:buClr>
                <a:schemeClr val="accent2"/>
              </a:buClr>
              <a:buSzTx/>
              <a:buFontTx/>
              <a:buChar char="–"/>
              <a:defRPr/>
            </a:pPr>
            <a:r>
              <a:rPr kumimoji="0" lang="en-US" altLang="zh-CN" sz="2400" b="1" i="0" u="none" strike="noStrike" kern="0" cap="none" spc="0" normalizeH="0" baseline="0" noProof="0" dirty="0">
                <a:ln>
                  <a:noFill/>
                </a:ln>
                <a:solidFill>
                  <a:srgbClr val="000099"/>
                </a:solidFill>
                <a:effectLst/>
                <a:uLnTx/>
                <a:uFillTx/>
                <a:latin typeface="+mn-lt"/>
                <a:ea typeface="Arial Unicode MS" pitchFamily="34" charset="-122"/>
                <a:cs typeface="Times New Roman" panose="02020603050405020304" pitchFamily="18" charset="0"/>
              </a:rPr>
              <a:t> </a:t>
            </a:r>
            <a:r>
              <a:rPr kumimoji="0" lang="en-US" altLang="zh-CN" sz="2400" b="1" i="0" u="none" strike="noStrike" kern="0" cap="none" spc="0" normalizeH="0" baseline="0" noProof="0" dirty="0" err="1">
                <a:ln>
                  <a:noFill/>
                </a:ln>
                <a:solidFill>
                  <a:srgbClr val="000099"/>
                </a:solidFill>
                <a:effectLst/>
                <a:uLnTx/>
                <a:uFillTx/>
                <a:latin typeface="+mn-lt"/>
                <a:ea typeface="Arial Unicode MS" pitchFamily="34" charset="-122"/>
                <a:cs typeface="Times New Roman" panose="02020603050405020304" pitchFamily="18" charset="0"/>
              </a:rPr>
              <a:t>Inprise’s</a:t>
            </a:r>
            <a:r>
              <a:rPr kumimoji="0" lang="en-US" altLang="zh-CN" sz="2400" b="1" i="0" u="none" strike="noStrike" kern="0" cap="none" spc="0" normalizeH="0" baseline="0" noProof="0" dirty="0">
                <a:ln>
                  <a:noFill/>
                </a:ln>
                <a:solidFill>
                  <a:srgbClr val="000099"/>
                </a:solidFill>
                <a:effectLst/>
                <a:uLnTx/>
                <a:uFillTx/>
                <a:latin typeface="+mn-lt"/>
                <a:ea typeface="Arial Unicode MS" pitchFamily="34" charset="-122"/>
                <a:cs typeface="Times New Roman" panose="02020603050405020304" pitchFamily="18" charset="0"/>
              </a:rPr>
              <a:t> </a:t>
            </a:r>
            <a:r>
              <a:rPr kumimoji="0" lang="en-US" altLang="zh-CN" sz="2400" b="1" i="0" u="none" strike="noStrike" kern="0" cap="none" spc="0" normalizeH="0" baseline="0" noProof="0" dirty="0" err="1">
                <a:ln>
                  <a:noFill/>
                </a:ln>
                <a:solidFill>
                  <a:srgbClr val="000099"/>
                </a:solidFill>
                <a:effectLst/>
                <a:uLnTx/>
                <a:uFillTx/>
                <a:latin typeface="+mn-lt"/>
                <a:ea typeface="Arial Unicode MS" pitchFamily="34" charset="-122"/>
                <a:cs typeface="Times New Roman" panose="02020603050405020304" pitchFamily="18" charset="0"/>
              </a:rPr>
              <a:t>Visibroker</a:t>
            </a:r>
            <a:r>
              <a:rPr kumimoji="0" lang="en-US" altLang="zh-CN" sz="2400" b="1" i="0" u="none" strike="noStrike" kern="0" cap="none" spc="0" normalizeH="0" baseline="0" noProof="0" dirty="0">
                <a:ln>
                  <a:noFill/>
                </a:ln>
                <a:solidFill>
                  <a:srgbClr val="000099"/>
                </a:solidFill>
                <a:effectLst/>
                <a:uLnTx/>
                <a:uFillTx/>
                <a:latin typeface="+mn-lt"/>
                <a:ea typeface="Arial Unicode MS" pitchFamily="34" charset="-122"/>
                <a:cs typeface="Times New Roman" panose="02020603050405020304" pitchFamily="18" charset="0"/>
              </a:rPr>
              <a:t> http://www.inprise.com/visibroker/</a:t>
            </a:r>
          </a:p>
          <a:p>
            <a:pPr marL="742950" marR="0" lvl="1" indent="-285750" algn="just" defTabSz="914400" rtl="0" eaLnBrk="1" fontAlgn="base" latinLnBrk="0" hangingPunct="1">
              <a:lnSpc>
                <a:spcPct val="130000"/>
              </a:lnSpc>
              <a:spcBef>
                <a:spcPct val="20000"/>
              </a:spcBef>
              <a:spcAft>
                <a:spcPct val="0"/>
              </a:spcAft>
              <a:buClr>
                <a:schemeClr val="accent2"/>
              </a:buClr>
              <a:buSzTx/>
              <a:buFontTx/>
              <a:buChar char="–"/>
              <a:defRPr/>
            </a:pPr>
            <a:r>
              <a:rPr kumimoji="0" lang="en-US" altLang="zh-CN" sz="2400" b="1" i="0" u="none" strike="noStrike" kern="0" cap="none" spc="0" normalizeH="0" baseline="0" noProof="0" dirty="0">
                <a:ln>
                  <a:noFill/>
                </a:ln>
                <a:solidFill>
                  <a:srgbClr val="000099"/>
                </a:solidFill>
                <a:effectLst/>
                <a:uLnTx/>
                <a:uFillTx/>
                <a:latin typeface="+mn-lt"/>
                <a:ea typeface="Arial Unicode MS" pitchFamily="34" charset="-122"/>
                <a:cs typeface="Times New Roman" panose="02020603050405020304" pitchFamily="18" charset="0"/>
              </a:rPr>
              <a:t> Java’s Interface Development Language (Java IDL)</a:t>
            </a:r>
          </a:p>
          <a:p>
            <a:pPr marL="742950" marR="0" lvl="1" indent="-285750" algn="just" defTabSz="914400" rtl="0" eaLnBrk="1" fontAlgn="base" latinLnBrk="0" hangingPunct="1">
              <a:lnSpc>
                <a:spcPct val="130000"/>
              </a:lnSpc>
              <a:spcBef>
                <a:spcPct val="20000"/>
              </a:spcBef>
              <a:spcAft>
                <a:spcPct val="0"/>
              </a:spcAft>
              <a:buClr>
                <a:schemeClr val="accent2"/>
              </a:buClr>
              <a:buSzTx/>
              <a:buFontTx/>
              <a:buNone/>
              <a:defRPr/>
            </a:pPr>
            <a:r>
              <a:rPr kumimoji="0" lang="en-US" altLang="zh-CN" sz="2400" b="1" i="0" u="none" strike="noStrike" kern="0" cap="none" spc="0" normalizeH="0" baseline="0" noProof="0" dirty="0">
                <a:ln>
                  <a:noFill/>
                </a:ln>
                <a:solidFill>
                  <a:srgbClr val="000099"/>
                </a:solidFill>
                <a:effectLst/>
                <a:uLnTx/>
                <a:uFillTx/>
                <a:latin typeface="+mn-lt"/>
                <a:ea typeface="Arial Unicode MS" pitchFamily="34" charset="-122"/>
                <a:cs typeface="Times New Roman" panose="02020603050405020304" pitchFamily="18" charset="0"/>
              </a:rPr>
              <a:t>		http://java.sun.com/products/jdk/idl/</a:t>
            </a:r>
          </a:p>
          <a:p>
            <a:pPr marL="742950" marR="0" lvl="1" indent="-285750" algn="just" defTabSz="914400" rtl="0" eaLnBrk="1" fontAlgn="base" latinLnBrk="0" hangingPunct="1">
              <a:lnSpc>
                <a:spcPct val="130000"/>
              </a:lnSpc>
              <a:spcBef>
                <a:spcPct val="20000"/>
              </a:spcBef>
              <a:spcAft>
                <a:spcPct val="0"/>
              </a:spcAft>
              <a:buClr>
                <a:schemeClr val="accent2"/>
              </a:buClr>
              <a:buSzTx/>
              <a:buFontTx/>
              <a:buChar char="–"/>
              <a:defRPr/>
            </a:pPr>
            <a:r>
              <a:rPr kumimoji="0" lang="en-US" altLang="zh-CN" sz="2400" b="1" i="0" u="none" strike="noStrike" kern="0" cap="none" spc="0" normalizeH="0" baseline="0" noProof="0" dirty="0">
                <a:ln>
                  <a:noFill/>
                </a:ln>
                <a:solidFill>
                  <a:srgbClr val="000099"/>
                </a:solidFill>
                <a:effectLst/>
                <a:uLnTx/>
                <a:uFillTx/>
                <a:latin typeface="+mn-lt"/>
                <a:ea typeface="Arial Unicode MS" pitchFamily="34" charset="-122"/>
                <a:cs typeface="Times New Roman" panose="02020603050405020304" pitchFamily="18" charset="0"/>
              </a:rPr>
              <a:t> </a:t>
            </a:r>
            <a:r>
              <a:rPr kumimoji="0" lang="en-US" altLang="zh-CN" sz="2400" b="1" i="0" u="none" strike="noStrike" kern="0" cap="none" spc="0" normalizeH="0" baseline="0" noProof="0" dirty="0" err="1">
                <a:ln>
                  <a:noFill/>
                </a:ln>
                <a:solidFill>
                  <a:srgbClr val="000099"/>
                </a:solidFill>
                <a:effectLst/>
                <a:uLnTx/>
                <a:uFillTx/>
                <a:latin typeface="+mn-lt"/>
                <a:ea typeface="Arial Unicode MS" pitchFamily="34" charset="-122"/>
                <a:cs typeface="Times New Roman" panose="02020603050405020304" pitchFamily="18" charset="0"/>
              </a:rPr>
              <a:t>Orbix’s</a:t>
            </a:r>
            <a:r>
              <a:rPr kumimoji="0" lang="en-US" altLang="zh-CN" sz="2400" b="1" i="0" u="none" strike="noStrike" kern="0" cap="none" spc="0" normalizeH="0" baseline="0" noProof="0" dirty="0">
                <a:ln>
                  <a:noFill/>
                </a:ln>
                <a:solidFill>
                  <a:srgbClr val="000099"/>
                </a:solidFill>
                <a:effectLst/>
                <a:uLnTx/>
                <a:uFillTx/>
                <a:latin typeface="+mn-lt"/>
                <a:ea typeface="Arial Unicode MS" pitchFamily="34" charset="-122"/>
                <a:cs typeface="Times New Roman" panose="02020603050405020304" pitchFamily="18" charset="0"/>
              </a:rPr>
              <a:t> IONA, and TAO from the Object Computing, Inc.</a:t>
            </a:r>
          </a:p>
          <a:p>
            <a:pPr marL="342900" marR="0" lvl="0" indent="-342900" algn="just" defTabSz="914400" rtl="0" eaLnBrk="1" fontAlgn="base" latinLnBrk="0" hangingPunct="1">
              <a:lnSpc>
                <a:spcPct val="130000"/>
              </a:lnSpc>
              <a:spcBef>
                <a:spcPct val="20000"/>
              </a:spcBef>
              <a:spcAft>
                <a:spcPct val="0"/>
              </a:spcAft>
              <a:buClr>
                <a:schemeClr val="accent2"/>
              </a:buClr>
              <a:buSzTx/>
              <a:buFontTx/>
              <a:buNone/>
              <a:defRPr/>
            </a:pPr>
            <a:r>
              <a:rPr kumimoji="0" lang="en-US" altLang="zh-CN" sz="2400" b="1" i="0" u="none" strike="noStrike" kern="0" cap="none" spc="0" normalizeH="0" baseline="0" noProof="0" dirty="0">
                <a:ln>
                  <a:noFill/>
                </a:ln>
                <a:solidFill>
                  <a:srgbClr val="000099"/>
                </a:solidFill>
                <a:effectLst/>
                <a:uLnTx/>
                <a:uFillTx/>
                <a:latin typeface="+mn-lt"/>
                <a:ea typeface="宋体" panose="02010600030101010101" pitchFamily="2" charset="-122"/>
                <a:cs typeface="+mn-cs"/>
              </a:rPr>
              <a:t>                       http://www.corba.org/vendors/pages/iona.html</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0" y="0"/>
            <a:ext cx="9144000" cy="863600"/>
          </a:xfrm>
        </p:spPr>
        <p:txBody>
          <a:bodyPr vert="horz" wrap="square" lIns="91440" tIns="45720" rIns="91440" bIns="45720" anchor="ctr" anchorCtr="0"/>
          <a:lstStyle/>
          <a:p>
            <a:pPr algn="just" eaLnBrk="1" hangingPunct="1">
              <a:buNone/>
            </a:pPr>
            <a:r>
              <a:rPr lang="en-US" altLang="zh-CN" dirty="0">
                <a:ea typeface="宋体" panose="02010600030101010101" pitchFamily="2" charset="-122"/>
              </a:rPr>
              <a:t>4. The Object Space Paradigm </a:t>
            </a:r>
          </a:p>
        </p:txBody>
      </p:sp>
      <p:sp>
        <p:nvSpPr>
          <p:cNvPr id="58371" name="Rectangle 3"/>
          <p:cNvSpPr>
            <a:spLocks noGrp="1" noChangeArrowheads="1"/>
          </p:cNvSpPr>
          <p:nvPr>
            <p:ph idx="1"/>
          </p:nvPr>
        </p:nvSpPr>
        <p:spPr>
          <a:xfrm>
            <a:off x="101600" y="800100"/>
            <a:ext cx="8864600" cy="24892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Perhaps the most abstract of the object-oriented paradigms, the object space  paradigm assumes the existence of </a:t>
            </a: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rPr>
              <a:t>logical entities known as </a:t>
            </a:r>
            <a:r>
              <a:rPr kumimoji="0" lang="en-US" altLang="zh-CN" sz="2400" b="0" i="1"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rPr>
              <a:t>object spaces</a:t>
            </a: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rPr>
              <a:t>. </a:t>
            </a:r>
          </a:p>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endPar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 </a:t>
            </a:r>
          </a:p>
          <a:p>
            <a:pPr marL="342900" marR="0" lvl="0" indent="-342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The participants of an application converge(</a:t>
            </a:r>
            <a:r>
              <a:rPr kumimoji="0" lang="zh-CN" altLang="en-US" sz="24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会聚</a:t>
            </a:r>
            <a:r>
              <a:rPr kumimoji="0" lang="en-US" altLang="zh-CN" sz="2400" b="0" i="0" u="none" strike="noStrike" kern="0" cap="none" spc="0" normalizeH="0" baseline="0" noProof="0" dirty="0">
                <a:ln>
                  <a:noFill/>
                </a:ln>
                <a:solidFill>
                  <a:srgbClr val="000099"/>
                </a:solidFill>
                <a:effectLst/>
                <a:uLnTx/>
                <a:uFillTx/>
                <a:latin typeface="+mn-lt"/>
                <a:ea typeface="宋体" panose="02010600030101010101" pitchFamily="2" charset="-122"/>
                <a:cs typeface="Times New Roman" panose="02020603050405020304" pitchFamily="18" charset="0"/>
              </a:rPr>
              <a:t>) in a common object space. A provider places objects as entries into an object space, and requesters who subscribe to the space access the entries.  </a:t>
            </a:r>
          </a:p>
        </p:txBody>
      </p:sp>
      <p:graphicFrame>
        <p:nvGraphicFramePr>
          <p:cNvPr id="55300" name="Object 4"/>
          <p:cNvGraphicFramePr>
            <a:graphicFrameLocks noChangeAspect="1"/>
          </p:cNvGraphicFramePr>
          <p:nvPr/>
        </p:nvGraphicFramePr>
        <p:xfrm>
          <a:off x="1066800" y="2044700"/>
          <a:ext cx="6934200" cy="3328988"/>
        </p:xfrm>
        <a:graphic>
          <a:graphicData uri="http://schemas.openxmlformats.org/presentationml/2006/ole">
            <mc:AlternateContent xmlns:mc="http://schemas.openxmlformats.org/markup-compatibility/2006">
              <mc:Choice xmlns:v="urn:schemas-microsoft-com:vml" Requires="v">
                <p:oleObj spid="_x0000_s13314" r:id="rId4" imgW="3822065" imgH="2231390" progId="SmartDraw.2">
                  <p:embed/>
                </p:oleObj>
              </mc:Choice>
              <mc:Fallback>
                <p:oleObj r:id="rId4" imgW="3822065" imgH="2231390" progId="SmartDraw.2">
                  <p:embed/>
                  <p:pic>
                    <p:nvPicPr>
                      <p:cNvPr id="0" name="图片 3088"/>
                      <p:cNvPicPr/>
                      <p:nvPr/>
                    </p:nvPicPr>
                    <p:blipFill>
                      <a:blip r:embed="rId5"/>
                      <a:stretch>
                        <a:fillRect/>
                      </a:stretch>
                    </p:blipFill>
                    <p:spPr>
                      <a:xfrm>
                        <a:off x="1066800" y="2044700"/>
                        <a:ext cx="6934200" cy="3328988"/>
                      </a:xfrm>
                      <a:prstGeom prst="rect">
                        <a:avLst/>
                      </a:prstGeom>
                      <a:noFill/>
                      <a:ln w="38100">
                        <a:noFill/>
                        <a:miter/>
                      </a:ln>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a:xfrm>
            <a:off x="0" y="0"/>
            <a:ext cx="9144000" cy="876300"/>
          </a:xfrm>
        </p:spPr>
        <p:txBody>
          <a:bodyPr vert="horz" wrap="square" lIns="91440" tIns="45720" rIns="91440" bIns="45720" anchor="ctr" anchorCtr="0"/>
          <a:lstStyle/>
          <a:p>
            <a:pPr algn="just" eaLnBrk="1" hangingPunct="1">
              <a:buNone/>
            </a:pPr>
            <a:r>
              <a:rPr lang="en-US" altLang="zh-CN" dirty="0">
                <a:ea typeface="宋体" panose="02010600030101010101" pitchFamily="2" charset="-122"/>
              </a:rPr>
              <a:t>4. The Object Space Paradigm - 2</a:t>
            </a:r>
          </a:p>
        </p:txBody>
      </p:sp>
      <p:sp>
        <p:nvSpPr>
          <p:cNvPr id="56323" name="Rectangle 3"/>
          <p:cNvSpPr>
            <a:spLocks noGrp="1"/>
          </p:cNvSpPr>
          <p:nvPr>
            <p:ph idx="1"/>
          </p:nvPr>
        </p:nvSpPr>
        <p:spPr>
          <a:xfrm>
            <a:off x="347663" y="1055688"/>
            <a:ext cx="8318500" cy="4762500"/>
          </a:xfrm>
        </p:spPr>
        <p:txBody>
          <a:bodyPr vert="horz" wrap="square" lIns="91440" tIns="45720" rIns="91440" bIns="45720" anchor="t" anchorCtr="0"/>
          <a:lstStyle/>
          <a:p>
            <a:pPr algn="just" eaLnBrk="1" hangingPunct="1">
              <a:lnSpc>
                <a:spcPct val="150000"/>
              </a:lnSpc>
              <a:buFont typeface="Wingdings" panose="05000000000000000000" pitchFamily="2" charset="2"/>
              <a:buChar char="u"/>
            </a:pPr>
            <a:r>
              <a:rPr lang="en-US" altLang="zh-CN" sz="2400" b="1" dirty="0">
                <a:solidFill>
                  <a:srgbClr val="000099"/>
                </a:solidFill>
                <a:ea typeface="Arial Unicode MS" pitchFamily="34" charset="-122"/>
              </a:rPr>
              <a:t>The object space paradigm provides a </a:t>
            </a:r>
            <a:r>
              <a:rPr lang="en-US" altLang="zh-CN" sz="2400" b="1" dirty="0">
                <a:solidFill>
                  <a:srgbClr val="FF3300"/>
                </a:solidFill>
                <a:ea typeface="Arial Unicode MS" pitchFamily="34" charset="-122"/>
              </a:rPr>
              <a:t>virtual space or meeting room</a:t>
            </a:r>
            <a:r>
              <a:rPr lang="en-US" altLang="zh-CN" sz="2400" b="1" dirty="0">
                <a:solidFill>
                  <a:srgbClr val="000099"/>
                </a:solidFill>
                <a:ea typeface="Arial Unicode MS" pitchFamily="34" charset="-122"/>
              </a:rPr>
              <a:t> among providers and requesters of network resources or objects.  </a:t>
            </a:r>
          </a:p>
          <a:p>
            <a:pPr algn="just" eaLnBrk="1" hangingPunct="1">
              <a:lnSpc>
                <a:spcPct val="150000"/>
              </a:lnSpc>
              <a:buFont typeface="Wingdings" panose="05000000000000000000" pitchFamily="2" charset="2"/>
              <a:buChar char="u"/>
            </a:pPr>
            <a:r>
              <a:rPr lang="en-US" altLang="zh-CN" sz="2400" b="1" dirty="0">
                <a:solidFill>
                  <a:srgbClr val="000099"/>
                </a:solidFill>
                <a:ea typeface="Arial Unicode MS" pitchFamily="34" charset="-122"/>
              </a:rPr>
              <a:t>This abstraction </a:t>
            </a:r>
            <a:r>
              <a:rPr lang="en-US" altLang="zh-CN" sz="2400" b="1" dirty="0">
                <a:solidFill>
                  <a:srgbClr val="FF3300"/>
                </a:solidFill>
                <a:ea typeface="Arial Unicode MS" pitchFamily="34" charset="-122"/>
              </a:rPr>
              <a:t>hides</a:t>
            </a:r>
            <a:r>
              <a:rPr lang="en-US" altLang="zh-CN" sz="2400" b="1" dirty="0">
                <a:solidFill>
                  <a:srgbClr val="000099"/>
                </a:solidFill>
                <a:ea typeface="Arial Unicode MS" pitchFamily="34" charset="-122"/>
              </a:rPr>
              <a:t> the detail involved in resource or object </a:t>
            </a:r>
            <a:r>
              <a:rPr lang="en-US" altLang="zh-CN" sz="2400" b="1" dirty="0">
                <a:solidFill>
                  <a:srgbClr val="FF3300"/>
                </a:solidFill>
                <a:ea typeface="Arial Unicode MS" pitchFamily="34" charset="-122"/>
              </a:rPr>
              <a:t>lookup </a:t>
            </a:r>
            <a:r>
              <a:rPr lang="en-US" altLang="zh-CN" sz="2400" b="1" dirty="0">
                <a:solidFill>
                  <a:srgbClr val="000099"/>
                </a:solidFill>
                <a:ea typeface="Arial Unicode MS" pitchFamily="34" charset="-122"/>
              </a:rPr>
              <a:t>needed in paradigms such as remote method invocation, object request broker, or network services.</a:t>
            </a:r>
          </a:p>
          <a:p>
            <a:pPr algn="just" eaLnBrk="1" hangingPunct="1">
              <a:lnSpc>
                <a:spcPct val="150000"/>
              </a:lnSpc>
              <a:buFont typeface="Wingdings" panose="05000000000000000000" pitchFamily="2" charset="2"/>
              <a:buChar char="u"/>
            </a:pPr>
            <a:r>
              <a:rPr lang="en-US" altLang="zh-CN" sz="2400" b="1" dirty="0">
                <a:solidFill>
                  <a:srgbClr val="000099"/>
                </a:solidFill>
                <a:ea typeface="宋体" panose="02010600030101010101" pitchFamily="2" charset="-122"/>
              </a:rPr>
              <a:t>Current facilities based on this paradigm include JavaSpaces.(http://java.sun.com/products/javaspaces/)</a:t>
            </a:r>
            <a:endParaRPr lang="zh-CN" altLang="en-US" sz="2400" b="1" dirty="0">
              <a:solidFill>
                <a:srgbClr val="000099"/>
              </a:solidFill>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a:xfrm>
            <a:off x="0" y="0"/>
            <a:ext cx="9144000" cy="927100"/>
          </a:xfrm>
        </p:spPr>
        <p:txBody>
          <a:bodyPr vert="horz" wrap="square" lIns="91440" tIns="45720" rIns="91440" bIns="45720" anchor="ctr" anchorCtr="0"/>
          <a:lstStyle/>
          <a:p>
            <a:pPr algn="just" eaLnBrk="1" hangingPunct="1">
              <a:buNone/>
            </a:pPr>
            <a:r>
              <a:rPr lang="en-US" altLang="zh-CN" b="1" dirty="0">
                <a:ea typeface="宋体" panose="02010600030101010101" pitchFamily="2" charset="-122"/>
              </a:rPr>
              <a:t>5.  Component-based Technologies</a:t>
            </a:r>
          </a:p>
        </p:txBody>
      </p:sp>
      <p:sp>
        <p:nvSpPr>
          <p:cNvPr id="57347" name="Rectangle 3"/>
          <p:cNvSpPr>
            <a:spLocks noGrp="1"/>
          </p:cNvSpPr>
          <p:nvPr>
            <p:ph idx="1"/>
          </p:nvPr>
        </p:nvSpPr>
        <p:spPr>
          <a:xfrm>
            <a:off x="292100" y="901700"/>
            <a:ext cx="8597900" cy="5715000"/>
          </a:xfrm>
        </p:spPr>
        <p:txBody>
          <a:bodyPr vert="horz" wrap="square" lIns="91440" tIns="45720" rIns="91440" bIns="45720" anchor="t" anchorCtr="0"/>
          <a:lstStyle/>
          <a:p>
            <a:pPr algn="just" eaLnBrk="1" hangingPunct="1">
              <a:lnSpc>
                <a:spcPct val="120000"/>
              </a:lnSpc>
              <a:buFont typeface="Wingdings" panose="05000000000000000000" pitchFamily="2" charset="2"/>
              <a:buChar char="u"/>
            </a:pPr>
            <a:r>
              <a:rPr lang="en-US" altLang="zh-CN" sz="2400" dirty="0">
                <a:solidFill>
                  <a:srgbClr val="000099"/>
                </a:solidFill>
                <a:ea typeface="Arial Unicode MS" pitchFamily="34" charset="-122"/>
              </a:rPr>
              <a:t>Component-based technologies such as Java Bean, and Enterprise Java Bean</a:t>
            </a:r>
            <a:r>
              <a:rPr lang="zh-CN" altLang="en-US" sz="2400" dirty="0">
                <a:solidFill>
                  <a:srgbClr val="000099"/>
                </a:solidFill>
                <a:ea typeface="Arial Unicode MS" pitchFamily="34" charset="-122"/>
              </a:rPr>
              <a:t>，</a:t>
            </a:r>
            <a:r>
              <a:rPr lang="en-US" altLang="zh-CN" sz="2400" dirty="0">
                <a:solidFill>
                  <a:srgbClr val="000099"/>
                </a:solidFill>
                <a:ea typeface="Arial Unicode MS" pitchFamily="34" charset="-122"/>
              </a:rPr>
              <a:t>COM/DCOM/.Net, CORBA are also based on distributed-object paradigms, as </a:t>
            </a:r>
            <a:r>
              <a:rPr lang="en-US" altLang="zh-CN" sz="2400" dirty="0">
                <a:solidFill>
                  <a:srgbClr val="FF0000"/>
                </a:solidFill>
                <a:ea typeface="Arial Unicode MS" pitchFamily="34" charset="-122"/>
              </a:rPr>
              <a:t>components</a:t>
            </a:r>
            <a:r>
              <a:rPr lang="en-US" altLang="zh-CN" sz="2400" dirty="0">
                <a:solidFill>
                  <a:srgbClr val="000099"/>
                </a:solidFill>
                <a:ea typeface="Arial Unicode MS" pitchFamily="34" charset="-122"/>
              </a:rPr>
              <a:t> are essentially specialized, packaged objects designed to interact with each other through standardized interfaces.  </a:t>
            </a:r>
          </a:p>
          <a:p>
            <a:pPr algn="just" eaLnBrk="1" hangingPunct="1">
              <a:lnSpc>
                <a:spcPct val="120000"/>
              </a:lnSpc>
              <a:buFont typeface="Wingdings" panose="05000000000000000000" pitchFamily="2" charset="2"/>
              <a:buChar char="u"/>
            </a:pPr>
            <a:r>
              <a:rPr lang="en-US" altLang="zh-CN" sz="2400" dirty="0">
                <a:solidFill>
                  <a:srgbClr val="000099"/>
                </a:solidFill>
                <a:ea typeface="Arial Unicode MS" pitchFamily="34" charset="-122"/>
              </a:rPr>
              <a:t>In addition, </a:t>
            </a:r>
            <a:r>
              <a:rPr lang="en-US" altLang="zh-CN" sz="2400" i="1" dirty="0">
                <a:solidFill>
                  <a:srgbClr val="FF3300"/>
                </a:solidFill>
                <a:ea typeface="Arial Unicode MS" pitchFamily="34" charset="-122"/>
              </a:rPr>
              <a:t>application servers,</a:t>
            </a:r>
            <a:r>
              <a:rPr lang="en-US" altLang="zh-CN" sz="2400" i="1" dirty="0">
                <a:solidFill>
                  <a:srgbClr val="000099"/>
                </a:solidFill>
                <a:ea typeface="Arial Unicode MS" pitchFamily="34" charset="-122"/>
              </a:rPr>
              <a:t> </a:t>
            </a:r>
            <a:r>
              <a:rPr lang="en-US" altLang="zh-CN" sz="2400" dirty="0">
                <a:solidFill>
                  <a:srgbClr val="000099"/>
                </a:solidFill>
                <a:ea typeface="Arial Unicode MS" pitchFamily="34" charset="-122"/>
              </a:rPr>
              <a:t>popular for enterprise applications</a:t>
            </a:r>
            <a:r>
              <a:rPr lang="en-US" altLang="zh-CN" sz="2400" i="1" dirty="0">
                <a:solidFill>
                  <a:srgbClr val="000099"/>
                </a:solidFill>
                <a:ea typeface="Arial Unicode MS" pitchFamily="34" charset="-122"/>
              </a:rPr>
              <a:t>, </a:t>
            </a:r>
            <a:r>
              <a:rPr lang="en-US" altLang="zh-CN" sz="2400" dirty="0">
                <a:solidFill>
                  <a:srgbClr val="000099"/>
                </a:solidFill>
                <a:ea typeface="Arial Unicode MS" pitchFamily="34" charset="-122"/>
              </a:rPr>
              <a:t>are middleware facilities which provide access to objects or components.</a:t>
            </a:r>
          </a:p>
          <a:p>
            <a:pPr lvl="2" eaLnBrk="1" hangingPunct="1">
              <a:lnSpc>
                <a:spcPct val="120000"/>
              </a:lnSpc>
              <a:buFont typeface="Wingdings" panose="05000000000000000000" pitchFamily="2" charset="2"/>
              <a:buChar char="p"/>
            </a:pPr>
            <a:r>
              <a:rPr lang="en-US" altLang="zh-CN" dirty="0">
                <a:solidFill>
                  <a:srgbClr val="000099"/>
                </a:solidFill>
                <a:ea typeface="宋体" panose="02010600030101010101" pitchFamily="2" charset="-122"/>
              </a:rPr>
              <a:t>WebSphere from IBM</a:t>
            </a:r>
          </a:p>
          <a:p>
            <a:pPr lvl="2" eaLnBrk="1" hangingPunct="1">
              <a:lnSpc>
                <a:spcPct val="120000"/>
              </a:lnSpc>
              <a:buFont typeface="Wingdings" panose="05000000000000000000" pitchFamily="2" charset="2"/>
              <a:buChar char="p"/>
            </a:pPr>
            <a:r>
              <a:rPr lang="en-US" altLang="zh-CN" dirty="0">
                <a:solidFill>
                  <a:srgbClr val="000099"/>
                </a:solidFill>
                <a:ea typeface="宋体" panose="02010600030101010101" pitchFamily="2" charset="-122"/>
              </a:rPr>
              <a:t>WebLogic Portal from BEA Systems</a:t>
            </a:r>
          </a:p>
          <a:p>
            <a:pPr lvl="2" eaLnBrk="1" hangingPunct="1">
              <a:lnSpc>
                <a:spcPct val="120000"/>
              </a:lnSpc>
              <a:buFont typeface="Wingdings" panose="05000000000000000000" pitchFamily="2" charset="2"/>
              <a:buChar char="p"/>
            </a:pPr>
            <a:r>
              <a:rPr lang="en-US" altLang="zh-CN" dirty="0">
                <a:solidFill>
                  <a:srgbClr val="000099"/>
                </a:solidFill>
                <a:ea typeface="宋体" panose="02010600030101010101" pitchFamily="2" charset="-122"/>
              </a:rPr>
              <a:t>JEE from Sun Microsystems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xfrm>
            <a:off x="0" y="0"/>
            <a:ext cx="9144000" cy="990600"/>
          </a:xfrm>
        </p:spPr>
        <p:txBody>
          <a:bodyPr vert="horz" wrap="square" lIns="91440" tIns="45720" rIns="91440" bIns="45720" anchor="ctr" anchorCtr="0"/>
          <a:lstStyle/>
          <a:p>
            <a:pPr algn="just" eaLnBrk="1" hangingPunct="1">
              <a:buNone/>
            </a:pPr>
            <a:r>
              <a:rPr lang="en-US" altLang="zh-CN" sz="4000" b="1" dirty="0">
                <a:solidFill>
                  <a:srgbClr val="FF3300"/>
                </a:solidFill>
                <a:ea typeface="宋体" panose="02010600030101010101" pitchFamily="2" charset="-122"/>
              </a:rPr>
              <a:t>2.8 The Mobile Agent Paradigm</a:t>
            </a:r>
            <a:r>
              <a:rPr lang="en-US" altLang="zh-CN" sz="4000" b="1" dirty="0">
                <a:solidFill>
                  <a:srgbClr val="000000"/>
                </a:solidFill>
                <a:ea typeface="宋体" panose="02010600030101010101" pitchFamily="2" charset="-122"/>
              </a:rPr>
              <a:t> </a:t>
            </a:r>
          </a:p>
        </p:txBody>
      </p:sp>
      <p:sp>
        <p:nvSpPr>
          <p:cNvPr id="58371" name="Rectangle 3" descr="Rectangle: Click to edit Master text styles&#10;Second level&#10;Third level&#10;Fourth level&#10;Fifth level"/>
          <p:cNvSpPr>
            <a:spLocks noGrp="1"/>
          </p:cNvSpPr>
          <p:nvPr>
            <p:ph idx="1"/>
          </p:nvPr>
        </p:nvSpPr>
        <p:spPr>
          <a:xfrm>
            <a:off x="533400" y="1131888"/>
            <a:ext cx="8124825" cy="5492750"/>
          </a:xfrm>
        </p:spPr>
        <p:txBody>
          <a:bodyPr vert="horz" wrap="square" lIns="91440" tIns="45720" rIns="91440" bIns="45720" anchor="t" anchorCtr="0"/>
          <a:lstStyle/>
          <a:p>
            <a:pPr algn="l" eaLnBrk="1" hangingPunct="1">
              <a:buFont typeface="Wingdings" panose="05000000000000000000" pitchFamily="2" charset="2"/>
              <a:buChar char="Ø"/>
            </a:pPr>
            <a:r>
              <a:rPr lang="en-US" altLang="zh-CN" sz="2000" b="1" dirty="0">
                <a:ea typeface="宋体" panose="02010600030101010101" pitchFamily="2" charset="-122"/>
              </a:rPr>
              <a:t>Message passing  </a:t>
            </a:r>
          </a:p>
          <a:p>
            <a:pPr algn="l" eaLnBrk="1" hangingPunct="1">
              <a:buFont typeface="Wingdings" panose="05000000000000000000" pitchFamily="2" charset="2"/>
              <a:buChar char="Ø"/>
            </a:pPr>
            <a:r>
              <a:rPr lang="en-US" altLang="zh-CN" sz="2000" b="1" dirty="0">
                <a:ea typeface="宋体" panose="02010600030101010101" pitchFamily="2" charset="-122"/>
              </a:rPr>
              <a:t>Remote Procedure Call</a:t>
            </a:r>
          </a:p>
          <a:p>
            <a:pPr algn="l" eaLnBrk="1" hangingPunct="1">
              <a:buFont typeface="Wingdings" panose="05000000000000000000" pitchFamily="2" charset="2"/>
              <a:buChar char="Ø"/>
            </a:pPr>
            <a:r>
              <a:rPr lang="en-US" altLang="zh-CN" sz="2000" b="1" dirty="0">
                <a:ea typeface="宋体" panose="02010600030101010101" pitchFamily="2" charset="-122"/>
              </a:rPr>
              <a:t>Client-server</a:t>
            </a:r>
            <a:endParaRPr lang="en-US" altLang="zh-CN" sz="2000" dirty="0">
              <a:ea typeface="宋体" panose="02010600030101010101" pitchFamily="2" charset="-122"/>
            </a:endParaRPr>
          </a:p>
          <a:p>
            <a:pPr algn="l" eaLnBrk="1" hangingPunct="1">
              <a:buFont typeface="Wingdings" panose="05000000000000000000" pitchFamily="2" charset="2"/>
              <a:buChar char="Ø"/>
            </a:pPr>
            <a:r>
              <a:rPr lang="en-US" altLang="zh-CN" sz="2000" b="1" dirty="0">
                <a:ea typeface="宋体" panose="02010600030101010101" pitchFamily="2" charset="-122"/>
              </a:rPr>
              <a:t>Peer-to-Peer</a:t>
            </a:r>
          </a:p>
          <a:p>
            <a:pPr algn="l" eaLnBrk="1" hangingPunct="1">
              <a:buFont typeface="Wingdings" panose="05000000000000000000" pitchFamily="2" charset="2"/>
              <a:buChar char="Ø"/>
            </a:pPr>
            <a:r>
              <a:rPr lang="en-US" altLang="zh-CN" sz="2000" b="1" dirty="0">
                <a:ea typeface="宋体" panose="02010600030101010101" pitchFamily="2" charset="-122"/>
              </a:rPr>
              <a:t>Message system</a:t>
            </a:r>
            <a:r>
              <a:rPr lang="en-US" altLang="zh-CN" sz="2000" dirty="0">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Point-to-point;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Publish/Subscribe </a:t>
            </a:r>
          </a:p>
          <a:p>
            <a:pPr algn="l" eaLnBrk="1" hangingPunct="1">
              <a:buFont typeface="Wingdings" panose="05000000000000000000" pitchFamily="2" charset="2"/>
              <a:buChar char="Ø"/>
            </a:pPr>
            <a:r>
              <a:rPr lang="en-US" altLang="zh-CN" sz="2000" b="1" dirty="0">
                <a:ea typeface="宋体" panose="02010600030101010101" pitchFamily="2" charset="-122"/>
              </a:rPr>
              <a:t>Distributed objects:</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Remote method invocation</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Network services</a:t>
            </a:r>
            <a:endParaRPr lang="en-US" altLang="zh-CN" sz="2000" dirty="0">
              <a:solidFill>
                <a:srgbClr val="FF9900"/>
              </a:solidFill>
              <a:ea typeface="宋体" panose="02010600030101010101" pitchFamily="2" charset="-122"/>
            </a:endParaRP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Object Request Broker</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Object space</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Component Based Technologies</a:t>
            </a:r>
          </a:p>
          <a:p>
            <a:pPr algn="l" eaLnBrk="1" hangingPunct="1">
              <a:buFont typeface="Wingdings" panose="05000000000000000000" pitchFamily="2" charset="2"/>
              <a:buChar char="Ø"/>
            </a:pPr>
            <a:r>
              <a:rPr lang="en-US" altLang="zh-CN" sz="2400" b="1" dirty="0">
                <a:solidFill>
                  <a:srgbClr val="FF3300"/>
                </a:solidFill>
                <a:ea typeface="宋体" panose="02010600030101010101" pitchFamily="2" charset="-122"/>
              </a:rPr>
              <a:t>Mobile agents</a:t>
            </a:r>
          </a:p>
          <a:p>
            <a:pPr algn="l" eaLnBrk="1" hangingPunct="1">
              <a:buFont typeface="Wingdings" panose="05000000000000000000" pitchFamily="2" charset="2"/>
              <a:buChar char="Ø"/>
            </a:pPr>
            <a:r>
              <a:rPr lang="en-US" altLang="zh-CN" sz="2000" b="1" dirty="0">
                <a:ea typeface="宋体" panose="02010600030101010101" pitchFamily="2" charset="-122"/>
              </a:rPr>
              <a:t>Collaborative applications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p:nvPr/>
        </p:nvSpPr>
        <p:spPr>
          <a:xfrm>
            <a:off x="134938" y="901700"/>
            <a:ext cx="8597900" cy="55102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a:lnSpc>
                <a:spcPct val="200000"/>
              </a:lnSpc>
              <a:spcBef>
                <a:spcPct val="0"/>
              </a:spcBef>
              <a:buClrTx/>
              <a:buFont typeface="Wingdings" panose="05000000000000000000" pitchFamily="2" charset="2"/>
              <a:buChar char="u"/>
            </a:pPr>
            <a:r>
              <a:rPr lang="zh-CN" altLang="en-US" sz="2200" b="1" dirty="0">
                <a:solidFill>
                  <a:srgbClr val="000099"/>
                </a:solidFill>
                <a:latin typeface="宋体" panose="02010600030101010101" pitchFamily="2" charset="-122"/>
                <a:ea typeface="宋体" panose="02010600030101010101" pitchFamily="2" charset="-122"/>
              </a:rPr>
              <a:t>软件</a:t>
            </a:r>
            <a:r>
              <a:rPr lang="en-US" altLang="zh-CN" sz="2200" b="1" dirty="0">
                <a:solidFill>
                  <a:srgbClr val="000099"/>
                </a:solidFill>
                <a:latin typeface="宋体" panose="02010600030101010101" pitchFamily="2" charset="-122"/>
                <a:ea typeface="宋体" panose="02010600030101010101" pitchFamily="2" charset="-122"/>
              </a:rPr>
              <a:t>Agent</a:t>
            </a:r>
            <a:r>
              <a:rPr lang="zh-CN" altLang="en-US" sz="2200" b="1" dirty="0">
                <a:solidFill>
                  <a:srgbClr val="000099"/>
                </a:solidFill>
                <a:latin typeface="宋体" panose="02010600030101010101" pitchFamily="2" charset="-122"/>
                <a:ea typeface="宋体" panose="02010600030101010101" pitchFamily="2" charset="-122"/>
              </a:rPr>
              <a:t>技术最早可追溯到人工智能研究的初期阶段，</a:t>
            </a:r>
            <a:r>
              <a:rPr lang="en-US" altLang="zh-CN" sz="2200" b="1" dirty="0">
                <a:solidFill>
                  <a:srgbClr val="000099"/>
                </a:solidFill>
                <a:latin typeface="宋体" panose="02010600030101010101" pitchFamily="2" charset="-122"/>
                <a:ea typeface="宋体" panose="02010600030101010101" pitchFamily="2" charset="-122"/>
              </a:rPr>
              <a:t>1977</a:t>
            </a:r>
            <a:r>
              <a:rPr lang="zh-CN" altLang="en-US" sz="2200" b="1" dirty="0">
                <a:solidFill>
                  <a:srgbClr val="000099"/>
                </a:solidFill>
                <a:latin typeface="宋体" panose="02010600030101010101" pitchFamily="2" charset="-122"/>
                <a:ea typeface="宋体" panose="02010600030101010101" pitchFamily="2" charset="-122"/>
              </a:rPr>
              <a:t>年</a:t>
            </a:r>
            <a:r>
              <a:rPr lang="en-US" altLang="zh-CN" sz="2200" b="1" dirty="0">
                <a:solidFill>
                  <a:srgbClr val="000099"/>
                </a:solidFill>
                <a:latin typeface="宋体" panose="02010600030101010101" pitchFamily="2" charset="-122"/>
                <a:ea typeface="宋体" panose="02010600030101010101" pitchFamily="2" charset="-122"/>
              </a:rPr>
              <a:t>Hewitt</a:t>
            </a:r>
            <a:r>
              <a:rPr lang="zh-CN" altLang="en-US" sz="2200" b="1" dirty="0">
                <a:solidFill>
                  <a:srgbClr val="000099"/>
                </a:solidFill>
                <a:latin typeface="宋体" panose="02010600030101010101" pitchFamily="2" charset="-122"/>
                <a:ea typeface="宋体" panose="02010600030101010101" pitchFamily="2" charset="-122"/>
              </a:rPr>
              <a:t>提出了具有自组织性、反应机制和同步执行能力的软件模型，即最初的软件</a:t>
            </a:r>
            <a:r>
              <a:rPr lang="en-US" altLang="zh-CN" sz="2200" b="1" dirty="0">
                <a:solidFill>
                  <a:srgbClr val="000099"/>
                </a:solidFill>
                <a:latin typeface="宋体" panose="02010600030101010101" pitchFamily="2" charset="-122"/>
                <a:ea typeface="宋体" panose="02010600030101010101" pitchFamily="2" charset="-122"/>
              </a:rPr>
              <a:t>Agent</a:t>
            </a:r>
            <a:r>
              <a:rPr lang="zh-CN" altLang="en-US" sz="2200" b="1" dirty="0">
                <a:solidFill>
                  <a:srgbClr val="000099"/>
                </a:solidFill>
                <a:latin typeface="宋体" panose="02010600030101010101" pitchFamily="2" charset="-122"/>
                <a:ea typeface="宋体" panose="02010600030101010101" pitchFamily="2" charset="-122"/>
              </a:rPr>
              <a:t>思想。</a:t>
            </a:r>
            <a:r>
              <a:rPr lang="en-US" altLang="zh-CN" sz="2200" b="1" dirty="0">
                <a:solidFill>
                  <a:srgbClr val="3366FF"/>
                </a:solidFill>
                <a:ea typeface="宋体" panose="02010600030101010101" pitchFamily="2" charset="-122"/>
              </a:rPr>
              <a:t>       </a:t>
            </a:r>
          </a:p>
          <a:p>
            <a:pPr marL="342900" lvl="0" indent="-342900" algn="l">
              <a:lnSpc>
                <a:spcPct val="200000"/>
              </a:lnSpc>
              <a:spcBef>
                <a:spcPct val="0"/>
              </a:spcBef>
              <a:buClrTx/>
              <a:buFont typeface="Wingdings" panose="05000000000000000000" pitchFamily="2" charset="2"/>
              <a:buChar char="u"/>
            </a:pPr>
            <a:r>
              <a:rPr lang="en-US" altLang="zh-CN" sz="2200" b="1" dirty="0">
                <a:solidFill>
                  <a:srgbClr val="000099"/>
                </a:solidFill>
                <a:latin typeface="宋体" panose="02010600030101010101" pitchFamily="2" charset="-122"/>
                <a:ea typeface="宋体" panose="02010600030101010101" pitchFamily="2" charset="-122"/>
              </a:rPr>
              <a:t>90</a:t>
            </a:r>
            <a:r>
              <a:rPr lang="zh-CN" altLang="en-US" sz="2200" b="1" dirty="0">
                <a:solidFill>
                  <a:srgbClr val="000099"/>
                </a:solidFill>
                <a:latin typeface="宋体" panose="02010600030101010101" pitchFamily="2" charset="-122"/>
                <a:ea typeface="宋体" panose="02010600030101010101" pitchFamily="2" charset="-122"/>
              </a:rPr>
              <a:t>年代初</a:t>
            </a:r>
            <a:r>
              <a:rPr lang="en-US" altLang="zh-CN" sz="2200" b="1" dirty="0">
                <a:solidFill>
                  <a:srgbClr val="000099"/>
                </a:solidFill>
                <a:latin typeface="宋体" panose="02010600030101010101" pitchFamily="2" charset="-122"/>
                <a:ea typeface="宋体" panose="02010600030101010101" pitchFamily="2" charset="-122"/>
              </a:rPr>
              <a:t>General Magic</a:t>
            </a:r>
            <a:r>
              <a:rPr lang="zh-CN" altLang="en-US" sz="2200" b="1" dirty="0">
                <a:solidFill>
                  <a:srgbClr val="000099"/>
                </a:solidFill>
                <a:latin typeface="宋体" panose="02010600030101010101" pitchFamily="2" charset="-122"/>
                <a:ea typeface="宋体" panose="02010600030101010101" pitchFamily="2" charset="-122"/>
              </a:rPr>
              <a:t>公司提出了移动</a:t>
            </a:r>
            <a:r>
              <a:rPr lang="en-US" altLang="zh-CN" sz="2200" b="1" dirty="0">
                <a:solidFill>
                  <a:srgbClr val="000099"/>
                </a:solidFill>
                <a:latin typeface="宋体" panose="02010600030101010101" pitchFamily="2" charset="-122"/>
                <a:ea typeface="宋体" panose="02010600030101010101" pitchFamily="2" charset="-122"/>
              </a:rPr>
              <a:t>Agent</a:t>
            </a:r>
            <a:r>
              <a:rPr lang="zh-CN" altLang="en-US" sz="2200" b="1" dirty="0">
                <a:solidFill>
                  <a:srgbClr val="000099"/>
                </a:solidFill>
                <a:latin typeface="宋体" panose="02010600030101010101" pitchFamily="2" charset="-122"/>
                <a:ea typeface="宋体" panose="02010600030101010101" pitchFamily="2" charset="-122"/>
              </a:rPr>
              <a:t>概念</a:t>
            </a:r>
            <a:r>
              <a:rPr lang="en-US" altLang="zh-CN" sz="2200" b="1" dirty="0">
                <a:solidFill>
                  <a:srgbClr val="000099"/>
                </a:solidFill>
                <a:latin typeface="宋体" panose="02010600030101010101" pitchFamily="2" charset="-122"/>
                <a:ea typeface="宋体" panose="02010600030101010101" pitchFamily="2" charset="-122"/>
              </a:rPr>
              <a:t>: </a:t>
            </a:r>
            <a:r>
              <a:rPr lang="zh-CN" altLang="en-US" sz="2200" b="1" dirty="0">
                <a:solidFill>
                  <a:srgbClr val="000099"/>
                </a:solidFill>
                <a:latin typeface="宋体" panose="02010600030101010101" pitchFamily="2" charset="-122"/>
                <a:ea typeface="宋体" panose="02010600030101010101" pitchFamily="2" charset="-122"/>
              </a:rPr>
              <a:t>即一个能在异构网络环境中自主地从一台主机迁移到另一台主机，并可与其它</a:t>
            </a:r>
            <a:r>
              <a:rPr lang="en-US" altLang="zh-CN" sz="2200" b="1" dirty="0">
                <a:solidFill>
                  <a:srgbClr val="000099"/>
                </a:solidFill>
                <a:latin typeface="宋体" panose="02010600030101010101" pitchFamily="2" charset="-122"/>
                <a:ea typeface="宋体" panose="02010600030101010101" pitchFamily="2" charset="-122"/>
              </a:rPr>
              <a:t>Agent</a:t>
            </a:r>
            <a:r>
              <a:rPr lang="zh-CN" altLang="en-US" sz="2200" b="1" dirty="0">
                <a:solidFill>
                  <a:srgbClr val="000099"/>
                </a:solidFill>
                <a:latin typeface="宋体" panose="02010600030101010101" pitchFamily="2" charset="-122"/>
                <a:ea typeface="宋体" panose="02010600030101010101" pitchFamily="2" charset="-122"/>
              </a:rPr>
              <a:t>或资源交互的软件实体。可以看成是软件</a:t>
            </a:r>
            <a:r>
              <a:rPr lang="en-US" altLang="zh-CN" sz="2200" b="1" dirty="0">
                <a:solidFill>
                  <a:srgbClr val="000099"/>
                </a:solidFill>
                <a:latin typeface="宋体" panose="02010600030101010101" pitchFamily="2" charset="-122"/>
                <a:ea typeface="宋体" panose="02010600030101010101" pitchFamily="2" charset="-122"/>
              </a:rPr>
              <a:t>Agent</a:t>
            </a:r>
            <a:r>
              <a:rPr lang="zh-CN" altLang="en-US" sz="2200" b="1" dirty="0">
                <a:solidFill>
                  <a:srgbClr val="000099"/>
                </a:solidFill>
                <a:latin typeface="宋体" panose="02010600030101010101" pitchFamily="2" charset="-122"/>
                <a:ea typeface="宋体" panose="02010600030101010101" pitchFamily="2" charset="-122"/>
              </a:rPr>
              <a:t>与分布式计算相结合的产物，具有软件</a:t>
            </a:r>
            <a:r>
              <a:rPr lang="en-US" altLang="zh-CN" sz="2200" b="1" dirty="0">
                <a:solidFill>
                  <a:srgbClr val="000099"/>
                </a:solidFill>
                <a:latin typeface="宋体" panose="02010600030101010101" pitchFamily="2" charset="-122"/>
                <a:ea typeface="宋体" panose="02010600030101010101" pitchFamily="2" charset="-122"/>
              </a:rPr>
              <a:t>Agent</a:t>
            </a:r>
            <a:r>
              <a:rPr lang="zh-CN" altLang="en-US" sz="2200" b="1" dirty="0">
                <a:solidFill>
                  <a:srgbClr val="000099"/>
                </a:solidFill>
                <a:latin typeface="宋体" panose="02010600030101010101" pitchFamily="2" charset="-122"/>
                <a:ea typeface="宋体" panose="02010600030101010101" pitchFamily="2" charset="-122"/>
              </a:rPr>
              <a:t>的基本特性</a:t>
            </a:r>
            <a:r>
              <a:rPr lang="en-US" altLang="zh-CN" sz="2200" b="1" dirty="0">
                <a:solidFill>
                  <a:srgbClr val="000099"/>
                </a:solidFill>
                <a:latin typeface="宋体" panose="02010600030101010101" pitchFamily="2" charset="-122"/>
                <a:ea typeface="宋体" panose="02010600030101010101" pitchFamily="2" charset="-122"/>
              </a:rPr>
              <a:t>--</a:t>
            </a:r>
            <a:r>
              <a:rPr lang="zh-CN" altLang="en-US" sz="2200" b="1" dirty="0">
                <a:solidFill>
                  <a:srgbClr val="FF3300"/>
                </a:solidFill>
                <a:latin typeface="宋体" panose="02010600030101010101" pitchFamily="2" charset="-122"/>
                <a:ea typeface="宋体" panose="02010600030101010101" pitchFamily="2" charset="-122"/>
              </a:rPr>
              <a:t>自治性、响应性、主动性和推理性</a:t>
            </a:r>
            <a:r>
              <a:rPr lang="zh-CN" altLang="en-US" sz="2200" b="1" dirty="0">
                <a:solidFill>
                  <a:srgbClr val="000099"/>
                </a:solidFill>
                <a:latin typeface="宋体" panose="02010600030101010101" pitchFamily="2" charset="-122"/>
                <a:ea typeface="宋体" panose="02010600030101010101" pitchFamily="2" charset="-122"/>
              </a:rPr>
              <a:t>外，还具有</a:t>
            </a:r>
            <a:r>
              <a:rPr lang="zh-CN" altLang="en-US" sz="2200" b="1" dirty="0">
                <a:solidFill>
                  <a:srgbClr val="FF3300"/>
                </a:solidFill>
                <a:latin typeface="宋体" panose="02010600030101010101" pitchFamily="2" charset="-122"/>
                <a:ea typeface="宋体" panose="02010600030101010101" pitchFamily="2" charset="-122"/>
              </a:rPr>
              <a:t>移动性。</a:t>
            </a:r>
            <a:r>
              <a:rPr lang="zh-CN" altLang="en-US" sz="2200" b="1" dirty="0">
                <a:solidFill>
                  <a:srgbClr val="000099"/>
                </a:solidFill>
                <a:latin typeface="宋体" panose="02010600030101010101" pitchFamily="2" charset="-122"/>
                <a:ea typeface="宋体" panose="02010600030101010101" pitchFamily="2" charset="-122"/>
              </a:rPr>
              <a:t> </a:t>
            </a:r>
          </a:p>
        </p:txBody>
      </p:sp>
      <p:sp>
        <p:nvSpPr>
          <p:cNvPr id="59395" name="Text Box 3"/>
          <p:cNvSpPr txBox="1"/>
          <p:nvPr/>
        </p:nvSpPr>
        <p:spPr>
          <a:xfrm>
            <a:off x="3413125" y="3906838"/>
            <a:ext cx="184150" cy="4572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endParaRPr lang="zh-CN" altLang="en-US" sz="2400" dirty="0">
              <a:ea typeface="宋体" panose="02010600030101010101" pitchFamily="2" charset="-122"/>
            </a:endParaRPr>
          </a:p>
        </p:txBody>
      </p:sp>
      <p:sp>
        <p:nvSpPr>
          <p:cNvPr id="59396" name="Rectangle 5"/>
          <p:cNvSpPr/>
          <p:nvPr/>
        </p:nvSpPr>
        <p:spPr>
          <a:xfrm>
            <a:off x="0" y="0"/>
            <a:ext cx="9144000" cy="9017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4400" b="1" dirty="0">
                <a:solidFill>
                  <a:srgbClr val="FF3300"/>
                </a:solidFill>
                <a:ea typeface="宋体" panose="02010600030101010101" pitchFamily="2" charset="-122"/>
              </a:rPr>
              <a:t>2.8 The Mobile Agent Paradigm </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p:cNvSpPr>
          <p:nvPr>
            <p:ph idx="1"/>
          </p:nvPr>
        </p:nvSpPr>
        <p:spPr>
          <a:xfrm>
            <a:off x="0" y="736600"/>
            <a:ext cx="8864600" cy="2197100"/>
          </a:xfrm>
        </p:spPr>
        <p:txBody>
          <a:bodyPr vert="horz" wrap="square" lIns="91440" tIns="45720" rIns="91440" bIns="45720" anchor="t" anchorCtr="0"/>
          <a:lstStyle/>
          <a:p>
            <a:pPr algn="just" eaLnBrk="1" hangingPunct="1">
              <a:buFont typeface="Wingdings" panose="05000000000000000000" pitchFamily="2" charset="2"/>
              <a:buChar char="u"/>
            </a:pPr>
            <a:r>
              <a:rPr lang="en-US" altLang="zh-CN" sz="2400" dirty="0">
                <a:solidFill>
                  <a:srgbClr val="000099"/>
                </a:solidFill>
                <a:ea typeface="Arial Unicode MS" pitchFamily="34" charset="-122"/>
              </a:rPr>
              <a:t>A mobile agent is a </a:t>
            </a:r>
            <a:r>
              <a:rPr lang="en-US" altLang="zh-CN" sz="2400" dirty="0">
                <a:solidFill>
                  <a:srgbClr val="FF3300"/>
                </a:solidFill>
                <a:ea typeface="Arial Unicode MS" pitchFamily="34" charset="-122"/>
              </a:rPr>
              <a:t>transportable</a:t>
            </a:r>
            <a:r>
              <a:rPr lang="en-US" altLang="zh-CN" sz="2400" dirty="0">
                <a:solidFill>
                  <a:srgbClr val="000099"/>
                </a:solidFill>
                <a:ea typeface="Arial Unicode MS" pitchFamily="34" charset="-122"/>
              </a:rPr>
              <a:t> program or object</a:t>
            </a:r>
            <a:r>
              <a:rPr lang="en-US" altLang="zh-CN" sz="2000" dirty="0">
                <a:solidFill>
                  <a:srgbClr val="000099"/>
                </a:solidFill>
                <a:ea typeface="Arial Unicode MS" pitchFamily="34" charset="-122"/>
              </a:rPr>
              <a:t>(</a:t>
            </a:r>
            <a:r>
              <a:rPr lang="zh-CN" altLang="en-US" sz="2000" dirty="0">
                <a:solidFill>
                  <a:srgbClr val="000099"/>
                </a:solidFill>
                <a:ea typeface="Arial Unicode MS" pitchFamily="34" charset="-122"/>
              </a:rPr>
              <a:t>移动性</a:t>
            </a:r>
            <a:r>
              <a:rPr lang="en-US" altLang="zh-CN" sz="2000" dirty="0">
                <a:solidFill>
                  <a:srgbClr val="000099"/>
                </a:solidFill>
                <a:ea typeface="Arial Unicode MS" pitchFamily="34" charset="-122"/>
              </a:rPr>
              <a:t>).  </a:t>
            </a:r>
          </a:p>
          <a:p>
            <a:pPr algn="just" eaLnBrk="1" hangingPunct="1">
              <a:buFont typeface="Wingdings" panose="05000000000000000000" pitchFamily="2" charset="2"/>
              <a:buChar char="u"/>
            </a:pPr>
            <a:r>
              <a:rPr lang="en-US" altLang="zh-CN" sz="2400" dirty="0">
                <a:solidFill>
                  <a:srgbClr val="000099"/>
                </a:solidFill>
                <a:ea typeface="Arial Unicode MS" pitchFamily="34" charset="-122"/>
              </a:rPr>
              <a:t>An agent is </a:t>
            </a:r>
            <a:r>
              <a:rPr lang="en-US" altLang="zh-CN" sz="2400" dirty="0">
                <a:solidFill>
                  <a:srgbClr val="FF3300"/>
                </a:solidFill>
                <a:ea typeface="Arial Unicode MS" pitchFamily="34" charset="-122"/>
              </a:rPr>
              <a:t>launched</a:t>
            </a:r>
            <a:r>
              <a:rPr lang="en-US" altLang="zh-CN" sz="2400" dirty="0">
                <a:solidFill>
                  <a:srgbClr val="000099"/>
                </a:solidFill>
                <a:ea typeface="Arial Unicode MS" pitchFamily="34" charset="-122"/>
              </a:rPr>
              <a:t> from an originating host. the agent </a:t>
            </a:r>
            <a:r>
              <a:rPr lang="en-US" altLang="zh-CN" sz="2400" dirty="0">
                <a:solidFill>
                  <a:srgbClr val="FF3300"/>
                </a:solidFill>
                <a:ea typeface="Arial Unicode MS" pitchFamily="34" charset="-122"/>
              </a:rPr>
              <a:t>travels from host to host</a:t>
            </a:r>
            <a:r>
              <a:rPr lang="en-US" altLang="zh-CN" sz="2400" dirty="0">
                <a:solidFill>
                  <a:srgbClr val="000099"/>
                </a:solidFill>
                <a:ea typeface="Arial Unicode MS" pitchFamily="34" charset="-122"/>
              </a:rPr>
              <a:t> according to an itinerary that it carries.  </a:t>
            </a:r>
          </a:p>
          <a:p>
            <a:pPr algn="just" eaLnBrk="1" hangingPunct="1">
              <a:buFont typeface="Wingdings" panose="05000000000000000000" pitchFamily="2" charset="2"/>
              <a:buChar char="u"/>
            </a:pPr>
            <a:r>
              <a:rPr lang="en-US" altLang="zh-CN" sz="2400" dirty="0">
                <a:solidFill>
                  <a:srgbClr val="000099"/>
                </a:solidFill>
                <a:ea typeface="Arial Unicode MS" pitchFamily="34" charset="-122"/>
              </a:rPr>
              <a:t>At each stop, the agent accesses the necessary resources or services, and </a:t>
            </a:r>
            <a:r>
              <a:rPr lang="en-US" altLang="zh-CN" sz="2400" dirty="0">
                <a:solidFill>
                  <a:srgbClr val="FF3300"/>
                </a:solidFill>
                <a:ea typeface="Arial Unicode MS" pitchFamily="34" charset="-122"/>
              </a:rPr>
              <a:t>performs the necessary tasks</a:t>
            </a:r>
            <a:r>
              <a:rPr lang="en-US" altLang="zh-CN" sz="2400" dirty="0">
                <a:solidFill>
                  <a:srgbClr val="000099"/>
                </a:solidFill>
                <a:ea typeface="Arial Unicode MS" pitchFamily="34" charset="-122"/>
              </a:rPr>
              <a:t> to accomplish its mission. </a:t>
            </a:r>
          </a:p>
        </p:txBody>
      </p:sp>
      <p:graphicFrame>
        <p:nvGraphicFramePr>
          <p:cNvPr id="60419" name="Object 4"/>
          <p:cNvGraphicFramePr>
            <a:graphicFrameLocks noChangeAspect="1"/>
          </p:cNvGraphicFramePr>
          <p:nvPr/>
        </p:nvGraphicFramePr>
        <p:xfrm>
          <a:off x="1371600" y="2870200"/>
          <a:ext cx="6362700" cy="3644900"/>
        </p:xfrm>
        <a:graphic>
          <a:graphicData uri="http://schemas.openxmlformats.org/presentationml/2006/ole">
            <mc:AlternateContent xmlns:mc="http://schemas.openxmlformats.org/markup-compatibility/2006">
              <mc:Choice xmlns:v="urn:schemas-microsoft-com:vml" Requires="v">
                <p:oleObj spid="_x0000_s14338" r:id="rId3" imgW="3094990" imgH="2912110" progId="SmartDraw.2">
                  <p:embed/>
                </p:oleObj>
              </mc:Choice>
              <mc:Fallback>
                <p:oleObj r:id="rId3" imgW="3094990" imgH="2912110" progId="SmartDraw.2">
                  <p:embed/>
                  <p:pic>
                    <p:nvPicPr>
                      <p:cNvPr id="0" name="图片 3089"/>
                      <p:cNvPicPr/>
                      <p:nvPr/>
                    </p:nvPicPr>
                    <p:blipFill>
                      <a:blip r:embed="rId4"/>
                      <a:stretch>
                        <a:fillRect/>
                      </a:stretch>
                    </p:blipFill>
                    <p:spPr>
                      <a:xfrm>
                        <a:off x="1371600" y="2870200"/>
                        <a:ext cx="6362700" cy="3644900"/>
                      </a:xfrm>
                      <a:prstGeom prst="rect">
                        <a:avLst/>
                      </a:prstGeom>
                      <a:noFill/>
                      <a:ln w="38100">
                        <a:noFill/>
                        <a:miter/>
                      </a:ln>
                    </p:spPr>
                  </p:pic>
                </p:oleObj>
              </mc:Fallback>
            </mc:AlternateContent>
          </a:graphicData>
        </a:graphic>
      </p:graphicFrame>
      <p:sp>
        <p:nvSpPr>
          <p:cNvPr id="60420" name="Rectangle 6"/>
          <p:cNvSpPr>
            <a:spLocks noGrp="1"/>
          </p:cNvSpPr>
          <p:nvPr>
            <p:ph type="title"/>
          </p:nvPr>
        </p:nvSpPr>
        <p:spPr>
          <a:xfrm>
            <a:off x="0" y="0"/>
            <a:ext cx="9144000" cy="787400"/>
          </a:xfrm>
        </p:spPr>
        <p:txBody>
          <a:bodyPr vert="horz" wrap="square" lIns="91440" tIns="45720" rIns="91440" bIns="45720" anchor="ctr" anchorCtr="0"/>
          <a:lstStyle/>
          <a:p>
            <a:pPr algn="just" eaLnBrk="1" hangingPunct="1"/>
            <a:r>
              <a:rPr lang="en-US" altLang="zh-CN" b="1" dirty="0">
                <a:ea typeface="宋体" panose="02010600030101010101" pitchFamily="2" charset="-122"/>
              </a:rPr>
              <a:t>2.8 The Mobile Agent Paradigm</a:t>
            </a:r>
            <a:r>
              <a:rPr lang="en-US" altLang="zh-CN" dirty="0">
                <a:ea typeface="宋体" panose="02010600030101010101" pitchFamily="2" charset="-122"/>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a:xfrm>
            <a:off x="0" y="0"/>
            <a:ext cx="8262938" cy="698500"/>
          </a:xfrm>
        </p:spPr>
        <p:txBody>
          <a:bodyPr vert="horz" wrap="square" lIns="91440" tIns="45720" rIns="91440" bIns="45720" anchor="ctr" anchorCtr="0"/>
          <a:lstStyle/>
          <a:p>
            <a:pPr algn="just" eaLnBrk="1" hangingPunct="1">
              <a:buNone/>
            </a:pPr>
            <a:r>
              <a:rPr lang="en-US" altLang="zh-CN" sz="4000" b="1" dirty="0">
                <a:solidFill>
                  <a:srgbClr val="FF3300"/>
                </a:solidFill>
                <a:ea typeface="宋体" panose="02010600030101010101" pitchFamily="2" charset="-122"/>
              </a:rPr>
              <a:t>2.8 The Mobile Agent Paradigm </a:t>
            </a:r>
          </a:p>
        </p:txBody>
      </p:sp>
      <p:sp>
        <p:nvSpPr>
          <p:cNvPr id="61443" name="Rectangle 3"/>
          <p:cNvSpPr>
            <a:spLocks noGrp="1"/>
          </p:cNvSpPr>
          <p:nvPr>
            <p:ph idx="1"/>
          </p:nvPr>
        </p:nvSpPr>
        <p:spPr>
          <a:xfrm>
            <a:off x="177800" y="952500"/>
            <a:ext cx="8788400" cy="5676900"/>
          </a:xfrm>
        </p:spPr>
        <p:txBody>
          <a:bodyPr vert="horz" wrap="square" lIns="91440" tIns="45720" rIns="91440" bIns="45720" anchor="t" anchorCtr="0"/>
          <a:lstStyle/>
          <a:p>
            <a:pPr algn="just" eaLnBrk="1" hangingPunct="1">
              <a:lnSpc>
                <a:spcPct val="110000"/>
              </a:lnSpc>
              <a:buFont typeface="Wingdings" panose="05000000000000000000" pitchFamily="2" charset="2"/>
              <a:buChar char="u"/>
            </a:pPr>
            <a:r>
              <a:rPr lang="en-US" altLang="zh-CN" sz="2600" dirty="0">
                <a:solidFill>
                  <a:srgbClr val="000099"/>
                </a:solidFill>
                <a:ea typeface="Arial Unicode MS" pitchFamily="34" charset="-122"/>
              </a:rPr>
              <a:t>The paradigm offers the abstraction for a </a:t>
            </a:r>
            <a:r>
              <a:rPr lang="en-US" altLang="zh-CN" sz="2600" dirty="0">
                <a:solidFill>
                  <a:srgbClr val="FF3300"/>
                </a:solidFill>
                <a:ea typeface="Arial Unicode MS" pitchFamily="34" charset="-122"/>
              </a:rPr>
              <a:t>transportable program or object.</a:t>
            </a:r>
            <a:r>
              <a:rPr lang="en-US" altLang="zh-CN" sz="2600" dirty="0">
                <a:solidFill>
                  <a:srgbClr val="000099"/>
                </a:solidFill>
                <a:ea typeface="Arial Unicode MS" pitchFamily="34" charset="-122"/>
              </a:rPr>
              <a:t>  </a:t>
            </a:r>
          </a:p>
          <a:p>
            <a:pPr algn="just" eaLnBrk="1" hangingPunct="1">
              <a:lnSpc>
                <a:spcPct val="110000"/>
              </a:lnSpc>
              <a:buFont typeface="Wingdings" panose="05000000000000000000" pitchFamily="2" charset="2"/>
              <a:buChar char="u"/>
            </a:pPr>
            <a:r>
              <a:rPr lang="en-US" altLang="zh-CN" sz="2600" dirty="0">
                <a:solidFill>
                  <a:srgbClr val="000099"/>
                </a:solidFill>
                <a:ea typeface="Arial Unicode MS" pitchFamily="34" charset="-122"/>
              </a:rPr>
              <a:t>In lieu of</a:t>
            </a:r>
            <a:r>
              <a:rPr lang="en-US" altLang="zh-CN" sz="2000" dirty="0">
                <a:solidFill>
                  <a:srgbClr val="000099"/>
                </a:solidFill>
                <a:ea typeface="Arial Unicode MS" pitchFamily="34" charset="-122"/>
              </a:rPr>
              <a:t>(</a:t>
            </a:r>
            <a:r>
              <a:rPr lang="zh-CN" altLang="en-US" sz="2000" dirty="0">
                <a:solidFill>
                  <a:srgbClr val="000099"/>
                </a:solidFill>
                <a:ea typeface="Arial Unicode MS" pitchFamily="34" charset="-122"/>
              </a:rPr>
              <a:t>代替</a:t>
            </a:r>
            <a:r>
              <a:rPr lang="en-US" altLang="zh-CN" sz="2000" dirty="0">
                <a:solidFill>
                  <a:srgbClr val="000099"/>
                </a:solidFill>
                <a:ea typeface="Arial Unicode MS" pitchFamily="34" charset="-122"/>
              </a:rPr>
              <a:t>) </a:t>
            </a:r>
            <a:r>
              <a:rPr lang="en-US" altLang="zh-CN" sz="2600" dirty="0">
                <a:solidFill>
                  <a:srgbClr val="000099"/>
                </a:solidFill>
                <a:ea typeface="Arial Unicode MS" pitchFamily="34" charset="-122"/>
              </a:rPr>
              <a:t>message exchanges, data is carried by the program/object as the program is transported among the participants.</a:t>
            </a:r>
          </a:p>
          <a:p>
            <a:pPr algn="just" eaLnBrk="1" hangingPunct="1">
              <a:lnSpc>
                <a:spcPct val="110000"/>
              </a:lnSpc>
              <a:buFont typeface="Wingdings" panose="05000000000000000000" pitchFamily="2" charset="2"/>
              <a:buChar char="u"/>
            </a:pPr>
            <a:r>
              <a:rPr lang="en-US" altLang="zh-CN" sz="2600" dirty="0">
                <a:solidFill>
                  <a:srgbClr val="000099"/>
                </a:solidFill>
                <a:ea typeface="Arial Unicode MS" pitchFamily="34" charset="-122"/>
              </a:rPr>
              <a:t>Commercial packages which support the mobile agent paradigm include:</a:t>
            </a:r>
          </a:p>
          <a:p>
            <a:pPr lvl="1" algn="just" eaLnBrk="1" hangingPunct="1">
              <a:lnSpc>
                <a:spcPct val="110000"/>
              </a:lnSpc>
              <a:buFont typeface="Wingdings" panose="05000000000000000000" pitchFamily="2" charset="2"/>
              <a:buChar char="Ø"/>
            </a:pPr>
            <a:r>
              <a:rPr lang="en-US" altLang="zh-CN" sz="2400" dirty="0">
                <a:solidFill>
                  <a:srgbClr val="000099"/>
                </a:solidFill>
                <a:ea typeface="Arial Unicode MS" pitchFamily="34" charset="-122"/>
              </a:rPr>
              <a:t>IBM’s Aglet system.</a:t>
            </a:r>
          </a:p>
          <a:p>
            <a:pPr lvl="1" algn="just" eaLnBrk="1" hangingPunct="1">
              <a:lnSpc>
                <a:spcPct val="110000"/>
              </a:lnSpc>
              <a:buFont typeface="Wingdings" panose="05000000000000000000" pitchFamily="2" charset="2"/>
              <a:buNone/>
            </a:pPr>
            <a:r>
              <a:rPr lang="en-US" altLang="zh-CN" sz="2400" dirty="0">
                <a:solidFill>
                  <a:srgbClr val="000099"/>
                </a:solidFill>
                <a:ea typeface="Arial Unicode MS" pitchFamily="34" charset="-122"/>
              </a:rPr>
              <a:t>	http://www.trl.ibm.co.jp/aglets/ </a:t>
            </a:r>
          </a:p>
          <a:p>
            <a:pPr lvl="1" algn="just" eaLnBrk="1" hangingPunct="1">
              <a:lnSpc>
                <a:spcPct val="110000"/>
              </a:lnSpc>
              <a:buFont typeface="Wingdings" panose="05000000000000000000" pitchFamily="2" charset="2"/>
              <a:buChar char="Ø"/>
            </a:pPr>
            <a:r>
              <a:rPr lang="en-US" altLang="zh-CN" sz="2400" dirty="0">
                <a:solidFill>
                  <a:srgbClr val="000099"/>
                </a:solidFill>
                <a:ea typeface="Arial Unicode MS" pitchFamily="34" charset="-122"/>
              </a:rPr>
              <a:t>Mitsubishi Electric ITA’s Concordia system</a:t>
            </a:r>
          </a:p>
          <a:p>
            <a:pPr lvl="1" algn="just" eaLnBrk="1" hangingPunct="1">
              <a:lnSpc>
                <a:spcPct val="110000"/>
              </a:lnSpc>
              <a:buFont typeface="Wingdings" panose="05000000000000000000" pitchFamily="2" charset="2"/>
              <a:buNone/>
            </a:pPr>
            <a:r>
              <a:rPr lang="en-US" altLang="zh-CN" sz="2400" dirty="0">
                <a:solidFill>
                  <a:srgbClr val="000099"/>
                </a:solidFill>
                <a:ea typeface="Arial Unicode MS" pitchFamily="34" charset="-122"/>
              </a:rPr>
              <a:t>	</a:t>
            </a:r>
            <a:r>
              <a:rPr lang="en-US" altLang="zh-CN" sz="2400" dirty="0">
                <a:solidFill>
                  <a:srgbClr val="000099"/>
                </a:solidFill>
                <a:ea typeface="Arial Unicode MS" pitchFamily="34" charset="-122"/>
                <a:hlinkClick r:id="rId2"/>
              </a:rPr>
              <a:t>http://www.meitca.com/HSL/Projects/Concordia/Welcome.html</a:t>
            </a:r>
            <a:r>
              <a:rPr lang="zh-CN" altLang="en-US" sz="2400" dirty="0">
                <a:solidFill>
                  <a:srgbClr val="000099"/>
                </a:solidFill>
                <a:ea typeface="Arial Unicode MS" pitchFamily="34" charset="-122"/>
              </a:rPr>
              <a:t>                     </a:t>
            </a:r>
            <a:r>
              <a:rPr lang="zh-CN" altLang="en-US" sz="2400" dirty="0">
                <a:solidFill>
                  <a:srgbClr val="FF0000"/>
                </a:solidFill>
                <a:ea typeface="Arial Unicode MS" pitchFamily="34" charset="-122"/>
              </a:rPr>
              <a:t>问题？</a:t>
            </a:r>
            <a:endParaRPr lang="en-US" altLang="zh-CN" sz="2400" dirty="0">
              <a:solidFill>
                <a:srgbClr val="FF0000"/>
              </a:solidFill>
              <a:ea typeface="Arial Unicode MS"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descr="Rectangle: Click to edit Master text styles&#10;Second level&#10;Third level&#10;Fourth level&#10;Fifth level"/>
          <p:cNvSpPr>
            <a:spLocks noGrp="1"/>
          </p:cNvSpPr>
          <p:nvPr>
            <p:ph idx="1"/>
          </p:nvPr>
        </p:nvSpPr>
        <p:spPr>
          <a:xfrm>
            <a:off x="533400" y="1131888"/>
            <a:ext cx="8124825" cy="5492750"/>
          </a:xfrm>
        </p:spPr>
        <p:txBody>
          <a:bodyPr vert="horz" wrap="square" lIns="91440" tIns="45720" rIns="91440" bIns="45720" anchor="t" anchorCtr="0"/>
          <a:lstStyle/>
          <a:p>
            <a:pPr algn="l" eaLnBrk="1" hangingPunct="1">
              <a:buFont typeface="Wingdings" panose="05000000000000000000" pitchFamily="2" charset="2"/>
              <a:buChar char="Ø"/>
            </a:pPr>
            <a:r>
              <a:rPr lang="en-US" altLang="zh-CN" sz="2000" b="1" dirty="0">
                <a:ea typeface="宋体" panose="02010600030101010101" pitchFamily="2" charset="-122"/>
              </a:rPr>
              <a:t>Message passing  </a:t>
            </a:r>
          </a:p>
          <a:p>
            <a:pPr algn="l" eaLnBrk="1" hangingPunct="1">
              <a:buFont typeface="Wingdings" panose="05000000000000000000" pitchFamily="2" charset="2"/>
              <a:buChar char="Ø"/>
            </a:pPr>
            <a:r>
              <a:rPr lang="en-US" altLang="zh-CN" sz="2000" b="1" dirty="0">
                <a:ea typeface="宋体" panose="02010600030101010101" pitchFamily="2" charset="-122"/>
              </a:rPr>
              <a:t>Remote Procedure Call</a:t>
            </a:r>
          </a:p>
          <a:p>
            <a:pPr algn="l" eaLnBrk="1" hangingPunct="1">
              <a:buFont typeface="Wingdings" panose="05000000000000000000" pitchFamily="2" charset="2"/>
              <a:buChar char="Ø"/>
            </a:pPr>
            <a:r>
              <a:rPr lang="en-US" altLang="zh-CN" sz="2000" b="1" dirty="0">
                <a:ea typeface="宋体" panose="02010600030101010101" pitchFamily="2" charset="-122"/>
              </a:rPr>
              <a:t>Client-server</a:t>
            </a:r>
            <a:endParaRPr lang="en-US" altLang="zh-CN" sz="2000" dirty="0">
              <a:ea typeface="宋体" panose="02010600030101010101" pitchFamily="2" charset="-122"/>
            </a:endParaRPr>
          </a:p>
          <a:p>
            <a:pPr algn="l" eaLnBrk="1" hangingPunct="1">
              <a:buFont typeface="Wingdings" panose="05000000000000000000" pitchFamily="2" charset="2"/>
              <a:buChar char="Ø"/>
            </a:pPr>
            <a:r>
              <a:rPr lang="en-US" altLang="zh-CN" sz="2000" b="1" dirty="0">
                <a:ea typeface="宋体" panose="02010600030101010101" pitchFamily="2" charset="-122"/>
              </a:rPr>
              <a:t>Peer-to-Peer</a:t>
            </a:r>
          </a:p>
          <a:p>
            <a:pPr algn="l" eaLnBrk="1" hangingPunct="1">
              <a:buFont typeface="Wingdings" panose="05000000000000000000" pitchFamily="2" charset="2"/>
              <a:buChar char="Ø"/>
            </a:pPr>
            <a:r>
              <a:rPr lang="en-US" altLang="zh-CN" sz="2000" b="1" dirty="0">
                <a:ea typeface="宋体" panose="02010600030101010101" pitchFamily="2" charset="-122"/>
              </a:rPr>
              <a:t>Message system</a:t>
            </a:r>
            <a:r>
              <a:rPr lang="en-US" altLang="zh-CN" sz="2000" dirty="0">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Point-to-point;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Publish/Subscribe </a:t>
            </a:r>
          </a:p>
          <a:p>
            <a:pPr algn="l" eaLnBrk="1" hangingPunct="1">
              <a:buFont typeface="Wingdings" panose="05000000000000000000" pitchFamily="2" charset="2"/>
              <a:buChar char="Ø"/>
            </a:pPr>
            <a:r>
              <a:rPr lang="en-US" altLang="zh-CN" sz="2000" b="1" dirty="0">
                <a:ea typeface="宋体" panose="02010600030101010101" pitchFamily="2" charset="-122"/>
              </a:rPr>
              <a:t>Distributed objects:</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Remote method invocation</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Network services</a:t>
            </a:r>
            <a:endParaRPr lang="en-US" altLang="zh-CN" sz="2000" dirty="0">
              <a:solidFill>
                <a:srgbClr val="FF9900"/>
              </a:solidFill>
              <a:ea typeface="宋体" panose="02010600030101010101" pitchFamily="2" charset="-122"/>
            </a:endParaRP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Object Request Broker</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Object space</a:t>
            </a:r>
            <a:r>
              <a:rPr lang="en-US" altLang="zh-CN" sz="2000" dirty="0">
                <a:solidFill>
                  <a:srgbClr val="FF9900"/>
                </a:solidFill>
                <a:ea typeface="宋体" panose="02010600030101010101" pitchFamily="2" charset="-122"/>
              </a:rPr>
              <a:t> </a:t>
            </a:r>
          </a:p>
          <a:p>
            <a:pPr lvl="1" eaLnBrk="1" hangingPunct="1">
              <a:buFont typeface="Wingdings" panose="05000000000000000000" pitchFamily="2" charset="2"/>
              <a:buChar char="p"/>
            </a:pPr>
            <a:r>
              <a:rPr lang="en-US" altLang="zh-CN" sz="2000" b="1" dirty="0">
                <a:solidFill>
                  <a:srgbClr val="FF9900"/>
                </a:solidFill>
                <a:ea typeface="宋体" panose="02010600030101010101" pitchFamily="2" charset="-122"/>
              </a:rPr>
              <a:t>Component Based Technologies</a:t>
            </a:r>
          </a:p>
          <a:p>
            <a:pPr algn="l" eaLnBrk="1" hangingPunct="1">
              <a:buFont typeface="Wingdings" panose="05000000000000000000" pitchFamily="2" charset="2"/>
              <a:buChar char="Ø"/>
            </a:pPr>
            <a:r>
              <a:rPr lang="en-US" altLang="zh-CN" sz="2000" b="1" dirty="0">
                <a:ea typeface="宋体" panose="02010600030101010101" pitchFamily="2" charset="-122"/>
              </a:rPr>
              <a:t>Mobile agents</a:t>
            </a:r>
          </a:p>
          <a:p>
            <a:pPr algn="l" eaLnBrk="1" hangingPunct="1">
              <a:buFont typeface="Wingdings" panose="05000000000000000000" pitchFamily="2" charset="2"/>
              <a:buChar char="Ø"/>
            </a:pPr>
            <a:r>
              <a:rPr lang="en-US" altLang="zh-CN" sz="2400" b="1" dirty="0">
                <a:solidFill>
                  <a:srgbClr val="FF3300"/>
                </a:solidFill>
                <a:ea typeface="宋体" panose="02010600030101010101" pitchFamily="2" charset="-122"/>
              </a:rPr>
              <a:t>Collaborative applications</a:t>
            </a:r>
          </a:p>
        </p:txBody>
      </p:sp>
      <p:sp>
        <p:nvSpPr>
          <p:cNvPr id="62467" name="Rectangle 5"/>
          <p:cNvSpPr>
            <a:spLocks noGrp="1"/>
          </p:cNvSpPr>
          <p:nvPr>
            <p:ph type="title"/>
          </p:nvPr>
        </p:nvSpPr>
        <p:spPr>
          <a:xfrm>
            <a:off x="0" y="215900"/>
            <a:ext cx="9144000" cy="850900"/>
          </a:xfrm>
        </p:spPr>
        <p:txBody>
          <a:bodyPr vert="horz" wrap="square" lIns="91440" tIns="45720" rIns="91440" bIns="45720" anchor="ctr" anchorCtr="0"/>
          <a:lstStyle/>
          <a:p>
            <a:pPr algn="just" eaLnBrk="1" hangingPunct="1"/>
            <a:r>
              <a:rPr lang="en-US" altLang="zh-CN" sz="2800" b="1" dirty="0">
                <a:ea typeface="宋体" panose="02010600030101010101" pitchFamily="2" charset="-122"/>
              </a:rPr>
              <a:t>2.9 The Collaborative Application (Groupware) Paradigm</a:t>
            </a:r>
            <a:r>
              <a:rPr lang="en-US" altLang="zh-CN" sz="2800" dirty="0">
                <a:ea typeface="宋体" panose="02010600030101010101" pitchFamily="2" charset="-122"/>
              </a:rPr>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0" y="101600"/>
            <a:ext cx="9144000" cy="736600"/>
          </a:xfrm>
        </p:spPr>
        <p:txBody>
          <a:bodyPr vert="horz" wrap="square" lIns="91440" tIns="45720" rIns="91440" bIns="45720" anchor="ctr" anchorCtr="0"/>
          <a:lstStyle/>
          <a:p>
            <a:pPr algn="just" eaLnBrk="1" hangingPunct="1">
              <a:buNone/>
            </a:pPr>
            <a:r>
              <a:rPr lang="en-US" altLang="zh-CN" sz="2800" b="1" dirty="0">
                <a:solidFill>
                  <a:srgbClr val="FF3300"/>
                </a:solidFill>
                <a:ea typeface="宋体" panose="02010600030101010101" pitchFamily="2" charset="-122"/>
              </a:rPr>
              <a:t>2.9 The Collaborative Application (Groupware) Paradigm</a:t>
            </a:r>
            <a:r>
              <a:rPr lang="en-US" altLang="zh-CN" sz="2800" dirty="0">
                <a:solidFill>
                  <a:srgbClr val="FF3300"/>
                </a:solidFill>
                <a:ea typeface="宋体" panose="02010600030101010101" pitchFamily="2" charset="-122"/>
              </a:rPr>
              <a:t> </a:t>
            </a:r>
          </a:p>
        </p:txBody>
      </p:sp>
      <p:sp>
        <p:nvSpPr>
          <p:cNvPr id="63491" name="Rectangle 3"/>
          <p:cNvSpPr>
            <a:spLocks noGrp="1"/>
          </p:cNvSpPr>
          <p:nvPr>
            <p:ph idx="1"/>
          </p:nvPr>
        </p:nvSpPr>
        <p:spPr>
          <a:xfrm>
            <a:off x="292100" y="838200"/>
            <a:ext cx="8534400" cy="2286000"/>
          </a:xfrm>
        </p:spPr>
        <p:txBody>
          <a:bodyPr vert="horz" wrap="square" lIns="91440" tIns="45720" rIns="91440" bIns="45720" anchor="t" anchorCtr="0"/>
          <a:lstStyle/>
          <a:p>
            <a:pPr algn="just" eaLnBrk="1" hangingPunct="1">
              <a:buFont typeface="Wingdings" panose="05000000000000000000" pitchFamily="2" charset="2"/>
              <a:buChar char="u"/>
            </a:pPr>
            <a:r>
              <a:rPr lang="en-US" altLang="zh-CN" sz="2000" dirty="0">
                <a:solidFill>
                  <a:srgbClr val="000099"/>
                </a:solidFill>
                <a:ea typeface="Arial Unicode MS" pitchFamily="34" charset="-122"/>
              </a:rPr>
              <a:t>In this model, processes participate in a collaborative session as a group. </a:t>
            </a:r>
          </a:p>
          <a:p>
            <a:pPr algn="just" eaLnBrk="1" hangingPunct="1">
              <a:buFont typeface="Wingdings" panose="05000000000000000000" pitchFamily="2" charset="2"/>
              <a:buChar char="u"/>
            </a:pPr>
            <a:r>
              <a:rPr lang="en-US" altLang="zh-CN" sz="2000" dirty="0">
                <a:solidFill>
                  <a:srgbClr val="000099"/>
                </a:solidFill>
                <a:ea typeface="Arial Unicode MS" pitchFamily="34" charset="-122"/>
              </a:rPr>
              <a:t>Each participating process may contribute input to part or all of the group.  </a:t>
            </a:r>
          </a:p>
          <a:p>
            <a:pPr algn="just" eaLnBrk="1" hangingPunct="1">
              <a:buFont typeface="Wingdings" panose="05000000000000000000" pitchFamily="2" charset="2"/>
              <a:buChar char="u"/>
            </a:pPr>
            <a:r>
              <a:rPr lang="en-US" altLang="zh-CN" sz="2000" dirty="0">
                <a:solidFill>
                  <a:srgbClr val="000099"/>
                </a:solidFill>
                <a:ea typeface="Arial Unicode MS" pitchFamily="34" charset="-122"/>
              </a:rPr>
              <a:t> Processes may do so using:</a:t>
            </a:r>
          </a:p>
          <a:p>
            <a:pPr lvl="1" algn="just" eaLnBrk="1" hangingPunct="1"/>
            <a:r>
              <a:rPr lang="en-US" altLang="zh-CN" sz="2000" dirty="0">
                <a:solidFill>
                  <a:srgbClr val="000099"/>
                </a:solidFill>
                <a:ea typeface="Arial Unicode MS" pitchFamily="34" charset="-122"/>
              </a:rPr>
              <a:t>multicasting to send data to all or part of the group, or they may use </a:t>
            </a:r>
          </a:p>
          <a:p>
            <a:pPr lvl="1" algn="just" eaLnBrk="1" hangingPunct="1"/>
            <a:r>
              <a:rPr lang="en-US" altLang="zh-CN" sz="2000" dirty="0">
                <a:solidFill>
                  <a:srgbClr val="000099"/>
                </a:solidFill>
                <a:ea typeface="Arial Unicode MS" pitchFamily="34" charset="-122"/>
              </a:rPr>
              <a:t>virtual</a:t>
            </a:r>
            <a:r>
              <a:rPr lang="en-US" altLang="zh-CN" sz="2000" i="1" dirty="0">
                <a:solidFill>
                  <a:srgbClr val="000099"/>
                </a:solidFill>
                <a:ea typeface="Arial Unicode MS" pitchFamily="34" charset="-122"/>
              </a:rPr>
              <a:t> </a:t>
            </a:r>
            <a:r>
              <a:rPr lang="en-US" altLang="zh-CN" sz="2000" b="1" i="1" dirty="0">
                <a:solidFill>
                  <a:srgbClr val="FF3300"/>
                </a:solidFill>
                <a:ea typeface="Arial Unicode MS" pitchFamily="34" charset="-122"/>
              </a:rPr>
              <a:t>sketchpads(</a:t>
            </a:r>
            <a:r>
              <a:rPr lang="zh-CN" altLang="en-US" sz="2000" b="1" i="1" dirty="0">
                <a:solidFill>
                  <a:srgbClr val="FF3300"/>
                </a:solidFill>
                <a:ea typeface="Arial Unicode MS" pitchFamily="34" charset="-122"/>
              </a:rPr>
              <a:t>画板</a:t>
            </a:r>
            <a:r>
              <a:rPr lang="en-US" altLang="zh-CN" sz="2000" b="1" i="1" dirty="0">
                <a:solidFill>
                  <a:srgbClr val="FF3300"/>
                </a:solidFill>
                <a:ea typeface="Arial Unicode MS" pitchFamily="34" charset="-122"/>
              </a:rPr>
              <a:t>) or whiteboards</a:t>
            </a:r>
            <a:r>
              <a:rPr lang="en-US" altLang="zh-CN" sz="2000" i="1" dirty="0">
                <a:solidFill>
                  <a:srgbClr val="000099"/>
                </a:solidFill>
                <a:ea typeface="Arial Unicode MS" pitchFamily="34" charset="-122"/>
              </a:rPr>
              <a:t> </a:t>
            </a:r>
            <a:r>
              <a:rPr lang="en-US" altLang="zh-CN" sz="2000" dirty="0">
                <a:solidFill>
                  <a:srgbClr val="000099"/>
                </a:solidFill>
                <a:ea typeface="Arial Unicode MS" pitchFamily="34" charset="-122"/>
              </a:rPr>
              <a:t>which allows each participant to read and write data to a shared display. </a:t>
            </a:r>
          </a:p>
        </p:txBody>
      </p:sp>
      <p:graphicFrame>
        <p:nvGraphicFramePr>
          <p:cNvPr id="63492" name="Object 4"/>
          <p:cNvGraphicFramePr>
            <a:graphicFrameLocks noChangeAspect="1"/>
          </p:cNvGraphicFramePr>
          <p:nvPr/>
        </p:nvGraphicFramePr>
        <p:xfrm>
          <a:off x="614363" y="3249613"/>
          <a:ext cx="7866062" cy="3359150"/>
        </p:xfrm>
        <a:graphic>
          <a:graphicData uri="http://schemas.openxmlformats.org/presentationml/2006/ole">
            <mc:AlternateContent xmlns:mc="http://schemas.openxmlformats.org/markup-compatibility/2006">
              <mc:Choice xmlns:v="urn:schemas-microsoft-com:vml" Requires="v">
                <p:oleObj spid="_x0000_s15362" r:id="rId3" imgW="5144770" imgH="2075815" progId="SmartDraw.2">
                  <p:embed/>
                </p:oleObj>
              </mc:Choice>
              <mc:Fallback>
                <p:oleObj r:id="rId3" imgW="5144770" imgH="2075815" progId="SmartDraw.2">
                  <p:embed/>
                  <p:pic>
                    <p:nvPicPr>
                      <p:cNvPr id="0" name="图片 3090"/>
                      <p:cNvPicPr/>
                      <p:nvPr/>
                    </p:nvPicPr>
                    <p:blipFill>
                      <a:blip r:embed="rId4"/>
                      <a:stretch>
                        <a:fillRect/>
                      </a:stretch>
                    </p:blipFill>
                    <p:spPr>
                      <a:xfrm>
                        <a:off x="614363" y="3249613"/>
                        <a:ext cx="7866062" cy="3359150"/>
                      </a:xfrm>
                      <a:prstGeom prst="rect">
                        <a:avLst/>
                      </a:prstGeom>
                      <a:noFill/>
                      <a:ln w="38100">
                        <a:noFill/>
                        <a:miter/>
                      </a:ln>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0" y="0"/>
            <a:ext cx="4114800" cy="709613"/>
          </a:xfrm>
        </p:spPr>
        <p:txBody>
          <a:bodyPr vert="horz" wrap="square" lIns="91440" tIns="45720" rIns="91440" bIns="45720" anchor="ctr" anchorCtr="0"/>
          <a:lstStyle/>
          <a:p>
            <a:pPr algn="just" eaLnBrk="1" hangingPunct="1"/>
            <a:r>
              <a:rPr lang="zh-CN" altLang="en-US" dirty="0">
                <a:ea typeface="宋体" panose="02010600030101010101" pitchFamily="2" charset="-122"/>
              </a:rPr>
              <a:t>计算范型小结：</a:t>
            </a:r>
            <a:endParaRPr lang="en-US" altLang="zh-CN" dirty="0">
              <a:ea typeface="宋体" panose="02010600030101010101" pitchFamily="2" charset="-122"/>
            </a:endParaRPr>
          </a:p>
        </p:txBody>
      </p:sp>
      <p:sp>
        <p:nvSpPr>
          <p:cNvPr id="64515" name="Rectangle 3"/>
          <p:cNvSpPr>
            <a:spLocks noGrp="1"/>
          </p:cNvSpPr>
          <p:nvPr>
            <p:ph idx="1"/>
          </p:nvPr>
        </p:nvSpPr>
        <p:spPr>
          <a:xfrm>
            <a:off x="866775" y="709613"/>
            <a:ext cx="5027613" cy="5413375"/>
          </a:xfrm>
        </p:spPr>
        <p:txBody>
          <a:bodyPr vert="horz" wrap="square" lIns="91440" tIns="45720" rIns="91440" bIns="45720" anchor="t" anchorCtr="0"/>
          <a:lstStyle/>
          <a:p>
            <a:pPr algn="just" eaLnBrk="1" hangingPunct="1">
              <a:lnSpc>
                <a:spcPct val="130000"/>
              </a:lnSpc>
              <a:buFont typeface="Wingdings" panose="05000000000000000000" pitchFamily="2" charset="2"/>
              <a:buChar char="u"/>
            </a:pPr>
            <a:r>
              <a:rPr lang="zh-CN" altLang="en-US" sz="2400" dirty="0">
                <a:solidFill>
                  <a:srgbClr val="000099"/>
                </a:solidFill>
                <a:ea typeface="Arial Unicode MS" pitchFamily="34" charset="-122"/>
              </a:rPr>
              <a:t>基本范型</a:t>
            </a:r>
            <a:endParaRPr lang="en-US" altLang="zh-CN" sz="2400" dirty="0">
              <a:solidFill>
                <a:srgbClr val="000099"/>
              </a:solidFill>
              <a:ea typeface="Arial Unicode MS" pitchFamily="34" charset="-122"/>
            </a:endParaRPr>
          </a:p>
          <a:p>
            <a:pPr algn="just" eaLnBrk="1" hangingPunct="1">
              <a:lnSpc>
                <a:spcPct val="130000"/>
              </a:lnSpc>
              <a:buFont typeface="Wingdings" panose="05000000000000000000" pitchFamily="2" charset="2"/>
              <a:buChar char="u"/>
            </a:pPr>
            <a:r>
              <a:rPr lang="zh-CN" altLang="en-US" sz="2400" dirty="0">
                <a:solidFill>
                  <a:srgbClr val="000099"/>
                </a:solidFill>
                <a:ea typeface="Arial Unicode MS" pitchFamily="34" charset="-122"/>
              </a:rPr>
              <a:t>混合范型</a:t>
            </a:r>
            <a:endParaRPr lang="en-US" altLang="zh-CN" sz="2400" dirty="0">
              <a:solidFill>
                <a:srgbClr val="000099"/>
              </a:solidFill>
              <a:ea typeface="Arial Unicode MS" pitchFamily="34" charset="-122"/>
            </a:endParaRPr>
          </a:p>
          <a:p>
            <a:pPr algn="just" eaLnBrk="1" hangingPunct="1">
              <a:lnSpc>
                <a:spcPct val="130000"/>
              </a:lnSpc>
              <a:buFont typeface="Wingdings" panose="05000000000000000000" pitchFamily="2" charset="2"/>
              <a:buChar char="u"/>
            </a:pPr>
            <a:r>
              <a:rPr lang="zh-CN" altLang="en-US" sz="2400" dirty="0">
                <a:solidFill>
                  <a:srgbClr val="000099"/>
                </a:solidFill>
                <a:ea typeface="Arial Unicode MS" pitchFamily="34" charset="-122"/>
              </a:rPr>
              <a:t>商业实现</a:t>
            </a:r>
            <a:endParaRPr lang="en-US" altLang="zh-CN" sz="2400" dirty="0">
              <a:solidFill>
                <a:srgbClr val="000099"/>
              </a:solidFill>
              <a:ea typeface="Arial Unicode MS" pitchFamily="34" charset="-122"/>
            </a:endParaRPr>
          </a:p>
          <a:p>
            <a:pPr lvl="2" algn="just" eaLnBrk="1" hangingPunct="1">
              <a:lnSpc>
                <a:spcPct val="130000"/>
              </a:lnSpc>
              <a:buFont typeface="Wingdings" panose="05000000000000000000" pitchFamily="2" charset="2"/>
              <a:buChar char="p"/>
            </a:pPr>
            <a:r>
              <a:rPr lang="zh-CN" altLang="en-US" sz="2000" dirty="0">
                <a:solidFill>
                  <a:srgbClr val="000099"/>
                </a:solidFill>
                <a:ea typeface="Arial Unicode MS" pitchFamily="34" charset="-122"/>
              </a:rPr>
              <a:t>网格</a:t>
            </a:r>
            <a:endParaRPr lang="en-US" altLang="zh-CN" sz="2000" dirty="0">
              <a:solidFill>
                <a:srgbClr val="000099"/>
              </a:solidFill>
              <a:ea typeface="Arial Unicode MS" pitchFamily="34" charset="-122"/>
            </a:endParaRPr>
          </a:p>
          <a:p>
            <a:pPr lvl="2" algn="just" eaLnBrk="1" hangingPunct="1">
              <a:lnSpc>
                <a:spcPct val="130000"/>
              </a:lnSpc>
              <a:buFont typeface="Wingdings" panose="05000000000000000000" pitchFamily="2" charset="2"/>
              <a:buChar char="p"/>
            </a:pPr>
            <a:r>
              <a:rPr lang="zh-CN" altLang="en-US" sz="2000" dirty="0">
                <a:solidFill>
                  <a:srgbClr val="000099"/>
                </a:solidFill>
                <a:ea typeface="Arial Unicode MS" pitchFamily="34" charset="-122"/>
              </a:rPr>
              <a:t>物联网</a:t>
            </a:r>
            <a:endParaRPr lang="en-US" altLang="zh-CN" sz="2000" dirty="0">
              <a:solidFill>
                <a:srgbClr val="000099"/>
              </a:solidFill>
              <a:ea typeface="Arial Unicode MS" pitchFamily="34" charset="-122"/>
            </a:endParaRPr>
          </a:p>
          <a:p>
            <a:pPr lvl="2" algn="just" eaLnBrk="1" hangingPunct="1">
              <a:lnSpc>
                <a:spcPct val="130000"/>
              </a:lnSpc>
              <a:buFont typeface="Wingdings" panose="05000000000000000000" pitchFamily="2" charset="2"/>
              <a:buChar char="p"/>
            </a:pPr>
            <a:r>
              <a:rPr lang="zh-CN" altLang="en-US" sz="2000" dirty="0">
                <a:solidFill>
                  <a:srgbClr val="000099"/>
                </a:solidFill>
                <a:ea typeface="Arial Unicode MS" pitchFamily="34" charset="-122"/>
              </a:rPr>
              <a:t>云计算</a:t>
            </a:r>
            <a:endParaRPr lang="en-US" altLang="zh-CN" sz="2000" dirty="0">
              <a:solidFill>
                <a:srgbClr val="000099"/>
              </a:solidFill>
              <a:ea typeface="Arial Unicode MS" pitchFamily="34" charset="-122"/>
            </a:endParaRPr>
          </a:p>
          <a:p>
            <a:pPr lvl="2" algn="just" eaLnBrk="1" hangingPunct="1">
              <a:lnSpc>
                <a:spcPct val="130000"/>
              </a:lnSpc>
              <a:buFont typeface="Wingdings" panose="05000000000000000000" pitchFamily="2" charset="2"/>
              <a:buChar char="p"/>
            </a:pPr>
            <a:r>
              <a:rPr lang="zh-CN" altLang="en-US" sz="2000" dirty="0">
                <a:solidFill>
                  <a:srgbClr val="000099"/>
                </a:solidFill>
                <a:ea typeface="Arial Unicode MS" pitchFamily="34" charset="-122"/>
              </a:rPr>
              <a:t>边缘计算</a:t>
            </a:r>
            <a:endParaRPr lang="en-US" altLang="zh-CN" sz="2000" dirty="0">
              <a:solidFill>
                <a:srgbClr val="000099"/>
              </a:solidFill>
              <a:ea typeface="Arial Unicode MS" pitchFamily="34" charset="-122"/>
            </a:endParaRPr>
          </a:p>
          <a:p>
            <a:pPr lvl="2" algn="just" eaLnBrk="1" hangingPunct="1">
              <a:lnSpc>
                <a:spcPct val="130000"/>
              </a:lnSpc>
              <a:buFont typeface="Wingdings" panose="05000000000000000000" pitchFamily="2" charset="2"/>
              <a:buChar char="p"/>
            </a:pPr>
            <a:r>
              <a:rPr lang="zh-CN" altLang="en-US" sz="2000" dirty="0">
                <a:solidFill>
                  <a:srgbClr val="000099"/>
                </a:solidFill>
                <a:ea typeface="Arial Unicode MS" pitchFamily="34" charset="-122"/>
              </a:rPr>
              <a:t>区块链</a:t>
            </a:r>
            <a:endParaRPr lang="en-US" altLang="zh-CN" sz="2000" dirty="0">
              <a:solidFill>
                <a:srgbClr val="000099"/>
              </a:solidFill>
              <a:ea typeface="Arial Unicode MS" pitchFamily="34" charset="-122"/>
            </a:endParaRPr>
          </a:p>
          <a:p>
            <a:pPr lvl="2" algn="just" eaLnBrk="1" hangingPunct="1">
              <a:lnSpc>
                <a:spcPct val="130000"/>
              </a:lnSpc>
              <a:buFont typeface="Wingdings" panose="05000000000000000000" pitchFamily="2" charset="2"/>
              <a:buChar char="p"/>
            </a:pPr>
            <a:r>
              <a:rPr lang="zh-CN" altLang="en-US" sz="2000" dirty="0">
                <a:solidFill>
                  <a:srgbClr val="000099"/>
                </a:solidFill>
                <a:ea typeface="Arial Unicode MS" pitchFamily="34" charset="-122"/>
              </a:rPr>
              <a:t>消息中间件</a:t>
            </a:r>
            <a:endParaRPr lang="en-US" altLang="zh-CN" sz="2000" dirty="0">
              <a:solidFill>
                <a:srgbClr val="000099"/>
              </a:solidFill>
              <a:ea typeface="Arial Unicode MS" pitchFamily="34" charset="-122"/>
            </a:endParaRPr>
          </a:p>
          <a:p>
            <a:pPr lvl="2" algn="just" eaLnBrk="1" hangingPunct="1">
              <a:lnSpc>
                <a:spcPct val="130000"/>
              </a:lnSpc>
              <a:buFont typeface="Wingdings" panose="05000000000000000000" pitchFamily="2" charset="2"/>
              <a:buChar char="p"/>
            </a:pPr>
            <a:r>
              <a:rPr lang="zh-CN" altLang="en-US" sz="2000" dirty="0">
                <a:solidFill>
                  <a:srgbClr val="000099"/>
                </a:solidFill>
                <a:ea typeface="Arial Unicode MS" pitchFamily="34" charset="-122"/>
              </a:rPr>
              <a:t>虚拟化</a:t>
            </a:r>
            <a:endParaRPr lang="en-US" altLang="zh-CN" sz="2000" dirty="0">
              <a:solidFill>
                <a:srgbClr val="000099"/>
              </a:solidFill>
              <a:ea typeface="Arial Unicode MS" pitchFamily="34" charset="-122"/>
            </a:endParaRPr>
          </a:p>
          <a:p>
            <a:pPr lvl="2" algn="just" eaLnBrk="1" hangingPunct="1">
              <a:lnSpc>
                <a:spcPct val="130000"/>
              </a:lnSpc>
              <a:buFont typeface="Wingdings" panose="05000000000000000000" pitchFamily="2" charset="2"/>
              <a:buChar char="p"/>
            </a:pPr>
            <a:r>
              <a:rPr lang="en-US" altLang="zh-CN" sz="2000" dirty="0">
                <a:solidFill>
                  <a:srgbClr val="000099"/>
                </a:solidFill>
                <a:ea typeface="Arial Unicode MS" pitchFamily="34" charset="-122"/>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p:txBody>
          <a:bodyPr vert="horz" wrap="square" lIns="91440" tIns="45720" rIns="91440" bIns="45720" anchor="ctr" anchorCtr="0"/>
          <a:lstStyle/>
          <a:p>
            <a:pPr algn="just" eaLnBrk="1" hangingPunct="1"/>
            <a:r>
              <a:rPr lang="en-US" altLang="zh-CN" dirty="0">
                <a:ea typeface="宋体" panose="02010600030101010101" pitchFamily="2" charset="-122"/>
              </a:rPr>
              <a:t>Choosing a paradigm</a:t>
            </a:r>
          </a:p>
        </p:txBody>
      </p:sp>
      <p:sp>
        <p:nvSpPr>
          <p:cNvPr id="65539" name="Rectangle 3"/>
          <p:cNvSpPr>
            <a:spLocks noGrp="1"/>
          </p:cNvSpPr>
          <p:nvPr>
            <p:ph idx="1"/>
          </p:nvPr>
        </p:nvSpPr>
        <p:spPr>
          <a:xfrm>
            <a:off x="317500" y="1028700"/>
            <a:ext cx="8356600" cy="5461000"/>
          </a:xfrm>
        </p:spPr>
        <p:txBody>
          <a:bodyPr vert="horz" wrap="square" lIns="91440" tIns="45720" rIns="91440" bIns="45720" anchor="t" anchorCtr="0"/>
          <a:lstStyle/>
          <a:p>
            <a:pPr algn="just" eaLnBrk="1" hangingPunct="1">
              <a:lnSpc>
                <a:spcPct val="130000"/>
              </a:lnSpc>
              <a:buFont typeface="Wingdings" panose="05000000000000000000" pitchFamily="2" charset="2"/>
              <a:buChar char="u"/>
            </a:pPr>
            <a:r>
              <a:rPr lang="en-US" altLang="zh-CN" sz="2800" dirty="0">
                <a:solidFill>
                  <a:srgbClr val="000099"/>
                </a:solidFill>
                <a:ea typeface="Arial Unicode MS" pitchFamily="34" charset="-122"/>
              </a:rPr>
              <a:t>To varying degrees, </a:t>
            </a:r>
            <a:r>
              <a:rPr lang="en-US" altLang="zh-CN" sz="2800" dirty="0">
                <a:solidFill>
                  <a:srgbClr val="FF3300"/>
                </a:solidFill>
                <a:ea typeface="Arial Unicode MS" pitchFamily="34" charset="-122"/>
              </a:rPr>
              <a:t>paradigms provide abstractions</a:t>
            </a:r>
            <a:r>
              <a:rPr lang="en-US" altLang="zh-CN" sz="2800" dirty="0">
                <a:solidFill>
                  <a:srgbClr val="000099"/>
                </a:solidFill>
                <a:ea typeface="Arial Unicode MS" pitchFamily="34" charset="-122"/>
              </a:rPr>
              <a:t> that </a:t>
            </a:r>
            <a:r>
              <a:rPr lang="en-US" altLang="zh-CN" sz="2800" dirty="0">
                <a:solidFill>
                  <a:srgbClr val="FF3300"/>
                </a:solidFill>
                <a:ea typeface="Arial Unicode MS" pitchFamily="34" charset="-122"/>
              </a:rPr>
              <a:t>insulate</a:t>
            </a:r>
            <a:r>
              <a:rPr lang="en-US" altLang="zh-CN" sz="2800" dirty="0">
                <a:solidFill>
                  <a:srgbClr val="000099"/>
                </a:solidFill>
                <a:ea typeface="Arial Unicode MS" pitchFamily="34" charset="-122"/>
              </a:rPr>
              <a:t> the developers from the detail of </a:t>
            </a:r>
            <a:r>
              <a:rPr lang="en-US" altLang="zh-CN" sz="2800" dirty="0">
                <a:solidFill>
                  <a:srgbClr val="FF0000"/>
                </a:solidFill>
                <a:ea typeface="Arial Unicode MS" pitchFamily="34" charset="-122"/>
              </a:rPr>
              <a:t>interprocess communication </a:t>
            </a:r>
            <a:r>
              <a:rPr lang="en-US" altLang="zh-CN" sz="2800" dirty="0">
                <a:solidFill>
                  <a:srgbClr val="002060"/>
                </a:solidFill>
                <a:ea typeface="Arial Unicode MS" pitchFamily="34" charset="-122"/>
              </a:rPr>
              <a:t>and</a:t>
            </a:r>
            <a:r>
              <a:rPr lang="en-US" altLang="zh-CN" sz="2800" dirty="0">
                <a:solidFill>
                  <a:srgbClr val="FF0000"/>
                </a:solidFill>
                <a:ea typeface="Arial Unicode MS" pitchFamily="34" charset="-122"/>
              </a:rPr>
              <a:t> event synchronization</a:t>
            </a:r>
            <a:r>
              <a:rPr lang="en-US" altLang="zh-CN" sz="2800" dirty="0">
                <a:solidFill>
                  <a:srgbClr val="000099"/>
                </a:solidFill>
                <a:ea typeface="Arial Unicode MS" pitchFamily="34" charset="-122"/>
              </a:rPr>
              <a:t>, allowing the programmer to concentrate on the </a:t>
            </a:r>
            <a:r>
              <a:rPr lang="en-US" altLang="zh-CN" sz="2800" dirty="0">
                <a:solidFill>
                  <a:srgbClr val="FF0000"/>
                </a:solidFill>
                <a:ea typeface="Arial Unicode MS" pitchFamily="34" charset="-122"/>
              </a:rPr>
              <a:t>bigger picture of the application itself</a:t>
            </a:r>
            <a:r>
              <a:rPr lang="en-US" altLang="zh-CN" sz="2400" dirty="0">
                <a:solidFill>
                  <a:srgbClr val="000099"/>
                </a:solidFill>
                <a:ea typeface="Arial Unicode MS" pitchFamily="34" charset="-122"/>
              </a:rPr>
              <a:t>.(</a:t>
            </a:r>
            <a:r>
              <a:rPr lang="zh-CN" altLang="en-US" sz="2200" dirty="0">
                <a:solidFill>
                  <a:srgbClr val="000099"/>
                </a:solidFill>
                <a:ea typeface="Arial Unicode MS" pitchFamily="34" charset="-122"/>
              </a:rPr>
              <a:t>关注应用逻辑本身</a:t>
            </a:r>
            <a:r>
              <a:rPr lang="en-US" altLang="zh-CN" sz="2400" dirty="0">
                <a:solidFill>
                  <a:srgbClr val="000099"/>
                </a:solidFill>
                <a:ea typeface="Arial Unicode MS" pitchFamily="34" charset="-122"/>
              </a:rPr>
              <a:t>)  </a:t>
            </a:r>
          </a:p>
          <a:p>
            <a:pPr algn="just" eaLnBrk="1" hangingPunct="1">
              <a:lnSpc>
                <a:spcPct val="130000"/>
              </a:lnSpc>
              <a:buFont typeface="Wingdings" panose="05000000000000000000" pitchFamily="2" charset="2"/>
              <a:buChar char="u"/>
            </a:pPr>
            <a:r>
              <a:rPr lang="en-US" altLang="zh-CN" sz="2800" dirty="0">
                <a:solidFill>
                  <a:srgbClr val="000099"/>
                </a:solidFill>
                <a:ea typeface="Arial Unicode MS" pitchFamily="34" charset="-122"/>
              </a:rPr>
              <a:t>In choosing a paradigm or a tool for an application, there are </a:t>
            </a:r>
            <a:r>
              <a:rPr lang="en-US" altLang="zh-CN" sz="2800" dirty="0">
                <a:solidFill>
                  <a:srgbClr val="FF0000"/>
                </a:solidFill>
                <a:ea typeface="Arial Unicode MS" pitchFamily="34" charset="-122"/>
              </a:rPr>
              <a:t>tradeoffs</a:t>
            </a:r>
            <a:r>
              <a:rPr lang="en-US" altLang="zh-CN" sz="2800" dirty="0">
                <a:solidFill>
                  <a:srgbClr val="000099"/>
                </a:solidFill>
                <a:ea typeface="Arial Unicode MS" pitchFamily="34" charset="-122"/>
              </a:rPr>
              <a:t> that should be considered, including overheads, scalability, cross-platform support, and software engineering issues etc.</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2.10 Architectural Styles (1)</a:t>
            </a:r>
          </a:p>
        </p:txBody>
      </p:sp>
      <p:sp>
        <p:nvSpPr>
          <p:cNvPr id="66563" name="Rectangle 3"/>
          <p:cNvSpPr>
            <a:spLocks noGrp="1"/>
          </p:cNvSpPr>
          <p:nvPr>
            <p:ph idx="1"/>
          </p:nvPr>
        </p:nvSpPr>
        <p:spPr>
          <a:xfrm>
            <a:off x="277813" y="1077913"/>
            <a:ext cx="8588375" cy="4957762"/>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zh-CN" altLang="en-US" sz="2400" dirty="0">
                <a:solidFill>
                  <a:srgbClr val="000099"/>
                </a:solidFill>
                <a:ea typeface="宋体" panose="02010600030101010101" pitchFamily="2" charset="-122"/>
              </a:rPr>
              <a:t>描述分布式系统组成的逻辑结构（软件组件角度），包括：组件、组件之间的相互链接方式、组件之间的数据交换，以及如何集成。</a:t>
            </a:r>
            <a:endParaRPr lang="en-US" altLang="zh-CN" sz="2400" dirty="0">
              <a:solidFill>
                <a:srgbClr val="000099"/>
              </a:solidFill>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400" dirty="0">
                <a:solidFill>
                  <a:srgbClr val="002060"/>
                </a:solidFill>
                <a:ea typeface="宋体" panose="02010600030101010101" pitchFamily="2" charset="-122"/>
              </a:rPr>
              <a:t>Important styles of architecture for distributed systems</a:t>
            </a:r>
          </a:p>
          <a:p>
            <a:pPr lvl="1" eaLnBrk="1" hangingPunct="1">
              <a:lnSpc>
                <a:spcPct val="150000"/>
              </a:lnSpc>
              <a:buChar char="–"/>
            </a:pPr>
            <a:r>
              <a:rPr lang="en-US" altLang="zh-CN" sz="2400" dirty="0">
                <a:solidFill>
                  <a:srgbClr val="002060"/>
                </a:solidFill>
                <a:ea typeface="宋体" panose="02010600030101010101" pitchFamily="2" charset="-122"/>
              </a:rPr>
              <a:t>Layered architectures</a:t>
            </a:r>
          </a:p>
          <a:p>
            <a:pPr lvl="1" eaLnBrk="1" hangingPunct="1">
              <a:lnSpc>
                <a:spcPct val="150000"/>
              </a:lnSpc>
              <a:buChar char="–"/>
            </a:pPr>
            <a:r>
              <a:rPr lang="en-US" altLang="zh-CN" sz="2400" dirty="0">
                <a:solidFill>
                  <a:srgbClr val="002060"/>
                </a:solidFill>
                <a:ea typeface="宋体" panose="02010600030101010101" pitchFamily="2" charset="-122"/>
              </a:rPr>
              <a:t>Object-based architectures</a:t>
            </a:r>
          </a:p>
          <a:p>
            <a:pPr lvl="1" eaLnBrk="1" hangingPunct="1">
              <a:lnSpc>
                <a:spcPct val="150000"/>
              </a:lnSpc>
              <a:buChar char="–"/>
            </a:pPr>
            <a:r>
              <a:rPr lang="en-US" altLang="zh-CN" sz="2400" dirty="0">
                <a:solidFill>
                  <a:srgbClr val="002060"/>
                </a:solidFill>
                <a:ea typeface="宋体" panose="02010600030101010101" pitchFamily="2" charset="-122"/>
              </a:rPr>
              <a:t>Data-centered architectures</a:t>
            </a:r>
          </a:p>
          <a:p>
            <a:pPr lvl="1" eaLnBrk="1" hangingPunct="1">
              <a:lnSpc>
                <a:spcPct val="150000"/>
              </a:lnSpc>
              <a:buChar char="–"/>
            </a:pPr>
            <a:r>
              <a:rPr lang="en-US" altLang="zh-CN" sz="2400" dirty="0">
                <a:solidFill>
                  <a:srgbClr val="002060"/>
                </a:solidFill>
                <a:ea typeface="宋体" panose="02010600030101010101" pitchFamily="2" charset="-122"/>
              </a:rPr>
              <a:t>Event-based architectures</a:t>
            </a:r>
          </a:p>
          <a:p>
            <a:pPr algn="l" eaLnBrk="1" hangingPunct="1">
              <a:lnSpc>
                <a:spcPct val="150000"/>
              </a:lnSpc>
              <a:buNone/>
            </a:pPr>
            <a:endParaRPr lang="zh-CN" altLang="en-US" sz="2400" b="1" dirty="0">
              <a:solidFill>
                <a:srgbClr val="000099"/>
              </a:solidFill>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0" y="0"/>
            <a:ext cx="9144000" cy="690563"/>
          </a:xfrm>
        </p:spPr>
        <p:txBody>
          <a:bodyPr vert="horz" wrap="square" lIns="91440" tIns="45720" rIns="91440" bIns="45720" anchor="ctr" anchorCtr="0"/>
          <a:lstStyle/>
          <a:p>
            <a:pPr eaLnBrk="1" hangingPunct="1"/>
            <a:r>
              <a:rPr lang="en-US" altLang="zh-CN" dirty="0">
                <a:ea typeface="宋体" panose="02010600030101010101" pitchFamily="2" charset="-122"/>
              </a:rPr>
              <a:t>Architectural Styles (2)</a:t>
            </a:r>
          </a:p>
        </p:txBody>
      </p:sp>
      <p:sp>
        <p:nvSpPr>
          <p:cNvPr id="68611" name="Rectangle 3"/>
          <p:cNvSpPr>
            <a:spLocks noGrp="1"/>
          </p:cNvSpPr>
          <p:nvPr>
            <p:ph idx="1"/>
          </p:nvPr>
        </p:nvSpPr>
        <p:spPr>
          <a:xfrm>
            <a:off x="133350" y="3222625"/>
            <a:ext cx="4030663" cy="415925"/>
          </a:xfrm>
        </p:spPr>
        <p:txBody>
          <a:bodyPr vert="horz" wrap="square" lIns="91440" tIns="45720" rIns="91440" bIns="45720" anchor="t" anchorCtr="0"/>
          <a:lstStyle/>
          <a:p>
            <a:pPr eaLnBrk="1" hangingPunct="1">
              <a:buNone/>
            </a:pPr>
            <a:r>
              <a:rPr lang="en-US" altLang="zh-CN" sz="2000" dirty="0">
                <a:ea typeface="宋体" panose="02010600030101010101" pitchFamily="2" charset="-122"/>
              </a:rPr>
              <a:t>The layered architectural style</a:t>
            </a:r>
          </a:p>
        </p:txBody>
      </p:sp>
      <p:pic>
        <p:nvPicPr>
          <p:cNvPr id="68612" name="Picture 4" descr="02-01"/>
          <p:cNvPicPr>
            <a:picLocks noChangeAspect="1"/>
          </p:cNvPicPr>
          <p:nvPr/>
        </p:nvPicPr>
        <p:blipFill>
          <a:blip r:embed="rId3"/>
          <a:srcRect r="50987"/>
          <a:stretch>
            <a:fillRect/>
          </a:stretch>
        </p:blipFill>
        <p:spPr>
          <a:xfrm>
            <a:off x="157163" y="690563"/>
            <a:ext cx="4006850" cy="2532062"/>
          </a:xfrm>
          <a:prstGeom prst="rect">
            <a:avLst/>
          </a:prstGeom>
          <a:noFill/>
          <a:ln w="9525">
            <a:noFill/>
          </a:ln>
        </p:spPr>
      </p:pic>
      <p:sp>
        <p:nvSpPr>
          <p:cNvPr id="5" name="Rectangle 3"/>
          <p:cNvSpPr txBox="1">
            <a:spLocks noChangeArrowheads="1"/>
          </p:cNvSpPr>
          <p:nvPr/>
        </p:nvSpPr>
        <p:spPr bwMode="auto">
          <a:xfrm>
            <a:off x="4356100" y="3222625"/>
            <a:ext cx="47879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object-based architectural style.</a:t>
            </a:r>
          </a:p>
        </p:txBody>
      </p:sp>
      <p:pic>
        <p:nvPicPr>
          <p:cNvPr id="68614" name="Picture 4" descr="02-01"/>
          <p:cNvPicPr>
            <a:picLocks noChangeAspect="1"/>
          </p:cNvPicPr>
          <p:nvPr/>
        </p:nvPicPr>
        <p:blipFill>
          <a:blip r:embed="rId3"/>
          <a:srcRect l="51216"/>
          <a:stretch>
            <a:fillRect/>
          </a:stretch>
        </p:blipFill>
        <p:spPr>
          <a:xfrm>
            <a:off x="4572000" y="728663"/>
            <a:ext cx="4308475" cy="2454275"/>
          </a:xfrm>
          <a:prstGeom prst="rect">
            <a:avLst/>
          </a:prstGeom>
          <a:noFill/>
          <a:ln w="9525">
            <a:noFill/>
          </a:ln>
        </p:spPr>
      </p:pic>
      <p:sp>
        <p:nvSpPr>
          <p:cNvPr id="7" name="Rectangle 3"/>
          <p:cNvSpPr txBox="1">
            <a:spLocks noChangeArrowheads="1"/>
          </p:cNvSpPr>
          <p:nvPr/>
        </p:nvSpPr>
        <p:spPr bwMode="auto">
          <a:xfrm>
            <a:off x="-130175" y="6437313"/>
            <a:ext cx="470217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event-based architectural style</a:t>
            </a:r>
          </a:p>
        </p:txBody>
      </p:sp>
      <p:pic>
        <p:nvPicPr>
          <p:cNvPr id="68616" name="Picture 4" descr="02-02"/>
          <p:cNvPicPr>
            <a:picLocks noChangeAspect="1"/>
          </p:cNvPicPr>
          <p:nvPr/>
        </p:nvPicPr>
        <p:blipFill>
          <a:blip r:embed="rId4"/>
          <a:srcRect r="56032"/>
          <a:stretch>
            <a:fillRect/>
          </a:stretch>
        </p:blipFill>
        <p:spPr>
          <a:xfrm>
            <a:off x="242888" y="3765550"/>
            <a:ext cx="3956050" cy="2735263"/>
          </a:xfrm>
          <a:prstGeom prst="rect">
            <a:avLst/>
          </a:prstGeom>
          <a:noFill/>
          <a:ln w="9525" cap="flat" cmpd="sng">
            <a:solidFill>
              <a:srgbClr val="000000"/>
            </a:solidFill>
            <a:prstDash val="solid"/>
            <a:miter/>
            <a:headEnd type="none" w="med" len="med"/>
            <a:tailEnd type="none" w="med" len="med"/>
          </a:ln>
        </p:spPr>
      </p:pic>
      <p:sp>
        <p:nvSpPr>
          <p:cNvPr id="9" name="Rectangle 3"/>
          <p:cNvSpPr txBox="1">
            <a:spLocks noChangeArrowheads="1"/>
          </p:cNvSpPr>
          <p:nvPr/>
        </p:nvSpPr>
        <p:spPr bwMode="auto">
          <a:xfrm>
            <a:off x="4473575" y="6470650"/>
            <a:ext cx="45243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shared data-space architectural style.</a:t>
            </a:r>
          </a:p>
        </p:txBody>
      </p:sp>
      <p:pic>
        <p:nvPicPr>
          <p:cNvPr id="68618" name="Picture 4" descr="02-02"/>
          <p:cNvPicPr>
            <a:picLocks noChangeAspect="1"/>
          </p:cNvPicPr>
          <p:nvPr/>
        </p:nvPicPr>
        <p:blipFill>
          <a:blip r:embed="rId4"/>
          <a:srcRect l="53896" t="-7661" r="-1823"/>
          <a:stretch>
            <a:fillRect/>
          </a:stretch>
        </p:blipFill>
        <p:spPr>
          <a:xfrm>
            <a:off x="4554538" y="3552825"/>
            <a:ext cx="4459287" cy="2940050"/>
          </a:xfrm>
          <a:prstGeom prst="rect">
            <a:avLst/>
          </a:prstGeom>
          <a:noFill/>
          <a:ln w="9525">
            <a:noFill/>
          </a:ln>
        </p:spPr>
      </p:pic>
      <p:sp>
        <p:nvSpPr>
          <p:cNvPr id="68619" name="文本框 1"/>
          <p:cNvSpPr txBox="1"/>
          <p:nvPr/>
        </p:nvSpPr>
        <p:spPr>
          <a:xfrm>
            <a:off x="2149475" y="6132513"/>
            <a:ext cx="498475" cy="369887"/>
          </a:xfrm>
          <a:prstGeom prst="rect">
            <a:avLst/>
          </a:prstGeom>
          <a:solidFill>
            <a:schemeClr val="bg1"/>
          </a:solidFill>
          <a:ln w="9525" cap="flat" cmpd="sng">
            <a:solidFill>
              <a:schemeClr val="bg1"/>
            </a:solidFill>
            <a:prstDash val="solid"/>
            <a:miter/>
            <a:headEnd type="none" w="med" len="med"/>
            <a:tailEnd type="none" w="med" len="med"/>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en-US" altLang="zh-CN" sz="1800" dirty="0">
                <a:solidFill>
                  <a:srgbClr val="3366FF"/>
                </a:solidFill>
                <a:latin typeface="Arial" panose="020B0604020202020204" pitchFamily="34" charset="0"/>
                <a:ea typeface="黑体" panose="02010609060101010101" pitchFamily="49" charset="-122"/>
              </a:rPr>
              <a:t>(c)</a:t>
            </a:r>
            <a:endParaRPr lang="zh-CN" altLang="en-US" sz="1800" dirty="0">
              <a:solidFill>
                <a:srgbClr val="3366FF"/>
              </a:solidFill>
              <a:latin typeface="Arial" panose="020B0604020202020204" pitchFamily="34" charset="0"/>
              <a:ea typeface="黑体" panose="02010609060101010101" pitchFamily="49" charset="-122"/>
            </a:endParaRPr>
          </a:p>
        </p:txBody>
      </p:sp>
      <p:sp>
        <p:nvSpPr>
          <p:cNvPr id="68620" name="文本框 13"/>
          <p:cNvSpPr txBox="1"/>
          <p:nvPr/>
        </p:nvSpPr>
        <p:spPr>
          <a:xfrm>
            <a:off x="6831013" y="6108700"/>
            <a:ext cx="498475" cy="369888"/>
          </a:xfrm>
          <a:prstGeom prst="rect">
            <a:avLst/>
          </a:prstGeom>
          <a:solidFill>
            <a:schemeClr val="bg1"/>
          </a:solidFill>
          <a:ln w="9525" cap="flat" cmpd="sng">
            <a:solidFill>
              <a:schemeClr val="bg1"/>
            </a:solidFill>
            <a:prstDash val="solid"/>
            <a:miter/>
            <a:headEnd type="none" w="med" len="med"/>
            <a:tailEnd type="none" w="med" len="med"/>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en-US" altLang="zh-CN" sz="1800" dirty="0">
                <a:solidFill>
                  <a:srgbClr val="3366FF"/>
                </a:solidFill>
                <a:latin typeface="Arial" panose="020B0604020202020204" pitchFamily="34" charset="0"/>
                <a:ea typeface="黑体" panose="02010609060101010101" pitchFamily="49" charset="-122"/>
              </a:rPr>
              <a:t>(d)</a:t>
            </a:r>
            <a:endParaRPr lang="zh-CN" altLang="en-US" sz="1800" dirty="0">
              <a:solidFill>
                <a:srgbClr val="3366FF"/>
              </a:solidFill>
              <a:latin typeface="Arial" panose="020B0604020202020204" pitchFamily="34" charset="0"/>
              <a:ea typeface="黑体" panose="02010609060101010101" pitchFamily="49"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2NkNzAyYTY3NmVkMTFhM2MwNTRmNTdhYmVlMzM2ZjgifQ=="/>
</p:tagLst>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90000"/>
          </a:lnSpc>
          <a:spcBef>
            <a:spcPct val="0"/>
          </a:spcBef>
          <a:spcAft>
            <a:spcPct val="0"/>
          </a:spcAft>
          <a:buClrTx/>
          <a:buSzTx/>
          <a:buFontTx/>
          <a:buNone/>
          <a:defRPr kumimoji="0" lang="en-US" sz="1800" b="0" i="0" u="none" strike="noStrike" cap="none" normalizeH="0" baseline="0" smtClean="0">
            <a:ln>
              <a:noFill/>
            </a:ln>
            <a:solidFill>
              <a:srgbClr val="3366FF"/>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90000"/>
          </a:lnSpc>
          <a:spcBef>
            <a:spcPct val="0"/>
          </a:spcBef>
          <a:spcAft>
            <a:spcPct val="0"/>
          </a:spcAft>
          <a:buClrTx/>
          <a:buSzTx/>
          <a:buFontTx/>
          <a:buNone/>
          <a:defRPr kumimoji="0" lang="en-US" sz="1800" b="0" i="0" u="none" strike="noStrike" cap="none" normalizeH="0" baseline="0" smtClean="0">
            <a:ln>
              <a:noFill/>
            </a:ln>
            <a:solidFill>
              <a:srgbClr val="3366FF"/>
            </a:solidFill>
            <a:effectLst/>
            <a:latin typeface="Arial" panose="020B0604020202020204" pitchFamily="34" charset="0"/>
            <a:ea typeface="黑体" panose="02010609060101010101" pitchFamily="49" charset="-122"/>
          </a:defRPr>
        </a:defPPr>
      </a:lstStyle>
    </a:lnDef>
    <a:txDef>
      <a:spPr>
        <a:solidFill>
          <a:schemeClr val="bg1"/>
        </a:solidFill>
        <a:ln>
          <a:solidFill>
            <a:schemeClr val="tx1"/>
          </a:solidFill>
        </a:ln>
      </a:spPr>
      <a:bodyPr wrap="square" rtlCol="0">
        <a:spAutoFit/>
      </a:bodyPr>
      <a:lstStyle>
        <a:defPPr>
          <a:defRPr dirty="0" smtClean="0"/>
        </a:defPPr>
      </a:lstStyle>
    </a:tx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D:\My Documents\Tannenbaum DS\Tannenbaum.pot</Template>
  <TotalTime>164</TotalTime>
  <Words>4524</Words>
  <Application>Microsoft Office PowerPoint</Application>
  <PresentationFormat>全屏显示(4:3)</PresentationFormat>
  <Paragraphs>629</Paragraphs>
  <Slides>63</Slides>
  <Notes>43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63</vt:i4>
      </vt:variant>
    </vt:vector>
  </HeadingPairs>
  <TitlesOfParts>
    <vt:vector size="80" baseType="lpstr">
      <vt:lpstr>Arial Unicode MS</vt:lpstr>
      <vt:lpstr>ZapfDingbats</vt:lpstr>
      <vt:lpstr>仿宋</vt:lpstr>
      <vt:lpstr>黑体</vt:lpstr>
      <vt:lpstr>楷体_GB2312</vt:lpstr>
      <vt:lpstr>隶书</vt:lpstr>
      <vt:lpstr>宋体</vt:lpstr>
      <vt:lpstr>Arial</vt:lpstr>
      <vt:lpstr>Calibri</vt:lpstr>
      <vt:lpstr>Comic Sans MS</vt:lpstr>
      <vt:lpstr>Tahoma</vt:lpstr>
      <vt:lpstr>Times New Roman</vt:lpstr>
      <vt:lpstr>Wingdings</vt:lpstr>
      <vt:lpstr>Tannenbaum</vt:lpstr>
      <vt:lpstr>SmartDraw.2</vt:lpstr>
      <vt:lpstr>MS_ClipArt_Gallery.2</vt:lpstr>
      <vt:lpstr>VISIO 5 Drawing</vt:lpstr>
      <vt:lpstr>Distributed Computing Paradigm</vt:lpstr>
      <vt:lpstr>2.1 Paradigm and Abstraction</vt:lpstr>
      <vt:lpstr>2.1 Paradigm and Abstraction</vt:lpstr>
      <vt:lpstr>PowerPoint 演示文稿</vt:lpstr>
      <vt:lpstr>2.2 The Message Passing Paradigm</vt:lpstr>
      <vt:lpstr>2.2 The Message Passing Paradigm</vt:lpstr>
      <vt:lpstr>2.2 The Message Passing Paradigm</vt:lpstr>
      <vt:lpstr>2.3 Remote Procedure Call </vt:lpstr>
      <vt:lpstr>2.3 Remote Procedure Call </vt:lpstr>
      <vt:lpstr>2.3 Remote Procedure Call </vt:lpstr>
      <vt:lpstr>2.3 Remote Procedure Call</vt:lpstr>
      <vt:lpstr>2.4 Client-Server Paradigm</vt:lpstr>
      <vt:lpstr>2.4 Client-Server Paradigm</vt:lpstr>
      <vt:lpstr>2.4 Client-Server Paradigm</vt:lpstr>
      <vt:lpstr>An Example Client and Server (1)</vt:lpstr>
      <vt:lpstr>An Example Client and Server (2)</vt:lpstr>
      <vt:lpstr>2.4 Client-Server Paradigm</vt:lpstr>
      <vt:lpstr>Multitiered Architectures</vt:lpstr>
      <vt:lpstr>举例</vt:lpstr>
      <vt:lpstr>Multitiered Architectures</vt:lpstr>
      <vt:lpstr>           Modern Architectures 多层也可以按横向划分(horizontal distribution)  实现负载均衡</vt:lpstr>
      <vt:lpstr>云计算——Client-Server的一种商业实现</vt:lpstr>
      <vt:lpstr>2.5. Peer-to-Peer Paradigm</vt:lpstr>
      <vt:lpstr>2.5. Peer-to-Peer Paradigm</vt:lpstr>
      <vt:lpstr>PowerPoint 演示文稿</vt:lpstr>
      <vt:lpstr>P2P: problems with centralized directory</vt:lpstr>
      <vt:lpstr>Gnutella: protocol</vt:lpstr>
      <vt:lpstr>Query flooding: Gnutella</vt:lpstr>
      <vt:lpstr>PowerPoint 演示文稿</vt:lpstr>
      <vt:lpstr>PowerPoint 演示文稿</vt:lpstr>
      <vt:lpstr>PowerPoint 演示文稿</vt:lpstr>
      <vt:lpstr>2.5. Peer-to-Peer 与client-server比较</vt:lpstr>
      <vt:lpstr>2.6. The Message System Paradigm</vt:lpstr>
      <vt:lpstr>2.6. The Message System Paradigm</vt:lpstr>
      <vt:lpstr>1.The Point-To-Point Message Model</vt:lpstr>
      <vt:lpstr>2.The Publish/Subscribe Message Model</vt:lpstr>
      <vt:lpstr>2.The Publish/Subscribe Message Model</vt:lpstr>
      <vt:lpstr>2.6. The Message System Paradigm</vt:lpstr>
      <vt:lpstr>Toolkits based on the Message-System Paradigm</vt:lpstr>
      <vt:lpstr>2.7 Distributed objects Paradigms</vt:lpstr>
      <vt:lpstr>2.7 Distributed objects Paradigms</vt:lpstr>
      <vt:lpstr>1. Remote Method Invocation (RMI) </vt:lpstr>
      <vt:lpstr>例. JAVA  RMI </vt:lpstr>
      <vt:lpstr>2. The Network Services Paradigm </vt:lpstr>
      <vt:lpstr>PowerPoint 演示文稿</vt:lpstr>
      <vt:lpstr>PowerPoint 演示文稿</vt:lpstr>
      <vt:lpstr>PowerPoint 演示文稿</vt:lpstr>
      <vt:lpstr>3.  The Object Request Broker Paradigm </vt:lpstr>
      <vt:lpstr>3. The Object Request Broker Paradigm </vt:lpstr>
      <vt:lpstr>PowerPoint 演示文稿</vt:lpstr>
      <vt:lpstr>4. The Object Space Paradigm </vt:lpstr>
      <vt:lpstr>4. The Object Space Paradigm - 2</vt:lpstr>
      <vt:lpstr>5.  Component-based Technologies</vt:lpstr>
      <vt:lpstr>2.8 The Mobile Agent Paradigm </vt:lpstr>
      <vt:lpstr>PowerPoint 演示文稿</vt:lpstr>
      <vt:lpstr>2.8 The Mobile Agent Paradigm </vt:lpstr>
      <vt:lpstr>2.8 The Mobile Agent Paradigm </vt:lpstr>
      <vt:lpstr>2.9 The Collaborative Application (Groupware) Paradigm </vt:lpstr>
      <vt:lpstr>2.9 The Collaborative Application (Groupware) Paradigm </vt:lpstr>
      <vt:lpstr>计算范型小结：</vt:lpstr>
      <vt:lpstr>Choosing a paradigm</vt:lpstr>
      <vt:lpstr>2.10 Architectural Styles (1)</vt:lpstr>
      <vt:lpstr>Architectural Styles (2)</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Steve  Armstrong</dc:creator>
  <cp:lastModifiedBy>qiy</cp:lastModifiedBy>
  <cp:revision>534</cp:revision>
  <dcterms:created xsi:type="dcterms:W3CDTF">2001-05-07T20:12:00Z</dcterms:created>
  <dcterms:modified xsi:type="dcterms:W3CDTF">2025-04-15T05:42:00Z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117E53A5DB9B428988E32D007354BA16_12</vt:lpwstr>
  </property>
  <property fmtid="{D5CDD505-2E9C-101B-9397-08002B2CF9AE}" pid="3" name="KSOProductBuildVer">
    <vt:lpwstr>2052-12.1.0.16250</vt:lpwstr>
  </property>
</Properties>
</file>