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8"/>
  </p:handoutMasterIdLst>
  <p:sldIdLst>
    <p:sldId id="256" r:id="rId3"/>
    <p:sldId id="257" r:id="rId5"/>
    <p:sldId id="305" r:id="rId6"/>
    <p:sldId id="306" r:id="rId7"/>
    <p:sldId id="258" r:id="rId8"/>
    <p:sldId id="307" r:id="rId9"/>
    <p:sldId id="308" r:id="rId10"/>
    <p:sldId id="259" r:id="rId11"/>
    <p:sldId id="260" r:id="rId12"/>
    <p:sldId id="310" r:id="rId13"/>
    <p:sldId id="263" r:id="rId14"/>
    <p:sldId id="311" r:id="rId15"/>
    <p:sldId id="265" r:id="rId16"/>
    <p:sldId id="439" r:id="rId17"/>
    <p:sldId id="338" r:id="rId18"/>
    <p:sldId id="349" r:id="rId19"/>
    <p:sldId id="350" r:id="rId20"/>
    <p:sldId id="339" r:id="rId21"/>
    <p:sldId id="340" r:id="rId22"/>
    <p:sldId id="341" r:id="rId23"/>
    <p:sldId id="343" r:id="rId24"/>
    <p:sldId id="347" r:id="rId25"/>
    <p:sldId id="345" r:id="rId26"/>
    <p:sldId id="346" r:id="rId27"/>
    <p:sldId id="336" r:id="rId28"/>
    <p:sldId id="315" r:id="rId29"/>
    <p:sldId id="348" r:id="rId30"/>
    <p:sldId id="351" r:id="rId31"/>
    <p:sldId id="352" r:id="rId32"/>
    <p:sldId id="323" r:id="rId33"/>
    <p:sldId id="324" r:id="rId34"/>
    <p:sldId id="325" r:id="rId35"/>
    <p:sldId id="354" r:id="rId36"/>
    <p:sldId id="353" r:id="rId37"/>
    <p:sldId id="355" r:id="rId38"/>
    <p:sldId id="374" r:id="rId39"/>
    <p:sldId id="444" r:id="rId40"/>
    <p:sldId id="389" r:id="rId41"/>
    <p:sldId id="387" r:id="rId42"/>
    <p:sldId id="390" r:id="rId43"/>
    <p:sldId id="391" r:id="rId44"/>
    <p:sldId id="393" r:id="rId45"/>
    <p:sldId id="392" r:id="rId46"/>
    <p:sldId id="440" r:id="rId47"/>
    <p:sldId id="376" r:id="rId48"/>
    <p:sldId id="378" r:id="rId49"/>
    <p:sldId id="380" r:id="rId50"/>
    <p:sldId id="383" r:id="rId51"/>
    <p:sldId id="400" r:id="rId52"/>
    <p:sldId id="399" r:id="rId53"/>
    <p:sldId id="275" r:id="rId54"/>
    <p:sldId id="276" r:id="rId55"/>
    <p:sldId id="277" r:id="rId56"/>
    <p:sldId id="278" r:id="rId57"/>
    <p:sldId id="279" r:id="rId58"/>
    <p:sldId id="280" r:id="rId59"/>
    <p:sldId id="281" r:id="rId60"/>
    <p:sldId id="402" r:id="rId61"/>
    <p:sldId id="282" r:id="rId62"/>
    <p:sldId id="283" r:id="rId63"/>
    <p:sldId id="408" r:id="rId64"/>
    <p:sldId id="412" r:id="rId65"/>
    <p:sldId id="287" r:id="rId66"/>
    <p:sldId id="419" r:id="rId67"/>
    <p:sldId id="422" r:id="rId68"/>
    <p:sldId id="421" r:id="rId69"/>
    <p:sldId id="288" r:id="rId70"/>
    <p:sldId id="420" r:id="rId71"/>
    <p:sldId id="289" r:id="rId72"/>
    <p:sldId id="290" r:id="rId73"/>
    <p:sldId id="428" r:id="rId74"/>
    <p:sldId id="456" r:id="rId75"/>
    <p:sldId id="457" r:id="rId76"/>
    <p:sldId id="458" r:id="rId77"/>
    <p:sldId id="459" r:id="rId78"/>
    <p:sldId id="291" r:id="rId79"/>
    <p:sldId id="437" r:id="rId80"/>
    <p:sldId id="292" r:id="rId81"/>
    <p:sldId id="293" r:id="rId82"/>
    <p:sldId id="296" r:id="rId83"/>
    <p:sldId id="297" r:id="rId84"/>
    <p:sldId id="298" r:id="rId85"/>
    <p:sldId id="385" r:id="rId86"/>
    <p:sldId id="386" r:id="rId87"/>
  </p:sldIdLst>
  <p:sldSz cx="9144000" cy="6858000" type="screen4x3"/>
  <p:notesSz cx="6858000" cy="9144000"/>
  <p:custDataLst>
    <p:tags r:id="rId92"/>
  </p:custDataLst>
  <p:defaultTextStyle>
    <a:defPPr>
      <a:defRPr lang="en-US"/>
    </a:defPPr>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8"/>
    <p:restoredTop sz="74866"/>
  </p:normalViewPr>
  <p:slideViewPr>
    <p:cSldViewPr snapToGrid="0" showGuides="1">
      <p:cViewPr varScale="1">
        <p:scale>
          <a:sx n="84" d="100"/>
          <a:sy n="84" d="100"/>
        </p:scale>
        <p:origin x="1004"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2" Type="http://schemas.openxmlformats.org/officeDocument/2006/relationships/tags" Target="tags/tag1.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6.xml"/><Relationship Id="rId89" Type="http://schemas.openxmlformats.org/officeDocument/2006/relationships/presProps" Target="presProps.xml"/><Relationship Id="rId88" Type="http://schemas.openxmlformats.org/officeDocument/2006/relationships/handoutMaster" Target="handoutMasters/handoutMaster1.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7510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7510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75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5FA27AB-39E8-4036-A1EF-C3FFDAA762DF}"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04-02T00:35:4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2392 152,'-21'0,"-22"0,22 0,-21 0,21 0,0 0,-22 0,22 0,0-21,-43 21,22 0,-21 0,-1 0,1 0,-1 0,-20-20,20 20,0 0,1 0,0 0,-1 0,0 0,22 0,0 20,0-20,-22 0,22 0,-22 0,43 21,-43 20,22-41,-43 20,43 0,0 1,0-1,-1 1,22-21,-21 41,-1-21,1 22,0-42,21 60,-64-19,42 0,1 20,0 1,21-42,-22 41,22-41,0 22,0-2,0-20,-1 22,22-2,0-40,-21 21,21-1,-21 0,21 1,0-21,0 21,0-1,0-20,21 20,-21-20,0 21,21-21,-21 21,22-1,20-20,-42 20,42-20,-20 21,-1-21,42 20,1 0,-1 0,1-20,20 22,1-2,0 20,-1-19,1-21,42 21,-42-1,42 0,0 1,-43-1,1-20,42 0,-42 0,-1 0,-20 0,21 0,-1 0,-20 0,20 0,-20 0,42 20,-43 0,1-20,-1 0,1 0,-1 0,1 0,-1 0,-21 0,22 0,0 0,-1 0,22 0,-1 0,43 0,-42 0,21 0,42 0,0 0,43 0,-43 0,21 0,1 0,-1 0,21 0,-20 0,41 0,-20 0,-1 0,22 0,-21 0,-22 0,21 0,-20 42,20-42,-21 0,1 0,-1 0,-42 0,43 0,-22 0,21-42,-21 42,0 0,-21 0,21-20,1 0,-22-21,-43 1,22-2,-21 22,21-42,-43 42,-21 0,1 0,-1-21,-21 21,1-22,-22 22,21 0,-21-1,0 21,0-41,0 21,0-1,0 1,-43-42,22 42,21-20,-42 19,42 0,-21-19,-22 40,43-41,-21 41,21 0,-21-20,0 0,0-2,21 22,-43-40,22 40,-21-20,-1 20,1-42,-21 42,-1 0,-42-20,1 20,20 0,-42 0,42 0,-21-20,-42-1,21 21,21-20,-21 0,43 0,-43-2,21 2,-21 0,21 20,0-20,0-1,22 21,-43-41,42 41,-21-21,21 1,22 20,0 0,-1 0,0 0,1 0,-22 0,22 0,-22 0,1-40,-22 40,0 0,21 0,-21-21,22 21,20 0,-21 0,22 0,-22 0,1 0,20-21,-42 21,0-20,1 20,20 0,-42 0,42 0,-21 0,22 0,-22-20,21 20,1 0,-1 0,0 0,22-21,-1 21,1 0,-22 0,1-20,20 20,-42-21,43 1,-22 20,0 0,1 0,20 0,1 0,20 0,1 0,0 0,-22 0,22 0,-1 0,22 0,-21 0,0 0,21 0,-1 0,1 0,-21 0,42 0,-21 0,21 0,-22 0,22 0,-21 0,0 0,0 0,0 20,0-20,-22 21,43-21,-42 0,21 0,21 20,-43-20,22 0,0 0,-21 0,0 21,20-21,-20 0,42 0,-21 0,-22 0,43 0,-21 0,21 0,-21 20,21-20,0 0,-21 20,0-20,0 0,0 0,21 21,-43-21,43 0,-21 21,0-21,0 0,-22 0,43 0,-21 0,21 0,-21 0,21 0,-21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DD6FFA4-3285-4AE0-8059-A8DB0B2043A0}"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5123" name="Rectangle 2"/>
          <p:cNvSpPr>
            <a:spLocks noGrp="1" noRot="1" noChangeAspect="1" noTextEdit="1"/>
          </p:cNvSpPr>
          <p:nvPr>
            <p:ph type="sldImg"/>
          </p:nvPr>
        </p:nvSpPr>
        <p:spPr/>
      </p:sp>
      <p:sp>
        <p:nvSpPr>
          <p:cNvPr id="5124"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对象保护是对对象资源访问时的保护吗</a:t>
            </a:r>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9219" name="Rectangle 2"/>
          <p:cNvSpPr>
            <a:spLocks noGrp="1" noRot="1" noChangeAspect="1" noTextEdit="1"/>
          </p:cNvSpPr>
          <p:nvPr>
            <p:ph type="sldImg"/>
          </p:nvPr>
        </p:nvSpPr>
        <p:spPr/>
      </p:sp>
      <p:sp>
        <p:nvSpPr>
          <p:cNvPr id="9220"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四种安全威胁是否针对信道通信安全</a:t>
            </a:r>
            <a:endParaRPr lang="zh-CN" altLang="en-US" dirty="0">
              <a:ea typeface="宋体" panose="02010600030101010101" pitchFamily="2" charset="-122"/>
            </a:endParaRPr>
          </a:p>
          <a:p>
            <a:pPr lvl="0" eaLnBrk="1" hangingPunct="1"/>
            <a:r>
              <a:rPr lang="en-US" altLang="zh-CN" dirty="0">
                <a:ea typeface="宋体" panose="02010600030101010101" pitchFamily="2" charset="-122"/>
              </a:rPr>
              <a:t>1.</a:t>
            </a:r>
            <a:r>
              <a:rPr lang="zh-CN" altLang="en-US" dirty="0">
                <a:ea typeface="宋体" panose="02010600030101010101" pitchFamily="2" charset="-122"/>
              </a:rPr>
              <a:t>未授权用户非法获得资源或</a:t>
            </a:r>
            <a:r>
              <a:rPr lang="zh-CN" altLang="en-US" dirty="0">
                <a:ea typeface="宋体" panose="02010600030101010101" pitchFamily="2" charset="-122"/>
              </a:rPr>
              <a:t>数据</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en-US" altLang="zh-CN" dirty="0">
                <a:ea typeface="宋体" panose="02010600030101010101" pitchFamily="2" charset="-122"/>
              </a:rPr>
              <a:t>2.</a:t>
            </a:r>
            <a:r>
              <a:rPr lang="zh-CN" altLang="en-US" dirty="0">
                <a:ea typeface="宋体" panose="02010600030101010101" pitchFamily="2" charset="-122"/>
              </a:rPr>
              <a:t>中断：服务或</a:t>
            </a:r>
            <a:r>
              <a:rPr lang="zh-CN" altLang="en-US" dirty="0">
                <a:ea typeface="宋体" panose="02010600030101010101" pitchFamily="2" charset="-122"/>
              </a:rPr>
              <a:t>数据不可用</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en-US" altLang="zh-CN" dirty="0">
                <a:ea typeface="宋体" panose="02010600030101010101" pitchFamily="2" charset="-122"/>
              </a:rPr>
              <a:t>3.</a:t>
            </a:r>
            <a:r>
              <a:rPr lang="zh-CN" altLang="en-US" dirty="0">
                <a:ea typeface="宋体" panose="02010600030101010101" pitchFamily="2" charset="-122"/>
              </a:rPr>
              <a:t>对服务或数据进行未授权的修改导致偏离</a:t>
            </a:r>
            <a:r>
              <a:rPr lang="zh-CN" altLang="en-US" dirty="0">
                <a:ea typeface="宋体" panose="02010600030101010101" pitchFamily="2" charset="-122"/>
              </a:rPr>
              <a:t>原定目标</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en-US" altLang="zh-CN" dirty="0">
                <a:ea typeface="宋体" panose="02010600030101010101" pitchFamily="2" charset="-122"/>
              </a:rPr>
              <a:t>4.</a:t>
            </a:r>
            <a:r>
              <a:rPr lang="zh-CN" altLang="en-US" dirty="0">
                <a:ea typeface="宋体" panose="02010600030101010101" pitchFamily="2" charset="-122"/>
              </a:rPr>
              <a:t>伪造：产生伪造的行为</a:t>
            </a:r>
            <a:r>
              <a:rPr lang="zh-CN" altLang="en-US" dirty="0">
                <a:ea typeface="宋体" panose="02010600030101010101" pitchFamily="2" charset="-122"/>
              </a:rPr>
              <a:t>或数据</a:t>
            </a:r>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1267" name="Rectangle 2"/>
          <p:cNvSpPr>
            <a:spLocks noGrp="1" noRot="1" noChangeAspect="1" noTextEdit="1"/>
          </p:cNvSpPr>
          <p:nvPr>
            <p:ph type="sldImg"/>
          </p:nvPr>
        </p:nvSpPr>
        <p:spPr/>
      </p:sp>
      <p:sp>
        <p:nvSpPr>
          <p:cNvPr id="11268"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用安全策略描述</a:t>
            </a:r>
            <a:r>
              <a:rPr lang="zh-CN" altLang="en-US" dirty="0">
                <a:ea typeface="宋体" panose="02010600030101010101" pitchFamily="2" charset="-122"/>
              </a:rPr>
              <a:t>安全需求</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策略针对哪种安全</a:t>
            </a:r>
            <a:endParaRPr lang="en-US" altLang="zh-CN" dirty="0">
              <a:ea typeface="宋体" panose="02010600030101010101" pitchFamily="2" charset="-122"/>
            </a:endParaRPr>
          </a:p>
          <a:p>
            <a:pPr lvl="0" eaLnBrk="1" hangingPunct="1"/>
            <a:r>
              <a:rPr lang="zh-CN" altLang="en-US" dirty="0">
                <a:ea typeface="宋体" panose="02010600030101010101" pitchFamily="2" charset="-122"/>
              </a:rPr>
              <a:t>数据如何采取行为</a:t>
            </a:r>
            <a:endParaRPr lang="en-US" altLang="zh-CN" dirty="0">
              <a:ea typeface="宋体" panose="02010600030101010101" pitchFamily="2" charset="-122"/>
            </a:endParaRPr>
          </a:p>
          <a:p>
            <a:pPr lvl="0" eaLnBrk="1" hangingPunct="1"/>
            <a:r>
              <a:rPr lang="zh-CN" altLang="en-US" dirty="0">
                <a:ea typeface="宋体" panose="02010600030101010101" pitchFamily="2" charset="-122"/>
              </a:rPr>
              <a:t>如何做到授权</a:t>
            </a:r>
            <a:endParaRPr lang="en-US" altLang="zh-CN" dirty="0">
              <a:ea typeface="宋体" panose="02010600030101010101" pitchFamily="2" charset="-122"/>
            </a:endParaRPr>
          </a:p>
          <a:p>
            <a:pPr lvl="0" eaLnBrk="1" hangingPunct="1"/>
            <a:r>
              <a:rPr lang="zh-CN" altLang="en-US" dirty="0">
                <a:ea typeface="宋体" panose="02010600030101010101" pitchFamily="2" charset="-122"/>
              </a:rPr>
              <a:t>如何审计</a:t>
            </a:r>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3315" name="Rectangle 2"/>
          <p:cNvSpPr>
            <a:spLocks noGrp="1" noRot="1" noChangeAspect="1" noTextEdit="1"/>
          </p:cNvSpPr>
          <p:nvPr>
            <p:ph type="sldImg"/>
          </p:nvPr>
        </p:nvSpPr>
        <p:spPr/>
      </p:sp>
      <p:sp>
        <p:nvSpPr>
          <p:cNvPr id="13316"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5363" name="Rectangle 2"/>
          <p:cNvSpPr>
            <a:spLocks noGrp="1" noRot="1" noChangeAspect="1" noTextEdit="1"/>
          </p:cNvSpPr>
          <p:nvPr>
            <p:ph type="sldImg"/>
          </p:nvPr>
        </p:nvSpPr>
        <p:spPr/>
      </p:sp>
      <p:sp>
        <p:nvSpPr>
          <p:cNvPr id="15364"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双映射，</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举例；</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中间件，</a:t>
            </a:r>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7411" name="Rectangle 2"/>
          <p:cNvSpPr>
            <a:spLocks noGrp="1" noRot="1" noChangeAspect="1" noTextEdit="1"/>
          </p:cNvSpPr>
          <p:nvPr>
            <p:ph type="sldImg"/>
          </p:nvPr>
        </p:nvSpPr>
        <p:spPr/>
      </p:sp>
      <p:sp>
        <p:nvSpPr>
          <p:cNvPr id="17412"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安全机制</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en-US" altLang="zh-CN" dirty="0">
                <a:ea typeface="宋体" panose="02010600030101010101" pitchFamily="2" charset="-122"/>
              </a:rPr>
              <a:t>2.</a:t>
            </a:r>
            <a:r>
              <a:rPr lang="zh-CN" altLang="en-US" dirty="0">
                <a:ea typeface="宋体" panose="02010600030101010101" pitchFamily="2" charset="-122"/>
              </a:rPr>
              <a:t>双向认证</a:t>
            </a:r>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9459" name="Rectangle 2"/>
          <p:cNvSpPr>
            <a:spLocks noGrp="1" noRot="1" noChangeAspect="1" noTextEdit="1"/>
          </p:cNvSpPr>
          <p:nvPr>
            <p:ph type="sldImg"/>
          </p:nvPr>
        </p:nvSpPr>
        <p:spPr/>
      </p:sp>
      <p:sp>
        <p:nvSpPr>
          <p:cNvPr id="19460"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细节隐藏：身份，操作，资源</a:t>
            </a:r>
            <a:r>
              <a:rPr lang="zh-CN" altLang="en-US" dirty="0">
                <a:ea typeface="宋体" panose="02010600030101010101" pitchFamily="2" charset="-122"/>
              </a:rPr>
              <a:t>查找</a:t>
            </a:r>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21507" name="Rectangle 2"/>
          <p:cNvSpPr>
            <a:spLocks noGrp="1" noRot="1" noChangeAspect="1" noTextEdit="1"/>
          </p:cNvSpPr>
          <p:nvPr>
            <p:ph type="sldImg"/>
          </p:nvPr>
        </p:nvSpPr>
        <p:spPr/>
      </p:sp>
      <p:sp>
        <p:nvSpPr>
          <p:cNvPr id="21508"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23555" name="Rectangle 2"/>
          <p:cNvSpPr>
            <a:spLocks noGrp="1" noRot="1" noChangeAspect="1" noTextEdit="1"/>
          </p:cNvSpPr>
          <p:nvPr>
            <p:ph type="sldImg"/>
          </p:nvPr>
        </p:nvSpPr>
        <p:spPr/>
      </p:sp>
      <p:sp>
        <p:nvSpPr>
          <p:cNvPr id="23556"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远程方法调用；对象（</a:t>
            </a:r>
            <a:r>
              <a:rPr lang="zh-CN" altLang="en-US" dirty="0">
                <a:ea typeface="宋体" panose="02010600030101010101" pitchFamily="2" charset="-122"/>
              </a:rPr>
              <a:t>实体）</a:t>
            </a:r>
            <a:endParaRPr lang="zh-CN" altLang="en-US" dirty="0">
              <a:ea typeface="宋体" panose="02010600030101010101" pitchFamily="2" charset="-122"/>
            </a:endParaRPr>
          </a:p>
          <a:p>
            <a:pPr lvl="0" eaLnBrk="1" hangingPunct="1"/>
            <a:r>
              <a:rPr lang="en-US" altLang="zh-CN" dirty="0">
                <a:ea typeface="宋体" panose="02010600030101010101" pitchFamily="2" charset="-122"/>
              </a:rPr>
              <a:t>1.</a:t>
            </a:r>
            <a:r>
              <a:rPr lang="zh-CN" altLang="en-US" dirty="0">
                <a:ea typeface="宋体" panose="02010600030101010101" pitchFamily="2" charset="-122"/>
              </a:rPr>
              <a:t>允许哪些方法</a:t>
            </a:r>
            <a:r>
              <a:rPr lang="zh-CN" altLang="en-US" dirty="0">
                <a:ea typeface="宋体" panose="02010600030101010101" pitchFamily="2" charset="-122"/>
              </a:rPr>
              <a:t>访问数据</a:t>
            </a:r>
            <a:endParaRPr lang="zh-CN" altLang="en-US" dirty="0">
              <a:ea typeface="宋体" panose="02010600030101010101" pitchFamily="2" charset="-122"/>
            </a:endParaRPr>
          </a:p>
          <a:p>
            <a:pPr lvl="0" eaLnBrk="1" hangingPunct="1"/>
            <a:r>
              <a:rPr lang="en-US" altLang="zh-CN" dirty="0">
                <a:ea typeface="宋体" panose="02010600030101010101" pitchFamily="2" charset="-122"/>
              </a:rPr>
              <a:t>2.</a:t>
            </a:r>
            <a:r>
              <a:rPr lang="zh-CN" altLang="en-US" dirty="0">
                <a:ea typeface="宋体" panose="02010600030101010101" pitchFamily="2" charset="-122"/>
              </a:rPr>
              <a:t>允许谁调用</a:t>
            </a:r>
            <a:r>
              <a:rPr lang="zh-CN" altLang="en-US" dirty="0">
                <a:ea typeface="宋体" panose="02010600030101010101" pitchFamily="2" charset="-122"/>
              </a:rPr>
              <a:t>方法</a:t>
            </a:r>
            <a:endParaRPr lang="zh-CN" altLang="en-US" dirty="0">
              <a:ea typeface="宋体" panose="02010600030101010101" pitchFamily="2" charset="-122"/>
            </a:endParaRPr>
          </a:p>
          <a:p>
            <a:pPr lvl="0" eaLnBrk="1" hangingPunct="1"/>
            <a:r>
              <a:rPr lang="en-US" altLang="zh-CN" dirty="0">
                <a:ea typeface="宋体" panose="02010600030101010101" pitchFamily="2" charset="-122"/>
              </a:rPr>
              <a:t>3.</a:t>
            </a:r>
            <a:r>
              <a:rPr lang="zh-CN" altLang="en-US" dirty="0">
                <a:ea typeface="宋体" panose="02010600030101010101" pitchFamily="2" charset="-122"/>
              </a:rPr>
              <a:t>按角色定义用户，哪些用户赋予哪些</a:t>
            </a:r>
            <a:r>
              <a:rPr lang="zh-CN" altLang="en-US" dirty="0">
                <a:ea typeface="宋体" panose="02010600030101010101" pitchFamily="2" charset="-122"/>
              </a:rPr>
              <a:t>角色？</a:t>
            </a:r>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25603" name="Rectangle 2"/>
          <p:cNvSpPr>
            <a:spLocks noGrp="1" noRot="1" noChangeAspect="1" noTextEdit="1"/>
          </p:cNvSpPr>
          <p:nvPr>
            <p:ph type="sldImg"/>
          </p:nvPr>
        </p:nvSpPr>
        <p:spPr/>
      </p:sp>
      <p:sp>
        <p:nvSpPr>
          <p:cNvPr id="25604"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分层：在哪些层面设置哪些安全</a:t>
            </a:r>
            <a:r>
              <a:rPr lang="zh-CN" altLang="en-US" dirty="0">
                <a:ea typeface="宋体" panose="02010600030101010101" pitchFamily="2" charset="-122"/>
              </a:rPr>
              <a:t>机制</a:t>
            </a:r>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27651" name="Rectangle 2"/>
          <p:cNvSpPr>
            <a:spLocks noGrp="1" noRot="1" noChangeAspect="1" noTextEdit="1"/>
          </p:cNvSpPr>
          <p:nvPr>
            <p:ph type="sldImg"/>
          </p:nvPr>
        </p:nvSpPr>
        <p:spPr/>
      </p:sp>
      <p:sp>
        <p:nvSpPr>
          <p:cNvPr id="27652"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物理分布，在哪些地方设置安全</a:t>
            </a:r>
            <a:r>
              <a:rPr lang="zh-CN" altLang="en-US" dirty="0">
                <a:ea typeface="宋体" panose="02010600030101010101" pitchFamily="2" charset="-122"/>
              </a:rPr>
              <a:t>机制</a:t>
            </a:r>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29699" name="Rectangle 2"/>
          <p:cNvSpPr>
            <a:spLocks noGrp="1" noRot="1" noChangeAspect="1" noTextEdit="1"/>
          </p:cNvSpPr>
          <p:nvPr>
            <p:ph type="sldImg"/>
          </p:nvPr>
        </p:nvSpPr>
        <p:spPr/>
      </p:sp>
      <p:sp>
        <p:nvSpPr>
          <p:cNvPr id="29700"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分布</a:t>
            </a:r>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加密不是绝对安全</a:t>
            </a:r>
            <a:r>
              <a:rPr lang="zh-CN" altLang="en-US"/>
              <a:t>的</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可证明安全</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密码机</a:t>
            </a:r>
            <a:endParaRPr lang="zh-CN" altLang="en-US"/>
          </a:p>
          <a:p>
            <a:r>
              <a:rPr lang="zh-CN" altLang="en-US"/>
              <a:t>密码泄露</a:t>
            </a:r>
            <a:endParaRPr lang="zh-CN" altLang="en-US"/>
          </a:p>
          <a:p>
            <a:r>
              <a:rPr lang="zh-CN" altLang="en-US"/>
              <a:t>不可证明</a:t>
            </a:r>
            <a:r>
              <a:rPr lang="zh-CN" altLang="en-US"/>
              <a:t>安全</a:t>
            </a:r>
            <a:endParaRPr lang="zh-CN" altLang="en-US"/>
          </a:p>
          <a:p>
            <a:endParaRPr lang="zh-CN" altLang="en-US"/>
          </a:p>
          <a:p>
            <a:r>
              <a:rPr lang="zh-CN" altLang="en-US"/>
              <a:t>军用</a:t>
            </a:r>
            <a:r>
              <a:rPr lang="en-US" altLang="zh-CN"/>
              <a:t>-</a:t>
            </a:r>
            <a:r>
              <a:rPr lang="zh-CN" altLang="en-US"/>
              <a:t>民用</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可证明安全，</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军用，</a:t>
            </a:r>
            <a:r>
              <a:rPr lang="zh-CN" altLang="en-US"/>
              <a:t>民用</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数论，计算复杂度，</a:t>
            </a:r>
            <a:r>
              <a:rPr lang="en-US" altLang="zh-CN">
                <a:sym typeface="+mn-ea"/>
              </a:rPr>
              <a:t>NP</a:t>
            </a:r>
            <a:r>
              <a:rPr lang="zh-CN" altLang="en-US">
                <a:sym typeface="+mn-ea"/>
              </a:rPr>
              <a:t>难</a:t>
            </a:r>
            <a:endParaRPr lang="zh-CN" altLang="en-US"/>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用于保障</a:t>
            </a:r>
            <a:r>
              <a:rPr lang="zh-CN" altLang="en-US"/>
              <a:t>信道安全</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43011" name="Rectangle 2"/>
          <p:cNvSpPr>
            <a:spLocks noGrp="1" noRot="1" noChangeAspect="1" noTextEdit="1"/>
          </p:cNvSpPr>
          <p:nvPr>
            <p:ph type="sldImg"/>
          </p:nvPr>
        </p:nvSpPr>
        <p:spPr/>
      </p:sp>
      <p:sp>
        <p:nvSpPr>
          <p:cNvPr id="43012"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被动敌手：</a:t>
            </a:r>
            <a:r>
              <a:rPr lang="zh-CN" altLang="en-US" dirty="0">
                <a:ea typeface="宋体" panose="02010600030101010101" pitchFamily="2" charset="-122"/>
              </a:rPr>
              <a:t>监听</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主动敌手：</a:t>
            </a:r>
            <a:r>
              <a:rPr lang="zh-CN" altLang="en-US" dirty="0">
                <a:ea typeface="宋体" panose="02010600030101010101" pitchFamily="2" charset="-122"/>
              </a:rPr>
              <a:t>修改替换</a:t>
            </a:r>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信道保护</a:t>
            </a:r>
            <a:endParaRPr lang="zh-CN" altLang="en-US"/>
          </a:p>
          <a:p>
            <a:endParaRPr lang="zh-CN" altLang="en-US"/>
          </a:p>
          <a:p>
            <a:r>
              <a:rPr lang="zh-CN" altLang="en-US"/>
              <a:t>对象保护</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b="1" dirty="0">
                <a:ea typeface="宋体" panose="02010600030101010101" pitchFamily="2" charset="-122"/>
                <a:sym typeface="+mn-ea"/>
              </a:rPr>
              <a:t>对称密钥密码算法：加密</a:t>
            </a:r>
            <a:r>
              <a:rPr lang="en-US" altLang="zh-CN" b="1" dirty="0">
                <a:ea typeface="宋体" panose="02010600030101010101" pitchFamily="2" charset="-122"/>
                <a:sym typeface="+mn-ea"/>
              </a:rPr>
              <a:t>+</a:t>
            </a:r>
            <a:r>
              <a:rPr lang="zh-CN" altLang="en-US" b="1" dirty="0">
                <a:ea typeface="宋体" panose="02010600030101010101" pitchFamily="2" charset="-122"/>
                <a:sym typeface="+mn-ea"/>
              </a:rPr>
              <a:t>认证</a:t>
            </a:r>
            <a:endParaRPr lang="zh-CN" altLang="en-US" b="1" dirty="0">
              <a:ea typeface="宋体" panose="02010600030101010101" pitchFamily="2" charset="-122"/>
              <a:sym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b="1" dirty="0">
                <a:ea typeface="宋体" panose="02010600030101010101" pitchFamily="2" charset="-122"/>
                <a:sym typeface="+mn-ea"/>
              </a:rPr>
              <a:t>非对称密钥密码算法：加密</a:t>
            </a:r>
            <a:r>
              <a:rPr lang="en-US" altLang="zh-CN" b="1" dirty="0">
                <a:ea typeface="宋体" panose="02010600030101010101" pitchFamily="2" charset="-122"/>
                <a:sym typeface="+mn-ea"/>
              </a:rPr>
              <a:t>+</a:t>
            </a:r>
            <a:r>
              <a:rPr lang="zh-CN" altLang="en-US" b="1" dirty="0">
                <a:ea typeface="宋体" panose="02010600030101010101" pitchFamily="2" charset="-122"/>
                <a:sym typeface="+mn-ea"/>
              </a:rPr>
              <a:t>认证</a:t>
            </a:r>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r>
              <a:rPr lang="zh-CN" altLang="en-US" b="1" dirty="0">
                <a:ea typeface="宋体" panose="02010600030101010101" pitchFamily="2" charset="-122"/>
                <a:sym typeface="+mn-ea"/>
              </a:rPr>
              <a:t>基于数论</a:t>
            </a:r>
            <a:endParaRPr lang="zh-CN" altLang="en-US" b="1" dirty="0">
              <a:ea typeface="宋体" panose="02010600030101010101" pitchFamily="2" charset="-122"/>
              <a:sym typeface="+mn-ea"/>
            </a:endParaRPr>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包含了单向函数的</a:t>
            </a:r>
            <a:r>
              <a:rPr lang="zh-CN" altLang="en-US"/>
              <a:t>特点</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暴力破解：成本远小于所破解的</a:t>
            </a:r>
            <a:r>
              <a:rPr lang="zh-CN" altLang="en-US"/>
              <a:t>数据价值</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78851" name="Rectangle 2"/>
          <p:cNvSpPr>
            <a:spLocks noGrp="1" noRot="1" noChangeAspect="1" noTextEdit="1"/>
          </p:cNvSpPr>
          <p:nvPr>
            <p:ph type="sldImg"/>
          </p:nvPr>
        </p:nvSpPr>
        <p:spPr/>
      </p:sp>
      <p:sp>
        <p:nvSpPr>
          <p:cNvPr id="78852"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区别：密钥协商，</a:t>
            </a:r>
            <a:r>
              <a:rPr lang="en-US" altLang="zh-CN"/>
              <a:t>1</a:t>
            </a:r>
            <a:r>
              <a:rPr lang="zh-CN" altLang="en-US"/>
              <a:t>需要额外的密钥协商</a:t>
            </a:r>
            <a:r>
              <a:rPr lang="zh-CN" altLang="en-US"/>
              <a:t>协议</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解决密钥协商问题，兼顾对称密码的</a:t>
            </a:r>
            <a:r>
              <a:rPr lang="zh-CN" altLang="en-US"/>
              <a:t>高效性</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84995" name="Rectangle 2"/>
          <p:cNvSpPr>
            <a:spLocks noGrp="1" noRot="1" noChangeAspect="1" noTextEdit="1"/>
          </p:cNvSpPr>
          <p:nvPr>
            <p:ph type="sldImg"/>
          </p:nvPr>
        </p:nvSpPr>
        <p:spPr/>
      </p:sp>
      <p:sp>
        <p:nvSpPr>
          <p:cNvPr id="84996"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87043" name="Rectangle 2"/>
          <p:cNvSpPr>
            <a:spLocks noGrp="1" noRot="1" noChangeAspect="1" noTextEdit="1"/>
          </p:cNvSpPr>
          <p:nvPr>
            <p:ph type="sldImg"/>
          </p:nvPr>
        </p:nvSpPr>
        <p:spPr/>
      </p:sp>
      <p:sp>
        <p:nvSpPr>
          <p:cNvPr id="87044"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89091" name="Rectangle 2"/>
          <p:cNvSpPr>
            <a:spLocks noGrp="1" noRot="1" noChangeAspect="1" noTextEdit="1"/>
          </p:cNvSpPr>
          <p:nvPr>
            <p:ph type="sldImg"/>
          </p:nvPr>
        </p:nvSpPr>
        <p:spPr/>
      </p:sp>
      <p:sp>
        <p:nvSpPr>
          <p:cNvPr id="89092"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91139" name="Rectangle 2"/>
          <p:cNvSpPr>
            <a:spLocks noGrp="1" noRot="1" noChangeAspect="1" noTextEdit="1"/>
          </p:cNvSpPr>
          <p:nvPr>
            <p:ph type="sldImg"/>
          </p:nvPr>
        </p:nvSpPr>
        <p:spPr/>
      </p:sp>
      <p:sp>
        <p:nvSpPr>
          <p:cNvPr id="91140"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原因：多个协议并发执行；可证明</a:t>
            </a:r>
            <a:r>
              <a:rPr lang="zh-CN" altLang="en-US" dirty="0">
                <a:ea typeface="宋体" panose="02010600030101010101" pitchFamily="2" charset="-122"/>
              </a:rPr>
              <a:t>安全</a:t>
            </a:r>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93187" name="Rectangle 2"/>
          <p:cNvSpPr>
            <a:spLocks noGrp="1" noRot="1" noChangeAspect="1" noTextEdit="1"/>
          </p:cNvSpPr>
          <p:nvPr>
            <p:ph type="sldImg"/>
          </p:nvPr>
        </p:nvSpPr>
        <p:spPr/>
      </p:sp>
      <p:sp>
        <p:nvSpPr>
          <p:cNvPr id="93188"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95235" name="Rectangle 2"/>
          <p:cNvSpPr>
            <a:spLocks noGrp="1" noRot="1" noChangeAspect="1" noTextEdit="1"/>
          </p:cNvSpPr>
          <p:nvPr>
            <p:ph type="sldImg"/>
          </p:nvPr>
        </p:nvSpPr>
        <p:spPr/>
      </p:sp>
      <p:sp>
        <p:nvSpPr>
          <p:cNvPr id="95236"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密钥</a:t>
            </a:r>
            <a:r>
              <a:rPr lang="en-US" altLang="zh-CN" dirty="0">
                <a:ea typeface="宋体" panose="02010600030101010101" pitchFamily="2" charset="-122"/>
              </a:rPr>
              <a:t> </a:t>
            </a:r>
            <a:r>
              <a:rPr lang="zh-CN" altLang="en-US" dirty="0">
                <a:ea typeface="宋体" panose="02010600030101010101" pitchFamily="2" charset="-122"/>
              </a:rPr>
              <a:t>托管问题，</a:t>
            </a:r>
            <a:r>
              <a:rPr lang="en-US" altLang="zh-CN" dirty="0">
                <a:ea typeface="宋体" panose="02010600030101010101" pitchFamily="2" charset="-122"/>
              </a:rPr>
              <a:t>2.Alice</a:t>
            </a:r>
            <a:r>
              <a:rPr lang="zh-CN" altLang="en-US" dirty="0">
                <a:ea typeface="宋体" panose="02010600030101010101" pitchFamily="2" charset="-122"/>
              </a:rPr>
              <a:t>票据有可能被</a:t>
            </a:r>
            <a:r>
              <a:rPr lang="zh-CN" altLang="en-US" dirty="0">
                <a:ea typeface="宋体" panose="02010600030101010101" pitchFamily="2" charset="-122"/>
              </a:rPr>
              <a:t>窃取</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重放攻击</a:t>
            </a:r>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97283" name="Rectangle 2"/>
          <p:cNvSpPr>
            <a:spLocks noGrp="1" noRot="1" noChangeAspect="1" noTextEdit="1"/>
          </p:cNvSpPr>
          <p:nvPr>
            <p:ph type="sldImg"/>
          </p:nvPr>
        </p:nvSpPr>
        <p:spPr/>
      </p:sp>
      <p:sp>
        <p:nvSpPr>
          <p:cNvPr id="97284"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通过增加随机数让两个票据在重放</a:t>
            </a:r>
            <a:r>
              <a:rPr lang="zh-CN" altLang="en-US" dirty="0">
                <a:ea typeface="宋体" panose="02010600030101010101" pitchFamily="2" charset="-122"/>
              </a:rPr>
              <a:t>时失效</a:t>
            </a:r>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99331" name="Rectangle 2"/>
          <p:cNvSpPr>
            <a:spLocks noGrp="1" noRot="1" noChangeAspect="1" noTextEdit="1"/>
          </p:cNvSpPr>
          <p:nvPr>
            <p:ph type="sldImg"/>
          </p:nvPr>
        </p:nvSpPr>
        <p:spPr/>
      </p:sp>
      <p:sp>
        <p:nvSpPr>
          <p:cNvPr id="99332"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票据失效：我收到对方发来的票据时，有可能是对方重放，所以要加入我生成的</a:t>
            </a:r>
            <a:r>
              <a:rPr lang="zh-CN" altLang="en-US" dirty="0">
                <a:ea typeface="宋体" panose="02010600030101010101" pitchFamily="2" charset="-122"/>
              </a:rPr>
              <a:t>随机数</a:t>
            </a:r>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01379" name="Rectangle 2"/>
          <p:cNvSpPr>
            <a:spLocks noGrp="1" noRot="1" noChangeAspect="1" noTextEdit="1"/>
          </p:cNvSpPr>
          <p:nvPr>
            <p:ph type="sldImg"/>
          </p:nvPr>
        </p:nvSpPr>
        <p:spPr/>
      </p:sp>
      <p:sp>
        <p:nvSpPr>
          <p:cNvPr id="101380"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如何进一步加入数字签名解决安全信道</a:t>
            </a:r>
            <a:r>
              <a:rPr lang="zh-CN" altLang="en-US"/>
              <a:t>中可认证性</a:t>
            </a:r>
            <a:r>
              <a:rPr lang="zh-CN" altLang="en-US"/>
              <a:t>问题</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05475" name="Rectangle 2"/>
          <p:cNvSpPr>
            <a:spLocks noGrp="1" noRot="1" noChangeAspect="1" noTextEdit="1"/>
          </p:cNvSpPr>
          <p:nvPr>
            <p:ph type="sldImg"/>
          </p:nvPr>
        </p:nvSpPr>
        <p:spPr/>
      </p:sp>
      <p:sp>
        <p:nvSpPr>
          <p:cNvPr id="105476" name="Rectangle 3"/>
          <p:cNvSpPr>
            <a:spLocks noGrp="1"/>
          </p:cNvSpPr>
          <p:nvPr>
            <p:ph type="body" idx="1"/>
          </p:nvPr>
        </p:nvSpPr>
        <p:spPr/>
        <p:txBody>
          <a:bodyPr wrap="square" lIns="91440" tIns="45720" rIns="91440" bIns="45720" anchor="t" anchorCtr="0"/>
          <a:lstStyle/>
          <a:p>
            <a:pPr lvl="0" eaLnBrk="1" hangingPunct="1"/>
            <a:r>
              <a:rPr lang="zh-CN" altLang="en-US" dirty="0">
                <a:ea typeface="宋体" panose="02010600030101010101" pitchFamily="2" charset="-122"/>
              </a:rPr>
              <a:t>不可抵赖</a:t>
            </a:r>
            <a:r>
              <a:rPr lang="zh-CN" altLang="en-US" dirty="0">
                <a:ea typeface="宋体" panose="02010600030101010101" pitchFamily="2" charset="-122"/>
              </a:rPr>
              <a:t>性</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数字签名：数论，一次只能签署一个群元素，长度</a:t>
            </a:r>
            <a:r>
              <a:rPr lang="zh-CN" altLang="en-US" dirty="0">
                <a:ea typeface="宋体" panose="02010600030101010101" pitchFamily="2" charset="-122"/>
              </a:rPr>
              <a:t>固定</a:t>
            </a:r>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07523" name="Rectangle 2"/>
          <p:cNvSpPr>
            <a:spLocks noGrp="1" noRot="1" noChangeAspect="1" noTextEdit="1"/>
          </p:cNvSpPr>
          <p:nvPr>
            <p:ph type="sldImg"/>
          </p:nvPr>
        </p:nvSpPr>
        <p:spPr/>
      </p:sp>
      <p:sp>
        <p:nvSpPr>
          <p:cNvPr id="107524"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34147" name="Rectangle 2"/>
          <p:cNvSpPr/>
          <p:nvPr/>
        </p:nvSpPr>
        <p:spPr>
          <a:xfrm>
            <a:off x="6000750" y="90488"/>
            <a:ext cx="857250"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34148" name="Rectangle 3"/>
          <p:cNvSpPr/>
          <p:nvPr/>
        </p:nvSpPr>
        <p:spPr>
          <a:xfrm>
            <a:off x="6599238" y="8870950"/>
            <a:ext cx="257175" cy="271463"/>
          </a:xfrm>
          <a:prstGeom prst="rect">
            <a:avLst/>
          </a:prstGeom>
          <a:noFill/>
          <a:ln w="12700">
            <a:noFill/>
          </a:ln>
        </p:spPr>
        <p:txBody>
          <a:bodyPr wrap="none" lIns="90488" tIns="44450" rIns="90488" bIns="44450" anchor="b" anchorCtr="0">
            <a:spAutoFit/>
          </a:bodyPr>
          <a:lstStyle/>
          <a:p>
            <a:pPr lvl="0" algn="r">
              <a:spcBef>
                <a:spcPct val="0"/>
              </a:spcBef>
            </a:pP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134149" name="Rectangle 4"/>
          <p:cNvSpPr/>
          <p:nvPr/>
        </p:nvSpPr>
        <p:spPr>
          <a:xfrm>
            <a:off x="0" y="8869363"/>
            <a:ext cx="650875"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34150" name="Rectangle 5"/>
          <p:cNvSpPr/>
          <p:nvPr/>
        </p:nvSpPr>
        <p:spPr>
          <a:xfrm>
            <a:off x="0" y="90488"/>
            <a:ext cx="693738"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34151" name="Rectangle 6"/>
          <p:cNvSpPr>
            <a:spLocks noGrp="1" noRot="1" noChangeAspect="1" noTextEdit="1"/>
          </p:cNvSpPr>
          <p:nvPr>
            <p:ph type="sldImg"/>
          </p:nvPr>
        </p:nvSpPr>
        <p:spPr>
          <a:xfrm>
            <a:off x="1150938" y="692150"/>
            <a:ext cx="4556125" cy="3416300"/>
          </a:xfrm>
          <a:ln w="12700"/>
        </p:spPr>
      </p:sp>
      <p:sp>
        <p:nvSpPr>
          <p:cNvPr id="134152" name="Rectangle 7"/>
          <p:cNvSpPr>
            <a:spLocks noGrp="1"/>
          </p:cNvSpPr>
          <p:nvPr>
            <p:ph type="body" idx="1"/>
          </p:nvPr>
        </p:nvSpPr>
        <p:spPr>
          <a:xfrm>
            <a:off x="915988" y="6859588"/>
            <a:ext cx="5102225" cy="274637"/>
          </a:xfrm>
        </p:spPr>
        <p:txBody>
          <a:bodyPr wrap="square" lIns="90488" tIns="44450" rIns="90488" bIns="44450" anchor="ctr" anchorCtr="0">
            <a:spAutoFit/>
          </a:bodyPr>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36195" name="Rectangle 2"/>
          <p:cNvSpPr>
            <a:spLocks noGrp="1" noRot="1" noChangeAspect="1" noTextEdit="1"/>
          </p:cNvSpPr>
          <p:nvPr>
            <p:ph type="sldImg"/>
          </p:nvPr>
        </p:nvSpPr>
        <p:spPr/>
      </p:sp>
      <p:sp>
        <p:nvSpPr>
          <p:cNvPr id="136196"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38243" name="Rectangle 2"/>
          <p:cNvSpPr/>
          <p:nvPr/>
        </p:nvSpPr>
        <p:spPr>
          <a:xfrm>
            <a:off x="6000750" y="90488"/>
            <a:ext cx="857250"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38244" name="Rectangle 3"/>
          <p:cNvSpPr/>
          <p:nvPr/>
        </p:nvSpPr>
        <p:spPr>
          <a:xfrm>
            <a:off x="6599238" y="8870950"/>
            <a:ext cx="257175" cy="271463"/>
          </a:xfrm>
          <a:prstGeom prst="rect">
            <a:avLst/>
          </a:prstGeom>
          <a:noFill/>
          <a:ln w="12700">
            <a:noFill/>
          </a:ln>
        </p:spPr>
        <p:txBody>
          <a:bodyPr wrap="none" lIns="90488" tIns="44450" rIns="90488" bIns="44450" anchor="b" anchorCtr="0">
            <a:spAutoFit/>
          </a:bodyPr>
          <a:lstStyle/>
          <a:p>
            <a:pPr lvl="0" algn="r">
              <a:spcBef>
                <a:spcPct val="0"/>
              </a:spcBef>
            </a:pP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138245" name="Rectangle 4"/>
          <p:cNvSpPr/>
          <p:nvPr/>
        </p:nvSpPr>
        <p:spPr>
          <a:xfrm>
            <a:off x="0" y="8869363"/>
            <a:ext cx="650875"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38246" name="Rectangle 5"/>
          <p:cNvSpPr/>
          <p:nvPr/>
        </p:nvSpPr>
        <p:spPr>
          <a:xfrm>
            <a:off x="0" y="90488"/>
            <a:ext cx="693738"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38247" name="Rectangle 6"/>
          <p:cNvSpPr>
            <a:spLocks noGrp="1" noRot="1" noChangeAspect="1" noTextEdit="1"/>
          </p:cNvSpPr>
          <p:nvPr>
            <p:ph type="sldImg"/>
          </p:nvPr>
        </p:nvSpPr>
        <p:spPr>
          <a:xfrm>
            <a:off x="1150938" y="692150"/>
            <a:ext cx="4556125" cy="3416300"/>
          </a:xfrm>
          <a:ln w="12700"/>
        </p:spPr>
      </p:sp>
      <p:sp>
        <p:nvSpPr>
          <p:cNvPr id="138248" name="Rectangle 7"/>
          <p:cNvSpPr>
            <a:spLocks noGrp="1"/>
          </p:cNvSpPr>
          <p:nvPr>
            <p:ph type="body" idx="1"/>
          </p:nvPr>
        </p:nvSpPr>
        <p:spPr>
          <a:xfrm>
            <a:off x="915988" y="6859588"/>
            <a:ext cx="5102225" cy="274637"/>
          </a:xfrm>
        </p:spPr>
        <p:txBody>
          <a:bodyPr wrap="square" lIns="90488" tIns="44450" rIns="90488" bIns="44450" anchor="ctr" anchorCtr="0">
            <a:spAutoFit/>
          </a:bodyPr>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40291" name="Rectangle 2"/>
          <p:cNvSpPr/>
          <p:nvPr/>
        </p:nvSpPr>
        <p:spPr>
          <a:xfrm>
            <a:off x="6000750" y="90488"/>
            <a:ext cx="857250"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0292" name="Rectangle 3"/>
          <p:cNvSpPr/>
          <p:nvPr/>
        </p:nvSpPr>
        <p:spPr>
          <a:xfrm>
            <a:off x="6599238" y="8870950"/>
            <a:ext cx="257175" cy="271463"/>
          </a:xfrm>
          <a:prstGeom prst="rect">
            <a:avLst/>
          </a:prstGeom>
          <a:noFill/>
          <a:ln w="12700">
            <a:noFill/>
          </a:ln>
        </p:spPr>
        <p:txBody>
          <a:bodyPr wrap="none" lIns="90488" tIns="44450" rIns="90488" bIns="44450" anchor="b" anchorCtr="0">
            <a:spAutoFit/>
          </a:bodyPr>
          <a:lstStyle/>
          <a:p>
            <a:pPr lvl="0" algn="r">
              <a:spcBef>
                <a:spcPct val="0"/>
              </a:spcBef>
            </a:pP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140293" name="Rectangle 4"/>
          <p:cNvSpPr/>
          <p:nvPr/>
        </p:nvSpPr>
        <p:spPr>
          <a:xfrm>
            <a:off x="0" y="8869363"/>
            <a:ext cx="650875"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0294" name="Rectangle 5"/>
          <p:cNvSpPr/>
          <p:nvPr/>
        </p:nvSpPr>
        <p:spPr>
          <a:xfrm>
            <a:off x="0" y="90488"/>
            <a:ext cx="693738"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0295" name="Rectangle 6"/>
          <p:cNvSpPr>
            <a:spLocks noGrp="1" noRot="1" noChangeAspect="1" noTextEdit="1"/>
          </p:cNvSpPr>
          <p:nvPr>
            <p:ph type="sldImg"/>
          </p:nvPr>
        </p:nvSpPr>
        <p:spPr>
          <a:xfrm>
            <a:off x="1150938" y="692150"/>
            <a:ext cx="4556125" cy="3416300"/>
          </a:xfrm>
          <a:ln w="12700"/>
        </p:spPr>
      </p:sp>
      <p:sp>
        <p:nvSpPr>
          <p:cNvPr id="140296" name="Rectangle 7"/>
          <p:cNvSpPr>
            <a:spLocks noGrp="1"/>
          </p:cNvSpPr>
          <p:nvPr>
            <p:ph type="body" idx="1"/>
          </p:nvPr>
        </p:nvSpPr>
        <p:spPr>
          <a:xfrm>
            <a:off x="915988" y="6859588"/>
            <a:ext cx="5102225" cy="274637"/>
          </a:xfrm>
        </p:spPr>
        <p:txBody>
          <a:bodyPr wrap="square" lIns="90488" tIns="44450" rIns="90488" bIns="44450" anchor="ctr" anchorCtr="0">
            <a:spAutoFit/>
          </a:bodyPr>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42339" name="Rectangle 2"/>
          <p:cNvSpPr/>
          <p:nvPr/>
        </p:nvSpPr>
        <p:spPr>
          <a:xfrm>
            <a:off x="6000750" y="90488"/>
            <a:ext cx="857250"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2340" name="Rectangle 3"/>
          <p:cNvSpPr/>
          <p:nvPr/>
        </p:nvSpPr>
        <p:spPr>
          <a:xfrm>
            <a:off x="6599238" y="8870950"/>
            <a:ext cx="257175" cy="271463"/>
          </a:xfrm>
          <a:prstGeom prst="rect">
            <a:avLst/>
          </a:prstGeom>
          <a:noFill/>
          <a:ln w="12700">
            <a:noFill/>
          </a:ln>
        </p:spPr>
        <p:txBody>
          <a:bodyPr wrap="none" lIns="90488" tIns="44450" rIns="90488" bIns="44450" anchor="b" anchorCtr="0">
            <a:spAutoFit/>
          </a:bodyPr>
          <a:lstStyle/>
          <a:p>
            <a:pPr lvl="0" algn="r">
              <a:spcBef>
                <a:spcPct val="0"/>
              </a:spcBef>
            </a:pP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142341" name="Rectangle 4"/>
          <p:cNvSpPr/>
          <p:nvPr/>
        </p:nvSpPr>
        <p:spPr>
          <a:xfrm>
            <a:off x="0" y="8869363"/>
            <a:ext cx="650875"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2342" name="Rectangle 5"/>
          <p:cNvSpPr/>
          <p:nvPr/>
        </p:nvSpPr>
        <p:spPr>
          <a:xfrm>
            <a:off x="0" y="90488"/>
            <a:ext cx="693738"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2343" name="Rectangle 6"/>
          <p:cNvSpPr>
            <a:spLocks noGrp="1" noRot="1" noChangeAspect="1" noTextEdit="1"/>
          </p:cNvSpPr>
          <p:nvPr>
            <p:ph type="sldImg"/>
          </p:nvPr>
        </p:nvSpPr>
        <p:spPr>
          <a:xfrm>
            <a:off x="1150938" y="692150"/>
            <a:ext cx="4556125" cy="3416300"/>
          </a:xfrm>
          <a:ln w="12700"/>
        </p:spPr>
      </p:sp>
      <p:sp>
        <p:nvSpPr>
          <p:cNvPr id="142344" name="Rectangle 7"/>
          <p:cNvSpPr>
            <a:spLocks noGrp="1"/>
          </p:cNvSpPr>
          <p:nvPr>
            <p:ph type="body" idx="1"/>
          </p:nvPr>
        </p:nvSpPr>
        <p:spPr>
          <a:xfrm>
            <a:off x="0" y="-50166"/>
            <a:ext cx="12978130" cy="1224282"/>
          </a:xfrm>
        </p:spPr>
        <p:txBody>
          <a:bodyPr wrap="square" lIns="90488" tIns="44450" rIns="90488" bIns="44450" anchor="ctr" anchorCtr="0">
            <a:spAutoFit/>
          </a:bodyPr>
          <a:lstStyle/>
          <a:p>
            <a:pPr lvl="0" eaLnBrk="1" hangingPunct="1"/>
            <a:r>
              <a:rPr lang="zh-CN" altLang="en-US" dirty="0">
                <a:ea typeface="宋体" panose="02010600030101010101" pitchFamily="2" charset="-122"/>
              </a:rPr>
              <a:t>以列为单位对矩阵进行</a:t>
            </a:r>
            <a:r>
              <a:rPr lang="zh-CN" altLang="en-US" dirty="0">
                <a:ea typeface="宋体" panose="02010600030101010101" pitchFamily="2" charset="-122"/>
              </a:rPr>
              <a:t>划分</a:t>
            </a:r>
            <a:endParaRPr lang="zh-CN" altLang="en-US"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44387" name="Rectangle 2"/>
          <p:cNvSpPr>
            <a:spLocks noGrp="1" noRot="1" noChangeAspect="1" noTextEdit="1"/>
          </p:cNvSpPr>
          <p:nvPr>
            <p:ph type="sldImg"/>
          </p:nvPr>
        </p:nvSpPr>
        <p:spPr/>
      </p:sp>
      <p:sp>
        <p:nvSpPr>
          <p:cNvPr id="144388" name="Rectangle 3"/>
          <p:cNvSpPr>
            <a:spLocks noGrp="1"/>
          </p:cNvSpPr>
          <p:nvPr>
            <p:ph type="body" idx="1"/>
          </p:nvPr>
        </p:nvSpPr>
        <p:spPr/>
        <p:txBody>
          <a:bodyPr wrap="square" lIns="91440" tIns="45720" rIns="91440" bIns="45720" anchor="t" anchorCtr="0"/>
          <a:lstStyle/>
          <a:p>
            <a:pPr lvl="0" eaLnBrk="1" hangingPunct="1"/>
            <a:r>
              <a:rPr lang="en-US" altLang="zh-CN" dirty="0">
                <a:ea typeface="宋体" panose="02010600030101010101" pitchFamily="2" charset="-122"/>
              </a:rPr>
              <a:t>ACL</a:t>
            </a:r>
            <a:r>
              <a:rPr lang="zh-CN" altLang="en-US" dirty="0">
                <a:ea typeface="宋体" panose="02010600030101010101" pitchFamily="2" charset="-122"/>
              </a:rPr>
              <a:t>表存在于</a:t>
            </a:r>
            <a:r>
              <a:rPr lang="en-US" altLang="zh-CN" dirty="0">
                <a:ea typeface="宋体" panose="02010600030101010101" pitchFamily="2" charset="-122"/>
              </a:rPr>
              <a:t>server</a:t>
            </a:r>
            <a:r>
              <a:rPr lang="zh-CN" altLang="en-US" dirty="0">
                <a:ea typeface="宋体" panose="02010600030101010101" pitchFamily="2" charset="-122"/>
              </a:rPr>
              <a:t>上，按</a:t>
            </a:r>
            <a:r>
              <a:rPr lang="zh-CN" altLang="en-US" dirty="0">
                <a:ea typeface="宋体" panose="02010600030101010101" pitchFamily="2" charset="-122"/>
              </a:rPr>
              <a:t>资源划分</a:t>
            </a:r>
            <a:endParaRPr lang="zh-CN" altLang="en-US"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46435" name="Rectangle 2"/>
          <p:cNvSpPr/>
          <p:nvPr/>
        </p:nvSpPr>
        <p:spPr>
          <a:xfrm>
            <a:off x="6000750" y="90488"/>
            <a:ext cx="857250"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6436" name="Rectangle 3"/>
          <p:cNvSpPr/>
          <p:nvPr/>
        </p:nvSpPr>
        <p:spPr>
          <a:xfrm>
            <a:off x="6599238" y="8870950"/>
            <a:ext cx="257175" cy="271463"/>
          </a:xfrm>
          <a:prstGeom prst="rect">
            <a:avLst/>
          </a:prstGeom>
          <a:noFill/>
          <a:ln w="12700">
            <a:noFill/>
          </a:ln>
        </p:spPr>
        <p:txBody>
          <a:bodyPr wrap="none" lIns="90488" tIns="44450" rIns="90488" bIns="44450" anchor="b" anchorCtr="0">
            <a:spAutoFit/>
          </a:bodyPr>
          <a:lstStyle/>
          <a:p>
            <a:pPr lvl="0" algn="r">
              <a:spcBef>
                <a:spcPct val="0"/>
              </a:spcBef>
            </a:pPr>
            <a:r>
              <a:rPr lang="en-US" altLang="zh-CN" dirty="0">
                <a:latin typeface="Times New Roman" panose="02020603050405020304" pitchFamily="18" charset="0"/>
                <a:ea typeface="宋体" panose="02010600030101010101" pitchFamily="2" charset="-122"/>
              </a:rPr>
              <a:t>2</a:t>
            </a:r>
            <a:endParaRPr lang="en-US" altLang="zh-CN" dirty="0">
              <a:latin typeface="Times New Roman" panose="02020603050405020304" pitchFamily="18" charset="0"/>
              <a:ea typeface="宋体" panose="02010600030101010101" pitchFamily="2" charset="-122"/>
            </a:endParaRPr>
          </a:p>
        </p:txBody>
      </p:sp>
      <p:sp>
        <p:nvSpPr>
          <p:cNvPr id="146437" name="Rectangle 4"/>
          <p:cNvSpPr/>
          <p:nvPr/>
        </p:nvSpPr>
        <p:spPr>
          <a:xfrm>
            <a:off x="0" y="8869363"/>
            <a:ext cx="650875"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6438" name="Rectangle 5"/>
          <p:cNvSpPr/>
          <p:nvPr/>
        </p:nvSpPr>
        <p:spPr>
          <a:xfrm>
            <a:off x="0" y="90488"/>
            <a:ext cx="693738" cy="274637"/>
          </a:xfrm>
          <a:prstGeom prst="rect">
            <a:avLst/>
          </a:prstGeom>
          <a:noFill/>
          <a:ln w="12700">
            <a:noFill/>
          </a:ln>
        </p:spPr>
        <p:txBody>
          <a:bodyPr wrap="none" anchor="ctr" anchorCtr="0"/>
          <a:lstStyle/>
          <a:p>
            <a:pPr lvl="0" algn="ctr" eaLnBrk="1" hangingPunct="1">
              <a:spcBef>
                <a:spcPct val="0"/>
              </a:spcBef>
            </a:pPr>
            <a:endParaRPr lang="zh-CN" altLang="en-US" sz="1600" b="1" dirty="0">
              <a:latin typeface="Times New Roman" panose="02020603050405020304" pitchFamily="18" charset="0"/>
              <a:ea typeface="宋体" panose="02010600030101010101" pitchFamily="2" charset="-122"/>
            </a:endParaRPr>
          </a:p>
        </p:txBody>
      </p:sp>
      <p:sp>
        <p:nvSpPr>
          <p:cNvPr id="146439" name="Rectangle 6"/>
          <p:cNvSpPr>
            <a:spLocks noGrp="1" noRot="1" noChangeAspect="1" noTextEdit="1"/>
          </p:cNvSpPr>
          <p:nvPr>
            <p:ph type="sldImg"/>
          </p:nvPr>
        </p:nvSpPr>
        <p:spPr>
          <a:xfrm>
            <a:off x="1150938" y="692150"/>
            <a:ext cx="4556125" cy="3416300"/>
          </a:xfrm>
          <a:ln w="12700"/>
        </p:spPr>
      </p:sp>
      <p:sp>
        <p:nvSpPr>
          <p:cNvPr id="146440" name="Rectangle 7"/>
          <p:cNvSpPr>
            <a:spLocks noGrp="1"/>
          </p:cNvSpPr>
          <p:nvPr>
            <p:ph type="body" idx="1"/>
          </p:nvPr>
        </p:nvSpPr>
        <p:spPr>
          <a:xfrm>
            <a:off x="915988" y="6859588"/>
            <a:ext cx="5102225" cy="274637"/>
          </a:xfrm>
        </p:spPr>
        <p:txBody>
          <a:bodyPr wrap="square" lIns="90488" tIns="44450" rIns="90488" bIns="44450" anchor="ctr" anchorCtr="0">
            <a:spAutoFit/>
          </a:bodyPr>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48483" name="Rectangle 2"/>
          <p:cNvSpPr>
            <a:spLocks noGrp="1" noRot="1" noChangeAspect="1" noTextEdit="1"/>
          </p:cNvSpPr>
          <p:nvPr>
            <p:ph type="sldImg"/>
          </p:nvPr>
        </p:nvSpPr>
        <p:spPr/>
      </p:sp>
      <p:sp>
        <p:nvSpPr>
          <p:cNvPr id="148484" name="Rectangle 3"/>
          <p:cNvSpPr>
            <a:spLocks noGrp="1"/>
          </p:cNvSpPr>
          <p:nvPr>
            <p:ph type="body" idx="1"/>
          </p:nvPr>
        </p:nvSpPr>
        <p:spPr/>
        <p:txBody>
          <a:bodyPr wrap="square" lIns="91440" tIns="45720" rIns="91440" bIns="45720" anchor="t" anchorCtr="0"/>
          <a:lstStyle/>
          <a:p>
            <a:pPr lvl="0" eaLnBrk="1" hangingPunct="1"/>
            <a:r>
              <a:rPr lang="en-US" altLang="zh-CN" dirty="0">
                <a:ea typeface="宋体" panose="02010600030101010101" pitchFamily="2" charset="-122"/>
              </a:rPr>
              <a:t>CL</a:t>
            </a:r>
            <a:r>
              <a:rPr lang="zh-CN" altLang="en-US" dirty="0">
                <a:ea typeface="宋体" panose="02010600030101010101" pitchFamily="2" charset="-122"/>
              </a:rPr>
              <a:t>表存在于客户端，按</a:t>
            </a:r>
            <a:r>
              <a:rPr lang="zh-CN" altLang="en-US" dirty="0">
                <a:ea typeface="宋体" panose="02010600030101010101" pitchFamily="2" charset="-122"/>
              </a:rPr>
              <a:t>能力划分</a:t>
            </a:r>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50531" name="Rectangle 2"/>
          <p:cNvSpPr>
            <a:spLocks noGrp="1" noRot="1" noChangeAspect="1" noTextEdit="1"/>
          </p:cNvSpPr>
          <p:nvPr>
            <p:ph type="sldImg"/>
          </p:nvPr>
        </p:nvSpPr>
        <p:spPr/>
      </p:sp>
      <p:sp>
        <p:nvSpPr>
          <p:cNvPr id="150532"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基于角色的访问控制</a:t>
            </a:r>
            <a:r>
              <a:rPr lang="zh-CN" altLang="en-US"/>
              <a:t>方案</a:t>
            </a:r>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TextEdit="1"/>
          </p:cNvSpPr>
          <p:nvPr>
            <p:ph type="sldImg"/>
          </p:nvPr>
        </p:nvSpPr>
        <p:spPr/>
      </p:sp>
      <p:sp>
        <p:nvSpPr>
          <p:cNvPr id="155651" name="Rectangle 3"/>
          <p:cNvSpPr>
            <a:spLocks noGrp="1"/>
          </p:cNvSpPr>
          <p:nvPr>
            <p:ph type="body" idx="1"/>
          </p:nvPr>
        </p:nvSpPr>
        <p:spPr/>
        <p:txBody>
          <a:bodyPr wrap="square" lIns="91440" tIns="45720" rIns="91440" bIns="45720" anchor="t" anchorCtr="0"/>
          <a:lstStyle/>
          <a:p>
            <a:pPr lvl="0"/>
            <a:r>
              <a:rPr lang="en-US" altLang="zh-CN" dirty="0">
                <a:ea typeface="宋体" panose="02010600030101010101" pitchFamily="2" charset="-122"/>
              </a:rPr>
              <a:t>OK, so, moving on, let’s look out how people control access to remotely stored files. One general way you might handle this is to have a server decide for you.</a:t>
            </a:r>
            <a:endParaRPr lang="en-US" altLang="zh-CN" dirty="0">
              <a:ea typeface="宋体" panose="02010600030101010101" pitchFamily="2" charset="-122"/>
            </a:endParaRPr>
          </a:p>
          <a:p>
            <a:pPr lvl="0"/>
            <a:r>
              <a:rPr lang="en-US" altLang="zh-CN" dirty="0">
                <a:ea typeface="宋体" panose="02010600030101010101" pitchFamily="2" charset="-122"/>
              </a:rPr>
              <a:t>-- So in this case, when we upload a file, we also provide a policy specifying who should be permitted to access the file.</a:t>
            </a:r>
            <a:endParaRPr lang="en-US" altLang="zh-CN" dirty="0">
              <a:ea typeface="宋体" panose="02010600030101010101" pitchFamily="2" charset="-122"/>
            </a:endParaRPr>
          </a:p>
          <a:p>
            <a:pPr lvl="0"/>
            <a:r>
              <a:rPr lang="en-US" altLang="zh-CN" dirty="0">
                <a:ea typeface="宋体" panose="02010600030101010101" pitchFamily="2" charset="-122"/>
              </a:rPr>
              <a:t>-- Now when another user comes along and authenticates herself to the server somehow, the server can evaluate the policy</a:t>
            </a:r>
            <a:endParaRPr lang="en-US" altLang="zh-CN" dirty="0">
              <a:ea typeface="宋体" panose="02010600030101010101" pitchFamily="2" charset="-122"/>
            </a:endParaRPr>
          </a:p>
          <a:p>
            <a:pPr lvl="0"/>
            <a:r>
              <a:rPr lang="en-US" altLang="zh-CN" dirty="0">
                <a:ea typeface="宋体" panose="02010600030101010101" pitchFamily="2" charset="-122"/>
              </a:rPr>
              <a:t>-- along with metadata the server may have about the user in order to</a:t>
            </a:r>
            <a:endParaRPr lang="en-US" altLang="zh-CN" dirty="0">
              <a:ea typeface="宋体" panose="02010600030101010101" pitchFamily="2" charset="-122"/>
            </a:endParaRPr>
          </a:p>
          <a:p>
            <a:pPr lvl="0"/>
            <a:r>
              <a:rPr lang="en-US" altLang="zh-CN" dirty="0">
                <a:ea typeface="宋体" panose="02010600030101010101" pitchFamily="2" charset="-122"/>
              </a:rPr>
              <a:t>-- make a decision about whether allow access.</a:t>
            </a:r>
            <a:endParaRPr lang="en-US" altLang="zh-CN" dirty="0">
              <a:ea typeface="宋体" panose="02010600030101010101" pitchFamily="2" charset="-122"/>
            </a:endParaRPr>
          </a:p>
          <a:p>
            <a:pPr lvl="0"/>
            <a:r>
              <a:rPr lang="en-US" altLang="zh-CN" dirty="0">
                <a:ea typeface="宋体" panose="02010600030101010101" pitchFamily="2" charset="-122"/>
              </a:rPr>
              <a:t>-- So what are the pros and cons of this general class of approaches to access control?</a:t>
            </a:r>
            <a:endParaRPr lang="en-US" altLang="zh-CN" dirty="0">
              <a:ea typeface="宋体" panose="02010600030101010101" pitchFamily="2" charset="-122"/>
            </a:endParaRPr>
          </a:p>
          <a:p>
            <a:pPr lvl="0"/>
            <a:endParaRPr lang="en-US" altLang="zh-CN"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TextEdit="1"/>
          </p:cNvSpPr>
          <p:nvPr>
            <p:ph type="sldImg"/>
          </p:nvPr>
        </p:nvSpPr>
        <p:spPr/>
      </p:sp>
      <p:sp>
        <p:nvSpPr>
          <p:cNvPr id="157699" name="Rectangle 3"/>
          <p:cNvSpPr>
            <a:spLocks noGrp="1"/>
          </p:cNvSpPr>
          <p:nvPr>
            <p:ph type="body" idx="1"/>
          </p:nvPr>
        </p:nvSpPr>
        <p:spPr/>
        <p:txBody>
          <a:bodyPr wrap="square" lIns="91440" tIns="45720" rIns="91440" bIns="45720" anchor="t" anchorCtr="0"/>
          <a:lstStyle/>
          <a:p>
            <a:pPr lvl="0"/>
            <a:r>
              <a:rPr lang="en-US" altLang="zh-CN" dirty="0">
                <a:ea typeface="宋体" panose="02010600030101010101" pitchFamily="2" charset="-122"/>
              </a:rPr>
              <a:t>OK, so what if someone is very concerned about the confidentiality of their files? Well, they can</a:t>
            </a:r>
            <a:endParaRPr lang="en-US" altLang="zh-CN" dirty="0">
              <a:ea typeface="宋体" panose="02010600030101010101" pitchFamily="2" charset="-122"/>
            </a:endParaRPr>
          </a:p>
          <a:p>
            <a:pPr lvl="0"/>
            <a:r>
              <a:rPr lang="en-US" altLang="zh-CN" dirty="0">
                <a:ea typeface="宋体" panose="02010600030101010101" pitchFamily="2" charset="-122"/>
              </a:rPr>
              <a:t>-- encrypt their file before storing it, using either symmetric or public key encryption. Now the server can freely give out copies of the encrypted file to anyone. Now the problem of</a:t>
            </a:r>
            <a:endParaRPr lang="en-US" altLang="zh-CN" dirty="0">
              <a:ea typeface="宋体" panose="02010600030101010101" pitchFamily="2" charset="-122"/>
            </a:endParaRPr>
          </a:p>
          <a:p>
            <a:pPr lvl="0"/>
            <a:r>
              <a:rPr lang="en-US" altLang="zh-CN" dirty="0">
                <a:ea typeface="宋体" panose="02010600030101010101" pitchFamily="2" charset="-122"/>
              </a:rPr>
              <a:t>-- controlling access to the file is a matter of</a:t>
            </a:r>
            <a:endParaRPr lang="en-US" altLang="zh-CN" dirty="0">
              <a:ea typeface="宋体" panose="02010600030101010101" pitchFamily="2" charset="-122"/>
            </a:endParaRPr>
          </a:p>
          <a:p>
            <a:pPr lvl="0"/>
            <a:r>
              <a:rPr lang="en-US" altLang="zh-CN" dirty="0">
                <a:ea typeface="宋体" panose="02010600030101010101" pitchFamily="2" charset="-122"/>
              </a:rPr>
              <a:t>-- distributing the key.</a:t>
            </a:r>
            <a:endParaRPr lang="en-US" altLang="zh-CN" dirty="0">
              <a:ea typeface="宋体" panose="02010600030101010101" pitchFamily="2" charset="-122"/>
            </a:endParaRPr>
          </a:p>
          <a:p>
            <a:pPr lvl="0"/>
            <a:r>
              <a:rPr lang="en-US" altLang="zh-CN" dirty="0">
                <a:ea typeface="宋体" panose="02010600030101010101" pitchFamily="2" charset="-122"/>
              </a:rPr>
              <a:t>-- But then things get more complicated as you encrypt more files.</a:t>
            </a:r>
            <a:endParaRPr lang="en-US" altLang="zh-CN" dirty="0">
              <a:ea typeface="宋体" panose="02010600030101010101" pitchFamily="2" charset="-122"/>
            </a:endParaRPr>
          </a:p>
          <a:p>
            <a:pPr lvl="0"/>
            <a:r>
              <a:rPr lang="en-US" altLang="zh-CN" dirty="0">
                <a:ea typeface="宋体" panose="02010600030101010101" pitchFamily="2" charset="-122"/>
              </a:rPr>
              <a:t>-- Do you use a new key for each file? In that case, it probably won’t be feasible to distribute the keys ahead of time, since you don’t know all the files you are going to store in the future.</a:t>
            </a:r>
            <a:endParaRPr lang="en-US" altLang="zh-CN" dirty="0">
              <a:ea typeface="宋体" panose="02010600030101010101" pitchFamily="2" charset="-122"/>
            </a:endParaRPr>
          </a:p>
          <a:p>
            <a:pPr lvl="0"/>
            <a:r>
              <a:rPr lang="en-US" altLang="zh-CN" dirty="0">
                <a:ea typeface="宋体" panose="02010600030101010101" pitchFamily="2" charset="-122"/>
              </a:rPr>
              <a:t>-- So you, or some other server, has to stay online to mediate access to the keys.</a:t>
            </a:r>
            <a:endParaRPr lang="en-US" altLang="zh-CN" dirty="0">
              <a:ea typeface="宋体" panose="02010600030101010101" pitchFamily="2" charset="-122"/>
            </a:endParaRPr>
          </a:p>
          <a:p>
            <a:pPr lvl="0"/>
            <a:r>
              <a:rPr lang="en-US" altLang="zh-CN" dirty="0">
                <a:ea typeface="宋体" panose="02010600030101010101" pitchFamily="2" charset="-122"/>
              </a:rPr>
              <a:t>Alternatively, you could use a few keys to encrypt many files.</a:t>
            </a:r>
            <a:endParaRPr lang="en-US" altLang="zh-CN" dirty="0">
              <a:ea typeface="宋体" panose="02010600030101010101" pitchFamily="2" charset="-122"/>
            </a:endParaRPr>
          </a:p>
          <a:p>
            <a:pPr lvl="0"/>
            <a:r>
              <a:rPr lang="en-US" altLang="zh-CN" dirty="0">
                <a:ea typeface="宋体" panose="02010600030101010101" pitchFamily="2" charset="-122"/>
              </a:rPr>
              <a:t>-- But then you lose the fine grained control we had over access policies.</a:t>
            </a:r>
            <a:endParaRPr lang="en-US" altLang="zh-CN"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spect="1" noTextEdit="1"/>
          </p:cNvSpPr>
          <p:nvPr>
            <p:ph type="sldImg"/>
          </p:nvPr>
        </p:nvSpPr>
        <p:spPr/>
      </p:sp>
      <p:sp>
        <p:nvSpPr>
          <p:cNvPr id="160771" name="Rectangle 3"/>
          <p:cNvSpPr>
            <a:spLocks noGrp="1"/>
          </p:cNvSpPr>
          <p:nvPr>
            <p:ph type="body" idx="1"/>
          </p:nvPr>
        </p:nvSpPr>
        <p:spPr/>
        <p:txBody>
          <a:bodyPr wrap="square" lIns="91440" tIns="45720" rIns="91440" bIns="45720" anchor="t" anchorCtr="0"/>
          <a:lstStyle/>
          <a:p>
            <a:pPr lvl="0"/>
            <a:r>
              <a:rPr lang="en-US" altLang="zh-CN" dirty="0">
                <a:ea typeface="宋体" panose="02010600030101010101" pitchFamily="2" charset="-122"/>
              </a:rPr>
              <a:t>(point out that attributes of secret key are mathematically incorporated into the key itself)</a:t>
            </a:r>
            <a:endParaRPr lang="en-US" altLang="zh-CN" dirty="0">
              <a:ea typeface="宋体" panose="02010600030101010101" pitchFamily="2" charset="-122"/>
            </a:endParaRPr>
          </a:p>
          <a:p>
            <a:pPr lvl="0"/>
            <a:r>
              <a:rPr lang="en-US" altLang="zh-CN" dirty="0">
                <a:ea typeface="宋体" panose="02010600030101010101" pitchFamily="2" charset="-122"/>
              </a:rPr>
              <a:t>(after file is encrypted, say we put it on the server)</a:t>
            </a:r>
            <a:endParaRPr lang="en-US" altLang="zh-CN" dirty="0">
              <a:ea typeface="宋体" panose="02010600030101010101" pitchFamily="2" charset="-122"/>
            </a:endParaRPr>
          </a:p>
          <a:p>
            <a:pPr lvl="0"/>
            <a:r>
              <a:rPr lang="en-US" altLang="zh-CN" dirty="0">
                <a:ea typeface="宋体" panose="02010600030101010101" pitchFamily="2" charset="-122"/>
              </a:rPr>
              <a:t>(explain that now, the policy checking happens “inside the crypto”. that is, nobody explicitly evaluates the policies and makes an access decision. instead,  if the policy is satisfied, decryption will just work, otherwise it won’t.)</a:t>
            </a:r>
            <a:endParaRPr lang="en-US" altLang="zh-CN"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62819" name="Rectangle 2"/>
          <p:cNvSpPr>
            <a:spLocks noGrp="1" noRot="1" noChangeAspect="1" noTextEdit="1"/>
          </p:cNvSpPr>
          <p:nvPr>
            <p:ph type="sldImg"/>
          </p:nvPr>
        </p:nvSpPr>
        <p:spPr/>
      </p:sp>
      <p:sp>
        <p:nvSpPr>
          <p:cNvPr id="162820"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64867" name="Rectangle 2"/>
          <p:cNvSpPr>
            <a:spLocks noGrp="1" noRot="1" noChangeAspect="1" noTextEdit="1"/>
          </p:cNvSpPr>
          <p:nvPr>
            <p:ph type="sldImg"/>
          </p:nvPr>
        </p:nvSpPr>
        <p:spPr/>
      </p:sp>
      <p:sp>
        <p:nvSpPr>
          <p:cNvPr id="164868"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66915" name="Rectangle 2"/>
          <p:cNvSpPr>
            <a:spLocks noGrp="1" noRot="1" noChangeAspect="1" noTextEdit="1"/>
          </p:cNvSpPr>
          <p:nvPr>
            <p:ph type="sldImg"/>
          </p:nvPr>
        </p:nvSpPr>
        <p:spPr/>
      </p:sp>
      <p:sp>
        <p:nvSpPr>
          <p:cNvPr id="166916"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68963" name="Rectangle 2"/>
          <p:cNvSpPr>
            <a:spLocks noGrp="1" noRot="1" noChangeAspect="1" noTextEdit="1"/>
          </p:cNvSpPr>
          <p:nvPr>
            <p:ph type="sldImg"/>
          </p:nvPr>
        </p:nvSpPr>
        <p:spPr/>
      </p:sp>
      <p:sp>
        <p:nvSpPr>
          <p:cNvPr id="168964"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71011" name="Rectangle 2"/>
          <p:cNvSpPr>
            <a:spLocks noGrp="1" noRot="1" noChangeAspect="1" noTextEdit="1"/>
          </p:cNvSpPr>
          <p:nvPr>
            <p:ph type="sldImg"/>
          </p:nvPr>
        </p:nvSpPr>
        <p:spPr/>
      </p:sp>
      <p:sp>
        <p:nvSpPr>
          <p:cNvPr id="171012"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73059" name="Rectangle 2"/>
          <p:cNvSpPr>
            <a:spLocks noGrp="1" noRot="1" noChangeAspect="1" noTextEdit="1"/>
          </p:cNvSpPr>
          <p:nvPr>
            <p:ph type="sldImg"/>
          </p:nvPr>
        </p:nvSpPr>
        <p:spPr/>
      </p:sp>
      <p:sp>
        <p:nvSpPr>
          <p:cNvPr id="173060"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75107" name="Rectangle 2"/>
          <p:cNvSpPr>
            <a:spLocks noGrp="1" noRot="1" noChangeAspect="1" noTextEdit="1"/>
          </p:cNvSpPr>
          <p:nvPr>
            <p:ph type="sldImg"/>
          </p:nvPr>
        </p:nvSpPr>
        <p:spPr/>
      </p:sp>
      <p:sp>
        <p:nvSpPr>
          <p:cNvPr id="175108"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0" y="5715000"/>
            <a:ext cx="4495800" cy="83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5715000"/>
            <a:ext cx="4495800" cy="83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0" y="5715000"/>
            <a:ext cx="4495800" cy="83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5715000"/>
            <a:ext cx="4495800" cy="342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6210300"/>
            <a:ext cx="4495800" cy="342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7" name="Rectangle 3"/>
          <p:cNvSpPr>
            <a:spLocks noGrp="1"/>
          </p:cNvSpPr>
          <p:nvPr>
            <p:ph type="body" idx="1"/>
          </p:nvPr>
        </p:nvSpPr>
        <p:spPr>
          <a:xfrm>
            <a:off x="0" y="5715000"/>
            <a:ext cx="9144000" cy="838200"/>
          </a:xfrm>
          <a:prstGeom prst="rect">
            <a:avLst/>
          </a:prstGeom>
          <a:noFill/>
          <a:ln w="9525">
            <a:noFill/>
          </a:ln>
        </p:spPr>
        <p:txBody>
          <a:bodyPr/>
          <a:lstStyle/>
          <a:p>
            <a:pPr lvl="0"/>
            <a:endParaRPr lang="zh-CN" altLang="en-US" dirty="0"/>
          </a:p>
        </p:txBody>
      </p:sp>
      <p:sp>
        <p:nvSpPr>
          <p:cNvPr id="410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b="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0" y="6597650"/>
            <a:ext cx="9144000" cy="17462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000" b="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Tanenbaum &amp; Van Steen, Distributed Systems: Principles and Paradigms, 2e, (c) 2007 Prentice-Hall, Inc. All rights reserved. 0-13-239227-5</a:t>
            </a:r>
            <a:endPar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2"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334C774-312A-4FAE-B9CF-977A0A689DF4}"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Arial" panose="020B0604020202020204" pitchFamily="34" charset="0"/>
        </a:defRPr>
      </a:lvl2pPr>
      <a:lvl3pPr algn="ctr" rtl="0" eaLnBrk="0" fontAlgn="base" hangingPunct="0">
        <a:spcBef>
          <a:spcPct val="0"/>
        </a:spcBef>
        <a:spcAft>
          <a:spcPct val="0"/>
        </a:spcAft>
        <a:defRPr sz="4400">
          <a:solidFill>
            <a:srgbClr val="FF0000"/>
          </a:solidFill>
          <a:latin typeface="Arial" panose="020B0604020202020204" pitchFamily="34" charset="0"/>
        </a:defRPr>
      </a:lvl3pPr>
      <a:lvl4pPr algn="ctr" rtl="0" eaLnBrk="0" fontAlgn="base" hangingPunct="0">
        <a:spcBef>
          <a:spcPct val="0"/>
        </a:spcBef>
        <a:spcAft>
          <a:spcPct val="0"/>
        </a:spcAft>
        <a:defRPr sz="4400">
          <a:solidFill>
            <a:srgbClr val="FF0000"/>
          </a:solidFill>
          <a:latin typeface="Arial" panose="020B0604020202020204" pitchFamily="34" charset="0"/>
        </a:defRPr>
      </a:lvl4pPr>
      <a:lvl5pPr algn="ctr" rtl="0" eaLnBrk="0" fontAlgn="base" hangingPunct="0">
        <a:spcBef>
          <a:spcPct val="0"/>
        </a:spcBef>
        <a:spcAft>
          <a:spcPct val="0"/>
        </a:spcAft>
        <a:defRPr sz="4400">
          <a:solidFill>
            <a:srgbClr val="FF0000"/>
          </a:solidFill>
          <a:latin typeface="Arial" panose="020B0604020202020204" pitchFamily="34" charset="0"/>
        </a:defRPr>
      </a:lvl5pPr>
      <a:lvl6pPr marL="457200" algn="ctr" rtl="0" fontAlgn="base">
        <a:spcBef>
          <a:spcPct val="0"/>
        </a:spcBef>
        <a:spcAft>
          <a:spcPct val="0"/>
        </a:spcAft>
        <a:defRPr sz="4400">
          <a:solidFill>
            <a:srgbClr val="FF0000"/>
          </a:solidFill>
          <a:latin typeface="Arial" panose="020B0604020202020204" pitchFamily="34" charset="0"/>
        </a:defRPr>
      </a:lvl6pPr>
      <a:lvl7pPr marL="914400" algn="ctr" rtl="0" fontAlgn="base">
        <a:spcBef>
          <a:spcPct val="0"/>
        </a:spcBef>
        <a:spcAft>
          <a:spcPct val="0"/>
        </a:spcAft>
        <a:defRPr sz="4400">
          <a:solidFill>
            <a:srgbClr val="FF0000"/>
          </a:solidFill>
          <a:latin typeface="Arial" panose="020B0604020202020204" pitchFamily="34" charset="0"/>
        </a:defRPr>
      </a:lvl7pPr>
      <a:lvl8pPr marL="1371600" algn="ctr" rtl="0" fontAlgn="base">
        <a:spcBef>
          <a:spcPct val="0"/>
        </a:spcBef>
        <a:spcAft>
          <a:spcPct val="0"/>
        </a:spcAft>
        <a:defRPr sz="4400">
          <a:solidFill>
            <a:srgbClr val="FF0000"/>
          </a:solidFill>
          <a:latin typeface="Arial" panose="020B0604020202020204" pitchFamily="34" charset="0"/>
        </a:defRPr>
      </a:lvl8pPr>
      <a:lvl9pPr marL="1828800" algn="ctr" rtl="0" fontAlgn="base">
        <a:spcBef>
          <a:spcPct val="0"/>
        </a:spcBef>
        <a:spcAft>
          <a:spcPct val="0"/>
        </a:spcAft>
        <a:defRPr sz="4400">
          <a:solidFill>
            <a:srgbClr val="FF0000"/>
          </a:solidFill>
          <a:latin typeface="Arial" panose="020B0604020202020204" pitchFamily="34" charset="0"/>
        </a:defRPr>
      </a:lvl9pPr>
    </p:titleStyle>
    <p:bodyStyle>
      <a:lvl1pPr marL="609600" indent="-609600" algn="ctr" rtl="0" eaLnBrk="0" fontAlgn="base" hangingPunct="0">
        <a:spcBef>
          <a:spcPct val="20000"/>
        </a:spcBef>
        <a:spcAft>
          <a:spcPct val="0"/>
        </a:spcAft>
        <a:buClr>
          <a:schemeClr val="accent2"/>
        </a:buClr>
        <a:buChar cha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vl6pPr marL="26670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6pPr>
      <a:lvl7pPr marL="31242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7pPr>
      <a:lvl8pPr marL="35814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8pPr>
      <a:lvl9pPr marL="40386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image" Target="../media/image7.jpeg"/><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3.xml"/><Relationship Id="rId2" Type="http://schemas.openxmlformats.org/officeDocument/2006/relationships/image" Target="../media/image9.jpeg"/><Relationship Id="rId1" Type="http://schemas.openxmlformats.org/officeDocument/2006/relationships/image" Target="../media/image8.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73.xml.rels><?xml version="1.0" encoding="UTF-8" standalone="yes"?>
<Relationships xmlns="http://schemas.openxmlformats.org/package/2006/relationships"><Relationship Id="rId8" Type="http://schemas.openxmlformats.org/officeDocument/2006/relationships/notesSlide" Target="../notesSlides/notesSlide54.xml"/><Relationship Id="rId7"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image" Target="../media/image3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notesSlide" Target="../notesSlides/notesSlide55.xml"/><Relationship Id="rId7"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image" Target="../media/image33.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customXml" Target="../ink/ink1.xml"/><Relationship Id="rId1" Type="http://schemas.openxmlformats.org/officeDocument/2006/relationships/image" Target="../media/image40.jpe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4099" name="Rectangle 2"/>
          <p:cNvSpPr>
            <a:spLocks noGrp="1"/>
          </p:cNvSpPr>
          <p:nvPr>
            <p:ph type="ctrTitle"/>
          </p:nvPr>
        </p:nvSpPr>
        <p:spPr>
          <a:xfrm>
            <a:off x="685800" y="350838"/>
            <a:ext cx="7772400" cy="5016500"/>
          </a:xfrm>
        </p:spPr>
        <p:txBody>
          <a:bodyPr vert="horz" wrap="square" lIns="91440" tIns="45720" rIns="91440" bIns="45720" anchor="ctr" anchorCtr="0"/>
          <a:lstStyle/>
          <a:p>
            <a:pPr eaLnBrk="1" hangingPunct="1">
              <a:buClrTx/>
              <a:buSzTx/>
              <a:buFontTx/>
            </a:pPr>
            <a:r>
              <a:rPr lang="en-US" altLang="zh-CN" sz="2400" dirty="0">
                <a:solidFill>
                  <a:schemeClr val="tx1"/>
                </a:solidFill>
                <a:ea typeface="宋体" panose="02010600030101010101" pitchFamily="2" charset="-122"/>
              </a:rPr>
              <a:t>DISTRIBUTED SYSTEMS</a:t>
            </a:r>
            <a:br>
              <a:rPr lang="en-US" altLang="zh-CN" sz="2400" dirty="0">
                <a:solidFill>
                  <a:schemeClr val="tx1"/>
                </a:solidFill>
                <a:ea typeface="宋体" panose="02010600030101010101" pitchFamily="2" charset="-122"/>
              </a:rPr>
            </a:br>
            <a:r>
              <a:rPr lang="en-US" altLang="zh-CN" sz="2400" dirty="0">
                <a:solidFill>
                  <a:schemeClr val="tx1"/>
                </a:solidFill>
                <a:ea typeface="宋体" panose="02010600030101010101" pitchFamily="2" charset="-122"/>
              </a:rPr>
              <a:t>Principles and Paradigms</a:t>
            </a:r>
            <a:br>
              <a:rPr lang="en-US" altLang="zh-CN" sz="2400" dirty="0">
                <a:solidFill>
                  <a:schemeClr val="tx1"/>
                </a:solidFill>
                <a:ea typeface="宋体" panose="02010600030101010101" pitchFamily="2" charset="-122"/>
              </a:rPr>
            </a:br>
            <a:r>
              <a:rPr lang="en-US" altLang="zh-CN" sz="1800" dirty="0">
                <a:solidFill>
                  <a:schemeClr val="tx1"/>
                </a:solidFill>
                <a:ea typeface="宋体" panose="02010600030101010101" pitchFamily="2" charset="-122"/>
              </a:rPr>
              <a:t>Second Edition</a:t>
            </a:r>
            <a:br>
              <a:rPr lang="en-US" altLang="zh-CN" dirty="0">
                <a:solidFill>
                  <a:schemeClr val="tx1"/>
                </a:solidFill>
                <a:ea typeface="宋体" panose="02010600030101010101" pitchFamily="2" charset="-122"/>
              </a:rPr>
            </a:br>
            <a:r>
              <a:rPr lang="en-US" altLang="zh-CN" sz="1800" dirty="0">
                <a:solidFill>
                  <a:schemeClr val="tx1"/>
                </a:solidFill>
                <a:ea typeface="宋体" panose="02010600030101010101" pitchFamily="2" charset="-122"/>
              </a:rPr>
              <a:t>ANDREW S. TANENBAUM</a:t>
            </a:r>
            <a:br>
              <a:rPr lang="en-US" altLang="zh-CN" sz="1800" dirty="0">
                <a:solidFill>
                  <a:schemeClr val="tx1"/>
                </a:solidFill>
                <a:ea typeface="宋体" panose="02010600030101010101" pitchFamily="2" charset="-122"/>
              </a:rPr>
            </a:br>
            <a:r>
              <a:rPr lang="en-US" altLang="zh-CN" sz="1800" dirty="0">
                <a:solidFill>
                  <a:schemeClr val="tx1"/>
                </a:solidFill>
                <a:ea typeface="宋体" panose="02010600030101010101" pitchFamily="2" charset="-122"/>
              </a:rPr>
              <a:t>MAARTEN VAN STEEN</a:t>
            </a:r>
            <a:br>
              <a:rPr lang="en-US" altLang="zh-CN" sz="1800" dirty="0">
                <a:solidFill>
                  <a:schemeClr val="tx1"/>
                </a:solidFill>
                <a:ea typeface="宋体" panose="02010600030101010101" pitchFamily="2" charset="-122"/>
              </a:rPr>
            </a:br>
            <a:br>
              <a:rPr lang="en-US" altLang="zh-CN" dirty="0">
                <a:ea typeface="宋体" panose="02010600030101010101" pitchFamily="2" charset="-122"/>
              </a:rPr>
            </a:br>
            <a:r>
              <a:rPr lang="en-US" altLang="zh-CN" dirty="0">
                <a:ea typeface="宋体" panose="02010600030101010101" pitchFamily="2" charset="-122"/>
              </a:rPr>
              <a:t>Chapter 9</a:t>
            </a:r>
            <a:br>
              <a:rPr lang="en-US" altLang="zh-CN" dirty="0">
                <a:ea typeface="宋体" panose="02010600030101010101" pitchFamily="2" charset="-122"/>
              </a:rPr>
            </a:br>
            <a:r>
              <a:rPr lang="en-US" altLang="zh-CN" dirty="0">
                <a:ea typeface="宋体" panose="02010600030101010101" pitchFamily="2" charset="-122"/>
              </a:rPr>
              <a:t>Security</a:t>
            </a:r>
            <a:endParaRPr lang="en-US" altLang="zh-CN"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6147" name="Rectangle 2"/>
          <p:cNvSpPr>
            <a:spLocks noGrp="1"/>
          </p:cNvSpPr>
          <p:nvPr>
            <p:ph type="title"/>
          </p:nvPr>
        </p:nvSpPr>
        <p:spPr>
          <a:xfrm>
            <a:off x="923925" y="130175"/>
            <a:ext cx="7512050" cy="604838"/>
          </a:xfrm>
        </p:spPr>
        <p:txBody>
          <a:bodyPr vert="horz" wrap="square" lIns="91440" tIns="45720" rIns="91440" bIns="45720" anchor="ctr" anchorCtr="0"/>
          <a:lstStyle/>
          <a:p>
            <a:pPr eaLnBrk="1" hangingPunct="1"/>
            <a:r>
              <a:rPr lang="zh-CN" altLang="en-US" sz="4800" dirty="0">
                <a:ea typeface="宋体" panose="02010600030101010101" pitchFamily="2" charset="-122"/>
              </a:rPr>
              <a:t>分布式系统的安全</a:t>
            </a:r>
            <a:endParaRPr lang="en-US" altLang="zh-CN" sz="4000" dirty="0">
              <a:ea typeface="宋体" panose="02010600030101010101" pitchFamily="2" charset="-122"/>
            </a:endParaRPr>
          </a:p>
        </p:txBody>
      </p:sp>
      <p:sp>
        <p:nvSpPr>
          <p:cNvPr id="6148" name="Rectangle 3"/>
          <p:cNvSpPr>
            <a:spLocks noGrp="1"/>
          </p:cNvSpPr>
          <p:nvPr>
            <p:ph idx="1"/>
          </p:nvPr>
        </p:nvSpPr>
        <p:spPr>
          <a:xfrm>
            <a:off x="546100" y="1389063"/>
            <a:ext cx="3898900" cy="4478337"/>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zh-CN" altLang="en-US" sz="2800" b="1" dirty="0">
                <a:ea typeface="宋体" panose="02010600030101010101" pitchFamily="2" charset="-122"/>
              </a:rPr>
              <a:t>安全通道</a:t>
            </a:r>
            <a:endParaRPr lang="zh-CN" altLang="en-US" sz="2800" b="1" dirty="0">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2800" b="1" dirty="0">
                <a:ea typeface="宋体" panose="02010600030101010101" pitchFamily="2" charset="-122"/>
              </a:rPr>
              <a:t>身份认证</a:t>
            </a:r>
            <a:endParaRPr lang="zh-CN" altLang="en-US" sz="2800" b="1" dirty="0">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2800" b="1" dirty="0">
                <a:ea typeface="宋体" panose="02010600030101010101" pitchFamily="2" charset="-122"/>
              </a:rPr>
              <a:t>消息完整性</a:t>
            </a:r>
            <a:endParaRPr lang="zh-CN" altLang="en-US" sz="2800" b="1" dirty="0">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2800" b="1" dirty="0">
                <a:ea typeface="宋体" panose="02010600030101010101" pitchFamily="2" charset="-122"/>
              </a:rPr>
              <a:t>机密性</a:t>
            </a:r>
            <a:endParaRPr lang="zh-CN" altLang="en-US" sz="2800" b="1" dirty="0">
              <a:ea typeface="宋体" panose="02010600030101010101" pitchFamily="2" charset="-122"/>
            </a:endParaRPr>
          </a:p>
          <a:p>
            <a:pPr algn="l" eaLnBrk="1" hangingPunct="1">
              <a:lnSpc>
                <a:spcPct val="150000"/>
              </a:lnSpc>
              <a:buFont typeface="Wingdings" panose="05000000000000000000" pitchFamily="2" charset="2"/>
              <a:buChar char="u"/>
            </a:pPr>
            <a:r>
              <a:rPr lang="zh-CN" altLang="en-US" sz="2800" b="1" dirty="0">
                <a:ea typeface="宋体" panose="02010600030101010101" pitchFamily="2" charset="-122"/>
              </a:rPr>
              <a:t>对象保护</a:t>
            </a:r>
            <a:endParaRPr lang="en-US" altLang="zh-CN" sz="2800" b="1" dirty="0">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2800" b="1" dirty="0">
                <a:ea typeface="宋体" panose="02010600030101010101" pitchFamily="2" charset="-122"/>
              </a:rPr>
              <a:t>访问控制</a:t>
            </a:r>
            <a:endParaRPr lang="zh-CN" altLang="en-US" sz="2800" b="1" dirty="0">
              <a:ea typeface="宋体" panose="02010600030101010101" pitchFamily="2" charset="-122"/>
            </a:endParaRPr>
          </a:p>
        </p:txBody>
      </p:sp>
      <p:sp>
        <p:nvSpPr>
          <p:cNvPr id="6149" name="TextBox 6"/>
          <p:cNvSpPr txBox="1"/>
          <p:nvPr/>
        </p:nvSpPr>
        <p:spPr>
          <a:xfrm>
            <a:off x="5562600" y="4876800"/>
            <a:ext cx="1066800" cy="461963"/>
          </a:xfrm>
          <a:prstGeom prst="rect">
            <a:avLst/>
          </a:prstGeom>
          <a:noFill/>
          <a:ln w="952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b="1" dirty="0">
                <a:latin typeface="Times New Roman" panose="02020603050405020304" pitchFamily="18" charset="0"/>
                <a:ea typeface="宋体" panose="02010600030101010101" pitchFamily="2" charset="-122"/>
              </a:rPr>
              <a:t>对象</a:t>
            </a:r>
            <a:endParaRPr lang="zh-CN" altLang="en-US" b="1" dirty="0">
              <a:latin typeface="Times New Roman" panose="02020603050405020304" pitchFamily="18" charset="0"/>
              <a:ea typeface="宋体" panose="02010600030101010101" pitchFamily="2" charset="-122"/>
            </a:endParaRPr>
          </a:p>
        </p:txBody>
      </p:sp>
      <p:cxnSp>
        <p:nvCxnSpPr>
          <p:cNvPr id="6150" name="直接箭头连接符 8"/>
          <p:cNvCxnSpPr>
            <a:stCxn id="6151" idx="2"/>
          </p:cNvCxnSpPr>
          <p:nvPr/>
        </p:nvCxnSpPr>
        <p:spPr>
          <a:xfrm rot="-5400000" flipH="1">
            <a:off x="4719638" y="3500438"/>
            <a:ext cx="2713037" cy="12700"/>
          </a:xfrm>
          <a:prstGeom prst="straightConnector1">
            <a:avLst/>
          </a:prstGeom>
          <a:ln w="3175" cap="flat" cmpd="sng">
            <a:solidFill>
              <a:schemeClr val="tx1"/>
            </a:solidFill>
            <a:prstDash val="solid"/>
            <a:headEnd type="arrow" w="med" len="med"/>
            <a:tailEnd type="arrow" w="med" len="med"/>
          </a:ln>
        </p:spPr>
      </p:cxnSp>
      <p:sp>
        <p:nvSpPr>
          <p:cNvPr id="6151" name="TextBox 11"/>
          <p:cNvSpPr txBox="1"/>
          <p:nvPr/>
        </p:nvSpPr>
        <p:spPr>
          <a:xfrm>
            <a:off x="5537200" y="1689100"/>
            <a:ext cx="1066800" cy="461963"/>
          </a:xfrm>
          <a:prstGeom prst="rect">
            <a:avLst/>
          </a:prstGeom>
          <a:noFill/>
          <a:ln w="952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b="1" dirty="0">
                <a:latin typeface="Times New Roman" panose="02020603050405020304" pitchFamily="18" charset="0"/>
                <a:ea typeface="宋体" panose="02010600030101010101" pitchFamily="2" charset="-122"/>
              </a:rPr>
              <a:t>对象</a:t>
            </a:r>
            <a:endParaRPr lang="zh-CN" altLang="en-US" b="1" dirty="0">
              <a:latin typeface="Times New Roman" panose="02020603050405020304" pitchFamily="18" charset="0"/>
              <a:ea typeface="宋体" panose="02010600030101010101" pitchFamily="2" charset="-122"/>
            </a:endParaRPr>
          </a:p>
        </p:txBody>
      </p:sp>
      <p:sp>
        <p:nvSpPr>
          <p:cNvPr id="6152" name="TextBox 11"/>
          <p:cNvSpPr txBox="1"/>
          <p:nvPr/>
        </p:nvSpPr>
        <p:spPr>
          <a:xfrm>
            <a:off x="6184900" y="3282950"/>
            <a:ext cx="889000" cy="461963"/>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b="1" dirty="0">
                <a:latin typeface="Times New Roman" panose="02020603050405020304" pitchFamily="18" charset="0"/>
                <a:ea typeface="宋体" panose="02010600030101010101" pitchFamily="2" charset="-122"/>
              </a:rPr>
              <a:t>通道</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8195" name="Rectangle 2"/>
          <p:cNvSpPr>
            <a:spLocks noGrp="1"/>
          </p:cNvSpPr>
          <p:nvPr>
            <p:ph type="title"/>
          </p:nvPr>
        </p:nvSpPr>
        <p:spPr>
          <a:xfrm>
            <a:off x="0" y="0"/>
            <a:ext cx="9144000" cy="823913"/>
          </a:xfrm>
        </p:spPr>
        <p:txBody>
          <a:bodyPr vert="horz" wrap="square" lIns="91440" tIns="45720" rIns="91440" bIns="45720" anchor="ctr" anchorCtr="0"/>
          <a:lstStyle/>
          <a:p>
            <a:pPr eaLnBrk="1" hangingPunct="1"/>
            <a:r>
              <a:rPr lang="en-US" altLang="zh-CN" sz="3600" dirty="0">
                <a:ea typeface="宋体" panose="02010600030101010101" pitchFamily="2" charset="-122"/>
              </a:rPr>
              <a:t>Security Threats, Policies, and Mechanisms</a:t>
            </a:r>
            <a:endParaRPr lang="en-US" altLang="zh-CN" sz="3600" dirty="0">
              <a:ea typeface="宋体" panose="02010600030101010101" pitchFamily="2" charset="-122"/>
            </a:endParaRPr>
          </a:p>
        </p:txBody>
      </p:sp>
      <p:sp>
        <p:nvSpPr>
          <p:cNvPr id="8196" name="Rectangle 3"/>
          <p:cNvSpPr>
            <a:spLocks noGrp="1"/>
          </p:cNvSpPr>
          <p:nvPr>
            <p:ph idx="1"/>
          </p:nvPr>
        </p:nvSpPr>
        <p:spPr>
          <a:xfrm>
            <a:off x="971550" y="1503363"/>
            <a:ext cx="7429500" cy="4414837"/>
          </a:xfrm>
        </p:spPr>
        <p:txBody>
          <a:bodyPr vert="horz" wrap="square" lIns="91440" tIns="45720" rIns="91440" bIns="45720" anchor="t" anchorCtr="0"/>
          <a:lstStyle/>
          <a:p>
            <a:pPr algn="l" eaLnBrk="1" hangingPunct="1">
              <a:lnSpc>
                <a:spcPct val="150000"/>
              </a:lnSpc>
              <a:buNone/>
            </a:pPr>
            <a:r>
              <a:rPr lang="en-US" altLang="zh-CN" sz="2800" b="1" dirty="0">
                <a:solidFill>
                  <a:srgbClr val="FF3300"/>
                </a:solidFill>
                <a:ea typeface="宋体" panose="02010600030101010101" pitchFamily="2" charset="-122"/>
              </a:rPr>
              <a:t>Security threats:</a:t>
            </a:r>
            <a:endParaRPr lang="en-US" altLang="zh-CN" sz="2800" b="1" dirty="0">
              <a:solidFill>
                <a:srgbClr val="FF3300"/>
              </a:solidFill>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3200" dirty="0">
                <a:ea typeface="宋体" panose="02010600030101010101" pitchFamily="2" charset="-122"/>
              </a:rPr>
              <a:t>Interception;</a:t>
            </a:r>
            <a:endParaRPr lang="en-US" altLang="zh-CN" sz="32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3200" dirty="0">
                <a:ea typeface="宋体" panose="02010600030101010101" pitchFamily="2" charset="-122"/>
              </a:rPr>
              <a:t>Interruption</a:t>
            </a:r>
            <a:r>
              <a:rPr lang="zh-CN" altLang="en-US" sz="3200" dirty="0">
                <a:ea typeface="宋体" panose="02010600030101010101" pitchFamily="2" charset="-122"/>
              </a:rPr>
              <a:t>（</a:t>
            </a:r>
            <a:r>
              <a:rPr lang="en-US" altLang="zh-CN" sz="3200" dirty="0">
                <a:ea typeface="宋体" panose="02010600030101010101" pitchFamily="2" charset="-122"/>
              </a:rPr>
              <a:t>DoS….</a:t>
            </a:r>
            <a:r>
              <a:rPr lang="zh-CN" altLang="en-US" sz="3200" dirty="0">
                <a:ea typeface="宋体" panose="02010600030101010101" pitchFamily="2" charset="-122"/>
              </a:rPr>
              <a:t>）</a:t>
            </a:r>
            <a:r>
              <a:rPr lang="en-US" altLang="zh-CN" sz="3200" dirty="0">
                <a:ea typeface="宋体" panose="02010600030101010101" pitchFamily="2" charset="-122"/>
              </a:rPr>
              <a:t>;</a:t>
            </a:r>
            <a:endParaRPr lang="zh-CN" altLang="en-US" sz="32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3200" dirty="0">
                <a:ea typeface="宋体" panose="02010600030101010101" pitchFamily="2" charset="-122"/>
              </a:rPr>
              <a:t>Modification;</a:t>
            </a:r>
            <a:endParaRPr lang="en-US" altLang="zh-CN" sz="32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3200" dirty="0">
                <a:ea typeface="宋体" panose="02010600030101010101" pitchFamily="2" charset="-122"/>
              </a:rPr>
              <a:t>Fabrication;</a:t>
            </a:r>
            <a:endParaRPr lang="en-US" altLang="zh-CN" sz="3200"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0243" name="Rectangle 3"/>
          <p:cNvSpPr>
            <a:spLocks noGrp="1"/>
          </p:cNvSpPr>
          <p:nvPr>
            <p:ph idx="1"/>
          </p:nvPr>
        </p:nvSpPr>
        <p:spPr>
          <a:xfrm>
            <a:off x="155575" y="990600"/>
            <a:ext cx="8832850" cy="1865313"/>
          </a:xfrm>
        </p:spPr>
        <p:txBody>
          <a:bodyPr vert="horz" wrap="square" lIns="91440" tIns="45720" rIns="91440" bIns="45720" anchor="t" anchorCtr="0"/>
          <a:lstStyle/>
          <a:p>
            <a:pPr algn="l" eaLnBrk="1" hangingPunct="1">
              <a:lnSpc>
                <a:spcPct val="150000"/>
              </a:lnSpc>
              <a:buNone/>
            </a:pPr>
            <a:r>
              <a:rPr lang="en-US" altLang="zh-CN" b="1" dirty="0">
                <a:solidFill>
                  <a:srgbClr val="FF3300"/>
                </a:solidFill>
                <a:ea typeface="宋体" panose="02010600030101010101" pitchFamily="2" charset="-122"/>
              </a:rPr>
              <a:t>Security Policy:</a:t>
            </a:r>
            <a:endParaRPr lang="en-US" altLang="zh-CN" b="1" dirty="0">
              <a:solidFill>
                <a:srgbClr val="FF3300"/>
              </a:solidFill>
              <a:ea typeface="宋体" panose="02010600030101010101" pitchFamily="2" charset="-122"/>
            </a:endParaRPr>
          </a:p>
          <a:p>
            <a:pPr algn="l" eaLnBrk="1" hangingPunct="1">
              <a:lnSpc>
                <a:spcPct val="150000"/>
              </a:lnSpc>
              <a:buNone/>
            </a:pPr>
            <a:r>
              <a:rPr lang="zh-CN" altLang="en-US" dirty="0">
                <a:ea typeface="宋体" panose="02010600030101010101" pitchFamily="2" charset="-122"/>
              </a:rPr>
              <a:t>　   </a:t>
            </a:r>
            <a:r>
              <a:rPr lang="zh-CN" altLang="en-US" b="1" dirty="0">
                <a:ea typeface="宋体" panose="02010600030101010101" pitchFamily="2" charset="-122"/>
              </a:rPr>
              <a:t>对系统中的实体</a:t>
            </a:r>
            <a:r>
              <a:rPr lang="zh-CN" altLang="en-US" b="1" dirty="0">
                <a:solidFill>
                  <a:srgbClr val="FF0000"/>
                </a:solidFill>
                <a:ea typeface="宋体" panose="02010600030101010101" pitchFamily="2" charset="-122"/>
              </a:rPr>
              <a:t>允许</a:t>
            </a:r>
            <a:r>
              <a:rPr lang="zh-CN" altLang="en-US" b="1" dirty="0">
                <a:ea typeface="宋体" panose="02010600030101010101" pitchFamily="2" charset="-122"/>
              </a:rPr>
              <a:t>或</a:t>
            </a:r>
            <a:r>
              <a:rPr lang="zh-CN" altLang="en-US" b="1" dirty="0">
                <a:solidFill>
                  <a:srgbClr val="FF0000"/>
                </a:solidFill>
                <a:ea typeface="宋体" panose="02010600030101010101" pitchFamily="2" charset="-122"/>
              </a:rPr>
              <a:t>禁止采取</a:t>
            </a:r>
            <a:r>
              <a:rPr lang="zh-CN" altLang="en-US" b="1" dirty="0">
                <a:ea typeface="宋体" panose="02010600030101010101" pitchFamily="2" charset="-122"/>
              </a:rPr>
              <a:t>的行为给予的明确</a:t>
            </a:r>
            <a:r>
              <a:rPr lang="zh-CN" altLang="en-US" b="1" dirty="0">
                <a:solidFill>
                  <a:srgbClr val="FF0000"/>
                </a:solidFill>
                <a:ea typeface="宋体" panose="02010600030101010101" pitchFamily="2" charset="-122"/>
              </a:rPr>
              <a:t>声明</a:t>
            </a:r>
            <a:r>
              <a:rPr lang="zh-CN" altLang="en-US" b="1" dirty="0">
                <a:ea typeface="宋体" panose="02010600030101010101" pitchFamily="2" charset="-122"/>
              </a:rPr>
              <a:t>或</a:t>
            </a:r>
            <a:r>
              <a:rPr lang="zh-CN" altLang="en-US" b="1" dirty="0">
                <a:solidFill>
                  <a:srgbClr val="FF0000"/>
                </a:solidFill>
                <a:ea typeface="宋体" panose="02010600030101010101" pitchFamily="2" charset="-122"/>
              </a:rPr>
              <a:t>规定</a:t>
            </a:r>
            <a:r>
              <a:rPr lang="en-US" altLang="zh-CN" b="1" dirty="0">
                <a:solidFill>
                  <a:srgbClr val="FF0000"/>
                </a:solidFill>
                <a:ea typeface="宋体" panose="02010600030101010101" pitchFamily="2" charset="-122"/>
              </a:rPr>
              <a:t>.</a:t>
            </a:r>
            <a:r>
              <a:rPr lang="zh-CN" altLang="en-US" b="1" dirty="0">
                <a:ea typeface="宋体" panose="02010600030101010101" pitchFamily="2" charset="-122"/>
              </a:rPr>
              <a:t>（实体包括：用户、数据和机器等）。</a:t>
            </a:r>
            <a:endParaRPr lang="zh-CN" altLang="en-US" b="1" dirty="0">
              <a:ea typeface="宋体" panose="02010600030101010101" pitchFamily="2" charset="-122"/>
            </a:endParaRPr>
          </a:p>
        </p:txBody>
      </p:sp>
      <p:sp>
        <p:nvSpPr>
          <p:cNvPr id="10244" name="Rectangle 2"/>
          <p:cNvSpPr>
            <a:spLocks noGrp="1"/>
          </p:cNvSpPr>
          <p:nvPr>
            <p:ph type="title"/>
          </p:nvPr>
        </p:nvSpPr>
        <p:spPr>
          <a:xfrm>
            <a:off x="0" y="0"/>
            <a:ext cx="9144000" cy="823913"/>
          </a:xfrm>
        </p:spPr>
        <p:txBody>
          <a:bodyPr vert="horz" wrap="square" lIns="91440" tIns="45720" rIns="91440" bIns="45720" anchor="ctr" anchorCtr="0"/>
          <a:lstStyle/>
          <a:p>
            <a:pPr eaLnBrk="1" hangingPunct="1"/>
            <a:r>
              <a:rPr lang="en-US" altLang="zh-CN" sz="3600" dirty="0">
                <a:ea typeface="宋体" panose="02010600030101010101" pitchFamily="2" charset="-122"/>
              </a:rPr>
              <a:t>Security Threats, Policies, and Mechanisms</a:t>
            </a:r>
            <a:endParaRPr lang="en-US" altLang="zh-CN" sz="3600" dirty="0">
              <a:ea typeface="宋体" panose="02010600030101010101" pitchFamily="2" charset="-122"/>
            </a:endParaRPr>
          </a:p>
        </p:txBody>
      </p:sp>
      <p:sp>
        <p:nvSpPr>
          <p:cNvPr id="7" name="Rectangle 3"/>
          <p:cNvSpPr txBox="1">
            <a:spLocks noChangeArrowheads="1"/>
          </p:cNvSpPr>
          <p:nvPr/>
        </p:nvSpPr>
        <p:spPr bwMode="auto">
          <a:xfrm>
            <a:off x="155575" y="3043238"/>
            <a:ext cx="507047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gn="ctr" rtl="0" eaLnBrk="0" fontAlgn="base" hangingPunct="0">
              <a:spcBef>
                <a:spcPct val="20000"/>
              </a:spcBef>
              <a:spcAft>
                <a:spcPct val="0"/>
              </a:spcAft>
              <a:buClr>
                <a:schemeClr val="accent2"/>
              </a:buClr>
              <a:buChar cha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vl6pPr marL="26670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6pPr>
            <a:lvl7pPr marL="31242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7pPr>
            <a:lvl8pPr marL="35814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8pPr>
            <a:lvl9pPr marL="40386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2400" b="1" i="0" u="none" strike="noStrike" kern="0" cap="none" spc="0" normalizeH="0" baseline="0" noProof="0" dirty="0">
                <a:ln>
                  <a:noFill/>
                </a:ln>
                <a:solidFill>
                  <a:srgbClr val="FF3300"/>
                </a:solidFill>
                <a:effectLst/>
                <a:uLnTx/>
                <a:uFillTx/>
                <a:latin typeface="+mn-lt"/>
                <a:ea typeface="宋体" panose="02010600030101010101" pitchFamily="2" charset="-122"/>
                <a:cs typeface="+mn-cs"/>
              </a:rPr>
              <a:t>Security Mechanism:</a:t>
            </a:r>
            <a:endParaRPr kumimoji="0" lang="en-US" altLang="zh-CN" sz="2400" b="1" i="0" u="none" strike="noStrike" kern="0" cap="none" spc="0" normalizeH="0" baseline="0" noProof="0" dirty="0">
              <a:ln>
                <a:noFill/>
              </a:ln>
              <a:solidFill>
                <a:srgbClr val="FF3300"/>
              </a:solidFill>
              <a:effectLst/>
              <a:uLnTx/>
              <a:uFillTx/>
              <a:latin typeface="+mn-lt"/>
              <a:ea typeface="宋体" panose="02010600030101010101" pitchFamily="2" charset="-122"/>
              <a:cs typeface="+mn-cs"/>
            </a:endParaRPr>
          </a:p>
          <a:p>
            <a:pPr marL="990600" marR="0" lvl="1" indent="-533400" algn="l" defTabSz="914400" rtl="0" eaLnBrk="1" fontAlgn="base" latinLnBrk="0" hangingPunct="1">
              <a:lnSpc>
                <a:spcPct val="150000"/>
              </a:lnSpc>
              <a:spcBef>
                <a:spcPct val="20000"/>
              </a:spcBef>
              <a:spcAft>
                <a:spcPct val="0"/>
              </a:spcAft>
              <a:buClr>
                <a:schemeClr val="accent2"/>
              </a:buClr>
              <a:buSzTx/>
              <a:buFontTx/>
              <a:buChar char="–"/>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Encryption</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（加密）</a:t>
            </a: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90600" marR="0" lvl="1" indent="-533400" algn="l" defTabSz="914400" rtl="0" eaLnBrk="1" fontAlgn="base" latinLnBrk="0" hangingPunct="1">
              <a:lnSpc>
                <a:spcPct val="150000"/>
              </a:lnSpc>
              <a:spcBef>
                <a:spcPct val="20000"/>
              </a:spcBef>
              <a:spcAft>
                <a:spcPct val="0"/>
              </a:spcAft>
              <a:buClr>
                <a:schemeClr val="accent2"/>
              </a:buClr>
              <a:buSzTx/>
              <a:buFontTx/>
              <a:buChar char="–"/>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Authentication</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（认证）</a:t>
            </a: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90600" marR="0" lvl="1" indent="-533400" algn="l" defTabSz="914400" rtl="0" eaLnBrk="1" fontAlgn="base" latinLnBrk="0" hangingPunct="1">
              <a:lnSpc>
                <a:spcPct val="150000"/>
              </a:lnSpc>
              <a:spcBef>
                <a:spcPct val="20000"/>
              </a:spcBef>
              <a:spcAft>
                <a:spcPct val="0"/>
              </a:spcAft>
              <a:buClr>
                <a:schemeClr val="accent2"/>
              </a:buClr>
              <a:buSzTx/>
              <a:buFontTx/>
              <a:buChar char="–"/>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Delegate right  ( </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授权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90600" marR="0" lvl="1" indent="-533400" algn="l" defTabSz="914400" rtl="0" eaLnBrk="1" fontAlgn="base" latinLnBrk="0" hangingPunct="1">
              <a:lnSpc>
                <a:spcPct val="150000"/>
              </a:lnSpc>
              <a:spcBef>
                <a:spcPct val="20000"/>
              </a:spcBef>
              <a:spcAft>
                <a:spcPct val="0"/>
              </a:spcAft>
              <a:buClr>
                <a:schemeClr val="accent2"/>
              </a:buClr>
              <a:buSzTx/>
              <a:buFontTx/>
              <a:buChar char="–"/>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Auditing</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（审计）</a:t>
            </a: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2291" name="Rectangle 2"/>
          <p:cNvSpPr>
            <a:spLocks noGrp="1"/>
          </p:cNvSpPr>
          <p:nvPr>
            <p:ph type="title"/>
          </p:nvPr>
        </p:nvSpPr>
        <p:spPr>
          <a:xfrm>
            <a:off x="0" y="0"/>
            <a:ext cx="9144000" cy="790575"/>
          </a:xfrm>
        </p:spPr>
        <p:txBody>
          <a:bodyPr vert="horz" wrap="square" lIns="91440" tIns="45720" rIns="91440" bIns="45720" anchor="ctr" anchorCtr="0"/>
          <a:lstStyle/>
          <a:p>
            <a:pPr eaLnBrk="1" hangingPunct="1"/>
            <a:r>
              <a:rPr lang="en-US" altLang="zh-CN" sz="3600" dirty="0">
                <a:ea typeface="宋体" panose="02010600030101010101" pitchFamily="2" charset="-122"/>
              </a:rPr>
              <a:t>Example: The Globus Security Architecture</a:t>
            </a:r>
            <a:endParaRPr lang="en-US" altLang="zh-CN" sz="3600" dirty="0">
              <a:ea typeface="宋体" panose="02010600030101010101" pitchFamily="2" charset="-122"/>
            </a:endParaRPr>
          </a:p>
        </p:txBody>
      </p:sp>
      <p:sp>
        <p:nvSpPr>
          <p:cNvPr id="12292" name="Rectangle 3"/>
          <p:cNvSpPr>
            <a:spLocks noGrp="1"/>
          </p:cNvSpPr>
          <p:nvPr>
            <p:ph idx="1"/>
          </p:nvPr>
        </p:nvSpPr>
        <p:spPr>
          <a:xfrm>
            <a:off x="0" y="939800"/>
            <a:ext cx="9144000" cy="5356225"/>
          </a:xfrm>
        </p:spPr>
        <p:txBody>
          <a:bodyPr vert="horz" wrap="square" lIns="91440" tIns="45720" rIns="91440" bIns="45720" anchor="t" anchorCtr="0"/>
          <a:lstStyle/>
          <a:p>
            <a:pPr algn="l" eaLnBrk="1" hangingPunct="1">
              <a:lnSpc>
                <a:spcPct val="130000"/>
              </a:lnSpc>
              <a:buNone/>
            </a:pPr>
            <a:r>
              <a:rPr lang="en-US" altLang="zh-CN" sz="2000" b="1" dirty="0">
                <a:latin typeface="Times New Roman" panose="02020603050405020304" pitchFamily="18" charset="0"/>
                <a:ea typeface="宋体" panose="02010600030101010101" pitchFamily="2" charset="-122"/>
              </a:rPr>
              <a:t>Globus</a:t>
            </a:r>
            <a:r>
              <a:rPr lang="zh-CN" altLang="en-US" sz="2000" b="1" dirty="0">
                <a:latin typeface="Times New Roman" panose="02020603050405020304" pitchFamily="18" charset="0"/>
                <a:ea typeface="宋体" panose="02010600030101010101" pitchFamily="2" charset="-122"/>
              </a:rPr>
              <a:t>是一个支持大规模分布式计算系统．安全策略如下（</a:t>
            </a:r>
            <a:r>
              <a:rPr lang="en-US" altLang="zh-CN" sz="2000" b="1" dirty="0">
                <a:solidFill>
                  <a:srgbClr val="FF3300"/>
                </a:solidFill>
                <a:ea typeface="宋体" panose="02010600030101010101" pitchFamily="2" charset="-122"/>
              </a:rPr>
              <a:t> Security Policy </a:t>
            </a:r>
            <a:r>
              <a:rPr lang="zh-CN" altLang="en-US" sz="2000" b="1" dirty="0">
                <a:latin typeface="Times New Roman" panose="02020603050405020304" pitchFamily="18" charset="0"/>
                <a:ea typeface="宋体" panose="02010600030101010101" pitchFamily="2" charset="-122"/>
              </a:rPr>
              <a:t>）：</a:t>
            </a:r>
            <a:endParaRPr lang="zh-CN" altLang="en-US" sz="2000" b="1" dirty="0">
              <a:latin typeface="Times New Roman" panose="02020603050405020304" pitchFamily="18" charset="0"/>
              <a:ea typeface="宋体" panose="02010600030101010101" pitchFamily="2" charset="-122"/>
            </a:endParaRPr>
          </a:p>
          <a:p>
            <a:pPr algn="l" eaLnBrk="1" hangingPunct="1">
              <a:lnSpc>
                <a:spcPct val="130000"/>
              </a:lnSpc>
              <a:buFontTx/>
              <a:buAutoNum type="circleNumDbPlain"/>
            </a:pPr>
            <a:r>
              <a:rPr lang="en-US" altLang="zh-CN" sz="2000" b="1" dirty="0">
                <a:latin typeface="Times New Roman" panose="02020603050405020304" pitchFamily="18" charset="0"/>
                <a:ea typeface="宋体" panose="02010600030101010101" pitchFamily="2" charset="-122"/>
              </a:rPr>
              <a:t>The environment consists of multiple administrative domains.</a:t>
            </a:r>
            <a:r>
              <a:rPr lang="zh-CN" altLang="en-US" sz="2000" b="1" dirty="0">
                <a:latin typeface="Times New Roman" panose="02020603050405020304" pitchFamily="18" charset="0"/>
                <a:ea typeface="宋体" panose="02010600030101010101" pitchFamily="2" charset="-122"/>
              </a:rPr>
              <a:t>（每个域有自己的局部安全策略）</a:t>
            </a:r>
            <a:endParaRPr lang="zh-CN" altLang="en-US" sz="2000" b="1" dirty="0">
              <a:latin typeface="Times New Roman" panose="02020603050405020304" pitchFamily="18" charset="0"/>
              <a:ea typeface="宋体" panose="02010600030101010101" pitchFamily="2" charset="-122"/>
            </a:endParaRPr>
          </a:p>
          <a:p>
            <a:pPr algn="l" eaLnBrk="1" hangingPunct="1">
              <a:lnSpc>
                <a:spcPct val="130000"/>
              </a:lnSpc>
              <a:buFontTx/>
              <a:buAutoNum type="circleNumDbPlain"/>
            </a:pPr>
            <a:r>
              <a:rPr lang="en-US" altLang="zh-CN" sz="2000" b="1" dirty="0">
                <a:latin typeface="Times New Roman" panose="02020603050405020304" pitchFamily="18" charset="0"/>
                <a:ea typeface="宋体" panose="02010600030101010101" pitchFamily="2" charset="-122"/>
              </a:rPr>
              <a:t>Local operations are subject to a local domain security policy only.</a:t>
            </a:r>
            <a:endParaRPr lang="en-US" altLang="zh-CN" sz="2000" b="1" dirty="0">
              <a:latin typeface="Times New Roman" panose="02020603050405020304" pitchFamily="18" charset="0"/>
              <a:ea typeface="宋体" panose="02010600030101010101" pitchFamily="2" charset="-122"/>
            </a:endParaRPr>
          </a:p>
          <a:p>
            <a:pPr algn="l" eaLnBrk="1" hangingPunct="1">
              <a:lnSpc>
                <a:spcPct val="130000"/>
              </a:lnSpc>
              <a:buFontTx/>
              <a:buAutoNum type="circleNumDbPlain"/>
            </a:pPr>
            <a:r>
              <a:rPr lang="en-US" altLang="zh-CN" sz="2000" b="1" dirty="0">
                <a:latin typeface="Times New Roman" panose="02020603050405020304" pitchFamily="18" charset="0"/>
                <a:ea typeface="宋体" panose="02010600030101010101" pitchFamily="2" charset="-122"/>
              </a:rPr>
              <a:t>Global operations require the initiator to be known in each domain where the operation is carried out.</a:t>
            </a:r>
            <a:endParaRPr lang="en-US" altLang="zh-CN" sz="2000" b="1" dirty="0">
              <a:latin typeface="Times New Roman" panose="02020603050405020304" pitchFamily="18" charset="0"/>
              <a:ea typeface="宋体" panose="02010600030101010101" pitchFamily="2" charset="-122"/>
            </a:endParaRPr>
          </a:p>
          <a:p>
            <a:pPr algn="l" eaLnBrk="1" hangingPunct="1">
              <a:lnSpc>
                <a:spcPct val="120000"/>
              </a:lnSpc>
              <a:buFontTx/>
              <a:buAutoNum type="circleNumDbPlain"/>
            </a:pPr>
            <a:r>
              <a:rPr lang="en-US" altLang="zh-CN" sz="2000" b="1" dirty="0">
                <a:latin typeface="Times New Roman" panose="02020603050405020304" pitchFamily="18" charset="0"/>
                <a:ea typeface="宋体" panose="02010600030101010101" pitchFamily="2" charset="-122"/>
              </a:rPr>
              <a:t>Operations between entities in different domains require mutual authentication.</a:t>
            </a:r>
            <a:endParaRPr lang="en-US" altLang="zh-CN" sz="2000" b="1" dirty="0">
              <a:latin typeface="Times New Roman" panose="02020603050405020304" pitchFamily="18" charset="0"/>
              <a:ea typeface="宋体" panose="02010600030101010101" pitchFamily="2" charset="-122"/>
            </a:endParaRPr>
          </a:p>
          <a:p>
            <a:pPr algn="l" eaLnBrk="1" hangingPunct="1">
              <a:lnSpc>
                <a:spcPct val="120000"/>
              </a:lnSpc>
              <a:buFontTx/>
              <a:buAutoNum type="circleNumDbPlain"/>
            </a:pPr>
            <a:r>
              <a:rPr lang="en-US" altLang="zh-CN" sz="2000" b="1" dirty="0">
                <a:latin typeface="Times New Roman" panose="02020603050405020304" pitchFamily="18" charset="0"/>
                <a:ea typeface="宋体" panose="02010600030101010101" pitchFamily="2" charset="-122"/>
              </a:rPr>
              <a:t>Global authentication replaces local authentication.</a:t>
            </a:r>
            <a:endParaRPr lang="en-US" altLang="zh-CN" sz="2000" b="1" dirty="0">
              <a:latin typeface="Times New Roman" panose="02020603050405020304" pitchFamily="18" charset="0"/>
              <a:ea typeface="宋体" panose="02010600030101010101" pitchFamily="2" charset="-122"/>
            </a:endParaRPr>
          </a:p>
          <a:p>
            <a:pPr algn="l" eaLnBrk="1" hangingPunct="1">
              <a:lnSpc>
                <a:spcPct val="120000"/>
              </a:lnSpc>
              <a:buFontTx/>
              <a:buAutoNum type="circleNumDbPlain"/>
            </a:pPr>
            <a:r>
              <a:rPr lang="en-US" altLang="zh-CN" sz="2000" b="1" dirty="0">
                <a:latin typeface="Times New Roman" panose="02020603050405020304" pitchFamily="18" charset="0"/>
                <a:ea typeface="宋体" panose="02010600030101010101" pitchFamily="2" charset="-122"/>
              </a:rPr>
              <a:t>Controlling access to resources is subject to local security only.</a:t>
            </a:r>
            <a:endParaRPr lang="en-US" altLang="zh-CN" sz="2000" b="1" dirty="0">
              <a:latin typeface="Times New Roman" panose="02020603050405020304" pitchFamily="18" charset="0"/>
              <a:ea typeface="宋体" panose="02010600030101010101" pitchFamily="2" charset="-122"/>
            </a:endParaRPr>
          </a:p>
          <a:p>
            <a:pPr algn="l" eaLnBrk="1" hangingPunct="1">
              <a:lnSpc>
                <a:spcPct val="120000"/>
              </a:lnSpc>
              <a:buFontTx/>
              <a:buAutoNum type="circleNumDbPlain"/>
            </a:pPr>
            <a:r>
              <a:rPr lang="en-US" altLang="zh-CN" sz="2000" b="1" dirty="0">
                <a:latin typeface="Times New Roman" panose="02020603050405020304" pitchFamily="18" charset="0"/>
                <a:ea typeface="宋体" panose="02010600030101010101" pitchFamily="2" charset="-122"/>
              </a:rPr>
              <a:t>Users can delegate rights to processes.</a:t>
            </a:r>
            <a:endParaRPr lang="en-US" altLang="zh-CN" sz="2000" b="1" dirty="0">
              <a:latin typeface="Times New Roman" panose="02020603050405020304" pitchFamily="18" charset="0"/>
              <a:ea typeface="宋体" panose="02010600030101010101" pitchFamily="2" charset="-122"/>
            </a:endParaRPr>
          </a:p>
          <a:p>
            <a:pPr algn="l" eaLnBrk="1" hangingPunct="1">
              <a:lnSpc>
                <a:spcPct val="120000"/>
              </a:lnSpc>
              <a:buFontTx/>
              <a:buAutoNum type="circleNumDbPlain"/>
            </a:pPr>
            <a:r>
              <a:rPr lang="en-US" altLang="zh-CN" sz="2000" b="1" dirty="0">
                <a:latin typeface="Times New Roman" panose="02020603050405020304" pitchFamily="18" charset="0"/>
                <a:ea typeface="宋体" panose="02010600030101010101" pitchFamily="2" charset="-122"/>
              </a:rPr>
              <a:t>A group of processes in the same domain can share credentials(</a:t>
            </a:r>
            <a:r>
              <a:rPr lang="zh-CN" altLang="en-US" sz="2000" b="1" dirty="0">
                <a:latin typeface="Times New Roman" panose="02020603050405020304" pitchFamily="18" charset="0"/>
                <a:ea typeface="宋体" panose="02010600030101010101" pitchFamily="2" charset="-122"/>
              </a:rPr>
              <a:t>共享凭证</a:t>
            </a:r>
            <a:r>
              <a:rPr lang="en-US" altLang="zh-CN" sz="2000" b="1" dirty="0">
                <a:latin typeface="Times New Roman" panose="02020603050405020304" pitchFamily="18" charset="0"/>
                <a:ea typeface="宋体" panose="02010600030101010101" pitchFamily="2" charset="-122"/>
              </a:rPr>
              <a:t>).</a:t>
            </a:r>
            <a:endParaRPr lang="en-US" altLang="zh-CN" sz="2000" b="1" dirty="0">
              <a:latin typeface="Times New Roman" panose="02020603050405020304" pitchFamily="18" charset="0"/>
              <a:ea typeface="宋体" panose="02010600030101010101" pitchFamily="2" charset="-122"/>
            </a:endParaRPr>
          </a:p>
          <a:p>
            <a:pPr algn="l" eaLnBrk="1" hangingPunct="1">
              <a:lnSpc>
                <a:spcPct val="130000"/>
              </a:lnSpc>
              <a:buFontTx/>
              <a:buAutoNum type="circleNumDbPlain"/>
            </a:pP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4339" name="Rectangle 3"/>
          <p:cNvSpPr>
            <a:spLocks noGrp="1"/>
          </p:cNvSpPr>
          <p:nvPr>
            <p:ph idx="1"/>
          </p:nvPr>
        </p:nvSpPr>
        <p:spPr>
          <a:xfrm>
            <a:off x="82550" y="1098550"/>
            <a:ext cx="8978900" cy="5059363"/>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000" b="1" dirty="0">
                <a:latin typeface="宋体" panose="02010600030101010101" pitchFamily="2" charset="-122"/>
                <a:ea typeface="宋体" panose="02010600030101010101" pitchFamily="2" charset="-122"/>
              </a:rPr>
              <a:t>Globus</a:t>
            </a:r>
            <a:r>
              <a:rPr lang="zh-CN" altLang="en-US" sz="2000" b="1" dirty="0">
                <a:latin typeface="宋体" panose="02010600030101010101" pitchFamily="2" charset="-122"/>
                <a:ea typeface="宋体" panose="02010600030101010101" pitchFamily="2" charset="-122"/>
              </a:rPr>
              <a:t>安全策略考虑了多个网域的安全威胁，便于设计者开发一个全面的安全解决方案。</a:t>
            </a:r>
            <a:endParaRPr lang="en-US" altLang="zh-CN" sz="2000"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sz="2000" b="1" dirty="0">
                <a:latin typeface="宋体" panose="02010600030101010101" pitchFamily="2" charset="-122"/>
                <a:ea typeface="宋体" panose="02010600030101010101" pitchFamily="2" charset="-122"/>
              </a:rPr>
              <a:t>假设</a:t>
            </a:r>
            <a:r>
              <a:rPr lang="zh-CN" altLang="en-US" sz="2000" b="1" dirty="0">
                <a:solidFill>
                  <a:srgbClr val="FF0000"/>
                </a:solidFill>
                <a:latin typeface="宋体" panose="02010600030101010101" pitchFamily="2" charset="-122"/>
                <a:ea typeface="宋体" panose="02010600030101010101" pitchFamily="2" charset="-122"/>
              </a:rPr>
              <a:t>每个域执行各自的安全策略</a:t>
            </a:r>
            <a:r>
              <a:rPr lang="zh-CN" altLang="en-US" sz="2000" b="1" dirty="0">
                <a:latin typeface="宋体" panose="02010600030101010101" pitchFamily="2" charset="-122"/>
                <a:ea typeface="宋体" panose="02010600030101010101" pitchFamily="2" charset="-122"/>
              </a:rPr>
              <a:t>，其设计问题还包括：</a:t>
            </a:r>
            <a:endParaRPr lang="zh-CN" altLang="en-US" sz="2000" b="1" dirty="0">
              <a:latin typeface="宋体" panose="02010600030101010101" pitchFamily="2" charset="-122"/>
              <a:ea typeface="宋体" panose="02010600030101010101" pitchFamily="2" charset="-122"/>
            </a:endParaRPr>
          </a:p>
          <a:p>
            <a:pPr lvl="2" eaLnBrk="1" hangingPunct="1">
              <a:lnSpc>
                <a:spcPct val="150000"/>
              </a:lnSpc>
              <a:buFontTx/>
              <a:buAutoNum type="circleNumDbPlain"/>
            </a:pPr>
            <a:r>
              <a:rPr lang="zh-CN" altLang="en-US" sz="2000" b="1" dirty="0">
                <a:solidFill>
                  <a:srgbClr val="FF0000"/>
                </a:solidFill>
                <a:latin typeface="宋体" panose="02010600030101010101" pitchFamily="2" charset="-122"/>
                <a:ea typeface="宋体" panose="02010600030101010101" pitchFamily="2" charset="-122"/>
              </a:rPr>
              <a:t>远程网域</a:t>
            </a:r>
            <a:r>
              <a:rPr lang="zh-CN" altLang="en-US" sz="2000" b="1" dirty="0">
                <a:latin typeface="宋体" panose="02010600030101010101" pitchFamily="2" charset="-122"/>
                <a:ea typeface="宋体" panose="02010600030101010101" pitchFamily="2" charset="-122"/>
              </a:rPr>
              <a:t>内用户的表示方法；</a:t>
            </a:r>
            <a:endParaRPr lang="zh-CN" altLang="en-US" sz="2000" b="1" dirty="0">
              <a:latin typeface="宋体" panose="02010600030101010101" pitchFamily="2" charset="-122"/>
              <a:ea typeface="宋体" panose="02010600030101010101" pitchFamily="2" charset="-122"/>
            </a:endParaRPr>
          </a:p>
          <a:p>
            <a:pPr lvl="2" eaLnBrk="1" hangingPunct="1">
              <a:lnSpc>
                <a:spcPct val="150000"/>
              </a:lnSpc>
              <a:buFontTx/>
              <a:buAutoNum type="circleNumDbPlain"/>
            </a:pPr>
            <a:r>
              <a:rPr lang="zh-CN" altLang="en-US" sz="2000" b="1" dirty="0">
                <a:latin typeface="宋体" panose="02010600030101010101" pitchFamily="2" charset="-122"/>
                <a:ea typeface="宋体" panose="02010600030101010101" pitchFamily="2" charset="-122"/>
              </a:rPr>
              <a:t>向用户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代表分配一个</a:t>
            </a:r>
            <a:r>
              <a:rPr lang="zh-CN" altLang="en-US" sz="2000" b="1" dirty="0">
                <a:solidFill>
                  <a:srgbClr val="FF0000"/>
                </a:solidFill>
                <a:latin typeface="宋体" panose="02010600030101010101" pitchFamily="2" charset="-122"/>
                <a:ea typeface="宋体" panose="02010600030101010101" pitchFamily="2" charset="-122"/>
              </a:rPr>
              <a:t>远程网域</a:t>
            </a:r>
            <a:r>
              <a:rPr lang="zh-CN" altLang="en-US" sz="2000" b="1" dirty="0">
                <a:latin typeface="宋体" panose="02010600030101010101" pitchFamily="2" charset="-122"/>
                <a:ea typeface="宋体" panose="02010600030101010101" pitchFamily="2" charset="-122"/>
              </a:rPr>
              <a:t>中的资源；</a:t>
            </a:r>
            <a:endParaRPr lang="en-US" altLang="zh-CN" sz="2000" b="1" dirty="0">
              <a:latin typeface="宋体" panose="02010600030101010101" pitchFamily="2" charset="-122"/>
              <a:ea typeface="宋体" panose="02010600030101010101" pitchFamily="2" charset="-122"/>
            </a:endParaRPr>
          </a:p>
          <a:p>
            <a:pPr algn="l" eaLnBrk="1" hangingPunct="1">
              <a:lnSpc>
                <a:spcPct val="150000"/>
              </a:lnSpc>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引入两种代理：</a:t>
            </a:r>
            <a:endParaRPr lang="zh-CN" altLang="en-US" sz="2000" b="1" dirty="0">
              <a:latin typeface="宋体" panose="02010600030101010101" pitchFamily="2" charset="-122"/>
              <a:ea typeface="宋体" panose="02010600030101010101" pitchFamily="2" charset="-122"/>
            </a:endParaRPr>
          </a:p>
          <a:p>
            <a:pPr lvl="2" eaLnBrk="1" hangingPunct="1">
              <a:lnSpc>
                <a:spcPct val="150000"/>
              </a:lnSpc>
              <a:buFontTx/>
              <a:buAutoNum type="circleNumDbPlain"/>
            </a:pPr>
            <a:r>
              <a:rPr lang="en-US" altLang="zh-CN" sz="2000" b="1" dirty="0">
                <a:solidFill>
                  <a:srgbClr val="FF0000"/>
                </a:solidFill>
                <a:latin typeface="宋体" panose="02010600030101010101" pitchFamily="2" charset="-122"/>
                <a:ea typeface="宋体" panose="02010600030101010101" pitchFamily="2" charset="-122"/>
              </a:rPr>
              <a:t>User Proxy</a:t>
            </a:r>
            <a:r>
              <a:rPr lang="zh-CN" altLang="en-US" sz="2000" b="1" dirty="0">
                <a:latin typeface="宋体" panose="02010600030101010101" pitchFamily="2" charset="-122"/>
                <a:ea typeface="宋体" panose="02010600030101010101" pitchFamily="2" charset="-122"/>
              </a:rPr>
              <a:t>：在有限时间内代表用户进行操作；</a:t>
            </a:r>
            <a:endParaRPr lang="zh-CN" altLang="en-US" sz="2000" b="1" dirty="0">
              <a:latin typeface="宋体" panose="02010600030101010101" pitchFamily="2" charset="-122"/>
              <a:ea typeface="宋体" panose="02010600030101010101" pitchFamily="2" charset="-122"/>
            </a:endParaRPr>
          </a:p>
          <a:p>
            <a:pPr lvl="2" eaLnBrk="1" hangingPunct="1">
              <a:lnSpc>
                <a:spcPct val="150000"/>
              </a:lnSpc>
              <a:buFontTx/>
              <a:buAutoNum type="circleNumDbPlain"/>
            </a:pPr>
            <a:r>
              <a:rPr lang="en-US" altLang="zh-CN" sz="2000" b="1" dirty="0">
                <a:solidFill>
                  <a:srgbClr val="FF0000"/>
                </a:solidFill>
                <a:latin typeface="宋体" panose="02010600030101010101" pitchFamily="2" charset="-122"/>
                <a:ea typeface="宋体" panose="02010600030101010101" pitchFamily="2" charset="-122"/>
              </a:rPr>
              <a:t>Resource Proxy</a:t>
            </a:r>
            <a:r>
              <a:rPr lang="zh-CN" altLang="en-US" sz="2000" b="1" dirty="0">
                <a:latin typeface="宋体" panose="02010600030101010101" pitchFamily="2" charset="-122"/>
                <a:ea typeface="宋体" panose="02010600030101010101" pitchFamily="2" charset="-122"/>
              </a:rPr>
              <a:t>：将一个资源上的</a:t>
            </a:r>
            <a:r>
              <a:rPr lang="zh-CN" altLang="en-US" sz="2000" b="1" dirty="0">
                <a:solidFill>
                  <a:srgbClr val="FF0000"/>
                </a:solidFill>
                <a:latin typeface="宋体" panose="02010600030101010101" pitchFamily="2" charset="-122"/>
                <a:ea typeface="宋体" panose="02010600030101010101" pitchFamily="2" charset="-122"/>
              </a:rPr>
              <a:t>全局操作</a:t>
            </a:r>
            <a:r>
              <a:rPr lang="zh-CN" altLang="en-US" sz="2000" b="1" dirty="0">
                <a:latin typeface="宋体" panose="02010600030101010101" pitchFamily="2" charset="-122"/>
                <a:ea typeface="宋体" panose="02010600030101010101" pitchFamily="2" charset="-122"/>
              </a:rPr>
              <a:t>转换为遵循特定网域安全策略的</a:t>
            </a:r>
            <a:r>
              <a:rPr lang="zh-CN" altLang="en-US" sz="2000" b="1" dirty="0">
                <a:solidFill>
                  <a:srgbClr val="FF0000"/>
                </a:solidFill>
                <a:latin typeface="宋体" panose="02010600030101010101" pitchFamily="2" charset="-122"/>
                <a:ea typeface="宋体" panose="02010600030101010101" pitchFamily="2" charset="-122"/>
              </a:rPr>
              <a:t>局部操作</a:t>
            </a:r>
            <a:r>
              <a:rPr lang="zh-CN" altLang="en-US" sz="2000" b="1" dirty="0">
                <a:latin typeface="宋体" panose="02010600030101010101" pitchFamily="2" charset="-122"/>
                <a:ea typeface="宋体" panose="02010600030101010101" pitchFamily="2" charset="-122"/>
              </a:rPr>
              <a:t>。</a:t>
            </a:r>
            <a:endParaRPr lang="zh-CN" altLang="en-US" sz="2000" b="1" dirty="0">
              <a:latin typeface="宋体" panose="02010600030101010101" pitchFamily="2" charset="-122"/>
              <a:ea typeface="宋体" panose="02010600030101010101" pitchFamily="2" charset="-122"/>
            </a:endParaRPr>
          </a:p>
        </p:txBody>
      </p:sp>
      <p:sp>
        <p:nvSpPr>
          <p:cNvPr id="14340" name="Rectangle 2"/>
          <p:cNvSpPr>
            <a:spLocks noGrp="1"/>
          </p:cNvSpPr>
          <p:nvPr>
            <p:ph type="title"/>
          </p:nvPr>
        </p:nvSpPr>
        <p:spPr>
          <a:xfrm>
            <a:off x="0" y="0"/>
            <a:ext cx="9144000" cy="790575"/>
          </a:xfrm>
        </p:spPr>
        <p:txBody>
          <a:bodyPr vert="horz" wrap="square" lIns="91440" tIns="45720" rIns="91440" bIns="45720" anchor="ctr" anchorCtr="0"/>
          <a:lstStyle/>
          <a:p>
            <a:pPr eaLnBrk="1" hangingPunct="1"/>
            <a:r>
              <a:rPr lang="en-US" altLang="zh-CN" sz="3600" dirty="0">
                <a:ea typeface="宋体" panose="02010600030101010101" pitchFamily="2" charset="-122"/>
              </a:rPr>
              <a:t>Example: The Globus Security Architecture</a:t>
            </a:r>
            <a:endParaRPr lang="en-US" altLang="zh-CN" sz="3600" dirty="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6387" name="Rectangle 3"/>
          <p:cNvSpPr>
            <a:spLocks noGrp="1"/>
          </p:cNvSpPr>
          <p:nvPr>
            <p:ph idx="1"/>
          </p:nvPr>
        </p:nvSpPr>
        <p:spPr>
          <a:xfrm>
            <a:off x="0" y="1177925"/>
            <a:ext cx="9144000" cy="4791075"/>
          </a:xfrm>
        </p:spPr>
        <p:txBody>
          <a:bodyPr vert="horz" wrap="square" lIns="91440" tIns="45720" rIns="91440" bIns="45720" anchor="t" anchorCtr="0"/>
          <a:lstStyle/>
          <a:p>
            <a:pPr algn="l" eaLnBrk="1" hangingPunct="1">
              <a:lnSpc>
                <a:spcPct val="200000"/>
              </a:lnSpc>
              <a:buFont typeface="Wingdings" panose="05000000000000000000" pitchFamily="2" charset="2"/>
              <a:buChar char="u"/>
            </a:pPr>
            <a:r>
              <a:rPr lang="en-US" altLang="zh-CN" b="1" dirty="0">
                <a:latin typeface="宋体" panose="02010600030101010101" pitchFamily="2" charset="-122"/>
                <a:ea typeface="宋体" panose="02010600030101010101" pitchFamily="2" charset="-122"/>
              </a:rPr>
              <a:t>Globus</a:t>
            </a:r>
            <a:r>
              <a:rPr lang="zh-CN" altLang="en-US" b="1" dirty="0">
                <a:latin typeface="宋体" panose="02010600030101010101" pitchFamily="2" charset="-122"/>
                <a:ea typeface="宋体" panose="02010600030101010101" pitchFamily="2" charset="-122"/>
              </a:rPr>
              <a:t>安全结构由</a:t>
            </a:r>
            <a:r>
              <a:rPr lang="zh-CN" altLang="en-US" b="1" dirty="0">
                <a:solidFill>
                  <a:srgbClr val="FF0000"/>
                </a:solidFill>
                <a:latin typeface="宋体" panose="02010600030101010101" pitchFamily="2" charset="-122"/>
                <a:ea typeface="宋体" panose="02010600030101010101" pitchFamily="2" charset="-122"/>
              </a:rPr>
              <a:t>用户</a:t>
            </a:r>
            <a:r>
              <a:rPr lang="zh-CN" altLang="en-US" b="1"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用户代理</a:t>
            </a:r>
            <a:r>
              <a:rPr lang="zh-CN" altLang="en-US" b="1"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资源代理</a:t>
            </a:r>
            <a:r>
              <a:rPr lang="zh-CN" altLang="en-US" b="1" dirty="0">
                <a:latin typeface="宋体" panose="02010600030101010101" pitchFamily="2" charset="-122"/>
                <a:ea typeface="宋体" panose="02010600030101010101" pitchFamily="2" charset="-122"/>
              </a:rPr>
              <a:t>和一般</a:t>
            </a:r>
            <a:r>
              <a:rPr lang="zh-CN" altLang="en-US" b="1" dirty="0">
                <a:solidFill>
                  <a:srgbClr val="FF0000"/>
                </a:solidFill>
                <a:latin typeface="宋体" panose="02010600030101010101" pitchFamily="2" charset="-122"/>
                <a:ea typeface="宋体" panose="02010600030101010101" pitchFamily="2" charset="-122"/>
              </a:rPr>
              <a:t>进程</a:t>
            </a:r>
            <a:r>
              <a:rPr lang="zh-CN" altLang="en-US" b="1" dirty="0">
                <a:latin typeface="宋体" panose="02010600030101010101" pitchFamily="2" charset="-122"/>
                <a:ea typeface="宋体" panose="02010600030101010101" pitchFamily="2" charset="-122"/>
              </a:rPr>
              <a:t>组成，定义了</a:t>
            </a:r>
            <a:r>
              <a:rPr lang="en-US" altLang="zh-CN" b="1" dirty="0">
                <a:latin typeface="宋体" panose="02010600030101010101" pitchFamily="2" charset="-122"/>
                <a:ea typeface="宋体" panose="02010600030101010101" pitchFamily="2" charset="-122"/>
              </a:rPr>
              <a:t>4</a:t>
            </a:r>
            <a:r>
              <a:rPr lang="zh-CN" altLang="en-US" b="1" dirty="0">
                <a:latin typeface="宋体" panose="02010600030101010101" pitchFamily="2" charset="-122"/>
                <a:ea typeface="宋体" panose="02010600030101010101" pitchFamily="2" charset="-122"/>
              </a:rPr>
              <a:t>个协议：</a:t>
            </a:r>
            <a:endParaRPr lang="zh-CN" altLang="en-US" b="1" dirty="0">
              <a:latin typeface="宋体" panose="02010600030101010101" pitchFamily="2" charset="-122"/>
              <a:ea typeface="宋体" panose="02010600030101010101" pitchFamily="2" charset="-122"/>
            </a:endParaRPr>
          </a:p>
          <a:p>
            <a:pPr algn="l" eaLnBrk="1" hangingPunct="1">
              <a:lnSpc>
                <a:spcPct val="200000"/>
              </a:lnSpc>
              <a:buNone/>
            </a:pP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、用户创建</a:t>
            </a:r>
            <a:r>
              <a:rPr lang="zh-CN" altLang="en-US" b="1" dirty="0">
                <a:solidFill>
                  <a:srgbClr val="FF0000"/>
                </a:solidFill>
                <a:latin typeface="宋体" panose="02010600030101010101" pitchFamily="2" charset="-122"/>
                <a:ea typeface="宋体" panose="02010600030101010101" pitchFamily="2" charset="-122"/>
              </a:rPr>
              <a:t>用户代理</a:t>
            </a:r>
            <a:r>
              <a:rPr lang="zh-CN" altLang="en-US" b="1" dirty="0">
                <a:latin typeface="宋体" panose="02010600030101010101" pitchFamily="2" charset="-122"/>
                <a:ea typeface="宋体" panose="02010600030101010101" pitchFamily="2" charset="-122"/>
              </a:rPr>
              <a:t>和向该代理</a:t>
            </a:r>
            <a:r>
              <a:rPr lang="zh-CN" altLang="en-US" b="1" dirty="0">
                <a:solidFill>
                  <a:srgbClr val="FF0000"/>
                </a:solidFill>
                <a:latin typeface="宋体" panose="02010600030101010101" pitchFamily="2" charset="-122"/>
                <a:ea typeface="宋体" panose="02010600030101010101" pitchFamily="2" charset="-122"/>
              </a:rPr>
              <a:t>委派权限</a:t>
            </a:r>
            <a:r>
              <a:rPr lang="zh-CN" altLang="en-US"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algn="l" eaLnBrk="1" hangingPunct="1">
              <a:lnSpc>
                <a:spcPct val="200000"/>
              </a:lnSpc>
              <a:buNone/>
            </a:pP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用户代理</a:t>
            </a:r>
            <a:r>
              <a:rPr lang="zh-CN" altLang="en-US" b="1" dirty="0">
                <a:latin typeface="宋体" panose="02010600030101010101" pitchFamily="2" charset="-122"/>
                <a:ea typeface="宋体" panose="02010600030101010101" pitchFamily="2" charset="-122"/>
              </a:rPr>
              <a:t>向远程域的</a:t>
            </a:r>
            <a:r>
              <a:rPr lang="zh-CN" altLang="en-US" b="1" dirty="0">
                <a:solidFill>
                  <a:srgbClr val="FF0000"/>
                </a:solidFill>
                <a:latin typeface="宋体" panose="02010600030101010101" pitchFamily="2" charset="-122"/>
                <a:ea typeface="宋体" panose="02010600030101010101" pitchFamily="2" charset="-122"/>
              </a:rPr>
              <a:t>资源代理</a:t>
            </a:r>
            <a:r>
              <a:rPr lang="zh-CN" altLang="en-US" b="1" dirty="0">
                <a:latin typeface="宋体" panose="02010600030101010101" pitchFamily="2" charset="-122"/>
                <a:ea typeface="宋体" panose="02010600030101010101" pitchFamily="2" charset="-122"/>
              </a:rPr>
              <a:t>提出</a:t>
            </a:r>
            <a:r>
              <a:rPr lang="zh-CN" altLang="en-US" b="1" dirty="0">
                <a:solidFill>
                  <a:srgbClr val="FF0000"/>
                </a:solidFill>
                <a:latin typeface="宋体" panose="02010600030101010101" pitchFamily="2" charset="-122"/>
                <a:ea typeface="宋体" panose="02010600030101010101" pitchFamily="2" charset="-122"/>
              </a:rPr>
              <a:t>分配请求</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algn="l" eaLnBrk="1" hangingPunct="1">
              <a:lnSpc>
                <a:spcPct val="200000"/>
              </a:lnSpc>
              <a:buNone/>
            </a:pP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资源代理</a:t>
            </a:r>
            <a:r>
              <a:rPr lang="zh-CN" altLang="en-US" b="1" dirty="0">
                <a:latin typeface="宋体" panose="02010600030101010101" pitchFamily="2" charset="-122"/>
                <a:ea typeface="宋体" panose="02010600030101010101" pitchFamily="2" charset="-122"/>
              </a:rPr>
              <a:t>为</a:t>
            </a:r>
            <a:r>
              <a:rPr lang="zh-CN" altLang="en-US" b="1" dirty="0">
                <a:solidFill>
                  <a:srgbClr val="FF0000"/>
                </a:solidFill>
                <a:latin typeface="宋体" panose="02010600030101010101" pitchFamily="2" charset="-122"/>
                <a:ea typeface="宋体" panose="02010600030101010101" pitchFamily="2" charset="-122"/>
              </a:rPr>
              <a:t>用户代理</a:t>
            </a:r>
            <a:r>
              <a:rPr lang="zh-CN" altLang="en-US" b="1" dirty="0">
                <a:latin typeface="宋体" panose="02010600030101010101" pitchFamily="2" charset="-122"/>
                <a:ea typeface="宋体" panose="02010600030101010101" pitchFamily="2" charset="-122"/>
              </a:rPr>
              <a:t>分配资源</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或创建</a:t>
            </a:r>
            <a:r>
              <a:rPr lang="zh-CN" altLang="en-US" b="1" dirty="0">
                <a:solidFill>
                  <a:srgbClr val="FF0000"/>
                </a:solidFill>
                <a:latin typeface="宋体" panose="02010600030101010101" pitchFamily="2" charset="-122"/>
                <a:ea typeface="宋体" panose="02010600030101010101" pitchFamily="2" charset="-122"/>
              </a:rPr>
              <a:t>进程进一步</a:t>
            </a:r>
            <a:r>
              <a:rPr lang="zh-CN" altLang="en-US" b="1" dirty="0">
                <a:latin typeface="宋体" panose="02010600030101010101" pitchFamily="2" charset="-122"/>
                <a:ea typeface="宋体" panose="02010600030101010101" pitchFamily="2" charset="-122"/>
              </a:rPr>
              <a:t>申请远程资源；</a:t>
            </a:r>
            <a:endParaRPr lang="zh-CN" altLang="en-US" b="1" dirty="0">
              <a:latin typeface="宋体" panose="02010600030101010101" pitchFamily="2" charset="-122"/>
              <a:ea typeface="宋体" panose="02010600030101010101" pitchFamily="2" charset="-122"/>
            </a:endParaRPr>
          </a:p>
          <a:p>
            <a:pPr algn="l" eaLnBrk="1" hangingPunct="1">
              <a:lnSpc>
                <a:spcPct val="200000"/>
              </a:lnSpc>
              <a:buNone/>
            </a:pPr>
            <a:endParaRPr lang="zh-CN" altLang="en-US" b="1" dirty="0">
              <a:latin typeface="宋体" panose="02010600030101010101" pitchFamily="2" charset="-122"/>
              <a:ea typeface="宋体" panose="02010600030101010101" pitchFamily="2" charset="-122"/>
            </a:endParaRPr>
          </a:p>
        </p:txBody>
      </p:sp>
      <p:sp>
        <p:nvSpPr>
          <p:cNvPr id="16388" name="Rectangle 2"/>
          <p:cNvSpPr>
            <a:spLocks noGrp="1"/>
          </p:cNvSpPr>
          <p:nvPr>
            <p:ph type="title"/>
          </p:nvPr>
        </p:nvSpPr>
        <p:spPr>
          <a:xfrm>
            <a:off x="0" y="0"/>
            <a:ext cx="9144000" cy="790575"/>
          </a:xfrm>
        </p:spPr>
        <p:txBody>
          <a:bodyPr vert="horz" wrap="square" lIns="91440" tIns="45720" rIns="91440" bIns="45720" anchor="ctr" anchorCtr="0"/>
          <a:lstStyle/>
          <a:p>
            <a:pPr eaLnBrk="1" hangingPunct="1"/>
            <a:r>
              <a:rPr lang="en-US" altLang="zh-CN" sz="3600" dirty="0">
                <a:ea typeface="宋体" panose="02010600030101010101" pitchFamily="2" charset="-122"/>
              </a:rPr>
              <a:t>Example: The Globus Security Architecture</a:t>
            </a:r>
            <a:endParaRPr lang="en-US" altLang="zh-CN" sz="3600"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8435" name="Rectangle 2"/>
          <p:cNvSpPr>
            <a:spLocks noGrp="1"/>
          </p:cNvSpPr>
          <p:nvPr>
            <p:ph type="title"/>
          </p:nvPr>
        </p:nvSpPr>
        <p:spPr>
          <a:xfrm>
            <a:off x="495300" y="0"/>
            <a:ext cx="8331200" cy="1079500"/>
          </a:xfrm>
        </p:spPr>
        <p:txBody>
          <a:bodyPr vert="horz" wrap="square" lIns="91440" tIns="45720" rIns="91440" bIns="45720" anchor="ctr" anchorCtr="0"/>
          <a:lstStyle/>
          <a:p>
            <a:pPr eaLnBrk="1" hangingPunct="1"/>
            <a:r>
              <a:rPr lang="en-US" altLang="zh-CN" sz="3600" dirty="0">
                <a:ea typeface="宋体" panose="02010600030101010101" pitchFamily="2" charset="-122"/>
              </a:rPr>
              <a:t>Example: The Globus </a:t>
            </a:r>
            <a:br>
              <a:rPr lang="en-US" altLang="zh-CN" sz="3600" dirty="0">
                <a:ea typeface="宋体" panose="02010600030101010101" pitchFamily="2" charset="-122"/>
              </a:rPr>
            </a:br>
            <a:r>
              <a:rPr lang="en-US" altLang="zh-CN" sz="3600" dirty="0">
                <a:ea typeface="宋体" panose="02010600030101010101" pitchFamily="2" charset="-122"/>
              </a:rPr>
              <a:t>Security Architecture (2)</a:t>
            </a:r>
            <a:endParaRPr lang="en-US" altLang="zh-CN" sz="3600" dirty="0">
              <a:ea typeface="宋体" panose="02010600030101010101" pitchFamily="2" charset="-122"/>
            </a:endParaRPr>
          </a:p>
        </p:txBody>
      </p:sp>
      <p:pic>
        <p:nvPicPr>
          <p:cNvPr id="18436" name="Picture 4" descr="09-01"/>
          <p:cNvPicPr>
            <a:picLocks noChangeAspect="1"/>
          </p:cNvPicPr>
          <p:nvPr/>
        </p:nvPicPr>
        <p:blipFill>
          <a:blip r:embed="rId1"/>
          <a:stretch>
            <a:fillRect/>
          </a:stretch>
        </p:blipFill>
        <p:spPr>
          <a:xfrm>
            <a:off x="446088" y="1293813"/>
            <a:ext cx="8399462" cy="5203825"/>
          </a:xfrm>
          <a:prstGeom prst="rect">
            <a:avLst/>
          </a:prstGeom>
          <a:noFill/>
          <a:ln w="9525">
            <a:noFill/>
          </a:ln>
        </p:spPr>
      </p:pic>
      <p:sp>
        <p:nvSpPr>
          <p:cNvPr id="18437" name="矩形 5"/>
          <p:cNvSpPr/>
          <p:nvPr/>
        </p:nvSpPr>
        <p:spPr>
          <a:xfrm>
            <a:off x="3795713" y="6142038"/>
            <a:ext cx="2046287" cy="339725"/>
          </a:xfrm>
          <a:prstGeom prst="rect">
            <a:avLst/>
          </a:prstGeom>
          <a:noFill/>
          <a:ln w="9525">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b="1" dirty="0">
                <a:solidFill>
                  <a:srgbClr val="FF0000"/>
                </a:solidFill>
                <a:latin typeface="宋体" panose="02010600030101010101" pitchFamily="2" charset="-122"/>
                <a:ea typeface="宋体" panose="02010600030101010101" pitchFamily="2" charset="-122"/>
              </a:rPr>
              <a:t>创建代理</a:t>
            </a:r>
            <a:r>
              <a:rPr lang="zh-CN" altLang="en-US" sz="1600" b="1" dirty="0">
                <a:latin typeface="宋体" panose="02010600030101010101" pitchFamily="2" charset="-122"/>
                <a:ea typeface="宋体" panose="02010600030101010101" pitchFamily="2" charset="-122"/>
              </a:rPr>
              <a:t>并</a:t>
            </a:r>
            <a:r>
              <a:rPr lang="zh-CN" altLang="en-US" sz="1600" b="1" dirty="0">
                <a:solidFill>
                  <a:srgbClr val="FF0000"/>
                </a:solidFill>
                <a:latin typeface="宋体" panose="02010600030101010101" pitchFamily="2" charset="-122"/>
                <a:ea typeface="宋体" panose="02010600030101010101" pitchFamily="2" charset="-122"/>
              </a:rPr>
              <a:t>委派权限</a:t>
            </a:r>
            <a:endParaRPr lang="zh-CN" altLang="en-US" sz="1600" b="1" dirty="0">
              <a:latin typeface="Times New Roman" panose="02020603050405020304" pitchFamily="18" charset="0"/>
              <a:ea typeface="宋体" panose="02010600030101010101" pitchFamily="2" charset="-122"/>
            </a:endParaRPr>
          </a:p>
        </p:txBody>
      </p:sp>
      <p:sp>
        <p:nvSpPr>
          <p:cNvPr id="18438" name="矩形 6"/>
          <p:cNvSpPr/>
          <p:nvPr/>
        </p:nvSpPr>
        <p:spPr>
          <a:xfrm>
            <a:off x="6769100" y="5748338"/>
            <a:ext cx="1943100" cy="830262"/>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b="1" dirty="0">
                <a:solidFill>
                  <a:srgbClr val="FF0000"/>
                </a:solidFill>
                <a:latin typeface="宋体" panose="02010600030101010101" pitchFamily="2" charset="-122"/>
                <a:ea typeface="宋体" panose="02010600030101010101" pitchFamily="2" charset="-122"/>
              </a:rPr>
              <a:t>用户代理</a:t>
            </a:r>
            <a:r>
              <a:rPr lang="zh-CN" altLang="en-US" sz="1600" b="1" dirty="0">
                <a:latin typeface="宋体" panose="02010600030101010101" pitchFamily="2" charset="-122"/>
                <a:ea typeface="宋体" panose="02010600030101010101" pitchFamily="2" charset="-122"/>
              </a:rPr>
              <a:t>对远程域</a:t>
            </a:r>
            <a:r>
              <a:rPr lang="zh-CN" altLang="en-US" sz="1600" b="1" dirty="0">
                <a:solidFill>
                  <a:srgbClr val="FF0000"/>
                </a:solidFill>
                <a:latin typeface="宋体" panose="02010600030101010101" pitchFamily="2" charset="-122"/>
                <a:ea typeface="宋体" panose="02010600030101010101" pitchFamily="2" charset="-122"/>
              </a:rPr>
              <a:t>资源代理</a:t>
            </a:r>
            <a:r>
              <a:rPr lang="zh-CN" altLang="en-US" sz="1600" b="1" dirty="0">
                <a:latin typeface="宋体" panose="02010600030101010101" pitchFamily="2" charset="-122"/>
                <a:ea typeface="宋体" panose="02010600030101010101" pitchFamily="2" charset="-122"/>
              </a:rPr>
              <a:t>提出</a:t>
            </a:r>
            <a:r>
              <a:rPr lang="zh-CN" altLang="en-US" sz="1600" b="1" dirty="0">
                <a:solidFill>
                  <a:srgbClr val="FF0000"/>
                </a:solidFill>
                <a:latin typeface="宋体" panose="02010600030101010101" pitchFamily="2" charset="-122"/>
                <a:ea typeface="宋体" panose="02010600030101010101" pitchFamily="2" charset="-122"/>
              </a:rPr>
              <a:t>的请求</a:t>
            </a:r>
            <a:r>
              <a:rPr lang="zh-CN" altLang="en-US" sz="1600" b="1" dirty="0">
                <a:latin typeface="宋体" panose="02010600030101010101" pitchFamily="2" charset="-122"/>
                <a:ea typeface="宋体" panose="02010600030101010101" pitchFamily="2" charset="-122"/>
              </a:rPr>
              <a:t>分配资源</a:t>
            </a:r>
            <a:endParaRPr lang="zh-CN" altLang="en-US" sz="1600" b="1" dirty="0">
              <a:latin typeface="Times New Roman" panose="02020603050405020304" pitchFamily="18" charset="0"/>
              <a:ea typeface="宋体" panose="02010600030101010101" pitchFamily="2" charset="-122"/>
            </a:endParaRPr>
          </a:p>
        </p:txBody>
      </p:sp>
      <p:sp>
        <p:nvSpPr>
          <p:cNvPr id="18439" name="矩形 7"/>
          <p:cNvSpPr/>
          <p:nvPr/>
        </p:nvSpPr>
        <p:spPr>
          <a:xfrm>
            <a:off x="0" y="1079500"/>
            <a:ext cx="1982788" cy="584200"/>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b="1" dirty="0">
                <a:solidFill>
                  <a:srgbClr val="FF0000"/>
                </a:solidFill>
                <a:latin typeface="宋体" panose="02010600030101010101" pitchFamily="2" charset="-122"/>
                <a:ea typeface="宋体" panose="02010600030101010101" pitchFamily="2" charset="-122"/>
              </a:rPr>
              <a:t>资源代理</a:t>
            </a:r>
            <a:r>
              <a:rPr lang="zh-CN" altLang="en-US" sz="1600" b="1" dirty="0">
                <a:latin typeface="宋体" panose="02010600030101010101" pitchFamily="2" charset="-122"/>
                <a:ea typeface="宋体" panose="02010600030101010101" pitchFamily="2" charset="-122"/>
              </a:rPr>
              <a:t>对远程域</a:t>
            </a:r>
            <a:r>
              <a:rPr lang="zh-CN" altLang="en-US" sz="1600" b="1" dirty="0">
                <a:solidFill>
                  <a:srgbClr val="FF0000"/>
                </a:solidFill>
                <a:latin typeface="宋体" panose="02010600030101010101" pitchFamily="2" charset="-122"/>
                <a:ea typeface="宋体" panose="02010600030101010101" pitchFamily="2" charset="-122"/>
              </a:rPr>
              <a:t>用户代理</a:t>
            </a:r>
            <a:r>
              <a:rPr lang="zh-CN" altLang="en-US" sz="1600" b="1" dirty="0">
                <a:latin typeface="宋体" panose="02010600030101010101" pitchFamily="2" charset="-122"/>
                <a:ea typeface="宋体" panose="02010600030101010101" pitchFamily="2" charset="-122"/>
              </a:rPr>
              <a:t>分配资源</a:t>
            </a:r>
            <a:endParaRPr lang="zh-CN" altLang="en-US" sz="1600" b="1" dirty="0">
              <a:latin typeface="Times New Roman" panose="02020603050405020304" pitchFamily="18" charset="0"/>
              <a:ea typeface="宋体" panose="02010600030101010101" pitchFamily="2" charset="-122"/>
            </a:endParaRPr>
          </a:p>
        </p:txBody>
      </p:sp>
      <p:sp>
        <p:nvSpPr>
          <p:cNvPr id="18440" name="矩形 8"/>
          <p:cNvSpPr/>
          <p:nvPr/>
        </p:nvSpPr>
        <p:spPr>
          <a:xfrm>
            <a:off x="2909888" y="4059238"/>
            <a:ext cx="2460625" cy="339725"/>
          </a:xfrm>
          <a:prstGeom prst="rect">
            <a:avLst/>
          </a:prstGeom>
          <a:noFill/>
          <a:ln w="9525">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b="1" dirty="0">
                <a:latin typeface="宋体" panose="02010600030101010101" pitchFamily="2" charset="-122"/>
                <a:ea typeface="宋体" panose="02010600030101010101" pitchFamily="2" charset="-122"/>
              </a:rPr>
              <a:t>使</a:t>
            </a:r>
            <a:r>
              <a:rPr lang="zh-CN" altLang="en-US" sz="1600" b="1" dirty="0">
                <a:solidFill>
                  <a:srgbClr val="FF0000"/>
                </a:solidFill>
                <a:latin typeface="宋体" panose="02010600030101010101" pitchFamily="2" charset="-122"/>
                <a:ea typeface="宋体" panose="02010600030101010101" pitchFamily="2" charset="-122"/>
              </a:rPr>
              <a:t>用户</a:t>
            </a:r>
            <a:r>
              <a:rPr lang="zh-CN" altLang="en-US" sz="1600" b="1" dirty="0">
                <a:latin typeface="宋体" panose="02010600030101010101" pitchFamily="2" charset="-122"/>
                <a:ea typeface="宋体" panose="02010600030101010101" pitchFamily="2" charset="-122"/>
              </a:rPr>
              <a:t>在远程域内中</a:t>
            </a:r>
            <a:r>
              <a:rPr lang="zh-CN" altLang="en-US" sz="1600" b="1" dirty="0">
                <a:solidFill>
                  <a:srgbClr val="FF0000"/>
                </a:solidFill>
                <a:latin typeface="宋体" panose="02010600030101010101" pitchFamily="2" charset="-122"/>
                <a:ea typeface="宋体" panose="02010600030101010101" pitchFamily="2" charset="-122"/>
              </a:rPr>
              <a:t>可知</a:t>
            </a:r>
            <a:endParaRPr lang="zh-CN" altLang="en-US" sz="1600" b="1" dirty="0">
              <a:solidFill>
                <a:srgbClr val="FF0000"/>
              </a:solidFill>
              <a:latin typeface="Times New Roman" panose="02020603050405020304" pitchFamily="18" charset="0"/>
              <a:ea typeface="宋体" panose="02010600030101010101" pitchFamily="2" charset="-122"/>
            </a:endParaRPr>
          </a:p>
        </p:txBody>
      </p:sp>
      <p:sp>
        <p:nvSpPr>
          <p:cNvPr id="18441" name="矩形 5"/>
          <p:cNvSpPr/>
          <p:nvPr/>
        </p:nvSpPr>
        <p:spPr>
          <a:xfrm>
            <a:off x="7224713" y="1112838"/>
            <a:ext cx="1631950" cy="584200"/>
          </a:xfrm>
          <a:prstGeom prst="rect">
            <a:avLst/>
          </a:prstGeom>
          <a:noFill/>
          <a:ln w="9525">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b="1" dirty="0">
                <a:latin typeface="宋体" panose="02010600030101010101" pitchFamily="2" charset="-122"/>
                <a:ea typeface="宋体" panose="02010600030101010101" pitchFamily="2" charset="-122"/>
              </a:rPr>
              <a:t>需要时创建进程</a:t>
            </a:r>
            <a:endParaRPr lang="en-US" altLang="zh-CN" sz="1600" b="1" dirty="0">
              <a:latin typeface="宋体" panose="02010600030101010101" pitchFamily="2" charset="-122"/>
              <a:ea typeface="宋体" panose="02010600030101010101" pitchFamily="2" charset="-122"/>
            </a:endParaRPr>
          </a:p>
          <a:p>
            <a:pPr marL="0" lvl="0" indent="0" eaLnBrk="1" hangingPunct="1">
              <a:spcBef>
                <a:spcPct val="0"/>
              </a:spcBef>
              <a:buClrTx/>
              <a:buNone/>
            </a:pPr>
            <a:r>
              <a:rPr lang="zh-CN" altLang="en-US" sz="1600" b="1" dirty="0">
                <a:latin typeface="宋体" panose="02010600030101010101" pitchFamily="2" charset="-122"/>
                <a:ea typeface="宋体" panose="02010600030101010101" pitchFamily="2" charset="-122"/>
              </a:rPr>
              <a:t>申请远程资源</a:t>
            </a:r>
            <a:endParaRPr lang="zh-CN" altLang="en-US" sz="1600" b="1" dirty="0">
              <a:latin typeface="Times New Roman" panose="02020603050405020304" pitchFamily="18"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0483"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设计问题</a:t>
            </a:r>
            <a:endParaRPr lang="zh-CN" altLang="en-US" dirty="0">
              <a:ea typeface="宋体" panose="02010600030101010101" pitchFamily="2" charset="-122"/>
            </a:endParaRPr>
          </a:p>
        </p:txBody>
      </p:sp>
      <p:sp>
        <p:nvSpPr>
          <p:cNvPr id="20484" name="Rectangle 3"/>
          <p:cNvSpPr>
            <a:spLocks noGrp="1"/>
          </p:cNvSpPr>
          <p:nvPr>
            <p:ph idx="1"/>
          </p:nvPr>
        </p:nvSpPr>
        <p:spPr>
          <a:xfrm>
            <a:off x="585788" y="1249363"/>
            <a:ext cx="7970837" cy="4495800"/>
          </a:xfrm>
        </p:spPr>
        <p:txBody>
          <a:bodyPr vert="horz" wrap="square" lIns="91440" tIns="45720" rIns="91440" bIns="45720" anchor="t" anchorCtr="0"/>
          <a:lstStyle/>
          <a:p>
            <a:pPr algn="l" eaLnBrk="1" hangingPunct="1">
              <a:lnSpc>
                <a:spcPct val="150000"/>
              </a:lnSpc>
              <a:buFont typeface="Wingdings" panose="05000000000000000000" pitchFamily="2" charset="2"/>
              <a:buChar char="Ø"/>
            </a:pPr>
            <a:r>
              <a:rPr lang="zh-CN" altLang="en-US" sz="2800" b="1" dirty="0">
                <a:solidFill>
                  <a:srgbClr val="FF0000"/>
                </a:solidFill>
                <a:ea typeface="宋体" panose="02010600030101010101" pitchFamily="2" charset="-122"/>
              </a:rPr>
              <a:t>设计</a:t>
            </a:r>
            <a:r>
              <a:rPr lang="zh-CN" altLang="en-US" sz="2800" b="1" dirty="0">
                <a:ea typeface="宋体" panose="02010600030101010101" pitchFamily="2" charset="-122"/>
              </a:rPr>
              <a:t>安全的分布式系统的关键：如何使用</a:t>
            </a:r>
            <a:r>
              <a:rPr lang="zh-CN" altLang="en-US" sz="2800" b="1" dirty="0">
                <a:solidFill>
                  <a:srgbClr val="FF0000"/>
                </a:solidFill>
                <a:ea typeface="宋体" panose="02010600030101010101" pitchFamily="2" charset="-122"/>
              </a:rPr>
              <a:t>安全机制</a:t>
            </a:r>
            <a:r>
              <a:rPr lang="zh-CN" altLang="en-US" sz="2800" b="1" dirty="0">
                <a:ea typeface="宋体" panose="02010600030101010101" pitchFamily="2" charset="-122"/>
              </a:rPr>
              <a:t>实现</a:t>
            </a:r>
            <a:r>
              <a:rPr lang="zh-CN" altLang="en-US" sz="2800" b="1" dirty="0">
                <a:solidFill>
                  <a:srgbClr val="FF0000"/>
                </a:solidFill>
                <a:ea typeface="宋体" panose="02010600030101010101" pitchFamily="2" charset="-122"/>
              </a:rPr>
              <a:t>安全策略</a:t>
            </a:r>
            <a:r>
              <a:rPr lang="zh-CN" altLang="en-US" sz="2800" b="1" dirty="0">
                <a:ea typeface="宋体" panose="02010600030101010101" pitchFamily="2" charset="-122"/>
              </a:rPr>
              <a:t>，问题包括：</a:t>
            </a:r>
            <a:endParaRPr lang="zh-CN" altLang="en-US" sz="2800" b="1" dirty="0">
              <a:ea typeface="宋体" panose="02010600030101010101" pitchFamily="2" charset="-122"/>
            </a:endParaRPr>
          </a:p>
          <a:p>
            <a:pPr lvl="1" eaLnBrk="1" hangingPunct="1">
              <a:lnSpc>
                <a:spcPct val="150000"/>
              </a:lnSpc>
            </a:pPr>
            <a:r>
              <a:rPr lang="zh-CN" altLang="en-US" sz="2800" b="1" dirty="0">
                <a:ea typeface="宋体" panose="02010600030101010101" pitchFamily="2" charset="-122"/>
              </a:rPr>
              <a:t>控制点；</a:t>
            </a:r>
            <a:endParaRPr lang="zh-CN" altLang="en-US" sz="2800" b="1" dirty="0">
              <a:ea typeface="宋体" panose="02010600030101010101" pitchFamily="2" charset="-122"/>
            </a:endParaRPr>
          </a:p>
          <a:p>
            <a:pPr lvl="1" eaLnBrk="1" hangingPunct="1">
              <a:lnSpc>
                <a:spcPct val="150000"/>
              </a:lnSpc>
            </a:pPr>
            <a:r>
              <a:rPr lang="zh-CN" altLang="en-US" sz="2800" b="1" dirty="0">
                <a:ea typeface="宋体" panose="02010600030101010101" pitchFamily="2" charset="-122"/>
              </a:rPr>
              <a:t>安全机制的分层；</a:t>
            </a:r>
            <a:endParaRPr lang="zh-CN" altLang="en-US" sz="2800" b="1" dirty="0">
              <a:ea typeface="宋体" panose="02010600030101010101" pitchFamily="2" charset="-122"/>
            </a:endParaRPr>
          </a:p>
          <a:p>
            <a:pPr lvl="1" eaLnBrk="1" hangingPunct="1">
              <a:lnSpc>
                <a:spcPct val="150000"/>
              </a:lnSpc>
            </a:pPr>
            <a:r>
              <a:rPr lang="zh-CN" altLang="en-US" sz="2800" b="1" dirty="0">
                <a:ea typeface="宋体" panose="02010600030101010101" pitchFamily="2" charset="-122"/>
              </a:rPr>
              <a:t>安全机制的分布；</a:t>
            </a:r>
            <a:endParaRPr lang="zh-CN" altLang="en-US" sz="2800" b="1" dirty="0">
              <a:ea typeface="宋体" panose="02010600030101010101" pitchFamily="2" charset="-122"/>
            </a:endParaRPr>
          </a:p>
          <a:p>
            <a:pPr lvl="1" eaLnBrk="1" hangingPunct="1">
              <a:lnSpc>
                <a:spcPct val="150000"/>
              </a:lnSpc>
            </a:pPr>
            <a:r>
              <a:rPr lang="zh-CN" altLang="en-US" sz="2800" b="1" dirty="0">
                <a:ea typeface="宋体" panose="02010600030101010101" pitchFamily="2" charset="-122"/>
              </a:rPr>
              <a:t>简洁性；</a:t>
            </a:r>
            <a:endParaRPr lang="zh-CN" altLang="en-US" sz="2800" b="1" dirty="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2531" name="Rectangle 2"/>
          <p:cNvSpPr>
            <a:spLocks noGrp="1"/>
          </p:cNvSpPr>
          <p:nvPr>
            <p:ph type="title"/>
          </p:nvPr>
        </p:nvSpPr>
        <p:spPr>
          <a:xfrm>
            <a:off x="0" y="0"/>
            <a:ext cx="9144000" cy="650875"/>
          </a:xfrm>
        </p:spPr>
        <p:txBody>
          <a:bodyPr vert="horz" wrap="square" lIns="91440" tIns="45720" rIns="91440" bIns="45720" anchor="ctr" anchorCtr="0"/>
          <a:lstStyle/>
          <a:p>
            <a:pPr eaLnBrk="1" hangingPunct="1"/>
            <a:r>
              <a:rPr lang="en-US" altLang="zh-CN" dirty="0">
                <a:ea typeface="宋体" panose="02010600030101010101" pitchFamily="2" charset="-122"/>
              </a:rPr>
              <a:t>Focus of Control</a:t>
            </a:r>
            <a:endParaRPr lang="zh-CN" altLang="en-US" dirty="0">
              <a:ea typeface="宋体" panose="02010600030101010101" pitchFamily="2" charset="-122"/>
            </a:endParaRPr>
          </a:p>
        </p:txBody>
      </p:sp>
      <p:sp>
        <p:nvSpPr>
          <p:cNvPr id="22532" name="Rectangle 3"/>
          <p:cNvSpPr>
            <a:spLocks noGrp="1"/>
          </p:cNvSpPr>
          <p:nvPr>
            <p:ph idx="1"/>
          </p:nvPr>
        </p:nvSpPr>
        <p:spPr>
          <a:xfrm>
            <a:off x="0" y="738188"/>
            <a:ext cx="8045450" cy="450850"/>
          </a:xfrm>
        </p:spPr>
        <p:txBody>
          <a:bodyPr vert="horz" wrap="square" lIns="91440" tIns="45720" rIns="91440" bIns="45720" anchor="t" anchorCtr="0"/>
          <a:lstStyle/>
          <a:p>
            <a:pPr algn="l" eaLnBrk="1" hangingPunct="1">
              <a:buNone/>
            </a:pPr>
            <a:r>
              <a:rPr lang="zh-CN" altLang="en-US" sz="2000" b="1" dirty="0">
                <a:latin typeface="宋体" panose="02010600030101010101" pitchFamily="2" charset="-122"/>
                <a:ea typeface="宋体" panose="02010600030101010101" pitchFamily="2" charset="-122"/>
              </a:rPr>
              <a:t>三种方法</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1.</a:t>
            </a:r>
            <a:r>
              <a:rPr lang="zh-CN" altLang="en-US" sz="2000" b="1" dirty="0">
                <a:latin typeface="宋体" panose="02010600030101010101" pitchFamily="2" charset="-122"/>
                <a:ea typeface="宋体" panose="02010600030101010101" pitchFamily="2" charset="-122"/>
              </a:rPr>
              <a:t>对被访</a:t>
            </a:r>
            <a:r>
              <a:rPr lang="zh-CN" altLang="en-US" sz="2000" b="1" dirty="0">
                <a:solidFill>
                  <a:srgbClr val="FF0000"/>
                </a:solidFill>
                <a:latin typeface="宋体" panose="02010600030101010101" pitchFamily="2" charset="-122"/>
                <a:ea typeface="宋体" panose="02010600030101010101" pitchFamily="2" charset="-122"/>
              </a:rPr>
              <a:t>数据</a:t>
            </a:r>
            <a:r>
              <a:rPr lang="zh-CN" altLang="en-US" sz="2000" b="1" dirty="0">
                <a:latin typeface="宋体" panose="02010600030101010101" pitchFamily="2" charset="-122"/>
                <a:ea typeface="宋体" panose="02010600030101010101" pitchFamily="2" charset="-122"/>
              </a:rPr>
              <a:t>或</a:t>
            </a:r>
            <a:r>
              <a:rPr lang="zh-CN" altLang="en-US" sz="2000" b="1" dirty="0">
                <a:solidFill>
                  <a:srgbClr val="FF0000"/>
                </a:solidFill>
                <a:latin typeface="宋体" panose="02010600030101010101" pitchFamily="2" charset="-122"/>
                <a:ea typeface="宋体" panose="02010600030101010101" pitchFamily="2" charset="-122"/>
              </a:rPr>
              <a:t>实体</a:t>
            </a:r>
            <a:r>
              <a:rPr lang="zh-CN" altLang="en-US" sz="2000" b="1" dirty="0">
                <a:latin typeface="宋体" panose="02010600030101010101" pitchFamily="2" charset="-122"/>
                <a:ea typeface="宋体" panose="02010600030101010101" pitchFamily="2" charset="-122"/>
              </a:rPr>
              <a:t>保护；</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对</a:t>
            </a:r>
            <a:r>
              <a:rPr lang="zh-CN" altLang="en-US" sz="2000" b="1" dirty="0">
                <a:solidFill>
                  <a:srgbClr val="FF0000"/>
                </a:solidFill>
                <a:latin typeface="宋体" panose="02010600030101010101" pitchFamily="2" charset="-122"/>
                <a:ea typeface="宋体" panose="02010600030101010101" pitchFamily="2" charset="-122"/>
              </a:rPr>
              <a:t>操作</a:t>
            </a:r>
            <a:r>
              <a:rPr lang="zh-CN" altLang="en-US" sz="2000" b="1" dirty="0">
                <a:latin typeface="宋体" panose="02010600030101010101" pitchFamily="2" charset="-122"/>
                <a:ea typeface="宋体" panose="02010600030101010101" pitchFamily="2" charset="-122"/>
              </a:rPr>
              <a:t>限制；</a:t>
            </a: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对</a:t>
            </a:r>
            <a:r>
              <a:rPr lang="zh-CN" altLang="en-US" sz="2000" b="1" dirty="0">
                <a:solidFill>
                  <a:srgbClr val="FF0000"/>
                </a:solidFill>
                <a:latin typeface="宋体" panose="02010600030101010101" pitchFamily="2" charset="-122"/>
                <a:ea typeface="宋体" panose="02010600030101010101" pitchFamily="2" charset="-122"/>
              </a:rPr>
              <a:t>角色</a:t>
            </a:r>
            <a:r>
              <a:rPr lang="zh-CN" altLang="en-US" sz="2000" b="1" dirty="0">
                <a:latin typeface="宋体" panose="02010600030101010101" pitchFamily="2" charset="-122"/>
                <a:ea typeface="宋体" panose="02010600030101010101" pitchFamily="2" charset="-122"/>
              </a:rPr>
              <a:t>授权；</a:t>
            </a:r>
            <a:endParaRPr lang="zh-CN" altLang="en-US" sz="2000" b="1" dirty="0">
              <a:latin typeface="宋体" panose="02010600030101010101" pitchFamily="2" charset="-122"/>
              <a:ea typeface="宋体" panose="02010600030101010101" pitchFamily="2" charset="-122"/>
            </a:endParaRPr>
          </a:p>
        </p:txBody>
      </p:sp>
      <p:pic>
        <p:nvPicPr>
          <p:cNvPr id="22533" name="Picture 4" descr="09-02"/>
          <p:cNvPicPr>
            <a:picLocks noChangeAspect="1"/>
          </p:cNvPicPr>
          <p:nvPr/>
        </p:nvPicPr>
        <p:blipFill>
          <a:blip r:embed="rId1"/>
          <a:srcRect r="47414" b="51797"/>
          <a:stretch>
            <a:fillRect/>
          </a:stretch>
        </p:blipFill>
        <p:spPr>
          <a:xfrm>
            <a:off x="195263" y="1501775"/>
            <a:ext cx="3014662" cy="2781300"/>
          </a:xfrm>
          <a:prstGeom prst="rect">
            <a:avLst/>
          </a:prstGeom>
          <a:noFill/>
          <a:ln w="9525">
            <a:noFill/>
          </a:ln>
        </p:spPr>
      </p:pic>
      <p:sp>
        <p:nvSpPr>
          <p:cNvPr id="6" name="Rectangle 3"/>
          <p:cNvSpPr txBox="1">
            <a:spLocks noChangeArrowheads="1"/>
          </p:cNvSpPr>
          <p:nvPr/>
        </p:nvSpPr>
        <p:spPr bwMode="auto">
          <a:xfrm>
            <a:off x="195263" y="5200650"/>
            <a:ext cx="2586038"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gn="ctr" rtl="0" eaLnBrk="0" fontAlgn="base" hangingPunct="0">
              <a:spcBef>
                <a:spcPct val="20000"/>
              </a:spcBef>
              <a:spcAft>
                <a:spcPct val="0"/>
              </a:spcAft>
              <a:buClr>
                <a:schemeClr val="accent2"/>
              </a:buClr>
              <a:buChar cha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vl6pPr marL="26670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6pPr>
            <a:lvl7pPr marL="31242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7pPr>
            <a:lvl8pPr marL="35814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8pPr>
            <a:lvl9pPr marL="40386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609600" marR="0" lvl="0" indent="-60960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Fig. (a) Protection against invalid operations</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7" name="Rectangle 3"/>
          <p:cNvSpPr txBox="1">
            <a:spLocks noChangeArrowheads="1"/>
          </p:cNvSpPr>
          <p:nvPr/>
        </p:nvSpPr>
        <p:spPr bwMode="auto">
          <a:xfrm>
            <a:off x="3162300" y="5200650"/>
            <a:ext cx="28956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gn="ctr" rtl="0" eaLnBrk="0" fontAlgn="base" hangingPunct="0">
              <a:spcBef>
                <a:spcPct val="20000"/>
              </a:spcBef>
              <a:spcAft>
                <a:spcPct val="0"/>
              </a:spcAft>
              <a:buClr>
                <a:schemeClr val="accent2"/>
              </a:buClr>
              <a:buChar cha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vl6pPr marL="26670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6pPr>
            <a:lvl7pPr marL="31242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7pPr>
            <a:lvl8pPr marL="35814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8pPr>
            <a:lvl9pPr marL="40386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609600" marR="0" lvl="0" indent="-60960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Fig. (b) Protection against unauthorized invocations.</a:t>
            </a:r>
            <a:endPar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22536" name="Picture 4" descr="09-02"/>
          <p:cNvPicPr>
            <a:picLocks noChangeAspect="1"/>
          </p:cNvPicPr>
          <p:nvPr/>
        </p:nvPicPr>
        <p:blipFill>
          <a:blip r:embed="rId1"/>
          <a:srcRect l="56290" b="50729"/>
          <a:stretch>
            <a:fillRect/>
          </a:stretch>
        </p:blipFill>
        <p:spPr>
          <a:xfrm>
            <a:off x="3044825" y="1527175"/>
            <a:ext cx="2895600" cy="2706688"/>
          </a:xfrm>
          <a:prstGeom prst="rect">
            <a:avLst/>
          </a:prstGeom>
          <a:noFill/>
          <a:ln w="9525">
            <a:noFill/>
          </a:ln>
        </p:spPr>
      </p:pic>
      <p:sp>
        <p:nvSpPr>
          <p:cNvPr id="9" name="Rectangle 3"/>
          <p:cNvSpPr txBox="1">
            <a:spLocks noChangeArrowheads="1"/>
          </p:cNvSpPr>
          <p:nvPr/>
        </p:nvSpPr>
        <p:spPr bwMode="auto">
          <a:xfrm>
            <a:off x="6319838" y="5200650"/>
            <a:ext cx="26368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gn="ctr" rtl="0" eaLnBrk="0" fontAlgn="base" hangingPunct="0">
              <a:spcBef>
                <a:spcPct val="20000"/>
              </a:spcBef>
              <a:spcAft>
                <a:spcPct val="0"/>
              </a:spcAft>
              <a:buClr>
                <a:schemeClr val="accent2"/>
              </a:buClr>
              <a:buChar cha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vl6pPr marL="26670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6pPr>
            <a:lvl7pPr marL="31242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7pPr>
            <a:lvl8pPr marL="35814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8pPr>
            <a:lvl9pPr marL="40386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609600" marR="0" lvl="0" indent="-60960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Fig. (c) Protection against unauthorized users.</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22538" name="Picture 4" descr="09-02"/>
          <p:cNvPicPr>
            <a:picLocks noChangeAspect="1"/>
          </p:cNvPicPr>
          <p:nvPr/>
        </p:nvPicPr>
        <p:blipFill>
          <a:blip r:embed="rId1"/>
          <a:srcRect l="28767" t="54289" r="26718"/>
          <a:stretch>
            <a:fillRect/>
          </a:stretch>
        </p:blipFill>
        <p:spPr>
          <a:xfrm>
            <a:off x="6199188" y="1576388"/>
            <a:ext cx="2757487" cy="265747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4579" name="Rectangle 2"/>
          <p:cNvSpPr>
            <a:spLocks noGrp="1"/>
          </p:cNvSpPr>
          <p:nvPr>
            <p:ph type="title"/>
          </p:nvPr>
        </p:nvSpPr>
        <p:spPr>
          <a:xfrm>
            <a:off x="0" y="0"/>
            <a:ext cx="9144000" cy="755650"/>
          </a:xfrm>
        </p:spPr>
        <p:txBody>
          <a:bodyPr vert="horz" wrap="square" lIns="91440" tIns="45720" rIns="91440" bIns="45720" anchor="ctr" anchorCtr="0"/>
          <a:lstStyle/>
          <a:p>
            <a:pPr eaLnBrk="1" hangingPunct="1"/>
            <a:r>
              <a:rPr lang="en-US" altLang="zh-CN" sz="4000" dirty="0">
                <a:ea typeface="宋体" panose="02010600030101010101" pitchFamily="2" charset="-122"/>
              </a:rPr>
              <a:t>Layering of Security Mechanisms (1)</a:t>
            </a:r>
            <a:endParaRPr lang="en-US" altLang="zh-CN" sz="4000" dirty="0">
              <a:ea typeface="宋体" panose="02010600030101010101" pitchFamily="2" charset="-122"/>
            </a:endParaRPr>
          </a:p>
        </p:txBody>
      </p:sp>
      <p:sp>
        <p:nvSpPr>
          <p:cNvPr id="24580" name="Rectangle 3"/>
          <p:cNvSpPr>
            <a:spLocks noGrp="1"/>
          </p:cNvSpPr>
          <p:nvPr>
            <p:ph idx="1"/>
          </p:nvPr>
        </p:nvSpPr>
        <p:spPr>
          <a:xfrm>
            <a:off x="685800" y="5461000"/>
            <a:ext cx="7772400" cy="863600"/>
          </a:xfrm>
        </p:spPr>
        <p:txBody>
          <a:bodyPr vert="horz" wrap="square" lIns="91440" tIns="45720" rIns="91440" bIns="45720" anchor="t" anchorCtr="0"/>
          <a:lstStyle/>
          <a:p>
            <a:pPr eaLnBrk="1" hangingPunct="1">
              <a:buNone/>
            </a:pPr>
            <a:r>
              <a:rPr lang="en-US" altLang="zh-CN" dirty="0">
                <a:ea typeface="宋体" panose="02010600030101010101" pitchFamily="2" charset="-122"/>
              </a:rPr>
              <a:t>Figure. The logical organization of a distributed system into several layers.</a:t>
            </a:r>
            <a:r>
              <a:rPr lang="zh-CN" altLang="en-US" sz="2000" b="1" dirty="0">
                <a:ea typeface="宋体" panose="02010600030101010101" pitchFamily="2" charset="-122"/>
              </a:rPr>
              <a:t>将</a:t>
            </a:r>
            <a:r>
              <a:rPr lang="zh-CN" altLang="en-US" sz="2000" b="1" dirty="0">
                <a:solidFill>
                  <a:srgbClr val="FF3300"/>
                </a:solidFill>
                <a:ea typeface="宋体" panose="02010600030101010101" pitchFamily="2" charset="-122"/>
              </a:rPr>
              <a:t>通用服务</a:t>
            </a:r>
            <a:r>
              <a:rPr lang="zh-CN" altLang="en-US" sz="2000" b="1" dirty="0">
                <a:ea typeface="宋体" panose="02010600030101010101" pitchFamily="2" charset="-122"/>
              </a:rPr>
              <a:t>与</a:t>
            </a:r>
            <a:r>
              <a:rPr lang="zh-CN" altLang="en-US" sz="2000" b="1" dirty="0">
                <a:solidFill>
                  <a:srgbClr val="FF3300"/>
                </a:solidFill>
                <a:ea typeface="宋体" panose="02010600030101010101" pitchFamily="2" charset="-122"/>
              </a:rPr>
              <a:t>通信服务</a:t>
            </a:r>
            <a:r>
              <a:rPr lang="zh-CN" altLang="en-US" sz="2000" b="1" dirty="0">
                <a:ea typeface="宋体" panose="02010600030101010101" pitchFamily="2" charset="-122"/>
              </a:rPr>
              <a:t>分离</a:t>
            </a:r>
            <a:endParaRPr lang="zh-CN" altLang="en-US" sz="2000" b="1" dirty="0">
              <a:ea typeface="宋体" panose="02010600030101010101" pitchFamily="2" charset="-122"/>
            </a:endParaRPr>
          </a:p>
        </p:txBody>
      </p:sp>
      <p:pic>
        <p:nvPicPr>
          <p:cNvPr id="24581" name="Picture 4" descr="09-03"/>
          <p:cNvPicPr>
            <a:picLocks noChangeAspect="1"/>
          </p:cNvPicPr>
          <p:nvPr/>
        </p:nvPicPr>
        <p:blipFill>
          <a:blip r:embed="rId1"/>
          <a:stretch>
            <a:fillRect/>
          </a:stretch>
        </p:blipFill>
        <p:spPr>
          <a:xfrm>
            <a:off x="460375" y="1230313"/>
            <a:ext cx="8207375" cy="3411537"/>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6627" name="Rectangle 2"/>
          <p:cNvSpPr>
            <a:spLocks noGrp="1"/>
          </p:cNvSpPr>
          <p:nvPr>
            <p:ph type="title"/>
          </p:nvPr>
        </p:nvSpPr>
        <p:spPr>
          <a:xfrm>
            <a:off x="0" y="0"/>
            <a:ext cx="9144000" cy="809625"/>
          </a:xfrm>
        </p:spPr>
        <p:txBody>
          <a:bodyPr vert="horz" wrap="square" lIns="91440" tIns="45720" rIns="91440" bIns="45720" anchor="ctr" anchorCtr="0"/>
          <a:lstStyle/>
          <a:p>
            <a:pPr eaLnBrk="1" hangingPunct="1"/>
            <a:r>
              <a:rPr lang="en-US" altLang="zh-CN" sz="4000" dirty="0">
                <a:ea typeface="宋体" panose="02010600030101010101" pitchFamily="2" charset="-122"/>
              </a:rPr>
              <a:t>Distribution of Security Mechanisms</a:t>
            </a:r>
            <a:endParaRPr lang="en-US" altLang="zh-CN" sz="4000" dirty="0">
              <a:ea typeface="宋体" panose="02010600030101010101" pitchFamily="2" charset="-122"/>
            </a:endParaRPr>
          </a:p>
        </p:txBody>
      </p:sp>
      <p:pic>
        <p:nvPicPr>
          <p:cNvPr id="26628" name="Picture 4" descr="09-04"/>
          <p:cNvPicPr>
            <a:picLocks noChangeAspect="1"/>
          </p:cNvPicPr>
          <p:nvPr/>
        </p:nvPicPr>
        <p:blipFill>
          <a:blip r:embed="rId1"/>
          <a:stretch>
            <a:fillRect/>
          </a:stretch>
        </p:blipFill>
        <p:spPr>
          <a:xfrm>
            <a:off x="827088" y="1978025"/>
            <a:ext cx="7489825" cy="2628900"/>
          </a:xfrm>
          <a:prstGeom prst="rect">
            <a:avLst/>
          </a:prstGeom>
          <a:noFill/>
          <a:ln w="9525">
            <a:noFill/>
          </a:ln>
        </p:spPr>
      </p:pic>
      <p:sp>
        <p:nvSpPr>
          <p:cNvPr id="6" name="Rectangle 3"/>
          <p:cNvSpPr txBox="1">
            <a:spLocks noChangeArrowheads="1"/>
          </p:cNvSpPr>
          <p:nvPr/>
        </p:nvSpPr>
        <p:spPr bwMode="auto">
          <a:xfrm>
            <a:off x="209550" y="5213350"/>
            <a:ext cx="893445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gn="ctr" rtl="0" eaLnBrk="0" fontAlgn="base" hangingPunct="0">
              <a:spcBef>
                <a:spcPct val="20000"/>
              </a:spcBef>
              <a:spcAft>
                <a:spcPct val="0"/>
              </a:spcAft>
              <a:buClr>
                <a:schemeClr val="accent2"/>
              </a:buClr>
              <a:buChar cha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vl6pPr marL="26670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6pPr>
            <a:lvl7pPr marL="31242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7pPr>
            <a:lvl8pPr marL="35814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8pPr>
            <a:lvl9pPr marL="4038600" indent="-381000" algn="l" rtl="0" fontAlgn="base">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609600" marR="0" lvl="0" indent="-6096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SMDS---</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交换多兆位数据服务，是由</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Bell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开发的通信服务</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在</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载波线路上可达</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155Mbps(</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欧洲</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一种无连接的传输系统，致力于降低开销， 将</a:t>
            </a:r>
            <a:r>
              <a:rPr kumimoji="0"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差错检查留给了智能终端设备</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，例如交换机和路由器。 </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 name="矩形 2"/>
          <p:cNvSpPr/>
          <p:nvPr/>
        </p:nvSpPr>
        <p:spPr>
          <a:xfrm>
            <a:off x="412750" y="809625"/>
            <a:ext cx="8318500" cy="957263"/>
          </a:xfrm>
          <a:prstGeom prst="rect">
            <a:avLst/>
          </a:prstGeom>
        </p:spPr>
        <p:txBody>
          <a:bodyPr>
            <a:spAutoFit/>
          </a:bodyPr>
          <a:lstStyle/>
          <a:p>
            <a:pPr marL="285750" marR="0" lvl="0" indent="-28575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Several sites connected through</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 wide-area backbone service.</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安全可以通过</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SMDS</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路由器处的加密设备提供，或通过</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SSL</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，或安全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RPC</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8675" name="Rectangle 2"/>
          <p:cNvSpPr>
            <a:spLocks noGrp="1"/>
          </p:cNvSpPr>
          <p:nvPr>
            <p:ph type="title"/>
          </p:nvPr>
        </p:nvSpPr>
        <p:spPr>
          <a:xfrm>
            <a:off x="0" y="0"/>
            <a:ext cx="9144000" cy="774700"/>
          </a:xfrm>
        </p:spPr>
        <p:txBody>
          <a:bodyPr vert="horz" wrap="square" lIns="91440" tIns="45720" rIns="91440" bIns="45720" anchor="ctr" anchorCtr="0"/>
          <a:lstStyle/>
          <a:p>
            <a:pPr eaLnBrk="1" hangingPunct="1"/>
            <a:r>
              <a:rPr lang="en-US" altLang="zh-CN" dirty="0">
                <a:ea typeface="宋体" panose="02010600030101010101" pitchFamily="2" charset="-122"/>
              </a:rPr>
              <a:t>Distribution of Security Mechanisms</a:t>
            </a:r>
            <a:endParaRPr lang="en-US" altLang="zh-CN" dirty="0">
              <a:ea typeface="宋体" panose="02010600030101010101" pitchFamily="2" charset="-122"/>
            </a:endParaRPr>
          </a:p>
        </p:txBody>
      </p:sp>
      <p:sp>
        <p:nvSpPr>
          <p:cNvPr id="28676" name="Rectangle 3"/>
          <p:cNvSpPr>
            <a:spLocks noGrp="1"/>
          </p:cNvSpPr>
          <p:nvPr>
            <p:ph idx="1"/>
          </p:nvPr>
        </p:nvSpPr>
        <p:spPr>
          <a:xfrm>
            <a:off x="393700" y="5387975"/>
            <a:ext cx="7793038" cy="481013"/>
          </a:xfrm>
        </p:spPr>
        <p:txBody>
          <a:bodyPr vert="horz" wrap="square" lIns="91440" tIns="45720" rIns="91440" bIns="45720" anchor="t" anchorCtr="0"/>
          <a:lstStyle/>
          <a:p>
            <a:pPr algn="l" eaLnBrk="1" hangingPunct="1">
              <a:buNone/>
            </a:pPr>
            <a:r>
              <a:rPr lang="en-US" altLang="zh-CN" sz="1800" dirty="0">
                <a:ea typeface="宋体" panose="02010600030101010101" pitchFamily="2" charset="-122"/>
              </a:rPr>
              <a:t>Figure. The principle of RISSC as applied to secure distributed systems. </a:t>
            </a:r>
            <a:endParaRPr lang="en-US" altLang="zh-CN" sz="1800" dirty="0">
              <a:ea typeface="宋体" panose="02010600030101010101" pitchFamily="2" charset="-122"/>
            </a:endParaRPr>
          </a:p>
        </p:txBody>
      </p:sp>
      <p:pic>
        <p:nvPicPr>
          <p:cNvPr id="28677" name="Picture 4" descr="09-05"/>
          <p:cNvPicPr>
            <a:picLocks noChangeAspect="1"/>
          </p:cNvPicPr>
          <p:nvPr/>
        </p:nvPicPr>
        <p:blipFill>
          <a:blip r:embed="rId1"/>
          <a:stretch>
            <a:fillRect/>
          </a:stretch>
        </p:blipFill>
        <p:spPr>
          <a:xfrm>
            <a:off x="682625" y="2171700"/>
            <a:ext cx="8067675" cy="2811463"/>
          </a:xfrm>
          <a:prstGeom prst="rect">
            <a:avLst/>
          </a:prstGeom>
          <a:noFill/>
          <a:ln w="9525">
            <a:noFill/>
          </a:ln>
        </p:spPr>
      </p:pic>
      <p:sp>
        <p:nvSpPr>
          <p:cNvPr id="28678" name="Rectangle 5"/>
          <p:cNvSpPr/>
          <p:nvPr/>
        </p:nvSpPr>
        <p:spPr>
          <a:xfrm>
            <a:off x="98425" y="706438"/>
            <a:ext cx="8945563" cy="1238250"/>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algn="l" eaLnBrk="1" hangingPunct="1">
              <a:lnSpc>
                <a:spcPct val="150000"/>
              </a:lnSpc>
              <a:buFont typeface="Wingdings" panose="05000000000000000000" pitchFamily="2" charset="2"/>
              <a:buChar char="Ø"/>
            </a:pPr>
            <a:r>
              <a:rPr lang="en-US" altLang="zh-CN" sz="1800" dirty="0">
                <a:ea typeface="宋体" panose="02010600030101010101" pitchFamily="2" charset="-122"/>
              </a:rPr>
              <a:t>RISSC(reduced interfaces for secure system components)</a:t>
            </a:r>
            <a:r>
              <a:rPr lang="zh-CN" altLang="en-US" sz="1800" dirty="0">
                <a:ea typeface="宋体" panose="02010600030101010101" pitchFamily="2" charset="-122"/>
              </a:rPr>
              <a:t>分离思想，遵循防止客户及其应用程序直接访问关键服务。</a:t>
            </a:r>
            <a:r>
              <a:rPr lang="zh-CN" altLang="en-US" sz="1800" dirty="0">
                <a:solidFill>
                  <a:srgbClr val="FF0000"/>
                </a:solidFill>
                <a:ea typeface="宋体" panose="02010600030101010101" pitchFamily="2" charset="-122"/>
              </a:rPr>
              <a:t>需要保护的服务与资源放在安全服务器上，</a:t>
            </a:r>
            <a:r>
              <a:rPr lang="zh-CN" altLang="en-US" sz="1800" dirty="0">
                <a:ea typeface="宋体" panose="02010600030101010101" pitchFamily="2" charset="-122"/>
              </a:rPr>
              <a:t>一般用户只能访问普通服务器。</a:t>
            </a:r>
            <a:endParaRPr lang="zh-CN" altLang="en-US" sz="1800" dirty="0">
              <a:ea typeface="宋体" panose="02010600030101010101" pitchFamily="2" charset="-122"/>
            </a:endParaRPr>
          </a:p>
        </p:txBody>
      </p:sp>
      <p:sp>
        <p:nvSpPr>
          <p:cNvPr id="28679" name="矩形 6"/>
          <p:cNvSpPr/>
          <p:nvPr/>
        </p:nvSpPr>
        <p:spPr>
          <a:xfrm>
            <a:off x="393700" y="5951538"/>
            <a:ext cx="8356600" cy="646112"/>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en-US" altLang="zh-CN" sz="1800" dirty="0">
                <a:ea typeface="宋体" panose="02010600030101010101" pitchFamily="2" charset="-122"/>
              </a:rPr>
              <a:t>TCB (Trusted computing base)</a:t>
            </a:r>
            <a:r>
              <a:rPr lang="zh-CN" altLang="en-US" sz="1800" dirty="0">
                <a:ea typeface="宋体" panose="02010600030101010101" pitchFamily="2" charset="-122"/>
              </a:rPr>
              <a:t>是一个系统中</a:t>
            </a:r>
            <a:r>
              <a:rPr lang="zh-CN" altLang="en-US" sz="1800" dirty="0">
                <a:solidFill>
                  <a:srgbClr val="FF0066"/>
                </a:solidFill>
                <a:ea typeface="宋体" panose="02010600030101010101" pitchFamily="2" charset="-122"/>
              </a:rPr>
              <a:t>安全机制的集合</a:t>
            </a:r>
            <a:r>
              <a:rPr lang="zh-CN" altLang="en-US" sz="1800" dirty="0">
                <a:ea typeface="宋体" panose="02010600030101010101" pitchFamily="2" charset="-122"/>
              </a:rPr>
              <a:t>，用于执行一个安全策略。一般根据安全性需求将</a:t>
            </a:r>
            <a:r>
              <a:rPr lang="zh-CN" altLang="en-US" sz="1800" dirty="0">
                <a:solidFill>
                  <a:srgbClr val="FF0066"/>
                </a:solidFill>
                <a:ea typeface="宋体" panose="02010600030101010101" pitchFamily="2" charset="-122"/>
              </a:rPr>
              <a:t>服务分部在不同的机器</a:t>
            </a:r>
            <a:r>
              <a:rPr lang="zh-CN" altLang="en-US" sz="1800" dirty="0">
                <a:ea typeface="宋体" panose="02010600030101010101" pitchFamily="2" charset="-122"/>
              </a:rPr>
              <a:t>以提高系统的安全性。</a:t>
            </a:r>
            <a:endParaRPr lang="zh-CN" altLang="en-US" sz="1800" dirty="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0723" name="Rectangle 7"/>
          <p:cNvSpPr/>
          <p:nvPr/>
        </p:nvSpPr>
        <p:spPr>
          <a:xfrm>
            <a:off x="0" y="0"/>
            <a:ext cx="9144000" cy="1143000"/>
          </a:xfrm>
          <a:prstGeom prst="rect">
            <a:avLst/>
          </a:prstGeom>
          <a:noFill/>
          <a:ln w="9525">
            <a:noFill/>
          </a:ln>
        </p:spPr>
        <p:txBody>
          <a:bodyPr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4400" dirty="0">
                <a:solidFill>
                  <a:srgbClr val="FF0000"/>
                </a:solidFill>
                <a:ea typeface="宋体" panose="02010600030101010101" pitchFamily="2" charset="-122"/>
              </a:rPr>
              <a:t>Cryptography </a:t>
            </a:r>
            <a:endParaRPr lang="en-US" altLang="zh-CN" sz="4400" dirty="0">
              <a:solidFill>
                <a:srgbClr val="FF0000"/>
              </a:solidFill>
              <a:ea typeface="宋体" panose="02010600030101010101" pitchFamily="2" charset="-122"/>
            </a:endParaRPr>
          </a:p>
        </p:txBody>
      </p:sp>
      <p:sp>
        <p:nvSpPr>
          <p:cNvPr id="5" name="Text Box 3"/>
          <p:cNvSpPr txBox="1">
            <a:spLocks noChangeArrowheads="1"/>
          </p:cNvSpPr>
          <p:nvPr/>
        </p:nvSpPr>
        <p:spPr bwMode="auto">
          <a:xfrm>
            <a:off x="228600" y="1143000"/>
            <a:ext cx="8686800" cy="2678113"/>
          </a:xfrm>
          <a:prstGeom prst="rect">
            <a:avLst/>
          </a:prstGeom>
          <a:noFill/>
          <a:ln w="12700">
            <a:noFill/>
            <a:miter lim="800000"/>
          </a:ln>
          <a:effectLst/>
        </p:spPr>
        <p:txBody>
          <a:bodyPr>
            <a:spAutoFit/>
          </a:bodyPr>
          <a:lstStyle/>
          <a:p>
            <a:pPr marR="0" defTabSz="914400" eaLnBrk="1" hangingPunct="1">
              <a:lnSpc>
                <a:spcPct val="150000"/>
              </a:lnSpc>
              <a:buClrTx/>
              <a:buSzTx/>
              <a:buFontTx/>
              <a:buNone/>
              <a:defRPr/>
            </a:pPr>
            <a:r>
              <a:rPr kumimoji="0" lang="en-GB" altLang="zh-CN" sz="28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Cryptography </a:t>
            </a:r>
            <a:endParaRPr kumimoji="0" lang="en-GB" altLang="zh-CN" sz="28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defTabSz="914400" eaLnBrk="1" hangingPunct="1">
              <a:lnSpc>
                <a:spcPct val="150000"/>
              </a:lnSpc>
              <a:buClrTx/>
              <a:buSzTx/>
              <a:buFontTx/>
              <a:buNone/>
              <a:defRPr/>
            </a:pPr>
            <a:r>
              <a:rPr kumimoji="0" lang="en-GB" altLang="zh-CN" sz="28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It is the science of making the cost of acquiring</a:t>
            </a:r>
            <a:r>
              <a:rPr kumimoji="0" lang="zh-CN" altLang="en-US" sz="24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zh-CN" altLang="en-US" sz="2400" b="0" kern="1200" cap="none" spc="0" normalizeH="0" baseline="0" noProof="0" dirty="0">
                <a:latin typeface="Times New Roman" panose="02020603050405020304" pitchFamily="18" charset="0"/>
                <a:ea typeface="宋体" panose="02010600030101010101" pitchFamily="2" charset="-122"/>
                <a:cs typeface="+mn-cs"/>
              </a:rPr>
              <a:t>捕获</a:t>
            </a:r>
            <a:r>
              <a:rPr kumimoji="0" lang="zh-CN" altLang="en-US" sz="24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en-GB" sz="2400" i="1" kern="1200" cap="none" spc="0" normalizeH="0" baseline="0" noProof="0" dirty="0">
                <a:effectLst>
                  <a:outerShdw blurRad="38100" dist="38100" dir="2700000" algn="tl">
                    <a:srgbClr val="C0C0C0"/>
                  </a:outerShdw>
                </a:effectLst>
                <a:latin typeface="Times New Roman" panose="02020603050405020304" pitchFamily="18" charset="0"/>
                <a:ea typeface="+mn-ea"/>
                <a:cs typeface="+mn-cs"/>
              </a:rPr>
              <a:t> </a:t>
            </a:r>
            <a:r>
              <a:rPr kumimoji="0" lang="en-GB" altLang="zh-CN" sz="28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or altering data greater than the potential value gained.  </a:t>
            </a:r>
            <a:r>
              <a:rPr kumimoji="0" lang="zh-CN" altLang="en-US"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例如</a:t>
            </a:r>
            <a:r>
              <a:rPr kumimoji="0" lang="en-US" altLang="zh-CN"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:D</a:t>
            </a:r>
            <a:r>
              <a:rPr kumimoji="0" lang="zh-CN" altLang="en-US"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本身价值为</a:t>
            </a:r>
            <a:r>
              <a:rPr kumimoji="0" lang="en-US" altLang="zh-CN"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X,</a:t>
            </a:r>
            <a:r>
              <a:rPr kumimoji="0" lang="zh-CN" altLang="en-US"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为获取</a:t>
            </a:r>
            <a:r>
              <a:rPr kumimoji="0" lang="en-US" altLang="zh-CN"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D,</a:t>
            </a:r>
            <a:r>
              <a:rPr kumimoji="0" lang="zh-CN" altLang="en-US"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花费</a:t>
            </a:r>
            <a:r>
              <a:rPr kumimoji="0" lang="en-US" altLang="zh-CN"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Y,</a:t>
            </a:r>
            <a:r>
              <a:rPr kumimoji="0" lang="zh-CN" altLang="en-US"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且</a:t>
            </a:r>
            <a:r>
              <a:rPr kumimoji="0" lang="en-US" altLang="zh-CN"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Y&gt;X.</a:t>
            </a:r>
            <a:endParaRPr kumimoji="0" lang="en-US" altLang="zh-CN" sz="24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 name="Text Box 4"/>
          <p:cNvSpPr txBox="1">
            <a:spLocks noChangeArrowheads="1"/>
          </p:cNvSpPr>
          <p:nvPr/>
        </p:nvSpPr>
        <p:spPr bwMode="auto">
          <a:xfrm>
            <a:off x="254000" y="3795713"/>
            <a:ext cx="8686800" cy="2678113"/>
          </a:xfrm>
          <a:prstGeom prst="rect">
            <a:avLst/>
          </a:prstGeom>
          <a:noFill/>
          <a:ln w="12700">
            <a:noFill/>
            <a:miter lim="800000"/>
          </a:ln>
          <a:effectLst/>
        </p:spPr>
        <p:txBody>
          <a:bodyPr>
            <a:spAutoFit/>
          </a:bodyPr>
          <a:lstStyle/>
          <a:p>
            <a:pPr marR="0" defTabSz="914400" eaLnBrk="1" hangingPunct="1">
              <a:lnSpc>
                <a:spcPct val="150000"/>
              </a:lnSpc>
              <a:buClrTx/>
              <a:buSzTx/>
              <a:buFontTx/>
              <a:buNone/>
              <a:defRPr/>
            </a:pPr>
            <a:r>
              <a:rPr kumimoji="0" lang="en-GB" altLang="zh-CN" sz="28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Cryptosystem</a:t>
            </a:r>
            <a:r>
              <a:rPr kumimoji="0" lang="en-GB" altLang="zh-CN" sz="2800" kern="1200" cap="none" spc="0" normalizeH="0" baseline="0" noProof="0" dirty="0">
                <a:solidFill>
                  <a:srgbClr val="FF505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endParaRPr kumimoji="0" lang="en-GB" altLang="zh-CN" sz="2800" kern="1200" cap="none" spc="0" normalizeH="0" baseline="0" noProof="0" dirty="0">
              <a:solidFill>
                <a:srgbClr val="FF505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defTabSz="914400" eaLnBrk="1" hangingPunct="1">
              <a:lnSpc>
                <a:spcPct val="150000"/>
              </a:lnSpc>
              <a:buClrTx/>
              <a:buSzTx/>
              <a:buFontTx/>
              <a:buNone/>
              <a:defRPr/>
            </a:pPr>
            <a:r>
              <a:rPr kumimoji="0" lang="en-GB" altLang="zh-CN" sz="28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It is a system that provides techniques for mangling a message into an apparently intelligible form and than  recovering it from the mangled form(</a:t>
            </a:r>
            <a:r>
              <a:rPr kumimoji="0" lang="zh-CN" altLang="en-US" sz="28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加</a:t>
            </a:r>
            <a:r>
              <a:rPr kumimoji="0" lang="en-US" altLang="zh-CN" sz="28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zh-CN" altLang="en-US" sz="28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解密</a:t>
            </a:r>
            <a:r>
              <a:rPr kumimoji="0" lang="en-GB" altLang="zh-CN" sz="28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endParaRPr kumimoji="0" lang="en-US" altLang="zh-CN" sz="2800" i="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页脚占位符 2"/>
          <p:cNvSpPr txBox="1">
            <a:spLocks noGrp="1"/>
          </p:cNvSpPr>
          <p:nvPr>
            <p:ph type="ftr" sz="quarter" idx="11"/>
          </p:nvPr>
        </p:nvSpPr>
        <p:spPr>
          <a:xfrm>
            <a:off x="546100" y="6515100"/>
            <a:ext cx="7950200" cy="342900"/>
          </a:xfrm>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1747" name="Text Box 3"/>
          <p:cNvSpPr txBox="1"/>
          <p:nvPr/>
        </p:nvSpPr>
        <p:spPr>
          <a:xfrm>
            <a:off x="220663" y="1143000"/>
            <a:ext cx="8801100" cy="441325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lnSpc>
                <a:spcPct val="160000"/>
              </a:lnSpc>
              <a:spcBef>
                <a:spcPct val="50000"/>
              </a:spcBef>
              <a:buClrTx/>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古典密码：如代换密码(</a:t>
            </a:r>
            <a:r>
              <a:rPr lang="en-US" altLang="zh-CN" b="1" dirty="0">
                <a:latin typeface="宋体" panose="02010600030101010101" pitchFamily="2" charset="-122"/>
                <a:ea typeface="宋体" panose="02010600030101010101" pitchFamily="2" charset="-122"/>
              </a:rPr>
              <a:t>substitution cipher)</a:t>
            </a:r>
            <a:r>
              <a:rPr lang="zh-CN" altLang="en-US" b="1" dirty="0">
                <a:latin typeface="宋体" panose="02010600030101010101" pitchFamily="2" charset="-122"/>
                <a:ea typeface="宋体" panose="02010600030101010101" pitchFamily="2" charset="-122"/>
              </a:rPr>
              <a:t>中，一个字母或一组字母被另一个字母或另一组字母所代替</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隐藏明文(</a:t>
            </a:r>
            <a:r>
              <a:rPr lang="en-US" altLang="zh-CN" b="1" dirty="0">
                <a:latin typeface="宋体" panose="02010600030101010101" pitchFamily="2" charset="-122"/>
                <a:ea typeface="宋体" panose="02010600030101010101" pitchFamily="2" charset="-122"/>
              </a:rPr>
              <a:t>Caesar cipher)。1949</a:t>
            </a:r>
            <a:r>
              <a:rPr lang="zh-CN" altLang="en-US" b="1" dirty="0">
                <a:latin typeface="宋体" panose="02010600030101010101" pitchFamily="2" charset="-122"/>
                <a:ea typeface="宋体" panose="02010600030101010101" pitchFamily="2" charset="-122"/>
              </a:rPr>
              <a:t>年，信息论创始人</a:t>
            </a:r>
            <a:r>
              <a:rPr lang="en-US" altLang="zh-CN" b="1" dirty="0">
                <a:latin typeface="宋体" panose="02010600030101010101" pitchFamily="2" charset="-122"/>
                <a:ea typeface="宋体" panose="02010600030101010101" pitchFamily="2" charset="-122"/>
              </a:rPr>
              <a:t>C.E.Shannon</a:t>
            </a:r>
            <a:r>
              <a:rPr lang="zh-CN" altLang="en-US" b="1" dirty="0">
                <a:latin typeface="宋体" panose="02010600030101010101" pitchFamily="2" charset="-122"/>
                <a:ea typeface="宋体" panose="02010600030101010101" pitchFamily="2" charset="-122"/>
              </a:rPr>
              <a:t>论证了一般该方法得到的密文几乎都是可破的，引起了密码学危机。</a:t>
            </a:r>
            <a:endParaRPr lang="zh-CN" altLang="en-US" b="1" dirty="0">
              <a:latin typeface="宋体" panose="02010600030101010101" pitchFamily="2" charset="-122"/>
              <a:ea typeface="宋体" panose="02010600030101010101" pitchFamily="2" charset="-122"/>
            </a:endParaRPr>
          </a:p>
          <a:p>
            <a:pPr marL="0" lvl="0" indent="0" algn="l">
              <a:lnSpc>
                <a:spcPct val="160000"/>
              </a:lnSpc>
              <a:spcBef>
                <a:spcPct val="50000"/>
              </a:spcBef>
              <a:buClrTx/>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20世纪60年代起，随着电子、计算机、结构代数和可计算性理论的发展，产生了数据加密标准</a:t>
            </a:r>
            <a:r>
              <a:rPr lang="en-US" altLang="zh-CN" b="1" dirty="0">
                <a:latin typeface="宋体" panose="02010600030101010101" pitchFamily="2" charset="-122"/>
                <a:ea typeface="宋体" panose="02010600030101010101" pitchFamily="2" charset="-122"/>
              </a:rPr>
              <a:t>DES</a:t>
            </a:r>
            <a:r>
              <a:rPr lang="zh-CN" altLang="en-US" b="1" dirty="0">
                <a:latin typeface="宋体" panose="02010600030101010101" pitchFamily="2" charset="-122"/>
                <a:ea typeface="宋体" panose="02010600030101010101" pitchFamily="2" charset="-122"/>
              </a:rPr>
              <a:t>和公钥密钥体制</a:t>
            </a:r>
            <a:r>
              <a:rPr lang="en-US" altLang="zh-CN" b="1"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近代密码学</a:t>
            </a:r>
            <a:r>
              <a:rPr lang="zh-CN" altLang="en-US" b="1" dirty="0">
                <a:latin typeface="宋体" panose="02010600030101010101" pitchFamily="2" charset="-122"/>
                <a:ea typeface="宋体" panose="02010600030101010101" pitchFamily="2" charset="-122"/>
              </a:rPr>
              <a:t>发展史上两个重要的里程碑。</a:t>
            </a:r>
            <a:endParaRPr lang="zh-CN" altLang="en-US" b="1" dirty="0">
              <a:latin typeface="宋体" panose="02010600030101010101" pitchFamily="2" charset="-122"/>
              <a:ea typeface="宋体" panose="02010600030101010101" pitchFamily="2" charset="-122"/>
            </a:endParaRPr>
          </a:p>
        </p:txBody>
      </p:sp>
      <p:sp>
        <p:nvSpPr>
          <p:cNvPr id="31748" name="Rectangle 7"/>
          <p:cNvSpPr/>
          <p:nvPr/>
        </p:nvSpPr>
        <p:spPr>
          <a:xfrm>
            <a:off x="0" y="0"/>
            <a:ext cx="9144000" cy="887413"/>
          </a:xfrm>
          <a:prstGeom prst="rect">
            <a:avLst/>
          </a:prstGeom>
          <a:noFill/>
          <a:ln w="9525">
            <a:noFill/>
          </a:ln>
        </p:spPr>
        <p:txBody>
          <a:bodyPr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4400" dirty="0">
                <a:solidFill>
                  <a:srgbClr val="FF0000"/>
                </a:solidFill>
                <a:ea typeface="宋体" panose="02010600030101010101" pitchFamily="2" charset="-122"/>
              </a:rPr>
              <a:t>Cryptography </a:t>
            </a:r>
            <a:endParaRPr lang="en-US" altLang="zh-CN" sz="4400" dirty="0">
              <a:solidFill>
                <a:srgbClr val="FF0000"/>
              </a:solidFill>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2771"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古典密码</a:t>
            </a:r>
            <a:r>
              <a:rPr lang="zh-CN" altLang="en-US" dirty="0">
                <a:solidFill>
                  <a:schemeClr val="tx1"/>
                </a:solidFill>
                <a:ea typeface="宋体" panose="02010600030101010101" pitchFamily="2" charset="-122"/>
              </a:rPr>
              <a:t>和</a:t>
            </a:r>
            <a:r>
              <a:rPr lang="zh-CN" altLang="en-US" dirty="0">
                <a:ea typeface="宋体" panose="02010600030101010101" pitchFamily="2" charset="-122"/>
              </a:rPr>
              <a:t>现代密码</a:t>
            </a:r>
            <a:endParaRPr lang="zh-CN" altLang="en-US" dirty="0">
              <a:ea typeface="宋体" panose="02010600030101010101" pitchFamily="2" charset="-122"/>
            </a:endParaRPr>
          </a:p>
        </p:txBody>
      </p:sp>
      <p:sp>
        <p:nvSpPr>
          <p:cNvPr id="231427" name="Rectangle 3"/>
          <p:cNvSpPr>
            <a:spLocks noGrp="1"/>
          </p:cNvSpPr>
          <p:nvPr>
            <p:ph idx="1"/>
          </p:nvPr>
        </p:nvSpPr>
        <p:spPr>
          <a:xfrm>
            <a:off x="0" y="930275"/>
            <a:ext cx="9144000" cy="554672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古典密码（受限密码）</a:t>
            </a:r>
            <a:endParaRPr lang="zh-CN" altLang="en-US" sz="2200" b="1" dirty="0">
              <a:latin typeface="宋体" panose="02010600030101010101" pitchFamily="2" charset="-122"/>
              <a:ea typeface="宋体" panose="02010600030101010101" pitchFamily="2" charset="-122"/>
            </a:endParaRPr>
          </a:p>
          <a:p>
            <a:pPr lvl="1" eaLnBrk="1" hangingPunct="1">
              <a:lnSpc>
                <a:spcPct val="150000"/>
              </a:lnSpc>
              <a:buChar char="–"/>
            </a:pPr>
            <a:r>
              <a:rPr lang="zh-CN" altLang="en-US" sz="2200" b="1" dirty="0">
                <a:latin typeface="宋体" panose="02010600030101010101" pitchFamily="2" charset="-122"/>
                <a:ea typeface="宋体" panose="02010600030101010101" pitchFamily="2" charset="-122"/>
              </a:rPr>
              <a:t>代替密码（</a:t>
            </a:r>
            <a:r>
              <a:rPr lang="en-US" altLang="zh-CN" sz="2200" b="1" dirty="0">
                <a:latin typeface="宋体" panose="02010600030101010101" pitchFamily="2" charset="-122"/>
                <a:ea typeface="宋体" panose="02010600030101010101" pitchFamily="2" charset="-122"/>
              </a:rPr>
              <a:t>Substitution Cipher</a:t>
            </a:r>
            <a:r>
              <a:rPr lang="zh-CN" altLang="en-US"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a:p>
            <a:pPr lvl="1" eaLnBrk="1" hangingPunct="1">
              <a:lnSpc>
                <a:spcPct val="150000"/>
              </a:lnSpc>
              <a:buChar char="–"/>
            </a:pPr>
            <a:r>
              <a:rPr lang="zh-CN" altLang="en-US" sz="2200" b="1" dirty="0">
                <a:latin typeface="宋体" panose="02010600030101010101" pitchFamily="2" charset="-122"/>
                <a:ea typeface="宋体" panose="02010600030101010101" pitchFamily="2" charset="-122"/>
              </a:rPr>
              <a:t>换位密码 </a:t>
            </a:r>
            <a:r>
              <a:rPr lang="en-US" altLang="zh-CN" sz="2200" b="1" dirty="0">
                <a:latin typeface="宋体" panose="02010600030101010101" pitchFamily="2" charset="-122"/>
                <a:ea typeface="宋体" panose="02010600030101010101" pitchFamily="2" charset="-122"/>
              </a:rPr>
              <a:t>(transposition Cipher)</a:t>
            </a:r>
            <a:r>
              <a:rPr lang="zh-CN" altLang="en-US"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a:p>
            <a:pPr lvl="1" eaLnBrk="1" hangingPunct="1">
              <a:lnSpc>
                <a:spcPct val="150000"/>
              </a:lnSpc>
              <a:buChar char="–"/>
            </a:pPr>
            <a:r>
              <a:rPr lang="zh-CN" altLang="en-US" sz="2200" b="1" dirty="0">
                <a:latin typeface="宋体" panose="02010600030101010101" pitchFamily="2" charset="-122"/>
                <a:ea typeface="宋体" panose="02010600030101010101" pitchFamily="2" charset="-122"/>
              </a:rPr>
              <a:t>代替密码与换位密码的组合；</a:t>
            </a:r>
            <a:endParaRPr lang="zh-CN" altLang="en-US" sz="2200"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缺陷</a:t>
            </a:r>
            <a:endParaRPr lang="zh-CN" altLang="en-US" sz="2200" b="1" dirty="0">
              <a:latin typeface="宋体" panose="02010600030101010101" pitchFamily="2" charset="-122"/>
              <a:ea typeface="宋体" panose="02010600030101010101" pitchFamily="2" charset="-122"/>
            </a:endParaRPr>
          </a:p>
          <a:p>
            <a:pPr lvl="1" eaLnBrk="1" hangingPunct="1">
              <a:lnSpc>
                <a:spcPct val="150000"/>
              </a:lnSpc>
            </a:pPr>
            <a:r>
              <a:rPr lang="zh-CN" altLang="en-US" sz="2200" b="1" dirty="0">
                <a:latin typeface="宋体" panose="02010600030101010101" pitchFamily="2" charset="-122"/>
                <a:ea typeface="宋体" panose="02010600030101010101" pitchFamily="2" charset="-122"/>
              </a:rPr>
              <a:t>密码体制的安全性在于算法本身的保密性</a:t>
            </a:r>
            <a:r>
              <a:rPr lang="en-US" altLang="zh-CN"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2200" b="1" dirty="0">
                <a:latin typeface="宋体" panose="02010600030101010101" pitchFamily="2" charset="-122"/>
                <a:ea typeface="宋体" panose="02010600030101010101" pitchFamily="2" charset="-122"/>
              </a:rPr>
              <a:t>不适合大规模生产</a:t>
            </a:r>
            <a:r>
              <a:rPr lang="en-US" altLang="zh-CN"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2200" b="1" dirty="0">
                <a:latin typeface="宋体" panose="02010600030101010101" pitchFamily="2" charset="-122"/>
                <a:ea typeface="宋体" panose="02010600030101010101" pitchFamily="2" charset="-122"/>
              </a:rPr>
              <a:t>不适合较大的或者人员变动较大的组织</a:t>
            </a:r>
            <a:r>
              <a:rPr lang="en-US" altLang="zh-CN"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2200" b="1" dirty="0">
                <a:latin typeface="宋体" panose="02010600030101010101" pitchFamily="2" charset="-122"/>
                <a:ea typeface="宋体" panose="02010600030101010101" pitchFamily="2" charset="-122"/>
              </a:rPr>
              <a:t>用户无法了解算法的安全性</a:t>
            </a:r>
            <a:r>
              <a:rPr lang="en-US" altLang="zh-CN"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31427">
                                            <p:txEl>
                                              <p:pRg st="0" end="0"/>
                                            </p:txEl>
                                          </p:spTgt>
                                        </p:tgtEl>
                                        <p:attrNameLst>
                                          <p:attrName>style.visibility</p:attrName>
                                        </p:attrNameLst>
                                      </p:cBhvr>
                                      <p:to>
                                        <p:strVal val="visible"/>
                                      </p:to>
                                    </p:set>
                                    <p:anim calcmode="discrete" valueType="clr">
                                      <p:cBhvr override="childStyle">
                                        <p:cTn id="7" dur="80"/>
                                        <p:tgtEl>
                                          <p:spTgt spid="23142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3142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31427">
                                            <p:txEl>
                                              <p:pRg st="0" end="0"/>
                                            </p:txEl>
                                          </p:spTgt>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231427">
                                            <p:txEl>
                                              <p:pRg st="1" end="1"/>
                                            </p:txEl>
                                          </p:spTgt>
                                        </p:tgtEl>
                                        <p:attrNameLst>
                                          <p:attrName>style.visibility</p:attrName>
                                        </p:attrNameLst>
                                      </p:cBhvr>
                                      <p:to>
                                        <p:strVal val="visible"/>
                                      </p:to>
                                    </p:set>
                                    <p:anim calcmode="discrete" valueType="clr">
                                      <p:cBhvr override="childStyle">
                                        <p:cTn id="12" dur="80"/>
                                        <p:tgtEl>
                                          <p:spTgt spid="23142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31427">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231427">
                                            <p:txEl>
                                              <p:pRg st="1" end="1"/>
                                            </p:txEl>
                                          </p:spTgt>
                                        </p:tgtEl>
                                        <p:attrNameLst>
                                          <p:attrName>fill.type</p:attrName>
                                        </p:attrNameLst>
                                      </p:cBhvr>
                                      <p:to>
                                        <p:strVal val="solid"/>
                                      </p:to>
                                    </p:set>
                                  </p:childTnLst>
                                </p:cTn>
                              </p:par>
                              <p:par>
                                <p:cTn id="15" presetID="27" presetClass="entr" presetSubtype="0" fill="hold" grpId="0" nodeType="withEffect">
                                  <p:stCondLst>
                                    <p:cond delay="0"/>
                                  </p:stCondLst>
                                  <p:iterate type="lt">
                                    <p:tmPct val="50000"/>
                                  </p:iterate>
                                  <p:childTnLst>
                                    <p:set>
                                      <p:cBhvr>
                                        <p:cTn id="16" dur="1" fill="hold">
                                          <p:stCondLst>
                                            <p:cond delay="0"/>
                                          </p:stCondLst>
                                        </p:cTn>
                                        <p:tgtEl>
                                          <p:spTgt spid="231427">
                                            <p:txEl>
                                              <p:pRg st="2" end="2"/>
                                            </p:txEl>
                                          </p:spTgt>
                                        </p:tgtEl>
                                        <p:attrNameLst>
                                          <p:attrName>style.visibility</p:attrName>
                                        </p:attrNameLst>
                                      </p:cBhvr>
                                      <p:to>
                                        <p:strVal val="visible"/>
                                      </p:to>
                                    </p:set>
                                    <p:anim calcmode="discrete" valueType="clr">
                                      <p:cBhvr override="childStyle">
                                        <p:cTn id="17" dur="80"/>
                                        <p:tgtEl>
                                          <p:spTgt spid="23142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231427">
                                            <p:txEl>
                                              <p:pRg st="2" end="2"/>
                                            </p:txEl>
                                          </p:spTgt>
                                        </p:tgtEl>
                                        <p:attrNameLst>
                                          <p:attrName>fillcolor</p:attrName>
                                        </p:attrNameLst>
                                      </p:cBhvr>
                                      <p:tavLst>
                                        <p:tav tm="0">
                                          <p:val>
                                            <p:clrVal>
                                              <a:schemeClr val="accent2"/>
                                            </p:clrVal>
                                          </p:val>
                                        </p:tav>
                                        <p:tav tm="50000">
                                          <p:val>
                                            <p:clrVal>
                                              <a:schemeClr val="hlink"/>
                                            </p:clrVal>
                                          </p:val>
                                        </p:tav>
                                      </p:tavLst>
                                    </p:anim>
                                    <p:set>
                                      <p:cBhvr>
                                        <p:cTn id="19" dur="80"/>
                                        <p:tgtEl>
                                          <p:spTgt spid="231427">
                                            <p:txEl>
                                              <p:pRg st="2" end="2"/>
                                            </p:txEl>
                                          </p:spTgt>
                                        </p:tgtEl>
                                        <p:attrNameLst>
                                          <p:attrName>fill.type</p:attrName>
                                        </p:attrNameLst>
                                      </p:cBhvr>
                                      <p:to>
                                        <p:strVal val="solid"/>
                                      </p:to>
                                    </p:set>
                                  </p:childTnLst>
                                </p:cTn>
                              </p:par>
                              <p:par>
                                <p:cTn id="20" presetID="27" presetClass="entr" presetSubtype="0" fill="hold" grpId="0" nodeType="withEffect">
                                  <p:stCondLst>
                                    <p:cond delay="0"/>
                                  </p:stCondLst>
                                  <p:iterate type="lt">
                                    <p:tmPct val="50000"/>
                                  </p:iterate>
                                  <p:childTnLst>
                                    <p:set>
                                      <p:cBhvr>
                                        <p:cTn id="21" dur="1" fill="hold">
                                          <p:stCondLst>
                                            <p:cond delay="0"/>
                                          </p:stCondLst>
                                        </p:cTn>
                                        <p:tgtEl>
                                          <p:spTgt spid="231427">
                                            <p:txEl>
                                              <p:pRg st="3" end="3"/>
                                            </p:txEl>
                                          </p:spTgt>
                                        </p:tgtEl>
                                        <p:attrNameLst>
                                          <p:attrName>style.visibility</p:attrName>
                                        </p:attrNameLst>
                                      </p:cBhvr>
                                      <p:to>
                                        <p:strVal val="visible"/>
                                      </p:to>
                                    </p:set>
                                    <p:anim calcmode="discrete" valueType="clr">
                                      <p:cBhvr override="childStyle">
                                        <p:cTn id="22" dur="80"/>
                                        <p:tgtEl>
                                          <p:spTgt spid="23142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231427">
                                            <p:txEl>
                                              <p:pRg st="3" end="3"/>
                                            </p:txEl>
                                          </p:spTgt>
                                        </p:tgtEl>
                                        <p:attrNameLst>
                                          <p:attrName>fillcolor</p:attrName>
                                        </p:attrNameLst>
                                      </p:cBhvr>
                                      <p:tavLst>
                                        <p:tav tm="0">
                                          <p:val>
                                            <p:clrVal>
                                              <a:schemeClr val="accent2"/>
                                            </p:clrVal>
                                          </p:val>
                                        </p:tav>
                                        <p:tav tm="50000">
                                          <p:val>
                                            <p:clrVal>
                                              <a:schemeClr val="hlink"/>
                                            </p:clrVal>
                                          </p:val>
                                        </p:tav>
                                      </p:tavLst>
                                    </p:anim>
                                    <p:set>
                                      <p:cBhvr>
                                        <p:cTn id="24" dur="80"/>
                                        <p:tgtEl>
                                          <p:spTgt spid="231427">
                                            <p:txEl>
                                              <p:pRg st="3" end="3"/>
                                            </p:txEl>
                                          </p:spTgt>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27" presetClass="entr" presetSubtype="0" fill="hold" grpId="0" nodeType="clickEffect">
                                  <p:stCondLst>
                                    <p:cond delay="0"/>
                                  </p:stCondLst>
                                  <p:iterate type="lt">
                                    <p:tmPct val="50000"/>
                                  </p:iterate>
                                  <p:childTnLst>
                                    <p:set>
                                      <p:cBhvr>
                                        <p:cTn id="28" dur="1" fill="hold">
                                          <p:stCondLst>
                                            <p:cond delay="0"/>
                                          </p:stCondLst>
                                        </p:cTn>
                                        <p:tgtEl>
                                          <p:spTgt spid="231427">
                                            <p:txEl>
                                              <p:pRg st="4" end="4"/>
                                            </p:txEl>
                                          </p:spTgt>
                                        </p:tgtEl>
                                        <p:attrNameLst>
                                          <p:attrName>style.visibility</p:attrName>
                                        </p:attrNameLst>
                                      </p:cBhvr>
                                      <p:to>
                                        <p:strVal val="visible"/>
                                      </p:to>
                                    </p:set>
                                    <p:anim calcmode="discrete" valueType="clr">
                                      <p:cBhvr override="childStyle">
                                        <p:cTn id="29" dur="80"/>
                                        <p:tgtEl>
                                          <p:spTgt spid="23142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231427">
                                            <p:txEl>
                                              <p:pRg st="4" end="4"/>
                                            </p:txEl>
                                          </p:spTgt>
                                        </p:tgtEl>
                                        <p:attrNameLst>
                                          <p:attrName>fillcolor</p:attrName>
                                        </p:attrNameLst>
                                      </p:cBhvr>
                                      <p:tavLst>
                                        <p:tav tm="0">
                                          <p:val>
                                            <p:clrVal>
                                              <a:schemeClr val="accent2"/>
                                            </p:clrVal>
                                          </p:val>
                                        </p:tav>
                                        <p:tav tm="50000">
                                          <p:val>
                                            <p:clrVal>
                                              <a:schemeClr val="hlink"/>
                                            </p:clrVal>
                                          </p:val>
                                        </p:tav>
                                      </p:tavLst>
                                    </p:anim>
                                    <p:set>
                                      <p:cBhvr>
                                        <p:cTn id="31" dur="80"/>
                                        <p:tgtEl>
                                          <p:spTgt spid="231427">
                                            <p:txEl>
                                              <p:pRg st="4" end="4"/>
                                            </p:txEl>
                                          </p:spTgt>
                                        </p:tgtEl>
                                        <p:attrNameLst>
                                          <p:attrName>fill.type</p:attrName>
                                        </p:attrNameLst>
                                      </p:cBhvr>
                                      <p:to>
                                        <p:strVal val="solid"/>
                                      </p:to>
                                    </p:set>
                                  </p:childTnLst>
                                </p:cTn>
                              </p:par>
                              <p:par>
                                <p:cTn id="32" presetID="27" presetClass="entr" presetSubtype="0" fill="hold" grpId="0" nodeType="withEffect">
                                  <p:stCondLst>
                                    <p:cond delay="0"/>
                                  </p:stCondLst>
                                  <p:iterate type="lt">
                                    <p:tmPct val="50000"/>
                                  </p:iterate>
                                  <p:childTnLst>
                                    <p:set>
                                      <p:cBhvr>
                                        <p:cTn id="33" dur="1" fill="hold">
                                          <p:stCondLst>
                                            <p:cond delay="0"/>
                                          </p:stCondLst>
                                        </p:cTn>
                                        <p:tgtEl>
                                          <p:spTgt spid="231427">
                                            <p:txEl>
                                              <p:pRg st="5" end="5"/>
                                            </p:txEl>
                                          </p:spTgt>
                                        </p:tgtEl>
                                        <p:attrNameLst>
                                          <p:attrName>style.visibility</p:attrName>
                                        </p:attrNameLst>
                                      </p:cBhvr>
                                      <p:to>
                                        <p:strVal val="visible"/>
                                      </p:to>
                                    </p:set>
                                    <p:anim calcmode="discrete" valueType="clr">
                                      <p:cBhvr override="childStyle">
                                        <p:cTn id="34" dur="80"/>
                                        <p:tgtEl>
                                          <p:spTgt spid="23142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231427">
                                            <p:txEl>
                                              <p:pRg st="5" end="5"/>
                                            </p:txEl>
                                          </p:spTgt>
                                        </p:tgtEl>
                                        <p:attrNameLst>
                                          <p:attrName>fillcolor</p:attrName>
                                        </p:attrNameLst>
                                      </p:cBhvr>
                                      <p:tavLst>
                                        <p:tav tm="0">
                                          <p:val>
                                            <p:clrVal>
                                              <a:schemeClr val="accent2"/>
                                            </p:clrVal>
                                          </p:val>
                                        </p:tav>
                                        <p:tav tm="50000">
                                          <p:val>
                                            <p:clrVal>
                                              <a:schemeClr val="hlink"/>
                                            </p:clrVal>
                                          </p:val>
                                        </p:tav>
                                      </p:tavLst>
                                    </p:anim>
                                    <p:set>
                                      <p:cBhvr>
                                        <p:cTn id="36" dur="80"/>
                                        <p:tgtEl>
                                          <p:spTgt spid="231427">
                                            <p:txEl>
                                              <p:pRg st="5" end="5"/>
                                            </p:txEl>
                                          </p:spTgt>
                                        </p:tgtEl>
                                        <p:attrNameLst>
                                          <p:attrName>fill.type</p:attrName>
                                        </p:attrNameLst>
                                      </p:cBhvr>
                                      <p:to>
                                        <p:strVal val="solid"/>
                                      </p:to>
                                    </p:set>
                                  </p:childTnLst>
                                </p:cTn>
                              </p:par>
                              <p:par>
                                <p:cTn id="37" presetID="27" presetClass="entr" presetSubtype="0" fill="hold" grpId="0" nodeType="withEffect">
                                  <p:stCondLst>
                                    <p:cond delay="0"/>
                                  </p:stCondLst>
                                  <p:iterate type="lt">
                                    <p:tmPct val="50000"/>
                                  </p:iterate>
                                  <p:childTnLst>
                                    <p:set>
                                      <p:cBhvr>
                                        <p:cTn id="38" dur="1" fill="hold">
                                          <p:stCondLst>
                                            <p:cond delay="0"/>
                                          </p:stCondLst>
                                        </p:cTn>
                                        <p:tgtEl>
                                          <p:spTgt spid="231427">
                                            <p:txEl>
                                              <p:pRg st="6" end="6"/>
                                            </p:txEl>
                                          </p:spTgt>
                                        </p:tgtEl>
                                        <p:attrNameLst>
                                          <p:attrName>style.visibility</p:attrName>
                                        </p:attrNameLst>
                                      </p:cBhvr>
                                      <p:to>
                                        <p:strVal val="visible"/>
                                      </p:to>
                                    </p:set>
                                    <p:anim calcmode="discrete" valueType="clr">
                                      <p:cBhvr override="childStyle">
                                        <p:cTn id="39" dur="80"/>
                                        <p:tgtEl>
                                          <p:spTgt spid="231427">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231427">
                                            <p:txEl>
                                              <p:pRg st="6" end="6"/>
                                            </p:txEl>
                                          </p:spTgt>
                                        </p:tgtEl>
                                        <p:attrNameLst>
                                          <p:attrName>fillcolor</p:attrName>
                                        </p:attrNameLst>
                                      </p:cBhvr>
                                      <p:tavLst>
                                        <p:tav tm="0">
                                          <p:val>
                                            <p:clrVal>
                                              <a:schemeClr val="accent2"/>
                                            </p:clrVal>
                                          </p:val>
                                        </p:tav>
                                        <p:tav tm="50000">
                                          <p:val>
                                            <p:clrVal>
                                              <a:schemeClr val="hlink"/>
                                            </p:clrVal>
                                          </p:val>
                                        </p:tav>
                                      </p:tavLst>
                                    </p:anim>
                                    <p:set>
                                      <p:cBhvr>
                                        <p:cTn id="41" dur="80"/>
                                        <p:tgtEl>
                                          <p:spTgt spid="231427">
                                            <p:txEl>
                                              <p:pRg st="6" end="6"/>
                                            </p:txEl>
                                          </p:spTgt>
                                        </p:tgtEl>
                                        <p:attrNameLst>
                                          <p:attrName>fill.type</p:attrName>
                                        </p:attrNameLst>
                                      </p:cBhvr>
                                      <p:to>
                                        <p:strVal val="solid"/>
                                      </p:to>
                                    </p:set>
                                  </p:childTnLst>
                                </p:cTn>
                              </p:par>
                              <p:par>
                                <p:cTn id="42" presetID="27" presetClass="entr" presetSubtype="0" fill="hold" grpId="0" nodeType="withEffect">
                                  <p:stCondLst>
                                    <p:cond delay="0"/>
                                  </p:stCondLst>
                                  <p:iterate type="lt">
                                    <p:tmPct val="50000"/>
                                  </p:iterate>
                                  <p:childTnLst>
                                    <p:set>
                                      <p:cBhvr>
                                        <p:cTn id="43" dur="1" fill="hold">
                                          <p:stCondLst>
                                            <p:cond delay="0"/>
                                          </p:stCondLst>
                                        </p:cTn>
                                        <p:tgtEl>
                                          <p:spTgt spid="231427">
                                            <p:txEl>
                                              <p:pRg st="7" end="7"/>
                                            </p:txEl>
                                          </p:spTgt>
                                        </p:tgtEl>
                                        <p:attrNameLst>
                                          <p:attrName>style.visibility</p:attrName>
                                        </p:attrNameLst>
                                      </p:cBhvr>
                                      <p:to>
                                        <p:strVal val="visible"/>
                                      </p:to>
                                    </p:set>
                                    <p:anim calcmode="discrete" valueType="clr">
                                      <p:cBhvr override="childStyle">
                                        <p:cTn id="44" dur="80"/>
                                        <p:tgtEl>
                                          <p:spTgt spid="231427">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5" dur="80"/>
                                        <p:tgtEl>
                                          <p:spTgt spid="231427">
                                            <p:txEl>
                                              <p:pRg st="7" end="7"/>
                                            </p:txEl>
                                          </p:spTgt>
                                        </p:tgtEl>
                                        <p:attrNameLst>
                                          <p:attrName>fillcolor</p:attrName>
                                        </p:attrNameLst>
                                      </p:cBhvr>
                                      <p:tavLst>
                                        <p:tav tm="0">
                                          <p:val>
                                            <p:clrVal>
                                              <a:schemeClr val="accent2"/>
                                            </p:clrVal>
                                          </p:val>
                                        </p:tav>
                                        <p:tav tm="50000">
                                          <p:val>
                                            <p:clrVal>
                                              <a:schemeClr val="hlink"/>
                                            </p:clrVal>
                                          </p:val>
                                        </p:tav>
                                      </p:tavLst>
                                    </p:anim>
                                    <p:set>
                                      <p:cBhvr>
                                        <p:cTn id="46" dur="80"/>
                                        <p:tgtEl>
                                          <p:spTgt spid="231427">
                                            <p:txEl>
                                              <p:pRg st="7" end="7"/>
                                            </p:txEl>
                                          </p:spTgt>
                                        </p:tgtEl>
                                        <p:attrNameLst>
                                          <p:attrName>fill.type</p:attrName>
                                        </p:attrNameLst>
                                      </p:cBhvr>
                                      <p:to>
                                        <p:strVal val="solid"/>
                                      </p:to>
                                    </p:set>
                                  </p:childTnLst>
                                </p:cTn>
                              </p:par>
                              <p:par>
                                <p:cTn id="47" presetID="27" presetClass="entr" presetSubtype="0" fill="hold" grpId="0" nodeType="withEffect">
                                  <p:stCondLst>
                                    <p:cond delay="0"/>
                                  </p:stCondLst>
                                  <p:iterate type="lt">
                                    <p:tmPct val="50000"/>
                                  </p:iterate>
                                  <p:childTnLst>
                                    <p:set>
                                      <p:cBhvr>
                                        <p:cTn id="48" dur="1" fill="hold">
                                          <p:stCondLst>
                                            <p:cond delay="0"/>
                                          </p:stCondLst>
                                        </p:cTn>
                                        <p:tgtEl>
                                          <p:spTgt spid="231427">
                                            <p:txEl>
                                              <p:pRg st="8" end="8"/>
                                            </p:txEl>
                                          </p:spTgt>
                                        </p:tgtEl>
                                        <p:attrNameLst>
                                          <p:attrName>style.visibility</p:attrName>
                                        </p:attrNameLst>
                                      </p:cBhvr>
                                      <p:to>
                                        <p:strVal val="visible"/>
                                      </p:to>
                                    </p:set>
                                    <p:anim calcmode="discrete" valueType="clr">
                                      <p:cBhvr override="childStyle">
                                        <p:cTn id="49" dur="80"/>
                                        <p:tgtEl>
                                          <p:spTgt spid="231427">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231427">
                                            <p:txEl>
                                              <p:pRg st="8" end="8"/>
                                            </p:txEl>
                                          </p:spTgt>
                                        </p:tgtEl>
                                        <p:attrNameLst>
                                          <p:attrName>fillcolor</p:attrName>
                                        </p:attrNameLst>
                                      </p:cBhvr>
                                      <p:tavLst>
                                        <p:tav tm="0">
                                          <p:val>
                                            <p:clrVal>
                                              <a:schemeClr val="accent2"/>
                                            </p:clrVal>
                                          </p:val>
                                        </p:tav>
                                        <p:tav tm="50000">
                                          <p:val>
                                            <p:clrVal>
                                              <a:schemeClr val="hlink"/>
                                            </p:clrVal>
                                          </p:val>
                                        </p:tav>
                                      </p:tavLst>
                                    </p:anim>
                                    <p:set>
                                      <p:cBhvr>
                                        <p:cTn id="51" dur="80"/>
                                        <p:tgtEl>
                                          <p:spTgt spid="231427">
                                            <p:txEl>
                                              <p:pRg st="8" end="8"/>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3795"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古典密码和现代密码（</a:t>
            </a:r>
            <a:r>
              <a:rPr lang="en-US" altLang="zh-CN" dirty="0">
                <a:ea typeface="宋体" panose="02010600030101010101" pitchFamily="2" charset="-122"/>
              </a:rPr>
              <a:t>Cont.</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33796" name="Rectangle 3"/>
          <p:cNvSpPr>
            <a:spLocks noGrp="1"/>
          </p:cNvSpPr>
          <p:nvPr>
            <p:ph idx="1"/>
          </p:nvPr>
        </p:nvSpPr>
        <p:spPr>
          <a:xfrm>
            <a:off x="188913" y="1076325"/>
            <a:ext cx="8701087" cy="2155825"/>
          </a:xfrm>
        </p:spPr>
        <p:txBody>
          <a:bodyPr vert="horz" wrap="square" lIns="91440" tIns="45720" rIns="91440" bIns="45720" anchor="t" anchorCtr="0"/>
          <a:lstStyle/>
          <a:p>
            <a:pPr algn="l" eaLnBrk="1" hangingPunct="1">
              <a:lnSpc>
                <a:spcPct val="120000"/>
              </a:lnSpc>
            </a:pPr>
            <a:r>
              <a:rPr lang="zh-CN" altLang="en-US" b="1" dirty="0">
                <a:latin typeface="宋体" panose="02010600030101010101" pitchFamily="2" charset="-122"/>
                <a:ea typeface="宋体" panose="02010600030101010101" pitchFamily="2" charset="-122"/>
              </a:rPr>
              <a:t>现代密码算法</a:t>
            </a:r>
            <a:endParaRPr lang="zh-CN" altLang="en-US" b="1" dirty="0">
              <a:latin typeface="宋体" panose="02010600030101010101" pitchFamily="2" charset="-122"/>
              <a:ea typeface="宋体" panose="02010600030101010101" pitchFamily="2" charset="-122"/>
            </a:endParaRPr>
          </a:p>
          <a:p>
            <a:pPr lvl="1" eaLnBrk="1" hangingPunct="1">
              <a:lnSpc>
                <a:spcPct val="120000"/>
              </a:lnSpc>
            </a:pPr>
            <a:r>
              <a:rPr lang="zh-CN" altLang="en-US" sz="2400" b="1" dirty="0">
                <a:latin typeface="宋体" panose="02010600030101010101" pitchFamily="2" charset="-122"/>
                <a:ea typeface="宋体" panose="02010600030101010101" pitchFamily="2" charset="-122"/>
              </a:rPr>
              <a:t>算法和密钥分开</a:t>
            </a:r>
            <a:r>
              <a:rPr lang="en-US" altLang="zh-CN"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lvl="1" eaLnBrk="1" hangingPunct="1">
              <a:lnSpc>
                <a:spcPct val="120000"/>
              </a:lnSpc>
            </a:pPr>
            <a:r>
              <a:rPr lang="zh-CN" altLang="en-US" sz="2400" b="1" dirty="0">
                <a:latin typeface="宋体" panose="02010600030101010101" pitchFamily="2" charset="-122"/>
                <a:ea typeface="宋体" panose="02010600030101010101" pitchFamily="2" charset="-122"/>
              </a:rPr>
              <a:t>密码算法可以公开，密钥保密</a:t>
            </a:r>
            <a:r>
              <a:rPr lang="en-US" altLang="zh-CN"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lvl="1" eaLnBrk="1" hangingPunct="1">
              <a:lnSpc>
                <a:spcPct val="120000"/>
              </a:lnSpc>
            </a:pPr>
            <a:r>
              <a:rPr lang="zh-CN" altLang="en-US" sz="2400" b="1" dirty="0">
                <a:latin typeface="宋体" panose="02010600030101010101" pitchFamily="2" charset="-122"/>
                <a:ea typeface="宋体" panose="02010600030101010101" pitchFamily="2" charset="-122"/>
              </a:rPr>
              <a:t>密码系统的安全性在于</a:t>
            </a:r>
            <a:r>
              <a:rPr lang="zh-CN" altLang="en-US" sz="2400" b="1" dirty="0">
                <a:solidFill>
                  <a:srgbClr val="FF3300"/>
                </a:solidFill>
                <a:latin typeface="宋体" panose="02010600030101010101" pitchFamily="2" charset="-122"/>
                <a:ea typeface="宋体" panose="02010600030101010101" pitchFamily="2" charset="-122"/>
              </a:rPr>
              <a:t>密钥</a:t>
            </a:r>
            <a:r>
              <a:rPr lang="zh-CN" altLang="en-US" sz="2400" b="1" dirty="0">
                <a:latin typeface="宋体" panose="02010600030101010101" pitchFamily="2" charset="-122"/>
                <a:ea typeface="宋体" panose="02010600030101010101" pitchFamily="2" charset="-122"/>
              </a:rPr>
              <a:t>的</a:t>
            </a:r>
            <a:r>
              <a:rPr lang="zh-CN" altLang="en-US" sz="2400" b="1" dirty="0">
                <a:solidFill>
                  <a:srgbClr val="FF3300"/>
                </a:solidFill>
                <a:latin typeface="宋体" panose="02010600030101010101" pitchFamily="2" charset="-122"/>
                <a:ea typeface="宋体" panose="02010600030101010101" pitchFamily="2" charset="-122"/>
              </a:rPr>
              <a:t>保密性</a:t>
            </a:r>
            <a:r>
              <a:rPr lang="en-US" altLang="zh-CN" sz="2400" b="1" dirty="0">
                <a:solidFill>
                  <a:srgbClr val="FF3300"/>
                </a:solidFill>
                <a:latin typeface="宋体" panose="02010600030101010101" pitchFamily="2" charset="-122"/>
                <a:ea typeface="宋体" panose="02010600030101010101" pitchFamily="2" charset="-122"/>
              </a:rPr>
              <a:t>;</a:t>
            </a:r>
            <a:endParaRPr lang="zh-CN" altLang="en-US" sz="2400" b="1" dirty="0">
              <a:solidFill>
                <a:srgbClr val="FF3300"/>
              </a:solidFill>
              <a:latin typeface="宋体" panose="02010600030101010101" pitchFamily="2" charset="-122"/>
              <a:ea typeface="宋体" panose="02010600030101010101" pitchFamily="2" charset="-122"/>
            </a:endParaRPr>
          </a:p>
        </p:txBody>
      </p:sp>
      <p:sp>
        <p:nvSpPr>
          <p:cNvPr id="33797" name="Line 4"/>
          <p:cNvSpPr/>
          <p:nvPr/>
        </p:nvSpPr>
        <p:spPr>
          <a:xfrm>
            <a:off x="3392488" y="5222875"/>
            <a:ext cx="1871662" cy="0"/>
          </a:xfrm>
          <a:prstGeom prst="line">
            <a:avLst/>
          </a:prstGeom>
          <a:ln w="28575" cap="flat" cmpd="sng">
            <a:solidFill>
              <a:schemeClr val="tx1"/>
            </a:solidFill>
            <a:prstDash val="solid"/>
            <a:headEnd type="none" w="sm" len="sm"/>
            <a:tailEnd type="triangle" w="med" len="med"/>
          </a:ln>
        </p:spPr>
      </p:sp>
      <p:sp>
        <p:nvSpPr>
          <p:cNvPr id="33798" name="Text Box 5"/>
          <p:cNvSpPr txBox="1"/>
          <p:nvPr/>
        </p:nvSpPr>
        <p:spPr>
          <a:xfrm>
            <a:off x="482600" y="4719638"/>
            <a:ext cx="515938" cy="1079500"/>
          </a:xfrm>
          <a:prstGeom prst="rect">
            <a:avLst/>
          </a:prstGeom>
          <a:noFill/>
          <a:ln w="12700">
            <a:noFill/>
          </a:ln>
        </p:spPr>
        <p:txBody>
          <a:bodyPr vert="eaVert">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发送方</a:t>
            </a:r>
            <a:endParaRPr lang="zh-CN" altLang="en-US" dirty="0">
              <a:latin typeface="Times New Roman" panose="02020603050405020304" pitchFamily="18" charset="0"/>
              <a:ea typeface="宋体" panose="02010600030101010101" pitchFamily="2" charset="-122"/>
            </a:endParaRPr>
          </a:p>
        </p:txBody>
      </p:sp>
      <p:sp>
        <p:nvSpPr>
          <p:cNvPr id="33799" name="Text Box 6"/>
          <p:cNvSpPr txBox="1"/>
          <p:nvPr/>
        </p:nvSpPr>
        <p:spPr>
          <a:xfrm>
            <a:off x="8448675" y="4575175"/>
            <a:ext cx="515938" cy="1439863"/>
          </a:xfrm>
          <a:prstGeom prst="rect">
            <a:avLst/>
          </a:prstGeom>
          <a:noFill/>
          <a:ln w="12700">
            <a:noFill/>
          </a:ln>
        </p:spPr>
        <p:txBody>
          <a:bodyPr vert="eaVert">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接收方</a:t>
            </a:r>
            <a:endParaRPr lang="zh-CN" altLang="en-US" dirty="0">
              <a:latin typeface="Times New Roman" panose="02020603050405020304" pitchFamily="18" charset="0"/>
              <a:ea typeface="宋体" panose="02010600030101010101" pitchFamily="2" charset="-122"/>
            </a:endParaRPr>
          </a:p>
        </p:txBody>
      </p:sp>
      <p:sp>
        <p:nvSpPr>
          <p:cNvPr id="33800" name="Text Box 7"/>
          <p:cNvSpPr txBox="1"/>
          <p:nvPr/>
        </p:nvSpPr>
        <p:spPr>
          <a:xfrm>
            <a:off x="931863" y="4960938"/>
            <a:ext cx="576262"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m</a:t>
            </a:r>
            <a:endParaRPr lang="en-US" altLang="zh-CN" dirty="0">
              <a:latin typeface="Times New Roman" panose="02020603050405020304" pitchFamily="18" charset="0"/>
              <a:ea typeface="宋体" panose="02010600030101010101" pitchFamily="2" charset="-122"/>
            </a:endParaRPr>
          </a:p>
        </p:txBody>
      </p:sp>
      <p:sp>
        <p:nvSpPr>
          <p:cNvPr id="33801" name="Text Box 8"/>
          <p:cNvSpPr txBox="1"/>
          <p:nvPr/>
        </p:nvSpPr>
        <p:spPr>
          <a:xfrm>
            <a:off x="7912100" y="4935538"/>
            <a:ext cx="576263"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m</a:t>
            </a:r>
            <a:endParaRPr lang="en-US" altLang="zh-CN" dirty="0">
              <a:latin typeface="Times New Roman" panose="02020603050405020304" pitchFamily="18" charset="0"/>
              <a:ea typeface="宋体" panose="02010600030101010101" pitchFamily="2" charset="-122"/>
            </a:endParaRPr>
          </a:p>
        </p:txBody>
      </p:sp>
      <p:sp>
        <p:nvSpPr>
          <p:cNvPr id="33802" name="Rectangle 9"/>
          <p:cNvSpPr/>
          <p:nvPr/>
        </p:nvSpPr>
        <p:spPr>
          <a:xfrm>
            <a:off x="2151063" y="4851400"/>
            <a:ext cx="1250950" cy="644525"/>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zh-CN" altLang="en-US" dirty="0">
                <a:latin typeface="Times New Roman" panose="02020603050405020304" pitchFamily="18" charset="0"/>
                <a:ea typeface="宋体" panose="02010600030101010101" pitchFamily="2" charset="-122"/>
              </a:rPr>
              <a:t>加密</a:t>
            </a:r>
            <a:r>
              <a:rPr lang="en-US" altLang="zh-CN" dirty="0">
                <a:latin typeface="Times New Roman" panose="02020603050405020304" pitchFamily="18" charset="0"/>
                <a:ea typeface="宋体" panose="02010600030101010101" pitchFamily="2" charset="-122"/>
              </a:rPr>
              <a:t>E</a:t>
            </a:r>
            <a:endParaRPr lang="en-US" altLang="zh-CN" dirty="0">
              <a:latin typeface="Times New Roman" panose="02020603050405020304" pitchFamily="18" charset="0"/>
              <a:ea typeface="宋体" panose="02010600030101010101" pitchFamily="2" charset="-122"/>
            </a:endParaRPr>
          </a:p>
        </p:txBody>
      </p:sp>
      <p:sp>
        <p:nvSpPr>
          <p:cNvPr id="33803" name="Rectangle 10"/>
          <p:cNvSpPr/>
          <p:nvPr/>
        </p:nvSpPr>
        <p:spPr>
          <a:xfrm>
            <a:off x="5226050" y="4840288"/>
            <a:ext cx="1152525" cy="717550"/>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zh-CN" altLang="en-US" dirty="0">
                <a:latin typeface="Times New Roman" panose="02020603050405020304" pitchFamily="18" charset="0"/>
                <a:ea typeface="宋体" panose="02010600030101010101" pitchFamily="2" charset="-122"/>
              </a:rPr>
              <a:t>解密</a:t>
            </a:r>
            <a:r>
              <a:rPr lang="en-US" altLang="zh-CN" dirty="0">
                <a:latin typeface="Times New Roman" panose="02020603050405020304" pitchFamily="18" charset="0"/>
                <a:ea typeface="宋体" panose="02010600030101010101" pitchFamily="2" charset="-122"/>
              </a:rPr>
              <a:t>D</a:t>
            </a:r>
            <a:endParaRPr lang="en-US" altLang="zh-CN" dirty="0">
              <a:latin typeface="Times New Roman" panose="02020603050405020304" pitchFamily="18" charset="0"/>
              <a:ea typeface="宋体" panose="02010600030101010101" pitchFamily="2" charset="-122"/>
            </a:endParaRPr>
          </a:p>
        </p:txBody>
      </p:sp>
      <p:sp>
        <p:nvSpPr>
          <p:cNvPr id="33804" name="Text Box 11"/>
          <p:cNvSpPr txBox="1"/>
          <p:nvPr/>
        </p:nvSpPr>
        <p:spPr>
          <a:xfrm>
            <a:off x="3519488" y="4646613"/>
            <a:ext cx="1871662"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c= E</a:t>
            </a:r>
            <a:r>
              <a:rPr lang="en-US" altLang="zh-CN" baseline="-25000" dirty="0">
                <a:latin typeface="Times New Roman" panose="02020603050405020304" pitchFamily="18" charset="0"/>
                <a:ea typeface="宋体" panose="02010600030101010101" pitchFamily="2" charset="-122"/>
              </a:rPr>
              <a:t>k </a:t>
            </a:r>
            <a:r>
              <a:rPr lang="en-US" altLang="zh-CN" dirty="0">
                <a:latin typeface="Times New Roman" panose="02020603050405020304" pitchFamily="18" charset="0"/>
                <a:ea typeface="宋体" panose="02010600030101010101" pitchFamily="2" charset="-122"/>
              </a:rPr>
              <a:t>(m)</a:t>
            </a:r>
            <a:endParaRPr lang="en-US" altLang="zh-CN" dirty="0">
              <a:latin typeface="Times New Roman" panose="02020603050405020304" pitchFamily="18" charset="0"/>
              <a:ea typeface="宋体" panose="02010600030101010101" pitchFamily="2" charset="-122"/>
            </a:endParaRPr>
          </a:p>
        </p:txBody>
      </p:sp>
      <p:sp>
        <p:nvSpPr>
          <p:cNvPr id="33805" name="Text Box 12"/>
          <p:cNvSpPr txBox="1"/>
          <p:nvPr/>
        </p:nvSpPr>
        <p:spPr>
          <a:xfrm>
            <a:off x="6399213" y="4646613"/>
            <a:ext cx="1871662"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m= E</a:t>
            </a:r>
            <a:r>
              <a:rPr lang="en-US" altLang="zh-CN" baseline="-25000" dirty="0">
                <a:latin typeface="Times New Roman" panose="02020603050405020304" pitchFamily="18" charset="0"/>
                <a:ea typeface="宋体" panose="02010600030101010101" pitchFamily="2" charset="-122"/>
              </a:rPr>
              <a:t>k </a:t>
            </a:r>
            <a:r>
              <a:rPr lang="en-US" altLang="zh-CN" dirty="0">
                <a:latin typeface="Times New Roman" panose="02020603050405020304" pitchFamily="18" charset="0"/>
                <a:ea typeface="宋体" panose="02010600030101010101" pitchFamily="2" charset="-122"/>
              </a:rPr>
              <a:t>(c)</a:t>
            </a:r>
            <a:endParaRPr lang="en-US" altLang="zh-CN" dirty="0">
              <a:latin typeface="Times New Roman" panose="02020603050405020304" pitchFamily="18" charset="0"/>
              <a:ea typeface="宋体" panose="02010600030101010101" pitchFamily="2" charset="-122"/>
            </a:endParaRPr>
          </a:p>
        </p:txBody>
      </p:sp>
      <p:sp>
        <p:nvSpPr>
          <p:cNvPr id="33806" name="Line 13"/>
          <p:cNvSpPr/>
          <p:nvPr/>
        </p:nvSpPr>
        <p:spPr>
          <a:xfrm flipV="1">
            <a:off x="6410325" y="5211763"/>
            <a:ext cx="1550988" cy="1587"/>
          </a:xfrm>
          <a:prstGeom prst="line">
            <a:avLst/>
          </a:prstGeom>
          <a:ln w="57150" cap="flat" cmpd="sng">
            <a:solidFill>
              <a:schemeClr val="tx1"/>
            </a:solidFill>
            <a:prstDash val="solid"/>
            <a:headEnd type="none" w="sm" len="sm"/>
            <a:tailEnd type="triangle" w="med" len="med"/>
          </a:ln>
        </p:spPr>
      </p:sp>
      <p:sp>
        <p:nvSpPr>
          <p:cNvPr id="33807" name="Line 14"/>
          <p:cNvSpPr/>
          <p:nvPr/>
        </p:nvSpPr>
        <p:spPr>
          <a:xfrm flipV="1">
            <a:off x="1328738" y="5224463"/>
            <a:ext cx="855662" cy="11112"/>
          </a:xfrm>
          <a:prstGeom prst="line">
            <a:avLst/>
          </a:prstGeom>
          <a:ln w="57150" cap="flat" cmpd="sng">
            <a:solidFill>
              <a:schemeClr val="tx1"/>
            </a:solidFill>
            <a:prstDash val="solid"/>
            <a:headEnd type="none" w="sm" len="sm"/>
            <a:tailEnd type="triangle" w="med" len="med"/>
          </a:ln>
        </p:spPr>
      </p:sp>
      <p:sp>
        <p:nvSpPr>
          <p:cNvPr id="33808" name="Text Box 15"/>
          <p:cNvSpPr txBox="1"/>
          <p:nvPr/>
        </p:nvSpPr>
        <p:spPr>
          <a:xfrm>
            <a:off x="3914775" y="5924550"/>
            <a:ext cx="1495425"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密码分析</a:t>
            </a:r>
            <a:endParaRPr lang="zh-CN" altLang="en-US" dirty="0">
              <a:latin typeface="Times New Roman" panose="02020603050405020304" pitchFamily="18" charset="0"/>
              <a:ea typeface="宋体" panose="02010600030101010101" pitchFamily="2" charset="-122"/>
            </a:endParaRPr>
          </a:p>
        </p:txBody>
      </p:sp>
      <p:sp>
        <p:nvSpPr>
          <p:cNvPr id="33809" name="Text Box 16"/>
          <p:cNvSpPr txBox="1"/>
          <p:nvPr/>
        </p:nvSpPr>
        <p:spPr>
          <a:xfrm>
            <a:off x="3092450" y="3968750"/>
            <a:ext cx="2767013" cy="396875"/>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sz="2000" dirty="0">
                <a:latin typeface="Times New Roman" panose="02020603050405020304" pitchFamily="18" charset="0"/>
                <a:ea typeface="宋体" panose="02010600030101010101" pitchFamily="2" charset="-122"/>
              </a:rPr>
              <a:t>密钥分配（秘密信道）</a:t>
            </a:r>
            <a:endParaRPr lang="zh-CN" altLang="en-US" sz="2000" dirty="0">
              <a:latin typeface="Times New Roman" panose="02020603050405020304" pitchFamily="18" charset="0"/>
              <a:ea typeface="宋体" panose="02010600030101010101" pitchFamily="2" charset="-122"/>
            </a:endParaRPr>
          </a:p>
        </p:txBody>
      </p:sp>
      <p:sp>
        <p:nvSpPr>
          <p:cNvPr id="33810" name="Line 17"/>
          <p:cNvSpPr/>
          <p:nvPr/>
        </p:nvSpPr>
        <p:spPr>
          <a:xfrm>
            <a:off x="2771775" y="3998913"/>
            <a:ext cx="3095625" cy="0"/>
          </a:xfrm>
          <a:prstGeom prst="line">
            <a:avLst/>
          </a:prstGeom>
          <a:ln w="38100" cap="flat" cmpd="sng">
            <a:solidFill>
              <a:schemeClr val="tx1"/>
            </a:solidFill>
            <a:prstDash val="sysDot"/>
            <a:headEnd type="none" w="sm" len="sm"/>
            <a:tailEnd type="none" w="sm" len="sm"/>
          </a:ln>
        </p:spPr>
      </p:sp>
      <p:sp>
        <p:nvSpPr>
          <p:cNvPr id="33811" name="Line 18"/>
          <p:cNvSpPr/>
          <p:nvPr/>
        </p:nvSpPr>
        <p:spPr>
          <a:xfrm>
            <a:off x="5867400" y="3998913"/>
            <a:ext cx="0" cy="792162"/>
          </a:xfrm>
          <a:prstGeom prst="line">
            <a:avLst/>
          </a:prstGeom>
          <a:ln w="38100" cap="flat" cmpd="sng">
            <a:solidFill>
              <a:schemeClr val="tx1"/>
            </a:solidFill>
            <a:prstDash val="sysDot"/>
            <a:headEnd type="none" w="sm" len="sm"/>
            <a:tailEnd type="none" w="sm" len="sm"/>
          </a:ln>
        </p:spPr>
      </p:sp>
      <p:sp>
        <p:nvSpPr>
          <p:cNvPr id="33812" name="Line 19"/>
          <p:cNvSpPr/>
          <p:nvPr/>
        </p:nvSpPr>
        <p:spPr>
          <a:xfrm>
            <a:off x="2771775" y="3998913"/>
            <a:ext cx="0" cy="792162"/>
          </a:xfrm>
          <a:prstGeom prst="line">
            <a:avLst/>
          </a:prstGeom>
          <a:ln w="38100" cap="flat" cmpd="sng">
            <a:solidFill>
              <a:schemeClr val="tx1"/>
            </a:solidFill>
            <a:prstDash val="sysDot"/>
            <a:headEnd type="none" w="sm" len="sm"/>
            <a:tailEnd type="none" w="sm" len="sm"/>
          </a:ln>
        </p:spPr>
      </p:sp>
      <p:sp>
        <p:nvSpPr>
          <p:cNvPr id="33813" name="Text Box 20"/>
          <p:cNvSpPr txBox="1"/>
          <p:nvPr/>
        </p:nvSpPr>
        <p:spPr>
          <a:xfrm>
            <a:off x="5938838" y="4359275"/>
            <a:ext cx="360362"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k</a:t>
            </a:r>
            <a:endParaRPr lang="en-US" altLang="zh-CN" dirty="0">
              <a:latin typeface="Times New Roman" panose="02020603050405020304" pitchFamily="18" charset="0"/>
              <a:ea typeface="宋体" panose="02010600030101010101" pitchFamily="2" charset="-122"/>
            </a:endParaRPr>
          </a:p>
        </p:txBody>
      </p:sp>
      <p:sp>
        <p:nvSpPr>
          <p:cNvPr id="33814" name="Text Box 21"/>
          <p:cNvSpPr txBox="1"/>
          <p:nvPr/>
        </p:nvSpPr>
        <p:spPr>
          <a:xfrm>
            <a:off x="2339975" y="4359275"/>
            <a:ext cx="360363"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k</a:t>
            </a:r>
            <a:endParaRPr lang="en-US" altLang="zh-CN" dirty="0">
              <a:latin typeface="Times New Roman" panose="02020603050405020304" pitchFamily="18"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4819"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历  史</a:t>
            </a:r>
            <a:endParaRPr lang="zh-CN" altLang="en-US" dirty="0">
              <a:ea typeface="宋体" panose="02010600030101010101" pitchFamily="2" charset="-122"/>
            </a:endParaRPr>
          </a:p>
        </p:txBody>
      </p:sp>
      <p:sp>
        <p:nvSpPr>
          <p:cNvPr id="34820" name="Rectangle 3"/>
          <p:cNvSpPr>
            <a:spLocks noGrp="1"/>
          </p:cNvSpPr>
          <p:nvPr>
            <p:ph idx="1"/>
          </p:nvPr>
        </p:nvSpPr>
        <p:spPr>
          <a:xfrm>
            <a:off x="515938" y="1222375"/>
            <a:ext cx="6454775" cy="465138"/>
          </a:xfrm>
        </p:spPr>
        <p:txBody>
          <a:bodyPr vert="horz" wrap="square" lIns="91440" tIns="45720" rIns="91440" bIns="45720" anchor="t" anchorCtr="0"/>
          <a:lstStyle/>
          <a:p>
            <a:pPr eaLnBrk="1" hangingPunct="1">
              <a:buNone/>
            </a:pPr>
            <a:r>
              <a:rPr lang="zh-CN" altLang="en-US" dirty="0">
                <a:ea typeface="宋体" panose="02010600030101010101" pitchFamily="2" charset="-122"/>
              </a:rPr>
              <a:t>古罗马：</a:t>
            </a:r>
            <a:r>
              <a:rPr lang="en-US" altLang="zh-CN" dirty="0">
                <a:ea typeface="宋体" panose="02010600030101010101" pitchFamily="2" charset="-122"/>
              </a:rPr>
              <a:t>Caesar </a:t>
            </a:r>
            <a:r>
              <a:rPr lang="zh-CN" altLang="en-US" dirty="0">
                <a:ea typeface="宋体" panose="02010600030101010101" pitchFamily="2" charset="-122"/>
              </a:rPr>
              <a:t>密码 </a:t>
            </a:r>
            <a:endParaRPr lang="zh-CN" altLang="en-US" dirty="0">
              <a:ea typeface="宋体" panose="02010600030101010101" pitchFamily="2" charset="-122"/>
            </a:endParaRPr>
          </a:p>
        </p:txBody>
      </p:sp>
      <p:sp>
        <p:nvSpPr>
          <p:cNvPr id="34821" name="Rectangle 4"/>
          <p:cNvSpPr/>
          <p:nvPr/>
        </p:nvSpPr>
        <p:spPr>
          <a:xfrm>
            <a:off x="2339975" y="2214563"/>
            <a:ext cx="5688013" cy="360362"/>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0"/>
              </a:spcBef>
              <a:buClrTx/>
              <a:buNone/>
            </a:pPr>
            <a:r>
              <a:rPr lang="en-US" altLang="zh-CN" dirty="0">
                <a:latin typeface="Times New Roman" panose="02020603050405020304" pitchFamily="18" charset="0"/>
                <a:ea typeface="宋体" panose="02010600030101010101" pitchFamily="2" charset="-122"/>
              </a:rPr>
              <a:t>ABCDEFGHIGKLMNOPQRSTUVWXYZ</a:t>
            </a:r>
            <a:endParaRPr lang="en-US" altLang="zh-CN" dirty="0">
              <a:latin typeface="Times New Roman" panose="02020603050405020304" pitchFamily="18" charset="0"/>
              <a:ea typeface="宋体" panose="02010600030101010101" pitchFamily="2" charset="-122"/>
            </a:endParaRPr>
          </a:p>
        </p:txBody>
      </p:sp>
      <p:sp>
        <p:nvSpPr>
          <p:cNvPr id="34822" name="Rectangle 5"/>
          <p:cNvSpPr/>
          <p:nvPr/>
        </p:nvSpPr>
        <p:spPr>
          <a:xfrm>
            <a:off x="2339975" y="2933700"/>
            <a:ext cx="5688013" cy="360363"/>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0"/>
              </a:spcBef>
              <a:buClrTx/>
              <a:buNone/>
            </a:pPr>
            <a:r>
              <a:rPr lang="en-US" altLang="zh-CN" dirty="0">
                <a:latin typeface="Times New Roman" panose="02020603050405020304" pitchFamily="18" charset="0"/>
                <a:ea typeface="宋体" panose="02010600030101010101" pitchFamily="2" charset="-122"/>
              </a:rPr>
              <a:t>DEFGHIGKLMNOPQRSTUVWXYZABC</a:t>
            </a:r>
            <a:endParaRPr lang="en-US" altLang="zh-CN" dirty="0">
              <a:latin typeface="Times New Roman" panose="02020603050405020304" pitchFamily="18" charset="0"/>
              <a:ea typeface="宋体" panose="02010600030101010101" pitchFamily="2" charset="-122"/>
            </a:endParaRPr>
          </a:p>
        </p:txBody>
      </p:sp>
      <p:sp>
        <p:nvSpPr>
          <p:cNvPr id="221190" name="Rectangle 6"/>
          <p:cNvSpPr/>
          <p:nvPr/>
        </p:nvSpPr>
        <p:spPr>
          <a:xfrm>
            <a:off x="2241550" y="3916363"/>
            <a:ext cx="3887788" cy="360362"/>
          </a:xfrm>
          <a:prstGeom prst="rect">
            <a:avLst/>
          </a:prstGeom>
          <a:noFill/>
          <a:ln w="12700">
            <a:noFill/>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0"/>
              </a:spcBef>
              <a:buClrTx/>
              <a:buNone/>
            </a:pPr>
            <a:r>
              <a:rPr lang="en-US" altLang="zh-CN" dirty="0">
                <a:latin typeface="Times New Roman" panose="02020603050405020304" pitchFamily="18" charset="0"/>
                <a:ea typeface="宋体" panose="02010600030101010101" pitchFamily="2" charset="-122"/>
              </a:rPr>
              <a:t>Caesar  was  a    great    soldier</a:t>
            </a:r>
            <a:endParaRPr lang="en-US" altLang="zh-CN" dirty="0">
              <a:latin typeface="Times New Roman" panose="02020603050405020304" pitchFamily="18" charset="0"/>
              <a:ea typeface="宋体" panose="02010600030101010101" pitchFamily="2" charset="-122"/>
            </a:endParaRPr>
          </a:p>
        </p:txBody>
      </p:sp>
      <p:sp>
        <p:nvSpPr>
          <p:cNvPr id="34824" name="Text Box 7"/>
          <p:cNvSpPr txBox="1"/>
          <p:nvPr/>
        </p:nvSpPr>
        <p:spPr>
          <a:xfrm>
            <a:off x="439738" y="2141538"/>
            <a:ext cx="1755775"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密码本</a:t>
            </a:r>
            <a:endParaRPr lang="zh-CN" altLang="en-US" dirty="0">
              <a:latin typeface="Times New Roman" panose="02020603050405020304" pitchFamily="18" charset="0"/>
              <a:ea typeface="宋体" panose="02010600030101010101" pitchFamily="2" charset="-122"/>
            </a:endParaRPr>
          </a:p>
        </p:txBody>
      </p:sp>
      <p:sp>
        <p:nvSpPr>
          <p:cNvPr id="34825" name="Text Box 8"/>
          <p:cNvSpPr txBox="1"/>
          <p:nvPr/>
        </p:nvSpPr>
        <p:spPr>
          <a:xfrm>
            <a:off x="439738" y="2862263"/>
            <a:ext cx="1152525"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密文</a:t>
            </a:r>
            <a:endParaRPr lang="zh-CN" altLang="en-US" dirty="0">
              <a:latin typeface="Times New Roman" panose="02020603050405020304" pitchFamily="18" charset="0"/>
              <a:ea typeface="宋体" panose="02010600030101010101" pitchFamily="2" charset="-122"/>
            </a:endParaRPr>
          </a:p>
        </p:txBody>
      </p:sp>
      <p:sp>
        <p:nvSpPr>
          <p:cNvPr id="221193" name="Rectangle 9"/>
          <p:cNvSpPr/>
          <p:nvPr/>
        </p:nvSpPr>
        <p:spPr>
          <a:xfrm>
            <a:off x="2241550" y="4421188"/>
            <a:ext cx="3887788" cy="360362"/>
          </a:xfrm>
          <a:prstGeom prst="rect">
            <a:avLst/>
          </a:prstGeom>
          <a:noFill/>
          <a:ln w="12700">
            <a:noFill/>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0"/>
              </a:spcBef>
              <a:buClrTx/>
              <a:buNone/>
            </a:pPr>
            <a:r>
              <a:rPr lang="en-US" altLang="zh-CN" dirty="0">
                <a:latin typeface="Times New Roman" panose="02020603050405020304" pitchFamily="18" charset="0"/>
                <a:ea typeface="宋体" panose="02010600030101010101" pitchFamily="2" charset="-122"/>
              </a:rPr>
              <a:t>Fdhvdu  zdv d   juhdw vroglhu</a:t>
            </a:r>
            <a:endParaRPr lang="en-US" altLang="zh-CN" dirty="0">
              <a:latin typeface="Times New Roman" panose="02020603050405020304" pitchFamily="18" charset="0"/>
              <a:ea typeface="宋体" panose="02010600030101010101" pitchFamily="2" charset="-122"/>
            </a:endParaRPr>
          </a:p>
        </p:txBody>
      </p:sp>
      <p:sp>
        <p:nvSpPr>
          <p:cNvPr id="34827" name="Text Box 10"/>
          <p:cNvSpPr txBox="1"/>
          <p:nvPr/>
        </p:nvSpPr>
        <p:spPr>
          <a:xfrm>
            <a:off x="646113" y="3916363"/>
            <a:ext cx="1149350"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明文</a:t>
            </a:r>
            <a:endParaRPr lang="zh-CN" altLang="en-US" dirty="0">
              <a:latin typeface="Times New Roman" panose="02020603050405020304" pitchFamily="18" charset="0"/>
              <a:ea typeface="宋体" panose="02010600030101010101" pitchFamily="2" charset="-122"/>
            </a:endParaRPr>
          </a:p>
        </p:txBody>
      </p:sp>
      <p:sp>
        <p:nvSpPr>
          <p:cNvPr id="34828" name="Text Box 11"/>
          <p:cNvSpPr txBox="1"/>
          <p:nvPr/>
        </p:nvSpPr>
        <p:spPr>
          <a:xfrm>
            <a:off x="642938" y="4421188"/>
            <a:ext cx="1152525"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密文</a:t>
            </a:r>
            <a:endParaRPr lang="zh-CN" altLang="en-US" dirty="0">
              <a:latin typeface="Times New Roman" panose="02020603050405020304" pitchFamily="18" charset="0"/>
              <a:ea typeface="宋体" panose="02010600030101010101" pitchFamily="2" charset="-122"/>
            </a:endParaRPr>
          </a:p>
        </p:txBody>
      </p:sp>
      <p:sp>
        <p:nvSpPr>
          <p:cNvPr id="34829" name="Text Box 12"/>
          <p:cNvSpPr txBox="1"/>
          <p:nvPr/>
        </p:nvSpPr>
        <p:spPr>
          <a:xfrm>
            <a:off x="2016125" y="5364163"/>
            <a:ext cx="5111750" cy="457200"/>
          </a:xfrm>
          <a:prstGeom prst="rect">
            <a:avLst/>
          </a:prstGeom>
          <a:solidFill>
            <a:schemeClr val="folHlink"/>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0"/>
              </a:spcBef>
              <a:buClrTx/>
              <a:buNone/>
            </a:pPr>
            <a:r>
              <a:rPr lang="en-US" altLang="zh-CN" dirty="0">
                <a:latin typeface="Times New Roman" panose="02020603050405020304" pitchFamily="18" charset="0"/>
                <a:ea typeface="宋体" panose="02010600030101010101" pitchFamily="2" charset="-122"/>
              </a:rPr>
              <a:t>CAESAR </a:t>
            </a:r>
            <a:r>
              <a:rPr lang="zh-CN" altLang="en-US" dirty="0">
                <a:latin typeface="Times New Roman" panose="02020603050405020304" pitchFamily="18" charset="0"/>
                <a:ea typeface="宋体" panose="02010600030101010101" pitchFamily="2" charset="-122"/>
              </a:rPr>
              <a:t>密码 ：   </a:t>
            </a:r>
            <a:r>
              <a:rPr lang="en-US" altLang="zh-CN" dirty="0">
                <a:latin typeface="Times New Roman" panose="02020603050405020304" pitchFamily="18" charset="0"/>
                <a:ea typeface="宋体" panose="02010600030101010101" pitchFamily="2" charset="-122"/>
              </a:rPr>
              <a:t>c=( m+ 3)  Mod 26</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21190"/>
                                        </p:tgtEl>
                                        <p:attrNameLst>
                                          <p:attrName>style.visibility</p:attrName>
                                        </p:attrNameLst>
                                      </p:cBhvr>
                                      <p:to>
                                        <p:strVal val="visible"/>
                                      </p:to>
                                    </p:set>
                                    <p:anim calcmode="discrete" valueType="clr">
                                      <p:cBhvr override="childStyle">
                                        <p:cTn id="7" dur="80"/>
                                        <p:tgtEl>
                                          <p:spTgt spid="22119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21190"/>
                                        </p:tgtEl>
                                        <p:attrNameLst>
                                          <p:attrName>fillcolor</p:attrName>
                                        </p:attrNameLst>
                                      </p:cBhvr>
                                      <p:tavLst>
                                        <p:tav tm="0">
                                          <p:val>
                                            <p:clrVal>
                                              <a:schemeClr val="accent2"/>
                                            </p:clrVal>
                                          </p:val>
                                        </p:tav>
                                        <p:tav tm="50000">
                                          <p:val>
                                            <p:clrVal>
                                              <a:schemeClr val="hlink"/>
                                            </p:clrVal>
                                          </p:val>
                                        </p:tav>
                                      </p:tavLst>
                                    </p:anim>
                                    <p:set>
                                      <p:cBhvr>
                                        <p:cTn id="9" dur="80"/>
                                        <p:tgtEl>
                                          <p:spTgt spid="221190"/>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21193"/>
                                        </p:tgtEl>
                                        <p:attrNameLst>
                                          <p:attrName>style.visibility</p:attrName>
                                        </p:attrNameLst>
                                      </p:cBhvr>
                                      <p:to>
                                        <p:strVal val="visible"/>
                                      </p:to>
                                    </p:set>
                                    <p:anim calcmode="discrete" valueType="clr">
                                      <p:cBhvr override="childStyle">
                                        <p:cTn id="14" dur="80"/>
                                        <p:tgtEl>
                                          <p:spTgt spid="221193"/>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21193"/>
                                        </p:tgtEl>
                                        <p:attrNameLst>
                                          <p:attrName>fillcolor</p:attrName>
                                        </p:attrNameLst>
                                      </p:cBhvr>
                                      <p:tavLst>
                                        <p:tav tm="0">
                                          <p:val>
                                            <p:clrVal>
                                              <a:schemeClr val="accent2"/>
                                            </p:clrVal>
                                          </p:val>
                                        </p:tav>
                                        <p:tav tm="50000">
                                          <p:val>
                                            <p:clrVal>
                                              <a:schemeClr val="hlink"/>
                                            </p:clrVal>
                                          </p:val>
                                        </p:tav>
                                      </p:tavLst>
                                    </p:anim>
                                    <p:set>
                                      <p:cBhvr>
                                        <p:cTn id="16" dur="80"/>
                                        <p:tgtEl>
                                          <p:spTgt spid="22119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90" grpId="0"/>
      <p:bldP spid="22119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5"/>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5843"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历  史</a:t>
            </a:r>
            <a:endParaRPr lang="zh-CN" altLang="en-US" dirty="0">
              <a:ea typeface="宋体" panose="02010600030101010101" pitchFamily="2" charset="-122"/>
            </a:endParaRPr>
          </a:p>
        </p:txBody>
      </p:sp>
      <p:sp>
        <p:nvSpPr>
          <p:cNvPr id="35844" name="Rectangle 3"/>
          <p:cNvSpPr>
            <a:spLocks noGrp="1"/>
          </p:cNvSpPr>
          <p:nvPr>
            <p:ph type="body" sz="half" idx="1"/>
          </p:nvPr>
        </p:nvSpPr>
        <p:spPr>
          <a:xfrm>
            <a:off x="403225" y="1439863"/>
            <a:ext cx="6859588" cy="641350"/>
          </a:xfrm>
        </p:spPr>
        <p:txBody>
          <a:bodyPr vert="horz" wrap="square" lIns="91440" tIns="45720" rIns="91440" bIns="45720" anchor="t" anchorCtr="0"/>
          <a:lstStyle/>
          <a:p>
            <a:pPr marL="0" indent="0" algn="l" eaLnBrk="1" hangingPunct="1">
              <a:buClr>
                <a:schemeClr val="accent2"/>
              </a:buClr>
              <a:buSzTx/>
              <a:buFontTx/>
              <a:buNone/>
            </a:pPr>
            <a:r>
              <a:rPr lang="zh-CN" altLang="en-US" dirty="0">
                <a:ea typeface="宋体" panose="02010600030101010101" pitchFamily="2" charset="-122"/>
              </a:rPr>
              <a:t>美国南北战争</a:t>
            </a:r>
            <a:endParaRPr lang="zh-CN" altLang="en-US" dirty="0">
              <a:ea typeface="宋体" panose="02010600030101010101" pitchFamily="2" charset="-122"/>
            </a:endParaRPr>
          </a:p>
        </p:txBody>
      </p:sp>
      <p:graphicFrame>
        <p:nvGraphicFramePr>
          <p:cNvPr id="222246" name="Group 38"/>
          <p:cNvGraphicFramePr>
            <a:graphicFrameLocks noGrp="1"/>
          </p:cNvGraphicFramePr>
          <p:nvPr>
            <p:ph sz="half" idx="1"/>
          </p:nvPr>
        </p:nvGraphicFramePr>
        <p:xfrm>
          <a:off x="1222375" y="3322638"/>
          <a:ext cx="3657600" cy="2171700"/>
        </p:xfrm>
        <a:graphic>
          <a:graphicData uri="http://schemas.openxmlformats.org/drawingml/2006/table">
            <a:tbl>
              <a:tblPr/>
              <a:tblGrid>
                <a:gridCol w="914400"/>
                <a:gridCol w="915988"/>
                <a:gridCol w="914400"/>
                <a:gridCol w="912812"/>
              </a:tblGrid>
              <a:tr h="542925">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Y</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42925">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O</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U</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U</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42925">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R</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42925">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2"/>
                        </a:buClr>
                        <a:defRPr sz="2000">
                          <a:solidFill>
                            <a:schemeClr val="tx1"/>
                          </a:solidFill>
                          <a:latin typeface="Arial" panose="020B0604020202020204" pitchFamily="34" charset="0"/>
                        </a:defRPr>
                      </a:lvl1pPr>
                      <a:lvl2pPr marL="742950" indent="-285750" algn="l" eaLnBrk="0" hangingPunct="0">
                        <a:spcBef>
                          <a:spcPct val="20000"/>
                        </a:spcBef>
                        <a:buClr>
                          <a:schemeClr val="accent2"/>
                        </a:buClr>
                        <a:defRPr>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35872" name="Text Box 31"/>
          <p:cNvSpPr txBox="1"/>
          <p:nvPr/>
        </p:nvSpPr>
        <p:spPr>
          <a:xfrm>
            <a:off x="1304925" y="2697163"/>
            <a:ext cx="1727200"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输入方向</a:t>
            </a:r>
            <a:endParaRPr lang="en-US" altLang="zh-CN" dirty="0">
              <a:latin typeface="Times New Roman" panose="02020603050405020304" pitchFamily="18" charset="0"/>
              <a:ea typeface="宋体" panose="02010600030101010101" pitchFamily="2" charset="-122"/>
            </a:endParaRPr>
          </a:p>
        </p:txBody>
      </p:sp>
      <p:sp>
        <p:nvSpPr>
          <p:cNvPr id="35873" name="Text Box 32"/>
          <p:cNvSpPr txBox="1"/>
          <p:nvPr/>
        </p:nvSpPr>
        <p:spPr>
          <a:xfrm>
            <a:off x="642938" y="3128963"/>
            <a:ext cx="517525" cy="1441450"/>
          </a:xfrm>
          <a:prstGeom prst="rect">
            <a:avLst/>
          </a:prstGeom>
          <a:noFill/>
          <a:ln w="12700">
            <a:noFill/>
          </a:ln>
        </p:spPr>
        <p:txBody>
          <a:bodyPr vert="eaVert">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输出方向</a:t>
            </a:r>
            <a:endParaRPr lang="en-US" altLang="zh-CN" dirty="0">
              <a:latin typeface="Times New Roman" panose="02020603050405020304" pitchFamily="18" charset="0"/>
              <a:ea typeface="宋体" panose="02010600030101010101" pitchFamily="2" charset="-122"/>
            </a:endParaRPr>
          </a:p>
        </p:txBody>
      </p:sp>
      <p:sp>
        <p:nvSpPr>
          <p:cNvPr id="35874" name="Line 33"/>
          <p:cNvSpPr/>
          <p:nvPr/>
        </p:nvSpPr>
        <p:spPr>
          <a:xfrm>
            <a:off x="873125" y="4497388"/>
            <a:ext cx="0" cy="720725"/>
          </a:xfrm>
          <a:prstGeom prst="line">
            <a:avLst/>
          </a:prstGeom>
          <a:ln w="28575" cap="flat" cmpd="sng">
            <a:solidFill>
              <a:schemeClr val="tx1"/>
            </a:solidFill>
            <a:prstDash val="solid"/>
            <a:headEnd type="none" w="sm" len="sm"/>
            <a:tailEnd type="triangle" w="med" len="med"/>
          </a:ln>
        </p:spPr>
      </p:sp>
      <p:sp>
        <p:nvSpPr>
          <p:cNvPr id="35875" name="Line 34"/>
          <p:cNvSpPr/>
          <p:nvPr/>
        </p:nvSpPr>
        <p:spPr>
          <a:xfrm>
            <a:off x="3032125" y="2913063"/>
            <a:ext cx="1152525" cy="0"/>
          </a:xfrm>
          <a:prstGeom prst="line">
            <a:avLst/>
          </a:prstGeom>
          <a:ln w="28575" cap="flat" cmpd="sng">
            <a:solidFill>
              <a:schemeClr val="tx1"/>
            </a:solidFill>
            <a:prstDash val="solid"/>
            <a:headEnd type="none" w="sm" len="sm"/>
            <a:tailEnd type="triangle" w="med" len="med"/>
          </a:ln>
        </p:spPr>
      </p:sp>
      <p:sp>
        <p:nvSpPr>
          <p:cNvPr id="35876" name="Text Box 35"/>
          <p:cNvSpPr txBox="1"/>
          <p:nvPr/>
        </p:nvSpPr>
        <p:spPr>
          <a:xfrm>
            <a:off x="5046663" y="3013075"/>
            <a:ext cx="3657600" cy="244316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sz="2800" dirty="0">
                <a:latin typeface="Times New Roman" panose="02020603050405020304" pitchFamily="18" charset="0"/>
                <a:ea typeface="宋体" panose="02010600030101010101" pitchFamily="2" charset="-122"/>
              </a:rPr>
              <a:t>明文：</a:t>
            </a:r>
            <a:endParaRPr lang="zh-CN" altLang="en-US" sz="2800" dirty="0">
              <a:latin typeface="Times New Roman" panose="02020603050405020304" pitchFamily="18" charset="0"/>
              <a:ea typeface="宋体" panose="02010600030101010101" pitchFamily="2" charset="-122"/>
            </a:endParaRPr>
          </a:p>
          <a:p>
            <a:pPr marL="0" lvl="0" indent="0" algn="l">
              <a:spcBef>
                <a:spcPct val="50000"/>
              </a:spcBef>
              <a:buClrTx/>
              <a:buNone/>
            </a:pPr>
            <a:r>
              <a:rPr lang="en-US" altLang="zh-CN" sz="2800" dirty="0">
                <a:latin typeface="Times New Roman" panose="02020603050405020304" pitchFamily="18" charset="0"/>
                <a:ea typeface="宋体" panose="02010600030101010101" pitchFamily="2" charset="-122"/>
              </a:rPr>
              <a:t>Can you understand </a:t>
            </a:r>
            <a:endParaRPr lang="en-US" altLang="zh-CN" sz="2800" dirty="0">
              <a:latin typeface="Times New Roman" panose="02020603050405020304" pitchFamily="18" charset="0"/>
              <a:ea typeface="宋体" panose="02010600030101010101" pitchFamily="2" charset="-122"/>
            </a:endParaRPr>
          </a:p>
          <a:p>
            <a:pPr marL="0" lvl="0" indent="0" algn="l">
              <a:spcBef>
                <a:spcPct val="50000"/>
              </a:spcBef>
              <a:buClrTx/>
              <a:buNone/>
            </a:pPr>
            <a:r>
              <a:rPr lang="zh-CN" altLang="en-US" sz="2800" dirty="0">
                <a:latin typeface="Times New Roman" panose="02020603050405020304" pitchFamily="18" charset="0"/>
                <a:ea typeface="宋体" panose="02010600030101010101" pitchFamily="2" charset="-122"/>
              </a:rPr>
              <a:t>密文：</a:t>
            </a:r>
            <a:endParaRPr lang="zh-CN" altLang="en-US" sz="2800" dirty="0">
              <a:latin typeface="Times New Roman" panose="02020603050405020304" pitchFamily="18" charset="0"/>
              <a:ea typeface="宋体" panose="02010600030101010101" pitchFamily="2" charset="-122"/>
            </a:endParaRPr>
          </a:p>
          <a:p>
            <a:pPr marL="0" lvl="0" indent="0" algn="l">
              <a:spcBef>
                <a:spcPct val="50000"/>
              </a:spcBef>
              <a:buClrTx/>
              <a:buNone/>
            </a:pPr>
            <a:r>
              <a:rPr lang="en-US" altLang="zh-CN" sz="2800" dirty="0">
                <a:latin typeface="Times New Roman" panose="02020603050405020304" pitchFamily="18" charset="0"/>
                <a:ea typeface="宋体" panose="02010600030101010101" pitchFamily="2" charset="-122"/>
              </a:rPr>
              <a:t>codtaueanurnynsd </a:t>
            </a:r>
            <a:endParaRPr lang="en-US" altLang="zh-CN" sz="2800" dirty="0">
              <a:latin typeface="Times New Roman" panose="02020603050405020304" pitchFamily="18"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5"/>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6867"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历史</a:t>
            </a:r>
            <a:endParaRPr lang="zh-CN" altLang="en-US" dirty="0">
              <a:ea typeface="宋体" panose="02010600030101010101" pitchFamily="2" charset="-122"/>
            </a:endParaRPr>
          </a:p>
        </p:txBody>
      </p:sp>
      <p:sp>
        <p:nvSpPr>
          <p:cNvPr id="36868" name="Rectangle 3"/>
          <p:cNvSpPr>
            <a:spLocks noGrp="1"/>
          </p:cNvSpPr>
          <p:nvPr>
            <p:ph sz="half" idx="1"/>
          </p:nvPr>
        </p:nvSpPr>
        <p:spPr>
          <a:xfrm>
            <a:off x="0" y="5715000"/>
            <a:ext cx="4484688" cy="838200"/>
          </a:xfrm>
        </p:spPr>
        <p:txBody>
          <a:bodyPr vert="horz" wrap="square" lIns="91440" tIns="45720" rIns="91440" bIns="45720" anchor="t" anchorCtr="0"/>
          <a:lstStyle/>
          <a:p>
            <a:pPr marL="0" indent="0" eaLnBrk="1" hangingPunct="1">
              <a:buSzTx/>
              <a:buFontTx/>
              <a:buNone/>
            </a:pPr>
            <a:endParaRPr lang="zh-CN" altLang="en-US" sz="2000" dirty="0">
              <a:latin typeface="+mn-lt"/>
              <a:ea typeface="宋体" panose="02010600030101010101" pitchFamily="2" charset="-122"/>
              <a:cs typeface="+mn-cs"/>
            </a:endParaRPr>
          </a:p>
          <a:p>
            <a:pPr marL="0" indent="0" eaLnBrk="1" hangingPunct="1">
              <a:buSzTx/>
              <a:buFontTx/>
              <a:buNone/>
            </a:pPr>
            <a:endParaRPr lang="zh-CN" altLang="en-US" sz="2000" dirty="0">
              <a:latin typeface="+mn-lt"/>
              <a:ea typeface="宋体" panose="02010600030101010101" pitchFamily="2" charset="-122"/>
              <a:cs typeface="+mn-cs"/>
            </a:endParaRPr>
          </a:p>
        </p:txBody>
      </p:sp>
      <p:sp>
        <p:nvSpPr>
          <p:cNvPr id="36869" name="Rectangle 4"/>
          <p:cNvSpPr>
            <a:spLocks noGrp="1"/>
          </p:cNvSpPr>
          <p:nvPr>
            <p:ph sz="half" idx="2"/>
          </p:nvPr>
        </p:nvSpPr>
        <p:spPr>
          <a:xfrm>
            <a:off x="434975" y="4808538"/>
            <a:ext cx="3840163" cy="1593850"/>
          </a:xfrm>
        </p:spPr>
        <p:txBody>
          <a:bodyPr vert="horz" wrap="square" lIns="91440" tIns="45720" rIns="91440" bIns="45720" anchor="t" anchorCtr="0"/>
          <a:lstStyle/>
          <a:p>
            <a:pPr marL="0" indent="0" algn="l" eaLnBrk="1" hangingPunct="1">
              <a:lnSpc>
                <a:spcPct val="150000"/>
              </a:lnSpc>
              <a:buSzTx/>
              <a:buFontTx/>
              <a:buNone/>
            </a:pPr>
            <a:r>
              <a:rPr lang="zh-CN" altLang="en-US" sz="2000" dirty="0">
                <a:solidFill>
                  <a:srgbClr val="FF0066"/>
                </a:solidFill>
                <a:latin typeface="+mn-lt"/>
                <a:ea typeface="宋体" panose="02010600030101010101" pitchFamily="2" charset="-122"/>
                <a:cs typeface="+mn-cs"/>
              </a:rPr>
              <a:t>转轮密码机</a:t>
            </a:r>
            <a:r>
              <a:rPr lang="en-US" altLang="zh-CN" sz="2000" dirty="0">
                <a:latin typeface="+mn-lt"/>
                <a:ea typeface="宋体" panose="02010600030101010101" pitchFamily="2" charset="-122"/>
                <a:cs typeface="+mn-cs"/>
              </a:rPr>
              <a:t>ENIGMA</a:t>
            </a:r>
            <a:r>
              <a:rPr lang="zh-CN" altLang="en-US" sz="2000" dirty="0">
                <a:latin typeface="+mn-lt"/>
                <a:ea typeface="宋体" panose="02010600030101010101" pitchFamily="2" charset="-122"/>
                <a:cs typeface="+mn-cs"/>
              </a:rPr>
              <a:t>，由</a:t>
            </a:r>
            <a:r>
              <a:rPr lang="en-US" altLang="zh-CN" sz="2000" dirty="0">
                <a:latin typeface="+mn-lt"/>
                <a:ea typeface="宋体" panose="02010600030101010101" pitchFamily="2" charset="-122"/>
                <a:cs typeface="+mn-cs"/>
              </a:rPr>
              <a:t>Arthur Scherbius</a:t>
            </a:r>
            <a:r>
              <a:rPr lang="zh-CN" altLang="en-US" sz="2000" dirty="0">
                <a:latin typeface="+mn-lt"/>
                <a:ea typeface="宋体" panose="02010600030101010101" pitchFamily="2" charset="-122"/>
                <a:cs typeface="+mn-cs"/>
              </a:rPr>
              <a:t>于</a:t>
            </a:r>
            <a:r>
              <a:rPr lang="en-US" altLang="zh-CN" sz="2000" dirty="0">
                <a:latin typeface="+mn-lt"/>
                <a:ea typeface="宋体" panose="02010600030101010101" pitchFamily="2" charset="-122"/>
                <a:cs typeface="+mn-cs"/>
              </a:rPr>
              <a:t>1919</a:t>
            </a:r>
            <a:r>
              <a:rPr lang="zh-CN" altLang="en-US" sz="2000" dirty="0">
                <a:latin typeface="+mn-lt"/>
                <a:ea typeface="宋体" panose="02010600030101010101" pitchFamily="2" charset="-122"/>
                <a:cs typeface="+mn-cs"/>
              </a:rPr>
              <a:t>年发明，</a:t>
            </a:r>
            <a:r>
              <a:rPr lang="en-US" altLang="zh-CN" sz="2000" dirty="0">
                <a:latin typeface="+mn-lt"/>
                <a:ea typeface="宋体" panose="02010600030101010101" pitchFamily="2" charset="-122"/>
                <a:cs typeface="+mn-cs"/>
              </a:rPr>
              <a:t>4 </a:t>
            </a:r>
            <a:r>
              <a:rPr lang="zh-CN" altLang="en-US" sz="2000" dirty="0">
                <a:latin typeface="+mn-lt"/>
                <a:ea typeface="宋体" panose="02010600030101010101" pitchFamily="2" charset="-122"/>
                <a:cs typeface="+mn-cs"/>
              </a:rPr>
              <a:t>轮</a:t>
            </a:r>
            <a:r>
              <a:rPr lang="en-US" altLang="zh-CN" sz="2000" dirty="0">
                <a:latin typeface="+mn-lt"/>
                <a:ea typeface="宋体" panose="02010600030101010101" pitchFamily="2" charset="-122"/>
                <a:cs typeface="+mn-cs"/>
              </a:rPr>
              <a:t>ENIGMA</a:t>
            </a:r>
            <a:r>
              <a:rPr lang="zh-CN" altLang="en-US" sz="2000" dirty="0">
                <a:latin typeface="+mn-lt"/>
                <a:ea typeface="宋体" panose="02010600030101010101" pitchFamily="2" charset="-122"/>
                <a:cs typeface="+mn-cs"/>
              </a:rPr>
              <a:t>在</a:t>
            </a:r>
            <a:r>
              <a:rPr lang="en-US" altLang="zh-CN" sz="2000" dirty="0">
                <a:latin typeface="+mn-lt"/>
                <a:ea typeface="宋体" panose="02010600030101010101" pitchFamily="2" charset="-122"/>
                <a:cs typeface="+mn-cs"/>
              </a:rPr>
              <a:t>1944</a:t>
            </a:r>
            <a:r>
              <a:rPr lang="zh-CN" altLang="en-US" sz="2000" dirty="0">
                <a:latin typeface="+mn-lt"/>
                <a:ea typeface="宋体" panose="02010600030101010101" pitchFamily="2" charset="-122"/>
                <a:cs typeface="+mn-cs"/>
              </a:rPr>
              <a:t>年装备德国海军</a:t>
            </a:r>
            <a:r>
              <a:rPr lang="en-US" altLang="zh-CN" sz="2000" dirty="0">
                <a:latin typeface="+mn-lt"/>
                <a:ea typeface="宋体" panose="02010600030101010101" pitchFamily="2" charset="-122"/>
                <a:cs typeface="+mn-cs"/>
              </a:rPr>
              <a:t>.</a:t>
            </a:r>
            <a:endParaRPr lang="zh-CN" altLang="en-US" sz="2000" dirty="0">
              <a:latin typeface="+mn-lt"/>
              <a:ea typeface="宋体" panose="02010600030101010101" pitchFamily="2" charset="-122"/>
              <a:cs typeface="+mn-cs"/>
            </a:endParaRPr>
          </a:p>
        </p:txBody>
      </p:sp>
      <p:pic>
        <p:nvPicPr>
          <p:cNvPr id="36870" name="Picture 5" descr="enigmagr"/>
          <p:cNvPicPr>
            <a:picLocks noGrp="1" noChangeAspect="1"/>
          </p:cNvPicPr>
          <p:nvPr>
            <p:ph idx="1"/>
          </p:nvPr>
        </p:nvPicPr>
        <p:blipFill>
          <a:blip r:embed="rId1"/>
          <a:srcRect/>
          <a:stretch>
            <a:fillRect/>
          </a:stretch>
        </p:blipFill>
        <p:spPr>
          <a:xfrm>
            <a:off x="0" y="1066800"/>
            <a:ext cx="4292600" cy="3238500"/>
          </a:xfrm>
        </p:spPr>
      </p:pic>
      <p:sp>
        <p:nvSpPr>
          <p:cNvPr id="36871" name="Rectangle 6"/>
          <p:cNvSpPr/>
          <p:nvPr/>
        </p:nvSpPr>
        <p:spPr>
          <a:xfrm>
            <a:off x="4575175" y="4648200"/>
            <a:ext cx="4365625" cy="1892300"/>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buNone/>
            </a:pPr>
            <a:r>
              <a:rPr lang="zh-CN" altLang="en-US" sz="2000" dirty="0">
                <a:ea typeface="宋体" panose="02010600030101010101" pitchFamily="2" charset="-122"/>
              </a:rPr>
              <a:t>英国的</a:t>
            </a:r>
            <a:r>
              <a:rPr lang="en-US" altLang="zh-CN" sz="2000" dirty="0">
                <a:ea typeface="宋体" panose="02010600030101010101" pitchFamily="2" charset="-122"/>
              </a:rPr>
              <a:t>TYPEX</a:t>
            </a:r>
            <a:r>
              <a:rPr lang="zh-CN" altLang="en-US" sz="2000" dirty="0">
                <a:solidFill>
                  <a:srgbClr val="FF0066"/>
                </a:solidFill>
                <a:ea typeface="宋体" panose="02010600030101010101" pitchFamily="2" charset="-122"/>
              </a:rPr>
              <a:t>打字密码机</a:t>
            </a:r>
            <a:r>
              <a:rPr lang="zh-CN" altLang="en-US" sz="2000" dirty="0">
                <a:ea typeface="宋体" panose="02010600030101010101" pitchFamily="2" charset="-122"/>
              </a:rPr>
              <a:t>，是德国</a:t>
            </a:r>
            <a:r>
              <a:rPr lang="en-US" altLang="zh-CN" sz="2000" dirty="0">
                <a:ea typeface="宋体" panose="02010600030101010101" pitchFamily="2" charset="-122"/>
              </a:rPr>
              <a:t>3</a:t>
            </a:r>
            <a:r>
              <a:rPr lang="zh-CN" altLang="en-US" sz="2000" dirty="0">
                <a:ea typeface="宋体" panose="02010600030101010101" pitchFamily="2" charset="-122"/>
              </a:rPr>
              <a:t>轮</a:t>
            </a:r>
            <a:r>
              <a:rPr lang="en-US" altLang="zh-CN" sz="2000" dirty="0">
                <a:ea typeface="宋体" panose="02010600030101010101" pitchFamily="2" charset="-122"/>
              </a:rPr>
              <a:t>ENIGMA</a:t>
            </a:r>
            <a:r>
              <a:rPr lang="zh-CN" altLang="en-US" sz="2000" dirty="0">
                <a:ea typeface="宋体" panose="02010600030101010101" pitchFamily="2" charset="-122"/>
              </a:rPr>
              <a:t>的改进型密码机。它在英国通信中使用广泛，且在破译密钥后帮助破解德国信号。</a:t>
            </a:r>
            <a:endParaRPr lang="zh-CN" altLang="en-US" sz="2000" dirty="0">
              <a:ea typeface="宋体" panose="02010600030101010101" pitchFamily="2" charset="-122"/>
            </a:endParaRPr>
          </a:p>
        </p:txBody>
      </p:sp>
      <p:pic>
        <p:nvPicPr>
          <p:cNvPr id="36872" name="Picture 7" descr="typex"/>
          <p:cNvPicPr>
            <a:picLocks noChangeAspect="1"/>
          </p:cNvPicPr>
          <p:nvPr/>
        </p:nvPicPr>
        <p:blipFill>
          <a:blip r:embed="rId2"/>
          <a:stretch>
            <a:fillRect/>
          </a:stretch>
        </p:blipFill>
        <p:spPr>
          <a:xfrm>
            <a:off x="4348163" y="955675"/>
            <a:ext cx="4554537" cy="3360738"/>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6"/>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7891"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历  史</a:t>
            </a:r>
            <a:endParaRPr lang="zh-CN" altLang="en-US" dirty="0">
              <a:ea typeface="宋体" panose="02010600030101010101" pitchFamily="2" charset="-122"/>
            </a:endParaRPr>
          </a:p>
        </p:txBody>
      </p:sp>
      <p:sp>
        <p:nvSpPr>
          <p:cNvPr id="225283" name="Rectangle 3"/>
          <p:cNvSpPr>
            <a:spLocks noGrp="1" noChangeArrowheads="1"/>
          </p:cNvSpPr>
          <p:nvPr>
            <p:ph type="body" sz="half" idx="1"/>
          </p:nvPr>
        </p:nvSpPr>
        <p:spPr>
          <a:xfrm>
            <a:off x="0" y="1003300"/>
            <a:ext cx="6411913" cy="4460875"/>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22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图灵（</a:t>
            </a:r>
            <a:r>
              <a:rPr kumimoji="0" lang="en-US" altLang="zh-CN" sz="22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Alan </a:t>
            </a:r>
            <a:r>
              <a:rPr kumimoji="0" lang="en-US" altLang="zh-CN" sz="2200" b="0" i="0" u="none" strike="noStrike" kern="0" cap="none" spc="0" normalizeH="0" baseline="0" noProof="0" dirty="0" err="1">
                <a:ln>
                  <a:noFill/>
                </a:ln>
                <a:solidFill>
                  <a:schemeClr val="tx1"/>
                </a:solidFill>
                <a:effectLst/>
                <a:uLnTx/>
                <a:uFillTx/>
                <a:latin typeface="黑体" panose="02010609060101010101" pitchFamily="49" charset="-122"/>
                <a:ea typeface="黑体" panose="02010609060101010101" pitchFamily="49" charset="-122"/>
                <a:cs typeface="+mn-cs"/>
              </a:rPr>
              <a:t>Mathison</a:t>
            </a:r>
            <a:r>
              <a:rPr kumimoji="0" lang="en-US" altLang="zh-CN" sz="22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Turing</a:t>
            </a:r>
            <a:r>
              <a:rPr kumimoji="0" lang="zh-CN" altLang="en-US" sz="22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1912</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1954. </a:t>
            </a:r>
            <a:endParaRPr kumimoji="0" lang="zh-CN" altLang="en-US" sz="22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英国数学家</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探索智能与机器之间关系。</a:t>
            </a:r>
            <a:endPar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1936</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年</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24</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岁的图灵提出“图灵机”的设想</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二战期间成功破译了纳粹德国的密码，设计并制造了</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COLOSSUS,</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向现代计算机迈进了重要一步。</a:t>
            </a:r>
            <a:endPar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1954</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年</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6</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月</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8</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日去世，年仅</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42</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岁。图灵去世</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12</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年后，</a:t>
            </a:r>
            <a:r>
              <a:rPr kumimoji="0"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ACM</a:t>
            </a:r>
            <a:r>
              <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以他的名字命名了计算机领域的最高奖“图灵奖”。</a:t>
            </a:r>
            <a:endParaRPr kumimoji="0"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pic>
        <p:nvPicPr>
          <p:cNvPr id="37893" name="Picture 4" descr="41_33258_tuling3"/>
          <p:cNvPicPr>
            <a:picLocks noGrp="1" noChangeAspect="1"/>
          </p:cNvPicPr>
          <p:nvPr>
            <p:ph sz="quarter" idx="2"/>
          </p:nvPr>
        </p:nvPicPr>
        <p:blipFill>
          <a:blip r:embed="rId1"/>
          <a:srcRect/>
          <a:stretch>
            <a:fillRect/>
          </a:stretch>
        </p:blipFill>
        <p:spPr>
          <a:xfrm>
            <a:off x="6423025" y="1143000"/>
            <a:ext cx="2554288" cy="2193925"/>
          </a:xfrm>
        </p:spPr>
      </p:pic>
      <p:pic>
        <p:nvPicPr>
          <p:cNvPr id="37894" name="Picture 5" descr="41_33258_tuling1"/>
          <p:cNvPicPr>
            <a:picLocks noGrp="1" noChangeAspect="1"/>
          </p:cNvPicPr>
          <p:nvPr>
            <p:ph sz="quarter" idx="3"/>
          </p:nvPr>
        </p:nvPicPr>
        <p:blipFill>
          <a:blip r:embed="rId2"/>
          <a:srcRect/>
          <a:stretch>
            <a:fillRect/>
          </a:stretch>
        </p:blipFill>
        <p:spPr>
          <a:xfrm>
            <a:off x="6423025" y="3403600"/>
            <a:ext cx="2535238" cy="187325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25283">
                                            <p:txEl>
                                              <p:pRg st="1" end="1"/>
                                            </p:txEl>
                                          </p:spTgt>
                                        </p:tgtEl>
                                        <p:attrNameLst>
                                          <p:attrName>style.visibility</p:attrName>
                                        </p:attrNameLst>
                                      </p:cBhvr>
                                      <p:to>
                                        <p:strVal val="visible"/>
                                      </p:to>
                                    </p:set>
                                    <p:anim calcmode="discrete" valueType="clr">
                                      <p:cBhvr override="childStyle">
                                        <p:cTn id="7" dur="80"/>
                                        <p:tgtEl>
                                          <p:spTgt spid="22528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25283">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225283">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25283">
                                            <p:txEl>
                                              <p:pRg st="2" end="2"/>
                                            </p:txEl>
                                          </p:spTgt>
                                        </p:tgtEl>
                                        <p:attrNameLst>
                                          <p:attrName>style.visibility</p:attrName>
                                        </p:attrNameLst>
                                      </p:cBhvr>
                                      <p:to>
                                        <p:strVal val="visible"/>
                                      </p:to>
                                    </p:set>
                                    <p:anim calcmode="discrete" valueType="clr">
                                      <p:cBhvr override="childStyle">
                                        <p:cTn id="14" dur="80"/>
                                        <p:tgtEl>
                                          <p:spTgt spid="22528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25283">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225283">
                                            <p:txEl>
                                              <p:pRg st="2" end="2"/>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25283">
                                            <p:txEl>
                                              <p:pRg st="3" end="3"/>
                                            </p:txEl>
                                          </p:spTgt>
                                        </p:tgtEl>
                                        <p:attrNameLst>
                                          <p:attrName>style.visibility</p:attrName>
                                        </p:attrNameLst>
                                      </p:cBhvr>
                                      <p:to>
                                        <p:strVal val="visible"/>
                                      </p:to>
                                    </p:set>
                                    <p:anim calcmode="discrete" valueType="clr">
                                      <p:cBhvr override="childStyle">
                                        <p:cTn id="21" dur="80"/>
                                        <p:tgtEl>
                                          <p:spTgt spid="22528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25283">
                                            <p:txEl>
                                              <p:pRg st="3" end="3"/>
                                            </p:txEl>
                                          </p:spTgt>
                                        </p:tgtEl>
                                        <p:attrNameLst>
                                          <p:attrName>fillcolor</p:attrName>
                                        </p:attrNameLst>
                                      </p:cBhvr>
                                      <p:tavLst>
                                        <p:tav tm="0">
                                          <p:val>
                                            <p:clrVal>
                                              <a:schemeClr val="accent2"/>
                                            </p:clrVal>
                                          </p:val>
                                        </p:tav>
                                        <p:tav tm="50000">
                                          <p:val>
                                            <p:clrVal>
                                              <a:schemeClr val="hlink"/>
                                            </p:clrVal>
                                          </p:val>
                                        </p:tav>
                                      </p:tavLst>
                                    </p:anim>
                                    <p:set>
                                      <p:cBhvr>
                                        <p:cTn id="23" dur="80"/>
                                        <p:tgtEl>
                                          <p:spTgt spid="22528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8915"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密码学的基本概念</a:t>
            </a:r>
            <a:endParaRPr lang="zh-CN" altLang="en-US" dirty="0">
              <a:ea typeface="宋体" panose="02010600030101010101" pitchFamily="2" charset="-122"/>
            </a:endParaRPr>
          </a:p>
        </p:txBody>
      </p:sp>
      <p:sp>
        <p:nvSpPr>
          <p:cNvPr id="229379" name="Rectangle 3"/>
          <p:cNvSpPr>
            <a:spLocks noGrp="1"/>
          </p:cNvSpPr>
          <p:nvPr>
            <p:ph idx="1"/>
          </p:nvPr>
        </p:nvSpPr>
        <p:spPr>
          <a:xfrm>
            <a:off x="346075" y="1030288"/>
            <a:ext cx="8594725" cy="5513387"/>
          </a:xfrm>
        </p:spPr>
        <p:txBody>
          <a:bodyPr vert="horz" wrap="square" lIns="91440" tIns="45720" rIns="91440" bIns="45720" anchor="t" anchorCtr="0"/>
          <a:lstStyle/>
          <a:p>
            <a:pPr algn="l" eaLnBrk="1" hangingPunct="1">
              <a:lnSpc>
                <a:spcPct val="130000"/>
              </a:lnSpc>
              <a:buNone/>
            </a:pPr>
            <a:r>
              <a:rPr lang="zh-CN" altLang="en-US" b="1" dirty="0">
                <a:solidFill>
                  <a:srgbClr val="FF3300"/>
                </a:solidFill>
                <a:ea typeface="宋体" panose="02010600030101010101" pitchFamily="2" charset="-122"/>
              </a:rPr>
              <a:t>密码编码：</a:t>
            </a:r>
            <a:r>
              <a:rPr lang="zh-CN" altLang="en-US" dirty="0">
                <a:ea typeface="宋体" panose="02010600030101010101" pitchFamily="2" charset="-122"/>
              </a:rPr>
              <a:t>通过信息编码使信息保密</a:t>
            </a:r>
            <a:r>
              <a:rPr lang="en-US" altLang="zh-CN" dirty="0">
                <a:ea typeface="宋体" panose="02010600030101010101" pitchFamily="2" charset="-122"/>
              </a:rPr>
              <a:t>;</a:t>
            </a:r>
            <a:endParaRPr lang="zh-CN" altLang="en-US" dirty="0">
              <a:ea typeface="宋体" panose="02010600030101010101" pitchFamily="2" charset="-122"/>
            </a:endParaRPr>
          </a:p>
          <a:p>
            <a:pPr algn="l" eaLnBrk="1" hangingPunct="1">
              <a:lnSpc>
                <a:spcPct val="130000"/>
              </a:lnSpc>
              <a:buNone/>
            </a:pPr>
            <a:r>
              <a:rPr lang="zh-CN" altLang="en-US" b="1" dirty="0">
                <a:solidFill>
                  <a:srgbClr val="FF3300"/>
                </a:solidFill>
                <a:ea typeface="宋体" panose="02010600030101010101" pitchFamily="2" charset="-122"/>
              </a:rPr>
              <a:t>密码分析：</a:t>
            </a:r>
            <a:r>
              <a:rPr lang="zh-CN" altLang="en-US" dirty="0">
                <a:ea typeface="宋体" panose="02010600030101010101" pitchFamily="2" charset="-122"/>
              </a:rPr>
              <a:t>用分析方法解密信息</a:t>
            </a:r>
            <a:r>
              <a:rPr lang="en-US" altLang="zh-CN" dirty="0">
                <a:ea typeface="宋体" panose="02010600030101010101" pitchFamily="2" charset="-122"/>
              </a:rPr>
              <a:t>;</a:t>
            </a:r>
            <a:endParaRPr lang="zh-CN" altLang="en-US" dirty="0">
              <a:ea typeface="宋体" panose="02010600030101010101" pitchFamily="2" charset="-122"/>
            </a:endParaRPr>
          </a:p>
          <a:p>
            <a:pPr algn="l" eaLnBrk="1" hangingPunct="1">
              <a:lnSpc>
                <a:spcPct val="130000"/>
              </a:lnSpc>
              <a:buNone/>
            </a:pPr>
            <a:r>
              <a:rPr lang="zh-CN" altLang="en-US" b="1" dirty="0">
                <a:solidFill>
                  <a:srgbClr val="FF3300"/>
                </a:solidFill>
                <a:ea typeface="宋体" panose="02010600030101010101" pitchFamily="2" charset="-122"/>
              </a:rPr>
              <a:t>基本术语：</a:t>
            </a:r>
            <a:endParaRPr lang="zh-CN" altLang="en-US" b="1" dirty="0">
              <a:solidFill>
                <a:srgbClr val="FF3300"/>
              </a:solidFill>
              <a:ea typeface="宋体" panose="02010600030101010101" pitchFamily="2" charset="-122"/>
            </a:endParaRPr>
          </a:p>
          <a:p>
            <a:pPr lvl="1" eaLnBrk="1" hangingPunct="1">
              <a:lnSpc>
                <a:spcPct val="130000"/>
              </a:lnSpc>
            </a:pPr>
            <a:r>
              <a:rPr lang="zh-CN" altLang="en-US" sz="2400" dirty="0">
                <a:ea typeface="宋体" panose="02010600030101010101" pitchFamily="2" charset="-122"/>
              </a:rPr>
              <a:t>明文</a:t>
            </a:r>
            <a:r>
              <a:rPr lang="en-US" altLang="zh-CN" sz="2400" dirty="0">
                <a:ea typeface="宋体" panose="02010600030101010101" pitchFamily="2" charset="-122"/>
              </a:rPr>
              <a:t>(plain text)</a:t>
            </a:r>
            <a:r>
              <a:rPr lang="zh-CN" altLang="en-US" sz="2400" dirty="0">
                <a:ea typeface="宋体" panose="02010600030101010101" pitchFamily="2" charset="-122"/>
              </a:rPr>
              <a:t>，密文</a:t>
            </a:r>
            <a:r>
              <a:rPr lang="en-US" altLang="zh-CN" sz="2400" dirty="0">
                <a:ea typeface="宋体" panose="02010600030101010101" pitchFamily="2" charset="-122"/>
              </a:rPr>
              <a:t>(cipher text)</a:t>
            </a:r>
            <a:endParaRPr lang="en-US" altLang="zh-CN" sz="2400" dirty="0">
              <a:ea typeface="宋体" panose="02010600030101010101" pitchFamily="2" charset="-122"/>
            </a:endParaRPr>
          </a:p>
          <a:p>
            <a:pPr lvl="1" eaLnBrk="1" hangingPunct="1">
              <a:lnSpc>
                <a:spcPct val="130000"/>
              </a:lnSpc>
            </a:pPr>
            <a:r>
              <a:rPr lang="zh-CN" altLang="en-US" sz="2400" dirty="0">
                <a:ea typeface="宋体" panose="02010600030101010101" pitchFamily="2" charset="-122"/>
              </a:rPr>
              <a:t>加密</a:t>
            </a:r>
            <a:r>
              <a:rPr lang="en-US" altLang="zh-CN" sz="2400" dirty="0">
                <a:ea typeface="宋体" panose="02010600030101010101" pitchFamily="2" charset="-122"/>
              </a:rPr>
              <a:t>(encrypt,  encryption),  </a:t>
            </a:r>
            <a:r>
              <a:rPr lang="zh-CN" altLang="en-US" sz="2400" dirty="0">
                <a:ea typeface="宋体" panose="02010600030101010101" pitchFamily="2" charset="-122"/>
              </a:rPr>
              <a:t>解密</a:t>
            </a:r>
            <a:r>
              <a:rPr lang="en-US" altLang="zh-CN" sz="2400" dirty="0">
                <a:ea typeface="宋体" panose="02010600030101010101" pitchFamily="2" charset="-122"/>
              </a:rPr>
              <a:t>(decrypt,  decryption)</a:t>
            </a:r>
            <a:endParaRPr lang="zh-CN" altLang="en-US" sz="2400" dirty="0">
              <a:ea typeface="宋体" panose="02010600030101010101" pitchFamily="2" charset="-122"/>
            </a:endParaRPr>
          </a:p>
          <a:p>
            <a:pPr lvl="1" eaLnBrk="1" hangingPunct="1">
              <a:lnSpc>
                <a:spcPct val="130000"/>
              </a:lnSpc>
            </a:pPr>
            <a:r>
              <a:rPr lang="zh-CN" altLang="en-US" sz="2400" dirty="0">
                <a:ea typeface="宋体" panose="02010600030101010101" pitchFamily="2" charset="-122"/>
              </a:rPr>
              <a:t>密码算法（</a:t>
            </a:r>
            <a:r>
              <a:rPr lang="en-US" altLang="zh-CN" sz="2400" dirty="0">
                <a:ea typeface="宋体" panose="02010600030101010101" pitchFamily="2" charset="-122"/>
              </a:rPr>
              <a:t>Algorithm</a:t>
            </a:r>
            <a:r>
              <a:rPr lang="zh-CN" altLang="en-US" sz="2400" dirty="0">
                <a:ea typeface="宋体" panose="02010600030101010101" pitchFamily="2" charset="-122"/>
              </a:rPr>
              <a:t>），密码（</a:t>
            </a:r>
            <a:r>
              <a:rPr lang="en-US" altLang="zh-CN" sz="2400" dirty="0">
                <a:ea typeface="宋体" panose="02010600030101010101" pitchFamily="2" charset="-122"/>
              </a:rPr>
              <a:t>Cipher</a:t>
            </a:r>
            <a:r>
              <a:rPr lang="zh-CN" altLang="en-US" sz="2400" dirty="0">
                <a:ea typeface="宋体" panose="02010600030101010101" pitchFamily="2" charset="-122"/>
              </a:rPr>
              <a:t>）；</a:t>
            </a:r>
            <a:endParaRPr lang="zh-CN" altLang="en-US" sz="2400" dirty="0">
              <a:ea typeface="宋体" panose="02010600030101010101" pitchFamily="2" charset="-122"/>
            </a:endParaRPr>
          </a:p>
          <a:p>
            <a:pPr lvl="1" eaLnBrk="1" hangingPunct="1">
              <a:lnSpc>
                <a:spcPct val="130000"/>
              </a:lnSpc>
            </a:pPr>
            <a:r>
              <a:rPr lang="zh-CN" altLang="en-US" sz="2400" dirty="0">
                <a:ea typeface="宋体" panose="02010600030101010101" pitchFamily="2" charset="-122"/>
              </a:rPr>
              <a:t>加密和解密的数学函数</a:t>
            </a:r>
            <a:endParaRPr lang="zh-CN" altLang="en-US" sz="2400" dirty="0">
              <a:ea typeface="宋体" panose="02010600030101010101" pitchFamily="2" charset="-122"/>
            </a:endParaRPr>
          </a:p>
          <a:p>
            <a:pPr lvl="1" eaLnBrk="1" hangingPunct="1">
              <a:lnSpc>
                <a:spcPct val="130000"/>
              </a:lnSpc>
              <a:buNone/>
            </a:pPr>
            <a:r>
              <a:rPr lang="en-US" altLang="zh-CN" sz="2400" dirty="0">
                <a:ea typeface="宋体" panose="02010600030101010101" pitchFamily="2" charset="-122"/>
              </a:rPr>
              <a:t>                        c=E(m),    m=D(c),   D(E(m))= m</a:t>
            </a:r>
            <a:endParaRPr lang="en-US" altLang="zh-CN" sz="2400" dirty="0">
              <a:ea typeface="宋体" panose="02010600030101010101" pitchFamily="2" charset="-122"/>
            </a:endParaRPr>
          </a:p>
          <a:p>
            <a:pPr lvl="1" eaLnBrk="1" hangingPunct="1">
              <a:lnSpc>
                <a:spcPct val="130000"/>
              </a:lnSpc>
            </a:pPr>
            <a:r>
              <a:rPr lang="zh-CN" altLang="en-US" sz="2400" dirty="0">
                <a:ea typeface="宋体" panose="02010600030101010101" pitchFamily="2" charset="-122"/>
              </a:rPr>
              <a:t>密钥（</a:t>
            </a:r>
            <a:r>
              <a:rPr lang="en-US" altLang="zh-CN" sz="2400" dirty="0">
                <a:ea typeface="宋体" panose="02010600030101010101" pitchFamily="2" charset="-122"/>
              </a:rPr>
              <a:t>Key</a:t>
            </a:r>
            <a:r>
              <a:rPr lang="zh-CN" altLang="en-US" sz="2400" dirty="0">
                <a:ea typeface="宋体" panose="02010600030101010101" pitchFamily="2" charset="-122"/>
              </a:rPr>
              <a:t>）</a:t>
            </a:r>
            <a:r>
              <a:rPr lang="en-US" altLang="zh-CN" sz="2400" dirty="0">
                <a:ea typeface="宋体" panose="02010600030101010101" pitchFamily="2" charset="-122"/>
              </a:rPr>
              <a:t>:  </a:t>
            </a:r>
            <a:r>
              <a:rPr lang="zh-CN" altLang="en-US" sz="2400" dirty="0">
                <a:ea typeface="宋体" panose="02010600030101010101" pitchFamily="2" charset="-122"/>
              </a:rPr>
              <a:t>算法中的一个变量</a:t>
            </a:r>
            <a:endParaRPr lang="zh-CN" altLang="en-US" sz="2400" dirty="0">
              <a:ea typeface="宋体" panose="02010600030101010101" pitchFamily="2" charset="-122"/>
            </a:endParaRPr>
          </a:p>
          <a:p>
            <a:pPr lvl="1" eaLnBrk="1" hangingPunct="1">
              <a:lnSpc>
                <a:spcPct val="130000"/>
              </a:lnSpc>
              <a:buNone/>
            </a:pPr>
            <a:r>
              <a:rPr lang="en-US" altLang="zh-CN" sz="2400" dirty="0">
                <a:ea typeface="宋体" panose="02010600030101010101" pitchFamily="2" charset="-122"/>
              </a:rPr>
              <a:t>                  c=E</a:t>
            </a:r>
            <a:r>
              <a:rPr lang="en-US" altLang="zh-CN" sz="2400" baseline="-25000" dirty="0">
                <a:ea typeface="宋体" panose="02010600030101010101" pitchFamily="2" charset="-122"/>
              </a:rPr>
              <a:t>Ke</a:t>
            </a:r>
            <a:r>
              <a:rPr lang="en-US" altLang="zh-CN" sz="2400" dirty="0">
                <a:ea typeface="宋体" panose="02010600030101010101" pitchFamily="2" charset="-122"/>
              </a:rPr>
              <a:t>(m),    m=D</a:t>
            </a:r>
            <a:r>
              <a:rPr lang="en-US" altLang="zh-CN" sz="2400" baseline="-25000" dirty="0">
                <a:ea typeface="宋体" panose="02010600030101010101" pitchFamily="2" charset="-122"/>
              </a:rPr>
              <a:t>Kd</a:t>
            </a:r>
            <a:r>
              <a:rPr lang="en-US" altLang="zh-CN" sz="2400" dirty="0">
                <a:ea typeface="宋体" panose="02010600030101010101" pitchFamily="2" charset="-122"/>
              </a:rPr>
              <a:t>(c),  D</a:t>
            </a:r>
            <a:r>
              <a:rPr lang="en-US" altLang="zh-CN" sz="2400" baseline="-25000" dirty="0">
                <a:ea typeface="宋体" panose="02010600030101010101" pitchFamily="2" charset="-122"/>
              </a:rPr>
              <a:t>Kd</a:t>
            </a:r>
            <a:r>
              <a:rPr lang="en-US" altLang="zh-CN" sz="2400" dirty="0">
                <a:ea typeface="宋体" panose="02010600030101010101" pitchFamily="2" charset="-122"/>
              </a:rPr>
              <a:t>(E</a:t>
            </a:r>
            <a:r>
              <a:rPr lang="en-US" altLang="zh-CN" sz="2400" baseline="-25000" dirty="0">
                <a:ea typeface="宋体" panose="02010600030101010101" pitchFamily="2" charset="-122"/>
              </a:rPr>
              <a:t>Ke</a:t>
            </a:r>
            <a:r>
              <a:rPr lang="en-US" altLang="zh-CN" sz="2400" dirty="0">
                <a:ea typeface="宋体" panose="02010600030101010101" pitchFamily="2" charset="-122"/>
              </a:rPr>
              <a:t>(m))=m</a:t>
            </a:r>
            <a:endParaRPr lang="zh-CN" altLang="en-US" sz="24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29379">
                                            <p:txEl>
                                              <p:pRg st="0" end="0"/>
                                            </p:txEl>
                                          </p:spTgt>
                                        </p:tgtEl>
                                        <p:attrNameLst>
                                          <p:attrName>style.visibility</p:attrName>
                                        </p:attrNameLst>
                                      </p:cBhvr>
                                      <p:to>
                                        <p:strVal val="visible"/>
                                      </p:to>
                                    </p:set>
                                    <p:anim calcmode="discrete" valueType="clr">
                                      <p:cBhvr override="childStyle">
                                        <p:cTn id="7" dur="80"/>
                                        <p:tgtEl>
                                          <p:spTgt spid="22937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29379">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29379">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29379">
                                            <p:txEl>
                                              <p:pRg st="1" end="1"/>
                                            </p:txEl>
                                          </p:spTgt>
                                        </p:tgtEl>
                                        <p:attrNameLst>
                                          <p:attrName>style.visibility</p:attrName>
                                        </p:attrNameLst>
                                      </p:cBhvr>
                                      <p:to>
                                        <p:strVal val="visible"/>
                                      </p:to>
                                    </p:set>
                                    <p:anim calcmode="discrete" valueType="clr">
                                      <p:cBhvr override="childStyle">
                                        <p:cTn id="14" dur="80"/>
                                        <p:tgtEl>
                                          <p:spTgt spid="22937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29379">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29379">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229379">
                                            <p:txEl>
                                              <p:pRg st="2" end="2"/>
                                            </p:txEl>
                                          </p:spTgt>
                                        </p:tgtEl>
                                        <p:attrNameLst>
                                          <p:attrName>style.visibility</p:attrName>
                                        </p:attrNameLst>
                                      </p:cBhvr>
                                      <p:to>
                                        <p:strVal val="visible"/>
                                      </p:to>
                                    </p:set>
                                    <p:anim calcmode="discrete" valueType="clr">
                                      <p:cBhvr override="childStyle">
                                        <p:cTn id="21" dur="80"/>
                                        <p:tgtEl>
                                          <p:spTgt spid="22937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29379">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29379">
                                            <p:txEl>
                                              <p:pRg st="2" end="2"/>
                                            </p:txEl>
                                          </p:spTgt>
                                        </p:tgtEl>
                                        <p:attrNameLst>
                                          <p:attrName>fill.type</p:attrName>
                                        </p:attrNameLst>
                                      </p:cBhvr>
                                      <p:to>
                                        <p:strVal val="solid"/>
                                      </p:to>
                                    </p:set>
                                  </p:childTnLst>
                                </p:cTn>
                              </p:par>
                              <p:par>
                                <p:cTn id="24" presetID="27" presetClass="entr" presetSubtype="0" fill="hold" grpId="0" nodeType="withEffect">
                                  <p:stCondLst>
                                    <p:cond delay="0"/>
                                  </p:stCondLst>
                                  <p:iterate type="lt">
                                    <p:tmPct val="50000"/>
                                  </p:iterate>
                                  <p:childTnLst>
                                    <p:set>
                                      <p:cBhvr>
                                        <p:cTn id="25" dur="1" fill="hold">
                                          <p:stCondLst>
                                            <p:cond delay="0"/>
                                          </p:stCondLst>
                                        </p:cTn>
                                        <p:tgtEl>
                                          <p:spTgt spid="229379">
                                            <p:txEl>
                                              <p:pRg st="3" end="3"/>
                                            </p:txEl>
                                          </p:spTgt>
                                        </p:tgtEl>
                                        <p:attrNameLst>
                                          <p:attrName>style.visibility</p:attrName>
                                        </p:attrNameLst>
                                      </p:cBhvr>
                                      <p:to>
                                        <p:strVal val="visible"/>
                                      </p:to>
                                    </p:set>
                                    <p:anim calcmode="discrete" valueType="clr">
                                      <p:cBhvr override="childStyle">
                                        <p:cTn id="26" dur="80"/>
                                        <p:tgtEl>
                                          <p:spTgt spid="229379">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229379">
                                            <p:txEl>
                                              <p:pRg st="3" end="3"/>
                                            </p:txEl>
                                          </p:spTgt>
                                        </p:tgtEl>
                                        <p:attrNameLst>
                                          <p:attrName>fillcolor</p:attrName>
                                        </p:attrNameLst>
                                      </p:cBhvr>
                                      <p:tavLst>
                                        <p:tav tm="0">
                                          <p:val>
                                            <p:clrVal>
                                              <a:schemeClr val="accent2"/>
                                            </p:clrVal>
                                          </p:val>
                                        </p:tav>
                                        <p:tav tm="50000">
                                          <p:val>
                                            <p:clrVal>
                                              <a:schemeClr val="hlink"/>
                                            </p:clrVal>
                                          </p:val>
                                        </p:tav>
                                      </p:tavLst>
                                    </p:anim>
                                    <p:set>
                                      <p:cBhvr>
                                        <p:cTn id="28" dur="80"/>
                                        <p:tgtEl>
                                          <p:spTgt spid="229379">
                                            <p:txEl>
                                              <p:pRg st="3" end="3"/>
                                            </p:txEl>
                                          </p:spTgt>
                                        </p:tgtEl>
                                        <p:attrNameLst>
                                          <p:attrName>fill.type</p:attrName>
                                        </p:attrNameLst>
                                      </p:cBhvr>
                                      <p:to>
                                        <p:strVal val="solid"/>
                                      </p:to>
                                    </p:set>
                                  </p:childTnLst>
                                </p:cTn>
                              </p:par>
                              <p:par>
                                <p:cTn id="29" presetID="27" presetClass="entr" presetSubtype="0" fill="hold" grpId="0" nodeType="withEffect">
                                  <p:stCondLst>
                                    <p:cond delay="0"/>
                                  </p:stCondLst>
                                  <p:iterate type="lt">
                                    <p:tmPct val="50000"/>
                                  </p:iterate>
                                  <p:childTnLst>
                                    <p:set>
                                      <p:cBhvr>
                                        <p:cTn id="30" dur="1" fill="hold">
                                          <p:stCondLst>
                                            <p:cond delay="0"/>
                                          </p:stCondLst>
                                        </p:cTn>
                                        <p:tgtEl>
                                          <p:spTgt spid="229379">
                                            <p:txEl>
                                              <p:pRg st="4" end="4"/>
                                            </p:txEl>
                                          </p:spTgt>
                                        </p:tgtEl>
                                        <p:attrNameLst>
                                          <p:attrName>style.visibility</p:attrName>
                                        </p:attrNameLst>
                                      </p:cBhvr>
                                      <p:to>
                                        <p:strVal val="visible"/>
                                      </p:to>
                                    </p:set>
                                    <p:anim calcmode="discrete" valueType="clr">
                                      <p:cBhvr override="childStyle">
                                        <p:cTn id="31" dur="80"/>
                                        <p:tgtEl>
                                          <p:spTgt spid="229379">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229379">
                                            <p:txEl>
                                              <p:pRg st="4" end="4"/>
                                            </p:txEl>
                                          </p:spTgt>
                                        </p:tgtEl>
                                        <p:attrNameLst>
                                          <p:attrName>fillcolor</p:attrName>
                                        </p:attrNameLst>
                                      </p:cBhvr>
                                      <p:tavLst>
                                        <p:tav tm="0">
                                          <p:val>
                                            <p:clrVal>
                                              <a:schemeClr val="accent2"/>
                                            </p:clrVal>
                                          </p:val>
                                        </p:tav>
                                        <p:tav tm="50000">
                                          <p:val>
                                            <p:clrVal>
                                              <a:schemeClr val="hlink"/>
                                            </p:clrVal>
                                          </p:val>
                                        </p:tav>
                                      </p:tavLst>
                                    </p:anim>
                                    <p:set>
                                      <p:cBhvr>
                                        <p:cTn id="33" dur="80"/>
                                        <p:tgtEl>
                                          <p:spTgt spid="229379">
                                            <p:txEl>
                                              <p:pRg st="4" end="4"/>
                                            </p:txEl>
                                          </p:spTgt>
                                        </p:tgtEl>
                                        <p:attrNameLst>
                                          <p:attrName>fill.type</p:attrName>
                                        </p:attrNameLst>
                                      </p:cBhvr>
                                      <p:to>
                                        <p:strVal val="solid"/>
                                      </p:to>
                                    </p:set>
                                  </p:childTnLst>
                                </p:cTn>
                              </p:par>
                              <p:par>
                                <p:cTn id="34" presetID="27" presetClass="entr" presetSubtype="0" fill="hold" grpId="0" nodeType="withEffect">
                                  <p:stCondLst>
                                    <p:cond delay="0"/>
                                  </p:stCondLst>
                                  <p:iterate type="lt">
                                    <p:tmPct val="50000"/>
                                  </p:iterate>
                                  <p:childTnLst>
                                    <p:set>
                                      <p:cBhvr>
                                        <p:cTn id="35" dur="1" fill="hold">
                                          <p:stCondLst>
                                            <p:cond delay="0"/>
                                          </p:stCondLst>
                                        </p:cTn>
                                        <p:tgtEl>
                                          <p:spTgt spid="229379">
                                            <p:txEl>
                                              <p:pRg st="5" end="5"/>
                                            </p:txEl>
                                          </p:spTgt>
                                        </p:tgtEl>
                                        <p:attrNameLst>
                                          <p:attrName>style.visibility</p:attrName>
                                        </p:attrNameLst>
                                      </p:cBhvr>
                                      <p:to>
                                        <p:strVal val="visible"/>
                                      </p:to>
                                    </p:set>
                                    <p:anim calcmode="discrete" valueType="clr">
                                      <p:cBhvr override="childStyle">
                                        <p:cTn id="36" dur="80"/>
                                        <p:tgtEl>
                                          <p:spTgt spid="229379">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229379">
                                            <p:txEl>
                                              <p:pRg st="5" end="5"/>
                                            </p:txEl>
                                          </p:spTgt>
                                        </p:tgtEl>
                                        <p:attrNameLst>
                                          <p:attrName>fillcolor</p:attrName>
                                        </p:attrNameLst>
                                      </p:cBhvr>
                                      <p:tavLst>
                                        <p:tav tm="0">
                                          <p:val>
                                            <p:clrVal>
                                              <a:schemeClr val="accent2"/>
                                            </p:clrVal>
                                          </p:val>
                                        </p:tav>
                                        <p:tav tm="50000">
                                          <p:val>
                                            <p:clrVal>
                                              <a:schemeClr val="hlink"/>
                                            </p:clrVal>
                                          </p:val>
                                        </p:tav>
                                      </p:tavLst>
                                    </p:anim>
                                    <p:set>
                                      <p:cBhvr>
                                        <p:cTn id="38" dur="80"/>
                                        <p:tgtEl>
                                          <p:spTgt spid="229379">
                                            <p:txEl>
                                              <p:pRg st="5" end="5"/>
                                            </p:txEl>
                                          </p:spTgt>
                                        </p:tgtEl>
                                        <p:attrNameLst>
                                          <p:attrName>fill.type</p:attrName>
                                        </p:attrNameLst>
                                      </p:cBhvr>
                                      <p:to>
                                        <p:strVal val="solid"/>
                                      </p:to>
                                    </p:set>
                                  </p:childTnLst>
                                </p:cTn>
                              </p:par>
                              <p:par>
                                <p:cTn id="39" presetID="27" presetClass="entr" presetSubtype="0" fill="hold" grpId="0" nodeType="withEffect">
                                  <p:stCondLst>
                                    <p:cond delay="0"/>
                                  </p:stCondLst>
                                  <p:iterate type="lt">
                                    <p:tmPct val="50000"/>
                                  </p:iterate>
                                  <p:childTnLst>
                                    <p:set>
                                      <p:cBhvr>
                                        <p:cTn id="40" dur="1" fill="hold">
                                          <p:stCondLst>
                                            <p:cond delay="0"/>
                                          </p:stCondLst>
                                        </p:cTn>
                                        <p:tgtEl>
                                          <p:spTgt spid="229379">
                                            <p:txEl>
                                              <p:pRg st="6" end="6"/>
                                            </p:txEl>
                                          </p:spTgt>
                                        </p:tgtEl>
                                        <p:attrNameLst>
                                          <p:attrName>style.visibility</p:attrName>
                                        </p:attrNameLst>
                                      </p:cBhvr>
                                      <p:to>
                                        <p:strVal val="visible"/>
                                      </p:to>
                                    </p:set>
                                    <p:anim calcmode="discrete" valueType="clr">
                                      <p:cBhvr override="childStyle">
                                        <p:cTn id="41" dur="80"/>
                                        <p:tgtEl>
                                          <p:spTgt spid="229379">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229379">
                                            <p:txEl>
                                              <p:pRg st="6" end="6"/>
                                            </p:txEl>
                                          </p:spTgt>
                                        </p:tgtEl>
                                        <p:attrNameLst>
                                          <p:attrName>fillcolor</p:attrName>
                                        </p:attrNameLst>
                                      </p:cBhvr>
                                      <p:tavLst>
                                        <p:tav tm="0">
                                          <p:val>
                                            <p:clrVal>
                                              <a:schemeClr val="accent2"/>
                                            </p:clrVal>
                                          </p:val>
                                        </p:tav>
                                        <p:tav tm="50000">
                                          <p:val>
                                            <p:clrVal>
                                              <a:schemeClr val="hlink"/>
                                            </p:clrVal>
                                          </p:val>
                                        </p:tav>
                                      </p:tavLst>
                                    </p:anim>
                                    <p:set>
                                      <p:cBhvr>
                                        <p:cTn id="43" dur="80"/>
                                        <p:tgtEl>
                                          <p:spTgt spid="229379">
                                            <p:txEl>
                                              <p:pRg st="6" end="6"/>
                                            </p:txEl>
                                          </p:spTgt>
                                        </p:tgtEl>
                                        <p:attrNameLst>
                                          <p:attrName>fill.type</p:attrName>
                                        </p:attrNameLst>
                                      </p:cBhvr>
                                      <p:to>
                                        <p:strVal val="solid"/>
                                      </p:to>
                                    </p:set>
                                  </p:childTnLst>
                                </p:cTn>
                              </p:par>
                              <p:par>
                                <p:cTn id="44" presetID="27" presetClass="entr" presetSubtype="0" fill="hold" grpId="0" nodeType="withEffect">
                                  <p:stCondLst>
                                    <p:cond delay="0"/>
                                  </p:stCondLst>
                                  <p:iterate type="lt">
                                    <p:tmPct val="50000"/>
                                  </p:iterate>
                                  <p:childTnLst>
                                    <p:set>
                                      <p:cBhvr>
                                        <p:cTn id="45" dur="1" fill="hold">
                                          <p:stCondLst>
                                            <p:cond delay="0"/>
                                          </p:stCondLst>
                                        </p:cTn>
                                        <p:tgtEl>
                                          <p:spTgt spid="229379">
                                            <p:txEl>
                                              <p:pRg st="7" end="7"/>
                                            </p:txEl>
                                          </p:spTgt>
                                        </p:tgtEl>
                                        <p:attrNameLst>
                                          <p:attrName>style.visibility</p:attrName>
                                        </p:attrNameLst>
                                      </p:cBhvr>
                                      <p:to>
                                        <p:strVal val="visible"/>
                                      </p:to>
                                    </p:set>
                                    <p:anim calcmode="discrete" valueType="clr">
                                      <p:cBhvr override="childStyle">
                                        <p:cTn id="46" dur="80"/>
                                        <p:tgtEl>
                                          <p:spTgt spid="229379">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229379">
                                            <p:txEl>
                                              <p:pRg st="7" end="7"/>
                                            </p:txEl>
                                          </p:spTgt>
                                        </p:tgtEl>
                                        <p:attrNameLst>
                                          <p:attrName>fillcolor</p:attrName>
                                        </p:attrNameLst>
                                      </p:cBhvr>
                                      <p:tavLst>
                                        <p:tav tm="0">
                                          <p:val>
                                            <p:clrVal>
                                              <a:schemeClr val="accent2"/>
                                            </p:clrVal>
                                          </p:val>
                                        </p:tav>
                                        <p:tav tm="50000">
                                          <p:val>
                                            <p:clrVal>
                                              <a:schemeClr val="hlink"/>
                                            </p:clrVal>
                                          </p:val>
                                        </p:tav>
                                      </p:tavLst>
                                    </p:anim>
                                    <p:set>
                                      <p:cBhvr>
                                        <p:cTn id="48" dur="80"/>
                                        <p:tgtEl>
                                          <p:spTgt spid="229379">
                                            <p:txEl>
                                              <p:pRg st="7" end="7"/>
                                            </p:txEl>
                                          </p:spTgt>
                                        </p:tgtEl>
                                        <p:attrNameLst>
                                          <p:attrName>fill.type</p:attrName>
                                        </p:attrNameLst>
                                      </p:cBhvr>
                                      <p:to>
                                        <p:strVal val="solid"/>
                                      </p:to>
                                    </p:set>
                                  </p:childTnLst>
                                </p:cTn>
                              </p:par>
                              <p:par>
                                <p:cTn id="49" presetID="27" presetClass="entr" presetSubtype="0" fill="hold" grpId="0" nodeType="withEffect">
                                  <p:stCondLst>
                                    <p:cond delay="0"/>
                                  </p:stCondLst>
                                  <p:iterate type="lt">
                                    <p:tmPct val="50000"/>
                                  </p:iterate>
                                  <p:childTnLst>
                                    <p:set>
                                      <p:cBhvr>
                                        <p:cTn id="50" dur="1" fill="hold">
                                          <p:stCondLst>
                                            <p:cond delay="0"/>
                                          </p:stCondLst>
                                        </p:cTn>
                                        <p:tgtEl>
                                          <p:spTgt spid="229379">
                                            <p:txEl>
                                              <p:pRg st="8" end="8"/>
                                            </p:txEl>
                                          </p:spTgt>
                                        </p:tgtEl>
                                        <p:attrNameLst>
                                          <p:attrName>style.visibility</p:attrName>
                                        </p:attrNameLst>
                                      </p:cBhvr>
                                      <p:to>
                                        <p:strVal val="visible"/>
                                      </p:to>
                                    </p:set>
                                    <p:anim calcmode="discrete" valueType="clr">
                                      <p:cBhvr override="childStyle">
                                        <p:cTn id="51" dur="80"/>
                                        <p:tgtEl>
                                          <p:spTgt spid="229379">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2" dur="80"/>
                                        <p:tgtEl>
                                          <p:spTgt spid="229379">
                                            <p:txEl>
                                              <p:pRg st="8" end="8"/>
                                            </p:txEl>
                                          </p:spTgt>
                                        </p:tgtEl>
                                        <p:attrNameLst>
                                          <p:attrName>fillcolor</p:attrName>
                                        </p:attrNameLst>
                                      </p:cBhvr>
                                      <p:tavLst>
                                        <p:tav tm="0">
                                          <p:val>
                                            <p:clrVal>
                                              <a:schemeClr val="accent2"/>
                                            </p:clrVal>
                                          </p:val>
                                        </p:tav>
                                        <p:tav tm="50000">
                                          <p:val>
                                            <p:clrVal>
                                              <a:schemeClr val="hlink"/>
                                            </p:clrVal>
                                          </p:val>
                                        </p:tav>
                                      </p:tavLst>
                                    </p:anim>
                                    <p:set>
                                      <p:cBhvr>
                                        <p:cTn id="53" dur="80"/>
                                        <p:tgtEl>
                                          <p:spTgt spid="229379">
                                            <p:txEl>
                                              <p:pRg st="8" end="8"/>
                                            </p:txEl>
                                          </p:spTgt>
                                        </p:tgtEl>
                                        <p:attrNameLst>
                                          <p:attrName>fill.type</p:attrName>
                                        </p:attrNameLst>
                                      </p:cBhvr>
                                      <p:to>
                                        <p:strVal val="solid"/>
                                      </p:to>
                                    </p:set>
                                  </p:childTnLst>
                                </p:cTn>
                              </p:par>
                              <p:par>
                                <p:cTn id="54" presetID="27" presetClass="entr" presetSubtype="0" fill="hold" grpId="0" nodeType="withEffect">
                                  <p:stCondLst>
                                    <p:cond delay="0"/>
                                  </p:stCondLst>
                                  <p:iterate type="lt">
                                    <p:tmPct val="50000"/>
                                  </p:iterate>
                                  <p:childTnLst>
                                    <p:set>
                                      <p:cBhvr>
                                        <p:cTn id="55" dur="1" fill="hold">
                                          <p:stCondLst>
                                            <p:cond delay="0"/>
                                          </p:stCondLst>
                                        </p:cTn>
                                        <p:tgtEl>
                                          <p:spTgt spid="229379">
                                            <p:txEl>
                                              <p:pRg st="9" end="9"/>
                                            </p:txEl>
                                          </p:spTgt>
                                        </p:tgtEl>
                                        <p:attrNameLst>
                                          <p:attrName>style.visibility</p:attrName>
                                        </p:attrNameLst>
                                      </p:cBhvr>
                                      <p:to>
                                        <p:strVal val="visible"/>
                                      </p:to>
                                    </p:set>
                                    <p:anim calcmode="discrete" valueType="clr">
                                      <p:cBhvr override="childStyle">
                                        <p:cTn id="56" dur="80"/>
                                        <p:tgtEl>
                                          <p:spTgt spid="229379">
                                            <p:txEl>
                                              <p:p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229379">
                                            <p:txEl>
                                              <p:pRg st="9" end="9"/>
                                            </p:txEl>
                                          </p:spTgt>
                                        </p:tgtEl>
                                        <p:attrNameLst>
                                          <p:attrName>fillcolor</p:attrName>
                                        </p:attrNameLst>
                                      </p:cBhvr>
                                      <p:tavLst>
                                        <p:tav tm="0">
                                          <p:val>
                                            <p:clrVal>
                                              <a:schemeClr val="accent2"/>
                                            </p:clrVal>
                                          </p:val>
                                        </p:tav>
                                        <p:tav tm="50000">
                                          <p:val>
                                            <p:clrVal>
                                              <a:schemeClr val="hlink"/>
                                            </p:clrVal>
                                          </p:val>
                                        </p:tav>
                                      </p:tavLst>
                                    </p:anim>
                                    <p:set>
                                      <p:cBhvr>
                                        <p:cTn id="58" dur="80"/>
                                        <p:tgtEl>
                                          <p:spTgt spid="229379">
                                            <p:txEl>
                                              <p:p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39939"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一个简单的加密算法</a:t>
            </a:r>
            <a:r>
              <a:rPr lang="en-US" altLang="zh-CN" dirty="0">
                <a:ea typeface="宋体" panose="02010600030101010101" pitchFamily="2" charset="-122"/>
              </a:rPr>
              <a:t>—</a:t>
            </a:r>
            <a:r>
              <a:rPr lang="zh-CN" altLang="en-US" dirty="0">
                <a:ea typeface="宋体" panose="02010600030101010101" pitchFamily="2" charset="-122"/>
              </a:rPr>
              <a:t>异或</a:t>
            </a:r>
            <a:endParaRPr lang="zh-CN" altLang="en-US" dirty="0">
              <a:ea typeface="宋体" panose="02010600030101010101" pitchFamily="2" charset="-122"/>
            </a:endParaRPr>
          </a:p>
        </p:txBody>
      </p:sp>
      <p:sp>
        <p:nvSpPr>
          <p:cNvPr id="39940" name="Rectangle 3"/>
          <p:cNvSpPr>
            <a:spLocks noGrp="1"/>
          </p:cNvSpPr>
          <p:nvPr>
            <p:ph idx="1"/>
          </p:nvPr>
        </p:nvSpPr>
        <p:spPr>
          <a:xfrm>
            <a:off x="533400" y="1341438"/>
            <a:ext cx="8001000" cy="541337"/>
          </a:xfrm>
        </p:spPr>
        <p:txBody>
          <a:bodyPr vert="horz" wrap="square" lIns="91440" tIns="45720" rIns="91440" bIns="45720" anchor="t" anchorCtr="0"/>
          <a:lstStyle/>
          <a:p>
            <a:pPr eaLnBrk="1" hangingPunct="1">
              <a:lnSpc>
                <a:spcPct val="90000"/>
              </a:lnSpc>
              <a:buNone/>
            </a:pPr>
            <a:r>
              <a:rPr lang="zh-CN" altLang="en-US" dirty="0">
                <a:ea typeface="宋体" panose="02010600030101010101" pitchFamily="2" charset="-122"/>
              </a:rPr>
              <a:t>异或</a:t>
            </a:r>
            <a:endParaRPr lang="zh-CN" altLang="en-US" dirty="0">
              <a:ea typeface="宋体" panose="02010600030101010101" pitchFamily="2" charset="-122"/>
            </a:endParaRPr>
          </a:p>
        </p:txBody>
      </p:sp>
      <p:grpSp>
        <p:nvGrpSpPr>
          <p:cNvPr id="2" name="Group 4"/>
          <p:cNvGrpSpPr/>
          <p:nvPr/>
        </p:nvGrpSpPr>
        <p:grpSpPr>
          <a:xfrm>
            <a:off x="1117600" y="3676650"/>
            <a:ext cx="5892800" cy="1552575"/>
            <a:chOff x="749" y="2316"/>
            <a:chExt cx="3946" cy="978"/>
          </a:xfrm>
        </p:grpSpPr>
        <p:sp>
          <p:nvSpPr>
            <p:cNvPr id="39972" name="Rectangle 5"/>
            <p:cNvSpPr/>
            <p:nvPr/>
          </p:nvSpPr>
          <p:spPr>
            <a:xfrm>
              <a:off x="749" y="2316"/>
              <a:ext cx="3946" cy="978"/>
            </a:xfrm>
            <a:prstGeom prst="rect">
              <a:avLst/>
            </a:prstGeom>
            <a:solidFill>
              <a:schemeClr val="folHlink"/>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0"/>
                </a:spcBef>
                <a:buClrTx/>
                <a:buNone/>
              </a:pPr>
              <a:endParaRPr lang="en-US" altLang="zh-CN" dirty="0">
                <a:latin typeface="Times New Roman" panose="02020603050405020304" pitchFamily="18" charset="0"/>
                <a:ea typeface="宋体" panose="02010600030101010101" pitchFamily="2" charset="-122"/>
              </a:endParaRPr>
            </a:p>
            <a:p>
              <a:pPr marL="0" lvl="0" indent="0" algn="l">
                <a:spcBef>
                  <a:spcPct val="0"/>
                </a:spcBef>
                <a:buClrTx/>
                <a:buNone/>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密文：       </a:t>
              </a:r>
              <a:r>
                <a:rPr lang="en-US" altLang="zh-CN" dirty="0">
                  <a:latin typeface="Times New Roman" panose="02020603050405020304" pitchFamily="18" charset="0"/>
                  <a:ea typeface="宋体" panose="02010600030101010101" pitchFamily="2" charset="-122"/>
                </a:rPr>
                <a:t>0       1      1      0</a:t>
              </a:r>
              <a:endParaRPr lang="en-US" altLang="zh-CN" dirty="0">
                <a:latin typeface="Times New Roman" panose="02020603050405020304" pitchFamily="18" charset="0"/>
                <a:ea typeface="宋体" panose="02010600030101010101" pitchFamily="2" charset="-122"/>
              </a:endParaRPr>
            </a:p>
            <a:p>
              <a:pPr marL="0" lvl="0" indent="0" algn="l">
                <a:spcBef>
                  <a:spcPct val="0"/>
                </a:spcBef>
                <a:buClrTx/>
                <a:buNone/>
              </a:pPr>
              <a:r>
                <a:rPr lang="zh-CN" altLang="en-US" dirty="0">
                  <a:latin typeface="Times New Roman" panose="02020603050405020304" pitchFamily="18" charset="0"/>
                  <a:ea typeface="宋体" panose="02010600030101010101" pitchFamily="2" charset="-122"/>
                </a:rPr>
                <a:t>  解密：	密钥：</a:t>
              </a:r>
              <a:r>
                <a:rPr lang="zh-CN" altLang="en-US" u="sng" dirty="0">
                  <a:latin typeface="Times New Roman" panose="02020603050405020304" pitchFamily="18" charset="0"/>
                  <a:ea typeface="宋体" panose="02010600030101010101" pitchFamily="2" charset="-122"/>
                </a:rPr>
                <a:t>       </a:t>
              </a:r>
              <a:r>
                <a:rPr lang="en-US" altLang="zh-CN" u="sng" dirty="0">
                  <a:latin typeface="Times New Roman" panose="02020603050405020304" pitchFamily="18" charset="0"/>
                  <a:ea typeface="宋体" panose="02010600030101010101" pitchFamily="2" charset="-122"/>
                </a:rPr>
                <a:t>0       1      0      1</a:t>
              </a:r>
              <a:endParaRPr lang="en-US" altLang="zh-CN" u="sng" dirty="0">
                <a:latin typeface="Times New Roman" panose="02020603050405020304" pitchFamily="18" charset="0"/>
                <a:ea typeface="宋体" panose="02010600030101010101" pitchFamily="2" charset="-122"/>
              </a:endParaRPr>
            </a:p>
            <a:p>
              <a:pPr marL="0" lvl="0" indent="0" algn="l">
                <a:spcBef>
                  <a:spcPct val="0"/>
                </a:spcBef>
                <a:buClrTx/>
                <a:buNone/>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明文：       </a:t>
              </a:r>
              <a:r>
                <a:rPr lang="en-US" altLang="zh-CN" dirty="0">
                  <a:latin typeface="Times New Roman" panose="02020603050405020304" pitchFamily="18" charset="0"/>
                  <a:ea typeface="宋体" panose="02010600030101010101" pitchFamily="2" charset="-122"/>
                </a:rPr>
                <a:t>0       0      1      1</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pSp>
          <p:nvGrpSpPr>
            <p:cNvPr id="39973" name="Group 6"/>
            <p:cNvGrpSpPr/>
            <p:nvPr/>
          </p:nvGrpSpPr>
          <p:grpSpPr>
            <a:xfrm>
              <a:off x="2472" y="2704"/>
              <a:ext cx="182" cy="182"/>
              <a:chOff x="1701" y="3294"/>
              <a:chExt cx="90" cy="92"/>
            </a:xfrm>
          </p:grpSpPr>
          <p:sp>
            <p:nvSpPr>
              <p:cNvPr id="39974" name="Oval 7"/>
              <p:cNvSpPr/>
              <p:nvPr/>
            </p:nvSpPr>
            <p:spPr>
              <a:xfrm>
                <a:off x="1701" y="3294"/>
                <a:ext cx="90" cy="92"/>
              </a:xfrm>
              <a:prstGeom prst="ellipse">
                <a:avLst/>
              </a:prstGeom>
              <a:noFill/>
              <a:ln w="12700" cap="flat" cmpd="sng">
                <a:solidFill>
                  <a:schemeClr val="tx1"/>
                </a:solidFill>
                <a:prstDash val="solid"/>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39975" name="Line 8"/>
              <p:cNvSpPr/>
              <p:nvPr/>
            </p:nvSpPr>
            <p:spPr>
              <a:xfrm>
                <a:off x="1701" y="3339"/>
                <a:ext cx="90" cy="0"/>
              </a:xfrm>
              <a:prstGeom prst="line">
                <a:avLst/>
              </a:prstGeom>
              <a:ln w="12700" cap="flat" cmpd="sng">
                <a:solidFill>
                  <a:schemeClr val="tx1"/>
                </a:solidFill>
                <a:prstDash val="solid"/>
                <a:headEnd type="none" w="sm" len="sm"/>
                <a:tailEnd type="none" w="sm" len="sm"/>
              </a:ln>
            </p:spPr>
          </p:sp>
          <p:sp>
            <p:nvSpPr>
              <p:cNvPr id="39976" name="Line 9"/>
              <p:cNvSpPr/>
              <p:nvPr/>
            </p:nvSpPr>
            <p:spPr>
              <a:xfrm>
                <a:off x="1746" y="3294"/>
                <a:ext cx="0" cy="91"/>
              </a:xfrm>
              <a:prstGeom prst="line">
                <a:avLst/>
              </a:prstGeom>
              <a:ln w="12700" cap="flat" cmpd="sng">
                <a:solidFill>
                  <a:schemeClr val="tx1"/>
                </a:solidFill>
                <a:prstDash val="solid"/>
                <a:headEnd type="none" w="sm" len="sm"/>
                <a:tailEnd type="none" w="sm" len="sm"/>
              </a:ln>
            </p:spPr>
          </p:sp>
        </p:grpSp>
      </p:grpSp>
      <p:grpSp>
        <p:nvGrpSpPr>
          <p:cNvPr id="39942" name="Group 10"/>
          <p:cNvGrpSpPr/>
          <p:nvPr/>
        </p:nvGrpSpPr>
        <p:grpSpPr>
          <a:xfrm>
            <a:off x="1863725" y="1412875"/>
            <a:ext cx="338138" cy="287338"/>
            <a:chOff x="1701" y="3294"/>
            <a:chExt cx="90" cy="92"/>
          </a:xfrm>
        </p:grpSpPr>
        <p:sp>
          <p:nvSpPr>
            <p:cNvPr id="39969" name="Oval 11"/>
            <p:cNvSpPr/>
            <p:nvPr/>
          </p:nvSpPr>
          <p:spPr>
            <a:xfrm>
              <a:off x="1701" y="3294"/>
              <a:ext cx="90" cy="92"/>
            </a:xfrm>
            <a:prstGeom prst="ellipse">
              <a:avLst/>
            </a:prstGeom>
            <a:noFill/>
            <a:ln w="12700" cap="flat" cmpd="sng">
              <a:solidFill>
                <a:schemeClr val="tx1"/>
              </a:solidFill>
              <a:prstDash val="solid"/>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39970" name="Line 12"/>
            <p:cNvSpPr/>
            <p:nvPr/>
          </p:nvSpPr>
          <p:spPr>
            <a:xfrm>
              <a:off x="1701" y="3339"/>
              <a:ext cx="90" cy="0"/>
            </a:xfrm>
            <a:prstGeom prst="line">
              <a:avLst/>
            </a:prstGeom>
            <a:ln w="12700" cap="flat" cmpd="sng">
              <a:solidFill>
                <a:schemeClr val="tx1"/>
              </a:solidFill>
              <a:prstDash val="solid"/>
              <a:headEnd type="none" w="sm" len="sm"/>
              <a:tailEnd type="none" w="sm" len="sm"/>
            </a:ln>
          </p:spPr>
        </p:sp>
        <p:sp>
          <p:nvSpPr>
            <p:cNvPr id="39971" name="Line 13"/>
            <p:cNvSpPr/>
            <p:nvPr/>
          </p:nvSpPr>
          <p:spPr>
            <a:xfrm>
              <a:off x="1746" y="3294"/>
              <a:ext cx="0" cy="91"/>
            </a:xfrm>
            <a:prstGeom prst="line">
              <a:avLst/>
            </a:prstGeom>
            <a:ln w="12700" cap="flat" cmpd="sng">
              <a:solidFill>
                <a:schemeClr val="tx1"/>
              </a:solidFill>
              <a:prstDash val="solid"/>
              <a:headEnd type="none" w="sm" len="sm"/>
              <a:tailEnd type="none" w="sm" len="sm"/>
            </a:ln>
          </p:spPr>
        </p:sp>
      </p:grpSp>
      <p:sp>
        <p:nvSpPr>
          <p:cNvPr id="227342" name="Rectangle 14"/>
          <p:cNvSpPr/>
          <p:nvPr/>
        </p:nvSpPr>
        <p:spPr>
          <a:xfrm>
            <a:off x="642938" y="5445125"/>
            <a:ext cx="8002587" cy="720725"/>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endParaRPr lang="zh-CN" altLang="en-US" dirty="0">
              <a:ea typeface="宋体" panose="02010600030101010101" pitchFamily="2" charset="-122"/>
            </a:endParaRPr>
          </a:p>
        </p:txBody>
      </p:sp>
      <p:grpSp>
        <p:nvGrpSpPr>
          <p:cNvPr id="5" name="Group 15"/>
          <p:cNvGrpSpPr/>
          <p:nvPr/>
        </p:nvGrpSpPr>
        <p:grpSpPr>
          <a:xfrm>
            <a:off x="7077075" y="3141663"/>
            <a:ext cx="1693863" cy="431800"/>
            <a:chOff x="4740" y="1979"/>
            <a:chExt cx="1134" cy="272"/>
          </a:xfrm>
        </p:grpSpPr>
        <p:grpSp>
          <p:nvGrpSpPr>
            <p:cNvPr id="39964" name="Group 16"/>
            <p:cNvGrpSpPr/>
            <p:nvPr/>
          </p:nvGrpSpPr>
          <p:grpSpPr>
            <a:xfrm>
              <a:off x="5329" y="2024"/>
              <a:ext cx="182" cy="182"/>
              <a:chOff x="1701" y="3294"/>
              <a:chExt cx="90" cy="92"/>
            </a:xfrm>
          </p:grpSpPr>
          <p:sp>
            <p:nvSpPr>
              <p:cNvPr id="39966" name="Oval 17"/>
              <p:cNvSpPr/>
              <p:nvPr/>
            </p:nvSpPr>
            <p:spPr>
              <a:xfrm>
                <a:off x="1701" y="3294"/>
                <a:ext cx="90" cy="92"/>
              </a:xfrm>
              <a:prstGeom prst="ellipse">
                <a:avLst/>
              </a:prstGeom>
              <a:noFill/>
              <a:ln w="12700" cap="flat" cmpd="sng">
                <a:solidFill>
                  <a:schemeClr val="tx1"/>
                </a:solidFill>
                <a:prstDash val="solid"/>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39967" name="Line 18"/>
              <p:cNvSpPr/>
              <p:nvPr/>
            </p:nvSpPr>
            <p:spPr>
              <a:xfrm>
                <a:off x="1701" y="3339"/>
                <a:ext cx="90" cy="0"/>
              </a:xfrm>
              <a:prstGeom prst="line">
                <a:avLst/>
              </a:prstGeom>
              <a:ln w="12700" cap="flat" cmpd="sng">
                <a:solidFill>
                  <a:schemeClr val="tx1"/>
                </a:solidFill>
                <a:prstDash val="solid"/>
                <a:headEnd type="none" w="sm" len="sm"/>
                <a:tailEnd type="none" w="sm" len="sm"/>
              </a:ln>
            </p:spPr>
          </p:sp>
          <p:sp>
            <p:nvSpPr>
              <p:cNvPr id="39968" name="Line 19"/>
              <p:cNvSpPr/>
              <p:nvPr/>
            </p:nvSpPr>
            <p:spPr>
              <a:xfrm>
                <a:off x="1746" y="3294"/>
                <a:ext cx="0" cy="91"/>
              </a:xfrm>
              <a:prstGeom prst="line">
                <a:avLst/>
              </a:prstGeom>
              <a:ln w="12700" cap="flat" cmpd="sng">
                <a:solidFill>
                  <a:schemeClr val="tx1"/>
                </a:solidFill>
                <a:prstDash val="solid"/>
                <a:headEnd type="none" w="sm" len="sm"/>
                <a:tailEnd type="none" w="sm" len="sm"/>
              </a:ln>
            </p:spPr>
          </p:sp>
        </p:grpSp>
        <p:sp>
          <p:nvSpPr>
            <p:cNvPr id="39965" name="Rectangle 20"/>
            <p:cNvSpPr/>
            <p:nvPr/>
          </p:nvSpPr>
          <p:spPr>
            <a:xfrm>
              <a:off x="4740" y="1979"/>
              <a:ext cx="1134" cy="272"/>
            </a:xfrm>
            <a:prstGeom prst="rect">
              <a:avLst/>
            </a:prstGeom>
            <a:noFill/>
            <a:ln w="12700">
              <a:noFill/>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en-US" altLang="zh-CN" dirty="0">
                  <a:latin typeface="Times New Roman" panose="02020603050405020304" pitchFamily="18" charset="0"/>
                  <a:ea typeface="宋体" panose="02010600030101010101" pitchFamily="2" charset="-122"/>
                </a:rPr>
                <a:t>C=P      K</a:t>
              </a:r>
              <a:endParaRPr lang="en-US" altLang="zh-CN" dirty="0">
                <a:latin typeface="Times New Roman" panose="02020603050405020304" pitchFamily="18" charset="0"/>
                <a:ea typeface="宋体" panose="02010600030101010101" pitchFamily="2" charset="-122"/>
              </a:endParaRPr>
            </a:p>
          </p:txBody>
        </p:sp>
      </p:grpSp>
      <p:grpSp>
        <p:nvGrpSpPr>
          <p:cNvPr id="7" name="Group 21"/>
          <p:cNvGrpSpPr/>
          <p:nvPr/>
        </p:nvGrpSpPr>
        <p:grpSpPr>
          <a:xfrm>
            <a:off x="7077075" y="4724400"/>
            <a:ext cx="1693863" cy="431800"/>
            <a:chOff x="4650" y="2976"/>
            <a:chExt cx="1134" cy="272"/>
          </a:xfrm>
        </p:grpSpPr>
        <p:sp>
          <p:nvSpPr>
            <p:cNvPr id="39959" name="Rectangle 22"/>
            <p:cNvSpPr/>
            <p:nvPr/>
          </p:nvSpPr>
          <p:spPr>
            <a:xfrm>
              <a:off x="4650" y="2976"/>
              <a:ext cx="1134" cy="272"/>
            </a:xfrm>
            <a:prstGeom prst="rect">
              <a:avLst/>
            </a:prstGeom>
            <a:noFill/>
            <a:ln w="12700">
              <a:noFill/>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en-US" altLang="zh-CN" dirty="0">
                  <a:latin typeface="Times New Roman" panose="02020603050405020304" pitchFamily="18" charset="0"/>
                  <a:ea typeface="宋体" panose="02010600030101010101" pitchFamily="2" charset="-122"/>
                </a:rPr>
                <a:t>P=C      K</a:t>
              </a:r>
              <a:endParaRPr lang="en-US" altLang="zh-CN" dirty="0">
                <a:latin typeface="Times New Roman" panose="02020603050405020304" pitchFamily="18" charset="0"/>
                <a:ea typeface="宋体" panose="02010600030101010101" pitchFamily="2" charset="-122"/>
              </a:endParaRPr>
            </a:p>
          </p:txBody>
        </p:sp>
        <p:grpSp>
          <p:nvGrpSpPr>
            <p:cNvPr id="39960" name="Group 23"/>
            <p:cNvGrpSpPr/>
            <p:nvPr/>
          </p:nvGrpSpPr>
          <p:grpSpPr>
            <a:xfrm>
              <a:off x="5239" y="3021"/>
              <a:ext cx="182" cy="182"/>
              <a:chOff x="1701" y="3294"/>
              <a:chExt cx="90" cy="92"/>
            </a:xfrm>
          </p:grpSpPr>
          <p:sp>
            <p:nvSpPr>
              <p:cNvPr id="39961" name="Oval 24"/>
              <p:cNvSpPr/>
              <p:nvPr/>
            </p:nvSpPr>
            <p:spPr>
              <a:xfrm>
                <a:off x="1701" y="3294"/>
                <a:ext cx="90" cy="92"/>
              </a:xfrm>
              <a:prstGeom prst="ellipse">
                <a:avLst/>
              </a:prstGeom>
              <a:noFill/>
              <a:ln w="12700" cap="flat" cmpd="sng">
                <a:solidFill>
                  <a:schemeClr val="tx1"/>
                </a:solidFill>
                <a:prstDash val="solid"/>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39962" name="Line 25"/>
              <p:cNvSpPr/>
              <p:nvPr/>
            </p:nvSpPr>
            <p:spPr>
              <a:xfrm>
                <a:off x="1701" y="3339"/>
                <a:ext cx="90" cy="0"/>
              </a:xfrm>
              <a:prstGeom prst="line">
                <a:avLst/>
              </a:prstGeom>
              <a:ln w="12700" cap="flat" cmpd="sng">
                <a:solidFill>
                  <a:schemeClr val="tx1"/>
                </a:solidFill>
                <a:prstDash val="solid"/>
                <a:headEnd type="none" w="sm" len="sm"/>
                <a:tailEnd type="none" w="sm" len="sm"/>
              </a:ln>
            </p:spPr>
          </p:sp>
          <p:sp>
            <p:nvSpPr>
              <p:cNvPr id="39963" name="Line 26"/>
              <p:cNvSpPr/>
              <p:nvPr/>
            </p:nvSpPr>
            <p:spPr>
              <a:xfrm>
                <a:off x="1746" y="3294"/>
                <a:ext cx="0" cy="91"/>
              </a:xfrm>
              <a:prstGeom prst="line">
                <a:avLst/>
              </a:prstGeom>
              <a:ln w="12700" cap="flat" cmpd="sng">
                <a:solidFill>
                  <a:schemeClr val="tx1"/>
                </a:solidFill>
                <a:prstDash val="solid"/>
                <a:headEnd type="none" w="sm" len="sm"/>
                <a:tailEnd type="none" w="sm" len="sm"/>
              </a:ln>
            </p:spPr>
          </p:sp>
        </p:grpSp>
      </p:grpSp>
      <p:grpSp>
        <p:nvGrpSpPr>
          <p:cNvPr id="9" name="Group 27"/>
          <p:cNvGrpSpPr/>
          <p:nvPr/>
        </p:nvGrpSpPr>
        <p:grpSpPr>
          <a:xfrm>
            <a:off x="1117600" y="2060575"/>
            <a:ext cx="5891213" cy="1552575"/>
            <a:chOff x="748" y="1298"/>
            <a:chExt cx="3946" cy="978"/>
          </a:xfrm>
        </p:grpSpPr>
        <p:sp>
          <p:nvSpPr>
            <p:cNvPr id="39954" name="Text Box 28"/>
            <p:cNvSpPr txBox="1"/>
            <p:nvPr/>
          </p:nvSpPr>
          <p:spPr>
            <a:xfrm>
              <a:off x="748" y="1298"/>
              <a:ext cx="3946" cy="978"/>
            </a:xfrm>
            <a:prstGeom prst="rect">
              <a:avLst/>
            </a:prstGeom>
            <a:solidFill>
              <a:schemeClr val="folHlink"/>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0"/>
                </a:spcBef>
                <a:buClrTx/>
                <a:buNone/>
              </a:pPr>
              <a:r>
                <a:rPr lang="zh-CN" altLang="en-US" dirty="0">
                  <a:latin typeface="Times New Roman" panose="02020603050405020304" pitchFamily="18" charset="0"/>
                  <a:ea typeface="宋体" panose="02010600030101010101" pitchFamily="2" charset="-122"/>
                </a:rPr>
                <a:t>异或运算（不带进位加法）：</a:t>
              </a:r>
              <a:endParaRPr lang="zh-CN" altLang="en-US" dirty="0">
                <a:latin typeface="Times New Roman" panose="02020603050405020304" pitchFamily="18" charset="0"/>
                <a:ea typeface="宋体" panose="02010600030101010101" pitchFamily="2" charset="-122"/>
              </a:endParaRPr>
            </a:p>
            <a:p>
              <a:pPr marL="0" lvl="0" indent="0" algn="l">
                <a:spcBef>
                  <a:spcPct val="0"/>
                </a:spcBef>
                <a:buClrTx/>
                <a:buNone/>
              </a:pPr>
              <a:r>
                <a:rPr lang="zh-CN" altLang="en-US" dirty="0">
                  <a:latin typeface="Times New Roman" panose="02020603050405020304" pitchFamily="18" charset="0"/>
                  <a:ea typeface="宋体" panose="02010600030101010101" pitchFamily="2" charset="-122"/>
                </a:rPr>
                <a:t>		明文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0       0      1       1</a:t>
              </a:r>
              <a:endParaRPr lang="en-US" altLang="zh-CN" dirty="0">
                <a:latin typeface="Times New Roman" panose="02020603050405020304" pitchFamily="18" charset="0"/>
                <a:ea typeface="宋体" panose="02010600030101010101" pitchFamily="2" charset="-122"/>
              </a:endParaRPr>
            </a:p>
            <a:p>
              <a:pPr marL="0" lvl="0" indent="0" algn="l">
                <a:spcBef>
                  <a:spcPct val="0"/>
                </a:spcBef>
                <a:buClrTx/>
                <a:buNone/>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加密：	密钥</a:t>
              </a:r>
              <a:r>
                <a:rPr lang="en-US" altLang="zh-CN" dirty="0">
                  <a:latin typeface="Times New Roman" panose="02020603050405020304" pitchFamily="18" charset="0"/>
                  <a:ea typeface="宋体" panose="02010600030101010101" pitchFamily="2" charset="-122"/>
                </a:rPr>
                <a:t>: </a:t>
              </a:r>
              <a:r>
                <a:rPr lang="zh-CN" altLang="en-US" u="sng" dirty="0">
                  <a:latin typeface="Times New Roman" panose="02020603050405020304" pitchFamily="18" charset="0"/>
                  <a:ea typeface="宋体" panose="02010600030101010101" pitchFamily="2" charset="-122"/>
                </a:rPr>
                <a:t>        </a:t>
              </a:r>
              <a:r>
                <a:rPr lang="en-US" altLang="zh-CN" u="sng" dirty="0">
                  <a:latin typeface="Times New Roman" panose="02020603050405020304" pitchFamily="18" charset="0"/>
                  <a:ea typeface="宋体" panose="02010600030101010101" pitchFamily="2" charset="-122"/>
                </a:rPr>
                <a:t>0       1      0       1</a:t>
              </a:r>
              <a:endParaRPr lang="en-US" altLang="zh-CN" u="sng" dirty="0">
                <a:latin typeface="Times New Roman" panose="02020603050405020304" pitchFamily="18" charset="0"/>
                <a:ea typeface="宋体" panose="02010600030101010101" pitchFamily="2" charset="-122"/>
              </a:endParaRPr>
            </a:p>
            <a:p>
              <a:pPr marL="0" lvl="0" indent="0" algn="l">
                <a:spcBef>
                  <a:spcPct val="0"/>
                </a:spcBef>
                <a:buClrTx/>
                <a:buNone/>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密文：      </a:t>
              </a:r>
              <a:r>
                <a:rPr lang="en-US" altLang="zh-CN" dirty="0">
                  <a:latin typeface="Times New Roman" panose="02020603050405020304" pitchFamily="18" charset="0"/>
                  <a:ea typeface="宋体" panose="02010600030101010101" pitchFamily="2" charset="-122"/>
                </a:rPr>
                <a:t>0        1     1       0</a:t>
              </a:r>
              <a:endParaRPr lang="en-US" altLang="zh-CN" dirty="0">
                <a:latin typeface="Times New Roman" panose="02020603050405020304" pitchFamily="18" charset="0"/>
                <a:ea typeface="宋体" panose="02010600030101010101" pitchFamily="2" charset="-122"/>
              </a:endParaRPr>
            </a:p>
          </p:txBody>
        </p:sp>
        <p:grpSp>
          <p:nvGrpSpPr>
            <p:cNvPr id="39955" name="Group 29"/>
            <p:cNvGrpSpPr/>
            <p:nvPr/>
          </p:nvGrpSpPr>
          <p:grpSpPr>
            <a:xfrm>
              <a:off x="2562" y="1706"/>
              <a:ext cx="182" cy="182"/>
              <a:chOff x="1701" y="3294"/>
              <a:chExt cx="90" cy="92"/>
            </a:xfrm>
          </p:grpSpPr>
          <p:sp>
            <p:nvSpPr>
              <p:cNvPr id="39956" name="Oval 30"/>
              <p:cNvSpPr/>
              <p:nvPr/>
            </p:nvSpPr>
            <p:spPr>
              <a:xfrm>
                <a:off x="1701" y="3294"/>
                <a:ext cx="90" cy="92"/>
              </a:xfrm>
              <a:prstGeom prst="ellipse">
                <a:avLst/>
              </a:prstGeom>
              <a:noFill/>
              <a:ln w="12700" cap="flat" cmpd="sng">
                <a:solidFill>
                  <a:schemeClr val="tx1"/>
                </a:solidFill>
                <a:prstDash val="solid"/>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39957" name="Line 31"/>
              <p:cNvSpPr/>
              <p:nvPr/>
            </p:nvSpPr>
            <p:spPr>
              <a:xfrm>
                <a:off x="1701" y="3339"/>
                <a:ext cx="90" cy="0"/>
              </a:xfrm>
              <a:prstGeom prst="line">
                <a:avLst/>
              </a:prstGeom>
              <a:ln w="12700" cap="flat" cmpd="sng">
                <a:solidFill>
                  <a:schemeClr val="tx1"/>
                </a:solidFill>
                <a:prstDash val="solid"/>
                <a:headEnd type="none" w="sm" len="sm"/>
                <a:tailEnd type="none" w="sm" len="sm"/>
              </a:ln>
            </p:spPr>
          </p:sp>
          <p:sp>
            <p:nvSpPr>
              <p:cNvPr id="39958" name="Line 32"/>
              <p:cNvSpPr/>
              <p:nvPr/>
            </p:nvSpPr>
            <p:spPr>
              <a:xfrm>
                <a:off x="1746" y="3294"/>
                <a:ext cx="0" cy="91"/>
              </a:xfrm>
              <a:prstGeom prst="line">
                <a:avLst/>
              </a:prstGeom>
              <a:ln w="12700" cap="flat" cmpd="sng">
                <a:solidFill>
                  <a:schemeClr val="tx1"/>
                </a:solidFill>
                <a:prstDash val="solid"/>
                <a:headEnd type="none" w="sm" len="sm"/>
                <a:tailEnd type="none" w="sm" len="sm"/>
              </a:ln>
            </p:spPr>
          </p:sp>
        </p:grpSp>
      </p:grpSp>
      <p:grpSp>
        <p:nvGrpSpPr>
          <p:cNvPr id="11" name="Group 33"/>
          <p:cNvGrpSpPr/>
          <p:nvPr/>
        </p:nvGrpSpPr>
        <p:grpSpPr>
          <a:xfrm>
            <a:off x="7089775" y="5475288"/>
            <a:ext cx="1693863" cy="431800"/>
            <a:chOff x="4695" y="3521"/>
            <a:chExt cx="1134" cy="272"/>
          </a:xfrm>
        </p:grpSpPr>
        <p:sp>
          <p:nvSpPr>
            <p:cNvPr id="39949" name="Rectangle 34"/>
            <p:cNvSpPr/>
            <p:nvPr/>
          </p:nvSpPr>
          <p:spPr>
            <a:xfrm>
              <a:off x="4695" y="3521"/>
              <a:ext cx="1134" cy="272"/>
            </a:xfrm>
            <a:prstGeom prst="rect">
              <a:avLst/>
            </a:prstGeom>
            <a:noFill/>
            <a:ln w="12700">
              <a:noFill/>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en-US" altLang="zh-CN" dirty="0">
                  <a:latin typeface="Times New Roman" panose="02020603050405020304" pitchFamily="18" charset="0"/>
                  <a:ea typeface="宋体" panose="02010600030101010101" pitchFamily="2" charset="-122"/>
                </a:rPr>
                <a:t>K=C      P</a:t>
              </a:r>
              <a:endParaRPr lang="en-US" altLang="zh-CN" dirty="0">
                <a:latin typeface="Times New Roman" panose="02020603050405020304" pitchFamily="18" charset="0"/>
                <a:ea typeface="宋体" panose="02010600030101010101" pitchFamily="2" charset="-122"/>
              </a:endParaRPr>
            </a:p>
          </p:txBody>
        </p:sp>
        <p:grpSp>
          <p:nvGrpSpPr>
            <p:cNvPr id="39950" name="Group 35"/>
            <p:cNvGrpSpPr/>
            <p:nvPr/>
          </p:nvGrpSpPr>
          <p:grpSpPr>
            <a:xfrm>
              <a:off x="5284" y="3566"/>
              <a:ext cx="182" cy="182"/>
              <a:chOff x="1701" y="3294"/>
              <a:chExt cx="90" cy="92"/>
            </a:xfrm>
          </p:grpSpPr>
          <p:sp>
            <p:nvSpPr>
              <p:cNvPr id="39951" name="Oval 36"/>
              <p:cNvSpPr/>
              <p:nvPr/>
            </p:nvSpPr>
            <p:spPr>
              <a:xfrm>
                <a:off x="1701" y="3294"/>
                <a:ext cx="90" cy="92"/>
              </a:xfrm>
              <a:prstGeom prst="ellipse">
                <a:avLst/>
              </a:prstGeom>
              <a:noFill/>
              <a:ln w="12700" cap="flat" cmpd="sng">
                <a:solidFill>
                  <a:schemeClr val="tx1"/>
                </a:solidFill>
                <a:prstDash val="solid"/>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39952" name="Line 37"/>
              <p:cNvSpPr/>
              <p:nvPr/>
            </p:nvSpPr>
            <p:spPr>
              <a:xfrm>
                <a:off x="1701" y="3339"/>
                <a:ext cx="90" cy="0"/>
              </a:xfrm>
              <a:prstGeom prst="line">
                <a:avLst/>
              </a:prstGeom>
              <a:ln w="12700" cap="flat" cmpd="sng">
                <a:solidFill>
                  <a:schemeClr val="tx1"/>
                </a:solidFill>
                <a:prstDash val="solid"/>
                <a:headEnd type="none" w="sm" len="sm"/>
                <a:tailEnd type="none" w="sm" len="sm"/>
              </a:ln>
            </p:spPr>
          </p:sp>
          <p:sp>
            <p:nvSpPr>
              <p:cNvPr id="39953" name="Line 38"/>
              <p:cNvSpPr/>
              <p:nvPr/>
            </p:nvSpPr>
            <p:spPr>
              <a:xfrm>
                <a:off x="1746" y="3294"/>
                <a:ext cx="0" cy="91"/>
              </a:xfrm>
              <a:prstGeom prst="line">
                <a:avLst/>
              </a:prstGeom>
              <a:ln w="12700" cap="flat" cmpd="sng">
                <a:solidFill>
                  <a:schemeClr val="tx1"/>
                </a:solidFill>
                <a:prstDash val="solid"/>
                <a:headEnd type="none" w="sm" len="sm"/>
                <a:tailEnd type="none" w="sm" len="sm"/>
              </a:ln>
            </p:spPr>
          </p:sp>
        </p:grpSp>
      </p:grpSp>
      <p:sp>
        <p:nvSpPr>
          <p:cNvPr id="227367" name="Rectangle 39"/>
          <p:cNvSpPr/>
          <p:nvPr/>
        </p:nvSpPr>
        <p:spPr>
          <a:xfrm>
            <a:off x="635000" y="5949950"/>
            <a:ext cx="8001000" cy="488950"/>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7" presetClass="entr" presetSubtype="0" fill="hold" grpId="0" nodeType="clickEffect" nodePh="1">
                                  <p:stCondLst>
                                    <p:cond delay="0"/>
                                  </p:stCondLst>
                                  <p:endCondLst>
                                    <p:cond evt="begin" delay="0">
                                      <p:tn val="21"/>
                                    </p:cond>
                                  </p:endCondLst>
                                  <p:iterate type="lt">
                                    <p:tmPct val="50000"/>
                                  </p:iterate>
                                  <p:childTnLst>
                                    <p:set>
                                      <p:cBhvr>
                                        <p:cTn id="22" dur="1" fill="hold">
                                          <p:stCondLst>
                                            <p:cond delay="0"/>
                                          </p:stCondLst>
                                        </p:cTn>
                                        <p:tgtEl>
                                          <p:spTgt spid="227342"/>
                                        </p:tgtEl>
                                        <p:attrNameLst>
                                          <p:attrName>style.visibility</p:attrName>
                                        </p:attrNameLst>
                                      </p:cBhvr>
                                      <p:to>
                                        <p:strVal val="visible"/>
                                      </p:to>
                                    </p:set>
                                    <p:anim calcmode="discrete" valueType="clr">
                                      <p:cBhvr override="childStyle">
                                        <p:cTn id="23" dur="80"/>
                                        <p:tgtEl>
                                          <p:spTgt spid="227342"/>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227342"/>
                                        </p:tgtEl>
                                        <p:attrNameLst>
                                          <p:attrName>fillcolor</p:attrName>
                                        </p:attrNameLst>
                                      </p:cBhvr>
                                      <p:tavLst>
                                        <p:tav tm="0">
                                          <p:val>
                                            <p:clrVal>
                                              <a:schemeClr val="accent2"/>
                                            </p:clrVal>
                                          </p:val>
                                        </p:tav>
                                        <p:tav tm="50000">
                                          <p:val>
                                            <p:clrVal>
                                              <a:schemeClr val="hlink"/>
                                            </p:clrVal>
                                          </p:val>
                                        </p:tav>
                                      </p:tavLst>
                                    </p:anim>
                                    <p:set>
                                      <p:cBhvr>
                                        <p:cTn id="25" dur="80"/>
                                        <p:tgtEl>
                                          <p:spTgt spid="227342"/>
                                        </p:tgtEl>
                                        <p:attrNameLst>
                                          <p:attrName>fill.type</p:attrName>
                                        </p:attrNameLst>
                                      </p:cBhvr>
                                      <p:to>
                                        <p:strVal val="solid"/>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7" presetClass="entr" presetSubtype="0" fill="hold" grpId="0" nodeType="clickEffect" nodePh="1">
                                  <p:stCondLst>
                                    <p:cond delay="0"/>
                                  </p:stCondLst>
                                  <p:endCondLst>
                                    <p:cond evt="begin" delay="0">
                                      <p:tn val="32"/>
                                    </p:cond>
                                  </p:endCondLst>
                                  <p:iterate type="lt">
                                    <p:tmPct val="50000"/>
                                  </p:iterate>
                                  <p:childTnLst>
                                    <p:set>
                                      <p:cBhvr>
                                        <p:cTn id="33" dur="1" fill="hold">
                                          <p:stCondLst>
                                            <p:cond delay="0"/>
                                          </p:stCondLst>
                                        </p:cTn>
                                        <p:tgtEl>
                                          <p:spTgt spid="227367"/>
                                        </p:tgtEl>
                                        <p:attrNameLst>
                                          <p:attrName>style.visibility</p:attrName>
                                        </p:attrNameLst>
                                      </p:cBhvr>
                                      <p:to>
                                        <p:strVal val="visible"/>
                                      </p:to>
                                    </p:set>
                                    <p:anim calcmode="discrete" valueType="clr">
                                      <p:cBhvr override="childStyle">
                                        <p:cTn id="34" dur="80"/>
                                        <p:tgtEl>
                                          <p:spTgt spid="227367"/>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227367"/>
                                        </p:tgtEl>
                                        <p:attrNameLst>
                                          <p:attrName>fillcolor</p:attrName>
                                        </p:attrNameLst>
                                      </p:cBhvr>
                                      <p:tavLst>
                                        <p:tav tm="0">
                                          <p:val>
                                            <p:clrVal>
                                              <a:schemeClr val="accent2"/>
                                            </p:clrVal>
                                          </p:val>
                                        </p:tav>
                                        <p:tav tm="50000">
                                          <p:val>
                                            <p:clrVal>
                                              <a:schemeClr val="hlink"/>
                                            </p:clrVal>
                                          </p:val>
                                        </p:tav>
                                      </p:tavLst>
                                    </p:anim>
                                    <p:set>
                                      <p:cBhvr>
                                        <p:cTn id="36" dur="80"/>
                                        <p:tgtEl>
                                          <p:spTgt spid="22736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42" grpId="0"/>
      <p:bldP spid="22736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p:cNvSpPr txBox="1">
            <a:spLocks noGrp="1"/>
          </p:cNvSpPr>
          <p:nvPr>
            <p:ph type="ftr" sz="quarter" idx="11"/>
          </p:nvPr>
        </p:nvSpPr>
        <p:spPr>
          <a:xfrm>
            <a:off x="0" y="6464300"/>
            <a:ext cx="9144000" cy="307975"/>
          </a:xfrm>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40963"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密码学的基本概念（</a:t>
            </a:r>
            <a:r>
              <a:rPr lang="en-US" altLang="zh-CN" dirty="0">
                <a:ea typeface="宋体" panose="02010600030101010101" pitchFamily="2" charset="-122"/>
              </a:rPr>
              <a:t>Cont.</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40964" name="Rectangle 3"/>
          <p:cNvSpPr>
            <a:spLocks noGrp="1"/>
          </p:cNvSpPr>
          <p:nvPr>
            <p:ph idx="1"/>
          </p:nvPr>
        </p:nvSpPr>
        <p:spPr>
          <a:xfrm>
            <a:off x="2820988" y="5715000"/>
            <a:ext cx="3914775" cy="452438"/>
          </a:xfrm>
        </p:spPr>
        <p:txBody>
          <a:bodyPr vert="horz" wrap="square" lIns="91440" tIns="45720" rIns="91440" bIns="45720" anchor="t" anchorCtr="0"/>
          <a:lstStyle/>
          <a:p>
            <a:pPr eaLnBrk="1" hangingPunct="1">
              <a:lnSpc>
                <a:spcPct val="80000"/>
              </a:lnSpc>
              <a:buNone/>
            </a:pPr>
            <a:r>
              <a:rPr lang="zh-CN" altLang="en-US" b="1" dirty="0">
                <a:ea typeface="宋体" panose="02010600030101010101" pitchFamily="2" charset="-122"/>
              </a:rPr>
              <a:t>密码学基本模型</a:t>
            </a:r>
            <a:endParaRPr lang="zh-CN" altLang="en-US" b="1" dirty="0">
              <a:ea typeface="宋体" panose="02010600030101010101" pitchFamily="2" charset="-122"/>
            </a:endParaRPr>
          </a:p>
        </p:txBody>
      </p:sp>
      <p:grpSp>
        <p:nvGrpSpPr>
          <p:cNvPr id="40965" name="Group 26"/>
          <p:cNvGrpSpPr/>
          <p:nvPr/>
        </p:nvGrpSpPr>
        <p:grpSpPr>
          <a:xfrm>
            <a:off x="88900" y="1951038"/>
            <a:ext cx="8928100" cy="3384550"/>
            <a:chOff x="15" y="1229"/>
            <a:chExt cx="5745" cy="2132"/>
          </a:xfrm>
        </p:grpSpPr>
        <p:sp>
          <p:nvSpPr>
            <p:cNvPr id="40966" name="Text Box 11"/>
            <p:cNvSpPr txBox="1"/>
            <p:nvPr/>
          </p:nvSpPr>
          <p:spPr>
            <a:xfrm>
              <a:off x="4032" y="2900"/>
              <a:ext cx="1728" cy="28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解密：</a:t>
              </a:r>
              <a:r>
                <a:rPr lang="en-US" altLang="zh-CN" dirty="0">
                  <a:latin typeface="Times New Roman" panose="02020603050405020304" pitchFamily="18" charset="0"/>
                  <a:ea typeface="宋体" panose="02010600030101010101" pitchFamily="2" charset="-122"/>
                </a:rPr>
                <a:t>m= D</a:t>
              </a:r>
              <a:r>
                <a:rPr lang="en-US" altLang="zh-CN" baseline="-25000" dirty="0">
                  <a:latin typeface="Times New Roman" panose="02020603050405020304" pitchFamily="18" charset="0"/>
                  <a:ea typeface="宋体" panose="02010600030101010101" pitchFamily="2" charset="-122"/>
                </a:rPr>
                <a:t>K </a:t>
              </a:r>
              <a:r>
                <a:rPr lang="en-US" altLang="zh-CN" dirty="0">
                  <a:latin typeface="Times New Roman" panose="02020603050405020304" pitchFamily="18" charset="0"/>
                  <a:ea typeface="宋体" panose="02010600030101010101" pitchFamily="2" charset="-122"/>
                </a:rPr>
                <a:t>(c)</a:t>
              </a:r>
              <a:endParaRPr lang="en-US" altLang="zh-CN" dirty="0">
                <a:latin typeface="Times New Roman" panose="02020603050405020304" pitchFamily="18" charset="0"/>
                <a:ea typeface="宋体" panose="02010600030101010101" pitchFamily="2" charset="-122"/>
              </a:endParaRPr>
            </a:p>
          </p:txBody>
        </p:sp>
        <p:sp>
          <p:nvSpPr>
            <p:cNvPr id="40967" name="Line 4"/>
            <p:cNvSpPr/>
            <p:nvPr/>
          </p:nvSpPr>
          <p:spPr>
            <a:xfrm>
              <a:off x="2207" y="2046"/>
              <a:ext cx="1411" cy="0"/>
            </a:xfrm>
            <a:prstGeom prst="line">
              <a:avLst/>
            </a:prstGeom>
            <a:ln w="28575" cap="flat" cmpd="sng">
              <a:solidFill>
                <a:schemeClr val="tx1"/>
              </a:solidFill>
              <a:prstDash val="solid"/>
              <a:headEnd type="none" w="sm" len="sm"/>
              <a:tailEnd type="triangle" w="med" len="med"/>
            </a:ln>
          </p:spPr>
        </p:sp>
        <p:sp>
          <p:nvSpPr>
            <p:cNvPr id="40968" name="Text Box 5"/>
            <p:cNvSpPr txBox="1"/>
            <p:nvPr/>
          </p:nvSpPr>
          <p:spPr>
            <a:xfrm>
              <a:off x="15" y="1683"/>
              <a:ext cx="346" cy="680"/>
            </a:xfrm>
            <a:prstGeom prst="rect">
              <a:avLst/>
            </a:prstGeom>
            <a:solidFill>
              <a:srgbClr val="CCCC00"/>
            </a:solidFill>
            <a:ln w="12700">
              <a:noFill/>
            </a:ln>
          </p:spPr>
          <p:txBody>
            <a:bodyPr vert="eaVert">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发送方</a:t>
              </a:r>
              <a:endParaRPr lang="zh-CN" altLang="en-US" dirty="0">
                <a:latin typeface="Times New Roman" panose="02020603050405020304" pitchFamily="18" charset="0"/>
                <a:ea typeface="宋体" panose="02010600030101010101" pitchFamily="2" charset="-122"/>
              </a:endParaRPr>
            </a:p>
          </p:txBody>
        </p:sp>
        <p:sp>
          <p:nvSpPr>
            <p:cNvPr id="40969" name="Text Box 6"/>
            <p:cNvSpPr txBox="1"/>
            <p:nvPr/>
          </p:nvSpPr>
          <p:spPr>
            <a:xfrm>
              <a:off x="5414" y="1728"/>
              <a:ext cx="346" cy="635"/>
            </a:xfrm>
            <a:prstGeom prst="rect">
              <a:avLst/>
            </a:prstGeom>
            <a:solidFill>
              <a:srgbClr val="CCCC00"/>
            </a:solidFill>
            <a:ln w="12700">
              <a:noFill/>
            </a:ln>
          </p:spPr>
          <p:txBody>
            <a:bodyPr vert="eaVert">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接收方</a:t>
              </a:r>
              <a:endParaRPr lang="zh-CN" altLang="en-US" dirty="0">
                <a:latin typeface="Times New Roman" panose="02020603050405020304" pitchFamily="18" charset="0"/>
                <a:ea typeface="宋体" panose="02010600030101010101" pitchFamily="2" charset="-122"/>
              </a:endParaRPr>
            </a:p>
          </p:txBody>
        </p:sp>
        <p:sp>
          <p:nvSpPr>
            <p:cNvPr id="40970" name="Text Box 7"/>
            <p:cNvSpPr txBox="1"/>
            <p:nvPr/>
          </p:nvSpPr>
          <p:spPr>
            <a:xfrm>
              <a:off x="779" y="1728"/>
              <a:ext cx="803" cy="28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endParaRPr lang="en-US" altLang="zh-CN" dirty="0">
                <a:latin typeface="Times New Roman" panose="02020603050405020304" pitchFamily="18" charset="0"/>
                <a:ea typeface="宋体" panose="02010600030101010101" pitchFamily="2" charset="-122"/>
              </a:endParaRPr>
            </a:p>
          </p:txBody>
        </p:sp>
        <p:sp>
          <p:nvSpPr>
            <p:cNvPr id="40971" name="Rectangle 8"/>
            <p:cNvSpPr/>
            <p:nvPr/>
          </p:nvSpPr>
          <p:spPr>
            <a:xfrm>
              <a:off x="1270" y="1773"/>
              <a:ext cx="927" cy="499"/>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en-US" altLang="zh-CN" dirty="0">
                  <a:latin typeface="Times New Roman" panose="02020603050405020304" pitchFamily="18" charset="0"/>
                  <a:ea typeface="宋体" panose="02010600030101010101" pitchFamily="2" charset="-122"/>
                </a:rPr>
                <a:t>Encryption</a:t>
              </a:r>
              <a:endParaRPr lang="en-US" altLang="zh-CN" dirty="0">
                <a:latin typeface="Times New Roman" panose="02020603050405020304" pitchFamily="18" charset="0"/>
                <a:ea typeface="宋体" panose="02010600030101010101" pitchFamily="2" charset="-122"/>
              </a:endParaRPr>
            </a:p>
          </p:txBody>
        </p:sp>
        <p:sp>
          <p:nvSpPr>
            <p:cNvPr id="40972" name="Rectangle 9"/>
            <p:cNvSpPr/>
            <p:nvPr/>
          </p:nvSpPr>
          <p:spPr>
            <a:xfrm>
              <a:off x="3636" y="1773"/>
              <a:ext cx="981" cy="499"/>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en-US" altLang="zh-CN" dirty="0">
                  <a:latin typeface="Times New Roman" panose="02020603050405020304" pitchFamily="18" charset="0"/>
                  <a:ea typeface="宋体" panose="02010600030101010101" pitchFamily="2" charset="-122"/>
                </a:rPr>
                <a:t>Decryption</a:t>
              </a:r>
              <a:endParaRPr lang="en-US" altLang="zh-CN" dirty="0">
                <a:latin typeface="Times New Roman" panose="02020603050405020304" pitchFamily="18" charset="0"/>
                <a:ea typeface="宋体" panose="02010600030101010101" pitchFamily="2" charset="-122"/>
              </a:endParaRPr>
            </a:p>
          </p:txBody>
        </p:sp>
        <p:sp>
          <p:nvSpPr>
            <p:cNvPr id="40973" name="Text Box 10"/>
            <p:cNvSpPr txBox="1"/>
            <p:nvPr/>
          </p:nvSpPr>
          <p:spPr>
            <a:xfrm>
              <a:off x="138" y="2907"/>
              <a:ext cx="1829" cy="28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加密：</a:t>
              </a:r>
              <a:r>
                <a:rPr lang="en-US" altLang="zh-CN" dirty="0">
                  <a:latin typeface="Times New Roman" panose="02020603050405020304" pitchFamily="18" charset="0"/>
                  <a:ea typeface="宋体" panose="02010600030101010101" pitchFamily="2" charset="-122"/>
                </a:rPr>
                <a:t>c= E</a:t>
              </a:r>
              <a:r>
                <a:rPr lang="en-US" altLang="zh-CN" baseline="-25000" dirty="0">
                  <a:latin typeface="Times New Roman" panose="02020603050405020304" pitchFamily="18" charset="0"/>
                  <a:ea typeface="宋体" panose="02010600030101010101" pitchFamily="2" charset="-122"/>
                </a:rPr>
                <a:t>K </a:t>
              </a:r>
              <a:r>
                <a:rPr lang="en-US" altLang="zh-CN" dirty="0">
                  <a:latin typeface="Times New Roman" panose="02020603050405020304" pitchFamily="18" charset="0"/>
                  <a:ea typeface="宋体" panose="02010600030101010101" pitchFamily="2" charset="-122"/>
                </a:rPr>
                <a:t>(m)</a:t>
              </a:r>
              <a:endParaRPr lang="en-US" altLang="zh-CN" dirty="0">
                <a:latin typeface="Times New Roman" panose="02020603050405020304" pitchFamily="18" charset="0"/>
                <a:ea typeface="宋体" panose="02010600030101010101" pitchFamily="2" charset="-122"/>
              </a:endParaRPr>
            </a:p>
          </p:txBody>
        </p:sp>
        <p:sp>
          <p:nvSpPr>
            <p:cNvPr id="40974" name="Line 12"/>
            <p:cNvSpPr/>
            <p:nvPr/>
          </p:nvSpPr>
          <p:spPr>
            <a:xfrm>
              <a:off x="4617" y="2046"/>
              <a:ext cx="740" cy="0"/>
            </a:xfrm>
            <a:prstGeom prst="line">
              <a:avLst/>
            </a:prstGeom>
            <a:ln w="57150" cap="flat" cmpd="sng">
              <a:solidFill>
                <a:schemeClr val="tx1"/>
              </a:solidFill>
              <a:prstDash val="solid"/>
              <a:headEnd type="none" w="sm" len="sm"/>
              <a:tailEnd type="triangle" w="med" len="med"/>
            </a:ln>
          </p:spPr>
        </p:sp>
        <p:sp>
          <p:nvSpPr>
            <p:cNvPr id="40975" name="Line 13"/>
            <p:cNvSpPr/>
            <p:nvPr/>
          </p:nvSpPr>
          <p:spPr>
            <a:xfrm>
              <a:off x="467" y="2046"/>
              <a:ext cx="803" cy="0"/>
            </a:xfrm>
            <a:prstGeom prst="line">
              <a:avLst/>
            </a:prstGeom>
            <a:ln w="57150" cap="flat" cmpd="sng">
              <a:solidFill>
                <a:schemeClr val="tx1"/>
              </a:solidFill>
              <a:prstDash val="solid"/>
              <a:headEnd type="none" w="sm" len="sm"/>
              <a:tailEnd type="triangle" w="med" len="med"/>
            </a:ln>
          </p:spPr>
        </p:sp>
        <p:sp>
          <p:nvSpPr>
            <p:cNvPr id="40976" name="Text Box 14"/>
            <p:cNvSpPr txBox="1"/>
            <p:nvPr/>
          </p:nvSpPr>
          <p:spPr>
            <a:xfrm>
              <a:off x="2191" y="2091"/>
              <a:ext cx="1517" cy="28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50000"/>
                </a:spcBef>
                <a:buClrTx/>
                <a:buNone/>
              </a:pPr>
              <a:r>
                <a:rPr lang="zh-CN" altLang="en-US" dirty="0">
                  <a:latin typeface="Times New Roman" panose="02020603050405020304" pitchFamily="18" charset="0"/>
                  <a:ea typeface="宋体" panose="02010600030101010101" pitchFamily="2" charset="-122"/>
                </a:rPr>
                <a:t>不安全信道</a:t>
              </a:r>
              <a:endParaRPr lang="zh-CN" altLang="en-US" dirty="0">
                <a:latin typeface="Times New Roman" panose="02020603050405020304" pitchFamily="18" charset="0"/>
                <a:ea typeface="宋体" panose="02010600030101010101" pitchFamily="2" charset="-122"/>
              </a:endParaRPr>
            </a:p>
          </p:txBody>
        </p:sp>
        <p:grpSp>
          <p:nvGrpSpPr>
            <p:cNvPr id="40977" name="Group 15"/>
            <p:cNvGrpSpPr/>
            <p:nvPr/>
          </p:nvGrpSpPr>
          <p:grpSpPr>
            <a:xfrm>
              <a:off x="2057" y="2408"/>
              <a:ext cx="1784" cy="953"/>
              <a:chOff x="2155" y="2659"/>
              <a:chExt cx="1814" cy="953"/>
            </a:xfrm>
          </p:grpSpPr>
          <p:sp>
            <p:nvSpPr>
              <p:cNvPr id="40985" name="Line 16"/>
              <p:cNvSpPr/>
              <p:nvPr/>
            </p:nvSpPr>
            <p:spPr>
              <a:xfrm>
                <a:off x="3062" y="2659"/>
                <a:ext cx="0" cy="227"/>
              </a:xfrm>
              <a:prstGeom prst="line">
                <a:avLst/>
              </a:prstGeom>
              <a:ln w="38100" cap="flat" cmpd="sng">
                <a:solidFill>
                  <a:schemeClr val="tx1"/>
                </a:solidFill>
                <a:prstDash val="sysDot"/>
                <a:headEnd type="none" w="sm" len="sm"/>
                <a:tailEnd type="triangle" w="med" len="med"/>
              </a:ln>
            </p:spPr>
          </p:sp>
          <p:sp>
            <p:nvSpPr>
              <p:cNvPr id="40986" name="Text Box 17"/>
              <p:cNvSpPr txBox="1"/>
              <p:nvPr/>
            </p:nvSpPr>
            <p:spPr>
              <a:xfrm>
                <a:off x="2155" y="2979"/>
                <a:ext cx="1814" cy="63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50000"/>
                  </a:spcBef>
                  <a:buClrTx/>
                  <a:buNone/>
                </a:pPr>
                <a:r>
                  <a:rPr lang="zh-CN" altLang="en-US" dirty="0">
                    <a:latin typeface="Times New Roman" panose="02020603050405020304" pitchFamily="18" charset="0"/>
                    <a:ea typeface="宋体" panose="02010600030101010101" pitchFamily="2" charset="-122"/>
                  </a:rPr>
                  <a:t>密码分析</a:t>
                </a:r>
                <a:endParaRPr lang="zh-CN" altLang="en-US" dirty="0">
                  <a:latin typeface="Times New Roman" panose="02020603050405020304" pitchFamily="18" charset="0"/>
                  <a:ea typeface="宋体" panose="02010600030101010101" pitchFamily="2" charset="-122"/>
                </a:endParaRPr>
              </a:p>
              <a:p>
                <a:pPr marL="0" lvl="0" indent="0">
                  <a:spcBef>
                    <a:spcPct val="50000"/>
                  </a:spcBef>
                  <a:buClrTx/>
                  <a:buNone/>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Cryptanalysis</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pSp>
        <p:sp>
          <p:nvSpPr>
            <p:cNvPr id="40978" name="Text Box 18"/>
            <p:cNvSpPr txBox="1"/>
            <p:nvPr/>
          </p:nvSpPr>
          <p:spPr>
            <a:xfrm>
              <a:off x="419" y="1728"/>
              <a:ext cx="756" cy="25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sz="2000" dirty="0">
                  <a:latin typeface="Times New Roman" panose="02020603050405020304" pitchFamily="18" charset="0"/>
                  <a:ea typeface="宋体" panose="02010600030101010101" pitchFamily="2" charset="-122"/>
                </a:rPr>
                <a:t>plaintext</a:t>
              </a:r>
              <a:endParaRPr lang="en-US" altLang="zh-CN" sz="2000" dirty="0">
                <a:latin typeface="Times New Roman" panose="02020603050405020304" pitchFamily="18" charset="0"/>
                <a:ea typeface="宋体" panose="02010600030101010101" pitchFamily="2" charset="-122"/>
              </a:endParaRPr>
            </a:p>
          </p:txBody>
        </p:sp>
        <p:sp>
          <p:nvSpPr>
            <p:cNvPr id="40979" name="Text Box 19"/>
            <p:cNvSpPr txBox="1"/>
            <p:nvPr/>
          </p:nvSpPr>
          <p:spPr>
            <a:xfrm>
              <a:off x="2548" y="1728"/>
              <a:ext cx="848" cy="25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sz="2000" dirty="0">
                  <a:latin typeface="Times New Roman" panose="02020603050405020304" pitchFamily="18" charset="0"/>
                  <a:ea typeface="宋体" panose="02010600030101010101" pitchFamily="2" charset="-122"/>
                </a:rPr>
                <a:t>ciphertext</a:t>
              </a:r>
              <a:endParaRPr lang="en-US" altLang="zh-CN" sz="2000" dirty="0">
                <a:latin typeface="Times New Roman" panose="02020603050405020304" pitchFamily="18" charset="0"/>
                <a:ea typeface="宋体" panose="02010600030101010101" pitchFamily="2" charset="-122"/>
              </a:endParaRPr>
            </a:p>
          </p:txBody>
        </p:sp>
        <p:sp>
          <p:nvSpPr>
            <p:cNvPr id="40980" name="Line 20"/>
            <p:cNvSpPr/>
            <p:nvPr/>
          </p:nvSpPr>
          <p:spPr>
            <a:xfrm>
              <a:off x="1700" y="1501"/>
              <a:ext cx="0" cy="272"/>
            </a:xfrm>
            <a:prstGeom prst="line">
              <a:avLst/>
            </a:prstGeom>
            <a:ln w="38100" cap="flat" cmpd="sng">
              <a:solidFill>
                <a:schemeClr val="tx1"/>
              </a:solidFill>
              <a:prstDash val="solid"/>
              <a:headEnd type="none" w="sm" len="sm"/>
              <a:tailEnd type="triangle" w="med" len="med"/>
            </a:ln>
          </p:spPr>
        </p:sp>
        <p:sp>
          <p:nvSpPr>
            <p:cNvPr id="40981" name="Text Box 21"/>
            <p:cNvSpPr txBox="1"/>
            <p:nvPr/>
          </p:nvSpPr>
          <p:spPr>
            <a:xfrm>
              <a:off x="4645" y="1728"/>
              <a:ext cx="724" cy="25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sz="2000" dirty="0">
                  <a:latin typeface="Times New Roman" panose="02020603050405020304" pitchFamily="18" charset="0"/>
                  <a:ea typeface="宋体" panose="02010600030101010101" pitchFamily="2" charset="-122"/>
                </a:rPr>
                <a:t>plaintext</a:t>
              </a:r>
              <a:endParaRPr lang="en-US" altLang="zh-CN" sz="2000" dirty="0">
                <a:latin typeface="Times New Roman" panose="02020603050405020304" pitchFamily="18" charset="0"/>
                <a:ea typeface="宋体" panose="02010600030101010101" pitchFamily="2" charset="-122"/>
              </a:endParaRPr>
            </a:p>
          </p:txBody>
        </p:sp>
        <p:sp>
          <p:nvSpPr>
            <p:cNvPr id="40982" name="Text Box 22"/>
            <p:cNvSpPr txBox="1"/>
            <p:nvPr/>
          </p:nvSpPr>
          <p:spPr>
            <a:xfrm>
              <a:off x="1433" y="1229"/>
              <a:ext cx="714" cy="28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Key</a:t>
              </a:r>
              <a:endParaRPr lang="en-US" altLang="zh-CN" dirty="0">
                <a:latin typeface="Times New Roman" panose="02020603050405020304" pitchFamily="18" charset="0"/>
                <a:ea typeface="宋体" panose="02010600030101010101" pitchFamily="2" charset="-122"/>
              </a:endParaRPr>
            </a:p>
          </p:txBody>
        </p:sp>
        <p:sp>
          <p:nvSpPr>
            <p:cNvPr id="40983" name="Line 23"/>
            <p:cNvSpPr/>
            <p:nvPr/>
          </p:nvSpPr>
          <p:spPr>
            <a:xfrm>
              <a:off x="4109" y="1501"/>
              <a:ext cx="0" cy="272"/>
            </a:xfrm>
            <a:prstGeom prst="line">
              <a:avLst/>
            </a:prstGeom>
            <a:ln w="38100" cap="flat" cmpd="sng">
              <a:solidFill>
                <a:schemeClr val="tx1"/>
              </a:solidFill>
              <a:prstDash val="solid"/>
              <a:headEnd type="none" w="sm" len="sm"/>
              <a:tailEnd type="triangle" w="med" len="med"/>
            </a:ln>
          </p:spPr>
        </p:sp>
        <p:sp>
          <p:nvSpPr>
            <p:cNvPr id="40984" name="Text Box 24"/>
            <p:cNvSpPr txBox="1"/>
            <p:nvPr/>
          </p:nvSpPr>
          <p:spPr>
            <a:xfrm>
              <a:off x="3841" y="1229"/>
              <a:ext cx="758" cy="28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Key</a:t>
              </a:r>
              <a:endParaRPr lang="en-US" altLang="zh-CN"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41987"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Cryptography</a:t>
            </a:r>
            <a:endParaRPr lang="en-US" altLang="zh-CN" dirty="0">
              <a:ea typeface="宋体" panose="02010600030101010101" pitchFamily="2" charset="-122"/>
            </a:endParaRPr>
          </a:p>
        </p:txBody>
      </p:sp>
      <p:sp>
        <p:nvSpPr>
          <p:cNvPr id="41988" name="Rectangle 3"/>
          <p:cNvSpPr>
            <a:spLocks noGrp="1"/>
          </p:cNvSpPr>
          <p:nvPr>
            <p:ph idx="1"/>
          </p:nvPr>
        </p:nvSpPr>
        <p:spPr>
          <a:xfrm>
            <a:off x="0" y="5664200"/>
            <a:ext cx="8785225" cy="749300"/>
          </a:xfrm>
        </p:spPr>
        <p:txBody>
          <a:bodyPr vert="horz" wrap="square" lIns="91440" tIns="45720" rIns="91440" bIns="45720" anchor="t" anchorCtr="0"/>
          <a:lstStyle/>
          <a:p>
            <a:pPr eaLnBrk="1" hangingPunct="1">
              <a:buNone/>
            </a:pPr>
            <a:r>
              <a:rPr lang="en-US" altLang="zh-CN" dirty="0">
                <a:ea typeface="宋体" panose="02010600030101010101" pitchFamily="2" charset="-122"/>
              </a:rPr>
              <a:t>Figure. Intruders</a:t>
            </a:r>
            <a:r>
              <a:rPr lang="en-US" altLang="zh-CN" sz="2000" dirty="0">
                <a:ea typeface="宋体" panose="02010600030101010101" pitchFamily="2" charset="-122"/>
              </a:rPr>
              <a:t> (</a:t>
            </a:r>
            <a:r>
              <a:rPr lang="zh-CN" altLang="en-US" sz="2000" dirty="0">
                <a:ea typeface="宋体" panose="02010600030101010101" pitchFamily="2" charset="-122"/>
              </a:rPr>
              <a:t>入侵者</a:t>
            </a:r>
            <a:r>
              <a:rPr lang="en-US" altLang="zh-CN" sz="2000" dirty="0">
                <a:ea typeface="宋体" panose="02010600030101010101" pitchFamily="2" charset="-122"/>
              </a:rPr>
              <a:t>) </a:t>
            </a:r>
            <a:r>
              <a:rPr lang="en-US" altLang="zh-CN" dirty="0">
                <a:ea typeface="宋体" panose="02010600030101010101" pitchFamily="2" charset="-122"/>
              </a:rPr>
              <a:t>and eavesdroppers</a:t>
            </a:r>
            <a:r>
              <a:rPr lang="en-US" altLang="zh-CN" sz="2000" dirty="0">
                <a:ea typeface="宋体" panose="02010600030101010101" pitchFamily="2" charset="-122"/>
              </a:rPr>
              <a:t>(</a:t>
            </a:r>
            <a:r>
              <a:rPr lang="zh-CN" altLang="en-US" sz="2000" dirty="0">
                <a:ea typeface="宋体" panose="02010600030101010101" pitchFamily="2" charset="-122"/>
              </a:rPr>
              <a:t>窃听者</a:t>
            </a:r>
            <a:r>
              <a:rPr lang="en-US" altLang="zh-CN" sz="2000" dirty="0">
                <a:ea typeface="宋体" panose="02010600030101010101" pitchFamily="2" charset="-122"/>
              </a:rPr>
              <a:t>) </a:t>
            </a:r>
            <a:r>
              <a:rPr lang="en-US" altLang="zh-CN" dirty="0">
                <a:ea typeface="宋体" panose="02010600030101010101" pitchFamily="2" charset="-122"/>
              </a:rPr>
              <a:t>in communication.</a:t>
            </a:r>
            <a:endParaRPr lang="en-US" altLang="zh-CN" dirty="0">
              <a:ea typeface="宋体" panose="02010600030101010101" pitchFamily="2" charset="-122"/>
            </a:endParaRPr>
          </a:p>
        </p:txBody>
      </p:sp>
      <p:pic>
        <p:nvPicPr>
          <p:cNvPr id="41989" name="Picture 4" descr="09-06"/>
          <p:cNvPicPr>
            <a:picLocks noChangeAspect="1"/>
          </p:cNvPicPr>
          <p:nvPr/>
        </p:nvPicPr>
        <p:blipFill>
          <a:blip r:embed="rId1"/>
          <a:stretch>
            <a:fillRect/>
          </a:stretch>
        </p:blipFill>
        <p:spPr>
          <a:xfrm>
            <a:off x="650875" y="1143000"/>
            <a:ext cx="7842250" cy="412432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44035" name="Text Box 4"/>
          <p:cNvSpPr txBox="1"/>
          <p:nvPr/>
        </p:nvSpPr>
        <p:spPr>
          <a:xfrm>
            <a:off x="373063" y="1289050"/>
            <a:ext cx="8570912" cy="397033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50000"/>
              </a:spcBef>
              <a:buClrTx/>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 </a:t>
            </a:r>
            <a:r>
              <a:rPr lang="zh-CN" altLang="en-US" b="1" dirty="0">
                <a:solidFill>
                  <a:srgbClr val="FF0066"/>
                </a:solidFill>
                <a:latin typeface="宋体" panose="02010600030101010101" pitchFamily="2" charset="-122"/>
                <a:ea typeface="宋体" panose="02010600030101010101" pitchFamily="2" charset="-122"/>
              </a:rPr>
              <a:t>机 密 性</a:t>
            </a:r>
            <a:r>
              <a:rPr lang="en-US" altLang="zh-CN" b="1" dirty="0">
                <a:solidFill>
                  <a:srgbClr val="FF0066"/>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提供只允许特定用户访问和阅读信息的服务，非授权用户对信息都不可理解</a:t>
            </a:r>
            <a:r>
              <a:rPr lang="en-US" altLang="zh-CN"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50000"/>
              </a:lnSpc>
              <a:spcBef>
                <a:spcPct val="50000"/>
              </a:spcBef>
              <a:buClrTx/>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 </a:t>
            </a:r>
            <a:r>
              <a:rPr lang="zh-CN" altLang="en-US" b="1" dirty="0">
                <a:solidFill>
                  <a:srgbClr val="FF0066"/>
                </a:solidFill>
                <a:latin typeface="宋体" panose="02010600030101010101" pitchFamily="2" charset="-122"/>
                <a:ea typeface="宋体" panose="02010600030101010101" pitchFamily="2" charset="-122"/>
              </a:rPr>
              <a:t>完 整 性</a:t>
            </a:r>
            <a:r>
              <a:rPr lang="en-US" altLang="zh-CN" b="1" dirty="0">
                <a:solidFill>
                  <a:srgbClr val="FF0066"/>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提供确保数据在存储和传输过程中不被未授权修改（窜改、删除、插入和重放等）的服务</a:t>
            </a:r>
            <a:r>
              <a:rPr lang="en-US" altLang="zh-CN"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50000"/>
              </a:lnSpc>
              <a:spcBef>
                <a:spcPct val="50000"/>
              </a:spcBef>
              <a:buClrTx/>
              <a:buFont typeface="Wingdings" panose="05000000000000000000" pitchFamily="2" charset="2"/>
              <a:buChar char="u"/>
            </a:pPr>
            <a:r>
              <a:rPr lang="en-US" altLang="zh-CN" b="1" dirty="0">
                <a:latin typeface="宋体" panose="02010600030101010101" pitchFamily="2" charset="-122"/>
                <a:ea typeface="宋体" panose="02010600030101010101" pitchFamily="2" charset="-122"/>
              </a:rPr>
              <a:t> </a:t>
            </a:r>
            <a:r>
              <a:rPr lang="zh-CN" altLang="en-US" b="1" dirty="0">
                <a:solidFill>
                  <a:srgbClr val="FF0066"/>
                </a:solidFill>
                <a:latin typeface="宋体" panose="02010600030101010101" pitchFamily="2" charset="-122"/>
                <a:ea typeface="宋体" panose="02010600030101010101" pitchFamily="2" charset="-122"/>
              </a:rPr>
              <a:t>认    证</a:t>
            </a:r>
            <a:r>
              <a:rPr lang="en-US" altLang="zh-CN" b="1" dirty="0">
                <a:solidFill>
                  <a:srgbClr val="FF0066"/>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提供与数据和身份识别有关的服务</a:t>
            </a:r>
            <a:r>
              <a:rPr lang="en-US" altLang="zh-CN"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50000"/>
              </a:lnSpc>
              <a:spcBef>
                <a:spcPct val="50000"/>
              </a:spcBef>
              <a:buClrTx/>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 </a:t>
            </a:r>
            <a:r>
              <a:rPr lang="zh-CN" altLang="en-US" b="1" dirty="0">
                <a:solidFill>
                  <a:srgbClr val="FF0066"/>
                </a:solidFill>
                <a:latin typeface="宋体" panose="02010600030101010101" pitchFamily="2" charset="-122"/>
                <a:ea typeface="宋体" panose="02010600030101010101" pitchFamily="2" charset="-122"/>
              </a:rPr>
              <a:t>抗否认性</a:t>
            </a:r>
            <a:r>
              <a:rPr lang="en-US" altLang="zh-CN" b="1" dirty="0">
                <a:solidFill>
                  <a:srgbClr val="FF0066"/>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提供阻止用户否认先前言论或行为的服务。</a:t>
            </a:r>
            <a:endParaRPr lang="en-US" altLang="zh-CN" b="1" dirty="0">
              <a:latin typeface="宋体" panose="02010600030101010101" pitchFamily="2" charset="-122"/>
              <a:ea typeface="宋体" panose="02010600030101010101" pitchFamily="2" charset="-122"/>
            </a:endParaRPr>
          </a:p>
        </p:txBody>
      </p:sp>
      <p:sp>
        <p:nvSpPr>
          <p:cNvPr id="44036" name="Rectangle 6"/>
          <p:cNvSpPr/>
          <p:nvPr/>
        </p:nvSpPr>
        <p:spPr>
          <a:xfrm>
            <a:off x="0" y="0"/>
            <a:ext cx="9144000" cy="1143000"/>
          </a:xfrm>
          <a:prstGeom prst="rect">
            <a:avLst/>
          </a:prstGeom>
          <a:noFill/>
          <a:ln w="9525">
            <a:noFill/>
          </a:ln>
        </p:spPr>
        <p:txBody>
          <a:bodyPr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4400" dirty="0">
                <a:solidFill>
                  <a:srgbClr val="FF0000"/>
                </a:solidFill>
                <a:ea typeface="宋体" panose="02010600030101010101" pitchFamily="2" charset="-122"/>
              </a:rPr>
              <a:t>Cryptography----</a:t>
            </a:r>
            <a:r>
              <a:rPr lang="zh-CN" altLang="en-US" sz="3600" dirty="0">
                <a:solidFill>
                  <a:srgbClr val="FF0000"/>
                </a:solidFill>
                <a:ea typeface="宋体" panose="02010600030101010101" pitchFamily="2" charset="-122"/>
              </a:rPr>
              <a:t>作用</a:t>
            </a:r>
            <a:endParaRPr lang="en-US" altLang="zh-CN" sz="3600" dirty="0">
              <a:solidFill>
                <a:srgbClr val="FF0000"/>
              </a:solidFill>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46083"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密码算法的分类</a:t>
            </a:r>
            <a:endParaRPr lang="zh-CN" altLang="en-US" dirty="0">
              <a:ea typeface="宋体" panose="02010600030101010101" pitchFamily="2" charset="-122"/>
            </a:endParaRPr>
          </a:p>
        </p:txBody>
      </p:sp>
      <p:sp>
        <p:nvSpPr>
          <p:cNvPr id="230403" name="Rectangle 3"/>
          <p:cNvSpPr>
            <a:spLocks noGrp="1"/>
          </p:cNvSpPr>
          <p:nvPr>
            <p:ph idx="1"/>
          </p:nvPr>
        </p:nvSpPr>
        <p:spPr>
          <a:xfrm>
            <a:off x="482600" y="1298575"/>
            <a:ext cx="8305800" cy="459422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zh-CN" altLang="en-US" sz="2800" b="1" dirty="0">
                <a:solidFill>
                  <a:srgbClr val="FF0000"/>
                </a:solidFill>
                <a:latin typeface="宋体" panose="02010600030101010101" pitchFamily="2" charset="-122"/>
                <a:ea typeface="宋体" panose="02010600030101010101" pitchFamily="2" charset="-122"/>
              </a:rPr>
              <a:t>对称</a:t>
            </a:r>
            <a:r>
              <a:rPr lang="zh-CN" altLang="en-US" sz="2800" b="1" dirty="0">
                <a:latin typeface="宋体" panose="02010600030101010101" pitchFamily="2" charset="-122"/>
                <a:ea typeface="宋体" panose="02010600030101010101" pitchFamily="2" charset="-122"/>
              </a:rPr>
              <a:t>密钥密码和</a:t>
            </a:r>
            <a:r>
              <a:rPr lang="zh-CN" altLang="en-US" sz="2800" b="1" dirty="0">
                <a:solidFill>
                  <a:srgbClr val="FF0000"/>
                </a:solidFill>
                <a:latin typeface="宋体" panose="02010600030101010101" pitchFamily="2" charset="-122"/>
                <a:ea typeface="宋体" panose="02010600030101010101" pitchFamily="2" charset="-122"/>
              </a:rPr>
              <a:t>非对称</a:t>
            </a:r>
            <a:r>
              <a:rPr lang="zh-CN" altLang="en-US" sz="2800" b="1" dirty="0">
                <a:latin typeface="宋体" panose="02010600030101010101" pitchFamily="2" charset="-122"/>
                <a:ea typeface="宋体" panose="02010600030101010101" pitchFamily="2" charset="-122"/>
              </a:rPr>
              <a:t>密钥密码</a:t>
            </a:r>
            <a:endParaRPr lang="zh-CN" altLang="en-US" sz="2800" b="1" dirty="0">
              <a:latin typeface="宋体" panose="02010600030101010101" pitchFamily="2" charset="-122"/>
              <a:ea typeface="宋体" panose="02010600030101010101" pitchFamily="2" charset="-122"/>
            </a:endParaRPr>
          </a:p>
          <a:p>
            <a:pPr lvl="1" eaLnBrk="1" hangingPunct="1">
              <a:lnSpc>
                <a:spcPct val="150000"/>
              </a:lnSpc>
              <a:buNone/>
            </a:pPr>
            <a:r>
              <a:rPr lang="zh-CN" altLang="en-US" sz="2800" b="1" dirty="0">
                <a:latin typeface="宋体" panose="02010600030101010101" pitchFamily="2" charset="-122"/>
                <a:ea typeface="宋体" panose="02010600030101010101" pitchFamily="2" charset="-122"/>
              </a:rPr>
              <a:t> 加解密是否使用相同的密钥</a:t>
            </a:r>
            <a:r>
              <a:rPr lang="en-US" altLang="zh-CN"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30403">
                                            <p:txEl>
                                              <p:pRg st="0" end="0"/>
                                            </p:txEl>
                                          </p:spTgt>
                                        </p:tgtEl>
                                        <p:attrNameLst>
                                          <p:attrName>style.visibility</p:attrName>
                                        </p:attrNameLst>
                                      </p:cBhvr>
                                      <p:to>
                                        <p:strVal val="visible"/>
                                      </p:to>
                                    </p:set>
                                    <p:anim calcmode="discrete" valueType="clr">
                                      <p:cBhvr override="childStyle">
                                        <p:cTn id="7" dur="80"/>
                                        <p:tgtEl>
                                          <p:spTgt spid="23040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3040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30403">
                                            <p:txEl>
                                              <p:pRg st="0" end="0"/>
                                            </p:txEl>
                                          </p:spTgt>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230403">
                                            <p:txEl>
                                              <p:pRg st="1" end="1"/>
                                            </p:txEl>
                                          </p:spTgt>
                                        </p:tgtEl>
                                        <p:attrNameLst>
                                          <p:attrName>style.visibility</p:attrName>
                                        </p:attrNameLst>
                                      </p:cBhvr>
                                      <p:to>
                                        <p:strVal val="visible"/>
                                      </p:to>
                                    </p:set>
                                    <p:anim calcmode="discrete" valueType="clr">
                                      <p:cBhvr override="childStyle">
                                        <p:cTn id="12" dur="80"/>
                                        <p:tgtEl>
                                          <p:spTgt spid="23040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30403">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23040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47107"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对称密码算法和非对称密码算法</a:t>
            </a:r>
            <a:endParaRPr lang="zh-CN" altLang="en-US" dirty="0">
              <a:ea typeface="宋体" panose="02010600030101010101" pitchFamily="2" charset="-122"/>
            </a:endParaRPr>
          </a:p>
        </p:txBody>
      </p:sp>
      <p:sp>
        <p:nvSpPr>
          <p:cNvPr id="47108" name="Rectangle 3"/>
          <p:cNvSpPr>
            <a:spLocks noGrp="1"/>
          </p:cNvSpPr>
          <p:nvPr>
            <p:ph idx="1"/>
          </p:nvPr>
        </p:nvSpPr>
        <p:spPr>
          <a:xfrm>
            <a:off x="273050" y="1038225"/>
            <a:ext cx="8596313" cy="5200650"/>
          </a:xfrm>
        </p:spPr>
        <p:txBody>
          <a:bodyPr vert="horz" wrap="square" lIns="91440" tIns="45720" rIns="91440" bIns="45720" anchor="t" anchorCtr="0"/>
          <a:lstStyle/>
          <a:p>
            <a:pPr algn="l" eaLnBrk="1" hangingPunct="1">
              <a:lnSpc>
                <a:spcPct val="150000"/>
              </a:lnSpc>
              <a:buFont typeface="Wingdings" panose="05000000000000000000" pitchFamily="2" charset="2"/>
              <a:buChar char="n"/>
            </a:pPr>
            <a:r>
              <a:rPr lang="zh-CN" altLang="en-US" sz="2200" b="1" dirty="0">
                <a:ea typeface="宋体" panose="02010600030101010101" pitchFamily="2" charset="-122"/>
              </a:rPr>
              <a:t>对称密钥密码算法（传统密码算法</a:t>
            </a:r>
            <a:r>
              <a:rPr lang="en-US" altLang="zh-CN" sz="2200" b="1" dirty="0">
                <a:ea typeface="宋体" panose="02010600030101010101" pitchFamily="2" charset="-122"/>
              </a:rPr>
              <a:t>/</a:t>
            </a:r>
            <a:r>
              <a:rPr lang="zh-CN" altLang="en-US" sz="2200" b="1" dirty="0">
                <a:ea typeface="宋体" panose="02010600030101010101" pitchFamily="2" charset="-122"/>
              </a:rPr>
              <a:t>秘钥密码算法）</a:t>
            </a:r>
            <a:endParaRPr lang="zh-CN" altLang="en-US" sz="2200" b="1" dirty="0">
              <a:ea typeface="宋体" panose="02010600030101010101" pitchFamily="2" charset="-122"/>
            </a:endParaRPr>
          </a:p>
          <a:p>
            <a:pPr lvl="1" eaLnBrk="1" hangingPunct="1">
              <a:lnSpc>
                <a:spcPct val="150000"/>
              </a:lnSpc>
              <a:buChar char="–"/>
            </a:pPr>
            <a:r>
              <a:rPr lang="zh-CN" altLang="en-US" sz="2200" b="1" dirty="0">
                <a:ea typeface="宋体" panose="02010600030101010101" pitchFamily="2" charset="-122"/>
              </a:rPr>
              <a:t>加密和解密使用相同的密钥  </a:t>
            </a:r>
            <a:r>
              <a:rPr lang="en-US" altLang="zh-CN" sz="2200" b="1" dirty="0">
                <a:ea typeface="宋体" panose="02010600030101010101" pitchFamily="2" charset="-122"/>
              </a:rPr>
              <a:t>Ke =Kd</a:t>
            </a:r>
            <a:r>
              <a:rPr lang="zh-CN" altLang="en-US" sz="2200" b="1" dirty="0">
                <a:ea typeface="宋体" panose="02010600030101010101" pitchFamily="2" charset="-122"/>
              </a:rPr>
              <a:t>；</a:t>
            </a:r>
            <a:endParaRPr lang="zh-CN" altLang="en-US" sz="2200" b="1" dirty="0">
              <a:ea typeface="宋体" panose="02010600030101010101" pitchFamily="2" charset="-122"/>
            </a:endParaRPr>
          </a:p>
          <a:p>
            <a:pPr lvl="1" eaLnBrk="1" hangingPunct="1">
              <a:lnSpc>
                <a:spcPct val="150000"/>
              </a:lnSpc>
              <a:buChar char="–"/>
            </a:pPr>
            <a:r>
              <a:rPr lang="zh-CN" altLang="en-US" sz="2200" b="1" dirty="0">
                <a:ea typeface="宋体" panose="02010600030101010101" pitchFamily="2" charset="-122"/>
              </a:rPr>
              <a:t>数学表示：</a:t>
            </a:r>
            <a:endParaRPr lang="zh-CN" altLang="en-US" sz="2200" b="1" dirty="0">
              <a:ea typeface="宋体" panose="02010600030101010101" pitchFamily="2" charset="-122"/>
            </a:endParaRPr>
          </a:p>
          <a:p>
            <a:pPr lvl="1" eaLnBrk="1" hangingPunct="1">
              <a:lnSpc>
                <a:spcPct val="150000"/>
              </a:lnSpc>
              <a:buChar char="–"/>
            </a:pPr>
            <a:r>
              <a:rPr lang="zh-CN" altLang="en-US" sz="2200" b="1" dirty="0">
                <a:ea typeface="宋体" panose="02010600030101010101" pitchFamily="2" charset="-122"/>
              </a:rPr>
              <a:t>常用算法：</a:t>
            </a:r>
            <a:r>
              <a:rPr lang="en-US" altLang="zh-CN" sz="2200" b="1" dirty="0">
                <a:ea typeface="宋体" panose="02010600030101010101" pitchFamily="2" charset="-122"/>
              </a:rPr>
              <a:t>DES</a:t>
            </a:r>
            <a:r>
              <a:rPr lang="zh-CN" altLang="en-US" sz="2200" b="1" dirty="0">
                <a:ea typeface="宋体" panose="02010600030101010101" pitchFamily="2" charset="-122"/>
              </a:rPr>
              <a:t>、</a:t>
            </a:r>
            <a:r>
              <a:rPr lang="en-US" altLang="zh-CN" sz="2200" b="1" dirty="0">
                <a:ea typeface="宋体" panose="02010600030101010101" pitchFamily="2" charset="-122"/>
              </a:rPr>
              <a:t>IDEA</a:t>
            </a:r>
            <a:r>
              <a:rPr lang="zh-CN" altLang="en-US" sz="2200" b="1" dirty="0">
                <a:ea typeface="宋体" panose="02010600030101010101" pitchFamily="2" charset="-122"/>
              </a:rPr>
              <a:t>、</a:t>
            </a:r>
            <a:r>
              <a:rPr lang="en-US" altLang="zh-CN" sz="2200" b="1" dirty="0">
                <a:ea typeface="宋体" panose="02010600030101010101" pitchFamily="2" charset="-122"/>
              </a:rPr>
              <a:t>Blowfish</a:t>
            </a:r>
            <a:r>
              <a:rPr lang="zh-CN" altLang="en-US" sz="2200" b="1" dirty="0">
                <a:ea typeface="宋体" panose="02010600030101010101" pitchFamily="2" charset="-122"/>
              </a:rPr>
              <a:t>、</a:t>
            </a:r>
            <a:r>
              <a:rPr lang="en-US" altLang="zh-CN" sz="2200" b="1" dirty="0">
                <a:ea typeface="宋体" panose="02010600030101010101" pitchFamily="2" charset="-122"/>
              </a:rPr>
              <a:t>RC2</a:t>
            </a:r>
            <a:r>
              <a:rPr lang="zh-CN" altLang="en-US" sz="2200" b="1" dirty="0">
                <a:ea typeface="宋体" panose="02010600030101010101" pitchFamily="2" charset="-122"/>
              </a:rPr>
              <a:t>等；</a:t>
            </a:r>
            <a:endParaRPr lang="zh-CN" altLang="en-US" sz="2200" b="1" dirty="0">
              <a:ea typeface="宋体" panose="02010600030101010101" pitchFamily="2" charset="-122"/>
            </a:endParaRPr>
          </a:p>
          <a:p>
            <a:pPr algn="l" eaLnBrk="1" hangingPunct="1">
              <a:lnSpc>
                <a:spcPct val="150000"/>
              </a:lnSpc>
              <a:buFont typeface="Wingdings" panose="05000000000000000000" pitchFamily="2" charset="2"/>
              <a:buChar char="n"/>
            </a:pPr>
            <a:r>
              <a:rPr lang="zh-CN" altLang="en-US" sz="2200" b="1" dirty="0">
                <a:ea typeface="宋体" panose="02010600030101010101" pitchFamily="2" charset="-122"/>
              </a:rPr>
              <a:t>优点：</a:t>
            </a:r>
            <a:endParaRPr lang="zh-CN" altLang="en-US" sz="2200" b="1" dirty="0">
              <a:ea typeface="宋体" panose="02010600030101010101" pitchFamily="2" charset="-122"/>
            </a:endParaRPr>
          </a:p>
          <a:p>
            <a:pPr lvl="1" eaLnBrk="1" hangingPunct="1">
              <a:lnSpc>
                <a:spcPct val="150000"/>
              </a:lnSpc>
              <a:buChar char="–"/>
            </a:pPr>
            <a:r>
              <a:rPr lang="zh-CN" altLang="en-US" sz="2200" b="1" dirty="0">
                <a:ea typeface="宋体" panose="02010600030101010101" pitchFamily="2" charset="-122"/>
              </a:rPr>
              <a:t>加密速度快，便于硬件实现和大规模生产；</a:t>
            </a:r>
            <a:endParaRPr lang="zh-CN" altLang="en-US" sz="2200" b="1" dirty="0">
              <a:ea typeface="宋体" panose="02010600030101010101" pitchFamily="2" charset="-122"/>
            </a:endParaRPr>
          </a:p>
          <a:p>
            <a:pPr algn="l" eaLnBrk="1" hangingPunct="1">
              <a:lnSpc>
                <a:spcPct val="150000"/>
              </a:lnSpc>
              <a:buFont typeface="Wingdings" panose="05000000000000000000" pitchFamily="2" charset="2"/>
              <a:buChar char="n"/>
            </a:pPr>
            <a:r>
              <a:rPr lang="zh-CN" altLang="en-US" sz="2200" b="1" dirty="0">
                <a:ea typeface="宋体" panose="02010600030101010101" pitchFamily="2" charset="-122"/>
              </a:rPr>
              <a:t>缺点：</a:t>
            </a:r>
            <a:endParaRPr lang="zh-CN" altLang="en-US" sz="2200" b="1" dirty="0">
              <a:ea typeface="宋体" panose="02010600030101010101" pitchFamily="2" charset="-122"/>
            </a:endParaRPr>
          </a:p>
          <a:p>
            <a:pPr lvl="1" eaLnBrk="1" hangingPunct="1">
              <a:lnSpc>
                <a:spcPct val="150000"/>
              </a:lnSpc>
            </a:pPr>
            <a:r>
              <a:rPr lang="zh-CN" altLang="en-US" sz="2200" b="1" dirty="0">
                <a:ea typeface="宋体" panose="02010600030101010101" pitchFamily="2" charset="-122"/>
              </a:rPr>
              <a:t>密钥分配：必须通过保密的信道；</a:t>
            </a:r>
            <a:endParaRPr lang="zh-CN" altLang="en-US" sz="2200" b="1" dirty="0">
              <a:ea typeface="宋体" panose="02010600030101010101" pitchFamily="2" charset="-122"/>
            </a:endParaRPr>
          </a:p>
          <a:p>
            <a:pPr lvl="1" eaLnBrk="1" hangingPunct="1">
              <a:lnSpc>
                <a:spcPct val="150000"/>
              </a:lnSpc>
            </a:pPr>
            <a:r>
              <a:rPr lang="zh-CN" altLang="en-US" sz="2200" b="1" dirty="0">
                <a:ea typeface="宋体" panose="02010600030101010101" pitchFamily="2" charset="-122"/>
              </a:rPr>
              <a:t>无法用来签名和抗抵赖（没有第三方公证时）；</a:t>
            </a:r>
            <a:endParaRPr lang="zh-CN" altLang="en-US" sz="2200" b="1" dirty="0">
              <a:ea typeface="宋体" panose="02010600030101010101" pitchFamily="2" charset="-122"/>
            </a:endParaRPr>
          </a:p>
        </p:txBody>
      </p:sp>
      <p:sp>
        <p:nvSpPr>
          <p:cNvPr id="47109" name="Rectangle 4"/>
          <p:cNvSpPr/>
          <p:nvPr/>
        </p:nvSpPr>
        <p:spPr>
          <a:xfrm>
            <a:off x="3043238" y="2346325"/>
            <a:ext cx="3336925" cy="461963"/>
          </a:xfrm>
          <a:prstGeom prst="rect">
            <a:avLst/>
          </a:prstGeom>
          <a:noFill/>
          <a:ln w="12700" cap="sq" cmpd="sng">
            <a:solidFill>
              <a:srgbClr val="009900"/>
            </a:solidFill>
            <a:prstDash val="solid"/>
            <a:miter/>
            <a:headEnd type="none" w="sm" len="sm"/>
            <a:tailEnd type="none" w="sm" len="sm"/>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Font typeface="Wingdings" panose="05000000000000000000" pitchFamily="2" charset="2"/>
              <a:buNone/>
            </a:pPr>
            <a:r>
              <a:rPr lang="en-US" altLang="zh-CN" dirty="0">
                <a:latin typeface="Times New Roman" panose="02020603050405020304" pitchFamily="18" charset="0"/>
                <a:ea typeface="宋体" panose="02010600030101010101" pitchFamily="2" charset="-122"/>
              </a:rPr>
              <a:t>P =D</a:t>
            </a:r>
            <a:r>
              <a:rPr lang="en-US" altLang="zh-CN"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E</a:t>
            </a:r>
            <a:r>
              <a:rPr lang="en-US" altLang="zh-CN" baseline="-25000" dirty="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48131" name="Rectangle 2"/>
          <p:cNvSpPr>
            <a:spLocks noGrp="1"/>
          </p:cNvSpPr>
          <p:nvPr>
            <p:ph type="title"/>
          </p:nvPr>
        </p:nvSpPr>
        <p:spPr>
          <a:xfrm>
            <a:off x="234950" y="152400"/>
            <a:ext cx="8535988" cy="762000"/>
          </a:xfrm>
        </p:spPr>
        <p:txBody>
          <a:bodyPr vert="horz" wrap="square" lIns="91440" tIns="45720" rIns="91440" bIns="45720" anchor="ctr" anchorCtr="0"/>
          <a:lstStyle/>
          <a:p>
            <a:pPr eaLnBrk="1" hangingPunct="1"/>
            <a:r>
              <a:rPr lang="zh-CN" altLang="en-US" dirty="0">
                <a:ea typeface="宋体" panose="02010600030101010101" pitchFamily="2" charset="-122"/>
              </a:rPr>
              <a:t>对称密码和非对称密码（</a:t>
            </a:r>
            <a:r>
              <a:rPr lang="en-US" altLang="zh-CN" dirty="0">
                <a:ea typeface="宋体" panose="02010600030101010101" pitchFamily="2" charset="-122"/>
              </a:rPr>
              <a:t>Cont.</a:t>
            </a:r>
            <a:r>
              <a:rPr lang="zh-CN" altLang="en-US" dirty="0">
                <a:ea typeface="宋体" panose="02010600030101010101" pitchFamily="2" charset="-122"/>
              </a:rPr>
              <a:t>）</a:t>
            </a:r>
            <a:endParaRPr lang="en-US" altLang="zh-CN" dirty="0">
              <a:ea typeface="宋体" panose="02010600030101010101" pitchFamily="2" charset="-122"/>
            </a:endParaRPr>
          </a:p>
        </p:txBody>
      </p:sp>
      <p:sp>
        <p:nvSpPr>
          <p:cNvPr id="48132" name="Rectangle 3"/>
          <p:cNvSpPr>
            <a:spLocks noGrp="1"/>
          </p:cNvSpPr>
          <p:nvPr>
            <p:ph idx="1"/>
          </p:nvPr>
        </p:nvSpPr>
        <p:spPr>
          <a:xfrm>
            <a:off x="344488" y="1055688"/>
            <a:ext cx="8443912" cy="5319712"/>
          </a:xfrm>
        </p:spPr>
        <p:txBody>
          <a:bodyPr vert="horz" wrap="square" lIns="91440" tIns="45720" rIns="91440" bIns="45720" anchor="t" anchorCtr="0"/>
          <a:lstStyle/>
          <a:p>
            <a:pPr algn="l" eaLnBrk="1" hangingPunct="1">
              <a:lnSpc>
                <a:spcPct val="150000"/>
              </a:lnSpc>
              <a:buFont typeface="Wingdings" panose="05000000000000000000" pitchFamily="2" charset="2"/>
              <a:buChar char="n"/>
            </a:pPr>
            <a:r>
              <a:rPr lang="zh-CN" altLang="en-US" sz="2000" b="1" dirty="0">
                <a:ea typeface="宋体" panose="02010600030101010101" pitchFamily="2" charset="-122"/>
              </a:rPr>
              <a:t>非对称密码，又称公开密钥密码算法</a:t>
            </a:r>
            <a:endParaRPr lang="zh-CN" altLang="en-US" sz="2000" b="1" dirty="0">
              <a:ea typeface="宋体" panose="02010600030101010101" pitchFamily="2" charset="-122"/>
            </a:endParaRPr>
          </a:p>
          <a:p>
            <a:pPr lvl="1" eaLnBrk="1" hangingPunct="1">
              <a:lnSpc>
                <a:spcPct val="150000"/>
              </a:lnSpc>
              <a:buChar char="–"/>
            </a:pPr>
            <a:r>
              <a:rPr lang="zh-CN" altLang="en-US" b="1" dirty="0">
                <a:ea typeface="宋体" panose="02010600030101010101" pitchFamily="2" charset="-122"/>
              </a:rPr>
              <a:t>加密和解密使用不同的密钥（</a:t>
            </a:r>
            <a:r>
              <a:rPr lang="en-US" altLang="zh-CN" b="1" dirty="0">
                <a:ea typeface="宋体" panose="02010600030101010101" pitchFamily="2" charset="-122"/>
              </a:rPr>
              <a:t>K</a:t>
            </a:r>
            <a:r>
              <a:rPr lang="en-US" altLang="zh-CN" b="1" baseline="-25000" dirty="0">
                <a:ea typeface="宋体" panose="02010600030101010101" pitchFamily="2" charset="-122"/>
              </a:rPr>
              <a:t>p</a:t>
            </a:r>
            <a:r>
              <a:rPr lang="en-US" altLang="zh-CN" b="1" dirty="0">
                <a:ea typeface="宋体" panose="02010600030101010101" pitchFamily="2" charset="-122"/>
              </a:rPr>
              <a:t>, K</a:t>
            </a:r>
            <a:r>
              <a:rPr lang="en-US" altLang="zh-CN" b="1" baseline="-25000" dirty="0">
                <a:ea typeface="宋体" panose="02010600030101010101" pitchFamily="2" charset="-122"/>
              </a:rPr>
              <a:t>s</a:t>
            </a:r>
            <a:r>
              <a:rPr lang="en-US" altLang="zh-CN" b="1" dirty="0">
                <a:ea typeface="宋体" panose="02010600030101010101" pitchFamily="2" charset="-122"/>
              </a:rPr>
              <a:t>)</a:t>
            </a:r>
            <a:r>
              <a:rPr lang="zh-CN" altLang="en-US" b="1" dirty="0">
                <a:ea typeface="宋体" panose="02010600030101010101" pitchFamily="2" charset="-122"/>
              </a:rPr>
              <a:t>，把加密密钥公开，解密密钥保密：</a:t>
            </a:r>
            <a:r>
              <a:rPr lang="en-US" altLang="zh-CN" b="1" dirty="0">
                <a:ea typeface="宋体" panose="02010600030101010101" pitchFamily="2" charset="-122"/>
              </a:rPr>
              <a:t> c= E</a:t>
            </a:r>
            <a:r>
              <a:rPr lang="en-US" altLang="zh-CN" b="1" baseline="-25000" dirty="0">
                <a:ea typeface="宋体" panose="02010600030101010101" pitchFamily="2" charset="-122"/>
              </a:rPr>
              <a:t>Kp</a:t>
            </a:r>
            <a:r>
              <a:rPr lang="en-US" altLang="zh-CN" b="1" dirty="0">
                <a:ea typeface="宋体" panose="02010600030101010101" pitchFamily="2" charset="-122"/>
              </a:rPr>
              <a:t>(m)  ,   m=D</a:t>
            </a:r>
            <a:r>
              <a:rPr lang="en-US" altLang="zh-CN" b="1" baseline="-25000" dirty="0">
                <a:ea typeface="宋体" panose="02010600030101010101" pitchFamily="2" charset="-122"/>
              </a:rPr>
              <a:t>Ks </a:t>
            </a:r>
            <a:r>
              <a:rPr lang="en-US" altLang="zh-CN" b="1" dirty="0">
                <a:ea typeface="宋体" panose="02010600030101010101" pitchFamily="2" charset="-122"/>
              </a:rPr>
              <a:t>(c)</a:t>
            </a:r>
            <a:endParaRPr lang="en-US" altLang="zh-CN" b="1" dirty="0">
              <a:ea typeface="宋体" panose="02010600030101010101" pitchFamily="2" charset="-122"/>
            </a:endParaRPr>
          </a:p>
          <a:p>
            <a:pPr lvl="1" eaLnBrk="1" hangingPunct="1">
              <a:lnSpc>
                <a:spcPct val="150000"/>
              </a:lnSpc>
              <a:buChar char="–"/>
            </a:pPr>
            <a:r>
              <a:rPr lang="zh-CN" altLang="en-US" b="1" dirty="0">
                <a:ea typeface="宋体" panose="02010600030101010101" pitchFamily="2" charset="-122"/>
              </a:rPr>
              <a:t>数学表示：</a:t>
            </a:r>
            <a:endParaRPr lang="en-US" altLang="zh-CN" b="1" dirty="0">
              <a:ea typeface="宋体" panose="02010600030101010101" pitchFamily="2" charset="-122"/>
            </a:endParaRPr>
          </a:p>
          <a:p>
            <a:pPr lvl="1" eaLnBrk="1" hangingPunct="1">
              <a:lnSpc>
                <a:spcPct val="150000"/>
              </a:lnSpc>
              <a:buChar char="–"/>
            </a:pPr>
            <a:r>
              <a:rPr lang="zh-CN" altLang="en-US" b="1" dirty="0">
                <a:ea typeface="宋体" panose="02010600030101010101" pitchFamily="2" charset="-122"/>
              </a:rPr>
              <a:t>常用算法：</a:t>
            </a:r>
            <a:r>
              <a:rPr lang="en-US" altLang="zh-CN" b="1" dirty="0">
                <a:ea typeface="宋体" panose="02010600030101010101" pitchFamily="2" charset="-122"/>
              </a:rPr>
              <a:t>RSA</a:t>
            </a:r>
            <a:r>
              <a:rPr lang="zh-CN" altLang="en-US" b="1" dirty="0">
                <a:ea typeface="宋体" panose="02010600030101010101" pitchFamily="2" charset="-122"/>
              </a:rPr>
              <a:t>、</a:t>
            </a:r>
            <a:r>
              <a:rPr lang="en-US" altLang="zh-CN" b="1" dirty="0">
                <a:ea typeface="宋体" panose="02010600030101010101" pitchFamily="2" charset="-122"/>
              </a:rPr>
              <a:t> DSA</a:t>
            </a:r>
            <a:r>
              <a:rPr lang="zh-CN" altLang="en-US" b="1" dirty="0">
                <a:ea typeface="宋体" panose="02010600030101010101" pitchFamily="2" charset="-122"/>
              </a:rPr>
              <a:t>、背包算法、</a:t>
            </a:r>
            <a:r>
              <a:rPr lang="en-US" altLang="zh-CN" b="1" dirty="0">
                <a:ea typeface="宋体" panose="02010600030101010101" pitchFamily="2" charset="-122"/>
              </a:rPr>
              <a:t>ElGamal</a:t>
            </a:r>
            <a:r>
              <a:rPr lang="zh-CN" altLang="en-US" b="1" dirty="0">
                <a:ea typeface="宋体" panose="02010600030101010101" pitchFamily="2" charset="-122"/>
              </a:rPr>
              <a:t>、椭圆曲线等；</a:t>
            </a:r>
            <a:endParaRPr lang="zh-CN" altLang="en-US" b="1" dirty="0">
              <a:ea typeface="宋体" panose="02010600030101010101" pitchFamily="2" charset="-122"/>
            </a:endParaRPr>
          </a:p>
          <a:p>
            <a:pPr algn="l" eaLnBrk="1" hangingPunct="1">
              <a:lnSpc>
                <a:spcPct val="150000"/>
              </a:lnSpc>
              <a:buFont typeface="Wingdings" panose="05000000000000000000" pitchFamily="2" charset="2"/>
              <a:buChar char="n"/>
            </a:pPr>
            <a:r>
              <a:rPr lang="zh-CN" altLang="en-US" sz="2000" b="1" dirty="0">
                <a:ea typeface="宋体" panose="02010600030101010101" pitchFamily="2" charset="-122"/>
              </a:rPr>
              <a:t>优点：</a:t>
            </a:r>
            <a:endParaRPr lang="zh-CN" altLang="en-US" sz="2000" b="1" dirty="0">
              <a:ea typeface="宋体" panose="02010600030101010101" pitchFamily="2" charset="-122"/>
            </a:endParaRPr>
          </a:p>
          <a:p>
            <a:pPr lvl="1" eaLnBrk="1" hangingPunct="1">
              <a:lnSpc>
                <a:spcPct val="150000"/>
              </a:lnSpc>
              <a:buChar char="–"/>
            </a:pPr>
            <a:r>
              <a:rPr lang="zh-CN" altLang="en-US" b="1" dirty="0">
                <a:ea typeface="宋体" panose="02010600030101010101" pitchFamily="2" charset="-122"/>
              </a:rPr>
              <a:t>密钥分配：不必保持信道的保密性；</a:t>
            </a:r>
            <a:endParaRPr lang="zh-CN" altLang="en-US" b="1" dirty="0">
              <a:ea typeface="宋体" panose="02010600030101010101" pitchFamily="2" charset="-122"/>
            </a:endParaRPr>
          </a:p>
          <a:p>
            <a:pPr lvl="1" eaLnBrk="1" hangingPunct="1">
              <a:lnSpc>
                <a:spcPct val="150000"/>
              </a:lnSpc>
              <a:buChar char="–"/>
            </a:pPr>
            <a:r>
              <a:rPr lang="zh-CN" altLang="en-US" b="1" dirty="0">
                <a:ea typeface="宋体" panose="02010600030101010101" pitchFamily="2" charset="-122"/>
              </a:rPr>
              <a:t>密钥个数：</a:t>
            </a:r>
            <a:r>
              <a:rPr lang="en-US" altLang="zh-CN" b="1" dirty="0">
                <a:ea typeface="宋体" panose="02010600030101010101" pitchFamily="2" charset="-122"/>
              </a:rPr>
              <a:t>a pair</a:t>
            </a:r>
            <a:r>
              <a:rPr lang="zh-CN" altLang="en-US" b="1" dirty="0">
                <a:ea typeface="宋体" panose="02010600030101010101" pitchFamily="2" charset="-122"/>
              </a:rPr>
              <a:t>；</a:t>
            </a:r>
            <a:endParaRPr lang="zh-CN" altLang="en-US" b="1" dirty="0">
              <a:ea typeface="宋体" panose="02010600030101010101" pitchFamily="2" charset="-122"/>
            </a:endParaRPr>
          </a:p>
          <a:p>
            <a:pPr lvl="1" eaLnBrk="1" hangingPunct="1">
              <a:lnSpc>
                <a:spcPct val="150000"/>
              </a:lnSpc>
              <a:buChar char="–"/>
            </a:pPr>
            <a:r>
              <a:rPr lang="zh-CN" altLang="en-US" b="1" dirty="0">
                <a:ea typeface="宋体" panose="02010600030101010101" pitchFamily="2" charset="-122"/>
              </a:rPr>
              <a:t>可以用来签名和抗抵赖；</a:t>
            </a:r>
            <a:endParaRPr lang="zh-CN" altLang="en-US" b="1" dirty="0">
              <a:ea typeface="宋体" panose="02010600030101010101" pitchFamily="2" charset="-122"/>
            </a:endParaRPr>
          </a:p>
          <a:p>
            <a:pPr algn="l" eaLnBrk="1" hangingPunct="1">
              <a:lnSpc>
                <a:spcPct val="150000"/>
              </a:lnSpc>
              <a:buFont typeface="Wingdings" panose="05000000000000000000" pitchFamily="2" charset="2"/>
              <a:buChar char="n"/>
            </a:pPr>
            <a:r>
              <a:rPr lang="zh-CN" altLang="en-US" sz="2000" b="1" dirty="0">
                <a:ea typeface="宋体" panose="02010600030101010101" pitchFamily="2" charset="-122"/>
              </a:rPr>
              <a:t>缺点：加密速度慢，不便于硬件实现和大规模生产；</a:t>
            </a:r>
            <a:endParaRPr lang="zh-CN" altLang="en-US" sz="2000" b="1" dirty="0">
              <a:ea typeface="宋体" panose="02010600030101010101" pitchFamily="2" charset="-122"/>
            </a:endParaRPr>
          </a:p>
        </p:txBody>
      </p:sp>
      <p:sp>
        <p:nvSpPr>
          <p:cNvPr id="48133" name="Rectangle 5"/>
          <p:cNvSpPr/>
          <p:nvPr/>
        </p:nvSpPr>
        <p:spPr>
          <a:xfrm>
            <a:off x="2900363" y="2586038"/>
            <a:ext cx="3152775" cy="430212"/>
          </a:xfrm>
          <a:prstGeom prst="rect">
            <a:avLst/>
          </a:prstGeom>
          <a:noFill/>
          <a:ln w="12700" cap="sq" cmpd="sng">
            <a:solidFill>
              <a:srgbClr val="009900"/>
            </a:solidFill>
            <a:prstDash val="solid"/>
            <a:miter/>
            <a:headEnd type="none" w="sm" len="sm"/>
            <a:tailEnd type="none" w="sm" len="sm"/>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Font typeface="Wingdings" panose="05000000000000000000" pitchFamily="2" charset="2"/>
              <a:buNone/>
            </a:pPr>
            <a:r>
              <a:rPr lang="en-US" altLang="zh-CN" sz="2200" dirty="0">
                <a:latin typeface="Times New Roman" panose="02020603050405020304" pitchFamily="18" charset="0"/>
                <a:ea typeface="宋体" panose="02010600030101010101" pitchFamily="2" charset="-122"/>
              </a:rPr>
              <a:t>P =D</a:t>
            </a:r>
            <a:r>
              <a:rPr lang="en-US" altLang="zh-CN" sz="2200" baseline="-25000" dirty="0">
                <a:latin typeface="Times New Roman" panose="02020603050405020304" pitchFamily="18" charset="0"/>
                <a:ea typeface="宋体" panose="02010600030101010101" pitchFamily="2" charset="-122"/>
              </a:rPr>
              <a:t>K</a:t>
            </a:r>
            <a:r>
              <a:rPr lang="en-US" altLang="zh-CN" sz="2200" baseline="-30000" dirty="0">
                <a:latin typeface="Times New Roman" panose="02020603050405020304" pitchFamily="18" charset="0"/>
                <a:ea typeface="宋体" panose="02010600030101010101" pitchFamily="2" charset="-122"/>
              </a:rPr>
              <a:t>D</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E</a:t>
            </a:r>
            <a:r>
              <a:rPr lang="en-US" altLang="zh-CN" sz="2200" baseline="-25000" dirty="0">
                <a:latin typeface="Times New Roman" panose="02020603050405020304" pitchFamily="18" charset="0"/>
                <a:ea typeface="宋体" panose="02010600030101010101" pitchFamily="2" charset="-122"/>
              </a:rPr>
              <a:t>K</a:t>
            </a:r>
            <a:r>
              <a:rPr lang="en-US" altLang="zh-CN" sz="2200" baseline="-30000" dirty="0">
                <a:latin typeface="Times New Roman" panose="02020603050405020304" pitchFamily="18" charset="0"/>
                <a:ea typeface="宋体" panose="02010600030101010101" pitchFamily="2" charset="-122"/>
              </a:rPr>
              <a:t>E</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P</a:t>
            </a:r>
            <a:r>
              <a:rPr lang="zh-CN" altLang="en-US" sz="2200" dirty="0">
                <a:latin typeface="Times New Roman" panose="02020603050405020304" pitchFamily="18" charset="0"/>
                <a:ea typeface="宋体" panose="02010600030101010101" pitchFamily="2" charset="-122"/>
              </a:rPr>
              <a:t>））</a:t>
            </a:r>
            <a:endParaRPr lang="en-US" altLang="zh-CN" sz="2200" dirty="0">
              <a:latin typeface="Times New Roman" panose="02020603050405020304" pitchFamily="18"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49155" name="Text Box 2"/>
          <p:cNvSpPr txBox="1"/>
          <p:nvPr/>
        </p:nvSpPr>
        <p:spPr>
          <a:xfrm>
            <a:off x="277813" y="1138238"/>
            <a:ext cx="8688387" cy="120015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50000"/>
              </a:spcBef>
              <a:buClrTx/>
              <a:buNone/>
            </a:pPr>
            <a:r>
              <a:rPr lang="zh-CN" altLang="en-US" b="1" dirty="0">
                <a:solidFill>
                  <a:srgbClr val="FF3300"/>
                </a:solidFill>
                <a:latin typeface="宋体" panose="02010600030101010101" pitchFamily="2" charset="-122"/>
                <a:ea typeface="宋体" panose="02010600030101010101" pitchFamily="2" charset="-122"/>
              </a:rPr>
              <a:t>单向函数</a:t>
            </a:r>
            <a:r>
              <a:rPr lang="en-US" altLang="zh-CN" b="1" dirty="0">
                <a:solidFill>
                  <a:srgbClr val="FF3300"/>
                </a:solidFill>
                <a:latin typeface="宋体" panose="02010600030101010101" pitchFamily="2" charset="-122"/>
                <a:ea typeface="宋体" panose="02010600030101010101" pitchFamily="2" charset="-122"/>
              </a:rPr>
              <a:t>(One-way Function): </a:t>
            </a:r>
            <a:r>
              <a:rPr lang="zh-CN" altLang="en-US" b="1" dirty="0">
                <a:latin typeface="宋体" panose="02010600030101010101" pitchFamily="2" charset="-122"/>
                <a:ea typeface="宋体" panose="02010600030101010101" pitchFamily="2" charset="-122"/>
              </a:rPr>
              <a:t>已知</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，很容易计算</a:t>
            </a:r>
            <a:r>
              <a:rPr lang="en-US" altLang="zh-CN" b="1" dirty="0">
                <a:latin typeface="宋体" panose="02010600030101010101" pitchFamily="2" charset="-122"/>
                <a:ea typeface="宋体" panose="02010600030101010101" pitchFamily="2" charset="-122"/>
              </a:rPr>
              <a:t>f(x)</a:t>
            </a:r>
            <a:r>
              <a:rPr lang="zh-CN" altLang="en-US" b="1" dirty="0">
                <a:latin typeface="宋体" panose="02010600030101010101" pitchFamily="2" charset="-122"/>
                <a:ea typeface="宋体" panose="02010600030101010101" pitchFamily="2" charset="-122"/>
              </a:rPr>
              <a:t>，但已知</a:t>
            </a:r>
            <a:r>
              <a:rPr lang="en-US" altLang="zh-CN" b="1" dirty="0">
                <a:latin typeface="宋体" panose="02010600030101010101" pitchFamily="2" charset="-122"/>
                <a:ea typeface="宋体" panose="02010600030101010101" pitchFamily="2" charset="-122"/>
              </a:rPr>
              <a:t>f(x)</a:t>
            </a:r>
            <a:r>
              <a:rPr lang="zh-CN" altLang="en-US" b="1" dirty="0">
                <a:latin typeface="宋体" panose="02010600030101010101" pitchFamily="2" charset="-122"/>
                <a:ea typeface="宋体" panose="02010600030101010101" pitchFamily="2" charset="-122"/>
              </a:rPr>
              <a:t>，却难于计算出</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49156" name="Text Box 4"/>
          <p:cNvSpPr txBox="1"/>
          <p:nvPr/>
        </p:nvSpPr>
        <p:spPr>
          <a:xfrm>
            <a:off x="139700" y="2574925"/>
            <a:ext cx="8902700" cy="286226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50000"/>
              </a:spcBef>
              <a:buClrTx/>
              <a:buFont typeface="Wingdings" panose="05000000000000000000" pitchFamily="2" charset="2"/>
              <a:buNone/>
            </a:pPr>
            <a:r>
              <a:rPr lang="zh-CN" altLang="en-US" b="1" dirty="0">
                <a:solidFill>
                  <a:srgbClr val="FF3300"/>
                </a:solidFill>
                <a:latin typeface="宋体" panose="02010600030101010101" pitchFamily="2" charset="-122"/>
                <a:ea typeface="宋体" panose="02010600030101010101" pitchFamily="2" charset="-122"/>
              </a:rPr>
              <a:t> 应用：</a:t>
            </a:r>
            <a:r>
              <a:rPr lang="zh-CN" altLang="en-US" b="1" dirty="0">
                <a:latin typeface="宋体" panose="02010600030101010101" pitchFamily="2" charset="-122"/>
                <a:ea typeface="宋体" panose="02010600030101010101" pitchFamily="2" charset="-122"/>
              </a:rPr>
              <a:t>可用于鉴别身份，过程如下：</a:t>
            </a:r>
            <a:endParaRPr lang="zh-CN" altLang="en-US" b="1" dirty="0">
              <a:latin typeface="宋体" panose="02010600030101010101" pitchFamily="2" charset="-122"/>
              <a:ea typeface="宋体" panose="02010600030101010101" pitchFamily="2" charset="-122"/>
            </a:endParaRPr>
          </a:p>
          <a:p>
            <a:pPr marL="457200" lvl="1" indent="0" eaLnBrk="1" hangingPunct="1">
              <a:lnSpc>
                <a:spcPct val="150000"/>
              </a:lnSpc>
              <a:spcBef>
                <a:spcPct val="50000"/>
              </a:spcBef>
              <a:buClrTx/>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Alice</a:t>
            </a:r>
            <a:r>
              <a:rPr lang="zh-CN" altLang="en-US" sz="2400" b="1" dirty="0">
                <a:latin typeface="宋体" panose="02010600030101010101" pitchFamily="2" charset="-122"/>
                <a:ea typeface="宋体" panose="02010600030101010101" pitchFamily="2" charset="-122"/>
              </a:rPr>
              <a:t>将她的口令送给计算机</a:t>
            </a:r>
            <a:r>
              <a:rPr lang="en-US" altLang="zh-CN"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457200" lvl="1" indent="0" eaLnBrk="1" hangingPunct="1">
              <a:lnSpc>
                <a:spcPct val="150000"/>
              </a:lnSpc>
              <a:spcBef>
                <a:spcPct val="50000"/>
              </a:spcBef>
              <a:buClrTx/>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计算机完成口令的单向函数计算</a:t>
            </a:r>
            <a:r>
              <a:rPr lang="en-US" altLang="zh-CN"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457200" lvl="1" indent="0" eaLnBrk="1" hangingPunct="1">
              <a:lnSpc>
                <a:spcPct val="150000"/>
              </a:lnSpc>
              <a:spcBef>
                <a:spcPct val="50000"/>
              </a:spcBef>
              <a:buClrTx/>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 计算机把单向函数的运算结果和它以前存储的值进行比较。</a:t>
            </a:r>
            <a:endParaRPr lang="zh-CN" altLang="en-US" sz="2400" b="1"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a:xfrm>
            <a:off x="0" y="0"/>
            <a:ext cx="9144000" cy="1143000"/>
          </a:xfrm>
          <a:prstGeom prst="rect">
            <a:avLst/>
          </a:prstGeom>
        </p:spPr>
        <p:txBody>
          <a:bodyPr/>
          <a:lstStyle/>
          <a:p>
            <a:pPr marR="0" algn="ctr" defTabSz="914400" eaLnBrk="1" hangingPunct="1">
              <a:buClrTx/>
              <a:buSzTx/>
              <a:buFontTx/>
              <a:buNone/>
              <a:defRPr/>
            </a:pPr>
            <a:r>
              <a:rPr kumimoji="0" lang="en-US" altLang="zh-CN" sz="4400" b="0" kern="0" cap="none" spc="0" normalizeH="0" baseline="0" noProof="0">
                <a:solidFill>
                  <a:srgbClr val="FF0000"/>
                </a:solidFill>
                <a:latin typeface="+mj-lt"/>
                <a:ea typeface="宋体" panose="02010600030101010101" pitchFamily="2" charset="-122"/>
                <a:cs typeface="+mj-cs"/>
              </a:rPr>
              <a:t>Cryptography</a:t>
            </a:r>
            <a:endParaRPr kumimoji="0" lang="en-US" altLang="zh-CN" sz="4400" b="0" kern="0" cap="none" spc="0" normalizeH="0" baseline="0" noProof="0" dirty="0">
              <a:solidFill>
                <a:srgbClr val="FF0000"/>
              </a:solidFill>
              <a:latin typeface="+mj-lt"/>
              <a:ea typeface="宋体" panose="02010600030101010101" pitchFamily="2" charset="-122"/>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50179" name="Rectangle 3"/>
          <p:cNvSpPr/>
          <p:nvPr/>
        </p:nvSpPr>
        <p:spPr>
          <a:xfrm>
            <a:off x="180975" y="722313"/>
            <a:ext cx="3614738" cy="523875"/>
          </a:xfrm>
          <a:prstGeom prst="rect">
            <a:avLst/>
          </a:prstGeom>
          <a:noFill/>
          <a:ln w="12700">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zh-CN" altLang="en-US" sz="2800" b="1" dirty="0">
                <a:solidFill>
                  <a:srgbClr val="FF3300"/>
                </a:solidFill>
                <a:latin typeface="宋体" panose="02010600030101010101" pitchFamily="2" charset="-122"/>
                <a:ea typeface="宋体" panose="02010600030101010101" pitchFamily="2" charset="-122"/>
              </a:rPr>
              <a:t>单向散列（</a:t>
            </a:r>
            <a:r>
              <a:rPr lang="en-US" altLang="zh-CN" sz="2800" b="1" dirty="0">
                <a:solidFill>
                  <a:srgbClr val="FF3300"/>
                </a:solidFill>
                <a:latin typeface="宋体" panose="02010600030101010101" pitchFamily="2" charset="-122"/>
                <a:ea typeface="宋体" panose="02010600030101010101" pitchFamily="2" charset="-122"/>
              </a:rPr>
              <a:t>Hash)</a:t>
            </a:r>
            <a:r>
              <a:rPr lang="zh-CN" altLang="en-US" sz="2800" b="1" dirty="0">
                <a:solidFill>
                  <a:srgbClr val="FF3300"/>
                </a:solidFill>
                <a:latin typeface="宋体" panose="02010600030101010101" pitchFamily="2" charset="-122"/>
                <a:ea typeface="宋体" panose="02010600030101010101" pitchFamily="2" charset="-122"/>
              </a:rPr>
              <a:t>函数</a:t>
            </a:r>
            <a:endParaRPr lang="zh-CN" altLang="en-US" sz="2800" b="1" dirty="0">
              <a:solidFill>
                <a:srgbClr val="FF3300"/>
              </a:solidFill>
              <a:latin typeface="宋体" panose="02010600030101010101" pitchFamily="2" charset="-122"/>
              <a:ea typeface="宋体" panose="02010600030101010101" pitchFamily="2" charset="-122"/>
            </a:endParaRPr>
          </a:p>
        </p:txBody>
      </p:sp>
      <p:sp>
        <p:nvSpPr>
          <p:cNvPr id="50180" name="Text Box 4"/>
          <p:cNvSpPr txBox="1"/>
          <p:nvPr/>
        </p:nvSpPr>
        <p:spPr>
          <a:xfrm>
            <a:off x="261938" y="1360488"/>
            <a:ext cx="8620125" cy="483235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50000"/>
              </a:spcBef>
              <a:buClrTx/>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把可变输入长度串（称</a:t>
            </a:r>
            <a:r>
              <a:rPr lang="zh-CN" altLang="en-US" sz="2200" b="1" dirty="0">
                <a:solidFill>
                  <a:srgbClr val="FF0000"/>
                </a:solidFill>
                <a:latin typeface="宋体" panose="02010600030101010101" pitchFamily="2" charset="-122"/>
                <a:ea typeface="宋体" panose="02010600030101010101" pitchFamily="2" charset="-122"/>
              </a:rPr>
              <a:t>预映射</a:t>
            </a:r>
            <a:r>
              <a:rPr lang="zh-CN" altLang="en-US" sz="2200" b="1" dirty="0">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pre_image)</a:t>
            </a:r>
            <a:r>
              <a:rPr lang="zh-CN" altLang="en-US" sz="2200" b="1" dirty="0">
                <a:latin typeface="宋体" panose="02010600030101010101" pitchFamily="2" charset="-122"/>
                <a:ea typeface="宋体" panose="02010600030101010101" pitchFamily="2" charset="-122"/>
              </a:rPr>
              <a:t>转换成固定长度的输出串（称</a:t>
            </a:r>
            <a:r>
              <a:rPr lang="zh-CN" altLang="en-US" sz="2200" b="1" dirty="0">
                <a:solidFill>
                  <a:srgbClr val="FF0000"/>
                </a:solidFill>
                <a:latin typeface="宋体" panose="02010600030101010101" pitchFamily="2" charset="-122"/>
                <a:ea typeface="宋体" panose="02010600030101010101" pitchFamily="2" charset="-122"/>
              </a:rPr>
              <a:t>散列值</a:t>
            </a:r>
            <a:r>
              <a:rPr lang="zh-CN" altLang="en-US" sz="2200" b="1" dirty="0">
                <a:latin typeface="宋体" panose="02010600030101010101" pitchFamily="2" charset="-122"/>
                <a:ea typeface="宋体" panose="02010600030101010101" pitchFamily="2" charset="-122"/>
              </a:rPr>
              <a:t>）。特点：</a:t>
            </a:r>
            <a:endParaRPr lang="zh-CN" altLang="en-US" sz="2200" b="1" dirty="0">
              <a:latin typeface="宋体" panose="02010600030101010101" pitchFamily="2" charset="-122"/>
              <a:ea typeface="宋体" panose="02010600030101010101" pitchFamily="2" charset="-122"/>
            </a:endParaRPr>
          </a:p>
          <a:p>
            <a:pPr marL="457200" lvl="1" indent="0" eaLnBrk="1" hangingPunct="1">
              <a:lnSpc>
                <a:spcPct val="150000"/>
              </a:lnSpc>
              <a:spcBef>
                <a:spcPct val="50000"/>
              </a:spcBef>
              <a:buClrTx/>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难于产生</a:t>
            </a:r>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个预映射的值，使它们的散列值</a:t>
            </a:r>
            <a:r>
              <a:rPr lang="zh-CN" altLang="en-US" sz="2200" b="1" dirty="0">
                <a:solidFill>
                  <a:srgbClr val="FF0000"/>
                </a:solidFill>
                <a:latin typeface="宋体" panose="02010600030101010101" pitchFamily="2" charset="-122"/>
                <a:ea typeface="宋体" panose="02010600030101010101" pitchFamily="2" charset="-122"/>
              </a:rPr>
              <a:t>相同</a:t>
            </a:r>
            <a:r>
              <a:rPr lang="en-US" altLang="zh-CN"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457200" lvl="1" indent="0" eaLnBrk="1" hangingPunct="1">
              <a:lnSpc>
                <a:spcPct val="150000"/>
              </a:lnSpc>
              <a:spcBef>
                <a:spcPct val="50000"/>
              </a:spcBef>
              <a:buClrTx/>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平均而言，单个位的改变，将引起散列值中一半以上位的改变；</a:t>
            </a:r>
            <a:endParaRPr lang="zh-CN" altLang="en-US" sz="2200" b="1" dirty="0">
              <a:latin typeface="宋体" panose="02010600030101010101" pitchFamily="2" charset="-122"/>
              <a:ea typeface="宋体" panose="02010600030101010101" pitchFamily="2" charset="-122"/>
            </a:endParaRPr>
          </a:p>
          <a:p>
            <a:pPr marL="457200" lvl="1" indent="0" eaLnBrk="1" hangingPunct="1">
              <a:lnSpc>
                <a:spcPct val="150000"/>
              </a:lnSpc>
              <a:spcBef>
                <a:spcPct val="50000"/>
              </a:spcBef>
              <a:buClrTx/>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已知一个散列值，要找到预映射，使它的散列值等于已知的散列值在计算上是不可行的；</a:t>
            </a:r>
            <a:endParaRPr lang="zh-CN" altLang="en-US" sz="2200" b="1" dirty="0">
              <a:latin typeface="宋体" panose="02010600030101010101" pitchFamily="2" charset="-122"/>
              <a:ea typeface="宋体" panose="02010600030101010101" pitchFamily="2" charset="-122"/>
            </a:endParaRPr>
          </a:p>
          <a:p>
            <a:pPr marL="457200" lvl="1" indent="0" eaLnBrk="1" hangingPunct="1">
              <a:lnSpc>
                <a:spcPct val="150000"/>
              </a:lnSpc>
              <a:spcBef>
                <a:spcPct val="50000"/>
              </a:spcBef>
              <a:buClrTx/>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散列函数公开，通常使用不带密钥的单向散列函数，以便任何人都能验证散列值。例如：</a:t>
            </a:r>
            <a:r>
              <a:rPr lang="en-US" altLang="zh-CN" dirty="0">
                <a:ea typeface="宋体" panose="02010600030101010101" pitchFamily="2" charset="-122"/>
              </a:rPr>
              <a:t> </a:t>
            </a:r>
            <a:r>
              <a:rPr lang="en-US" altLang="zh-CN" sz="2200" b="1" dirty="0">
                <a:latin typeface="宋体" panose="02010600030101010101" pitchFamily="2" charset="-122"/>
                <a:ea typeface="宋体" panose="02010600030101010101" pitchFamily="2" charset="-122"/>
              </a:rPr>
              <a:t>MD5</a:t>
            </a:r>
            <a:r>
              <a:rPr lang="zh-CN" altLang="en-US" sz="2200" b="1" dirty="0">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 SHA-1</a:t>
            </a:r>
            <a:r>
              <a:rPr lang="zh-CN" altLang="en-US" sz="2200" b="1" dirty="0">
                <a:latin typeface="宋体" panose="02010600030101010101" pitchFamily="2" charset="-122"/>
                <a:ea typeface="宋体" panose="02010600030101010101" pitchFamily="2" charset="-122"/>
              </a:rPr>
              <a:t>等</a:t>
            </a:r>
            <a:endParaRPr lang="en-US" altLang="zh-CN" sz="2200" b="1"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a:xfrm>
            <a:off x="0" y="0"/>
            <a:ext cx="9144000" cy="762000"/>
          </a:xfrm>
          <a:prstGeom prst="rect">
            <a:avLst/>
          </a:prstGeom>
        </p:spPr>
        <p:txBody>
          <a:bodyPr/>
          <a:lstStyle/>
          <a:p>
            <a:pPr marR="0" algn="ctr" defTabSz="914400" eaLnBrk="1" hangingPunct="1">
              <a:buClrTx/>
              <a:buSzTx/>
              <a:buFontTx/>
              <a:buNone/>
              <a:defRPr/>
            </a:pPr>
            <a:r>
              <a:rPr kumimoji="0" lang="en-US" altLang="zh-CN" sz="4400" b="0" kern="0" cap="none" spc="0" normalizeH="0" baseline="0" noProof="0">
                <a:solidFill>
                  <a:srgbClr val="FF0000"/>
                </a:solidFill>
                <a:latin typeface="+mj-lt"/>
                <a:ea typeface="宋体" panose="02010600030101010101" pitchFamily="2" charset="-122"/>
                <a:cs typeface="+mj-cs"/>
              </a:rPr>
              <a:t>Cryptography</a:t>
            </a:r>
            <a:endParaRPr kumimoji="0" lang="en-US" altLang="zh-CN" sz="4400" b="0" kern="0" cap="none" spc="0" normalizeH="0" baseline="0" noProof="0" dirty="0">
              <a:solidFill>
                <a:srgbClr val="FF0000"/>
              </a:solidFill>
              <a:latin typeface="+mj-lt"/>
              <a:ea typeface="宋体" panose="02010600030101010101" pitchFamily="2" charset="-122"/>
              <a:cs typeface="+mj-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51203" name="Text Box 2"/>
          <p:cNvSpPr txBox="1"/>
          <p:nvPr/>
        </p:nvSpPr>
        <p:spPr>
          <a:xfrm>
            <a:off x="165100" y="865188"/>
            <a:ext cx="3333750" cy="566737"/>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40000"/>
              </a:lnSpc>
              <a:spcBef>
                <a:spcPct val="50000"/>
              </a:spcBef>
              <a:buClrTx/>
              <a:buFont typeface="Wingdings" panose="05000000000000000000" pitchFamily="2" charset="2"/>
              <a:buNone/>
            </a:pPr>
            <a:r>
              <a:rPr lang="zh-CN" altLang="en-US" sz="2200" b="1" dirty="0">
                <a:solidFill>
                  <a:srgbClr val="FF0000"/>
                </a:solidFill>
                <a:latin typeface="宋体" panose="02010600030101010101" pitchFamily="2" charset="-122"/>
                <a:ea typeface="宋体" panose="02010600030101010101" pitchFamily="2" charset="-122"/>
              </a:rPr>
              <a:t>带密钥的单向散列函数</a:t>
            </a:r>
            <a:endParaRPr lang="zh-CN" altLang="en-US" sz="2200" b="1" dirty="0">
              <a:latin typeface="宋体" panose="02010600030101010101" pitchFamily="2" charset="-122"/>
              <a:ea typeface="宋体" panose="02010600030101010101" pitchFamily="2" charset="-122"/>
            </a:endParaRPr>
          </a:p>
        </p:txBody>
      </p:sp>
      <p:grpSp>
        <p:nvGrpSpPr>
          <p:cNvPr id="51204" name="组合 14"/>
          <p:cNvGrpSpPr/>
          <p:nvPr/>
        </p:nvGrpSpPr>
        <p:grpSpPr>
          <a:xfrm>
            <a:off x="966788" y="1628775"/>
            <a:ext cx="7027862" cy="1700213"/>
            <a:chOff x="966788" y="2905735"/>
            <a:chExt cx="6704012" cy="1443038"/>
          </a:xfrm>
        </p:grpSpPr>
        <p:sp>
          <p:nvSpPr>
            <p:cNvPr id="51207" name="Line 5"/>
            <p:cNvSpPr/>
            <p:nvPr/>
          </p:nvSpPr>
          <p:spPr>
            <a:xfrm>
              <a:off x="2257744" y="3243346"/>
              <a:ext cx="1308480" cy="0"/>
            </a:xfrm>
            <a:prstGeom prst="line">
              <a:avLst/>
            </a:prstGeom>
            <a:ln w="28575" cap="sq" cmpd="sng">
              <a:solidFill>
                <a:schemeClr val="tx1"/>
              </a:solidFill>
              <a:prstDash val="solid"/>
              <a:headEnd type="none" w="sm" len="sm"/>
              <a:tailEnd type="triangle" w="med" len="med"/>
            </a:ln>
          </p:spPr>
        </p:sp>
        <p:sp>
          <p:nvSpPr>
            <p:cNvPr id="51208" name="Text Box 6"/>
            <p:cNvSpPr txBox="1"/>
            <p:nvPr/>
          </p:nvSpPr>
          <p:spPr>
            <a:xfrm>
              <a:off x="1291961" y="3150691"/>
              <a:ext cx="930734" cy="369349"/>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sz="1800" dirty="0">
                  <a:latin typeface="Times New Roman" panose="02020603050405020304" pitchFamily="18" charset="0"/>
                  <a:ea typeface="宋体" panose="02010600030101010101" pitchFamily="2" charset="-122"/>
                </a:rPr>
                <a:t>预映射</a:t>
              </a:r>
              <a:endParaRPr lang="zh-CN" altLang="en-US" sz="1800" dirty="0">
                <a:latin typeface="Times New Roman" panose="02020603050405020304" pitchFamily="18" charset="0"/>
                <a:ea typeface="宋体" panose="02010600030101010101" pitchFamily="2" charset="-122"/>
              </a:endParaRPr>
            </a:p>
          </p:txBody>
        </p:sp>
        <p:sp>
          <p:nvSpPr>
            <p:cNvPr id="51209" name="Line 7"/>
            <p:cNvSpPr/>
            <p:nvPr/>
          </p:nvSpPr>
          <p:spPr>
            <a:xfrm>
              <a:off x="2257744" y="4067942"/>
              <a:ext cx="1308480" cy="0"/>
            </a:xfrm>
            <a:prstGeom prst="line">
              <a:avLst/>
            </a:prstGeom>
            <a:ln w="28575" cap="sq" cmpd="sng">
              <a:solidFill>
                <a:schemeClr val="tx1"/>
              </a:solidFill>
              <a:prstDash val="solid"/>
              <a:headEnd type="none" w="sm" len="sm"/>
              <a:tailEnd type="triangle" w="med" len="med"/>
            </a:ln>
          </p:spPr>
        </p:sp>
        <p:sp>
          <p:nvSpPr>
            <p:cNvPr id="51210" name="Text Box 8"/>
            <p:cNvSpPr txBox="1"/>
            <p:nvPr/>
          </p:nvSpPr>
          <p:spPr>
            <a:xfrm>
              <a:off x="966788" y="3923748"/>
              <a:ext cx="1345476" cy="369349"/>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sz="1800" dirty="0">
                  <a:latin typeface="Times New Roman" panose="02020603050405020304" pitchFamily="18" charset="0"/>
                  <a:ea typeface="宋体" panose="02010600030101010101" pitchFamily="2" charset="-122"/>
                </a:rPr>
                <a:t>鉴别密钥Ｋ</a:t>
              </a:r>
              <a:endParaRPr lang="zh-CN" altLang="en-US" sz="1800" dirty="0">
                <a:latin typeface="Times New Roman" panose="02020603050405020304" pitchFamily="18" charset="0"/>
                <a:ea typeface="宋体" panose="02010600030101010101" pitchFamily="2" charset="-122"/>
              </a:endParaRPr>
            </a:p>
          </p:txBody>
        </p:sp>
        <p:sp>
          <p:nvSpPr>
            <p:cNvPr id="51211" name="Rectangle 9"/>
            <p:cNvSpPr/>
            <p:nvPr/>
          </p:nvSpPr>
          <p:spPr>
            <a:xfrm>
              <a:off x="3553523" y="2905735"/>
              <a:ext cx="2149645" cy="1443038"/>
            </a:xfrm>
            <a:prstGeom prst="rect">
              <a:avLst/>
            </a:prstGeom>
            <a:solidFill>
              <a:srgbClr val="B7BD3D"/>
            </a:solidFill>
            <a:ln w="12700" cap="sq"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800" dirty="0">
                  <a:latin typeface="Times New Roman" panose="02020603050405020304" pitchFamily="18" charset="0"/>
                  <a:ea typeface="宋体" panose="02010600030101010101" pitchFamily="2" charset="-122"/>
                </a:rPr>
                <a:t>单向散列函数</a:t>
              </a:r>
              <a:endParaRPr lang="zh-CN" altLang="en-US" sz="1800" dirty="0">
                <a:latin typeface="Times New Roman" panose="02020603050405020304" pitchFamily="18" charset="0"/>
                <a:ea typeface="宋体" panose="02010600030101010101" pitchFamily="2" charset="-122"/>
              </a:endParaRPr>
            </a:p>
          </p:txBody>
        </p:sp>
        <p:sp>
          <p:nvSpPr>
            <p:cNvPr id="51212" name="Line 10"/>
            <p:cNvSpPr/>
            <p:nvPr/>
          </p:nvSpPr>
          <p:spPr>
            <a:xfrm>
              <a:off x="5715869" y="3655645"/>
              <a:ext cx="1028091" cy="0"/>
            </a:xfrm>
            <a:prstGeom prst="line">
              <a:avLst/>
            </a:prstGeom>
            <a:ln w="28575" cap="sq" cmpd="sng">
              <a:solidFill>
                <a:schemeClr val="tx1"/>
              </a:solidFill>
              <a:prstDash val="solid"/>
              <a:headEnd type="none" w="sm" len="sm"/>
              <a:tailEnd type="triangle" w="med" len="med"/>
            </a:ln>
          </p:spPr>
        </p:sp>
        <p:sp>
          <p:nvSpPr>
            <p:cNvPr id="51213" name="Text Box 11"/>
            <p:cNvSpPr txBox="1"/>
            <p:nvPr/>
          </p:nvSpPr>
          <p:spPr>
            <a:xfrm>
              <a:off x="6718647" y="3539367"/>
              <a:ext cx="952153" cy="369349"/>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sz="1800" dirty="0">
                  <a:latin typeface="Times New Roman" panose="02020603050405020304" pitchFamily="18" charset="0"/>
                  <a:ea typeface="宋体" panose="02010600030101010101" pitchFamily="2" charset="-122"/>
                </a:rPr>
                <a:t>散列值</a:t>
              </a:r>
              <a:endParaRPr lang="zh-CN" altLang="en-US" sz="1800" dirty="0">
                <a:latin typeface="Times New Roman" panose="02020603050405020304" pitchFamily="18" charset="0"/>
                <a:ea typeface="宋体" panose="02010600030101010101" pitchFamily="2" charset="-122"/>
              </a:endParaRPr>
            </a:p>
          </p:txBody>
        </p:sp>
      </p:grpSp>
      <p:sp>
        <p:nvSpPr>
          <p:cNvPr id="51205" name="矩形 12"/>
          <p:cNvSpPr/>
          <p:nvPr/>
        </p:nvSpPr>
        <p:spPr>
          <a:xfrm>
            <a:off x="265113" y="3616325"/>
            <a:ext cx="8686800" cy="2124075"/>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0"/>
              </a:spcBef>
              <a:buClrTx/>
              <a:buNone/>
            </a:pPr>
            <a:r>
              <a:rPr lang="zh-CN" altLang="en-US" sz="2200" b="1" dirty="0">
                <a:latin typeface="宋体" panose="02010600030101010101" pitchFamily="2" charset="-122"/>
                <a:ea typeface="宋体" panose="02010600030101010101" pitchFamily="2" charset="-122"/>
              </a:rPr>
              <a:t>原理：可用它生成消息鉴别码</a:t>
            </a:r>
            <a:r>
              <a:rPr lang="en-US" altLang="zh-CN" sz="2200" b="1" dirty="0">
                <a:latin typeface="宋体" panose="02010600030101010101" pitchFamily="2" charset="-122"/>
                <a:ea typeface="宋体" panose="02010600030101010101" pitchFamily="2" charset="-122"/>
              </a:rPr>
              <a:t>MAC</a:t>
            </a:r>
            <a:r>
              <a:rPr lang="zh-CN" altLang="en-US" sz="2200" b="1" dirty="0">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Message Authentication Code</a:t>
            </a:r>
            <a:r>
              <a:rPr lang="zh-CN" altLang="en-US" sz="2200" b="1" dirty="0">
                <a:latin typeface="宋体" panose="02010600030101010101" pitchFamily="2" charset="-122"/>
                <a:ea typeface="宋体" panose="02010600030101010101" pitchFamily="2" charset="-122"/>
              </a:rPr>
              <a:t>）或密码校验和（</a:t>
            </a:r>
            <a:r>
              <a:rPr lang="en-US" altLang="en-US" sz="2200" b="1" dirty="0">
                <a:latin typeface="宋体" panose="02010600030101010101" pitchFamily="2" charset="-122"/>
                <a:ea typeface="宋体" panose="02010600030101010101" pitchFamily="2" charset="-122"/>
              </a:rPr>
              <a:t>cryptographic checksum)</a:t>
            </a:r>
            <a:r>
              <a:rPr lang="zh-CN" altLang="en-US" sz="2200" b="1" dirty="0">
                <a:latin typeface="宋体" panose="02010600030101010101" pitchFamily="2" charset="-122"/>
                <a:ea typeface="宋体" panose="02010600030101010101" pitchFamily="2" charset="-122"/>
              </a:rPr>
              <a:t>， </a:t>
            </a:r>
            <a:r>
              <a:rPr lang="en-US" altLang="zh-CN" sz="2200" b="1" dirty="0">
                <a:solidFill>
                  <a:srgbClr val="FF0000"/>
                </a:solidFill>
                <a:latin typeface="宋体" panose="02010600030101010101" pitchFamily="2" charset="-122"/>
                <a:ea typeface="宋体" panose="02010600030101010101" pitchFamily="2" charset="-122"/>
              </a:rPr>
              <a:t>MAC</a:t>
            </a:r>
            <a:r>
              <a:rPr lang="zh-CN" altLang="en-US" sz="2200" b="1" dirty="0">
                <a:solidFill>
                  <a:srgbClr val="FF0000"/>
                </a:solidFill>
                <a:latin typeface="宋体" panose="02010600030101010101" pitchFamily="2" charset="-122"/>
                <a:ea typeface="宋体" panose="02010600030101010101" pitchFamily="2" charset="-122"/>
              </a:rPr>
              <a:t>与明文信息</a:t>
            </a:r>
            <a:r>
              <a:rPr lang="en-US" altLang="zh-CN" sz="2200" b="1" dirty="0">
                <a:solidFill>
                  <a:srgbClr val="FF0000"/>
                </a:solidFill>
                <a:latin typeface="宋体" panose="02010600030101010101" pitchFamily="2" charset="-122"/>
                <a:ea typeface="宋体" panose="02010600030101010101" pitchFamily="2" charset="-122"/>
              </a:rPr>
              <a:t>M</a:t>
            </a:r>
            <a:r>
              <a:rPr lang="zh-CN" altLang="en-US" sz="2200" b="1" dirty="0">
                <a:solidFill>
                  <a:srgbClr val="FF0000"/>
                </a:solidFill>
                <a:latin typeface="宋体" panose="02010600030101010101" pitchFamily="2" charset="-122"/>
                <a:ea typeface="宋体" panose="02010600030101010101" pitchFamily="2" charset="-122"/>
              </a:rPr>
              <a:t>一同发送，接收方使用密钥</a:t>
            </a:r>
            <a:r>
              <a:rPr lang="en-US" altLang="zh-CN" sz="2200" b="1" dirty="0">
                <a:solidFill>
                  <a:srgbClr val="FF0000"/>
                </a:solidFill>
                <a:latin typeface="宋体" panose="02010600030101010101" pitchFamily="2" charset="-122"/>
                <a:ea typeface="宋体" panose="02010600030101010101" pitchFamily="2" charset="-122"/>
              </a:rPr>
              <a:t>K</a:t>
            </a:r>
            <a:r>
              <a:rPr lang="zh-CN" altLang="en-US" sz="2200" b="1" dirty="0">
                <a:solidFill>
                  <a:srgbClr val="FF0000"/>
                </a:solidFill>
                <a:latin typeface="宋体" panose="02010600030101010101" pitchFamily="2" charset="-122"/>
                <a:ea typeface="宋体" panose="02010600030101010101" pitchFamily="2" charset="-122"/>
              </a:rPr>
              <a:t>对明文信息</a:t>
            </a:r>
            <a:r>
              <a:rPr lang="en-US" altLang="zh-CN" sz="2200" b="1" dirty="0">
                <a:solidFill>
                  <a:srgbClr val="FF0000"/>
                </a:solidFill>
                <a:latin typeface="宋体" panose="02010600030101010101" pitchFamily="2" charset="-122"/>
                <a:ea typeface="宋体" panose="02010600030101010101" pitchFamily="2" charset="-122"/>
              </a:rPr>
              <a:t>M</a:t>
            </a:r>
            <a:r>
              <a:rPr lang="zh-CN" altLang="en-US" sz="2200" b="1" dirty="0">
                <a:solidFill>
                  <a:srgbClr val="FF0000"/>
                </a:solidFill>
                <a:latin typeface="宋体" panose="02010600030101010101" pitchFamily="2" charset="-122"/>
                <a:ea typeface="宋体" panose="02010600030101010101" pitchFamily="2" charset="-122"/>
              </a:rPr>
              <a:t>进行完整性认证。</a:t>
            </a:r>
            <a:r>
              <a:rPr lang="zh-CN" altLang="en-US" sz="2200" b="1" dirty="0">
                <a:latin typeface="宋体" panose="02010600030101010101" pitchFamily="2" charset="-122"/>
                <a:ea typeface="宋体" panose="02010600030101010101" pitchFamily="2" charset="-122"/>
              </a:rPr>
              <a:t>由于密钥</a:t>
            </a:r>
            <a:r>
              <a:rPr lang="en-US" altLang="zh-CN" sz="2200" b="1" dirty="0">
                <a:latin typeface="宋体" panose="02010600030101010101" pitchFamily="2" charset="-122"/>
                <a:ea typeface="宋体" panose="02010600030101010101" pitchFamily="2" charset="-122"/>
              </a:rPr>
              <a:t>K</a:t>
            </a:r>
            <a:r>
              <a:rPr lang="zh-CN" altLang="en-US" sz="2200" b="1" dirty="0">
                <a:latin typeface="宋体" panose="02010600030101010101" pitchFamily="2" charset="-122"/>
                <a:ea typeface="宋体" panose="02010600030101010101" pitchFamily="2" charset="-122"/>
              </a:rPr>
              <a:t>仅通信双方知道，所以也可判定消息是由对方发送的。</a:t>
            </a:r>
            <a:endParaRPr lang="zh-CN" altLang="en-US" sz="2200" b="1" dirty="0">
              <a:latin typeface="宋体" panose="02010600030101010101" pitchFamily="2" charset="-122"/>
              <a:ea typeface="宋体" panose="02010600030101010101" pitchFamily="2" charset="-122"/>
            </a:endParaRPr>
          </a:p>
        </p:txBody>
      </p:sp>
      <p:sp>
        <p:nvSpPr>
          <p:cNvPr id="14" name="Rectangle 2"/>
          <p:cNvSpPr txBox="1">
            <a:spLocks noChangeArrowheads="1"/>
          </p:cNvSpPr>
          <p:nvPr/>
        </p:nvSpPr>
        <p:spPr>
          <a:xfrm>
            <a:off x="0" y="0"/>
            <a:ext cx="9144000" cy="889000"/>
          </a:xfrm>
          <a:prstGeom prst="rect">
            <a:avLst/>
          </a:prstGeom>
        </p:spPr>
        <p:txBody>
          <a:bodyPr/>
          <a:lstStyle/>
          <a:p>
            <a:pPr marR="0" algn="ctr" defTabSz="914400" eaLnBrk="1" hangingPunct="1">
              <a:buClrTx/>
              <a:buSzTx/>
              <a:buFontTx/>
              <a:buNone/>
              <a:defRPr/>
            </a:pPr>
            <a:r>
              <a:rPr kumimoji="0" lang="en-US" altLang="zh-CN" sz="4400" b="0" kern="0" cap="none" spc="0" normalizeH="0" baseline="0" noProof="0">
                <a:solidFill>
                  <a:srgbClr val="FF0000"/>
                </a:solidFill>
                <a:latin typeface="+mj-lt"/>
                <a:ea typeface="宋体" panose="02010600030101010101" pitchFamily="2" charset="-122"/>
                <a:cs typeface="+mj-cs"/>
              </a:rPr>
              <a:t>Cryptography</a:t>
            </a:r>
            <a:endParaRPr kumimoji="0" lang="en-US" altLang="zh-CN" sz="4400" b="0" kern="0" cap="none" spc="0" normalizeH="0" baseline="0" noProof="0" dirty="0">
              <a:solidFill>
                <a:srgbClr val="FF0000"/>
              </a:solidFill>
              <a:latin typeface="+mj-lt"/>
              <a:ea typeface="宋体" panose="02010600030101010101" pitchFamily="2" charset="-122"/>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52227" name="Rectangle 2"/>
          <p:cNvSpPr>
            <a:spLocks noGrp="1"/>
          </p:cNvSpPr>
          <p:nvPr>
            <p:ph type="title"/>
          </p:nvPr>
        </p:nvSpPr>
        <p:spPr>
          <a:xfrm>
            <a:off x="0" y="0"/>
            <a:ext cx="9144000" cy="952500"/>
          </a:xfrm>
        </p:spPr>
        <p:txBody>
          <a:bodyPr vert="horz" wrap="square" lIns="91440" tIns="45720" rIns="91440" bIns="45720" anchor="ctr" anchorCtr="0"/>
          <a:lstStyle/>
          <a:p>
            <a:pPr eaLnBrk="1" hangingPunct="1"/>
            <a:r>
              <a:rPr lang="zh-CN" altLang="en-US" dirty="0">
                <a:ea typeface="宋体" panose="02010600030101010101" pitchFamily="2" charset="-122"/>
              </a:rPr>
              <a:t>对称密钥算法简介</a:t>
            </a:r>
            <a:endParaRPr lang="en-US" altLang="zh-CN" dirty="0">
              <a:ea typeface="宋体" panose="02010600030101010101" pitchFamily="2" charset="-122"/>
            </a:endParaRPr>
          </a:p>
        </p:txBody>
      </p:sp>
      <p:sp>
        <p:nvSpPr>
          <p:cNvPr id="52228" name="Rectangle 3"/>
          <p:cNvSpPr>
            <a:spLocks noGrp="1"/>
          </p:cNvSpPr>
          <p:nvPr>
            <p:ph idx="1"/>
          </p:nvPr>
        </p:nvSpPr>
        <p:spPr>
          <a:xfrm>
            <a:off x="812800" y="965200"/>
            <a:ext cx="7772400" cy="1981200"/>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zh-CN" altLang="en-US" dirty="0">
                <a:latin typeface="宋体" panose="02010600030101010101" pitchFamily="2" charset="-122"/>
                <a:ea typeface="宋体" panose="02010600030101010101" pitchFamily="2" charset="-122"/>
              </a:rPr>
              <a:t>加密和解密使用相同的密钥：</a:t>
            </a:r>
            <a:r>
              <a:rPr lang="en-US" altLang="zh-CN" dirty="0">
                <a:latin typeface="宋体" panose="02010600030101010101" pitchFamily="2" charset="-122"/>
                <a:ea typeface="宋体" panose="02010600030101010101" pitchFamily="2" charset="-122"/>
              </a:rPr>
              <a:t>K</a:t>
            </a:r>
            <a:r>
              <a:rPr lang="en-US" altLang="zh-CN" baseline="-25000" dirty="0">
                <a:latin typeface="宋体" panose="02010600030101010101" pitchFamily="2" charset="-122"/>
                <a:ea typeface="宋体" panose="02010600030101010101" pitchFamily="2" charset="-122"/>
              </a:rPr>
              <a:t>E</a:t>
            </a:r>
            <a:r>
              <a:rPr lang="en-US" altLang="zh-CN" dirty="0">
                <a:latin typeface="宋体" panose="02010600030101010101" pitchFamily="2" charset="-122"/>
                <a:ea typeface="宋体" panose="02010600030101010101" pitchFamily="2" charset="-122"/>
              </a:rPr>
              <a:t>=K</a:t>
            </a:r>
            <a:r>
              <a:rPr lang="en-US" altLang="zh-CN" baseline="-25000" dirty="0">
                <a:latin typeface="宋体" panose="02010600030101010101" pitchFamily="2" charset="-122"/>
                <a:ea typeface="宋体" panose="02010600030101010101" pitchFamily="2" charset="-122"/>
              </a:rPr>
              <a:t>D</a:t>
            </a:r>
            <a:endParaRPr lang="zh-CN" altLang="en-US" baseline="-25000"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dirty="0">
                <a:latin typeface="宋体" panose="02010600030101010101" pitchFamily="2" charset="-122"/>
                <a:ea typeface="宋体" panose="02010600030101010101" pitchFamily="2" charset="-122"/>
              </a:rPr>
              <a:t>密钥必须使用秘密的信道分配；</a:t>
            </a:r>
            <a:endParaRPr lang="en-US" altLang="zh-CN"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dirty="0">
                <a:latin typeface="宋体" panose="02010600030101010101" pitchFamily="2" charset="-122"/>
                <a:ea typeface="宋体" panose="02010600030101010101" pitchFamily="2" charset="-122"/>
              </a:rPr>
              <a:t>单钥加密中使用的密钥也称为秘钥</a:t>
            </a:r>
            <a:r>
              <a:rPr lang="en-US" altLang="zh-CN" dirty="0">
                <a:latin typeface="宋体" panose="02010600030101010101" pitchFamily="2" charset="-122"/>
                <a:ea typeface="宋体" panose="02010600030101010101" pitchFamily="2" charset="-122"/>
              </a:rPr>
              <a:t>(Secret Key)</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2229" name="Line 4"/>
          <p:cNvSpPr/>
          <p:nvPr/>
        </p:nvSpPr>
        <p:spPr>
          <a:xfrm flipV="1">
            <a:off x="3175000" y="4895850"/>
            <a:ext cx="1879600" cy="46038"/>
          </a:xfrm>
          <a:prstGeom prst="line">
            <a:avLst/>
          </a:prstGeom>
          <a:ln w="28575" cap="flat" cmpd="sng">
            <a:solidFill>
              <a:schemeClr val="tx1"/>
            </a:solidFill>
            <a:prstDash val="solid"/>
            <a:headEnd type="none" w="sm" len="sm"/>
            <a:tailEnd type="triangle" w="med" len="med"/>
          </a:ln>
        </p:spPr>
      </p:sp>
      <p:sp>
        <p:nvSpPr>
          <p:cNvPr id="52230" name="Text Box 5"/>
          <p:cNvSpPr txBox="1"/>
          <p:nvPr/>
        </p:nvSpPr>
        <p:spPr>
          <a:xfrm>
            <a:off x="185738" y="4400550"/>
            <a:ext cx="515937" cy="1079500"/>
          </a:xfrm>
          <a:prstGeom prst="rect">
            <a:avLst/>
          </a:prstGeom>
          <a:noFill/>
          <a:ln w="12700">
            <a:noFill/>
          </a:ln>
        </p:spPr>
        <p:txBody>
          <a:bodyPr vert="eaVert">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发送方</a:t>
            </a:r>
            <a:endParaRPr lang="zh-CN" altLang="en-US" dirty="0">
              <a:latin typeface="Times New Roman" panose="02020603050405020304" pitchFamily="18" charset="0"/>
              <a:ea typeface="宋体" panose="02010600030101010101" pitchFamily="2" charset="-122"/>
            </a:endParaRPr>
          </a:p>
        </p:txBody>
      </p:sp>
      <p:sp>
        <p:nvSpPr>
          <p:cNvPr id="52231" name="Text Box 6"/>
          <p:cNvSpPr txBox="1"/>
          <p:nvPr/>
        </p:nvSpPr>
        <p:spPr>
          <a:xfrm>
            <a:off x="7650163" y="4395788"/>
            <a:ext cx="554037" cy="1154112"/>
          </a:xfrm>
          <a:prstGeom prst="rect">
            <a:avLst/>
          </a:prstGeom>
          <a:noFill/>
          <a:ln w="12700">
            <a:noFill/>
          </a:ln>
        </p:spPr>
        <p:txBody>
          <a:bodyPr vert="eaVert">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dirty="0">
                <a:latin typeface="Times New Roman" panose="02020603050405020304" pitchFamily="18" charset="0"/>
                <a:ea typeface="宋体" panose="02010600030101010101" pitchFamily="2" charset="-122"/>
              </a:rPr>
              <a:t>接收方</a:t>
            </a:r>
            <a:endParaRPr lang="zh-CN" altLang="en-US" dirty="0">
              <a:latin typeface="Times New Roman" panose="02020603050405020304" pitchFamily="18" charset="0"/>
              <a:ea typeface="宋体" panose="02010600030101010101" pitchFamily="2" charset="-122"/>
            </a:endParaRPr>
          </a:p>
        </p:txBody>
      </p:sp>
      <p:sp>
        <p:nvSpPr>
          <p:cNvPr id="52232" name="Text Box 7"/>
          <p:cNvSpPr txBox="1"/>
          <p:nvPr/>
        </p:nvSpPr>
        <p:spPr>
          <a:xfrm>
            <a:off x="877888" y="4654550"/>
            <a:ext cx="576262"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m</a:t>
            </a:r>
            <a:endParaRPr lang="en-US" altLang="zh-CN" dirty="0">
              <a:latin typeface="Times New Roman" panose="02020603050405020304" pitchFamily="18" charset="0"/>
              <a:ea typeface="宋体" panose="02010600030101010101" pitchFamily="2" charset="-122"/>
            </a:endParaRPr>
          </a:p>
        </p:txBody>
      </p:sp>
      <p:sp>
        <p:nvSpPr>
          <p:cNvPr id="52233" name="Text Box 8"/>
          <p:cNvSpPr txBox="1"/>
          <p:nvPr/>
        </p:nvSpPr>
        <p:spPr>
          <a:xfrm>
            <a:off x="6931025" y="4692650"/>
            <a:ext cx="434975"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m</a:t>
            </a:r>
            <a:endParaRPr lang="en-US" altLang="zh-CN" dirty="0">
              <a:latin typeface="Times New Roman" panose="02020603050405020304" pitchFamily="18" charset="0"/>
              <a:ea typeface="宋体" panose="02010600030101010101" pitchFamily="2" charset="-122"/>
            </a:endParaRPr>
          </a:p>
        </p:txBody>
      </p:sp>
      <p:sp>
        <p:nvSpPr>
          <p:cNvPr id="52234" name="Rectangle 9"/>
          <p:cNvSpPr/>
          <p:nvPr/>
        </p:nvSpPr>
        <p:spPr>
          <a:xfrm>
            <a:off x="1970088" y="4583113"/>
            <a:ext cx="1152525" cy="719137"/>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zh-CN" altLang="en-US" dirty="0">
                <a:latin typeface="Times New Roman" panose="02020603050405020304" pitchFamily="18" charset="0"/>
                <a:ea typeface="宋体" panose="02010600030101010101" pitchFamily="2" charset="-122"/>
              </a:rPr>
              <a:t>加密</a:t>
            </a:r>
            <a:r>
              <a:rPr lang="en-US" altLang="zh-CN" dirty="0">
                <a:latin typeface="Times New Roman" panose="02020603050405020304" pitchFamily="18" charset="0"/>
                <a:ea typeface="宋体" panose="02010600030101010101" pitchFamily="2" charset="-122"/>
              </a:rPr>
              <a:t>E</a:t>
            </a:r>
            <a:endParaRPr lang="en-US" altLang="zh-CN" dirty="0">
              <a:latin typeface="Times New Roman" panose="02020603050405020304" pitchFamily="18" charset="0"/>
              <a:ea typeface="宋体" panose="02010600030101010101" pitchFamily="2" charset="-122"/>
            </a:endParaRPr>
          </a:p>
        </p:txBody>
      </p:sp>
      <p:sp>
        <p:nvSpPr>
          <p:cNvPr id="52235" name="Rectangle 10"/>
          <p:cNvSpPr/>
          <p:nvPr/>
        </p:nvSpPr>
        <p:spPr>
          <a:xfrm>
            <a:off x="5045075" y="4595813"/>
            <a:ext cx="1152525" cy="706437"/>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spcBef>
                <a:spcPct val="0"/>
              </a:spcBef>
              <a:buClrTx/>
              <a:buNone/>
            </a:pPr>
            <a:r>
              <a:rPr lang="zh-CN" altLang="en-US" dirty="0">
                <a:latin typeface="Times New Roman" panose="02020603050405020304" pitchFamily="18" charset="0"/>
                <a:ea typeface="宋体" panose="02010600030101010101" pitchFamily="2" charset="-122"/>
              </a:rPr>
              <a:t>解密</a:t>
            </a:r>
            <a:r>
              <a:rPr lang="en-US" altLang="zh-CN" dirty="0">
                <a:latin typeface="Times New Roman" panose="02020603050405020304" pitchFamily="18" charset="0"/>
                <a:ea typeface="宋体" panose="02010600030101010101" pitchFamily="2" charset="-122"/>
              </a:rPr>
              <a:t>D</a:t>
            </a:r>
            <a:endParaRPr lang="en-US" altLang="zh-CN" dirty="0">
              <a:latin typeface="Times New Roman" panose="02020603050405020304" pitchFamily="18" charset="0"/>
              <a:ea typeface="宋体" panose="02010600030101010101" pitchFamily="2" charset="-122"/>
            </a:endParaRPr>
          </a:p>
        </p:txBody>
      </p:sp>
      <p:sp>
        <p:nvSpPr>
          <p:cNvPr id="52236" name="Text Box 11"/>
          <p:cNvSpPr txBox="1"/>
          <p:nvPr/>
        </p:nvSpPr>
        <p:spPr>
          <a:xfrm>
            <a:off x="1827213" y="5470525"/>
            <a:ext cx="1436687"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c= E</a:t>
            </a:r>
            <a:r>
              <a:rPr lang="en-US" altLang="zh-CN" baseline="-25000" dirty="0">
                <a:latin typeface="Times New Roman" panose="02020603050405020304" pitchFamily="18" charset="0"/>
                <a:ea typeface="宋体" panose="02010600030101010101" pitchFamily="2" charset="-122"/>
              </a:rPr>
              <a:t>k </a:t>
            </a:r>
            <a:r>
              <a:rPr lang="en-US" altLang="zh-CN" dirty="0">
                <a:latin typeface="Times New Roman" panose="02020603050405020304" pitchFamily="18" charset="0"/>
                <a:ea typeface="宋体" panose="02010600030101010101" pitchFamily="2" charset="-122"/>
              </a:rPr>
              <a:t>(m)</a:t>
            </a:r>
            <a:endParaRPr lang="en-US" altLang="zh-CN" dirty="0">
              <a:latin typeface="Times New Roman" panose="02020603050405020304" pitchFamily="18" charset="0"/>
              <a:ea typeface="宋体" panose="02010600030101010101" pitchFamily="2" charset="-122"/>
            </a:endParaRPr>
          </a:p>
        </p:txBody>
      </p:sp>
      <p:sp>
        <p:nvSpPr>
          <p:cNvPr id="52237" name="Text Box 12"/>
          <p:cNvSpPr txBox="1"/>
          <p:nvPr/>
        </p:nvSpPr>
        <p:spPr>
          <a:xfrm>
            <a:off x="4960938" y="5546725"/>
            <a:ext cx="1414462"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m= D</a:t>
            </a:r>
            <a:r>
              <a:rPr lang="en-US" altLang="zh-CN" baseline="-25000" dirty="0">
                <a:latin typeface="Times New Roman" panose="02020603050405020304" pitchFamily="18" charset="0"/>
                <a:ea typeface="宋体" panose="02010600030101010101" pitchFamily="2" charset="-122"/>
              </a:rPr>
              <a:t>k </a:t>
            </a:r>
            <a:r>
              <a:rPr lang="en-US" altLang="zh-CN" dirty="0">
                <a:latin typeface="Times New Roman" panose="02020603050405020304" pitchFamily="18" charset="0"/>
                <a:ea typeface="宋体" panose="02010600030101010101" pitchFamily="2" charset="-122"/>
              </a:rPr>
              <a:t>(c)</a:t>
            </a:r>
            <a:endParaRPr lang="en-US" altLang="zh-CN" dirty="0">
              <a:latin typeface="Times New Roman" panose="02020603050405020304" pitchFamily="18" charset="0"/>
              <a:ea typeface="宋体" panose="02010600030101010101" pitchFamily="2" charset="-122"/>
            </a:endParaRPr>
          </a:p>
        </p:txBody>
      </p:sp>
      <p:sp>
        <p:nvSpPr>
          <p:cNvPr id="52238" name="Line 14"/>
          <p:cNvSpPr/>
          <p:nvPr/>
        </p:nvSpPr>
        <p:spPr>
          <a:xfrm>
            <a:off x="1235075" y="4943475"/>
            <a:ext cx="717550" cy="0"/>
          </a:xfrm>
          <a:prstGeom prst="line">
            <a:avLst/>
          </a:prstGeom>
          <a:ln w="57150" cap="flat" cmpd="sng">
            <a:solidFill>
              <a:schemeClr val="tx1"/>
            </a:solidFill>
            <a:prstDash val="solid"/>
            <a:headEnd type="none" w="sm" len="sm"/>
            <a:tailEnd type="triangle" w="med" len="med"/>
          </a:ln>
        </p:spPr>
      </p:sp>
      <p:sp>
        <p:nvSpPr>
          <p:cNvPr id="52239" name="Text Box 15"/>
          <p:cNvSpPr txBox="1"/>
          <p:nvPr/>
        </p:nvSpPr>
        <p:spPr>
          <a:xfrm>
            <a:off x="2746375" y="3433763"/>
            <a:ext cx="2765425" cy="396875"/>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zh-CN" altLang="en-US" sz="2000" dirty="0">
                <a:latin typeface="Times New Roman" panose="02020603050405020304" pitchFamily="18" charset="0"/>
                <a:ea typeface="宋体" panose="02010600030101010101" pitchFamily="2" charset="-122"/>
              </a:rPr>
              <a:t>密钥分配（秘密信道）</a:t>
            </a:r>
            <a:endParaRPr lang="zh-CN" altLang="en-US" sz="2000" dirty="0">
              <a:latin typeface="Times New Roman" panose="02020603050405020304" pitchFamily="18" charset="0"/>
              <a:ea typeface="宋体" panose="02010600030101010101" pitchFamily="2" charset="-122"/>
            </a:endParaRPr>
          </a:p>
        </p:txBody>
      </p:sp>
      <p:sp>
        <p:nvSpPr>
          <p:cNvPr id="52240" name="Line 16"/>
          <p:cNvSpPr/>
          <p:nvPr/>
        </p:nvSpPr>
        <p:spPr>
          <a:xfrm>
            <a:off x="2576513" y="3387725"/>
            <a:ext cx="3097212" cy="0"/>
          </a:xfrm>
          <a:prstGeom prst="line">
            <a:avLst/>
          </a:prstGeom>
          <a:ln w="38100" cap="flat" cmpd="sng">
            <a:solidFill>
              <a:schemeClr val="tx1"/>
            </a:solidFill>
            <a:prstDash val="sysDot"/>
            <a:headEnd type="none" w="sm" len="sm"/>
            <a:tailEnd type="none" w="sm" len="sm"/>
          </a:ln>
        </p:spPr>
      </p:sp>
      <p:sp>
        <p:nvSpPr>
          <p:cNvPr id="52241" name="Line 18"/>
          <p:cNvSpPr/>
          <p:nvPr/>
        </p:nvSpPr>
        <p:spPr>
          <a:xfrm flipH="1">
            <a:off x="2540000" y="3429000"/>
            <a:ext cx="0" cy="1152525"/>
          </a:xfrm>
          <a:prstGeom prst="line">
            <a:avLst/>
          </a:prstGeom>
          <a:ln w="38100" cap="flat" cmpd="sng">
            <a:solidFill>
              <a:schemeClr val="tx1"/>
            </a:solidFill>
            <a:prstDash val="sysDot"/>
            <a:headEnd type="none" w="sm" len="sm"/>
            <a:tailEnd type="none" w="sm" len="sm"/>
          </a:ln>
        </p:spPr>
      </p:sp>
      <p:sp>
        <p:nvSpPr>
          <p:cNvPr id="52242" name="Text Box 19"/>
          <p:cNvSpPr txBox="1"/>
          <p:nvPr/>
        </p:nvSpPr>
        <p:spPr>
          <a:xfrm>
            <a:off x="5743575" y="3748088"/>
            <a:ext cx="361950"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k</a:t>
            </a:r>
            <a:endParaRPr lang="en-US" altLang="zh-CN" dirty="0">
              <a:latin typeface="Times New Roman" panose="02020603050405020304" pitchFamily="18" charset="0"/>
              <a:ea typeface="宋体" panose="02010600030101010101" pitchFamily="2" charset="-122"/>
            </a:endParaRPr>
          </a:p>
        </p:txBody>
      </p:sp>
      <p:sp>
        <p:nvSpPr>
          <p:cNvPr id="52243" name="Text Box 20"/>
          <p:cNvSpPr txBox="1"/>
          <p:nvPr/>
        </p:nvSpPr>
        <p:spPr>
          <a:xfrm>
            <a:off x="2146300" y="3748088"/>
            <a:ext cx="358775" cy="457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50000"/>
              </a:spcBef>
              <a:buClrTx/>
              <a:buNone/>
            </a:pPr>
            <a:r>
              <a:rPr lang="en-US" altLang="zh-CN" dirty="0">
                <a:latin typeface="Times New Roman" panose="02020603050405020304" pitchFamily="18" charset="0"/>
                <a:ea typeface="宋体" panose="02010600030101010101" pitchFamily="2" charset="-122"/>
              </a:rPr>
              <a:t>k</a:t>
            </a:r>
            <a:endParaRPr lang="en-US" altLang="zh-CN" dirty="0">
              <a:latin typeface="Times New Roman" panose="02020603050405020304" pitchFamily="18" charset="0"/>
              <a:ea typeface="宋体" panose="02010600030101010101" pitchFamily="2" charset="-122"/>
            </a:endParaRPr>
          </a:p>
        </p:txBody>
      </p:sp>
      <p:sp>
        <p:nvSpPr>
          <p:cNvPr id="52244" name="Line 14"/>
          <p:cNvSpPr/>
          <p:nvPr/>
        </p:nvSpPr>
        <p:spPr>
          <a:xfrm>
            <a:off x="6200775" y="4930775"/>
            <a:ext cx="717550" cy="0"/>
          </a:xfrm>
          <a:prstGeom prst="line">
            <a:avLst/>
          </a:prstGeom>
          <a:ln w="57150" cap="flat" cmpd="sng">
            <a:solidFill>
              <a:schemeClr val="tx1"/>
            </a:solidFill>
            <a:prstDash val="solid"/>
            <a:headEnd type="none" w="sm" len="sm"/>
            <a:tailEnd type="triangle" w="med" len="med"/>
          </a:ln>
        </p:spPr>
      </p:sp>
      <p:sp>
        <p:nvSpPr>
          <p:cNvPr id="52245" name="Line 18"/>
          <p:cNvSpPr/>
          <p:nvPr/>
        </p:nvSpPr>
        <p:spPr>
          <a:xfrm flipH="1">
            <a:off x="5689600" y="3403600"/>
            <a:ext cx="0" cy="1152525"/>
          </a:xfrm>
          <a:prstGeom prst="line">
            <a:avLst/>
          </a:prstGeom>
          <a:ln w="38100" cap="flat" cmpd="sng">
            <a:solidFill>
              <a:schemeClr val="tx1"/>
            </a:solidFill>
            <a:prstDash val="sysDot"/>
            <a:headEnd type="none" w="sm" len="sm"/>
            <a:tailEnd type="none" w="sm" len="sm"/>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53251" name="Rectangle 2"/>
          <p:cNvSpPr>
            <a:spLocks noGrp="1"/>
          </p:cNvSpPr>
          <p:nvPr>
            <p:ph type="title"/>
          </p:nvPr>
        </p:nvSpPr>
        <p:spPr/>
        <p:txBody>
          <a:bodyPr vert="horz" wrap="square" lIns="91440" tIns="45720" rIns="91440" bIns="45720" anchor="ctr" anchorCtr="0"/>
          <a:lstStyle/>
          <a:p>
            <a:pPr eaLnBrk="1" hangingPunct="1"/>
            <a:r>
              <a:rPr lang="zh-CN" altLang="en-US" dirty="0">
                <a:ea typeface="宋体" panose="02010600030101010101" pitchFamily="2" charset="-122"/>
              </a:rPr>
              <a:t>分组密码和序列密码</a:t>
            </a:r>
            <a:endParaRPr lang="zh-CN" altLang="en-US" dirty="0">
              <a:ea typeface="宋体" panose="02010600030101010101" pitchFamily="2" charset="-122"/>
            </a:endParaRPr>
          </a:p>
        </p:txBody>
      </p:sp>
      <p:sp>
        <p:nvSpPr>
          <p:cNvPr id="235523" name="Rectangle 3"/>
          <p:cNvSpPr>
            <a:spLocks noGrp="1"/>
          </p:cNvSpPr>
          <p:nvPr>
            <p:ph idx="1"/>
          </p:nvPr>
        </p:nvSpPr>
        <p:spPr>
          <a:xfrm>
            <a:off x="552450" y="1289050"/>
            <a:ext cx="8159750" cy="3295650"/>
          </a:xfrm>
        </p:spPr>
        <p:txBody>
          <a:bodyPr vert="horz" wrap="square" lIns="91440" tIns="45720" rIns="91440" bIns="45720" anchor="t" anchorCtr="0"/>
          <a:lstStyle/>
          <a:p>
            <a:pPr algn="l" eaLnBrk="1" hangingPunct="1">
              <a:lnSpc>
                <a:spcPct val="200000"/>
              </a:lnSpc>
              <a:buFont typeface="Wingdings" panose="05000000000000000000" pitchFamily="2" charset="2"/>
              <a:buChar char="n"/>
            </a:pPr>
            <a:r>
              <a:rPr lang="zh-CN" altLang="en-US" b="1" dirty="0">
                <a:ea typeface="宋体" panose="02010600030101010101" pitchFamily="2" charset="-122"/>
              </a:rPr>
              <a:t>分组密码（</a:t>
            </a:r>
            <a:r>
              <a:rPr lang="en-US" altLang="zh-CN" b="1" dirty="0">
                <a:ea typeface="宋体" panose="02010600030101010101" pitchFamily="2" charset="-122"/>
              </a:rPr>
              <a:t>Block Cipher</a:t>
            </a:r>
            <a:r>
              <a:rPr lang="zh-CN" altLang="en-US" b="1" dirty="0">
                <a:ea typeface="宋体" panose="02010600030101010101" pitchFamily="2" charset="-122"/>
              </a:rPr>
              <a:t>）</a:t>
            </a:r>
            <a:endParaRPr lang="zh-CN" altLang="en-US" b="1" dirty="0">
              <a:ea typeface="宋体" panose="02010600030101010101" pitchFamily="2" charset="-122"/>
            </a:endParaRPr>
          </a:p>
          <a:p>
            <a:pPr lvl="1" eaLnBrk="1" hangingPunct="1">
              <a:lnSpc>
                <a:spcPct val="200000"/>
              </a:lnSpc>
              <a:buChar char="–"/>
            </a:pPr>
            <a:r>
              <a:rPr lang="zh-CN" altLang="en-US" sz="2400" b="1" dirty="0">
                <a:ea typeface="宋体" panose="02010600030101010101" pitchFamily="2" charset="-122"/>
              </a:rPr>
              <a:t>一次加密或解密操作作用于一个数据块，比如</a:t>
            </a:r>
            <a:r>
              <a:rPr lang="en-US" altLang="zh-CN" sz="2400" b="1" dirty="0">
                <a:ea typeface="宋体" panose="02010600030101010101" pitchFamily="2" charset="-122"/>
              </a:rPr>
              <a:t>64</a:t>
            </a:r>
            <a:r>
              <a:rPr lang="zh-CN" altLang="en-US" sz="2400" b="1" dirty="0">
                <a:ea typeface="宋体" panose="02010600030101010101" pitchFamily="2" charset="-122"/>
              </a:rPr>
              <a:t>位；</a:t>
            </a:r>
            <a:endParaRPr lang="zh-CN" altLang="en-US" sz="2400" b="1" dirty="0">
              <a:ea typeface="宋体" panose="02010600030101010101" pitchFamily="2" charset="-122"/>
            </a:endParaRPr>
          </a:p>
          <a:p>
            <a:pPr algn="l" eaLnBrk="1" hangingPunct="1">
              <a:lnSpc>
                <a:spcPct val="200000"/>
              </a:lnSpc>
              <a:buFont typeface="Wingdings" panose="05000000000000000000" pitchFamily="2" charset="2"/>
              <a:buChar char="n"/>
            </a:pPr>
            <a:r>
              <a:rPr lang="zh-CN" altLang="en-US" b="1" dirty="0">
                <a:ea typeface="宋体" panose="02010600030101010101" pitchFamily="2" charset="-122"/>
              </a:rPr>
              <a:t>序列密码（</a:t>
            </a:r>
            <a:r>
              <a:rPr lang="en-US" altLang="zh-CN" b="1" dirty="0">
                <a:ea typeface="宋体" panose="02010600030101010101" pitchFamily="2" charset="-122"/>
              </a:rPr>
              <a:t>Stream Cipher</a:t>
            </a:r>
            <a:r>
              <a:rPr lang="zh-CN" altLang="en-US" b="1" dirty="0">
                <a:ea typeface="宋体" panose="02010600030101010101" pitchFamily="2" charset="-122"/>
              </a:rPr>
              <a:t>）</a:t>
            </a:r>
            <a:endParaRPr lang="en-US" altLang="zh-CN" b="1" dirty="0">
              <a:ea typeface="宋体" panose="02010600030101010101" pitchFamily="2" charset="-122"/>
            </a:endParaRPr>
          </a:p>
          <a:p>
            <a:pPr lvl="1" eaLnBrk="1" hangingPunct="1">
              <a:lnSpc>
                <a:spcPct val="200000"/>
              </a:lnSpc>
            </a:pPr>
            <a:r>
              <a:rPr lang="zh-CN" altLang="en-US" sz="2400" b="1" dirty="0">
                <a:ea typeface="宋体" panose="02010600030101010101" pitchFamily="2" charset="-122"/>
              </a:rPr>
              <a:t>一次加密或解密操作一位或者一个字节；</a:t>
            </a:r>
            <a:endParaRPr lang="zh-CN" altLang="en-US" sz="2400" b="1"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35523">
                                            <p:txEl>
                                              <p:pRg st="0" end="0"/>
                                            </p:txEl>
                                          </p:spTgt>
                                        </p:tgtEl>
                                        <p:attrNameLst>
                                          <p:attrName>style.visibility</p:attrName>
                                        </p:attrNameLst>
                                      </p:cBhvr>
                                      <p:to>
                                        <p:strVal val="visible"/>
                                      </p:to>
                                    </p:set>
                                    <p:anim calcmode="discrete" valueType="clr">
                                      <p:cBhvr override="childStyle">
                                        <p:cTn id="7" dur="80"/>
                                        <p:tgtEl>
                                          <p:spTgt spid="23552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3552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35523">
                                            <p:txEl>
                                              <p:pRg st="0" end="0"/>
                                            </p:txEl>
                                          </p:spTgt>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235523">
                                            <p:txEl>
                                              <p:pRg st="1" end="1"/>
                                            </p:txEl>
                                          </p:spTgt>
                                        </p:tgtEl>
                                        <p:attrNameLst>
                                          <p:attrName>style.visibility</p:attrName>
                                        </p:attrNameLst>
                                      </p:cBhvr>
                                      <p:to>
                                        <p:strVal val="visible"/>
                                      </p:to>
                                    </p:set>
                                    <p:anim calcmode="discrete" valueType="clr">
                                      <p:cBhvr override="childStyle">
                                        <p:cTn id="12" dur="80"/>
                                        <p:tgtEl>
                                          <p:spTgt spid="23552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35523">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235523">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235523">
                                            <p:txEl>
                                              <p:pRg st="2" end="2"/>
                                            </p:txEl>
                                          </p:spTgt>
                                        </p:tgtEl>
                                        <p:attrNameLst>
                                          <p:attrName>style.visibility</p:attrName>
                                        </p:attrNameLst>
                                      </p:cBhvr>
                                      <p:to>
                                        <p:strVal val="visible"/>
                                      </p:to>
                                    </p:set>
                                    <p:anim calcmode="discrete" valueType="clr">
                                      <p:cBhvr override="childStyle">
                                        <p:cTn id="19" dur="80"/>
                                        <p:tgtEl>
                                          <p:spTgt spid="23552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235523">
                                            <p:txEl>
                                              <p:pRg st="2" end="2"/>
                                            </p:txEl>
                                          </p:spTgt>
                                        </p:tgtEl>
                                        <p:attrNameLst>
                                          <p:attrName>fillcolor</p:attrName>
                                        </p:attrNameLst>
                                      </p:cBhvr>
                                      <p:tavLst>
                                        <p:tav tm="0">
                                          <p:val>
                                            <p:clrVal>
                                              <a:schemeClr val="accent2"/>
                                            </p:clrVal>
                                          </p:val>
                                        </p:tav>
                                        <p:tav tm="50000">
                                          <p:val>
                                            <p:clrVal>
                                              <a:schemeClr val="hlink"/>
                                            </p:clrVal>
                                          </p:val>
                                        </p:tav>
                                      </p:tavLst>
                                    </p:anim>
                                    <p:set>
                                      <p:cBhvr>
                                        <p:cTn id="21" dur="80"/>
                                        <p:tgtEl>
                                          <p:spTgt spid="235523">
                                            <p:txEl>
                                              <p:pRg st="2" end="2"/>
                                            </p:txEl>
                                          </p:spTgt>
                                        </p:tgtEl>
                                        <p:attrNameLst>
                                          <p:attrName>fill.type</p:attrName>
                                        </p:attrNameLst>
                                      </p:cBhvr>
                                      <p:to>
                                        <p:strVal val="solid"/>
                                      </p:to>
                                    </p:set>
                                  </p:childTnLst>
                                </p:cTn>
                              </p:par>
                              <p:par>
                                <p:cTn id="22" presetID="27" presetClass="entr" presetSubtype="0" fill="hold" grpId="0" nodeType="withEffect">
                                  <p:stCondLst>
                                    <p:cond delay="0"/>
                                  </p:stCondLst>
                                  <p:iterate type="lt">
                                    <p:tmPct val="50000"/>
                                  </p:iterate>
                                  <p:childTnLst>
                                    <p:set>
                                      <p:cBhvr>
                                        <p:cTn id="23" dur="1" fill="hold">
                                          <p:stCondLst>
                                            <p:cond delay="0"/>
                                          </p:stCondLst>
                                        </p:cTn>
                                        <p:tgtEl>
                                          <p:spTgt spid="235523">
                                            <p:txEl>
                                              <p:pRg st="3" end="3"/>
                                            </p:txEl>
                                          </p:spTgt>
                                        </p:tgtEl>
                                        <p:attrNameLst>
                                          <p:attrName>style.visibility</p:attrName>
                                        </p:attrNameLst>
                                      </p:cBhvr>
                                      <p:to>
                                        <p:strVal val="visible"/>
                                      </p:to>
                                    </p:set>
                                    <p:anim calcmode="discrete" valueType="clr">
                                      <p:cBhvr override="childStyle">
                                        <p:cTn id="24" dur="80"/>
                                        <p:tgtEl>
                                          <p:spTgt spid="23552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235523">
                                            <p:txEl>
                                              <p:pRg st="3" end="3"/>
                                            </p:txEl>
                                          </p:spTgt>
                                        </p:tgtEl>
                                        <p:attrNameLst>
                                          <p:attrName>fillcolor</p:attrName>
                                        </p:attrNameLst>
                                      </p:cBhvr>
                                      <p:tavLst>
                                        <p:tav tm="0">
                                          <p:val>
                                            <p:clrVal>
                                              <a:schemeClr val="accent2"/>
                                            </p:clrVal>
                                          </p:val>
                                        </p:tav>
                                        <p:tav tm="50000">
                                          <p:val>
                                            <p:clrVal>
                                              <a:schemeClr val="hlink"/>
                                            </p:clrVal>
                                          </p:val>
                                        </p:tav>
                                      </p:tavLst>
                                    </p:anim>
                                    <p:set>
                                      <p:cBhvr>
                                        <p:cTn id="26" dur="80"/>
                                        <p:tgtEl>
                                          <p:spTgt spid="23552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54275" name="Rectangle 2"/>
          <p:cNvSpPr>
            <a:spLocks noGrp="1"/>
          </p:cNvSpPr>
          <p:nvPr>
            <p:ph type="title"/>
          </p:nvPr>
        </p:nvSpPr>
        <p:spPr>
          <a:xfrm>
            <a:off x="0" y="-144462"/>
            <a:ext cx="9144000" cy="1143000"/>
          </a:xfrm>
        </p:spPr>
        <p:txBody>
          <a:bodyPr vert="horz" wrap="square" lIns="91440" tIns="45720" rIns="91440" bIns="45720" anchor="ctr" anchorCtr="0"/>
          <a:lstStyle/>
          <a:p>
            <a:pPr eaLnBrk="1" hangingPunct="1"/>
            <a:r>
              <a:rPr lang="zh-CN" altLang="en-US" dirty="0">
                <a:ea typeface="宋体" panose="02010600030101010101" pitchFamily="2" charset="-122"/>
              </a:rPr>
              <a:t>对称密钥算法简介</a:t>
            </a:r>
            <a:r>
              <a:rPr lang="en-US" altLang="zh-CN" dirty="0">
                <a:ea typeface="宋体" panose="02010600030101010101" pitchFamily="2" charset="-122"/>
              </a:rPr>
              <a:t>(Cont.)</a:t>
            </a:r>
            <a:endParaRPr lang="en-US" altLang="zh-CN" dirty="0">
              <a:ea typeface="宋体" panose="02010600030101010101" pitchFamily="2" charset="-122"/>
            </a:endParaRPr>
          </a:p>
        </p:txBody>
      </p:sp>
      <p:sp>
        <p:nvSpPr>
          <p:cNvPr id="237571" name="Rectangle 3"/>
          <p:cNvSpPr>
            <a:spLocks noGrp="1" noChangeArrowheads="1"/>
          </p:cNvSpPr>
          <p:nvPr>
            <p:ph idx="1"/>
          </p:nvPr>
        </p:nvSpPr>
        <p:spPr>
          <a:xfrm>
            <a:off x="0" y="685800"/>
            <a:ext cx="9055100" cy="5770563"/>
          </a:xfrm>
        </p:spPr>
        <p:txBody>
          <a:bodyPr vert="horz" wrap="square" lIns="91440" tIns="45720" rIns="91440" bIns="45720" numCol="1" anchor="t" anchorCtr="0" compatLnSpc="1"/>
          <a:lstStyle/>
          <a:p>
            <a:pPr marL="609600" marR="0" lvl="0" indent="-609600" algn="l" defTabSz="914400" rtl="0" eaLnBrk="1" fontAlgn="base" latinLnBrk="0" hangingPunct="1">
              <a:lnSpc>
                <a:spcPct val="100000"/>
              </a:lnSpc>
              <a:spcBef>
                <a:spcPct val="20000"/>
              </a:spcBef>
              <a:spcAft>
                <a:spcPct val="0"/>
              </a:spcAft>
              <a:buClr>
                <a:schemeClr val="accent2"/>
              </a:buClr>
              <a:buSzTx/>
              <a:buFontTx/>
              <a:buNone/>
              <a:defRPr/>
            </a:pPr>
            <a:r>
              <a:rPr kumimoji="0" lang="zh-CN" altLang="en-US" sz="2400" b="0" i="0" u="none" strike="noStrike" kern="0" cap="none" spc="0" normalizeH="0" baseline="0" noProof="0" dirty="0">
                <a:ln>
                  <a:noFill/>
                </a:ln>
                <a:solidFill>
                  <a:srgbClr val="FF3300"/>
                </a:solidFill>
                <a:effectLst/>
                <a:uLnTx/>
                <a:uFillTx/>
                <a:latin typeface="+mn-lt"/>
                <a:ea typeface="宋体" panose="02010600030101010101" pitchFamily="2" charset="-122"/>
                <a:cs typeface="+mn-cs"/>
              </a:rPr>
              <a:t>常用对称密钥密码算法：</a:t>
            </a:r>
            <a:endParaRPr kumimoji="0" lang="zh-CN" altLang="en-US" sz="2400" b="0" i="0" u="none" strike="noStrike" kern="0" cap="none" spc="0" normalizeH="0" baseline="0" noProof="0" dirty="0">
              <a:ln>
                <a:noFill/>
              </a:ln>
              <a:solidFill>
                <a:srgbClr val="FF3300"/>
              </a:solidFill>
              <a:effectLst/>
              <a:uLnTx/>
              <a:uFillTx/>
              <a:latin typeface="+mn-lt"/>
              <a:ea typeface="宋体" panose="02010600030101010101" pitchFamily="2" charset="-122"/>
              <a:cs typeface="+mn-cs"/>
            </a:endParaRPr>
          </a:p>
          <a:p>
            <a:pPr marL="990600" marR="0" lvl="1" indent="-5334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DES (Data Encryption Standard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及其各种变形；</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990600" marR="0" lvl="1" indent="-5334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IDEA (International Data Encryption Algorithm)</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990600" marR="0" lvl="1" indent="-5334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RC2, RC4,  RC5</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990600" marR="0" lvl="1" indent="-5334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AES(Advanced Encryption Standard)</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990600" marR="0" lvl="1" indent="-5334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CAST-128</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990600" marR="0" lvl="1" indent="-5334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Blowfish</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990600" marR="0" lvl="1" indent="-5334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AES</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DES</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算法介绍</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70</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年代初由</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IBM </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提出，</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80</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年代成为国家数据加密标准；</a:t>
            </a:r>
            <a:endPar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DES</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密钥长度有</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40</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56</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位等。</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56</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位加上奇偶校验通常为</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64</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位；它也是一种分组加密算法，</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64 </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位为一个分组。</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基本思想：混乱（</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Confusion</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和扩散（</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Diffusion </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Char char="•"/>
              <a:defRPr/>
            </a:pPr>
            <a:endParaRPr kumimoji="0" lang="zh-CN" altLang="en-US"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37571">
                                            <p:txEl>
                                              <p:pRg st="0" end="0"/>
                                            </p:txEl>
                                          </p:spTgt>
                                        </p:tgtEl>
                                        <p:attrNameLst>
                                          <p:attrName>style.visibility</p:attrName>
                                        </p:attrNameLst>
                                      </p:cBhvr>
                                      <p:to>
                                        <p:strVal val="visible"/>
                                      </p:to>
                                    </p:set>
                                    <p:anim calcmode="discrete" valueType="clr">
                                      <p:cBhvr override="childStyle">
                                        <p:cTn id="7" dur="80"/>
                                        <p:tgtEl>
                                          <p:spTgt spid="23757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37571">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37571">
                                            <p:txEl>
                                              <p:pRg st="0" end="0"/>
                                            </p:txEl>
                                          </p:spTgt>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237571">
                                            <p:txEl>
                                              <p:pRg st="1" end="1"/>
                                            </p:txEl>
                                          </p:spTgt>
                                        </p:tgtEl>
                                        <p:attrNameLst>
                                          <p:attrName>style.visibility</p:attrName>
                                        </p:attrNameLst>
                                      </p:cBhvr>
                                      <p:to>
                                        <p:strVal val="visible"/>
                                      </p:to>
                                    </p:set>
                                    <p:anim calcmode="discrete" valueType="clr">
                                      <p:cBhvr override="childStyle">
                                        <p:cTn id="12" dur="80"/>
                                        <p:tgtEl>
                                          <p:spTgt spid="23757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37571">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237571">
                                            <p:txEl>
                                              <p:pRg st="1" end="1"/>
                                            </p:txEl>
                                          </p:spTgt>
                                        </p:tgtEl>
                                        <p:attrNameLst>
                                          <p:attrName>fill.type</p:attrName>
                                        </p:attrNameLst>
                                      </p:cBhvr>
                                      <p:to>
                                        <p:strVal val="solid"/>
                                      </p:to>
                                    </p:set>
                                  </p:childTnLst>
                                </p:cTn>
                              </p:par>
                              <p:par>
                                <p:cTn id="15" presetID="27" presetClass="entr" presetSubtype="0" fill="hold" grpId="0" nodeType="withEffect">
                                  <p:stCondLst>
                                    <p:cond delay="0"/>
                                  </p:stCondLst>
                                  <p:iterate type="lt">
                                    <p:tmPct val="50000"/>
                                  </p:iterate>
                                  <p:childTnLst>
                                    <p:set>
                                      <p:cBhvr>
                                        <p:cTn id="16" dur="1" fill="hold">
                                          <p:stCondLst>
                                            <p:cond delay="0"/>
                                          </p:stCondLst>
                                        </p:cTn>
                                        <p:tgtEl>
                                          <p:spTgt spid="237571">
                                            <p:txEl>
                                              <p:pRg st="2" end="2"/>
                                            </p:txEl>
                                          </p:spTgt>
                                        </p:tgtEl>
                                        <p:attrNameLst>
                                          <p:attrName>style.visibility</p:attrName>
                                        </p:attrNameLst>
                                      </p:cBhvr>
                                      <p:to>
                                        <p:strVal val="visible"/>
                                      </p:to>
                                    </p:set>
                                    <p:anim calcmode="discrete" valueType="clr">
                                      <p:cBhvr override="childStyle">
                                        <p:cTn id="17" dur="80"/>
                                        <p:tgtEl>
                                          <p:spTgt spid="23757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237571">
                                            <p:txEl>
                                              <p:pRg st="2" end="2"/>
                                            </p:txEl>
                                          </p:spTgt>
                                        </p:tgtEl>
                                        <p:attrNameLst>
                                          <p:attrName>fillcolor</p:attrName>
                                        </p:attrNameLst>
                                      </p:cBhvr>
                                      <p:tavLst>
                                        <p:tav tm="0">
                                          <p:val>
                                            <p:clrVal>
                                              <a:schemeClr val="accent2"/>
                                            </p:clrVal>
                                          </p:val>
                                        </p:tav>
                                        <p:tav tm="50000">
                                          <p:val>
                                            <p:clrVal>
                                              <a:schemeClr val="hlink"/>
                                            </p:clrVal>
                                          </p:val>
                                        </p:tav>
                                      </p:tavLst>
                                    </p:anim>
                                    <p:set>
                                      <p:cBhvr>
                                        <p:cTn id="19" dur="80"/>
                                        <p:tgtEl>
                                          <p:spTgt spid="237571">
                                            <p:txEl>
                                              <p:pRg st="2" end="2"/>
                                            </p:txEl>
                                          </p:spTgt>
                                        </p:tgtEl>
                                        <p:attrNameLst>
                                          <p:attrName>fill.type</p:attrName>
                                        </p:attrNameLst>
                                      </p:cBhvr>
                                      <p:to>
                                        <p:strVal val="solid"/>
                                      </p:to>
                                    </p:set>
                                  </p:childTnLst>
                                </p:cTn>
                              </p:par>
                              <p:par>
                                <p:cTn id="20" presetID="27" presetClass="entr" presetSubtype="0" fill="hold" grpId="0" nodeType="withEffect">
                                  <p:stCondLst>
                                    <p:cond delay="0"/>
                                  </p:stCondLst>
                                  <p:iterate type="lt">
                                    <p:tmPct val="50000"/>
                                  </p:iterate>
                                  <p:childTnLst>
                                    <p:set>
                                      <p:cBhvr>
                                        <p:cTn id="21" dur="1" fill="hold">
                                          <p:stCondLst>
                                            <p:cond delay="0"/>
                                          </p:stCondLst>
                                        </p:cTn>
                                        <p:tgtEl>
                                          <p:spTgt spid="237571">
                                            <p:txEl>
                                              <p:pRg st="3" end="3"/>
                                            </p:txEl>
                                          </p:spTgt>
                                        </p:tgtEl>
                                        <p:attrNameLst>
                                          <p:attrName>style.visibility</p:attrName>
                                        </p:attrNameLst>
                                      </p:cBhvr>
                                      <p:to>
                                        <p:strVal val="visible"/>
                                      </p:to>
                                    </p:set>
                                    <p:anim calcmode="discrete" valueType="clr">
                                      <p:cBhvr override="childStyle">
                                        <p:cTn id="22" dur="80"/>
                                        <p:tgtEl>
                                          <p:spTgt spid="23757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237571">
                                            <p:txEl>
                                              <p:pRg st="3" end="3"/>
                                            </p:txEl>
                                          </p:spTgt>
                                        </p:tgtEl>
                                        <p:attrNameLst>
                                          <p:attrName>fillcolor</p:attrName>
                                        </p:attrNameLst>
                                      </p:cBhvr>
                                      <p:tavLst>
                                        <p:tav tm="0">
                                          <p:val>
                                            <p:clrVal>
                                              <a:schemeClr val="accent2"/>
                                            </p:clrVal>
                                          </p:val>
                                        </p:tav>
                                        <p:tav tm="50000">
                                          <p:val>
                                            <p:clrVal>
                                              <a:schemeClr val="hlink"/>
                                            </p:clrVal>
                                          </p:val>
                                        </p:tav>
                                      </p:tavLst>
                                    </p:anim>
                                    <p:set>
                                      <p:cBhvr>
                                        <p:cTn id="24" dur="80"/>
                                        <p:tgtEl>
                                          <p:spTgt spid="237571">
                                            <p:txEl>
                                              <p:pRg st="3" end="3"/>
                                            </p:txEl>
                                          </p:spTgt>
                                        </p:tgtEl>
                                        <p:attrNameLst>
                                          <p:attrName>fill.type</p:attrName>
                                        </p:attrNameLst>
                                      </p:cBhvr>
                                      <p:to>
                                        <p:strVal val="solid"/>
                                      </p:to>
                                    </p:set>
                                  </p:childTnLst>
                                </p:cTn>
                              </p:par>
                              <p:par>
                                <p:cTn id="25" presetID="27" presetClass="entr" presetSubtype="0" fill="hold" grpId="0" nodeType="withEffect">
                                  <p:stCondLst>
                                    <p:cond delay="0"/>
                                  </p:stCondLst>
                                  <p:iterate type="lt">
                                    <p:tmPct val="50000"/>
                                  </p:iterate>
                                  <p:childTnLst>
                                    <p:set>
                                      <p:cBhvr>
                                        <p:cTn id="26" dur="1" fill="hold">
                                          <p:stCondLst>
                                            <p:cond delay="0"/>
                                          </p:stCondLst>
                                        </p:cTn>
                                        <p:tgtEl>
                                          <p:spTgt spid="237571">
                                            <p:txEl>
                                              <p:pRg st="4" end="4"/>
                                            </p:txEl>
                                          </p:spTgt>
                                        </p:tgtEl>
                                        <p:attrNameLst>
                                          <p:attrName>style.visibility</p:attrName>
                                        </p:attrNameLst>
                                      </p:cBhvr>
                                      <p:to>
                                        <p:strVal val="visible"/>
                                      </p:to>
                                    </p:set>
                                    <p:anim calcmode="discrete" valueType="clr">
                                      <p:cBhvr override="childStyle">
                                        <p:cTn id="27" dur="80"/>
                                        <p:tgtEl>
                                          <p:spTgt spid="23757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237571">
                                            <p:txEl>
                                              <p:pRg st="4" end="4"/>
                                            </p:txEl>
                                          </p:spTgt>
                                        </p:tgtEl>
                                        <p:attrNameLst>
                                          <p:attrName>fillcolor</p:attrName>
                                        </p:attrNameLst>
                                      </p:cBhvr>
                                      <p:tavLst>
                                        <p:tav tm="0">
                                          <p:val>
                                            <p:clrVal>
                                              <a:schemeClr val="accent2"/>
                                            </p:clrVal>
                                          </p:val>
                                        </p:tav>
                                        <p:tav tm="50000">
                                          <p:val>
                                            <p:clrVal>
                                              <a:schemeClr val="hlink"/>
                                            </p:clrVal>
                                          </p:val>
                                        </p:tav>
                                      </p:tavLst>
                                    </p:anim>
                                    <p:set>
                                      <p:cBhvr>
                                        <p:cTn id="29" dur="80"/>
                                        <p:tgtEl>
                                          <p:spTgt spid="237571">
                                            <p:txEl>
                                              <p:pRg st="4" end="4"/>
                                            </p:txEl>
                                          </p:spTgt>
                                        </p:tgtEl>
                                        <p:attrNameLst>
                                          <p:attrName>fill.type</p:attrName>
                                        </p:attrNameLst>
                                      </p:cBhvr>
                                      <p:to>
                                        <p:strVal val="solid"/>
                                      </p:to>
                                    </p:set>
                                  </p:childTnLst>
                                </p:cTn>
                              </p:par>
                              <p:par>
                                <p:cTn id="30" presetID="27" presetClass="entr" presetSubtype="0" fill="hold" grpId="0" nodeType="withEffect">
                                  <p:stCondLst>
                                    <p:cond delay="0"/>
                                  </p:stCondLst>
                                  <p:iterate type="lt">
                                    <p:tmPct val="50000"/>
                                  </p:iterate>
                                  <p:childTnLst>
                                    <p:set>
                                      <p:cBhvr>
                                        <p:cTn id="31" dur="1" fill="hold">
                                          <p:stCondLst>
                                            <p:cond delay="0"/>
                                          </p:stCondLst>
                                        </p:cTn>
                                        <p:tgtEl>
                                          <p:spTgt spid="237571">
                                            <p:txEl>
                                              <p:pRg st="5" end="5"/>
                                            </p:txEl>
                                          </p:spTgt>
                                        </p:tgtEl>
                                        <p:attrNameLst>
                                          <p:attrName>style.visibility</p:attrName>
                                        </p:attrNameLst>
                                      </p:cBhvr>
                                      <p:to>
                                        <p:strVal val="visible"/>
                                      </p:to>
                                    </p:set>
                                    <p:anim calcmode="discrete" valueType="clr">
                                      <p:cBhvr override="childStyle">
                                        <p:cTn id="32" dur="80"/>
                                        <p:tgtEl>
                                          <p:spTgt spid="237571">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237571">
                                            <p:txEl>
                                              <p:pRg st="5" end="5"/>
                                            </p:txEl>
                                          </p:spTgt>
                                        </p:tgtEl>
                                        <p:attrNameLst>
                                          <p:attrName>fillcolor</p:attrName>
                                        </p:attrNameLst>
                                      </p:cBhvr>
                                      <p:tavLst>
                                        <p:tav tm="0">
                                          <p:val>
                                            <p:clrVal>
                                              <a:schemeClr val="accent2"/>
                                            </p:clrVal>
                                          </p:val>
                                        </p:tav>
                                        <p:tav tm="50000">
                                          <p:val>
                                            <p:clrVal>
                                              <a:schemeClr val="hlink"/>
                                            </p:clrVal>
                                          </p:val>
                                        </p:tav>
                                      </p:tavLst>
                                    </p:anim>
                                    <p:set>
                                      <p:cBhvr>
                                        <p:cTn id="34" dur="80"/>
                                        <p:tgtEl>
                                          <p:spTgt spid="237571">
                                            <p:txEl>
                                              <p:pRg st="5" end="5"/>
                                            </p:txEl>
                                          </p:spTgt>
                                        </p:tgtEl>
                                        <p:attrNameLst>
                                          <p:attrName>fill.type</p:attrName>
                                        </p:attrNameLst>
                                      </p:cBhvr>
                                      <p:to>
                                        <p:strVal val="solid"/>
                                      </p:to>
                                    </p:set>
                                  </p:childTnLst>
                                </p:cTn>
                              </p:par>
                              <p:par>
                                <p:cTn id="35" presetID="27" presetClass="entr" presetSubtype="0" fill="hold" grpId="0" nodeType="withEffect">
                                  <p:stCondLst>
                                    <p:cond delay="0"/>
                                  </p:stCondLst>
                                  <p:iterate type="lt">
                                    <p:tmPct val="50000"/>
                                  </p:iterate>
                                  <p:childTnLst>
                                    <p:set>
                                      <p:cBhvr>
                                        <p:cTn id="36" dur="1" fill="hold">
                                          <p:stCondLst>
                                            <p:cond delay="0"/>
                                          </p:stCondLst>
                                        </p:cTn>
                                        <p:tgtEl>
                                          <p:spTgt spid="237571">
                                            <p:txEl>
                                              <p:pRg st="6" end="6"/>
                                            </p:txEl>
                                          </p:spTgt>
                                        </p:tgtEl>
                                        <p:attrNameLst>
                                          <p:attrName>style.visibility</p:attrName>
                                        </p:attrNameLst>
                                      </p:cBhvr>
                                      <p:to>
                                        <p:strVal val="visible"/>
                                      </p:to>
                                    </p:set>
                                    <p:anim calcmode="discrete" valueType="clr">
                                      <p:cBhvr override="childStyle">
                                        <p:cTn id="37" dur="80"/>
                                        <p:tgtEl>
                                          <p:spTgt spid="237571">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237571">
                                            <p:txEl>
                                              <p:pRg st="6" end="6"/>
                                            </p:txEl>
                                          </p:spTgt>
                                        </p:tgtEl>
                                        <p:attrNameLst>
                                          <p:attrName>fillcolor</p:attrName>
                                        </p:attrNameLst>
                                      </p:cBhvr>
                                      <p:tavLst>
                                        <p:tav tm="0">
                                          <p:val>
                                            <p:clrVal>
                                              <a:schemeClr val="accent2"/>
                                            </p:clrVal>
                                          </p:val>
                                        </p:tav>
                                        <p:tav tm="50000">
                                          <p:val>
                                            <p:clrVal>
                                              <a:schemeClr val="hlink"/>
                                            </p:clrVal>
                                          </p:val>
                                        </p:tav>
                                      </p:tavLst>
                                    </p:anim>
                                    <p:set>
                                      <p:cBhvr>
                                        <p:cTn id="39" dur="80"/>
                                        <p:tgtEl>
                                          <p:spTgt spid="237571">
                                            <p:txEl>
                                              <p:pRg st="6" end="6"/>
                                            </p:txEl>
                                          </p:spTgt>
                                        </p:tgtEl>
                                        <p:attrNameLst>
                                          <p:attrName>fill.type</p:attrName>
                                        </p:attrNameLst>
                                      </p:cBhvr>
                                      <p:to>
                                        <p:strVal val="solid"/>
                                      </p:to>
                                    </p:set>
                                  </p:childTnLst>
                                </p:cTn>
                              </p:par>
                              <p:par>
                                <p:cTn id="40" presetID="27" presetClass="entr" presetSubtype="0" fill="hold" grpId="0" nodeType="withEffect">
                                  <p:stCondLst>
                                    <p:cond delay="0"/>
                                  </p:stCondLst>
                                  <p:iterate type="lt">
                                    <p:tmPct val="50000"/>
                                  </p:iterate>
                                  <p:childTnLst>
                                    <p:set>
                                      <p:cBhvr>
                                        <p:cTn id="41" dur="1" fill="hold">
                                          <p:stCondLst>
                                            <p:cond delay="0"/>
                                          </p:stCondLst>
                                        </p:cTn>
                                        <p:tgtEl>
                                          <p:spTgt spid="237571">
                                            <p:txEl>
                                              <p:pRg st="7" end="7"/>
                                            </p:txEl>
                                          </p:spTgt>
                                        </p:tgtEl>
                                        <p:attrNameLst>
                                          <p:attrName>style.visibility</p:attrName>
                                        </p:attrNameLst>
                                      </p:cBhvr>
                                      <p:to>
                                        <p:strVal val="visible"/>
                                      </p:to>
                                    </p:set>
                                    <p:anim calcmode="discrete" valueType="clr">
                                      <p:cBhvr override="childStyle">
                                        <p:cTn id="42" dur="80"/>
                                        <p:tgtEl>
                                          <p:spTgt spid="237571">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237571">
                                            <p:txEl>
                                              <p:pRg st="7" end="7"/>
                                            </p:txEl>
                                          </p:spTgt>
                                        </p:tgtEl>
                                        <p:attrNameLst>
                                          <p:attrName>fillcolor</p:attrName>
                                        </p:attrNameLst>
                                      </p:cBhvr>
                                      <p:tavLst>
                                        <p:tav tm="0">
                                          <p:val>
                                            <p:clrVal>
                                              <a:schemeClr val="accent2"/>
                                            </p:clrVal>
                                          </p:val>
                                        </p:tav>
                                        <p:tav tm="50000">
                                          <p:val>
                                            <p:clrVal>
                                              <a:schemeClr val="hlink"/>
                                            </p:clrVal>
                                          </p:val>
                                        </p:tav>
                                      </p:tavLst>
                                    </p:anim>
                                    <p:set>
                                      <p:cBhvr>
                                        <p:cTn id="44" dur="80"/>
                                        <p:tgtEl>
                                          <p:spTgt spid="237571">
                                            <p:txEl>
                                              <p:pRg st="7" end="7"/>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grpId="0" nodeType="clickEffect">
                                  <p:stCondLst>
                                    <p:cond delay="0"/>
                                  </p:stCondLst>
                                  <p:iterate type="lt">
                                    <p:tmPct val="50000"/>
                                  </p:iterate>
                                  <p:childTnLst>
                                    <p:set>
                                      <p:cBhvr>
                                        <p:cTn id="48" dur="1" fill="hold">
                                          <p:stCondLst>
                                            <p:cond delay="0"/>
                                          </p:stCondLst>
                                        </p:cTn>
                                        <p:tgtEl>
                                          <p:spTgt spid="237571">
                                            <p:txEl>
                                              <p:pRg st="8" end="8"/>
                                            </p:txEl>
                                          </p:spTgt>
                                        </p:tgtEl>
                                        <p:attrNameLst>
                                          <p:attrName>style.visibility</p:attrName>
                                        </p:attrNameLst>
                                      </p:cBhvr>
                                      <p:to>
                                        <p:strVal val="visible"/>
                                      </p:to>
                                    </p:set>
                                    <p:anim calcmode="discrete" valueType="clr">
                                      <p:cBhvr override="childStyle">
                                        <p:cTn id="49" dur="80"/>
                                        <p:tgtEl>
                                          <p:spTgt spid="237571">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237571">
                                            <p:txEl>
                                              <p:pRg st="8" end="8"/>
                                            </p:txEl>
                                          </p:spTgt>
                                        </p:tgtEl>
                                        <p:attrNameLst>
                                          <p:attrName>fillcolor</p:attrName>
                                        </p:attrNameLst>
                                      </p:cBhvr>
                                      <p:tavLst>
                                        <p:tav tm="0">
                                          <p:val>
                                            <p:clrVal>
                                              <a:schemeClr val="accent2"/>
                                            </p:clrVal>
                                          </p:val>
                                        </p:tav>
                                        <p:tav tm="50000">
                                          <p:val>
                                            <p:clrVal>
                                              <a:schemeClr val="hlink"/>
                                            </p:clrVal>
                                          </p:val>
                                        </p:tav>
                                      </p:tavLst>
                                    </p:anim>
                                    <p:set>
                                      <p:cBhvr>
                                        <p:cTn id="51" dur="80"/>
                                        <p:tgtEl>
                                          <p:spTgt spid="237571">
                                            <p:txEl>
                                              <p:pRg st="8" end="8"/>
                                            </p:txEl>
                                          </p:spTgt>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27" presetClass="entr" presetSubtype="0" fill="hold" grpId="0" nodeType="clickEffect">
                                  <p:stCondLst>
                                    <p:cond delay="0"/>
                                  </p:stCondLst>
                                  <p:iterate type="lt">
                                    <p:tmPct val="50000"/>
                                  </p:iterate>
                                  <p:childTnLst>
                                    <p:set>
                                      <p:cBhvr>
                                        <p:cTn id="55" dur="1" fill="hold">
                                          <p:stCondLst>
                                            <p:cond delay="0"/>
                                          </p:stCondLst>
                                        </p:cTn>
                                        <p:tgtEl>
                                          <p:spTgt spid="237571">
                                            <p:txEl>
                                              <p:pRg st="9" end="9"/>
                                            </p:txEl>
                                          </p:spTgt>
                                        </p:tgtEl>
                                        <p:attrNameLst>
                                          <p:attrName>style.visibility</p:attrName>
                                        </p:attrNameLst>
                                      </p:cBhvr>
                                      <p:to>
                                        <p:strVal val="visible"/>
                                      </p:to>
                                    </p:set>
                                    <p:anim calcmode="discrete" valueType="clr">
                                      <p:cBhvr override="childStyle">
                                        <p:cTn id="56" dur="80"/>
                                        <p:tgtEl>
                                          <p:spTgt spid="237571">
                                            <p:txEl>
                                              <p:p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237571">
                                            <p:txEl>
                                              <p:pRg st="9" end="9"/>
                                            </p:txEl>
                                          </p:spTgt>
                                        </p:tgtEl>
                                        <p:attrNameLst>
                                          <p:attrName>fillcolor</p:attrName>
                                        </p:attrNameLst>
                                      </p:cBhvr>
                                      <p:tavLst>
                                        <p:tav tm="0">
                                          <p:val>
                                            <p:clrVal>
                                              <a:schemeClr val="accent2"/>
                                            </p:clrVal>
                                          </p:val>
                                        </p:tav>
                                        <p:tav tm="50000">
                                          <p:val>
                                            <p:clrVal>
                                              <a:schemeClr val="hlink"/>
                                            </p:clrVal>
                                          </p:val>
                                        </p:tav>
                                      </p:tavLst>
                                    </p:anim>
                                    <p:set>
                                      <p:cBhvr>
                                        <p:cTn id="58" dur="80"/>
                                        <p:tgtEl>
                                          <p:spTgt spid="237571">
                                            <p:txEl>
                                              <p:pRg st="9" end="9"/>
                                            </p:txEl>
                                          </p:spTgt>
                                        </p:tgtEl>
                                        <p:attrNameLst>
                                          <p:attrName>fill.type</p:attrName>
                                        </p:attrNameLst>
                                      </p:cBhvr>
                                      <p:to>
                                        <p:strVal val="solid"/>
                                      </p:to>
                                    </p:set>
                                  </p:childTnLst>
                                </p:cTn>
                              </p:par>
                            </p:childTnLst>
                          </p:cTn>
                        </p:par>
                      </p:childTnLst>
                    </p:cTn>
                  </p:par>
                  <p:par>
                    <p:cTn id="59" fill="hold">
                      <p:stCondLst>
                        <p:cond delay="indefinite"/>
                      </p:stCondLst>
                      <p:childTnLst>
                        <p:par>
                          <p:cTn id="60" fill="hold">
                            <p:stCondLst>
                              <p:cond delay="0"/>
                            </p:stCondLst>
                            <p:childTnLst>
                              <p:par>
                                <p:cTn id="61" presetID="27" presetClass="entr" presetSubtype="0" fill="hold" grpId="0" nodeType="clickEffect">
                                  <p:stCondLst>
                                    <p:cond delay="0"/>
                                  </p:stCondLst>
                                  <p:iterate type="lt">
                                    <p:tmPct val="50000"/>
                                  </p:iterate>
                                  <p:childTnLst>
                                    <p:set>
                                      <p:cBhvr>
                                        <p:cTn id="62" dur="1" fill="hold">
                                          <p:stCondLst>
                                            <p:cond delay="0"/>
                                          </p:stCondLst>
                                        </p:cTn>
                                        <p:tgtEl>
                                          <p:spTgt spid="237571">
                                            <p:txEl>
                                              <p:pRg st="10" end="10"/>
                                            </p:txEl>
                                          </p:spTgt>
                                        </p:tgtEl>
                                        <p:attrNameLst>
                                          <p:attrName>style.visibility</p:attrName>
                                        </p:attrNameLst>
                                      </p:cBhvr>
                                      <p:to>
                                        <p:strVal val="visible"/>
                                      </p:to>
                                    </p:set>
                                    <p:anim calcmode="discrete" valueType="clr">
                                      <p:cBhvr override="childStyle">
                                        <p:cTn id="63" dur="80"/>
                                        <p:tgtEl>
                                          <p:spTgt spid="237571">
                                            <p:txEl>
                                              <p:pRg st="10" end="1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4" dur="80"/>
                                        <p:tgtEl>
                                          <p:spTgt spid="237571">
                                            <p:txEl>
                                              <p:pRg st="10" end="10"/>
                                            </p:txEl>
                                          </p:spTgt>
                                        </p:tgtEl>
                                        <p:attrNameLst>
                                          <p:attrName>fillcolor</p:attrName>
                                        </p:attrNameLst>
                                      </p:cBhvr>
                                      <p:tavLst>
                                        <p:tav tm="0">
                                          <p:val>
                                            <p:clrVal>
                                              <a:schemeClr val="accent2"/>
                                            </p:clrVal>
                                          </p:val>
                                        </p:tav>
                                        <p:tav tm="50000">
                                          <p:val>
                                            <p:clrVal>
                                              <a:schemeClr val="hlink"/>
                                            </p:clrVal>
                                          </p:val>
                                        </p:tav>
                                      </p:tavLst>
                                    </p:anim>
                                    <p:set>
                                      <p:cBhvr>
                                        <p:cTn id="65" dur="80"/>
                                        <p:tgtEl>
                                          <p:spTgt spid="237571">
                                            <p:txEl>
                                              <p:pRg st="10" end="10"/>
                                            </p:txEl>
                                          </p:spTgt>
                                        </p:tgtEl>
                                        <p:attrNameLst>
                                          <p:attrName>fill.type</p:attrName>
                                        </p:attrNameLst>
                                      </p:cBhvr>
                                      <p:to>
                                        <p:strVal val="solid"/>
                                      </p:to>
                                    </p:set>
                                  </p:childTnLst>
                                </p:cTn>
                              </p:par>
                            </p:childTnLst>
                          </p:cTn>
                        </p:par>
                      </p:childTnLst>
                    </p:cTn>
                  </p:par>
                  <p:par>
                    <p:cTn id="66" fill="hold">
                      <p:stCondLst>
                        <p:cond delay="indefinite"/>
                      </p:stCondLst>
                      <p:childTnLst>
                        <p:par>
                          <p:cTn id="67" fill="hold">
                            <p:stCondLst>
                              <p:cond delay="0"/>
                            </p:stCondLst>
                            <p:childTnLst>
                              <p:par>
                                <p:cTn id="68" presetID="27" presetClass="entr" presetSubtype="0" fill="hold" grpId="0" nodeType="clickEffect">
                                  <p:stCondLst>
                                    <p:cond delay="0"/>
                                  </p:stCondLst>
                                  <p:iterate type="lt">
                                    <p:tmPct val="50000"/>
                                  </p:iterate>
                                  <p:childTnLst>
                                    <p:set>
                                      <p:cBhvr>
                                        <p:cTn id="69" dur="1" fill="hold">
                                          <p:stCondLst>
                                            <p:cond delay="0"/>
                                          </p:stCondLst>
                                        </p:cTn>
                                        <p:tgtEl>
                                          <p:spTgt spid="237571">
                                            <p:txEl>
                                              <p:pRg st="11" end="11"/>
                                            </p:txEl>
                                          </p:spTgt>
                                        </p:tgtEl>
                                        <p:attrNameLst>
                                          <p:attrName>style.visibility</p:attrName>
                                        </p:attrNameLst>
                                      </p:cBhvr>
                                      <p:to>
                                        <p:strVal val="visible"/>
                                      </p:to>
                                    </p:set>
                                    <p:anim calcmode="discrete" valueType="clr">
                                      <p:cBhvr override="childStyle">
                                        <p:cTn id="70" dur="80"/>
                                        <p:tgtEl>
                                          <p:spTgt spid="237571">
                                            <p:txEl>
                                              <p:pRg st="11" end="1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1" dur="80"/>
                                        <p:tgtEl>
                                          <p:spTgt spid="237571">
                                            <p:txEl>
                                              <p:pRg st="11" end="11"/>
                                            </p:txEl>
                                          </p:spTgt>
                                        </p:tgtEl>
                                        <p:attrNameLst>
                                          <p:attrName>fillcolor</p:attrName>
                                        </p:attrNameLst>
                                      </p:cBhvr>
                                      <p:tavLst>
                                        <p:tav tm="0">
                                          <p:val>
                                            <p:clrVal>
                                              <a:schemeClr val="accent2"/>
                                            </p:clrVal>
                                          </p:val>
                                        </p:tav>
                                        <p:tav tm="50000">
                                          <p:val>
                                            <p:clrVal>
                                              <a:schemeClr val="hlink"/>
                                            </p:clrVal>
                                          </p:val>
                                        </p:tav>
                                      </p:tavLst>
                                    </p:anim>
                                    <p:set>
                                      <p:cBhvr>
                                        <p:cTn id="72" dur="80"/>
                                        <p:tgtEl>
                                          <p:spTgt spid="237571">
                                            <p:txEl>
                                              <p:pRg st="11" end="11"/>
                                            </p:txEl>
                                          </p:spTgt>
                                        </p:tgtEl>
                                        <p:attrNameLst>
                                          <p:attrName>fill.type</p:attrName>
                                        </p:attrNameLst>
                                      </p:cBhvr>
                                      <p:to>
                                        <p:strVal val="solid"/>
                                      </p:to>
                                    </p:set>
                                  </p:childTnLst>
                                </p:cTn>
                              </p:par>
                              <p:par>
                                <p:cTn id="73" presetID="27" presetClass="entr" presetSubtype="0" fill="hold" nodeType="withEffect">
                                  <p:stCondLst>
                                    <p:cond delay="0"/>
                                  </p:stCondLst>
                                  <p:iterate type="lt">
                                    <p:tmPct val="50000"/>
                                  </p:iterate>
                                  <p:childTnLst>
                                    <p:set>
                                      <p:cBhvr>
                                        <p:cTn id="74" dur="1" fill="hold">
                                          <p:stCondLst>
                                            <p:cond delay="0"/>
                                          </p:stCondLst>
                                        </p:cTn>
                                        <p:tgtEl>
                                          <p:spTgt spid="237571">
                                            <p:txEl>
                                              <p:pRg st="2" end="2"/>
                                            </p:txEl>
                                          </p:spTgt>
                                        </p:tgtEl>
                                        <p:attrNameLst>
                                          <p:attrName>style.visibility</p:attrName>
                                        </p:attrNameLst>
                                      </p:cBhvr>
                                      <p:to>
                                        <p:strVal val="visible"/>
                                      </p:to>
                                    </p:set>
                                    <p:anim calcmode="discrete" valueType="clr">
                                      <p:cBhvr override="childStyle">
                                        <p:cTn id="75" dur="80"/>
                                        <p:tgtEl>
                                          <p:spTgt spid="23757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6" dur="80"/>
                                        <p:tgtEl>
                                          <p:spTgt spid="237571">
                                            <p:txEl>
                                              <p:pRg st="2" end="2"/>
                                            </p:txEl>
                                          </p:spTgt>
                                        </p:tgtEl>
                                        <p:attrNameLst>
                                          <p:attrName>fillcolor</p:attrName>
                                        </p:attrNameLst>
                                      </p:cBhvr>
                                      <p:tavLst>
                                        <p:tav tm="0">
                                          <p:val>
                                            <p:clrVal>
                                              <a:schemeClr val="accent2"/>
                                            </p:clrVal>
                                          </p:val>
                                        </p:tav>
                                        <p:tav tm="50000">
                                          <p:val>
                                            <p:clrVal>
                                              <a:schemeClr val="hlink"/>
                                            </p:clrVal>
                                          </p:val>
                                        </p:tav>
                                      </p:tavLst>
                                    </p:anim>
                                    <p:set>
                                      <p:cBhvr>
                                        <p:cTn id="77" dur="80"/>
                                        <p:tgtEl>
                                          <p:spTgt spid="237571">
                                            <p:txEl>
                                              <p:pRg st="2" end="2"/>
                                            </p:txEl>
                                          </p:spTgt>
                                        </p:tgtEl>
                                        <p:attrNameLst>
                                          <p:attrName>fill.type</p:attrName>
                                        </p:attrNameLst>
                                      </p:cBhvr>
                                      <p:to>
                                        <p:strVal val="solid"/>
                                      </p:to>
                                    </p:set>
                                  </p:childTnLst>
                                </p:cTn>
                              </p:par>
                              <p:par>
                                <p:cTn id="78" presetID="27" presetClass="entr" presetSubtype="0" fill="hold" nodeType="withEffect">
                                  <p:stCondLst>
                                    <p:cond delay="0"/>
                                  </p:stCondLst>
                                  <p:iterate type="lt">
                                    <p:tmPct val="50000"/>
                                  </p:iterate>
                                  <p:childTnLst>
                                    <p:set>
                                      <p:cBhvr>
                                        <p:cTn id="79" dur="1" fill="hold">
                                          <p:stCondLst>
                                            <p:cond delay="0"/>
                                          </p:stCondLst>
                                        </p:cTn>
                                        <p:tgtEl>
                                          <p:spTgt spid="237571">
                                            <p:txEl>
                                              <p:pRg st="3" end="3"/>
                                            </p:txEl>
                                          </p:spTgt>
                                        </p:tgtEl>
                                        <p:attrNameLst>
                                          <p:attrName>style.visibility</p:attrName>
                                        </p:attrNameLst>
                                      </p:cBhvr>
                                      <p:to>
                                        <p:strVal val="visible"/>
                                      </p:to>
                                    </p:set>
                                    <p:anim calcmode="discrete" valueType="clr">
                                      <p:cBhvr override="childStyle">
                                        <p:cTn id="80" dur="80"/>
                                        <p:tgtEl>
                                          <p:spTgt spid="23757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1" dur="80"/>
                                        <p:tgtEl>
                                          <p:spTgt spid="237571">
                                            <p:txEl>
                                              <p:pRg st="3" end="3"/>
                                            </p:txEl>
                                          </p:spTgt>
                                        </p:tgtEl>
                                        <p:attrNameLst>
                                          <p:attrName>fillcolor</p:attrName>
                                        </p:attrNameLst>
                                      </p:cBhvr>
                                      <p:tavLst>
                                        <p:tav tm="0">
                                          <p:val>
                                            <p:clrVal>
                                              <a:schemeClr val="accent2"/>
                                            </p:clrVal>
                                          </p:val>
                                        </p:tav>
                                        <p:tav tm="50000">
                                          <p:val>
                                            <p:clrVal>
                                              <a:schemeClr val="hlink"/>
                                            </p:clrVal>
                                          </p:val>
                                        </p:tav>
                                      </p:tavLst>
                                    </p:anim>
                                    <p:set>
                                      <p:cBhvr>
                                        <p:cTn id="82" dur="80"/>
                                        <p:tgtEl>
                                          <p:spTgt spid="237571">
                                            <p:txEl>
                                              <p:pRg st="3" end="3"/>
                                            </p:txEl>
                                          </p:spTgt>
                                        </p:tgtEl>
                                        <p:attrNameLst>
                                          <p:attrName>fill.type</p:attrName>
                                        </p:attrNameLst>
                                      </p:cBhvr>
                                      <p:to>
                                        <p:strVal val="solid"/>
                                      </p:to>
                                    </p:set>
                                  </p:childTnLst>
                                </p:cTn>
                              </p:par>
                              <p:par>
                                <p:cTn id="83" presetID="27" presetClass="entr" presetSubtype="0" fill="hold" nodeType="withEffect">
                                  <p:stCondLst>
                                    <p:cond delay="0"/>
                                  </p:stCondLst>
                                  <p:iterate type="lt">
                                    <p:tmPct val="50000"/>
                                  </p:iterate>
                                  <p:childTnLst>
                                    <p:set>
                                      <p:cBhvr>
                                        <p:cTn id="84" dur="1" fill="hold">
                                          <p:stCondLst>
                                            <p:cond delay="0"/>
                                          </p:stCondLst>
                                        </p:cTn>
                                        <p:tgtEl>
                                          <p:spTgt spid="237571">
                                            <p:txEl>
                                              <p:pRg st="4" end="4"/>
                                            </p:txEl>
                                          </p:spTgt>
                                        </p:tgtEl>
                                        <p:attrNameLst>
                                          <p:attrName>style.visibility</p:attrName>
                                        </p:attrNameLst>
                                      </p:cBhvr>
                                      <p:to>
                                        <p:strVal val="visible"/>
                                      </p:to>
                                    </p:set>
                                    <p:anim calcmode="discrete" valueType="clr">
                                      <p:cBhvr override="childStyle">
                                        <p:cTn id="85" dur="80"/>
                                        <p:tgtEl>
                                          <p:spTgt spid="23757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6" dur="80"/>
                                        <p:tgtEl>
                                          <p:spTgt spid="237571">
                                            <p:txEl>
                                              <p:pRg st="4" end="4"/>
                                            </p:txEl>
                                          </p:spTgt>
                                        </p:tgtEl>
                                        <p:attrNameLst>
                                          <p:attrName>fillcolor</p:attrName>
                                        </p:attrNameLst>
                                      </p:cBhvr>
                                      <p:tavLst>
                                        <p:tav tm="0">
                                          <p:val>
                                            <p:clrVal>
                                              <a:schemeClr val="accent2"/>
                                            </p:clrVal>
                                          </p:val>
                                        </p:tav>
                                        <p:tav tm="50000">
                                          <p:val>
                                            <p:clrVal>
                                              <a:schemeClr val="hlink"/>
                                            </p:clrVal>
                                          </p:val>
                                        </p:tav>
                                      </p:tavLst>
                                    </p:anim>
                                    <p:set>
                                      <p:cBhvr>
                                        <p:cTn id="87" dur="80"/>
                                        <p:tgtEl>
                                          <p:spTgt spid="237571">
                                            <p:txEl>
                                              <p:pRg st="4" end="4"/>
                                            </p:txEl>
                                          </p:spTgt>
                                        </p:tgtEl>
                                        <p:attrNameLst>
                                          <p:attrName>fill.type</p:attrName>
                                        </p:attrNameLst>
                                      </p:cBhvr>
                                      <p:to>
                                        <p:strVal val="solid"/>
                                      </p:to>
                                    </p:set>
                                  </p:childTnLst>
                                </p:cTn>
                              </p:par>
                              <p:par>
                                <p:cTn id="88" presetID="27" presetClass="entr" presetSubtype="0" fill="hold" nodeType="withEffect">
                                  <p:stCondLst>
                                    <p:cond delay="0"/>
                                  </p:stCondLst>
                                  <p:iterate type="lt">
                                    <p:tmPct val="50000"/>
                                  </p:iterate>
                                  <p:childTnLst>
                                    <p:set>
                                      <p:cBhvr>
                                        <p:cTn id="89" dur="1" fill="hold">
                                          <p:stCondLst>
                                            <p:cond delay="0"/>
                                          </p:stCondLst>
                                        </p:cTn>
                                        <p:tgtEl>
                                          <p:spTgt spid="237571">
                                            <p:txEl>
                                              <p:pRg st="5" end="5"/>
                                            </p:txEl>
                                          </p:spTgt>
                                        </p:tgtEl>
                                        <p:attrNameLst>
                                          <p:attrName>style.visibility</p:attrName>
                                        </p:attrNameLst>
                                      </p:cBhvr>
                                      <p:to>
                                        <p:strVal val="visible"/>
                                      </p:to>
                                    </p:set>
                                    <p:anim calcmode="discrete" valueType="clr">
                                      <p:cBhvr override="childStyle">
                                        <p:cTn id="90" dur="80"/>
                                        <p:tgtEl>
                                          <p:spTgt spid="237571">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1" dur="80"/>
                                        <p:tgtEl>
                                          <p:spTgt spid="237571">
                                            <p:txEl>
                                              <p:pRg st="5" end="5"/>
                                            </p:txEl>
                                          </p:spTgt>
                                        </p:tgtEl>
                                        <p:attrNameLst>
                                          <p:attrName>fillcolor</p:attrName>
                                        </p:attrNameLst>
                                      </p:cBhvr>
                                      <p:tavLst>
                                        <p:tav tm="0">
                                          <p:val>
                                            <p:clrVal>
                                              <a:schemeClr val="accent2"/>
                                            </p:clrVal>
                                          </p:val>
                                        </p:tav>
                                        <p:tav tm="50000">
                                          <p:val>
                                            <p:clrVal>
                                              <a:schemeClr val="hlink"/>
                                            </p:clrVal>
                                          </p:val>
                                        </p:tav>
                                      </p:tavLst>
                                    </p:anim>
                                    <p:set>
                                      <p:cBhvr>
                                        <p:cTn id="92" dur="80"/>
                                        <p:tgtEl>
                                          <p:spTgt spid="237571">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67587" name="Rectangle 2"/>
          <p:cNvSpPr>
            <a:spLocks noGrp="1"/>
          </p:cNvSpPr>
          <p:nvPr>
            <p:ph type="title"/>
          </p:nvPr>
        </p:nvSpPr>
        <p:spPr>
          <a:xfrm>
            <a:off x="457200" y="0"/>
            <a:ext cx="8229600" cy="544513"/>
          </a:xfrm>
        </p:spPr>
        <p:txBody>
          <a:bodyPr vert="horz" wrap="square" lIns="91440" tIns="45720" rIns="91440" bIns="45720" anchor="ctr" anchorCtr="0"/>
          <a:lstStyle/>
          <a:p>
            <a:pPr eaLnBrk="1" hangingPunct="1"/>
            <a:r>
              <a:rPr lang="zh-CN" altLang="en-US" sz="3200" b="1" dirty="0">
                <a:ea typeface="宋体" panose="02010600030101010101" pitchFamily="2" charset="-122"/>
              </a:rPr>
              <a:t>关于</a:t>
            </a:r>
            <a:r>
              <a:rPr lang="en-US" altLang="zh-CN" sz="3200" b="1" dirty="0">
                <a:ea typeface="宋体" panose="02010600030101010101" pitchFamily="2" charset="-122"/>
              </a:rPr>
              <a:t>DES</a:t>
            </a:r>
            <a:r>
              <a:rPr lang="zh-CN" altLang="en-US" sz="3200" b="1" dirty="0">
                <a:ea typeface="宋体" panose="02010600030101010101" pitchFamily="2" charset="-122"/>
              </a:rPr>
              <a:t>的讨论</a:t>
            </a:r>
            <a:endParaRPr lang="zh-CN" altLang="en-US" sz="3200" b="1" dirty="0">
              <a:ea typeface="宋体" panose="02010600030101010101" pitchFamily="2" charset="-122"/>
            </a:endParaRPr>
          </a:p>
        </p:txBody>
      </p:sp>
      <p:sp>
        <p:nvSpPr>
          <p:cNvPr id="67588" name="Rectangle 3"/>
          <p:cNvSpPr>
            <a:spLocks noGrp="1"/>
          </p:cNvSpPr>
          <p:nvPr>
            <p:ph idx="1"/>
          </p:nvPr>
        </p:nvSpPr>
        <p:spPr>
          <a:xfrm>
            <a:off x="0" y="673100"/>
            <a:ext cx="9144000" cy="5794375"/>
          </a:xfrm>
        </p:spPr>
        <p:txBody>
          <a:bodyPr vert="horz" wrap="square" lIns="91440" tIns="45720" rIns="91440" bIns="45720" anchor="t" anchorCtr="0"/>
          <a:lstStyle/>
          <a:p>
            <a:pPr algn="l" eaLnBrk="1" hangingPunct="1"/>
            <a:r>
              <a:rPr lang="en-US" altLang="zh-CN" sz="2200" b="1" dirty="0">
                <a:solidFill>
                  <a:srgbClr val="050507"/>
                </a:solidFill>
                <a:latin typeface="宋体" panose="02010600030101010101" pitchFamily="2" charset="-122"/>
                <a:ea typeface="宋体" panose="02010600030101010101" pitchFamily="2" charset="-122"/>
              </a:rPr>
              <a:t>DES</a:t>
            </a:r>
            <a:r>
              <a:rPr lang="zh-CN" altLang="en-US" sz="2200" b="1" dirty="0">
                <a:solidFill>
                  <a:srgbClr val="050507"/>
                </a:solidFill>
                <a:latin typeface="宋体" panose="02010600030101010101" pitchFamily="2" charset="-122"/>
                <a:ea typeface="宋体" panose="02010600030101010101" pitchFamily="2" charset="-122"/>
              </a:rPr>
              <a:t>的密钥量为</a:t>
            </a:r>
            <a:r>
              <a:rPr lang="en-US" altLang="zh-CN" sz="2200" b="1" dirty="0">
                <a:solidFill>
                  <a:srgbClr val="050507"/>
                </a:solidFill>
                <a:latin typeface="宋体" panose="02010600030101010101" pitchFamily="2" charset="-122"/>
                <a:ea typeface="宋体" panose="02010600030101010101" pitchFamily="2" charset="-122"/>
              </a:rPr>
              <a:t>2</a:t>
            </a:r>
            <a:r>
              <a:rPr lang="en-US" altLang="zh-CN" sz="2200" b="1" baseline="30000" dirty="0">
                <a:solidFill>
                  <a:srgbClr val="050507"/>
                </a:solidFill>
                <a:latin typeface="宋体" panose="02010600030101010101" pitchFamily="2" charset="-122"/>
                <a:ea typeface="宋体" panose="02010600030101010101" pitchFamily="2" charset="-122"/>
              </a:rPr>
              <a:t>56</a:t>
            </a:r>
            <a:r>
              <a:rPr lang="zh-CN" altLang="en-US" sz="2200" b="1" dirty="0">
                <a:solidFill>
                  <a:srgbClr val="050507"/>
                </a:solidFill>
                <a:latin typeface="宋体" panose="02010600030101010101" pitchFamily="2" charset="-122"/>
                <a:ea typeface="宋体" panose="02010600030101010101" pitchFamily="2" charset="-122"/>
              </a:rPr>
              <a:t> ；</a:t>
            </a:r>
            <a:endParaRPr lang="en-US" altLang="zh-CN" sz="2200" b="1" dirty="0">
              <a:solidFill>
                <a:srgbClr val="050507"/>
              </a:solidFill>
              <a:latin typeface="宋体" panose="02010600030101010101" pitchFamily="2" charset="-122"/>
              <a:ea typeface="宋体" panose="02010600030101010101" pitchFamily="2" charset="-122"/>
            </a:endParaRPr>
          </a:p>
          <a:p>
            <a:pPr algn="l" eaLnBrk="1" hangingPunct="1"/>
            <a:r>
              <a:rPr lang="en-US" altLang="zh-CN" sz="2200" b="1" dirty="0">
                <a:solidFill>
                  <a:srgbClr val="050507"/>
                </a:solidFill>
                <a:latin typeface="宋体" panose="02010600030101010101" pitchFamily="2" charset="-122"/>
                <a:ea typeface="宋体" panose="02010600030101010101" pitchFamily="2" charset="-122"/>
              </a:rPr>
              <a:t>1977</a:t>
            </a:r>
            <a:r>
              <a:rPr lang="zh-CN" altLang="en-US" sz="2200" b="1" dirty="0">
                <a:solidFill>
                  <a:srgbClr val="050507"/>
                </a:solidFill>
                <a:latin typeface="宋体" panose="02010600030101010101" pitchFamily="2" charset="-122"/>
                <a:ea typeface="宋体" panose="02010600030101010101" pitchFamily="2" charset="-122"/>
              </a:rPr>
              <a:t>年</a:t>
            </a:r>
            <a:r>
              <a:rPr lang="en-US" altLang="zh-CN" sz="2200" b="1" dirty="0">
                <a:solidFill>
                  <a:srgbClr val="050507"/>
                </a:solidFill>
                <a:latin typeface="宋体" panose="02010600030101010101" pitchFamily="2" charset="-122"/>
                <a:ea typeface="宋体" panose="02010600030101010101" pitchFamily="2" charset="-122"/>
              </a:rPr>
              <a:t>Diffie.Hellman</a:t>
            </a:r>
            <a:r>
              <a:rPr lang="zh-CN" altLang="en-US" sz="2200" b="1" dirty="0">
                <a:solidFill>
                  <a:srgbClr val="050507"/>
                </a:solidFill>
                <a:latin typeface="宋体" panose="02010600030101010101" pitchFamily="2" charset="-122"/>
                <a:ea typeface="宋体" panose="02010600030101010101" pitchFamily="2" charset="-122"/>
              </a:rPr>
              <a:t>提出制造一个每秒测试</a:t>
            </a:r>
            <a:r>
              <a:rPr lang="en-US" altLang="zh-CN" sz="2200" b="1" dirty="0">
                <a:solidFill>
                  <a:srgbClr val="050507"/>
                </a:solidFill>
                <a:latin typeface="宋体" panose="02010600030101010101" pitchFamily="2" charset="-122"/>
                <a:ea typeface="宋体" panose="02010600030101010101" pitchFamily="2" charset="-122"/>
              </a:rPr>
              <a:t>10</a:t>
            </a:r>
            <a:r>
              <a:rPr lang="en-US" altLang="zh-CN" sz="2200" b="1" baseline="30000" dirty="0">
                <a:solidFill>
                  <a:srgbClr val="050507"/>
                </a:solidFill>
                <a:latin typeface="宋体" panose="02010600030101010101" pitchFamily="2" charset="-122"/>
                <a:ea typeface="宋体" panose="02010600030101010101" pitchFamily="2" charset="-122"/>
              </a:rPr>
              <a:t>6</a:t>
            </a:r>
            <a:r>
              <a:rPr lang="zh-CN" altLang="en-US" sz="2200" b="1" dirty="0">
                <a:solidFill>
                  <a:srgbClr val="050507"/>
                </a:solidFill>
                <a:latin typeface="宋体" panose="02010600030101010101" pitchFamily="2" charset="-122"/>
                <a:ea typeface="宋体" panose="02010600030101010101" pitchFamily="2" charset="-122"/>
              </a:rPr>
              <a:t>的</a:t>
            </a:r>
            <a:r>
              <a:rPr lang="en-US" altLang="zh-CN" sz="2200" b="1" dirty="0">
                <a:solidFill>
                  <a:srgbClr val="050507"/>
                </a:solidFill>
                <a:latin typeface="宋体" panose="02010600030101010101" pitchFamily="2" charset="-122"/>
                <a:ea typeface="宋体" panose="02010600030101010101" pitchFamily="2" charset="-122"/>
              </a:rPr>
              <a:t>VLSI</a:t>
            </a:r>
            <a:r>
              <a:rPr lang="zh-CN" altLang="en-US" sz="2200" b="1" dirty="0">
                <a:solidFill>
                  <a:srgbClr val="050507"/>
                </a:solidFill>
                <a:latin typeface="宋体" panose="02010600030101010101" pitchFamily="2" charset="-122"/>
                <a:ea typeface="宋体" panose="02010600030101010101" pitchFamily="2" charset="-122"/>
              </a:rPr>
              <a:t>芯片，一天就可以搜索完整个密钥空间，当时造价</a:t>
            </a:r>
            <a:r>
              <a:rPr lang="en-US" altLang="zh-CN" sz="2200" b="1" dirty="0">
                <a:solidFill>
                  <a:srgbClr val="050507"/>
                </a:solidFill>
                <a:latin typeface="宋体" panose="02010600030101010101" pitchFamily="2" charset="-122"/>
                <a:ea typeface="宋体" panose="02010600030101010101" pitchFamily="2" charset="-122"/>
              </a:rPr>
              <a:t>2</a:t>
            </a:r>
            <a:r>
              <a:rPr lang="zh-CN" altLang="en-US" sz="2200" b="1" dirty="0">
                <a:solidFill>
                  <a:srgbClr val="050507"/>
                </a:solidFill>
                <a:latin typeface="宋体" panose="02010600030101010101" pitchFamily="2" charset="-122"/>
                <a:ea typeface="宋体" panose="02010600030101010101" pitchFamily="2" charset="-122"/>
              </a:rPr>
              <a:t>千万美元；</a:t>
            </a:r>
            <a:endParaRPr lang="zh-CN" altLang="en-US" sz="2200" b="1" dirty="0">
              <a:solidFill>
                <a:srgbClr val="050507"/>
              </a:solidFill>
              <a:latin typeface="宋体" panose="02010600030101010101" pitchFamily="2" charset="-122"/>
              <a:ea typeface="宋体" panose="02010600030101010101" pitchFamily="2" charset="-122"/>
            </a:endParaRPr>
          </a:p>
          <a:p>
            <a:pPr algn="l" eaLnBrk="1" hangingPunct="1"/>
            <a:r>
              <a:rPr lang="en-US" altLang="zh-CN" sz="2200" b="1" dirty="0">
                <a:solidFill>
                  <a:srgbClr val="050507"/>
                </a:solidFill>
                <a:latin typeface="宋体" panose="02010600030101010101" pitchFamily="2" charset="-122"/>
                <a:ea typeface="宋体" panose="02010600030101010101" pitchFamily="2" charset="-122"/>
              </a:rPr>
              <a:t>CRYPTO’93</a:t>
            </a:r>
            <a:r>
              <a:rPr lang="zh-CN" altLang="en-US" sz="2200" b="1" dirty="0">
                <a:solidFill>
                  <a:srgbClr val="050507"/>
                </a:solidFill>
                <a:latin typeface="宋体" panose="02010600030101010101" pitchFamily="2" charset="-122"/>
                <a:ea typeface="宋体" panose="02010600030101010101" pitchFamily="2" charset="-122"/>
              </a:rPr>
              <a:t>：</a:t>
            </a:r>
            <a:r>
              <a:rPr lang="en-US" altLang="zh-CN" sz="2200" b="1" dirty="0">
                <a:solidFill>
                  <a:srgbClr val="050507"/>
                </a:solidFill>
                <a:latin typeface="宋体" panose="02010600030101010101" pitchFamily="2" charset="-122"/>
                <a:ea typeface="宋体" panose="02010600030101010101" pitchFamily="2" charset="-122"/>
              </a:rPr>
              <a:t>R.Session</a:t>
            </a:r>
            <a:r>
              <a:rPr lang="zh-CN" altLang="en-US" sz="2200" b="1" dirty="0">
                <a:solidFill>
                  <a:srgbClr val="050507"/>
                </a:solidFill>
                <a:latin typeface="宋体" panose="02010600030101010101" pitchFamily="2" charset="-122"/>
                <a:ea typeface="宋体" panose="02010600030101010101" pitchFamily="2" charset="-122"/>
              </a:rPr>
              <a:t>，</a:t>
            </a:r>
            <a:r>
              <a:rPr lang="en-US" altLang="zh-CN" sz="2200" b="1" dirty="0">
                <a:solidFill>
                  <a:srgbClr val="050507"/>
                </a:solidFill>
                <a:latin typeface="宋体" panose="02010600030101010101" pitchFamily="2" charset="-122"/>
                <a:ea typeface="宋体" panose="02010600030101010101" pitchFamily="2" charset="-122"/>
              </a:rPr>
              <a:t>M.Wiener</a:t>
            </a:r>
            <a:r>
              <a:rPr lang="zh-CN" altLang="en-US" sz="2200" b="1" dirty="0">
                <a:solidFill>
                  <a:srgbClr val="050507"/>
                </a:solidFill>
                <a:latin typeface="宋体" panose="02010600030101010101" pitchFamily="2" charset="-122"/>
                <a:ea typeface="宋体" panose="02010600030101010101" pitchFamily="2" charset="-122"/>
              </a:rPr>
              <a:t>提出并行密钥搜索芯片，每秒测试</a:t>
            </a:r>
            <a:r>
              <a:rPr lang="en-US" altLang="zh-CN" sz="2200" b="1" dirty="0">
                <a:solidFill>
                  <a:srgbClr val="050507"/>
                </a:solidFill>
                <a:latin typeface="宋体" panose="02010600030101010101" pitchFamily="2" charset="-122"/>
                <a:ea typeface="宋体" panose="02010600030101010101" pitchFamily="2" charset="-122"/>
              </a:rPr>
              <a:t>5x107</a:t>
            </a:r>
            <a:r>
              <a:rPr lang="zh-CN" altLang="en-US" sz="2200" b="1" dirty="0">
                <a:solidFill>
                  <a:srgbClr val="050507"/>
                </a:solidFill>
                <a:latin typeface="宋体" panose="02010600030101010101" pitchFamily="2" charset="-122"/>
                <a:ea typeface="宋体" panose="02010600030101010101" pitchFamily="2" charset="-122"/>
              </a:rPr>
              <a:t>个密钥，</a:t>
            </a:r>
            <a:r>
              <a:rPr lang="en-US" altLang="zh-CN" sz="2200" b="1" dirty="0">
                <a:solidFill>
                  <a:srgbClr val="050507"/>
                </a:solidFill>
                <a:latin typeface="宋体" panose="02010600030101010101" pitchFamily="2" charset="-122"/>
                <a:ea typeface="宋体" panose="02010600030101010101" pitchFamily="2" charset="-122"/>
              </a:rPr>
              <a:t>5760</a:t>
            </a:r>
            <a:r>
              <a:rPr lang="zh-CN" altLang="en-US" sz="2200" b="1" dirty="0">
                <a:solidFill>
                  <a:srgbClr val="050507"/>
                </a:solidFill>
                <a:latin typeface="宋体" panose="02010600030101010101" pitchFamily="2" charset="-122"/>
                <a:ea typeface="宋体" panose="02010600030101010101" pitchFamily="2" charset="-122"/>
              </a:rPr>
              <a:t>片这种芯片，造价</a:t>
            </a:r>
            <a:r>
              <a:rPr lang="en-US" altLang="zh-CN" sz="2200" b="1" dirty="0">
                <a:solidFill>
                  <a:srgbClr val="050507"/>
                </a:solidFill>
                <a:latin typeface="宋体" panose="02010600030101010101" pitchFamily="2" charset="-122"/>
                <a:ea typeface="宋体" panose="02010600030101010101" pitchFamily="2" charset="-122"/>
              </a:rPr>
              <a:t>10</a:t>
            </a:r>
            <a:r>
              <a:rPr lang="zh-CN" altLang="en-US" sz="2200" b="1" dirty="0">
                <a:solidFill>
                  <a:srgbClr val="050507"/>
                </a:solidFill>
                <a:latin typeface="宋体" panose="02010600030101010101" pitchFamily="2" charset="-122"/>
                <a:ea typeface="宋体" panose="02010600030101010101" pitchFamily="2" charset="-122"/>
              </a:rPr>
              <a:t>万美元，平均一天即可找到密钥；</a:t>
            </a:r>
            <a:endParaRPr lang="en-US" altLang="zh-CN" sz="2200" b="1" dirty="0">
              <a:solidFill>
                <a:srgbClr val="050507"/>
              </a:solidFill>
              <a:latin typeface="宋体" panose="02010600030101010101" pitchFamily="2" charset="-122"/>
              <a:ea typeface="宋体" panose="02010600030101010101" pitchFamily="2" charset="-122"/>
            </a:endParaRPr>
          </a:p>
          <a:p>
            <a:pPr algn="l" eaLnBrk="1" hangingPunct="1"/>
            <a:r>
              <a:rPr lang="en-US" altLang="zh-CN" sz="2200" b="1" dirty="0">
                <a:solidFill>
                  <a:srgbClr val="050507"/>
                </a:solidFill>
                <a:latin typeface="宋体" panose="02010600030101010101" pitchFamily="2" charset="-122"/>
                <a:ea typeface="宋体" panose="02010600030101010101" pitchFamily="2" charset="-122"/>
              </a:rPr>
              <a:t>R.Verser</a:t>
            </a:r>
            <a:r>
              <a:rPr lang="zh-CN" altLang="en-US" sz="2200" b="1" dirty="0">
                <a:solidFill>
                  <a:srgbClr val="050507"/>
                </a:solidFill>
                <a:latin typeface="宋体" panose="02010600030101010101" pitchFamily="2" charset="-122"/>
                <a:ea typeface="宋体" panose="02010600030101010101" pitchFamily="2" charset="-122"/>
              </a:rPr>
              <a:t>设计了一个通过互联网分段运行的密钥搜索程序，组织了</a:t>
            </a:r>
            <a:r>
              <a:rPr lang="en-US" altLang="zh-CN" sz="2200" b="1" dirty="0">
                <a:solidFill>
                  <a:srgbClr val="050507"/>
                </a:solidFill>
                <a:latin typeface="宋体" panose="02010600030101010101" pitchFamily="2" charset="-122"/>
                <a:ea typeface="宋体" panose="02010600030101010101" pitchFamily="2" charset="-122"/>
              </a:rPr>
              <a:t>DESCHALL</a:t>
            </a:r>
            <a:r>
              <a:rPr lang="zh-CN" altLang="en-US" sz="2200" b="1" dirty="0">
                <a:solidFill>
                  <a:srgbClr val="050507"/>
                </a:solidFill>
                <a:latin typeface="宋体" panose="02010600030101010101" pitchFamily="2" charset="-122"/>
                <a:ea typeface="宋体" panose="02010600030101010101" pitchFamily="2" charset="-122"/>
              </a:rPr>
              <a:t>搜索行动，第</a:t>
            </a:r>
            <a:r>
              <a:rPr lang="en-US" altLang="zh-CN" sz="2200" b="1" dirty="0">
                <a:solidFill>
                  <a:srgbClr val="050507"/>
                </a:solidFill>
                <a:latin typeface="宋体" panose="02010600030101010101" pitchFamily="2" charset="-122"/>
                <a:ea typeface="宋体" panose="02010600030101010101" pitchFamily="2" charset="-122"/>
              </a:rPr>
              <a:t>96</a:t>
            </a:r>
            <a:r>
              <a:rPr lang="zh-CN" altLang="en-US" sz="2200" b="1" dirty="0">
                <a:solidFill>
                  <a:srgbClr val="050507"/>
                </a:solidFill>
                <a:latin typeface="宋体" panose="02010600030101010101" pitchFamily="2" charset="-122"/>
                <a:ea typeface="宋体" panose="02010600030101010101" pitchFamily="2" charset="-122"/>
              </a:rPr>
              <a:t>天美国盐湖城</a:t>
            </a:r>
            <a:r>
              <a:rPr lang="en-US" altLang="zh-CN" sz="2200" b="1" dirty="0">
                <a:solidFill>
                  <a:srgbClr val="050507"/>
                </a:solidFill>
                <a:latin typeface="宋体" panose="02010600030101010101" pitchFamily="2" charset="-122"/>
                <a:ea typeface="宋体" panose="02010600030101010101" pitchFamily="2" charset="-122"/>
              </a:rPr>
              <a:t>Inetz</a:t>
            </a:r>
            <a:r>
              <a:rPr lang="zh-CN" altLang="en-US" sz="2200" b="1" dirty="0">
                <a:solidFill>
                  <a:srgbClr val="050507"/>
                </a:solidFill>
                <a:latin typeface="宋体" panose="02010600030101010101" pitchFamily="2" charset="-122"/>
                <a:ea typeface="宋体" panose="02010600030101010101" pitchFamily="2" charset="-122"/>
              </a:rPr>
              <a:t>公司的</a:t>
            </a:r>
            <a:r>
              <a:rPr lang="en-US" altLang="zh-CN" sz="2200" b="1" dirty="0">
                <a:solidFill>
                  <a:srgbClr val="050507"/>
                </a:solidFill>
                <a:latin typeface="宋体" panose="02010600030101010101" pitchFamily="2" charset="-122"/>
                <a:ea typeface="宋体" panose="02010600030101010101" pitchFamily="2" charset="-122"/>
              </a:rPr>
              <a:t>M.Sanders</a:t>
            </a:r>
            <a:r>
              <a:rPr lang="zh-CN" altLang="en-US" sz="2200" b="1" dirty="0">
                <a:solidFill>
                  <a:srgbClr val="050507"/>
                </a:solidFill>
                <a:latin typeface="宋体" panose="02010600030101010101" pitchFamily="2" charset="-122"/>
                <a:ea typeface="宋体" panose="02010600030101010101" pitchFamily="2" charset="-122"/>
              </a:rPr>
              <a:t>找到了密钥；</a:t>
            </a:r>
            <a:endParaRPr lang="en-US" altLang="zh-CN" sz="2200" b="1" dirty="0">
              <a:solidFill>
                <a:srgbClr val="050507"/>
              </a:solidFill>
              <a:latin typeface="宋体" panose="02010600030101010101" pitchFamily="2" charset="-122"/>
              <a:ea typeface="宋体" panose="02010600030101010101" pitchFamily="2" charset="-122"/>
            </a:endParaRPr>
          </a:p>
          <a:p>
            <a:pPr algn="l" eaLnBrk="1" hangingPunct="1"/>
            <a:r>
              <a:rPr lang="zh-CN" altLang="en-US" sz="2200" b="1" dirty="0">
                <a:solidFill>
                  <a:srgbClr val="050507"/>
                </a:solidFill>
                <a:ea typeface="宋体" panose="02010600030101010101" pitchFamily="2" charset="-122"/>
              </a:rPr>
              <a:t>差分分析法，可攻破迭代轮数降低的</a:t>
            </a:r>
            <a:r>
              <a:rPr lang="en-US" altLang="zh-CN" sz="2200" b="1" dirty="0">
                <a:solidFill>
                  <a:srgbClr val="050507"/>
                </a:solidFill>
                <a:ea typeface="宋体" panose="02010600030101010101" pitchFamily="2" charset="-122"/>
              </a:rPr>
              <a:t>DES </a:t>
            </a:r>
            <a:r>
              <a:rPr lang="zh-CN" altLang="en-US" sz="2200" b="1" dirty="0">
                <a:solidFill>
                  <a:srgbClr val="050507"/>
                </a:solidFill>
                <a:ea typeface="宋体" panose="02010600030101010101" pitchFamily="2" charset="-122"/>
              </a:rPr>
              <a:t>，</a:t>
            </a:r>
            <a:r>
              <a:rPr lang="en-US" altLang="zh-CN" sz="2200" b="1" dirty="0">
                <a:solidFill>
                  <a:srgbClr val="050507"/>
                </a:solidFill>
                <a:ea typeface="宋体" panose="02010600030101010101" pitchFamily="2" charset="-122"/>
              </a:rPr>
              <a:t>8</a:t>
            </a:r>
            <a:r>
              <a:rPr lang="zh-CN" altLang="en-US" sz="2200" b="1" dirty="0">
                <a:solidFill>
                  <a:srgbClr val="050507"/>
                </a:solidFill>
                <a:ea typeface="宋体" panose="02010600030101010101" pitchFamily="2" charset="-122"/>
              </a:rPr>
              <a:t>轮</a:t>
            </a:r>
            <a:r>
              <a:rPr lang="en-US" altLang="zh-CN" sz="2200" b="1" dirty="0">
                <a:solidFill>
                  <a:srgbClr val="050507"/>
                </a:solidFill>
                <a:ea typeface="宋体" panose="02010600030101010101" pitchFamily="2" charset="-122"/>
              </a:rPr>
              <a:t>DES</a:t>
            </a:r>
            <a:r>
              <a:rPr lang="zh-CN" altLang="en-US" sz="2200" b="1" dirty="0">
                <a:solidFill>
                  <a:srgbClr val="050507"/>
                </a:solidFill>
                <a:ea typeface="宋体" panose="02010600030101010101" pitchFamily="2" charset="-122"/>
              </a:rPr>
              <a:t>在一个</a:t>
            </a:r>
            <a:r>
              <a:rPr lang="en-US" altLang="zh-CN" sz="2200" b="1" dirty="0">
                <a:solidFill>
                  <a:srgbClr val="050507"/>
                </a:solidFill>
                <a:ea typeface="宋体" panose="02010600030101010101" pitchFamily="2" charset="-122"/>
              </a:rPr>
              <a:t>PC</a:t>
            </a:r>
            <a:r>
              <a:rPr lang="zh-CN" altLang="en-US" sz="2200" b="1" dirty="0">
                <a:solidFill>
                  <a:srgbClr val="050507"/>
                </a:solidFill>
                <a:ea typeface="宋体" panose="02010600030101010101" pitchFamily="2" charset="-122"/>
              </a:rPr>
              <a:t>上只需要</a:t>
            </a:r>
            <a:r>
              <a:rPr lang="en-US" altLang="zh-CN" sz="2200" b="1" dirty="0">
                <a:solidFill>
                  <a:srgbClr val="050507"/>
                </a:solidFill>
                <a:ea typeface="宋体" panose="02010600030101010101" pitchFamily="2" charset="-122"/>
              </a:rPr>
              <a:t>2</a:t>
            </a:r>
            <a:r>
              <a:rPr lang="zh-CN" altLang="en-US" sz="2200" b="1" dirty="0">
                <a:solidFill>
                  <a:srgbClr val="050507"/>
                </a:solidFill>
                <a:ea typeface="宋体" panose="02010600030101010101" pitchFamily="2" charset="-122"/>
              </a:rPr>
              <a:t>分钟即可被攻破。</a:t>
            </a:r>
            <a:endParaRPr lang="en-US" altLang="zh-CN" sz="2200" b="1" dirty="0">
              <a:solidFill>
                <a:srgbClr val="050507"/>
              </a:solidFill>
              <a:ea typeface="宋体" panose="02010600030101010101" pitchFamily="2" charset="-122"/>
            </a:endParaRPr>
          </a:p>
          <a:p>
            <a:pPr algn="l" eaLnBrk="1" hangingPunct="1"/>
            <a:r>
              <a:rPr lang="en-US" altLang="zh-CN" sz="2000" b="1" dirty="0">
                <a:ea typeface="宋体" panose="02010600030101010101" pitchFamily="2" charset="-122"/>
              </a:rPr>
              <a:t>AES</a:t>
            </a:r>
            <a:r>
              <a:rPr lang="zh-CN" altLang="en-US" sz="2000" dirty="0">
                <a:ea typeface="宋体" panose="02010600030101010101" pitchFamily="2" charset="-122"/>
              </a:rPr>
              <a:t>（</a:t>
            </a:r>
            <a:r>
              <a:rPr lang="en-US" altLang="zh-CN" sz="2000" b="1" dirty="0">
                <a:ea typeface="宋体" panose="02010600030101010101" pitchFamily="2" charset="-122"/>
              </a:rPr>
              <a:t>Advanced Encryption Standard</a:t>
            </a:r>
            <a:r>
              <a:rPr lang="zh-CN" altLang="en-US" sz="2000" dirty="0">
                <a:ea typeface="宋体" panose="02010600030101010101" pitchFamily="2" charset="-122"/>
              </a:rPr>
              <a:t>），又称</a:t>
            </a:r>
            <a:r>
              <a:rPr lang="en-US" altLang="zh-CN" sz="2000" b="1" dirty="0">
                <a:ea typeface="宋体" panose="02010600030101010101" pitchFamily="2" charset="-122"/>
              </a:rPr>
              <a:t>Rijndael</a:t>
            </a:r>
            <a:r>
              <a:rPr lang="zh-CN" altLang="en-US" sz="2000" b="1" dirty="0">
                <a:ea typeface="宋体" panose="02010600030101010101" pitchFamily="2" charset="-122"/>
              </a:rPr>
              <a:t>加密法</a:t>
            </a:r>
            <a:r>
              <a:rPr lang="zh-CN" altLang="en-US" sz="2000" dirty="0">
                <a:ea typeface="宋体" panose="02010600030101010101" pitchFamily="2" charset="-122"/>
              </a:rPr>
              <a:t>，</a:t>
            </a:r>
            <a:r>
              <a:rPr lang="zh-CN" altLang="en-US" sz="2200" b="1" dirty="0">
                <a:solidFill>
                  <a:srgbClr val="050507"/>
                </a:solidFill>
                <a:ea typeface="宋体" panose="02010600030101010101" pitchFamily="2" charset="-122"/>
              </a:rPr>
              <a:t>美国联邦政府采用的区块加密标准，目前最流行的算法之一。</a:t>
            </a:r>
            <a:endParaRPr lang="en-US" altLang="zh-CN" sz="2200" b="1" dirty="0">
              <a:solidFill>
                <a:srgbClr val="050507"/>
              </a:solidFill>
              <a:ea typeface="宋体" panose="02010600030101010101" pitchFamily="2" charset="-122"/>
            </a:endParaRPr>
          </a:p>
          <a:p>
            <a:pPr algn="l" eaLnBrk="1" hangingPunct="1"/>
            <a:r>
              <a:rPr lang="zh-CN" altLang="en-US" sz="2200" b="1" dirty="0">
                <a:solidFill>
                  <a:srgbClr val="C00000"/>
                </a:solidFill>
                <a:ea typeface="宋体" panose="02010600030101010101" pitchFamily="2" charset="-122"/>
              </a:rPr>
              <a:t>对称加密缺点：</a:t>
            </a:r>
            <a:r>
              <a:rPr lang="zh-CN" altLang="en-US" sz="2200" b="1" dirty="0">
                <a:solidFill>
                  <a:srgbClr val="050507"/>
                </a:solidFill>
                <a:ea typeface="宋体" panose="02010600030101010101" pitchFamily="2" charset="-122"/>
              </a:rPr>
              <a:t>需要安全的密钥传输手段；通信双方都有这个密钥，任何一方都能伪造信息。而且如果一个密钥使用多次，第三方就可以通过密文来破解这个加密系统。</a:t>
            </a:r>
            <a:endParaRPr lang="en-US" altLang="zh-CN" sz="2200" b="1" dirty="0">
              <a:solidFill>
                <a:srgbClr val="050507"/>
              </a:solidFill>
              <a:ea typeface="宋体" panose="02010600030101010101" pitchFamily="2" charset="-122"/>
            </a:endParaRPr>
          </a:p>
          <a:p>
            <a:pPr algn="l" eaLnBrk="1" hangingPunct="1"/>
            <a:endParaRPr lang="zh-CN" altLang="en-US" sz="2200" b="1" dirty="0">
              <a:solidFill>
                <a:srgbClr val="050507"/>
              </a:solidFill>
              <a:latin typeface="宋体" panose="02010600030101010101" pitchFamily="2" charset="-122"/>
              <a:ea typeface="宋体" panose="02010600030101010101" pitchFamily="2" charset="-122"/>
            </a:endParaRP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68611" name="Rectangle 5"/>
          <p:cNvSpPr>
            <a:spLocks noGrp="1"/>
          </p:cNvSpPr>
          <p:nvPr>
            <p:ph type="title"/>
          </p:nvPr>
        </p:nvSpPr>
        <p:spPr>
          <a:xfrm>
            <a:off x="246063" y="115888"/>
            <a:ext cx="8650287" cy="803275"/>
          </a:xfrm>
        </p:spPr>
        <p:txBody>
          <a:bodyPr vert="horz" wrap="square" lIns="91440" tIns="45720" rIns="91440" bIns="45720" anchor="ctr" anchorCtr="0"/>
          <a:lstStyle/>
          <a:p>
            <a:pPr eaLnBrk="1" hangingPunct="1"/>
            <a:r>
              <a:rPr lang="en-US" altLang="zh-CN" dirty="0">
                <a:ea typeface="宋体" panose="02010600030101010101" pitchFamily="2" charset="-122"/>
              </a:rPr>
              <a:t>Public-Key Cryptosystems: RSA</a:t>
            </a:r>
            <a:endParaRPr lang="en-US" altLang="zh-CN" dirty="0">
              <a:ea typeface="宋体" panose="02010600030101010101" pitchFamily="2" charset="-122"/>
            </a:endParaRPr>
          </a:p>
        </p:txBody>
      </p:sp>
      <p:sp>
        <p:nvSpPr>
          <p:cNvPr id="68612" name="Rectangle 1"/>
          <p:cNvSpPr/>
          <p:nvPr/>
        </p:nvSpPr>
        <p:spPr>
          <a:xfrm>
            <a:off x="247650" y="985838"/>
            <a:ext cx="8648700" cy="1016000"/>
          </a:xfrm>
          <a:prstGeom prst="rect">
            <a:avLst/>
          </a:prstGeom>
          <a:noFill/>
          <a:ln w="9525">
            <a:noFill/>
          </a:ln>
        </p:spPr>
        <p:txBody>
          <a:bodyPr anchor="ctr" anchorCtr="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a:spcBef>
                <a:spcPct val="0"/>
              </a:spcBef>
              <a:buClrTx/>
              <a:buNone/>
            </a:pPr>
            <a:r>
              <a:rPr lang="en-US" altLang="zh-CN" sz="2000" dirty="0">
                <a:latin typeface="Times New Roman" panose="02020603050405020304" pitchFamily="18" charset="0"/>
                <a:ea typeface="宋体" panose="02010600030101010101" pitchFamily="2" charset="-122"/>
              </a:rPr>
              <a:t>1976</a:t>
            </a:r>
            <a:r>
              <a:rPr lang="zh-CN" altLang="en-US" sz="2000" dirty="0">
                <a:latin typeface="Times New Roman" panose="02020603050405020304" pitchFamily="18" charset="0"/>
                <a:ea typeface="宋体" panose="02010600030101010101" pitchFamily="2" charset="-122"/>
              </a:rPr>
              <a:t>年</a:t>
            </a:r>
            <a:r>
              <a:rPr lang="en-US" altLang="zh-CN" sz="2000" dirty="0">
                <a:latin typeface="Times New Roman" panose="02020603050405020304" pitchFamily="18" charset="0"/>
                <a:ea typeface="宋体" panose="02010600030101010101" pitchFamily="2" charset="-122"/>
              </a:rPr>
              <a:t>Diffie</a:t>
            </a:r>
            <a:r>
              <a:rPr lang="zh-CN" altLang="en-US" sz="2000" dirty="0">
                <a:latin typeface="Times New Roman" panose="02020603050405020304" pitchFamily="18" charset="0"/>
                <a:ea typeface="宋体" panose="02010600030101010101" pitchFamily="2" charset="-122"/>
              </a:rPr>
              <a:t>和</a:t>
            </a:r>
            <a:r>
              <a:rPr lang="en-US" altLang="zh-CN" sz="2000" dirty="0">
                <a:latin typeface="Times New Roman" panose="02020603050405020304" pitchFamily="18" charset="0"/>
                <a:ea typeface="宋体" panose="02010600030101010101" pitchFamily="2" charset="-122"/>
              </a:rPr>
              <a:t>Hellman</a:t>
            </a:r>
            <a:r>
              <a:rPr lang="zh-CN" altLang="en-US" sz="2000" dirty="0">
                <a:latin typeface="Times New Roman" panose="02020603050405020304" pitchFamily="18" charset="0"/>
                <a:ea typeface="宋体" panose="02010600030101010101" pitchFamily="2" charset="-122"/>
              </a:rPr>
              <a:t>发表了论文</a:t>
            </a:r>
            <a:r>
              <a:rPr lang="en-US" altLang="zh-CN" sz="2000" dirty="0">
                <a:latin typeface="Times New Roman" panose="02020603050405020304" pitchFamily="18" charset="0"/>
                <a:ea typeface="宋体" panose="02010600030101010101" pitchFamily="2" charset="-122"/>
              </a:rPr>
              <a:t>『New Directions in Cryptography』</a:t>
            </a:r>
            <a:r>
              <a:rPr lang="zh-CN" altLang="en-US" sz="2000" dirty="0">
                <a:latin typeface="Times New Roman" panose="02020603050405020304" pitchFamily="18" charset="0"/>
                <a:ea typeface="宋体" panose="02010600030101010101" pitchFamily="2" charset="-122"/>
              </a:rPr>
              <a:t>，</a:t>
            </a:r>
            <a:r>
              <a:rPr lang="zh-CN" altLang="en-US" sz="2000" dirty="0">
                <a:solidFill>
                  <a:srgbClr val="333333"/>
                </a:solidFill>
                <a:latin typeface="宋体" panose="02010600030101010101" pitchFamily="2" charset="-122"/>
                <a:ea typeface="宋体" panose="02010600030101010101" pitchFamily="2" charset="-122"/>
              </a:rPr>
              <a:t>证明了公钥加密的可能性，公钥可随意发布，私钥由接收方保存。</a:t>
            </a:r>
            <a:r>
              <a:rPr lang="zh-CN" altLang="en-US" sz="2000" b="1" dirty="0">
                <a:latin typeface="Times New Roman" panose="02020603050405020304" pitchFamily="18" charset="0"/>
                <a:ea typeface="宋体" panose="02010600030101010101" pitchFamily="2" charset="-122"/>
              </a:rPr>
              <a:t>公钥密码体制称为</a:t>
            </a:r>
            <a:r>
              <a:rPr lang="zh-CN" altLang="en-US" sz="2000" b="1" dirty="0">
                <a:solidFill>
                  <a:srgbClr val="333399"/>
                </a:solidFill>
                <a:latin typeface="Times New Roman" panose="02020603050405020304" pitchFamily="18" charset="0"/>
                <a:ea typeface="楷体" panose="02010609060101010101" pitchFamily="49" charset="-122"/>
              </a:rPr>
              <a:t>双密钥密码体制</a:t>
            </a:r>
            <a:r>
              <a:rPr lang="zh-CN" altLang="en-US" sz="2000" b="1" dirty="0">
                <a:latin typeface="Times New Roman" panose="02020603050405020304" pitchFamily="18" charset="0"/>
                <a:ea typeface="宋体" panose="02010600030101010101" pitchFamily="2" charset="-122"/>
              </a:rPr>
              <a:t>或</a:t>
            </a:r>
            <a:r>
              <a:rPr lang="zh-CN" altLang="en-US" sz="2000" b="1" dirty="0">
                <a:solidFill>
                  <a:srgbClr val="333399"/>
                </a:solidFill>
                <a:latin typeface="Times New Roman" panose="02020603050405020304" pitchFamily="18" charset="0"/>
                <a:ea typeface="楷体" panose="02010609060101010101" pitchFamily="49" charset="-122"/>
              </a:rPr>
              <a:t>非对称密码体制，</a:t>
            </a:r>
            <a:r>
              <a:rPr lang="en-US" altLang="zh-CN" sz="2000" dirty="0">
                <a:solidFill>
                  <a:srgbClr val="333333"/>
                </a:solidFill>
                <a:latin typeface="宋体" panose="02010600030101010101" pitchFamily="2" charset="-122"/>
                <a:ea typeface="宋体" panose="02010600030101010101" pitchFamily="2" charset="-122"/>
              </a:rPr>
              <a:t>40</a:t>
            </a:r>
            <a:r>
              <a:rPr lang="zh-CN" altLang="en-US" sz="2000" dirty="0">
                <a:solidFill>
                  <a:srgbClr val="333333"/>
                </a:solidFill>
                <a:latin typeface="宋体" panose="02010600030101010101" pitchFamily="2" charset="-122"/>
                <a:ea typeface="宋体" panose="02010600030101010101" pitchFamily="2" charset="-122"/>
              </a:rPr>
              <a:t>年之后的</a:t>
            </a:r>
            <a:r>
              <a:rPr lang="en-US" altLang="zh-CN" sz="2000" dirty="0">
                <a:solidFill>
                  <a:srgbClr val="333333"/>
                </a:solidFill>
                <a:latin typeface="宋体" panose="02010600030101010101" pitchFamily="2" charset="-122"/>
                <a:ea typeface="宋体" panose="02010600030101010101" pitchFamily="2" charset="-122"/>
              </a:rPr>
              <a:t>2015</a:t>
            </a:r>
            <a:r>
              <a:rPr lang="zh-CN" altLang="en-US" sz="2000" dirty="0">
                <a:solidFill>
                  <a:srgbClr val="333333"/>
                </a:solidFill>
                <a:latin typeface="宋体" panose="02010600030101010101" pitchFamily="2" charset="-122"/>
                <a:ea typeface="宋体" panose="02010600030101010101" pitchFamily="2" charset="-122"/>
              </a:rPr>
              <a:t>年获图灵奖。</a:t>
            </a:r>
            <a:endParaRPr lang="zh-CN" altLang="en-US" sz="2000" b="1" dirty="0">
              <a:latin typeface="宋体" panose="02010600030101010101" pitchFamily="2" charset="-122"/>
              <a:ea typeface="宋体" panose="02010600030101010101" pitchFamily="2" charset="-122"/>
            </a:endParaRPr>
          </a:p>
        </p:txBody>
      </p:sp>
      <p:pic>
        <p:nvPicPr>
          <p:cNvPr id="68613" name="Picture 2" descr="http://img.mp.itc.cn/upload/20160323/f433c88b3ef2430e98acd968c2b5cf62_th.jpg"/>
          <p:cNvPicPr>
            <a:picLocks noChangeAspect="1"/>
          </p:cNvPicPr>
          <p:nvPr/>
        </p:nvPicPr>
        <p:blipFill>
          <a:blip r:embed="rId1"/>
          <a:stretch>
            <a:fillRect/>
          </a:stretch>
        </p:blipFill>
        <p:spPr>
          <a:xfrm>
            <a:off x="4322763" y="2081213"/>
            <a:ext cx="4141787" cy="1790700"/>
          </a:xfrm>
          <a:prstGeom prst="rect">
            <a:avLst/>
          </a:prstGeom>
          <a:noFill/>
          <a:ln w="9525">
            <a:noFill/>
          </a:ln>
        </p:spPr>
      </p:pic>
      <p:pic>
        <p:nvPicPr>
          <p:cNvPr id="68614" name="图片 8" descr="dh1.jpg"/>
          <p:cNvPicPr>
            <a:picLocks noChangeAspect="1"/>
          </p:cNvPicPr>
          <p:nvPr/>
        </p:nvPicPr>
        <p:blipFill>
          <a:blip r:embed="rId2"/>
          <a:stretch>
            <a:fillRect/>
          </a:stretch>
        </p:blipFill>
        <p:spPr>
          <a:xfrm>
            <a:off x="754063" y="2351088"/>
            <a:ext cx="3316287" cy="3925887"/>
          </a:xfrm>
          <a:prstGeom prst="rect">
            <a:avLst/>
          </a:prstGeom>
          <a:noFill/>
          <a:ln w="9525">
            <a:noFill/>
          </a:ln>
        </p:spPr>
      </p:pic>
      <p:pic>
        <p:nvPicPr>
          <p:cNvPr id="68615" name="图片 9" descr="dh2.jpg"/>
          <p:cNvPicPr>
            <a:picLocks noChangeAspect="1"/>
          </p:cNvPicPr>
          <p:nvPr/>
        </p:nvPicPr>
        <p:blipFill>
          <a:blip r:embed="rId3"/>
          <a:stretch>
            <a:fillRect/>
          </a:stretch>
        </p:blipFill>
        <p:spPr>
          <a:xfrm>
            <a:off x="4322763" y="3871913"/>
            <a:ext cx="4141787" cy="2424112"/>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75458" name="Rectangle 2"/>
          <p:cNvSpPr>
            <a:spLocks noGrp="1"/>
          </p:cNvSpPr>
          <p:nvPr>
            <p:ph idx="1"/>
          </p:nvPr>
        </p:nvSpPr>
        <p:spPr>
          <a:xfrm>
            <a:off x="266700" y="1095375"/>
            <a:ext cx="8547100" cy="1025525"/>
          </a:xfrm>
        </p:spPr>
        <p:txBody>
          <a:bodyPr vert="horz" wrap="square" lIns="91440" tIns="45720" rIns="91440" bIns="45720" anchor="t" anchorCtr="0"/>
          <a:lstStyle/>
          <a:p>
            <a:pPr algn="l" eaLnBrk="1" hangingPunct="1">
              <a:lnSpc>
                <a:spcPct val="150000"/>
              </a:lnSpc>
              <a:buNone/>
            </a:pPr>
            <a:r>
              <a:rPr lang="en-US" altLang="zh-CN" sz="2000" b="1" dirty="0">
                <a:latin typeface="宋体" panose="02010600030101010101" pitchFamily="2" charset="-122"/>
                <a:ea typeface="宋体" panose="02010600030101010101" pitchFamily="2" charset="-122"/>
              </a:rPr>
              <a:t>RSA</a:t>
            </a:r>
            <a:r>
              <a:rPr lang="zh-CN" altLang="en-US" sz="2000" b="1" dirty="0">
                <a:latin typeface="宋体" panose="02010600030101010101" pitchFamily="2" charset="-122"/>
                <a:ea typeface="宋体" panose="02010600030101010101" pitchFamily="2" charset="-122"/>
              </a:rPr>
              <a:t>是</a:t>
            </a:r>
            <a:r>
              <a:rPr lang="en-US" altLang="zh-CN" sz="2000" b="1" dirty="0">
                <a:latin typeface="宋体" panose="02010600030101010101" pitchFamily="2" charset="-122"/>
                <a:ea typeface="宋体" panose="02010600030101010101" pitchFamily="2" charset="-122"/>
              </a:rPr>
              <a:t>Revest,Shanir</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Adieman3</a:t>
            </a:r>
            <a:r>
              <a:rPr lang="zh-CN" altLang="en-US" sz="2000" dirty="0">
                <a:ea typeface="宋体" panose="02010600030101010101" pitchFamily="2" charset="-122"/>
              </a:rPr>
              <a:t>人</a:t>
            </a:r>
            <a:r>
              <a:rPr lang="en-US" altLang="zh-CN" sz="2000" b="1" dirty="0">
                <a:latin typeface="宋体" panose="02010600030101010101" pitchFamily="2" charset="-122"/>
                <a:ea typeface="宋体" panose="02010600030101010101" pitchFamily="2" charset="-122"/>
              </a:rPr>
              <a:t>1977</a:t>
            </a:r>
            <a:r>
              <a:rPr lang="zh-CN" altLang="en-US" sz="2000" b="1" dirty="0">
                <a:latin typeface="宋体" panose="02010600030101010101" pitchFamily="2" charset="-122"/>
                <a:ea typeface="宋体" panose="02010600030101010101" pitchFamily="2" charset="-122"/>
              </a:rPr>
              <a:t>年</a:t>
            </a:r>
            <a:r>
              <a:rPr lang="zh-CN" altLang="en-US" sz="2000" dirty="0">
                <a:ea typeface="宋体" panose="02010600030101010101" pitchFamily="2" charset="-122"/>
              </a:rPr>
              <a:t>实现了</a:t>
            </a:r>
            <a:r>
              <a:rPr lang="en-US" altLang="zh-CN" sz="2000" dirty="0">
                <a:ea typeface="宋体" panose="02010600030101010101" pitchFamily="2" charset="-122"/>
              </a:rPr>
              <a:t>Diffie</a:t>
            </a:r>
            <a:r>
              <a:rPr lang="zh-CN" altLang="en-US" sz="2000" dirty="0">
                <a:ea typeface="宋体" panose="02010600030101010101" pitchFamily="2" charset="-122"/>
              </a:rPr>
              <a:t>和</a:t>
            </a:r>
            <a:r>
              <a:rPr lang="en-US" altLang="zh-CN" sz="2000" dirty="0">
                <a:ea typeface="宋体" panose="02010600030101010101" pitchFamily="2" charset="-122"/>
              </a:rPr>
              <a:t>Hellman</a:t>
            </a:r>
            <a:r>
              <a:rPr lang="zh-CN" altLang="en-US" sz="2000" dirty="0">
                <a:ea typeface="宋体" panose="02010600030101010101" pitchFamily="2" charset="-122"/>
              </a:rPr>
              <a:t>论文的思想，真正提出了一个公钥加密</a:t>
            </a:r>
            <a:r>
              <a:rPr lang="en-US" altLang="zh-CN" sz="2000" dirty="0">
                <a:ea typeface="宋体" panose="02010600030101010101" pitchFamily="2" charset="-122"/>
              </a:rPr>
              <a:t>/</a:t>
            </a:r>
            <a:r>
              <a:rPr lang="zh-CN" altLang="en-US" sz="2000" dirty="0">
                <a:ea typeface="宋体" panose="02010600030101010101" pitchFamily="2" charset="-122"/>
              </a:rPr>
              <a:t>数字签名算法，</a:t>
            </a:r>
            <a:r>
              <a:rPr lang="en-US" altLang="zh-CN" sz="2000" dirty="0">
                <a:ea typeface="宋体" panose="02010600030101010101" pitchFamily="2" charset="-122"/>
              </a:rPr>
              <a:t>2002</a:t>
            </a:r>
            <a:r>
              <a:rPr lang="zh-CN" altLang="en-US" sz="2000" dirty="0">
                <a:ea typeface="宋体" panose="02010600030101010101" pitchFamily="2" charset="-122"/>
              </a:rPr>
              <a:t>年获图灵奖。</a:t>
            </a:r>
            <a:endParaRPr lang="en-US" altLang="zh-CN" sz="2000" b="1" dirty="0">
              <a:latin typeface="宋体" panose="02010600030101010101" pitchFamily="2" charset="-122"/>
              <a:ea typeface="宋体" panose="02010600030101010101" pitchFamily="2" charset="-122"/>
            </a:endParaRPr>
          </a:p>
        </p:txBody>
      </p:sp>
      <p:sp>
        <p:nvSpPr>
          <p:cNvPr id="69636" name="Rectangle 5"/>
          <p:cNvSpPr>
            <a:spLocks noGrp="1"/>
          </p:cNvSpPr>
          <p:nvPr>
            <p:ph type="title"/>
          </p:nvPr>
        </p:nvSpPr>
        <p:spPr>
          <a:xfrm>
            <a:off x="215900" y="260350"/>
            <a:ext cx="8650288" cy="1019175"/>
          </a:xfrm>
        </p:spPr>
        <p:txBody>
          <a:bodyPr vert="horz" wrap="square" lIns="91440" tIns="45720" rIns="91440" bIns="45720" anchor="ctr" anchorCtr="0"/>
          <a:lstStyle/>
          <a:p>
            <a:pPr eaLnBrk="1" hangingPunct="1"/>
            <a:r>
              <a:rPr lang="en-US" altLang="zh-CN" dirty="0">
                <a:ea typeface="宋体" panose="02010600030101010101" pitchFamily="2" charset="-122"/>
              </a:rPr>
              <a:t>Public-Key Cryptosystems: RSA</a:t>
            </a:r>
            <a:endParaRPr lang="en-US" altLang="zh-CN" dirty="0">
              <a:ea typeface="宋体" panose="02010600030101010101" pitchFamily="2" charset="-122"/>
            </a:endParaRPr>
          </a:p>
        </p:txBody>
      </p:sp>
      <p:pic>
        <p:nvPicPr>
          <p:cNvPr id="69637" name="图片 4" descr="RSA算法作者图.jpg"/>
          <p:cNvPicPr>
            <a:picLocks noChangeAspect="1"/>
          </p:cNvPicPr>
          <p:nvPr/>
        </p:nvPicPr>
        <p:blipFill>
          <a:blip r:embed="rId1"/>
          <a:stretch>
            <a:fillRect/>
          </a:stretch>
        </p:blipFill>
        <p:spPr>
          <a:xfrm>
            <a:off x="1143000" y="2120900"/>
            <a:ext cx="6451600" cy="42132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45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73410" name="Rectangle 2"/>
          <p:cNvSpPr>
            <a:spLocks noGrp="1"/>
          </p:cNvSpPr>
          <p:nvPr>
            <p:ph idx="1"/>
          </p:nvPr>
        </p:nvSpPr>
        <p:spPr>
          <a:xfrm>
            <a:off x="190500" y="1209675"/>
            <a:ext cx="8826500" cy="3743325"/>
          </a:xfrm>
        </p:spPr>
        <p:txBody>
          <a:bodyPr vert="horz" wrap="square" lIns="91440" tIns="45720" rIns="91440" bIns="45720" anchor="t" anchorCtr="0"/>
          <a:lstStyle/>
          <a:p>
            <a:pPr algn="l" eaLnBrk="1" hangingPunct="1">
              <a:lnSpc>
                <a:spcPct val="150000"/>
              </a:lnSpc>
              <a:buNone/>
            </a:pPr>
            <a:r>
              <a:rPr lang="en-US" altLang="zh-CN"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基本思想：</a:t>
            </a:r>
            <a:endParaRPr lang="zh-CN" altLang="en-US"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安全性：没有任何已知的方法能够有效的找到大数的素因子</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数论</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，破译</a:t>
            </a:r>
            <a:r>
              <a:rPr lang="en-US" altLang="zh-CN" b="1" dirty="0">
                <a:latin typeface="宋体" panose="02010600030101010101" pitchFamily="2" charset="-122"/>
                <a:ea typeface="宋体" panose="02010600030101010101" pitchFamily="2" charset="-122"/>
              </a:rPr>
              <a:t>RSA</a:t>
            </a:r>
            <a:r>
              <a:rPr lang="zh-CN" altLang="en-US" b="1" dirty="0">
                <a:latin typeface="宋体" panose="02010600030101010101" pitchFamily="2" charset="-122"/>
                <a:ea typeface="宋体" panose="02010600030101010101" pitchFamily="2" charset="-122"/>
              </a:rPr>
              <a:t>相当于寻找这两个素数（私钥和公钥）；</a:t>
            </a:r>
            <a:endParaRPr lang="en-US" altLang="zh-CN"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b="1" dirty="0">
                <a:solidFill>
                  <a:srgbClr val="FF0000"/>
                </a:solidFill>
                <a:latin typeface="宋体" panose="02010600030101010101" pitchFamily="2" charset="-122"/>
                <a:ea typeface="宋体" panose="02010600030101010101" pitchFamily="2" charset="-122"/>
              </a:rPr>
              <a:t>陷门单向函数：</a:t>
            </a:r>
            <a:r>
              <a:rPr lang="en-US" altLang="zh-CN" b="1" dirty="0">
                <a:latin typeface="宋体" panose="02010600030101010101" pitchFamily="2" charset="-122"/>
                <a:ea typeface="宋体" panose="02010600030101010101" pitchFamily="2" charset="-122"/>
              </a:rPr>
              <a:t>f(x)</a:t>
            </a:r>
            <a:r>
              <a:rPr lang="zh-CN" altLang="en-US" b="1" dirty="0">
                <a:latin typeface="宋体" panose="02010600030101010101" pitchFamily="2" charset="-122"/>
                <a:ea typeface="宋体" panose="02010600030101010101" pitchFamily="2" charset="-122"/>
              </a:rPr>
              <a:t>满足单向函数，若给定某些辅助信息时又容易计算单向函数</a:t>
            </a:r>
            <a:r>
              <a:rPr lang="en-US" altLang="zh-CN" b="1" dirty="0">
                <a:latin typeface="宋体" panose="02010600030101010101" pitchFamily="2" charset="-122"/>
                <a:ea typeface="宋体" panose="02010600030101010101" pitchFamily="2" charset="-122"/>
              </a:rPr>
              <a:t>f</a:t>
            </a:r>
            <a:r>
              <a:rPr lang="zh-CN" altLang="en-US" b="1" dirty="0">
                <a:latin typeface="宋体" panose="02010600030101010101" pitchFamily="2" charset="-122"/>
                <a:ea typeface="宋体" panose="02010600030101010101" pitchFamily="2" charset="-122"/>
              </a:rPr>
              <a:t>的逆</a:t>
            </a:r>
            <a:r>
              <a:rPr lang="en-US" altLang="zh-CN" b="1" dirty="0">
                <a:latin typeface="宋体" panose="02010600030101010101" pitchFamily="2" charset="-122"/>
                <a:ea typeface="宋体" panose="02010600030101010101" pitchFamily="2" charset="-122"/>
              </a:rPr>
              <a:t>f</a:t>
            </a:r>
            <a:r>
              <a:rPr lang="en-US" altLang="zh-CN" b="1" baseline="30000"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，称</a:t>
            </a:r>
            <a:r>
              <a:rPr lang="en-US" altLang="zh-CN" b="1" dirty="0">
                <a:latin typeface="宋体" panose="02010600030101010101" pitchFamily="2" charset="-122"/>
                <a:ea typeface="宋体" panose="02010600030101010101" pitchFamily="2" charset="-122"/>
              </a:rPr>
              <a:t>f(x)</a:t>
            </a:r>
            <a:r>
              <a:rPr lang="zh-CN" altLang="en-US" b="1" dirty="0">
                <a:latin typeface="宋体" panose="02010600030101010101" pitchFamily="2" charset="-122"/>
                <a:ea typeface="宋体" panose="02010600030101010101" pitchFamily="2" charset="-122"/>
              </a:rPr>
              <a:t>是一个陷门单向函数；</a:t>
            </a:r>
            <a:endParaRPr lang="en-US" altLang="zh-CN"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关键是找一个陷门单向函数，辅助信息就是解密密钥。</a:t>
            </a:r>
            <a:endParaRPr lang="zh-CN" altLang="en-US" b="1" dirty="0">
              <a:latin typeface="宋体" panose="02010600030101010101" pitchFamily="2" charset="-122"/>
              <a:ea typeface="宋体" panose="02010600030101010101" pitchFamily="2" charset="-122"/>
            </a:endParaRPr>
          </a:p>
          <a:p>
            <a:pPr algn="l" eaLnBrk="1" hangingPunct="1">
              <a:lnSpc>
                <a:spcPct val="150000"/>
              </a:lnSpc>
              <a:buClr>
                <a:schemeClr val="tx1"/>
              </a:buClr>
              <a:buSzPct val="60000"/>
              <a:buFont typeface="Wingdings" panose="05000000000000000000" pitchFamily="2" charset="2"/>
              <a:buChar char="u"/>
            </a:pPr>
            <a:endParaRPr lang="zh-CN" altLang="en-US" b="1" dirty="0">
              <a:latin typeface="宋体" panose="02010600030101010101" pitchFamily="2" charset="-122"/>
              <a:ea typeface="宋体" panose="02010600030101010101" pitchFamily="2" charset="-122"/>
            </a:endParaRPr>
          </a:p>
          <a:p>
            <a:pPr algn="l" eaLnBrk="1" hangingPunct="1">
              <a:lnSpc>
                <a:spcPct val="150000"/>
              </a:lnSpc>
              <a:buClr>
                <a:schemeClr val="tx1"/>
              </a:buClr>
              <a:buSzPct val="60000"/>
              <a:buNone/>
            </a:pPr>
            <a:endParaRPr lang="zh-CN" altLang="en-US" dirty="0">
              <a:ea typeface="宋体" panose="02010600030101010101" pitchFamily="2" charset="-122"/>
            </a:endParaRPr>
          </a:p>
        </p:txBody>
      </p:sp>
      <p:sp>
        <p:nvSpPr>
          <p:cNvPr id="70660" name="Rectangle 5"/>
          <p:cNvSpPr>
            <a:spLocks noGrp="1"/>
          </p:cNvSpPr>
          <p:nvPr>
            <p:ph type="title"/>
          </p:nvPr>
        </p:nvSpPr>
        <p:spPr>
          <a:xfrm>
            <a:off x="215900" y="50800"/>
            <a:ext cx="8650288" cy="771525"/>
          </a:xfrm>
        </p:spPr>
        <p:txBody>
          <a:bodyPr vert="horz" wrap="square" lIns="91440" tIns="45720" rIns="91440" bIns="45720" anchor="ctr" anchorCtr="0"/>
          <a:lstStyle/>
          <a:p>
            <a:pPr eaLnBrk="1" hangingPunct="1"/>
            <a:r>
              <a:rPr lang="en-US" altLang="zh-CN" dirty="0">
                <a:ea typeface="宋体" panose="02010600030101010101" pitchFamily="2" charset="-122"/>
              </a:rPr>
              <a:t>Public-Key Cryptosystems: RSA</a:t>
            </a: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34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34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34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34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76482" name="Rectangle 2"/>
          <p:cNvSpPr>
            <a:spLocks noGrp="1"/>
          </p:cNvSpPr>
          <p:nvPr>
            <p:ph idx="1"/>
          </p:nvPr>
        </p:nvSpPr>
        <p:spPr>
          <a:xfrm>
            <a:off x="0" y="1082675"/>
            <a:ext cx="9043988" cy="4660900"/>
          </a:xfrm>
        </p:spPr>
        <p:txBody>
          <a:bodyPr vert="horz" wrap="square" lIns="91440" tIns="45720" rIns="91440" bIns="45720" anchor="t" anchorCtr="0"/>
          <a:lstStyle/>
          <a:p>
            <a:pPr algn="l" eaLnBrk="1" hangingPunct="1">
              <a:lnSpc>
                <a:spcPct val="150000"/>
              </a:lnSpc>
              <a:buNone/>
            </a:pPr>
            <a:r>
              <a:rPr lang="en-US" altLang="zh-CN" sz="2600" b="1" dirty="0">
                <a:solidFill>
                  <a:srgbClr val="333399"/>
                </a:solidFill>
                <a:latin typeface="宋体" panose="02010600030101010101" pitchFamily="2" charset="-122"/>
                <a:ea typeface="宋体" panose="02010600030101010101" pitchFamily="2" charset="-122"/>
              </a:rPr>
              <a:t>2.</a:t>
            </a:r>
            <a:r>
              <a:rPr lang="zh-CN" altLang="en-US" sz="2600" b="1" dirty="0">
                <a:solidFill>
                  <a:srgbClr val="333399"/>
                </a:solidFill>
                <a:latin typeface="宋体" panose="02010600030101010101" pitchFamily="2" charset="-122"/>
                <a:ea typeface="宋体" panose="02010600030101010101" pitchFamily="2" charset="-122"/>
              </a:rPr>
              <a:t>原理：</a:t>
            </a:r>
            <a:endParaRPr lang="en-US" altLang="zh-CN" sz="2600" b="1" dirty="0">
              <a:solidFill>
                <a:srgbClr val="333399"/>
              </a:solidFill>
              <a:latin typeface="宋体" panose="02010600030101010101" pitchFamily="2" charset="-122"/>
              <a:ea typeface="宋体" panose="02010600030101010101" pitchFamily="2" charset="-122"/>
            </a:endParaRPr>
          </a:p>
          <a:p>
            <a:pPr algn="l" eaLnBrk="1" hangingPunct="1">
              <a:lnSpc>
                <a:spcPct val="150000"/>
              </a:lnSpc>
              <a:buNone/>
            </a:pPr>
            <a:r>
              <a:rPr lang="en-US" altLang="zh-CN" sz="2600" b="1" dirty="0">
                <a:solidFill>
                  <a:srgbClr val="333399"/>
                </a:solidFill>
                <a:latin typeface="宋体" panose="02010600030101010101" pitchFamily="2" charset="-122"/>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密钥分别为公开密钥</a:t>
            </a:r>
            <a:r>
              <a:rPr lang="en-US" altLang="zh-CN" sz="2600" b="1" dirty="0">
                <a:latin typeface="宋体" panose="02010600030101010101" pitchFamily="2" charset="-122"/>
                <a:ea typeface="宋体" panose="02010600030101010101" pitchFamily="2" charset="-122"/>
              </a:rPr>
              <a:t>(Public Key) </a:t>
            </a:r>
            <a:r>
              <a:rPr lang="zh-CN" altLang="en-US" sz="2600" b="1" dirty="0">
                <a:latin typeface="宋体" panose="02010600030101010101" pitchFamily="2" charset="-122"/>
                <a:ea typeface="宋体" panose="02010600030101010101" pitchFamily="2" charset="-122"/>
              </a:rPr>
              <a:t>和私有密钥</a:t>
            </a:r>
            <a:r>
              <a:rPr lang="en-US" altLang="zh-CN" sz="2600" b="1" dirty="0">
                <a:latin typeface="宋体" panose="02010600030101010101" pitchFamily="2" charset="-122"/>
                <a:ea typeface="宋体" panose="02010600030101010101" pitchFamily="2" charset="-122"/>
              </a:rPr>
              <a:t>(Private Key)</a:t>
            </a:r>
            <a:r>
              <a:rPr lang="zh-CN" altLang="en-US" sz="2600" b="1" dirty="0">
                <a:latin typeface="宋体" panose="02010600030101010101" pitchFamily="2" charset="-122"/>
                <a:ea typeface="宋体" panose="02010600030101010101" pitchFamily="2" charset="-122"/>
              </a:rPr>
              <a:t>。一个密钥用于加密，另一个密钥用于解密。</a:t>
            </a:r>
            <a:endParaRPr lang="zh-CN" altLang="en-US" sz="2600" b="1" dirty="0">
              <a:latin typeface="宋体" panose="02010600030101010101" pitchFamily="2" charset="-122"/>
              <a:ea typeface="宋体" panose="02010600030101010101" pitchFamily="2" charset="-122"/>
            </a:endParaRPr>
          </a:p>
          <a:p>
            <a:pPr algn="l" eaLnBrk="1" hangingPunct="1">
              <a:lnSpc>
                <a:spcPct val="150000"/>
              </a:lnSpc>
              <a:buNone/>
            </a:pPr>
            <a:r>
              <a:rPr lang="zh-CN" altLang="en-US" sz="2600" b="1" dirty="0">
                <a:latin typeface="宋体" panose="02010600030101010101" pitchFamily="2" charset="-122"/>
                <a:ea typeface="宋体" panose="02010600030101010101" pitchFamily="2" charset="-122"/>
              </a:rPr>
              <a:t>    ① 仅知道密码算法和加密密钥而要确定解密密钥，在计算上是不可能的；</a:t>
            </a:r>
            <a:endParaRPr lang="zh-CN" altLang="en-US" sz="2600" b="1" dirty="0">
              <a:latin typeface="宋体" panose="02010600030101010101" pitchFamily="2" charset="-122"/>
              <a:ea typeface="宋体" panose="02010600030101010101" pitchFamily="2" charset="-122"/>
            </a:endParaRPr>
          </a:p>
          <a:p>
            <a:pPr algn="l" eaLnBrk="1" hangingPunct="1">
              <a:lnSpc>
                <a:spcPct val="150000"/>
              </a:lnSpc>
              <a:buNone/>
            </a:pPr>
            <a:r>
              <a:rPr lang="zh-CN" altLang="en-US" sz="2600" b="1" dirty="0">
                <a:latin typeface="宋体" panose="02010600030101010101" pitchFamily="2" charset="-122"/>
                <a:ea typeface="宋体" panose="02010600030101010101" pitchFamily="2" charset="-122"/>
              </a:rPr>
              <a:t>    ② 两个相关密钥中</a:t>
            </a:r>
            <a:r>
              <a:rPr lang="zh-CN" altLang="en-US" sz="2600" b="1" dirty="0">
                <a:solidFill>
                  <a:srgbClr val="FF0000"/>
                </a:solidFill>
                <a:latin typeface="宋体" panose="02010600030101010101" pitchFamily="2" charset="-122"/>
                <a:ea typeface="宋体" panose="02010600030101010101" pitchFamily="2" charset="-122"/>
              </a:rPr>
              <a:t>任何一个</a:t>
            </a:r>
            <a:r>
              <a:rPr lang="zh-CN" altLang="en-US" sz="2600" b="1" dirty="0">
                <a:latin typeface="宋体" panose="02010600030101010101" pitchFamily="2" charset="-122"/>
                <a:ea typeface="宋体" panose="02010600030101010101" pitchFamily="2" charset="-122"/>
              </a:rPr>
              <a:t>都可以用作加密而让另外一个解密。</a:t>
            </a:r>
            <a:endParaRPr lang="zh-CN" altLang="en-US" sz="2600" b="1" dirty="0">
              <a:latin typeface="宋体" panose="02010600030101010101" pitchFamily="2" charset="-122"/>
              <a:ea typeface="宋体" panose="02010600030101010101" pitchFamily="2" charset="-122"/>
            </a:endParaRPr>
          </a:p>
        </p:txBody>
      </p:sp>
      <p:sp>
        <p:nvSpPr>
          <p:cNvPr id="71684" name="Rectangle 5"/>
          <p:cNvSpPr>
            <a:spLocks noGrp="1"/>
          </p:cNvSpPr>
          <p:nvPr>
            <p:ph type="title"/>
          </p:nvPr>
        </p:nvSpPr>
        <p:spPr>
          <a:xfrm>
            <a:off x="215900" y="50800"/>
            <a:ext cx="8650288" cy="1019175"/>
          </a:xfrm>
        </p:spPr>
        <p:txBody>
          <a:bodyPr vert="horz" wrap="square" lIns="91440" tIns="45720" rIns="91440" bIns="45720" anchor="ctr" anchorCtr="0"/>
          <a:lstStyle/>
          <a:p>
            <a:pPr eaLnBrk="1" hangingPunct="1">
              <a:lnSpc>
                <a:spcPct val="120000"/>
              </a:lnSpc>
            </a:pPr>
            <a:r>
              <a:rPr lang="en-US" altLang="zh-CN" dirty="0">
                <a:ea typeface="宋体" panose="02010600030101010101" pitchFamily="2" charset="-122"/>
              </a:rPr>
              <a:t>Public-Key Cryptosystems: RSA</a:t>
            </a: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48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4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77506" name="Rectangle 2"/>
          <p:cNvSpPr>
            <a:spLocks noGrp="1"/>
          </p:cNvSpPr>
          <p:nvPr>
            <p:ph idx="1"/>
          </p:nvPr>
        </p:nvSpPr>
        <p:spPr>
          <a:xfrm>
            <a:off x="179388" y="1090613"/>
            <a:ext cx="8964612" cy="5329237"/>
          </a:xfrm>
        </p:spPr>
        <p:txBody>
          <a:bodyPr vert="horz" wrap="square" lIns="91440" tIns="45720" rIns="91440" bIns="45720" anchor="t" anchorCtr="0"/>
          <a:lstStyle/>
          <a:p>
            <a:pPr algn="l" eaLnBrk="1" hangingPunct="1">
              <a:lnSpc>
                <a:spcPct val="130000"/>
              </a:lnSpc>
              <a:buNone/>
            </a:pPr>
            <a:r>
              <a:rPr lang="zh-CN" altLang="en-US" dirty="0">
                <a:latin typeface="宋体" panose="02010600030101010101" pitchFamily="2" charset="-122"/>
                <a:ea typeface="宋体" panose="02010600030101010101" pitchFamily="2" charset="-122"/>
              </a:rPr>
              <a:t>产生私钥和公钥的步骤</a:t>
            </a:r>
            <a:r>
              <a:rPr lang="zh-CN" altLang="en-US" b="1" dirty="0">
                <a:solidFill>
                  <a:srgbClr val="333399"/>
                </a:solidFill>
                <a:latin typeface="宋体" panose="02010600030101010101" pitchFamily="2" charset="-122"/>
                <a:ea typeface="宋体" panose="02010600030101010101" pitchFamily="2" charset="-122"/>
              </a:rPr>
              <a:t>：</a:t>
            </a:r>
            <a:endParaRPr lang="zh-CN" altLang="en-US" b="1" dirty="0">
              <a:solidFill>
                <a:srgbClr val="333399"/>
              </a:solidFill>
              <a:latin typeface="宋体" panose="02010600030101010101" pitchFamily="2" charset="-122"/>
              <a:ea typeface="宋体" panose="02010600030101010101" pitchFamily="2" charset="-122"/>
            </a:endParaRPr>
          </a:p>
          <a:p>
            <a:pPr algn="l" eaLnBrk="1" hangingPunct="1">
              <a:lnSpc>
                <a:spcPct val="130000"/>
              </a:lnSpc>
              <a:buNone/>
            </a:pPr>
            <a:r>
              <a:rPr lang="zh-CN" altLang="en-US" dirty="0">
                <a:ea typeface="宋体" panose="02010600030101010101" pitchFamily="2" charset="-122"/>
              </a:rPr>
              <a:t>      ① 寻找两个大素数 </a:t>
            </a:r>
            <a:r>
              <a:rPr lang="en-US" altLang="zh-CN" i="1" dirty="0">
                <a:ea typeface="宋体" panose="02010600030101010101" pitchFamily="2" charset="-122"/>
              </a:rPr>
              <a:t>p </a:t>
            </a:r>
            <a:r>
              <a:rPr lang="zh-CN" altLang="en-US" dirty="0">
                <a:ea typeface="宋体" panose="02010600030101010101" pitchFamily="2" charset="-122"/>
              </a:rPr>
              <a:t>和 </a:t>
            </a:r>
            <a:r>
              <a:rPr lang="en-US" altLang="zh-CN" i="1" dirty="0">
                <a:ea typeface="宋体" panose="02010600030101010101" pitchFamily="2" charset="-122"/>
              </a:rPr>
              <a:t>q</a:t>
            </a:r>
            <a:r>
              <a:rPr lang="en-US" altLang="zh-CN" dirty="0">
                <a:ea typeface="宋体" panose="02010600030101010101" pitchFamily="2" charset="-122"/>
              </a:rPr>
              <a:t>;</a:t>
            </a:r>
            <a:endParaRPr lang="zh-CN" altLang="en-US" dirty="0">
              <a:ea typeface="宋体" panose="02010600030101010101" pitchFamily="2" charset="-122"/>
            </a:endParaRPr>
          </a:p>
          <a:p>
            <a:pPr algn="l" eaLnBrk="1" hangingPunct="1">
              <a:lnSpc>
                <a:spcPct val="130000"/>
              </a:lnSpc>
              <a:buNone/>
            </a:pPr>
            <a:r>
              <a:rPr lang="zh-CN" altLang="en-US" dirty="0">
                <a:ea typeface="宋体" panose="02010600030101010101" pitchFamily="2" charset="-122"/>
              </a:rPr>
              <a:t>      ② 计算出 </a:t>
            </a:r>
            <a:r>
              <a:rPr lang="en-US" altLang="zh-CN" i="1" dirty="0">
                <a:ea typeface="宋体" panose="02010600030101010101" pitchFamily="2" charset="-122"/>
              </a:rPr>
              <a:t>n </a:t>
            </a:r>
            <a:r>
              <a:rPr lang="en-US" altLang="zh-CN" dirty="0">
                <a:ea typeface="宋体" panose="02010600030101010101" pitchFamily="2" charset="-122"/>
              </a:rPr>
              <a:t>= </a:t>
            </a:r>
            <a:r>
              <a:rPr lang="en-US" altLang="zh-CN" i="1" dirty="0">
                <a:ea typeface="宋体" panose="02010600030101010101" pitchFamily="2" charset="-122"/>
              </a:rPr>
              <a:t>p</a:t>
            </a:r>
            <a:r>
              <a:rPr lang="en-US" altLang="zh-CN" dirty="0">
                <a:ea typeface="宋体" panose="02010600030101010101" pitchFamily="2" charset="-122"/>
              </a:rPr>
              <a:t>×</a:t>
            </a:r>
            <a:r>
              <a:rPr lang="en-US" altLang="zh-CN" i="1" dirty="0">
                <a:ea typeface="宋体" panose="02010600030101010101" pitchFamily="2" charset="-122"/>
              </a:rPr>
              <a:t>q </a:t>
            </a:r>
            <a:r>
              <a:rPr lang="zh-CN" altLang="en-US" dirty="0">
                <a:ea typeface="宋体" panose="02010600030101010101" pitchFamily="2" charset="-122"/>
              </a:rPr>
              <a:t>和 </a:t>
            </a:r>
            <a:r>
              <a:rPr lang="en-US" altLang="zh-CN" dirty="0">
                <a:ea typeface="宋体" panose="02010600030101010101" pitchFamily="2" charset="-122"/>
              </a:rPr>
              <a:t>z = (</a:t>
            </a:r>
            <a:r>
              <a:rPr lang="en-US" altLang="zh-CN" i="1" dirty="0">
                <a:ea typeface="宋体" panose="02010600030101010101" pitchFamily="2" charset="-122"/>
              </a:rPr>
              <a:t>p</a:t>
            </a:r>
            <a:r>
              <a:rPr lang="en-US" altLang="zh-CN" dirty="0">
                <a:ea typeface="宋体" panose="02010600030101010101" pitchFamily="2" charset="-122"/>
              </a:rPr>
              <a:t>-1)×(</a:t>
            </a:r>
            <a:r>
              <a:rPr lang="en-US" altLang="zh-CN" i="1" dirty="0">
                <a:ea typeface="宋体" panose="02010600030101010101" pitchFamily="2" charset="-122"/>
              </a:rPr>
              <a:t>q</a:t>
            </a:r>
            <a:r>
              <a:rPr lang="en-US" altLang="zh-CN" dirty="0">
                <a:ea typeface="宋体" panose="02010600030101010101" pitchFamily="2" charset="-122"/>
              </a:rPr>
              <a:t>-1);</a:t>
            </a:r>
            <a:endParaRPr lang="zh-CN" altLang="en-US" dirty="0">
              <a:ea typeface="宋体" panose="02010600030101010101" pitchFamily="2" charset="-122"/>
            </a:endParaRPr>
          </a:p>
          <a:p>
            <a:pPr algn="l" eaLnBrk="1" hangingPunct="1">
              <a:lnSpc>
                <a:spcPct val="130000"/>
              </a:lnSpc>
              <a:buNone/>
            </a:pPr>
            <a:r>
              <a:rPr lang="zh-CN" altLang="en-US" dirty="0">
                <a:ea typeface="宋体" panose="02010600030101010101" pitchFamily="2" charset="-122"/>
              </a:rPr>
              <a:t>      ③ 选择一个与</a:t>
            </a:r>
            <a:r>
              <a:rPr lang="en-US" altLang="zh-CN" dirty="0">
                <a:ea typeface="宋体" panose="02010600030101010101" pitchFamily="2" charset="-122"/>
              </a:rPr>
              <a:t>z</a:t>
            </a:r>
            <a:r>
              <a:rPr lang="zh-CN" altLang="en-US" dirty="0">
                <a:ea typeface="宋体" panose="02010600030101010101" pitchFamily="2" charset="-122"/>
              </a:rPr>
              <a:t>相关的</a:t>
            </a:r>
            <a:r>
              <a:rPr lang="zh-CN" altLang="en-US" dirty="0">
                <a:solidFill>
                  <a:srgbClr val="FF0000"/>
                </a:solidFill>
                <a:ea typeface="宋体" panose="02010600030101010101" pitchFamily="2" charset="-122"/>
              </a:rPr>
              <a:t>素数</a:t>
            </a:r>
            <a:r>
              <a:rPr lang="en-US" altLang="zh-CN" dirty="0">
                <a:solidFill>
                  <a:srgbClr val="FF0000"/>
                </a:solidFill>
                <a:ea typeface="宋体" panose="02010600030101010101" pitchFamily="2" charset="-122"/>
              </a:rPr>
              <a:t>d</a:t>
            </a:r>
            <a:r>
              <a:rPr lang="en-US" altLang="zh-CN" dirty="0">
                <a:ea typeface="宋体" panose="02010600030101010101" pitchFamily="2" charset="-122"/>
              </a:rPr>
              <a:t> </a:t>
            </a:r>
            <a:r>
              <a:rPr lang="zh-CN" altLang="en-US" dirty="0">
                <a:ea typeface="宋体" panose="02010600030101010101" pitchFamily="2" charset="-122"/>
              </a:rPr>
              <a:t>；</a:t>
            </a:r>
            <a:r>
              <a:rPr lang="en-US" altLang="zh-CN" dirty="0">
                <a:ea typeface="宋体" panose="02010600030101010101" pitchFamily="2" charset="-122"/>
              </a:rPr>
              <a:t>(</a:t>
            </a:r>
            <a:r>
              <a:rPr lang="zh-CN" altLang="en-US" dirty="0">
                <a:ea typeface="宋体" panose="02010600030101010101" pitchFamily="2" charset="-122"/>
              </a:rPr>
              <a:t> </a:t>
            </a:r>
            <a:r>
              <a:rPr lang="en-US" altLang="zh-CN" i="1" dirty="0">
                <a:ea typeface="宋体" panose="02010600030101010101" pitchFamily="2" charset="-122"/>
              </a:rPr>
              <a:t>d </a:t>
            </a:r>
            <a:r>
              <a:rPr lang="zh-CN" altLang="en-US" dirty="0">
                <a:ea typeface="宋体" panose="02010600030101010101" pitchFamily="2" charset="-122"/>
              </a:rPr>
              <a:t>和 </a:t>
            </a:r>
            <a:r>
              <a:rPr lang="en-US" altLang="zh-CN" dirty="0">
                <a:ea typeface="宋体" panose="02010600030101010101" pitchFamily="2" charset="-122"/>
              </a:rPr>
              <a:t>z</a:t>
            </a:r>
            <a:r>
              <a:rPr lang="zh-CN" altLang="en-US" dirty="0">
                <a:ea typeface="宋体" panose="02010600030101010101" pitchFamily="2" charset="-122"/>
              </a:rPr>
              <a:t>互素</a:t>
            </a:r>
            <a:r>
              <a:rPr lang="en-US" altLang="zh-CN" dirty="0">
                <a:ea typeface="宋体" panose="02010600030101010101" pitchFamily="2" charset="-122"/>
              </a:rPr>
              <a:t>);</a:t>
            </a:r>
            <a:endParaRPr lang="zh-CN" altLang="en-US" dirty="0">
              <a:ea typeface="宋体" panose="02010600030101010101" pitchFamily="2" charset="-122"/>
            </a:endParaRPr>
          </a:p>
          <a:p>
            <a:pPr algn="l" eaLnBrk="1" hangingPunct="1">
              <a:lnSpc>
                <a:spcPct val="130000"/>
              </a:lnSpc>
              <a:buNone/>
            </a:pPr>
            <a:r>
              <a:rPr lang="zh-CN" altLang="en-US" dirty="0">
                <a:ea typeface="宋体" panose="02010600030101010101" pitchFamily="2" charset="-122"/>
              </a:rPr>
              <a:t>      ④ 计算</a:t>
            </a:r>
            <a:r>
              <a:rPr lang="en-US" altLang="zh-CN" i="1" dirty="0">
                <a:solidFill>
                  <a:srgbClr val="FF0000"/>
                </a:solidFill>
                <a:ea typeface="宋体" panose="02010600030101010101" pitchFamily="2" charset="-122"/>
              </a:rPr>
              <a:t>e</a:t>
            </a:r>
            <a:r>
              <a:rPr lang="zh-CN" altLang="en-US" dirty="0">
                <a:ea typeface="宋体" panose="02010600030101010101" pitchFamily="2" charset="-122"/>
              </a:rPr>
              <a:t>使得</a:t>
            </a:r>
            <a:r>
              <a:rPr lang="en-US" altLang="zh-CN" i="1" dirty="0">
                <a:ea typeface="宋体" panose="02010600030101010101" pitchFamily="2" charset="-122"/>
              </a:rPr>
              <a:t>e</a:t>
            </a:r>
            <a:r>
              <a:rPr lang="en-US" altLang="zh-CN" dirty="0">
                <a:ea typeface="宋体" panose="02010600030101010101" pitchFamily="2" charset="-122"/>
              </a:rPr>
              <a:t>×</a:t>
            </a:r>
            <a:r>
              <a:rPr lang="en-US" altLang="zh-CN" i="1" dirty="0">
                <a:ea typeface="宋体" panose="02010600030101010101" pitchFamily="2" charset="-122"/>
              </a:rPr>
              <a:t>d =1 mod z</a:t>
            </a:r>
            <a:r>
              <a:rPr lang="zh-CN" altLang="en-US" dirty="0">
                <a:ea typeface="宋体" panose="02010600030101010101" pitchFamily="2" charset="-122"/>
              </a:rPr>
              <a:t>（由</a:t>
            </a:r>
            <a:r>
              <a:rPr lang="en-US" altLang="zh-CN" dirty="0">
                <a:ea typeface="宋体" panose="02010600030101010101" pitchFamily="2" charset="-122"/>
              </a:rPr>
              <a:t>Euclidean</a:t>
            </a:r>
            <a:r>
              <a:rPr lang="zh-CN" altLang="en-US" dirty="0">
                <a:ea typeface="宋体" panose="02010600030101010101" pitchFamily="2" charset="-122"/>
              </a:rPr>
              <a:t>辗转相除算法求</a:t>
            </a:r>
            <a:r>
              <a:rPr lang="en-US" altLang="zh-CN" i="1" dirty="0">
                <a:ea typeface="宋体" panose="02010600030101010101" pitchFamily="2" charset="-122"/>
              </a:rPr>
              <a:t>e,</a:t>
            </a:r>
            <a:r>
              <a:rPr lang="zh-CN" altLang="en-US" dirty="0">
                <a:ea typeface="宋体" panose="02010600030101010101" pitchFamily="2" charset="-122"/>
              </a:rPr>
              <a:t> 求两个正整数最大公因子的算法）。</a:t>
            </a:r>
            <a:endParaRPr lang="zh-CN" altLang="en-US" dirty="0">
              <a:ea typeface="宋体" panose="02010600030101010101" pitchFamily="2" charset="-122"/>
            </a:endParaRPr>
          </a:p>
          <a:p>
            <a:pPr algn="l" eaLnBrk="1" hangingPunct="1">
              <a:lnSpc>
                <a:spcPct val="130000"/>
              </a:lnSpc>
              <a:buNone/>
            </a:pPr>
            <a:r>
              <a:rPr lang="zh-CN" altLang="en-US" dirty="0">
                <a:ea typeface="宋体" panose="02010600030101010101" pitchFamily="2" charset="-122"/>
              </a:rPr>
              <a:t>      ⑤ </a:t>
            </a:r>
            <a:r>
              <a:rPr lang="en-US" altLang="zh-CN" dirty="0">
                <a:ea typeface="宋体" panose="02010600030101010101" pitchFamily="2" charset="-122"/>
              </a:rPr>
              <a:t>e </a:t>
            </a:r>
            <a:r>
              <a:rPr lang="zh-CN" altLang="en-US" dirty="0">
                <a:ea typeface="宋体" panose="02010600030101010101" pitchFamily="2" charset="-122"/>
              </a:rPr>
              <a:t>和</a:t>
            </a:r>
            <a:r>
              <a:rPr lang="en-US" altLang="zh-CN" dirty="0">
                <a:ea typeface="宋体" panose="02010600030101010101" pitchFamily="2" charset="-122"/>
              </a:rPr>
              <a:t>n</a:t>
            </a:r>
            <a:r>
              <a:rPr lang="zh-CN" altLang="en-US" dirty="0">
                <a:ea typeface="宋体" panose="02010600030101010101" pitchFamily="2" charset="-122"/>
              </a:rPr>
              <a:t>作为公钥，</a:t>
            </a:r>
            <a:r>
              <a:rPr lang="en-US" altLang="zh-CN" dirty="0">
                <a:ea typeface="宋体" panose="02010600030101010101" pitchFamily="2" charset="-122"/>
              </a:rPr>
              <a:t>d</a:t>
            </a:r>
            <a:r>
              <a:rPr lang="zh-CN" altLang="en-US" dirty="0">
                <a:ea typeface="宋体" panose="02010600030101010101" pitchFamily="2" charset="-122"/>
              </a:rPr>
              <a:t>和</a:t>
            </a:r>
            <a:r>
              <a:rPr lang="en-US" altLang="zh-CN" dirty="0">
                <a:ea typeface="宋体" panose="02010600030101010101" pitchFamily="2" charset="-122"/>
              </a:rPr>
              <a:t>n</a:t>
            </a:r>
            <a:r>
              <a:rPr lang="zh-CN" altLang="en-US" dirty="0">
                <a:ea typeface="宋体" panose="02010600030101010101" pitchFamily="2" charset="-122"/>
              </a:rPr>
              <a:t>作为私钥</a:t>
            </a:r>
            <a:r>
              <a:rPr lang="en-US" altLang="zh-CN" dirty="0">
                <a:ea typeface="宋体" panose="02010600030101010101" pitchFamily="2" charset="-122"/>
              </a:rPr>
              <a:t>;</a:t>
            </a:r>
            <a:endParaRPr lang="zh-CN" altLang="en-US" dirty="0">
              <a:ea typeface="宋体" panose="02010600030101010101" pitchFamily="2" charset="-122"/>
            </a:endParaRPr>
          </a:p>
          <a:p>
            <a:pPr algn="l" eaLnBrk="1" hangingPunct="1">
              <a:lnSpc>
                <a:spcPct val="130000"/>
              </a:lnSpc>
              <a:buNone/>
            </a:pPr>
            <a:r>
              <a:rPr lang="zh-CN" altLang="en-US" dirty="0">
                <a:ea typeface="宋体" panose="02010600030101010101" pitchFamily="2" charset="-122"/>
              </a:rPr>
              <a:t>     加密：对每一明文</a:t>
            </a:r>
            <a:r>
              <a:rPr lang="en-US" altLang="zh-CN" i="1" dirty="0">
                <a:ea typeface="宋体" panose="02010600030101010101" pitchFamily="2" charset="-122"/>
              </a:rPr>
              <a:t>M</a:t>
            </a:r>
            <a:r>
              <a:rPr lang="zh-CN" altLang="en-US" dirty="0">
                <a:ea typeface="宋体" panose="02010600030101010101" pitchFamily="2" charset="-122"/>
              </a:rPr>
              <a:t>计算密文  </a:t>
            </a:r>
            <a:r>
              <a:rPr lang="en-US" altLang="zh-CN" b="1" i="1" dirty="0">
                <a:solidFill>
                  <a:srgbClr val="333399"/>
                </a:solidFill>
                <a:ea typeface="宋体" panose="02010600030101010101" pitchFamily="2" charset="-122"/>
              </a:rPr>
              <a:t>C </a:t>
            </a:r>
            <a:r>
              <a:rPr lang="en-US" altLang="zh-CN" b="1" dirty="0">
                <a:solidFill>
                  <a:srgbClr val="333399"/>
                </a:solidFill>
                <a:ea typeface="宋体" panose="02010600030101010101" pitchFamily="2" charset="-122"/>
              </a:rPr>
              <a:t>= </a:t>
            </a:r>
            <a:r>
              <a:rPr lang="en-US" altLang="zh-CN" b="1" i="1" dirty="0">
                <a:solidFill>
                  <a:srgbClr val="333399"/>
                </a:solidFill>
                <a:ea typeface="宋体" panose="02010600030101010101" pitchFamily="2" charset="-122"/>
              </a:rPr>
              <a:t>M</a:t>
            </a:r>
            <a:r>
              <a:rPr lang="en-US" altLang="zh-CN" b="1" i="1" baseline="40000" dirty="0">
                <a:solidFill>
                  <a:srgbClr val="333399"/>
                </a:solidFill>
                <a:ea typeface="宋体" panose="02010600030101010101" pitchFamily="2" charset="-122"/>
              </a:rPr>
              <a:t>e</a:t>
            </a:r>
            <a:r>
              <a:rPr lang="en-US" altLang="zh-CN" b="1" i="1" baseline="50000" dirty="0">
                <a:solidFill>
                  <a:srgbClr val="333399"/>
                </a:solidFill>
                <a:ea typeface="宋体" panose="02010600030101010101" pitchFamily="2" charset="-122"/>
              </a:rPr>
              <a:t> </a:t>
            </a:r>
            <a:r>
              <a:rPr lang="en-US" altLang="zh-CN" b="1" dirty="0">
                <a:solidFill>
                  <a:srgbClr val="333399"/>
                </a:solidFill>
                <a:ea typeface="宋体" panose="02010600030101010101" pitchFamily="2" charset="-122"/>
              </a:rPr>
              <a:t>(mod </a:t>
            </a:r>
            <a:r>
              <a:rPr lang="en-US" altLang="zh-CN" b="1" i="1" dirty="0">
                <a:solidFill>
                  <a:srgbClr val="333399"/>
                </a:solidFill>
                <a:ea typeface="宋体" panose="02010600030101010101" pitchFamily="2" charset="-122"/>
              </a:rPr>
              <a:t>n</a:t>
            </a:r>
            <a:r>
              <a:rPr lang="en-US" altLang="zh-CN" b="1" dirty="0">
                <a:solidFill>
                  <a:srgbClr val="333399"/>
                </a:solidFill>
                <a:ea typeface="宋体" panose="02010600030101010101" pitchFamily="2" charset="-122"/>
              </a:rPr>
              <a:t>)</a:t>
            </a:r>
            <a:endParaRPr lang="en-US" altLang="zh-CN" b="1" dirty="0">
              <a:solidFill>
                <a:srgbClr val="333399"/>
              </a:solidFill>
              <a:ea typeface="宋体" panose="02010600030101010101" pitchFamily="2" charset="-122"/>
            </a:endParaRPr>
          </a:p>
          <a:p>
            <a:pPr algn="l" eaLnBrk="1" hangingPunct="1">
              <a:lnSpc>
                <a:spcPct val="130000"/>
              </a:lnSpc>
              <a:buNone/>
            </a:pPr>
            <a:r>
              <a:rPr lang="en-US" altLang="zh-CN" dirty="0">
                <a:ea typeface="宋体" panose="02010600030101010101" pitchFamily="2" charset="-122"/>
              </a:rPr>
              <a:t>     </a:t>
            </a:r>
            <a:r>
              <a:rPr lang="zh-CN" altLang="en-US" dirty="0">
                <a:ea typeface="宋体" panose="02010600030101010101" pitchFamily="2" charset="-122"/>
              </a:rPr>
              <a:t>解密：对每一密文</a:t>
            </a:r>
            <a:r>
              <a:rPr lang="en-US" altLang="zh-CN" i="1" dirty="0">
                <a:ea typeface="宋体" panose="02010600030101010101" pitchFamily="2" charset="-122"/>
              </a:rPr>
              <a:t>C</a:t>
            </a:r>
            <a:r>
              <a:rPr lang="zh-CN" altLang="en-US" dirty="0">
                <a:ea typeface="宋体" panose="02010600030101010101" pitchFamily="2" charset="-122"/>
              </a:rPr>
              <a:t>计算明文  </a:t>
            </a:r>
            <a:r>
              <a:rPr lang="en-US" altLang="zh-CN" b="1" i="1" dirty="0">
                <a:solidFill>
                  <a:srgbClr val="333399"/>
                </a:solidFill>
                <a:ea typeface="宋体" panose="02010600030101010101" pitchFamily="2" charset="-122"/>
              </a:rPr>
              <a:t>M </a:t>
            </a:r>
            <a:r>
              <a:rPr lang="en-US" altLang="zh-CN" b="1" dirty="0">
                <a:solidFill>
                  <a:srgbClr val="333399"/>
                </a:solidFill>
                <a:ea typeface="宋体" panose="02010600030101010101" pitchFamily="2" charset="-122"/>
              </a:rPr>
              <a:t>= </a:t>
            </a:r>
            <a:r>
              <a:rPr lang="en-US" altLang="zh-CN" b="1" i="1" dirty="0">
                <a:solidFill>
                  <a:srgbClr val="333399"/>
                </a:solidFill>
                <a:ea typeface="宋体" panose="02010600030101010101" pitchFamily="2" charset="-122"/>
              </a:rPr>
              <a:t>C</a:t>
            </a:r>
            <a:r>
              <a:rPr lang="en-US" altLang="zh-CN" b="1" i="1" baseline="44000" dirty="0">
                <a:solidFill>
                  <a:srgbClr val="333399"/>
                </a:solidFill>
                <a:ea typeface="宋体" panose="02010600030101010101" pitchFamily="2" charset="-122"/>
              </a:rPr>
              <a:t>d</a:t>
            </a:r>
            <a:r>
              <a:rPr lang="en-US" altLang="zh-CN" b="1" i="1" baseline="40000" dirty="0">
                <a:solidFill>
                  <a:srgbClr val="333399"/>
                </a:solidFill>
                <a:ea typeface="宋体" panose="02010600030101010101" pitchFamily="2" charset="-122"/>
              </a:rPr>
              <a:t> </a:t>
            </a:r>
            <a:r>
              <a:rPr lang="en-US" altLang="zh-CN" b="1" dirty="0">
                <a:solidFill>
                  <a:srgbClr val="333399"/>
                </a:solidFill>
                <a:ea typeface="宋体" panose="02010600030101010101" pitchFamily="2" charset="-122"/>
              </a:rPr>
              <a:t>(mod </a:t>
            </a:r>
            <a:r>
              <a:rPr lang="en-US" altLang="zh-CN" b="1" i="1" dirty="0">
                <a:solidFill>
                  <a:srgbClr val="333399"/>
                </a:solidFill>
                <a:ea typeface="宋体" panose="02010600030101010101" pitchFamily="2" charset="-122"/>
              </a:rPr>
              <a:t>n</a:t>
            </a:r>
            <a:r>
              <a:rPr lang="en-US" altLang="zh-CN" b="1" dirty="0">
                <a:solidFill>
                  <a:srgbClr val="333399"/>
                </a:solidFill>
                <a:ea typeface="宋体" panose="02010600030101010101" pitchFamily="2" charset="-122"/>
              </a:rPr>
              <a:t>) </a:t>
            </a:r>
            <a:endParaRPr lang="en-US" altLang="zh-CN" b="1" dirty="0">
              <a:solidFill>
                <a:srgbClr val="333399"/>
              </a:solidFill>
              <a:ea typeface="宋体" panose="02010600030101010101" pitchFamily="2" charset="-122"/>
            </a:endParaRPr>
          </a:p>
        </p:txBody>
      </p:sp>
      <p:sp>
        <p:nvSpPr>
          <p:cNvPr id="74756" name="Rectangle 5"/>
          <p:cNvSpPr>
            <a:spLocks noGrp="1"/>
          </p:cNvSpPr>
          <p:nvPr>
            <p:ph type="title"/>
          </p:nvPr>
        </p:nvSpPr>
        <p:spPr>
          <a:xfrm>
            <a:off x="215900" y="50800"/>
            <a:ext cx="8650288" cy="1019175"/>
          </a:xfrm>
        </p:spPr>
        <p:txBody>
          <a:bodyPr vert="horz" wrap="square" lIns="91440" tIns="45720" rIns="91440" bIns="45720" anchor="ctr" anchorCtr="0"/>
          <a:lstStyle/>
          <a:p>
            <a:pPr eaLnBrk="1" hangingPunct="1"/>
            <a:r>
              <a:rPr lang="en-US" altLang="zh-CN" dirty="0">
                <a:ea typeface="宋体" panose="02010600030101010101" pitchFamily="2" charset="-122"/>
              </a:rPr>
              <a:t>Public-Key Cryptosystems: RSA</a:t>
            </a: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5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750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750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750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750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750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750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279554" name="Rectangle 2"/>
          <p:cNvSpPr>
            <a:spLocks noGrp="1" noChangeArrowheads="1"/>
          </p:cNvSpPr>
          <p:nvPr>
            <p:ph idx="1"/>
          </p:nvPr>
        </p:nvSpPr>
        <p:spPr>
          <a:xfrm>
            <a:off x="247650" y="903288"/>
            <a:ext cx="8648700" cy="5608638"/>
          </a:xfrm>
        </p:spPr>
        <p:txBody>
          <a:bodyPr vert="horz" wrap="square" lIns="91440" tIns="45720" rIns="91440" bIns="45720" numCol="1" anchor="t" anchorCtr="0" compatLnSpc="1"/>
          <a:lstStyle/>
          <a:p>
            <a:pPr marL="609600" marR="0" lvl="0" indent="-609600" algn="l" defTabSz="914400" rtl="0" eaLnBrk="1" fontAlgn="base" latinLnBrk="0" hangingPunct="1">
              <a:lnSpc>
                <a:spcPct val="100000"/>
              </a:lnSpc>
              <a:spcBef>
                <a:spcPct val="20000"/>
              </a:spcBef>
              <a:spcAft>
                <a:spcPct val="0"/>
              </a:spcAft>
              <a:buClr>
                <a:schemeClr val="accent2"/>
              </a:buClr>
              <a:buSzTx/>
              <a:buFontTx/>
              <a:buNone/>
              <a:defRPr/>
            </a:pPr>
            <a:r>
              <a:rPr kumimoji="0" lang="zh-CN" altLang="en-US" sz="22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举例</a:t>
            </a:r>
            <a:r>
              <a:rPr kumimoji="0" lang="en-US" altLang="zh-CN" sz="22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设有两个用户</a:t>
            </a:r>
            <a:r>
              <a:rPr kumimoji="0" lang="en-US" altLang="zh-CN" sz="22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U1</a:t>
            </a:r>
            <a:r>
              <a:rPr kumimoji="0" lang="zh-CN" altLang="en-US" sz="22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和</a:t>
            </a:r>
            <a:r>
              <a:rPr kumimoji="0" lang="en-US" altLang="zh-CN" sz="22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rPr>
              <a:t>U2:</a:t>
            </a:r>
            <a:endParaRPr kumimoji="0" lang="en-US" altLang="zh-CN" sz="2200" b="1" i="0" u="none" strike="noStrike" kern="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AutoNum type="circleNumDbPlain"/>
              <a:defRPr/>
            </a:pP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U2</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选择两个素数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p=3</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q=11</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；（实际应选两个大的素数）</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AutoNum type="circleNumDbPlain"/>
              <a:defRPr/>
            </a:pP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计算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en-US" altLang="zh-CN" sz="22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p×q</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=33</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z =(3-1) ×(11-1) =20</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AutoNum type="circleNumDbPlain"/>
              <a:defRPr/>
            </a:pP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选一个与</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20</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互素的数</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，比如取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 =3;</a:t>
            </a:r>
            <a:endPar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AutoNum type="circleNumDbPlain"/>
              <a:defRPr/>
            </a:pP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计算</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使得</a:t>
            </a:r>
            <a:r>
              <a:rPr kumimoji="0" lang="en-US" altLang="zh-CN" sz="22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e×d</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=1 mod z</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；由</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Euclidean</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算法，对 </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Z</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33={0,1,…,32}</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求出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 </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或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=27</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值可能不唯一，这里选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AutoNum type="circleNumDbPlain"/>
              <a:defRPr/>
            </a:pP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U2</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公开公钥</a:t>
            </a:r>
            <a:r>
              <a:rPr kumimoji="0" lang="en-US" altLang="zh-CN" sz="2200" b="0" i="1" u="none" strike="noStrike" kern="0" cap="none" spc="0" normalizeH="0" baseline="0" noProof="0" dirty="0">
                <a:ln>
                  <a:noFill/>
                </a:ln>
                <a:solidFill>
                  <a:srgbClr val="FF0000"/>
                </a:solidFill>
                <a:effectLst/>
                <a:uLnTx/>
                <a:uFillTx/>
                <a:latin typeface="+mn-lt"/>
                <a:ea typeface="宋体" panose="02010600030101010101" pitchFamily="2" charset="-122"/>
                <a:cs typeface="+mn-cs"/>
              </a:rPr>
              <a:t>n </a:t>
            </a:r>
            <a:r>
              <a:rPr kumimoji="0" lang="en-US" altLang="zh-CN" sz="22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=33 </a:t>
            </a:r>
            <a:r>
              <a:rPr kumimoji="0" lang="zh-CN" altLang="en-US" sz="22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和 </a:t>
            </a:r>
            <a:r>
              <a:rPr kumimoji="0" lang="en-US" altLang="zh-CN" sz="2200" b="0" i="1" u="none" strike="noStrike" kern="0" cap="none" spc="0" normalizeH="0" baseline="0" noProof="0" dirty="0">
                <a:ln>
                  <a:noFill/>
                </a:ln>
                <a:solidFill>
                  <a:srgbClr val="FF0000"/>
                </a:solidFill>
                <a:effectLst/>
                <a:uLnTx/>
                <a:uFillTx/>
                <a:latin typeface="+mn-lt"/>
                <a:ea typeface="宋体" panose="02010600030101010101" pitchFamily="2" charset="-122"/>
                <a:cs typeface="+mn-cs"/>
              </a:rPr>
              <a:t>d </a:t>
            </a:r>
            <a:r>
              <a:rPr kumimoji="0" lang="en-US" altLang="zh-CN" sz="22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=3</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（私钥为</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n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=33 </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defRPr/>
            </a:pP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加密：</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U1</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想把明文</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M=19 </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发送给</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加密形成密文</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C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a:t>
            </a:r>
            <a:r>
              <a:rPr kumimoji="0" lang="en-US" altLang="zh-CN" sz="2200" b="0" i="1" u="none" strike="noStrike" kern="0" cap="none" spc="0" normalizeH="0" baseline="-30000" noProof="0" dirty="0" err="1">
                <a:ln>
                  <a:noFill/>
                </a:ln>
                <a:solidFill>
                  <a:schemeClr val="tx1"/>
                </a:solidFill>
                <a:effectLst/>
                <a:uLnTx/>
                <a:uFillTx/>
                <a:latin typeface="+mn-lt"/>
                <a:ea typeface="宋体" panose="02010600030101010101" pitchFamily="2" charset="-122"/>
                <a:cs typeface="+mn-cs"/>
              </a:rPr>
              <a:t>k</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M </a:t>
            </a:r>
            <a:r>
              <a:rPr kumimoji="0" lang="en-US" altLang="zh-CN" sz="2200" b="0" i="1"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d</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(mod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≡19</a:t>
            </a:r>
            <a:r>
              <a:rPr kumimoji="0" lang="en-US" altLang="zh-CN" sz="2200" b="0" i="0" u="none" strike="noStrike" kern="0" cap="none" spc="0" normalizeH="0" baseline="46000" noProof="0" dirty="0">
                <a:ln>
                  <a:noFill/>
                </a:ln>
                <a:solidFill>
                  <a:srgbClr val="FF0000"/>
                </a:solidFill>
                <a:effectLst/>
                <a:uLnTx/>
                <a:uFillTx/>
                <a:latin typeface="+mn-lt"/>
                <a:ea typeface="宋体" panose="02010600030101010101" pitchFamily="2" charset="-122"/>
                <a:cs typeface="+mn-cs"/>
              </a:rPr>
              <a:t>3</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(mod 33)</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=28</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None/>
              <a:defRPr/>
            </a:pP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解密：</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U1</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将密文</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C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=28</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发送给</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U2</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，当</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U2</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收到密文</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时，解密得到明文</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M=C </a:t>
            </a:r>
            <a:r>
              <a:rPr kumimoji="0" lang="en-US" altLang="zh-CN" sz="2200" b="0" i="1"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a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(mod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28</a:t>
            </a:r>
            <a:r>
              <a:rPr kumimoji="0" lang="en-US" altLang="zh-CN" sz="2200" b="0" i="0" u="none" strike="noStrike" kern="0" cap="none" spc="0" normalizeH="0" baseline="46000" noProof="0" dirty="0">
                <a:ln>
                  <a:noFill/>
                </a:ln>
                <a:solidFill>
                  <a:srgbClr val="FF0000"/>
                </a:solidFill>
                <a:effectLst/>
                <a:uLnTx/>
                <a:uFillTx/>
                <a:latin typeface="+mn-lt"/>
                <a:ea typeface="宋体" panose="02010600030101010101" pitchFamily="2" charset="-122"/>
                <a:cs typeface="+mn-cs"/>
              </a:rPr>
              <a:t>7</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(mod 33)</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19 </a:t>
            </a:r>
            <a:endPar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75780" name="Rectangle 5"/>
          <p:cNvSpPr>
            <a:spLocks noGrp="1"/>
          </p:cNvSpPr>
          <p:nvPr>
            <p:ph type="title"/>
          </p:nvPr>
        </p:nvSpPr>
        <p:spPr>
          <a:xfrm>
            <a:off x="215900" y="50800"/>
            <a:ext cx="8650288" cy="1019175"/>
          </a:xfrm>
        </p:spPr>
        <p:txBody>
          <a:bodyPr vert="horz" wrap="square" lIns="91440" tIns="45720" rIns="91440" bIns="45720" anchor="ctr" anchorCtr="0"/>
          <a:lstStyle/>
          <a:p>
            <a:pPr eaLnBrk="1" hangingPunct="1"/>
            <a:r>
              <a:rPr lang="en-US" altLang="zh-CN" dirty="0">
                <a:ea typeface="宋体" panose="02010600030101010101" pitchFamily="2" charset="-122"/>
              </a:rPr>
              <a:t>Public-Key Cryptosystems: RSA</a:t>
            </a: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55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955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55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955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955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76803" name="Rectangle 2"/>
          <p:cNvSpPr>
            <a:spLocks noGrp="1"/>
          </p:cNvSpPr>
          <p:nvPr>
            <p:ph idx="1"/>
          </p:nvPr>
        </p:nvSpPr>
        <p:spPr>
          <a:xfrm>
            <a:off x="314325" y="1268413"/>
            <a:ext cx="8642350" cy="3621087"/>
          </a:xfrm>
        </p:spPr>
        <p:txBody>
          <a:bodyPr vert="horz" wrap="square" lIns="91440" tIns="45720" rIns="91440" bIns="45720" anchor="t" anchorCtr="0"/>
          <a:lstStyle/>
          <a:p>
            <a:pPr algn="l" eaLnBrk="1" hangingPunct="1">
              <a:lnSpc>
                <a:spcPct val="150000"/>
              </a:lnSpc>
              <a:buClr>
                <a:schemeClr val="tx1"/>
              </a:buClr>
              <a:buSzPct val="60000"/>
              <a:buNone/>
            </a:pPr>
            <a:r>
              <a:rPr lang="en-US" altLang="zh-CN" sz="2800" b="1" dirty="0">
                <a:latin typeface="宋体" panose="02010600030101010101" pitchFamily="2" charset="-122"/>
                <a:ea typeface="宋体" panose="02010600030101010101" pitchFamily="2" charset="-122"/>
              </a:rPr>
              <a:t>RSA</a:t>
            </a:r>
            <a:r>
              <a:rPr lang="zh-CN" altLang="en-US" sz="2800" b="1" dirty="0">
                <a:latin typeface="宋体" panose="02010600030101010101" pitchFamily="2" charset="-122"/>
                <a:ea typeface="宋体" panose="02010600030101010101" pitchFamily="2" charset="-122"/>
              </a:rPr>
              <a:t>算法应用</a:t>
            </a:r>
            <a:endParaRPr lang="en-US" altLang="zh-CN" sz="2800" b="1" dirty="0">
              <a:latin typeface="宋体" panose="02010600030101010101" pitchFamily="2" charset="-122"/>
              <a:ea typeface="宋体" panose="02010600030101010101" pitchFamily="2" charset="-122"/>
            </a:endParaRPr>
          </a:p>
          <a:p>
            <a:pPr algn="l" eaLnBrk="1" hangingPunct="1">
              <a:lnSpc>
                <a:spcPct val="150000"/>
              </a:lnSpc>
              <a:buNone/>
            </a:pPr>
            <a:r>
              <a:rPr lang="en-US" altLang="zh-CN" sz="2800" b="1" dirty="0">
                <a:latin typeface="宋体" panose="02010600030101010101" pitchFamily="2" charset="-122"/>
                <a:ea typeface="宋体" panose="02010600030101010101" pitchFamily="2" charset="-122"/>
              </a:rPr>
              <a:t>    (1)</a:t>
            </a:r>
            <a:r>
              <a:rPr lang="zh-CN" altLang="en-US" sz="2800" b="1" dirty="0">
                <a:latin typeface="宋体" panose="02010600030101010101" pitchFamily="2" charset="-122"/>
                <a:ea typeface="宋体" panose="02010600030101010101" pitchFamily="2" charset="-122"/>
              </a:rPr>
              <a:t>加密和解密；</a:t>
            </a:r>
            <a:endParaRPr lang="zh-CN" altLang="en-US" sz="2800" b="1" dirty="0">
              <a:latin typeface="宋体" panose="02010600030101010101" pitchFamily="2" charset="-122"/>
              <a:ea typeface="宋体" panose="02010600030101010101" pitchFamily="2" charset="-122"/>
            </a:endParaRPr>
          </a:p>
          <a:p>
            <a:pPr algn="l" eaLnBrk="1" hangingPunct="1">
              <a:lnSpc>
                <a:spcPct val="150000"/>
              </a:lnSpc>
              <a:buNone/>
            </a:pPr>
            <a:r>
              <a:rPr lang="en-US" altLang="zh-CN" sz="2800" b="1" dirty="0">
                <a:latin typeface="宋体" panose="02010600030101010101" pitchFamily="2" charset="-122"/>
                <a:ea typeface="宋体" panose="02010600030101010101" pitchFamily="2" charset="-122"/>
              </a:rPr>
              <a:t>    (2)</a:t>
            </a:r>
            <a:r>
              <a:rPr lang="zh-CN" altLang="en-US" sz="2800" b="1" dirty="0">
                <a:latin typeface="宋体" panose="02010600030101010101" pitchFamily="2" charset="-122"/>
                <a:ea typeface="宋体" panose="02010600030101010101" pitchFamily="2" charset="-122"/>
              </a:rPr>
              <a:t>数字签名；</a:t>
            </a:r>
            <a:endParaRPr lang="zh-CN" altLang="en-US" sz="2800" b="1" dirty="0">
              <a:latin typeface="宋体" panose="02010600030101010101" pitchFamily="2" charset="-122"/>
              <a:ea typeface="宋体" panose="02010600030101010101" pitchFamily="2" charset="-122"/>
            </a:endParaRPr>
          </a:p>
          <a:p>
            <a:pPr algn="l" eaLnBrk="1" hangingPunct="1">
              <a:lnSpc>
                <a:spcPct val="150000"/>
              </a:lnSpc>
              <a:buNone/>
            </a:pPr>
            <a:r>
              <a:rPr lang="en-US" altLang="zh-CN" sz="2800" b="1" dirty="0">
                <a:latin typeface="宋体" panose="02010600030101010101" pitchFamily="2" charset="-122"/>
                <a:ea typeface="宋体" panose="02010600030101010101" pitchFamily="2" charset="-122"/>
              </a:rPr>
              <a:t>    (3)</a:t>
            </a:r>
            <a:r>
              <a:rPr lang="zh-CN" altLang="en-US" sz="2800" b="1" dirty="0">
                <a:latin typeface="宋体" panose="02010600030101010101" pitchFamily="2" charset="-122"/>
                <a:ea typeface="宋体" panose="02010600030101010101" pitchFamily="2" charset="-122"/>
              </a:rPr>
              <a:t>密钥交换。</a:t>
            </a:r>
            <a:r>
              <a:rPr lang="zh-CN" altLang="en-US" sz="2800" b="1" dirty="0">
                <a:ea typeface="宋体" panose="02010600030101010101" pitchFamily="2" charset="-122"/>
              </a:rPr>
              <a:t> </a:t>
            </a:r>
            <a:endParaRPr lang="zh-CN" altLang="en-US" sz="2800" b="1" dirty="0">
              <a:ea typeface="宋体" panose="02010600030101010101" pitchFamily="2" charset="-122"/>
            </a:endParaRPr>
          </a:p>
          <a:p>
            <a:pPr algn="l" eaLnBrk="1" hangingPunct="1">
              <a:lnSpc>
                <a:spcPct val="150000"/>
              </a:lnSpc>
              <a:buClr>
                <a:schemeClr val="tx1"/>
              </a:buClr>
              <a:buSzPct val="60000"/>
              <a:buNone/>
            </a:pPr>
            <a:endParaRPr lang="zh-CN" altLang="en-US" sz="2800" b="1" dirty="0">
              <a:latin typeface="宋体" panose="02010600030101010101" pitchFamily="2" charset="-122"/>
              <a:ea typeface="宋体" panose="02010600030101010101" pitchFamily="2" charset="-122"/>
            </a:endParaRPr>
          </a:p>
        </p:txBody>
      </p:sp>
      <p:sp>
        <p:nvSpPr>
          <p:cNvPr id="76804" name="Rectangle 5"/>
          <p:cNvSpPr>
            <a:spLocks noGrp="1"/>
          </p:cNvSpPr>
          <p:nvPr>
            <p:ph type="title"/>
          </p:nvPr>
        </p:nvSpPr>
        <p:spPr>
          <a:xfrm>
            <a:off x="215900" y="50800"/>
            <a:ext cx="8650288" cy="1019175"/>
          </a:xfrm>
        </p:spPr>
        <p:txBody>
          <a:bodyPr vert="horz" wrap="square" lIns="91440" tIns="45720" rIns="91440" bIns="45720" anchor="ctr" anchorCtr="0"/>
          <a:lstStyle/>
          <a:p>
            <a:pPr eaLnBrk="1" hangingPunct="1"/>
            <a:r>
              <a:rPr lang="en-US" altLang="zh-CN" dirty="0">
                <a:ea typeface="宋体" panose="02010600030101010101" pitchFamily="2" charset="-122"/>
              </a:rPr>
              <a:t>Public-Key Cryptosystems: RSA</a:t>
            </a:r>
            <a:endParaRPr lang="en-US" altLang="zh-CN"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77827"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Secure Channal</a:t>
            </a:r>
            <a:endParaRPr lang="en-US" altLang="zh-CN" sz="4000" dirty="0">
              <a:ea typeface="宋体" panose="02010600030101010101" pitchFamily="2" charset="-122"/>
            </a:endParaRPr>
          </a:p>
        </p:txBody>
      </p:sp>
      <p:sp>
        <p:nvSpPr>
          <p:cNvPr id="77828" name="Rectangle 3"/>
          <p:cNvSpPr>
            <a:spLocks noGrp="1"/>
          </p:cNvSpPr>
          <p:nvPr>
            <p:ph idx="1"/>
          </p:nvPr>
        </p:nvSpPr>
        <p:spPr>
          <a:xfrm>
            <a:off x="495300" y="1281113"/>
            <a:ext cx="8242300" cy="4713287"/>
          </a:xfrm>
        </p:spPr>
        <p:txBody>
          <a:bodyPr vert="horz" wrap="square" lIns="91440" tIns="45720" rIns="91440" bIns="45720" anchor="t" anchorCtr="0"/>
          <a:lstStyle/>
          <a:p>
            <a:pPr algn="l" eaLnBrk="1" hangingPunct="1">
              <a:lnSpc>
                <a:spcPct val="200000"/>
              </a:lnSpc>
              <a:buFont typeface="Wingdings" panose="05000000000000000000" pitchFamily="2" charset="2"/>
              <a:buChar char="Ø"/>
            </a:pPr>
            <a:r>
              <a:rPr lang="zh-CN" altLang="en-US" sz="2800" b="1" dirty="0">
                <a:solidFill>
                  <a:srgbClr val="FF0000"/>
                </a:solidFill>
                <a:ea typeface="宋体" panose="02010600030101010101" pitchFamily="2" charset="-122"/>
              </a:rPr>
              <a:t>安全通道：</a:t>
            </a:r>
            <a:r>
              <a:rPr lang="zh-CN" altLang="en-US" sz="2800" b="1" dirty="0">
                <a:ea typeface="宋体" panose="02010600030101010101" pitchFamily="2" charset="-122"/>
              </a:rPr>
              <a:t>保护发送方和接受方免受对消息</a:t>
            </a:r>
            <a:r>
              <a:rPr lang="zh-CN" altLang="en-US" sz="2800" b="1" dirty="0">
                <a:solidFill>
                  <a:srgbClr val="FF0000"/>
                </a:solidFill>
                <a:ea typeface="宋体" panose="02010600030101010101" pitchFamily="2" charset="-122"/>
              </a:rPr>
              <a:t>窃听、修改</a:t>
            </a:r>
            <a:r>
              <a:rPr lang="zh-CN" altLang="en-US" sz="2800" b="1" dirty="0">
                <a:ea typeface="宋体" panose="02010600030101010101" pitchFamily="2" charset="-122"/>
              </a:rPr>
              <a:t>和</a:t>
            </a:r>
            <a:r>
              <a:rPr lang="zh-CN" altLang="en-US" sz="2800" b="1" dirty="0">
                <a:solidFill>
                  <a:srgbClr val="FF0000"/>
                </a:solidFill>
                <a:ea typeface="宋体" panose="02010600030101010101" pitchFamily="2" charset="-122"/>
              </a:rPr>
              <a:t>伪造</a:t>
            </a:r>
            <a:r>
              <a:rPr lang="zh-CN" altLang="en-US" sz="2800" b="1" dirty="0">
                <a:ea typeface="宋体" panose="02010600030101010101" pitchFamily="2" charset="-122"/>
              </a:rPr>
              <a:t>的攻击；</a:t>
            </a:r>
            <a:endParaRPr lang="zh-CN" altLang="en-US" sz="2800" b="1" dirty="0">
              <a:ea typeface="宋体" panose="02010600030101010101" pitchFamily="2" charset="-122"/>
            </a:endParaRPr>
          </a:p>
          <a:p>
            <a:pPr lvl="1" eaLnBrk="1" hangingPunct="1">
              <a:lnSpc>
                <a:spcPct val="200000"/>
              </a:lnSpc>
              <a:buFont typeface="Wingdings" panose="05000000000000000000" pitchFamily="2" charset="2"/>
              <a:buChar char="u"/>
            </a:pPr>
            <a:r>
              <a:rPr lang="zh-CN" altLang="en-US" sz="2800" b="1" dirty="0">
                <a:ea typeface="宋体" panose="02010600030101010101" pitchFamily="2" charset="-122"/>
              </a:rPr>
              <a:t>通过加密技术防止消息被窃听</a:t>
            </a:r>
            <a:r>
              <a:rPr lang="en-US" altLang="zh-CN" sz="2800" b="1" dirty="0">
                <a:ea typeface="宋体" panose="02010600030101010101" pitchFamily="2" charset="-122"/>
              </a:rPr>
              <a:t>;</a:t>
            </a:r>
            <a:endParaRPr lang="en-US" altLang="zh-CN" sz="2800" b="1" dirty="0">
              <a:ea typeface="宋体" panose="02010600030101010101" pitchFamily="2" charset="-122"/>
            </a:endParaRPr>
          </a:p>
          <a:p>
            <a:pPr lvl="1" eaLnBrk="1" hangingPunct="1">
              <a:lnSpc>
                <a:spcPct val="200000"/>
              </a:lnSpc>
              <a:buFont typeface="Wingdings" panose="05000000000000000000" pitchFamily="2" charset="2"/>
              <a:buChar char="u"/>
            </a:pPr>
            <a:r>
              <a:rPr lang="zh-CN" altLang="en-US" sz="2800" b="1" dirty="0">
                <a:ea typeface="宋体" panose="02010600030101010101" pitchFamily="2" charset="-122"/>
              </a:rPr>
              <a:t>通过相互</a:t>
            </a:r>
            <a:r>
              <a:rPr lang="zh-CN" altLang="en-US" sz="2800" b="1" dirty="0">
                <a:solidFill>
                  <a:srgbClr val="FF0000"/>
                </a:solidFill>
                <a:ea typeface="宋体" panose="02010600030101010101" pitchFamily="2" charset="-122"/>
              </a:rPr>
              <a:t>身份认证</a:t>
            </a:r>
            <a:r>
              <a:rPr lang="zh-CN" altLang="en-US" sz="2800" b="1" dirty="0">
                <a:ea typeface="宋体" panose="02010600030101010101" pitchFamily="2" charset="-122"/>
              </a:rPr>
              <a:t>和</a:t>
            </a:r>
            <a:r>
              <a:rPr lang="zh-CN" altLang="en-US" sz="2800" b="1" dirty="0">
                <a:solidFill>
                  <a:srgbClr val="FF0000"/>
                </a:solidFill>
                <a:ea typeface="宋体" panose="02010600030101010101" pitchFamily="2" charset="-122"/>
              </a:rPr>
              <a:t>消息完整性</a:t>
            </a:r>
            <a:r>
              <a:rPr lang="zh-CN" altLang="en-US" sz="2800" b="1" dirty="0">
                <a:ea typeface="宋体" panose="02010600030101010101" pitchFamily="2" charset="-122"/>
              </a:rPr>
              <a:t>协议来防止入侵者修改和伪造；</a:t>
            </a:r>
            <a:endParaRPr lang="en-US" altLang="zh-CN" sz="2800" b="1" dirty="0">
              <a:ea typeface="宋体" panose="02010600030101010101" pitchFamily="2" charset="-122"/>
            </a:endParaRPr>
          </a:p>
          <a:p>
            <a:pPr algn="l" eaLnBrk="1" hangingPunct="1">
              <a:lnSpc>
                <a:spcPct val="200000"/>
              </a:lnSpc>
              <a:buNone/>
            </a:pPr>
            <a:endParaRPr lang="zh-CN" altLang="en-US" sz="2800" b="1" dirty="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79875" name="Text Box 2"/>
          <p:cNvSpPr txBox="1"/>
          <p:nvPr/>
        </p:nvSpPr>
        <p:spPr>
          <a:xfrm>
            <a:off x="188913" y="676275"/>
            <a:ext cx="8832850" cy="323056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30000"/>
              </a:lnSpc>
              <a:spcBef>
                <a:spcPct val="50000"/>
              </a:spcBef>
              <a:buClrTx/>
              <a:buFont typeface="Wingdings" panose="05000000000000000000" pitchFamily="2" charset="2"/>
              <a:buBlip>
                <a:blip r:embed="rId1"/>
              </a:buBlip>
            </a:pPr>
            <a:r>
              <a:rPr lang="zh-CN" altLang="en-US" b="1" dirty="0">
                <a:latin typeface="宋体" panose="02010600030101010101" pitchFamily="2" charset="-122"/>
                <a:ea typeface="宋体" panose="02010600030101010101" pitchFamily="2" charset="-122"/>
              </a:rPr>
              <a:t> </a:t>
            </a:r>
            <a:r>
              <a:rPr lang="zh-CN" altLang="en-US" b="1" dirty="0">
                <a:solidFill>
                  <a:srgbClr val="FF0000"/>
                </a:solidFill>
                <a:latin typeface="宋体" panose="02010600030101010101" pitchFamily="2" charset="-122"/>
                <a:ea typeface="宋体" panose="02010600030101010101" pitchFamily="2" charset="-122"/>
              </a:rPr>
              <a:t>对称密码通信</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通信）</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协商用同一密码系统与同一密钥；</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用加密算法和密钥加密明文消息，得到密文消息；</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发送密文消息给</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None/>
            </a:pPr>
            <a:r>
              <a:rPr lang="en-US" altLang="zh-CN" b="1" dirty="0">
                <a:latin typeface="宋体" panose="02010600030101010101" pitchFamily="2" charset="-122"/>
                <a:ea typeface="宋体" panose="02010600030101010101" pitchFamily="2" charset="-122"/>
              </a:rPr>
              <a:t>   ——Bob</a:t>
            </a:r>
            <a:r>
              <a:rPr lang="zh-CN" altLang="en-US" b="1" dirty="0">
                <a:latin typeface="宋体" panose="02010600030101010101" pitchFamily="2" charset="-122"/>
                <a:ea typeface="宋体" panose="02010600030101010101" pitchFamily="2" charset="-122"/>
              </a:rPr>
              <a:t>用同样的算法和密钥解密密文；</a:t>
            </a:r>
            <a:endParaRPr lang="zh-CN" altLang="en-US" b="1" dirty="0">
              <a:latin typeface="宋体" panose="02010600030101010101" pitchFamily="2" charset="-122"/>
              <a:ea typeface="宋体" panose="02010600030101010101" pitchFamily="2" charset="-122"/>
            </a:endParaRPr>
          </a:p>
        </p:txBody>
      </p:sp>
      <p:sp>
        <p:nvSpPr>
          <p:cNvPr id="79876" name="Rectangle 3"/>
          <p:cNvSpPr/>
          <p:nvPr/>
        </p:nvSpPr>
        <p:spPr>
          <a:xfrm>
            <a:off x="2055813" y="80963"/>
            <a:ext cx="4632325" cy="584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应用实例</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密码协议</a:t>
            </a:r>
            <a:endParaRPr lang="en-US" altLang="zh-CN" sz="3200" b="1" dirty="0">
              <a:latin typeface="Times New Roman" panose="02020603050405020304" pitchFamily="18" charset="0"/>
              <a:ea typeface="宋体" panose="02010600030101010101" pitchFamily="2" charset="-122"/>
            </a:endParaRPr>
          </a:p>
        </p:txBody>
      </p:sp>
      <p:sp>
        <p:nvSpPr>
          <p:cNvPr id="79877" name="Text Box 2"/>
          <p:cNvSpPr txBox="1"/>
          <p:nvPr/>
        </p:nvSpPr>
        <p:spPr>
          <a:xfrm>
            <a:off x="290513" y="3768725"/>
            <a:ext cx="8407400" cy="286226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50000"/>
              </a:spcBef>
              <a:buClrTx/>
              <a:buFont typeface="Wingdings" panose="05000000000000000000" pitchFamily="2" charset="2"/>
              <a:buBlip>
                <a:blip r:embed="rId1"/>
              </a:buBlip>
            </a:pPr>
            <a:r>
              <a:rPr lang="zh-CN" altLang="en-US" b="1" dirty="0">
                <a:solidFill>
                  <a:srgbClr val="FF0000"/>
                </a:solidFill>
                <a:latin typeface="宋体" panose="02010600030101010101" pitchFamily="2" charset="-122"/>
                <a:ea typeface="宋体" panose="02010600030101010101" pitchFamily="2" charset="-122"/>
              </a:rPr>
              <a:t>非对称</a:t>
            </a:r>
            <a:r>
              <a:rPr lang="en-US" altLang="zh-CN" b="1" dirty="0">
                <a:solidFill>
                  <a:srgbClr val="FF0000"/>
                </a:solidFill>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公开</a:t>
            </a:r>
            <a:r>
              <a:rPr lang="en-US" altLang="zh-CN" b="1" dirty="0">
                <a:solidFill>
                  <a:srgbClr val="FF0000"/>
                </a:solidFill>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密码通信</a:t>
            </a:r>
            <a:endParaRPr lang="zh-CN" altLang="en-US" b="1" dirty="0">
              <a:solidFill>
                <a:srgbClr val="FF0000"/>
              </a:solidFill>
              <a:latin typeface="宋体" panose="02010600030101010101" pitchFamily="2" charset="-122"/>
              <a:ea typeface="宋体" panose="02010600030101010101" pitchFamily="2" charset="-122"/>
            </a:endParaRPr>
          </a:p>
          <a:p>
            <a:pPr marL="0" lvl="0" indent="0" algn="l" eaLnBrk="1" hangingPunct="1">
              <a:lnSpc>
                <a:spcPct val="150000"/>
              </a:lnSpc>
              <a:spcBef>
                <a:spcPct val="50000"/>
              </a:spcBef>
              <a:buClrTx/>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从数据库中得到</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的公开密钥；</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50000"/>
              </a:lnSpc>
              <a:spcBef>
                <a:spcPct val="50000"/>
              </a:spcBef>
              <a:buClrTx/>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用</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的公开密钥加密消息，然后发送给</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50000"/>
              </a:lnSpc>
              <a:spcBef>
                <a:spcPct val="50000"/>
              </a:spcBef>
              <a:buClrTx/>
              <a:buFont typeface="Wingdings" panose="05000000000000000000" pitchFamily="2" charset="2"/>
              <a:buNone/>
            </a:pPr>
            <a:r>
              <a:rPr lang="en-US" altLang="zh-CN" b="1" dirty="0">
                <a:latin typeface="宋体" panose="02010600030101010101" pitchFamily="2" charset="-122"/>
                <a:ea typeface="宋体" panose="02010600030101010101" pitchFamily="2" charset="-122"/>
              </a:rPr>
              <a:t>   ——Bob</a:t>
            </a:r>
            <a:r>
              <a:rPr lang="zh-CN" altLang="en-US" b="1" dirty="0">
                <a:latin typeface="宋体" panose="02010600030101010101" pitchFamily="2" charset="-122"/>
                <a:ea typeface="宋体" panose="02010600030101010101" pitchFamily="2" charset="-122"/>
              </a:rPr>
              <a:t>用自己的私人密钥解密</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发送的消息</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80899" name="Text Box 2"/>
          <p:cNvSpPr txBox="1"/>
          <p:nvPr/>
        </p:nvSpPr>
        <p:spPr>
          <a:xfrm>
            <a:off x="257175" y="960438"/>
            <a:ext cx="8629650" cy="4340225"/>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50000"/>
              </a:spcBef>
              <a:buClrTx/>
              <a:buFont typeface="Wingdings" panose="05000000000000000000" pitchFamily="2" charset="2"/>
              <a:buBlip>
                <a:blip r:embed="rId1"/>
              </a:buBlip>
            </a:pPr>
            <a:r>
              <a:rPr lang="zh-CN" altLang="en-US" b="1" dirty="0">
                <a:latin typeface="宋体" panose="02010600030101010101" pitchFamily="2" charset="-122"/>
                <a:ea typeface="宋体" panose="02010600030101010101" pitchFamily="2" charset="-122"/>
              </a:rPr>
              <a:t>　</a:t>
            </a:r>
            <a:r>
              <a:rPr lang="zh-CN" altLang="en-US" b="1" dirty="0">
                <a:solidFill>
                  <a:srgbClr val="FF0000"/>
                </a:solidFill>
                <a:latin typeface="宋体" panose="02010600030101010101" pitchFamily="2" charset="-122"/>
                <a:ea typeface="宋体" panose="02010600030101010101" pitchFamily="2" charset="-122"/>
              </a:rPr>
              <a:t>混合密码通信</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用非对称密码进行</a:t>
            </a:r>
            <a:r>
              <a:rPr lang="zh-CN" altLang="en-US" b="1" dirty="0">
                <a:solidFill>
                  <a:srgbClr val="FF0000"/>
                </a:solidFill>
                <a:latin typeface="宋体" panose="02010600030101010101" pitchFamily="2" charset="-122"/>
                <a:ea typeface="宋体" panose="02010600030101010101" pitchFamily="2" charset="-122"/>
              </a:rPr>
              <a:t>秘钥交换</a:t>
            </a:r>
            <a:r>
              <a:rPr lang="zh-CN" altLang="en-US" b="1" dirty="0">
                <a:latin typeface="宋体" panose="02010600030101010101" pitchFamily="2" charset="-122"/>
                <a:ea typeface="宋体" panose="02010600030101010101" pitchFamily="2" charset="-122"/>
              </a:rPr>
              <a:t>例子</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l" eaLnBrk="1" hangingPunct="1">
              <a:lnSpc>
                <a:spcPct val="150000"/>
              </a:lnSpc>
              <a:spcBef>
                <a:spcPct val="50000"/>
              </a:spcBef>
              <a:buClrTx/>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将他的公开密钥发给</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50000"/>
              </a:lnSpc>
              <a:spcBef>
                <a:spcPct val="50000"/>
              </a:spcBef>
              <a:buClrTx/>
              <a:buFont typeface="Wingdings" panose="05000000000000000000" pitchFamily="2" charset="2"/>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产生随机</a:t>
            </a:r>
            <a:r>
              <a:rPr lang="zh-CN" altLang="en-US" b="1" dirty="0">
                <a:solidFill>
                  <a:srgbClr val="FF0000"/>
                </a:solidFill>
                <a:latin typeface="宋体" panose="02010600030101010101" pitchFamily="2" charset="-122"/>
                <a:ea typeface="宋体" panose="02010600030101010101" pitchFamily="2" charset="-122"/>
              </a:rPr>
              <a:t>会话密钥</a:t>
            </a:r>
            <a:r>
              <a:rPr lang="en-US" altLang="zh-CN" b="1" dirty="0">
                <a:latin typeface="宋体" panose="02010600030101010101" pitchFamily="2" charset="-122"/>
                <a:ea typeface="宋体" panose="02010600030101010101" pitchFamily="2" charset="-122"/>
              </a:rPr>
              <a:t>K</a:t>
            </a:r>
            <a:r>
              <a:rPr lang="zh-CN" altLang="en-US" b="1" dirty="0">
                <a:latin typeface="宋体" panose="02010600030101010101" pitchFamily="2" charset="-122"/>
                <a:ea typeface="宋体" panose="02010600030101010101" pitchFamily="2" charset="-122"/>
              </a:rPr>
              <a:t>，用</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的公开密钥加密，将加密后密钥</a:t>
            </a:r>
            <a:r>
              <a:rPr lang="en-US" altLang="zh-CN" dirty="0">
                <a:latin typeface="宋体" panose="02010600030101010101" pitchFamily="2" charset="-122"/>
                <a:ea typeface="宋体" panose="02010600030101010101" pitchFamily="2" charset="-122"/>
              </a:rPr>
              <a:t>EK</a:t>
            </a:r>
            <a:r>
              <a:rPr lang="en-US" altLang="zh-CN" baseline="-25000" dirty="0">
                <a:latin typeface="宋体" panose="02010600030101010101" pitchFamily="2" charset="-122"/>
                <a:ea typeface="宋体" panose="02010600030101010101" pitchFamily="2" charset="-122"/>
              </a:rPr>
              <a:t>BP</a:t>
            </a:r>
            <a:r>
              <a:rPr lang="en-US" altLang="zh-CN" dirty="0">
                <a:latin typeface="宋体" panose="02010600030101010101" pitchFamily="2" charset="-122"/>
                <a:ea typeface="宋体" panose="02010600030101010101" pitchFamily="2" charset="-122"/>
              </a:rPr>
              <a:t>(K)</a:t>
            </a:r>
            <a:r>
              <a:rPr lang="zh-CN" altLang="en-US" b="1" dirty="0">
                <a:latin typeface="宋体" panose="02010600030101010101" pitchFamily="2" charset="-122"/>
                <a:ea typeface="宋体" panose="02010600030101010101" pitchFamily="2" charset="-122"/>
              </a:rPr>
              <a:t>送给</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50000"/>
              </a:lnSpc>
              <a:spcBef>
                <a:spcPct val="0"/>
              </a:spcBef>
              <a:buClrTx/>
              <a:buNone/>
            </a:pPr>
            <a:r>
              <a:rPr lang="en-US" altLang="zh-CN" b="1" dirty="0">
                <a:latin typeface="宋体" panose="02010600030101010101" pitchFamily="2" charset="-122"/>
                <a:ea typeface="宋体" panose="02010600030101010101" pitchFamily="2" charset="-122"/>
              </a:rPr>
              <a:t>  ——Bob</a:t>
            </a:r>
            <a:r>
              <a:rPr lang="zh-CN" altLang="en-US" b="1" dirty="0">
                <a:latin typeface="宋体" panose="02010600030101010101" pitchFamily="2" charset="-122"/>
                <a:ea typeface="宋体" panose="02010600030101010101" pitchFamily="2" charset="-122"/>
              </a:rPr>
              <a:t>用他的私人密钥解密</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的消息，得出会话密钥：</a:t>
            </a:r>
            <a:r>
              <a:rPr lang="en-US" altLang="zh-CN" b="1" dirty="0">
                <a:latin typeface="宋体" panose="02010600030101010101" pitchFamily="2" charset="-122"/>
                <a:ea typeface="宋体" panose="02010600030101010101" pitchFamily="2" charset="-122"/>
              </a:rPr>
              <a:t>DKBPri(EKBPub(K)) = K</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50000"/>
              </a:lnSpc>
              <a:spcBef>
                <a:spcPct val="0"/>
              </a:spcBef>
              <a:buClrTx/>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他们两人用这个会话密钥安全的通信。</a:t>
            </a:r>
            <a:endParaRPr lang="zh-CN" altLang="en-US" b="1" dirty="0">
              <a:latin typeface="宋体" panose="02010600030101010101" pitchFamily="2" charset="-122"/>
              <a:ea typeface="宋体" panose="02010600030101010101" pitchFamily="2" charset="-122"/>
            </a:endParaRPr>
          </a:p>
        </p:txBody>
      </p:sp>
      <p:sp>
        <p:nvSpPr>
          <p:cNvPr id="80900" name="Rectangle 3"/>
          <p:cNvSpPr/>
          <p:nvPr/>
        </p:nvSpPr>
        <p:spPr>
          <a:xfrm>
            <a:off x="3429000" y="228600"/>
            <a:ext cx="2590800" cy="57943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zh-CN" altLang="en-US" sz="3200" b="1" dirty="0">
                <a:latin typeface="Times New Roman" panose="02020603050405020304" pitchFamily="18" charset="0"/>
                <a:ea typeface="宋体" panose="02010600030101010101" pitchFamily="2" charset="-122"/>
              </a:rPr>
              <a:t>密码协议</a:t>
            </a:r>
            <a:endParaRPr lang="zh-CN" altLang="en-US" sz="3200" b="1" dirty="0">
              <a:latin typeface="Times New Roman" panose="02020603050405020304" pitchFamily="18" charset="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81923" name="Text Box 2"/>
          <p:cNvSpPr txBox="1"/>
          <p:nvPr/>
        </p:nvSpPr>
        <p:spPr>
          <a:xfrm>
            <a:off x="173038" y="627063"/>
            <a:ext cx="8797925" cy="5205412"/>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50000"/>
              </a:spcBef>
              <a:buClrTx/>
              <a:buFont typeface="Wingdings" panose="05000000000000000000" pitchFamily="2" charset="2"/>
              <a:buBlip>
                <a:blip r:embed="rId1"/>
              </a:buBlip>
            </a:pPr>
            <a:r>
              <a:rPr lang="zh-CN" altLang="en-US" sz="2200" b="1" dirty="0">
                <a:latin typeface="宋体" panose="02010600030101010101" pitchFamily="2" charset="-122"/>
                <a:ea typeface="宋体" panose="02010600030101010101" pitchFamily="2" charset="-122"/>
              </a:rPr>
              <a:t>对称密码学的</a:t>
            </a:r>
            <a:r>
              <a:rPr lang="zh-CN" altLang="en-US" sz="2200" b="1" dirty="0">
                <a:solidFill>
                  <a:srgbClr val="FF0000"/>
                </a:solidFill>
                <a:latin typeface="宋体" panose="02010600030101010101" pitchFamily="2" charset="-122"/>
                <a:ea typeface="宋体" panose="02010600030101010101" pitchFamily="2" charset="-122"/>
              </a:rPr>
              <a:t>密钥交换</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通过</a:t>
            </a:r>
            <a:r>
              <a:rPr lang="en-US" altLang="zh-CN" sz="2200" b="1" dirty="0">
                <a:latin typeface="宋体" panose="02010600030101010101" pitchFamily="2" charset="-122"/>
                <a:ea typeface="宋体" panose="02010600030101010101" pitchFamily="2" charset="-122"/>
              </a:rPr>
              <a:t>KDC-Key Distribution Center</a:t>
            </a:r>
            <a:r>
              <a:rPr lang="zh-CN" altLang="en-US" sz="2200" b="1" dirty="0">
                <a:latin typeface="宋体" panose="02010600030101010101" pitchFamily="2" charset="-122"/>
                <a:ea typeface="宋体" panose="02010600030101010101" pitchFamily="2" charset="-122"/>
              </a:rPr>
              <a:t>产生并进行密钥交换</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r>
              <a:rPr lang="zh-CN" altLang="en-US" sz="2200" b="1" dirty="0">
                <a:solidFill>
                  <a:srgbClr val="FF3300"/>
                </a:solidFill>
                <a:latin typeface="宋体" panose="02010600030101010101" pitchFamily="2" charset="-122"/>
                <a:ea typeface="宋体" panose="02010600030101010101" pitchFamily="2" charset="-122"/>
              </a:rPr>
              <a:t>假设：</a:t>
            </a:r>
            <a:r>
              <a:rPr lang="en-US" altLang="zh-CN" sz="2200" b="1" dirty="0">
                <a:latin typeface="宋体" panose="02010600030101010101" pitchFamily="2" charset="-122"/>
                <a:ea typeface="宋体" panose="02010600030101010101" pitchFamily="2" charset="-122"/>
              </a:rPr>
              <a:t>Alice</a:t>
            </a:r>
            <a:r>
              <a:rPr lang="zh-CN" altLang="en-US" sz="2200" b="1" dirty="0">
                <a:latin typeface="宋体" panose="02010600030101010101" pitchFamily="2" charset="-122"/>
                <a:ea typeface="宋体" panose="02010600030101010101" pitchFamily="2" charset="-122"/>
              </a:rPr>
              <a:t>和</a:t>
            </a:r>
            <a:r>
              <a:rPr lang="en-US" altLang="zh-CN" sz="2200" b="1" dirty="0">
                <a:latin typeface="宋体" panose="02010600030101010101" pitchFamily="2" charset="-122"/>
                <a:ea typeface="宋体" panose="02010600030101010101" pitchFamily="2" charset="-122"/>
              </a:rPr>
              <a:t>Bob</a:t>
            </a:r>
            <a:r>
              <a:rPr lang="zh-CN" altLang="en-US" sz="2200" b="1" dirty="0">
                <a:latin typeface="宋体" panose="02010600030101010101" pitchFamily="2" charset="-122"/>
                <a:ea typeface="宋体" panose="02010600030101010101" pitchFamily="2" charset="-122"/>
              </a:rPr>
              <a:t>分别与</a:t>
            </a:r>
            <a:r>
              <a:rPr lang="en-US" altLang="zh-CN" sz="2200" b="1" dirty="0">
                <a:latin typeface="宋体" panose="02010600030101010101" pitchFamily="2" charset="-122"/>
                <a:ea typeface="宋体" panose="02010600030101010101" pitchFamily="2" charset="-122"/>
              </a:rPr>
              <a:t>KDC</a:t>
            </a:r>
            <a:r>
              <a:rPr lang="zh-CN" altLang="en-US" sz="2200" b="1" dirty="0">
                <a:latin typeface="宋体" panose="02010600030101010101" pitchFamily="2" charset="-122"/>
                <a:ea typeface="宋体" panose="02010600030101010101" pitchFamily="2" charset="-122"/>
              </a:rPr>
              <a:t>共享一个</a:t>
            </a:r>
            <a:r>
              <a:rPr lang="zh-CN" altLang="en-US" sz="2200" b="1" dirty="0">
                <a:solidFill>
                  <a:srgbClr val="FF3300"/>
                </a:solidFill>
                <a:latin typeface="宋体" panose="02010600030101010101" pitchFamily="2" charset="-122"/>
                <a:ea typeface="宋体" panose="02010600030101010101" pitchFamily="2" charset="-122"/>
              </a:rPr>
              <a:t>密钥</a:t>
            </a:r>
            <a:r>
              <a:rPr lang="zh-CN" altLang="en-US" sz="2200" b="1" dirty="0">
                <a:latin typeface="宋体" panose="02010600030101010101" pitchFamily="2" charset="-122"/>
                <a:ea typeface="宋体" panose="02010600030101010101" pitchFamily="2" charset="-122"/>
              </a:rPr>
              <a:t>Ｋ</a:t>
            </a:r>
            <a:r>
              <a:rPr lang="zh-CN" altLang="en-US" sz="2200" b="1" baseline="-25000" dirty="0">
                <a:latin typeface="宋体" panose="02010600030101010101" pitchFamily="2" charset="-122"/>
                <a:ea typeface="宋体" panose="02010600030101010101" pitchFamily="2" charset="-122"/>
              </a:rPr>
              <a:t>Ａ</a:t>
            </a:r>
            <a:r>
              <a:rPr lang="zh-CN" altLang="en-US" sz="2200" b="1" dirty="0">
                <a:latin typeface="宋体" panose="02010600030101010101" pitchFamily="2" charset="-122"/>
                <a:ea typeface="宋体" panose="02010600030101010101" pitchFamily="2" charset="-122"/>
              </a:rPr>
              <a:t>、Ｋ</a:t>
            </a:r>
            <a:r>
              <a:rPr lang="zh-CN" altLang="en-US" sz="2200" b="1" baseline="-25000" dirty="0">
                <a:latin typeface="宋体" panose="02010600030101010101" pitchFamily="2" charset="-122"/>
                <a:ea typeface="宋体" panose="02010600030101010101" pitchFamily="2" charset="-122"/>
              </a:rPr>
              <a:t>Ｂ</a:t>
            </a:r>
            <a:r>
              <a:rPr lang="zh-CN" altLang="en-US"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2"/>
              </a:buBlip>
            </a:pPr>
            <a:r>
              <a:rPr lang="en-US" altLang="zh-CN" sz="2200" b="1" dirty="0">
                <a:latin typeface="宋体" panose="02010600030101010101" pitchFamily="2" charset="-122"/>
                <a:ea typeface="宋体" panose="02010600030101010101" pitchFamily="2" charset="-122"/>
              </a:rPr>
              <a:t>Alice</a:t>
            </a:r>
            <a:r>
              <a:rPr lang="zh-CN" altLang="en-US" sz="2200" b="1" dirty="0">
                <a:latin typeface="宋体" panose="02010600030101010101" pitchFamily="2" charset="-122"/>
                <a:ea typeface="宋体" panose="02010600030101010101" pitchFamily="2" charset="-122"/>
              </a:rPr>
              <a:t>呼叫</a:t>
            </a:r>
            <a:r>
              <a:rPr lang="en-US" altLang="zh-CN" sz="2200" b="1" dirty="0">
                <a:latin typeface="宋体" panose="02010600030101010101" pitchFamily="2" charset="-122"/>
                <a:ea typeface="宋体" panose="02010600030101010101" pitchFamily="2" charset="-122"/>
              </a:rPr>
              <a:t>KDC</a:t>
            </a:r>
            <a:r>
              <a:rPr lang="zh-CN" altLang="en-US" sz="2200" b="1" dirty="0">
                <a:latin typeface="宋体" panose="02010600030101010101" pitchFamily="2" charset="-122"/>
                <a:ea typeface="宋体" panose="02010600030101010101" pitchFamily="2" charset="-122"/>
              </a:rPr>
              <a:t>，请求一个与</a:t>
            </a:r>
            <a:r>
              <a:rPr lang="en-US" altLang="zh-CN" sz="2200" b="1" dirty="0">
                <a:latin typeface="宋体" panose="02010600030101010101" pitchFamily="2" charset="-122"/>
                <a:ea typeface="宋体" panose="02010600030101010101" pitchFamily="2" charset="-122"/>
              </a:rPr>
              <a:t>Bob</a:t>
            </a:r>
            <a:r>
              <a:rPr lang="zh-CN" altLang="en-US" sz="2200" b="1" dirty="0">
                <a:latin typeface="宋体" panose="02010600030101010101" pitchFamily="2" charset="-122"/>
                <a:ea typeface="宋体" panose="02010600030101010101" pitchFamily="2" charset="-122"/>
              </a:rPr>
              <a:t>通信的</a:t>
            </a:r>
            <a:r>
              <a:rPr lang="zh-CN" altLang="en-US" sz="2200" b="1" dirty="0">
                <a:solidFill>
                  <a:srgbClr val="FF3300"/>
                </a:solidFill>
                <a:latin typeface="宋体" panose="02010600030101010101" pitchFamily="2" charset="-122"/>
                <a:ea typeface="宋体" panose="02010600030101010101" pitchFamily="2" charset="-122"/>
              </a:rPr>
              <a:t>会话密钥</a:t>
            </a:r>
            <a:r>
              <a:rPr lang="zh-CN" altLang="en-US" sz="2200" b="1" dirty="0">
                <a:latin typeface="宋体" panose="02010600030101010101" pitchFamily="2" charset="-122"/>
                <a:ea typeface="宋体" panose="02010600030101010101" pitchFamily="2" charset="-122"/>
              </a:rPr>
              <a:t>Ｋ</a:t>
            </a:r>
            <a:r>
              <a:rPr lang="en-US" altLang="zh-CN"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2"/>
              </a:buBlip>
            </a:pPr>
            <a:r>
              <a:rPr lang="en-US" altLang="zh-CN" sz="2200" b="1" dirty="0">
                <a:latin typeface="宋体" panose="02010600030101010101" pitchFamily="2" charset="-122"/>
                <a:ea typeface="宋体" panose="02010600030101010101" pitchFamily="2" charset="-122"/>
              </a:rPr>
              <a:t>KDC</a:t>
            </a:r>
            <a:r>
              <a:rPr lang="zh-CN" altLang="en-US" sz="2200" b="1" dirty="0">
                <a:latin typeface="宋体" panose="02010600030101010101" pitchFamily="2" charset="-122"/>
                <a:ea typeface="宋体" panose="02010600030101010101" pitchFamily="2" charset="-122"/>
              </a:rPr>
              <a:t>产生一随机会话密钥Ｋ，并对其两个副本加密：一个用Ｋ</a:t>
            </a:r>
            <a:r>
              <a:rPr lang="zh-CN" altLang="en-US" sz="2200" b="1" baseline="-25000" dirty="0">
                <a:latin typeface="宋体" panose="02010600030101010101" pitchFamily="2" charset="-122"/>
                <a:ea typeface="宋体" panose="02010600030101010101" pitchFamily="2" charset="-122"/>
              </a:rPr>
              <a:t>Ａ</a:t>
            </a:r>
            <a:r>
              <a:rPr lang="zh-CN" altLang="en-US" sz="2200" b="1" dirty="0">
                <a:latin typeface="宋体" panose="02010600030101010101" pitchFamily="2" charset="-122"/>
                <a:ea typeface="宋体" panose="02010600030101010101" pitchFamily="2" charset="-122"/>
              </a:rPr>
              <a:t>，另一个用Ｋ</a:t>
            </a:r>
            <a:r>
              <a:rPr lang="zh-CN" altLang="en-US" sz="2200" b="1" baseline="-25000" dirty="0">
                <a:latin typeface="宋体" panose="02010600030101010101" pitchFamily="2" charset="-122"/>
                <a:ea typeface="宋体" panose="02010600030101010101" pitchFamily="2" charset="-122"/>
              </a:rPr>
              <a:t>Ｂ</a:t>
            </a:r>
            <a:r>
              <a:rPr lang="zh-CN" altLang="en-US" sz="2200" b="1" dirty="0">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KDC</a:t>
            </a:r>
            <a:r>
              <a:rPr lang="zh-CN" altLang="en-US" sz="2200" b="1" dirty="0">
                <a:latin typeface="宋体" panose="02010600030101010101" pitchFamily="2" charset="-122"/>
                <a:ea typeface="宋体" panose="02010600030101010101" pitchFamily="2" charset="-122"/>
              </a:rPr>
              <a:t>将两个加密副本发给</a:t>
            </a:r>
            <a:r>
              <a:rPr lang="en-US" altLang="zh-CN" sz="2200" b="1" dirty="0">
                <a:latin typeface="宋体" panose="02010600030101010101" pitchFamily="2" charset="-122"/>
                <a:ea typeface="宋体" panose="02010600030101010101" pitchFamily="2" charset="-122"/>
              </a:rPr>
              <a:t>Alice;</a:t>
            </a:r>
            <a:endParaRPr lang="en-US" altLang="zh-CN" sz="2200"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2"/>
              </a:buBlip>
            </a:pPr>
            <a:r>
              <a:rPr lang="en-US" altLang="zh-CN" sz="2200" b="1" dirty="0">
                <a:latin typeface="宋体" panose="02010600030101010101" pitchFamily="2" charset="-122"/>
                <a:ea typeface="宋体" panose="02010600030101010101" pitchFamily="2" charset="-122"/>
              </a:rPr>
              <a:t>Alice</a:t>
            </a:r>
            <a:r>
              <a:rPr lang="zh-CN" altLang="en-US" sz="2200" b="1" dirty="0">
                <a:latin typeface="宋体" panose="02010600030101010101" pitchFamily="2" charset="-122"/>
                <a:ea typeface="宋体" panose="02010600030101010101" pitchFamily="2" charset="-122"/>
              </a:rPr>
              <a:t>对她的</a:t>
            </a:r>
            <a:r>
              <a:rPr lang="zh-CN" altLang="en-US" sz="2200" b="1" dirty="0">
                <a:solidFill>
                  <a:srgbClr val="FF3300"/>
                </a:solidFill>
                <a:latin typeface="宋体" panose="02010600030101010101" pitchFamily="2" charset="-122"/>
                <a:ea typeface="宋体" panose="02010600030101010101" pitchFamily="2" charset="-122"/>
              </a:rPr>
              <a:t>会话密钥</a:t>
            </a:r>
            <a:r>
              <a:rPr lang="zh-CN" altLang="en-US" sz="2200" b="1" dirty="0">
                <a:latin typeface="宋体" panose="02010600030101010101" pitchFamily="2" charset="-122"/>
                <a:ea typeface="宋体" panose="02010600030101010101" pitchFamily="2" charset="-122"/>
              </a:rPr>
              <a:t>副本解密</a:t>
            </a:r>
            <a:r>
              <a:rPr lang="en-US" altLang="zh-CN"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2"/>
              </a:buBlip>
            </a:pPr>
            <a:r>
              <a:rPr lang="en-US" altLang="zh-CN" sz="2200" b="1" dirty="0">
                <a:latin typeface="宋体" panose="02010600030101010101" pitchFamily="2" charset="-122"/>
                <a:ea typeface="宋体" panose="02010600030101010101" pitchFamily="2" charset="-122"/>
              </a:rPr>
              <a:t>Alice</a:t>
            </a:r>
            <a:r>
              <a:rPr lang="zh-CN" altLang="en-US" sz="2200" b="1" dirty="0">
                <a:latin typeface="宋体" panose="02010600030101010101" pitchFamily="2" charset="-122"/>
                <a:ea typeface="宋体" panose="02010600030101010101" pitchFamily="2" charset="-122"/>
              </a:rPr>
              <a:t>将</a:t>
            </a:r>
            <a:r>
              <a:rPr lang="en-US" altLang="zh-CN" sz="2200" b="1" dirty="0">
                <a:latin typeface="宋体" panose="02010600030101010101" pitchFamily="2" charset="-122"/>
                <a:ea typeface="宋体" panose="02010600030101010101" pitchFamily="2" charset="-122"/>
              </a:rPr>
              <a:t>Bob</a:t>
            </a:r>
            <a:r>
              <a:rPr lang="zh-CN" altLang="en-US" sz="2200" b="1" dirty="0">
                <a:solidFill>
                  <a:srgbClr val="FF3300"/>
                </a:solidFill>
                <a:latin typeface="宋体" panose="02010600030101010101" pitchFamily="2" charset="-122"/>
                <a:ea typeface="宋体" panose="02010600030101010101" pitchFamily="2" charset="-122"/>
              </a:rPr>
              <a:t>会话密钥</a:t>
            </a:r>
            <a:r>
              <a:rPr lang="zh-CN" altLang="en-US" sz="2200" b="1" dirty="0">
                <a:latin typeface="宋体" panose="02010600030101010101" pitchFamily="2" charset="-122"/>
                <a:ea typeface="宋体" panose="02010600030101010101" pitchFamily="2" charset="-122"/>
              </a:rPr>
              <a:t>副本转发给</a:t>
            </a:r>
            <a:r>
              <a:rPr lang="en-US" altLang="zh-CN" sz="2200" b="1" dirty="0">
                <a:latin typeface="宋体" panose="02010600030101010101" pitchFamily="2" charset="-122"/>
                <a:ea typeface="宋体" panose="02010600030101010101" pitchFamily="2" charset="-122"/>
              </a:rPr>
              <a:t>Bob;</a:t>
            </a:r>
            <a:endParaRPr lang="en-US" altLang="zh-CN" sz="2200"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2"/>
              </a:buBlip>
            </a:pPr>
            <a:r>
              <a:rPr lang="en-US" altLang="zh-CN" sz="2200" b="1" dirty="0">
                <a:latin typeface="宋体" panose="02010600030101010101" pitchFamily="2" charset="-122"/>
                <a:ea typeface="宋体" panose="02010600030101010101" pitchFamily="2" charset="-122"/>
              </a:rPr>
              <a:t>Bob</a:t>
            </a:r>
            <a:r>
              <a:rPr lang="zh-CN" altLang="en-US" sz="2200" b="1" dirty="0">
                <a:latin typeface="宋体" panose="02010600030101010101" pitchFamily="2" charset="-122"/>
                <a:ea typeface="宋体" panose="02010600030101010101" pitchFamily="2" charset="-122"/>
              </a:rPr>
              <a:t>对他的</a:t>
            </a:r>
            <a:r>
              <a:rPr lang="zh-CN" altLang="en-US" sz="2200" b="1" dirty="0">
                <a:solidFill>
                  <a:srgbClr val="FF3300"/>
                </a:solidFill>
                <a:latin typeface="宋体" panose="02010600030101010101" pitchFamily="2" charset="-122"/>
                <a:ea typeface="宋体" panose="02010600030101010101" pitchFamily="2" charset="-122"/>
              </a:rPr>
              <a:t>会话密钥</a:t>
            </a:r>
            <a:r>
              <a:rPr lang="zh-CN" altLang="en-US" sz="2200" b="1" dirty="0">
                <a:latin typeface="宋体" panose="02010600030101010101" pitchFamily="2" charset="-122"/>
                <a:ea typeface="宋体" panose="02010600030101010101" pitchFamily="2" charset="-122"/>
              </a:rPr>
              <a:t>副本解密</a:t>
            </a:r>
            <a:r>
              <a:rPr lang="en-US" altLang="zh-CN"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2"/>
              </a:buBlip>
            </a:pPr>
            <a:r>
              <a:rPr lang="zh-CN" altLang="en-US" sz="2200" b="1" dirty="0">
                <a:latin typeface="宋体" panose="02010600030101010101" pitchFamily="2" charset="-122"/>
                <a:ea typeface="宋体" panose="02010600030101010101" pitchFamily="2" charset="-122"/>
              </a:rPr>
              <a:t>Ａ</a:t>
            </a:r>
            <a:r>
              <a:rPr lang="en-US" altLang="zh-CN" sz="2200" b="1" dirty="0">
                <a:latin typeface="宋体" panose="02010600030101010101" pitchFamily="2" charset="-122"/>
                <a:ea typeface="宋体" panose="02010600030101010101" pitchFamily="2" charset="-122"/>
              </a:rPr>
              <a:t>lice</a:t>
            </a:r>
            <a:r>
              <a:rPr lang="zh-CN" altLang="en-US" sz="2200" b="1" dirty="0">
                <a:latin typeface="宋体" panose="02010600030101010101" pitchFamily="2" charset="-122"/>
                <a:ea typeface="宋体" panose="02010600030101010101" pitchFamily="2" charset="-122"/>
              </a:rPr>
              <a:t>和</a:t>
            </a:r>
            <a:r>
              <a:rPr lang="en-US" altLang="zh-CN" sz="2200" b="1" dirty="0">
                <a:latin typeface="宋体" panose="02010600030101010101" pitchFamily="2" charset="-122"/>
                <a:ea typeface="宋体" panose="02010600030101010101" pitchFamily="2" charset="-122"/>
              </a:rPr>
              <a:t>Bob</a:t>
            </a:r>
            <a:r>
              <a:rPr lang="zh-CN" altLang="en-US" sz="2200" b="1" dirty="0">
                <a:latin typeface="宋体" panose="02010600030101010101" pitchFamily="2" charset="-122"/>
                <a:ea typeface="宋体" panose="02010600030101010101" pitchFamily="2" charset="-122"/>
              </a:rPr>
              <a:t>用</a:t>
            </a:r>
            <a:r>
              <a:rPr lang="zh-CN" altLang="en-US" sz="2200" b="1" dirty="0">
                <a:solidFill>
                  <a:srgbClr val="FF3300"/>
                </a:solidFill>
                <a:latin typeface="宋体" panose="02010600030101010101" pitchFamily="2" charset="-122"/>
                <a:ea typeface="宋体" panose="02010600030101010101" pitchFamily="2" charset="-122"/>
              </a:rPr>
              <a:t>会话密钥</a:t>
            </a:r>
            <a:r>
              <a:rPr lang="zh-CN" altLang="en-US" sz="2200" b="1" dirty="0">
                <a:latin typeface="宋体" panose="02010600030101010101" pitchFamily="2" charset="-122"/>
                <a:ea typeface="宋体" panose="02010600030101010101" pitchFamily="2" charset="-122"/>
              </a:rPr>
              <a:t>安全通信。</a:t>
            </a:r>
            <a:endParaRPr lang="zh-CN" altLang="en-US" sz="2200" b="1" baseline="-25000" dirty="0">
              <a:latin typeface="宋体" panose="02010600030101010101" pitchFamily="2" charset="-122"/>
              <a:ea typeface="宋体" panose="02010600030101010101" pitchFamily="2" charset="-122"/>
            </a:endParaRPr>
          </a:p>
        </p:txBody>
      </p:sp>
      <p:sp>
        <p:nvSpPr>
          <p:cNvPr id="81924" name="Rectangle 3"/>
          <p:cNvSpPr/>
          <p:nvPr/>
        </p:nvSpPr>
        <p:spPr>
          <a:xfrm>
            <a:off x="3367088" y="79375"/>
            <a:ext cx="2590800" cy="57943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zh-CN" altLang="en-US" sz="3200" b="1" dirty="0">
                <a:latin typeface="宋体" panose="02010600030101010101" pitchFamily="2" charset="-122"/>
                <a:ea typeface="宋体" panose="02010600030101010101" pitchFamily="2" charset="-122"/>
              </a:rPr>
              <a:t>密码协议</a:t>
            </a:r>
            <a:endParaRPr lang="zh-CN" altLang="en-US" sz="3200" b="1" dirty="0">
              <a:latin typeface="宋体" panose="02010600030101010101" pitchFamily="2" charset="-122"/>
              <a:ea typeface="宋体" panose="02010600030101010101" pitchFamily="2" charset="-122"/>
            </a:endParaRPr>
          </a:p>
        </p:txBody>
      </p:sp>
      <p:grpSp>
        <p:nvGrpSpPr>
          <p:cNvPr id="81925" name="Group 2"/>
          <p:cNvGrpSpPr/>
          <p:nvPr/>
        </p:nvGrpSpPr>
        <p:grpSpPr>
          <a:xfrm>
            <a:off x="4572000" y="3230563"/>
            <a:ext cx="4387850" cy="3330575"/>
            <a:chOff x="864" y="569"/>
            <a:chExt cx="3648" cy="2113"/>
          </a:xfrm>
        </p:grpSpPr>
        <p:sp>
          <p:nvSpPr>
            <p:cNvPr id="81926" name="Text Box 3"/>
            <p:cNvSpPr txBox="1"/>
            <p:nvPr/>
          </p:nvSpPr>
          <p:spPr>
            <a:xfrm>
              <a:off x="864" y="2112"/>
              <a:ext cx="720" cy="234"/>
            </a:xfrm>
            <a:prstGeom prst="rect">
              <a:avLst/>
            </a:prstGeom>
            <a:solidFill>
              <a:srgbClr val="23FFFF"/>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sz="1800" dirty="0">
                  <a:solidFill>
                    <a:srgbClr val="E91111"/>
                  </a:solidFill>
                  <a:latin typeface="Times New Roman" panose="02020603050405020304" pitchFamily="18" charset="0"/>
                  <a:ea typeface="宋体" panose="02010600030101010101" pitchFamily="2" charset="-122"/>
                </a:rPr>
                <a:t>Ａ</a:t>
              </a:r>
              <a:r>
                <a:rPr lang="en-US" altLang="zh-CN" sz="1800" dirty="0">
                  <a:solidFill>
                    <a:srgbClr val="E91111"/>
                  </a:solidFill>
                  <a:latin typeface="Times New Roman" panose="02020603050405020304" pitchFamily="18" charset="0"/>
                  <a:ea typeface="宋体" panose="02010600030101010101" pitchFamily="2" charset="-122"/>
                </a:rPr>
                <a:t>lice</a:t>
              </a:r>
              <a:endParaRPr lang="en-US" altLang="zh-CN" sz="1800" dirty="0">
                <a:solidFill>
                  <a:srgbClr val="E91111"/>
                </a:solidFill>
                <a:latin typeface="Times New Roman" panose="02020603050405020304" pitchFamily="18" charset="0"/>
                <a:ea typeface="宋体" panose="02010600030101010101" pitchFamily="2" charset="-122"/>
              </a:endParaRPr>
            </a:p>
          </p:txBody>
        </p:sp>
        <p:sp>
          <p:nvSpPr>
            <p:cNvPr id="81927" name="Text Box 4"/>
            <p:cNvSpPr txBox="1"/>
            <p:nvPr/>
          </p:nvSpPr>
          <p:spPr>
            <a:xfrm>
              <a:off x="2352" y="816"/>
              <a:ext cx="576" cy="234"/>
            </a:xfrm>
            <a:prstGeom prst="rect">
              <a:avLst/>
            </a:prstGeom>
            <a:solidFill>
              <a:srgbClr val="FADE90"/>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solidFill>
                    <a:srgbClr val="E91111"/>
                  </a:solidFill>
                  <a:latin typeface="Times New Roman" panose="02020603050405020304" pitchFamily="18" charset="0"/>
                  <a:ea typeface="宋体" panose="02010600030101010101" pitchFamily="2" charset="-122"/>
                </a:rPr>
                <a:t>KDC</a:t>
              </a:r>
              <a:endParaRPr lang="en-US" altLang="zh-CN" sz="1800" dirty="0">
                <a:solidFill>
                  <a:srgbClr val="E91111"/>
                </a:solidFill>
                <a:latin typeface="Times New Roman" panose="02020603050405020304" pitchFamily="18" charset="0"/>
                <a:ea typeface="宋体" panose="02010600030101010101" pitchFamily="2" charset="-122"/>
              </a:endParaRPr>
            </a:p>
          </p:txBody>
        </p:sp>
        <p:sp>
          <p:nvSpPr>
            <p:cNvPr id="81928" name="Text Box 5"/>
            <p:cNvSpPr txBox="1"/>
            <p:nvPr/>
          </p:nvSpPr>
          <p:spPr>
            <a:xfrm>
              <a:off x="4032" y="2112"/>
              <a:ext cx="480" cy="234"/>
            </a:xfrm>
            <a:prstGeom prst="rect">
              <a:avLst/>
            </a:prstGeom>
            <a:solidFill>
              <a:srgbClr val="33CC33"/>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solidFill>
                    <a:srgbClr val="E91111"/>
                  </a:solidFill>
                  <a:latin typeface="Times New Roman" panose="02020603050405020304" pitchFamily="18" charset="0"/>
                  <a:ea typeface="宋体" panose="02010600030101010101" pitchFamily="2" charset="-122"/>
                </a:rPr>
                <a:t>Bob</a:t>
              </a:r>
              <a:endParaRPr lang="en-US" altLang="zh-CN" sz="1800" dirty="0">
                <a:solidFill>
                  <a:srgbClr val="E91111"/>
                </a:solidFill>
                <a:latin typeface="Times New Roman" panose="02020603050405020304" pitchFamily="18" charset="0"/>
                <a:ea typeface="宋体" panose="02010600030101010101" pitchFamily="2" charset="-122"/>
              </a:endParaRPr>
            </a:p>
          </p:txBody>
        </p:sp>
        <p:sp>
          <p:nvSpPr>
            <p:cNvPr id="81929" name="Line 6"/>
            <p:cNvSpPr/>
            <p:nvPr/>
          </p:nvSpPr>
          <p:spPr>
            <a:xfrm flipV="1">
              <a:off x="912" y="912"/>
              <a:ext cx="1440" cy="1200"/>
            </a:xfrm>
            <a:prstGeom prst="line">
              <a:avLst/>
            </a:prstGeom>
            <a:ln w="28575" cap="sq" cmpd="sng">
              <a:solidFill>
                <a:srgbClr val="E91111"/>
              </a:solidFill>
              <a:prstDash val="solid"/>
              <a:headEnd type="none" w="sm" len="sm"/>
              <a:tailEnd type="triangle" w="med" len="med"/>
            </a:ln>
          </p:spPr>
        </p:sp>
        <p:sp>
          <p:nvSpPr>
            <p:cNvPr id="81930" name="Line 7"/>
            <p:cNvSpPr/>
            <p:nvPr/>
          </p:nvSpPr>
          <p:spPr>
            <a:xfrm flipV="1">
              <a:off x="1584" y="1104"/>
              <a:ext cx="1344" cy="1152"/>
            </a:xfrm>
            <a:prstGeom prst="line">
              <a:avLst/>
            </a:prstGeom>
            <a:ln w="28575" cap="sq" cmpd="sng">
              <a:solidFill>
                <a:srgbClr val="E91111"/>
              </a:solidFill>
              <a:prstDash val="solid"/>
              <a:headEnd type="triangle" w="med" len="med"/>
              <a:tailEnd type="none" w="med" len="med"/>
            </a:ln>
          </p:spPr>
        </p:sp>
        <p:sp>
          <p:nvSpPr>
            <p:cNvPr id="81931" name="Text Box 8"/>
            <p:cNvSpPr txBox="1"/>
            <p:nvPr/>
          </p:nvSpPr>
          <p:spPr>
            <a:xfrm>
              <a:off x="1152" y="1872"/>
              <a:ext cx="624" cy="234"/>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r>
                <a:rPr lang="en-US" altLang="zh-CN" sz="1800" baseline="-25000" dirty="0">
                  <a:latin typeface="Times New Roman" panose="02020603050405020304" pitchFamily="18" charset="0"/>
                  <a:ea typeface="宋体" panose="02010600030101010101" pitchFamily="2" charset="-122"/>
                </a:rPr>
                <a:t>A</a:t>
              </a:r>
              <a:endParaRPr lang="en-US" altLang="zh-CN" sz="1800" baseline="-25000" dirty="0">
                <a:latin typeface="Times New Roman" panose="02020603050405020304" pitchFamily="18" charset="0"/>
                <a:ea typeface="宋体" panose="02010600030101010101" pitchFamily="2" charset="-122"/>
              </a:endParaRPr>
            </a:p>
          </p:txBody>
        </p:sp>
        <p:sp>
          <p:nvSpPr>
            <p:cNvPr id="81932" name="Text Box 9"/>
            <p:cNvSpPr txBox="1"/>
            <p:nvPr/>
          </p:nvSpPr>
          <p:spPr>
            <a:xfrm>
              <a:off x="2321" y="569"/>
              <a:ext cx="864" cy="234"/>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r>
                <a:rPr lang="en-US" altLang="zh-CN" sz="1800" baseline="-25000" dirty="0">
                  <a:latin typeface="Times New Roman" panose="02020603050405020304" pitchFamily="18" charset="0"/>
                  <a:ea typeface="宋体" panose="02010600030101010101" pitchFamily="2" charset="-122"/>
                </a:rPr>
                <a:t>A</a:t>
              </a:r>
              <a:r>
                <a:rPr lang="zh-CN" altLang="en-US"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K</a:t>
              </a:r>
              <a:r>
                <a:rPr lang="zh-CN" altLang="en-US" sz="1800" baseline="-25000" dirty="0">
                  <a:latin typeface="Times New Roman" panose="02020603050405020304" pitchFamily="18" charset="0"/>
                  <a:ea typeface="宋体" panose="02010600030101010101" pitchFamily="2" charset="-122"/>
                </a:rPr>
                <a:t>Ｂ</a:t>
              </a:r>
              <a:endParaRPr lang="zh-CN" altLang="en-US" sz="1800" baseline="-25000" dirty="0">
                <a:latin typeface="Times New Roman" panose="02020603050405020304" pitchFamily="18" charset="0"/>
                <a:ea typeface="宋体" panose="02010600030101010101" pitchFamily="2" charset="-122"/>
              </a:endParaRPr>
            </a:p>
          </p:txBody>
        </p:sp>
        <p:sp>
          <p:nvSpPr>
            <p:cNvPr id="81933" name="Text Box 10"/>
            <p:cNvSpPr txBox="1"/>
            <p:nvPr/>
          </p:nvSpPr>
          <p:spPr>
            <a:xfrm rot="-2900983">
              <a:off x="1691" y="1528"/>
              <a:ext cx="1800" cy="307"/>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sz="1800" dirty="0">
                  <a:latin typeface="Times New Roman" panose="02020603050405020304" pitchFamily="18" charset="0"/>
                  <a:ea typeface="宋体" panose="02010600030101010101" pitchFamily="2" charset="-122"/>
                </a:rPr>
                <a:t>Ｅ</a:t>
              </a:r>
              <a:r>
                <a:rPr lang="en-US" altLang="zh-CN" sz="1800" dirty="0">
                  <a:latin typeface="Times New Roman" panose="02020603050405020304" pitchFamily="18" charset="0"/>
                  <a:ea typeface="宋体" panose="02010600030101010101" pitchFamily="2" charset="-122"/>
                </a:rPr>
                <a:t>K</a:t>
              </a:r>
              <a:r>
                <a:rPr lang="en-US" altLang="zh-CN" sz="1800" baseline="-25000" dirty="0">
                  <a:latin typeface="Times New Roman" panose="02020603050405020304" pitchFamily="18" charset="0"/>
                  <a:ea typeface="宋体" panose="02010600030101010101" pitchFamily="2" charset="-122"/>
                </a:rPr>
                <a:t>A</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（Ｋ）、Ｅ</a:t>
              </a:r>
              <a:r>
                <a:rPr lang="en-US" altLang="zh-CN" sz="1800" dirty="0">
                  <a:latin typeface="Times New Roman" panose="02020603050405020304" pitchFamily="18" charset="0"/>
                  <a:ea typeface="宋体" panose="02010600030101010101" pitchFamily="2" charset="-122"/>
                </a:rPr>
                <a:t>K</a:t>
              </a:r>
              <a:r>
                <a:rPr lang="zh-CN" altLang="en-US" sz="1800" baseline="-25000" dirty="0">
                  <a:latin typeface="Times New Roman" panose="02020603050405020304" pitchFamily="18" charset="0"/>
                  <a:ea typeface="宋体" panose="02010600030101010101" pitchFamily="2" charset="-122"/>
                </a:rPr>
                <a:t>Ｂ</a:t>
              </a:r>
              <a:r>
                <a:rPr lang="zh-CN" altLang="en-US" sz="1800" dirty="0">
                  <a:latin typeface="Times New Roman" panose="02020603050405020304" pitchFamily="18" charset="0"/>
                  <a:ea typeface="宋体" panose="02010600030101010101" pitchFamily="2" charset="-122"/>
                </a:rPr>
                <a:t>（Ｋ）</a:t>
              </a:r>
              <a:endParaRPr lang="zh-CN" altLang="en-US" sz="1800" dirty="0">
                <a:latin typeface="Times New Roman" panose="02020603050405020304" pitchFamily="18" charset="0"/>
                <a:ea typeface="宋体" panose="02010600030101010101" pitchFamily="2" charset="-122"/>
              </a:endParaRPr>
            </a:p>
          </p:txBody>
        </p:sp>
        <p:sp>
          <p:nvSpPr>
            <p:cNvPr id="81934" name="Text Box 11"/>
            <p:cNvSpPr txBox="1"/>
            <p:nvPr/>
          </p:nvSpPr>
          <p:spPr>
            <a:xfrm>
              <a:off x="1008" y="2400"/>
              <a:ext cx="336" cy="234"/>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endParaRPr lang="en-US" altLang="zh-CN" sz="1800" baseline="-25000" dirty="0">
                <a:latin typeface="Times New Roman" panose="02020603050405020304" pitchFamily="18" charset="0"/>
                <a:ea typeface="宋体" panose="02010600030101010101" pitchFamily="2" charset="-122"/>
              </a:endParaRPr>
            </a:p>
          </p:txBody>
        </p:sp>
        <p:sp>
          <p:nvSpPr>
            <p:cNvPr id="81935" name="Line 12"/>
            <p:cNvSpPr/>
            <p:nvPr/>
          </p:nvSpPr>
          <p:spPr>
            <a:xfrm>
              <a:off x="1584" y="2400"/>
              <a:ext cx="2400" cy="0"/>
            </a:xfrm>
            <a:prstGeom prst="line">
              <a:avLst/>
            </a:prstGeom>
            <a:ln w="28575" cap="sq" cmpd="sng">
              <a:solidFill>
                <a:srgbClr val="E91111"/>
              </a:solidFill>
              <a:prstDash val="solid"/>
              <a:headEnd type="none" w="sm" len="sm"/>
              <a:tailEnd type="triangle" w="med" len="med"/>
            </a:ln>
          </p:spPr>
        </p:sp>
        <p:sp>
          <p:nvSpPr>
            <p:cNvPr id="81936" name="Text Box 13"/>
            <p:cNvSpPr txBox="1"/>
            <p:nvPr/>
          </p:nvSpPr>
          <p:spPr>
            <a:xfrm rot="-9445">
              <a:off x="2040" y="2173"/>
              <a:ext cx="1393" cy="234"/>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sz="1800" dirty="0">
                  <a:latin typeface="Times New Roman" panose="02020603050405020304" pitchFamily="18" charset="0"/>
                  <a:ea typeface="宋体" panose="02010600030101010101" pitchFamily="2" charset="-122"/>
                </a:rPr>
                <a:t>　　Ｅ</a:t>
              </a:r>
              <a:r>
                <a:rPr lang="en-US" altLang="zh-CN" sz="1800" dirty="0">
                  <a:latin typeface="Times New Roman" panose="02020603050405020304" pitchFamily="18" charset="0"/>
                  <a:ea typeface="宋体" panose="02010600030101010101" pitchFamily="2" charset="-122"/>
                </a:rPr>
                <a:t>K</a:t>
              </a:r>
              <a:r>
                <a:rPr lang="zh-CN" altLang="en-US" sz="1800" baseline="-25000" dirty="0">
                  <a:latin typeface="Times New Roman" panose="02020603050405020304" pitchFamily="18" charset="0"/>
                  <a:ea typeface="宋体" panose="02010600030101010101" pitchFamily="2" charset="-122"/>
                </a:rPr>
                <a:t>Ｂ</a:t>
              </a:r>
              <a:r>
                <a:rPr lang="zh-CN" altLang="en-US" sz="1800" dirty="0">
                  <a:latin typeface="Times New Roman" panose="02020603050405020304" pitchFamily="18" charset="0"/>
                  <a:ea typeface="宋体" panose="02010600030101010101" pitchFamily="2" charset="-122"/>
                </a:rPr>
                <a:t>（Ｋ）</a:t>
              </a:r>
              <a:endParaRPr lang="zh-CN" altLang="en-US" sz="1800" dirty="0">
                <a:latin typeface="Times New Roman" panose="02020603050405020304" pitchFamily="18" charset="0"/>
                <a:ea typeface="宋体" panose="02010600030101010101" pitchFamily="2" charset="-122"/>
              </a:endParaRPr>
            </a:p>
          </p:txBody>
        </p:sp>
        <p:sp>
          <p:nvSpPr>
            <p:cNvPr id="81937" name="Text Box 14"/>
            <p:cNvSpPr txBox="1"/>
            <p:nvPr/>
          </p:nvSpPr>
          <p:spPr>
            <a:xfrm>
              <a:off x="4128" y="2448"/>
              <a:ext cx="336" cy="234"/>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endParaRPr lang="en-US" altLang="zh-CN" sz="1800" baseline="-25000" dirty="0">
                <a:latin typeface="Times New Roman" panose="02020603050405020304" pitchFamily="18" charset="0"/>
                <a:ea typeface="宋体" panose="02010600030101010101" pitchFamily="2" charset="-122"/>
              </a:endParaRPr>
            </a:p>
          </p:txBody>
        </p:sp>
        <p:sp>
          <p:nvSpPr>
            <p:cNvPr id="81938" name="Text Box 15"/>
            <p:cNvSpPr txBox="1"/>
            <p:nvPr/>
          </p:nvSpPr>
          <p:spPr>
            <a:xfrm>
              <a:off x="4032" y="1776"/>
              <a:ext cx="432" cy="234"/>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r>
                <a:rPr lang="zh-CN" altLang="en-US" sz="1800" baseline="-25000" dirty="0">
                  <a:latin typeface="Times New Roman" panose="02020603050405020304" pitchFamily="18" charset="0"/>
                  <a:ea typeface="宋体" panose="02010600030101010101" pitchFamily="2" charset="-122"/>
                </a:rPr>
                <a:t>Ｂ</a:t>
              </a:r>
              <a:endParaRPr lang="zh-CN" altLang="en-US" sz="1800" baseline="-250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82947" name="Text Box 2"/>
          <p:cNvSpPr txBox="1"/>
          <p:nvPr/>
        </p:nvSpPr>
        <p:spPr>
          <a:xfrm>
            <a:off x="192088" y="658813"/>
            <a:ext cx="8759825" cy="3121025"/>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Font typeface="Wingdings" panose="05000000000000000000" pitchFamily="2" charset="2"/>
              <a:buNone/>
            </a:pPr>
            <a:r>
              <a:rPr lang="zh-CN" altLang="en-US" b="1" dirty="0">
                <a:latin typeface="宋体" panose="02010600030101010101" pitchFamily="2" charset="-122"/>
                <a:ea typeface="宋体" panose="02010600030101010101" pitchFamily="2" charset="-122"/>
              </a:rPr>
              <a:t>公开密码学的</a:t>
            </a:r>
            <a:r>
              <a:rPr lang="zh-CN" altLang="en-US" b="1" dirty="0">
                <a:solidFill>
                  <a:srgbClr val="FF0000"/>
                </a:solidFill>
                <a:latin typeface="宋体" panose="02010600030101010101" pitchFamily="2" charset="-122"/>
                <a:ea typeface="宋体" panose="02010600030101010101" pitchFamily="2" charset="-122"/>
              </a:rPr>
              <a:t>密钥交换</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从</a:t>
            </a:r>
            <a:r>
              <a:rPr lang="en-US" altLang="zh-CN" b="1" dirty="0">
                <a:latin typeface="宋体" panose="02010600030101010101" pitchFamily="2" charset="-122"/>
                <a:ea typeface="宋体" panose="02010600030101010101" pitchFamily="2" charset="-122"/>
              </a:rPr>
              <a:t>KDC</a:t>
            </a:r>
            <a:r>
              <a:rPr lang="zh-CN" altLang="en-US" b="1" dirty="0">
                <a:latin typeface="宋体" panose="02010600030101010101" pitchFamily="2" charset="-122"/>
                <a:ea typeface="宋体" panose="02010600030101010101" pitchFamily="2" charset="-122"/>
              </a:rPr>
              <a:t>获得公钥</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一方产生密钥</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1"/>
              </a:buBlip>
            </a:pP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从</a:t>
            </a:r>
            <a:r>
              <a:rPr lang="en-US" altLang="zh-CN" b="1" dirty="0">
                <a:latin typeface="宋体" panose="02010600030101010101" pitchFamily="2" charset="-122"/>
                <a:ea typeface="宋体" panose="02010600030101010101" pitchFamily="2" charset="-122"/>
              </a:rPr>
              <a:t>KDC</a:t>
            </a:r>
            <a:r>
              <a:rPr lang="zh-CN" altLang="en-US" b="1" dirty="0">
                <a:latin typeface="宋体" panose="02010600030101010101" pitchFamily="2" charset="-122"/>
                <a:ea typeface="宋体" panose="02010600030101010101" pitchFamily="2" charset="-122"/>
              </a:rPr>
              <a:t>得到</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的公开密钥；</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1"/>
              </a:buBlip>
            </a:pP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产生出随机</a:t>
            </a:r>
            <a:r>
              <a:rPr lang="zh-CN" altLang="en-US" b="1" dirty="0">
                <a:solidFill>
                  <a:srgbClr val="FF3300"/>
                </a:solidFill>
                <a:latin typeface="宋体" panose="02010600030101010101" pitchFamily="2" charset="-122"/>
                <a:ea typeface="宋体" panose="02010600030101010101" pitchFamily="2" charset="-122"/>
              </a:rPr>
              <a:t>会话密钥</a:t>
            </a:r>
            <a:r>
              <a:rPr lang="zh-CN" altLang="en-US" b="1" dirty="0">
                <a:latin typeface="宋体" panose="02010600030101010101" pitchFamily="2" charset="-122"/>
                <a:ea typeface="宋体" panose="02010600030101010101" pitchFamily="2" charset="-122"/>
              </a:rPr>
              <a:t>，用</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公开密钥加密并传给</a:t>
            </a: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1"/>
              </a:buBlip>
            </a:pPr>
            <a:r>
              <a:rPr lang="en-US" altLang="zh-CN" b="1" dirty="0">
                <a:latin typeface="宋体" panose="02010600030101010101" pitchFamily="2" charset="-122"/>
                <a:ea typeface="宋体" panose="02010600030101010101" pitchFamily="2" charset="-122"/>
              </a:rPr>
              <a:t>Bob</a:t>
            </a:r>
            <a:r>
              <a:rPr lang="zh-CN" altLang="en-US" b="1" dirty="0">
                <a:latin typeface="宋体" panose="02010600030101010101" pitchFamily="2" charset="-122"/>
                <a:ea typeface="宋体" panose="02010600030101010101" pitchFamily="2" charset="-122"/>
              </a:rPr>
              <a:t>用他的私人密钥解密</a:t>
            </a:r>
            <a:r>
              <a:rPr lang="en-US" altLang="zh-CN" b="1" dirty="0">
                <a:latin typeface="宋体" panose="02010600030101010101" pitchFamily="2" charset="-122"/>
                <a:ea typeface="宋体" panose="02010600030101010101" pitchFamily="2" charset="-122"/>
              </a:rPr>
              <a:t>Alice</a:t>
            </a:r>
            <a:r>
              <a:rPr lang="zh-CN" altLang="en-US" b="1" dirty="0">
                <a:latin typeface="宋体" panose="02010600030101010101" pitchFamily="2" charset="-122"/>
                <a:ea typeface="宋体" panose="02010600030101010101" pitchFamily="2" charset="-122"/>
              </a:rPr>
              <a:t>的消息；　</a:t>
            </a:r>
            <a:endParaRPr lang="zh-CN" altLang="en-US" b="1" dirty="0">
              <a:latin typeface="宋体" panose="02010600030101010101" pitchFamily="2" charset="-122"/>
              <a:ea typeface="宋体" panose="02010600030101010101" pitchFamily="2" charset="-122"/>
            </a:endParaRPr>
          </a:p>
          <a:p>
            <a:pPr marL="0" lvl="0" indent="0" algn="l" eaLnBrk="1" hangingPunct="1">
              <a:lnSpc>
                <a:spcPct val="130000"/>
              </a:lnSpc>
              <a:spcBef>
                <a:spcPct val="50000"/>
              </a:spcBef>
              <a:buClrTx/>
              <a:buFont typeface="Wingdings" panose="05000000000000000000" pitchFamily="2" charset="2"/>
              <a:buBlip>
                <a:blip r:embed="rId1"/>
              </a:buBlip>
            </a:pPr>
            <a:r>
              <a:rPr lang="zh-CN" altLang="en-US" b="1" dirty="0">
                <a:latin typeface="宋体" panose="02010600030101010101" pitchFamily="2" charset="-122"/>
                <a:ea typeface="宋体" panose="02010600030101010101" pitchFamily="2" charset="-122"/>
              </a:rPr>
              <a:t>两人用这个会话密钥安全的通信。</a:t>
            </a:r>
            <a:endParaRPr lang="zh-CN" altLang="en-US" dirty="0">
              <a:latin typeface="宋体" panose="02010600030101010101" pitchFamily="2" charset="-122"/>
              <a:ea typeface="宋体" panose="02010600030101010101" pitchFamily="2" charset="-122"/>
            </a:endParaRPr>
          </a:p>
        </p:txBody>
      </p:sp>
      <p:sp>
        <p:nvSpPr>
          <p:cNvPr id="82948" name="Rectangle 3"/>
          <p:cNvSpPr/>
          <p:nvPr/>
        </p:nvSpPr>
        <p:spPr>
          <a:xfrm>
            <a:off x="3346450" y="79375"/>
            <a:ext cx="1943100" cy="57943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zh-CN" altLang="en-US" sz="3200" b="1" dirty="0">
                <a:latin typeface="Times New Roman" panose="02020603050405020304" pitchFamily="18" charset="0"/>
                <a:ea typeface="宋体" panose="02010600030101010101" pitchFamily="2" charset="-122"/>
              </a:rPr>
              <a:t>密码协议</a:t>
            </a:r>
            <a:endParaRPr lang="zh-CN" altLang="en-US" sz="3200" b="1" dirty="0">
              <a:latin typeface="Times New Roman" panose="02020603050405020304" pitchFamily="18" charset="0"/>
              <a:ea typeface="宋体" panose="02010600030101010101" pitchFamily="2" charset="-122"/>
            </a:endParaRPr>
          </a:p>
        </p:txBody>
      </p:sp>
      <p:grpSp>
        <p:nvGrpSpPr>
          <p:cNvPr id="82949" name="Group 3"/>
          <p:cNvGrpSpPr/>
          <p:nvPr/>
        </p:nvGrpSpPr>
        <p:grpSpPr>
          <a:xfrm>
            <a:off x="3678238" y="3254375"/>
            <a:ext cx="4651375" cy="2949575"/>
            <a:chOff x="1008" y="721"/>
            <a:chExt cx="3648" cy="2095"/>
          </a:xfrm>
        </p:grpSpPr>
        <p:sp>
          <p:nvSpPr>
            <p:cNvPr id="82951" name="Text Box 4"/>
            <p:cNvSpPr txBox="1"/>
            <p:nvPr/>
          </p:nvSpPr>
          <p:spPr>
            <a:xfrm>
              <a:off x="1008" y="2304"/>
              <a:ext cx="720" cy="233"/>
            </a:xfrm>
            <a:prstGeom prst="rect">
              <a:avLst/>
            </a:prstGeom>
            <a:solidFill>
              <a:srgbClr val="23FFFF"/>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sz="1800" dirty="0">
                  <a:solidFill>
                    <a:srgbClr val="E91111"/>
                  </a:solidFill>
                  <a:latin typeface="Times New Roman" panose="02020603050405020304" pitchFamily="18" charset="0"/>
                  <a:ea typeface="宋体" panose="02010600030101010101" pitchFamily="2" charset="-122"/>
                </a:rPr>
                <a:t>Ａ</a:t>
              </a:r>
              <a:r>
                <a:rPr lang="en-US" altLang="zh-CN" sz="1800" dirty="0">
                  <a:solidFill>
                    <a:srgbClr val="E91111"/>
                  </a:solidFill>
                  <a:latin typeface="Times New Roman" panose="02020603050405020304" pitchFamily="18" charset="0"/>
                  <a:ea typeface="宋体" panose="02010600030101010101" pitchFamily="2" charset="-122"/>
                </a:rPr>
                <a:t>lice</a:t>
              </a:r>
              <a:endParaRPr lang="en-US" altLang="zh-CN" sz="1800" dirty="0">
                <a:solidFill>
                  <a:srgbClr val="E91111"/>
                </a:solidFill>
                <a:latin typeface="Times New Roman" panose="02020603050405020304" pitchFamily="18" charset="0"/>
                <a:ea typeface="宋体" panose="02010600030101010101" pitchFamily="2" charset="-122"/>
              </a:endParaRPr>
            </a:p>
          </p:txBody>
        </p:sp>
        <p:sp>
          <p:nvSpPr>
            <p:cNvPr id="82952" name="Text Box 5"/>
            <p:cNvSpPr txBox="1"/>
            <p:nvPr/>
          </p:nvSpPr>
          <p:spPr>
            <a:xfrm>
              <a:off x="2496" y="1008"/>
              <a:ext cx="576" cy="233"/>
            </a:xfrm>
            <a:prstGeom prst="rect">
              <a:avLst/>
            </a:prstGeom>
            <a:solidFill>
              <a:srgbClr val="FADE90"/>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solidFill>
                    <a:srgbClr val="E91111"/>
                  </a:solidFill>
                  <a:latin typeface="Times New Roman" panose="02020603050405020304" pitchFamily="18" charset="0"/>
                  <a:ea typeface="宋体" panose="02010600030101010101" pitchFamily="2" charset="-122"/>
                </a:rPr>
                <a:t>KDC</a:t>
              </a:r>
              <a:endParaRPr lang="en-US" altLang="zh-CN" sz="1800" dirty="0">
                <a:solidFill>
                  <a:srgbClr val="E91111"/>
                </a:solidFill>
                <a:latin typeface="Times New Roman" panose="02020603050405020304" pitchFamily="18" charset="0"/>
                <a:ea typeface="宋体" panose="02010600030101010101" pitchFamily="2" charset="-122"/>
              </a:endParaRPr>
            </a:p>
          </p:txBody>
        </p:sp>
        <p:sp>
          <p:nvSpPr>
            <p:cNvPr id="82953" name="Text Box 6"/>
            <p:cNvSpPr txBox="1"/>
            <p:nvPr/>
          </p:nvSpPr>
          <p:spPr>
            <a:xfrm>
              <a:off x="4176" y="2304"/>
              <a:ext cx="480" cy="233"/>
            </a:xfrm>
            <a:prstGeom prst="rect">
              <a:avLst/>
            </a:prstGeom>
            <a:solidFill>
              <a:srgbClr val="33CC33"/>
            </a:solid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solidFill>
                    <a:srgbClr val="E91111"/>
                  </a:solidFill>
                  <a:latin typeface="Times New Roman" panose="02020603050405020304" pitchFamily="18" charset="0"/>
                  <a:ea typeface="宋体" panose="02010600030101010101" pitchFamily="2" charset="-122"/>
                </a:rPr>
                <a:t>Bob</a:t>
              </a:r>
              <a:endParaRPr lang="en-US" altLang="zh-CN" sz="1800" dirty="0">
                <a:solidFill>
                  <a:srgbClr val="E91111"/>
                </a:solidFill>
                <a:latin typeface="Times New Roman" panose="02020603050405020304" pitchFamily="18" charset="0"/>
                <a:ea typeface="宋体" panose="02010600030101010101" pitchFamily="2" charset="-122"/>
              </a:endParaRPr>
            </a:p>
          </p:txBody>
        </p:sp>
        <p:sp>
          <p:nvSpPr>
            <p:cNvPr id="82954" name="Line 7"/>
            <p:cNvSpPr/>
            <p:nvPr/>
          </p:nvSpPr>
          <p:spPr>
            <a:xfrm flipV="1">
              <a:off x="1056" y="1104"/>
              <a:ext cx="1440" cy="1200"/>
            </a:xfrm>
            <a:prstGeom prst="line">
              <a:avLst/>
            </a:prstGeom>
            <a:ln w="28575" cap="sq" cmpd="sng">
              <a:solidFill>
                <a:srgbClr val="E91111"/>
              </a:solidFill>
              <a:prstDash val="solid"/>
              <a:headEnd type="none" w="sm" len="sm"/>
              <a:tailEnd type="triangle" w="med" len="med"/>
            </a:ln>
          </p:spPr>
        </p:sp>
        <p:sp>
          <p:nvSpPr>
            <p:cNvPr id="82955" name="Line 8"/>
            <p:cNvSpPr/>
            <p:nvPr/>
          </p:nvSpPr>
          <p:spPr>
            <a:xfrm flipV="1">
              <a:off x="1728" y="1296"/>
              <a:ext cx="1344" cy="1152"/>
            </a:xfrm>
            <a:prstGeom prst="line">
              <a:avLst/>
            </a:prstGeom>
            <a:ln w="28575" cap="sq" cmpd="sng">
              <a:solidFill>
                <a:srgbClr val="E91111"/>
              </a:solidFill>
              <a:prstDash val="solid"/>
              <a:headEnd type="triangle" w="med" len="med"/>
              <a:tailEnd type="none" w="med" len="med"/>
            </a:ln>
          </p:spPr>
        </p:sp>
        <p:sp>
          <p:nvSpPr>
            <p:cNvPr id="82956" name="Text Box 9"/>
            <p:cNvSpPr txBox="1"/>
            <p:nvPr/>
          </p:nvSpPr>
          <p:spPr>
            <a:xfrm>
              <a:off x="2214" y="721"/>
              <a:ext cx="1344" cy="262"/>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r>
                <a:rPr lang="en-US" altLang="zh-CN" sz="1800" baseline="-25000" dirty="0">
                  <a:latin typeface="Times New Roman" panose="02020603050405020304" pitchFamily="18" charset="0"/>
                  <a:ea typeface="宋体" panose="02010600030101010101" pitchFamily="2" charset="-122"/>
                </a:rPr>
                <a:t>A</a:t>
              </a:r>
              <a:r>
                <a:rPr lang="zh-CN" altLang="en-US" sz="1800" baseline="-25000" dirty="0">
                  <a:latin typeface="Times New Roman" panose="02020603050405020304" pitchFamily="18" charset="0"/>
                  <a:ea typeface="宋体" panose="02010600030101010101" pitchFamily="2" charset="-122"/>
                </a:rPr>
                <a:t>Ｐ</a:t>
              </a:r>
              <a:r>
                <a:rPr lang="en-US" altLang="zh-CN" sz="1800" baseline="-25000" dirty="0">
                  <a:latin typeface="Times New Roman" panose="02020603050405020304" pitchFamily="18" charset="0"/>
                  <a:ea typeface="宋体" panose="02010600030101010101" pitchFamily="2" charset="-122"/>
                </a:rPr>
                <a:t>ub</a:t>
              </a:r>
              <a:r>
                <a:rPr lang="zh-CN" altLang="en-US"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K</a:t>
              </a:r>
              <a:r>
                <a:rPr lang="zh-CN" altLang="en-US" sz="1800" baseline="-25000" dirty="0">
                  <a:latin typeface="Times New Roman" panose="02020603050405020304" pitchFamily="18" charset="0"/>
                  <a:ea typeface="宋体" panose="02010600030101010101" pitchFamily="2" charset="-122"/>
                </a:rPr>
                <a:t>Ｂ</a:t>
              </a:r>
              <a:r>
                <a:rPr lang="en-US" altLang="zh-CN" sz="1800" baseline="-25000" dirty="0">
                  <a:latin typeface="Times New Roman" panose="02020603050405020304" pitchFamily="18" charset="0"/>
                  <a:ea typeface="宋体" panose="02010600030101010101" pitchFamily="2" charset="-122"/>
                </a:rPr>
                <a:t>Pub</a:t>
              </a:r>
              <a:endParaRPr lang="en-US" altLang="zh-CN" sz="1800" baseline="-25000" dirty="0">
                <a:latin typeface="Times New Roman" panose="02020603050405020304" pitchFamily="18" charset="0"/>
                <a:ea typeface="宋体" panose="02010600030101010101" pitchFamily="2" charset="-122"/>
              </a:endParaRPr>
            </a:p>
          </p:txBody>
        </p:sp>
        <p:sp>
          <p:nvSpPr>
            <p:cNvPr id="82957" name="Text Box 10"/>
            <p:cNvSpPr txBox="1"/>
            <p:nvPr/>
          </p:nvSpPr>
          <p:spPr>
            <a:xfrm rot="-2464892">
              <a:off x="2208" y="1804"/>
              <a:ext cx="768" cy="23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r>
                <a:rPr lang="zh-CN" altLang="en-US" sz="1800" baseline="-25000" dirty="0">
                  <a:latin typeface="Times New Roman" panose="02020603050405020304" pitchFamily="18" charset="0"/>
                  <a:ea typeface="宋体" panose="02010600030101010101" pitchFamily="2" charset="-122"/>
                </a:rPr>
                <a:t>Ｂ</a:t>
              </a:r>
              <a:r>
                <a:rPr lang="en-US" altLang="zh-CN" sz="1800" baseline="-25000" dirty="0">
                  <a:latin typeface="Times New Roman" panose="02020603050405020304" pitchFamily="18" charset="0"/>
                  <a:ea typeface="宋体" panose="02010600030101010101" pitchFamily="2" charset="-122"/>
                </a:rPr>
                <a:t>Pub</a:t>
              </a:r>
              <a:endParaRPr lang="en-US" altLang="zh-CN" sz="1800" baseline="-25000" dirty="0">
                <a:latin typeface="Times New Roman" panose="02020603050405020304" pitchFamily="18" charset="0"/>
                <a:ea typeface="宋体" panose="02010600030101010101" pitchFamily="2" charset="-122"/>
              </a:endParaRPr>
            </a:p>
          </p:txBody>
        </p:sp>
        <p:sp>
          <p:nvSpPr>
            <p:cNvPr id="82958" name="Line 11"/>
            <p:cNvSpPr/>
            <p:nvPr/>
          </p:nvSpPr>
          <p:spPr>
            <a:xfrm>
              <a:off x="1728" y="2592"/>
              <a:ext cx="2400" cy="0"/>
            </a:xfrm>
            <a:prstGeom prst="line">
              <a:avLst/>
            </a:prstGeom>
            <a:ln w="28575" cap="sq" cmpd="sng">
              <a:solidFill>
                <a:srgbClr val="E91111"/>
              </a:solidFill>
              <a:prstDash val="solid"/>
              <a:headEnd type="none" w="sm" len="sm"/>
              <a:tailEnd type="triangle" w="med" len="med"/>
            </a:ln>
          </p:spPr>
        </p:sp>
        <p:sp>
          <p:nvSpPr>
            <p:cNvPr id="82959" name="Text Box 12"/>
            <p:cNvSpPr txBox="1"/>
            <p:nvPr/>
          </p:nvSpPr>
          <p:spPr>
            <a:xfrm rot="-9445">
              <a:off x="2214" y="2331"/>
              <a:ext cx="1585" cy="25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sz="1800" dirty="0">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EK</a:t>
              </a:r>
              <a:r>
                <a:rPr lang="zh-CN" altLang="en-US" sz="1800" baseline="-25000" dirty="0">
                  <a:latin typeface="Times New Roman" panose="02020603050405020304" pitchFamily="18" charset="0"/>
                  <a:ea typeface="宋体" panose="02010600030101010101" pitchFamily="2" charset="-122"/>
                </a:rPr>
                <a:t>Ｂ</a:t>
              </a:r>
              <a:r>
                <a:rPr lang="en-US" altLang="zh-CN" sz="1800" baseline="-25000" dirty="0">
                  <a:latin typeface="Times New Roman" panose="02020603050405020304" pitchFamily="18" charset="0"/>
                  <a:ea typeface="宋体" panose="02010600030101010101" pitchFamily="2" charset="-122"/>
                </a:rPr>
                <a:t>Pub</a:t>
              </a:r>
              <a:r>
                <a:rPr lang="en-US" altLang="zh-CN" sz="1800" dirty="0">
                  <a:latin typeface="Times New Roman" panose="02020603050405020304" pitchFamily="18" charset="0"/>
                  <a:ea typeface="宋体" panose="02010600030101010101" pitchFamily="2" charset="-122"/>
                </a:rPr>
                <a:t>(K)</a:t>
              </a:r>
              <a:endParaRPr lang="en-US" altLang="zh-CN" sz="1800" baseline="-25000" dirty="0">
                <a:latin typeface="Times New Roman" panose="02020603050405020304" pitchFamily="18" charset="0"/>
                <a:ea typeface="宋体" panose="02010600030101010101" pitchFamily="2" charset="-122"/>
              </a:endParaRPr>
            </a:p>
          </p:txBody>
        </p:sp>
        <p:sp>
          <p:nvSpPr>
            <p:cNvPr id="82960" name="Text Box 13"/>
            <p:cNvSpPr txBox="1"/>
            <p:nvPr/>
          </p:nvSpPr>
          <p:spPr>
            <a:xfrm>
              <a:off x="4193" y="2060"/>
              <a:ext cx="432" cy="23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r>
                <a:rPr lang="zh-CN" altLang="en-US" sz="1800" baseline="-25000" dirty="0">
                  <a:latin typeface="Times New Roman" panose="02020603050405020304" pitchFamily="18" charset="0"/>
                  <a:ea typeface="宋体" panose="02010600030101010101" pitchFamily="2" charset="-122"/>
                </a:rPr>
                <a:t>Ｂ</a:t>
              </a:r>
              <a:endParaRPr lang="zh-CN" altLang="en-US" sz="1800" baseline="-25000" dirty="0">
                <a:latin typeface="Times New Roman" panose="02020603050405020304" pitchFamily="18" charset="0"/>
                <a:ea typeface="宋体" panose="02010600030101010101" pitchFamily="2" charset="-122"/>
              </a:endParaRPr>
            </a:p>
          </p:txBody>
        </p:sp>
        <p:sp>
          <p:nvSpPr>
            <p:cNvPr id="82961" name="Text Box 14"/>
            <p:cNvSpPr txBox="1"/>
            <p:nvPr/>
          </p:nvSpPr>
          <p:spPr>
            <a:xfrm>
              <a:off x="1200" y="2583"/>
              <a:ext cx="336" cy="23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a:t>
              </a:r>
              <a:endParaRPr lang="en-US" altLang="zh-CN" sz="1800" baseline="-25000" dirty="0">
                <a:latin typeface="Times New Roman" panose="02020603050405020304" pitchFamily="18" charset="0"/>
                <a:ea typeface="宋体" panose="02010600030101010101" pitchFamily="2" charset="-122"/>
              </a:endParaRPr>
            </a:p>
          </p:txBody>
        </p:sp>
      </p:grpSp>
      <p:sp>
        <p:nvSpPr>
          <p:cNvPr id="82950" name="Text Box 2"/>
          <p:cNvSpPr txBox="1"/>
          <p:nvPr/>
        </p:nvSpPr>
        <p:spPr>
          <a:xfrm>
            <a:off x="6713538" y="5981700"/>
            <a:ext cx="2430462" cy="3683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sz="1800" dirty="0">
                <a:latin typeface="Times New Roman" panose="02020603050405020304" pitchFamily="18" charset="0"/>
                <a:ea typeface="宋体" panose="02010600030101010101" pitchFamily="2" charset="-122"/>
              </a:rPr>
              <a:t>K= DK</a:t>
            </a:r>
            <a:r>
              <a:rPr lang="zh-CN" altLang="en-US" sz="1800" baseline="-25000" dirty="0">
                <a:latin typeface="Times New Roman" panose="02020603050405020304" pitchFamily="18" charset="0"/>
                <a:ea typeface="宋体" panose="02010600030101010101" pitchFamily="2" charset="-122"/>
              </a:rPr>
              <a:t>Ｂ</a:t>
            </a:r>
            <a:r>
              <a:rPr lang="en-US" altLang="zh-CN" sz="1800" baseline="-25000" dirty="0">
                <a:latin typeface="Times New Roman" panose="02020603050405020304" pitchFamily="18" charset="0"/>
                <a:ea typeface="宋体" panose="02010600030101010101" pitchFamily="2" charset="-122"/>
              </a:rPr>
              <a:t>Pri</a:t>
            </a:r>
            <a:r>
              <a:rPr lang="en-US" altLang="zh-CN" sz="1800" dirty="0">
                <a:latin typeface="Times New Roman" panose="02020603050405020304" pitchFamily="18" charset="0"/>
                <a:ea typeface="宋体" panose="02010600030101010101" pitchFamily="2" charset="-122"/>
              </a:rPr>
              <a:t>(EK</a:t>
            </a:r>
            <a:r>
              <a:rPr lang="zh-CN" altLang="en-US" sz="1800" baseline="-25000" dirty="0">
                <a:latin typeface="Times New Roman" panose="02020603050405020304" pitchFamily="18" charset="0"/>
                <a:ea typeface="宋体" panose="02010600030101010101" pitchFamily="2" charset="-122"/>
              </a:rPr>
              <a:t>Ｂ</a:t>
            </a:r>
            <a:r>
              <a:rPr lang="en-US" altLang="zh-CN" sz="1800" baseline="-25000" dirty="0">
                <a:latin typeface="Times New Roman" panose="02020603050405020304" pitchFamily="18" charset="0"/>
                <a:ea typeface="宋体" panose="02010600030101010101" pitchFamily="2" charset="-122"/>
              </a:rPr>
              <a:t>Pub</a:t>
            </a:r>
            <a:r>
              <a:rPr lang="en-US" altLang="zh-CN" sz="1800" dirty="0">
                <a:latin typeface="Times New Roman" panose="02020603050405020304" pitchFamily="18" charset="0"/>
                <a:ea typeface="宋体" panose="02010600030101010101" pitchFamily="2" charset="-122"/>
              </a:rPr>
              <a:t>(K))</a:t>
            </a:r>
            <a:endParaRPr lang="en-US" altLang="zh-CN" sz="1800" dirty="0">
              <a:latin typeface="Times New Roman" panose="02020603050405020304" pitchFamily="18"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83971"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Authentication</a:t>
            </a:r>
            <a:endParaRPr lang="en-US" altLang="zh-CN" sz="4000" dirty="0">
              <a:ea typeface="宋体" panose="02010600030101010101" pitchFamily="2" charset="-122"/>
            </a:endParaRPr>
          </a:p>
        </p:txBody>
      </p:sp>
      <p:sp>
        <p:nvSpPr>
          <p:cNvPr id="83972" name="Rectangle 3"/>
          <p:cNvSpPr>
            <a:spLocks noGrp="1"/>
          </p:cNvSpPr>
          <p:nvPr>
            <p:ph idx="1"/>
          </p:nvPr>
        </p:nvSpPr>
        <p:spPr>
          <a:xfrm>
            <a:off x="457200" y="1408113"/>
            <a:ext cx="8393113" cy="4268787"/>
          </a:xfrm>
        </p:spPr>
        <p:txBody>
          <a:bodyPr vert="horz" wrap="square" lIns="91440" tIns="45720" rIns="91440" bIns="45720" anchor="t" anchorCtr="0"/>
          <a:lstStyle/>
          <a:p>
            <a:pPr algn="l" eaLnBrk="1" hangingPunct="1">
              <a:lnSpc>
                <a:spcPct val="130000"/>
              </a:lnSpc>
              <a:buNone/>
            </a:pPr>
            <a:r>
              <a:rPr lang="zh-CN" altLang="en-US" sz="2600" b="1" dirty="0">
                <a:solidFill>
                  <a:srgbClr val="FF3300"/>
                </a:solidFill>
                <a:ea typeface="宋体" panose="02010600030101010101" pitchFamily="2" charset="-122"/>
              </a:rPr>
              <a:t>“身份认证”也称“身份鉴别”</a:t>
            </a:r>
            <a:endParaRPr lang="zh-CN" altLang="en-US" sz="2600" b="1" dirty="0">
              <a:solidFill>
                <a:srgbClr val="FF3300"/>
              </a:solidFill>
              <a:ea typeface="宋体" panose="02010600030101010101" pitchFamily="2" charset="-122"/>
            </a:endParaRPr>
          </a:p>
          <a:p>
            <a:pPr algn="l" eaLnBrk="1" hangingPunct="1">
              <a:lnSpc>
                <a:spcPct val="130000"/>
              </a:lnSpc>
              <a:buNone/>
            </a:pPr>
            <a:r>
              <a:rPr lang="zh-CN" altLang="en-US" sz="2600" b="1" dirty="0">
                <a:ea typeface="宋体" panose="02010600030101010101" pitchFamily="2" charset="-122"/>
              </a:rPr>
              <a:t>      ──证实主体的真实身份与其声称的身份是否相符；</a:t>
            </a:r>
            <a:endParaRPr lang="zh-CN" altLang="en-US" sz="2600" b="1" dirty="0">
              <a:ea typeface="宋体" panose="02010600030101010101" pitchFamily="2" charset="-122"/>
            </a:endParaRPr>
          </a:p>
          <a:p>
            <a:pPr algn="l" eaLnBrk="1" hangingPunct="1">
              <a:lnSpc>
                <a:spcPct val="130000"/>
              </a:lnSpc>
              <a:buNone/>
            </a:pPr>
            <a:r>
              <a:rPr lang="en-US" altLang="zh-CN" sz="2600" b="1" dirty="0">
                <a:ea typeface="宋体" panose="02010600030101010101" pitchFamily="2" charset="-122"/>
              </a:rPr>
              <a:t>3</a:t>
            </a:r>
            <a:r>
              <a:rPr lang="zh-CN" altLang="en-US" sz="2600" b="1" dirty="0">
                <a:ea typeface="宋体" panose="02010600030101010101" pitchFamily="2" charset="-122"/>
              </a:rPr>
              <a:t>种认证协议：</a:t>
            </a:r>
            <a:endParaRPr lang="zh-CN" altLang="en-US" sz="2600" b="1" dirty="0">
              <a:ea typeface="宋体" panose="02010600030101010101" pitchFamily="2" charset="-122"/>
            </a:endParaRPr>
          </a:p>
          <a:p>
            <a:pPr lvl="1" eaLnBrk="1" hangingPunct="1">
              <a:lnSpc>
                <a:spcPct val="130000"/>
              </a:lnSpc>
              <a:buFontTx/>
              <a:buAutoNum type="arabicPeriod"/>
            </a:pPr>
            <a:r>
              <a:rPr lang="en-US" altLang="zh-CN" sz="2800" dirty="0">
                <a:ea typeface="宋体" panose="02010600030101010101" pitchFamily="2" charset="-122"/>
              </a:rPr>
              <a:t>Authentication Based on a </a:t>
            </a:r>
            <a:r>
              <a:rPr lang="en-US" altLang="zh-CN" sz="2800" dirty="0">
                <a:solidFill>
                  <a:srgbClr val="FF0000"/>
                </a:solidFill>
                <a:ea typeface="宋体" panose="02010600030101010101" pitchFamily="2" charset="-122"/>
              </a:rPr>
              <a:t>Shared Secret Key</a:t>
            </a:r>
            <a:r>
              <a:rPr lang="zh-CN" altLang="en-US" sz="2800" dirty="0">
                <a:ea typeface="宋体" panose="02010600030101010101" pitchFamily="2" charset="-122"/>
              </a:rPr>
              <a:t>；</a:t>
            </a:r>
            <a:endParaRPr lang="zh-CN" altLang="en-US" sz="2800" b="1" dirty="0">
              <a:ea typeface="宋体" panose="02010600030101010101" pitchFamily="2" charset="-122"/>
            </a:endParaRPr>
          </a:p>
          <a:p>
            <a:pPr lvl="1" eaLnBrk="1" hangingPunct="1">
              <a:lnSpc>
                <a:spcPct val="130000"/>
              </a:lnSpc>
              <a:buFontTx/>
              <a:buAutoNum type="arabicPeriod"/>
            </a:pPr>
            <a:r>
              <a:rPr lang="en-US" altLang="zh-CN" sz="2800" dirty="0">
                <a:ea typeface="宋体" panose="02010600030101010101" pitchFamily="2" charset="-122"/>
              </a:rPr>
              <a:t>Authentication Using a </a:t>
            </a:r>
            <a:r>
              <a:rPr lang="en-US" altLang="zh-CN" sz="2800" dirty="0">
                <a:solidFill>
                  <a:srgbClr val="FF0000"/>
                </a:solidFill>
                <a:ea typeface="宋体" panose="02010600030101010101" pitchFamily="2" charset="-122"/>
              </a:rPr>
              <a:t>Key Distribution Center</a:t>
            </a:r>
            <a:r>
              <a:rPr lang="zh-CN" altLang="en-US" sz="2800" dirty="0">
                <a:ea typeface="宋体" panose="02010600030101010101" pitchFamily="2" charset="-122"/>
              </a:rPr>
              <a:t>；</a:t>
            </a:r>
            <a:endParaRPr lang="zh-CN" altLang="en-US" sz="2800" b="1" dirty="0">
              <a:ea typeface="宋体" panose="02010600030101010101" pitchFamily="2" charset="-122"/>
            </a:endParaRPr>
          </a:p>
          <a:p>
            <a:pPr lvl="1" eaLnBrk="1" hangingPunct="1">
              <a:lnSpc>
                <a:spcPct val="130000"/>
              </a:lnSpc>
              <a:buFontTx/>
              <a:buAutoNum type="arabicPeriod"/>
            </a:pPr>
            <a:r>
              <a:rPr lang="en-US" altLang="zh-CN" sz="2800" dirty="0">
                <a:ea typeface="宋体" panose="02010600030101010101" pitchFamily="2" charset="-122"/>
              </a:rPr>
              <a:t>Authentication Using a </a:t>
            </a:r>
            <a:r>
              <a:rPr lang="en-US" altLang="zh-CN" sz="2800" dirty="0">
                <a:solidFill>
                  <a:srgbClr val="FF0000"/>
                </a:solidFill>
                <a:ea typeface="宋体" panose="02010600030101010101" pitchFamily="2" charset="-122"/>
              </a:rPr>
              <a:t>public-key cryptosystem</a:t>
            </a:r>
            <a:r>
              <a:rPr lang="zh-CN" altLang="en-US" sz="2800" dirty="0">
                <a:ea typeface="宋体" panose="02010600030101010101" pitchFamily="2" charset="-122"/>
              </a:rPr>
              <a:t>；</a:t>
            </a:r>
            <a:endParaRPr lang="zh-CN" altLang="en-US" sz="2800" dirty="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86019"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Authentication Based on a SharedSecret Key (1)</a:t>
            </a:r>
            <a:r>
              <a:rPr lang="en-US" altLang="zh-CN" sz="2400" dirty="0">
                <a:ea typeface="宋体" panose="02010600030101010101" pitchFamily="2" charset="-122"/>
              </a:rPr>
              <a:t>A/B</a:t>
            </a:r>
            <a:r>
              <a:rPr lang="zh-CN" altLang="en-US" sz="2400" dirty="0">
                <a:ea typeface="宋体" panose="02010600030101010101" pitchFamily="2" charset="-122"/>
              </a:rPr>
              <a:t>共享密钥</a:t>
            </a:r>
            <a:r>
              <a:rPr lang="en-US" altLang="zh-CN" sz="2400" dirty="0">
                <a:ea typeface="宋体" panose="02010600030101010101" pitchFamily="2" charset="-122"/>
              </a:rPr>
              <a:t>K</a:t>
            </a:r>
            <a:r>
              <a:rPr lang="en-US" altLang="zh-CN" sz="2400" baseline="-25000" dirty="0">
                <a:ea typeface="宋体" panose="02010600030101010101" pitchFamily="2" charset="-122"/>
              </a:rPr>
              <a:t>A,B</a:t>
            </a:r>
            <a:endParaRPr lang="en-US" altLang="zh-CN" sz="4000" baseline="-25000" dirty="0">
              <a:ea typeface="宋体" panose="02010600030101010101" pitchFamily="2" charset="-122"/>
            </a:endParaRPr>
          </a:p>
        </p:txBody>
      </p:sp>
      <p:sp>
        <p:nvSpPr>
          <p:cNvPr id="86020" name="Rectangle 3"/>
          <p:cNvSpPr>
            <a:spLocks noGrp="1"/>
          </p:cNvSpPr>
          <p:nvPr>
            <p:ph idx="1"/>
          </p:nvPr>
        </p:nvSpPr>
        <p:spPr>
          <a:xfrm>
            <a:off x="555625" y="5499100"/>
            <a:ext cx="8255000" cy="947738"/>
          </a:xfrm>
        </p:spPr>
        <p:txBody>
          <a:bodyPr vert="horz" wrap="square" lIns="91440" tIns="45720" rIns="91440" bIns="45720" anchor="t" anchorCtr="0"/>
          <a:lstStyle/>
          <a:p>
            <a:pPr eaLnBrk="1" hangingPunct="1">
              <a:lnSpc>
                <a:spcPct val="80000"/>
              </a:lnSpc>
              <a:buNone/>
            </a:pPr>
            <a:r>
              <a:rPr lang="en-US" altLang="zh-CN" sz="2000" dirty="0">
                <a:ea typeface="宋体" panose="02010600030101010101" pitchFamily="2" charset="-122"/>
              </a:rPr>
              <a:t>Figure. Authentication based on a shared secret key.</a:t>
            </a:r>
            <a:endParaRPr lang="en-US" altLang="zh-CN" sz="2000" dirty="0">
              <a:ea typeface="宋体" panose="02010600030101010101" pitchFamily="2" charset="-122"/>
            </a:endParaRPr>
          </a:p>
          <a:p>
            <a:pPr eaLnBrk="1" hangingPunct="1">
              <a:lnSpc>
                <a:spcPct val="80000"/>
              </a:lnSpc>
              <a:buNone/>
            </a:pPr>
            <a:r>
              <a:rPr lang="zh-CN" altLang="en-US" sz="2000" dirty="0">
                <a:ea typeface="宋体" panose="02010600030101010101" pitchFamily="2" charset="-122"/>
              </a:rPr>
              <a:t>双方也称质询</a:t>
            </a:r>
            <a:r>
              <a:rPr lang="en-US" altLang="zh-CN" sz="2000" dirty="0">
                <a:ea typeface="宋体" panose="02010600030101010101" pitchFamily="2" charset="-122"/>
              </a:rPr>
              <a:t>/</a:t>
            </a:r>
            <a:r>
              <a:rPr lang="zh-CN" altLang="en-US" sz="2000" dirty="0">
                <a:ea typeface="宋体" panose="02010600030101010101" pitchFamily="2" charset="-122"/>
              </a:rPr>
              <a:t>响应握手认证协议</a:t>
            </a:r>
            <a:r>
              <a:rPr lang="en-US" altLang="zh-CN" sz="2000" dirty="0">
                <a:ea typeface="宋体" panose="02010600030101010101" pitchFamily="2" charset="-122"/>
              </a:rPr>
              <a:t>: </a:t>
            </a:r>
            <a:endParaRPr lang="en-US" altLang="zh-CN" sz="2000" dirty="0">
              <a:ea typeface="宋体" panose="02010600030101010101" pitchFamily="2" charset="-122"/>
            </a:endParaRPr>
          </a:p>
          <a:p>
            <a:pPr eaLnBrk="1" hangingPunct="1">
              <a:lnSpc>
                <a:spcPct val="80000"/>
              </a:lnSpc>
              <a:buNone/>
            </a:pPr>
            <a:r>
              <a:rPr lang="en-US" altLang="zh-CN" sz="2000" dirty="0">
                <a:ea typeface="宋体" panose="02010600030101010101" pitchFamily="2" charset="-122"/>
              </a:rPr>
              <a:t>Challenge and Response Handshake Protocol</a:t>
            </a:r>
            <a:endParaRPr lang="en-US" altLang="zh-CN" sz="2000" dirty="0">
              <a:ea typeface="宋体" panose="02010600030101010101" pitchFamily="2" charset="-122"/>
            </a:endParaRPr>
          </a:p>
        </p:txBody>
      </p:sp>
      <p:pic>
        <p:nvPicPr>
          <p:cNvPr id="86021" name="Picture 4" descr="09-12"/>
          <p:cNvPicPr>
            <a:picLocks noChangeAspect="1"/>
          </p:cNvPicPr>
          <p:nvPr/>
        </p:nvPicPr>
        <p:blipFill>
          <a:blip r:embed="rId1"/>
          <a:stretch>
            <a:fillRect/>
          </a:stretch>
        </p:blipFill>
        <p:spPr>
          <a:xfrm>
            <a:off x="1319213" y="1554163"/>
            <a:ext cx="6492875" cy="3627437"/>
          </a:xfrm>
          <a:prstGeom prst="rect">
            <a:avLst/>
          </a:prstGeom>
          <a:noFill/>
          <a:ln w="9525">
            <a:noFill/>
          </a:ln>
        </p:spPr>
      </p:pic>
      <p:sp>
        <p:nvSpPr>
          <p:cNvPr id="86022" name="Rectangle 5"/>
          <p:cNvSpPr/>
          <p:nvPr/>
        </p:nvSpPr>
        <p:spPr>
          <a:xfrm>
            <a:off x="7739063" y="3125788"/>
            <a:ext cx="1404937" cy="344487"/>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600" dirty="0">
                <a:solidFill>
                  <a:srgbClr val="FF3300"/>
                </a:solidFill>
                <a:ea typeface="宋体" panose="02010600030101010101" pitchFamily="2" charset="-122"/>
              </a:rPr>
              <a:t>确认了</a:t>
            </a:r>
            <a:r>
              <a:rPr lang="en-US" altLang="zh-CN" sz="1600" dirty="0">
                <a:solidFill>
                  <a:srgbClr val="FF3300"/>
                </a:solidFill>
                <a:ea typeface="宋体" panose="02010600030101010101" pitchFamily="2" charset="-122"/>
              </a:rPr>
              <a:t>Alice</a:t>
            </a:r>
            <a:endParaRPr lang="en-US" altLang="zh-CN" sz="1600" dirty="0">
              <a:solidFill>
                <a:srgbClr val="FF3300"/>
              </a:solidFill>
              <a:ea typeface="宋体" panose="02010600030101010101" pitchFamily="2" charset="-122"/>
            </a:endParaRPr>
          </a:p>
        </p:txBody>
      </p:sp>
      <p:sp>
        <p:nvSpPr>
          <p:cNvPr id="86023" name="Rectangle 6"/>
          <p:cNvSpPr/>
          <p:nvPr/>
        </p:nvSpPr>
        <p:spPr>
          <a:xfrm>
            <a:off x="49213" y="4705350"/>
            <a:ext cx="1270000" cy="344488"/>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600" dirty="0">
                <a:solidFill>
                  <a:srgbClr val="FF3300"/>
                </a:solidFill>
                <a:ea typeface="宋体" panose="02010600030101010101" pitchFamily="2" charset="-122"/>
              </a:rPr>
              <a:t>确认了</a:t>
            </a:r>
            <a:r>
              <a:rPr lang="en-US" altLang="zh-CN" sz="1600" dirty="0">
                <a:solidFill>
                  <a:srgbClr val="FF3300"/>
                </a:solidFill>
                <a:ea typeface="宋体" panose="02010600030101010101" pitchFamily="2" charset="-122"/>
              </a:rPr>
              <a:t>Bob</a:t>
            </a:r>
            <a:endParaRPr lang="en-US" altLang="zh-CN" sz="1600" dirty="0">
              <a:solidFill>
                <a:srgbClr val="FF3300"/>
              </a:solidFill>
              <a:ea typeface="宋体" panose="02010600030101010101" pitchFamily="2" charset="-122"/>
            </a:endParaRPr>
          </a:p>
        </p:txBody>
      </p:sp>
      <p:sp>
        <p:nvSpPr>
          <p:cNvPr id="86024" name="Rectangle 7"/>
          <p:cNvSpPr/>
          <p:nvPr/>
        </p:nvSpPr>
        <p:spPr>
          <a:xfrm>
            <a:off x="5686425" y="1938338"/>
            <a:ext cx="590550" cy="336550"/>
          </a:xfrm>
          <a:prstGeom prst="rect">
            <a:avLst/>
          </a:prstGeom>
          <a:noFill/>
          <a:ln w="9525">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dirty="0">
                <a:latin typeface="Times New Roman" panose="02020603050405020304" pitchFamily="18" charset="0"/>
                <a:ea typeface="宋体" panose="02010600030101010101" pitchFamily="2" charset="-122"/>
              </a:rPr>
              <a:t>质询</a:t>
            </a:r>
            <a:endParaRPr lang="zh-CN" altLang="en-US" sz="1600" dirty="0">
              <a:latin typeface="Times New Roman" panose="02020603050405020304" pitchFamily="18" charset="0"/>
              <a:ea typeface="宋体" panose="02010600030101010101" pitchFamily="2" charset="-122"/>
            </a:endParaRPr>
          </a:p>
        </p:txBody>
      </p:sp>
      <p:sp>
        <p:nvSpPr>
          <p:cNvPr id="86025" name="Rectangle 8"/>
          <p:cNvSpPr/>
          <p:nvPr/>
        </p:nvSpPr>
        <p:spPr>
          <a:xfrm>
            <a:off x="2447925" y="2789238"/>
            <a:ext cx="590550" cy="336550"/>
          </a:xfrm>
          <a:prstGeom prst="rect">
            <a:avLst/>
          </a:prstGeom>
          <a:noFill/>
          <a:ln w="9525">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dirty="0">
                <a:latin typeface="Times New Roman" panose="02020603050405020304" pitchFamily="18" charset="0"/>
                <a:ea typeface="宋体" panose="02010600030101010101" pitchFamily="2" charset="-122"/>
              </a:rPr>
              <a:t>响应</a:t>
            </a:r>
            <a:endParaRPr lang="zh-CN" altLang="en-US" sz="1600" dirty="0">
              <a:latin typeface="Times New Roman" panose="02020603050405020304" pitchFamily="18" charset="0"/>
              <a:ea typeface="宋体" panose="02010600030101010101" pitchFamily="2" charset="-122"/>
            </a:endParaRPr>
          </a:p>
        </p:txBody>
      </p:sp>
      <p:sp>
        <p:nvSpPr>
          <p:cNvPr id="86026" name="Rectangle 9"/>
          <p:cNvSpPr/>
          <p:nvPr/>
        </p:nvSpPr>
        <p:spPr>
          <a:xfrm>
            <a:off x="2498725" y="3792538"/>
            <a:ext cx="590550" cy="336550"/>
          </a:xfrm>
          <a:prstGeom prst="rect">
            <a:avLst/>
          </a:prstGeom>
          <a:noFill/>
          <a:ln w="9525">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dirty="0">
                <a:latin typeface="Times New Roman" panose="02020603050405020304" pitchFamily="18" charset="0"/>
                <a:ea typeface="宋体" panose="02010600030101010101" pitchFamily="2" charset="-122"/>
              </a:rPr>
              <a:t>质询</a:t>
            </a:r>
            <a:endParaRPr lang="zh-CN" altLang="en-US" sz="1600" dirty="0">
              <a:latin typeface="Times New Roman" panose="02020603050405020304" pitchFamily="18" charset="0"/>
              <a:ea typeface="宋体" panose="02010600030101010101" pitchFamily="2" charset="-122"/>
            </a:endParaRPr>
          </a:p>
        </p:txBody>
      </p:sp>
      <p:sp>
        <p:nvSpPr>
          <p:cNvPr id="86027" name="Rectangle 10"/>
          <p:cNvSpPr/>
          <p:nvPr/>
        </p:nvSpPr>
        <p:spPr>
          <a:xfrm>
            <a:off x="5826125" y="4592638"/>
            <a:ext cx="590550" cy="336550"/>
          </a:xfrm>
          <a:prstGeom prst="rect">
            <a:avLst/>
          </a:prstGeom>
          <a:noFill/>
          <a:ln w="9525">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dirty="0">
                <a:latin typeface="Times New Roman" panose="02020603050405020304" pitchFamily="18" charset="0"/>
                <a:ea typeface="宋体" panose="02010600030101010101" pitchFamily="2" charset="-122"/>
              </a:rPr>
              <a:t>响应</a:t>
            </a:r>
            <a:endParaRPr lang="zh-CN" altLang="en-US" sz="1600" dirty="0">
              <a:latin typeface="Times New Roman" panose="02020603050405020304" pitchFamily="18" charset="0"/>
              <a:ea typeface="宋体" panose="02010600030101010101" pitchFamily="2" charset="-122"/>
            </a:endParaRPr>
          </a:p>
        </p:txBody>
      </p:sp>
      <p:sp>
        <p:nvSpPr>
          <p:cNvPr id="86028" name="Rectangle 11"/>
          <p:cNvSpPr/>
          <p:nvPr/>
        </p:nvSpPr>
        <p:spPr>
          <a:xfrm>
            <a:off x="2063750" y="1366838"/>
            <a:ext cx="2006600" cy="336550"/>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dirty="0">
                <a:latin typeface="Times New Roman" panose="02020603050405020304" pitchFamily="18" charset="0"/>
                <a:ea typeface="宋体" panose="02010600030101010101" pitchFamily="2" charset="-122"/>
              </a:rPr>
              <a:t>身份消息</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建立联接</a:t>
            </a:r>
            <a:endParaRPr lang="zh-CN" altLang="en-US" sz="1600" dirty="0">
              <a:latin typeface="Times New Roman" panose="02020603050405020304" pitchFamily="18"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88067"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Authentication Based on a Shared Secret Key (2)</a:t>
            </a:r>
            <a:r>
              <a:rPr lang="zh-CN" altLang="en-US" sz="2800" dirty="0">
                <a:ea typeface="宋体" panose="02010600030101010101" pitchFamily="2" charset="-122"/>
              </a:rPr>
              <a:t>优化通信</a:t>
            </a:r>
            <a:endParaRPr lang="en-US" altLang="zh-CN" sz="2800" dirty="0">
              <a:ea typeface="宋体" panose="02010600030101010101" pitchFamily="2" charset="-122"/>
            </a:endParaRPr>
          </a:p>
        </p:txBody>
      </p:sp>
      <p:sp>
        <p:nvSpPr>
          <p:cNvPr id="88068" name="Rectangle 3"/>
          <p:cNvSpPr>
            <a:spLocks noGrp="1"/>
          </p:cNvSpPr>
          <p:nvPr>
            <p:ph idx="1"/>
          </p:nvPr>
        </p:nvSpPr>
        <p:spPr>
          <a:xfrm>
            <a:off x="39688" y="5422900"/>
            <a:ext cx="9144000" cy="838200"/>
          </a:xfrm>
        </p:spPr>
        <p:txBody>
          <a:bodyPr vert="horz" wrap="square" lIns="91440" tIns="45720" rIns="91440" bIns="45720" anchor="t" anchorCtr="0"/>
          <a:lstStyle/>
          <a:p>
            <a:pPr eaLnBrk="1" hangingPunct="1">
              <a:lnSpc>
                <a:spcPct val="150000"/>
              </a:lnSpc>
              <a:buNone/>
            </a:pPr>
            <a:r>
              <a:rPr lang="en-US" altLang="zh-CN" sz="1800" dirty="0">
                <a:ea typeface="宋体" panose="02010600030101010101" pitchFamily="2" charset="-122"/>
              </a:rPr>
              <a:t>Figure. Authentication based on a shared </a:t>
            </a:r>
            <a:br>
              <a:rPr lang="en-US" altLang="zh-CN" sz="1800" dirty="0">
                <a:ea typeface="宋体" panose="02010600030101010101" pitchFamily="2" charset="-122"/>
              </a:rPr>
            </a:br>
            <a:r>
              <a:rPr lang="en-US" altLang="zh-CN" sz="1800" dirty="0">
                <a:ea typeface="宋体" panose="02010600030101010101" pitchFamily="2" charset="-122"/>
              </a:rPr>
              <a:t>secret key, but using three instead of five messages.</a:t>
            </a:r>
            <a:endParaRPr lang="en-US" altLang="zh-CN" sz="1800" dirty="0">
              <a:ea typeface="宋体" panose="02010600030101010101" pitchFamily="2" charset="-122"/>
            </a:endParaRPr>
          </a:p>
        </p:txBody>
      </p:sp>
      <p:pic>
        <p:nvPicPr>
          <p:cNvPr id="88069" name="Picture 4" descr="09-13"/>
          <p:cNvPicPr>
            <a:picLocks noChangeAspect="1"/>
          </p:cNvPicPr>
          <p:nvPr/>
        </p:nvPicPr>
        <p:blipFill>
          <a:blip r:embed="rId1"/>
          <a:stretch>
            <a:fillRect/>
          </a:stretch>
        </p:blipFill>
        <p:spPr>
          <a:xfrm>
            <a:off x="1547813" y="1546225"/>
            <a:ext cx="6126162" cy="3538538"/>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90115"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Authentication Based on a Shared Secret Key (3)</a:t>
            </a:r>
            <a:endParaRPr lang="en-US" altLang="zh-CN" sz="4000" dirty="0">
              <a:ea typeface="宋体" panose="02010600030101010101" pitchFamily="2" charset="-122"/>
            </a:endParaRPr>
          </a:p>
        </p:txBody>
      </p:sp>
      <p:sp>
        <p:nvSpPr>
          <p:cNvPr id="90116" name="Rectangle 3"/>
          <p:cNvSpPr>
            <a:spLocks noGrp="1"/>
          </p:cNvSpPr>
          <p:nvPr>
            <p:ph idx="1"/>
          </p:nvPr>
        </p:nvSpPr>
        <p:spPr>
          <a:xfrm>
            <a:off x="292100" y="5537200"/>
            <a:ext cx="8521700" cy="1035050"/>
          </a:xfrm>
        </p:spPr>
        <p:txBody>
          <a:bodyPr vert="horz" wrap="square" lIns="91440" tIns="45720" rIns="91440" bIns="45720" anchor="t" anchorCtr="0"/>
          <a:lstStyle/>
          <a:p>
            <a:pPr eaLnBrk="1" hangingPunct="1">
              <a:buNone/>
            </a:pPr>
            <a:r>
              <a:rPr lang="en-US" altLang="zh-CN" sz="2000" dirty="0">
                <a:ea typeface="宋体" panose="02010600030101010101" pitchFamily="2" charset="-122"/>
              </a:rPr>
              <a:t>Figure. The reflection attack.</a:t>
            </a:r>
            <a:endParaRPr lang="en-US" altLang="zh-CN" sz="2000" dirty="0">
              <a:ea typeface="宋体" panose="02010600030101010101" pitchFamily="2" charset="-122"/>
            </a:endParaRPr>
          </a:p>
          <a:p>
            <a:pPr eaLnBrk="1" hangingPunct="1">
              <a:buNone/>
            </a:pPr>
            <a:r>
              <a:rPr lang="zh-CN" altLang="en-US" sz="2000" dirty="0">
                <a:ea typeface="宋体" panose="02010600030101010101" pitchFamily="2" charset="-122"/>
              </a:rPr>
              <a:t>消息</a:t>
            </a:r>
            <a:r>
              <a:rPr lang="en-US" altLang="zh-CN" sz="2000" dirty="0">
                <a:ea typeface="宋体" panose="02010600030101010101" pitchFamily="2" charset="-122"/>
              </a:rPr>
              <a:t>3</a:t>
            </a:r>
            <a:r>
              <a:rPr lang="zh-CN" altLang="en-US" sz="2000" dirty="0">
                <a:ea typeface="宋体" panose="02010600030101010101" pitchFamily="2" charset="-122"/>
              </a:rPr>
              <a:t>中，</a:t>
            </a:r>
            <a:r>
              <a:rPr lang="en-US" altLang="zh-CN" sz="2000" dirty="0">
                <a:ea typeface="宋体" panose="02010600030101010101" pitchFamily="2" charset="-122"/>
              </a:rPr>
              <a:t>Chuck</a:t>
            </a:r>
            <a:r>
              <a:rPr lang="zh-CN" altLang="en-US" sz="2000" dirty="0">
                <a:ea typeface="宋体" panose="02010600030101010101" pitchFamily="2" charset="-122"/>
              </a:rPr>
              <a:t>通过建立第二条通道来确认第一条通道，让</a:t>
            </a:r>
            <a:r>
              <a:rPr lang="en-US" altLang="zh-CN" sz="2000" dirty="0">
                <a:ea typeface="宋体" panose="02010600030101010101" pitchFamily="2" charset="-122"/>
              </a:rPr>
              <a:t>Bob</a:t>
            </a:r>
            <a:r>
              <a:rPr lang="zh-CN" altLang="en-US" sz="2000" dirty="0">
                <a:ea typeface="宋体" panose="02010600030101010101" pitchFamily="2" charset="-122"/>
              </a:rPr>
              <a:t>相信她在与</a:t>
            </a:r>
            <a:r>
              <a:rPr lang="en-US" altLang="zh-CN" sz="2000" dirty="0">
                <a:ea typeface="宋体" panose="02010600030101010101" pitchFamily="2" charset="-122"/>
              </a:rPr>
              <a:t>Alice</a:t>
            </a:r>
            <a:r>
              <a:rPr lang="zh-CN" altLang="en-US" sz="2000" dirty="0">
                <a:ea typeface="宋体" panose="02010600030101010101" pitchFamily="2" charset="-122"/>
              </a:rPr>
              <a:t>通信。一个好的设计是永远为发送者和响应者使用不同的质询</a:t>
            </a:r>
            <a:endParaRPr lang="zh-CN" altLang="en-US" sz="2000" dirty="0">
              <a:ea typeface="宋体" panose="02010600030101010101" pitchFamily="2" charset="-122"/>
            </a:endParaRPr>
          </a:p>
        </p:txBody>
      </p:sp>
      <p:pic>
        <p:nvPicPr>
          <p:cNvPr id="90117" name="Picture 4" descr="09-14"/>
          <p:cNvPicPr>
            <a:picLocks noChangeAspect="1"/>
          </p:cNvPicPr>
          <p:nvPr/>
        </p:nvPicPr>
        <p:blipFill>
          <a:blip r:embed="rId1"/>
          <a:stretch>
            <a:fillRect/>
          </a:stretch>
        </p:blipFill>
        <p:spPr>
          <a:xfrm>
            <a:off x="1000125" y="1814513"/>
            <a:ext cx="7508875" cy="3394075"/>
          </a:xfrm>
          <a:prstGeom prst="rect">
            <a:avLst/>
          </a:prstGeom>
          <a:noFill/>
          <a:ln w="9525">
            <a:noFill/>
          </a:ln>
        </p:spPr>
      </p:pic>
      <p:sp>
        <p:nvSpPr>
          <p:cNvPr id="90118" name="Rectangle 5"/>
          <p:cNvSpPr/>
          <p:nvPr/>
        </p:nvSpPr>
        <p:spPr>
          <a:xfrm>
            <a:off x="220663" y="1244600"/>
            <a:ext cx="3487737" cy="438150"/>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algn="l" eaLnBrk="1" hangingPunct="1">
              <a:buNone/>
            </a:pPr>
            <a:r>
              <a:rPr lang="zh-CN" altLang="en-US" sz="2000" b="1" dirty="0">
                <a:ea typeface="宋体" panose="02010600030101010101" pitchFamily="2" charset="-122"/>
              </a:rPr>
              <a:t>优化后协议易受</a:t>
            </a:r>
            <a:r>
              <a:rPr lang="zh-CN" altLang="en-US" sz="2000" b="1" dirty="0">
                <a:latin typeface="宋体" panose="02010600030101010101" pitchFamily="2" charset="-122"/>
                <a:ea typeface="宋体" panose="02010600030101010101" pitchFamily="2" charset="-122"/>
              </a:rPr>
              <a:t>“</a:t>
            </a:r>
            <a:r>
              <a:rPr lang="zh-CN" altLang="en-US" sz="2000" b="1" dirty="0">
                <a:ea typeface="宋体" panose="02010600030101010101" pitchFamily="2" charset="-122"/>
              </a:rPr>
              <a:t>反射攻击</a:t>
            </a:r>
            <a:r>
              <a:rPr lang="zh-CN" altLang="en-US" sz="2000" b="1" dirty="0">
                <a:latin typeface="宋体" panose="02010600030101010101" pitchFamily="2" charset="-122"/>
                <a:ea typeface="宋体" panose="02010600030101010101" pitchFamily="2" charset="-122"/>
              </a:rPr>
              <a:t>”</a:t>
            </a:r>
            <a:endParaRPr lang="zh-CN" altLang="en-US" sz="2000" b="1" dirty="0">
              <a:ea typeface="宋体" panose="02010600030101010101" pitchFamily="2" charset="-122"/>
            </a:endParaRPr>
          </a:p>
        </p:txBody>
      </p:sp>
      <p:sp>
        <p:nvSpPr>
          <p:cNvPr id="90119" name="Rectangle 6"/>
          <p:cNvSpPr/>
          <p:nvPr/>
        </p:nvSpPr>
        <p:spPr>
          <a:xfrm>
            <a:off x="6594475" y="5135563"/>
            <a:ext cx="1722438" cy="344487"/>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600" dirty="0">
                <a:solidFill>
                  <a:srgbClr val="FF3300"/>
                </a:solidFill>
                <a:ea typeface="宋体" panose="02010600030101010101" pitchFamily="2" charset="-122"/>
              </a:rPr>
              <a:t>确认了</a:t>
            </a:r>
            <a:r>
              <a:rPr lang="en-US" altLang="zh-CN" sz="1600" dirty="0">
                <a:solidFill>
                  <a:srgbClr val="FF3300"/>
                </a:solidFill>
                <a:ea typeface="宋体" panose="02010600030101010101" pitchFamily="2" charset="-122"/>
              </a:rPr>
              <a:t>Chuck</a:t>
            </a:r>
            <a:endParaRPr lang="en-US" altLang="zh-CN" sz="1600" dirty="0">
              <a:solidFill>
                <a:srgbClr val="FF3300"/>
              </a:solidFill>
              <a:ea typeface="宋体" panose="02010600030101010101" pitchFamily="2" charset="-122"/>
            </a:endParaRPr>
          </a:p>
        </p:txBody>
      </p:sp>
      <p:sp>
        <p:nvSpPr>
          <p:cNvPr id="90120" name="Rectangle 7"/>
          <p:cNvSpPr/>
          <p:nvPr/>
        </p:nvSpPr>
        <p:spPr>
          <a:xfrm>
            <a:off x="0" y="2435225"/>
            <a:ext cx="1176338" cy="344488"/>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600" dirty="0">
                <a:solidFill>
                  <a:srgbClr val="FF3300"/>
                </a:solidFill>
                <a:ea typeface="宋体" panose="02010600030101010101" pitchFamily="2" charset="-122"/>
              </a:rPr>
              <a:t>确认了</a:t>
            </a:r>
            <a:r>
              <a:rPr lang="en-US" altLang="zh-CN" sz="1600" dirty="0">
                <a:solidFill>
                  <a:srgbClr val="FF3300"/>
                </a:solidFill>
                <a:ea typeface="宋体" panose="02010600030101010101" pitchFamily="2" charset="-122"/>
              </a:rPr>
              <a:t>Bob</a:t>
            </a:r>
            <a:endParaRPr lang="en-US" altLang="zh-CN" sz="1600" dirty="0">
              <a:solidFill>
                <a:srgbClr val="FF3300"/>
              </a:solidFill>
              <a:ea typeface="宋体" panose="02010600030101010101" pitchFamily="2" charset="-122"/>
            </a:endParaRPr>
          </a:p>
        </p:txBody>
      </p:sp>
      <p:sp>
        <p:nvSpPr>
          <p:cNvPr id="90121" name="Rectangle 8"/>
          <p:cNvSpPr/>
          <p:nvPr/>
        </p:nvSpPr>
        <p:spPr>
          <a:xfrm>
            <a:off x="3668713" y="2938463"/>
            <a:ext cx="1836737" cy="344487"/>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400" dirty="0">
                <a:solidFill>
                  <a:srgbClr val="FF3300"/>
                </a:solidFill>
                <a:ea typeface="宋体" panose="02010600030101010101" pitchFamily="2" charset="-122"/>
              </a:rPr>
              <a:t>试图建立第二条通道</a:t>
            </a:r>
            <a:endParaRPr lang="en-US" altLang="zh-CN" sz="1400" dirty="0">
              <a:solidFill>
                <a:srgbClr val="FF3300"/>
              </a:solidFill>
              <a:ea typeface="宋体" panose="02010600030101010101" pitchFamily="2" charset="-122"/>
            </a:endParaRPr>
          </a:p>
        </p:txBody>
      </p:sp>
      <p:sp>
        <p:nvSpPr>
          <p:cNvPr id="90122" name="Line 9"/>
          <p:cNvSpPr/>
          <p:nvPr/>
        </p:nvSpPr>
        <p:spPr>
          <a:xfrm>
            <a:off x="3187700" y="2819400"/>
            <a:ext cx="419100" cy="533400"/>
          </a:xfrm>
          <a:prstGeom prst="line">
            <a:avLst/>
          </a:prstGeom>
          <a:ln w="9525" cap="flat" cmpd="sng">
            <a:solidFill>
              <a:srgbClr val="FF0000"/>
            </a:solidFill>
            <a:prstDash val="solid"/>
            <a:headEnd type="none" w="med" len="med"/>
            <a:tailEnd type="triangle" w="med" len="med"/>
          </a:ln>
        </p:spPr>
      </p:sp>
      <p:sp>
        <p:nvSpPr>
          <p:cNvPr id="90123" name="Line 10"/>
          <p:cNvSpPr/>
          <p:nvPr/>
        </p:nvSpPr>
        <p:spPr>
          <a:xfrm>
            <a:off x="3822700" y="4229100"/>
            <a:ext cx="46038" cy="495300"/>
          </a:xfrm>
          <a:prstGeom prst="line">
            <a:avLst/>
          </a:prstGeom>
          <a:ln w="9525" cap="flat" cmpd="sng">
            <a:solidFill>
              <a:srgbClr val="FF0000"/>
            </a:solidFill>
            <a:prstDash val="solid"/>
            <a:headEnd type="none" w="med" len="med"/>
            <a:tailEnd type="triangle" w="med" len="med"/>
          </a:ln>
        </p:spPr>
      </p:sp>
      <p:sp>
        <p:nvSpPr>
          <p:cNvPr id="90124" name="Line 9"/>
          <p:cNvSpPr/>
          <p:nvPr/>
        </p:nvSpPr>
        <p:spPr>
          <a:xfrm>
            <a:off x="3073400" y="2844800"/>
            <a:ext cx="635000" cy="1917700"/>
          </a:xfrm>
          <a:prstGeom prst="line">
            <a:avLst/>
          </a:prstGeom>
          <a:ln w="9525" cap="flat" cmpd="sng">
            <a:solidFill>
              <a:srgbClr val="FF0000"/>
            </a:solidFill>
            <a:prstDash val="solid"/>
            <a:headEnd type="none" w="med" len="med"/>
            <a:tailEnd type="triangle" w="med" len="med"/>
          </a:ln>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92163" name="Rectangle 2"/>
          <p:cNvSpPr>
            <a:spLocks noGrp="1"/>
          </p:cNvSpPr>
          <p:nvPr>
            <p:ph type="title"/>
          </p:nvPr>
        </p:nvSpPr>
        <p:spPr>
          <a:xfrm>
            <a:off x="0" y="0"/>
            <a:ext cx="9144000" cy="1181100"/>
          </a:xfrm>
        </p:spPr>
        <p:txBody>
          <a:bodyPr vert="horz" wrap="square" lIns="91440" tIns="45720" rIns="91440" bIns="45720" anchor="ctr" anchorCtr="0"/>
          <a:lstStyle/>
          <a:p>
            <a:pPr eaLnBrk="1" hangingPunct="1"/>
            <a:r>
              <a:rPr lang="en-US" altLang="zh-CN" sz="4000" dirty="0">
                <a:ea typeface="宋体" panose="02010600030101010101" pitchFamily="2" charset="-122"/>
              </a:rPr>
              <a:t>Authentication Using a </a:t>
            </a:r>
            <a:br>
              <a:rPr lang="en-US" altLang="zh-CN" sz="4000" dirty="0">
                <a:ea typeface="宋体" panose="02010600030101010101" pitchFamily="2" charset="-122"/>
              </a:rPr>
            </a:br>
            <a:r>
              <a:rPr lang="en-US" altLang="zh-CN" sz="4000" dirty="0">
                <a:ea typeface="宋体" panose="02010600030101010101" pitchFamily="2" charset="-122"/>
              </a:rPr>
              <a:t>Key Distribution Center (1)</a:t>
            </a:r>
            <a:endParaRPr lang="en-US" altLang="zh-CN" sz="4000" dirty="0">
              <a:ea typeface="宋体" panose="02010600030101010101" pitchFamily="2" charset="-122"/>
            </a:endParaRPr>
          </a:p>
        </p:txBody>
      </p:sp>
      <p:sp>
        <p:nvSpPr>
          <p:cNvPr id="92164" name="Rectangle 3"/>
          <p:cNvSpPr>
            <a:spLocks noGrp="1"/>
          </p:cNvSpPr>
          <p:nvPr>
            <p:ph idx="1"/>
          </p:nvPr>
        </p:nvSpPr>
        <p:spPr>
          <a:xfrm>
            <a:off x="401638" y="5118100"/>
            <a:ext cx="8307387" cy="1316038"/>
          </a:xfrm>
        </p:spPr>
        <p:txBody>
          <a:bodyPr vert="horz" wrap="square" lIns="91440" tIns="45720" rIns="91440" bIns="45720" anchor="t" anchorCtr="0"/>
          <a:lstStyle/>
          <a:p>
            <a:pPr eaLnBrk="1" hangingPunct="1">
              <a:lnSpc>
                <a:spcPct val="110000"/>
              </a:lnSpc>
              <a:buNone/>
            </a:pPr>
            <a:r>
              <a:rPr lang="en-US" altLang="zh-CN" sz="2000" dirty="0">
                <a:ea typeface="宋体" panose="02010600030101010101" pitchFamily="2" charset="-122"/>
              </a:rPr>
              <a:t>Figure. The principle of using a KDC.</a:t>
            </a:r>
            <a:endParaRPr lang="en-US" altLang="zh-CN" sz="2000" dirty="0">
              <a:ea typeface="宋体" panose="02010600030101010101" pitchFamily="2" charset="-122"/>
            </a:endParaRPr>
          </a:p>
          <a:p>
            <a:pPr eaLnBrk="1" hangingPunct="1">
              <a:lnSpc>
                <a:spcPct val="110000"/>
              </a:lnSpc>
              <a:buNone/>
            </a:pPr>
            <a:r>
              <a:rPr lang="zh-CN" altLang="en-US" sz="2000" dirty="0">
                <a:ea typeface="宋体" panose="02010600030101010101" pitchFamily="2" charset="-122"/>
              </a:rPr>
              <a:t>一种可扩展性的解决方案</a:t>
            </a:r>
            <a:r>
              <a:rPr lang="en-US" altLang="zh-CN" sz="2000" dirty="0">
                <a:ea typeface="宋体" panose="02010600030101010101" pitchFamily="2" charset="-122"/>
              </a:rPr>
              <a:t>: </a:t>
            </a:r>
            <a:r>
              <a:rPr lang="zh-CN" altLang="en-US" sz="2000" dirty="0">
                <a:ea typeface="宋体" panose="02010600030101010101" pitchFamily="2" charset="-122"/>
              </a:rPr>
              <a:t>系统有</a:t>
            </a:r>
            <a:r>
              <a:rPr lang="en-US" altLang="zh-CN" sz="2000" dirty="0">
                <a:ea typeface="宋体" panose="02010600030101010101" pitchFamily="2" charset="-122"/>
              </a:rPr>
              <a:t>N</a:t>
            </a:r>
            <a:r>
              <a:rPr lang="zh-CN" altLang="en-US" sz="2000" dirty="0">
                <a:ea typeface="宋体" panose="02010600030101010101" pitchFamily="2" charset="-122"/>
              </a:rPr>
              <a:t>台主机</a:t>
            </a:r>
            <a:r>
              <a:rPr lang="en-US" altLang="zh-CN" sz="2000" dirty="0">
                <a:ea typeface="宋体" panose="02010600030101010101" pitchFamily="2" charset="-122"/>
              </a:rPr>
              <a:t>,</a:t>
            </a:r>
            <a:r>
              <a:rPr lang="zh-CN" altLang="en-US" sz="2000" dirty="0">
                <a:ea typeface="宋体" panose="02010600030101010101" pitchFamily="2" charset="-122"/>
              </a:rPr>
              <a:t>则需管理</a:t>
            </a:r>
            <a:r>
              <a:rPr lang="en-US" altLang="zh-CN" sz="2000" dirty="0">
                <a:ea typeface="宋体" panose="02010600030101010101" pitchFamily="2" charset="-122"/>
              </a:rPr>
              <a:t>N(N-1)/2</a:t>
            </a:r>
            <a:r>
              <a:rPr lang="zh-CN" altLang="en-US" sz="2000" dirty="0">
                <a:ea typeface="宋体" panose="02010600030101010101" pitchFamily="2" charset="-122"/>
              </a:rPr>
              <a:t>个密钥</a:t>
            </a:r>
            <a:r>
              <a:rPr lang="en-US" altLang="zh-CN" sz="2000" dirty="0">
                <a:ea typeface="宋体" panose="02010600030101010101" pitchFamily="2" charset="-122"/>
              </a:rPr>
              <a:t>,</a:t>
            </a:r>
            <a:endParaRPr lang="en-US" altLang="zh-CN" sz="2000" dirty="0">
              <a:ea typeface="宋体" panose="02010600030101010101" pitchFamily="2" charset="-122"/>
            </a:endParaRPr>
          </a:p>
          <a:p>
            <a:pPr eaLnBrk="1" hangingPunct="1">
              <a:lnSpc>
                <a:spcPct val="110000"/>
              </a:lnSpc>
              <a:buNone/>
            </a:pPr>
            <a:r>
              <a:rPr lang="zh-CN" altLang="en-US" sz="2000" dirty="0">
                <a:ea typeface="宋体" panose="02010600030101010101" pitchFamily="2" charset="-122"/>
              </a:rPr>
              <a:t>每个主机也需管理</a:t>
            </a:r>
            <a:r>
              <a:rPr lang="en-US" altLang="zh-CN" sz="2000" dirty="0">
                <a:ea typeface="宋体" panose="02010600030101010101" pitchFamily="2" charset="-122"/>
              </a:rPr>
              <a:t>(N-1)</a:t>
            </a:r>
            <a:r>
              <a:rPr lang="zh-CN" altLang="en-US" sz="2000" dirty="0">
                <a:ea typeface="宋体" panose="02010600030101010101" pitchFamily="2" charset="-122"/>
              </a:rPr>
              <a:t>个密钥</a:t>
            </a:r>
            <a:r>
              <a:rPr lang="en-US" altLang="zh-CN" sz="2000" dirty="0">
                <a:ea typeface="宋体" panose="02010600030101010101" pitchFamily="2" charset="-122"/>
              </a:rPr>
              <a:t>.A</a:t>
            </a:r>
            <a:r>
              <a:rPr lang="zh-CN" altLang="en-US" sz="2000" dirty="0">
                <a:ea typeface="宋体" panose="02010600030101010101" pitchFamily="2" charset="-122"/>
              </a:rPr>
              <a:t>与</a:t>
            </a:r>
            <a:r>
              <a:rPr lang="en-US" altLang="zh-CN" sz="2000" dirty="0">
                <a:ea typeface="宋体" panose="02010600030101010101" pitchFamily="2" charset="-122"/>
              </a:rPr>
              <a:t>B</a:t>
            </a:r>
            <a:r>
              <a:rPr lang="zh-CN" altLang="en-US" sz="2000" dirty="0">
                <a:ea typeface="宋体" panose="02010600030101010101" pitchFamily="2" charset="-122"/>
              </a:rPr>
              <a:t>通过</a:t>
            </a:r>
            <a:r>
              <a:rPr lang="en-US" altLang="zh-CN" sz="2000" dirty="0">
                <a:ea typeface="宋体" panose="02010600030101010101" pitchFamily="2" charset="-122"/>
              </a:rPr>
              <a:t>K</a:t>
            </a:r>
            <a:r>
              <a:rPr lang="en-US" altLang="zh-CN" sz="2000" baseline="-25000" dirty="0">
                <a:ea typeface="宋体" panose="02010600030101010101" pitchFamily="2" charset="-122"/>
              </a:rPr>
              <a:t>A,B</a:t>
            </a:r>
            <a:r>
              <a:rPr lang="zh-CN" altLang="en-US" sz="2000" dirty="0">
                <a:ea typeface="宋体" panose="02010600030101010101" pitchFamily="2" charset="-122"/>
              </a:rPr>
              <a:t>互认</a:t>
            </a:r>
            <a:r>
              <a:rPr lang="en-US" altLang="zh-CN" sz="2000" dirty="0">
                <a:ea typeface="宋体" panose="02010600030101010101" pitchFamily="2" charset="-122"/>
              </a:rPr>
              <a:t>.</a:t>
            </a:r>
            <a:endParaRPr lang="en-US" altLang="zh-CN" sz="2000" dirty="0">
              <a:ea typeface="宋体" panose="02010600030101010101" pitchFamily="2" charset="-122"/>
            </a:endParaRPr>
          </a:p>
        </p:txBody>
      </p:sp>
      <p:pic>
        <p:nvPicPr>
          <p:cNvPr id="92165" name="Picture 4" descr="09-15"/>
          <p:cNvPicPr>
            <a:picLocks noChangeAspect="1"/>
          </p:cNvPicPr>
          <p:nvPr/>
        </p:nvPicPr>
        <p:blipFill>
          <a:blip r:embed="rId1"/>
          <a:stretch>
            <a:fillRect/>
          </a:stretch>
        </p:blipFill>
        <p:spPr>
          <a:xfrm>
            <a:off x="781050" y="1327150"/>
            <a:ext cx="7783513" cy="3498850"/>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94211"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Authentication Using a </a:t>
            </a:r>
            <a:br>
              <a:rPr lang="en-US" altLang="zh-CN" sz="4000" dirty="0">
                <a:ea typeface="宋体" panose="02010600030101010101" pitchFamily="2" charset="-122"/>
              </a:rPr>
            </a:br>
            <a:r>
              <a:rPr lang="en-US" altLang="zh-CN" sz="4000" dirty="0">
                <a:ea typeface="宋体" panose="02010600030101010101" pitchFamily="2" charset="-122"/>
              </a:rPr>
              <a:t>Key Distribution Center (2)</a:t>
            </a:r>
            <a:endParaRPr lang="en-US" altLang="zh-CN" sz="4000" dirty="0">
              <a:ea typeface="宋体" panose="02010600030101010101" pitchFamily="2" charset="-122"/>
            </a:endParaRPr>
          </a:p>
        </p:txBody>
      </p:sp>
      <p:sp>
        <p:nvSpPr>
          <p:cNvPr id="94212" name="Rectangle 3"/>
          <p:cNvSpPr>
            <a:spLocks noGrp="1"/>
          </p:cNvSpPr>
          <p:nvPr>
            <p:ph idx="1"/>
          </p:nvPr>
        </p:nvSpPr>
        <p:spPr>
          <a:xfrm>
            <a:off x="66675" y="5670550"/>
            <a:ext cx="9010650" cy="939800"/>
          </a:xfrm>
        </p:spPr>
        <p:txBody>
          <a:bodyPr vert="horz" wrap="square" lIns="91440" tIns="45720" rIns="91440" bIns="45720" anchor="t" anchorCtr="0"/>
          <a:lstStyle/>
          <a:p>
            <a:pPr eaLnBrk="1" hangingPunct="1">
              <a:buNone/>
            </a:pPr>
            <a:r>
              <a:rPr lang="en-US" altLang="zh-CN" dirty="0">
                <a:ea typeface="宋体" panose="02010600030101010101" pitchFamily="2" charset="-122"/>
              </a:rPr>
              <a:t>Figure. Using a ticket and letting Alice set up a connection to Bob.</a:t>
            </a:r>
            <a:endParaRPr lang="en-US" altLang="zh-CN" dirty="0">
              <a:ea typeface="宋体" panose="02010600030101010101" pitchFamily="2" charset="-122"/>
            </a:endParaRPr>
          </a:p>
          <a:p>
            <a:pPr eaLnBrk="1" hangingPunct="1">
              <a:buNone/>
            </a:pPr>
            <a:r>
              <a:rPr lang="zh-CN" altLang="en-US" sz="2000" dirty="0">
                <a:solidFill>
                  <a:srgbClr val="FF0000"/>
                </a:solidFill>
                <a:latin typeface="宋体" panose="02010600030101010101" pitchFamily="2" charset="-122"/>
                <a:ea typeface="宋体" panose="02010600030101010101" pitchFamily="2" charset="-122"/>
              </a:rPr>
              <a:t>问题</a:t>
            </a:r>
            <a:r>
              <a:rPr lang="en-US" altLang="zh-CN" sz="2000" dirty="0">
                <a:solidFill>
                  <a:srgbClr val="FF0000"/>
                </a:solidFill>
                <a:latin typeface="宋体" panose="02010600030101010101" pitchFamily="2" charset="-122"/>
                <a:ea typeface="宋体" panose="02010600030101010101" pitchFamily="2" charset="-122"/>
              </a:rPr>
              <a:t>:</a:t>
            </a:r>
            <a:r>
              <a:rPr lang="zh-CN" altLang="en-US" sz="2000" dirty="0">
                <a:solidFill>
                  <a:srgbClr val="FF0000"/>
                </a:solidFill>
                <a:latin typeface="宋体" panose="02010600030101010101" pitchFamily="2" charset="-122"/>
                <a:ea typeface="宋体" panose="02010600030101010101" pitchFamily="2" charset="-122"/>
              </a:rPr>
              <a:t>如果</a:t>
            </a:r>
            <a:r>
              <a:rPr lang="en-US" altLang="zh-CN" sz="2000" dirty="0">
                <a:solidFill>
                  <a:srgbClr val="FF0000"/>
                </a:solidFill>
                <a:ea typeface="宋体" panose="02010600030101010101" pitchFamily="2" charset="-122"/>
              </a:rPr>
              <a:t>Chuck</a:t>
            </a:r>
            <a:r>
              <a:rPr lang="zh-CN" altLang="en-US" sz="2000" dirty="0">
                <a:solidFill>
                  <a:srgbClr val="FF0000"/>
                </a:solidFill>
                <a:latin typeface="宋体" panose="02010600030101010101" pitchFamily="2" charset="-122"/>
                <a:ea typeface="宋体" panose="02010600030101010101" pitchFamily="2" charset="-122"/>
              </a:rPr>
              <a:t>已获取</a:t>
            </a:r>
            <a:r>
              <a:rPr lang="en-US" altLang="zh-CN" sz="2000" dirty="0">
                <a:solidFill>
                  <a:srgbClr val="FF0000"/>
                </a:solidFill>
                <a:latin typeface="宋体" panose="02010600030101010101" pitchFamily="2" charset="-122"/>
                <a:ea typeface="宋体" panose="02010600030101010101" pitchFamily="2" charset="-122"/>
              </a:rPr>
              <a:t>K</a:t>
            </a:r>
            <a:r>
              <a:rPr lang="en-US" altLang="zh-CN" sz="2000" baseline="-25000" dirty="0">
                <a:solidFill>
                  <a:srgbClr val="FF0000"/>
                </a:solidFill>
                <a:latin typeface="宋体" panose="02010600030101010101" pitchFamily="2" charset="-122"/>
                <a:ea typeface="宋体" panose="02010600030101010101" pitchFamily="2" charset="-122"/>
              </a:rPr>
              <a:t>A,B</a:t>
            </a:r>
            <a:r>
              <a:rPr lang="en-US" altLang="zh-CN" sz="2000" dirty="0">
                <a:solidFill>
                  <a:srgbClr val="FF0000"/>
                </a:solidFill>
                <a:latin typeface="宋体" panose="02010600030101010101" pitchFamily="2" charset="-122"/>
                <a:ea typeface="宋体" panose="02010600030101010101" pitchFamily="2" charset="-122"/>
              </a:rPr>
              <a:t>,</a:t>
            </a:r>
            <a:r>
              <a:rPr lang="zh-CN" altLang="en-US" sz="2000" dirty="0">
                <a:solidFill>
                  <a:srgbClr val="FF0000"/>
                </a:solidFill>
                <a:latin typeface="宋体" panose="02010600030101010101" pitchFamily="2" charset="-122"/>
                <a:ea typeface="宋体" panose="02010600030101010101" pitchFamily="2" charset="-122"/>
              </a:rPr>
              <a:t>并窃取旧票据</a:t>
            </a:r>
            <a:r>
              <a:rPr lang="en-US" altLang="zh-CN" sz="2000" dirty="0">
                <a:solidFill>
                  <a:srgbClr val="FF0000"/>
                </a:solidFill>
                <a:latin typeface="宋体" panose="02010600030101010101" pitchFamily="2" charset="-122"/>
                <a:ea typeface="宋体" panose="02010600030101010101" pitchFamily="2" charset="-122"/>
              </a:rPr>
              <a:t>(K</a:t>
            </a:r>
            <a:r>
              <a:rPr lang="en-US" altLang="zh-CN" sz="2000" baseline="-25000" dirty="0">
                <a:solidFill>
                  <a:srgbClr val="FF0000"/>
                </a:solidFill>
                <a:latin typeface="宋体" panose="02010600030101010101" pitchFamily="2" charset="-122"/>
                <a:ea typeface="宋体" panose="02010600030101010101" pitchFamily="2" charset="-122"/>
              </a:rPr>
              <a:t>A,KDC</a:t>
            </a:r>
            <a:r>
              <a:rPr lang="en-US" altLang="zh-CN" sz="2000" dirty="0">
                <a:solidFill>
                  <a:srgbClr val="FF0000"/>
                </a:solidFill>
                <a:latin typeface="宋体" panose="02010600030101010101" pitchFamily="2" charset="-122"/>
                <a:ea typeface="宋体" panose="02010600030101010101" pitchFamily="2" charset="-122"/>
              </a:rPr>
              <a:t>(K</a:t>
            </a:r>
            <a:r>
              <a:rPr lang="en-US" altLang="zh-CN" sz="2000" baseline="-25000" dirty="0">
                <a:solidFill>
                  <a:srgbClr val="FF0000"/>
                </a:solidFill>
                <a:latin typeface="宋体" panose="02010600030101010101" pitchFamily="2" charset="-122"/>
                <a:ea typeface="宋体" panose="02010600030101010101" pitchFamily="2" charset="-122"/>
              </a:rPr>
              <a:t>A,B</a:t>
            </a:r>
            <a:r>
              <a:rPr lang="zh-CN" altLang="en-US" sz="2000" dirty="0">
                <a:solidFill>
                  <a:srgbClr val="FF0000"/>
                </a:solidFill>
                <a:latin typeface="宋体" panose="02010600030101010101" pitchFamily="2" charset="-122"/>
                <a:ea typeface="宋体" panose="02010600030101010101" pitchFamily="2" charset="-122"/>
              </a:rPr>
              <a:t>）</a:t>
            </a:r>
            <a:r>
              <a:rPr lang="en-US" altLang="zh-CN" sz="2000" dirty="0">
                <a:solidFill>
                  <a:srgbClr val="FF0000"/>
                </a:solidFill>
                <a:latin typeface="宋体" panose="02010600030101010101" pitchFamily="2" charset="-122"/>
                <a:ea typeface="宋体" panose="02010600030101010101" pitchFamily="2" charset="-122"/>
              </a:rPr>
              <a:t>),</a:t>
            </a:r>
            <a:r>
              <a:rPr lang="zh-CN" altLang="en-US" sz="2000" dirty="0">
                <a:solidFill>
                  <a:srgbClr val="FF0000"/>
                </a:solidFill>
                <a:latin typeface="宋体" panose="02010600030101010101" pitchFamily="2" charset="-122"/>
                <a:ea typeface="宋体" panose="02010600030101010101" pitchFamily="2" charset="-122"/>
              </a:rPr>
              <a:t>则可以进行非法联结</a:t>
            </a:r>
            <a:r>
              <a:rPr lang="en-US" altLang="zh-CN" sz="2000" dirty="0">
                <a:solidFill>
                  <a:srgbClr val="FF0000"/>
                </a:solidFill>
                <a:latin typeface="宋体" panose="02010600030101010101" pitchFamily="2" charset="-122"/>
                <a:ea typeface="宋体" panose="02010600030101010101" pitchFamily="2" charset="-122"/>
              </a:rPr>
              <a:t>.</a:t>
            </a:r>
            <a:endParaRPr lang="en-US" altLang="zh-CN" sz="2000" dirty="0">
              <a:solidFill>
                <a:srgbClr val="FF0000"/>
              </a:solidFill>
              <a:latin typeface="宋体" panose="02010600030101010101" pitchFamily="2" charset="-122"/>
              <a:ea typeface="宋体" panose="02010600030101010101" pitchFamily="2" charset="-122"/>
            </a:endParaRPr>
          </a:p>
        </p:txBody>
      </p:sp>
      <p:pic>
        <p:nvPicPr>
          <p:cNvPr id="94213" name="Picture 4" descr="09-16"/>
          <p:cNvPicPr>
            <a:picLocks noChangeAspect="1"/>
          </p:cNvPicPr>
          <p:nvPr/>
        </p:nvPicPr>
        <p:blipFill>
          <a:blip r:embed="rId1"/>
          <a:stretch>
            <a:fillRect/>
          </a:stretch>
        </p:blipFill>
        <p:spPr>
          <a:xfrm>
            <a:off x="663575" y="1746250"/>
            <a:ext cx="8058150" cy="3421063"/>
          </a:xfrm>
          <a:prstGeom prst="rect">
            <a:avLst/>
          </a:prstGeom>
          <a:noFill/>
          <a:ln w="9525">
            <a:noFill/>
          </a:ln>
        </p:spPr>
      </p:pic>
      <p:sp>
        <p:nvSpPr>
          <p:cNvPr id="94214" name="矩形 5"/>
          <p:cNvSpPr/>
          <p:nvPr/>
        </p:nvSpPr>
        <p:spPr>
          <a:xfrm>
            <a:off x="6635750" y="4008438"/>
            <a:ext cx="596900" cy="339725"/>
          </a:xfrm>
          <a:prstGeom prst="rect">
            <a:avLst/>
          </a:prstGeom>
          <a:noFill/>
          <a:ln w="9525">
            <a:noFill/>
          </a:ln>
        </p:spPr>
        <p:txBody>
          <a:bodyPr wrap="none">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600" b="1" dirty="0">
                <a:solidFill>
                  <a:srgbClr val="FF0000"/>
                </a:solidFill>
                <a:latin typeface="宋体" panose="02010600030101010101" pitchFamily="2" charset="-122"/>
                <a:ea typeface="宋体" panose="02010600030101010101" pitchFamily="2" charset="-122"/>
              </a:rPr>
              <a:t>票据</a:t>
            </a:r>
            <a:endParaRPr lang="zh-CN" altLang="en-US" sz="1600" b="1" dirty="0">
              <a:latin typeface="Times New Roman" panose="02020603050405020304" pitchFamily="18"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96259"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Authentication Using a </a:t>
            </a:r>
            <a:br>
              <a:rPr lang="en-US" altLang="zh-CN" sz="4000" dirty="0">
                <a:ea typeface="宋体" panose="02010600030101010101" pitchFamily="2" charset="-122"/>
              </a:rPr>
            </a:br>
            <a:r>
              <a:rPr lang="en-US" altLang="zh-CN" sz="4000" dirty="0">
                <a:ea typeface="宋体" panose="02010600030101010101" pitchFamily="2" charset="-122"/>
              </a:rPr>
              <a:t>Key Distribution Center (3)</a:t>
            </a:r>
            <a:endParaRPr lang="en-US" altLang="zh-CN" sz="4000" dirty="0">
              <a:ea typeface="宋体" panose="02010600030101010101" pitchFamily="2" charset="-122"/>
            </a:endParaRPr>
          </a:p>
        </p:txBody>
      </p:sp>
      <p:sp>
        <p:nvSpPr>
          <p:cNvPr id="96260" name="Rectangle 3"/>
          <p:cNvSpPr>
            <a:spLocks noGrp="1"/>
          </p:cNvSpPr>
          <p:nvPr>
            <p:ph idx="1"/>
          </p:nvPr>
        </p:nvSpPr>
        <p:spPr>
          <a:xfrm>
            <a:off x="0" y="5537200"/>
            <a:ext cx="9144000" cy="1046163"/>
          </a:xfrm>
        </p:spPr>
        <p:txBody>
          <a:bodyPr vert="horz" wrap="square" lIns="91440" tIns="45720" rIns="91440" bIns="45720" anchor="t" anchorCtr="0"/>
          <a:lstStyle/>
          <a:p>
            <a:pPr eaLnBrk="1" hangingPunct="1">
              <a:buNone/>
            </a:pPr>
            <a:r>
              <a:rPr lang="en-US" altLang="zh-CN" sz="1800" dirty="0">
                <a:ea typeface="宋体" panose="02010600030101010101" pitchFamily="2" charset="-122"/>
              </a:rPr>
              <a:t>Figure. The Needham-Schroeder authentication protocol.</a:t>
            </a:r>
            <a:endParaRPr lang="en-US" altLang="zh-CN" sz="1800" dirty="0">
              <a:ea typeface="宋体" panose="02010600030101010101" pitchFamily="2" charset="-122"/>
            </a:endParaRPr>
          </a:p>
          <a:p>
            <a:pPr eaLnBrk="1" hangingPunct="1">
              <a:buNone/>
            </a:pPr>
            <a:r>
              <a:rPr lang="zh-CN" altLang="en-US" sz="1800" dirty="0">
                <a:ea typeface="宋体" panose="02010600030101010101" pitchFamily="2" charset="-122"/>
              </a:rPr>
              <a:t>因为</a:t>
            </a:r>
            <a:r>
              <a:rPr lang="en-US" altLang="zh-CN" sz="1800" dirty="0">
                <a:ea typeface="宋体" panose="02010600030101010101" pitchFamily="2" charset="-122"/>
              </a:rPr>
              <a:t>R</a:t>
            </a:r>
            <a:r>
              <a:rPr lang="en-US" altLang="zh-CN" sz="1800" baseline="-25000" dirty="0">
                <a:ea typeface="宋体" panose="02010600030101010101" pitchFamily="2" charset="-122"/>
              </a:rPr>
              <a:t>A1</a:t>
            </a:r>
            <a:r>
              <a:rPr lang="zh-CN" altLang="en-US" sz="1800" dirty="0">
                <a:ea typeface="宋体" panose="02010600030101010101" pitchFamily="2" charset="-122"/>
              </a:rPr>
              <a:t>每次不同</a:t>
            </a:r>
            <a:r>
              <a:rPr lang="en-US" altLang="zh-CN" sz="1800" dirty="0">
                <a:ea typeface="宋体" panose="02010600030101010101" pitchFamily="2" charset="-122"/>
              </a:rPr>
              <a:t>,</a:t>
            </a:r>
            <a:r>
              <a:rPr lang="zh-CN" altLang="en-US" sz="1800" dirty="0">
                <a:ea typeface="宋体" panose="02010600030101010101" pitchFamily="2" charset="-122"/>
              </a:rPr>
              <a:t>可以识别是否旧票据</a:t>
            </a:r>
            <a:r>
              <a:rPr lang="en-US" altLang="zh-CN" sz="1800" dirty="0">
                <a:ea typeface="宋体" panose="02010600030101010101" pitchFamily="2" charset="-122"/>
              </a:rPr>
              <a:t>,</a:t>
            </a:r>
            <a:r>
              <a:rPr lang="zh-CN" altLang="en-US" sz="1800" dirty="0">
                <a:solidFill>
                  <a:srgbClr val="FF0000"/>
                </a:solidFill>
                <a:ea typeface="宋体" panose="02010600030101010101" pitchFamily="2" charset="-122"/>
              </a:rPr>
              <a:t>新的问题是</a:t>
            </a:r>
            <a:r>
              <a:rPr lang="en-US" altLang="zh-CN" sz="1800" dirty="0">
                <a:solidFill>
                  <a:srgbClr val="FF0000"/>
                </a:solidFill>
                <a:ea typeface="宋体" panose="02010600030101010101" pitchFamily="2" charset="-122"/>
              </a:rPr>
              <a:t>R</a:t>
            </a:r>
            <a:r>
              <a:rPr lang="en-US" altLang="zh-CN" sz="1800" baseline="-25000" dirty="0">
                <a:solidFill>
                  <a:srgbClr val="FF0000"/>
                </a:solidFill>
                <a:ea typeface="宋体" panose="02010600030101010101" pitchFamily="2" charset="-122"/>
              </a:rPr>
              <a:t>A1</a:t>
            </a:r>
            <a:r>
              <a:rPr lang="zh-CN" altLang="en-US" sz="1800" dirty="0">
                <a:solidFill>
                  <a:srgbClr val="FF0000"/>
                </a:solidFill>
                <a:ea typeface="宋体" panose="02010600030101010101" pitchFamily="2" charset="-122"/>
              </a:rPr>
              <a:t>与</a:t>
            </a:r>
            <a:r>
              <a:rPr lang="en-US" altLang="zh-CN" sz="1800" dirty="0">
                <a:solidFill>
                  <a:srgbClr val="FF0000"/>
                </a:solidFill>
                <a:ea typeface="宋体" panose="02010600030101010101" pitchFamily="2" charset="-122"/>
              </a:rPr>
              <a:t>R</a:t>
            </a:r>
            <a:r>
              <a:rPr lang="en-US" altLang="zh-CN" sz="1800" baseline="-25000" dirty="0">
                <a:solidFill>
                  <a:srgbClr val="FF0000"/>
                </a:solidFill>
                <a:ea typeface="宋体" panose="02010600030101010101" pitchFamily="2" charset="-122"/>
              </a:rPr>
              <a:t>A2</a:t>
            </a:r>
            <a:r>
              <a:rPr lang="zh-CN" altLang="en-US" sz="1800" dirty="0">
                <a:solidFill>
                  <a:srgbClr val="FF0000"/>
                </a:solidFill>
                <a:ea typeface="宋体" panose="02010600030101010101" pitchFamily="2" charset="-122"/>
              </a:rPr>
              <a:t>分离</a:t>
            </a:r>
            <a:r>
              <a:rPr lang="en-US" altLang="zh-CN" sz="1800" dirty="0">
                <a:solidFill>
                  <a:srgbClr val="FF0000"/>
                </a:solidFill>
                <a:ea typeface="宋体" panose="02010600030101010101" pitchFamily="2" charset="-122"/>
              </a:rPr>
              <a:t>, </a:t>
            </a:r>
            <a:endParaRPr lang="en-US" altLang="zh-CN" sz="1800" dirty="0">
              <a:solidFill>
                <a:srgbClr val="FF0000"/>
              </a:solidFill>
              <a:ea typeface="宋体" panose="02010600030101010101" pitchFamily="2" charset="-122"/>
            </a:endParaRPr>
          </a:p>
          <a:p>
            <a:pPr eaLnBrk="1" hangingPunct="1">
              <a:buNone/>
            </a:pPr>
            <a:r>
              <a:rPr lang="zh-CN" altLang="en-US" sz="1800" dirty="0">
                <a:solidFill>
                  <a:srgbClr val="FF0000"/>
                </a:solidFill>
                <a:ea typeface="宋体" panose="02010600030101010101" pitchFamily="2" charset="-122"/>
              </a:rPr>
              <a:t>如果</a:t>
            </a:r>
            <a:r>
              <a:rPr lang="en-US" altLang="zh-CN" sz="1800" dirty="0">
                <a:solidFill>
                  <a:srgbClr val="FF0000"/>
                </a:solidFill>
                <a:ea typeface="宋体" panose="02010600030101010101" pitchFamily="2" charset="-122"/>
              </a:rPr>
              <a:t>Chuck</a:t>
            </a:r>
            <a:r>
              <a:rPr lang="zh-CN" altLang="en-US" sz="1800" dirty="0">
                <a:solidFill>
                  <a:srgbClr val="FF0000"/>
                </a:solidFill>
                <a:ea typeface="宋体" panose="02010600030101010101" pitchFamily="2" charset="-122"/>
              </a:rPr>
              <a:t>曾经获得过</a:t>
            </a:r>
            <a:r>
              <a:rPr lang="en-US" altLang="zh-CN" sz="1800" dirty="0">
                <a:solidFill>
                  <a:srgbClr val="FF0000"/>
                </a:solidFill>
                <a:ea typeface="宋体" panose="02010600030101010101" pitchFamily="2" charset="-122"/>
              </a:rPr>
              <a:t>K</a:t>
            </a:r>
            <a:r>
              <a:rPr lang="en-US" altLang="zh-CN" sz="1800" baseline="-25000" dirty="0">
                <a:solidFill>
                  <a:srgbClr val="FF0000"/>
                </a:solidFill>
                <a:ea typeface="宋体" panose="02010600030101010101" pitchFamily="2" charset="-122"/>
              </a:rPr>
              <a:t>A,B</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它可以重放消息</a:t>
            </a:r>
            <a:r>
              <a:rPr lang="en-US" altLang="zh-CN" sz="1800" dirty="0">
                <a:solidFill>
                  <a:srgbClr val="FF0000"/>
                </a:solidFill>
                <a:ea typeface="宋体" panose="02010600030101010101" pitchFamily="2" charset="-122"/>
              </a:rPr>
              <a:t>3</a:t>
            </a:r>
            <a:r>
              <a:rPr lang="zh-CN" altLang="en-US" sz="1800" dirty="0">
                <a:solidFill>
                  <a:srgbClr val="FF0000"/>
                </a:solidFill>
                <a:ea typeface="宋体" panose="02010600030101010101" pitchFamily="2" charset="-122"/>
              </a:rPr>
              <a:t>与</a:t>
            </a:r>
            <a:r>
              <a:rPr lang="en-US" altLang="zh-CN" sz="1800" dirty="0">
                <a:solidFill>
                  <a:srgbClr val="FF0000"/>
                </a:solidFill>
                <a:ea typeface="宋体" panose="02010600030101010101" pitchFamily="2" charset="-122"/>
              </a:rPr>
              <a:t>Bob</a:t>
            </a:r>
            <a:r>
              <a:rPr lang="zh-CN" altLang="en-US" sz="1800" dirty="0">
                <a:solidFill>
                  <a:srgbClr val="FF0000"/>
                </a:solidFill>
                <a:ea typeface="宋体" panose="02010600030101010101" pitchFamily="2" charset="-122"/>
              </a:rPr>
              <a:t>建立联结</a:t>
            </a:r>
            <a:r>
              <a:rPr lang="en-US" altLang="zh-CN" sz="1800" dirty="0">
                <a:ea typeface="宋体" panose="02010600030101010101" pitchFamily="2" charset="-122"/>
              </a:rPr>
              <a:t>.</a:t>
            </a:r>
            <a:endParaRPr lang="en-US" altLang="zh-CN" sz="1800" dirty="0">
              <a:ea typeface="宋体" panose="02010600030101010101" pitchFamily="2" charset="-122"/>
            </a:endParaRPr>
          </a:p>
        </p:txBody>
      </p:sp>
      <p:pic>
        <p:nvPicPr>
          <p:cNvPr id="96261" name="Picture 4" descr="09-17"/>
          <p:cNvPicPr>
            <a:picLocks noChangeAspect="1"/>
          </p:cNvPicPr>
          <p:nvPr/>
        </p:nvPicPr>
        <p:blipFill>
          <a:blip r:embed="rId1"/>
          <a:stretch>
            <a:fillRect/>
          </a:stretch>
        </p:blipFill>
        <p:spPr>
          <a:xfrm>
            <a:off x="546100" y="1704975"/>
            <a:ext cx="7964488" cy="3313113"/>
          </a:xfrm>
          <a:prstGeom prst="rect">
            <a:avLst/>
          </a:prstGeom>
          <a:noFill/>
          <a:ln w="9525">
            <a:noFill/>
          </a:ln>
        </p:spPr>
      </p:pic>
      <p:sp>
        <p:nvSpPr>
          <p:cNvPr id="96262" name="Rectangle 6"/>
          <p:cNvSpPr/>
          <p:nvPr/>
        </p:nvSpPr>
        <p:spPr>
          <a:xfrm>
            <a:off x="546100" y="1201738"/>
            <a:ext cx="8077200" cy="400050"/>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zh-CN" altLang="en-US" sz="2000" dirty="0">
                <a:latin typeface="Times New Roman" panose="02020603050405020304" pitchFamily="18" charset="0"/>
                <a:ea typeface="宋体" panose="02010600030101010101" pitchFamily="2" charset="-122"/>
              </a:rPr>
              <a:t>通过增加“</a:t>
            </a:r>
            <a:r>
              <a:rPr lang="zh-CN" altLang="en-US" sz="2000" dirty="0">
                <a:solidFill>
                  <a:srgbClr val="FF0000"/>
                </a:solidFill>
                <a:latin typeface="Times New Roman" panose="02020603050405020304" pitchFamily="18" charset="0"/>
                <a:ea typeface="宋体" panose="02010600030101010101" pitchFamily="2" charset="-122"/>
              </a:rPr>
              <a:t>现时”</a:t>
            </a:r>
            <a:r>
              <a:rPr lang="en-US" altLang="zh-CN" sz="2000" dirty="0">
                <a:latin typeface="Times New Roman" panose="02020603050405020304" pitchFamily="18" charset="0"/>
                <a:ea typeface="宋体" panose="02010600030101010101" pitchFamily="2" charset="-122"/>
              </a:rPr>
              <a:t>R</a:t>
            </a:r>
            <a:r>
              <a:rPr lang="en-US" altLang="zh-CN" sz="2000" baseline="-25000" dirty="0">
                <a:latin typeface="Times New Roman" panose="02020603050405020304" pitchFamily="18" charset="0"/>
                <a:ea typeface="宋体" panose="02010600030101010101" pitchFamily="2" charset="-122"/>
              </a:rPr>
              <a:t>A1</a:t>
            </a:r>
            <a:r>
              <a:rPr lang="zh-CN" altLang="en-US" sz="2000" dirty="0">
                <a:latin typeface="Times New Roman" panose="02020603050405020304" pitchFamily="18" charset="0"/>
                <a:ea typeface="宋体" panose="02010600030101010101" pitchFamily="2" charset="-122"/>
              </a:rPr>
              <a:t>解决旧票据问题</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每次随机取</a:t>
            </a:r>
            <a:r>
              <a:rPr lang="en-US" altLang="zh-CN" sz="2000" dirty="0">
                <a:latin typeface="Times New Roman" panose="02020603050405020304" pitchFamily="18" charset="0"/>
                <a:ea typeface="宋体" panose="02010600030101010101" pitchFamily="2" charset="-122"/>
              </a:rPr>
              <a:t>R</a:t>
            </a:r>
            <a:r>
              <a:rPr lang="en-US" altLang="zh-CN" sz="2000" baseline="-25000" dirty="0">
                <a:latin typeface="Times New Roman" panose="02020603050405020304" pitchFamily="18" charset="0"/>
                <a:ea typeface="宋体" panose="02010600030101010101" pitchFamily="2" charset="-122"/>
              </a:rPr>
              <a:t>A1,</a:t>
            </a:r>
            <a:r>
              <a:rPr lang="zh-CN" altLang="en-US" sz="2000" dirty="0">
                <a:latin typeface="Times New Roman" panose="02020603050405020304" pitchFamily="18" charset="0"/>
                <a:ea typeface="宋体" panose="02010600030101010101" pitchFamily="2" charset="-122"/>
              </a:rPr>
              <a:t>而</a:t>
            </a:r>
            <a:r>
              <a:rPr lang="en-US" altLang="zh-CN" sz="2000" dirty="0">
                <a:latin typeface="Times New Roman" panose="02020603050405020304" pitchFamily="18" charset="0"/>
                <a:ea typeface="宋体" panose="02010600030101010101" pitchFamily="2" charset="-122"/>
              </a:rPr>
              <a:t>A,B</a:t>
            </a:r>
            <a:r>
              <a:rPr lang="zh-CN" altLang="en-US" sz="2000" dirty="0">
                <a:latin typeface="Times New Roman" panose="02020603050405020304" pitchFamily="18" charset="0"/>
                <a:ea typeface="宋体" panose="02010600030101010101" pitchFamily="2" charset="-122"/>
              </a:rPr>
              <a:t>是不变的。</a:t>
            </a:r>
            <a:endParaRPr lang="zh-CN" altLang="en-US" sz="2000" dirty="0">
              <a:latin typeface="Times New Roman" panose="02020603050405020304" pitchFamily="18"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98307"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Authentication Using a </a:t>
            </a:r>
            <a:br>
              <a:rPr lang="en-US" altLang="zh-CN" sz="4000" dirty="0">
                <a:ea typeface="宋体" panose="02010600030101010101" pitchFamily="2" charset="-122"/>
              </a:rPr>
            </a:br>
            <a:r>
              <a:rPr lang="en-US" altLang="zh-CN" sz="4000" dirty="0">
                <a:ea typeface="宋体" panose="02010600030101010101" pitchFamily="2" charset="-122"/>
              </a:rPr>
              <a:t>Key Distribution Center (4)</a:t>
            </a:r>
            <a:endParaRPr lang="en-US" altLang="zh-CN" sz="4000" dirty="0">
              <a:ea typeface="宋体" panose="02010600030101010101" pitchFamily="2" charset="-122"/>
            </a:endParaRPr>
          </a:p>
        </p:txBody>
      </p:sp>
      <p:sp>
        <p:nvSpPr>
          <p:cNvPr id="98308" name="Rectangle 3"/>
          <p:cNvSpPr>
            <a:spLocks noGrp="1"/>
          </p:cNvSpPr>
          <p:nvPr>
            <p:ph idx="1"/>
          </p:nvPr>
        </p:nvSpPr>
        <p:spPr>
          <a:xfrm>
            <a:off x="-114300" y="6057900"/>
            <a:ext cx="9372600" cy="520700"/>
          </a:xfrm>
        </p:spPr>
        <p:txBody>
          <a:bodyPr vert="horz" wrap="square" lIns="91440" tIns="45720" rIns="91440" bIns="45720" anchor="t" anchorCtr="0"/>
          <a:lstStyle/>
          <a:p>
            <a:pPr algn="l" eaLnBrk="1" hangingPunct="1">
              <a:lnSpc>
                <a:spcPct val="80000"/>
              </a:lnSpc>
              <a:buNone/>
            </a:pPr>
            <a:r>
              <a:rPr lang="en-US" altLang="zh-CN" sz="1800" dirty="0">
                <a:ea typeface="宋体" panose="02010600030101010101" pitchFamily="2" charset="-122"/>
              </a:rPr>
              <a:t>Protection against malicious reuse of a previously generated session key in the Needham-Schroeder protocol.</a:t>
            </a:r>
            <a:r>
              <a:rPr lang="en-US" altLang="zh-CN" sz="1800" dirty="0">
                <a:solidFill>
                  <a:srgbClr val="FF0000"/>
                </a:solidFill>
                <a:ea typeface="宋体" panose="02010600030101010101" pitchFamily="2" charset="-122"/>
              </a:rPr>
              <a:t>4</a:t>
            </a:r>
            <a:r>
              <a:rPr lang="zh-CN" altLang="en-US" sz="1800" dirty="0">
                <a:solidFill>
                  <a:srgbClr val="FF0000"/>
                </a:solidFill>
                <a:ea typeface="宋体" panose="02010600030101010101" pitchFamily="2" charset="-122"/>
              </a:rPr>
              <a:t>获得会话秘钥，如果重放</a:t>
            </a:r>
            <a:r>
              <a:rPr lang="en-US" altLang="zh-CN" sz="1800" dirty="0">
                <a:solidFill>
                  <a:srgbClr val="FF0000"/>
                </a:solidFill>
                <a:ea typeface="宋体" panose="02010600030101010101" pitchFamily="2" charset="-122"/>
              </a:rPr>
              <a:t>5</a:t>
            </a:r>
            <a:r>
              <a:rPr lang="zh-CN" altLang="en-US" sz="1800" dirty="0">
                <a:solidFill>
                  <a:srgbClr val="FF0000"/>
                </a:solidFill>
                <a:ea typeface="宋体" panose="02010600030101010101" pitchFamily="2" charset="-122"/>
              </a:rPr>
              <a:t>时</a:t>
            </a:r>
            <a:r>
              <a:rPr lang="en-US" altLang="zh-CN" sz="1800" dirty="0">
                <a:solidFill>
                  <a:srgbClr val="FF0000"/>
                </a:solidFill>
                <a:ea typeface="宋体" panose="02010600030101010101" pitchFamily="2" charset="-122"/>
              </a:rPr>
              <a:t>B</a:t>
            </a:r>
            <a:r>
              <a:rPr lang="zh-CN" altLang="en-US" sz="1800" dirty="0">
                <a:solidFill>
                  <a:srgbClr val="FF0000"/>
                </a:solidFill>
                <a:ea typeface="宋体" panose="02010600030101010101" pitchFamily="2" charset="-122"/>
              </a:rPr>
              <a:t>可通过</a:t>
            </a:r>
            <a:r>
              <a:rPr lang="en-US" altLang="zh-CN" sz="1800" dirty="0">
                <a:ea typeface="宋体" panose="02010600030101010101" pitchFamily="2" charset="-122"/>
              </a:rPr>
              <a:t>R</a:t>
            </a:r>
            <a:r>
              <a:rPr lang="en-US" altLang="zh-CN" sz="1800" baseline="-25000" dirty="0">
                <a:ea typeface="宋体" panose="02010600030101010101" pitchFamily="2" charset="-122"/>
              </a:rPr>
              <a:t>B1</a:t>
            </a:r>
            <a:r>
              <a:rPr lang="zh-CN" altLang="en-US" sz="1800" dirty="0">
                <a:solidFill>
                  <a:srgbClr val="FF0000"/>
                </a:solidFill>
                <a:ea typeface="宋体" panose="02010600030101010101" pitchFamily="2" charset="-122"/>
              </a:rPr>
              <a:t>知道是旧票据</a:t>
            </a:r>
            <a:r>
              <a:rPr lang="en-US" altLang="zh-CN" sz="1800" dirty="0">
                <a:solidFill>
                  <a:srgbClr val="FF0000"/>
                </a:solidFill>
                <a:ea typeface="宋体" panose="02010600030101010101" pitchFamily="2" charset="-122"/>
              </a:rPr>
              <a:t>.</a:t>
            </a:r>
            <a:endParaRPr lang="en-US" altLang="zh-CN" sz="1800" dirty="0">
              <a:solidFill>
                <a:srgbClr val="FF0000"/>
              </a:solidFill>
              <a:ea typeface="宋体" panose="02010600030101010101" pitchFamily="2" charset="-122"/>
            </a:endParaRPr>
          </a:p>
        </p:txBody>
      </p:sp>
      <p:pic>
        <p:nvPicPr>
          <p:cNvPr id="98309" name="Picture 4" descr="09-18"/>
          <p:cNvPicPr>
            <a:picLocks noChangeAspect="1"/>
          </p:cNvPicPr>
          <p:nvPr/>
        </p:nvPicPr>
        <p:blipFill>
          <a:blip r:embed="rId1"/>
          <a:stretch>
            <a:fillRect/>
          </a:stretch>
        </p:blipFill>
        <p:spPr>
          <a:xfrm>
            <a:off x="635000" y="1658938"/>
            <a:ext cx="7808913" cy="4143375"/>
          </a:xfrm>
          <a:prstGeom prst="rect">
            <a:avLst/>
          </a:prstGeom>
          <a:noFill/>
          <a:ln w="9525">
            <a:noFill/>
          </a:ln>
        </p:spPr>
      </p:pic>
      <p:sp>
        <p:nvSpPr>
          <p:cNvPr id="6" name="矩形 5"/>
          <p:cNvSpPr/>
          <p:nvPr/>
        </p:nvSpPr>
        <p:spPr>
          <a:xfrm>
            <a:off x="736600" y="1287463"/>
            <a:ext cx="5702300" cy="338138"/>
          </a:xfrm>
          <a:prstGeom prst="rect">
            <a:avLst/>
          </a:prstGeom>
        </p:spPr>
        <p:txBody>
          <a:bodyPr>
            <a:spAutoFit/>
          </a:bodyPr>
          <a:lstStyle/>
          <a:p>
            <a:pPr marL="609600" marR="0" lvl="0" indent="-609600" algn="ctr" defTabSz="914400" rtl="0" eaLnBrk="1" fontAlgn="base" latinLnBrk="0" hangingPunct="1">
              <a:lnSpc>
                <a:spcPct val="80000"/>
              </a:lnSpc>
              <a:spcBef>
                <a:spcPct val="20000"/>
              </a:spcBef>
              <a:spcAft>
                <a:spcPct val="0"/>
              </a:spcAft>
              <a:buClr>
                <a:srgbClr val="3333CC"/>
              </a:buClr>
              <a:buSzTx/>
              <a:buFontTx/>
              <a:buNone/>
              <a:defRPr/>
            </a:pPr>
            <a:r>
              <a:rPr kumimoji="0" lang="zh-CN" altLang="en-US"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mn-cs"/>
              </a:rPr>
              <a:t>解决方案：将消息联系起来，</a:t>
            </a:r>
            <a:r>
              <a:rPr kumimoji="0" lang="en-US" altLang="zh-CN"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mn-cs"/>
              </a:rPr>
              <a:t>R</a:t>
            </a:r>
            <a:r>
              <a:rPr kumimoji="0" lang="en-US" altLang="zh-CN" sz="2000" b="0" i="0" u="none" strike="noStrike" kern="0" cap="none" spc="0" normalizeH="0" baseline="-25000" noProof="0" dirty="0">
                <a:ln>
                  <a:noFill/>
                </a:ln>
                <a:solidFill>
                  <a:schemeClr val="tx1"/>
                </a:solidFill>
                <a:effectLst/>
                <a:uLnTx/>
                <a:uFillTx/>
                <a:latin typeface="Arial" panose="020B0604020202020204"/>
                <a:ea typeface="宋体" panose="02010600030101010101" pitchFamily="2" charset="-122"/>
                <a:cs typeface="+mn-cs"/>
              </a:rPr>
              <a:t>B1</a:t>
            </a:r>
            <a:r>
              <a:rPr kumimoji="0" lang="zh-CN" altLang="en-US"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mn-cs"/>
              </a:rPr>
              <a:t>和</a:t>
            </a:r>
            <a:r>
              <a:rPr kumimoji="0" lang="en-US" altLang="zh-CN"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mn-cs"/>
              </a:rPr>
              <a:t>R</a:t>
            </a:r>
            <a:r>
              <a:rPr kumimoji="0" lang="en-US" altLang="zh-CN" sz="2000" b="0" i="0" u="none" strike="noStrike" kern="0" cap="none" spc="0" normalizeH="0" baseline="-25000" noProof="0" dirty="0">
                <a:ln>
                  <a:noFill/>
                </a:ln>
                <a:solidFill>
                  <a:schemeClr val="tx1"/>
                </a:solidFill>
                <a:effectLst/>
                <a:uLnTx/>
                <a:uFillTx/>
                <a:latin typeface="Arial" panose="020B0604020202020204"/>
                <a:ea typeface="宋体" panose="02010600030101010101" pitchFamily="2" charset="-122"/>
                <a:cs typeface="+mn-cs"/>
              </a:rPr>
              <a:t>A1</a:t>
            </a:r>
            <a:r>
              <a:rPr kumimoji="0" lang="en-US" altLang="zh-CN"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mn-cs"/>
              </a:rPr>
              <a:t>,R</a:t>
            </a:r>
            <a:r>
              <a:rPr kumimoji="0" lang="en-US" altLang="zh-CN" sz="2000" b="0" i="0" u="none" strike="noStrike" kern="0" cap="none" spc="0" normalizeH="0" baseline="-25000" noProof="0" dirty="0">
                <a:ln>
                  <a:noFill/>
                </a:ln>
                <a:solidFill>
                  <a:schemeClr val="tx1"/>
                </a:solidFill>
                <a:effectLst/>
                <a:uLnTx/>
                <a:uFillTx/>
                <a:latin typeface="Arial" panose="020B0604020202020204"/>
                <a:ea typeface="宋体" panose="02010600030101010101" pitchFamily="2" charset="-122"/>
                <a:cs typeface="+mn-cs"/>
              </a:rPr>
              <a:t>A2</a:t>
            </a:r>
            <a:r>
              <a:rPr kumimoji="0" lang="zh-CN" altLang="en-US"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mn-cs"/>
              </a:rPr>
              <a:t>和</a:t>
            </a:r>
            <a:r>
              <a:rPr kumimoji="0" lang="en-US" altLang="zh-CN" sz="20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cs typeface="+mn-cs"/>
              </a:rPr>
              <a:t>R</a:t>
            </a:r>
            <a:r>
              <a:rPr kumimoji="0" lang="en-US" altLang="zh-CN" sz="2000" b="0" i="0" u="none" strike="noStrike" kern="0" cap="none" spc="0" normalizeH="0" baseline="-25000" noProof="0" dirty="0">
                <a:ln>
                  <a:noFill/>
                </a:ln>
                <a:solidFill>
                  <a:schemeClr val="tx1"/>
                </a:solidFill>
                <a:effectLst/>
                <a:uLnTx/>
                <a:uFillTx/>
                <a:latin typeface="Arial" panose="020B0604020202020204"/>
                <a:ea typeface="宋体" panose="02010600030101010101" pitchFamily="2" charset="-122"/>
                <a:cs typeface="+mn-cs"/>
              </a:rPr>
              <a:t>B2</a:t>
            </a:r>
            <a:endParaRPr kumimoji="0" lang="en-US" altLang="zh-CN" sz="2000" b="0" i="0" u="none" strike="noStrike" kern="0" cap="none" spc="0" normalizeH="0" baseline="-25000" noProof="0" dirty="0">
              <a:ln>
                <a:noFill/>
              </a:ln>
              <a:solidFill>
                <a:schemeClr val="tx1"/>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pic>
        <p:nvPicPr>
          <p:cNvPr id="100355" name="Picture 4" descr="09-19"/>
          <p:cNvPicPr>
            <a:picLocks noChangeAspect="1"/>
          </p:cNvPicPr>
          <p:nvPr/>
        </p:nvPicPr>
        <p:blipFill>
          <a:blip r:embed="rId1"/>
          <a:stretch>
            <a:fillRect/>
          </a:stretch>
        </p:blipFill>
        <p:spPr>
          <a:xfrm>
            <a:off x="1028700" y="1968500"/>
            <a:ext cx="7099300" cy="2955925"/>
          </a:xfrm>
          <a:prstGeom prst="rect">
            <a:avLst/>
          </a:prstGeom>
          <a:noFill/>
          <a:ln w="9525">
            <a:noFill/>
          </a:ln>
        </p:spPr>
      </p:pic>
      <p:sp>
        <p:nvSpPr>
          <p:cNvPr id="100356"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Authentication Using a </a:t>
            </a:r>
            <a:br>
              <a:rPr lang="en-US" altLang="zh-CN" sz="4000" dirty="0">
                <a:ea typeface="宋体" panose="02010600030101010101" pitchFamily="2" charset="-122"/>
              </a:rPr>
            </a:br>
            <a:r>
              <a:rPr lang="en-US" altLang="zh-CN" sz="4000" dirty="0">
                <a:ea typeface="宋体" panose="02010600030101010101" pitchFamily="2" charset="-122"/>
              </a:rPr>
              <a:t> a public-key cryptosystem</a:t>
            </a:r>
            <a:endParaRPr lang="en-US" altLang="zh-CN" sz="4000" dirty="0">
              <a:ea typeface="宋体" panose="02010600030101010101" pitchFamily="2" charset="-122"/>
            </a:endParaRPr>
          </a:p>
        </p:txBody>
      </p:sp>
      <p:sp>
        <p:nvSpPr>
          <p:cNvPr id="100357" name="Rectangle 3"/>
          <p:cNvSpPr>
            <a:spLocks noGrp="1"/>
          </p:cNvSpPr>
          <p:nvPr>
            <p:ph idx="1"/>
          </p:nvPr>
        </p:nvSpPr>
        <p:spPr>
          <a:xfrm>
            <a:off x="0" y="5918200"/>
            <a:ext cx="9144000" cy="635000"/>
          </a:xfrm>
        </p:spPr>
        <p:txBody>
          <a:bodyPr vert="horz" wrap="square" lIns="91440" tIns="45720" rIns="91440" bIns="45720" anchor="t" anchorCtr="0"/>
          <a:lstStyle/>
          <a:p>
            <a:pPr eaLnBrk="1" hangingPunct="1">
              <a:lnSpc>
                <a:spcPct val="90000"/>
              </a:lnSpc>
              <a:buNone/>
            </a:pPr>
            <a:r>
              <a:rPr lang="en-US" altLang="zh-CN" dirty="0">
                <a:ea typeface="宋体" panose="02010600030101010101" pitchFamily="2" charset="-122"/>
              </a:rPr>
              <a:t>Figure. Mutual authentication in a public-key cryptosystem</a:t>
            </a:r>
            <a:endParaRPr lang="en-US" altLang="zh-CN" dirty="0">
              <a:ea typeface="宋体" panose="02010600030101010101" pitchFamily="2" charset="-122"/>
            </a:endParaRPr>
          </a:p>
        </p:txBody>
      </p:sp>
      <p:sp>
        <p:nvSpPr>
          <p:cNvPr id="100358" name="Rectangle 5"/>
          <p:cNvSpPr/>
          <p:nvPr/>
        </p:nvSpPr>
        <p:spPr>
          <a:xfrm>
            <a:off x="7421563" y="2001838"/>
            <a:ext cx="1722437" cy="563562"/>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600" dirty="0">
                <a:solidFill>
                  <a:srgbClr val="FF3300"/>
                </a:solidFill>
                <a:ea typeface="宋体" panose="02010600030101010101" pitchFamily="2" charset="-122"/>
              </a:rPr>
              <a:t>只有</a:t>
            </a:r>
            <a:r>
              <a:rPr lang="en-US" altLang="zh-CN" sz="1600" dirty="0">
                <a:solidFill>
                  <a:srgbClr val="FF3300"/>
                </a:solidFill>
                <a:ea typeface="宋体" panose="02010600030101010101" pitchFamily="2" charset="-122"/>
              </a:rPr>
              <a:t>Bob</a:t>
            </a:r>
            <a:r>
              <a:rPr lang="zh-CN" altLang="en-US" sz="1600" dirty="0">
                <a:solidFill>
                  <a:srgbClr val="FF3300"/>
                </a:solidFill>
                <a:ea typeface="宋体" panose="02010600030101010101" pitchFamily="2" charset="-122"/>
              </a:rPr>
              <a:t>可解密</a:t>
            </a:r>
            <a:endParaRPr lang="en-US" altLang="zh-CN" sz="1600" dirty="0">
              <a:solidFill>
                <a:srgbClr val="FF3300"/>
              </a:solidFill>
              <a:ea typeface="宋体" panose="02010600030101010101" pitchFamily="2" charset="-122"/>
            </a:endParaRPr>
          </a:p>
          <a:p>
            <a:pPr marL="609600" lvl="0" indent="-609600" eaLnBrk="1" hangingPunct="1">
              <a:buNone/>
            </a:pPr>
            <a:r>
              <a:rPr lang="zh-CN" altLang="en-US" sz="1600" dirty="0">
                <a:solidFill>
                  <a:srgbClr val="FF3300"/>
                </a:solidFill>
                <a:ea typeface="宋体" panose="02010600030101010101" pitchFamily="2" charset="-122"/>
              </a:rPr>
              <a:t>请求确认</a:t>
            </a:r>
            <a:endParaRPr lang="zh-CN" altLang="en-US" sz="1600" dirty="0">
              <a:solidFill>
                <a:srgbClr val="FF3300"/>
              </a:solidFill>
              <a:ea typeface="宋体" panose="02010600030101010101" pitchFamily="2" charset="-122"/>
            </a:endParaRPr>
          </a:p>
        </p:txBody>
      </p:sp>
      <p:sp>
        <p:nvSpPr>
          <p:cNvPr id="100359" name="Rectangle 6"/>
          <p:cNvSpPr/>
          <p:nvPr/>
        </p:nvSpPr>
        <p:spPr>
          <a:xfrm>
            <a:off x="-152400" y="2865438"/>
            <a:ext cx="1722438" cy="715962"/>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600" dirty="0">
                <a:solidFill>
                  <a:srgbClr val="FF3300"/>
                </a:solidFill>
                <a:ea typeface="宋体" panose="02010600030101010101" pitchFamily="2" charset="-122"/>
              </a:rPr>
              <a:t>只有</a:t>
            </a:r>
            <a:r>
              <a:rPr lang="en-US" altLang="zh-CN" sz="1600" dirty="0">
                <a:solidFill>
                  <a:srgbClr val="FF3300"/>
                </a:solidFill>
                <a:ea typeface="宋体" panose="02010600030101010101" pitchFamily="2" charset="-122"/>
              </a:rPr>
              <a:t>Alice</a:t>
            </a:r>
            <a:r>
              <a:rPr lang="zh-CN" altLang="en-US" sz="1600" dirty="0">
                <a:solidFill>
                  <a:srgbClr val="FF3300"/>
                </a:solidFill>
                <a:ea typeface="宋体" panose="02010600030101010101" pitchFamily="2" charset="-122"/>
              </a:rPr>
              <a:t>可解密</a:t>
            </a:r>
            <a:endParaRPr lang="en-US" altLang="zh-CN" sz="1600" dirty="0">
              <a:solidFill>
                <a:srgbClr val="FF3300"/>
              </a:solidFill>
              <a:ea typeface="宋体" panose="02010600030101010101" pitchFamily="2" charset="-122"/>
            </a:endParaRPr>
          </a:p>
          <a:p>
            <a:pPr marL="609600" lvl="0" indent="-609600" eaLnBrk="1" hangingPunct="1">
              <a:buNone/>
            </a:pPr>
            <a:r>
              <a:rPr lang="zh-CN" altLang="en-US" sz="1600" dirty="0">
                <a:solidFill>
                  <a:srgbClr val="FF3300"/>
                </a:solidFill>
                <a:ea typeface="宋体" panose="02010600030101010101" pitchFamily="2" charset="-122"/>
              </a:rPr>
              <a:t>确认了</a:t>
            </a:r>
            <a:r>
              <a:rPr lang="en-US" altLang="zh-CN" sz="1600" dirty="0">
                <a:solidFill>
                  <a:srgbClr val="FF3300"/>
                </a:solidFill>
                <a:ea typeface="宋体" panose="02010600030101010101" pitchFamily="2" charset="-122"/>
              </a:rPr>
              <a:t>Bob</a:t>
            </a:r>
            <a:endParaRPr lang="en-US" altLang="zh-CN" sz="1600" dirty="0">
              <a:solidFill>
                <a:srgbClr val="FF3300"/>
              </a:solidFill>
              <a:ea typeface="宋体" panose="02010600030101010101" pitchFamily="2" charset="-122"/>
            </a:endParaRPr>
          </a:p>
        </p:txBody>
      </p:sp>
      <p:sp>
        <p:nvSpPr>
          <p:cNvPr id="100360" name="Rectangle 6"/>
          <p:cNvSpPr/>
          <p:nvPr/>
        </p:nvSpPr>
        <p:spPr>
          <a:xfrm>
            <a:off x="5080000" y="4897438"/>
            <a:ext cx="2641600" cy="360362"/>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en-US" altLang="zh-CN" sz="1600" dirty="0">
                <a:solidFill>
                  <a:srgbClr val="FF3300"/>
                </a:solidFill>
                <a:ea typeface="宋体" panose="02010600030101010101" pitchFamily="2" charset="-122"/>
              </a:rPr>
              <a:t>K</a:t>
            </a:r>
            <a:r>
              <a:rPr lang="en-US" altLang="zh-CN" sz="1600" baseline="-25000" dirty="0">
                <a:solidFill>
                  <a:srgbClr val="FF3300"/>
                </a:solidFill>
                <a:ea typeface="宋体" panose="02010600030101010101" pitchFamily="2" charset="-122"/>
              </a:rPr>
              <a:t>A,B</a:t>
            </a:r>
            <a:r>
              <a:rPr lang="zh-CN" altLang="en-US" sz="1600" dirty="0">
                <a:solidFill>
                  <a:srgbClr val="FF3300"/>
                </a:solidFill>
                <a:ea typeface="宋体" panose="02010600030101010101" pitchFamily="2" charset="-122"/>
              </a:rPr>
              <a:t>唯一性</a:t>
            </a:r>
            <a:r>
              <a:rPr lang="en-US" altLang="zh-CN" sz="1600" dirty="0">
                <a:solidFill>
                  <a:srgbClr val="FF3300"/>
                </a:solidFill>
                <a:ea typeface="宋体" panose="02010600030101010101" pitchFamily="2" charset="-122"/>
              </a:rPr>
              <a:t>,</a:t>
            </a:r>
            <a:r>
              <a:rPr lang="zh-CN" altLang="en-US" sz="1600" dirty="0">
                <a:solidFill>
                  <a:srgbClr val="FF3300"/>
                </a:solidFill>
                <a:ea typeface="宋体" panose="02010600030101010101" pitchFamily="2" charset="-122"/>
              </a:rPr>
              <a:t>确认了</a:t>
            </a:r>
            <a:r>
              <a:rPr lang="en-US" altLang="zh-CN" sz="1600" dirty="0">
                <a:solidFill>
                  <a:srgbClr val="FF3300"/>
                </a:solidFill>
                <a:ea typeface="宋体" panose="02010600030101010101" pitchFamily="2" charset="-122"/>
              </a:rPr>
              <a:t>Alice</a:t>
            </a:r>
            <a:endParaRPr lang="en-US" altLang="zh-CN" sz="1600" dirty="0">
              <a:solidFill>
                <a:srgbClr val="FF3300"/>
              </a:solidFill>
              <a:ea typeface="宋体" panose="02010600030101010101" pitchFamily="2" charset="-122"/>
            </a:endParaRPr>
          </a:p>
        </p:txBody>
      </p:sp>
      <p:cxnSp>
        <p:nvCxnSpPr>
          <p:cNvPr id="100361" name="直接箭头连接符 9"/>
          <p:cNvCxnSpPr/>
          <p:nvPr/>
        </p:nvCxnSpPr>
        <p:spPr>
          <a:xfrm rot="-10800000" flipV="1">
            <a:off x="3962400" y="2590800"/>
            <a:ext cx="838200" cy="609600"/>
          </a:xfrm>
          <a:prstGeom prst="straightConnector1">
            <a:avLst/>
          </a:prstGeom>
          <a:ln w="12700" cap="flat" cmpd="sng">
            <a:solidFill>
              <a:srgbClr val="FF0000"/>
            </a:solidFill>
            <a:prstDash val="solid"/>
            <a:headEnd type="none" w="med" len="med"/>
            <a:tailEnd type="arrow" w="med" len="med"/>
          </a:ln>
        </p:spPr>
      </p:cxnSp>
      <p:cxnSp>
        <p:nvCxnSpPr>
          <p:cNvPr id="100362" name="直接箭头连接符 12"/>
          <p:cNvCxnSpPr/>
          <p:nvPr/>
        </p:nvCxnSpPr>
        <p:spPr>
          <a:xfrm rot="-5400000" flipH="1">
            <a:off x="4445000" y="3733800"/>
            <a:ext cx="508000" cy="381000"/>
          </a:xfrm>
          <a:prstGeom prst="straightConnector1">
            <a:avLst/>
          </a:prstGeom>
          <a:ln w="12700" cap="flat" cmpd="sng">
            <a:solidFill>
              <a:srgbClr val="FF0000"/>
            </a:solidFill>
            <a:prstDash val="solid"/>
            <a:headEnd type="none" w="med" len="med"/>
            <a:tailEnd type="arrow" w="med" len="med"/>
          </a:ln>
        </p:spPr>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02403" name="Rectangle 2"/>
          <p:cNvSpPr>
            <a:spLocks noGrp="1"/>
          </p:cNvSpPr>
          <p:nvPr>
            <p:ph idx="1"/>
          </p:nvPr>
        </p:nvSpPr>
        <p:spPr>
          <a:xfrm>
            <a:off x="263525" y="968375"/>
            <a:ext cx="8651875" cy="549592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数字签名</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用私钥加密</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公钥解密；</a:t>
            </a:r>
            <a:endParaRPr lang="zh-CN" altLang="en-US"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功能</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身份认证</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algn="l" eaLnBrk="1" hangingPunct="1">
              <a:lnSpc>
                <a:spcPct val="150000"/>
              </a:lnSpc>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完整性</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algn="l" eaLnBrk="1" hangingPunct="1">
              <a:lnSpc>
                <a:spcPct val="150000"/>
              </a:lnSpc>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不可抵赖</a:t>
            </a:r>
            <a:r>
              <a:rPr lang="en-US" altLang="zh-CN" b="1" dirty="0">
                <a:latin typeface="宋体" panose="02010600030101010101" pitchFamily="2" charset="-122"/>
                <a:ea typeface="宋体" panose="02010600030101010101" pitchFamily="2" charset="-122"/>
              </a:rPr>
              <a:t>; </a:t>
            </a:r>
            <a:endParaRPr lang="en-US" altLang="zh-CN"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特殊性：</a:t>
            </a:r>
            <a:r>
              <a:rPr lang="zh-CN" altLang="en-US" b="1" dirty="0">
                <a:solidFill>
                  <a:srgbClr val="FF0000"/>
                </a:solidFill>
                <a:latin typeface="宋体" panose="02010600030101010101" pitchFamily="2" charset="-122"/>
                <a:ea typeface="宋体" panose="02010600030101010101" pitchFamily="2" charset="-122"/>
              </a:rPr>
              <a:t>随文本的变化而变化，与文本信息不可分割。</a:t>
            </a:r>
            <a:endParaRPr lang="en-US" altLang="zh-CN" b="1" dirty="0">
              <a:solidFill>
                <a:srgbClr val="FF0000"/>
              </a:solidFill>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完善的数字签名应具备签字方不能抵赖、他人不能伪造、在公证人面前能够验证真伪的能力。</a:t>
            </a:r>
            <a:r>
              <a:rPr lang="zh-CN" altLang="en-US" b="1" dirty="0">
                <a:ea typeface="宋体" panose="02010600030101010101" pitchFamily="2" charset="-122"/>
              </a:rPr>
              <a:t> </a:t>
            </a:r>
            <a:endParaRPr lang="zh-CN" altLang="en-US" b="1" dirty="0">
              <a:latin typeface="宋体" panose="02010600030101010101" pitchFamily="2" charset="-122"/>
              <a:ea typeface="宋体" panose="02010600030101010101" pitchFamily="2" charset="-122"/>
            </a:endParaRPr>
          </a:p>
        </p:txBody>
      </p:sp>
      <p:sp>
        <p:nvSpPr>
          <p:cNvPr id="102404" name="Rectangle 3"/>
          <p:cNvSpPr>
            <a:spLocks noGrp="1"/>
          </p:cNvSpPr>
          <p:nvPr>
            <p:ph type="title"/>
          </p:nvPr>
        </p:nvSpPr>
        <p:spPr>
          <a:xfrm>
            <a:off x="1784350" y="128588"/>
            <a:ext cx="5610225" cy="706437"/>
          </a:xfrm>
        </p:spPr>
        <p:txBody>
          <a:bodyPr vert="horz" wrap="square" lIns="91440" tIns="45720" rIns="91440" bIns="45720" anchor="ctr" anchorCtr="0"/>
          <a:lstStyle/>
          <a:p>
            <a:pPr eaLnBrk="1" hangingPunct="1"/>
            <a:r>
              <a:rPr lang="en-US" altLang="zh-CN" dirty="0">
                <a:ea typeface="宋体" panose="02010600030101010101" pitchFamily="2" charset="-122"/>
              </a:rPr>
              <a:t>Digital Signatures</a:t>
            </a:r>
            <a:endParaRPr lang="zh-CN" altLang="en-US" dirty="0">
              <a:solidFill>
                <a:srgbClr val="333399"/>
              </a:solidFill>
              <a:latin typeface="隶书" panose="02010509060101010101" pitchFamily="49" charset="-122"/>
              <a:ea typeface="隶书" panose="020105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页脚占位符 4"/>
          <p:cNvSpPr txBox="1">
            <a:spLocks noGrp="1"/>
          </p:cNvSpPr>
          <p:nvPr>
            <p:ph type="ftr" sz="quarter" idx="11"/>
          </p:nvPr>
        </p:nvSpPr>
        <p:spPr>
          <a:xfrm>
            <a:off x="0" y="6464300"/>
            <a:ext cx="9144000" cy="307975"/>
          </a:xfrm>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04451"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Digital Signatures</a:t>
            </a:r>
            <a:endParaRPr lang="en-US" altLang="zh-CN" dirty="0">
              <a:ea typeface="宋体" panose="02010600030101010101" pitchFamily="2" charset="-122"/>
            </a:endParaRPr>
          </a:p>
        </p:txBody>
      </p:sp>
      <p:sp>
        <p:nvSpPr>
          <p:cNvPr id="104452" name="Rectangle 3"/>
          <p:cNvSpPr>
            <a:spLocks noGrp="1"/>
          </p:cNvSpPr>
          <p:nvPr>
            <p:ph idx="1"/>
          </p:nvPr>
        </p:nvSpPr>
        <p:spPr>
          <a:xfrm>
            <a:off x="177800" y="5122863"/>
            <a:ext cx="8797925" cy="920750"/>
          </a:xfrm>
        </p:spPr>
        <p:txBody>
          <a:bodyPr vert="horz" wrap="square" lIns="91440" tIns="45720" rIns="91440" bIns="45720" anchor="t" anchorCtr="0"/>
          <a:lstStyle/>
          <a:p>
            <a:pPr eaLnBrk="1" hangingPunct="1">
              <a:lnSpc>
                <a:spcPct val="80000"/>
              </a:lnSpc>
              <a:buNone/>
            </a:pPr>
            <a:r>
              <a:rPr lang="en-US" altLang="zh-CN" sz="2000" dirty="0">
                <a:ea typeface="宋体" panose="02010600030101010101" pitchFamily="2" charset="-122"/>
              </a:rPr>
              <a:t>Figure. Digital signing a message using public-key cryptography.</a:t>
            </a:r>
            <a:endParaRPr lang="en-US" altLang="zh-CN" sz="2000" dirty="0">
              <a:ea typeface="宋体" panose="02010600030101010101" pitchFamily="2" charset="-122"/>
            </a:endParaRPr>
          </a:p>
          <a:p>
            <a:pPr eaLnBrk="1" hangingPunct="1">
              <a:lnSpc>
                <a:spcPct val="80000"/>
              </a:lnSpc>
              <a:buNone/>
            </a:pPr>
            <a:endParaRPr lang="en-US" altLang="zh-CN" sz="2000" dirty="0">
              <a:solidFill>
                <a:srgbClr val="FF0000"/>
              </a:solidFill>
              <a:ea typeface="宋体" panose="02010600030101010101" pitchFamily="2" charset="-122"/>
            </a:endParaRPr>
          </a:p>
          <a:p>
            <a:pPr eaLnBrk="1" hangingPunct="1">
              <a:lnSpc>
                <a:spcPct val="80000"/>
              </a:lnSpc>
              <a:buNone/>
            </a:pPr>
            <a:r>
              <a:rPr lang="zh-CN" altLang="en-US" sz="2000" b="1" dirty="0">
                <a:solidFill>
                  <a:srgbClr val="FF0000"/>
                </a:solidFill>
                <a:ea typeface="宋体" panose="02010600030101010101" pitchFamily="2" charset="-122"/>
              </a:rPr>
              <a:t>问题</a:t>
            </a:r>
            <a:r>
              <a:rPr lang="en-US" altLang="zh-CN" sz="2000" b="1" dirty="0">
                <a:solidFill>
                  <a:srgbClr val="FF0000"/>
                </a:solidFill>
                <a:ea typeface="宋体" panose="02010600030101010101" pitchFamily="2" charset="-122"/>
              </a:rPr>
              <a:t>:  Alice</a:t>
            </a:r>
            <a:r>
              <a:rPr lang="zh-CN" altLang="en-US" sz="2000" b="1" dirty="0">
                <a:solidFill>
                  <a:srgbClr val="FF0000"/>
                </a:solidFill>
                <a:ea typeface="宋体" panose="02010600030101010101" pitchFamily="2" charset="-122"/>
              </a:rPr>
              <a:t>对整个消息签名，处理开销大，可改为对“消息摘要”签名</a:t>
            </a:r>
            <a:r>
              <a:rPr lang="en-US" altLang="zh-CN" sz="2000" b="1" dirty="0">
                <a:solidFill>
                  <a:srgbClr val="FF0000"/>
                </a:solidFill>
                <a:ea typeface="宋体" panose="02010600030101010101" pitchFamily="2" charset="-122"/>
              </a:rPr>
              <a:t>.</a:t>
            </a:r>
            <a:endParaRPr lang="en-US" altLang="zh-CN" sz="2000" b="1" dirty="0">
              <a:solidFill>
                <a:srgbClr val="FF0000"/>
              </a:solidFill>
              <a:ea typeface="宋体" panose="02010600030101010101" pitchFamily="2" charset="-122"/>
            </a:endParaRPr>
          </a:p>
          <a:p>
            <a:pPr eaLnBrk="1" hangingPunct="1">
              <a:lnSpc>
                <a:spcPct val="80000"/>
              </a:lnSpc>
              <a:buNone/>
            </a:pPr>
            <a:endParaRPr lang="zh-CN" altLang="en-US" sz="2000" dirty="0">
              <a:solidFill>
                <a:srgbClr val="FF3300"/>
              </a:solidFill>
              <a:ea typeface="宋体" panose="02010600030101010101" pitchFamily="2" charset="-122"/>
            </a:endParaRPr>
          </a:p>
        </p:txBody>
      </p:sp>
      <p:pic>
        <p:nvPicPr>
          <p:cNvPr id="104453" name="Picture 4" descr="09-20"/>
          <p:cNvPicPr>
            <a:picLocks noChangeAspect="1"/>
          </p:cNvPicPr>
          <p:nvPr/>
        </p:nvPicPr>
        <p:blipFill>
          <a:blip r:embed="rId1"/>
          <a:stretch>
            <a:fillRect/>
          </a:stretch>
        </p:blipFill>
        <p:spPr>
          <a:xfrm>
            <a:off x="123825" y="2014538"/>
            <a:ext cx="8893175" cy="2571750"/>
          </a:xfrm>
          <a:prstGeom prst="rect">
            <a:avLst/>
          </a:prstGeom>
          <a:noFill/>
          <a:ln w="9525">
            <a:noFill/>
          </a:ln>
        </p:spPr>
      </p:pic>
      <p:sp>
        <p:nvSpPr>
          <p:cNvPr id="104454" name="矩形 5"/>
          <p:cNvSpPr/>
          <p:nvPr/>
        </p:nvSpPr>
        <p:spPr>
          <a:xfrm>
            <a:off x="215900" y="1133475"/>
            <a:ext cx="4013200" cy="554038"/>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0"/>
              </a:spcBef>
              <a:buClrTx/>
              <a:buNone/>
            </a:pPr>
            <a:r>
              <a:rPr lang="zh-CN" altLang="en-US" sz="2000" b="1" dirty="0">
                <a:latin typeface="Times New Roman" panose="02020603050405020304" pitchFamily="18" charset="0"/>
                <a:ea typeface="宋体" panose="02010600030101010101" pitchFamily="2" charset="-122"/>
              </a:rPr>
              <a:t>先签名，再用会话密钥加密传输</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06499" name="Rectangle 2"/>
          <p:cNvSpPr>
            <a:spLocks noGrp="1"/>
          </p:cNvSpPr>
          <p:nvPr>
            <p:ph type="title"/>
          </p:nvPr>
        </p:nvSpPr>
        <p:spPr>
          <a:xfrm>
            <a:off x="0" y="0"/>
            <a:ext cx="9144000" cy="876300"/>
          </a:xfrm>
        </p:spPr>
        <p:txBody>
          <a:bodyPr vert="horz" wrap="square" lIns="91440" tIns="45720" rIns="91440" bIns="45720" anchor="ctr" anchorCtr="0"/>
          <a:lstStyle/>
          <a:p>
            <a:pPr eaLnBrk="1" hangingPunct="1"/>
            <a:r>
              <a:rPr lang="en-US" altLang="zh-CN" dirty="0">
                <a:ea typeface="宋体" panose="02010600030101010101" pitchFamily="2" charset="-122"/>
              </a:rPr>
              <a:t>Digital Signatures (2)</a:t>
            </a:r>
            <a:endParaRPr lang="en-US" altLang="zh-CN" dirty="0">
              <a:ea typeface="宋体" panose="02010600030101010101" pitchFamily="2" charset="-122"/>
            </a:endParaRPr>
          </a:p>
        </p:txBody>
      </p:sp>
      <p:sp>
        <p:nvSpPr>
          <p:cNvPr id="106500" name="Rectangle 3"/>
          <p:cNvSpPr>
            <a:spLocks noGrp="1"/>
          </p:cNvSpPr>
          <p:nvPr>
            <p:ph idx="1"/>
          </p:nvPr>
        </p:nvSpPr>
        <p:spPr>
          <a:xfrm>
            <a:off x="190500" y="5715000"/>
            <a:ext cx="8763000" cy="876300"/>
          </a:xfrm>
        </p:spPr>
        <p:txBody>
          <a:bodyPr vert="horz" wrap="square" lIns="91440" tIns="45720" rIns="91440" bIns="45720" anchor="t" anchorCtr="0"/>
          <a:lstStyle/>
          <a:p>
            <a:pPr eaLnBrk="1" hangingPunct="1">
              <a:buNone/>
            </a:pPr>
            <a:r>
              <a:rPr lang="en-US" altLang="zh-CN" dirty="0">
                <a:ea typeface="宋体" panose="02010600030101010101" pitchFamily="2" charset="-122"/>
              </a:rPr>
              <a:t>Figure. Digitally signing a message using a message digest.</a:t>
            </a:r>
            <a:endParaRPr lang="en-US" altLang="zh-CN" dirty="0">
              <a:ea typeface="宋体" panose="02010600030101010101" pitchFamily="2" charset="-122"/>
            </a:endParaRPr>
          </a:p>
          <a:p>
            <a:pPr eaLnBrk="1" hangingPunct="1">
              <a:buNone/>
            </a:pPr>
            <a:r>
              <a:rPr lang="zh-CN" altLang="en-US" sz="2000" b="1" dirty="0">
                <a:solidFill>
                  <a:srgbClr val="FF0000"/>
                </a:solidFill>
                <a:ea typeface="宋体" panose="02010600030101010101" pitchFamily="2" charset="-122"/>
              </a:rPr>
              <a:t>对“消息摘要”签名，减少开销</a:t>
            </a:r>
            <a:r>
              <a:rPr lang="en-US" altLang="zh-CN" sz="2000" b="1" dirty="0">
                <a:solidFill>
                  <a:srgbClr val="FF0000"/>
                </a:solidFill>
                <a:ea typeface="宋体" panose="02010600030101010101" pitchFamily="2" charset="-122"/>
              </a:rPr>
              <a:t>.</a:t>
            </a:r>
            <a:endParaRPr lang="en-US" altLang="zh-CN" sz="2000" dirty="0">
              <a:solidFill>
                <a:srgbClr val="FF0000"/>
              </a:solidFill>
              <a:ea typeface="宋体" panose="02010600030101010101" pitchFamily="2" charset="-122"/>
            </a:endParaRPr>
          </a:p>
        </p:txBody>
      </p:sp>
      <p:pic>
        <p:nvPicPr>
          <p:cNvPr id="106501" name="Picture 4" descr="09-21"/>
          <p:cNvPicPr>
            <a:picLocks noChangeAspect="1"/>
          </p:cNvPicPr>
          <p:nvPr/>
        </p:nvPicPr>
        <p:blipFill>
          <a:blip r:embed="rId1"/>
          <a:stretch>
            <a:fillRect/>
          </a:stretch>
        </p:blipFill>
        <p:spPr>
          <a:xfrm>
            <a:off x="282575" y="2019300"/>
            <a:ext cx="8543925" cy="3429000"/>
          </a:xfrm>
          <a:prstGeom prst="rect">
            <a:avLst/>
          </a:prstGeom>
          <a:noFill/>
          <a:ln w="9525">
            <a:noFill/>
          </a:ln>
        </p:spPr>
      </p:pic>
      <p:sp>
        <p:nvSpPr>
          <p:cNvPr id="106502" name="Rectangle 5"/>
          <p:cNvSpPr/>
          <p:nvPr/>
        </p:nvSpPr>
        <p:spPr>
          <a:xfrm>
            <a:off x="0" y="933450"/>
            <a:ext cx="9144000" cy="1098550"/>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algn="l" eaLnBrk="1" hangingPunct="1">
              <a:lnSpc>
                <a:spcPct val="130000"/>
              </a:lnSpc>
              <a:buFont typeface="Wingdings" panose="05000000000000000000" pitchFamily="2" charset="2"/>
              <a:buChar char="u"/>
            </a:pPr>
            <a:r>
              <a:rPr lang="zh-CN" altLang="en-US" sz="2200" b="1" dirty="0">
                <a:ea typeface="宋体" panose="02010600030101010101" pitchFamily="2" charset="-122"/>
              </a:rPr>
              <a:t>消息摘要：对任意长度消息</a:t>
            </a:r>
            <a:r>
              <a:rPr lang="en-US" altLang="zh-CN" sz="2200" b="1" dirty="0">
                <a:ea typeface="宋体" panose="02010600030101010101" pitchFamily="2" charset="-122"/>
              </a:rPr>
              <a:t>m</a:t>
            </a:r>
            <a:r>
              <a:rPr lang="zh-CN" altLang="en-US" sz="2200" b="1" dirty="0">
                <a:ea typeface="宋体" panose="02010600030101010101" pitchFamily="2" charset="-122"/>
              </a:rPr>
              <a:t>，通过加密散列函数</a:t>
            </a:r>
            <a:r>
              <a:rPr lang="en-US" altLang="zh-CN" sz="2200" b="1" dirty="0">
                <a:ea typeface="宋体" panose="02010600030101010101" pitchFamily="2" charset="-122"/>
              </a:rPr>
              <a:t>H</a:t>
            </a:r>
            <a:r>
              <a:rPr lang="zh-CN" altLang="en-US" sz="2200" b="1" dirty="0">
                <a:ea typeface="宋体" panose="02010600030101010101" pitchFamily="2" charset="-122"/>
              </a:rPr>
              <a:t>计算出固定长度位串</a:t>
            </a:r>
            <a:r>
              <a:rPr lang="en-US" altLang="zh-CN" sz="2200" b="1" dirty="0">
                <a:ea typeface="宋体" panose="02010600030101010101" pitchFamily="2" charset="-122"/>
              </a:rPr>
              <a:t>h</a:t>
            </a:r>
            <a:r>
              <a:rPr lang="zh-CN" altLang="en-US" sz="2200" b="1" dirty="0">
                <a:ea typeface="宋体" panose="02010600030101010101" pitchFamily="2" charset="-122"/>
              </a:rPr>
              <a:t>。如果</a:t>
            </a:r>
            <a:r>
              <a:rPr lang="en-US" altLang="zh-CN" sz="2200" b="1" dirty="0">
                <a:ea typeface="宋体" panose="02010600030101010101" pitchFamily="2" charset="-122"/>
              </a:rPr>
              <a:t>m</a:t>
            </a:r>
            <a:r>
              <a:rPr lang="zh-CN" altLang="en-US" sz="2200" b="1" dirty="0">
                <a:ea typeface="宋体" panose="02010600030101010101" pitchFamily="2" charset="-122"/>
              </a:rPr>
              <a:t>变为</a:t>
            </a:r>
            <a:r>
              <a:rPr lang="en-US" altLang="zh-CN" sz="2200" b="1" dirty="0">
                <a:ea typeface="宋体" panose="02010600030101010101" pitchFamily="2" charset="-122"/>
              </a:rPr>
              <a:t>m’</a:t>
            </a:r>
            <a:r>
              <a:rPr lang="zh-CN" altLang="en-US" sz="2200" b="1" dirty="0">
                <a:ea typeface="宋体" panose="02010600030101010101" pitchFamily="2" charset="-122"/>
              </a:rPr>
              <a:t>，那么其散列</a:t>
            </a:r>
            <a:r>
              <a:rPr lang="en-US" altLang="zh-CN" sz="2200" b="1" dirty="0">
                <a:ea typeface="宋体" panose="02010600030101010101" pitchFamily="2" charset="-122"/>
              </a:rPr>
              <a:t>H(m’)</a:t>
            </a:r>
            <a:r>
              <a:rPr lang="zh-CN" altLang="en-US" sz="2200" b="1" dirty="0">
                <a:ea typeface="宋体" panose="02010600030101010101" pitchFamily="2" charset="-122"/>
              </a:rPr>
              <a:t>就会与</a:t>
            </a:r>
            <a:r>
              <a:rPr lang="en-US" altLang="zh-CN" sz="2200" b="1" dirty="0">
                <a:ea typeface="宋体" panose="02010600030101010101" pitchFamily="2" charset="-122"/>
              </a:rPr>
              <a:t>h=H(m)</a:t>
            </a:r>
            <a:r>
              <a:rPr lang="zh-CN" altLang="en-US" sz="2200" b="1" dirty="0">
                <a:ea typeface="宋体" panose="02010600030101010101" pitchFamily="2" charset="-122"/>
              </a:rPr>
              <a:t>不同</a:t>
            </a:r>
            <a:endParaRPr lang="en-US" altLang="zh-CN" sz="2200" b="1" dirty="0">
              <a:ea typeface="宋体" panose="02010600030101010101" pitchFamily="2" charset="-122"/>
            </a:endParaRPr>
          </a:p>
        </p:txBody>
      </p:sp>
      <p:sp>
        <p:nvSpPr>
          <p:cNvPr id="106503" name="Rectangle 6"/>
          <p:cNvSpPr/>
          <p:nvPr/>
        </p:nvSpPr>
        <p:spPr>
          <a:xfrm>
            <a:off x="6781800" y="2878138"/>
            <a:ext cx="1943100" cy="360362"/>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600" dirty="0">
                <a:solidFill>
                  <a:srgbClr val="FF3300"/>
                </a:solidFill>
                <a:ea typeface="宋体" panose="02010600030101010101" pitchFamily="2" charset="-122"/>
              </a:rPr>
              <a:t>仅签名</a:t>
            </a:r>
            <a:r>
              <a:rPr lang="en-US" altLang="zh-CN" sz="1600" dirty="0">
                <a:solidFill>
                  <a:srgbClr val="FF3300"/>
                </a:solidFill>
                <a:ea typeface="宋体" panose="02010600030101010101" pitchFamily="2" charset="-122"/>
              </a:rPr>
              <a:t>.</a:t>
            </a:r>
            <a:r>
              <a:rPr lang="zh-CN" altLang="en-US" sz="1600" dirty="0">
                <a:solidFill>
                  <a:srgbClr val="FF3300"/>
                </a:solidFill>
                <a:ea typeface="宋体" panose="02010600030101010101" pitchFamily="2" charset="-122"/>
              </a:rPr>
              <a:t>防止被篡改</a:t>
            </a:r>
            <a:endParaRPr lang="en-US" altLang="zh-CN" sz="1600" dirty="0">
              <a:solidFill>
                <a:srgbClr val="FF3300"/>
              </a:solidFill>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08547" name="Rectangle 4"/>
          <p:cNvSpPr/>
          <p:nvPr/>
        </p:nvSpPr>
        <p:spPr>
          <a:xfrm>
            <a:off x="0" y="0"/>
            <a:ext cx="9144000" cy="0"/>
          </a:xfrm>
          <a:prstGeom prst="rect">
            <a:avLst/>
          </a:prstGeom>
          <a:noFill/>
          <a:ln w="9525">
            <a:noFill/>
          </a:ln>
        </p:spPr>
        <p:txBody>
          <a:bodyPr wrap="none" anchor="ctr" anchorCtr="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108548" name="Rectangle 7"/>
          <p:cNvSpPr>
            <a:spLocks noGrp="1"/>
          </p:cNvSpPr>
          <p:nvPr>
            <p:ph type="title"/>
          </p:nvPr>
        </p:nvSpPr>
        <p:spPr>
          <a:xfrm>
            <a:off x="250825" y="58738"/>
            <a:ext cx="5934075" cy="706437"/>
          </a:xfrm>
        </p:spPr>
        <p:txBody>
          <a:bodyPr vert="horz" wrap="square" lIns="91440" tIns="45720" rIns="91440" bIns="45720" anchor="ctr" anchorCtr="0"/>
          <a:lstStyle/>
          <a:p>
            <a:pPr eaLnBrk="1" hangingPunct="1"/>
            <a:r>
              <a:rPr lang="en-US" altLang="zh-CN" dirty="0">
                <a:ea typeface="宋体" panose="02010600030101010101" pitchFamily="2" charset="-122"/>
              </a:rPr>
              <a:t>Digital Signatures </a:t>
            </a:r>
            <a:r>
              <a:rPr lang="zh-CN" altLang="en-US" dirty="0">
                <a:ea typeface="宋体" panose="02010600030101010101" pitchFamily="2" charset="-122"/>
              </a:rPr>
              <a:t>	 </a:t>
            </a:r>
            <a:endParaRPr lang="zh-CN" altLang="en-US" dirty="0">
              <a:ea typeface="宋体" panose="02010600030101010101" pitchFamily="2" charset="-122"/>
            </a:endParaRPr>
          </a:p>
        </p:txBody>
      </p:sp>
      <p:grpSp>
        <p:nvGrpSpPr>
          <p:cNvPr id="108549" name="组合 10"/>
          <p:cNvGrpSpPr/>
          <p:nvPr/>
        </p:nvGrpSpPr>
        <p:grpSpPr>
          <a:xfrm>
            <a:off x="114300" y="1003300"/>
            <a:ext cx="8928100" cy="5346700"/>
            <a:chOff x="114300" y="1003300"/>
            <a:chExt cx="8928100" cy="5346700"/>
          </a:xfrm>
        </p:grpSpPr>
        <p:grpSp>
          <p:nvGrpSpPr>
            <p:cNvPr id="108550" name="组合 6"/>
            <p:cNvGrpSpPr/>
            <p:nvPr/>
          </p:nvGrpSpPr>
          <p:grpSpPr>
            <a:xfrm>
              <a:off x="114300" y="1003300"/>
              <a:ext cx="8928100" cy="5346700"/>
              <a:chOff x="114300" y="1003300"/>
              <a:chExt cx="8928100" cy="5346700"/>
            </a:xfrm>
          </p:grpSpPr>
          <p:pic>
            <p:nvPicPr>
              <p:cNvPr id="108552" name="Picture 5"/>
              <p:cNvPicPr>
                <a:picLocks noChangeAspect="1"/>
              </p:cNvPicPr>
              <p:nvPr/>
            </p:nvPicPr>
            <p:blipFill>
              <a:blip r:embed="rId1"/>
              <a:stretch>
                <a:fillRect/>
              </a:stretch>
            </p:blipFill>
            <p:spPr>
              <a:xfrm>
                <a:off x="114300" y="1003300"/>
                <a:ext cx="8928100" cy="5321300"/>
              </a:xfrm>
              <a:prstGeom prst="rect">
                <a:avLst/>
              </a:prstGeom>
              <a:noFill/>
              <a:ln w="9525">
                <a:noFill/>
              </a:ln>
            </p:spPr>
          </p:pic>
          <p:sp>
            <p:nvSpPr>
              <p:cNvPr id="108553" name="Rectangle 8"/>
              <p:cNvSpPr/>
              <p:nvPr/>
            </p:nvSpPr>
            <p:spPr>
              <a:xfrm>
                <a:off x="2794000" y="5892800"/>
                <a:ext cx="1277938" cy="457200"/>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3200" dirty="0">
                  <a:solidFill>
                    <a:schemeClr val="bg1"/>
                  </a:solidFill>
                  <a:latin typeface="Times New Roman" panose="02020603050405020304" pitchFamily="18" charset="0"/>
                  <a:ea typeface="宋体" panose="02010600030101010101" pitchFamily="2" charset="-122"/>
                </a:endParaRPr>
              </a:p>
            </p:txBody>
          </p:sp>
        </p:grpSp>
        <p:sp>
          <p:nvSpPr>
            <p:cNvPr id="108551" name="TextBox 9"/>
            <p:cNvSpPr txBox="1"/>
            <p:nvPr/>
          </p:nvSpPr>
          <p:spPr>
            <a:xfrm>
              <a:off x="5270500" y="2006601"/>
              <a:ext cx="330200" cy="307777"/>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1400" b="1" dirty="0">
                  <a:latin typeface="Times New Roman" panose="02020603050405020304" pitchFamily="18" charset="0"/>
                  <a:ea typeface="宋体" panose="02010600030101010101" pitchFamily="2" charset="-122"/>
                </a:rPr>
                <a:t>解</a:t>
              </a:r>
              <a:endParaRPr lang="zh-CN" altLang="en-US" sz="1400" b="1"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33123" name="Rectangle 2"/>
          <p:cNvSpPr>
            <a:spLocks noGrp="1"/>
          </p:cNvSpPr>
          <p:nvPr>
            <p:ph type="title"/>
          </p:nvPr>
        </p:nvSpPr>
        <p:spPr>
          <a:xfrm>
            <a:off x="1416050" y="285750"/>
            <a:ext cx="6096000" cy="641350"/>
          </a:xfrm>
        </p:spPr>
        <p:txBody>
          <a:bodyPr vert="horz" wrap="square" lIns="91440" tIns="45720" rIns="91440" bIns="45720" anchor="ctr" anchorCtr="0"/>
          <a:lstStyle/>
          <a:p>
            <a:pPr eaLnBrk="1" hangingPunct="1"/>
            <a:r>
              <a:rPr lang="en-US" altLang="zh-CN" dirty="0">
                <a:ea typeface="宋体" panose="02010600030101010101" pitchFamily="2" charset="-122"/>
              </a:rPr>
              <a:t>Access Control</a:t>
            </a:r>
            <a:endParaRPr lang="zh-CN" altLang="en-US" dirty="0">
              <a:ea typeface="宋体" panose="02010600030101010101" pitchFamily="2" charset="-122"/>
            </a:endParaRPr>
          </a:p>
        </p:txBody>
      </p:sp>
      <p:sp>
        <p:nvSpPr>
          <p:cNvPr id="133124" name="Text Box 3"/>
          <p:cNvSpPr txBox="1"/>
          <p:nvPr/>
        </p:nvSpPr>
        <p:spPr>
          <a:xfrm>
            <a:off x="134938" y="927100"/>
            <a:ext cx="9009062" cy="5386388"/>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342900" lvl="0" indent="-342900" algn="l">
              <a:spcBef>
                <a:spcPct val="50000"/>
              </a:spcBef>
              <a:buClrTx/>
              <a:buFont typeface="Wingdings" panose="05000000000000000000" pitchFamily="2" charset="2"/>
              <a:buChar char="Ø"/>
            </a:pPr>
            <a:r>
              <a:rPr lang="en-US" altLang="zh-CN" sz="2000" b="1" dirty="0">
                <a:ea typeface="宋体" panose="02010600030101010101" pitchFamily="2" charset="-122"/>
              </a:rPr>
              <a:t>ISO</a:t>
            </a:r>
            <a:r>
              <a:rPr lang="zh-CN" altLang="en-US" sz="2000" b="1" dirty="0">
                <a:ea typeface="宋体" panose="02010600030101010101" pitchFamily="2" charset="-122"/>
              </a:rPr>
              <a:t>标准中，用访问控制（</a:t>
            </a:r>
            <a:r>
              <a:rPr lang="en-US" altLang="zh-CN" sz="2000" b="1" dirty="0">
                <a:ea typeface="宋体" panose="02010600030101010101" pitchFamily="2" charset="-122"/>
              </a:rPr>
              <a:t>Access Control</a:t>
            </a:r>
            <a:r>
              <a:rPr lang="zh-CN" altLang="en-US" sz="2000" b="1" dirty="0">
                <a:ea typeface="宋体" panose="02010600030101010101" pitchFamily="2" charset="-122"/>
              </a:rPr>
              <a:t>）与授权（</a:t>
            </a:r>
            <a:r>
              <a:rPr lang="en-US" altLang="zh-CN" sz="2000" b="1" dirty="0">
                <a:ea typeface="宋体" panose="02010600030101010101" pitchFamily="2" charset="-122"/>
              </a:rPr>
              <a:t>Authorization</a:t>
            </a:r>
            <a:r>
              <a:rPr lang="zh-CN" altLang="en-US" sz="2000" b="1" dirty="0">
                <a:ea typeface="宋体" panose="02010600030101010101" pitchFamily="2" charset="-122"/>
              </a:rPr>
              <a:t>）来表示</a:t>
            </a:r>
            <a:r>
              <a:rPr lang="en-US" altLang="zh-CN" sz="2000" b="1" dirty="0">
                <a:ea typeface="宋体" panose="02010600030101010101" pitchFamily="2" charset="-122"/>
              </a:rPr>
              <a:t>ISO</a:t>
            </a:r>
            <a:r>
              <a:rPr lang="zh-CN" altLang="en-US" sz="2000" b="1" dirty="0">
                <a:ea typeface="宋体" panose="02010600030101010101" pitchFamily="2" charset="-122"/>
              </a:rPr>
              <a:t>中访问控制服务。解决“你能做什么？你有什么权限？”</a:t>
            </a:r>
            <a:endParaRPr lang="en-US" altLang="zh-CN" sz="2000" b="1" dirty="0">
              <a:ea typeface="宋体" panose="02010600030101010101" pitchFamily="2" charset="-122"/>
            </a:endParaRPr>
          </a:p>
          <a:p>
            <a:pPr marL="342900" lvl="0" indent="-342900" algn="l">
              <a:spcBef>
                <a:spcPct val="50000"/>
              </a:spcBef>
              <a:buClrTx/>
              <a:buFont typeface="Wingdings" panose="05000000000000000000" pitchFamily="2" charset="2"/>
              <a:buChar char="Ø"/>
            </a:pPr>
            <a:r>
              <a:rPr lang="zh-CN" altLang="en-US" sz="2000" b="1" dirty="0">
                <a:ea typeface="宋体" panose="02010600030101010101" pitchFamily="2" charset="-122"/>
              </a:rPr>
              <a:t>确保主体对客体的访问只能是授权的，未经授权的访问不允许且操作无效。</a:t>
            </a:r>
            <a:r>
              <a:rPr lang="zh-CN" altLang="en-US" sz="3600" b="1" dirty="0">
                <a:latin typeface="宋体" panose="02010600030101010101" pitchFamily="2" charset="-122"/>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p>
            <a:pPr marL="342900" lvl="0" indent="-342900" algn="l" eaLnBrk="1" hangingPunct="1">
              <a:lnSpc>
                <a:spcPct val="150000"/>
              </a:lnSpc>
              <a:spcBef>
                <a:spcPct val="50000"/>
              </a:spcBef>
              <a:buClrTx/>
              <a:buFont typeface="Wingdings" panose="05000000000000000000" pitchFamily="2" charset="2"/>
              <a:buChar char="Ø"/>
            </a:pPr>
            <a:r>
              <a:rPr lang="zh-CN" altLang="en-US" sz="2000" b="1" dirty="0">
                <a:ea typeface="宋体" panose="02010600030101010101" pitchFamily="2" charset="-122"/>
              </a:rPr>
              <a:t>访问控制包括：</a:t>
            </a:r>
            <a:endParaRPr lang="zh-CN" altLang="en-US" sz="2000" b="1" dirty="0">
              <a:ea typeface="宋体" panose="02010600030101010101" pitchFamily="2" charset="-122"/>
            </a:endParaRPr>
          </a:p>
          <a:p>
            <a:pPr marL="342900" lvl="0" indent="-342900" algn="l" eaLnBrk="1" hangingPunct="1">
              <a:lnSpc>
                <a:spcPct val="150000"/>
              </a:lnSpc>
              <a:spcBef>
                <a:spcPct val="50000"/>
              </a:spcBef>
              <a:buClrTx/>
              <a:buChar char="•"/>
            </a:pPr>
            <a:r>
              <a:rPr lang="zh-CN" altLang="en-US" sz="2000" b="1" dirty="0">
                <a:solidFill>
                  <a:srgbClr val="FF3300"/>
                </a:solidFill>
                <a:latin typeface="Times New Roman" panose="02020603050405020304" pitchFamily="18" charset="0"/>
                <a:ea typeface="宋体" panose="02010600030101010101" pitchFamily="2" charset="-122"/>
              </a:rPr>
              <a:t>主体（</a:t>
            </a:r>
            <a:r>
              <a:rPr lang="en-US" altLang="zh-CN" sz="2000" b="1" dirty="0">
                <a:solidFill>
                  <a:srgbClr val="FF3300"/>
                </a:solidFill>
                <a:latin typeface="Times New Roman" panose="02020603050405020304" pitchFamily="18" charset="0"/>
                <a:ea typeface="宋体" panose="02010600030101010101" pitchFamily="2" charset="-122"/>
              </a:rPr>
              <a:t>Subject</a:t>
            </a:r>
            <a:r>
              <a:rPr lang="zh-CN" altLang="en-US" sz="2000" b="1" dirty="0">
                <a:solidFill>
                  <a:srgbClr val="FF3300"/>
                </a:solidFill>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或称为发起者</a:t>
            </a:r>
            <a:r>
              <a:rPr lang="en-US" altLang="zh-CN" sz="2000" b="1" dirty="0">
                <a:latin typeface="Times New Roman" panose="02020603050405020304" pitchFamily="18" charset="0"/>
                <a:ea typeface="宋体" panose="02010600030101010101" pitchFamily="2" charset="-122"/>
              </a:rPr>
              <a:t>(Initiator)</a:t>
            </a:r>
            <a:r>
              <a:rPr lang="zh-CN" altLang="en-US" sz="2000" b="1" dirty="0">
                <a:latin typeface="Times New Roman" panose="02020603050405020304" pitchFamily="18" charset="0"/>
                <a:ea typeface="宋体" panose="02010600030101010101" pitchFamily="2" charset="-122"/>
              </a:rPr>
              <a:t>，主动的实体，规定可以访问该资源的实体（通常指用户、进程、作业等）；</a:t>
            </a:r>
            <a:endParaRPr lang="zh-CN" altLang="en-US" sz="2000" b="1" dirty="0">
              <a:latin typeface="Times New Roman" panose="02020603050405020304" pitchFamily="18" charset="0"/>
              <a:ea typeface="宋体" panose="02010600030101010101" pitchFamily="2" charset="-122"/>
            </a:endParaRPr>
          </a:p>
          <a:p>
            <a:pPr marL="342900" lvl="0" indent="-342900" algn="l" eaLnBrk="1" hangingPunct="1">
              <a:lnSpc>
                <a:spcPct val="150000"/>
              </a:lnSpc>
              <a:spcBef>
                <a:spcPct val="50000"/>
              </a:spcBef>
              <a:buClrTx/>
              <a:buChar char="•"/>
            </a:pPr>
            <a:r>
              <a:rPr lang="zh-CN" altLang="en-US" sz="2000" b="1" dirty="0">
                <a:solidFill>
                  <a:srgbClr val="FF3300"/>
                </a:solidFill>
                <a:latin typeface="Times New Roman" panose="02020603050405020304" pitchFamily="18" charset="0"/>
                <a:ea typeface="宋体" panose="02010600030101010101" pitchFamily="2" charset="-122"/>
              </a:rPr>
              <a:t>客体（</a:t>
            </a:r>
            <a:r>
              <a:rPr lang="en-US" altLang="zh-CN" sz="2000" b="1" dirty="0">
                <a:solidFill>
                  <a:srgbClr val="FF3300"/>
                </a:solidFill>
                <a:latin typeface="Times New Roman" panose="02020603050405020304" pitchFamily="18" charset="0"/>
                <a:ea typeface="宋体" panose="02010600030101010101" pitchFamily="2" charset="-122"/>
              </a:rPr>
              <a:t>Object</a:t>
            </a:r>
            <a:r>
              <a:rPr lang="zh-CN" altLang="en-US" sz="2000" b="1" dirty="0">
                <a:solidFill>
                  <a:srgbClr val="FF3300"/>
                </a:solidFill>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又称目标（</a:t>
            </a:r>
            <a:r>
              <a:rPr lang="en-US" altLang="zh-CN" sz="2000" b="1" dirty="0">
                <a:latin typeface="Times New Roman" panose="02020603050405020304" pitchFamily="18" charset="0"/>
                <a:ea typeface="宋体" panose="02010600030101010101" pitchFamily="2" charset="-122"/>
              </a:rPr>
              <a:t>target)</a:t>
            </a:r>
            <a:r>
              <a:rPr lang="zh-CN" altLang="en-US" sz="2000" b="1" dirty="0">
                <a:latin typeface="Times New Roman" panose="02020603050405020304" pitchFamily="18" charset="0"/>
                <a:ea typeface="宋体" panose="02010600030101010101" pitchFamily="2" charset="-122"/>
              </a:rPr>
              <a:t>，规定需要保护的资源（所有可供访问的软、硬件资源）；</a:t>
            </a:r>
            <a:endParaRPr lang="zh-CN" altLang="en-US" sz="2000" b="1" dirty="0">
              <a:latin typeface="Times New Roman" panose="02020603050405020304" pitchFamily="18" charset="0"/>
              <a:ea typeface="宋体" panose="02010600030101010101" pitchFamily="2" charset="-122"/>
            </a:endParaRPr>
          </a:p>
          <a:p>
            <a:pPr marL="342900" lvl="0" indent="-342900" algn="l" eaLnBrk="1" hangingPunct="1">
              <a:lnSpc>
                <a:spcPct val="150000"/>
              </a:lnSpc>
              <a:spcBef>
                <a:spcPct val="50000"/>
              </a:spcBef>
              <a:buClrTx/>
              <a:buChar char="•"/>
            </a:pPr>
            <a:r>
              <a:rPr lang="zh-CN" altLang="en-US" sz="2000" b="1" dirty="0">
                <a:solidFill>
                  <a:srgbClr val="FF3300"/>
                </a:solidFill>
                <a:latin typeface="Times New Roman" panose="02020603050405020304" pitchFamily="18" charset="0"/>
                <a:ea typeface="宋体" panose="02010600030101010101" pitchFamily="2" charset="-122"/>
              </a:rPr>
              <a:t>授权（</a:t>
            </a:r>
            <a:r>
              <a:rPr lang="en-US" altLang="zh-CN" sz="2000" b="1" dirty="0">
                <a:solidFill>
                  <a:srgbClr val="FF3300"/>
                </a:solidFill>
                <a:latin typeface="Times New Roman" panose="02020603050405020304" pitchFamily="18" charset="0"/>
                <a:ea typeface="宋体" panose="02010600030101010101" pitchFamily="2" charset="-122"/>
              </a:rPr>
              <a:t>Authorization)</a:t>
            </a:r>
            <a:r>
              <a:rPr lang="zh-CN" altLang="en-US" sz="2000" b="1" dirty="0">
                <a:solidFill>
                  <a:srgbClr val="FF3300"/>
                </a:solidFill>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规定可对该资源执行的动作（例如读、写、执行或拒绝访问）；</a:t>
            </a:r>
            <a:endParaRPr lang="en-US" altLang="zh-CN" sz="2000" b="1"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35171"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General Issues in Access Control</a:t>
            </a:r>
            <a:endParaRPr lang="en-US" altLang="zh-CN" dirty="0">
              <a:ea typeface="宋体" panose="02010600030101010101" pitchFamily="2" charset="-122"/>
            </a:endParaRPr>
          </a:p>
        </p:txBody>
      </p:sp>
      <p:sp>
        <p:nvSpPr>
          <p:cNvPr id="135172" name="Rectangle 3"/>
          <p:cNvSpPr>
            <a:spLocks noGrp="1"/>
          </p:cNvSpPr>
          <p:nvPr>
            <p:ph idx="1"/>
          </p:nvPr>
        </p:nvSpPr>
        <p:spPr>
          <a:xfrm>
            <a:off x="581025" y="5665788"/>
            <a:ext cx="8069263" cy="479425"/>
          </a:xfrm>
        </p:spPr>
        <p:txBody>
          <a:bodyPr vert="horz" wrap="square" lIns="91440" tIns="45720" rIns="91440" bIns="45720" anchor="t" anchorCtr="0"/>
          <a:lstStyle/>
          <a:p>
            <a:pPr eaLnBrk="1" hangingPunct="1">
              <a:buNone/>
            </a:pPr>
            <a:r>
              <a:rPr lang="en-US" altLang="zh-CN" dirty="0">
                <a:ea typeface="宋体" panose="02010600030101010101" pitchFamily="2" charset="-122"/>
              </a:rPr>
              <a:t>Figure. General model of controlling access to objects.</a:t>
            </a:r>
            <a:endParaRPr lang="en-US" altLang="zh-CN" dirty="0">
              <a:ea typeface="宋体" panose="02010600030101010101" pitchFamily="2" charset="-122"/>
            </a:endParaRPr>
          </a:p>
        </p:txBody>
      </p:sp>
      <p:pic>
        <p:nvPicPr>
          <p:cNvPr id="135173" name="Picture 4" descr="09-25"/>
          <p:cNvPicPr>
            <a:picLocks noChangeAspect="1"/>
          </p:cNvPicPr>
          <p:nvPr/>
        </p:nvPicPr>
        <p:blipFill>
          <a:blip r:embed="rId1"/>
          <a:stretch>
            <a:fillRect/>
          </a:stretch>
        </p:blipFill>
        <p:spPr>
          <a:xfrm>
            <a:off x="285750" y="2359025"/>
            <a:ext cx="8642350" cy="2035175"/>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37219" name="Rectangle 2"/>
          <p:cNvSpPr>
            <a:spLocks noGrp="1"/>
          </p:cNvSpPr>
          <p:nvPr>
            <p:ph type="title"/>
          </p:nvPr>
        </p:nvSpPr>
        <p:spPr>
          <a:xfrm>
            <a:off x="952500" y="165100"/>
            <a:ext cx="7239000" cy="641350"/>
          </a:xfrm>
        </p:spPr>
        <p:txBody>
          <a:bodyPr vert="horz" wrap="square" lIns="91440" tIns="45720" rIns="91440" bIns="45720" anchor="ctr" anchorCtr="0"/>
          <a:lstStyle/>
          <a:p>
            <a:pPr eaLnBrk="1" hangingPunct="1"/>
            <a:r>
              <a:rPr lang="zh-CN" altLang="en-US" sz="4000" b="1" dirty="0">
                <a:solidFill>
                  <a:srgbClr val="FF3300"/>
                </a:solidFill>
                <a:latin typeface="Times New Roman" panose="02020603050405020304" pitchFamily="18" charset="0"/>
                <a:ea typeface="宋体" panose="02010600030101010101" pitchFamily="2" charset="-122"/>
              </a:rPr>
              <a:t>访问控制实现</a:t>
            </a:r>
            <a:endParaRPr lang="zh-CN" altLang="en-US" sz="4000" b="1" dirty="0">
              <a:solidFill>
                <a:srgbClr val="FF3300"/>
              </a:solidFill>
              <a:latin typeface="Times New Roman" panose="02020603050405020304" pitchFamily="18" charset="0"/>
              <a:ea typeface="宋体" panose="02010600030101010101" pitchFamily="2" charset="-122"/>
            </a:endParaRPr>
          </a:p>
        </p:txBody>
      </p:sp>
      <p:sp>
        <p:nvSpPr>
          <p:cNvPr id="137220" name="Rectangle 3"/>
          <p:cNvSpPr/>
          <p:nvPr/>
        </p:nvSpPr>
        <p:spPr>
          <a:xfrm>
            <a:off x="177800" y="1171575"/>
            <a:ext cx="8623300" cy="4406900"/>
          </a:xfrm>
          <a:prstGeom prst="rect">
            <a:avLst/>
          </a:prstGeom>
          <a:noFill/>
          <a:ln w="9525">
            <a:noFill/>
          </a:ln>
        </p:spPr>
        <p:txBody>
          <a:bodyPr lIns="92075" tIns="46038" rIns="92075" bIns="46038">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800100" lvl="1" indent="-342900" eaLnBrk="1" hangingPunct="1">
              <a:lnSpc>
                <a:spcPct val="200000"/>
              </a:lnSpc>
              <a:spcBef>
                <a:spcPct val="0"/>
              </a:spcBef>
              <a:buClrTx/>
              <a:buFont typeface="Wingdings" panose="05000000000000000000" pitchFamily="2" charset="2"/>
              <a:buChar char="Ø"/>
            </a:pPr>
            <a:r>
              <a:rPr lang="zh-CN" altLang="en-US" sz="2600" b="1" dirty="0">
                <a:ea typeface="宋体" panose="02010600030101010101" pitchFamily="2" charset="-122"/>
              </a:rPr>
              <a:t>访问控制矩阵（</a:t>
            </a:r>
            <a:r>
              <a:rPr lang="en-US" altLang="zh-CN" sz="2600" b="1" dirty="0">
                <a:ea typeface="宋体" panose="02010600030101010101" pitchFamily="2" charset="-122"/>
              </a:rPr>
              <a:t>ACM-Access Control Matrix </a:t>
            </a:r>
            <a:r>
              <a:rPr lang="zh-CN" altLang="en-US" sz="3200" b="1" dirty="0">
                <a:ea typeface="宋体" panose="02010600030101010101" pitchFamily="2" charset="-122"/>
              </a:rPr>
              <a:t>）；</a:t>
            </a:r>
            <a:endParaRPr lang="en-US" altLang="zh-CN" sz="2600" b="1" dirty="0">
              <a:ea typeface="宋体" panose="02010600030101010101" pitchFamily="2" charset="-122"/>
            </a:endParaRPr>
          </a:p>
          <a:p>
            <a:pPr marL="800100" lvl="1" indent="-342900" eaLnBrk="1" hangingPunct="1">
              <a:lnSpc>
                <a:spcPct val="200000"/>
              </a:lnSpc>
              <a:spcBef>
                <a:spcPct val="0"/>
              </a:spcBef>
              <a:buClrTx/>
              <a:buFont typeface="Wingdings" panose="05000000000000000000" pitchFamily="2" charset="2"/>
              <a:buChar char="Ø"/>
            </a:pPr>
            <a:r>
              <a:rPr lang="zh-CN" altLang="en-US" sz="2600" b="1" dirty="0">
                <a:ea typeface="宋体" panose="02010600030101010101" pitchFamily="2" charset="-122"/>
              </a:rPr>
              <a:t>访问控制表（</a:t>
            </a:r>
            <a:r>
              <a:rPr lang="en-US" altLang="zh-CN" sz="2600" b="1" dirty="0">
                <a:ea typeface="宋体" panose="02010600030101010101" pitchFamily="2" charset="-122"/>
              </a:rPr>
              <a:t>ACL-Access Control List </a:t>
            </a:r>
            <a:r>
              <a:rPr lang="zh-CN" altLang="en-US" sz="2600" b="1" dirty="0">
                <a:ea typeface="宋体" panose="02010600030101010101" pitchFamily="2" charset="-122"/>
              </a:rPr>
              <a:t>），相当于</a:t>
            </a:r>
            <a:r>
              <a:rPr lang="en-US" altLang="zh-CN" sz="2600" b="1" dirty="0">
                <a:ea typeface="宋体" panose="02010600030101010101" pitchFamily="2" charset="-122"/>
              </a:rPr>
              <a:t>ACM</a:t>
            </a:r>
            <a:r>
              <a:rPr lang="zh-CN" altLang="en-US" sz="2600" b="1" dirty="0">
                <a:ea typeface="宋体" panose="02010600030101010101" pitchFamily="2" charset="-122"/>
              </a:rPr>
              <a:t>按列分；</a:t>
            </a:r>
            <a:endParaRPr lang="en-US" altLang="zh-CN" sz="2600" b="1" dirty="0">
              <a:ea typeface="宋体" panose="02010600030101010101" pitchFamily="2" charset="-122"/>
            </a:endParaRPr>
          </a:p>
          <a:p>
            <a:pPr marL="800100" lvl="1" indent="-342900" eaLnBrk="1" hangingPunct="1">
              <a:lnSpc>
                <a:spcPct val="200000"/>
              </a:lnSpc>
              <a:spcBef>
                <a:spcPct val="0"/>
              </a:spcBef>
              <a:buClrTx/>
              <a:buFont typeface="Wingdings" panose="05000000000000000000" pitchFamily="2" charset="2"/>
              <a:buChar char="Ø"/>
            </a:pPr>
            <a:r>
              <a:rPr lang="zh-CN" altLang="en-US" sz="2600" b="1" dirty="0">
                <a:ea typeface="宋体" panose="02010600030101010101" pitchFamily="2" charset="-122"/>
              </a:rPr>
              <a:t>目录表访问控制，或称为权能列表（</a:t>
            </a:r>
            <a:r>
              <a:rPr lang="en-US" altLang="zh-CN" sz="2600" b="1" dirty="0">
                <a:ea typeface="宋体" panose="02010600030101010101" pitchFamily="2" charset="-122"/>
              </a:rPr>
              <a:t>CL-Capability List</a:t>
            </a:r>
            <a:r>
              <a:rPr lang="zh-CN" altLang="en-US" sz="2600" b="1" dirty="0">
                <a:ea typeface="宋体" panose="02010600030101010101" pitchFamily="2" charset="-122"/>
              </a:rPr>
              <a:t>），相当于</a:t>
            </a:r>
            <a:r>
              <a:rPr lang="en-US" altLang="zh-CN" sz="2600" b="1" dirty="0">
                <a:ea typeface="宋体" panose="02010600030101010101" pitchFamily="2" charset="-122"/>
              </a:rPr>
              <a:t>ACM</a:t>
            </a:r>
            <a:r>
              <a:rPr lang="zh-CN" altLang="en-US" sz="2600" b="1" dirty="0">
                <a:ea typeface="宋体" panose="02010600030101010101" pitchFamily="2" charset="-122"/>
              </a:rPr>
              <a:t>按行分；</a:t>
            </a:r>
            <a:endParaRPr lang="zh-CN" altLang="en-US" sz="2600" b="1" dirty="0">
              <a:ea typeface="宋体" panose="02010600030101010101" pitchFamily="2" charset="-122"/>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39267" name="Rectangle 2"/>
          <p:cNvSpPr>
            <a:spLocks noGrp="1"/>
          </p:cNvSpPr>
          <p:nvPr>
            <p:ph type="title"/>
          </p:nvPr>
        </p:nvSpPr>
        <p:spPr>
          <a:xfrm>
            <a:off x="776288" y="554038"/>
            <a:ext cx="7239000" cy="641350"/>
          </a:xfrm>
        </p:spPr>
        <p:txBody>
          <a:bodyPr vert="horz" wrap="square" lIns="91440" tIns="45720" rIns="91440" bIns="45720" anchor="ctr" anchorCtr="0"/>
          <a:lstStyle/>
          <a:p>
            <a:pPr eaLnBrk="1" hangingPunct="1"/>
            <a:r>
              <a:rPr lang="en-US" altLang="zh-CN" sz="4000" b="1" dirty="0">
                <a:solidFill>
                  <a:srgbClr val="FF3300"/>
                </a:solidFill>
                <a:ea typeface="宋体" panose="02010600030101010101" pitchFamily="2" charset="-122"/>
              </a:rPr>
              <a:t>Access Control Matrix</a:t>
            </a:r>
            <a:endParaRPr lang="zh-CN" altLang="en-US" sz="4000" b="1" dirty="0">
              <a:solidFill>
                <a:srgbClr val="FF3300"/>
              </a:solidFill>
              <a:ea typeface="宋体" panose="02010600030101010101" pitchFamily="2" charset="-122"/>
            </a:endParaRPr>
          </a:p>
        </p:txBody>
      </p:sp>
      <p:sp>
        <p:nvSpPr>
          <p:cNvPr id="139268" name="Text Box 3"/>
          <p:cNvSpPr txBox="1"/>
          <p:nvPr/>
        </p:nvSpPr>
        <p:spPr>
          <a:xfrm>
            <a:off x="546100" y="1473200"/>
            <a:ext cx="7950200" cy="892175"/>
          </a:xfrm>
          <a:prstGeom prst="rect">
            <a:avLst/>
          </a:prstGeom>
          <a:noFill/>
          <a:ln w="9525">
            <a:noFill/>
          </a:ln>
        </p:spPr>
        <p:txBody>
          <a:bodyPr lIns="198000" rIns="19800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30000"/>
              </a:lnSpc>
              <a:spcBef>
                <a:spcPct val="50000"/>
              </a:spcBef>
              <a:buClrTx/>
              <a:buNone/>
            </a:pPr>
            <a:r>
              <a:rPr lang="zh-CN" altLang="en-US" sz="2000" b="1" dirty="0">
                <a:latin typeface="宋体" panose="02010600030101010101" pitchFamily="2" charset="-122"/>
                <a:ea typeface="宋体" panose="02010600030101010101" pitchFamily="2" charset="-122"/>
              </a:rPr>
              <a:t>访问矩阵：行对应于主体</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用户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，列对应于客体</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目标</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，每个矩阵元素规定了</a:t>
            </a:r>
            <a:r>
              <a:rPr lang="zh-CN" altLang="en-US" sz="2000" b="1" dirty="0">
                <a:solidFill>
                  <a:srgbClr val="FF0000"/>
                </a:solidFill>
                <a:latin typeface="宋体" panose="02010600030101010101" pitchFamily="2" charset="-122"/>
                <a:ea typeface="宋体" panose="02010600030101010101" pitchFamily="2" charset="-122"/>
              </a:rPr>
              <a:t>主体</a:t>
            </a:r>
            <a:r>
              <a:rPr lang="zh-CN" altLang="en-US" sz="2000" b="1" dirty="0">
                <a:latin typeface="宋体" panose="02010600030101010101" pitchFamily="2" charset="-122"/>
                <a:ea typeface="宋体" panose="02010600030101010101" pitchFamily="2" charset="-122"/>
              </a:rPr>
              <a:t>访问相应的</a:t>
            </a:r>
            <a:r>
              <a:rPr lang="zh-CN" altLang="en-US" sz="2000" b="1" dirty="0">
                <a:solidFill>
                  <a:srgbClr val="FF0000"/>
                </a:solidFill>
                <a:latin typeface="宋体" panose="02010600030101010101" pitchFamily="2" charset="-122"/>
                <a:ea typeface="宋体" panose="02010600030101010101" pitchFamily="2" charset="-122"/>
              </a:rPr>
              <a:t>客体</a:t>
            </a:r>
            <a:r>
              <a:rPr lang="zh-CN" altLang="en-US" sz="2000" b="1" dirty="0">
                <a:latin typeface="宋体" panose="02010600030101010101" pitchFamily="2" charset="-122"/>
                <a:ea typeface="宋体" panose="02010600030101010101" pitchFamily="2" charset="-122"/>
              </a:rPr>
              <a:t>的</a:t>
            </a:r>
            <a:r>
              <a:rPr lang="zh-CN" altLang="en-US" sz="2000" b="1" dirty="0">
                <a:solidFill>
                  <a:srgbClr val="FF0000"/>
                </a:solidFill>
                <a:latin typeface="宋体" panose="02010600030101010101" pitchFamily="2" charset="-122"/>
                <a:ea typeface="宋体" panose="02010600030101010101" pitchFamily="2" charset="-122"/>
              </a:rPr>
              <a:t>授权</a:t>
            </a:r>
            <a:r>
              <a:rPr lang="zh-CN" altLang="en-US" sz="2000" b="1" dirty="0">
                <a:latin typeface="宋体" panose="02010600030101010101" pitchFamily="2" charset="-122"/>
                <a:ea typeface="宋体" panose="02010600030101010101" pitchFamily="2" charset="-122"/>
              </a:rPr>
              <a:t>。</a:t>
            </a:r>
            <a:endParaRPr lang="zh-CN" altLang="en-US" sz="2000" b="1" dirty="0">
              <a:latin typeface="宋体" panose="02010600030101010101" pitchFamily="2" charset="-122"/>
              <a:ea typeface="宋体" panose="02010600030101010101" pitchFamily="2" charset="-122"/>
            </a:endParaRPr>
          </a:p>
        </p:txBody>
      </p:sp>
      <p:grpSp>
        <p:nvGrpSpPr>
          <p:cNvPr id="139269" name="Group 26"/>
          <p:cNvGrpSpPr/>
          <p:nvPr/>
        </p:nvGrpSpPr>
        <p:grpSpPr>
          <a:xfrm>
            <a:off x="647700" y="2682875"/>
            <a:ext cx="7543800" cy="2819400"/>
            <a:chOff x="432" y="1856"/>
            <a:chExt cx="4752" cy="1776"/>
          </a:xfrm>
        </p:grpSpPr>
        <p:sp>
          <p:nvSpPr>
            <p:cNvPr id="139271" name="Rectangle 4"/>
            <p:cNvSpPr/>
            <p:nvPr/>
          </p:nvSpPr>
          <p:spPr>
            <a:xfrm>
              <a:off x="1440" y="1856"/>
              <a:ext cx="1248" cy="43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b="1" dirty="0">
                  <a:solidFill>
                    <a:srgbClr val="000066"/>
                  </a:solidFill>
                  <a:latin typeface="Times New Roman" panose="02020603050405020304" pitchFamily="18" charset="0"/>
                  <a:ea typeface="宋体" panose="02010600030101010101" pitchFamily="2" charset="-122"/>
                </a:rPr>
                <a:t>目标</a:t>
              </a:r>
              <a:r>
                <a:rPr lang="en-US" altLang="zh-CN" sz="2000" b="1" dirty="0">
                  <a:solidFill>
                    <a:srgbClr val="000066"/>
                  </a:solidFill>
                  <a:latin typeface="Times New Roman" panose="02020603050405020304" pitchFamily="18" charset="0"/>
                  <a:ea typeface="宋体" panose="02010600030101010101" pitchFamily="2" charset="-122"/>
                </a:rPr>
                <a:t>x</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72" name="Rectangle 5"/>
            <p:cNvSpPr/>
            <p:nvPr/>
          </p:nvSpPr>
          <p:spPr>
            <a:xfrm>
              <a:off x="1440" y="2288"/>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2000" b="1" dirty="0">
                  <a:solidFill>
                    <a:srgbClr val="000066"/>
                  </a:solidFill>
                  <a:latin typeface="Times New Roman" panose="02020603050405020304" pitchFamily="18" charset="0"/>
                  <a:ea typeface="宋体" panose="02010600030101010101" pitchFamily="2" charset="-122"/>
                </a:rPr>
                <a:t>R</a:t>
              </a:r>
              <a:r>
                <a:rPr lang="zh-CN" altLang="en-US" sz="2000" b="1" dirty="0">
                  <a:solidFill>
                    <a:srgbClr val="000066"/>
                  </a:solidFill>
                  <a:latin typeface="Times New Roman" panose="02020603050405020304" pitchFamily="18" charset="0"/>
                  <a:ea typeface="宋体" panose="02010600030101010101" pitchFamily="2" charset="-122"/>
                </a:rPr>
                <a:t>、</a:t>
              </a:r>
              <a:r>
                <a:rPr lang="en-US" altLang="zh-CN" sz="2000" b="1" dirty="0">
                  <a:solidFill>
                    <a:srgbClr val="000066"/>
                  </a:solidFill>
                  <a:latin typeface="Times New Roman" panose="02020603050405020304" pitchFamily="18" charset="0"/>
                  <a:ea typeface="宋体" panose="02010600030101010101" pitchFamily="2" charset="-122"/>
                </a:rPr>
                <a:t>W</a:t>
              </a:r>
              <a:r>
                <a:rPr lang="zh-CN" altLang="en-US" sz="2000" b="1" dirty="0">
                  <a:solidFill>
                    <a:srgbClr val="000066"/>
                  </a:solidFill>
                  <a:latin typeface="Times New Roman" panose="02020603050405020304" pitchFamily="18" charset="0"/>
                  <a:ea typeface="宋体" panose="02010600030101010101" pitchFamily="2" charset="-122"/>
                </a:rPr>
                <a:t>、</a:t>
              </a:r>
              <a:r>
                <a:rPr lang="en-US" altLang="zh-CN" sz="2000" b="1" dirty="0">
                  <a:solidFill>
                    <a:srgbClr val="000066"/>
                  </a:solidFill>
                  <a:latin typeface="Times New Roman" panose="02020603050405020304" pitchFamily="18" charset="0"/>
                  <a:ea typeface="宋体" panose="02010600030101010101" pitchFamily="2" charset="-122"/>
                </a:rPr>
                <a:t>Own</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73" name="Rectangle 6"/>
            <p:cNvSpPr/>
            <p:nvPr/>
          </p:nvSpPr>
          <p:spPr>
            <a:xfrm>
              <a:off x="2688" y="2288"/>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2000" dirty="0">
                <a:solidFill>
                  <a:srgbClr val="000066"/>
                </a:solidFill>
                <a:latin typeface="Times New Roman" panose="02020603050405020304" pitchFamily="18" charset="0"/>
                <a:ea typeface="宋体" panose="02010600030101010101" pitchFamily="2" charset="-122"/>
              </a:endParaRPr>
            </a:p>
          </p:txBody>
        </p:sp>
        <p:sp>
          <p:nvSpPr>
            <p:cNvPr id="139274" name="Rectangle 7"/>
            <p:cNvSpPr/>
            <p:nvPr/>
          </p:nvSpPr>
          <p:spPr>
            <a:xfrm>
              <a:off x="3936" y="2288"/>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2000" b="1" dirty="0">
                  <a:solidFill>
                    <a:srgbClr val="000066"/>
                  </a:solidFill>
                  <a:latin typeface="Times New Roman" panose="02020603050405020304" pitchFamily="18" charset="0"/>
                  <a:ea typeface="宋体" panose="02010600030101010101" pitchFamily="2" charset="-122"/>
                </a:rPr>
                <a:t>R</a:t>
              </a:r>
              <a:r>
                <a:rPr lang="zh-CN" altLang="en-US" sz="2000" b="1" dirty="0">
                  <a:solidFill>
                    <a:srgbClr val="000066"/>
                  </a:solidFill>
                  <a:latin typeface="Times New Roman" panose="02020603050405020304" pitchFamily="18" charset="0"/>
                  <a:ea typeface="宋体" panose="02010600030101010101" pitchFamily="2" charset="-122"/>
                </a:rPr>
                <a:t>、</a:t>
              </a:r>
              <a:r>
                <a:rPr lang="en-US" altLang="zh-CN" sz="2000" b="1" dirty="0">
                  <a:solidFill>
                    <a:srgbClr val="000066"/>
                  </a:solidFill>
                  <a:latin typeface="Times New Roman" panose="02020603050405020304" pitchFamily="18" charset="0"/>
                  <a:ea typeface="宋体" panose="02010600030101010101" pitchFamily="2" charset="-122"/>
                </a:rPr>
                <a:t>W</a:t>
              </a:r>
              <a:r>
                <a:rPr lang="zh-CN" altLang="en-US" sz="2000" b="1" dirty="0">
                  <a:solidFill>
                    <a:srgbClr val="000066"/>
                  </a:solidFill>
                  <a:latin typeface="Times New Roman" panose="02020603050405020304" pitchFamily="18" charset="0"/>
                  <a:ea typeface="宋体" panose="02010600030101010101" pitchFamily="2" charset="-122"/>
                </a:rPr>
                <a:t>、</a:t>
              </a:r>
              <a:r>
                <a:rPr lang="en-US" altLang="zh-CN" sz="2000" b="1" dirty="0">
                  <a:solidFill>
                    <a:srgbClr val="000066"/>
                  </a:solidFill>
                  <a:latin typeface="Times New Roman" panose="02020603050405020304" pitchFamily="18" charset="0"/>
                  <a:ea typeface="宋体" panose="02010600030101010101" pitchFamily="2" charset="-122"/>
                </a:rPr>
                <a:t>Own</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75" name="Rectangle 8"/>
            <p:cNvSpPr/>
            <p:nvPr/>
          </p:nvSpPr>
          <p:spPr>
            <a:xfrm>
              <a:off x="2688" y="1856"/>
              <a:ext cx="1248" cy="43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b="1" dirty="0">
                  <a:solidFill>
                    <a:srgbClr val="000066"/>
                  </a:solidFill>
                  <a:latin typeface="Times New Roman" panose="02020603050405020304" pitchFamily="18" charset="0"/>
                  <a:ea typeface="宋体" panose="02010600030101010101" pitchFamily="2" charset="-122"/>
                </a:rPr>
                <a:t>目标</a:t>
              </a:r>
              <a:r>
                <a:rPr lang="en-US" altLang="zh-CN" sz="2000" b="1" dirty="0">
                  <a:solidFill>
                    <a:srgbClr val="000066"/>
                  </a:solidFill>
                  <a:latin typeface="Times New Roman" panose="02020603050405020304" pitchFamily="18" charset="0"/>
                  <a:ea typeface="宋体" panose="02010600030101010101" pitchFamily="2" charset="-122"/>
                </a:rPr>
                <a:t>y</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76" name="Rectangle 9"/>
            <p:cNvSpPr/>
            <p:nvPr/>
          </p:nvSpPr>
          <p:spPr>
            <a:xfrm>
              <a:off x="3936" y="1856"/>
              <a:ext cx="1248" cy="43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b="1" dirty="0">
                  <a:solidFill>
                    <a:srgbClr val="000066"/>
                  </a:solidFill>
                  <a:latin typeface="Times New Roman" panose="02020603050405020304" pitchFamily="18" charset="0"/>
                  <a:ea typeface="宋体" panose="02010600030101010101" pitchFamily="2" charset="-122"/>
                </a:rPr>
                <a:t>目标</a:t>
              </a:r>
              <a:r>
                <a:rPr lang="en-US" altLang="zh-CN" sz="2000" b="1" dirty="0">
                  <a:solidFill>
                    <a:srgbClr val="000066"/>
                  </a:solidFill>
                  <a:latin typeface="Times New Roman" panose="02020603050405020304" pitchFamily="18" charset="0"/>
                  <a:ea typeface="宋体" panose="02010600030101010101" pitchFamily="2" charset="-122"/>
                </a:rPr>
                <a:t>z</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77" name="Rectangle 10"/>
            <p:cNvSpPr/>
            <p:nvPr/>
          </p:nvSpPr>
          <p:spPr>
            <a:xfrm>
              <a:off x="432" y="2288"/>
              <a:ext cx="100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b="1" dirty="0">
                  <a:solidFill>
                    <a:srgbClr val="000066"/>
                  </a:solidFill>
                  <a:latin typeface="Times New Roman" panose="02020603050405020304" pitchFamily="18" charset="0"/>
                  <a:ea typeface="宋体" panose="02010600030101010101" pitchFamily="2" charset="-122"/>
                </a:rPr>
                <a:t>用户</a:t>
              </a:r>
              <a:r>
                <a:rPr lang="en-US" altLang="zh-CN" sz="2000" b="1" dirty="0">
                  <a:solidFill>
                    <a:srgbClr val="000066"/>
                  </a:solidFill>
                  <a:latin typeface="Times New Roman" panose="02020603050405020304" pitchFamily="18" charset="0"/>
                  <a:ea typeface="宋体" panose="02010600030101010101" pitchFamily="2" charset="-122"/>
                </a:rPr>
                <a:t>a</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78" name="Rectangle 11"/>
            <p:cNvSpPr/>
            <p:nvPr/>
          </p:nvSpPr>
          <p:spPr>
            <a:xfrm>
              <a:off x="432" y="2624"/>
              <a:ext cx="100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b="1" dirty="0">
                  <a:solidFill>
                    <a:srgbClr val="000066"/>
                  </a:solidFill>
                  <a:latin typeface="Times New Roman" panose="02020603050405020304" pitchFamily="18" charset="0"/>
                  <a:ea typeface="宋体" panose="02010600030101010101" pitchFamily="2" charset="-122"/>
                </a:rPr>
                <a:t>用户</a:t>
              </a:r>
              <a:r>
                <a:rPr lang="en-US" altLang="zh-CN" sz="2000" b="1" dirty="0">
                  <a:solidFill>
                    <a:srgbClr val="000066"/>
                  </a:solidFill>
                  <a:latin typeface="Times New Roman" panose="02020603050405020304" pitchFamily="18" charset="0"/>
                  <a:ea typeface="宋体" panose="02010600030101010101" pitchFamily="2" charset="-122"/>
                </a:rPr>
                <a:t>b</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79" name="Rectangle 12"/>
            <p:cNvSpPr/>
            <p:nvPr/>
          </p:nvSpPr>
          <p:spPr>
            <a:xfrm>
              <a:off x="432" y="2960"/>
              <a:ext cx="100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b="1" dirty="0">
                  <a:solidFill>
                    <a:srgbClr val="000066"/>
                  </a:solidFill>
                  <a:latin typeface="Times New Roman" panose="02020603050405020304" pitchFamily="18" charset="0"/>
                  <a:ea typeface="宋体" panose="02010600030101010101" pitchFamily="2" charset="-122"/>
                </a:rPr>
                <a:t>用户</a:t>
              </a:r>
              <a:r>
                <a:rPr lang="en-US" altLang="zh-CN" sz="2000" b="1" dirty="0">
                  <a:solidFill>
                    <a:srgbClr val="000066"/>
                  </a:solidFill>
                  <a:latin typeface="Times New Roman" panose="02020603050405020304" pitchFamily="18" charset="0"/>
                  <a:ea typeface="宋体" panose="02010600030101010101" pitchFamily="2" charset="-122"/>
                </a:rPr>
                <a:t>c</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80" name="Rectangle 13"/>
            <p:cNvSpPr/>
            <p:nvPr/>
          </p:nvSpPr>
          <p:spPr>
            <a:xfrm>
              <a:off x="432" y="3296"/>
              <a:ext cx="100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b="1" dirty="0">
                  <a:solidFill>
                    <a:srgbClr val="000066"/>
                  </a:solidFill>
                  <a:latin typeface="Times New Roman" panose="02020603050405020304" pitchFamily="18" charset="0"/>
                  <a:ea typeface="宋体" panose="02010600030101010101" pitchFamily="2" charset="-122"/>
                </a:rPr>
                <a:t>用户</a:t>
              </a:r>
              <a:r>
                <a:rPr lang="en-US" altLang="zh-CN" sz="2000" b="1" dirty="0">
                  <a:solidFill>
                    <a:srgbClr val="000066"/>
                  </a:solidFill>
                  <a:latin typeface="Times New Roman" panose="02020603050405020304" pitchFamily="18" charset="0"/>
                  <a:ea typeface="宋体" panose="02010600030101010101" pitchFamily="2" charset="-122"/>
                </a:rPr>
                <a:t>d</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81" name="Rectangle 14"/>
            <p:cNvSpPr/>
            <p:nvPr/>
          </p:nvSpPr>
          <p:spPr>
            <a:xfrm>
              <a:off x="1440" y="2624"/>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139282" name="Rectangle 15"/>
            <p:cNvSpPr/>
            <p:nvPr/>
          </p:nvSpPr>
          <p:spPr>
            <a:xfrm>
              <a:off x="1440" y="2960"/>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2000" b="1" dirty="0">
                  <a:solidFill>
                    <a:srgbClr val="000066"/>
                  </a:solidFill>
                  <a:latin typeface="Times New Roman" panose="02020603050405020304" pitchFamily="18" charset="0"/>
                  <a:ea typeface="宋体" panose="02010600030101010101" pitchFamily="2" charset="-122"/>
                </a:rPr>
                <a:t>R</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83" name="Rectangle 16"/>
            <p:cNvSpPr/>
            <p:nvPr/>
          </p:nvSpPr>
          <p:spPr>
            <a:xfrm>
              <a:off x="1440" y="3296"/>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2000" b="1" dirty="0">
                  <a:solidFill>
                    <a:srgbClr val="000066"/>
                  </a:solidFill>
                  <a:latin typeface="Times New Roman" panose="02020603050405020304" pitchFamily="18" charset="0"/>
                  <a:ea typeface="宋体" panose="02010600030101010101" pitchFamily="2" charset="-122"/>
                </a:rPr>
                <a:t>R</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84" name="Rectangle 17"/>
            <p:cNvSpPr/>
            <p:nvPr/>
          </p:nvSpPr>
          <p:spPr>
            <a:xfrm>
              <a:off x="2688" y="2624"/>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2000" b="1" dirty="0">
                  <a:solidFill>
                    <a:srgbClr val="000066"/>
                  </a:solidFill>
                  <a:latin typeface="Times New Roman" panose="02020603050405020304" pitchFamily="18" charset="0"/>
                  <a:ea typeface="宋体" panose="02010600030101010101" pitchFamily="2" charset="-122"/>
                </a:rPr>
                <a:t>R</a:t>
              </a:r>
              <a:r>
                <a:rPr lang="zh-CN" altLang="en-US" sz="2000" b="1" dirty="0">
                  <a:solidFill>
                    <a:srgbClr val="000066"/>
                  </a:solidFill>
                  <a:latin typeface="Times New Roman" panose="02020603050405020304" pitchFamily="18" charset="0"/>
                  <a:ea typeface="宋体" panose="02010600030101010101" pitchFamily="2" charset="-122"/>
                </a:rPr>
                <a:t>、</a:t>
              </a:r>
              <a:r>
                <a:rPr lang="en-US" altLang="zh-CN" sz="2000" b="1" dirty="0">
                  <a:solidFill>
                    <a:srgbClr val="000066"/>
                  </a:solidFill>
                  <a:latin typeface="Times New Roman" panose="02020603050405020304" pitchFamily="18" charset="0"/>
                  <a:ea typeface="宋体" panose="02010600030101010101" pitchFamily="2" charset="-122"/>
                </a:rPr>
                <a:t>W</a:t>
              </a:r>
              <a:r>
                <a:rPr lang="zh-CN" altLang="en-US" sz="2000" b="1" dirty="0">
                  <a:solidFill>
                    <a:srgbClr val="000066"/>
                  </a:solidFill>
                  <a:latin typeface="Times New Roman" panose="02020603050405020304" pitchFamily="18" charset="0"/>
                  <a:ea typeface="宋体" panose="02010600030101010101" pitchFamily="2" charset="-122"/>
                </a:rPr>
                <a:t>、</a:t>
              </a:r>
              <a:r>
                <a:rPr lang="en-US" altLang="zh-CN" sz="2000" b="1" dirty="0">
                  <a:solidFill>
                    <a:srgbClr val="000066"/>
                  </a:solidFill>
                  <a:latin typeface="Times New Roman" panose="02020603050405020304" pitchFamily="18" charset="0"/>
                  <a:ea typeface="宋体" panose="02010600030101010101" pitchFamily="2" charset="-122"/>
                </a:rPr>
                <a:t>Own</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85" name="Rectangle 18"/>
            <p:cNvSpPr/>
            <p:nvPr/>
          </p:nvSpPr>
          <p:spPr>
            <a:xfrm>
              <a:off x="2688" y="2960"/>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2000" b="1" dirty="0">
                  <a:solidFill>
                    <a:srgbClr val="000066"/>
                  </a:solidFill>
                  <a:latin typeface="Times New Roman" panose="02020603050405020304" pitchFamily="18" charset="0"/>
                  <a:ea typeface="宋体" panose="02010600030101010101" pitchFamily="2" charset="-122"/>
                </a:rPr>
                <a:t>R</a:t>
              </a:r>
              <a:r>
                <a:rPr lang="zh-CN" altLang="en-US" sz="2000" b="1" dirty="0">
                  <a:solidFill>
                    <a:srgbClr val="000066"/>
                  </a:solidFill>
                  <a:latin typeface="Times New Roman" panose="02020603050405020304" pitchFamily="18" charset="0"/>
                  <a:ea typeface="宋体" panose="02010600030101010101" pitchFamily="2" charset="-122"/>
                </a:rPr>
                <a:t>、</a:t>
              </a:r>
              <a:r>
                <a:rPr lang="en-US" altLang="zh-CN" sz="2000" b="1" dirty="0">
                  <a:solidFill>
                    <a:srgbClr val="000066"/>
                  </a:solidFill>
                  <a:latin typeface="Times New Roman" panose="02020603050405020304" pitchFamily="18" charset="0"/>
                  <a:ea typeface="宋体" panose="02010600030101010101" pitchFamily="2" charset="-122"/>
                </a:rPr>
                <a:t>W</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86" name="Rectangle 19"/>
            <p:cNvSpPr/>
            <p:nvPr/>
          </p:nvSpPr>
          <p:spPr>
            <a:xfrm>
              <a:off x="2688" y="3296"/>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en-US" altLang="zh-CN" sz="2000" b="1" dirty="0">
                  <a:solidFill>
                    <a:srgbClr val="000066"/>
                  </a:solidFill>
                  <a:latin typeface="Times New Roman" panose="02020603050405020304" pitchFamily="18" charset="0"/>
                  <a:ea typeface="宋体" panose="02010600030101010101" pitchFamily="2" charset="-122"/>
                </a:rPr>
                <a:t>R</a:t>
              </a:r>
              <a:r>
                <a:rPr lang="zh-CN" altLang="en-US" sz="2000" b="1" dirty="0">
                  <a:solidFill>
                    <a:srgbClr val="000066"/>
                  </a:solidFill>
                  <a:latin typeface="Times New Roman" panose="02020603050405020304" pitchFamily="18" charset="0"/>
                  <a:ea typeface="宋体" panose="02010600030101010101" pitchFamily="2" charset="-122"/>
                </a:rPr>
                <a:t>、</a:t>
              </a:r>
              <a:r>
                <a:rPr lang="en-US" altLang="zh-CN" sz="2000" b="1" dirty="0">
                  <a:solidFill>
                    <a:srgbClr val="000066"/>
                  </a:solidFill>
                  <a:latin typeface="Times New Roman" panose="02020603050405020304" pitchFamily="18" charset="0"/>
                  <a:ea typeface="宋体" panose="02010600030101010101" pitchFamily="2" charset="-122"/>
                </a:rPr>
                <a:t>W</a:t>
              </a:r>
              <a:endParaRPr lang="en-US" altLang="zh-CN" sz="2000" b="1" dirty="0">
                <a:solidFill>
                  <a:srgbClr val="000066"/>
                </a:solidFill>
                <a:latin typeface="Times New Roman" panose="02020603050405020304" pitchFamily="18" charset="0"/>
                <a:ea typeface="宋体" panose="02010600030101010101" pitchFamily="2" charset="-122"/>
              </a:endParaRPr>
            </a:p>
          </p:txBody>
        </p:sp>
        <p:sp>
          <p:nvSpPr>
            <p:cNvPr id="139287" name="Rectangle 20"/>
            <p:cNvSpPr/>
            <p:nvPr/>
          </p:nvSpPr>
          <p:spPr>
            <a:xfrm>
              <a:off x="3936" y="3296"/>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139288" name="Rectangle 21"/>
            <p:cNvSpPr/>
            <p:nvPr/>
          </p:nvSpPr>
          <p:spPr>
            <a:xfrm>
              <a:off x="3936" y="2960"/>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139289" name="Rectangle 22"/>
            <p:cNvSpPr/>
            <p:nvPr/>
          </p:nvSpPr>
          <p:spPr>
            <a:xfrm>
              <a:off x="3936" y="2624"/>
              <a:ext cx="1248" cy="33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139290" name="AutoShape 23"/>
            <p:cNvSpPr/>
            <p:nvPr/>
          </p:nvSpPr>
          <p:spPr>
            <a:xfrm>
              <a:off x="432" y="1856"/>
              <a:ext cx="1008" cy="432"/>
            </a:xfrm>
            <a:prstGeom prst="rtTriangle">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endParaRPr lang="zh-CN" altLang="en-US" sz="1600" b="1" dirty="0">
                <a:latin typeface="Times New Roman" panose="02020603050405020304" pitchFamily="18" charset="0"/>
                <a:ea typeface="宋体" panose="02010600030101010101" pitchFamily="2" charset="-122"/>
              </a:endParaRPr>
            </a:p>
          </p:txBody>
        </p:sp>
        <p:sp>
          <p:nvSpPr>
            <p:cNvPr id="139291" name="Rectangle 24"/>
            <p:cNvSpPr/>
            <p:nvPr/>
          </p:nvSpPr>
          <p:spPr>
            <a:xfrm>
              <a:off x="432" y="1856"/>
              <a:ext cx="1008" cy="43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dirty="0">
                  <a:solidFill>
                    <a:srgbClr val="000066"/>
                  </a:solidFill>
                  <a:latin typeface="Times New Roman" panose="02020603050405020304" pitchFamily="18" charset="0"/>
                  <a:ea typeface="宋体" panose="02010600030101010101" pitchFamily="2" charset="-122"/>
                </a:rPr>
                <a:t>   </a:t>
              </a:r>
              <a:r>
                <a:rPr lang="zh-CN" altLang="en-US" sz="2000" b="1" dirty="0">
                  <a:solidFill>
                    <a:srgbClr val="000066"/>
                  </a:solidFill>
                  <a:latin typeface="Times New Roman" panose="02020603050405020304" pitchFamily="18" charset="0"/>
                  <a:ea typeface="宋体" panose="02010600030101010101" pitchFamily="2" charset="-122"/>
                </a:rPr>
                <a:t>目标</a:t>
              </a:r>
              <a:endParaRPr lang="zh-CN" altLang="en-US" sz="2000" b="1" dirty="0">
                <a:solidFill>
                  <a:srgbClr val="000066"/>
                </a:solidFill>
                <a:latin typeface="Times New Roman" panose="02020603050405020304" pitchFamily="18" charset="0"/>
                <a:ea typeface="宋体" panose="02010600030101010101" pitchFamily="2" charset="-122"/>
              </a:endParaRPr>
            </a:p>
            <a:p>
              <a:pPr marL="0" lvl="0" indent="0" eaLnBrk="1" hangingPunct="1">
                <a:spcBef>
                  <a:spcPct val="0"/>
                </a:spcBef>
                <a:buClrTx/>
                <a:buNone/>
              </a:pPr>
              <a:r>
                <a:rPr lang="zh-CN" altLang="en-US" sz="2000" b="1" dirty="0">
                  <a:solidFill>
                    <a:srgbClr val="000066"/>
                  </a:solidFill>
                  <a:latin typeface="Times New Roman" panose="02020603050405020304" pitchFamily="18" charset="0"/>
                  <a:ea typeface="宋体" panose="02010600030101010101" pitchFamily="2" charset="-122"/>
                </a:rPr>
                <a:t>用户</a:t>
              </a:r>
              <a:r>
                <a:rPr lang="zh-CN" altLang="en-US" sz="2000" dirty="0">
                  <a:solidFill>
                    <a:srgbClr val="000066"/>
                  </a:solidFill>
                  <a:latin typeface="Times New Roman" panose="02020603050405020304" pitchFamily="18" charset="0"/>
                  <a:ea typeface="宋体" panose="02010600030101010101" pitchFamily="2" charset="-122"/>
                </a:rPr>
                <a:t>      </a:t>
              </a:r>
              <a:endParaRPr lang="zh-CN" altLang="en-US" sz="2000" dirty="0">
                <a:solidFill>
                  <a:srgbClr val="000066"/>
                </a:solidFill>
                <a:latin typeface="Times New Roman" panose="02020603050405020304" pitchFamily="18" charset="0"/>
                <a:ea typeface="宋体" panose="02010600030101010101" pitchFamily="2" charset="-122"/>
              </a:endParaRPr>
            </a:p>
          </p:txBody>
        </p:sp>
        <p:sp>
          <p:nvSpPr>
            <p:cNvPr id="139292" name="Line 25"/>
            <p:cNvSpPr/>
            <p:nvPr/>
          </p:nvSpPr>
          <p:spPr>
            <a:xfrm>
              <a:off x="432" y="1856"/>
              <a:ext cx="1008" cy="432"/>
            </a:xfrm>
            <a:prstGeom prst="line">
              <a:avLst/>
            </a:prstGeom>
            <a:ln w="9525" cap="flat" cmpd="sng">
              <a:solidFill>
                <a:schemeClr val="tx1"/>
              </a:solidFill>
              <a:prstDash val="solid"/>
              <a:headEnd type="none" w="med" len="med"/>
              <a:tailEnd type="none" w="med" len="med"/>
            </a:ln>
          </p:spPr>
        </p:sp>
      </p:grpSp>
      <p:sp>
        <p:nvSpPr>
          <p:cNvPr id="139270" name="Text Box 27"/>
          <p:cNvSpPr txBox="1"/>
          <p:nvPr/>
        </p:nvSpPr>
        <p:spPr>
          <a:xfrm>
            <a:off x="661988" y="5656263"/>
            <a:ext cx="7670800" cy="488950"/>
          </a:xfrm>
          <a:prstGeom prst="rect">
            <a:avLst/>
          </a:prstGeom>
          <a:noFill/>
          <a:ln w="9525">
            <a:noFill/>
          </a:ln>
        </p:spPr>
        <p:txBody>
          <a:bodyPr lIns="198000" rIns="19800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30000"/>
              </a:lnSpc>
              <a:spcBef>
                <a:spcPct val="50000"/>
              </a:spcBef>
              <a:buClrTx/>
              <a:buNone/>
            </a:pPr>
            <a:r>
              <a:rPr lang="zh-CN" altLang="en-US" sz="2000" b="1" dirty="0">
                <a:latin typeface="宋体" panose="02010600030101010101" pitchFamily="2" charset="-122"/>
                <a:ea typeface="宋体" panose="02010600030101010101" pitchFamily="2" charset="-122"/>
              </a:rPr>
              <a:t>缺点：占用空间大，大部分项是空的。可以通过稀疏距阵表示。</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41315" name="Rectangle 2"/>
          <p:cNvSpPr>
            <a:spLocks noGrp="1"/>
          </p:cNvSpPr>
          <p:nvPr>
            <p:ph type="title"/>
          </p:nvPr>
        </p:nvSpPr>
        <p:spPr>
          <a:xfrm>
            <a:off x="793750" y="-30162"/>
            <a:ext cx="7239000" cy="641350"/>
          </a:xfrm>
        </p:spPr>
        <p:txBody>
          <a:bodyPr vert="horz" wrap="square" lIns="91440" tIns="45720" rIns="91440" bIns="45720" anchor="ctr" anchorCtr="0"/>
          <a:lstStyle/>
          <a:p>
            <a:pPr eaLnBrk="1" hangingPunct="1"/>
            <a:r>
              <a:rPr lang="en-US" altLang="zh-CN" sz="4000" b="1" dirty="0">
                <a:solidFill>
                  <a:srgbClr val="FF3300"/>
                </a:solidFill>
                <a:ea typeface="宋体" panose="02010600030101010101" pitchFamily="2" charset="-122"/>
              </a:rPr>
              <a:t>Access Control List(ACL)</a:t>
            </a:r>
            <a:endParaRPr lang="zh-CN" altLang="en-US" sz="4000" b="1" dirty="0">
              <a:solidFill>
                <a:srgbClr val="FF3300"/>
              </a:solidFill>
              <a:ea typeface="宋体" panose="02010600030101010101" pitchFamily="2" charset="-122"/>
            </a:endParaRPr>
          </a:p>
        </p:txBody>
      </p:sp>
      <p:sp>
        <p:nvSpPr>
          <p:cNvPr id="141316" name="Text Box 3"/>
          <p:cNvSpPr txBox="1"/>
          <p:nvPr/>
        </p:nvSpPr>
        <p:spPr>
          <a:xfrm>
            <a:off x="381000" y="747713"/>
            <a:ext cx="7593013" cy="892175"/>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30000"/>
              </a:lnSpc>
              <a:spcBef>
                <a:spcPct val="0"/>
              </a:spcBef>
              <a:buClrTx/>
              <a:buFont typeface="Wingdings" panose="05000000000000000000" pitchFamily="2" charset="2"/>
              <a:buChar char="Ø"/>
            </a:pPr>
            <a:r>
              <a:rPr lang="zh-CN" altLang="en-US" sz="2000" b="1" dirty="0">
                <a:latin typeface="Times New Roman" panose="02020603050405020304" pitchFamily="18" charset="0"/>
                <a:ea typeface="宋体" panose="02010600030101010101" pitchFamily="2" charset="-122"/>
              </a:rPr>
              <a:t>对一个特定客体</a:t>
            </a: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资源</a:t>
            </a: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指定某一个主体的访问权限（按列）；</a:t>
            </a:r>
            <a:endParaRPr lang="en-US" altLang="zh-CN" sz="2000" b="1" dirty="0">
              <a:latin typeface="Times New Roman" panose="02020603050405020304" pitchFamily="18" charset="0"/>
              <a:ea typeface="宋体" panose="02010600030101010101" pitchFamily="2" charset="-122"/>
            </a:endParaRPr>
          </a:p>
          <a:p>
            <a:pPr marL="0" lvl="0" indent="0" algn="l" eaLnBrk="1" hangingPunct="1">
              <a:lnSpc>
                <a:spcPct val="130000"/>
              </a:lnSpc>
              <a:spcBef>
                <a:spcPct val="0"/>
              </a:spcBef>
              <a:buClrTx/>
              <a:buFont typeface="Wingdings" panose="05000000000000000000" pitchFamily="2" charset="2"/>
              <a:buChar char="Ø"/>
            </a:pPr>
            <a:r>
              <a:rPr lang="zh-CN" altLang="en-US" sz="2000" b="1" dirty="0">
                <a:latin typeface="Times New Roman" panose="02020603050405020304" pitchFamily="18" charset="0"/>
                <a:ea typeface="宋体" panose="02010600030101010101" pitchFamily="2" charset="-122"/>
              </a:rPr>
              <a:t>可将相同权限的用户分组，授予组的访问权；如</a:t>
            </a:r>
            <a:r>
              <a:rPr lang="en-US" altLang="zh-CN" sz="2000" b="1" dirty="0">
                <a:latin typeface="Times New Roman" panose="02020603050405020304" pitchFamily="18" charset="0"/>
                <a:ea typeface="宋体" panose="02010600030101010101" pitchFamily="2" charset="-122"/>
              </a:rPr>
              <a:t>UNIX</a:t>
            </a:r>
            <a:r>
              <a:rPr lang="zh-CN" altLang="en-US" sz="2000" b="1" dirty="0">
                <a:latin typeface="Times New Roman" panose="02020603050405020304" pitchFamily="18" charset="0"/>
                <a:ea typeface="宋体" panose="02010600030101010101" pitchFamily="2" charset="-122"/>
              </a:rPr>
              <a:t>等采用。</a:t>
            </a:r>
            <a:endParaRPr lang="zh-CN" altLang="en-US" sz="2000" b="1" dirty="0">
              <a:latin typeface="Times New Roman" panose="02020603050405020304" pitchFamily="18" charset="0"/>
              <a:ea typeface="宋体" panose="02010600030101010101" pitchFamily="2" charset="-122"/>
            </a:endParaRPr>
          </a:p>
        </p:txBody>
      </p:sp>
      <p:grpSp>
        <p:nvGrpSpPr>
          <p:cNvPr id="141317" name="Group 4"/>
          <p:cNvGrpSpPr/>
          <p:nvPr/>
        </p:nvGrpSpPr>
        <p:grpSpPr>
          <a:xfrm>
            <a:off x="1038225" y="1755775"/>
            <a:ext cx="6750050" cy="2965450"/>
            <a:chOff x="576" y="1632"/>
            <a:chExt cx="4128" cy="1830"/>
          </a:xfrm>
        </p:grpSpPr>
        <p:sp>
          <p:nvSpPr>
            <p:cNvPr id="141318" name="Line 5"/>
            <p:cNvSpPr/>
            <p:nvPr/>
          </p:nvSpPr>
          <p:spPr>
            <a:xfrm>
              <a:off x="1584" y="2112"/>
              <a:ext cx="816" cy="0"/>
            </a:xfrm>
            <a:prstGeom prst="line">
              <a:avLst/>
            </a:prstGeom>
            <a:ln w="28575" cap="flat" cmpd="sng">
              <a:solidFill>
                <a:schemeClr val="tx1"/>
              </a:solidFill>
              <a:prstDash val="solid"/>
              <a:headEnd type="none" w="med" len="med"/>
              <a:tailEnd type="none" w="med" len="med"/>
            </a:ln>
          </p:spPr>
        </p:sp>
        <p:sp>
          <p:nvSpPr>
            <p:cNvPr id="141319" name="Line 6"/>
            <p:cNvSpPr/>
            <p:nvPr/>
          </p:nvSpPr>
          <p:spPr>
            <a:xfrm>
              <a:off x="1584" y="3072"/>
              <a:ext cx="816" cy="0"/>
            </a:xfrm>
            <a:prstGeom prst="line">
              <a:avLst/>
            </a:prstGeom>
            <a:ln w="28575" cap="flat" cmpd="sng">
              <a:solidFill>
                <a:schemeClr val="tx1"/>
              </a:solidFill>
              <a:prstDash val="solid"/>
              <a:headEnd type="none" w="med" len="med"/>
              <a:tailEnd type="none" w="med" len="med"/>
            </a:ln>
          </p:spPr>
        </p:sp>
        <p:sp>
          <p:nvSpPr>
            <p:cNvPr id="141320" name="Line 7"/>
            <p:cNvSpPr/>
            <p:nvPr/>
          </p:nvSpPr>
          <p:spPr>
            <a:xfrm>
              <a:off x="2736" y="2112"/>
              <a:ext cx="816" cy="0"/>
            </a:xfrm>
            <a:prstGeom prst="line">
              <a:avLst/>
            </a:prstGeom>
            <a:ln w="28575" cap="flat" cmpd="sng">
              <a:solidFill>
                <a:schemeClr val="tx1"/>
              </a:solidFill>
              <a:prstDash val="solid"/>
              <a:headEnd type="none" w="med" len="med"/>
              <a:tailEnd type="none" w="med" len="med"/>
            </a:ln>
          </p:spPr>
        </p:sp>
        <p:sp>
          <p:nvSpPr>
            <p:cNvPr id="141321" name="Line 8"/>
            <p:cNvSpPr/>
            <p:nvPr/>
          </p:nvSpPr>
          <p:spPr>
            <a:xfrm>
              <a:off x="2736" y="3072"/>
              <a:ext cx="816" cy="0"/>
            </a:xfrm>
            <a:prstGeom prst="line">
              <a:avLst/>
            </a:prstGeom>
            <a:ln w="28575" cap="flat" cmpd="sng">
              <a:solidFill>
                <a:schemeClr val="tx1"/>
              </a:solidFill>
              <a:prstDash val="solid"/>
              <a:headEnd type="none" w="med" len="med"/>
              <a:tailEnd type="none" w="med" len="med"/>
            </a:ln>
          </p:spPr>
        </p:sp>
        <p:sp>
          <p:nvSpPr>
            <p:cNvPr id="141322" name="Line 9"/>
            <p:cNvSpPr/>
            <p:nvPr/>
          </p:nvSpPr>
          <p:spPr>
            <a:xfrm>
              <a:off x="3888" y="2064"/>
              <a:ext cx="816" cy="0"/>
            </a:xfrm>
            <a:prstGeom prst="line">
              <a:avLst/>
            </a:prstGeom>
            <a:ln w="28575" cap="flat" cmpd="sng">
              <a:solidFill>
                <a:schemeClr val="tx1"/>
              </a:solidFill>
              <a:prstDash val="solid"/>
              <a:headEnd type="none" w="med" len="med"/>
              <a:tailEnd type="none" w="med" len="med"/>
            </a:ln>
          </p:spPr>
        </p:sp>
        <p:sp>
          <p:nvSpPr>
            <p:cNvPr id="141323" name="Line 10"/>
            <p:cNvSpPr/>
            <p:nvPr/>
          </p:nvSpPr>
          <p:spPr>
            <a:xfrm>
              <a:off x="3888" y="3024"/>
              <a:ext cx="816" cy="0"/>
            </a:xfrm>
            <a:prstGeom prst="line">
              <a:avLst/>
            </a:prstGeom>
            <a:ln w="28575" cap="flat" cmpd="sng">
              <a:solidFill>
                <a:schemeClr val="tx1"/>
              </a:solidFill>
              <a:prstDash val="solid"/>
              <a:headEnd type="none" w="med" len="med"/>
              <a:tailEnd type="none" w="med" len="med"/>
            </a:ln>
          </p:spPr>
        </p:sp>
        <p:sp>
          <p:nvSpPr>
            <p:cNvPr id="141324" name="Line 11"/>
            <p:cNvSpPr/>
            <p:nvPr/>
          </p:nvSpPr>
          <p:spPr>
            <a:xfrm>
              <a:off x="2016" y="3312"/>
              <a:ext cx="432" cy="0"/>
            </a:xfrm>
            <a:prstGeom prst="line">
              <a:avLst/>
            </a:prstGeom>
            <a:ln w="28575" cap="flat" cmpd="sng">
              <a:solidFill>
                <a:schemeClr val="tx1"/>
              </a:solidFill>
              <a:prstDash val="solid"/>
              <a:headEnd type="none" w="med" len="med"/>
              <a:tailEnd type="none" w="med" len="med"/>
            </a:ln>
          </p:spPr>
        </p:sp>
        <p:sp>
          <p:nvSpPr>
            <p:cNvPr id="141325" name="Line 12"/>
            <p:cNvSpPr/>
            <p:nvPr/>
          </p:nvSpPr>
          <p:spPr>
            <a:xfrm>
              <a:off x="3168" y="3312"/>
              <a:ext cx="432" cy="0"/>
            </a:xfrm>
            <a:prstGeom prst="line">
              <a:avLst/>
            </a:prstGeom>
            <a:ln w="28575" cap="flat" cmpd="sng">
              <a:solidFill>
                <a:schemeClr val="tx1"/>
              </a:solidFill>
              <a:prstDash val="solid"/>
              <a:headEnd type="none" w="med" len="med"/>
              <a:tailEnd type="none" w="med" len="med"/>
            </a:ln>
          </p:spPr>
        </p:sp>
        <p:grpSp>
          <p:nvGrpSpPr>
            <p:cNvPr id="141326" name="Group 13"/>
            <p:cNvGrpSpPr/>
            <p:nvPr/>
          </p:nvGrpSpPr>
          <p:grpSpPr>
            <a:xfrm>
              <a:off x="576" y="1632"/>
              <a:ext cx="4128" cy="1830"/>
              <a:chOff x="912" y="1248"/>
              <a:chExt cx="4128" cy="1830"/>
            </a:xfrm>
          </p:grpSpPr>
          <p:sp>
            <p:nvSpPr>
              <p:cNvPr id="141342" name="Text Box 14"/>
              <p:cNvSpPr txBox="1"/>
              <p:nvPr/>
            </p:nvSpPr>
            <p:spPr>
              <a:xfrm>
                <a:off x="1920" y="1392"/>
                <a:ext cx="816" cy="1686"/>
              </a:xfrm>
              <a:prstGeom prst="rect">
                <a:avLst/>
              </a:prstGeom>
              <a:solidFill>
                <a:schemeClr val="hlink"/>
              </a:solid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userA</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Own</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W</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1343" name="Text Box 15"/>
              <p:cNvSpPr txBox="1"/>
              <p:nvPr/>
            </p:nvSpPr>
            <p:spPr>
              <a:xfrm>
                <a:off x="3072" y="1392"/>
                <a:ext cx="816" cy="1686"/>
              </a:xfrm>
              <a:prstGeom prst="rect">
                <a:avLst/>
              </a:prstGeom>
              <a:solidFill>
                <a:schemeClr val="hlink"/>
              </a:solid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userB</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1344" name="Text Box 16"/>
              <p:cNvSpPr txBox="1"/>
              <p:nvPr/>
            </p:nvSpPr>
            <p:spPr>
              <a:xfrm>
                <a:off x="4224" y="1392"/>
                <a:ext cx="816" cy="1686"/>
              </a:xfrm>
              <a:prstGeom prst="rect">
                <a:avLst/>
              </a:prstGeom>
              <a:solidFill>
                <a:schemeClr val="hlink"/>
              </a:solid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userC</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W</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1345" name="Text Box 17"/>
              <p:cNvSpPr txBox="1"/>
              <p:nvPr/>
            </p:nvSpPr>
            <p:spPr>
              <a:xfrm>
                <a:off x="912" y="1248"/>
                <a:ext cx="576" cy="288"/>
              </a:xfrm>
              <a:prstGeom prst="rect">
                <a:avLst/>
              </a:prstGeom>
              <a:solidFill>
                <a:schemeClr val="hlink"/>
              </a:solidFill>
              <a:ln w="2857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dirty="0">
                    <a:latin typeface="Times New Roman" panose="02020603050405020304" pitchFamily="18" charset="0"/>
                    <a:ea typeface="宋体" panose="02010600030101010101" pitchFamily="2" charset="-122"/>
                  </a:rPr>
                  <a:t>Obj1</a:t>
                </a:r>
                <a:endParaRPr lang="en-US" altLang="zh-CN" dirty="0">
                  <a:latin typeface="Times New Roman" panose="02020603050405020304" pitchFamily="18" charset="0"/>
                  <a:ea typeface="宋体" panose="02010600030101010101" pitchFamily="2" charset="-122"/>
                </a:endParaRPr>
              </a:p>
            </p:txBody>
          </p:sp>
          <p:sp>
            <p:nvSpPr>
              <p:cNvPr id="141346" name="Line 18"/>
              <p:cNvSpPr/>
              <p:nvPr/>
            </p:nvSpPr>
            <p:spPr>
              <a:xfrm>
                <a:off x="1344" y="1536"/>
                <a:ext cx="576" cy="0"/>
              </a:xfrm>
              <a:prstGeom prst="line">
                <a:avLst/>
              </a:prstGeom>
              <a:ln w="28575" cap="flat" cmpd="sng">
                <a:solidFill>
                  <a:schemeClr val="tx1"/>
                </a:solidFill>
                <a:prstDash val="solid"/>
                <a:headEnd type="none" w="med" len="med"/>
                <a:tailEnd type="triangle" w="med" len="med"/>
              </a:ln>
            </p:spPr>
          </p:sp>
          <p:sp>
            <p:nvSpPr>
              <p:cNvPr id="141347" name="Line 19"/>
              <p:cNvSpPr/>
              <p:nvPr/>
            </p:nvSpPr>
            <p:spPr>
              <a:xfrm flipV="1">
                <a:off x="2784" y="1584"/>
                <a:ext cx="288" cy="1344"/>
              </a:xfrm>
              <a:prstGeom prst="line">
                <a:avLst/>
              </a:prstGeom>
              <a:ln w="28575" cap="flat" cmpd="sng">
                <a:solidFill>
                  <a:schemeClr val="tx1"/>
                </a:solidFill>
                <a:prstDash val="solid"/>
                <a:headEnd type="none" w="med" len="med"/>
                <a:tailEnd type="triangle" w="med" len="med"/>
              </a:ln>
            </p:spPr>
          </p:sp>
          <p:sp>
            <p:nvSpPr>
              <p:cNvPr id="141348" name="Line 20"/>
              <p:cNvSpPr/>
              <p:nvPr/>
            </p:nvSpPr>
            <p:spPr>
              <a:xfrm flipV="1">
                <a:off x="3936" y="1584"/>
                <a:ext cx="288" cy="1344"/>
              </a:xfrm>
              <a:prstGeom prst="line">
                <a:avLst/>
              </a:prstGeom>
              <a:ln w="28575" cap="flat" cmpd="sng">
                <a:solidFill>
                  <a:schemeClr val="tx1"/>
                </a:solidFill>
                <a:prstDash val="solid"/>
                <a:headEnd type="none" w="med" len="med"/>
                <a:tailEnd type="triangle" w="med" len="med"/>
              </a:ln>
            </p:spPr>
          </p:sp>
        </p:grpSp>
        <p:sp>
          <p:nvSpPr>
            <p:cNvPr id="141327" name="Text Box 21" descr="白色大理石"/>
            <p:cNvSpPr txBox="1"/>
            <p:nvPr/>
          </p:nvSpPr>
          <p:spPr>
            <a:xfrm>
              <a:off x="1584" y="1776"/>
              <a:ext cx="816" cy="1686"/>
            </a:xfrm>
            <a:prstGeom prst="rect">
              <a:avLst/>
            </a:prstGeom>
            <a:no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userA</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Own</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W</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1328" name="Line 22"/>
            <p:cNvSpPr/>
            <p:nvPr/>
          </p:nvSpPr>
          <p:spPr>
            <a:xfrm>
              <a:off x="1584" y="2112"/>
              <a:ext cx="816" cy="0"/>
            </a:xfrm>
            <a:prstGeom prst="line">
              <a:avLst/>
            </a:prstGeom>
            <a:ln w="28575" cap="flat" cmpd="sng">
              <a:solidFill>
                <a:schemeClr val="tx1"/>
              </a:solidFill>
              <a:prstDash val="solid"/>
              <a:headEnd type="none" w="med" len="med"/>
              <a:tailEnd type="none" w="med" len="med"/>
            </a:ln>
          </p:spPr>
        </p:sp>
        <p:sp>
          <p:nvSpPr>
            <p:cNvPr id="141329" name="Line 23"/>
            <p:cNvSpPr/>
            <p:nvPr/>
          </p:nvSpPr>
          <p:spPr>
            <a:xfrm>
              <a:off x="1584" y="3072"/>
              <a:ext cx="816" cy="0"/>
            </a:xfrm>
            <a:prstGeom prst="line">
              <a:avLst/>
            </a:prstGeom>
            <a:ln w="28575" cap="flat" cmpd="sng">
              <a:solidFill>
                <a:schemeClr val="tx1"/>
              </a:solidFill>
              <a:prstDash val="solid"/>
              <a:headEnd type="none" w="med" len="med"/>
              <a:tailEnd type="none" w="med" len="med"/>
            </a:ln>
          </p:spPr>
        </p:sp>
        <p:sp>
          <p:nvSpPr>
            <p:cNvPr id="141330" name="Text Box 24" descr="白色大理石"/>
            <p:cNvSpPr txBox="1"/>
            <p:nvPr/>
          </p:nvSpPr>
          <p:spPr>
            <a:xfrm>
              <a:off x="2736" y="1776"/>
              <a:ext cx="816" cy="1686"/>
            </a:xfrm>
            <a:prstGeom prst="rect">
              <a:avLst/>
            </a:prstGeom>
            <a:no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userB</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1331" name="Line 25"/>
            <p:cNvSpPr/>
            <p:nvPr/>
          </p:nvSpPr>
          <p:spPr>
            <a:xfrm>
              <a:off x="2736" y="2112"/>
              <a:ext cx="816" cy="0"/>
            </a:xfrm>
            <a:prstGeom prst="line">
              <a:avLst/>
            </a:prstGeom>
            <a:ln w="28575" cap="flat" cmpd="sng">
              <a:solidFill>
                <a:schemeClr val="tx1"/>
              </a:solidFill>
              <a:prstDash val="solid"/>
              <a:headEnd type="none" w="med" len="med"/>
              <a:tailEnd type="none" w="med" len="med"/>
            </a:ln>
          </p:spPr>
        </p:sp>
        <p:sp>
          <p:nvSpPr>
            <p:cNvPr id="141332" name="Line 26"/>
            <p:cNvSpPr/>
            <p:nvPr/>
          </p:nvSpPr>
          <p:spPr>
            <a:xfrm>
              <a:off x="2736" y="3072"/>
              <a:ext cx="816" cy="0"/>
            </a:xfrm>
            <a:prstGeom prst="line">
              <a:avLst/>
            </a:prstGeom>
            <a:ln w="28575" cap="flat" cmpd="sng">
              <a:solidFill>
                <a:schemeClr val="tx1"/>
              </a:solidFill>
              <a:prstDash val="solid"/>
              <a:headEnd type="none" w="med" len="med"/>
              <a:tailEnd type="none" w="med" len="med"/>
            </a:ln>
          </p:spPr>
        </p:sp>
        <p:sp>
          <p:nvSpPr>
            <p:cNvPr id="141333" name="Text Box 27" descr="白色大理石"/>
            <p:cNvSpPr txBox="1"/>
            <p:nvPr/>
          </p:nvSpPr>
          <p:spPr>
            <a:xfrm>
              <a:off x="3888" y="1776"/>
              <a:ext cx="816" cy="1686"/>
            </a:xfrm>
            <a:prstGeom prst="rect">
              <a:avLst/>
            </a:prstGeom>
            <a:no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userC</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W</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1334" name="Line 28"/>
            <p:cNvSpPr/>
            <p:nvPr/>
          </p:nvSpPr>
          <p:spPr>
            <a:xfrm>
              <a:off x="3888" y="2064"/>
              <a:ext cx="816" cy="0"/>
            </a:xfrm>
            <a:prstGeom prst="line">
              <a:avLst/>
            </a:prstGeom>
            <a:ln w="28575" cap="flat" cmpd="sng">
              <a:solidFill>
                <a:schemeClr val="tx1"/>
              </a:solidFill>
              <a:prstDash val="solid"/>
              <a:headEnd type="none" w="med" len="med"/>
              <a:tailEnd type="none" w="med" len="med"/>
            </a:ln>
          </p:spPr>
        </p:sp>
        <p:sp>
          <p:nvSpPr>
            <p:cNvPr id="141335" name="Line 29"/>
            <p:cNvSpPr/>
            <p:nvPr/>
          </p:nvSpPr>
          <p:spPr>
            <a:xfrm>
              <a:off x="3888" y="3024"/>
              <a:ext cx="816" cy="0"/>
            </a:xfrm>
            <a:prstGeom prst="line">
              <a:avLst/>
            </a:prstGeom>
            <a:ln w="28575" cap="flat" cmpd="sng">
              <a:solidFill>
                <a:schemeClr val="tx1"/>
              </a:solidFill>
              <a:prstDash val="solid"/>
              <a:headEnd type="none" w="med" len="med"/>
              <a:tailEnd type="none" w="med" len="med"/>
            </a:ln>
          </p:spPr>
        </p:sp>
        <p:sp>
          <p:nvSpPr>
            <p:cNvPr id="141336" name="Text Box 30" descr="白色大理石"/>
            <p:cNvSpPr txBox="1"/>
            <p:nvPr/>
          </p:nvSpPr>
          <p:spPr>
            <a:xfrm>
              <a:off x="576" y="1632"/>
              <a:ext cx="576" cy="288"/>
            </a:xfrm>
            <a:prstGeom prst="rect">
              <a:avLst/>
            </a:prstGeom>
            <a:noFill/>
            <a:ln w="2857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dirty="0">
                  <a:latin typeface="Times New Roman" panose="02020603050405020304" pitchFamily="18" charset="0"/>
                  <a:ea typeface="宋体" panose="02010600030101010101" pitchFamily="2" charset="-122"/>
                </a:rPr>
                <a:t>Obj1</a:t>
              </a:r>
              <a:endParaRPr lang="en-US" altLang="zh-CN" dirty="0">
                <a:latin typeface="Times New Roman" panose="02020603050405020304" pitchFamily="18" charset="0"/>
                <a:ea typeface="宋体" panose="02010600030101010101" pitchFamily="2" charset="-122"/>
              </a:endParaRPr>
            </a:p>
          </p:txBody>
        </p:sp>
        <p:sp>
          <p:nvSpPr>
            <p:cNvPr id="141337" name="Line 31"/>
            <p:cNvSpPr/>
            <p:nvPr/>
          </p:nvSpPr>
          <p:spPr>
            <a:xfrm>
              <a:off x="1008" y="1920"/>
              <a:ext cx="576" cy="0"/>
            </a:xfrm>
            <a:prstGeom prst="line">
              <a:avLst/>
            </a:prstGeom>
            <a:ln w="28575" cap="flat" cmpd="sng">
              <a:solidFill>
                <a:schemeClr val="tx1"/>
              </a:solidFill>
              <a:prstDash val="solid"/>
              <a:headEnd type="none" w="med" len="med"/>
              <a:tailEnd type="triangle" w="med" len="med"/>
            </a:ln>
          </p:spPr>
        </p:sp>
        <p:sp>
          <p:nvSpPr>
            <p:cNvPr id="141338" name="Line 32"/>
            <p:cNvSpPr/>
            <p:nvPr/>
          </p:nvSpPr>
          <p:spPr>
            <a:xfrm>
              <a:off x="2016" y="3312"/>
              <a:ext cx="432" cy="0"/>
            </a:xfrm>
            <a:prstGeom prst="line">
              <a:avLst/>
            </a:prstGeom>
            <a:ln w="28575" cap="flat" cmpd="sng">
              <a:solidFill>
                <a:schemeClr val="tx1"/>
              </a:solidFill>
              <a:prstDash val="solid"/>
              <a:headEnd type="none" w="med" len="med"/>
              <a:tailEnd type="none" w="med" len="med"/>
            </a:ln>
          </p:spPr>
        </p:sp>
        <p:sp>
          <p:nvSpPr>
            <p:cNvPr id="141339" name="Line 33"/>
            <p:cNvSpPr/>
            <p:nvPr/>
          </p:nvSpPr>
          <p:spPr>
            <a:xfrm flipV="1">
              <a:off x="2448" y="1968"/>
              <a:ext cx="288" cy="1344"/>
            </a:xfrm>
            <a:prstGeom prst="line">
              <a:avLst/>
            </a:prstGeom>
            <a:ln w="28575" cap="flat" cmpd="sng">
              <a:solidFill>
                <a:schemeClr val="tx1"/>
              </a:solidFill>
              <a:prstDash val="solid"/>
              <a:headEnd type="none" w="med" len="med"/>
              <a:tailEnd type="triangle" w="med" len="med"/>
            </a:ln>
          </p:spPr>
        </p:sp>
        <p:sp>
          <p:nvSpPr>
            <p:cNvPr id="141340" name="Line 34"/>
            <p:cNvSpPr/>
            <p:nvPr/>
          </p:nvSpPr>
          <p:spPr>
            <a:xfrm>
              <a:off x="3168" y="3312"/>
              <a:ext cx="432" cy="0"/>
            </a:xfrm>
            <a:prstGeom prst="line">
              <a:avLst/>
            </a:prstGeom>
            <a:ln w="28575" cap="flat" cmpd="sng">
              <a:solidFill>
                <a:schemeClr val="tx1"/>
              </a:solidFill>
              <a:prstDash val="solid"/>
              <a:headEnd type="none" w="med" len="med"/>
              <a:tailEnd type="none" w="med" len="med"/>
            </a:ln>
          </p:spPr>
        </p:sp>
        <p:sp>
          <p:nvSpPr>
            <p:cNvPr id="141341" name="Line 35"/>
            <p:cNvSpPr/>
            <p:nvPr/>
          </p:nvSpPr>
          <p:spPr>
            <a:xfrm flipV="1">
              <a:off x="3600" y="1968"/>
              <a:ext cx="288" cy="1344"/>
            </a:xfrm>
            <a:prstGeom prst="line">
              <a:avLst/>
            </a:prstGeom>
            <a:ln w="28575" cap="flat" cmpd="sng">
              <a:solidFill>
                <a:schemeClr val="tx1"/>
              </a:solidFill>
              <a:prstDash val="solid"/>
              <a:headEnd type="none" w="med" len="med"/>
              <a:tailEnd type="triangle" w="med" len="med"/>
            </a:ln>
          </p:spPr>
        </p:sp>
      </p:gr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43363"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Access Control Matrix (1)</a:t>
            </a:r>
            <a:endParaRPr lang="en-US" altLang="zh-CN" dirty="0">
              <a:ea typeface="宋体" panose="02010600030101010101" pitchFamily="2" charset="-122"/>
            </a:endParaRPr>
          </a:p>
        </p:txBody>
      </p:sp>
      <p:sp>
        <p:nvSpPr>
          <p:cNvPr id="143364" name="Rectangle 3"/>
          <p:cNvSpPr>
            <a:spLocks noGrp="1"/>
          </p:cNvSpPr>
          <p:nvPr>
            <p:ph idx="1"/>
          </p:nvPr>
        </p:nvSpPr>
        <p:spPr/>
        <p:txBody>
          <a:bodyPr vert="horz" wrap="square" lIns="91440" tIns="45720" rIns="91440" bIns="45720" anchor="t" anchorCtr="0"/>
          <a:lstStyle/>
          <a:p>
            <a:pPr eaLnBrk="1" hangingPunct="1">
              <a:buNone/>
            </a:pPr>
            <a:r>
              <a:rPr lang="en-US" altLang="zh-CN" dirty="0">
                <a:ea typeface="宋体" panose="02010600030101010101" pitchFamily="2" charset="-122"/>
              </a:rPr>
              <a:t>Figure. Comparison between ACLs and capabilities for protecting objects. (a) Using an ACL</a:t>
            </a:r>
            <a:r>
              <a:rPr lang="zh-CN" altLang="en-US" sz="2000" dirty="0">
                <a:ea typeface="宋体" panose="02010600030101010101" pitchFamily="2" charset="-122"/>
              </a:rPr>
              <a:t>（整表查）</a:t>
            </a:r>
            <a:r>
              <a:rPr lang="en-US" altLang="zh-CN" sz="2000" dirty="0">
                <a:ea typeface="宋体" panose="02010600030101010101" pitchFamily="2" charset="-122"/>
              </a:rPr>
              <a:t>,S</a:t>
            </a:r>
            <a:r>
              <a:rPr lang="zh-CN" altLang="en-US" sz="2000" dirty="0">
                <a:ea typeface="宋体" panose="02010600030101010101" pitchFamily="2" charset="-122"/>
              </a:rPr>
              <a:t>为主体</a:t>
            </a:r>
            <a:r>
              <a:rPr lang="en-US" altLang="zh-CN" sz="2000" dirty="0">
                <a:ea typeface="宋体" panose="02010600030101010101" pitchFamily="2" charset="-122"/>
              </a:rPr>
              <a:t>(</a:t>
            </a:r>
            <a:r>
              <a:rPr lang="zh-CN" altLang="en-US" sz="2000" dirty="0">
                <a:ea typeface="宋体" panose="02010600030101010101" pitchFamily="2" charset="-122"/>
              </a:rPr>
              <a:t>用户</a:t>
            </a:r>
            <a:r>
              <a:rPr lang="en-US" altLang="zh-CN" sz="2000" dirty="0">
                <a:ea typeface="宋体" panose="02010600030101010101" pitchFamily="2" charset="-122"/>
              </a:rPr>
              <a:t>)</a:t>
            </a:r>
            <a:r>
              <a:rPr lang="en-US" altLang="zh-CN" dirty="0">
                <a:ea typeface="宋体" panose="02010600030101010101" pitchFamily="2" charset="-122"/>
              </a:rPr>
              <a:t>. </a:t>
            </a:r>
            <a:endParaRPr lang="en-US" altLang="zh-CN" dirty="0">
              <a:ea typeface="宋体" panose="02010600030101010101" pitchFamily="2" charset="-122"/>
            </a:endParaRPr>
          </a:p>
        </p:txBody>
      </p:sp>
      <p:pic>
        <p:nvPicPr>
          <p:cNvPr id="143365" name="Picture 4" descr="09-26"/>
          <p:cNvPicPr>
            <a:picLocks noChangeAspect="1"/>
          </p:cNvPicPr>
          <p:nvPr/>
        </p:nvPicPr>
        <p:blipFill>
          <a:blip r:embed="rId1"/>
          <a:srcRect b="53622"/>
          <a:stretch>
            <a:fillRect/>
          </a:stretch>
        </p:blipFill>
        <p:spPr>
          <a:xfrm>
            <a:off x="601663" y="1916113"/>
            <a:ext cx="7950200" cy="2901950"/>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45411" name="Rectangle 2"/>
          <p:cNvSpPr>
            <a:spLocks noGrp="1"/>
          </p:cNvSpPr>
          <p:nvPr>
            <p:ph type="title"/>
          </p:nvPr>
        </p:nvSpPr>
        <p:spPr>
          <a:xfrm>
            <a:off x="838200" y="677863"/>
            <a:ext cx="7239000" cy="641350"/>
          </a:xfrm>
        </p:spPr>
        <p:txBody>
          <a:bodyPr vert="horz" wrap="square" lIns="91440" tIns="45720" rIns="91440" bIns="45720" anchor="ctr" anchorCtr="0"/>
          <a:lstStyle/>
          <a:p>
            <a:pPr eaLnBrk="1" hangingPunct="1"/>
            <a:r>
              <a:rPr lang="en-US" altLang="zh-CN" sz="4000" b="1" dirty="0">
                <a:solidFill>
                  <a:srgbClr val="FF3300"/>
                </a:solidFill>
                <a:latin typeface="Times New Roman" panose="02020603050405020304" pitchFamily="18" charset="0"/>
                <a:ea typeface="宋体" panose="02010600030101010101" pitchFamily="2" charset="-122"/>
              </a:rPr>
              <a:t>Capability List(CL)</a:t>
            </a:r>
            <a:endParaRPr lang="en-US" altLang="zh-CN" sz="4000" b="1" dirty="0">
              <a:solidFill>
                <a:srgbClr val="FF3300"/>
              </a:solidFill>
              <a:latin typeface="Times New Roman" panose="02020603050405020304" pitchFamily="18" charset="0"/>
              <a:ea typeface="宋体" panose="02010600030101010101" pitchFamily="2" charset="-122"/>
            </a:endParaRPr>
          </a:p>
        </p:txBody>
      </p:sp>
      <p:grpSp>
        <p:nvGrpSpPr>
          <p:cNvPr id="145412" name="Group 3"/>
          <p:cNvGrpSpPr/>
          <p:nvPr/>
        </p:nvGrpSpPr>
        <p:grpSpPr>
          <a:xfrm>
            <a:off x="1143000" y="2363788"/>
            <a:ext cx="6858000" cy="2752725"/>
            <a:chOff x="720" y="1632"/>
            <a:chExt cx="4320" cy="1734"/>
          </a:xfrm>
        </p:grpSpPr>
        <p:sp>
          <p:nvSpPr>
            <p:cNvPr id="145414" name="Text Box 4"/>
            <p:cNvSpPr txBox="1"/>
            <p:nvPr/>
          </p:nvSpPr>
          <p:spPr>
            <a:xfrm>
              <a:off x="1920" y="1680"/>
              <a:ext cx="816" cy="1686"/>
            </a:xfrm>
            <a:prstGeom prst="rect">
              <a:avLst/>
            </a:prstGeom>
            <a:solidFill>
              <a:schemeClr val="hlink"/>
            </a:solid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Obj1</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Own</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W</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5415" name="Line 5"/>
            <p:cNvSpPr/>
            <p:nvPr/>
          </p:nvSpPr>
          <p:spPr>
            <a:xfrm>
              <a:off x="1920" y="2016"/>
              <a:ext cx="816" cy="0"/>
            </a:xfrm>
            <a:prstGeom prst="line">
              <a:avLst/>
            </a:prstGeom>
            <a:ln w="28575" cap="flat" cmpd="sng">
              <a:solidFill>
                <a:schemeClr val="tx1"/>
              </a:solidFill>
              <a:prstDash val="solid"/>
              <a:headEnd type="none" w="med" len="med"/>
              <a:tailEnd type="none" w="med" len="med"/>
            </a:ln>
          </p:spPr>
        </p:sp>
        <p:sp>
          <p:nvSpPr>
            <p:cNvPr id="145416" name="Line 6"/>
            <p:cNvSpPr/>
            <p:nvPr/>
          </p:nvSpPr>
          <p:spPr>
            <a:xfrm>
              <a:off x="1920" y="2976"/>
              <a:ext cx="816" cy="0"/>
            </a:xfrm>
            <a:prstGeom prst="line">
              <a:avLst/>
            </a:prstGeom>
            <a:ln w="28575" cap="flat" cmpd="sng">
              <a:solidFill>
                <a:schemeClr val="tx1"/>
              </a:solidFill>
              <a:prstDash val="solid"/>
              <a:headEnd type="none" w="med" len="med"/>
              <a:tailEnd type="none" w="med" len="med"/>
            </a:ln>
          </p:spPr>
        </p:sp>
        <p:sp>
          <p:nvSpPr>
            <p:cNvPr id="145417" name="Text Box 7"/>
            <p:cNvSpPr txBox="1"/>
            <p:nvPr/>
          </p:nvSpPr>
          <p:spPr>
            <a:xfrm>
              <a:off x="3072" y="1680"/>
              <a:ext cx="816" cy="1686"/>
            </a:xfrm>
            <a:prstGeom prst="rect">
              <a:avLst/>
            </a:prstGeom>
            <a:solidFill>
              <a:schemeClr val="hlink"/>
            </a:solid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Obj2</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5418" name="Line 8"/>
            <p:cNvSpPr/>
            <p:nvPr/>
          </p:nvSpPr>
          <p:spPr>
            <a:xfrm>
              <a:off x="3072" y="2016"/>
              <a:ext cx="816" cy="0"/>
            </a:xfrm>
            <a:prstGeom prst="line">
              <a:avLst/>
            </a:prstGeom>
            <a:ln w="28575" cap="flat" cmpd="sng">
              <a:solidFill>
                <a:schemeClr val="tx1"/>
              </a:solidFill>
              <a:prstDash val="solid"/>
              <a:headEnd type="none" w="med" len="med"/>
              <a:tailEnd type="none" w="med" len="med"/>
            </a:ln>
          </p:spPr>
        </p:sp>
        <p:sp>
          <p:nvSpPr>
            <p:cNvPr id="145419" name="Line 9"/>
            <p:cNvSpPr/>
            <p:nvPr/>
          </p:nvSpPr>
          <p:spPr>
            <a:xfrm>
              <a:off x="3072" y="2976"/>
              <a:ext cx="816" cy="0"/>
            </a:xfrm>
            <a:prstGeom prst="line">
              <a:avLst/>
            </a:prstGeom>
            <a:ln w="28575" cap="flat" cmpd="sng">
              <a:solidFill>
                <a:schemeClr val="tx1"/>
              </a:solidFill>
              <a:prstDash val="solid"/>
              <a:headEnd type="none" w="med" len="med"/>
              <a:tailEnd type="none" w="med" len="med"/>
            </a:ln>
          </p:spPr>
        </p:sp>
        <p:sp>
          <p:nvSpPr>
            <p:cNvPr id="145420" name="Text Box 10"/>
            <p:cNvSpPr txBox="1"/>
            <p:nvPr/>
          </p:nvSpPr>
          <p:spPr>
            <a:xfrm>
              <a:off x="4224" y="1680"/>
              <a:ext cx="816" cy="1686"/>
            </a:xfrm>
            <a:prstGeom prst="rect">
              <a:avLst/>
            </a:prstGeom>
            <a:solidFill>
              <a:schemeClr val="hlink"/>
            </a:solidFill>
            <a:ln w="28575" cap="flat" cmpd="sng">
              <a:solidFill>
                <a:schemeClr val="tx1"/>
              </a:solidFill>
              <a:prstDash val="solid"/>
              <a:miter/>
              <a:headEnd type="none" w="med" len="med"/>
              <a:tailEnd type="none" w="med" len="med"/>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50000"/>
                </a:spcBef>
                <a:buClrTx/>
                <a:buNone/>
              </a:pPr>
              <a:r>
                <a:rPr lang="zh-CN" altLang="zh-CN" dirty="0">
                  <a:latin typeface="Times New Roman" panose="02020603050405020304" pitchFamily="18" charset="0"/>
                  <a:ea typeface="宋体" panose="02010600030101010101" pitchFamily="2" charset="-122"/>
                </a:rPr>
                <a:t>Obj3</a:t>
              </a:r>
              <a:endParaRPr lang="zh-CN"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R</a:t>
              </a:r>
              <a:endParaRPr lang="en-US" altLang="zh-CN" dirty="0">
                <a:solidFill>
                  <a:srgbClr val="FF3300"/>
                </a:solidFill>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solidFill>
                    <a:srgbClr val="FF3300"/>
                  </a:solidFill>
                  <a:latin typeface="Times New Roman" panose="02020603050405020304" pitchFamily="18" charset="0"/>
                  <a:ea typeface="宋体" panose="02010600030101010101" pitchFamily="2" charset="-122"/>
                </a:rPr>
                <a:t>W</a:t>
              </a:r>
              <a:endParaRPr lang="en-US" altLang="zh-CN" dirty="0">
                <a:latin typeface="Times New Roman" panose="02020603050405020304" pitchFamily="18" charset="0"/>
                <a:ea typeface="宋体" panose="02010600030101010101" pitchFamily="2" charset="-122"/>
              </a:endParaRPr>
            </a:p>
            <a:p>
              <a:pPr marL="0" lvl="0" indent="0" eaLnBrk="1" hangingPunct="1">
                <a:spcBef>
                  <a:spcPct val="50000"/>
                </a:spcBef>
                <a:buClrTx/>
                <a:buNone/>
              </a:pPr>
              <a:r>
                <a:rPr lang="en-US" altLang="zh-CN" dirty="0">
                  <a:latin typeface="Times New Roman" panose="02020603050405020304" pitchFamily="18" charset="0"/>
                  <a:ea typeface="宋体" panose="02010600030101010101" pitchFamily="2" charset="-122"/>
                </a:rPr>
                <a:t>O</a:t>
              </a:r>
              <a:endParaRPr lang="en-US" altLang="zh-CN" dirty="0">
                <a:latin typeface="Times New Roman" panose="02020603050405020304" pitchFamily="18" charset="0"/>
                <a:ea typeface="宋体" panose="02010600030101010101" pitchFamily="2" charset="-122"/>
              </a:endParaRPr>
            </a:p>
          </p:txBody>
        </p:sp>
        <p:sp>
          <p:nvSpPr>
            <p:cNvPr id="145421" name="Line 11"/>
            <p:cNvSpPr/>
            <p:nvPr/>
          </p:nvSpPr>
          <p:spPr>
            <a:xfrm>
              <a:off x="4224" y="2016"/>
              <a:ext cx="816" cy="0"/>
            </a:xfrm>
            <a:prstGeom prst="line">
              <a:avLst/>
            </a:prstGeom>
            <a:ln w="28575" cap="flat" cmpd="sng">
              <a:solidFill>
                <a:schemeClr val="tx1"/>
              </a:solidFill>
              <a:prstDash val="solid"/>
              <a:headEnd type="none" w="med" len="med"/>
              <a:tailEnd type="none" w="med" len="med"/>
            </a:ln>
          </p:spPr>
        </p:sp>
        <p:sp>
          <p:nvSpPr>
            <p:cNvPr id="145422" name="Line 12"/>
            <p:cNvSpPr/>
            <p:nvPr/>
          </p:nvSpPr>
          <p:spPr>
            <a:xfrm>
              <a:off x="4224" y="2976"/>
              <a:ext cx="816" cy="0"/>
            </a:xfrm>
            <a:prstGeom prst="line">
              <a:avLst/>
            </a:prstGeom>
            <a:ln w="28575" cap="flat" cmpd="sng">
              <a:solidFill>
                <a:schemeClr val="tx1"/>
              </a:solidFill>
              <a:prstDash val="solid"/>
              <a:headEnd type="none" w="med" len="med"/>
              <a:tailEnd type="none" w="med" len="med"/>
            </a:ln>
          </p:spPr>
        </p:sp>
        <p:sp>
          <p:nvSpPr>
            <p:cNvPr id="145423" name="Text Box 13"/>
            <p:cNvSpPr txBox="1"/>
            <p:nvPr/>
          </p:nvSpPr>
          <p:spPr>
            <a:xfrm>
              <a:off x="720" y="1632"/>
              <a:ext cx="624" cy="288"/>
            </a:xfrm>
            <a:prstGeom prst="rect">
              <a:avLst/>
            </a:prstGeom>
            <a:solidFill>
              <a:schemeClr val="hlink"/>
            </a:solidFill>
            <a:ln w="2857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en-US" altLang="zh-CN" dirty="0">
                  <a:latin typeface="Times New Roman" panose="02020603050405020304" pitchFamily="18" charset="0"/>
                  <a:ea typeface="宋体" panose="02010600030101010101" pitchFamily="2" charset="-122"/>
                </a:rPr>
                <a:t>UserA</a:t>
              </a:r>
              <a:endParaRPr lang="en-US" altLang="zh-CN" dirty="0">
                <a:latin typeface="Times New Roman" panose="02020603050405020304" pitchFamily="18" charset="0"/>
                <a:ea typeface="宋体" panose="02010600030101010101" pitchFamily="2" charset="-122"/>
              </a:endParaRPr>
            </a:p>
          </p:txBody>
        </p:sp>
        <p:sp>
          <p:nvSpPr>
            <p:cNvPr id="145424" name="Line 14"/>
            <p:cNvSpPr/>
            <p:nvPr/>
          </p:nvSpPr>
          <p:spPr>
            <a:xfrm>
              <a:off x="1344" y="1824"/>
              <a:ext cx="576" cy="0"/>
            </a:xfrm>
            <a:prstGeom prst="line">
              <a:avLst/>
            </a:prstGeom>
            <a:ln w="28575" cap="flat" cmpd="sng">
              <a:solidFill>
                <a:schemeClr val="tx1"/>
              </a:solidFill>
              <a:prstDash val="solid"/>
              <a:headEnd type="none" w="med" len="med"/>
              <a:tailEnd type="triangle" w="med" len="med"/>
            </a:ln>
          </p:spPr>
        </p:sp>
        <p:sp>
          <p:nvSpPr>
            <p:cNvPr id="145425" name="Line 15"/>
            <p:cNvSpPr/>
            <p:nvPr/>
          </p:nvSpPr>
          <p:spPr>
            <a:xfrm>
              <a:off x="2352" y="3216"/>
              <a:ext cx="432" cy="0"/>
            </a:xfrm>
            <a:prstGeom prst="line">
              <a:avLst/>
            </a:prstGeom>
            <a:ln w="28575" cap="flat" cmpd="sng">
              <a:solidFill>
                <a:schemeClr val="tx1"/>
              </a:solidFill>
              <a:prstDash val="solid"/>
              <a:headEnd type="none" w="med" len="med"/>
              <a:tailEnd type="none" w="med" len="med"/>
            </a:ln>
          </p:spPr>
        </p:sp>
        <p:sp>
          <p:nvSpPr>
            <p:cNvPr id="145426" name="Line 16"/>
            <p:cNvSpPr/>
            <p:nvPr/>
          </p:nvSpPr>
          <p:spPr>
            <a:xfrm flipV="1">
              <a:off x="2784" y="1872"/>
              <a:ext cx="288" cy="1344"/>
            </a:xfrm>
            <a:prstGeom prst="line">
              <a:avLst/>
            </a:prstGeom>
            <a:ln w="28575" cap="flat" cmpd="sng">
              <a:solidFill>
                <a:schemeClr val="tx1"/>
              </a:solidFill>
              <a:prstDash val="solid"/>
              <a:headEnd type="none" w="med" len="med"/>
              <a:tailEnd type="triangle" w="med" len="med"/>
            </a:ln>
          </p:spPr>
        </p:sp>
        <p:sp>
          <p:nvSpPr>
            <p:cNvPr id="145427" name="Line 17"/>
            <p:cNvSpPr/>
            <p:nvPr/>
          </p:nvSpPr>
          <p:spPr>
            <a:xfrm>
              <a:off x="3504" y="3216"/>
              <a:ext cx="432" cy="0"/>
            </a:xfrm>
            <a:prstGeom prst="line">
              <a:avLst/>
            </a:prstGeom>
            <a:ln w="28575" cap="flat" cmpd="sng">
              <a:solidFill>
                <a:schemeClr val="tx1"/>
              </a:solidFill>
              <a:prstDash val="solid"/>
              <a:headEnd type="none" w="med" len="med"/>
              <a:tailEnd type="none" w="med" len="med"/>
            </a:ln>
          </p:spPr>
        </p:sp>
        <p:sp>
          <p:nvSpPr>
            <p:cNvPr id="145428" name="Line 18"/>
            <p:cNvSpPr/>
            <p:nvPr/>
          </p:nvSpPr>
          <p:spPr>
            <a:xfrm flipV="1">
              <a:off x="3936" y="1872"/>
              <a:ext cx="288" cy="1344"/>
            </a:xfrm>
            <a:prstGeom prst="line">
              <a:avLst/>
            </a:prstGeom>
            <a:ln w="28575" cap="flat" cmpd="sng">
              <a:solidFill>
                <a:schemeClr val="tx1"/>
              </a:solidFill>
              <a:prstDash val="solid"/>
              <a:headEnd type="none" w="med" len="med"/>
              <a:tailEnd type="triangle" w="med" len="med"/>
            </a:ln>
          </p:spPr>
        </p:sp>
      </p:grpSp>
      <p:sp>
        <p:nvSpPr>
          <p:cNvPr id="145413" name="Text Box 19"/>
          <p:cNvSpPr txBox="1"/>
          <p:nvPr/>
        </p:nvSpPr>
        <p:spPr>
          <a:xfrm>
            <a:off x="385763" y="1501775"/>
            <a:ext cx="8516937" cy="461963"/>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None/>
            </a:pPr>
            <a:r>
              <a:rPr lang="zh-CN" altLang="en-US" b="1" dirty="0">
                <a:latin typeface="Times New Roman" panose="02020603050405020304" pitchFamily="18" charset="0"/>
                <a:ea typeface="宋体" panose="02010600030101010101" pitchFamily="2" charset="-122"/>
              </a:rPr>
              <a:t>每个主体都附加一个该主体可访问的客体的目录表（按行）</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47459"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Access Control Matrix (2)</a:t>
            </a:r>
            <a:endParaRPr lang="en-US" altLang="zh-CN" dirty="0">
              <a:ea typeface="宋体" panose="02010600030101010101" pitchFamily="2" charset="-122"/>
            </a:endParaRPr>
          </a:p>
        </p:txBody>
      </p:sp>
      <p:sp>
        <p:nvSpPr>
          <p:cNvPr id="147460" name="Rectangle 3"/>
          <p:cNvSpPr>
            <a:spLocks noGrp="1"/>
          </p:cNvSpPr>
          <p:nvPr>
            <p:ph idx="1"/>
          </p:nvPr>
        </p:nvSpPr>
        <p:spPr/>
        <p:txBody>
          <a:bodyPr vert="horz" wrap="square" lIns="91440" tIns="45720" rIns="91440" bIns="45720" anchor="t" anchorCtr="0"/>
          <a:lstStyle/>
          <a:p>
            <a:pPr eaLnBrk="1" hangingPunct="1">
              <a:buNone/>
            </a:pPr>
            <a:r>
              <a:rPr lang="en-US" altLang="zh-CN" dirty="0">
                <a:ea typeface="宋体" panose="02010600030101010101" pitchFamily="2" charset="-122"/>
              </a:rPr>
              <a:t>Figure. Comparison between ACLs and capabilities for protecting objects. (b) Using capabilities</a:t>
            </a:r>
            <a:r>
              <a:rPr lang="zh-CN" altLang="en-US" dirty="0">
                <a:ea typeface="宋体" panose="02010600030101010101" pitchFamily="2" charset="-122"/>
              </a:rPr>
              <a:t>（权能表）</a:t>
            </a:r>
            <a:r>
              <a:rPr lang="en-US" altLang="zh-CN" dirty="0">
                <a:ea typeface="宋体" panose="02010600030101010101" pitchFamily="2" charset="-122"/>
              </a:rPr>
              <a:t>.</a:t>
            </a:r>
            <a:endParaRPr lang="en-US" altLang="zh-CN" dirty="0">
              <a:ea typeface="宋体" panose="02010600030101010101" pitchFamily="2" charset="-122"/>
            </a:endParaRPr>
          </a:p>
        </p:txBody>
      </p:sp>
      <p:pic>
        <p:nvPicPr>
          <p:cNvPr id="147461" name="Picture 4" descr="09-26"/>
          <p:cNvPicPr>
            <a:picLocks noChangeAspect="1"/>
          </p:cNvPicPr>
          <p:nvPr/>
        </p:nvPicPr>
        <p:blipFill>
          <a:blip r:embed="rId1"/>
          <a:srcRect t="55476"/>
          <a:stretch>
            <a:fillRect/>
          </a:stretch>
        </p:blipFill>
        <p:spPr>
          <a:xfrm>
            <a:off x="584200" y="1900238"/>
            <a:ext cx="7954963" cy="2787650"/>
          </a:xfrm>
          <a:prstGeom prst="rect">
            <a:avLst/>
          </a:prstGeom>
          <a:noFill/>
          <a:ln w="9525">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49507"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Protection Domains</a:t>
            </a:r>
            <a:endParaRPr lang="en-US" altLang="zh-CN" dirty="0">
              <a:ea typeface="宋体" panose="02010600030101010101" pitchFamily="2" charset="-122"/>
            </a:endParaRPr>
          </a:p>
        </p:txBody>
      </p:sp>
      <p:sp>
        <p:nvSpPr>
          <p:cNvPr id="149508" name="Rectangle 3"/>
          <p:cNvSpPr>
            <a:spLocks noGrp="1"/>
          </p:cNvSpPr>
          <p:nvPr>
            <p:ph idx="1"/>
          </p:nvPr>
        </p:nvSpPr>
        <p:spPr/>
        <p:txBody>
          <a:bodyPr vert="horz" wrap="square" lIns="91440" tIns="45720" rIns="91440" bIns="45720" anchor="t" anchorCtr="0"/>
          <a:lstStyle/>
          <a:p>
            <a:pPr eaLnBrk="1" hangingPunct="1">
              <a:buNone/>
            </a:pPr>
            <a:r>
              <a:rPr lang="en-US" altLang="zh-CN" dirty="0">
                <a:ea typeface="宋体" panose="02010600030101010101" pitchFamily="2" charset="-122"/>
              </a:rPr>
              <a:t>Figure. The hierarchical organization of </a:t>
            </a:r>
            <a:br>
              <a:rPr lang="en-US" altLang="zh-CN" dirty="0">
                <a:ea typeface="宋体" panose="02010600030101010101" pitchFamily="2" charset="-122"/>
              </a:rPr>
            </a:br>
            <a:r>
              <a:rPr lang="en-US" altLang="zh-CN" dirty="0">
                <a:ea typeface="宋体" panose="02010600030101010101" pitchFamily="2" charset="-122"/>
              </a:rPr>
              <a:t>protection domains as groups of users.</a:t>
            </a:r>
            <a:endParaRPr lang="en-US" altLang="zh-CN" dirty="0">
              <a:ea typeface="宋体" panose="02010600030101010101" pitchFamily="2" charset="-122"/>
            </a:endParaRPr>
          </a:p>
        </p:txBody>
      </p:sp>
      <p:pic>
        <p:nvPicPr>
          <p:cNvPr id="149509" name="Picture 4" descr="09-27"/>
          <p:cNvPicPr>
            <a:picLocks noChangeAspect="1"/>
          </p:cNvPicPr>
          <p:nvPr/>
        </p:nvPicPr>
        <p:blipFill>
          <a:blip r:embed="rId1"/>
          <a:stretch>
            <a:fillRect/>
          </a:stretch>
        </p:blipFill>
        <p:spPr>
          <a:xfrm>
            <a:off x="338138" y="1943100"/>
            <a:ext cx="8247062" cy="2971800"/>
          </a:xfrm>
          <a:prstGeom prst="rect">
            <a:avLst/>
          </a:prstGeom>
          <a:noFill/>
          <a:ln w="9525">
            <a:noFill/>
          </a:ln>
        </p:spPr>
      </p:pic>
      <p:sp>
        <p:nvSpPr>
          <p:cNvPr id="149510" name="Rectangle 5"/>
          <p:cNvSpPr/>
          <p:nvPr/>
        </p:nvSpPr>
        <p:spPr>
          <a:xfrm>
            <a:off x="546100" y="973138"/>
            <a:ext cx="8039100" cy="528637"/>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dirty="0">
                <a:ea typeface="宋体" panose="02010600030101010101" pitchFamily="2" charset="-122"/>
              </a:rPr>
              <a:t>保护域是一种缩小</a:t>
            </a:r>
            <a:r>
              <a:rPr lang="en-US" altLang="zh-CN" dirty="0">
                <a:ea typeface="宋体" panose="02010600030101010101" pitchFamily="2" charset="-122"/>
              </a:rPr>
              <a:t>ACL</a:t>
            </a:r>
            <a:r>
              <a:rPr lang="zh-CN" altLang="en-US" dirty="0">
                <a:ea typeface="宋体" panose="02010600030101010101" pitchFamily="2" charset="-122"/>
              </a:rPr>
              <a:t>方式，相同权限的主体作为一个域</a:t>
            </a:r>
            <a:endParaRPr lang="zh-CN" altLang="en-US" dirty="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51555" name="Rectangle 2"/>
          <p:cNvSpPr>
            <a:spLocks noGrp="1"/>
          </p:cNvSpPr>
          <p:nvPr>
            <p:ph type="title"/>
          </p:nvPr>
        </p:nvSpPr>
        <p:spPr>
          <a:xfrm>
            <a:off x="0" y="0"/>
            <a:ext cx="9144000" cy="765175"/>
          </a:xfrm>
        </p:spPr>
        <p:txBody>
          <a:bodyPr vert="horz" wrap="square" lIns="91440" tIns="45720" rIns="91440" bIns="45720" anchor="ctr" anchorCtr="0"/>
          <a:lstStyle/>
          <a:p>
            <a:pPr eaLnBrk="1" hangingPunct="1"/>
            <a:r>
              <a:rPr lang="en-US" altLang="zh-CN" dirty="0">
                <a:solidFill>
                  <a:srgbClr val="FF3300"/>
                </a:solidFill>
                <a:ea typeface="宋体" panose="02010600030101010101" pitchFamily="2" charset="-122"/>
              </a:rPr>
              <a:t>Domain Structure</a:t>
            </a:r>
            <a:endParaRPr lang="zh-CN" altLang="en-US" dirty="0">
              <a:solidFill>
                <a:srgbClr val="FF3300"/>
              </a:solidFill>
              <a:ea typeface="宋体" panose="02010600030101010101" pitchFamily="2" charset="-122"/>
            </a:endParaRPr>
          </a:p>
        </p:txBody>
      </p:sp>
      <p:sp>
        <p:nvSpPr>
          <p:cNvPr id="151556" name="Rectangle 3"/>
          <p:cNvSpPr>
            <a:spLocks noGrp="1"/>
          </p:cNvSpPr>
          <p:nvPr>
            <p:ph idx="1"/>
          </p:nvPr>
        </p:nvSpPr>
        <p:spPr>
          <a:xfrm>
            <a:off x="47625" y="765175"/>
            <a:ext cx="9105900" cy="1890713"/>
          </a:xfrm>
        </p:spPr>
        <p:txBody>
          <a:bodyPr vert="horz" wrap="square" lIns="91440" tIns="45720" rIns="91440" bIns="45720" anchor="t" anchorCtr="0"/>
          <a:lstStyle/>
          <a:p>
            <a:pPr algn="l" eaLnBrk="1" hangingPunct="1">
              <a:lnSpc>
                <a:spcPct val="140000"/>
              </a:lnSpc>
              <a:buFont typeface="Wingdings" panose="05000000000000000000" pitchFamily="2" charset="2"/>
              <a:buChar char="u"/>
            </a:pPr>
            <a:r>
              <a:rPr lang="en-US" altLang="zh-CN" sz="2000" b="1" dirty="0">
                <a:latin typeface="Times New Roman" panose="02020603050405020304" pitchFamily="18" charset="0"/>
                <a:ea typeface="宋体" panose="02010600030101010101" pitchFamily="2" charset="-122"/>
              </a:rPr>
              <a:t>Access-right</a:t>
            </a: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 &lt;object-name, rights-set&gt;</a:t>
            </a:r>
            <a:r>
              <a:rPr lang="zh-CN" altLang="en-US" sz="2000" b="1" dirty="0">
                <a:latin typeface="Times New Roman" panose="02020603050405020304" pitchFamily="18" charset="0"/>
                <a:ea typeface="宋体" panose="02010600030101010101" pitchFamily="2" charset="-122"/>
              </a:rPr>
              <a:t>（访问权限</a:t>
            </a:r>
            <a:r>
              <a:rPr lang="zh-CN" altLang="zh-CN" sz="2000" b="1" dirty="0">
                <a:latin typeface="Times New Roman" panose="02020603050405020304" pitchFamily="18" charset="0"/>
                <a:ea typeface="宋体" panose="02010600030101010101" pitchFamily="2" charset="-122"/>
              </a:rPr>
              <a:t>=&lt;</a:t>
            </a:r>
            <a:r>
              <a:rPr lang="zh-CN" altLang="en-US" sz="2000" b="1" dirty="0">
                <a:latin typeface="Times New Roman" panose="02020603050405020304" pitchFamily="18" charset="0"/>
                <a:ea typeface="宋体" panose="02010600030101010101" pitchFamily="2" charset="-122"/>
              </a:rPr>
              <a:t>对象名，权限集</a:t>
            </a:r>
            <a:r>
              <a:rPr lang="zh-CN" altLang="zh-CN" sz="2000" b="1" dirty="0">
                <a:latin typeface="Times New Roman" panose="02020603050405020304" pitchFamily="18" charset="0"/>
                <a:ea typeface="宋体" panose="02010600030101010101" pitchFamily="2" charset="-122"/>
              </a:rPr>
              <a:t>&gt;</a:t>
            </a:r>
            <a:r>
              <a:rPr lang="zh-CN" altLang="en-US" sz="2000" b="1" dirty="0">
                <a:latin typeface="Times New Roman" panose="02020603050405020304" pitchFamily="18" charset="0"/>
                <a:ea typeface="宋体" panose="02010600030101010101" pitchFamily="2" charset="-122"/>
              </a:rPr>
              <a:t>）</a:t>
            </a:r>
            <a:br>
              <a:rPr lang="zh-CN" altLang="en-US" sz="2000" b="1" dirty="0">
                <a:latin typeface="Times New Roman" panose="02020603050405020304" pitchFamily="18" charset="0"/>
                <a:ea typeface="宋体" panose="02010600030101010101" pitchFamily="2" charset="-122"/>
              </a:rPr>
            </a:br>
            <a:r>
              <a:rPr lang="en-US" altLang="zh-CN" sz="2000" b="1" dirty="0">
                <a:latin typeface="Times New Roman" panose="02020603050405020304" pitchFamily="18" charset="0"/>
                <a:ea typeface="宋体" panose="02010600030101010101" pitchFamily="2" charset="-122"/>
              </a:rPr>
              <a:t>Rights-set is a subset of all valid operations that can be performed on the object. </a:t>
            </a:r>
            <a:endParaRPr lang="zh-CN" altLang="en-US" sz="2000" b="1" dirty="0">
              <a:latin typeface="Times New Roman" panose="02020603050405020304" pitchFamily="18" charset="0"/>
              <a:ea typeface="宋体" panose="02010600030101010101" pitchFamily="2" charset="-122"/>
            </a:endParaRPr>
          </a:p>
          <a:p>
            <a:pPr algn="l" eaLnBrk="1" hangingPunct="1">
              <a:lnSpc>
                <a:spcPct val="140000"/>
              </a:lnSpc>
              <a:buFont typeface="Wingdings" panose="05000000000000000000" pitchFamily="2" charset="2"/>
              <a:buChar char="u"/>
            </a:pPr>
            <a:r>
              <a:rPr lang="en-US" altLang="zh-CN" sz="2000" b="1" dirty="0">
                <a:latin typeface="Times New Roman" panose="02020603050405020304" pitchFamily="18" charset="0"/>
                <a:ea typeface="宋体" panose="02010600030101010101" pitchFamily="2" charset="-122"/>
              </a:rPr>
              <a:t>Domain = set of access-rights </a:t>
            </a:r>
            <a:r>
              <a:rPr lang="zh-CN" altLang="en-US" sz="2000" b="1" dirty="0">
                <a:latin typeface="Times New Roman" panose="02020603050405020304" pitchFamily="18" charset="0"/>
                <a:ea typeface="宋体" panose="02010600030101010101" pitchFamily="2" charset="-122"/>
              </a:rPr>
              <a:t>（域</a:t>
            </a:r>
            <a:r>
              <a:rPr lang="zh-CN"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访问权限的集合）</a:t>
            </a:r>
            <a:endParaRPr lang="zh-CN" altLang="en-US" sz="2000" b="1" dirty="0">
              <a:latin typeface="Times New Roman" panose="02020603050405020304" pitchFamily="18" charset="0"/>
              <a:ea typeface="宋体" panose="02010600030101010101" pitchFamily="2" charset="-122"/>
            </a:endParaRPr>
          </a:p>
        </p:txBody>
      </p:sp>
      <p:pic>
        <p:nvPicPr>
          <p:cNvPr id="151557" name="Picture 4"/>
          <p:cNvPicPr>
            <a:picLocks noChangeAspect="1"/>
          </p:cNvPicPr>
          <p:nvPr/>
        </p:nvPicPr>
        <p:blipFill>
          <a:blip r:embed="rId1"/>
          <a:srcRect l="473" t="36737" r="435" b="36330"/>
          <a:stretch>
            <a:fillRect/>
          </a:stretch>
        </p:blipFill>
        <p:spPr>
          <a:xfrm>
            <a:off x="914400" y="2990850"/>
            <a:ext cx="7856538" cy="2474913"/>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14"/>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5pPr>
          </a:lstStyle>
          <a:p>
            <a:pPr lvl="0" algn="r" eaLnBrk="1" hangingPunct="1">
              <a:buNone/>
            </a:pPr>
            <a:fld id="{9A0DB2DC-4C9A-4742-B13C-FB6460FD3503}" type="slidenum">
              <a:rPr lang="en-US" altLang="zh-CN" sz="1400" b="0" dirty="0">
                <a:ea typeface="宋体" panose="02010600030101010101" pitchFamily="2" charset="-122"/>
              </a:rPr>
            </a:fld>
            <a:endParaRPr lang="en-US" altLang="zh-CN" sz="1400" b="0" dirty="0">
              <a:ea typeface="宋体" panose="02010600030101010101" pitchFamily="2" charset="-122"/>
            </a:endParaRPr>
          </a:p>
        </p:txBody>
      </p:sp>
      <p:sp>
        <p:nvSpPr>
          <p:cNvPr id="81930" name="Line 10"/>
          <p:cNvSpPr/>
          <p:nvPr/>
        </p:nvSpPr>
        <p:spPr>
          <a:xfrm flipH="1" flipV="1">
            <a:off x="3657600" y="2895600"/>
            <a:ext cx="0" cy="762000"/>
          </a:xfrm>
          <a:prstGeom prst="line">
            <a:avLst/>
          </a:prstGeom>
          <a:ln w="88900" cap="flat" cmpd="sng">
            <a:solidFill>
              <a:schemeClr val="tx1"/>
            </a:solidFill>
            <a:prstDash val="solid"/>
            <a:headEnd type="none" w="med" len="med"/>
            <a:tailEnd type="triangle" w="med" len="med"/>
          </a:ln>
        </p:spPr>
      </p:sp>
      <p:sp>
        <p:nvSpPr>
          <p:cNvPr id="81932" name="Rectangle 12"/>
          <p:cNvSpPr>
            <a:spLocks noGrp="1"/>
          </p:cNvSpPr>
          <p:nvPr>
            <p:ph idx="1"/>
          </p:nvPr>
        </p:nvSpPr>
        <p:spPr>
          <a:xfrm>
            <a:off x="3581400" y="3657600"/>
            <a:ext cx="5562600" cy="2667000"/>
          </a:xfrm>
        </p:spPr>
        <p:txBody>
          <a:bodyPr vert="horz" wrap="square" lIns="91440" tIns="45720" rIns="91440" bIns="45720" anchor="t" anchorCtr="0"/>
          <a:lstStyle/>
          <a:p>
            <a:r>
              <a:rPr lang="en-US" altLang="zh-CN" sz="2600" dirty="0">
                <a:ea typeface="宋体" panose="02010600030101010101" pitchFamily="2" charset="-122"/>
              </a:rPr>
              <a:t>Good:</a:t>
            </a:r>
            <a:endParaRPr lang="en-US" altLang="zh-CN" sz="2600" dirty="0">
              <a:ea typeface="宋体" panose="02010600030101010101" pitchFamily="2" charset="-122"/>
            </a:endParaRPr>
          </a:p>
          <a:p>
            <a:pPr lvl="1"/>
            <a:r>
              <a:rPr lang="en-US" altLang="zh-CN" sz="2200" dirty="0">
                <a:ea typeface="宋体" panose="02010600030101010101" pitchFamily="2" charset="-122"/>
              </a:rPr>
              <a:t>Flexible access policies</a:t>
            </a:r>
            <a:endParaRPr lang="en-US" altLang="zh-CN" sz="2200" dirty="0">
              <a:ea typeface="宋体" panose="02010600030101010101" pitchFamily="2" charset="-122"/>
            </a:endParaRPr>
          </a:p>
          <a:p>
            <a:r>
              <a:rPr lang="en-US" altLang="zh-CN" sz="2600" dirty="0">
                <a:ea typeface="宋体" panose="02010600030101010101" pitchFamily="2" charset="-122"/>
              </a:rPr>
              <a:t>Bad:</a:t>
            </a:r>
            <a:endParaRPr lang="en-US" altLang="zh-CN" sz="2600" dirty="0">
              <a:ea typeface="宋体" panose="02010600030101010101" pitchFamily="2" charset="-122"/>
            </a:endParaRPr>
          </a:p>
          <a:p>
            <a:pPr lvl="1"/>
            <a:r>
              <a:rPr lang="en-US" altLang="zh-CN" sz="2200" dirty="0">
                <a:ea typeface="宋体" panose="02010600030101010101" pitchFamily="2" charset="-122"/>
              </a:rPr>
              <a:t>Data vulnerable to compromise</a:t>
            </a:r>
            <a:endParaRPr lang="en-US" altLang="zh-CN" sz="2200" dirty="0">
              <a:ea typeface="宋体" panose="02010600030101010101" pitchFamily="2" charset="-122"/>
            </a:endParaRPr>
          </a:p>
          <a:p>
            <a:pPr lvl="1"/>
            <a:r>
              <a:rPr lang="en-US" altLang="zh-CN" sz="2200" dirty="0">
                <a:ea typeface="宋体" panose="02010600030101010101" pitchFamily="2" charset="-122"/>
              </a:rPr>
              <a:t>Must trust security of server</a:t>
            </a:r>
            <a:endParaRPr lang="en-US" altLang="zh-CN" sz="2200" dirty="0">
              <a:ea typeface="宋体" panose="02010600030101010101" pitchFamily="2" charset="-122"/>
            </a:endParaRPr>
          </a:p>
        </p:txBody>
      </p:sp>
      <p:sp>
        <p:nvSpPr>
          <p:cNvPr id="154629" name="Rectangle 2"/>
          <p:cNvSpPr>
            <a:spLocks noGrp="1"/>
          </p:cNvSpPr>
          <p:nvPr>
            <p:ph type="title"/>
          </p:nvPr>
        </p:nvSpPr>
        <p:spPr/>
        <p:txBody>
          <a:bodyPr vert="horz" wrap="square" lIns="91440" tIns="45720" rIns="91440" bIns="45720" anchor="ctr" anchorCtr="0"/>
          <a:lstStyle/>
          <a:p>
            <a:pPr>
              <a:buNone/>
            </a:pPr>
            <a:r>
              <a:rPr lang="en-US" altLang="zh-CN" sz="3400" dirty="0">
                <a:ea typeface="宋体" panose="02010600030101010101" pitchFamily="2" charset="-122"/>
              </a:rPr>
              <a:t>Remote File Storage:</a:t>
            </a:r>
            <a:br>
              <a:rPr lang="en-US" altLang="zh-CN" sz="3400" dirty="0">
                <a:ea typeface="宋体" panose="02010600030101010101" pitchFamily="2" charset="-122"/>
              </a:rPr>
            </a:br>
            <a:r>
              <a:rPr lang="en-US" altLang="zh-CN" sz="3400" dirty="0">
                <a:ea typeface="宋体" panose="02010600030101010101" pitchFamily="2" charset="-122"/>
              </a:rPr>
              <a:t>Server Mediated Access Control</a:t>
            </a:r>
            <a:endParaRPr lang="en-US" altLang="zh-CN" sz="3400" dirty="0">
              <a:ea typeface="宋体" panose="02010600030101010101" pitchFamily="2" charset="-122"/>
            </a:endParaRPr>
          </a:p>
        </p:txBody>
      </p:sp>
      <p:pic>
        <p:nvPicPr>
          <p:cNvPr id="154630" name="Picture 3" descr="tower"/>
          <p:cNvPicPr>
            <a:picLocks noChangeAspect="1"/>
          </p:cNvPicPr>
          <p:nvPr/>
        </p:nvPicPr>
        <p:blipFill>
          <a:blip r:embed="rId1"/>
          <a:stretch>
            <a:fillRect/>
          </a:stretch>
        </p:blipFill>
        <p:spPr>
          <a:xfrm>
            <a:off x="1381125" y="2362200"/>
            <a:ext cx="1358900" cy="1828800"/>
          </a:xfrm>
          <a:prstGeom prst="rect">
            <a:avLst/>
          </a:prstGeom>
          <a:noFill/>
          <a:ln w="9525">
            <a:noFill/>
          </a:ln>
        </p:spPr>
      </p:pic>
      <p:pic>
        <p:nvPicPr>
          <p:cNvPr id="81924" name="Picture 4" descr="carl"/>
          <p:cNvPicPr>
            <a:picLocks noChangeAspect="1"/>
          </p:cNvPicPr>
          <p:nvPr/>
        </p:nvPicPr>
        <p:blipFill>
          <a:blip r:embed="rId2"/>
          <a:stretch>
            <a:fillRect/>
          </a:stretch>
        </p:blipFill>
        <p:spPr>
          <a:xfrm>
            <a:off x="7620000" y="2362200"/>
            <a:ext cx="1168400" cy="1168400"/>
          </a:xfrm>
          <a:prstGeom prst="rect">
            <a:avLst/>
          </a:prstGeom>
          <a:noFill/>
          <a:ln w="9525">
            <a:noFill/>
          </a:ln>
        </p:spPr>
      </p:pic>
      <p:pic>
        <p:nvPicPr>
          <p:cNvPr id="81925" name="Picture 5" descr="sarah"/>
          <p:cNvPicPr>
            <a:picLocks noChangeAspect="1"/>
          </p:cNvPicPr>
          <p:nvPr/>
        </p:nvPicPr>
        <p:blipFill>
          <a:blip r:embed="rId3"/>
          <a:stretch>
            <a:fillRect/>
          </a:stretch>
        </p:blipFill>
        <p:spPr>
          <a:xfrm>
            <a:off x="7543800" y="2336800"/>
            <a:ext cx="1244600" cy="1244600"/>
          </a:xfrm>
          <a:prstGeom prst="rect">
            <a:avLst/>
          </a:prstGeom>
          <a:noFill/>
          <a:ln w="9525">
            <a:noFill/>
          </a:ln>
        </p:spPr>
      </p:pic>
      <p:sp>
        <p:nvSpPr>
          <p:cNvPr id="81926" name="Text Box 6"/>
          <p:cNvSpPr txBox="1"/>
          <p:nvPr/>
        </p:nvSpPr>
        <p:spPr>
          <a:xfrm>
            <a:off x="5562600" y="3657600"/>
            <a:ext cx="3048000" cy="915988"/>
          </a:xfrm>
          <a:prstGeom prst="rect">
            <a:avLst/>
          </a:prstGeom>
          <a:noFill/>
          <a:ln w="9525">
            <a:noFill/>
          </a:ln>
        </p:spPr>
        <p:txBody>
          <a:bodyPr wrap="none">
            <a:spAutoFit/>
          </a:bodyPr>
          <a:lstStyle/>
          <a:p>
            <a:pPr>
              <a:buNone/>
            </a:pPr>
            <a:r>
              <a:rPr lang="en-US" altLang="zh-CN" sz="1800" dirty="0">
                <a:latin typeface="Times New Roman" panose="02020603050405020304" pitchFamily="18" charset="0"/>
                <a:ea typeface="宋体" panose="02010600030101010101" pitchFamily="2" charset="-122"/>
              </a:rPr>
              <a:t>Access control list:</a:t>
            </a:r>
            <a:endParaRPr lang="en-US" altLang="zh-CN" sz="1800" dirty="0">
              <a:latin typeface="Times New Roman" panose="02020603050405020304" pitchFamily="18" charset="0"/>
              <a:ea typeface="宋体" panose="02010600030101010101" pitchFamily="2" charset="-122"/>
            </a:endParaRPr>
          </a:p>
          <a:p>
            <a:pPr>
              <a:buNone/>
            </a:pPr>
            <a:r>
              <a:rPr lang="en-US" altLang="zh-CN" sz="1800" dirty="0">
                <a:latin typeface="Times New Roman" panose="02020603050405020304" pitchFamily="18" charset="0"/>
                <a:ea typeface="宋体" panose="02010600030101010101" pitchFamily="2" charset="-122"/>
              </a:rPr>
              <a:t>Kevin, Dave, and</a:t>
            </a:r>
            <a:endParaRPr lang="en-US" altLang="zh-CN" sz="1800" dirty="0">
              <a:latin typeface="Times New Roman" panose="02020603050405020304" pitchFamily="18" charset="0"/>
              <a:ea typeface="宋体" panose="02010600030101010101" pitchFamily="2" charset="-122"/>
            </a:endParaRPr>
          </a:p>
          <a:p>
            <a:pPr>
              <a:buNone/>
            </a:pPr>
            <a:r>
              <a:rPr lang="en-US" altLang="zh-CN" sz="1800" dirty="0">
                <a:latin typeface="Times New Roman" panose="02020603050405020304" pitchFamily="18" charset="0"/>
                <a:ea typeface="宋体" panose="02010600030101010101" pitchFamily="2" charset="-122"/>
              </a:rPr>
              <a:t>anyone in IT department</a:t>
            </a:r>
            <a:endParaRPr lang="en-US" altLang="zh-CN" sz="1800" dirty="0">
              <a:latin typeface="Times New Roman" panose="02020603050405020304" pitchFamily="18" charset="0"/>
              <a:ea typeface="宋体" panose="02010600030101010101" pitchFamily="2" charset="-122"/>
            </a:endParaRPr>
          </a:p>
        </p:txBody>
      </p:sp>
      <p:sp>
        <p:nvSpPr>
          <p:cNvPr id="81927" name="Text Box 7"/>
          <p:cNvSpPr txBox="1"/>
          <p:nvPr/>
        </p:nvSpPr>
        <p:spPr>
          <a:xfrm>
            <a:off x="2819400" y="1905000"/>
            <a:ext cx="2101850" cy="915988"/>
          </a:xfrm>
          <a:prstGeom prst="rect">
            <a:avLst/>
          </a:prstGeom>
          <a:noFill/>
          <a:ln w="9525">
            <a:noFill/>
          </a:ln>
        </p:spPr>
        <p:txBody>
          <a:bodyPr wrap="none">
            <a:spAutoFit/>
          </a:bodyPr>
          <a:lstStyle/>
          <a:p>
            <a:pPr>
              <a:buNone/>
            </a:pPr>
            <a:r>
              <a:rPr lang="en-US" altLang="zh-CN" sz="1800" dirty="0">
                <a:latin typeface="Times New Roman" panose="02020603050405020304" pitchFamily="18" charset="0"/>
                <a:ea typeface="宋体" panose="02010600030101010101" pitchFamily="2" charset="-122"/>
              </a:rPr>
              <a:t>Sarah:</a:t>
            </a:r>
            <a:endParaRPr lang="en-US" altLang="zh-CN" sz="1800" dirty="0">
              <a:latin typeface="Times New Roman" panose="02020603050405020304" pitchFamily="18" charset="0"/>
              <a:ea typeface="宋体" panose="02010600030101010101" pitchFamily="2" charset="-122"/>
            </a:endParaRPr>
          </a:p>
          <a:p>
            <a:pPr>
              <a:buNone/>
            </a:pPr>
            <a:r>
              <a:rPr lang="en-US" altLang="zh-CN" sz="1800" dirty="0">
                <a:latin typeface="Times New Roman" panose="02020603050405020304" pitchFamily="18" charset="0"/>
                <a:ea typeface="宋体" panose="02010600030101010101" pitchFamily="2" charset="-122"/>
              </a:rPr>
              <a:t>IT department,</a:t>
            </a:r>
            <a:endParaRPr lang="en-US" altLang="zh-CN" sz="1800" dirty="0">
              <a:latin typeface="Times New Roman" panose="02020603050405020304" pitchFamily="18" charset="0"/>
              <a:ea typeface="宋体" panose="02010600030101010101" pitchFamily="2" charset="-122"/>
            </a:endParaRPr>
          </a:p>
          <a:p>
            <a:pPr>
              <a:buNone/>
            </a:pPr>
            <a:r>
              <a:rPr lang="en-US" altLang="zh-CN" sz="1800" dirty="0">
                <a:latin typeface="Times New Roman" panose="02020603050405020304" pitchFamily="18" charset="0"/>
                <a:ea typeface="宋体" panose="02010600030101010101" pitchFamily="2" charset="-122"/>
              </a:rPr>
              <a:t>backup manager</a:t>
            </a:r>
            <a:endParaRPr lang="en-US" altLang="zh-CN" sz="1800" dirty="0">
              <a:latin typeface="Times New Roman" panose="02020603050405020304" pitchFamily="18" charset="0"/>
              <a:ea typeface="宋体" panose="02010600030101010101" pitchFamily="2" charset="-122"/>
            </a:endParaRPr>
          </a:p>
        </p:txBody>
      </p:sp>
      <p:sp>
        <p:nvSpPr>
          <p:cNvPr id="81928" name="Line 8"/>
          <p:cNvSpPr/>
          <p:nvPr/>
        </p:nvSpPr>
        <p:spPr>
          <a:xfrm flipH="1">
            <a:off x="3048000" y="3124200"/>
            <a:ext cx="4419600" cy="304800"/>
          </a:xfrm>
          <a:prstGeom prst="line">
            <a:avLst/>
          </a:prstGeom>
          <a:ln w="88900" cap="flat" cmpd="sng">
            <a:solidFill>
              <a:schemeClr val="tx1"/>
            </a:solidFill>
            <a:prstDash val="solid"/>
            <a:headEnd type="none" w="med" len="med"/>
            <a:tailEnd type="triangle" w="med" len="med"/>
          </a:ln>
        </p:spPr>
      </p:sp>
      <p:sp>
        <p:nvSpPr>
          <p:cNvPr id="81929" name="Text Box 9"/>
          <p:cNvSpPr txBox="1"/>
          <p:nvPr/>
        </p:nvSpPr>
        <p:spPr>
          <a:xfrm>
            <a:off x="3276600" y="3505200"/>
            <a:ext cx="793750" cy="1433513"/>
          </a:xfrm>
          <a:prstGeom prst="rect">
            <a:avLst/>
          </a:prstGeom>
          <a:noFill/>
          <a:ln w="9525">
            <a:noFill/>
          </a:ln>
        </p:spPr>
        <p:txBody>
          <a:bodyPr wrap="none">
            <a:spAutoFit/>
          </a:bodyPr>
          <a:lstStyle/>
          <a:p>
            <a:pPr>
              <a:buNone/>
            </a:pPr>
            <a:r>
              <a:rPr lang="en-US" altLang="zh-CN" sz="8800" dirty="0">
                <a:latin typeface="Times New Roman" panose="02020603050405020304" pitchFamily="18" charset="0"/>
                <a:ea typeface="宋体" panose="02010600030101010101" pitchFamily="2" charset="-122"/>
              </a:rPr>
              <a:t>?</a:t>
            </a:r>
            <a:endParaRPr lang="en-US" altLang="zh-CN" sz="8800" dirty="0">
              <a:latin typeface="Times New Roman" panose="02020603050405020304" pitchFamily="18" charset="0"/>
              <a:ea typeface="宋体" panose="02010600030101010101" pitchFamily="2" charset="-122"/>
            </a:endParaRPr>
          </a:p>
        </p:txBody>
      </p:sp>
      <p:sp>
        <p:nvSpPr>
          <p:cNvPr id="81931" name="Line 11"/>
          <p:cNvSpPr/>
          <p:nvPr/>
        </p:nvSpPr>
        <p:spPr>
          <a:xfrm flipH="1">
            <a:off x="2362200" y="4572000"/>
            <a:ext cx="914400" cy="152400"/>
          </a:xfrm>
          <a:prstGeom prst="line">
            <a:avLst/>
          </a:prstGeom>
          <a:ln w="88900" cap="flat" cmpd="sng">
            <a:solidFill>
              <a:schemeClr val="tx1"/>
            </a:solidFill>
            <a:prstDash val="solid"/>
            <a:headEnd type="none" w="med" len="med"/>
            <a:tailEnd type="triangle" w="med" len="med"/>
          </a:ln>
        </p:spPr>
      </p:sp>
      <p:pic>
        <p:nvPicPr>
          <p:cNvPr id="81933" name="Picture 13" descr="file"/>
          <p:cNvPicPr>
            <a:picLocks noChangeAspect="1"/>
          </p:cNvPicPr>
          <p:nvPr/>
        </p:nvPicPr>
        <p:blipFill>
          <a:blip r:embed="rId4"/>
          <a:stretch>
            <a:fillRect/>
          </a:stretch>
        </p:blipFill>
        <p:spPr>
          <a:xfrm>
            <a:off x="6705600" y="2514600"/>
            <a:ext cx="914400" cy="914400"/>
          </a:xfrm>
          <a:prstGeom prst="rect">
            <a:avLst/>
          </a:prstGeom>
          <a:noFill/>
          <a:ln w="9525">
            <a:noFill/>
          </a:ln>
        </p:spPr>
      </p:pic>
      <p:pic>
        <p:nvPicPr>
          <p:cNvPr id="81934" name="Picture 14" descr="file"/>
          <p:cNvPicPr>
            <a:picLocks noChangeAspect="1"/>
          </p:cNvPicPr>
          <p:nvPr/>
        </p:nvPicPr>
        <p:blipFill>
          <a:blip r:embed="rId4"/>
          <a:stretch>
            <a:fillRect/>
          </a:stretch>
        </p:blipFill>
        <p:spPr>
          <a:xfrm>
            <a:off x="304800" y="2514600"/>
            <a:ext cx="914400" cy="914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3.33333E-6 1.09827E-6 L -0.7 1.09827E-6 " pathEditMode="relative" rAng="0" ptsTypes="AA">
                                      <p:cBhvr>
                                        <p:cTn id="10" dur="1000" fill="hold"/>
                                        <p:tgtEl>
                                          <p:spTgt spid="81933"/>
                                        </p:tgtEl>
                                        <p:attrNameLst>
                                          <p:attrName>ppt_x</p:attrName>
                                          <p:attrName>ppt_y</p:attrName>
                                        </p:attrNameLst>
                                      </p:cBhvr>
                                      <p:rCtr x="-35000" y="0"/>
                                    </p:animMotion>
                                  </p:childTnLst>
                                </p:cTn>
                              </p:par>
                              <p:par>
                                <p:cTn id="11" presetID="35" presetClass="path" presetSubtype="0" accel="50000" decel="50000" fill="hold" grpId="1" nodeType="withEffect">
                                  <p:stCondLst>
                                    <p:cond delay="0"/>
                                  </p:stCondLst>
                                  <p:childTnLst>
                                    <p:animMotion origin="layout" path="M 0 1.90751E-6 L -0.59167 0.09988 " pathEditMode="relative" rAng="0" ptsTypes="AA">
                                      <p:cBhvr>
                                        <p:cTn id="12" dur="1000" fill="hold"/>
                                        <p:tgtEl>
                                          <p:spTgt spid="81926"/>
                                        </p:tgtEl>
                                        <p:attrNameLst>
                                          <p:attrName>ppt_x</p:attrName>
                                          <p:attrName>ppt_y</p:attrName>
                                        </p:attrNameLst>
                                      </p:cBhvr>
                                      <p:rCtr x="-29600" y="5000"/>
                                    </p:animMotion>
                                  </p:childTnLst>
                                </p:cTn>
                              </p:par>
                            </p:childTnLst>
                          </p:cTn>
                        </p:par>
                      </p:childTnLst>
                    </p:cTn>
                  </p:par>
                  <p:par>
                    <p:cTn id="13" fill="hold">
                      <p:stCondLst>
                        <p:cond delay="indefinite"/>
                      </p:stCondLst>
                      <p:childTnLst>
                        <p:par>
                          <p:cTn id="14" fill="hold">
                            <p:stCondLst>
                              <p:cond delay="0"/>
                            </p:stCondLst>
                            <p:childTnLst>
                              <p:par>
                                <p:cTn id="15" presetID="2" presetClass="exit" presetSubtype="2" fill="hold" nodeType="clickEffect">
                                  <p:stCondLst>
                                    <p:cond delay="0"/>
                                  </p:stCondLst>
                                  <p:childTnLst>
                                    <p:anim calcmode="lin" valueType="num">
                                      <p:cBhvr additive="base">
                                        <p:cTn id="16" dur="500"/>
                                        <p:tgtEl>
                                          <p:spTgt spid="81924"/>
                                        </p:tgtEl>
                                        <p:attrNameLst>
                                          <p:attrName>ppt_x</p:attrName>
                                        </p:attrNameLst>
                                      </p:cBhvr>
                                      <p:tavLst>
                                        <p:tav tm="0">
                                          <p:val>
                                            <p:strVal val="ppt_x"/>
                                          </p:val>
                                        </p:tav>
                                        <p:tav tm="100000">
                                          <p:val>
                                            <p:strVal val="1+ppt_w/2"/>
                                          </p:val>
                                        </p:tav>
                                      </p:tavLst>
                                    </p:anim>
                                    <p:anim calcmode="lin" valueType="num">
                                      <p:cBhvr additive="base">
                                        <p:cTn id="17" dur="500"/>
                                        <p:tgtEl>
                                          <p:spTgt spid="81924"/>
                                        </p:tgtEl>
                                        <p:attrNameLst>
                                          <p:attrName>ppt_y</p:attrName>
                                        </p:attrNameLst>
                                      </p:cBhvr>
                                      <p:tavLst>
                                        <p:tav tm="0">
                                          <p:val>
                                            <p:strVal val="ppt_y"/>
                                          </p:val>
                                        </p:tav>
                                        <p:tav tm="100000">
                                          <p:val>
                                            <p:strVal val="ppt_y"/>
                                          </p:val>
                                        </p:tav>
                                      </p:tavLst>
                                    </p:anim>
                                    <p:set>
                                      <p:cBhvr>
                                        <p:cTn id="18" dur="1" fill="hold">
                                          <p:stCondLst>
                                            <p:cond delay="499"/>
                                          </p:stCondLst>
                                        </p:cTn>
                                        <p:tgtEl>
                                          <p:spTgt spid="81924"/>
                                        </p:tgtEl>
                                        <p:attrNameLst>
                                          <p:attrName>style.visibility</p:attrName>
                                        </p:attrNameLst>
                                      </p:cBhvr>
                                      <p:to>
                                        <p:strVal val="hidden"/>
                                      </p:to>
                                    </p:set>
                                  </p:childTnLst>
                                </p:cTn>
                              </p:par>
                            </p:childTnLst>
                          </p:cTn>
                        </p:par>
                        <p:par>
                          <p:cTn id="19" fill="hold">
                            <p:stCondLst>
                              <p:cond delay="500"/>
                            </p:stCondLst>
                            <p:childTnLst>
                              <p:par>
                                <p:cTn id="20" presetID="2" presetClass="entr" presetSubtype="2" fill="hold" nodeType="afterEffect">
                                  <p:stCondLst>
                                    <p:cond delay="0"/>
                                  </p:stCondLst>
                                  <p:childTnLst>
                                    <p:set>
                                      <p:cBhvr>
                                        <p:cTn id="21" dur="1" fill="hold">
                                          <p:stCondLst>
                                            <p:cond delay="0"/>
                                          </p:stCondLst>
                                        </p:cTn>
                                        <p:tgtEl>
                                          <p:spTgt spid="81925"/>
                                        </p:tgtEl>
                                        <p:attrNameLst>
                                          <p:attrName>style.visibility</p:attrName>
                                        </p:attrNameLst>
                                      </p:cBhvr>
                                      <p:to>
                                        <p:strVal val="visible"/>
                                      </p:to>
                                    </p:set>
                                    <p:anim calcmode="lin" valueType="num">
                                      <p:cBhvr additive="base">
                                        <p:cTn id="22" dur="500" fill="hold"/>
                                        <p:tgtEl>
                                          <p:spTgt spid="81925"/>
                                        </p:tgtEl>
                                        <p:attrNameLst>
                                          <p:attrName>ppt_x</p:attrName>
                                        </p:attrNameLst>
                                      </p:cBhvr>
                                      <p:tavLst>
                                        <p:tav tm="0">
                                          <p:val>
                                            <p:strVal val="1+#ppt_w/2"/>
                                          </p:val>
                                        </p:tav>
                                        <p:tav tm="100000">
                                          <p:val>
                                            <p:strVal val="#ppt_x"/>
                                          </p:val>
                                        </p:tav>
                                      </p:tavLst>
                                    </p:anim>
                                    <p:anim calcmode="lin" valueType="num">
                                      <p:cBhvr additive="base">
                                        <p:cTn id="23" dur="500" fill="hold"/>
                                        <p:tgtEl>
                                          <p:spTgt spid="81925"/>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192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8192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192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1930"/>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81931"/>
                                        </p:tgtEl>
                                        <p:attrNameLst>
                                          <p:attrName>style.visibility</p:attrName>
                                        </p:attrNameLst>
                                      </p:cBhvr>
                                      <p:to>
                                        <p:strVal val="visible"/>
                                      </p:to>
                                    </p:set>
                                  </p:childTnLst>
                                </p:cTn>
                              </p:par>
                              <p:par>
                                <p:cTn id="42" presetID="1" presetClass="entr" presetSubtype="0" fill="hold" grpId="0" nodeType="withEffect">
                                  <p:stCondLst>
                                    <p:cond delay="0"/>
                                  </p:stCondLst>
                                  <p:iterate type="lt">
                                    <p:tmAbs val="0"/>
                                  </p:iterate>
                                  <p:childTnLst>
                                    <p:set>
                                      <p:cBhvr>
                                        <p:cTn id="43" dur="1" fill="hold">
                                          <p:stCondLst>
                                            <p:cond delay="0"/>
                                          </p:stCondLst>
                                        </p:cTn>
                                        <p:tgtEl>
                                          <p:spTgt spid="81929"/>
                                        </p:tgtEl>
                                        <p:attrNameLst>
                                          <p:attrName>style.visibility</p:attrName>
                                        </p:attrNameLst>
                                      </p:cBhvr>
                                      <p:to>
                                        <p:strVal val="visible"/>
                                      </p:to>
                                    </p:set>
                                  </p:childTnLst>
                                </p:cTn>
                              </p:par>
                            </p:childTnLst>
                          </p:cTn>
                        </p:par>
                        <p:par>
                          <p:cTn id="44" fill="hold">
                            <p:stCondLst>
                              <p:cond delay="1"/>
                            </p:stCondLst>
                            <p:childTnLst>
                              <p:par>
                                <p:cTn id="45" presetID="28" presetClass="emph" presetSubtype="0" fill="hold" grpId="1" nodeType="afterEffect">
                                  <p:stCondLst>
                                    <p:cond delay="0"/>
                                  </p:stCondLst>
                                  <p:iterate type="lt">
                                    <p:tmPct val="10000"/>
                                  </p:iterate>
                                  <p:childTnLst>
                                    <p:animClr clrSpc="rgb" dir="cw">
                                      <p:cBhvr override="childStyle">
                                        <p:cTn id="46" dur="500" fill="hold"/>
                                        <p:tgtEl>
                                          <p:spTgt spid="81929"/>
                                        </p:tgtEl>
                                        <p:attrNameLst>
                                          <p:attrName>style.color</p:attrName>
                                        </p:attrNameLst>
                                      </p:cBhvr>
                                      <p:to>
                                        <a:schemeClr val="accent2"/>
                                      </p:to>
                                    </p:animClr>
                                    <p:animClr clrSpc="rgb" dir="cw">
                                      <p:cBhvr>
                                        <p:cTn id="47" dur="500" fill="hold"/>
                                        <p:tgtEl>
                                          <p:spTgt spid="81929"/>
                                        </p:tgtEl>
                                        <p:attrNameLst>
                                          <p:attrName>fillcolor</p:attrName>
                                        </p:attrNameLst>
                                      </p:cBhvr>
                                      <p:to>
                                        <a:schemeClr val="accent2"/>
                                      </p:to>
                                    </p:animClr>
                                    <p:set>
                                      <p:cBhvr>
                                        <p:cTn id="48" dur="500" fill="hold"/>
                                        <p:tgtEl>
                                          <p:spTgt spid="81929"/>
                                        </p:tgtEl>
                                        <p:attrNameLst>
                                          <p:attrName>fill.type</p:attrName>
                                        </p:attrNameLst>
                                      </p:cBhvr>
                                      <p:to>
                                        <p:strVal val="solid"/>
                                      </p:to>
                                    </p:set>
                                    <p:anim to="1.5" calcmode="lin" valueType="num">
                                      <p:cBhvr override="childStyle">
                                        <p:cTn id="49" dur="500" fill="hold"/>
                                        <p:tgtEl>
                                          <p:spTgt spid="81929"/>
                                        </p:tgtEl>
                                        <p:attrNameLst>
                                          <p:attrName>style.fontSize</p:attrName>
                                        </p:attrNameLst>
                                      </p:cBhvr>
                                    </p:anim>
                                  </p:childTnLst>
                                </p:cTn>
                              </p:par>
                              <p:par>
                                <p:cTn id="50" presetID="1" presetClass="entr" presetSubtype="0" fill="hold" nodeType="withEffect">
                                  <p:stCondLst>
                                    <p:cond delay="0"/>
                                  </p:stCondLst>
                                  <p:childTnLst>
                                    <p:set>
                                      <p:cBhvr>
                                        <p:cTn id="51" dur="1" fill="hold">
                                          <p:stCondLst>
                                            <p:cond delay="0"/>
                                          </p:stCondLst>
                                        </p:cTn>
                                        <p:tgtEl>
                                          <p:spTgt spid="81934"/>
                                        </p:tgtEl>
                                        <p:attrNameLst>
                                          <p:attrName>style.visibility</p:attrName>
                                        </p:attrNameLst>
                                      </p:cBhvr>
                                      <p:to>
                                        <p:strVal val="visible"/>
                                      </p:to>
                                    </p:set>
                                  </p:childTnLst>
                                </p:cTn>
                              </p:par>
                            </p:childTnLst>
                          </p:cTn>
                        </p:par>
                        <p:par>
                          <p:cTn id="52" fill="hold">
                            <p:stCondLst>
                              <p:cond delay="500"/>
                            </p:stCondLst>
                            <p:childTnLst>
                              <p:par>
                                <p:cTn id="53" presetID="35" presetClass="path" presetSubtype="0" accel="50000" decel="50000" fill="hold" nodeType="afterEffect">
                                  <p:stCondLst>
                                    <p:cond delay="0"/>
                                  </p:stCondLst>
                                  <p:childTnLst>
                                    <p:animMotion origin="layout" path="M -0.00833 -2.36994E-6 L 0.68333 -2.36994E-6 " pathEditMode="relative" rAng="0" ptsTypes="AA">
                                      <p:cBhvr>
                                        <p:cTn id="54" dur="2000" fill="hold"/>
                                        <p:tgtEl>
                                          <p:spTgt spid="81934"/>
                                        </p:tgtEl>
                                        <p:attrNameLst>
                                          <p:attrName>ppt_x</p:attrName>
                                          <p:attrName>ppt_y</p:attrName>
                                        </p:attrNameLst>
                                      </p:cBhvr>
                                      <p:rCtr x="34600" y="0"/>
                                    </p:animMotion>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81931"/>
                                        </p:tgtEl>
                                        <p:attrNameLst>
                                          <p:attrName>style.visibility</p:attrName>
                                        </p:attrNameLst>
                                      </p:cBhvr>
                                      <p:to>
                                        <p:strVal val="hidden"/>
                                      </p:to>
                                    </p:set>
                                  </p:childTnLst>
                                </p:cTn>
                              </p:par>
                              <p:par>
                                <p:cTn id="59" presetID="1" presetClass="exit" presetSubtype="0" fill="hold" grpId="2" nodeType="withEffect">
                                  <p:stCondLst>
                                    <p:cond delay="0"/>
                                  </p:stCondLst>
                                  <p:iterate type="lt">
                                    <p:tmAbs val="0"/>
                                  </p:iterate>
                                  <p:childTnLst>
                                    <p:set>
                                      <p:cBhvr>
                                        <p:cTn id="60" dur="1" fill="hold">
                                          <p:stCondLst>
                                            <p:cond delay="0"/>
                                          </p:stCondLst>
                                        </p:cTn>
                                        <p:tgtEl>
                                          <p:spTgt spid="81929"/>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81930"/>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81932">
                                            <p:txEl>
                                              <p:pRg st="0" end="0"/>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1932">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1932">
                                            <p:txEl>
                                              <p:pRg st="2" end="2"/>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1932">
                                            <p:txEl>
                                              <p:pRg st="3" end="3"/>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193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2" grpId="0" uiExpand="1" build="p"/>
      <p:bldP spid="81926" grpId="0"/>
      <p:bldP spid="81926" grpId="1"/>
      <p:bldP spid="81927" grpId="0"/>
      <p:bldP spid="81929" grpId="0"/>
      <p:bldP spid="81929" grpId="1"/>
      <p:bldP spid="81929" grpId="2"/>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灯片编号占位符 10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5pPr>
          </a:lstStyle>
          <a:p>
            <a:pPr lvl="0" algn="r" eaLnBrk="1" hangingPunct="1">
              <a:buNone/>
            </a:pPr>
            <a:fld id="{9A0DB2DC-4C9A-4742-B13C-FB6460FD3503}" type="slidenum">
              <a:rPr lang="en-US" altLang="zh-CN" sz="1400" b="0" dirty="0">
                <a:ea typeface="宋体" panose="02010600030101010101" pitchFamily="2" charset="-122"/>
              </a:rPr>
            </a:fld>
            <a:endParaRPr lang="en-US" altLang="zh-CN" sz="1400" b="0" dirty="0">
              <a:ea typeface="宋体" panose="02010600030101010101" pitchFamily="2" charset="-122"/>
            </a:endParaRPr>
          </a:p>
        </p:txBody>
      </p:sp>
      <p:sp>
        <p:nvSpPr>
          <p:cNvPr id="83971" name="Rectangle 3"/>
          <p:cNvSpPr>
            <a:spLocks noGrp="1"/>
          </p:cNvSpPr>
          <p:nvPr>
            <p:ph idx="1"/>
          </p:nvPr>
        </p:nvSpPr>
        <p:spPr>
          <a:xfrm>
            <a:off x="2590800" y="4038600"/>
            <a:ext cx="5562600" cy="2667000"/>
          </a:xfrm>
        </p:spPr>
        <p:txBody>
          <a:bodyPr vert="horz" wrap="square" lIns="91440" tIns="45720" rIns="91440" bIns="45720" anchor="t" anchorCtr="0"/>
          <a:lstStyle/>
          <a:p>
            <a:pPr>
              <a:lnSpc>
                <a:spcPct val="90000"/>
              </a:lnSpc>
            </a:pPr>
            <a:r>
              <a:rPr lang="en-US" altLang="zh-CN" sz="2100" dirty="0">
                <a:ea typeface="宋体" panose="02010600030101010101" pitchFamily="2" charset="-122"/>
              </a:rPr>
              <a:t>More secure, but loss of flexibility</a:t>
            </a:r>
            <a:endParaRPr lang="en-US" altLang="zh-CN" sz="2100" dirty="0">
              <a:ea typeface="宋体" panose="02010600030101010101" pitchFamily="2" charset="-122"/>
            </a:endParaRPr>
          </a:p>
          <a:p>
            <a:pPr>
              <a:lnSpc>
                <a:spcPct val="90000"/>
              </a:lnSpc>
            </a:pPr>
            <a:r>
              <a:rPr lang="en-US" altLang="zh-CN" sz="2100" dirty="0">
                <a:ea typeface="宋体" panose="02010600030101010101" pitchFamily="2" charset="-122"/>
              </a:rPr>
              <a:t>New key for each file:</a:t>
            </a:r>
            <a:endParaRPr lang="en-US" altLang="zh-CN" sz="2100" dirty="0">
              <a:ea typeface="宋体" panose="02010600030101010101" pitchFamily="2" charset="-122"/>
            </a:endParaRPr>
          </a:p>
          <a:p>
            <a:pPr lvl="1">
              <a:lnSpc>
                <a:spcPct val="90000"/>
              </a:lnSpc>
            </a:pPr>
            <a:r>
              <a:rPr lang="en-US" altLang="zh-CN" dirty="0">
                <a:ea typeface="宋体" panose="02010600030101010101" pitchFamily="2" charset="-122"/>
              </a:rPr>
              <a:t>Must be online to distribute keys</a:t>
            </a:r>
            <a:endParaRPr lang="en-US" altLang="zh-CN" dirty="0">
              <a:ea typeface="宋体" panose="02010600030101010101" pitchFamily="2" charset="-122"/>
            </a:endParaRPr>
          </a:p>
          <a:p>
            <a:pPr>
              <a:lnSpc>
                <a:spcPct val="90000"/>
              </a:lnSpc>
            </a:pPr>
            <a:r>
              <a:rPr lang="en-US" altLang="zh-CN" sz="2100" dirty="0">
                <a:ea typeface="宋体" panose="02010600030101010101" pitchFamily="2" charset="-122"/>
              </a:rPr>
              <a:t>Many files with same key:</a:t>
            </a:r>
            <a:endParaRPr lang="en-US" altLang="zh-CN" sz="2100" dirty="0">
              <a:ea typeface="宋体" panose="02010600030101010101" pitchFamily="2" charset="-122"/>
            </a:endParaRPr>
          </a:p>
          <a:p>
            <a:pPr lvl="1">
              <a:lnSpc>
                <a:spcPct val="90000"/>
              </a:lnSpc>
            </a:pPr>
            <a:r>
              <a:rPr lang="en-US" altLang="zh-CN" dirty="0">
                <a:ea typeface="宋体" panose="02010600030101010101" pitchFamily="2" charset="-122"/>
              </a:rPr>
              <a:t>Fine grained access control not possible</a:t>
            </a:r>
            <a:endParaRPr lang="en-US" altLang="zh-CN" dirty="0">
              <a:ea typeface="宋体" panose="02010600030101010101" pitchFamily="2" charset="-122"/>
            </a:endParaRPr>
          </a:p>
        </p:txBody>
      </p:sp>
      <p:sp>
        <p:nvSpPr>
          <p:cNvPr id="156676" name="Rectangle 4"/>
          <p:cNvSpPr>
            <a:spLocks noGrp="1"/>
          </p:cNvSpPr>
          <p:nvPr>
            <p:ph type="title"/>
          </p:nvPr>
        </p:nvSpPr>
        <p:spPr/>
        <p:txBody>
          <a:bodyPr vert="horz" wrap="square" lIns="91440" tIns="45720" rIns="91440" bIns="45720" anchor="ctr" anchorCtr="0"/>
          <a:lstStyle/>
          <a:p>
            <a:pPr>
              <a:buNone/>
            </a:pPr>
            <a:r>
              <a:rPr lang="en-US" altLang="zh-CN" sz="3400" dirty="0">
                <a:ea typeface="宋体" panose="02010600030101010101" pitchFamily="2" charset="-122"/>
              </a:rPr>
              <a:t>Remote File Storage:</a:t>
            </a:r>
            <a:br>
              <a:rPr lang="en-US" altLang="zh-CN" sz="3400" dirty="0">
                <a:ea typeface="宋体" panose="02010600030101010101" pitchFamily="2" charset="-122"/>
              </a:rPr>
            </a:br>
            <a:r>
              <a:rPr lang="en-US" altLang="zh-CN" sz="3400" dirty="0">
                <a:ea typeface="宋体" panose="02010600030101010101" pitchFamily="2" charset="-122"/>
              </a:rPr>
              <a:t>Encrypting the Files</a:t>
            </a:r>
            <a:endParaRPr lang="en-US" altLang="zh-CN" sz="3400" dirty="0">
              <a:ea typeface="宋体" panose="02010600030101010101" pitchFamily="2" charset="-122"/>
            </a:endParaRPr>
          </a:p>
        </p:txBody>
      </p:sp>
      <p:pic>
        <p:nvPicPr>
          <p:cNvPr id="156677" name="Picture 5" descr="tower"/>
          <p:cNvPicPr>
            <a:picLocks noChangeAspect="1"/>
          </p:cNvPicPr>
          <p:nvPr/>
        </p:nvPicPr>
        <p:blipFill>
          <a:blip r:embed="rId1"/>
          <a:stretch>
            <a:fillRect/>
          </a:stretch>
        </p:blipFill>
        <p:spPr>
          <a:xfrm>
            <a:off x="1381125" y="2362200"/>
            <a:ext cx="1358900" cy="1828800"/>
          </a:xfrm>
          <a:prstGeom prst="rect">
            <a:avLst/>
          </a:prstGeom>
          <a:noFill/>
          <a:ln w="9525">
            <a:noFill/>
          </a:ln>
        </p:spPr>
      </p:pic>
      <p:pic>
        <p:nvPicPr>
          <p:cNvPr id="156678" name="Picture 6" descr="carl"/>
          <p:cNvPicPr>
            <a:picLocks noChangeAspect="1"/>
          </p:cNvPicPr>
          <p:nvPr/>
        </p:nvPicPr>
        <p:blipFill>
          <a:blip r:embed="rId2"/>
          <a:stretch>
            <a:fillRect/>
          </a:stretch>
        </p:blipFill>
        <p:spPr>
          <a:xfrm>
            <a:off x="7620000" y="2362200"/>
            <a:ext cx="1168400" cy="1168400"/>
          </a:xfrm>
          <a:prstGeom prst="rect">
            <a:avLst/>
          </a:prstGeom>
          <a:noFill/>
          <a:ln w="9525">
            <a:noFill/>
          </a:ln>
        </p:spPr>
      </p:pic>
      <p:pic>
        <p:nvPicPr>
          <p:cNvPr id="83981" name="Picture 13" descr="file"/>
          <p:cNvPicPr>
            <a:picLocks noChangeAspect="1"/>
          </p:cNvPicPr>
          <p:nvPr/>
        </p:nvPicPr>
        <p:blipFill>
          <a:blip r:embed="rId3"/>
          <a:stretch>
            <a:fillRect/>
          </a:stretch>
        </p:blipFill>
        <p:spPr>
          <a:xfrm>
            <a:off x="6705600" y="2514600"/>
            <a:ext cx="914400" cy="914400"/>
          </a:xfrm>
          <a:prstGeom prst="rect">
            <a:avLst/>
          </a:prstGeom>
          <a:noFill/>
          <a:ln w="9525">
            <a:noFill/>
          </a:ln>
        </p:spPr>
      </p:pic>
      <p:pic>
        <p:nvPicPr>
          <p:cNvPr id="83984" name="Picture 16" descr="lock"/>
          <p:cNvPicPr>
            <a:picLocks noChangeAspect="1"/>
          </p:cNvPicPr>
          <p:nvPr/>
        </p:nvPicPr>
        <p:blipFill>
          <a:blip r:embed="rId4"/>
          <a:stretch>
            <a:fillRect/>
          </a:stretch>
        </p:blipFill>
        <p:spPr>
          <a:xfrm>
            <a:off x="6781800" y="2590800"/>
            <a:ext cx="685800" cy="685800"/>
          </a:xfrm>
          <a:prstGeom prst="rect">
            <a:avLst/>
          </a:prstGeom>
          <a:noFill/>
          <a:ln w="9525">
            <a:noFill/>
          </a:ln>
        </p:spPr>
      </p:pic>
      <p:grpSp>
        <p:nvGrpSpPr>
          <p:cNvPr id="83985" name="Group 17"/>
          <p:cNvGrpSpPr/>
          <p:nvPr/>
        </p:nvGrpSpPr>
        <p:grpSpPr>
          <a:xfrm rot="10800000">
            <a:off x="7315200" y="1752600"/>
            <a:ext cx="762000" cy="461963"/>
            <a:chOff x="3072" y="768"/>
            <a:chExt cx="624" cy="332"/>
          </a:xfrm>
        </p:grpSpPr>
        <p:grpSp>
          <p:nvGrpSpPr>
            <p:cNvPr id="156770" name="Group 18"/>
            <p:cNvGrpSpPr/>
            <p:nvPr/>
          </p:nvGrpSpPr>
          <p:grpSpPr>
            <a:xfrm>
              <a:off x="3072" y="768"/>
              <a:ext cx="624" cy="192"/>
              <a:chOff x="1872" y="2976"/>
              <a:chExt cx="624" cy="192"/>
            </a:xfrm>
          </p:grpSpPr>
          <p:sp>
            <p:nvSpPr>
              <p:cNvPr id="156772" name="Rectangle 19"/>
              <p:cNvSpPr/>
              <p:nvPr/>
            </p:nvSpPr>
            <p:spPr>
              <a:xfrm>
                <a:off x="2016" y="3072"/>
                <a:ext cx="480"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73" name="AutoShape 20"/>
              <p:cNvSpPr/>
              <p:nvPr/>
            </p:nvSpPr>
            <p:spPr>
              <a:xfrm>
                <a:off x="1872" y="2976"/>
                <a:ext cx="192" cy="192"/>
              </a:xfrm>
              <a:custGeom>
                <a:avLst/>
                <a:gdLst>
                  <a:gd name="txL" fmla="*/ 3150 w 21600"/>
                  <a:gd name="txT" fmla="*/ 3150 h 21600"/>
                  <a:gd name="txR" fmla="*/ 18450 w 21600"/>
                  <a:gd name="txB" fmla="*/ 18450 h 21600"/>
                </a:gdLst>
                <a:ahLst/>
                <a:cxnLst>
                  <a:cxn ang="0">
                    <a:pos x="96" y="0"/>
                  </a:cxn>
                  <a:cxn ang="0">
                    <a:pos x="28" y="28"/>
                  </a:cxn>
                  <a:cxn ang="0">
                    <a:pos x="0" y="96"/>
                  </a:cxn>
                  <a:cxn ang="0">
                    <a:pos x="28" y="164"/>
                  </a:cxn>
                  <a:cxn ang="0">
                    <a:pos x="96" y="192"/>
                  </a:cxn>
                  <a:cxn ang="0">
                    <a:pos x="164" y="164"/>
                  </a:cxn>
                  <a:cxn ang="0">
                    <a:pos x="192" y="96"/>
                  </a:cxn>
                  <a:cxn ang="0">
                    <a:pos x="164" y="28"/>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100000"/>
                </a:srgbClr>
              </a:solidFill>
              <a:ln w="12700" cap="sq" cmpd="sng">
                <a:solidFill>
                  <a:schemeClr val="tx1">
                    <a:alpha val="100000"/>
                  </a:schemeClr>
                </a:solidFill>
                <a:prstDash val="solid"/>
                <a:round/>
                <a:headEnd type="none" w="sm" len="sm"/>
                <a:tailEnd type="none" w="sm" len="sm"/>
              </a:ln>
            </p:spPr>
            <p:txBody>
              <a:bodyPr/>
              <a:lstStyle/>
              <a:p>
                <a:endParaRPr lang="zh-CN" altLang="en-US"/>
              </a:p>
            </p:txBody>
          </p:sp>
          <p:sp>
            <p:nvSpPr>
              <p:cNvPr id="156774" name="Rectangle 21"/>
              <p:cNvSpPr/>
              <p:nvPr/>
            </p:nvSpPr>
            <p:spPr>
              <a:xfrm>
                <a:off x="2352" y="3024"/>
                <a:ext cx="48"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75" name="Rectangle 22"/>
              <p:cNvSpPr/>
              <p:nvPr/>
            </p:nvSpPr>
            <p:spPr>
              <a:xfrm>
                <a:off x="2448"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76" name="Rectangle 23"/>
              <p:cNvSpPr/>
              <p:nvPr/>
            </p:nvSpPr>
            <p:spPr>
              <a:xfrm>
                <a:off x="2256"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grpSp>
        <p:sp>
          <p:nvSpPr>
            <p:cNvPr id="156771" name="Text Box 24"/>
            <p:cNvSpPr txBox="1"/>
            <p:nvPr/>
          </p:nvSpPr>
          <p:spPr>
            <a:xfrm>
              <a:off x="3201" y="771"/>
              <a:ext cx="151" cy="329"/>
            </a:xfrm>
            <a:prstGeom prst="rect">
              <a:avLst/>
            </a:prstGeom>
            <a:noFill/>
            <a:ln w="12700">
              <a:noFill/>
            </a:ln>
          </p:spPr>
          <p:txBody>
            <a:bodyPr rot="10800000" wrap="none">
              <a:spAutoFit/>
            </a:bodyPr>
            <a:lstStyle/>
            <a:p>
              <a:pPr>
                <a:buNone/>
              </a:pPr>
              <a:endParaRPr lang="zh-CN" altLang="zh-CN" sz="2400" dirty="0">
                <a:latin typeface="Arial" panose="020B0604020202020204" pitchFamily="34" charset="0"/>
                <a:ea typeface="MS PGothic" panose="020B0600070205080204" pitchFamily="34" charset="-128"/>
              </a:endParaRPr>
            </a:p>
          </p:txBody>
        </p:sp>
      </p:grpSp>
      <p:pic>
        <p:nvPicPr>
          <p:cNvPr id="83993" name="Picture 25" descr="sarah"/>
          <p:cNvPicPr>
            <a:picLocks noChangeAspect="1"/>
          </p:cNvPicPr>
          <p:nvPr/>
        </p:nvPicPr>
        <p:blipFill>
          <a:blip r:embed="rId5"/>
          <a:stretch>
            <a:fillRect/>
          </a:stretch>
        </p:blipFill>
        <p:spPr>
          <a:xfrm>
            <a:off x="7543800" y="3556000"/>
            <a:ext cx="1244600" cy="1244600"/>
          </a:xfrm>
          <a:prstGeom prst="rect">
            <a:avLst/>
          </a:prstGeom>
          <a:noFill/>
          <a:ln w="9525">
            <a:noFill/>
          </a:ln>
        </p:spPr>
      </p:pic>
      <p:pic>
        <p:nvPicPr>
          <p:cNvPr id="83994" name="Picture 26" descr="kevin"/>
          <p:cNvPicPr>
            <a:picLocks noChangeAspect="1"/>
          </p:cNvPicPr>
          <p:nvPr/>
        </p:nvPicPr>
        <p:blipFill>
          <a:blip r:embed="rId6"/>
          <a:stretch>
            <a:fillRect/>
          </a:stretch>
        </p:blipFill>
        <p:spPr>
          <a:xfrm>
            <a:off x="7569200" y="4826000"/>
            <a:ext cx="1270000" cy="1270000"/>
          </a:xfrm>
          <a:prstGeom prst="rect">
            <a:avLst/>
          </a:prstGeom>
          <a:noFill/>
          <a:ln w="9525">
            <a:noFill/>
          </a:ln>
        </p:spPr>
      </p:pic>
      <p:grpSp>
        <p:nvGrpSpPr>
          <p:cNvPr id="83997" name="Group 29"/>
          <p:cNvGrpSpPr/>
          <p:nvPr/>
        </p:nvGrpSpPr>
        <p:grpSpPr>
          <a:xfrm>
            <a:off x="0" y="2971800"/>
            <a:ext cx="914400" cy="914400"/>
            <a:chOff x="3024" y="2832"/>
            <a:chExt cx="576" cy="576"/>
          </a:xfrm>
        </p:grpSpPr>
        <p:pic>
          <p:nvPicPr>
            <p:cNvPr id="156768" name="Picture 27"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69" name="Picture 28"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3998" name="Group 30"/>
          <p:cNvGrpSpPr/>
          <p:nvPr/>
        </p:nvGrpSpPr>
        <p:grpSpPr>
          <a:xfrm>
            <a:off x="457200" y="3124200"/>
            <a:ext cx="914400" cy="914400"/>
            <a:chOff x="3024" y="2832"/>
            <a:chExt cx="576" cy="576"/>
          </a:xfrm>
        </p:grpSpPr>
        <p:pic>
          <p:nvPicPr>
            <p:cNvPr id="156766" name="Picture 31"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67" name="Picture 32"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01" name="Group 33"/>
          <p:cNvGrpSpPr/>
          <p:nvPr/>
        </p:nvGrpSpPr>
        <p:grpSpPr>
          <a:xfrm>
            <a:off x="0" y="3505200"/>
            <a:ext cx="914400" cy="914400"/>
            <a:chOff x="3024" y="2832"/>
            <a:chExt cx="576" cy="576"/>
          </a:xfrm>
        </p:grpSpPr>
        <p:pic>
          <p:nvPicPr>
            <p:cNvPr id="156764" name="Picture 34"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65" name="Picture 35"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04" name="Group 36"/>
          <p:cNvGrpSpPr/>
          <p:nvPr/>
        </p:nvGrpSpPr>
        <p:grpSpPr>
          <a:xfrm>
            <a:off x="838200" y="3352800"/>
            <a:ext cx="914400" cy="914400"/>
            <a:chOff x="3024" y="2832"/>
            <a:chExt cx="576" cy="576"/>
          </a:xfrm>
        </p:grpSpPr>
        <p:pic>
          <p:nvPicPr>
            <p:cNvPr id="156762" name="Picture 37"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63" name="Picture 38"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07" name="Group 39"/>
          <p:cNvGrpSpPr/>
          <p:nvPr/>
        </p:nvGrpSpPr>
        <p:grpSpPr>
          <a:xfrm>
            <a:off x="533400" y="3733800"/>
            <a:ext cx="914400" cy="914400"/>
            <a:chOff x="3024" y="2832"/>
            <a:chExt cx="576" cy="576"/>
          </a:xfrm>
        </p:grpSpPr>
        <p:pic>
          <p:nvPicPr>
            <p:cNvPr id="156760" name="Picture 40"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61" name="Picture 41"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10" name="Group 42"/>
          <p:cNvGrpSpPr/>
          <p:nvPr/>
        </p:nvGrpSpPr>
        <p:grpSpPr>
          <a:xfrm>
            <a:off x="152400" y="4038600"/>
            <a:ext cx="914400" cy="914400"/>
            <a:chOff x="3024" y="2832"/>
            <a:chExt cx="576" cy="576"/>
          </a:xfrm>
        </p:grpSpPr>
        <p:pic>
          <p:nvPicPr>
            <p:cNvPr id="156758" name="Picture 43"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59" name="Picture 44"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13" name="Group 45"/>
          <p:cNvGrpSpPr/>
          <p:nvPr/>
        </p:nvGrpSpPr>
        <p:grpSpPr>
          <a:xfrm>
            <a:off x="1143000" y="4191000"/>
            <a:ext cx="914400" cy="914400"/>
            <a:chOff x="3024" y="2832"/>
            <a:chExt cx="576" cy="576"/>
          </a:xfrm>
        </p:grpSpPr>
        <p:pic>
          <p:nvPicPr>
            <p:cNvPr id="156756" name="Picture 46"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57" name="Picture 47"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16" name="Group 48"/>
          <p:cNvGrpSpPr/>
          <p:nvPr/>
        </p:nvGrpSpPr>
        <p:grpSpPr>
          <a:xfrm>
            <a:off x="685800" y="4419600"/>
            <a:ext cx="914400" cy="914400"/>
            <a:chOff x="3024" y="2832"/>
            <a:chExt cx="576" cy="576"/>
          </a:xfrm>
        </p:grpSpPr>
        <p:pic>
          <p:nvPicPr>
            <p:cNvPr id="156754" name="Picture 49"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55" name="Picture 50"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19" name="Group 51"/>
          <p:cNvGrpSpPr/>
          <p:nvPr/>
        </p:nvGrpSpPr>
        <p:grpSpPr>
          <a:xfrm>
            <a:off x="228600" y="4876800"/>
            <a:ext cx="914400" cy="914400"/>
            <a:chOff x="3024" y="2832"/>
            <a:chExt cx="576" cy="576"/>
          </a:xfrm>
        </p:grpSpPr>
        <p:pic>
          <p:nvPicPr>
            <p:cNvPr id="156752" name="Picture 52"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53" name="Picture 53"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22" name="Group 54"/>
          <p:cNvGrpSpPr/>
          <p:nvPr/>
        </p:nvGrpSpPr>
        <p:grpSpPr>
          <a:xfrm>
            <a:off x="1600200" y="4572000"/>
            <a:ext cx="914400" cy="914400"/>
            <a:chOff x="3024" y="2832"/>
            <a:chExt cx="576" cy="576"/>
          </a:xfrm>
        </p:grpSpPr>
        <p:pic>
          <p:nvPicPr>
            <p:cNvPr id="156750" name="Picture 55" descr="file"/>
            <p:cNvPicPr>
              <a:picLocks noChangeAspect="1"/>
            </p:cNvPicPr>
            <p:nvPr/>
          </p:nvPicPr>
          <p:blipFill>
            <a:blip r:embed="rId3"/>
            <a:stretch>
              <a:fillRect/>
            </a:stretch>
          </p:blipFill>
          <p:spPr>
            <a:xfrm>
              <a:off x="3024" y="2832"/>
              <a:ext cx="576" cy="576"/>
            </a:xfrm>
            <a:prstGeom prst="rect">
              <a:avLst/>
            </a:prstGeom>
            <a:noFill/>
            <a:ln w="9525">
              <a:noFill/>
            </a:ln>
          </p:spPr>
        </p:pic>
        <p:pic>
          <p:nvPicPr>
            <p:cNvPr id="156751" name="Picture 56" descr="lock"/>
            <p:cNvPicPr>
              <a:picLocks noChangeAspect="1"/>
            </p:cNvPicPr>
            <p:nvPr/>
          </p:nvPicPr>
          <p:blipFill>
            <a:blip r:embed="rId4"/>
            <a:stretch>
              <a:fillRect/>
            </a:stretch>
          </p:blipFill>
          <p:spPr>
            <a:xfrm>
              <a:off x="3072" y="2880"/>
              <a:ext cx="432" cy="432"/>
            </a:xfrm>
            <a:prstGeom prst="rect">
              <a:avLst/>
            </a:prstGeom>
            <a:noFill/>
            <a:ln w="9525">
              <a:noFill/>
            </a:ln>
          </p:spPr>
        </p:pic>
      </p:grpSp>
      <p:grpSp>
        <p:nvGrpSpPr>
          <p:cNvPr id="84025" name="Group 57"/>
          <p:cNvGrpSpPr/>
          <p:nvPr/>
        </p:nvGrpSpPr>
        <p:grpSpPr>
          <a:xfrm rot="10800000">
            <a:off x="6858000" y="2514600"/>
            <a:ext cx="762000" cy="461963"/>
            <a:chOff x="3072" y="768"/>
            <a:chExt cx="624" cy="332"/>
          </a:xfrm>
        </p:grpSpPr>
        <p:grpSp>
          <p:nvGrpSpPr>
            <p:cNvPr id="156743" name="Group 58"/>
            <p:cNvGrpSpPr/>
            <p:nvPr/>
          </p:nvGrpSpPr>
          <p:grpSpPr>
            <a:xfrm>
              <a:off x="3072" y="768"/>
              <a:ext cx="624" cy="192"/>
              <a:chOff x="1872" y="2976"/>
              <a:chExt cx="624" cy="192"/>
            </a:xfrm>
          </p:grpSpPr>
          <p:sp>
            <p:nvSpPr>
              <p:cNvPr id="156745" name="Rectangle 59"/>
              <p:cNvSpPr/>
              <p:nvPr/>
            </p:nvSpPr>
            <p:spPr>
              <a:xfrm>
                <a:off x="2016" y="3072"/>
                <a:ext cx="480"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46" name="AutoShape 60"/>
              <p:cNvSpPr/>
              <p:nvPr/>
            </p:nvSpPr>
            <p:spPr>
              <a:xfrm>
                <a:off x="1872" y="2976"/>
                <a:ext cx="192" cy="192"/>
              </a:xfrm>
              <a:custGeom>
                <a:avLst/>
                <a:gdLst>
                  <a:gd name="txL" fmla="*/ 3150 w 21600"/>
                  <a:gd name="txT" fmla="*/ 3150 h 21600"/>
                  <a:gd name="txR" fmla="*/ 18450 w 21600"/>
                  <a:gd name="txB" fmla="*/ 18450 h 21600"/>
                </a:gdLst>
                <a:ahLst/>
                <a:cxnLst>
                  <a:cxn ang="0">
                    <a:pos x="96" y="0"/>
                  </a:cxn>
                  <a:cxn ang="0">
                    <a:pos x="28" y="28"/>
                  </a:cxn>
                  <a:cxn ang="0">
                    <a:pos x="0" y="96"/>
                  </a:cxn>
                  <a:cxn ang="0">
                    <a:pos x="28" y="164"/>
                  </a:cxn>
                  <a:cxn ang="0">
                    <a:pos x="96" y="192"/>
                  </a:cxn>
                  <a:cxn ang="0">
                    <a:pos x="164" y="164"/>
                  </a:cxn>
                  <a:cxn ang="0">
                    <a:pos x="192" y="96"/>
                  </a:cxn>
                  <a:cxn ang="0">
                    <a:pos x="164" y="28"/>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100000"/>
                </a:srgbClr>
              </a:solidFill>
              <a:ln w="12700" cap="sq" cmpd="sng">
                <a:solidFill>
                  <a:schemeClr val="tx1">
                    <a:alpha val="100000"/>
                  </a:schemeClr>
                </a:solidFill>
                <a:prstDash val="solid"/>
                <a:round/>
                <a:headEnd type="none" w="sm" len="sm"/>
                <a:tailEnd type="none" w="sm" len="sm"/>
              </a:ln>
            </p:spPr>
            <p:txBody>
              <a:bodyPr/>
              <a:lstStyle/>
              <a:p>
                <a:endParaRPr lang="zh-CN" altLang="en-US"/>
              </a:p>
            </p:txBody>
          </p:sp>
          <p:sp>
            <p:nvSpPr>
              <p:cNvPr id="156747" name="Rectangle 61"/>
              <p:cNvSpPr/>
              <p:nvPr/>
            </p:nvSpPr>
            <p:spPr>
              <a:xfrm>
                <a:off x="2352" y="3024"/>
                <a:ext cx="48"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48" name="Rectangle 62"/>
              <p:cNvSpPr/>
              <p:nvPr/>
            </p:nvSpPr>
            <p:spPr>
              <a:xfrm>
                <a:off x="2448"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49" name="Rectangle 63"/>
              <p:cNvSpPr/>
              <p:nvPr/>
            </p:nvSpPr>
            <p:spPr>
              <a:xfrm>
                <a:off x="2256"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grpSp>
        <p:sp>
          <p:nvSpPr>
            <p:cNvPr id="156744" name="Text Box 64"/>
            <p:cNvSpPr txBox="1"/>
            <p:nvPr/>
          </p:nvSpPr>
          <p:spPr>
            <a:xfrm>
              <a:off x="3201" y="771"/>
              <a:ext cx="151" cy="329"/>
            </a:xfrm>
            <a:prstGeom prst="rect">
              <a:avLst/>
            </a:prstGeom>
            <a:noFill/>
            <a:ln w="12700">
              <a:noFill/>
            </a:ln>
          </p:spPr>
          <p:txBody>
            <a:bodyPr rot="10800000" wrap="none">
              <a:spAutoFit/>
            </a:bodyPr>
            <a:lstStyle/>
            <a:p>
              <a:pPr>
                <a:buNone/>
              </a:pPr>
              <a:endParaRPr lang="zh-CN" altLang="zh-CN" sz="2400" dirty="0">
                <a:latin typeface="Arial" panose="020B0604020202020204" pitchFamily="34" charset="0"/>
                <a:ea typeface="MS PGothic" panose="020B0600070205080204" pitchFamily="34" charset="-128"/>
              </a:endParaRPr>
            </a:p>
          </p:txBody>
        </p:sp>
      </p:grpSp>
      <p:grpSp>
        <p:nvGrpSpPr>
          <p:cNvPr id="84033" name="Group 65"/>
          <p:cNvGrpSpPr/>
          <p:nvPr/>
        </p:nvGrpSpPr>
        <p:grpSpPr>
          <a:xfrm rot="10800000">
            <a:off x="6934200" y="2205038"/>
            <a:ext cx="762000" cy="461962"/>
            <a:chOff x="3072" y="768"/>
            <a:chExt cx="624" cy="332"/>
          </a:xfrm>
        </p:grpSpPr>
        <p:grpSp>
          <p:nvGrpSpPr>
            <p:cNvPr id="156736" name="Group 66"/>
            <p:cNvGrpSpPr/>
            <p:nvPr/>
          </p:nvGrpSpPr>
          <p:grpSpPr>
            <a:xfrm>
              <a:off x="3072" y="768"/>
              <a:ext cx="624" cy="192"/>
              <a:chOff x="1872" y="2976"/>
              <a:chExt cx="624" cy="192"/>
            </a:xfrm>
          </p:grpSpPr>
          <p:sp>
            <p:nvSpPr>
              <p:cNvPr id="156738" name="Rectangle 67"/>
              <p:cNvSpPr/>
              <p:nvPr/>
            </p:nvSpPr>
            <p:spPr>
              <a:xfrm>
                <a:off x="2016" y="3072"/>
                <a:ext cx="480"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39" name="AutoShape 68"/>
              <p:cNvSpPr/>
              <p:nvPr/>
            </p:nvSpPr>
            <p:spPr>
              <a:xfrm>
                <a:off x="1872" y="2976"/>
                <a:ext cx="192" cy="192"/>
              </a:xfrm>
              <a:custGeom>
                <a:avLst/>
                <a:gdLst>
                  <a:gd name="txL" fmla="*/ 3150 w 21600"/>
                  <a:gd name="txT" fmla="*/ 3150 h 21600"/>
                  <a:gd name="txR" fmla="*/ 18450 w 21600"/>
                  <a:gd name="txB" fmla="*/ 18450 h 21600"/>
                </a:gdLst>
                <a:ahLst/>
                <a:cxnLst>
                  <a:cxn ang="0">
                    <a:pos x="96" y="0"/>
                  </a:cxn>
                  <a:cxn ang="0">
                    <a:pos x="28" y="28"/>
                  </a:cxn>
                  <a:cxn ang="0">
                    <a:pos x="0" y="96"/>
                  </a:cxn>
                  <a:cxn ang="0">
                    <a:pos x="28" y="164"/>
                  </a:cxn>
                  <a:cxn ang="0">
                    <a:pos x="96" y="192"/>
                  </a:cxn>
                  <a:cxn ang="0">
                    <a:pos x="164" y="164"/>
                  </a:cxn>
                  <a:cxn ang="0">
                    <a:pos x="192" y="96"/>
                  </a:cxn>
                  <a:cxn ang="0">
                    <a:pos x="164" y="28"/>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100000"/>
                </a:srgbClr>
              </a:solidFill>
              <a:ln w="12700" cap="sq" cmpd="sng">
                <a:solidFill>
                  <a:schemeClr val="tx1">
                    <a:alpha val="100000"/>
                  </a:schemeClr>
                </a:solidFill>
                <a:prstDash val="solid"/>
                <a:round/>
                <a:headEnd type="none" w="sm" len="sm"/>
                <a:tailEnd type="none" w="sm" len="sm"/>
              </a:ln>
            </p:spPr>
            <p:txBody>
              <a:bodyPr/>
              <a:lstStyle/>
              <a:p>
                <a:endParaRPr lang="zh-CN" altLang="en-US"/>
              </a:p>
            </p:txBody>
          </p:sp>
          <p:sp>
            <p:nvSpPr>
              <p:cNvPr id="156740" name="Rectangle 69"/>
              <p:cNvSpPr/>
              <p:nvPr/>
            </p:nvSpPr>
            <p:spPr>
              <a:xfrm>
                <a:off x="2352" y="3024"/>
                <a:ext cx="48"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41" name="Rectangle 70"/>
              <p:cNvSpPr/>
              <p:nvPr/>
            </p:nvSpPr>
            <p:spPr>
              <a:xfrm>
                <a:off x="2448"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42" name="Rectangle 71"/>
              <p:cNvSpPr/>
              <p:nvPr/>
            </p:nvSpPr>
            <p:spPr>
              <a:xfrm>
                <a:off x="2256"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grpSp>
        <p:sp>
          <p:nvSpPr>
            <p:cNvPr id="156737" name="Text Box 72"/>
            <p:cNvSpPr txBox="1"/>
            <p:nvPr/>
          </p:nvSpPr>
          <p:spPr>
            <a:xfrm>
              <a:off x="3201" y="771"/>
              <a:ext cx="151" cy="329"/>
            </a:xfrm>
            <a:prstGeom prst="rect">
              <a:avLst/>
            </a:prstGeom>
            <a:noFill/>
            <a:ln w="12700">
              <a:noFill/>
            </a:ln>
          </p:spPr>
          <p:txBody>
            <a:bodyPr rot="10800000" wrap="none">
              <a:spAutoFit/>
            </a:bodyPr>
            <a:lstStyle/>
            <a:p>
              <a:pPr>
                <a:buNone/>
              </a:pPr>
              <a:endParaRPr lang="zh-CN" altLang="zh-CN" sz="2400" dirty="0">
                <a:latin typeface="Arial" panose="020B0604020202020204" pitchFamily="34" charset="0"/>
                <a:ea typeface="MS PGothic" panose="020B0600070205080204" pitchFamily="34" charset="-128"/>
              </a:endParaRPr>
            </a:p>
          </p:txBody>
        </p:sp>
      </p:grpSp>
      <p:grpSp>
        <p:nvGrpSpPr>
          <p:cNvPr id="84041" name="Group 73"/>
          <p:cNvGrpSpPr/>
          <p:nvPr/>
        </p:nvGrpSpPr>
        <p:grpSpPr>
          <a:xfrm rot="10800000">
            <a:off x="6858000" y="2814638"/>
            <a:ext cx="762000" cy="461962"/>
            <a:chOff x="3072" y="768"/>
            <a:chExt cx="624" cy="332"/>
          </a:xfrm>
        </p:grpSpPr>
        <p:grpSp>
          <p:nvGrpSpPr>
            <p:cNvPr id="156729" name="Group 74"/>
            <p:cNvGrpSpPr/>
            <p:nvPr/>
          </p:nvGrpSpPr>
          <p:grpSpPr>
            <a:xfrm>
              <a:off x="3072" y="768"/>
              <a:ext cx="624" cy="192"/>
              <a:chOff x="1872" y="2976"/>
              <a:chExt cx="624" cy="192"/>
            </a:xfrm>
          </p:grpSpPr>
          <p:sp>
            <p:nvSpPr>
              <p:cNvPr id="156731" name="Rectangle 75"/>
              <p:cNvSpPr/>
              <p:nvPr/>
            </p:nvSpPr>
            <p:spPr>
              <a:xfrm>
                <a:off x="2016" y="3072"/>
                <a:ext cx="480"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32" name="AutoShape 76"/>
              <p:cNvSpPr/>
              <p:nvPr/>
            </p:nvSpPr>
            <p:spPr>
              <a:xfrm>
                <a:off x="1872" y="2976"/>
                <a:ext cx="192" cy="192"/>
              </a:xfrm>
              <a:custGeom>
                <a:avLst/>
                <a:gdLst>
                  <a:gd name="txL" fmla="*/ 3150 w 21600"/>
                  <a:gd name="txT" fmla="*/ 3150 h 21600"/>
                  <a:gd name="txR" fmla="*/ 18450 w 21600"/>
                  <a:gd name="txB" fmla="*/ 18450 h 21600"/>
                </a:gdLst>
                <a:ahLst/>
                <a:cxnLst>
                  <a:cxn ang="0">
                    <a:pos x="96" y="0"/>
                  </a:cxn>
                  <a:cxn ang="0">
                    <a:pos x="28" y="28"/>
                  </a:cxn>
                  <a:cxn ang="0">
                    <a:pos x="0" y="96"/>
                  </a:cxn>
                  <a:cxn ang="0">
                    <a:pos x="28" y="164"/>
                  </a:cxn>
                  <a:cxn ang="0">
                    <a:pos x="96" y="192"/>
                  </a:cxn>
                  <a:cxn ang="0">
                    <a:pos x="164" y="164"/>
                  </a:cxn>
                  <a:cxn ang="0">
                    <a:pos x="192" y="96"/>
                  </a:cxn>
                  <a:cxn ang="0">
                    <a:pos x="164" y="28"/>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100000"/>
                </a:srgbClr>
              </a:solidFill>
              <a:ln w="12700" cap="sq" cmpd="sng">
                <a:solidFill>
                  <a:schemeClr val="tx1">
                    <a:alpha val="100000"/>
                  </a:schemeClr>
                </a:solidFill>
                <a:prstDash val="solid"/>
                <a:round/>
                <a:headEnd type="none" w="sm" len="sm"/>
                <a:tailEnd type="none" w="sm" len="sm"/>
              </a:ln>
            </p:spPr>
            <p:txBody>
              <a:bodyPr/>
              <a:lstStyle/>
              <a:p>
                <a:endParaRPr lang="zh-CN" altLang="en-US"/>
              </a:p>
            </p:txBody>
          </p:sp>
          <p:sp>
            <p:nvSpPr>
              <p:cNvPr id="156733" name="Rectangle 77"/>
              <p:cNvSpPr/>
              <p:nvPr/>
            </p:nvSpPr>
            <p:spPr>
              <a:xfrm>
                <a:off x="2352" y="3024"/>
                <a:ext cx="48"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34" name="Rectangle 78"/>
              <p:cNvSpPr/>
              <p:nvPr/>
            </p:nvSpPr>
            <p:spPr>
              <a:xfrm>
                <a:off x="2448"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35" name="Rectangle 79"/>
              <p:cNvSpPr/>
              <p:nvPr/>
            </p:nvSpPr>
            <p:spPr>
              <a:xfrm>
                <a:off x="2256"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grpSp>
        <p:sp>
          <p:nvSpPr>
            <p:cNvPr id="156730" name="Text Box 80"/>
            <p:cNvSpPr txBox="1"/>
            <p:nvPr/>
          </p:nvSpPr>
          <p:spPr>
            <a:xfrm>
              <a:off x="3201" y="771"/>
              <a:ext cx="151" cy="329"/>
            </a:xfrm>
            <a:prstGeom prst="rect">
              <a:avLst/>
            </a:prstGeom>
            <a:noFill/>
            <a:ln w="12700">
              <a:noFill/>
            </a:ln>
          </p:spPr>
          <p:txBody>
            <a:bodyPr rot="10800000" wrap="none">
              <a:spAutoFit/>
            </a:bodyPr>
            <a:lstStyle/>
            <a:p>
              <a:pPr>
                <a:buNone/>
              </a:pPr>
              <a:endParaRPr lang="zh-CN" altLang="zh-CN" sz="2400" dirty="0">
                <a:latin typeface="Arial" panose="020B0604020202020204" pitchFamily="34" charset="0"/>
                <a:ea typeface="MS PGothic" panose="020B0600070205080204" pitchFamily="34" charset="-128"/>
              </a:endParaRPr>
            </a:p>
          </p:txBody>
        </p:sp>
      </p:grpSp>
      <p:grpSp>
        <p:nvGrpSpPr>
          <p:cNvPr id="84049" name="Group 81"/>
          <p:cNvGrpSpPr/>
          <p:nvPr/>
        </p:nvGrpSpPr>
        <p:grpSpPr>
          <a:xfrm rot="10800000">
            <a:off x="7010400" y="3048000"/>
            <a:ext cx="762000" cy="461963"/>
            <a:chOff x="3072" y="768"/>
            <a:chExt cx="624" cy="332"/>
          </a:xfrm>
        </p:grpSpPr>
        <p:grpSp>
          <p:nvGrpSpPr>
            <p:cNvPr id="156722" name="Group 82"/>
            <p:cNvGrpSpPr/>
            <p:nvPr/>
          </p:nvGrpSpPr>
          <p:grpSpPr>
            <a:xfrm>
              <a:off x="3072" y="768"/>
              <a:ext cx="624" cy="192"/>
              <a:chOff x="1872" y="2976"/>
              <a:chExt cx="624" cy="192"/>
            </a:xfrm>
          </p:grpSpPr>
          <p:sp>
            <p:nvSpPr>
              <p:cNvPr id="156724" name="Rectangle 83"/>
              <p:cNvSpPr/>
              <p:nvPr/>
            </p:nvSpPr>
            <p:spPr>
              <a:xfrm>
                <a:off x="2016" y="3072"/>
                <a:ext cx="480"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25" name="AutoShape 84"/>
              <p:cNvSpPr/>
              <p:nvPr/>
            </p:nvSpPr>
            <p:spPr>
              <a:xfrm>
                <a:off x="1872" y="2976"/>
                <a:ext cx="192" cy="192"/>
              </a:xfrm>
              <a:custGeom>
                <a:avLst/>
                <a:gdLst>
                  <a:gd name="txL" fmla="*/ 3150 w 21600"/>
                  <a:gd name="txT" fmla="*/ 3150 h 21600"/>
                  <a:gd name="txR" fmla="*/ 18450 w 21600"/>
                  <a:gd name="txB" fmla="*/ 18450 h 21600"/>
                </a:gdLst>
                <a:ahLst/>
                <a:cxnLst>
                  <a:cxn ang="0">
                    <a:pos x="96" y="0"/>
                  </a:cxn>
                  <a:cxn ang="0">
                    <a:pos x="28" y="28"/>
                  </a:cxn>
                  <a:cxn ang="0">
                    <a:pos x="0" y="96"/>
                  </a:cxn>
                  <a:cxn ang="0">
                    <a:pos x="28" y="164"/>
                  </a:cxn>
                  <a:cxn ang="0">
                    <a:pos x="96" y="192"/>
                  </a:cxn>
                  <a:cxn ang="0">
                    <a:pos x="164" y="164"/>
                  </a:cxn>
                  <a:cxn ang="0">
                    <a:pos x="192" y="96"/>
                  </a:cxn>
                  <a:cxn ang="0">
                    <a:pos x="164" y="28"/>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100000"/>
                </a:srgbClr>
              </a:solidFill>
              <a:ln w="12700" cap="sq" cmpd="sng">
                <a:solidFill>
                  <a:schemeClr val="tx1">
                    <a:alpha val="100000"/>
                  </a:schemeClr>
                </a:solidFill>
                <a:prstDash val="solid"/>
                <a:round/>
                <a:headEnd type="none" w="sm" len="sm"/>
                <a:tailEnd type="none" w="sm" len="sm"/>
              </a:ln>
            </p:spPr>
            <p:txBody>
              <a:bodyPr/>
              <a:lstStyle/>
              <a:p>
                <a:endParaRPr lang="zh-CN" altLang="en-US"/>
              </a:p>
            </p:txBody>
          </p:sp>
          <p:sp>
            <p:nvSpPr>
              <p:cNvPr id="156726" name="Rectangle 85"/>
              <p:cNvSpPr/>
              <p:nvPr/>
            </p:nvSpPr>
            <p:spPr>
              <a:xfrm>
                <a:off x="2352" y="3024"/>
                <a:ext cx="48"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27" name="Rectangle 86"/>
              <p:cNvSpPr/>
              <p:nvPr/>
            </p:nvSpPr>
            <p:spPr>
              <a:xfrm>
                <a:off x="2448"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28" name="Rectangle 87"/>
              <p:cNvSpPr/>
              <p:nvPr/>
            </p:nvSpPr>
            <p:spPr>
              <a:xfrm>
                <a:off x="2256"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grpSp>
        <p:sp>
          <p:nvSpPr>
            <p:cNvPr id="156723" name="Text Box 88"/>
            <p:cNvSpPr txBox="1"/>
            <p:nvPr/>
          </p:nvSpPr>
          <p:spPr>
            <a:xfrm>
              <a:off x="3201" y="771"/>
              <a:ext cx="151" cy="329"/>
            </a:xfrm>
            <a:prstGeom prst="rect">
              <a:avLst/>
            </a:prstGeom>
            <a:noFill/>
            <a:ln w="12700">
              <a:noFill/>
            </a:ln>
          </p:spPr>
          <p:txBody>
            <a:bodyPr rot="10800000" wrap="none">
              <a:spAutoFit/>
            </a:bodyPr>
            <a:lstStyle/>
            <a:p>
              <a:pPr>
                <a:buNone/>
              </a:pPr>
              <a:endParaRPr lang="zh-CN" altLang="zh-CN" sz="2400" dirty="0">
                <a:latin typeface="Arial" panose="020B0604020202020204" pitchFamily="34" charset="0"/>
                <a:ea typeface="MS PGothic" panose="020B0600070205080204" pitchFamily="34" charset="-128"/>
              </a:endParaRPr>
            </a:p>
          </p:txBody>
        </p:sp>
      </p:grpSp>
      <p:grpSp>
        <p:nvGrpSpPr>
          <p:cNvPr id="84057" name="Group 89"/>
          <p:cNvGrpSpPr/>
          <p:nvPr/>
        </p:nvGrpSpPr>
        <p:grpSpPr>
          <a:xfrm rot="10800000">
            <a:off x="7086600" y="1976438"/>
            <a:ext cx="762000" cy="461962"/>
            <a:chOff x="3072" y="768"/>
            <a:chExt cx="624" cy="332"/>
          </a:xfrm>
        </p:grpSpPr>
        <p:grpSp>
          <p:nvGrpSpPr>
            <p:cNvPr id="156715" name="Group 90"/>
            <p:cNvGrpSpPr/>
            <p:nvPr/>
          </p:nvGrpSpPr>
          <p:grpSpPr>
            <a:xfrm>
              <a:off x="3072" y="768"/>
              <a:ext cx="624" cy="192"/>
              <a:chOff x="1872" y="2976"/>
              <a:chExt cx="624" cy="192"/>
            </a:xfrm>
          </p:grpSpPr>
          <p:sp>
            <p:nvSpPr>
              <p:cNvPr id="156717" name="Rectangle 91"/>
              <p:cNvSpPr/>
              <p:nvPr/>
            </p:nvSpPr>
            <p:spPr>
              <a:xfrm>
                <a:off x="2016" y="3072"/>
                <a:ext cx="480"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18" name="AutoShape 92"/>
              <p:cNvSpPr/>
              <p:nvPr/>
            </p:nvSpPr>
            <p:spPr>
              <a:xfrm>
                <a:off x="1872" y="2976"/>
                <a:ext cx="192" cy="192"/>
              </a:xfrm>
              <a:custGeom>
                <a:avLst/>
                <a:gdLst>
                  <a:gd name="txL" fmla="*/ 3150 w 21600"/>
                  <a:gd name="txT" fmla="*/ 3150 h 21600"/>
                  <a:gd name="txR" fmla="*/ 18450 w 21600"/>
                  <a:gd name="txB" fmla="*/ 18450 h 21600"/>
                </a:gdLst>
                <a:ahLst/>
                <a:cxnLst>
                  <a:cxn ang="0">
                    <a:pos x="96" y="0"/>
                  </a:cxn>
                  <a:cxn ang="0">
                    <a:pos x="28" y="28"/>
                  </a:cxn>
                  <a:cxn ang="0">
                    <a:pos x="0" y="96"/>
                  </a:cxn>
                  <a:cxn ang="0">
                    <a:pos x="28" y="164"/>
                  </a:cxn>
                  <a:cxn ang="0">
                    <a:pos x="96" y="192"/>
                  </a:cxn>
                  <a:cxn ang="0">
                    <a:pos x="164" y="164"/>
                  </a:cxn>
                  <a:cxn ang="0">
                    <a:pos x="192" y="96"/>
                  </a:cxn>
                  <a:cxn ang="0">
                    <a:pos x="164" y="28"/>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100000"/>
                </a:srgbClr>
              </a:solidFill>
              <a:ln w="12700" cap="sq" cmpd="sng">
                <a:solidFill>
                  <a:schemeClr val="tx1">
                    <a:alpha val="100000"/>
                  </a:schemeClr>
                </a:solidFill>
                <a:prstDash val="solid"/>
                <a:round/>
                <a:headEnd type="none" w="sm" len="sm"/>
                <a:tailEnd type="none" w="sm" len="sm"/>
              </a:ln>
            </p:spPr>
            <p:txBody>
              <a:bodyPr/>
              <a:lstStyle/>
              <a:p>
                <a:endParaRPr lang="zh-CN" altLang="en-US"/>
              </a:p>
            </p:txBody>
          </p:sp>
          <p:sp>
            <p:nvSpPr>
              <p:cNvPr id="156719" name="Rectangle 93"/>
              <p:cNvSpPr/>
              <p:nvPr/>
            </p:nvSpPr>
            <p:spPr>
              <a:xfrm>
                <a:off x="2352" y="3024"/>
                <a:ext cx="48"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20" name="Rectangle 94"/>
              <p:cNvSpPr/>
              <p:nvPr/>
            </p:nvSpPr>
            <p:spPr>
              <a:xfrm>
                <a:off x="2448"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21" name="Rectangle 95"/>
              <p:cNvSpPr/>
              <p:nvPr/>
            </p:nvSpPr>
            <p:spPr>
              <a:xfrm>
                <a:off x="2256"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grpSp>
        <p:sp>
          <p:nvSpPr>
            <p:cNvPr id="156716" name="Text Box 96"/>
            <p:cNvSpPr txBox="1"/>
            <p:nvPr/>
          </p:nvSpPr>
          <p:spPr>
            <a:xfrm>
              <a:off x="3201" y="771"/>
              <a:ext cx="151" cy="329"/>
            </a:xfrm>
            <a:prstGeom prst="rect">
              <a:avLst/>
            </a:prstGeom>
            <a:noFill/>
            <a:ln w="12700">
              <a:noFill/>
            </a:ln>
          </p:spPr>
          <p:txBody>
            <a:bodyPr rot="10800000" wrap="none">
              <a:spAutoFit/>
            </a:bodyPr>
            <a:lstStyle/>
            <a:p>
              <a:pPr>
                <a:buNone/>
              </a:pPr>
              <a:endParaRPr lang="zh-CN" altLang="zh-CN" sz="2400" dirty="0">
                <a:latin typeface="Arial" panose="020B0604020202020204" pitchFamily="34" charset="0"/>
                <a:ea typeface="MS PGothic" panose="020B0600070205080204" pitchFamily="34" charset="-128"/>
              </a:endParaRPr>
            </a:p>
          </p:txBody>
        </p:sp>
      </p:grpSp>
      <p:grpSp>
        <p:nvGrpSpPr>
          <p:cNvPr id="84065" name="Group 97"/>
          <p:cNvGrpSpPr/>
          <p:nvPr/>
        </p:nvGrpSpPr>
        <p:grpSpPr>
          <a:xfrm rot="10800000">
            <a:off x="7543800" y="1671638"/>
            <a:ext cx="762000" cy="461962"/>
            <a:chOff x="3072" y="768"/>
            <a:chExt cx="624" cy="332"/>
          </a:xfrm>
        </p:grpSpPr>
        <p:grpSp>
          <p:nvGrpSpPr>
            <p:cNvPr id="156708" name="Group 98"/>
            <p:cNvGrpSpPr/>
            <p:nvPr/>
          </p:nvGrpSpPr>
          <p:grpSpPr>
            <a:xfrm>
              <a:off x="3072" y="768"/>
              <a:ext cx="624" cy="192"/>
              <a:chOff x="1872" y="2976"/>
              <a:chExt cx="624" cy="192"/>
            </a:xfrm>
          </p:grpSpPr>
          <p:sp>
            <p:nvSpPr>
              <p:cNvPr id="156710" name="Rectangle 99"/>
              <p:cNvSpPr/>
              <p:nvPr/>
            </p:nvSpPr>
            <p:spPr>
              <a:xfrm>
                <a:off x="2016" y="3072"/>
                <a:ext cx="480"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11" name="AutoShape 100"/>
              <p:cNvSpPr/>
              <p:nvPr/>
            </p:nvSpPr>
            <p:spPr>
              <a:xfrm>
                <a:off x="1872" y="2976"/>
                <a:ext cx="192" cy="192"/>
              </a:xfrm>
              <a:custGeom>
                <a:avLst/>
                <a:gdLst>
                  <a:gd name="txL" fmla="*/ 3150 w 21600"/>
                  <a:gd name="txT" fmla="*/ 3150 h 21600"/>
                  <a:gd name="txR" fmla="*/ 18450 w 21600"/>
                  <a:gd name="txB" fmla="*/ 18450 h 21600"/>
                </a:gdLst>
                <a:ahLst/>
                <a:cxnLst>
                  <a:cxn ang="0">
                    <a:pos x="96" y="0"/>
                  </a:cxn>
                  <a:cxn ang="0">
                    <a:pos x="28" y="28"/>
                  </a:cxn>
                  <a:cxn ang="0">
                    <a:pos x="0" y="96"/>
                  </a:cxn>
                  <a:cxn ang="0">
                    <a:pos x="28" y="164"/>
                  </a:cxn>
                  <a:cxn ang="0">
                    <a:pos x="96" y="192"/>
                  </a:cxn>
                  <a:cxn ang="0">
                    <a:pos x="164" y="164"/>
                  </a:cxn>
                  <a:cxn ang="0">
                    <a:pos x="192" y="96"/>
                  </a:cxn>
                  <a:cxn ang="0">
                    <a:pos x="164" y="28"/>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100000"/>
                </a:srgbClr>
              </a:solidFill>
              <a:ln w="12700" cap="sq" cmpd="sng">
                <a:solidFill>
                  <a:schemeClr val="tx1">
                    <a:alpha val="100000"/>
                  </a:schemeClr>
                </a:solidFill>
                <a:prstDash val="solid"/>
                <a:round/>
                <a:headEnd type="none" w="sm" len="sm"/>
                <a:tailEnd type="none" w="sm" len="sm"/>
              </a:ln>
            </p:spPr>
            <p:txBody>
              <a:bodyPr/>
              <a:lstStyle/>
              <a:p>
                <a:endParaRPr lang="zh-CN" altLang="en-US"/>
              </a:p>
            </p:txBody>
          </p:sp>
          <p:sp>
            <p:nvSpPr>
              <p:cNvPr id="156712" name="Rectangle 101"/>
              <p:cNvSpPr/>
              <p:nvPr/>
            </p:nvSpPr>
            <p:spPr>
              <a:xfrm>
                <a:off x="2352" y="3024"/>
                <a:ext cx="48"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13" name="Rectangle 102"/>
              <p:cNvSpPr/>
              <p:nvPr/>
            </p:nvSpPr>
            <p:spPr>
              <a:xfrm>
                <a:off x="2448"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14" name="Rectangle 103"/>
              <p:cNvSpPr/>
              <p:nvPr/>
            </p:nvSpPr>
            <p:spPr>
              <a:xfrm>
                <a:off x="2256"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grpSp>
        <p:sp>
          <p:nvSpPr>
            <p:cNvPr id="156709" name="Text Box 104"/>
            <p:cNvSpPr txBox="1"/>
            <p:nvPr/>
          </p:nvSpPr>
          <p:spPr>
            <a:xfrm>
              <a:off x="3201" y="771"/>
              <a:ext cx="151" cy="329"/>
            </a:xfrm>
            <a:prstGeom prst="rect">
              <a:avLst/>
            </a:prstGeom>
            <a:noFill/>
            <a:ln w="12700">
              <a:noFill/>
            </a:ln>
          </p:spPr>
          <p:txBody>
            <a:bodyPr rot="10800000" wrap="none">
              <a:spAutoFit/>
            </a:bodyPr>
            <a:lstStyle/>
            <a:p>
              <a:pPr>
                <a:buNone/>
              </a:pPr>
              <a:endParaRPr lang="zh-CN" altLang="zh-CN" sz="2400" dirty="0">
                <a:latin typeface="Arial" panose="020B0604020202020204" pitchFamily="34" charset="0"/>
                <a:ea typeface="MS PGothic" panose="020B0600070205080204" pitchFamily="34" charset="-128"/>
              </a:endParaRPr>
            </a:p>
          </p:txBody>
        </p:sp>
      </p:grpSp>
      <p:grpSp>
        <p:nvGrpSpPr>
          <p:cNvPr id="84073" name="Group 105"/>
          <p:cNvGrpSpPr/>
          <p:nvPr/>
        </p:nvGrpSpPr>
        <p:grpSpPr>
          <a:xfrm rot="10800000">
            <a:off x="7315200" y="1828800"/>
            <a:ext cx="762000" cy="461963"/>
            <a:chOff x="3072" y="768"/>
            <a:chExt cx="624" cy="332"/>
          </a:xfrm>
        </p:grpSpPr>
        <p:grpSp>
          <p:nvGrpSpPr>
            <p:cNvPr id="156701" name="Group 106"/>
            <p:cNvGrpSpPr/>
            <p:nvPr/>
          </p:nvGrpSpPr>
          <p:grpSpPr>
            <a:xfrm>
              <a:off x="3072" y="768"/>
              <a:ext cx="624" cy="192"/>
              <a:chOff x="1872" y="2976"/>
              <a:chExt cx="624" cy="192"/>
            </a:xfrm>
          </p:grpSpPr>
          <p:sp>
            <p:nvSpPr>
              <p:cNvPr id="156703" name="Rectangle 107"/>
              <p:cNvSpPr/>
              <p:nvPr/>
            </p:nvSpPr>
            <p:spPr>
              <a:xfrm>
                <a:off x="2016" y="3072"/>
                <a:ext cx="480"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04" name="AutoShape 108"/>
              <p:cNvSpPr/>
              <p:nvPr/>
            </p:nvSpPr>
            <p:spPr>
              <a:xfrm>
                <a:off x="1872" y="2976"/>
                <a:ext cx="192" cy="192"/>
              </a:xfrm>
              <a:custGeom>
                <a:avLst/>
                <a:gdLst>
                  <a:gd name="txL" fmla="*/ 3150 w 21600"/>
                  <a:gd name="txT" fmla="*/ 3150 h 21600"/>
                  <a:gd name="txR" fmla="*/ 18450 w 21600"/>
                  <a:gd name="txB" fmla="*/ 18450 h 21600"/>
                </a:gdLst>
                <a:ahLst/>
                <a:cxnLst>
                  <a:cxn ang="0">
                    <a:pos x="96" y="0"/>
                  </a:cxn>
                  <a:cxn ang="0">
                    <a:pos x="28" y="28"/>
                  </a:cxn>
                  <a:cxn ang="0">
                    <a:pos x="0" y="96"/>
                  </a:cxn>
                  <a:cxn ang="0">
                    <a:pos x="28" y="164"/>
                  </a:cxn>
                  <a:cxn ang="0">
                    <a:pos x="96" y="192"/>
                  </a:cxn>
                  <a:cxn ang="0">
                    <a:pos x="164" y="164"/>
                  </a:cxn>
                  <a:cxn ang="0">
                    <a:pos x="192" y="96"/>
                  </a:cxn>
                  <a:cxn ang="0">
                    <a:pos x="164" y="28"/>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100000"/>
                </a:srgbClr>
              </a:solidFill>
              <a:ln w="12700" cap="sq" cmpd="sng">
                <a:solidFill>
                  <a:schemeClr val="tx1">
                    <a:alpha val="100000"/>
                  </a:schemeClr>
                </a:solidFill>
                <a:prstDash val="solid"/>
                <a:round/>
                <a:headEnd type="none" w="sm" len="sm"/>
                <a:tailEnd type="none" w="sm" len="sm"/>
              </a:ln>
            </p:spPr>
            <p:txBody>
              <a:bodyPr/>
              <a:lstStyle/>
              <a:p>
                <a:endParaRPr lang="zh-CN" altLang="en-US"/>
              </a:p>
            </p:txBody>
          </p:sp>
          <p:sp>
            <p:nvSpPr>
              <p:cNvPr id="156705" name="Rectangle 109"/>
              <p:cNvSpPr/>
              <p:nvPr/>
            </p:nvSpPr>
            <p:spPr>
              <a:xfrm>
                <a:off x="2352" y="3024"/>
                <a:ext cx="48" cy="48"/>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06" name="Rectangle 110"/>
              <p:cNvSpPr/>
              <p:nvPr/>
            </p:nvSpPr>
            <p:spPr>
              <a:xfrm>
                <a:off x="2448"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sp>
            <p:nvSpPr>
              <p:cNvPr id="156707" name="Rectangle 111"/>
              <p:cNvSpPr/>
              <p:nvPr/>
            </p:nvSpPr>
            <p:spPr>
              <a:xfrm>
                <a:off x="2256" y="2976"/>
                <a:ext cx="48" cy="96"/>
              </a:xfrm>
              <a:prstGeom prst="rect">
                <a:avLst/>
              </a:prstGeom>
              <a:solidFill>
                <a:srgbClr val="FFFF00"/>
              </a:solidFill>
              <a:ln w="12700" cap="sq" cmpd="sng">
                <a:solidFill>
                  <a:schemeClr val="tx1"/>
                </a:solidFill>
                <a:prstDash val="solid"/>
                <a:miter/>
                <a:headEnd type="none" w="sm" len="sm"/>
                <a:tailEnd type="none" w="sm" len="sm"/>
              </a:ln>
            </p:spPr>
            <p:txBody>
              <a:bodyPr wrap="none" anchor="ctr" anchorCtr="0"/>
              <a:lstStyle/>
              <a:p>
                <a:pPr>
                  <a:buNone/>
                </a:pPr>
                <a:endParaRPr lang="zh-CN" altLang="en-US" dirty="0">
                  <a:latin typeface="Times New Roman" panose="02020603050405020304" pitchFamily="18" charset="0"/>
                </a:endParaRPr>
              </a:p>
            </p:txBody>
          </p:sp>
        </p:grpSp>
        <p:sp>
          <p:nvSpPr>
            <p:cNvPr id="156702" name="Text Box 112"/>
            <p:cNvSpPr txBox="1"/>
            <p:nvPr/>
          </p:nvSpPr>
          <p:spPr>
            <a:xfrm>
              <a:off x="3201" y="771"/>
              <a:ext cx="151" cy="329"/>
            </a:xfrm>
            <a:prstGeom prst="rect">
              <a:avLst/>
            </a:prstGeom>
            <a:noFill/>
            <a:ln w="12700">
              <a:noFill/>
            </a:ln>
          </p:spPr>
          <p:txBody>
            <a:bodyPr rot="10800000" wrap="none">
              <a:spAutoFit/>
            </a:bodyPr>
            <a:lstStyle/>
            <a:p>
              <a:pPr>
                <a:buNone/>
              </a:pPr>
              <a:endParaRPr lang="zh-CN" altLang="zh-CN" sz="2400" dirty="0">
                <a:latin typeface="Arial" panose="020B0604020202020204" pitchFamily="34" charset="0"/>
                <a:ea typeface="MS PGothic" panose="020B0600070205080204" pitchFamily="34" charset="-128"/>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984"/>
                                        </p:tgtEl>
                                        <p:attrNameLst>
                                          <p:attrName>style.visibility</p:attrName>
                                        </p:attrNameLst>
                                      </p:cBhvr>
                                      <p:to>
                                        <p:strVal val="visible"/>
                                      </p:to>
                                    </p:set>
                                    <p:animEffect transition="in" filter="fade">
                                      <p:cBhvr>
                                        <p:cTn id="7" dur="1000"/>
                                        <p:tgtEl>
                                          <p:spTgt spid="83984"/>
                                        </p:tgtEl>
                                      </p:cBhvr>
                                    </p:animEffect>
                                  </p:childTnLst>
                                </p:cTn>
                              </p:par>
                              <p:par>
                                <p:cTn id="8" presetID="10" presetClass="entr" presetSubtype="0" fill="hold" nodeType="withEffect">
                                  <p:stCondLst>
                                    <p:cond delay="0"/>
                                  </p:stCondLst>
                                  <p:childTnLst>
                                    <p:set>
                                      <p:cBhvr>
                                        <p:cTn id="9" dur="1" fill="hold">
                                          <p:stCondLst>
                                            <p:cond delay="0"/>
                                          </p:stCondLst>
                                        </p:cTn>
                                        <p:tgtEl>
                                          <p:spTgt spid="83985"/>
                                        </p:tgtEl>
                                        <p:attrNameLst>
                                          <p:attrName>style.visibility</p:attrName>
                                        </p:attrNameLst>
                                      </p:cBhvr>
                                      <p:to>
                                        <p:strVal val="visible"/>
                                      </p:to>
                                    </p:set>
                                    <p:animEffect transition="in" filter="fade">
                                      <p:cBhvr>
                                        <p:cTn id="10" dur="1000"/>
                                        <p:tgtEl>
                                          <p:spTgt spid="83985"/>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3.33333E-6 -3.23699E-6 L -0.69584 -0.00555 " pathEditMode="relative" rAng="0" ptsTypes="AA">
                                      <p:cBhvr>
                                        <p:cTn id="14" dur="1000" fill="hold"/>
                                        <p:tgtEl>
                                          <p:spTgt spid="83984"/>
                                        </p:tgtEl>
                                        <p:attrNameLst>
                                          <p:attrName>ppt_x</p:attrName>
                                          <p:attrName>ppt_y</p:attrName>
                                        </p:attrNameLst>
                                      </p:cBhvr>
                                      <p:rCtr x="-34800" y="-300"/>
                                    </p:animMotion>
                                  </p:childTnLst>
                                </p:cTn>
                              </p:par>
                              <p:par>
                                <p:cTn id="15" presetID="35" presetClass="path" presetSubtype="0" accel="50000" decel="50000" fill="hold" nodeType="withEffect">
                                  <p:stCondLst>
                                    <p:cond delay="0"/>
                                  </p:stCondLst>
                                  <p:childTnLst>
                                    <p:animMotion origin="layout" path="M -3.33333E-6 -2.36994E-6 L -0.7 -0.0111 " pathEditMode="relative" rAng="0" ptsTypes="AA">
                                      <p:cBhvr>
                                        <p:cTn id="16" dur="1000" fill="hold"/>
                                        <p:tgtEl>
                                          <p:spTgt spid="83981"/>
                                        </p:tgtEl>
                                        <p:attrNameLst>
                                          <p:attrName>ppt_x</p:attrName>
                                          <p:attrName>ppt_y</p:attrName>
                                        </p:attrNameLst>
                                      </p:cBhvr>
                                      <p:rCtr x="-35000" y="-600"/>
                                    </p:animMotion>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39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39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nodeType="clickEffect">
                                  <p:stCondLst>
                                    <p:cond delay="0"/>
                                  </p:stCondLst>
                                  <p:childTnLst>
                                    <p:animMotion origin="layout" path="M 3.33333E-6 3.87283E-6 L -0.04167 0.32161 " pathEditMode="relative" rAng="0" ptsTypes="AA">
                                      <p:cBhvr>
                                        <p:cTn id="26" dur="1000" fill="hold"/>
                                        <p:tgtEl>
                                          <p:spTgt spid="83985"/>
                                        </p:tgtEl>
                                        <p:attrNameLst>
                                          <p:attrName>ppt_x</p:attrName>
                                          <p:attrName>ppt_y</p:attrName>
                                        </p:attrNameLst>
                                      </p:cBhvr>
                                      <p:rCtr x="-2100" y="16100"/>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4022"/>
                                        </p:tgtEl>
                                        <p:attrNameLst>
                                          <p:attrName>style.visibility</p:attrName>
                                        </p:attrNameLst>
                                      </p:cBhvr>
                                      <p:to>
                                        <p:strVal val="visible"/>
                                      </p:to>
                                    </p:set>
                                    <p:animEffect transition="in" filter="fade">
                                      <p:cBhvr>
                                        <p:cTn id="31" dur="1000"/>
                                        <p:tgtEl>
                                          <p:spTgt spid="84022"/>
                                        </p:tgtEl>
                                      </p:cBhvr>
                                    </p:animEffect>
                                  </p:childTnLst>
                                </p:cTn>
                              </p:par>
                              <p:par>
                                <p:cTn id="32" presetID="10" presetClass="entr" presetSubtype="0" fill="hold" nodeType="withEffect">
                                  <p:stCondLst>
                                    <p:cond delay="0"/>
                                  </p:stCondLst>
                                  <p:childTnLst>
                                    <p:set>
                                      <p:cBhvr>
                                        <p:cTn id="33" dur="1" fill="hold">
                                          <p:stCondLst>
                                            <p:cond delay="0"/>
                                          </p:stCondLst>
                                        </p:cTn>
                                        <p:tgtEl>
                                          <p:spTgt spid="84016"/>
                                        </p:tgtEl>
                                        <p:attrNameLst>
                                          <p:attrName>style.visibility</p:attrName>
                                        </p:attrNameLst>
                                      </p:cBhvr>
                                      <p:to>
                                        <p:strVal val="visible"/>
                                      </p:to>
                                    </p:set>
                                    <p:animEffect transition="in" filter="fade">
                                      <p:cBhvr>
                                        <p:cTn id="34" dur="1000"/>
                                        <p:tgtEl>
                                          <p:spTgt spid="84016"/>
                                        </p:tgtEl>
                                      </p:cBhvr>
                                    </p:animEffect>
                                  </p:childTnLst>
                                </p:cTn>
                              </p:par>
                              <p:par>
                                <p:cTn id="35" presetID="10" presetClass="entr" presetSubtype="0" fill="hold" nodeType="withEffect">
                                  <p:stCondLst>
                                    <p:cond delay="0"/>
                                  </p:stCondLst>
                                  <p:childTnLst>
                                    <p:set>
                                      <p:cBhvr>
                                        <p:cTn id="36" dur="1" fill="hold">
                                          <p:stCondLst>
                                            <p:cond delay="0"/>
                                          </p:stCondLst>
                                        </p:cTn>
                                        <p:tgtEl>
                                          <p:spTgt spid="84013"/>
                                        </p:tgtEl>
                                        <p:attrNameLst>
                                          <p:attrName>style.visibility</p:attrName>
                                        </p:attrNameLst>
                                      </p:cBhvr>
                                      <p:to>
                                        <p:strVal val="visible"/>
                                      </p:to>
                                    </p:set>
                                    <p:animEffect transition="in" filter="fade">
                                      <p:cBhvr>
                                        <p:cTn id="37" dur="1000"/>
                                        <p:tgtEl>
                                          <p:spTgt spid="84013"/>
                                        </p:tgtEl>
                                      </p:cBhvr>
                                    </p:animEffect>
                                  </p:childTnLst>
                                </p:cTn>
                              </p:par>
                              <p:par>
                                <p:cTn id="38" presetID="10" presetClass="entr" presetSubtype="0" fill="hold" nodeType="withEffect">
                                  <p:stCondLst>
                                    <p:cond delay="0"/>
                                  </p:stCondLst>
                                  <p:childTnLst>
                                    <p:set>
                                      <p:cBhvr>
                                        <p:cTn id="39" dur="1" fill="hold">
                                          <p:stCondLst>
                                            <p:cond delay="0"/>
                                          </p:stCondLst>
                                        </p:cTn>
                                        <p:tgtEl>
                                          <p:spTgt spid="84010"/>
                                        </p:tgtEl>
                                        <p:attrNameLst>
                                          <p:attrName>style.visibility</p:attrName>
                                        </p:attrNameLst>
                                      </p:cBhvr>
                                      <p:to>
                                        <p:strVal val="visible"/>
                                      </p:to>
                                    </p:set>
                                    <p:animEffect transition="in" filter="fade">
                                      <p:cBhvr>
                                        <p:cTn id="40" dur="1000"/>
                                        <p:tgtEl>
                                          <p:spTgt spid="84010"/>
                                        </p:tgtEl>
                                      </p:cBhvr>
                                    </p:animEffect>
                                  </p:childTnLst>
                                </p:cTn>
                              </p:par>
                              <p:par>
                                <p:cTn id="41" presetID="10" presetClass="entr" presetSubtype="0" fill="hold" nodeType="withEffect">
                                  <p:stCondLst>
                                    <p:cond delay="0"/>
                                  </p:stCondLst>
                                  <p:childTnLst>
                                    <p:set>
                                      <p:cBhvr>
                                        <p:cTn id="42" dur="1" fill="hold">
                                          <p:stCondLst>
                                            <p:cond delay="0"/>
                                          </p:stCondLst>
                                        </p:cTn>
                                        <p:tgtEl>
                                          <p:spTgt spid="84007"/>
                                        </p:tgtEl>
                                        <p:attrNameLst>
                                          <p:attrName>style.visibility</p:attrName>
                                        </p:attrNameLst>
                                      </p:cBhvr>
                                      <p:to>
                                        <p:strVal val="visible"/>
                                      </p:to>
                                    </p:set>
                                    <p:animEffect transition="in" filter="fade">
                                      <p:cBhvr>
                                        <p:cTn id="43" dur="1000"/>
                                        <p:tgtEl>
                                          <p:spTgt spid="84007"/>
                                        </p:tgtEl>
                                      </p:cBhvr>
                                    </p:animEffect>
                                  </p:childTnLst>
                                </p:cTn>
                              </p:par>
                              <p:par>
                                <p:cTn id="44" presetID="10" presetClass="entr" presetSubtype="0" fill="hold" nodeType="withEffect">
                                  <p:stCondLst>
                                    <p:cond delay="0"/>
                                  </p:stCondLst>
                                  <p:childTnLst>
                                    <p:set>
                                      <p:cBhvr>
                                        <p:cTn id="45" dur="1" fill="hold">
                                          <p:stCondLst>
                                            <p:cond delay="0"/>
                                          </p:stCondLst>
                                        </p:cTn>
                                        <p:tgtEl>
                                          <p:spTgt spid="84001"/>
                                        </p:tgtEl>
                                        <p:attrNameLst>
                                          <p:attrName>style.visibility</p:attrName>
                                        </p:attrNameLst>
                                      </p:cBhvr>
                                      <p:to>
                                        <p:strVal val="visible"/>
                                      </p:to>
                                    </p:set>
                                    <p:animEffect transition="in" filter="fade">
                                      <p:cBhvr>
                                        <p:cTn id="46" dur="1000"/>
                                        <p:tgtEl>
                                          <p:spTgt spid="84001"/>
                                        </p:tgtEl>
                                      </p:cBhvr>
                                    </p:animEffect>
                                  </p:childTnLst>
                                </p:cTn>
                              </p:par>
                              <p:par>
                                <p:cTn id="47" presetID="10" presetClass="entr" presetSubtype="0" fill="hold" nodeType="withEffect">
                                  <p:stCondLst>
                                    <p:cond delay="0"/>
                                  </p:stCondLst>
                                  <p:childTnLst>
                                    <p:set>
                                      <p:cBhvr>
                                        <p:cTn id="48" dur="1" fill="hold">
                                          <p:stCondLst>
                                            <p:cond delay="0"/>
                                          </p:stCondLst>
                                        </p:cTn>
                                        <p:tgtEl>
                                          <p:spTgt spid="84004"/>
                                        </p:tgtEl>
                                        <p:attrNameLst>
                                          <p:attrName>style.visibility</p:attrName>
                                        </p:attrNameLst>
                                      </p:cBhvr>
                                      <p:to>
                                        <p:strVal val="visible"/>
                                      </p:to>
                                    </p:set>
                                    <p:animEffect transition="in" filter="fade">
                                      <p:cBhvr>
                                        <p:cTn id="49" dur="1000"/>
                                        <p:tgtEl>
                                          <p:spTgt spid="84004"/>
                                        </p:tgtEl>
                                      </p:cBhvr>
                                    </p:animEffect>
                                  </p:childTnLst>
                                </p:cTn>
                              </p:par>
                              <p:par>
                                <p:cTn id="50" presetID="10" presetClass="entr" presetSubtype="0" fill="hold" nodeType="withEffect">
                                  <p:stCondLst>
                                    <p:cond delay="0"/>
                                  </p:stCondLst>
                                  <p:childTnLst>
                                    <p:set>
                                      <p:cBhvr>
                                        <p:cTn id="51" dur="1" fill="hold">
                                          <p:stCondLst>
                                            <p:cond delay="0"/>
                                          </p:stCondLst>
                                        </p:cTn>
                                        <p:tgtEl>
                                          <p:spTgt spid="83998"/>
                                        </p:tgtEl>
                                        <p:attrNameLst>
                                          <p:attrName>style.visibility</p:attrName>
                                        </p:attrNameLst>
                                      </p:cBhvr>
                                      <p:to>
                                        <p:strVal val="visible"/>
                                      </p:to>
                                    </p:set>
                                    <p:animEffect transition="in" filter="fade">
                                      <p:cBhvr>
                                        <p:cTn id="52" dur="1000"/>
                                        <p:tgtEl>
                                          <p:spTgt spid="83998"/>
                                        </p:tgtEl>
                                      </p:cBhvr>
                                    </p:animEffect>
                                  </p:childTnLst>
                                </p:cTn>
                              </p:par>
                              <p:par>
                                <p:cTn id="53" presetID="10" presetClass="entr" presetSubtype="0" fill="hold" nodeType="withEffect">
                                  <p:stCondLst>
                                    <p:cond delay="0"/>
                                  </p:stCondLst>
                                  <p:childTnLst>
                                    <p:set>
                                      <p:cBhvr>
                                        <p:cTn id="54" dur="1" fill="hold">
                                          <p:stCondLst>
                                            <p:cond delay="0"/>
                                          </p:stCondLst>
                                        </p:cTn>
                                        <p:tgtEl>
                                          <p:spTgt spid="83997"/>
                                        </p:tgtEl>
                                        <p:attrNameLst>
                                          <p:attrName>style.visibility</p:attrName>
                                        </p:attrNameLst>
                                      </p:cBhvr>
                                      <p:to>
                                        <p:strVal val="visible"/>
                                      </p:to>
                                    </p:set>
                                    <p:animEffect transition="in" filter="fade">
                                      <p:cBhvr>
                                        <p:cTn id="55" dur="1000"/>
                                        <p:tgtEl>
                                          <p:spTgt spid="83997"/>
                                        </p:tgtEl>
                                      </p:cBhvr>
                                    </p:animEffect>
                                  </p:childTnLst>
                                </p:cTn>
                              </p:par>
                              <p:par>
                                <p:cTn id="56" presetID="10" presetClass="entr" presetSubtype="0" fill="hold" nodeType="withEffect">
                                  <p:stCondLst>
                                    <p:cond delay="0"/>
                                  </p:stCondLst>
                                  <p:childTnLst>
                                    <p:set>
                                      <p:cBhvr>
                                        <p:cTn id="57" dur="1" fill="hold">
                                          <p:stCondLst>
                                            <p:cond delay="0"/>
                                          </p:stCondLst>
                                        </p:cTn>
                                        <p:tgtEl>
                                          <p:spTgt spid="84019"/>
                                        </p:tgtEl>
                                        <p:attrNameLst>
                                          <p:attrName>style.visibility</p:attrName>
                                        </p:attrNameLst>
                                      </p:cBhvr>
                                      <p:to>
                                        <p:strVal val="visible"/>
                                      </p:to>
                                    </p:set>
                                    <p:animEffect transition="in" filter="fade">
                                      <p:cBhvr>
                                        <p:cTn id="58" dur="1000"/>
                                        <p:tgtEl>
                                          <p:spTgt spid="8401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84025"/>
                                        </p:tgtEl>
                                        <p:attrNameLst>
                                          <p:attrName>style.visibility</p:attrName>
                                        </p:attrNameLst>
                                      </p:cBhvr>
                                      <p:to>
                                        <p:strVal val="visible"/>
                                      </p:to>
                                    </p:set>
                                    <p:animEffect transition="in" filter="fade">
                                      <p:cBhvr>
                                        <p:cTn id="63" dur="1000"/>
                                        <p:tgtEl>
                                          <p:spTgt spid="84025"/>
                                        </p:tgtEl>
                                      </p:cBhvr>
                                    </p:animEffect>
                                  </p:childTnLst>
                                </p:cTn>
                              </p:par>
                              <p:par>
                                <p:cTn id="64" presetID="10" presetClass="entr" presetSubtype="0" fill="hold" nodeType="withEffect">
                                  <p:stCondLst>
                                    <p:cond delay="0"/>
                                  </p:stCondLst>
                                  <p:childTnLst>
                                    <p:set>
                                      <p:cBhvr>
                                        <p:cTn id="65" dur="1" fill="hold">
                                          <p:stCondLst>
                                            <p:cond delay="0"/>
                                          </p:stCondLst>
                                        </p:cTn>
                                        <p:tgtEl>
                                          <p:spTgt spid="84033"/>
                                        </p:tgtEl>
                                        <p:attrNameLst>
                                          <p:attrName>style.visibility</p:attrName>
                                        </p:attrNameLst>
                                      </p:cBhvr>
                                      <p:to>
                                        <p:strVal val="visible"/>
                                      </p:to>
                                    </p:set>
                                    <p:animEffect transition="in" filter="fade">
                                      <p:cBhvr>
                                        <p:cTn id="66" dur="1000"/>
                                        <p:tgtEl>
                                          <p:spTgt spid="84033"/>
                                        </p:tgtEl>
                                      </p:cBhvr>
                                    </p:animEffect>
                                  </p:childTnLst>
                                </p:cTn>
                              </p:par>
                              <p:par>
                                <p:cTn id="67" presetID="10" presetClass="entr" presetSubtype="0" fill="hold" nodeType="withEffect">
                                  <p:stCondLst>
                                    <p:cond delay="0"/>
                                  </p:stCondLst>
                                  <p:childTnLst>
                                    <p:set>
                                      <p:cBhvr>
                                        <p:cTn id="68" dur="1" fill="hold">
                                          <p:stCondLst>
                                            <p:cond delay="0"/>
                                          </p:stCondLst>
                                        </p:cTn>
                                        <p:tgtEl>
                                          <p:spTgt spid="84041"/>
                                        </p:tgtEl>
                                        <p:attrNameLst>
                                          <p:attrName>style.visibility</p:attrName>
                                        </p:attrNameLst>
                                      </p:cBhvr>
                                      <p:to>
                                        <p:strVal val="visible"/>
                                      </p:to>
                                    </p:set>
                                    <p:animEffect transition="in" filter="fade">
                                      <p:cBhvr>
                                        <p:cTn id="69" dur="1000"/>
                                        <p:tgtEl>
                                          <p:spTgt spid="84041"/>
                                        </p:tgtEl>
                                      </p:cBhvr>
                                    </p:animEffect>
                                  </p:childTnLst>
                                </p:cTn>
                              </p:par>
                              <p:par>
                                <p:cTn id="70" presetID="10" presetClass="entr" presetSubtype="0" fill="hold" nodeType="withEffect">
                                  <p:stCondLst>
                                    <p:cond delay="0"/>
                                  </p:stCondLst>
                                  <p:childTnLst>
                                    <p:set>
                                      <p:cBhvr>
                                        <p:cTn id="71" dur="1" fill="hold">
                                          <p:stCondLst>
                                            <p:cond delay="0"/>
                                          </p:stCondLst>
                                        </p:cTn>
                                        <p:tgtEl>
                                          <p:spTgt spid="84049"/>
                                        </p:tgtEl>
                                        <p:attrNameLst>
                                          <p:attrName>style.visibility</p:attrName>
                                        </p:attrNameLst>
                                      </p:cBhvr>
                                      <p:to>
                                        <p:strVal val="visible"/>
                                      </p:to>
                                    </p:set>
                                    <p:animEffect transition="in" filter="fade">
                                      <p:cBhvr>
                                        <p:cTn id="72" dur="1000"/>
                                        <p:tgtEl>
                                          <p:spTgt spid="84049"/>
                                        </p:tgtEl>
                                      </p:cBhvr>
                                    </p:animEffect>
                                  </p:childTnLst>
                                </p:cTn>
                              </p:par>
                              <p:par>
                                <p:cTn id="73" presetID="10" presetClass="entr" presetSubtype="0" fill="hold" nodeType="withEffect">
                                  <p:stCondLst>
                                    <p:cond delay="0"/>
                                  </p:stCondLst>
                                  <p:childTnLst>
                                    <p:set>
                                      <p:cBhvr>
                                        <p:cTn id="74" dur="1" fill="hold">
                                          <p:stCondLst>
                                            <p:cond delay="0"/>
                                          </p:stCondLst>
                                        </p:cTn>
                                        <p:tgtEl>
                                          <p:spTgt spid="84057"/>
                                        </p:tgtEl>
                                        <p:attrNameLst>
                                          <p:attrName>style.visibility</p:attrName>
                                        </p:attrNameLst>
                                      </p:cBhvr>
                                      <p:to>
                                        <p:strVal val="visible"/>
                                      </p:to>
                                    </p:set>
                                    <p:animEffect transition="in" filter="fade">
                                      <p:cBhvr>
                                        <p:cTn id="75" dur="1000"/>
                                        <p:tgtEl>
                                          <p:spTgt spid="84057"/>
                                        </p:tgtEl>
                                      </p:cBhvr>
                                    </p:animEffect>
                                  </p:childTnLst>
                                </p:cTn>
                              </p:par>
                              <p:par>
                                <p:cTn id="76" presetID="10" presetClass="entr" presetSubtype="0" fill="hold" nodeType="withEffect">
                                  <p:stCondLst>
                                    <p:cond delay="0"/>
                                  </p:stCondLst>
                                  <p:childTnLst>
                                    <p:set>
                                      <p:cBhvr>
                                        <p:cTn id="77" dur="1" fill="hold">
                                          <p:stCondLst>
                                            <p:cond delay="0"/>
                                          </p:stCondLst>
                                        </p:cTn>
                                        <p:tgtEl>
                                          <p:spTgt spid="84065"/>
                                        </p:tgtEl>
                                        <p:attrNameLst>
                                          <p:attrName>style.visibility</p:attrName>
                                        </p:attrNameLst>
                                      </p:cBhvr>
                                      <p:to>
                                        <p:strVal val="visible"/>
                                      </p:to>
                                    </p:set>
                                    <p:animEffect transition="in" filter="fade">
                                      <p:cBhvr>
                                        <p:cTn id="78" dur="1000"/>
                                        <p:tgtEl>
                                          <p:spTgt spid="84065"/>
                                        </p:tgtEl>
                                      </p:cBhvr>
                                    </p:animEffect>
                                  </p:childTnLst>
                                </p:cTn>
                              </p:par>
                              <p:par>
                                <p:cTn id="79" presetID="10" presetClass="entr" presetSubtype="0" fill="hold" nodeType="withEffect">
                                  <p:stCondLst>
                                    <p:cond delay="0"/>
                                  </p:stCondLst>
                                  <p:childTnLst>
                                    <p:set>
                                      <p:cBhvr>
                                        <p:cTn id="80" dur="1" fill="hold">
                                          <p:stCondLst>
                                            <p:cond delay="0"/>
                                          </p:stCondLst>
                                        </p:cTn>
                                        <p:tgtEl>
                                          <p:spTgt spid="84073"/>
                                        </p:tgtEl>
                                        <p:attrNameLst>
                                          <p:attrName>style.visibility</p:attrName>
                                        </p:attrNameLst>
                                      </p:cBhvr>
                                      <p:to>
                                        <p:strVal val="visible"/>
                                      </p:to>
                                    </p:set>
                                    <p:animEffect transition="in" filter="fade">
                                      <p:cBhvr>
                                        <p:cTn id="81" dur="1000"/>
                                        <p:tgtEl>
                                          <p:spTgt spid="84073"/>
                                        </p:tgtEl>
                                      </p:cBhvr>
                                    </p:animEffect>
                                  </p:childTnLst>
                                </p:cTn>
                              </p:par>
                              <p:par>
                                <p:cTn id="82" presetID="1" presetClass="exit" presetSubtype="0" fill="hold" nodeType="withEffect">
                                  <p:stCondLst>
                                    <p:cond delay="0"/>
                                  </p:stCondLst>
                                  <p:childTnLst>
                                    <p:set>
                                      <p:cBhvr>
                                        <p:cTn id="83" dur="1" fill="hold">
                                          <p:stCondLst>
                                            <p:cond delay="0"/>
                                          </p:stCondLst>
                                        </p:cTn>
                                        <p:tgtEl>
                                          <p:spTgt spid="83985"/>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83971">
                                            <p:txEl>
                                              <p:pRg st="0" end="0"/>
                                            </p:txEl>
                                          </p:spTgt>
                                        </p:tgtEl>
                                        <p:attrNameLst>
                                          <p:attrName>style.visibility</p:attrName>
                                        </p:attrNameLst>
                                      </p:cBhvr>
                                      <p:to>
                                        <p:strVal val="visible"/>
                                      </p:to>
                                    </p:set>
                                    <p:anim calcmode="lin" valueType="num">
                                      <p:cBhvr additive="base">
                                        <p:cTn id="88" dur="500" fill="hold"/>
                                        <p:tgtEl>
                                          <p:spTgt spid="83971">
                                            <p:txEl>
                                              <p:pRg st="0" end="0"/>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83971">
                                            <p:txEl>
                                              <p:pRg st="0" end="0"/>
                                            </p:txEl>
                                          </p:spTgt>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83971">
                                            <p:txEl>
                                              <p:pRg st="1" end="1"/>
                                            </p:txEl>
                                          </p:spTgt>
                                        </p:tgtEl>
                                        <p:attrNameLst>
                                          <p:attrName>style.visibility</p:attrName>
                                        </p:attrNameLst>
                                      </p:cBhvr>
                                      <p:to>
                                        <p:strVal val="visible"/>
                                      </p:to>
                                    </p:set>
                                    <p:anim calcmode="lin" valueType="num">
                                      <p:cBhvr additive="base">
                                        <p:cTn id="92" dur="500" fill="hold"/>
                                        <p:tgtEl>
                                          <p:spTgt spid="83971">
                                            <p:txEl>
                                              <p:pRg st="1" end="1"/>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83971">
                                            <p:txEl>
                                              <p:pRg st="1" end="1"/>
                                            </p:txEl>
                                          </p:spTgt>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83971">
                                            <p:txEl>
                                              <p:pRg st="2" end="2"/>
                                            </p:txEl>
                                          </p:spTgt>
                                        </p:tgtEl>
                                        <p:attrNameLst>
                                          <p:attrName>style.visibility</p:attrName>
                                        </p:attrNameLst>
                                      </p:cBhvr>
                                      <p:to>
                                        <p:strVal val="visible"/>
                                      </p:to>
                                    </p:set>
                                    <p:anim calcmode="lin" valueType="num">
                                      <p:cBhvr additive="base">
                                        <p:cTn id="96" dur="500" fill="hold"/>
                                        <p:tgtEl>
                                          <p:spTgt spid="83971">
                                            <p:txEl>
                                              <p:pRg st="2" end="2"/>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839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83971">
                                            <p:txEl>
                                              <p:pRg st="3" end="3"/>
                                            </p:txEl>
                                          </p:spTgt>
                                        </p:tgtEl>
                                        <p:attrNameLst>
                                          <p:attrName>style.visibility</p:attrName>
                                        </p:attrNameLst>
                                      </p:cBhvr>
                                      <p:to>
                                        <p:strVal val="visible"/>
                                      </p:to>
                                    </p:set>
                                    <p:anim calcmode="lin" valueType="num">
                                      <p:cBhvr additive="base">
                                        <p:cTn id="102" dur="500" fill="hold"/>
                                        <p:tgtEl>
                                          <p:spTgt spid="83971">
                                            <p:txEl>
                                              <p:pRg st="3" end="3"/>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83971">
                                            <p:txEl>
                                              <p:pRg st="3" end="3"/>
                                            </p:txEl>
                                          </p:spTgt>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83971">
                                            <p:txEl>
                                              <p:pRg st="4" end="4"/>
                                            </p:txEl>
                                          </p:spTgt>
                                        </p:tgtEl>
                                        <p:attrNameLst>
                                          <p:attrName>style.visibility</p:attrName>
                                        </p:attrNameLst>
                                      </p:cBhvr>
                                      <p:to>
                                        <p:strVal val="visible"/>
                                      </p:to>
                                    </p:set>
                                    <p:anim calcmode="lin" valueType="num">
                                      <p:cBhvr additive="base">
                                        <p:cTn id="106" dur="500" fill="hold"/>
                                        <p:tgtEl>
                                          <p:spTgt spid="83971">
                                            <p:txEl>
                                              <p:pRg st="4" end="4"/>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839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5pPr>
          </a:lstStyle>
          <a:p>
            <a:pPr lvl="0" algn="r" eaLnBrk="1" hangingPunct="1">
              <a:buNone/>
            </a:pPr>
            <a:fld id="{9A0DB2DC-4C9A-4742-B13C-FB6460FD3503}" type="slidenum">
              <a:rPr lang="en-US" altLang="zh-CN" sz="1400" b="0" dirty="0">
                <a:ea typeface="宋体" panose="02010600030101010101" pitchFamily="2" charset="-122"/>
              </a:rPr>
            </a:fld>
            <a:endParaRPr lang="en-US" altLang="zh-CN" sz="1400" b="0" dirty="0">
              <a:ea typeface="宋体" panose="02010600030101010101" pitchFamily="2" charset="-122"/>
            </a:endParaRPr>
          </a:p>
        </p:txBody>
      </p:sp>
      <p:sp>
        <p:nvSpPr>
          <p:cNvPr id="158723" name="Rectangle 2"/>
          <p:cNvSpPr>
            <a:spLocks noGrp="1"/>
          </p:cNvSpPr>
          <p:nvPr>
            <p:ph type="title"/>
          </p:nvPr>
        </p:nvSpPr>
        <p:spPr/>
        <p:txBody>
          <a:bodyPr vert="horz" wrap="square" lIns="91440" tIns="45720" rIns="91440" bIns="45720" anchor="ctr" anchorCtr="0"/>
          <a:lstStyle/>
          <a:p>
            <a:pPr>
              <a:buNone/>
            </a:pPr>
            <a:r>
              <a:rPr lang="en-US" altLang="zh-CN" sz="3400" dirty="0">
                <a:ea typeface="宋体" panose="02010600030101010101" pitchFamily="2" charset="-122"/>
              </a:rPr>
              <a:t>Remote File Storage:</a:t>
            </a:r>
            <a:br>
              <a:rPr lang="en-US" altLang="zh-CN" sz="3400" dirty="0">
                <a:ea typeface="宋体" panose="02010600030101010101" pitchFamily="2" charset="-122"/>
              </a:rPr>
            </a:br>
            <a:r>
              <a:rPr lang="en-US" altLang="zh-CN" sz="3400" dirty="0">
                <a:ea typeface="宋体" panose="02010600030101010101" pitchFamily="2" charset="-122"/>
              </a:rPr>
              <a:t>We Want It All</a:t>
            </a:r>
            <a:endParaRPr lang="en-US" altLang="zh-CN" sz="3400" dirty="0">
              <a:ea typeface="宋体" panose="02010600030101010101" pitchFamily="2" charset="-122"/>
            </a:endParaRPr>
          </a:p>
        </p:txBody>
      </p:sp>
      <p:sp>
        <p:nvSpPr>
          <p:cNvPr id="29699" name="Rectangle 3"/>
          <p:cNvSpPr>
            <a:spLocks noGrp="1"/>
          </p:cNvSpPr>
          <p:nvPr>
            <p:ph idx="1"/>
          </p:nvPr>
        </p:nvSpPr>
        <p:spPr>
          <a:xfrm>
            <a:off x="566738" y="1752600"/>
            <a:ext cx="8001000" cy="4648200"/>
          </a:xfrm>
        </p:spPr>
        <p:txBody>
          <a:bodyPr vert="horz" wrap="square" lIns="91440" tIns="45720" rIns="91440" bIns="45720" anchor="t" anchorCtr="0"/>
          <a:lstStyle/>
          <a:p>
            <a:pPr>
              <a:lnSpc>
                <a:spcPct val="90000"/>
              </a:lnSpc>
            </a:pPr>
            <a:r>
              <a:rPr lang="en-US" altLang="zh-CN" sz="2600" dirty="0">
                <a:ea typeface="宋体" panose="02010600030101010101" pitchFamily="2" charset="-122"/>
              </a:rPr>
              <a:t>Wishlist:</a:t>
            </a:r>
            <a:endParaRPr lang="en-US" altLang="zh-CN" sz="2600" dirty="0">
              <a:ea typeface="宋体" panose="02010600030101010101" pitchFamily="2" charset="-122"/>
            </a:endParaRPr>
          </a:p>
          <a:p>
            <a:pPr lvl="1">
              <a:lnSpc>
                <a:spcPct val="90000"/>
              </a:lnSpc>
            </a:pPr>
            <a:r>
              <a:rPr lang="en-US" altLang="zh-CN" sz="2200" dirty="0">
                <a:ea typeface="宋体" panose="02010600030101010101" pitchFamily="2" charset="-122"/>
              </a:rPr>
              <a:t>Encrypted files for untrusted storage</a:t>
            </a:r>
            <a:endParaRPr lang="en-US" altLang="zh-CN" sz="2200" dirty="0">
              <a:ea typeface="宋体" panose="02010600030101010101" pitchFamily="2" charset="-122"/>
            </a:endParaRPr>
          </a:p>
          <a:p>
            <a:pPr lvl="1">
              <a:lnSpc>
                <a:spcPct val="90000"/>
              </a:lnSpc>
            </a:pPr>
            <a:r>
              <a:rPr lang="en-US" altLang="zh-CN" sz="2200" dirty="0">
                <a:ea typeface="宋体" panose="02010600030101010101" pitchFamily="2" charset="-122"/>
              </a:rPr>
              <a:t>Setting up keys is offline</a:t>
            </a:r>
            <a:endParaRPr lang="en-US" altLang="zh-CN" sz="2200" dirty="0">
              <a:ea typeface="宋体" panose="02010600030101010101" pitchFamily="2" charset="-122"/>
            </a:endParaRPr>
          </a:p>
          <a:p>
            <a:pPr lvl="1">
              <a:lnSpc>
                <a:spcPct val="90000"/>
              </a:lnSpc>
            </a:pPr>
            <a:r>
              <a:rPr lang="en-US" altLang="zh-CN" sz="2200" dirty="0">
                <a:ea typeface="宋体" panose="02010600030101010101" pitchFamily="2" charset="-122"/>
              </a:rPr>
              <a:t>No online, trusted party mediating access to files or keys</a:t>
            </a:r>
            <a:endParaRPr lang="en-US" altLang="zh-CN" sz="2200" dirty="0">
              <a:ea typeface="宋体" panose="02010600030101010101" pitchFamily="2" charset="-122"/>
            </a:endParaRPr>
          </a:p>
          <a:p>
            <a:pPr lvl="1">
              <a:lnSpc>
                <a:spcPct val="90000"/>
              </a:lnSpc>
            </a:pPr>
            <a:r>
              <a:rPr lang="en-US" altLang="zh-CN" sz="2200" dirty="0">
                <a:ea typeface="宋体" panose="02010600030101010101" pitchFamily="2" charset="-122"/>
              </a:rPr>
              <a:t>Highly expressive, fine grained access policies</a:t>
            </a:r>
            <a:endParaRPr lang="en-US" altLang="zh-CN" sz="2200" dirty="0">
              <a:ea typeface="宋体" panose="02010600030101010101" pitchFamily="2" charset="-122"/>
            </a:endParaRPr>
          </a:p>
          <a:p>
            <a:pPr>
              <a:lnSpc>
                <a:spcPct val="90000"/>
              </a:lnSpc>
            </a:pPr>
            <a:r>
              <a:rPr lang="en-US" altLang="zh-CN" sz="2600" dirty="0">
                <a:ea typeface="宋体" panose="02010600030101010101" pitchFamily="2" charset="-122"/>
              </a:rPr>
              <a:t>Ciphertext-policy attribute-based encryption does this!</a:t>
            </a:r>
            <a:endParaRPr lang="en-US" altLang="zh-CN" sz="2600" dirty="0">
              <a:ea typeface="宋体" panose="02010600030101010101" pitchFamily="2" charset="-122"/>
            </a:endParaRPr>
          </a:p>
          <a:p>
            <a:pPr lvl="1">
              <a:lnSpc>
                <a:spcPct val="90000"/>
              </a:lnSpc>
            </a:pPr>
            <a:r>
              <a:rPr lang="en-US" altLang="zh-CN" sz="2200" dirty="0">
                <a:ea typeface="宋体" panose="02010600030101010101" pitchFamily="2" charset="-122"/>
              </a:rPr>
              <a:t>User private keys given list of “attributes”</a:t>
            </a:r>
            <a:endParaRPr lang="en-US" altLang="zh-CN" sz="2200" dirty="0">
              <a:ea typeface="宋体" panose="02010600030101010101" pitchFamily="2" charset="-122"/>
            </a:endParaRPr>
          </a:p>
          <a:p>
            <a:pPr lvl="1">
              <a:lnSpc>
                <a:spcPct val="90000"/>
              </a:lnSpc>
            </a:pPr>
            <a:r>
              <a:rPr lang="en-US" altLang="zh-CN" sz="2200" dirty="0">
                <a:ea typeface="宋体" panose="02010600030101010101" pitchFamily="2" charset="-122"/>
              </a:rPr>
              <a:t>Files can encrypted under “policy” over those attributes</a:t>
            </a:r>
            <a:endParaRPr lang="en-US" altLang="zh-CN" sz="2200" dirty="0">
              <a:ea typeface="宋体" panose="02010600030101010101" pitchFamily="2" charset="-122"/>
            </a:endParaRPr>
          </a:p>
          <a:p>
            <a:pPr lvl="1">
              <a:lnSpc>
                <a:spcPct val="90000"/>
              </a:lnSpc>
            </a:pPr>
            <a:r>
              <a:rPr lang="en-US" altLang="zh-CN" sz="2200" dirty="0">
                <a:ea typeface="宋体" panose="02010600030101010101" pitchFamily="2" charset="-122"/>
              </a:rPr>
              <a:t>Can only decrypt if attributes satisfy policy</a:t>
            </a:r>
            <a:endParaRPr lang="en-US" altLang="zh-CN" sz="22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1+#ppt_h/2"/>
                                          </p:val>
                                        </p:tav>
                                        <p:tav tm="100000">
                                          <p:val>
                                            <p:strVal val="#ppt_y"/>
                                          </p:val>
                                        </p:tav>
                                      </p:tavLst>
                                    </p:anim>
                                  </p:childTnLst>
                                </p:cTn>
                              </p:par>
                              <p:par>
                                <p:cTn id="9" presetID="7" presetClass="entr" presetSubtype="4" fill="hold" grpId="0" nodeType="with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anim calcmode="lin" valueType="num">
                                      <p:cBhvr additive="base">
                                        <p:cTn id="11"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699">
                                            <p:txEl>
                                              <p:pRg st="1" end="1"/>
                                            </p:txEl>
                                          </p:spTgt>
                                        </p:tgtEl>
                                        <p:attrNameLst>
                                          <p:attrName>ppt_y</p:attrName>
                                        </p:attrNameLst>
                                      </p:cBhvr>
                                      <p:tavLst>
                                        <p:tav tm="0">
                                          <p:val>
                                            <p:strVal val="1+#ppt_h/2"/>
                                          </p:val>
                                        </p:tav>
                                        <p:tav tm="100000">
                                          <p:val>
                                            <p:strVal val="#ppt_y"/>
                                          </p:val>
                                        </p:tav>
                                      </p:tavLst>
                                    </p:anim>
                                  </p:childTnLst>
                                </p:cTn>
                              </p:par>
                              <p:par>
                                <p:cTn id="13" presetID="7" presetClass="entr" presetSubtype="4" fill="hold" grpId="0" nodeType="with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anim calcmode="lin" valueType="num">
                                      <p:cBhvr additive="base">
                                        <p:cTn id="15"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9699">
                                            <p:txEl>
                                              <p:pRg st="2" end="2"/>
                                            </p:txEl>
                                          </p:spTgt>
                                        </p:tgtEl>
                                        <p:attrNameLst>
                                          <p:attrName>ppt_y</p:attrName>
                                        </p:attrNameLst>
                                      </p:cBhvr>
                                      <p:tavLst>
                                        <p:tav tm="0">
                                          <p:val>
                                            <p:strVal val="1+#ppt_h/2"/>
                                          </p:val>
                                        </p:tav>
                                        <p:tav tm="100000">
                                          <p:val>
                                            <p:strVal val="#ppt_y"/>
                                          </p:val>
                                        </p:tav>
                                      </p:tavLst>
                                    </p:anim>
                                  </p:childTnLst>
                                </p:cTn>
                              </p:par>
                              <p:par>
                                <p:cTn id="17" presetID="7" presetClass="entr" presetSubtype="4" fill="hold" grpId="0" nodeType="with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anim calcmode="lin" valueType="num">
                                      <p:cBhvr additive="base">
                                        <p:cTn id="19" dur="5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9">
                                            <p:txEl>
                                              <p:pRg st="3" end="3"/>
                                            </p:txEl>
                                          </p:spTgt>
                                        </p:tgtEl>
                                        <p:attrNameLst>
                                          <p:attrName>ppt_y</p:attrName>
                                        </p:attrNameLst>
                                      </p:cBhvr>
                                      <p:tavLst>
                                        <p:tav tm="0">
                                          <p:val>
                                            <p:strVal val="1+#ppt_h/2"/>
                                          </p:val>
                                        </p:tav>
                                        <p:tav tm="100000">
                                          <p:val>
                                            <p:strVal val="#ppt_y"/>
                                          </p:val>
                                        </p:tav>
                                      </p:tavLst>
                                    </p:anim>
                                  </p:childTnLst>
                                </p:cTn>
                              </p:par>
                              <p:par>
                                <p:cTn id="21" presetID="7" presetClass="entr" presetSubtype="4" fill="hold" grpId="0" nodeType="with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anim calcmode="lin" valueType="num">
                                      <p:cBhvr additive="base">
                                        <p:cTn id="23" dur="5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9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7" presetClass="entr" presetSubtype="4" fill="hold" grpId="0" nodeType="clickEffect">
                                  <p:stCondLst>
                                    <p:cond delay="0"/>
                                  </p:stCondLst>
                                  <p:childTnLst>
                                    <p:set>
                                      <p:cBhvr>
                                        <p:cTn id="28" dur="1" fill="hold">
                                          <p:stCondLst>
                                            <p:cond delay="0"/>
                                          </p:stCondLst>
                                        </p:cTn>
                                        <p:tgtEl>
                                          <p:spTgt spid="29699">
                                            <p:txEl>
                                              <p:pRg st="5" end="5"/>
                                            </p:txEl>
                                          </p:spTgt>
                                        </p:tgtEl>
                                        <p:attrNameLst>
                                          <p:attrName>style.visibility</p:attrName>
                                        </p:attrNameLst>
                                      </p:cBhvr>
                                      <p:to>
                                        <p:strVal val="visible"/>
                                      </p:to>
                                    </p:set>
                                    <p:anim calcmode="lin" valueType="num">
                                      <p:cBhvr additive="base">
                                        <p:cTn id="29" dur="5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9699">
                                            <p:txEl>
                                              <p:pRg st="5" end="5"/>
                                            </p:txEl>
                                          </p:spTgt>
                                        </p:tgtEl>
                                        <p:attrNameLst>
                                          <p:attrName>ppt_y</p:attrName>
                                        </p:attrNameLst>
                                      </p:cBhvr>
                                      <p:tavLst>
                                        <p:tav tm="0">
                                          <p:val>
                                            <p:strVal val="1+#ppt_h/2"/>
                                          </p:val>
                                        </p:tav>
                                        <p:tav tm="100000">
                                          <p:val>
                                            <p:strVal val="#ppt_y"/>
                                          </p:val>
                                        </p:tav>
                                      </p:tavLst>
                                    </p:anim>
                                  </p:childTnLst>
                                </p:cTn>
                              </p:par>
                              <p:par>
                                <p:cTn id="31" presetID="7" presetClass="entr" presetSubtype="4" fill="hold" grpId="0" nodeType="withEffect">
                                  <p:stCondLst>
                                    <p:cond delay="0"/>
                                  </p:stCondLst>
                                  <p:childTnLst>
                                    <p:set>
                                      <p:cBhvr>
                                        <p:cTn id="32" dur="1" fill="hold">
                                          <p:stCondLst>
                                            <p:cond delay="0"/>
                                          </p:stCondLst>
                                        </p:cTn>
                                        <p:tgtEl>
                                          <p:spTgt spid="29699">
                                            <p:txEl>
                                              <p:pRg st="6" end="6"/>
                                            </p:txEl>
                                          </p:spTgt>
                                        </p:tgtEl>
                                        <p:attrNameLst>
                                          <p:attrName>style.visibility</p:attrName>
                                        </p:attrNameLst>
                                      </p:cBhvr>
                                      <p:to>
                                        <p:strVal val="visible"/>
                                      </p:to>
                                    </p:set>
                                    <p:anim calcmode="lin" valueType="num">
                                      <p:cBhvr additive="base">
                                        <p:cTn id="33" dur="500" fill="hold"/>
                                        <p:tgtEl>
                                          <p:spTgt spid="29699">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9699">
                                            <p:txEl>
                                              <p:pRg st="6" end="6"/>
                                            </p:txEl>
                                          </p:spTgt>
                                        </p:tgtEl>
                                        <p:attrNameLst>
                                          <p:attrName>ppt_y</p:attrName>
                                        </p:attrNameLst>
                                      </p:cBhvr>
                                      <p:tavLst>
                                        <p:tav tm="0">
                                          <p:val>
                                            <p:strVal val="1+#ppt_h/2"/>
                                          </p:val>
                                        </p:tav>
                                        <p:tav tm="100000">
                                          <p:val>
                                            <p:strVal val="#ppt_y"/>
                                          </p:val>
                                        </p:tav>
                                      </p:tavLst>
                                    </p:anim>
                                  </p:childTnLst>
                                </p:cTn>
                              </p:par>
                              <p:par>
                                <p:cTn id="35" presetID="7" presetClass="entr" presetSubtype="4" fill="hold" grpId="0" nodeType="withEffect">
                                  <p:stCondLst>
                                    <p:cond delay="0"/>
                                  </p:stCondLst>
                                  <p:childTnLst>
                                    <p:set>
                                      <p:cBhvr>
                                        <p:cTn id="36" dur="1" fill="hold">
                                          <p:stCondLst>
                                            <p:cond delay="0"/>
                                          </p:stCondLst>
                                        </p:cTn>
                                        <p:tgtEl>
                                          <p:spTgt spid="29699">
                                            <p:txEl>
                                              <p:pRg st="7" end="7"/>
                                            </p:txEl>
                                          </p:spTgt>
                                        </p:tgtEl>
                                        <p:attrNameLst>
                                          <p:attrName>style.visibility</p:attrName>
                                        </p:attrNameLst>
                                      </p:cBhvr>
                                      <p:to>
                                        <p:strVal val="visible"/>
                                      </p:to>
                                    </p:set>
                                    <p:anim calcmode="lin" valueType="num">
                                      <p:cBhvr additive="base">
                                        <p:cTn id="37"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699">
                                            <p:txEl>
                                              <p:pRg st="7" end="7"/>
                                            </p:txEl>
                                          </p:spTgt>
                                        </p:tgtEl>
                                        <p:attrNameLst>
                                          <p:attrName>ppt_y</p:attrName>
                                        </p:attrNameLst>
                                      </p:cBhvr>
                                      <p:tavLst>
                                        <p:tav tm="0">
                                          <p:val>
                                            <p:strVal val="1+#ppt_h/2"/>
                                          </p:val>
                                        </p:tav>
                                        <p:tav tm="100000">
                                          <p:val>
                                            <p:strVal val="#ppt_y"/>
                                          </p:val>
                                        </p:tav>
                                      </p:tavLst>
                                    </p:anim>
                                  </p:childTnLst>
                                </p:cTn>
                              </p:par>
                              <p:par>
                                <p:cTn id="39" presetID="7" presetClass="entr" presetSubtype="4" fill="hold" grpId="0" nodeType="withEffect">
                                  <p:stCondLst>
                                    <p:cond delay="0"/>
                                  </p:stCondLst>
                                  <p:childTnLst>
                                    <p:set>
                                      <p:cBhvr>
                                        <p:cTn id="40" dur="1" fill="hold">
                                          <p:stCondLst>
                                            <p:cond delay="0"/>
                                          </p:stCondLst>
                                        </p:cTn>
                                        <p:tgtEl>
                                          <p:spTgt spid="29699">
                                            <p:txEl>
                                              <p:pRg st="8" end="8"/>
                                            </p:txEl>
                                          </p:spTgt>
                                        </p:tgtEl>
                                        <p:attrNameLst>
                                          <p:attrName>style.visibility</p:attrName>
                                        </p:attrNameLst>
                                      </p:cBhvr>
                                      <p:to>
                                        <p:strVal val="visible"/>
                                      </p:to>
                                    </p:set>
                                    <p:anim calcmode="lin" valueType="num">
                                      <p:cBhvr additive="base">
                                        <p:cTn id="41" dur="5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灯片编号占位符 3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Times New Roman" panose="02020603050405020304" pitchFamily="18" charset="0"/>
                <a:ea typeface="+mn-ea"/>
                <a:cs typeface="+mn-cs"/>
              </a:defRPr>
            </a:lvl5pPr>
          </a:lstStyle>
          <a:p>
            <a:pPr lvl="0" algn="r" eaLnBrk="1" hangingPunct="1">
              <a:buNone/>
            </a:pPr>
            <a:fld id="{9A0DB2DC-4C9A-4742-B13C-FB6460FD3503}" type="slidenum">
              <a:rPr lang="en-US" altLang="zh-CN" sz="1400" b="0" dirty="0">
                <a:ea typeface="宋体" panose="02010600030101010101" pitchFamily="2" charset="-122"/>
              </a:rPr>
            </a:fld>
            <a:endParaRPr lang="en-US" altLang="zh-CN" sz="1400" b="0" dirty="0">
              <a:ea typeface="宋体" panose="02010600030101010101" pitchFamily="2" charset="-122"/>
            </a:endParaRPr>
          </a:p>
        </p:txBody>
      </p:sp>
      <p:sp>
        <p:nvSpPr>
          <p:cNvPr id="159747" name="Rectangle 2"/>
          <p:cNvSpPr>
            <a:spLocks noGrp="1"/>
          </p:cNvSpPr>
          <p:nvPr>
            <p:ph type="title"/>
          </p:nvPr>
        </p:nvSpPr>
        <p:spPr/>
        <p:txBody>
          <a:bodyPr vert="horz" wrap="square" lIns="91440" tIns="45720" rIns="91440" bIns="45720" anchor="ctr" anchorCtr="0"/>
          <a:lstStyle/>
          <a:p>
            <a:pPr>
              <a:buNone/>
            </a:pPr>
            <a:r>
              <a:rPr lang="en-US" altLang="zh-CN" sz="3400" dirty="0">
                <a:ea typeface="宋体" panose="02010600030101010101" pitchFamily="2" charset="-122"/>
              </a:rPr>
              <a:t>Remove File Storage:</a:t>
            </a:r>
            <a:br>
              <a:rPr lang="en-US" altLang="zh-CN" sz="3400" dirty="0">
                <a:ea typeface="宋体" panose="02010600030101010101" pitchFamily="2" charset="-122"/>
              </a:rPr>
            </a:br>
            <a:r>
              <a:rPr lang="en-US" altLang="zh-CN" sz="3400" dirty="0">
                <a:ea typeface="宋体" panose="02010600030101010101" pitchFamily="2" charset="-122"/>
              </a:rPr>
              <a:t>Access Control via CP-ABE</a:t>
            </a:r>
            <a:endParaRPr lang="en-US" altLang="zh-CN" sz="3400" dirty="0">
              <a:ea typeface="宋体" panose="02010600030101010101" pitchFamily="2" charset="-122"/>
            </a:endParaRPr>
          </a:p>
        </p:txBody>
      </p:sp>
      <p:pic>
        <p:nvPicPr>
          <p:cNvPr id="92163" name="Picture 3" descr="carl"/>
          <p:cNvPicPr>
            <a:picLocks noChangeAspect="1"/>
          </p:cNvPicPr>
          <p:nvPr/>
        </p:nvPicPr>
        <p:blipFill>
          <a:blip r:embed="rId1"/>
          <a:stretch>
            <a:fillRect/>
          </a:stretch>
        </p:blipFill>
        <p:spPr>
          <a:xfrm>
            <a:off x="7620000" y="2362200"/>
            <a:ext cx="1168400" cy="1168400"/>
          </a:xfrm>
          <a:prstGeom prst="rect">
            <a:avLst/>
          </a:prstGeom>
          <a:noFill/>
          <a:ln w="9525">
            <a:noFill/>
          </a:ln>
        </p:spPr>
      </p:pic>
      <p:pic>
        <p:nvPicPr>
          <p:cNvPr id="159749" name="Picture 4" descr="sarah"/>
          <p:cNvPicPr>
            <a:picLocks noChangeAspect="1"/>
          </p:cNvPicPr>
          <p:nvPr/>
        </p:nvPicPr>
        <p:blipFill>
          <a:blip r:embed="rId2"/>
          <a:stretch>
            <a:fillRect/>
          </a:stretch>
        </p:blipFill>
        <p:spPr>
          <a:xfrm>
            <a:off x="2057400" y="4819650"/>
            <a:ext cx="1244600" cy="1244600"/>
          </a:xfrm>
          <a:prstGeom prst="rect">
            <a:avLst/>
          </a:prstGeom>
          <a:noFill/>
          <a:ln w="9525">
            <a:noFill/>
          </a:ln>
        </p:spPr>
      </p:pic>
      <p:pic>
        <p:nvPicPr>
          <p:cNvPr id="159750" name="Picture 5" descr="kevin"/>
          <p:cNvPicPr>
            <a:picLocks noChangeAspect="1"/>
          </p:cNvPicPr>
          <p:nvPr/>
        </p:nvPicPr>
        <p:blipFill>
          <a:blip r:embed="rId3"/>
          <a:stretch>
            <a:fillRect/>
          </a:stretch>
        </p:blipFill>
        <p:spPr>
          <a:xfrm>
            <a:off x="5892800" y="4749800"/>
            <a:ext cx="1270000" cy="1270000"/>
          </a:xfrm>
          <a:prstGeom prst="rect">
            <a:avLst/>
          </a:prstGeom>
          <a:noFill/>
          <a:ln w="9525">
            <a:noFill/>
          </a:ln>
        </p:spPr>
      </p:pic>
      <p:sp>
        <p:nvSpPr>
          <p:cNvPr id="92166" name="Text Box 6"/>
          <p:cNvSpPr txBox="1"/>
          <p:nvPr/>
        </p:nvSpPr>
        <p:spPr>
          <a:xfrm>
            <a:off x="6858000" y="2286000"/>
            <a:ext cx="644525" cy="519113"/>
          </a:xfrm>
          <a:prstGeom prst="rect">
            <a:avLst/>
          </a:prstGeom>
          <a:noFill/>
          <a:ln w="9525">
            <a:noFill/>
          </a:ln>
        </p:spPr>
        <p:txBody>
          <a:bodyPr wrap="none">
            <a:spAutoFit/>
          </a:bodyPr>
          <a:lstStyle/>
          <a:p>
            <a:pPr>
              <a:buNone/>
            </a:pPr>
            <a:r>
              <a:rPr lang="en-US" altLang="zh-CN" sz="2800" dirty="0">
                <a:latin typeface="Times New Roman" panose="02020603050405020304" pitchFamily="18" charset="0"/>
                <a:ea typeface="宋体" panose="02010600030101010101" pitchFamily="2" charset="-122"/>
              </a:rPr>
              <a:t>PK</a:t>
            </a:r>
            <a:endParaRPr lang="en-US" altLang="zh-CN" sz="2800" dirty="0">
              <a:latin typeface="Times New Roman" panose="02020603050405020304" pitchFamily="18" charset="0"/>
              <a:ea typeface="宋体" panose="02010600030101010101" pitchFamily="2" charset="-122"/>
            </a:endParaRPr>
          </a:p>
        </p:txBody>
      </p:sp>
      <p:sp>
        <p:nvSpPr>
          <p:cNvPr id="92167" name="Text Box 7"/>
          <p:cNvSpPr txBox="1"/>
          <p:nvPr/>
        </p:nvSpPr>
        <p:spPr>
          <a:xfrm>
            <a:off x="6858000" y="1752600"/>
            <a:ext cx="973138" cy="519113"/>
          </a:xfrm>
          <a:prstGeom prst="rect">
            <a:avLst/>
          </a:prstGeom>
          <a:noFill/>
          <a:ln w="9525">
            <a:noFill/>
          </a:ln>
        </p:spPr>
        <p:txBody>
          <a:bodyPr wrap="none">
            <a:spAutoFit/>
          </a:bodyPr>
          <a:lstStyle/>
          <a:p>
            <a:pPr>
              <a:buNone/>
            </a:pPr>
            <a:r>
              <a:rPr lang="en-US" altLang="zh-CN" sz="2800" dirty="0">
                <a:latin typeface="Times New Roman" panose="02020603050405020304" pitchFamily="18" charset="0"/>
                <a:ea typeface="宋体" panose="02010600030101010101" pitchFamily="2" charset="-122"/>
              </a:rPr>
              <a:t>MSK</a:t>
            </a:r>
            <a:endParaRPr lang="en-US" altLang="zh-CN" sz="2800" dirty="0">
              <a:latin typeface="Times New Roman" panose="02020603050405020304" pitchFamily="18" charset="0"/>
              <a:ea typeface="宋体" panose="02010600030101010101" pitchFamily="2" charset="-122"/>
            </a:endParaRPr>
          </a:p>
        </p:txBody>
      </p:sp>
      <p:sp>
        <p:nvSpPr>
          <p:cNvPr id="92168" name="Text Box 8"/>
          <p:cNvSpPr txBox="1"/>
          <p:nvPr/>
        </p:nvSpPr>
        <p:spPr>
          <a:xfrm>
            <a:off x="381000" y="4876800"/>
            <a:ext cx="1905000" cy="1187450"/>
          </a:xfrm>
          <a:prstGeom prst="rect">
            <a:avLst/>
          </a:prstGeom>
          <a:noFill/>
          <a:ln w="9525">
            <a:noFill/>
          </a:ln>
        </p:spPr>
        <p:txBody>
          <a:bodyPr>
            <a:spAutoFit/>
          </a:bodyPr>
          <a:lstStyle/>
          <a:p>
            <a:pPr>
              <a:buNone/>
            </a:pPr>
            <a:r>
              <a:rPr lang="en-US" altLang="zh-CN" sz="2400" dirty="0">
                <a:latin typeface="Times New Roman" panose="02020603050405020304" pitchFamily="18" charset="0"/>
                <a:ea typeface="宋体" panose="02010600030101010101" pitchFamily="2" charset="-122"/>
              </a:rPr>
              <a:t>SK</a:t>
            </a:r>
            <a:r>
              <a:rPr lang="en-US" altLang="zh-CN" sz="2400" baseline="-25000" dirty="0">
                <a:latin typeface="Times New Roman" panose="02020603050405020304" pitchFamily="18" charset="0"/>
                <a:ea typeface="宋体" panose="02010600030101010101" pitchFamily="2" charset="-122"/>
              </a:rPr>
              <a:t>Sarah</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buNone/>
            </a:pPr>
            <a:r>
              <a:rPr lang="en-US" altLang="zh-CN" sz="2400" dirty="0">
                <a:latin typeface="Times New Roman" panose="02020603050405020304" pitchFamily="18" charset="0"/>
                <a:ea typeface="宋体" panose="02010600030101010101" pitchFamily="2" charset="-122"/>
              </a:rPr>
              <a:t>“manager”</a:t>
            </a:r>
            <a:endParaRPr lang="en-US" altLang="zh-CN" sz="2400" dirty="0">
              <a:latin typeface="Times New Roman" panose="02020603050405020304" pitchFamily="18" charset="0"/>
              <a:ea typeface="宋体" panose="02010600030101010101" pitchFamily="2" charset="-122"/>
            </a:endParaRPr>
          </a:p>
          <a:p>
            <a:pPr>
              <a:buNone/>
            </a:pPr>
            <a:r>
              <a:rPr lang="en-US" altLang="zh-CN" sz="2400" dirty="0">
                <a:latin typeface="Times New Roman" panose="02020603050405020304" pitchFamily="18" charset="0"/>
                <a:ea typeface="宋体" panose="02010600030101010101" pitchFamily="2" charset="-122"/>
              </a:rPr>
              <a:t>“IT dept.”</a:t>
            </a:r>
            <a:endParaRPr lang="en-US" altLang="zh-CN" sz="2400" dirty="0">
              <a:latin typeface="Times New Roman" panose="02020603050405020304" pitchFamily="18" charset="0"/>
              <a:ea typeface="宋体" panose="02010600030101010101" pitchFamily="2" charset="-122"/>
            </a:endParaRPr>
          </a:p>
        </p:txBody>
      </p:sp>
      <p:sp>
        <p:nvSpPr>
          <p:cNvPr id="92169" name="Text Box 9"/>
          <p:cNvSpPr txBox="1"/>
          <p:nvPr/>
        </p:nvSpPr>
        <p:spPr>
          <a:xfrm>
            <a:off x="4191000" y="4908550"/>
            <a:ext cx="1828800" cy="1187450"/>
          </a:xfrm>
          <a:prstGeom prst="rect">
            <a:avLst/>
          </a:prstGeom>
          <a:noFill/>
          <a:ln w="9525">
            <a:noFill/>
          </a:ln>
        </p:spPr>
        <p:txBody>
          <a:bodyPr>
            <a:spAutoFit/>
          </a:bodyPr>
          <a:lstStyle/>
          <a:p>
            <a:pPr>
              <a:buNone/>
            </a:pPr>
            <a:r>
              <a:rPr lang="en-US" altLang="zh-CN" sz="2400" dirty="0">
                <a:latin typeface="Times New Roman" panose="02020603050405020304" pitchFamily="18" charset="0"/>
                <a:ea typeface="宋体" panose="02010600030101010101" pitchFamily="2" charset="-122"/>
              </a:rPr>
              <a:t>SK</a:t>
            </a:r>
            <a:r>
              <a:rPr lang="en-US" altLang="zh-CN" sz="2400" baseline="-25000" dirty="0">
                <a:latin typeface="Times New Roman" panose="02020603050405020304" pitchFamily="18" charset="0"/>
                <a:ea typeface="宋体" panose="02010600030101010101" pitchFamily="2" charset="-122"/>
              </a:rPr>
              <a:t>Kevin</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buNone/>
            </a:pPr>
            <a:r>
              <a:rPr lang="en-US" altLang="zh-CN" sz="2400" dirty="0">
                <a:latin typeface="Times New Roman" panose="02020603050405020304" pitchFamily="18" charset="0"/>
                <a:ea typeface="宋体" panose="02010600030101010101" pitchFamily="2" charset="-122"/>
              </a:rPr>
              <a:t>“manager”</a:t>
            </a:r>
            <a:endParaRPr lang="en-US" altLang="zh-CN" sz="2400" dirty="0">
              <a:latin typeface="Times New Roman" panose="02020603050405020304" pitchFamily="18" charset="0"/>
              <a:ea typeface="宋体" panose="02010600030101010101" pitchFamily="2" charset="-122"/>
            </a:endParaRPr>
          </a:p>
          <a:p>
            <a:pPr>
              <a:buNone/>
            </a:pPr>
            <a:r>
              <a:rPr lang="en-US" altLang="zh-CN" sz="2400" dirty="0">
                <a:latin typeface="Times New Roman" panose="02020603050405020304" pitchFamily="18" charset="0"/>
                <a:ea typeface="宋体" panose="02010600030101010101" pitchFamily="2" charset="-122"/>
              </a:rPr>
              <a:t>“sales”</a:t>
            </a:r>
            <a:endParaRPr lang="en-US" altLang="zh-CN" sz="2400" dirty="0">
              <a:latin typeface="Times New Roman" panose="02020603050405020304" pitchFamily="18" charset="0"/>
              <a:ea typeface="宋体" panose="02010600030101010101" pitchFamily="2" charset="-122"/>
            </a:endParaRPr>
          </a:p>
        </p:txBody>
      </p:sp>
      <p:sp>
        <p:nvSpPr>
          <p:cNvPr id="92170" name="Line 10"/>
          <p:cNvSpPr/>
          <p:nvPr/>
        </p:nvSpPr>
        <p:spPr>
          <a:xfrm flipH="1">
            <a:off x="1752600" y="2286000"/>
            <a:ext cx="5638800" cy="2667000"/>
          </a:xfrm>
          <a:prstGeom prst="line">
            <a:avLst/>
          </a:prstGeom>
          <a:ln w="88900" cap="flat" cmpd="sng">
            <a:solidFill>
              <a:schemeClr val="tx1"/>
            </a:solidFill>
            <a:prstDash val="solid"/>
            <a:headEnd type="none" w="med" len="med"/>
            <a:tailEnd type="triangle" w="med" len="med"/>
          </a:ln>
        </p:spPr>
      </p:sp>
      <p:sp>
        <p:nvSpPr>
          <p:cNvPr id="92171" name="Line 11"/>
          <p:cNvSpPr/>
          <p:nvPr/>
        </p:nvSpPr>
        <p:spPr>
          <a:xfrm flipH="1">
            <a:off x="5410200" y="2286000"/>
            <a:ext cx="1981200" cy="2667000"/>
          </a:xfrm>
          <a:prstGeom prst="line">
            <a:avLst/>
          </a:prstGeom>
          <a:ln w="88900" cap="flat" cmpd="sng">
            <a:solidFill>
              <a:schemeClr val="tx1"/>
            </a:solidFill>
            <a:prstDash val="solid"/>
            <a:headEnd type="none" w="med" len="med"/>
            <a:tailEnd type="triangle" w="med" len="med"/>
          </a:ln>
        </p:spPr>
      </p:sp>
      <p:pic>
        <p:nvPicPr>
          <p:cNvPr id="92172" name="Picture 12" descr="pmore3"/>
          <p:cNvPicPr>
            <a:picLocks noChangeAspect="1"/>
          </p:cNvPicPr>
          <p:nvPr/>
        </p:nvPicPr>
        <p:blipFill>
          <a:blip r:embed="rId4"/>
          <a:stretch>
            <a:fillRect/>
          </a:stretch>
        </p:blipFill>
        <p:spPr>
          <a:xfrm>
            <a:off x="7620000" y="2413000"/>
            <a:ext cx="1168400" cy="1168400"/>
          </a:xfrm>
          <a:prstGeom prst="rect">
            <a:avLst/>
          </a:prstGeom>
          <a:noFill/>
          <a:ln w="9525">
            <a:noFill/>
          </a:ln>
        </p:spPr>
      </p:pic>
      <p:grpSp>
        <p:nvGrpSpPr>
          <p:cNvPr id="92173" name="Group 13"/>
          <p:cNvGrpSpPr/>
          <p:nvPr/>
        </p:nvGrpSpPr>
        <p:grpSpPr>
          <a:xfrm>
            <a:off x="687388" y="1889125"/>
            <a:ext cx="3579812" cy="2225675"/>
            <a:chOff x="1392" y="1286"/>
            <a:chExt cx="2255" cy="1402"/>
          </a:xfrm>
        </p:grpSpPr>
        <p:sp>
          <p:nvSpPr>
            <p:cNvPr id="159772" name="Oval 14"/>
            <p:cNvSpPr/>
            <p:nvPr/>
          </p:nvSpPr>
          <p:spPr>
            <a:xfrm>
              <a:off x="1968" y="1286"/>
              <a:ext cx="528" cy="432"/>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lstStyle/>
            <a:p>
              <a:pPr>
                <a:buNone/>
              </a:pPr>
              <a:r>
                <a:rPr lang="en-US" altLang="zh-CN" sz="2400" dirty="0">
                  <a:latin typeface="Times New Roman" panose="02020603050405020304" pitchFamily="18" charset="0"/>
                  <a:ea typeface="宋体" panose="02010600030101010101" pitchFamily="2" charset="-122"/>
                </a:rPr>
                <a:t>OR</a:t>
              </a:r>
              <a:endParaRPr lang="en-US" altLang="zh-CN" sz="2400" dirty="0">
                <a:latin typeface="Times New Roman" panose="02020603050405020304" pitchFamily="18" charset="0"/>
                <a:ea typeface="宋体" panose="02010600030101010101" pitchFamily="2" charset="-122"/>
              </a:endParaRPr>
            </a:p>
          </p:txBody>
        </p:sp>
        <p:sp>
          <p:nvSpPr>
            <p:cNvPr id="159773" name="Text Box 15"/>
            <p:cNvSpPr txBox="1"/>
            <p:nvPr/>
          </p:nvSpPr>
          <p:spPr>
            <a:xfrm>
              <a:off x="1392" y="1910"/>
              <a:ext cx="754" cy="250"/>
            </a:xfrm>
            <a:prstGeom prst="rect">
              <a:avLst/>
            </a:prstGeom>
            <a:noFill/>
            <a:ln w="9525">
              <a:noFill/>
            </a:ln>
          </p:spPr>
          <p:txBody>
            <a:bodyPr wrap="none">
              <a:spAutoFit/>
            </a:bodyPr>
            <a:lstStyle/>
            <a:p>
              <a:pPr>
                <a:buNone/>
              </a:pPr>
              <a:r>
                <a:rPr lang="en-US" altLang="zh-CN" sz="2000" dirty="0">
                  <a:latin typeface="Times New Roman" panose="02020603050405020304" pitchFamily="18" charset="0"/>
                  <a:ea typeface="宋体" panose="02010600030101010101" pitchFamily="2" charset="-122"/>
                </a:rPr>
                <a:t>IT dept.</a:t>
              </a:r>
              <a:endParaRPr lang="en-US" altLang="zh-CN" sz="2000" dirty="0">
                <a:latin typeface="Times New Roman" panose="02020603050405020304" pitchFamily="18" charset="0"/>
                <a:ea typeface="宋体" panose="02010600030101010101" pitchFamily="2" charset="-122"/>
              </a:endParaRPr>
            </a:p>
          </p:txBody>
        </p:sp>
        <p:sp>
          <p:nvSpPr>
            <p:cNvPr id="159774" name="Oval 16"/>
            <p:cNvSpPr/>
            <p:nvPr/>
          </p:nvSpPr>
          <p:spPr>
            <a:xfrm>
              <a:off x="2448" y="1814"/>
              <a:ext cx="528" cy="432"/>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lstStyle/>
            <a:p>
              <a:pPr>
                <a:buNone/>
              </a:pPr>
              <a:r>
                <a:rPr lang="en-US" altLang="zh-CN" sz="2400" dirty="0">
                  <a:latin typeface="Times New Roman" panose="02020603050405020304" pitchFamily="18" charset="0"/>
                  <a:ea typeface="宋体" panose="02010600030101010101" pitchFamily="2" charset="-122"/>
                </a:rPr>
                <a:t>AND</a:t>
              </a:r>
              <a:endParaRPr lang="en-US" altLang="zh-CN" sz="2400" dirty="0">
                <a:latin typeface="Times New Roman" panose="02020603050405020304" pitchFamily="18" charset="0"/>
                <a:ea typeface="宋体" panose="02010600030101010101" pitchFamily="2" charset="-122"/>
              </a:endParaRPr>
            </a:p>
          </p:txBody>
        </p:sp>
        <p:sp>
          <p:nvSpPr>
            <p:cNvPr id="159775" name="Text Box 17"/>
            <p:cNvSpPr txBox="1"/>
            <p:nvPr/>
          </p:nvSpPr>
          <p:spPr>
            <a:xfrm>
              <a:off x="1728" y="2438"/>
              <a:ext cx="828" cy="250"/>
            </a:xfrm>
            <a:prstGeom prst="rect">
              <a:avLst/>
            </a:prstGeom>
            <a:noFill/>
            <a:ln w="9525">
              <a:noFill/>
            </a:ln>
          </p:spPr>
          <p:txBody>
            <a:bodyPr wrap="none">
              <a:spAutoFit/>
            </a:bodyPr>
            <a:lstStyle/>
            <a:p>
              <a:pPr>
                <a:buNone/>
              </a:pPr>
              <a:r>
                <a:rPr lang="en-US" altLang="zh-CN" sz="2000" dirty="0">
                  <a:latin typeface="Times New Roman" panose="02020603050405020304" pitchFamily="18" charset="0"/>
                  <a:ea typeface="宋体" panose="02010600030101010101" pitchFamily="2" charset="-122"/>
                </a:rPr>
                <a:t>manager</a:t>
              </a:r>
              <a:endParaRPr lang="en-US" altLang="zh-CN" sz="2000" dirty="0">
                <a:latin typeface="Times New Roman" panose="02020603050405020304" pitchFamily="18" charset="0"/>
                <a:ea typeface="宋体" panose="02010600030101010101" pitchFamily="2" charset="-122"/>
              </a:endParaRPr>
            </a:p>
          </p:txBody>
        </p:sp>
        <p:sp>
          <p:nvSpPr>
            <p:cNvPr id="159776" name="Text Box 18"/>
            <p:cNvSpPr txBox="1"/>
            <p:nvPr/>
          </p:nvSpPr>
          <p:spPr>
            <a:xfrm>
              <a:off x="2713" y="2438"/>
              <a:ext cx="934" cy="250"/>
            </a:xfrm>
            <a:prstGeom prst="rect">
              <a:avLst/>
            </a:prstGeom>
            <a:noFill/>
            <a:ln w="9525">
              <a:noFill/>
            </a:ln>
          </p:spPr>
          <p:txBody>
            <a:bodyPr wrap="none">
              <a:spAutoFit/>
            </a:bodyPr>
            <a:lstStyle/>
            <a:p>
              <a:pPr>
                <a:buNone/>
              </a:pPr>
              <a:r>
                <a:rPr lang="en-US" altLang="zh-CN" sz="2000" dirty="0">
                  <a:latin typeface="Times New Roman" panose="02020603050405020304" pitchFamily="18" charset="0"/>
                  <a:ea typeface="宋体" panose="02010600030101010101" pitchFamily="2" charset="-122"/>
                </a:rPr>
                <a:t>marketing</a:t>
              </a:r>
              <a:endParaRPr lang="en-US" altLang="zh-CN" sz="2000" dirty="0">
                <a:latin typeface="Times New Roman" panose="02020603050405020304" pitchFamily="18" charset="0"/>
                <a:ea typeface="宋体" panose="02010600030101010101" pitchFamily="2" charset="-122"/>
              </a:endParaRPr>
            </a:p>
          </p:txBody>
        </p:sp>
        <p:sp>
          <p:nvSpPr>
            <p:cNvPr id="159777" name="Line 19"/>
            <p:cNvSpPr/>
            <p:nvPr/>
          </p:nvSpPr>
          <p:spPr>
            <a:xfrm flipH="1" flipV="1">
              <a:off x="2400" y="1670"/>
              <a:ext cx="144" cy="192"/>
            </a:xfrm>
            <a:prstGeom prst="line">
              <a:avLst/>
            </a:prstGeom>
            <a:ln w="9525" cap="flat" cmpd="sng">
              <a:solidFill>
                <a:schemeClr val="tx1"/>
              </a:solidFill>
              <a:prstDash val="solid"/>
              <a:headEnd type="none" w="med" len="med"/>
              <a:tailEnd type="none" w="med" len="med"/>
            </a:ln>
          </p:spPr>
        </p:sp>
        <p:sp>
          <p:nvSpPr>
            <p:cNvPr id="159778" name="Line 20"/>
            <p:cNvSpPr/>
            <p:nvPr/>
          </p:nvSpPr>
          <p:spPr>
            <a:xfrm flipV="1">
              <a:off x="1872" y="1670"/>
              <a:ext cx="192" cy="240"/>
            </a:xfrm>
            <a:prstGeom prst="line">
              <a:avLst/>
            </a:prstGeom>
            <a:ln w="9525" cap="flat" cmpd="sng">
              <a:solidFill>
                <a:schemeClr val="tx1"/>
              </a:solidFill>
              <a:prstDash val="solid"/>
              <a:headEnd type="none" w="med" len="med"/>
              <a:tailEnd type="none" w="med" len="med"/>
            </a:ln>
          </p:spPr>
        </p:sp>
        <p:sp>
          <p:nvSpPr>
            <p:cNvPr id="159779" name="Line 21"/>
            <p:cNvSpPr/>
            <p:nvPr/>
          </p:nvSpPr>
          <p:spPr>
            <a:xfrm flipV="1">
              <a:off x="2352" y="2198"/>
              <a:ext cx="192" cy="240"/>
            </a:xfrm>
            <a:prstGeom prst="line">
              <a:avLst/>
            </a:prstGeom>
            <a:ln w="9525" cap="flat" cmpd="sng">
              <a:solidFill>
                <a:schemeClr val="tx1"/>
              </a:solidFill>
              <a:prstDash val="solid"/>
              <a:headEnd type="none" w="med" len="med"/>
              <a:tailEnd type="none" w="med" len="med"/>
            </a:ln>
          </p:spPr>
        </p:sp>
        <p:sp>
          <p:nvSpPr>
            <p:cNvPr id="159780" name="Line 22"/>
            <p:cNvSpPr/>
            <p:nvPr/>
          </p:nvSpPr>
          <p:spPr>
            <a:xfrm flipH="1" flipV="1">
              <a:off x="2880" y="2198"/>
              <a:ext cx="192" cy="240"/>
            </a:xfrm>
            <a:prstGeom prst="line">
              <a:avLst/>
            </a:prstGeom>
            <a:ln w="9525" cap="flat" cmpd="sng">
              <a:solidFill>
                <a:schemeClr val="tx1"/>
              </a:solidFill>
              <a:prstDash val="solid"/>
              <a:headEnd type="none" w="med" len="med"/>
              <a:tailEnd type="none" w="med" len="med"/>
            </a:ln>
          </p:spPr>
        </p:sp>
      </p:grpSp>
      <p:pic>
        <p:nvPicPr>
          <p:cNvPr id="92183" name="Picture 23" descr="file"/>
          <p:cNvPicPr>
            <a:picLocks noChangeAspect="1"/>
          </p:cNvPicPr>
          <p:nvPr/>
        </p:nvPicPr>
        <p:blipFill>
          <a:blip r:embed="rId5"/>
          <a:stretch>
            <a:fillRect/>
          </a:stretch>
        </p:blipFill>
        <p:spPr>
          <a:xfrm>
            <a:off x="6705600" y="3048000"/>
            <a:ext cx="914400" cy="914400"/>
          </a:xfrm>
          <a:prstGeom prst="rect">
            <a:avLst/>
          </a:prstGeom>
          <a:noFill/>
          <a:ln w="9525">
            <a:noFill/>
          </a:ln>
        </p:spPr>
      </p:pic>
      <p:pic>
        <p:nvPicPr>
          <p:cNvPr id="92184" name="Picture 24" descr="lock"/>
          <p:cNvPicPr>
            <a:picLocks noChangeAspect="1"/>
          </p:cNvPicPr>
          <p:nvPr/>
        </p:nvPicPr>
        <p:blipFill>
          <a:blip r:embed="rId6"/>
          <a:stretch>
            <a:fillRect/>
          </a:stretch>
        </p:blipFill>
        <p:spPr>
          <a:xfrm>
            <a:off x="6781800" y="3124200"/>
            <a:ext cx="685800" cy="685800"/>
          </a:xfrm>
          <a:prstGeom prst="rect">
            <a:avLst/>
          </a:prstGeom>
          <a:noFill/>
          <a:ln w="9525">
            <a:noFill/>
          </a:ln>
        </p:spPr>
      </p:pic>
      <p:sp>
        <p:nvSpPr>
          <p:cNvPr id="92185" name="Line 25"/>
          <p:cNvSpPr/>
          <p:nvPr/>
        </p:nvSpPr>
        <p:spPr>
          <a:xfrm>
            <a:off x="3886200" y="2971800"/>
            <a:ext cx="2895600" cy="533400"/>
          </a:xfrm>
          <a:prstGeom prst="line">
            <a:avLst/>
          </a:prstGeom>
          <a:ln w="88900" cap="flat" cmpd="sng">
            <a:solidFill>
              <a:schemeClr val="tx1"/>
            </a:solidFill>
            <a:prstDash val="solid"/>
            <a:headEnd type="none" w="med" len="med"/>
            <a:tailEnd type="triangle" w="med" len="med"/>
          </a:ln>
        </p:spPr>
      </p:sp>
      <p:sp>
        <p:nvSpPr>
          <p:cNvPr id="92186" name="Line 26"/>
          <p:cNvSpPr/>
          <p:nvPr/>
        </p:nvSpPr>
        <p:spPr>
          <a:xfrm>
            <a:off x="5334000" y="2286000"/>
            <a:ext cx="1524000" cy="990600"/>
          </a:xfrm>
          <a:prstGeom prst="line">
            <a:avLst/>
          </a:prstGeom>
          <a:ln w="88900" cap="flat" cmpd="sng">
            <a:solidFill>
              <a:schemeClr val="tx1"/>
            </a:solidFill>
            <a:prstDash val="solid"/>
            <a:headEnd type="none" w="med" len="med"/>
            <a:tailEnd type="triangle" w="med" len="med"/>
          </a:ln>
        </p:spPr>
      </p:sp>
      <p:sp>
        <p:nvSpPr>
          <p:cNvPr id="92187" name="Text Box 27"/>
          <p:cNvSpPr txBox="1"/>
          <p:nvPr/>
        </p:nvSpPr>
        <p:spPr>
          <a:xfrm>
            <a:off x="687388" y="2635250"/>
            <a:ext cx="1141412" cy="1555750"/>
          </a:xfrm>
          <a:prstGeom prst="rect">
            <a:avLst/>
          </a:prstGeom>
          <a:noFill/>
          <a:ln w="9525">
            <a:noFill/>
          </a:ln>
        </p:spPr>
        <p:txBody>
          <a:bodyPr wrap="none">
            <a:spAutoFit/>
          </a:bodyPr>
          <a:lstStyle/>
          <a:p>
            <a:pPr>
              <a:buNone/>
            </a:pPr>
            <a:r>
              <a:rPr lang="en-US" altLang="zh-CN" dirty="0">
                <a:solidFill>
                  <a:srgbClr val="00CC00"/>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dirty="0">
              <a:solidFill>
                <a:srgbClr val="00CC00"/>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92188" name="Line 28"/>
          <p:cNvSpPr/>
          <p:nvPr/>
        </p:nvSpPr>
        <p:spPr>
          <a:xfrm flipV="1">
            <a:off x="1752600" y="3733800"/>
            <a:ext cx="2667000" cy="1219200"/>
          </a:xfrm>
          <a:prstGeom prst="line">
            <a:avLst/>
          </a:prstGeom>
          <a:ln w="88900" cap="flat" cmpd="sng">
            <a:solidFill>
              <a:schemeClr val="tx1"/>
            </a:solidFill>
            <a:prstDash val="solid"/>
            <a:headEnd type="none" w="med" len="med"/>
            <a:tailEnd type="triangle" w="med" len="med"/>
          </a:ln>
        </p:spPr>
      </p:sp>
      <p:sp>
        <p:nvSpPr>
          <p:cNvPr id="92189" name="Text Box 29"/>
          <p:cNvSpPr txBox="1"/>
          <p:nvPr/>
        </p:nvSpPr>
        <p:spPr>
          <a:xfrm>
            <a:off x="3003550" y="3397250"/>
            <a:ext cx="958850" cy="1555750"/>
          </a:xfrm>
          <a:prstGeom prst="rect">
            <a:avLst/>
          </a:prstGeom>
          <a:noFill/>
          <a:ln w="9525">
            <a:noFill/>
          </a:ln>
        </p:spPr>
        <p:txBody>
          <a:bodyPr>
            <a:spAutoFit/>
          </a:bodyPr>
          <a:lstStyle/>
          <a:p>
            <a:pPr>
              <a:buNone/>
            </a:pPr>
            <a:r>
              <a:rPr lang="en-US" altLang="zh-CN" dirty="0">
                <a:solidFill>
                  <a:schemeClr val="accent2"/>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dirty="0">
              <a:solidFill>
                <a:schemeClr val="accent2"/>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92190" name="Text Box 30"/>
          <p:cNvSpPr txBox="1"/>
          <p:nvPr/>
        </p:nvSpPr>
        <p:spPr>
          <a:xfrm>
            <a:off x="2286000" y="2559050"/>
            <a:ext cx="958850" cy="1555750"/>
          </a:xfrm>
          <a:prstGeom prst="rect">
            <a:avLst/>
          </a:prstGeom>
          <a:noFill/>
          <a:ln w="9525">
            <a:noFill/>
          </a:ln>
        </p:spPr>
        <p:txBody>
          <a:bodyPr>
            <a:spAutoFit/>
          </a:bodyPr>
          <a:lstStyle/>
          <a:p>
            <a:pPr>
              <a:buNone/>
            </a:pPr>
            <a:r>
              <a:rPr lang="en-US" altLang="zh-CN" dirty="0">
                <a:solidFill>
                  <a:schemeClr val="accent2"/>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dirty="0">
              <a:solidFill>
                <a:schemeClr val="accent2"/>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92191" name="Text Box 31"/>
          <p:cNvSpPr txBox="1"/>
          <p:nvPr/>
        </p:nvSpPr>
        <p:spPr>
          <a:xfrm>
            <a:off x="1220788" y="3625850"/>
            <a:ext cx="1141412" cy="1555750"/>
          </a:xfrm>
          <a:prstGeom prst="rect">
            <a:avLst/>
          </a:prstGeom>
          <a:noFill/>
          <a:ln w="9525">
            <a:noFill/>
          </a:ln>
        </p:spPr>
        <p:txBody>
          <a:bodyPr wrap="none">
            <a:spAutoFit/>
          </a:bodyPr>
          <a:lstStyle/>
          <a:p>
            <a:pPr>
              <a:buNone/>
            </a:pPr>
            <a:r>
              <a:rPr lang="en-US" altLang="zh-CN" dirty="0">
                <a:solidFill>
                  <a:srgbClr val="00CC00"/>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dirty="0">
              <a:solidFill>
                <a:srgbClr val="00CC00"/>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92192" name="Text Box 32"/>
          <p:cNvSpPr txBox="1"/>
          <p:nvPr/>
        </p:nvSpPr>
        <p:spPr>
          <a:xfrm>
            <a:off x="1449388" y="1797050"/>
            <a:ext cx="1141412" cy="1555750"/>
          </a:xfrm>
          <a:prstGeom prst="rect">
            <a:avLst/>
          </a:prstGeom>
          <a:noFill/>
          <a:ln w="9525">
            <a:noFill/>
          </a:ln>
        </p:spPr>
        <p:txBody>
          <a:bodyPr wrap="none">
            <a:spAutoFit/>
          </a:bodyPr>
          <a:lstStyle/>
          <a:p>
            <a:pPr>
              <a:buNone/>
            </a:pPr>
            <a:r>
              <a:rPr lang="en-US" altLang="zh-CN" dirty="0">
                <a:solidFill>
                  <a:srgbClr val="00CC00"/>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dirty="0">
              <a:solidFill>
                <a:srgbClr val="00CC00"/>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92193" name="Line 33"/>
          <p:cNvSpPr/>
          <p:nvPr/>
        </p:nvSpPr>
        <p:spPr>
          <a:xfrm flipH="1" flipV="1">
            <a:off x="4876800" y="4038600"/>
            <a:ext cx="152400" cy="990600"/>
          </a:xfrm>
          <a:prstGeom prst="line">
            <a:avLst/>
          </a:prstGeom>
          <a:ln w="88900" cap="flat" cmpd="sng">
            <a:solidFill>
              <a:schemeClr val="tx1"/>
            </a:solidFill>
            <a:prstDash val="solid"/>
            <a:headEnd type="none" w="med" len="med"/>
            <a:tailEnd type="triangle" w="med" len="med"/>
          </a:ln>
        </p:spPr>
      </p:sp>
      <p:sp>
        <p:nvSpPr>
          <p:cNvPr id="92194" name="Text Box 34"/>
          <p:cNvSpPr txBox="1"/>
          <p:nvPr/>
        </p:nvSpPr>
        <p:spPr>
          <a:xfrm>
            <a:off x="609600" y="2711450"/>
            <a:ext cx="958850" cy="1555750"/>
          </a:xfrm>
          <a:prstGeom prst="rect">
            <a:avLst/>
          </a:prstGeom>
          <a:noFill/>
          <a:ln w="9525">
            <a:noFill/>
          </a:ln>
        </p:spPr>
        <p:txBody>
          <a:bodyPr>
            <a:spAutoFit/>
          </a:bodyPr>
          <a:lstStyle/>
          <a:p>
            <a:pPr>
              <a:buNone/>
            </a:pPr>
            <a:r>
              <a:rPr lang="en-US" altLang="zh-CN" dirty="0">
                <a:solidFill>
                  <a:schemeClr val="accent2"/>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dirty="0">
              <a:solidFill>
                <a:schemeClr val="accent2"/>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92195" name="Text Box 35"/>
          <p:cNvSpPr txBox="1"/>
          <p:nvPr/>
        </p:nvSpPr>
        <p:spPr>
          <a:xfrm>
            <a:off x="1403350" y="1905000"/>
            <a:ext cx="958850" cy="1555750"/>
          </a:xfrm>
          <a:prstGeom prst="rect">
            <a:avLst/>
          </a:prstGeom>
          <a:noFill/>
          <a:ln w="9525">
            <a:noFill/>
          </a:ln>
        </p:spPr>
        <p:txBody>
          <a:bodyPr>
            <a:spAutoFit/>
          </a:bodyPr>
          <a:lstStyle/>
          <a:p>
            <a:pPr>
              <a:buNone/>
            </a:pPr>
            <a:r>
              <a:rPr lang="en-US" altLang="zh-CN" dirty="0">
                <a:solidFill>
                  <a:schemeClr val="accent2"/>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dirty="0">
              <a:solidFill>
                <a:schemeClr val="accent2"/>
              </a:solidFill>
              <a:latin typeface="Times New Roman" panose="02020603050405020304" pitchFamily="18" charset="0"/>
              <a:ea typeface="宋体" panose="02010600030101010101" pitchFamily="2"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5" presetClass="path" presetSubtype="0" accel="50000" decel="50000" fill="hold" grpId="1" nodeType="clickEffect">
                                  <p:stCondLst>
                                    <p:cond delay="0"/>
                                  </p:stCondLst>
                                  <p:childTnLst>
                                    <p:animMotion origin="layout" path="M -3.05556E-6 -1.61812E-7 L -0.22691 -0.08206 " pathEditMode="relative" rAng="0" ptsTypes="AA">
                                      <p:cBhvr>
                                        <p:cTn id="12" dur="500" fill="hold"/>
                                        <p:tgtEl>
                                          <p:spTgt spid="92166"/>
                                        </p:tgtEl>
                                        <p:attrNameLst>
                                          <p:attrName>ppt_x</p:attrName>
                                          <p:attrName>ppt_y</p:attrName>
                                        </p:attrNameLst>
                                      </p:cBhvr>
                                      <p:rCtr x="-11400" y="-4100"/>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2170"/>
                                        </p:tgtEl>
                                        <p:attrNameLst>
                                          <p:attrName>style.visibility</p:attrName>
                                        </p:attrNameLst>
                                      </p:cBhvr>
                                      <p:to>
                                        <p:strVal val="visible"/>
                                      </p:to>
                                    </p:set>
                                  </p:childTnLst>
                                </p:cTn>
                              </p:par>
                              <p:par>
                                <p:cTn id="17" presetID="10" presetClass="entr" presetSubtype="0" fill="hold" grpId="0" nodeType="withEffect">
                                  <p:stCondLst>
                                    <p:cond delay="0"/>
                                  </p:stCondLst>
                                  <p:childTnLst>
                                    <p:set>
                                      <p:cBhvr>
                                        <p:cTn id="18" dur="1" fill="hold">
                                          <p:stCondLst>
                                            <p:cond delay="0"/>
                                          </p:stCondLst>
                                        </p:cTn>
                                        <p:tgtEl>
                                          <p:spTgt spid="92168"/>
                                        </p:tgtEl>
                                        <p:attrNameLst>
                                          <p:attrName>style.visibility</p:attrName>
                                        </p:attrNameLst>
                                      </p:cBhvr>
                                      <p:to>
                                        <p:strVal val="visible"/>
                                      </p:to>
                                    </p:set>
                                    <p:animEffect transition="in" filter="fade">
                                      <p:cBhvr>
                                        <p:cTn id="19" dur="1000"/>
                                        <p:tgtEl>
                                          <p:spTgt spid="92168"/>
                                        </p:tgtEl>
                                      </p:cBhvr>
                                    </p:animEffect>
                                  </p:childTnLst>
                                </p:cTn>
                              </p:par>
                            </p:childTnLst>
                          </p:cTn>
                        </p:par>
                        <p:par>
                          <p:cTn id="20" fill="hold">
                            <p:stCondLst>
                              <p:cond delay="0"/>
                            </p:stCondLst>
                            <p:childTnLst>
                              <p:par>
                                <p:cTn id="21" presetID="1" presetClass="exit" presetSubtype="0" fill="hold" nodeType="afterEffect">
                                  <p:stCondLst>
                                    <p:cond delay="0"/>
                                  </p:stCondLst>
                                  <p:childTnLst>
                                    <p:set>
                                      <p:cBhvr>
                                        <p:cTn id="22" dur="1" fill="hold">
                                          <p:stCondLst>
                                            <p:cond delay="0"/>
                                          </p:stCondLst>
                                        </p:cTn>
                                        <p:tgtEl>
                                          <p:spTgt spid="9217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171"/>
                                        </p:tgtEl>
                                        <p:attrNameLst>
                                          <p:attrName>style.visibility</p:attrName>
                                        </p:attrNameLst>
                                      </p:cBhvr>
                                      <p:to>
                                        <p:strVal val="visible"/>
                                      </p:to>
                                    </p:set>
                                  </p:childTnLst>
                                </p:cTn>
                              </p:par>
                              <p:par>
                                <p:cTn id="27" presetID="10" presetClass="entr" presetSubtype="0" fill="hold" grpId="0" nodeType="withEffect">
                                  <p:stCondLst>
                                    <p:cond delay="0"/>
                                  </p:stCondLst>
                                  <p:childTnLst>
                                    <p:set>
                                      <p:cBhvr>
                                        <p:cTn id="28" dur="1" fill="hold">
                                          <p:stCondLst>
                                            <p:cond delay="0"/>
                                          </p:stCondLst>
                                        </p:cTn>
                                        <p:tgtEl>
                                          <p:spTgt spid="92169"/>
                                        </p:tgtEl>
                                        <p:attrNameLst>
                                          <p:attrName>style.visibility</p:attrName>
                                        </p:attrNameLst>
                                      </p:cBhvr>
                                      <p:to>
                                        <p:strVal val="visible"/>
                                      </p:to>
                                    </p:set>
                                    <p:animEffect transition="in" filter="fade">
                                      <p:cBhvr>
                                        <p:cTn id="29" dur="500"/>
                                        <p:tgtEl>
                                          <p:spTgt spid="92169"/>
                                        </p:tgtEl>
                                      </p:cBhvr>
                                    </p:animEffect>
                                  </p:childTnLst>
                                </p:cTn>
                              </p:par>
                            </p:childTnLst>
                          </p:cTn>
                        </p:par>
                        <p:par>
                          <p:cTn id="30" fill="hold">
                            <p:stCondLst>
                              <p:cond delay="0"/>
                            </p:stCondLst>
                            <p:childTnLst>
                              <p:par>
                                <p:cTn id="31" presetID="1" presetClass="exit" presetSubtype="0" fill="hold" nodeType="afterEffect">
                                  <p:stCondLst>
                                    <p:cond delay="0"/>
                                  </p:stCondLst>
                                  <p:childTnLst>
                                    <p:set>
                                      <p:cBhvr>
                                        <p:cTn id="32" dur="1" fill="hold">
                                          <p:stCondLst>
                                            <p:cond delay="0"/>
                                          </p:stCondLst>
                                        </p:cTn>
                                        <p:tgtEl>
                                          <p:spTgt spid="9217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2" fill="hold" nodeType="clickEffect">
                                  <p:stCondLst>
                                    <p:cond delay="0"/>
                                  </p:stCondLst>
                                  <p:childTnLst>
                                    <p:anim calcmode="lin" valueType="num">
                                      <p:cBhvr additive="base">
                                        <p:cTn id="36" dur="500"/>
                                        <p:tgtEl>
                                          <p:spTgt spid="92163"/>
                                        </p:tgtEl>
                                        <p:attrNameLst>
                                          <p:attrName>ppt_x</p:attrName>
                                        </p:attrNameLst>
                                      </p:cBhvr>
                                      <p:tavLst>
                                        <p:tav tm="0">
                                          <p:val>
                                            <p:strVal val="ppt_x"/>
                                          </p:val>
                                        </p:tav>
                                        <p:tav tm="100000">
                                          <p:val>
                                            <p:strVal val="1+ppt_w/2"/>
                                          </p:val>
                                        </p:tav>
                                      </p:tavLst>
                                    </p:anim>
                                    <p:anim calcmode="lin" valueType="num">
                                      <p:cBhvr additive="base">
                                        <p:cTn id="37" dur="500"/>
                                        <p:tgtEl>
                                          <p:spTgt spid="92163"/>
                                        </p:tgtEl>
                                        <p:attrNameLst>
                                          <p:attrName>ppt_y</p:attrName>
                                        </p:attrNameLst>
                                      </p:cBhvr>
                                      <p:tavLst>
                                        <p:tav tm="0">
                                          <p:val>
                                            <p:strVal val="ppt_y"/>
                                          </p:val>
                                        </p:tav>
                                        <p:tav tm="100000">
                                          <p:val>
                                            <p:strVal val="ppt_y"/>
                                          </p:val>
                                        </p:tav>
                                      </p:tavLst>
                                    </p:anim>
                                    <p:set>
                                      <p:cBhvr>
                                        <p:cTn id="38" dur="1" fill="hold">
                                          <p:stCondLst>
                                            <p:cond delay="499"/>
                                          </p:stCondLst>
                                        </p:cTn>
                                        <p:tgtEl>
                                          <p:spTgt spid="92163"/>
                                        </p:tgtEl>
                                        <p:attrNameLst>
                                          <p:attrName>style.visibility</p:attrName>
                                        </p:attrNameLst>
                                      </p:cBhvr>
                                      <p:to>
                                        <p:strVal val="hidden"/>
                                      </p:to>
                                    </p:set>
                                  </p:childTnLst>
                                </p:cTn>
                              </p:par>
                              <p:par>
                                <p:cTn id="39" presetID="2" presetClass="exit" presetSubtype="2" fill="hold" grpId="1" nodeType="withEffect">
                                  <p:stCondLst>
                                    <p:cond delay="0"/>
                                  </p:stCondLst>
                                  <p:childTnLst>
                                    <p:anim calcmode="lin" valueType="num">
                                      <p:cBhvr additive="base">
                                        <p:cTn id="40" dur="500"/>
                                        <p:tgtEl>
                                          <p:spTgt spid="92167"/>
                                        </p:tgtEl>
                                        <p:attrNameLst>
                                          <p:attrName>ppt_x</p:attrName>
                                        </p:attrNameLst>
                                      </p:cBhvr>
                                      <p:tavLst>
                                        <p:tav tm="0">
                                          <p:val>
                                            <p:strVal val="ppt_x"/>
                                          </p:val>
                                        </p:tav>
                                        <p:tav tm="100000">
                                          <p:val>
                                            <p:strVal val="1+ppt_w/2"/>
                                          </p:val>
                                        </p:tav>
                                      </p:tavLst>
                                    </p:anim>
                                    <p:anim calcmode="lin" valueType="num">
                                      <p:cBhvr additive="base">
                                        <p:cTn id="41" dur="500"/>
                                        <p:tgtEl>
                                          <p:spTgt spid="92167"/>
                                        </p:tgtEl>
                                        <p:attrNameLst>
                                          <p:attrName>ppt_y</p:attrName>
                                        </p:attrNameLst>
                                      </p:cBhvr>
                                      <p:tavLst>
                                        <p:tav tm="0">
                                          <p:val>
                                            <p:strVal val="ppt_y"/>
                                          </p:val>
                                        </p:tav>
                                        <p:tav tm="100000">
                                          <p:val>
                                            <p:strVal val="ppt_y"/>
                                          </p:val>
                                        </p:tav>
                                      </p:tavLst>
                                    </p:anim>
                                    <p:set>
                                      <p:cBhvr>
                                        <p:cTn id="42" dur="1" fill="hold">
                                          <p:stCondLst>
                                            <p:cond delay="499"/>
                                          </p:stCondLst>
                                        </p:cTn>
                                        <p:tgtEl>
                                          <p:spTgt spid="9216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7" presetClass="entr" presetSubtype="2" fill="hold" nodeType="clickEffect">
                                  <p:stCondLst>
                                    <p:cond delay="0"/>
                                  </p:stCondLst>
                                  <p:childTnLst>
                                    <p:set>
                                      <p:cBhvr>
                                        <p:cTn id="46" dur="1" fill="hold">
                                          <p:stCondLst>
                                            <p:cond delay="0"/>
                                          </p:stCondLst>
                                        </p:cTn>
                                        <p:tgtEl>
                                          <p:spTgt spid="92172"/>
                                        </p:tgtEl>
                                        <p:attrNameLst>
                                          <p:attrName>style.visibility</p:attrName>
                                        </p:attrNameLst>
                                      </p:cBhvr>
                                      <p:to>
                                        <p:strVal val="visible"/>
                                      </p:to>
                                    </p:set>
                                    <p:anim calcmode="lin" valueType="num">
                                      <p:cBhvr additive="base">
                                        <p:cTn id="47" dur="500" fill="hold"/>
                                        <p:tgtEl>
                                          <p:spTgt spid="92172"/>
                                        </p:tgtEl>
                                        <p:attrNameLst>
                                          <p:attrName>ppt_x</p:attrName>
                                        </p:attrNameLst>
                                      </p:cBhvr>
                                      <p:tavLst>
                                        <p:tav tm="0">
                                          <p:val>
                                            <p:strVal val="1+#ppt_w/2"/>
                                          </p:val>
                                        </p:tav>
                                        <p:tav tm="100000">
                                          <p:val>
                                            <p:strVal val="#ppt_x"/>
                                          </p:val>
                                        </p:tav>
                                      </p:tavLst>
                                    </p:anim>
                                    <p:anim calcmode="lin" valueType="num">
                                      <p:cBhvr additive="base">
                                        <p:cTn id="48" dur="500" fill="hold"/>
                                        <p:tgtEl>
                                          <p:spTgt spid="92172"/>
                                        </p:tgtEl>
                                        <p:attrNameLst>
                                          <p:attrName>ppt_y</p:attrName>
                                        </p:attrNameLst>
                                      </p:cBhvr>
                                      <p:tavLst>
                                        <p:tav tm="0">
                                          <p:val>
                                            <p:strVal val="#ppt_y"/>
                                          </p:val>
                                        </p:tav>
                                        <p:tav tm="100000">
                                          <p:val>
                                            <p:strVal val="#ppt_y"/>
                                          </p:val>
                                        </p:tav>
                                      </p:tavLst>
                                    </p:anim>
                                  </p:childTnLst>
                                </p:cTn>
                              </p:par>
                              <p:par>
                                <p:cTn id="49" presetID="7" presetClass="entr" presetSubtype="2" fill="hold" nodeType="withEffect">
                                  <p:stCondLst>
                                    <p:cond delay="0"/>
                                  </p:stCondLst>
                                  <p:childTnLst>
                                    <p:set>
                                      <p:cBhvr>
                                        <p:cTn id="50" dur="1" fill="hold">
                                          <p:stCondLst>
                                            <p:cond delay="0"/>
                                          </p:stCondLst>
                                        </p:cTn>
                                        <p:tgtEl>
                                          <p:spTgt spid="92183"/>
                                        </p:tgtEl>
                                        <p:attrNameLst>
                                          <p:attrName>style.visibility</p:attrName>
                                        </p:attrNameLst>
                                      </p:cBhvr>
                                      <p:to>
                                        <p:strVal val="visible"/>
                                      </p:to>
                                    </p:set>
                                    <p:anim calcmode="lin" valueType="num">
                                      <p:cBhvr additive="base">
                                        <p:cTn id="51" dur="500" fill="hold"/>
                                        <p:tgtEl>
                                          <p:spTgt spid="92183"/>
                                        </p:tgtEl>
                                        <p:attrNameLst>
                                          <p:attrName>ppt_x</p:attrName>
                                        </p:attrNameLst>
                                      </p:cBhvr>
                                      <p:tavLst>
                                        <p:tav tm="0">
                                          <p:val>
                                            <p:strVal val="1+#ppt_w/2"/>
                                          </p:val>
                                        </p:tav>
                                        <p:tav tm="100000">
                                          <p:val>
                                            <p:strVal val="#ppt_x"/>
                                          </p:val>
                                        </p:tav>
                                      </p:tavLst>
                                    </p:anim>
                                    <p:anim calcmode="lin" valueType="num">
                                      <p:cBhvr additive="base">
                                        <p:cTn id="52" dur="500" fill="hold"/>
                                        <p:tgtEl>
                                          <p:spTgt spid="92183"/>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217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218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2186"/>
                                        </p:tgtEl>
                                        <p:attrNameLst>
                                          <p:attrName>style.visibility</p:attrName>
                                        </p:attrNameLst>
                                      </p:cBhvr>
                                      <p:to>
                                        <p:strVal val="visible"/>
                                      </p:to>
                                    </p:set>
                                  </p:childTnLst>
                                </p:cTn>
                              </p:par>
                              <p:par>
                                <p:cTn id="63" presetID="10" presetClass="entr" presetSubtype="0" fill="hold" nodeType="withEffect">
                                  <p:stCondLst>
                                    <p:cond delay="0"/>
                                  </p:stCondLst>
                                  <p:childTnLst>
                                    <p:set>
                                      <p:cBhvr>
                                        <p:cTn id="64" dur="1" fill="hold">
                                          <p:stCondLst>
                                            <p:cond delay="0"/>
                                          </p:stCondLst>
                                        </p:cTn>
                                        <p:tgtEl>
                                          <p:spTgt spid="92184"/>
                                        </p:tgtEl>
                                        <p:attrNameLst>
                                          <p:attrName>style.visibility</p:attrName>
                                        </p:attrNameLst>
                                      </p:cBhvr>
                                      <p:to>
                                        <p:strVal val="visible"/>
                                      </p:to>
                                    </p:set>
                                    <p:animEffect transition="in" filter="fade">
                                      <p:cBhvr>
                                        <p:cTn id="65" dur="1000"/>
                                        <p:tgtEl>
                                          <p:spTgt spid="92184"/>
                                        </p:tgtEl>
                                      </p:cBhvr>
                                    </p:animEffect>
                                  </p:childTnLst>
                                </p:cTn>
                              </p:par>
                            </p:childTnLst>
                          </p:cTn>
                        </p:par>
                        <p:par>
                          <p:cTn id="66" fill="hold">
                            <p:stCondLst>
                              <p:cond delay="0"/>
                            </p:stCondLst>
                            <p:childTnLst>
                              <p:par>
                                <p:cTn id="67" presetID="1" presetClass="exit" presetSubtype="0" fill="hold" nodeType="afterEffect">
                                  <p:stCondLst>
                                    <p:cond delay="0"/>
                                  </p:stCondLst>
                                  <p:childTnLst>
                                    <p:set>
                                      <p:cBhvr>
                                        <p:cTn id="68" dur="1" fill="hold">
                                          <p:stCondLst>
                                            <p:cond delay="0"/>
                                          </p:stCondLst>
                                        </p:cTn>
                                        <p:tgtEl>
                                          <p:spTgt spid="92186"/>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92185"/>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35" presetClass="path" presetSubtype="0" accel="50000" decel="50000" fill="hold" nodeType="clickEffect">
                                  <p:stCondLst>
                                    <p:cond delay="0"/>
                                  </p:stCondLst>
                                  <p:childTnLst>
                                    <p:animMotion origin="layout" path="M 0 0  L -0.25 0  E" pathEditMode="relative" ptsTypes="">
                                      <p:cBhvr>
                                        <p:cTn id="74" dur="1000" fill="hold"/>
                                        <p:tgtEl>
                                          <p:spTgt spid="92183"/>
                                        </p:tgtEl>
                                        <p:attrNameLst>
                                          <p:attrName>ppt_x</p:attrName>
                                          <p:attrName>ppt_y</p:attrName>
                                        </p:attrNameLst>
                                      </p:cBhvr>
                                    </p:animMotion>
                                  </p:childTnLst>
                                </p:cTn>
                              </p:par>
                              <p:par>
                                <p:cTn id="75" presetID="35" presetClass="path" presetSubtype="0" accel="50000" decel="50000" fill="hold" nodeType="withEffect">
                                  <p:stCondLst>
                                    <p:cond delay="0"/>
                                  </p:stCondLst>
                                  <p:childTnLst>
                                    <p:animMotion origin="layout" path="M 0 0  L -0.25 0  E" pathEditMode="relative" ptsTypes="">
                                      <p:cBhvr>
                                        <p:cTn id="76" dur="1000" fill="hold"/>
                                        <p:tgtEl>
                                          <p:spTgt spid="92184"/>
                                        </p:tgtEl>
                                        <p:attrNameLst>
                                          <p:attrName>ppt_x</p:attrName>
                                          <p:attrName>ppt_y</p:attrName>
                                        </p:attrNameLst>
                                      </p:cBhvr>
                                    </p:animMotion>
                                  </p:childTnLst>
                                </p:cTn>
                              </p:par>
                              <p:par>
                                <p:cTn id="77" presetID="2" presetClass="exit" presetSubtype="2" fill="hold" nodeType="withEffect">
                                  <p:stCondLst>
                                    <p:cond delay="0"/>
                                  </p:stCondLst>
                                  <p:childTnLst>
                                    <p:anim calcmode="lin" valueType="num">
                                      <p:cBhvr additive="base">
                                        <p:cTn id="78" dur="500"/>
                                        <p:tgtEl>
                                          <p:spTgt spid="92172"/>
                                        </p:tgtEl>
                                        <p:attrNameLst>
                                          <p:attrName>ppt_x</p:attrName>
                                        </p:attrNameLst>
                                      </p:cBhvr>
                                      <p:tavLst>
                                        <p:tav tm="0">
                                          <p:val>
                                            <p:strVal val="ppt_x"/>
                                          </p:val>
                                        </p:tav>
                                        <p:tav tm="100000">
                                          <p:val>
                                            <p:strVal val="1+ppt_w/2"/>
                                          </p:val>
                                        </p:tav>
                                      </p:tavLst>
                                    </p:anim>
                                    <p:anim calcmode="lin" valueType="num">
                                      <p:cBhvr additive="base">
                                        <p:cTn id="79" dur="500"/>
                                        <p:tgtEl>
                                          <p:spTgt spid="92172"/>
                                        </p:tgtEl>
                                        <p:attrNameLst>
                                          <p:attrName>ppt_y</p:attrName>
                                        </p:attrNameLst>
                                      </p:cBhvr>
                                      <p:tavLst>
                                        <p:tav tm="0">
                                          <p:val>
                                            <p:strVal val="ppt_y"/>
                                          </p:val>
                                        </p:tav>
                                        <p:tav tm="100000">
                                          <p:val>
                                            <p:strVal val="ppt_y"/>
                                          </p:val>
                                        </p:tav>
                                      </p:tavLst>
                                    </p:anim>
                                    <p:set>
                                      <p:cBhvr>
                                        <p:cTn id="80" dur="1" fill="hold">
                                          <p:stCondLst>
                                            <p:cond delay="499"/>
                                          </p:stCondLst>
                                        </p:cTn>
                                        <p:tgtEl>
                                          <p:spTgt spid="92172"/>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9218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9218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219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219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218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2191"/>
                                        </p:tgtEl>
                                        <p:attrNameLst>
                                          <p:attrName>style.visibility</p:attrName>
                                        </p:attrNameLst>
                                      </p:cBhvr>
                                      <p:to>
                                        <p:strVal val="visible"/>
                                      </p:to>
                                    </p:set>
                                  </p:childTnLst>
                                </p:cTn>
                              </p:par>
                              <p:par>
                                <p:cTn id="97" presetID="1" presetClass="exit" presetSubtype="0" fill="hold" nodeType="withEffect">
                                  <p:stCondLst>
                                    <p:cond delay="0"/>
                                  </p:stCondLst>
                                  <p:childTnLst>
                                    <p:set>
                                      <p:cBhvr>
                                        <p:cTn id="98" dur="1" fill="hold">
                                          <p:stCondLst>
                                            <p:cond delay="0"/>
                                          </p:stCondLst>
                                        </p:cTn>
                                        <p:tgtEl>
                                          <p:spTgt spid="9218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nodeType="clickEffect">
                                  <p:stCondLst>
                                    <p:cond delay="0"/>
                                  </p:stCondLst>
                                  <p:childTnLst>
                                    <p:animEffect transition="out" filter="fade">
                                      <p:cBhvr>
                                        <p:cTn id="102" dur="500"/>
                                        <p:tgtEl>
                                          <p:spTgt spid="92184"/>
                                        </p:tgtEl>
                                      </p:cBhvr>
                                    </p:animEffect>
                                    <p:set>
                                      <p:cBhvr>
                                        <p:cTn id="103" dur="1" fill="hold">
                                          <p:stCondLst>
                                            <p:cond delay="499"/>
                                          </p:stCondLst>
                                        </p:cTn>
                                        <p:tgtEl>
                                          <p:spTgt spid="92184"/>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92184"/>
                                        </p:tgtEl>
                                        <p:attrNameLst>
                                          <p:attrName>style.visibility</p:attrName>
                                        </p:attrNameLst>
                                      </p:cBhvr>
                                      <p:to>
                                        <p:strVal val="visible"/>
                                      </p:to>
                                    </p:set>
                                  </p:childTnLst>
                                </p:cTn>
                              </p:par>
                              <p:par>
                                <p:cTn id="108" presetID="1" presetClass="exit" presetSubtype="0" fill="hold" grpId="1" nodeType="withEffect">
                                  <p:stCondLst>
                                    <p:cond delay="0"/>
                                  </p:stCondLst>
                                  <p:childTnLst>
                                    <p:set>
                                      <p:cBhvr>
                                        <p:cTn id="109" dur="1" fill="hold">
                                          <p:stCondLst>
                                            <p:cond delay="0"/>
                                          </p:stCondLst>
                                        </p:cTn>
                                        <p:tgtEl>
                                          <p:spTgt spid="92189"/>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92191"/>
                                        </p:tgtEl>
                                        <p:attrNameLst>
                                          <p:attrName>style.visibility</p:attrName>
                                        </p:attrNameLst>
                                      </p:cBhvr>
                                      <p:to>
                                        <p:strVal val="hidden"/>
                                      </p:to>
                                    </p:set>
                                  </p:childTnLst>
                                </p:cTn>
                              </p:par>
                              <p:par>
                                <p:cTn id="112" presetID="1" presetClass="exit" presetSubtype="0" fill="hold" grpId="1" nodeType="withEffect">
                                  <p:stCondLst>
                                    <p:cond delay="0"/>
                                  </p:stCondLst>
                                  <p:childTnLst>
                                    <p:set>
                                      <p:cBhvr>
                                        <p:cTn id="113" dur="1" fill="hold">
                                          <p:stCondLst>
                                            <p:cond delay="0"/>
                                          </p:stCondLst>
                                        </p:cTn>
                                        <p:tgtEl>
                                          <p:spTgt spid="92192"/>
                                        </p:tgtEl>
                                        <p:attrNameLst>
                                          <p:attrName>style.visibility</p:attrName>
                                        </p:attrNameLst>
                                      </p:cBhvr>
                                      <p:to>
                                        <p:strVal val="hidden"/>
                                      </p:to>
                                    </p:set>
                                  </p:childTnLst>
                                </p:cTn>
                              </p:par>
                              <p:par>
                                <p:cTn id="114" presetID="1" presetClass="exit" presetSubtype="0" fill="hold" grpId="1" nodeType="withEffect">
                                  <p:stCondLst>
                                    <p:cond delay="0"/>
                                  </p:stCondLst>
                                  <p:childTnLst>
                                    <p:set>
                                      <p:cBhvr>
                                        <p:cTn id="115" dur="1" fill="hold">
                                          <p:stCondLst>
                                            <p:cond delay="0"/>
                                          </p:stCondLst>
                                        </p:cTn>
                                        <p:tgtEl>
                                          <p:spTgt spid="92190"/>
                                        </p:tgtEl>
                                        <p:attrNameLst>
                                          <p:attrName>style.visibility</p:attrName>
                                        </p:attrNameLst>
                                      </p:cBhvr>
                                      <p:to>
                                        <p:strVal val="hidden"/>
                                      </p:to>
                                    </p:set>
                                  </p:childTnLst>
                                </p:cTn>
                              </p:par>
                              <p:par>
                                <p:cTn id="116" presetID="1" presetClass="exit" presetSubtype="0" fill="hold" grpId="1" nodeType="withEffect">
                                  <p:stCondLst>
                                    <p:cond delay="0"/>
                                  </p:stCondLst>
                                  <p:childTnLst>
                                    <p:set>
                                      <p:cBhvr>
                                        <p:cTn id="117" dur="1" fill="hold">
                                          <p:stCondLst>
                                            <p:cond delay="0"/>
                                          </p:stCondLst>
                                        </p:cTn>
                                        <p:tgtEl>
                                          <p:spTgt spid="92187"/>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92193"/>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2" nodeType="clickEffect">
                                  <p:stCondLst>
                                    <p:cond delay="0"/>
                                  </p:stCondLst>
                                  <p:childTnLst>
                                    <p:set>
                                      <p:cBhvr>
                                        <p:cTn id="125" dur="1" fill="hold">
                                          <p:stCondLst>
                                            <p:cond delay="0"/>
                                          </p:stCondLst>
                                        </p:cTn>
                                        <p:tgtEl>
                                          <p:spTgt spid="92190"/>
                                        </p:tgtEl>
                                        <p:attrNameLst>
                                          <p:attrName>style.visibility</p:attrName>
                                        </p:attrNameLst>
                                      </p:cBhvr>
                                      <p:to>
                                        <p:strVal val="visible"/>
                                      </p:to>
                                    </p:set>
                                  </p:childTnLst>
                                </p:cTn>
                              </p:par>
                              <p:par>
                                <p:cTn id="126" presetID="1" presetClass="entr" presetSubtype="0" fill="hold" grpId="2" nodeType="withEffect">
                                  <p:stCondLst>
                                    <p:cond delay="0"/>
                                  </p:stCondLst>
                                  <p:childTnLst>
                                    <p:set>
                                      <p:cBhvr>
                                        <p:cTn id="127" dur="1" fill="hold">
                                          <p:stCondLst>
                                            <p:cond delay="0"/>
                                          </p:stCondLst>
                                        </p:cTn>
                                        <p:tgtEl>
                                          <p:spTgt spid="92189"/>
                                        </p:tgtEl>
                                        <p:attrNameLst>
                                          <p:attrName>style.visibility</p:attrName>
                                        </p:attrNameLst>
                                      </p:cBhvr>
                                      <p:to>
                                        <p:strVal val="visible"/>
                                      </p:to>
                                    </p:set>
                                  </p:childTnLst>
                                </p:cTn>
                              </p:par>
                              <p:par>
                                <p:cTn id="128" presetID="1" presetClass="entr" presetSubtype="0" fill="hold" grpId="2" nodeType="withEffect">
                                  <p:stCondLst>
                                    <p:cond delay="0"/>
                                  </p:stCondLst>
                                  <p:childTnLst>
                                    <p:set>
                                      <p:cBhvr>
                                        <p:cTn id="129" dur="1" fill="hold">
                                          <p:stCondLst>
                                            <p:cond delay="0"/>
                                          </p:stCondLst>
                                        </p:cTn>
                                        <p:tgtEl>
                                          <p:spTgt spid="92191"/>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92194"/>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92195"/>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xit" presetSubtype="0" fill="hold" nodeType="clickEffect">
                                  <p:stCondLst>
                                    <p:cond delay="0"/>
                                  </p:stCondLst>
                                  <p:childTnLst>
                                    <p:set>
                                      <p:cBhvr>
                                        <p:cTn id="137" dur="1" fill="hold">
                                          <p:stCondLst>
                                            <p:cond delay="0"/>
                                          </p:stCondLst>
                                        </p:cTn>
                                        <p:tgtEl>
                                          <p:spTgt spid="921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6" grpId="0"/>
      <p:bldP spid="92166" grpId="1"/>
      <p:bldP spid="92167" grpId="0"/>
      <p:bldP spid="92167" grpId="1"/>
      <p:bldP spid="92168" grpId="0"/>
      <p:bldP spid="92169" grpId="0"/>
      <p:bldP spid="92187" grpId="0"/>
      <p:bldP spid="92187" grpId="1"/>
      <p:bldP spid="92189" grpId="0"/>
      <p:bldP spid="92189" grpId="1"/>
      <p:bldP spid="92189" grpId="2"/>
      <p:bldP spid="92190" grpId="0"/>
      <p:bldP spid="92190" grpId="1"/>
      <p:bldP spid="92190" grpId="2"/>
      <p:bldP spid="92191" grpId="0"/>
      <p:bldP spid="92191" grpId="1"/>
      <p:bldP spid="92191" grpId="2"/>
      <p:bldP spid="92192" grpId="0"/>
      <p:bldP spid="92192" grpId="1"/>
      <p:bldP spid="92194" grpId="0"/>
      <p:bldP spid="9219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61795"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Firewalls</a:t>
            </a:r>
            <a:endParaRPr lang="en-US" altLang="zh-CN" dirty="0">
              <a:ea typeface="宋体" panose="02010600030101010101" pitchFamily="2" charset="-122"/>
            </a:endParaRPr>
          </a:p>
        </p:txBody>
      </p:sp>
      <p:sp>
        <p:nvSpPr>
          <p:cNvPr id="161796" name="Rectangle 3"/>
          <p:cNvSpPr>
            <a:spLocks noGrp="1"/>
          </p:cNvSpPr>
          <p:nvPr>
            <p:ph idx="1"/>
          </p:nvPr>
        </p:nvSpPr>
        <p:spPr>
          <a:xfrm>
            <a:off x="1231900" y="5626100"/>
            <a:ext cx="6845300" cy="495300"/>
          </a:xfrm>
        </p:spPr>
        <p:txBody>
          <a:bodyPr vert="horz" wrap="square" lIns="91440" tIns="45720" rIns="91440" bIns="45720" anchor="t" anchorCtr="0"/>
          <a:lstStyle/>
          <a:p>
            <a:pPr eaLnBrk="1" hangingPunct="1">
              <a:buNone/>
            </a:pPr>
            <a:r>
              <a:rPr lang="en-US" altLang="zh-CN" dirty="0">
                <a:ea typeface="宋体" panose="02010600030101010101" pitchFamily="2" charset="-122"/>
              </a:rPr>
              <a:t>Figure. A common implementation of a firewall.</a:t>
            </a:r>
            <a:endParaRPr lang="en-US" altLang="zh-CN" dirty="0">
              <a:ea typeface="宋体" panose="02010600030101010101" pitchFamily="2" charset="-122"/>
            </a:endParaRPr>
          </a:p>
        </p:txBody>
      </p:sp>
      <p:pic>
        <p:nvPicPr>
          <p:cNvPr id="161797" name="Picture 4" descr="09-28"/>
          <p:cNvPicPr>
            <a:picLocks noChangeAspect="1"/>
          </p:cNvPicPr>
          <p:nvPr/>
        </p:nvPicPr>
        <p:blipFill>
          <a:blip r:embed="rId1"/>
          <a:stretch>
            <a:fillRect/>
          </a:stretch>
        </p:blipFill>
        <p:spPr>
          <a:xfrm>
            <a:off x="434975" y="1574800"/>
            <a:ext cx="8345488" cy="3484563"/>
          </a:xfrm>
          <a:prstGeom prst="rect">
            <a:avLst/>
          </a:prstGeom>
          <a:noFill/>
          <a:ln w="9525">
            <a:noFill/>
          </a:ln>
        </p:spPr>
      </p:pic>
      <p:sp>
        <p:nvSpPr>
          <p:cNvPr id="161798" name="Rectangle 5"/>
          <p:cNvSpPr/>
          <p:nvPr/>
        </p:nvSpPr>
        <p:spPr>
          <a:xfrm>
            <a:off x="1287463" y="1704975"/>
            <a:ext cx="1298575" cy="369888"/>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800" dirty="0">
                <a:solidFill>
                  <a:srgbClr val="FF3300"/>
                </a:solidFill>
                <a:ea typeface="宋体" panose="02010600030101010101" pitchFamily="2" charset="-122"/>
              </a:rPr>
              <a:t>过滤出站</a:t>
            </a:r>
            <a:endParaRPr lang="zh-CN" altLang="en-US" sz="1800" dirty="0">
              <a:solidFill>
                <a:srgbClr val="FF3300"/>
              </a:solidFill>
              <a:ea typeface="宋体" panose="02010600030101010101" pitchFamily="2" charset="-122"/>
            </a:endParaRPr>
          </a:p>
        </p:txBody>
      </p:sp>
      <p:sp>
        <p:nvSpPr>
          <p:cNvPr id="161799" name="Rectangle 6"/>
          <p:cNvSpPr/>
          <p:nvPr/>
        </p:nvSpPr>
        <p:spPr>
          <a:xfrm>
            <a:off x="6505575" y="1733550"/>
            <a:ext cx="1211263" cy="320675"/>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800" dirty="0">
                <a:solidFill>
                  <a:srgbClr val="FF3300"/>
                </a:solidFill>
                <a:ea typeface="宋体" panose="02010600030101010101" pitchFamily="2" charset="-122"/>
              </a:rPr>
              <a:t>过滤入站</a:t>
            </a:r>
            <a:endParaRPr lang="zh-CN" altLang="en-US" sz="1800" dirty="0">
              <a:solidFill>
                <a:srgbClr val="FF3300"/>
              </a:solidFill>
              <a:ea typeface="宋体" panose="02010600030101010101" pitchFamily="2" charset="-122"/>
            </a:endParaRPr>
          </a:p>
        </p:txBody>
      </p:sp>
      <p:sp>
        <p:nvSpPr>
          <p:cNvPr id="161800" name="Rectangle 7"/>
          <p:cNvSpPr/>
          <p:nvPr/>
        </p:nvSpPr>
        <p:spPr>
          <a:xfrm>
            <a:off x="3551238" y="1190625"/>
            <a:ext cx="1990725" cy="369888"/>
          </a:xfrm>
          <a:prstGeom prst="rect">
            <a:avLst/>
          </a:prstGeom>
          <a:noFill/>
          <a:ln w="9525">
            <a:noFill/>
          </a:ln>
        </p:spPr>
        <p:txBody>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609600" lvl="0" indent="-609600" eaLnBrk="1" hangingPunct="1">
              <a:buNone/>
            </a:pPr>
            <a:r>
              <a:rPr lang="zh-CN" altLang="en-US" sz="1800" dirty="0">
                <a:solidFill>
                  <a:srgbClr val="FF3300"/>
                </a:solidFill>
                <a:ea typeface="宋体" panose="02010600030101010101" pitchFamily="2" charset="-122"/>
              </a:rPr>
              <a:t>过滤出入站内容</a:t>
            </a:r>
            <a:endParaRPr lang="zh-CN" altLang="en-US" sz="1800" dirty="0">
              <a:solidFill>
                <a:srgbClr val="FF3300"/>
              </a:solidFill>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63843" name="Rectangle 2"/>
          <p:cNvSpPr>
            <a:spLocks noGrp="1"/>
          </p:cNvSpPr>
          <p:nvPr>
            <p:ph type="title"/>
          </p:nvPr>
        </p:nvSpPr>
        <p:spPr>
          <a:xfrm>
            <a:off x="1873250" y="0"/>
            <a:ext cx="4818063" cy="714375"/>
          </a:xfrm>
        </p:spPr>
        <p:txBody>
          <a:bodyPr vert="horz" wrap="square" lIns="91440" tIns="45720" rIns="91440" bIns="45720" anchor="ctr" anchorCtr="0"/>
          <a:lstStyle/>
          <a:p>
            <a:pPr eaLnBrk="1" hangingPunct="1"/>
            <a:r>
              <a:rPr lang="zh-CN" altLang="en-US" dirty="0">
                <a:ea typeface="宋体" panose="02010600030101010101" pitchFamily="2" charset="-122"/>
              </a:rPr>
              <a:t>安全的移动代码</a:t>
            </a:r>
            <a:endParaRPr lang="zh-CN" altLang="en-US" dirty="0">
              <a:ea typeface="宋体" panose="02010600030101010101" pitchFamily="2" charset="-122"/>
            </a:endParaRPr>
          </a:p>
        </p:txBody>
      </p:sp>
      <p:sp>
        <p:nvSpPr>
          <p:cNvPr id="163844" name="Rectangle 3"/>
          <p:cNvSpPr>
            <a:spLocks noGrp="1"/>
          </p:cNvSpPr>
          <p:nvPr>
            <p:ph idx="1"/>
          </p:nvPr>
        </p:nvSpPr>
        <p:spPr>
          <a:xfrm>
            <a:off x="293688" y="714375"/>
            <a:ext cx="8850312" cy="5653088"/>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zh-CN" altLang="en-US" b="1" dirty="0">
                <a:latin typeface="Times New Roman" panose="02020603050405020304" pitchFamily="18" charset="0"/>
                <a:ea typeface="宋体" panose="02010600030101010101" pitchFamily="2" charset="-122"/>
              </a:rPr>
              <a:t>代码移动是分布式系统中的一个重要功能，有</a:t>
            </a:r>
            <a:r>
              <a:rPr lang="en-US" altLang="zh-CN" b="1" dirty="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种方式保护：</a:t>
            </a:r>
            <a:endParaRPr lang="en-US" altLang="zh-CN" b="1" dirty="0">
              <a:latin typeface="Times New Roman" panose="02020603050405020304" pitchFamily="18" charset="0"/>
              <a:ea typeface="宋体" panose="02010600030101010101" pitchFamily="2" charset="-122"/>
            </a:endParaRPr>
          </a:p>
          <a:p>
            <a:pPr lvl="1" eaLnBrk="1" hangingPunct="1">
              <a:lnSpc>
                <a:spcPct val="150000"/>
              </a:lnSpc>
              <a:buFont typeface="Wingdings" panose="05000000000000000000" pitchFamily="2" charset="2"/>
              <a:buChar char="ü"/>
            </a:pPr>
            <a:r>
              <a:rPr lang="zh-CN" altLang="en-US" sz="2400" b="1" dirty="0">
                <a:ea typeface="宋体" panose="02010600030101010101" pitchFamily="2" charset="-122"/>
              </a:rPr>
              <a:t>保护</a:t>
            </a:r>
            <a:r>
              <a:rPr lang="zh-CN" altLang="en-US" sz="2400" b="1" dirty="0">
                <a:solidFill>
                  <a:srgbClr val="FF0000"/>
                </a:solidFill>
                <a:ea typeface="宋体" panose="02010600030101010101" pitchFamily="2" charset="-122"/>
              </a:rPr>
              <a:t>移动代理</a:t>
            </a:r>
            <a:r>
              <a:rPr lang="zh-CN" altLang="en-US" sz="2400" b="1" dirty="0">
                <a:ea typeface="宋体" panose="02010600030101010101" pitchFamily="2" charset="-122"/>
              </a:rPr>
              <a:t>；</a:t>
            </a:r>
            <a:endParaRPr lang="en-US" altLang="zh-CN" sz="2400" b="1" dirty="0">
              <a:ea typeface="宋体" panose="02010600030101010101" pitchFamily="2" charset="-122"/>
            </a:endParaRPr>
          </a:p>
          <a:p>
            <a:pPr lvl="1" eaLnBrk="1" hangingPunct="1">
              <a:lnSpc>
                <a:spcPct val="150000"/>
              </a:lnSpc>
              <a:buFont typeface="Wingdings" panose="05000000000000000000" pitchFamily="2" charset="2"/>
              <a:buChar char="ü"/>
            </a:pPr>
            <a:r>
              <a:rPr lang="zh-CN" altLang="en-US" sz="2400" b="1" dirty="0">
                <a:ea typeface="宋体" panose="02010600030101010101" pitchFamily="2" charset="-122"/>
              </a:rPr>
              <a:t>保护</a:t>
            </a:r>
            <a:r>
              <a:rPr lang="zh-CN" altLang="en-US" sz="2400" b="1" dirty="0">
                <a:solidFill>
                  <a:srgbClr val="FF0000"/>
                </a:solidFill>
                <a:ea typeface="宋体" panose="02010600030101010101" pitchFamily="2" charset="-122"/>
              </a:rPr>
              <a:t>目标</a:t>
            </a:r>
            <a:r>
              <a:rPr lang="zh-CN" altLang="en-US" sz="2400" b="1" dirty="0">
                <a:ea typeface="宋体" panose="02010600030101010101" pitchFamily="2" charset="-122"/>
              </a:rPr>
              <a:t>；</a:t>
            </a:r>
            <a:endParaRPr lang="en-US" altLang="zh-CN" sz="2400" b="1" dirty="0">
              <a:ea typeface="宋体" panose="02010600030101010101" pitchFamily="2" charset="-122"/>
            </a:endParaRPr>
          </a:p>
          <a:p>
            <a:pPr algn="l" eaLnBrk="1" hangingPunct="1">
              <a:lnSpc>
                <a:spcPct val="150000"/>
              </a:lnSpc>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保护</a:t>
            </a:r>
            <a:r>
              <a:rPr lang="zh-CN" altLang="en-US" b="1" dirty="0">
                <a:solidFill>
                  <a:srgbClr val="FF0000"/>
                </a:solidFill>
                <a:latin typeface="宋体" panose="02010600030101010101" pitchFamily="2" charset="-122"/>
                <a:ea typeface="宋体" panose="02010600030101010101" pitchFamily="2" charset="-122"/>
              </a:rPr>
              <a:t>移动代理</a:t>
            </a:r>
            <a:r>
              <a:rPr lang="zh-CN" altLang="en-US" b="1" dirty="0">
                <a:latin typeface="宋体" panose="02010600030101010101" pitchFamily="2" charset="-122"/>
                <a:ea typeface="宋体" panose="02010600030101010101" pitchFamily="2" charset="-122"/>
              </a:rPr>
              <a:t>：防止其信息被窃取和篡改。比如一个带有电子信用卡的代理程序在网上搜索并预定便宜机票。 </a:t>
            </a:r>
            <a:endParaRPr lang="en-US" altLang="zh-CN"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en-US" altLang="zh-CN" b="1" dirty="0">
                <a:latin typeface="宋体" panose="02010600030101010101" pitchFamily="2" charset="-122"/>
                <a:ea typeface="宋体" panose="02010600030101010101" pitchFamily="2" charset="-122"/>
              </a:rPr>
              <a:t>Ajanta</a:t>
            </a:r>
            <a:r>
              <a:rPr lang="zh-CN" altLang="en-US" b="1" dirty="0">
                <a:latin typeface="宋体" panose="02010600030101010101" pitchFamily="2" charset="-122"/>
                <a:ea typeface="宋体" panose="02010600030101010101" pitchFamily="2" charset="-122"/>
              </a:rPr>
              <a:t>（基于</a:t>
            </a:r>
            <a:r>
              <a:rPr lang="en-US" altLang="zh-CN" b="1" dirty="0">
                <a:latin typeface="宋体" panose="02010600030101010101" pitchFamily="2" charset="-122"/>
                <a:ea typeface="宋体" panose="02010600030101010101" pitchFamily="2" charset="-122"/>
              </a:rPr>
              <a:t>Java</a:t>
            </a:r>
            <a:r>
              <a:rPr lang="zh-CN" altLang="en-US" b="1" dirty="0">
                <a:latin typeface="宋体" panose="02010600030101010101" pitchFamily="2" charset="-122"/>
                <a:ea typeface="宋体" panose="02010600030101010101" pitchFamily="2" charset="-122"/>
              </a:rPr>
              <a:t>）提供了</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种机制：</a:t>
            </a:r>
            <a:endParaRPr lang="zh-CN" altLang="en-US" b="1" dirty="0">
              <a:latin typeface="宋体" panose="02010600030101010101" pitchFamily="2" charset="-122"/>
              <a:ea typeface="宋体" panose="02010600030101010101" pitchFamily="2" charset="-122"/>
            </a:endParaRPr>
          </a:p>
          <a:p>
            <a:pPr algn="l" eaLnBrk="1" hangingPunct="1">
              <a:lnSpc>
                <a:spcPct val="150000"/>
              </a:lnSpc>
              <a:buNone/>
            </a:pPr>
            <a:r>
              <a:rPr lang="en-US" altLang="zh-CN" b="1" dirty="0">
                <a:latin typeface="宋体" panose="02010600030101010101" pitchFamily="2" charset="-122"/>
                <a:ea typeface="宋体" panose="02010600030101010101" pitchFamily="2" charset="-122"/>
              </a:rPr>
              <a:t>        1.</a:t>
            </a:r>
            <a:r>
              <a:rPr lang="zh-CN" altLang="en-US" b="1" dirty="0">
                <a:latin typeface="宋体" panose="02010600030101010101" pitchFamily="2" charset="-122"/>
                <a:ea typeface="宋体" panose="02010600030101010101" pitchFamily="2" charset="-122"/>
              </a:rPr>
              <a:t>只读状态（</a:t>
            </a:r>
            <a:r>
              <a:rPr lang="en-US" altLang="zh-CN" b="1" dirty="0">
                <a:latin typeface="宋体" panose="02010600030101010101" pitchFamily="2" charset="-122"/>
                <a:ea typeface="宋体" panose="02010600030101010101" pitchFamily="2" charset="-122"/>
              </a:rPr>
              <a:t>read-only state</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algn="l" eaLnBrk="1" hangingPunct="1">
              <a:lnSpc>
                <a:spcPct val="150000"/>
              </a:lnSpc>
              <a:buNone/>
            </a:pPr>
            <a:r>
              <a:rPr lang="en-US" altLang="zh-CN" b="1" dirty="0">
                <a:latin typeface="宋体" panose="02010600030101010101" pitchFamily="2" charset="-122"/>
                <a:ea typeface="宋体" panose="02010600030101010101" pitchFamily="2" charset="-122"/>
              </a:rPr>
              <a:t>        2.</a:t>
            </a:r>
            <a:r>
              <a:rPr lang="zh-CN" altLang="en-US" b="1" dirty="0">
                <a:latin typeface="宋体" panose="02010600030101010101" pitchFamily="2" charset="-122"/>
                <a:ea typeface="宋体" panose="02010600030101010101" pitchFamily="2" charset="-122"/>
              </a:rPr>
              <a:t>只追加日志</a:t>
            </a:r>
            <a:r>
              <a:rPr lang="en-US" altLang="zh-CN" b="1" dirty="0">
                <a:latin typeface="宋体" panose="02010600030101010101" pitchFamily="2" charset="-122"/>
                <a:ea typeface="宋体" panose="02010600030101010101" pitchFamily="2" charset="-122"/>
              </a:rPr>
              <a:t>(append-only log)</a:t>
            </a:r>
            <a:endParaRPr lang="en-US" altLang="zh-CN" b="1" dirty="0">
              <a:latin typeface="宋体" panose="02010600030101010101" pitchFamily="2" charset="-122"/>
              <a:ea typeface="宋体" panose="02010600030101010101" pitchFamily="2" charset="-122"/>
            </a:endParaRPr>
          </a:p>
          <a:p>
            <a:pPr algn="l" eaLnBrk="1" hangingPunct="1">
              <a:lnSpc>
                <a:spcPct val="150000"/>
              </a:lnSpc>
              <a:buNone/>
            </a:pPr>
            <a:r>
              <a:rPr lang="en-US" altLang="zh-CN" b="1" dirty="0">
                <a:latin typeface="宋体" panose="02010600030101010101" pitchFamily="2" charset="-122"/>
                <a:ea typeface="宋体" panose="02010600030101010101" pitchFamily="2" charset="-122"/>
              </a:rPr>
              <a:t>        3.</a:t>
            </a:r>
            <a:r>
              <a:rPr lang="zh-CN" altLang="en-US" b="1" dirty="0">
                <a:latin typeface="宋体" panose="02010600030101010101" pitchFamily="2" charset="-122"/>
                <a:ea typeface="宋体" panose="02010600030101010101" pitchFamily="2" charset="-122"/>
              </a:rPr>
              <a:t>选择的揭示状态</a:t>
            </a:r>
            <a:r>
              <a:rPr lang="en-US" altLang="zh-CN" b="1" dirty="0">
                <a:latin typeface="宋体" panose="02010600030101010101" pitchFamily="2" charset="-122"/>
                <a:ea typeface="宋体" panose="02010600030101010101" pitchFamily="2" charset="-122"/>
              </a:rPr>
              <a:t>(selective revealing)</a:t>
            </a:r>
            <a:endParaRPr lang="zh-CN" altLang="en-US"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ü"/>
            </a:pPr>
            <a:endParaRPr lang="zh-CN" altLang="en-US" b="1" dirty="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65891" name="Rectangle 2"/>
          <p:cNvSpPr>
            <a:spLocks noGrp="1"/>
          </p:cNvSpPr>
          <p:nvPr>
            <p:ph type="title"/>
          </p:nvPr>
        </p:nvSpPr>
        <p:spPr>
          <a:xfrm>
            <a:off x="0" y="0"/>
            <a:ext cx="9144000" cy="612775"/>
          </a:xfrm>
        </p:spPr>
        <p:txBody>
          <a:bodyPr vert="horz" wrap="square" lIns="91440" tIns="45720" rIns="91440" bIns="45720" anchor="ctr" anchorCtr="0"/>
          <a:lstStyle/>
          <a:p>
            <a:pPr eaLnBrk="1" hangingPunct="1"/>
            <a:r>
              <a:rPr lang="en-US" altLang="zh-CN" dirty="0">
                <a:ea typeface="宋体" panose="02010600030101010101" pitchFamily="2" charset="-122"/>
              </a:rPr>
              <a:t>Protecting the Target (1)</a:t>
            </a:r>
            <a:endParaRPr lang="en-US" altLang="zh-CN" dirty="0">
              <a:ea typeface="宋体" panose="02010600030101010101" pitchFamily="2" charset="-122"/>
            </a:endParaRPr>
          </a:p>
        </p:txBody>
      </p:sp>
      <p:sp>
        <p:nvSpPr>
          <p:cNvPr id="165892" name="Rectangle 3"/>
          <p:cNvSpPr>
            <a:spLocks noGrp="1"/>
          </p:cNvSpPr>
          <p:nvPr>
            <p:ph idx="1"/>
          </p:nvPr>
        </p:nvSpPr>
        <p:spPr>
          <a:xfrm>
            <a:off x="436563" y="6273800"/>
            <a:ext cx="8707437" cy="355600"/>
          </a:xfrm>
        </p:spPr>
        <p:txBody>
          <a:bodyPr vert="horz" wrap="square" lIns="91440" tIns="45720" rIns="91440" bIns="45720" anchor="t" anchorCtr="0"/>
          <a:lstStyle/>
          <a:p>
            <a:pPr algn="l" eaLnBrk="1" hangingPunct="1">
              <a:buNone/>
            </a:pPr>
            <a:r>
              <a:rPr lang="en-US" altLang="zh-CN" sz="1400" dirty="0">
                <a:ea typeface="宋体" panose="02010600030101010101" pitchFamily="2" charset="-122"/>
              </a:rPr>
              <a:t>Figure. The organization of a Java sandbox. </a:t>
            </a:r>
            <a:endParaRPr lang="zh-CN" altLang="en-US" sz="1400" dirty="0">
              <a:ea typeface="宋体" panose="02010600030101010101" pitchFamily="2" charset="-122"/>
            </a:endParaRPr>
          </a:p>
        </p:txBody>
      </p:sp>
      <p:pic>
        <p:nvPicPr>
          <p:cNvPr id="165893" name="Picture 4" descr="09-29"/>
          <p:cNvPicPr>
            <a:picLocks noChangeAspect="1"/>
          </p:cNvPicPr>
          <p:nvPr/>
        </p:nvPicPr>
        <p:blipFill>
          <a:blip r:embed="rId1"/>
          <a:stretch>
            <a:fillRect/>
          </a:stretch>
        </p:blipFill>
        <p:spPr>
          <a:xfrm>
            <a:off x="504825" y="2160588"/>
            <a:ext cx="8035925" cy="4095750"/>
          </a:xfrm>
          <a:prstGeom prst="rect">
            <a:avLst/>
          </a:prstGeom>
          <a:noFill/>
          <a:ln w="9525">
            <a:noFill/>
          </a:ln>
        </p:spPr>
      </p:pic>
      <p:sp>
        <p:nvSpPr>
          <p:cNvPr id="165894" name="矩形 5"/>
          <p:cNvSpPr/>
          <p:nvPr/>
        </p:nvSpPr>
        <p:spPr>
          <a:xfrm>
            <a:off x="436563" y="676275"/>
            <a:ext cx="8318500" cy="1200150"/>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en-US" altLang="zh-CN" sz="1800" b="1" dirty="0">
                <a:latin typeface="Times New Roman" panose="02020603050405020304" pitchFamily="18" charset="0"/>
                <a:ea typeface="宋体" panose="02010600030101010101" pitchFamily="2" charset="-122"/>
              </a:rPr>
              <a:t>Sandbox</a:t>
            </a:r>
            <a:r>
              <a:rPr lang="zh-CN" altLang="en-US"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a:p>
            <a:pPr marL="457200" lvl="1" indent="0" eaLnBrk="1" hangingPunct="1">
              <a:spcBef>
                <a:spcPct val="0"/>
              </a:spcBef>
              <a:buClrTx/>
              <a:buNone/>
            </a:pPr>
            <a:r>
              <a:rPr lang="en-US" altLang="zh-CN" sz="1800" b="1" dirty="0">
                <a:ea typeface="宋体" panose="02010600030101010101" pitchFamily="2" charset="-122"/>
              </a:rPr>
              <a:t>1.</a:t>
            </a:r>
            <a:r>
              <a:rPr lang="zh-CN" altLang="en-US" sz="1800" b="1" dirty="0">
                <a:ea typeface="宋体" panose="02010600030101010101" pitchFamily="2" charset="-122"/>
              </a:rPr>
              <a:t>使用可信的类加载程序（不允许</a:t>
            </a:r>
            <a:r>
              <a:rPr lang="en-US" altLang="zh-CN" sz="1800" b="1" dirty="0">
                <a:ea typeface="宋体" panose="02010600030101010101" pitchFamily="2" charset="-122"/>
              </a:rPr>
              <a:t>JAVA</a:t>
            </a:r>
            <a:r>
              <a:rPr lang="zh-CN" altLang="en-US" sz="1800" b="1" dirty="0">
                <a:ea typeface="宋体" panose="02010600030101010101" pitchFamily="2" charset="-122"/>
              </a:rPr>
              <a:t>程序创建自己的类加载程序）；</a:t>
            </a:r>
            <a:endParaRPr lang="en-US" altLang="zh-CN" sz="1800" b="1" dirty="0">
              <a:ea typeface="宋体" panose="02010600030101010101" pitchFamily="2" charset="-122"/>
            </a:endParaRPr>
          </a:p>
          <a:p>
            <a:pPr marL="457200" lvl="1" indent="0" eaLnBrk="1" hangingPunct="1">
              <a:spcBef>
                <a:spcPct val="0"/>
              </a:spcBef>
              <a:buClrTx/>
              <a:buNone/>
            </a:pPr>
            <a:r>
              <a:rPr lang="en-US" altLang="zh-CN" sz="1800" b="1" dirty="0">
                <a:ea typeface="宋体" panose="02010600030101010101" pitchFamily="2" charset="-122"/>
              </a:rPr>
              <a:t>2.</a:t>
            </a:r>
            <a:r>
              <a:rPr lang="zh-CN" altLang="en-US" sz="1800" b="1" dirty="0">
                <a:ea typeface="宋体" panose="02010600030101010101" pitchFamily="2" charset="-122"/>
              </a:rPr>
              <a:t>验证器检查下载的类是否服从安全规则（如破坏堆栈等）；</a:t>
            </a:r>
            <a:endParaRPr lang="en-US" altLang="zh-CN" sz="1800" b="1" dirty="0">
              <a:ea typeface="宋体" panose="02010600030101010101" pitchFamily="2" charset="-122"/>
            </a:endParaRPr>
          </a:p>
          <a:p>
            <a:pPr marL="457200" lvl="1" indent="0" eaLnBrk="1" hangingPunct="1">
              <a:spcBef>
                <a:spcPct val="0"/>
              </a:spcBef>
              <a:buClrTx/>
              <a:buNone/>
            </a:pPr>
            <a:r>
              <a:rPr lang="en-US" altLang="zh-CN" sz="1800" b="1" dirty="0">
                <a:ea typeface="宋体" panose="02010600030101010101" pitchFamily="2" charset="-122"/>
              </a:rPr>
              <a:t>3.</a:t>
            </a:r>
            <a:r>
              <a:rPr lang="zh-CN" altLang="en-US" sz="1800" b="1" dirty="0">
                <a:ea typeface="宋体" panose="02010600030101010101" pitchFamily="2" charset="-122"/>
              </a:rPr>
              <a:t>运行时的安全管理程序检查（如对</a:t>
            </a:r>
            <a:r>
              <a:rPr lang="en-US" altLang="zh-CN" sz="1800" b="1" dirty="0">
                <a:ea typeface="宋体" panose="02010600030101010101" pitchFamily="2" charset="-122"/>
              </a:rPr>
              <a:t>I/O</a:t>
            </a:r>
            <a:r>
              <a:rPr lang="zh-CN" altLang="en-US" sz="1800" b="1" dirty="0">
                <a:ea typeface="宋体" panose="02010600030101010101" pitchFamily="2" charset="-122"/>
              </a:rPr>
              <a:t>操作的检查等）；</a:t>
            </a:r>
            <a:endParaRPr lang="zh-CN" altLang="en-US" sz="1800" b="1" dirty="0">
              <a:ea typeface="宋体" panose="02010600030101010101" pitchFamily="2" charset="-122"/>
            </a:endParaRPr>
          </a:p>
        </p:txBody>
      </p:sp>
      <mc:AlternateContent xmlns:mc="http://schemas.openxmlformats.org/markup-compatibility/2006" xmlns:p14="http://schemas.microsoft.com/office/powerpoint/2010/main">
        <mc:Choice Requires="p14">
          <p:contentPart r:id="rId2" p14:bwMode="auto">
            <p14:nvContentPartPr>
              <p14:cNvPr id="2050" name="Ink 5"/>
              <p14:cNvContentPartPr/>
              <p14:nvPr/>
            </p14:nvContentPartPr>
            <p14:xfrm>
              <a:off x="1698625" y="4632325"/>
              <a:ext cx="3362325" cy="573088"/>
            </p14:xfrm>
          </p:contentPart>
        </mc:Choice>
        <mc:Fallback xmlns="">
          <p:pic>
            <p:nvPicPr>
              <p:cNvPr id="2050" name="Ink 5"/>
            </p:nvPicPr>
            <p:blipFill>
              <a:blip r:embed="rId3"/>
            </p:blipFill>
            <p:spPr>
              <a:xfrm>
                <a:off x="1698625" y="4632325"/>
                <a:ext cx="3362325" cy="573088"/>
              </a:xfrm>
              <a:prstGeom prst="rect"/>
            </p:spPr>
          </p:pic>
        </mc:Fallback>
      </mc:AlternateContent>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67939"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Protecting the Target (2)</a:t>
            </a:r>
            <a:endParaRPr lang="en-US" altLang="zh-CN" dirty="0">
              <a:ea typeface="宋体" panose="02010600030101010101" pitchFamily="2" charset="-122"/>
            </a:endParaRPr>
          </a:p>
        </p:txBody>
      </p:sp>
      <p:sp>
        <p:nvSpPr>
          <p:cNvPr id="167940" name="Rectangle 3"/>
          <p:cNvSpPr>
            <a:spLocks noGrp="1"/>
          </p:cNvSpPr>
          <p:nvPr>
            <p:ph idx="1"/>
          </p:nvPr>
        </p:nvSpPr>
        <p:spPr>
          <a:xfrm>
            <a:off x="0" y="6121400"/>
            <a:ext cx="9144000" cy="431800"/>
          </a:xfrm>
        </p:spPr>
        <p:txBody>
          <a:bodyPr vert="horz" wrap="square" lIns="91440" tIns="45720" rIns="91440" bIns="45720" anchor="t" anchorCtr="0"/>
          <a:lstStyle/>
          <a:p>
            <a:pPr eaLnBrk="1" hangingPunct="1">
              <a:lnSpc>
                <a:spcPct val="90000"/>
              </a:lnSpc>
              <a:buNone/>
            </a:pPr>
            <a:r>
              <a:rPr lang="en-US" altLang="zh-CN" dirty="0">
                <a:ea typeface="宋体" panose="02010600030101010101" pitchFamily="2" charset="-122"/>
              </a:rPr>
              <a:t>Figure. (a) A sandbox. (b) A playground.</a:t>
            </a:r>
            <a:endParaRPr lang="en-US" altLang="zh-CN" dirty="0">
              <a:ea typeface="宋体" panose="02010600030101010101" pitchFamily="2" charset="-122"/>
            </a:endParaRPr>
          </a:p>
        </p:txBody>
      </p:sp>
      <p:pic>
        <p:nvPicPr>
          <p:cNvPr id="167941" name="Picture 4" descr="09-30"/>
          <p:cNvPicPr>
            <a:picLocks noChangeAspect="1"/>
          </p:cNvPicPr>
          <p:nvPr/>
        </p:nvPicPr>
        <p:blipFill>
          <a:blip r:embed="rId1"/>
          <a:stretch>
            <a:fillRect/>
          </a:stretch>
        </p:blipFill>
        <p:spPr>
          <a:xfrm>
            <a:off x="350838" y="2336800"/>
            <a:ext cx="8316912" cy="3498850"/>
          </a:xfrm>
          <a:prstGeom prst="rect">
            <a:avLst/>
          </a:prstGeom>
          <a:noFill/>
          <a:ln w="9525">
            <a:noFill/>
          </a:ln>
        </p:spPr>
      </p:pic>
      <p:sp>
        <p:nvSpPr>
          <p:cNvPr id="6" name="矩形 5"/>
          <p:cNvSpPr/>
          <p:nvPr/>
        </p:nvSpPr>
        <p:spPr>
          <a:xfrm>
            <a:off x="215900" y="954088"/>
            <a:ext cx="8509000" cy="1016000"/>
          </a:xfrm>
          <a:prstGeom prst="rect">
            <a:avLst/>
          </a:prstGeom>
        </p:spPr>
        <p:txBody>
          <a:bodyPr>
            <a:spAutoFit/>
          </a:bodyPr>
          <a:lstStyle/>
          <a:p>
            <a:pPr marL="609600" marR="0" lvl="0" indent="-609600" algn="l" defTabSz="914400" rtl="0" eaLnBrk="1" fontAlgn="base" latinLnBrk="0" hangingPunct="1">
              <a:lnSpc>
                <a:spcPct val="150000"/>
              </a:lnSpc>
              <a:spcBef>
                <a:spcPct val="20000"/>
              </a:spcBef>
              <a:spcAft>
                <a:spcPct val="0"/>
              </a:spcAft>
              <a:buClr>
                <a:srgbClr val="3333CC"/>
              </a:buClr>
              <a:buSzTx/>
              <a:buFont typeface="Wingdings" panose="05000000000000000000" pitchFamily="2" charset="2"/>
              <a:buChar char="u"/>
              <a:defRPr/>
            </a:pPr>
            <a:r>
              <a:rPr kumimoji="0" lang="en-US" altLang="zh-CN" sz="2000" b="1"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rPr>
              <a:t>Playground</a:t>
            </a:r>
            <a:r>
              <a:rPr kumimoji="0" lang="zh-CN" altLang="en-US" sz="2000" b="1"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rPr>
              <a:t>：一台专门为运行移动代码保留的单独的指定机器，程序只能使用运动场本地的资源。</a:t>
            </a:r>
            <a:endParaRPr kumimoji="0" lang="zh-CN" altLang="en-US" sz="2000" b="1"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69987"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Key Establishment</a:t>
            </a:r>
            <a:endParaRPr lang="en-US" altLang="zh-CN" dirty="0">
              <a:ea typeface="宋体" panose="02010600030101010101" pitchFamily="2" charset="-122"/>
            </a:endParaRPr>
          </a:p>
        </p:txBody>
      </p:sp>
      <p:sp>
        <p:nvSpPr>
          <p:cNvPr id="169988" name="Rectangle 3"/>
          <p:cNvSpPr>
            <a:spLocks noGrp="1"/>
          </p:cNvSpPr>
          <p:nvPr>
            <p:ph idx="1"/>
          </p:nvPr>
        </p:nvSpPr>
        <p:spPr>
          <a:xfrm>
            <a:off x="0" y="5097463"/>
            <a:ext cx="9144000" cy="1233487"/>
          </a:xfrm>
        </p:spPr>
        <p:txBody>
          <a:bodyPr vert="horz" wrap="square" lIns="91440" tIns="45720" rIns="91440" bIns="45720" anchor="t" anchorCtr="0"/>
          <a:lstStyle/>
          <a:p>
            <a:pPr eaLnBrk="1" hangingPunct="1">
              <a:lnSpc>
                <a:spcPct val="120000"/>
              </a:lnSpc>
              <a:buNone/>
            </a:pPr>
            <a:r>
              <a:rPr lang="en-US" altLang="zh-CN" sz="2000" dirty="0">
                <a:ea typeface="宋体" panose="02010600030101010101" pitchFamily="2" charset="-122"/>
              </a:rPr>
              <a:t>Figure. The principle of Diffie-Hellman key exchange.</a:t>
            </a:r>
            <a:endParaRPr lang="en-US" altLang="zh-CN" sz="2000" dirty="0">
              <a:ea typeface="宋体" panose="02010600030101010101" pitchFamily="2" charset="-122"/>
            </a:endParaRPr>
          </a:p>
          <a:p>
            <a:pPr eaLnBrk="1" hangingPunct="1">
              <a:lnSpc>
                <a:spcPct val="120000"/>
              </a:lnSpc>
              <a:buNone/>
            </a:pPr>
            <a:r>
              <a:rPr lang="zh-CN" altLang="en-US" sz="2000" dirty="0">
                <a:ea typeface="宋体" panose="02010600030101010101" pitchFamily="2" charset="-122"/>
              </a:rPr>
              <a:t>约定两个比较大的数</a:t>
            </a:r>
            <a:r>
              <a:rPr lang="en-US" altLang="zh-CN" sz="2000" dirty="0">
                <a:ea typeface="宋体" panose="02010600030101010101" pitchFamily="2" charset="-122"/>
              </a:rPr>
              <a:t>n</a:t>
            </a:r>
            <a:r>
              <a:rPr lang="zh-CN" altLang="en-US" sz="2000" dirty="0">
                <a:ea typeface="宋体" panose="02010600030101010101" pitchFamily="2" charset="-122"/>
              </a:rPr>
              <a:t>和</a:t>
            </a:r>
            <a:r>
              <a:rPr lang="en-US" altLang="zh-CN" sz="2000" dirty="0">
                <a:ea typeface="宋体" panose="02010600030101010101" pitchFamily="2" charset="-122"/>
              </a:rPr>
              <a:t>g,</a:t>
            </a:r>
            <a:r>
              <a:rPr lang="zh-CN" altLang="en-US" sz="2000" dirty="0">
                <a:ea typeface="宋体" panose="02010600030101010101" pitchFamily="2" charset="-122"/>
              </a:rPr>
              <a:t>分别产生公钥</a:t>
            </a:r>
            <a:r>
              <a:rPr lang="en-US" altLang="zh-CN" sz="2000" dirty="0">
                <a:ea typeface="宋体" panose="02010600030101010101" pitchFamily="2" charset="-122"/>
              </a:rPr>
              <a:t>(</a:t>
            </a:r>
            <a:r>
              <a:rPr lang="zh-CN" altLang="en-US" sz="2000" dirty="0">
                <a:ea typeface="宋体" panose="02010600030101010101" pitchFamily="2" charset="-122"/>
              </a:rPr>
              <a:t> </a:t>
            </a:r>
            <a:r>
              <a:rPr lang="en-US" altLang="zh-CN" sz="2000" dirty="0">
                <a:ea typeface="宋体" panose="02010600030101010101" pitchFamily="2" charset="-122"/>
              </a:rPr>
              <a:t>g</a:t>
            </a:r>
            <a:r>
              <a:rPr lang="en-US" altLang="zh-CN" sz="2000" baseline="30000" dirty="0">
                <a:ea typeface="宋体" panose="02010600030101010101" pitchFamily="2" charset="-122"/>
              </a:rPr>
              <a:t>xy</a:t>
            </a:r>
            <a:r>
              <a:rPr lang="zh-CN" altLang="en-US" sz="2000" dirty="0">
                <a:ea typeface="宋体" panose="02010600030101010101" pitchFamily="2" charset="-122"/>
              </a:rPr>
              <a:t> </a:t>
            </a:r>
            <a:r>
              <a:rPr lang="en-US" altLang="zh-CN" sz="2000" dirty="0">
                <a:ea typeface="宋体" panose="02010600030101010101" pitchFamily="2" charset="-122"/>
              </a:rPr>
              <a:t> mod n)</a:t>
            </a:r>
            <a:r>
              <a:rPr lang="zh-CN" altLang="en-US" sz="2000" dirty="0">
                <a:ea typeface="宋体" panose="02010600030101010101" pitchFamily="2" charset="-122"/>
              </a:rPr>
              <a:t>和他们各自的私钥</a:t>
            </a:r>
            <a:r>
              <a:rPr lang="en-US" altLang="zh-CN" sz="2000" dirty="0">
                <a:ea typeface="宋体" panose="02010600030101010101" pitchFamily="2" charset="-122"/>
              </a:rPr>
              <a:t>x</a:t>
            </a:r>
            <a:r>
              <a:rPr lang="zh-CN" altLang="en-US" sz="2000" dirty="0">
                <a:ea typeface="宋体" panose="02010600030101010101" pitchFamily="2" charset="-122"/>
              </a:rPr>
              <a:t>，</a:t>
            </a:r>
            <a:r>
              <a:rPr lang="en-US" altLang="zh-CN" sz="2000" dirty="0">
                <a:ea typeface="宋体" panose="02010600030101010101" pitchFamily="2" charset="-122"/>
              </a:rPr>
              <a:t>y</a:t>
            </a:r>
            <a:endParaRPr lang="en-US" altLang="zh-CN" sz="2000" dirty="0">
              <a:ea typeface="宋体" panose="02010600030101010101" pitchFamily="2" charset="-122"/>
            </a:endParaRPr>
          </a:p>
        </p:txBody>
      </p:sp>
      <p:pic>
        <p:nvPicPr>
          <p:cNvPr id="169989" name="Picture 4" descr="09-33"/>
          <p:cNvPicPr>
            <a:picLocks noChangeAspect="1"/>
          </p:cNvPicPr>
          <p:nvPr/>
        </p:nvPicPr>
        <p:blipFill>
          <a:blip r:embed="rId1"/>
          <a:stretch>
            <a:fillRect/>
          </a:stretch>
        </p:blipFill>
        <p:spPr>
          <a:xfrm>
            <a:off x="228600" y="1485900"/>
            <a:ext cx="8658225" cy="3049588"/>
          </a:xfrm>
          <a:prstGeom prst="rect">
            <a:avLst/>
          </a:prstGeom>
          <a:noFill/>
          <a:ln w="9525">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72035"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Key Distribution (1)</a:t>
            </a:r>
            <a:endParaRPr lang="en-US" altLang="zh-CN" dirty="0">
              <a:ea typeface="宋体" panose="02010600030101010101" pitchFamily="2" charset="-122"/>
            </a:endParaRPr>
          </a:p>
        </p:txBody>
      </p:sp>
      <p:sp>
        <p:nvSpPr>
          <p:cNvPr id="172036" name="Rectangle 3"/>
          <p:cNvSpPr>
            <a:spLocks noGrp="1"/>
          </p:cNvSpPr>
          <p:nvPr>
            <p:ph idx="1"/>
          </p:nvPr>
        </p:nvSpPr>
        <p:spPr>
          <a:xfrm>
            <a:off x="0" y="5749925"/>
            <a:ext cx="9144000" cy="638175"/>
          </a:xfrm>
        </p:spPr>
        <p:txBody>
          <a:bodyPr vert="horz" wrap="square" lIns="91440" tIns="45720" rIns="91440" bIns="45720" anchor="t" anchorCtr="0"/>
          <a:lstStyle/>
          <a:p>
            <a:pPr eaLnBrk="1" hangingPunct="1">
              <a:lnSpc>
                <a:spcPct val="80000"/>
              </a:lnSpc>
              <a:buNone/>
            </a:pPr>
            <a:r>
              <a:rPr lang="en-US" altLang="zh-CN" sz="1800" dirty="0">
                <a:ea typeface="宋体" panose="02010600030101010101" pitchFamily="2" charset="-122"/>
              </a:rPr>
              <a:t>Figure. (a) Secret-key distribution. </a:t>
            </a:r>
            <a:br>
              <a:rPr lang="en-US" altLang="zh-CN" sz="1800" dirty="0">
                <a:ea typeface="宋体" panose="02010600030101010101" pitchFamily="2" charset="-122"/>
              </a:rPr>
            </a:br>
            <a:r>
              <a:rPr lang="en-US" altLang="zh-CN" sz="1800" dirty="0">
                <a:ea typeface="宋体" panose="02010600030101010101" pitchFamily="2" charset="-122"/>
              </a:rPr>
              <a:t>[see also Menezes et al. (1996)].</a:t>
            </a:r>
            <a:endParaRPr lang="en-US" altLang="zh-CN" sz="1800" dirty="0">
              <a:ea typeface="宋体" panose="02010600030101010101" pitchFamily="2" charset="-122"/>
            </a:endParaRPr>
          </a:p>
        </p:txBody>
      </p:sp>
      <p:pic>
        <p:nvPicPr>
          <p:cNvPr id="172037" name="Picture 4" descr="09-34"/>
          <p:cNvPicPr>
            <a:picLocks noChangeAspect="1"/>
          </p:cNvPicPr>
          <p:nvPr/>
        </p:nvPicPr>
        <p:blipFill>
          <a:blip r:embed="rId1"/>
          <a:srcRect b="56387"/>
          <a:stretch>
            <a:fillRect/>
          </a:stretch>
        </p:blipFill>
        <p:spPr>
          <a:xfrm>
            <a:off x="466725" y="1965325"/>
            <a:ext cx="8278813" cy="3651250"/>
          </a:xfrm>
          <a:prstGeom prst="rect">
            <a:avLst/>
          </a:prstGeom>
          <a:noFill/>
          <a:ln w="9525">
            <a:noFill/>
          </a:ln>
        </p:spPr>
      </p:pic>
      <p:sp>
        <p:nvSpPr>
          <p:cNvPr id="172038" name="矩形 5"/>
          <p:cNvSpPr/>
          <p:nvPr/>
        </p:nvSpPr>
        <p:spPr>
          <a:xfrm>
            <a:off x="330200" y="1154113"/>
            <a:ext cx="6223000" cy="338137"/>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80000"/>
              </a:lnSpc>
              <a:spcBef>
                <a:spcPct val="0"/>
              </a:spcBef>
              <a:buClrTx/>
              <a:buNone/>
            </a:pPr>
            <a:r>
              <a:rPr lang="zh-CN" altLang="en-US" sz="2000" b="1" dirty="0">
                <a:latin typeface="Times New Roman" panose="02020603050405020304" pitchFamily="18" charset="0"/>
                <a:ea typeface="宋体" panose="02010600030101010101" pitchFamily="2" charset="-122"/>
              </a:rPr>
              <a:t>用带有机密性和身份认证的安全通道分发对称密钥</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页脚占位符 4"/>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74083"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Key Distribution (2)</a:t>
            </a:r>
            <a:endParaRPr lang="en-US" altLang="zh-CN" dirty="0">
              <a:ea typeface="宋体" panose="02010600030101010101" pitchFamily="2" charset="-122"/>
            </a:endParaRPr>
          </a:p>
        </p:txBody>
      </p:sp>
      <p:sp>
        <p:nvSpPr>
          <p:cNvPr id="174084" name="Rectangle 3"/>
          <p:cNvSpPr>
            <a:spLocks noGrp="1"/>
          </p:cNvSpPr>
          <p:nvPr>
            <p:ph idx="1"/>
          </p:nvPr>
        </p:nvSpPr>
        <p:spPr>
          <a:xfrm>
            <a:off x="825500" y="5935663"/>
            <a:ext cx="7721600" cy="414337"/>
          </a:xfrm>
        </p:spPr>
        <p:txBody>
          <a:bodyPr vert="horz" wrap="square" lIns="91440" tIns="45720" rIns="91440" bIns="45720" anchor="t" anchorCtr="0"/>
          <a:lstStyle/>
          <a:p>
            <a:pPr eaLnBrk="1" hangingPunct="1">
              <a:buNone/>
            </a:pPr>
            <a:r>
              <a:rPr lang="en-US" altLang="zh-CN" sz="2000" dirty="0">
                <a:ea typeface="宋体" panose="02010600030101010101" pitchFamily="2" charset="-122"/>
              </a:rPr>
              <a:t>Figure. (b) Public-key distribution [see also Menezes et al. (1996)].</a:t>
            </a:r>
            <a:endParaRPr lang="en-US" altLang="zh-CN" sz="2000" dirty="0">
              <a:ea typeface="宋体" panose="02010600030101010101" pitchFamily="2" charset="-122"/>
            </a:endParaRPr>
          </a:p>
        </p:txBody>
      </p:sp>
      <p:pic>
        <p:nvPicPr>
          <p:cNvPr id="174085" name="Picture 4" descr="09-34"/>
          <p:cNvPicPr>
            <a:picLocks noChangeAspect="1"/>
          </p:cNvPicPr>
          <p:nvPr/>
        </p:nvPicPr>
        <p:blipFill>
          <a:blip r:embed="rId1"/>
          <a:srcRect t="52237"/>
          <a:stretch>
            <a:fillRect/>
          </a:stretch>
        </p:blipFill>
        <p:spPr>
          <a:xfrm>
            <a:off x="398463" y="1897063"/>
            <a:ext cx="8134350" cy="3929062"/>
          </a:xfrm>
          <a:prstGeom prst="rect">
            <a:avLst/>
          </a:prstGeom>
          <a:noFill/>
          <a:ln w="9525">
            <a:noFill/>
          </a:ln>
        </p:spPr>
      </p:pic>
      <p:sp>
        <p:nvSpPr>
          <p:cNvPr id="174086" name="矩形 5"/>
          <p:cNvSpPr/>
          <p:nvPr/>
        </p:nvSpPr>
        <p:spPr>
          <a:xfrm>
            <a:off x="373063" y="1125538"/>
            <a:ext cx="4960937" cy="400050"/>
          </a:xfrm>
          <a:prstGeom prst="rect">
            <a:avLst/>
          </a:prstGeom>
          <a:noFill/>
          <a:ln w="9525">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eaLnBrk="1" hangingPunct="1">
              <a:spcBef>
                <a:spcPct val="0"/>
              </a:spcBef>
              <a:buClrTx/>
              <a:buNone/>
            </a:pPr>
            <a:r>
              <a:rPr lang="zh-CN" altLang="en-US" sz="2000" b="1" dirty="0">
                <a:latin typeface="Times New Roman" panose="02020603050405020304" pitchFamily="18" charset="0"/>
                <a:ea typeface="宋体" panose="02010600030101010101" pitchFamily="2" charset="-122"/>
              </a:rPr>
              <a:t>用仅带有身份认证的安全通道分发公钥</a:t>
            </a:r>
            <a:endParaRPr lang="en-US" altLang="zh-CN" sz="2000" b="1" dirty="0">
              <a:latin typeface="Times New Roman" panose="02020603050405020304" pitchFamily="18" charset="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76131" name="Rectangle 2"/>
          <p:cNvSpPr/>
          <p:nvPr/>
        </p:nvSpPr>
        <p:spPr>
          <a:xfrm>
            <a:off x="3181350" y="277813"/>
            <a:ext cx="2590800" cy="579437"/>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zh-CN" altLang="en-US" sz="3200" b="1" dirty="0">
                <a:solidFill>
                  <a:srgbClr val="FF0000"/>
                </a:solidFill>
                <a:latin typeface="Times New Roman" panose="02020603050405020304" pitchFamily="18" charset="0"/>
                <a:ea typeface="宋体" panose="02010600030101010101" pitchFamily="2" charset="-122"/>
              </a:rPr>
              <a:t>密钥管理</a:t>
            </a:r>
            <a:endParaRPr lang="zh-CN" altLang="en-US" sz="3200" b="1" dirty="0">
              <a:solidFill>
                <a:srgbClr val="FF0000"/>
              </a:solidFill>
              <a:latin typeface="Times New Roman" panose="02020603050405020304" pitchFamily="18" charset="0"/>
              <a:ea typeface="宋体" panose="02010600030101010101" pitchFamily="2" charset="-122"/>
            </a:endParaRPr>
          </a:p>
        </p:txBody>
      </p:sp>
      <p:sp>
        <p:nvSpPr>
          <p:cNvPr id="176132" name="Rectangle 4"/>
          <p:cNvSpPr/>
          <p:nvPr/>
        </p:nvSpPr>
        <p:spPr>
          <a:xfrm>
            <a:off x="904875" y="1311275"/>
            <a:ext cx="7010400" cy="4367213"/>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Tx/>
              <a:buFont typeface="Wingdings" panose="05000000000000000000" pitchFamily="2" charset="2"/>
              <a:buBlip>
                <a:blip r:embed="rId1"/>
              </a:buBlip>
            </a:pPr>
            <a:r>
              <a:rPr lang="zh-CN" altLang="en-US" sz="2800" b="1" dirty="0">
                <a:latin typeface="楷体_GB2312" pitchFamily="49" charset="-122"/>
                <a:ea typeface="楷体_GB2312" pitchFamily="49" charset="-122"/>
              </a:rPr>
              <a:t>　产生密钥</a:t>
            </a:r>
            <a:endParaRPr lang="zh-CN" altLang="en-US" sz="2800" b="1" dirty="0">
              <a:latin typeface="楷体_GB2312" pitchFamily="49" charset="-122"/>
              <a:ea typeface="楷体_GB2312" pitchFamily="49" charset="-122"/>
            </a:endParaRPr>
          </a:p>
          <a:p>
            <a:pPr marL="0" lvl="0" indent="0" algn="l" eaLnBrk="1" hangingPunct="1">
              <a:spcBef>
                <a:spcPct val="50000"/>
              </a:spcBef>
              <a:buClrTx/>
              <a:buFont typeface="Wingdings" panose="05000000000000000000" pitchFamily="2" charset="2"/>
              <a:buBlip>
                <a:blip r:embed="rId1"/>
              </a:buBlip>
            </a:pPr>
            <a:r>
              <a:rPr lang="zh-CN" altLang="en-US" sz="2800" b="1" dirty="0">
                <a:latin typeface="楷体_GB2312" pitchFamily="49" charset="-122"/>
                <a:ea typeface="楷体_GB2312" pitchFamily="49" charset="-122"/>
              </a:rPr>
              <a:t>　密钥传输</a:t>
            </a:r>
            <a:endParaRPr lang="zh-CN" altLang="en-US" sz="2800" b="1" dirty="0">
              <a:latin typeface="楷体_GB2312" pitchFamily="49" charset="-122"/>
              <a:ea typeface="楷体_GB2312" pitchFamily="49" charset="-122"/>
            </a:endParaRPr>
          </a:p>
          <a:p>
            <a:pPr marL="0" lvl="0" indent="0" algn="l" eaLnBrk="1" hangingPunct="1">
              <a:spcBef>
                <a:spcPct val="50000"/>
              </a:spcBef>
              <a:buClrTx/>
              <a:buFont typeface="Wingdings" panose="05000000000000000000" pitchFamily="2" charset="2"/>
              <a:buBlip>
                <a:blip r:embed="rId1"/>
              </a:buBlip>
            </a:pPr>
            <a:r>
              <a:rPr lang="zh-CN" altLang="en-US" sz="2800" b="1" dirty="0">
                <a:latin typeface="楷体_GB2312" pitchFamily="49" charset="-122"/>
                <a:ea typeface="楷体_GB2312" pitchFamily="49" charset="-122"/>
              </a:rPr>
              <a:t>　使用密钥</a:t>
            </a:r>
            <a:endParaRPr lang="zh-CN" altLang="en-US" sz="2800" b="1" dirty="0">
              <a:latin typeface="楷体_GB2312" pitchFamily="49" charset="-122"/>
              <a:ea typeface="楷体_GB2312" pitchFamily="49" charset="-122"/>
            </a:endParaRPr>
          </a:p>
          <a:p>
            <a:pPr marL="0" lvl="0" indent="0" algn="l" eaLnBrk="1" hangingPunct="1">
              <a:spcBef>
                <a:spcPct val="50000"/>
              </a:spcBef>
              <a:buClrTx/>
              <a:buFont typeface="Wingdings" panose="05000000000000000000" pitchFamily="2" charset="2"/>
              <a:buBlip>
                <a:blip r:embed="rId1"/>
              </a:buBlip>
            </a:pPr>
            <a:r>
              <a:rPr lang="zh-CN" altLang="en-US" sz="2800" b="1" dirty="0">
                <a:latin typeface="楷体_GB2312" pitchFamily="49" charset="-122"/>
                <a:ea typeface="楷体_GB2312" pitchFamily="49" charset="-122"/>
              </a:rPr>
              <a:t>　更新密钥</a:t>
            </a:r>
            <a:endParaRPr lang="zh-CN" altLang="en-US" sz="2800" b="1" dirty="0">
              <a:latin typeface="楷体_GB2312" pitchFamily="49" charset="-122"/>
              <a:ea typeface="楷体_GB2312" pitchFamily="49" charset="-122"/>
            </a:endParaRPr>
          </a:p>
          <a:p>
            <a:pPr marL="0" lvl="0" indent="0" algn="l" eaLnBrk="1" hangingPunct="1">
              <a:spcBef>
                <a:spcPct val="50000"/>
              </a:spcBef>
              <a:buClrTx/>
              <a:buFont typeface="Wingdings" panose="05000000000000000000" pitchFamily="2" charset="2"/>
              <a:buBlip>
                <a:blip r:embed="rId1"/>
              </a:buBlip>
            </a:pPr>
            <a:r>
              <a:rPr lang="zh-CN" altLang="en-US" sz="2800" b="1" dirty="0">
                <a:latin typeface="楷体_GB2312" pitchFamily="49" charset="-122"/>
                <a:ea typeface="楷体_GB2312" pitchFamily="49" charset="-122"/>
              </a:rPr>
              <a:t>　存储密钥</a:t>
            </a:r>
            <a:endParaRPr lang="zh-CN" altLang="en-US" sz="2800" b="1" dirty="0">
              <a:latin typeface="楷体_GB2312" pitchFamily="49" charset="-122"/>
              <a:ea typeface="楷体_GB2312" pitchFamily="49" charset="-122"/>
            </a:endParaRPr>
          </a:p>
          <a:p>
            <a:pPr marL="0" lvl="0" indent="0" algn="l" eaLnBrk="1" hangingPunct="1">
              <a:spcBef>
                <a:spcPct val="50000"/>
              </a:spcBef>
              <a:buClrTx/>
              <a:buFont typeface="Wingdings" panose="05000000000000000000" pitchFamily="2" charset="2"/>
              <a:buBlip>
                <a:blip r:embed="rId1"/>
              </a:buBlip>
            </a:pPr>
            <a:r>
              <a:rPr lang="zh-CN" altLang="en-US" sz="2800" b="1" dirty="0">
                <a:latin typeface="楷体_GB2312" pitchFamily="49" charset="-122"/>
                <a:ea typeface="楷体_GB2312" pitchFamily="49" charset="-122"/>
              </a:rPr>
              <a:t>　备份密钥</a:t>
            </a:r>
            <a:endParaRPr lang="zh-CN" altLang="en-US" sz="2800" b="1" dirty="0">
              <a:latin typeface="楷体_GB2312" pitchFamily="49" charset="-122"/>
              <a:ea typeface="楷体_GB2312" pitchFamily="49" charset="-122"/>
            </a:endParaRPr>
          </a:p>
          <a:p>
            <a:pPr marL="0" lvl="0" indent="0" algn="l" eaLnBrk="1" hangingPunct="1">
              <a:spcBef>
                <a:spcPct val="50000"/>
              </a:spcBef>
              <a:buClrTx/>
              <a:buFont typeface="Wingdings" panose="05000000000000000000" pitchFamily="2" charset="2"/>
              <a:buBlip>
                <a:blip r:embed="rId1"/>
              </a:buBlip>
            </a:pPr>
            <a:r>
              <a:rPr lang="zh-CN" altLang="en-US" sz="2800" b="1" dirty="0">
                <a:latin typeface="楷体_GB2312" pitchFamily="49" charset="-122"/>
                <a:ea typeface="楷体_GB2312" pitchFamily="49" charset="-122"/>
              </a:rPr>
              <a:t>　密钥有效期</a:t>
            </a:r>
            <a:endParaRPr lang="zh-CN" altLang="en-US" sz="2800" b="1" dirty="0">
              <a:latin typeface="楷体_GB2312" pitchFamily="49" charset="-122"/>
              <a:ea typeface="楷体_GB2312" pitchFamily="49"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页脚占位符 2"/>
          <p:cNvSpPr txBox="1">
            <a:spLocks noGrp="1"/>
          </p:cNvSpPr>
          <p:nvPr>
            <p:ph type="ftr" sz="quarter" idx="11"/>
          </p:nvPr>
        </p:nvSpPr>
        <p:spPr/>
        <p:txBody>
          <a:bodyPr/>
          <a:lstStyle/>
          <a:p>
            <a:pPr marL="0" indent="0" eaLnBrk="1" hangingPunct="1">
              <a:spcBef>
                <a:spcPct val="0"/>
              </a:spcBef>
              <a:buClrTx/>
              <a:buNone/>
            </a:pPr>
            <a:r>
              <a:rPr lang="en-US" altLang="zh-CN" sz="1000" dirty="0">
                <a:latin typeface="Times New Roman" panose="02020603050405020304" pitchFamily="18" charset="0"/>
                <a:ea typeface="宋体" panose="02010600030101010101" pitchFamily="2" charset="-122"/>
              </a:rPr>
              <a:t>Tanenbaum &amp; Van Steen, Distributed Systems: Principles and Paradigms, 2e, (c) 2007 Prentice-Hall, Inc. All rights reserved. 0-13-239227-5</a:t>
            </a:r>
            <a:endParaRPr lang="en-US" altLang="zh-CN" sz="1000" dirty="0">
              <a:latin typeface="Times New Roman" panose="02020603050405020304" pitchFamily="18" charset="0"/>
              <a:ea typeface="宋体" panose="02010600030101010101" pitchFamily="2" charset="-122"/>
            </a:endParaRPr>
          </a:p>
        </p:txBody>
      </p:sp>
      <p:sp>
        <p:nvSpPr>
          <p:cNvPr id="177155" name="Rectangle 2"/>
          <p:cNvSpPr/>
          <p:nvPr/>
        </p:nvSpPr>
        <p:spPr>
          <a:xfrm>
            <a:off x="3429000" y="228600"/>
            <a:ext cx="2590800" cy="584200"/>
          </a:xfrm>
          <a:prstGeom prst="rect">
            <a:avLst/>
          </a:prstGeom>
          <a:noFill/>
          <a:ln w="12700">
            <a:noFill/>
          </a:ln>
        </p:spPr>
        <p:txBody>
          <a:bodyPr>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Tx/>
              <a:buNone/>
            </a:pPr>
            <a:r>
              <a:rPr lang="zh-CN" altLang="en-US" sz="3200" b="1" dirty="0">
                <a:latin typeface="Times New Roman" panose="02020603050405020304" pitchFamily="18" charset="0"/>
                <a:ea typeface="楷体_GB2312" pitchFamily="49" charset="-122"/>
              </a:rPr>
              <a:t>数字证书</a:t>
            </a:r>
            <a:endParaRPr lang="zh-CN" altLang="en-US" sz="3200" b="1" dirty="0">
              <a:latin typeface="Times New Roman" panose="02020603050405020304" pitchFamily="18" charset="0"/>
              <a:ea typeface="宋体" panose="02010600030101010101" pitchFamily="2" charset="-122"/>
            </a:endParaRPr>
          </a:p>
        </p:txBody>
      </p:sp>
      <p:grpSp>
        <p:nvGrpSpPr>
          <p:cNvPr id="177156" name="Group 4"/>
          <p:cNvGrpSpPr/>
          <p:nvPr/>
        </p:nvGrpSpPr>
        <p:grpSpPr>
          <a:xfrm>
            <a:off x="165100" y="1309688"/>
            <a:ext cx="8559800" cy="4470400"/>
            <a:chOff x="637" y="1392"/>
            <a:chExt cx="4787" cy="2416"/>
          </a:xfrm>
        </p:grpSpPr>
        <p:sp>
          <p:nvSpPr>
            <p:cNvPr id="177157" name="Line 5"/>
            <p:cNvSpPr/>
            <p:nvPr/>
          </p:nvSpPr>
          <p:spPr>
            <a:xfrm>
              <a:off x="2333" y="2983"/>
              <a:ext cx="592" cy="197"/>
            </a:xfrm>
            <a:prstGeom prst="line">
              <a:avLst/>
            </a:prstGeom>
            <a:ln w="25400" cap="flat" cmpd="sng">
              <a:solidFill>
                <a:srgbClr val="EF9100"/>
              </a:solidFill>
              <a:prstDash val="solid"/>
              <a:headEnd type="none" w="med" len="med"/>
              <a:tailEnd type="triangle" w="med" len="med"/>
            </a:ln>
          </p:spPr>
        </p:sp>
        <p:sp>
          <p:nvSpPr>
            <p:cNvPr id="177158" name="Rectangle 6"/>
            <p:cNvSpPr/>
            <p:nvPr/>
          </p:nvSpPr>
          <p:spPr>
            <a:xfrm>
              <a:off x="637" y="2878"/>
              <a:ext cx="1832" cy="198"/>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0"/>
                </a:spcBef>
                <a:buClr>
                  <a:schemeClr val="hlink"/>
                </a:buClr>
                <a:buFont typeface="Monotype Sorts" pitchFamily="2" charset="2"/>
                <a:buNone/>
              </a:pPr>
              <a:r>
                <a:rPr lang="en-US" altLang="zh-CN" sz="1800" b="1" dirty="0">
                  <a:latin typeface="Lucida Calligraphy" panose="03010101010101010101" pitchFamily="66" charset="0"/>
                  <a:ea typeface="宋体" panose="02010600030101010101" pitchFamily="2" charset="-122"/>
                </a:rPr>
                <a:t>CA </a:t>
              </a:r>
              <a:r>
                <a:rPr lang="zh-CN" altLang="zh-CN" sz="1800" b="1" dirty="0">
                  <a:latin typeface="Lucida Calligraphy" panose="03010101010101010101" pitchFamily="66" charset="0"/>
                  <a:ea typeface="宋体" panose="02010600030101010101" pitchFamily="2" charset="-122"/>
                </a:rPr>
                <a:t>的签名保证证书的真实性</a:t>
              </a:r>
              <a:endParaRPr lang="zh-CN" altLang="en-US" sz="1800" b="1" dirty="0">
                <a:latin typeface="Lucida Calligraphy" panose="03010101010101010101" pitchFamily="66" charset="0"/>
                <a:ea typeface="宋体" panose="02010600030101010101" pitchFamily="2" charset="-122"/>
              </a:endParaRPr>
            </a:p>
          </p:txBody>
        </p:sp>
        <p:sp>
          <p:nvSpPr>
            <p:cNvPr id="177159" name="Rectangle 7"/>
            <p:cNvSpPr/>
            <p:nvPr/>
          </p:nvSpPr>
          <p:spPr>
            <a:xfrm>
              <a:off x="751" y="1659"/>
              <a:ext cx="1251" cy="797"/>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lnSpc>
                  <a:spcPct val="150000"/>
                </a:lnSpc>
                <a:spcBef>
                  <a:spcPct val="0"/>
                </a:spcBef>
                <a:buClr>
                  <a:schemeClr val="hlink"/>
                </a:buClr>
                <a:buFont typeface="Monotype Sorts" pitchFamily="2" charset="2"/>
                <a:buNone/>
              </a:pPr>
              <a:r>
                <a:rPr lang="zh-CN" altLang="zh-CN" sz="2000" b="1" dirty="0">
                  <a:latin typeface="Lucida Calligraphy" panose="03010101010101010101" pitchFamily="66" charset="0"/>
                  <a:ea typeface="宋体" panose="02010600030101010101" pitchFamily="2" charset="-122"/>
                </a:rPr>
                <a:t>证书以一种可信方式将密钥“捆绑”到唯一命名</a:t>
              </a:r>
              <a:endParaRPr lang="zh-CN" altLang="en-US" sz="2000" b="1" dirty="0">
                <a:latin typeface="Lucida Calligraphy" panose="03010101010101010101" pitchFamily="66" charset="0"/>
                <a:ea typeface="宋体" panose="02010600030101010101" pitchFamily="2" charset="-122"/>
              </a:endParaRPr>
            </a:p>
          </p:txBody>
        </p:sp>
        <p:grpSp>
          <p:nvGrpSpPr>
            <p:cNvPr id="177160" name="Group 8"/>
            <p:cNvGrpSpPr/>
            <p:nvPr/>
          </p:nvGrpSpPr>
          <p:grpSpPr>
            <a:xfrm>
              <a:off x="2531" y="1392"/>
              <a:ext cx="2064" cy="2161"/>
              <a:chOff x="2227" y="1296"/>
              <a:chExt cx="2534" cy="2161"/>
            </a:xfrm>
          </p:grpSpPr>
          <p:sp>
            <p:nvSpPr>
              <p:cNvPr id="177171" name="Freeform 9"/>
              <p:cNvSpPr/>
              <p:nvPr/>
            </p:nvSpPr>
            <p:spPr>
              <a:xfrm>
                <a:off x="2424" y="3245"/>
                <a:ext cx="454" cy="212"/>
              </a:xfrm>
              <a:custGeom>
                <a:avLst/>
                <a:gdLst>
                  <a:gd name="txL" fmla="*/ 0 w 454"/>
                  <a:gd name="txT" fmla="*/ 0 h 212"/>
                  <a:gd name="txR" fmla="*/ 454 w 454"/>
                  <a:gd name="txB" fmla="*/ 212 h 212"/>
                </a:gdLst>
                <a:ahLst/>
                <a:cxnLst>
                  <a:cxn ang="0">
                    <a:pos x="290" y="0"/>
                  </a:cxn>
                  <a:cxn ang="0">
                    <a:pos x="59" y="18"/>
                  </a:cxn>
                  <a:cxn ang="0">
                    <a:pos x="35" y="33"/>
                  </a:cxn>
                  <a:cxn ang="0">
                    <a:pos x="22" y="48"/>
                  </a:cxn>
                  <a:cxn ang="0">
                    <a:pos x="8" y="66"/>
                  </a:cxn>
                  <a:cxn ang="0">
                    <a:pos x="0" y="95"/>
                  </a:cxn>
                  <a:cxn ang="0">
                    <a:pos x="1" y="129"/>
                  </a:cxn>
                  <a:cxn ang="0">
                    <a:pos x="8" y="146"/>
                  </a:cxn>
                  <a:cxn ang="0">
                    <a:pos x="22" y="166"/>
                  </a:cxn>
                  <a:cxn ang="0">
                    <a:pos x="46" y="183"/>
                  </a:cxn>
                  <a:cxn ang="0">
                    <a:pos x="74" y="198"/>
                  </a:cxn>
                  <a:cxn ang="0">
                    <a:pos x="102" y="205"/>
                  </a:cxn>
                  <a:cxn ang="0">
                    <a:pos x="128" y="209"/>
                  </a:cxn>
                  <a:cxn ang="0">
                    <a:pos x="161" y="211"/>
                  </a:cxn>
                  <a:cxn ang="0">
                    <a:pos x="158" y="209"/>
                  </a:cxn>
                  <a:cxn ang="0">
                    <a:pos x="338" y="195"/>
                  </a:cxn>
                  <a:cxn ang="0">
                    <a:pos x="453" y="0"/>
                  </a:cxn>
                  <a:cxn ang="0">
                    <a:pos x="290" y="0"/>
                  </a:cxn>
                </a:cxnLst>
                <a:rect l="txL" t="txT" r="txR" b="txB"/>
                <a:pathLst>
                  <a:path w="454" h="212">
                    <a:moveTo>
                      <a:pt x="290" y="0"/>
                    </a:moveTo>
                    <a:lnTo>
                      <a:pt x="59" y="18"/>
                    </a:lnTo>
                    <a:lnTo>
                      <a:pt x="35" y="33"/>
                    </a:lnTo>
                    <a:lnTo>
                      <a:pt x="22" y="48"/>
                    </a:lnTo>
                    <a:lnTo>
                      <a:pt x="8" y="66"/>
                    </a:lnTo>
                    <a:lnTo>
                      <a:pt x="0" y="95"/>
                    </a:lnTo>
                    <a:lnTo>
                      <a:pt x="1" y="129"/>
                    </a:lnTo>
                    <a:lnTo>
                      <a:pt x="8" y="146"/>
                    </a:lnTo>
                    <a:lnTo>
                      <a:pt x="22" y="166"/>
                    </a:lnTo>
                    <a:lnTo>
                      <a:pt x="46" y="183"/>
                    </a:lnTo>
                    <a:lnTo>
                      <a:pt x="74" y="198"/>
                    </a:lnTo>
                    <a:lnTo>
                      <a:pt x="102" y="205"/>
                    </a:lnTo>
                    <a:lnTo>
                      <a:pt x="128" y="209"/>
                    </a:lnTo>
                    <a:lnTo>
                      <a:pt x="161" y="211"/>
                    </a:lnTo>
                    <a:lnTo>
                      <a:pt x="158" y="209"/>
                    </a:lnTo>
                    <a:lnTo>
                      <a:pt x="338" y="195"/>
                    </a:lnTo>
                    <a:lnTo>
                      <a:pt x="453" y="0"/>
                    </a:lnTo>
                    <a:lnTo>
                      <a:pt x="290" y="0"/>
                    </a:lnTo>
                  </a:path>
                </a:pathLst>
              </a:custGeom>
              <a:solidFill>
                <a:srgbClr val="808080">
                  <a:alpha val="100000"/>
                </a:srgbClr>
              </a:solidFill>
              <a:ln w="25400" cap="rnd" cmpd="sng">
                <a:solidFill>
                  <a:srgbClr val="000000">
                    <a:alpha val="100000"/>
                  </a:srgbClr>
                </a:solidFill>
                <a:prstDash val="solid"/>
                <a:round/>
                <a:headEnd type="triangle" w="med" len="med"/>
                <a:tailEnd type="none" w="med" len="med"/>
              </a:ln>
            </p:spPr>
            <p:txBody>
              <a:bodyPr/>
              <a:lstStyle/>
              <a:p>
                <a:endParaRPr lang="zh-CN" altLang="en-US"/>
              </a:p>
            </p:txBody>
          </p:sp>
          <p:sp>
            <p:nvSpPr>
              <p:cNvPr id="177172" name="Freeform 10"/>
              <p:cNvSpPr/>
              <p:nvPr/>
            </p:nvSpPr>
            <p:spPr>
              <a:xfrm>
                <a:off x="2227" y="1296"/>
                <a:ext cx="2534" cy="2159"/>
              </a:xfrm>
              <a:custGeom>
                <a:avLst/>
                <a:gdLst>
                  <a:gd name="txL" fmla="*/ 0 w 2534"/>
                  <a:gd name="txT" fmla="*/ 0 h 2159"/>
                  <a:gd name="txR" fmla="*/ 2534 w 2534"/>
                  <a:gd name="txB" fmla="*/ 2159 h 2159"/>
                </a:gdLst>
                <a:ahLst/>
                <a:cxnLst>
                  <a:cxn ang="0">
                    <a:pos x="140" y="8"/>
                  </a:cxn>
                  <a:cxn ang="0">
                    <a:pos x="91" y="37"/>
                  </a:cxn>
                  <a:cxn ang="0">
                    <a:pos x="27" y="97"/>
                  </a:cxn>
                  <a:cxn ang="0">
                    <a:pos x="4" y="159"/>
                  </a:cxn>
                  <a:cxn ang="0">
                    <a:pos x="0" y="233"/>
                  </a:cxn>
                  <a:cxn ang="0">
                    <a:pos x="10" y="296"/>
                  </a:cxn>
                  <a:cxn ang="0">
                    <a:pos x="43" y="397"/>
                  </a:cxn>
                  <a:cxn ang="0">
                    <a:pos x="134" y="568"/>
                  </a:cxn>
                  <a:cxn ang="0">
                    <a:pos x="241" y="760"/>
                  </a:cxn>
                  <a:cxn ang="0">
                    <a:pos x="342" y="957"/>
                  </a:cxn>
                  <a:cxn ang="0">
                    <a:pos x="418" y="1214"/>
                  </a:cxn>
                  <a:cxn ang="0">
                    <a:pos x="463" y="1524"/>
                  </a:cxn>
                  <a:cxn ang="0">
                    <a:pos x="487" y="1746"/>
                  </a:cxn>
                  <a:cxn ang="0">
                    <a:pos x="487" y="1914"/>
                  </a:cxn>
                  <a:cxn ang="0">
                    <a:pos x="456" y="2039"/>
                  </a:cxn>
                  <a:cxn ang="0">
                    <a:pos x="418" y="2111"/>
                  </a:cxn>
                  <a:cxn ang="0">
                    <a:pos x="381" y="2146"/>
                  </a:cxn>
                  <a:cxn ang="0">
                    <a:pos x="589" y="2140"/>
                  </a:cxn>
                  <a:cxn ang="0">
                    <a:pos x="1386" y="2057"/>
                  </a:cxn>
                  <a:cxn ang="0">
                    <a:pos x="2110" y="2010"/>
                  </a:cxn>
                  <a:cxn ang="0">
                    <a:pos x="2409" y="2016"/>
                  </a:cxn>
                  <a:cxn ang="0">
                    <a:pos x="2471" y="1979"/>
                  </a:cxn>
                  <a:cxn ang="0">
                    <a:pos x="2513" y="1897"/>
                  </a:cxn>
                  <a:cxn ang="0">
                    <a:pos x="2533" y="1783"/>
                  </a:cxn>
                  <a:cxn ang="0">
                    <a:pos x="2528" y="1635"/>
                  </a:cxn>
                  <a:cxn ang="0">
                    <a:pos x="2501" y="1417"/>
                  </a:cxn>
                  <a:cxn ang="0">
                    <a:pos x="2417" y="1137"/>
                  </a:cxn>
                  <a:cxn ang="0">
                    <a:pos x="2318" y="886"/>
                  </a:cxn>
                  <a:cxn ang="0">
                    <a:pos x="2202" y="653"/>
                  </a:cxn>
                  <a:cxn ang="0">
                    <a:pos x="2072" y="396"/>
                  </a:cxn>
                  <a:cxn ang="0">
                    <a:pos x="2028" y="282"/>
                  </a:cxn>
                  <a:cxn ang="0">
                    <a:pos x="2021" y="194"/>
                  </a:cxn>
                  <a:cxn ang="0">
                    <a:pos x="2072" y="19"/>
                  </a:cxn>
                  <a:cxn ang="0">
                    <a:pos x="159" y="5"/>
                  </a:cxn>
                </a:cxnLst>
                <a:rect l="txL" t="txT" r="txR" b="txB"/>
                <a:pathLst>
                  <a:path w="2534" h="2159">
                    <a:moveTo>
                      <a:pt x="159" y="5"/>
                    </a:moveTo>
                    <a:lnTo>
                      <a:pt x="140" y="8"/>
                    </a:lnTo>
                    <a:lnTo>
                      <a:pt x="119" y="17"/>
                    </a:lnTo>
                    <a:lnTo>
                      <a:pt x="91" y="37"/>
                    </a:lnTo>
                    <a:lnTo>
                      <a:pt x="54" y="66"/>
                    </a:lnTo>
                    <a:lnTo>
                      <a:pt x="27" y="97"/>
                    </a:lnTo>
                    <a:lnTo>
                      <a:pt x="10" y="130"/>
                    </a:lnTo>
                    <a:lnTo>
                      <a:pt x="4" y="159"/>
                    </a:lnTo>
                    <a:lnTo>
                      <a:pt x="0" y="197"/>
                    </a:lnTo>
                    <a:lnTo>
                      <a:pt x="0" y="233"/>
                    </a:lnTo>
                    <a:lnTo>
                      <a:pt x="5" y="264"/>
                    </a:lnTo>
                    <a:lnTo>
                      <a:pt x="10" y="296"/>
                    </a:lnTo>
                    <a:lnTo>
                      <a:pt x="18" y="323"/>
                    </a:lnTo>
                    <a:lnTo>
                      <a:pt x="43" y="397"/>
                    </a:lnTo>
                    <a:lnTo>
                      <a:pt x="80" y="479"/>
                    </a:lnTo>
                    <a:lnTo>
                      <a:pt x="134" y="568"/>
                    </a:lnTo>
                    <a:lnTo>
                      <a:pt x="188" y="671"/>
                    </a:lnTo>
                    <a:lnTo>
                      <a:pt x="241" y="760"/>
                    </a:lnTo>
                    <a:lnTo>
                      <a:pt x="288" y="850"/>
                    </a:lnTo>
                    <a:lnTo>
                      <a:pt x="342" y="957"/>
                    </a:lnTo>
                    <a:lnTo>
                      <a:pt x="386" y="1095"/>
                    </a:lnTo>
                    <a:lnTo>
                      <a:pt x="418" y="1214"/>
                    </a:lnTo>
                    <a:lnTo>
                      <a:pt x="449" y="1364"/>
                    </a:lnTo>
                    <a:lnTo>
                      <a:pt x="463" y="1524"/>
                    </a:lnTo>
                    <a:lnTo>
                      <a:pt x="487" y="1668"/>
                    </a:lnTo>
                    <a:lnTo>
                      <a:pt x="487" y="1746"/>
                    </a:lnTo>
                    <a:lnTo>
                      <a:pt x="487" y="1848"/>
                    </a:lnTo>
                    <a:lnTo>
                      <a:pt x="487" y="1914"/>
                    </a:lnTo>
                    <a:lnTo>
                      <a:pt x="481" y="1976"/>
                    </a:lnTo>
                    <a:lnTo>
                      <a:pt x="456" y="2039"/>
                    </a:lnTo>
                    <a:lnTo>
                      <a:pt x="439" y="2077"/>
                    </a:lnTo>
                    <a:lnTo>
                      <a:pt x="418" y="2111"/>
                    </a:lnTo>
                    <a:lnTo>
                      <a:pt x="395" y="2133"/>
                    </a:lnTo>
                    <a:lnTo>
                      <a:pt x="381" y="2146"/>
                    </a:lnTo>
                    <a:lnTo>
                      <a:pt x="365" y="2158"/>
                    </a:lnTo>
                    <a:lnTo>
                      <a:pt x="589" y="2140"/>
                    </a:lnTo>
                    <a:lnTo>
                      <a:pt x="1025" y="2093"/>
                    </a:lnTo>
                    <a:lnTo>
                      <a:pt x="1386" y="2057"/>
                    </a:lnTo>
                    <a:lnTo>
                      <a:pt x="1801" y="2022"/>
                    </a:lnTo>
                    <a:lnTo>
                      <a:pt x="2110" y="2010"/>
                    </a:lnTo>
                    <a:lnTo>
                      <a:pt x="2347" y="2016"/>
                    </a:lnTo>
                    <a:lnTo>
                      <a:pt x="2409" y="2016"/>
                    </a:lnTo>
                    <a:lnTo>
                      <a:pt x="2448" y="2010"/>
                    </a:lnTo>
                    <a:lnTo>
                      <a:pt x="2471" y="1979"/>
                    </a:lnTo>
                    <a:lnTo>
                      <a:pt x="2495" y="1947"/>
                    </a:lnTo>
                    <a:lnTo>
                      <a:pt x="2513" y="1897"/>
                    </a:lnTo>
                    <a:lnTo>
                      <a:pt x="2524" y="1839"/>
                    </a:lnTo>
                    <a:lnTo>
                      <a:pt x="2533" y="1783"/>
                    </a:lnTo>
                    <a:lnTo>
                      <a:pt x="2533" y="1699"/>
                    </a:lnTo>
                    <a:lnTo>
                      <a:pt x="2528" y="1635"/>
                    </a:lnTo>
                    <a:lnTo>
                      <a:pt x="2524" y="1530"/>
                    </a:lnTo>
                    <a:lnTo>
                      <a:pt x="2501" y="1417"/>
                    </a:lnTo>
                    <a:lnTo>
                      <a:pt x="2463" y="1271"/>
                    </a:lnTo>
                    <a:lnTo>
                      <a:pt x="2417" y="1137"/>
                    </a:lnTo>
                    <a:lnTo>
                      <a:pt x="2379" y="1017"/>
                    </a:lnTo>
                    <a:lnTo>
                      <a:pt x="2318" y="886"/>
                    </a:lnTo>
                    <a:lnTo>
                      <a:pt x="2255" y="766"/>
                    </a:lnTo>
                    <a:lnTo>
                      <a:pt x="2202" y="653"/>
                    </a:lnTo>
                    <a:lnTo>
                      <a:pt x="2116" y="491"/>
                    </a:lnTo>
                    <a:lnTo>
                      <a:pt x="2072" y="396"/>
                    </a:lnTo>
                    <a:lnTo>
                      <a:pt x="2044" y="332"/>
                    </a:lnTo>
                    <a:lnTo>
                      <a:pt x="2028" y="282"/>
                    </a:lnTo>
                    <a:lnTo>
                      <a:pt x="2021" y="235"/>
                    </a:lnTo>
                    <a:lnTo>
                      <a:pt x="2021" y="194"/>
                    </a:lnTo>
                    <a:lnTo>
                      <a:pt x="2056" y="49"/>
                    </a:lnTo>
                    <a:lnTo>
                      <a:pt x="2072" y="19"/>
                    </a:lnTo>
                    <a:lnTo>
                      <a:pt x="184" y="0"/>
                    </a:lnTo>
                    <a:lnTo>
                      <a:pt x="159" y="5"/>
                    </a:lnTo>
                  </a:path>
                </a:pathLst>
              </a:custGeom>
              <a:solidFill>
                <a:srgbClr val="FFFFFF">
                  <a:alpha val="100000"/>
                </a:srgbClr>
              </a:solidFill>
              <a:ln w="25400" cap="rnd" cmpd="sng">
                <a:solidFill>
                  <a:srgbClr val="000000">
                    <a:alpha val="100000"/>
                  </a:srgbClr>
                </a:solidFill>
                <a:prstDash val="solid"/>
                <a:round/>
                <a:headEnd type="triangle" w="med" len="med"/>
                <a:tailEnd type="none" w="med" len="med"/>
              </a:ln>
            </p:spPr>
            <p:txBody>
              <a:bodyPr/>
              <a:lstStyle/>
              <a:p>
                <a:endParaRPr lang="zh-CN" altLang="en-US"/>
              </a:p>
            </p:txBody>
          </p:sp>
          <p:sp>
            <p:nvSpPr>
              <p:cNvPr id="177173" name="Freeform 11"/>
              <p:cNvSpPr/>
              <p:nvPr/>
            </p:nvSpPr>
            <p:spPr>
              <a:xfrm>
                <a:off x="2359" y="1396"/>
                <a:ext cx="209" cy="141"/>
              </a:xfrm>
              <a:custGeom>
                <a:avLst/>
                <a:gdLst>
                  <a:gd name="txL" fmla="*/ 0 w 209"/>
                  <a:gd name="txT" fmla="*/ 0 h 141"/>
                  <a:gd name="txR" fmla="*/ 209 w 209"/>
                  <a:gd name="txB" fmla="*/ 141 h 141"/>
                </a:gdLst>
                <a:ahLst/>
                <a:cxnLst>
                  <a:cxn ang="0">
                    <a:pos x="208" y="10"/>
                  </a:cxn>
                  <a:cxn ang="0">
                    <a:pos x="154" y="128"/>
                  </a:cxn>
                  <a:cxn ang="0">
                    <a:pos x="99" y="140"/>
                  </a:cxn>
                  <a:cxn ang="0">
                    <a:pos x="72" y="138"/>
                  </a:cxn>
                  <a:cxn ang="0">
                    <a:pos x="46" y="130"/>
                  </a:cxn>
                  <a:cxn ang="0">
                    <a:pos x="27" y="116"/>
                  </a:cxn>
                  <a:cxn ang="0">
                    <a:pos x="13" y="103"/>
                  </a:cxn>
                  <a:cxn ang="0">
                    <a:pos x="4" y="85"/>
                  </a:cxn>
                  <a:cxn ang="0">
                    <a:pos x="0" y="69"/>
                  </a:cxn>
                  <a:cxn ang="0">
                    <a:pos x="1" y="48"/>
                  </a:cxn>
                  <a:cxn ang="0">
                    <a:pos x="8" y="34"/>
                  </a:cxn>
                  <a:cxn ang="0">
                    <a:pos x="23" y="22"/>
                  </a:cxn>
                  <a:cxn ang="0">
                    <a:pos x="43" y="12"/>
                  </a:cxn>
                  <a:cxn ang="0">
                    <a:pos x="66" y="7"/>
                  </a:cxn>
                  <a:cxn ang="0">
                    <a:pos x="85" y="4"/>
                  </a:cxn>
                  <a:cxn ang="0">
                    <a:pos x="107" y="1"/>
                  </a:cxn>
                  <a:cxn ang="0">
                    <a:pos x="123" y="1"/>
                  </a:cxn>
                  <a:cxn ang="0">
                    <a:pos x="145" y="0"/>
                  </a:cxn>
                  <a:cxn ang="0">
                    <a:pos x="208" y="10"/>
                  </a:cxn>
                </a:cxnLst>
                <a:rect l="txL" t="txT" r="txR" b="txB"/>
                <a:pathLst>
                  <a:path w="209" h="141">
                    <a:moveTo>
                      <a:pt x="208" y="10"/>
                    </a:moveTo>
                    <a:lnTo>
                      <a:pt x="154" y="128"/>
                    </a:lnTo>
                    <a:lnTo>
                      <a:pt x="99" y="140"/>
                    </a:lnTo>
                    <a:lnTo>
                      <a:pt x="72" y="138"/>
                    </a:lnTo>
                    <a:lnTo>
                      <a:pt x="46" y="130"/>
                    </a:lnTo>
                    <a:lnTo>
                      <a:pt x="27" y="116"/>
                    </a:lnTo>
                    <a:lnTo>
                      <a:pt x="13" y="103"/>
                    </a:lnTo>
                    <a:lnTo>
                      <a:pt x="4" y="85"/>
                    </a:lnTo>
                    <a:lnTo>
                      <a:pt x="0" y="69"/>
                    </a:lnTo>
                    <a:lnTo>
                      <a:pt x="1" y="48"/>
                    </a:lnTo>
                    <a:lnTo>
                      <a:pt x="8" y="34"/>
                    </a:lnTo>
                    <a:lnTo>
                      <a:pt x="23" y="22"/>
                    </a:lnTo>
                    <a:lnTo>
                      <a:pt x="43" y="12"/>
                    </a:lnTo>
                    <a:lnTo>
                      <a:pt x="66" y="7"/>
                    </a:lnTo>
                    <a:lnTo>
                      <a:pt x="85" y="4"/>
                    </a:lnTo>
                    <a:lnTo>
                      <a:pt x="107" y="1"/>
                    </a:lnTo>
                    <a:lnTo>
                      <a:pt x="123" y="1"/>
                    </a:lnTo>
                    <a:lnTo>
                      <a:pt x="145" y="0"/>
                    </a:lnTo>
                    <a:lnTo>
                      <a:pt x="208" y="10"/>
                    </a:lnTo>
                  </a:path>
                </a:pathLst>
              </a:custGeom>
              <a:solidFill>
                <a:srgbClr val="808080">
                  <a:alpha val="100000"/>
                </a:srgbClr>
              </a:solidFill>
              <a:ln w="25400" cap="rnd" cmpd="sng">
                <a:solidFill>
                  <a:srgbClr val="000000">
                    <a:alpha val="100000"/>
                  </a:srgbClr>
                </a:solidFill>
                <a:prstDash val="solid"/>
                <a:round/>
                <a:headEnd type="triangle" w="med" len="med"/>
                <a:tailEnd type="none" w="med" len="med"/>
              </a:ln>
            </p:spPr>
            <p:txBody>
              <a:bodyPr/>
              <a:lstStyle/>
              <a:p>
                <a:endParaRPr lang="zh-CN" altLang="en-US"/>
              </a:p>
            </p:txBody>
          </p:sp>
          <p:sp>
            <p:nvSpPr>
              <p:cNvPr id="177174" name="Freeform 12"/>
              <p:cNvSpPr/>
              <p:nvPr/>
            </p:nvSpPr>
            <p:spPr>
              <a:xfrm>
                <a:off x="2440" y="1387"/>
                <a:ext cx="147" cy="117"/>
              </a:xfrm>
              <a:custGeom>
                <a:avLst/>
                <a:gdLst>
                  <a:gd name="txL" fmla="*/ 0 w 147"/>
                  <a:gd name="txT" fmla="*/ 0 h 117"/>
                  <a:gd name="txR" fmla="*/ 147 w 147"/>
                  <a:gd name="txB" fmla="*/ 117 h 117"/>
                </a:gdLst>
                <a:ahLst/>
                <a:cxnLst>
                  <a:cxn ang="0">
                    <a:pos x="0" y="15"/>
                  </a:cxn>
                  <a:cxn ang="0">
                    <a:pos x="27" y="29"/>
                  </a:cxn>
                  <a:cxn ang="0">
                    <a:pos x="40" y="45"/>
                  </a:cxn>
                  <a:cxn ang="0">
                    <a:pos x="46" y="59"/>
                  </a:cxn>
                  <a:cxn ang="0">
                    <a:pos x="46" y="81"/>
                  </a:cxn>
                  <a:cxn ang="0">
                    <a:pos x="42" y="99"/>
                  </a:cxn>
                  <a:cxn ang="0">
                    <a:pos x="27" y="116"/>
                  </a:cxn>
                  <a:cxn ang="0">
                    <a:pos x="146" y="97"/>
                  </a:cxn>
                  <a:cxn ang="0">
                    <a:pos x="136" y="0"/>
                  </a:cxn>
                  <a:cxn ang="0">
                    <a:pos x="0" y="15"/>
                  </a:cxn>
                </a:cxnLst>
                <a:rect l="txL" t="txT" r="txR" b="txB"/>
                <a:pathLst>
                  <a:path w="147" h="117">
                    <a:moveTo>
                      <a:pt x="0" y="15"/>
                    </a:moveTo>
                    <a:lnTo>
                      <a:pt x="27" y="29"/>
                    </a:lnTo>
                    <a:lnTo>
                      <a:pt x="40" y="45"/>
                    </a:lnTo>
                    <a:lnTo>
                      <a:pt x="46" y="59"/>
                    </a:lnTo>
                    <a:lnTo>
                      <a:pt x="46" y="81"/>
                    </a:lnTo>
                    <a:lnTo>
                      <a:pt x="42" y="99"/>
                    </a:lnTo>
                    <a:lnTo>
                      <a:pt x="27" y="116"/>
                    </a:lnTo>
                    <a:lnTo>
                      <a:pt x="146" y="97"/>
                    </a:lnTo>
                    <a:lnTo>
                      <a:pt x="136" y="0"/>
                    </a:lnTo>
                    <a:lnTo>
                      <a:pt x="0" y="15"/>
                    </a:lnTo>
                  </a:path>
                </a:pathLst>
              </a:custGeom>
              <a:solidFill>
                <a:srgbClr val="000000">
                  <a:alpha val="100000"/>
                </a:srgbClr>
              </a:solidFill>
              <a:ln w="25400" cap="rnd" cmpd="sng">
                <a:solidFill>
                  <a:srgbClr val="000000">
                    <a:alpha val="100000"/>
                  </a:srgbClr>
                </a:solidFill>
                <a:prstDash val="solid"/>
                <a:round/>
                <a:headEnd type="triangle" w="med" len="med"/>
                <a:tailEnd type="none" w="med" len="med"/>
              </a:ln>
            </p:spPr>
            <p:txBody>
              <a:bodyPr/>
              <a:lstStyle/>
              <a:p>
                <a:endParaRPr lang="zh-CN" altLang="en-US"/>
              </a:p>
            </p:txBody>
          </p:sp>
          <p:sp>
            <p:nvSpPr>
              <p:cNvPr id="177175" name="Freeform 13"/>
              <p:cNvSpPr/>
              <p:nvPr/>
            </p:nvSpPr>
            <p:spPr>
              <a:xfrm>
                <a:off x="2400" y="1297"/>
                <a:ext cx="2120" cy="240"/>
              </a:xfrm>
              <a:custGeom>
                <a:avLst/>
                <a:gdLst>
                  <a:gd name="txL" fmla="*/ 0 w 2120"/>
                  <a:gd name="txT" fmla="*/ 0 h 240"/>
                  <a:gd name="txR" fmla="*/ 2120 w 2120"/>
                  <a:gd name="txB" fmla="*/ 240 h 240"/>
                </a:gdLst>
                <a:ahLst/>
                <a:cxnLst>
                  <a:cxn ang="0">
                    <a:pos x="2006" y="18"/>
                  </a:cxn>
                  <a:cxn ang="0">
                    <a:pos x="0" y="0"/>
                  </a:cxn>
                  <a:cxn ang="0">
                    <a:pos x="56" y="7"/>
                  </a:cxn>
                  <a:cxn ang="0">
                    <a:pos x="75" y="12"/>
                  </a:cxn>
                  <a:cxn ang="0">
                    <a:pos x="98" y="19"/>
                  </a:cxn>
                  <a:cxn ang="0">
                    <a:pos x="112" y="30"/>
                  </a:cxn>
                  <a:cxn ang="0">
                    <a:pos x="128" y="46"/>
                  </a:cxn>
                  <a:cxn ang="0">
                    <a:pos x="136" y="65"/>
                  </a:cxn>
                  <a:cxn ang="0">
                    <a:pos x="143" y="84"/>
                  </a:cxn>
                  <a:cxn ang="0">
                    <a:pos x="144" y="105"/>
                  </a:cxn>
                  <a:cxn ang="0">
                    <a:pos x="145" y="122"/>
                  </a:cxn>
                  <a:cxn ang="0">
                    <a:pos x="143" y="146"/>
                  </a:cxn>
                  <a:cxn ang="0">
                    <a:pos x="136" y="170"/>
                  </a:cxn>
                  <a:cxn ang="0">
                    <a:pos x="122" y="192"/>
                  </a:cxn>
                  <a:cxn ang="0">
                    <a:pos x="101" y="212"/>
                  </a:cxn>
                  <a:cxn ang="0">
                    <a:pos x="74" y="226"/>
                  </a:cxn>
                  <a:cxn ang="0">
                    <a:pos x="52" y="239"/>
                  </a:cxn>
                  <a:cxn ang="0">
                    <a:pos x="184" y="227"/>
                  </a:cxn>
                  <a:cxn ang="0">
                    <a:pos x="330" y="209"/>
                  </a:cxn>
                  <a:cxn ang="0">
                    <a:pos x="562" y="198"/>
                  </a:cxn>
                  <a:cxn ang="0">
                    <a:pos x="752" y="186"/>
                  </a:cxn>
                  <a:cxn ang="0">
                    <a:pos x="983" y="186"/>
                  </a:cxn>
                  <a:cxn ang="0">
                    <a:pos x="1237" y="192"/>
                  </a:cxn>
                  <a:cxn ang="0">
                    <a:pos x="1551" y="198"/>
                  </a:cxn>
                  <a:cxn ang="0">
                    <a:pos x="1852" y="215"/>
                  </a:cxn>
                  <a:cxn ang="0">
                    <a:pos x="1974" y="233"/>
                  </a:cxn>
                  <a:cxn ang="0">
                    <a:pos x="2010" y="237"/>
                  </a:cxn>
                  <a:cxn ang="0">
                    <a:pos x="2048" y="238"/>
                  </a:cxn>
                  <a:cxn ang="0">
                    <a:pos x="2075" y="233"/>
                  </a:cxn>
                  <a:cxn ang="0">
                    <a:pos x="2097" y="215"/>
                  </a:cxn>
                  <a:cxn ang="0">
                    <a:pos x="2110" y="193"/>
                  </a:cxn>
                  <a:cxn ang="0">
                    <a:pos x="2117" y="175"/>
                  </a:cxn>
                  <a:cxn ang="0">
                    <a:pos x="2119" y="153"/>
                  </a:cxn>
                  <a:cxn ang="0">
                    <a:pos x="2114" y="116"/>
                  </a:cxn>
                  <a:cxn ang="0">
                    <a:pos x="2104" y="92"/>
                  </a:cxn>
                  <a:cxn ang="0">
                    <a:pos x="2089" y="68"/>
                  </a:cxn>
                  <a:cxn ang="0">
                    <a:pos x="2075" y="51"/>
                  </a:cxn>
                  <a:cxn ang="0">
                    <a:pos x="2058" y="39"/>
                  </a:cxn>
                  <a:cxn ang="0">
                    <a:pos x="2034" y="25"/>
                  </a:cxn>
                  <a:cxn ang="0">
                    <a:pos x="2006" y="18"/>
                  </a:cxn>
                </a:cxnLst>
                <a:rect l="txL" t="txT" r="txR" b="txB"/>
                <a:pathLst>
                  <a:path w="2120" h="240">
                    <a:moveTo>
                      <a:pt x="2006" y="18"/>
                    </a:moveTo>
                    <a:lnTo>
                      <a:pt x="0" y="0"/>
                    </a:lnTo>
                    <a:lnTo>
                      <a:pt x="56" y="7"/>
                    </a:lnTo>
                    <a:lnTo>
                      <a:pt x="75" y="12"/>
                    </a:lnTo>
                    <a:lnTo>
                      <a:pt x="98" y="19"/>
                    </a:lnTo>
                    <a:lnTo>
                      <a:pt x="112" y="30"/>
                    </a:lnTo>
                    <a:lnTo>
                      <a:pt x="128" y="46"/>
                    </a:lnTo>
                    <a:lnTo>
                      <a:pt x="136" y="65"/>
                    </a:lnTo>
                    <a:lnTo>
                      <a:pt x="143" y="84"/>
                    </a:lnTo>
                    <a:lnTo>
                      <a:pt x="144" y="105"/>
                    </a:lnTo>
                    <a:lnTo>
                      <a:pt x="145" y="122"/>
                    </a:lnTo>
                    <a:lnTo>
                      <a:pt x="143" y="146"/>
                    </a:lnTo>
                    <a:lnTo>
                      <a:pt x="136" y="170"/>
                    </a:lnTo>
                    <a:lnTo>
                      <a:pt x="122" y="192"/>
                    </a:lnTo>
                    <a:lnTo>
                      <a:pt x="101" y="212"/>
                    </a:lnTo>
                    <a:lnTo>
                      <a:pt x="74" y="226"/>
                    </a:lnTo>
                    <a:lnTo>
                      <a:pt x="52" y="239"/>
                    </a:lnTo>
                    <a:lnTo>
                      <a:pt x="184" y="227"/>
                    </a:lnTo>
                    <a:lnTo>
                      <a:pt x="330" y="209"/>
                    </a:lnTo>
                    <a:lnTo>
                      <a:pt x="562" y="198"/>
                    </a:lnTo>
                    <a:lnTo>
                      <a:pt x="752" y="186"/>
                    </a:lnTo>
                    <a:lnTo>
                      <a:pt x="983" y="186"/>
                    </a:lnTo>
                    <a:lnTo>
                      <a:pt x="1237" y="192"/>
                    </a:lnTo>
                    <a:lnTo>
                      <a:pt x="1551" y="198"/>
                    </a:lnTo>
                    <a:lnTo>
                      <a:pt x="1852" y="215"/>
                    </a:lnTo>
                    <a:lnTo>
                      <a:pt x="1974" y="233"/>
                    </a:lnTo>
                    <a:lnTo>
                      <a:pt x="2010" y="237"/>
                    </a:lnTo>
                    <a:lnTo>
                      <a:pt x="2048" y="238"/>
                    </a:lnTo>
                    <a:lnTo>
                      <a:pt x="2075" y="233"/>
                    </a:lnTo>
                    <a:lnTo>
                      <a:pt x="2097" y="215"/>
                    </a:lnTo>
                    <a:lnTo>
                      <a:pt x="2110" y="193"/>
                    </a:lnTo>
                    <a:lnTo>
                      <a:pt x="2117" y="175"/>
                    </a:lnTo>
                    <a:lnTo>
                      <a:pt x="2119" y="153"/>
                    </a:lnTo>
                    <a:lnTo>
                      <a:pt x="2114" y="116"/>
                    </a:lnTo>
                    <a:lnTo>
                      <a:pt x="2104" y="92"/>
                    </a:lnTo>
                    <a:lnTo>
                      <a:pt x="2089" y="68"/>
                    </a:lnTo>
                    <a:lnTo>
                      <a:pt x="2075" y="51"/>
                    </a:lnTo>
                    <a:lnTo>
                      <a:pt x="2058" y="39"/>
                    </a:lnTo>
                    <a:lnTo>
                      <a:pt x="2034" y="25"/>
                    </a:lnTo>
                    <a:lnTo>
                      <a:pt x="2006" y="18"/>
                    </a:lnTo>
                  </a:path>
                </a:pathLst>
              </a:custGeom>
              <a:solidFill>
                <a:srgbClr val="FFFFFF">
                  <a:alpha val="100000"/>
                </a:srgbClr>
              </a:solidFill>
              <a:ln w="25400" cap="rnd" cmpd="sng">
                <a:solidFill>
                  <a:srgbClr val="000000">
                    <a:alpha val="100000"/>
                  </a:srgbClr>
                </a:solidFill>
                <a:prstDash val="solid"/>
                <a:round/>
                <a:headEnd type="triangle" w="med" len="med"/>
                <a:tailEnd type="none" w="med" len="med"/>
              </a:ln>
            </p:spPr>
            <p:txBody>
              <a:bodyPr/>
              <a:lstStyle/>
              <a:p>
                <a:endParaRPr lang="zh-CN" altLang="en-US"/>
              </a:p>
            </p:txBody>
          </p:sp>
        </p:grpSp>
        <p:sp>
          <p:nvSpPr>
            <p:cNvPr id="177161" name="Line 14"/>
            <p:cNvSpPr/>
            <p:nvPr/>
          </p:nvSpPr>
          <p:spPr>
            <a:xfrm flipV="1">
              <a:off x="1943" y="2146"/>
              <a:ext cx="726" cy="96"/>
            </a:xfrm>
            <a:prstGeom prst="line">
              <a:avLst/>
            </a:prstGeom>
            <a:ln w="25400" cap="flat" cmpd="sng">
              <a:solidFill>
                <a:srgbClr val="EF9100"/>
              </a:solidFill>
              <a:prstDash val="solid"/>
              <a:headEnd type="none" w="med" len="med"/>
              <a:tailEnd type="triangle" w="med" len="med"/>
            </a:ln>
          </p:spPr>
        </p:sp>
        <p:sp>
          <p:nvSpPr>
            <p:cNvPr id="177162" name="Line 15"/>
            <p:cNvSpPr/>
            <p:nvPr/>
          </p:nvSpPr>
          <p:spPr>
            <a:xfrm flipV="1">
              <a:off x="1912" y="1879"/>
              <a:ext cx="705" cy="210"/>
            </a:xfrm>
            <a:prstGeom prst="line">
              <a:avLst/>
            </a:prstGeom>
            <a:ln w="25400" cap="flat" cmpd="sng">
              <a:solidFill>
                <a:srgbClr val="EF9100"/>
              </a:solidFill>
              <a:prstDash val="solid"/>
              <a:headEnd type="none" w="med" len="med"/>
              <a:tailEnd type="triangle" w="med" len="med"/>
            </a:ln>
          </p:spPr>
        </p:sp>
        <p:sp>
          <p:nvSpPr>
            <p:cNvPr id="177163" name="Line 16"/>
            <p:cNvSpPr/>
            <p:nvPr/>
          </p:nvSpPr>
          <p:spPr>
            <a:xfrm>
              <a:off x="1355" y="2408"/>
              <a:ext cx="0" cy="464"/>
            </a:xfrm>
            <a:prstGeom prst="line">
              <a:avLst/>
            </a:prstGeom>
            <a:ln w="25400" cap="flat" cmpd="sng">
              <a:solidFill>
                <a:srgbClr val="EF9100"/>
              </a:solidFill>
              <a:prstDash val="solid"/>
              <a:headEnd type="none" w="med" len="med"/>
              <a:tailEnd type="triangle" w="med" len="med"/>
            </a:ln>
          </p:spPr>
        </p:sp>
        <p:sp>
          <p:nvSpPr>
            <p:cNvPr id="177164" name="Rectangle 17"/>
            <p:cNvSpPr/>
            <p:nvPr/>
          </p:nvSpPr>
          <p:spPr>
            <a:xfrm>
              <a:off x="2699" y="1677"/>
              <a:ext cx="1429" cy="198"/>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
                  <a:schemeClr val="hlink"/>
                </a:buClr>
                <a:buFont typeface="Monotype Sorts" pitchFamily="2" charset="2"/>
                <a:buNone/>
              </a:pPr>
              <a:r>
                <a:rPr lang="zh-CN" altLang="en-US" sz="1800" b="1" dirty="0">
                  <a:ea typeface="宋体" panose="02010600030101010101" pitchFamily="2" charset="-122"/>
                </a:rPr>
                <a:t>持有人</a:t>
              </a:r>
              <a:r>
                <a:rPr lang="en-US" altLang="zh-CN" sz="1800" b="1" dirty="0">
                  <a:ea typeface="宋体" panose="02010600030101010101" pitchFamily="2" charset="-122"/>
                </a:rPr>
                <a:t>:   </a:t>
              </a:r>
              <a:r>
                <a:rPr lang="zh-CN" altLang="zh-CN" sz="1800" b="1" dirty="0">
                  <a:ea typeface="宋体" panose="02010600030101010101" pitchFamily="2" charset="-122"/>
                </a:rPr>
                <a:t>GBFOCUS</a:t>
              </a:r>
              <a:endParaRPr lang="en-US" altLang="zh-CN" sz="1800" dirty="0">
                <a:ea typeface="宋体" panose="02010600030101010101" pitchFamily="2" charset="-122"/>
              </a:endParaRPr>
            </a:p>
          </p:txBody>
        </p:sp>
        <p:sp>
          <p:nvSpPr>
            <p:cNvPr id="177165" name="Rectangle 18"/>
            <p:cNvSpPr/>
            <p:nvPr/>
          </p:nvSpPr>
          <p:spPr>
            <a:xfrm>
              <a:off x="2771" y="1943"/>
              <a:ext cx="1359" cy="198"/>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
                  <a:schemeClr val="hlink"/>
                </a:buClr>
                <a:buFont typeface="Monotype Sorts" pitchFamily="2" charset="2"/>
                <a:buNone/>
              </a:pPr>
              <a:r>
                <a:rPr lang="zh-CN" altLang="en-US" sz="1800" b="1" dirty="0">
                  <a:ea typeface="宋体" panose="02010600030101010101" pitchFamily="2" charset="-122"/>
                </a:rPr>
                <a:t>公开密钥</a:t>
              </a:r>
              <a:r>
                <a:rPr lang="en-US" altLang="zh-CN" sz="1800" b="1" dirty="0">
                  <a:ea typeface="宋体" panose="02010600030101010101" pitchFamily="2" charset="-122"/>
                </a:rPr>
                <a:t>:  </a:t>
              </a:r>
              <a:r>
                <a:rPr lang="en-US" altLang="zh-CN" sz="1800" dirty="0">
                  <a:ea typeface="宋体" panose="02010600030101010101" pitchFamily="2" charset="-122"/>
                </a:rPr>
                <a:t>9f 0a 34 ...</a:t>
              </a:r>
              <a:endParaRPr lang="en-US" altLang="zh-CN" sz="1800" dirty="0">
                <a:ea typeface="宋体" panose="02010600030101010101" pitchFamily="2" charset="-122"/>
              </a:endParaRPr>
            </a:p>
          </p:txBody>
        </p:sp>
        <p:sp>
          <p:nvSpPr>
            <p:cNvPr id="177166" name="Rectangle 19"/>
            <p:cNvSpPr/>
            <p:nvPr/>
          </p:nvSpPr>
          <p:spPr>
            <a:xfrm>
              <a:off x="2954" y="2436"/>
              <a:ext cx="1385" cy="198"/>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
                  <a:schemeClr val="hlink"/>
                </a:buClr>
                <a:buFont typeface="Monotype Sorts" pitchFamily="2" charset="2"/>
                <a:buNone/>
              </a:pPr>
              <a:r>
                <a:rPr lang="zh-CN" altLang="en-US" sz="1800" b="1" dirty="0">
                  <a:ea typeface="宋体" panose="02010600030101010101" pitchFamily="2" charset="-122"/>
                </a:rPr>
                <a:t>序列号</a:t>
              </a:r>
              <a:r>
                <a:rPr lang="en-US" altLang="zh-CN" sz="1800" b="1" dirty="0">
                  <a:ea typeface="宋体" panose="02010600030101010101" pitchFamily="2" charset="-122"/>
                </a:rPr>
                <a:t>: </a:t>
              </a:r>
              <a:r>
                <a:rPr lang="en-US" altLang="zh-CN" sz="1800" dirty="0">
                  <a:ea typeface="宋体" panose="02010600030101010101" pitchFamily="2" charset="-122"/>
                </a:rPr>
                <a:t> 123465</a:t>
              </a:r>
              <a:endParaRPr lang="en-US" altLang="zh-CN" sz="1800" dirty="0">
                <a:ea typeface="宋体" panose="02010600030101010101" pitchFamily="2" charset="-122"/>
              </a:endParaRPr>
            </a:p>
          </p:txBody>
        </p:sp>
        <p:sp>
          <p:nvSpPr>
            <p:cNvPr id="177167" name="Rectangle 20"/>
            <p:cNvSpPr/>
            <p:nvPr/>
          </p:nvSpPr>
          <p:spPr>
            <a:xfrm>
              <a:off x="2898" y="2180"/>
              <a:ext cx="1818" cy="198"/>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
                  <a:schemeClr val="hlink"/>
                </a:buClr>
                <a:buFont typeface="Monotype Sorts" pitchFamily="2" charset="2"/>
                <a:buNone/>
              </a:pPr>
              <a:r>
                <a:rPr lang="zh-CN" altLang="en-US" sz="1800" b="1" dirty="0">
                  <a:ea typeface="宋体" panose="02010600030101010101" pitchFamily="2" charset="-122"/>
                </a:rPr>
                <a:t>有效期</a:t>
              </a:r>
              <a:r>
                <a:rPr lang="en-US" altLang="zh-CN" sz="1800" b="1" dirty="0">
                  <a:ea typeface="宋体" panose="02010600030101010101" pitchFamily="2" charset="-122"/>
                </a:rPr>
                <a:t>: </a:t>
              </a:r>
              <a:r>
                <a:rPr lang="en-US" altLang="zh-CN" sz="1800" dirty="0">
                  <a:ea typeface="宋体" panose="02010600030101010101" pitchFamily="2" charset="-122"/>
                </a:rPr>
                <a:t>2/9/2001- 1/9/2003</a:t>
              </a:r>
              <a:endParaRPr lang="en-US" altLang="zh-CN" sz="1800" dirty="0">
                <a:ea typeface="宋体" panose="02010600030101010101" pitchFamily="2" charset="-122"/>
              </a:endParaRPr>
            </a:p>
          </p:txBody>
        </p:sp>
        <p:sp>
          <p:nvSpPr>
            <p:cNvPr id="177168" name="Rectangle 21"/>
            <p:cNvSpPr/>
            <p:nvPr/>
          </p:nvSpPr>
          <p:spPr>
            <a:xfrm>
              <a:off x="3039" y="2724"/>
              <a:ext cx="1385" cy="198"/>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
                  <a:schemeClr val="hlink"/>
                </a:buClr>
                <a:buFont typeface="Monotype Sorts" pitchFamily="2" charset="2"/>
                <a:buNone/>
              </a:pPr>
              <a:r>
                <a:rPr lang="zh-CN" altLang="en-US" sz="1800" b="1" dirty="0">
                  <a:ea typeface="宋体" panose="02010600030101010101" pitchFamily="2" charset="-122"/>
                </a:rPr>
                <a:t>发布人</a:t>
              </a:r>
              <a:r>
                <a:rPr lang="en-US" altLang="zh-CN" sz="1800" b="1" dirty="0">
                  <a:ea typeface="宋体" panose="02010600030101010101" pitchFamily="2" charset="-122"/>
                </a:rPr>
                <a:t>: </a:t>
              </a:r>
              <a:r>
                <a:rPr lang="en-US" altLang="zh-CN" sz="1800" dirty="0">
                  <a:ea typeface="宋体" panose="02010600030101010101" pitchFamily="2" charset="-122"/>
                </a:rPr>
                <a:t>CA-</a:t>
              </a:r>
              <a:r>
                <a:rPr lang="zh-CN" altLang="en-US" sz="1800" dirty="0">
                  <a:ea typeface="宋体" panose="02010600030101010101" pitchFamily="2" charset="-122"/>
                </a:rPr>
                <a:t>名</a:t>
              </a:r>
              <a:endParaRPr lang="zh-CN" altLang="en-US" sz="1800" dirty="0">
                <a:ea typeface="宋体" panose="02010600030101010101" pitchFamily="2" charset="-122"/>
              </a:endParaRPr>
            </a:p>
          </p:txBody>
        </p:sp>
        <p:sp>
          <p:nvSpPr>
            <p:cNvPr id="177169" name="Rectangle 22"/>
            <p:cNvSpPr/>
            <p:nvPr/>
          </p:nvSpPr>
          <p:spPr>
            <a:xfrm>
              <a:off x="3039" y="3108"/>
              <a:ext cx="1755" cy="198"/>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
                  <a:schemeClr val="hlink"/>
                </a:buClr>
                <a:buFont typeface="Monotype Sorts" pitchFamily="2" charset="2"/>
                <a:buNone/>
              </a:pPr>
              <a:r>
                <a:rPr lang="zh-CN" altLang="en-US" sz="1800" b="1" dirty="0">
                  <a:ea typeface="宋体" panose="02010600030101010101" pitchFamily="2" charset="-122"/>
                </a:rPr>
                <a:t>签名</a:t>
              </a:r>
              <a:r>
                <a:rPr lang="en-US" altLang="zh-CN" sz="1800" b="1" dirty="0">
                  <a:ea typeface="宋体" panose="02010600030101010101" pitchFamily="2" charset="-122"/>
                </a:rPr>
                <a:t>: </a:t>
              </a:r>
              <a:r>
                <a:rPr lang="en-US" altLang="zh-CN" sz="1800" dirty="0">
                  <a:ea typeface="宋体" panose="02010600030101010101" pitchFamily="2" charset="-122"/>
                </a:rPr>
                <a:t>CA </a:t>
              </a:r>
              <a:r>
                <a:rPr lang="zh-CN" altLang="zh-CN" sz="1800" dirty="0">
                  <a:ea typeface="宋体" panose="02010600030101010101" pitchFamily="2" charset="-122"/>
                </a:rPr>
                <a:t>数字签名</a:t>
              </a:r>
              <a:endParaRPr lang="zh-CN" altLang="en-US" sz="1800" dirty="0">
                <a:ea typeface="宋体" panose="02010600030101010101" pitchFamily="2" charset="-122"/>
              </a:endParaRPr>
            </a:p>
          </p:txBody>
        </p:sp>
        <p:sp>
          <p:nvSpPr>
            <p:cNvPr id="177170" name="Rectangle 23"/>
            <p:cNvSpPr/>
            <p:nvPr/>
          </p:nvSpPr>
          <p:spPr>
            <a:xfrm>
              <a:off x="3244" y="3460"/>
              <a:ext cx="2180" cy="348"/>
            </a:xfrm>
            <a:prstGeom prst="rect">
              <a:avLst/>
            </a:prstGeom>
            <a:noFill/>
            <a:ln w="12700">
              <a:noFill/>
            </a:ln>
          </p:spPr>
          <p:txBody>
            <a:bodyPr lIns="90488" tIns="44450" rIns="90488" bIns="44450">
              <a:spAutoFit/>
            </a:bodyPr>
            <a:lstStyle>
              <a:lvl1pPr marL="609600" indent="-609600" algn="ctr" rtl="0" eaLnBrk="0" fontAlgn="base" hangingPunct="0">
                <a:spcBef>
                  <a:spcPct val="20000"/>
                </a:spcBef>
                <a:spcAft>
                  <a:spcPct val="0"/>
                </a:spcAft>
                <a:buClr>
                  <a:schemeClr val="accent2"/>
                </a:buClr>
                <a:buChar char="•"/>
                <a:defRPr sz="2400" b="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Times New Roman" panose="02020603050405020304" pitchFamily="18" charset="0"/>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5pPr>
            </a:lstStyle>
            <a:p>
              <a:pPr marL="0" lvl="0" indent="0" algn="l" eaLnBrk="1" hangingPunct="1">
                <a:spcBef>
                  <a:spcPct val="50000"/>
                </a:spcBef>
                <a:buClr>
                  <a:schemeClr val="hlink"/>
                </a:buClr>
                <a:buFont typeface="Monotype Sorts" pitchFamily="2" charset="2"/>
                <a:buNone/>
              </a:pPr>
              <a:r>
                <a:rPr lang="zh-CN" altLang="zh-CN" sz="1800" dirty="0">
                  <a:latin typeface="Lucida Calligraphy" panose="03010101010101010101" pitchFamily="66" charset="0"/>
                  <a:ea typeface="宋体" panose="02010600030101010101" pitchFamily="2" charset="-122"/>
                </a:rPr>
                <a:t>证书可能存放到文件、软盘、智能卡、数据库</a:t>
              </a:r>
              <a:r>
                <a:rPr lang="zh-CN" altLang="en-US" sz="1800" dirty="0">
                  <a:latin typeface="Lucida Calligraphy" panose="03010101010101010101" pitchFamily="66" charset="0"/>
                  <a:ea typeface="宋体" panose="02010600030101010101" pitchFamily="2" charset="-122"/>
                </a:rPr>
                <a:t> </a:t>
              </a:r>
              <a:r>
                <a:rPr lang="en-US" altLang="zh-CN" sz="1800" dirty="0">
                  <a:latin typeface="Lucida Calligraphy" panose="03010101010101010101" pitchFamily="66" charset="0"/>
                  <a:ea typeface="宋体" panose="02010600030101010101" pitchFamily="2" charset="-122"/>
                </a:rPr>
                <a:t>?</a:t>
              </a:r>
              <a:endParaRPr lang="en-US" altLang="zh-CN" sz="1800" dirty="0">
                <a:latin typeface="Lucida Calligraphy" panose="03010101010101010101" pitchFamily="66" charset="0"/>
                <a:ea typeface="宋体" panose="02010600030101010101" pitchFamily="2" charset="-122"/>
              </a:endParaRPr>
            </a:p>
          </p:txBody>
        </p:sp>
      </p:grpSp>
    </p:spTree>
  </p:cSld>
  <p:clrMapOvr>
    <a:masterClrMapping/>
  </p:clrMapOvr>
</p:sld>
</file>

<file path=ppt/tags/tag1.xml><?xml version="1.0" encoding="utf-8"?>
<p:tagLst xmlns:p="http://schemas.openxmlformats.org/presentationml/2006/main">
  <p:tag name="commondata" val="eyJoZGlkIjoiM2NkNzAyYTY3NmVkMTFhM2MwNTRmNTdhYmVlMzM2ZjgifQ=="/>
</p:tagLst>
</file>

<file path=ppt/theme/theme1.xml><?xml version="1.0" encoding="utf-8"?>
<a:theme xmlns:a="http://schemas.openxmlformats.org/drawingml/2006/main" name="TannnenbaumTemplate">
  <a:themeElements>
    <a:clrScheme name="Tannnenbaum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nenbaum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noFill/>
        <a:ln w="9525" cap="flat" cmpd="sng" algn="ctr">
          <a:noFill/>
          <a:prstDash val="solid"/>
          <a:round/>
          <a:headEnd type="none" w="med" len="med"/>
          <a:tailEnd type="arrow"/>
        </a:ln>
      </a:spPr>
      <a:bodyPr/>
      <a:lstStyle/>
    </a:lnDef>
    <a:txDef>
      <a:spPr bwMode="auto">
        <a:noFill/>
        <a:ln w="9525">
          <a:solidFill>
            <a:schemeClr val="tx1"/>
          </a:solidFill>
          <a:miter lim="800000"/>
        </a:ln>
      </a:spPr>
      <a:bodyPr wrap="square">
        <a:spAutoFit/>
      </a:bodyPr>
      <a:lstStyle>
        <a:defPPr eaLnBrk="1" hangingPunct="1">
          <a:defRPr sz="2400" dirty="0" smtClean="0">
            <a:ea typeface="宋体" panose="02010600030101010101" pitchFamily="2" charset="-122"/>
          </a:defRPr>
        </a:defPPr>
      </a:lstStyle>
    </a:txDef>
  </a:objectDefaults>
  <a:extraClrSchemeLst>
    <a:extraClrScheme>
      <a:clrScheme name="Tannnenbaum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nenbaum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nenbaum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nenbaum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nenbaum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nenbaum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nenbaum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TannenbaumOS-Template</Template>
  <TotalTime>0</TotalTime>
  <Words>25687</Words>
  <Application>WPS 演示</Application>
  <PresentationFormat>全屏显示(4:3)</PresentationFormat>
  <Paragraphs>1186</Paragraphs>
  <Slides>84</Slides>
  <Notes>57</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84</vt:i4>
      </vt:variant>
    </vt:vector>
  </HeadingPairs>
  <TitlesOfParts>
    <vt:vector size="102" baseType="lpstr">
      <vt:lpstr>Arial</vt:lpstr>
      <vt:lpstr>宋体</vt:lpstr>
      <vt:lpstr>Wingdings</vt:lpstr>
      <vt:lpstr>Times New Roman</vt:lpstr>
      <vt:lpstr>微软雅黑</vt:lpstr>
      <vt:lpstr>Arial Unicode MS</vt:lpstr>
      <vt:lpstr>黑体</vt:lpstr>
      <vt:lpstr>楷体</vt:lpstr>
      <vt:lpstr>Symbol</vt:lpstr>
      <vt:lpstr>Arial</vt:lpstr>
      <vt:lpstr>隶书</vt:lpstr>
      <vt:lpstr>MS PGothic</vt:lpstr>
      <vt:lpstr>楷体_GB2312</vt:lpstr>
      <vt:lpstr>新宋体</vt:lpstr>
      <vt:lpstr>Monotype Sorts</vt:lpstr>
      <vt:lpstr>Lucida Calligraphy</vt:lpstr>
      <vt:lpstr>Wingdings</vt:lpstr>
      <vt:lpstr>TannnenbaumTemplate</vt:lpstr>
      <vt:lpstr>DISTRIBUTED SYSTEMS Principles and Paradigms Second Edition ANDREW S. TANENBAUM MAARTEN VAN STEEN  Chapter 9 Security</vt:lpstr>
      <vt:lpstr>分布式系统的安全</vt:lpstr>
      <vt:lpstr>Security Threats, Policies, and Mechanisms</vt:lpstr>
      <vt:lpstr>Security Threats, Policies, and Mechanisms</vt:lpstr>
      <vt:lpstr>Example: The Globus Security Architecture</vt:lpstr>
      <vt:lpstr>Example: The Globus Security Architecture</vt:lpstr>
      <vt:lpstr>Example: The Globus Security Architecture</vt:lpstr>
      <vt:lpstr>Example: The Globus  Security Architecture (2)</vt:lpstr>
      <vt:lpstr>设计问题</vt:lpstr>
      <vt:lpstr>Focus of Control</vt:lpstr>
      <vt:lpstr>Layering of Security Mechanisms (1)</vt:lpstr>
      <vt:lpstr>Distribution of Security Mechanisms</vt:lpstr>
      <vt:lpstr>Distribution of Security Mechanisms</vt:lpstr>
      <vt:lpstr>PowerPoint 演示文稿</vt:lpstr>
      <vt:lpstr>PowerPoint 演示文稿</vt:lpstr>
      <vt:lpstr>古典密码和现代密码</vt:lpstr>
      <vt:lpstr>古典密码和现代密码（Cont.）</vt:lpstr>
      <vt:lpstr>历  史</vt:lpstr>
      <vt:lpstr>历  史</vt:lpstr>
      <vt:lpstr>历史</vt:lpstr>
      <vt:lpstr>历  史</vt:lpstr>
      <vt:lpstr>密码学的基本概念</vt:lpstr>
      <vt:lpstr>一个简单的加密算法—异或</vt:lpstr>
      <vt:lpstr>密码学的基本概念（Cont.）</vt:lpstr>
      <vt:lpstr>Cryptography</vt:lpstr>
      <vt:lpstr>PowerPoint 演示文稿</vt:lpstr>
      <vt:lpstr>密码算法的分类</vt:lpstr>
      <vt:lpstr>对称密码算法和非对称密码算法</vt:lpstr>
      <vt:lpstr>对称密码和非对称密码（Cont.）</vt:lpstr>
      <vt:lpstr>PowerPoint 演示文稿</vt:lpstr>
      <vt:lpstr>PowerPoint 演示文稿</vt:lpstr>
      <vt:lpstr>PowerPoint 演示文稿</vt:lpstr>
      <vt:lpstr>对称密钥算法简介</vt:lpstr>
      <vt:lpstr>分组密码和序列密码</vt:lpstr>
      <vt:lpstr>对称密钥算法简介(Cont.)</vt:lpstr>
      <vt:lpstr>关于DES的讨论</vt:lpstr>
      <vt:lpstr>Public-Key Cryptosystems: RSA</vt:lpstr>
      <vt:lpstr>Public-Key Cryptosystems: RSA</vt:lpstr>
      <vt:lpstr>Public-Key Cryptosystems: RSA</vt:lpstr>
      <vt:lpstr>Public-Key Cryptosystems: RSA</vt:lpstr>
      <vt:lpstr>Public-Key Cryptosystems: RSA</vt:lpstr>
      <vt:lpstr>Public-Key Cryptosystems: RSA</vt:lpstr>
      <vt:lpstr>Public-Key Cryptosystems: RSA</vt:lpstr>
      <vt:lpstr>Secure Channal</vt:lpstr>
      <vt:lpstr>PowerPoint 演示文稿</vt:lpstr>
      <vt:lpstr>PowerPoint 演示文稿</vt:lpstr>
      <vt:lpstr>PowerPoint 演示文稿</vt:lpstr>
      <vt:lpstr>PowerPoint 演示文稿</vt:lpstr>
      <vt:lpstr>Authentication</vt:lpstr>
      <vt:lpstr>Authentication Based on a SharedSecret Key (1)A/B共享密钥KA,B</vt:lpstr>
      <vt:lpstr>Authentication Based on a Shared Secret Key (2)优化通信</vt:lpstr>
      <vt:lpstr>Authentication Based on a Shared Secret Key (3)</vt:lpstr>
      <vt:lpstr>Authentication Using a  Key Distribution Center (1)</vt:lpstr>
      <vt:lpstr>Authentication Using a  Key Distribution Center (2)</vt:lpstr>
      <vt:lpstr>Authentication Using a  Key Distribution Center (3)</vt:lpstr>
      <vt:lpstr>Authentication Using a  Key Distribution Center (4)</vt:lpstr>
      <vt:lpstr>Authentication Using a   a public-key cryptosystem</vt:lpstr>
      <vt:lpstr>Digital Signatures</vt:lpstr>
      <vt:lpstr>Digital Signatures</vt:lpstr>
      <vt:lpstr>Digital Signatures (2)</vt:lpstr>
      <vt:lpstr>Digital Signatures 	 </vt:lpstr>
      <vt:lpstr>Access Control</vt:lpstr>
      <vt:lpstr>General Issues in Access Control</vt:lpstr>
      <vt:lpstr>访问控制实现</vt:lpstr>
      <vt:lpstr>Access Control Matrix</vt:lpstr>
      <vt:lpstr>Access Control List(ACL)</vt:lpstr>
      <vt:lpstr>Access Control Matrix (1)</vt:lpstr>
      <vt:lpstr>Capability List(CL)</vt:lpstr>
      <vt:lpstr>Access Control Matrix (2)</vt:lpstr>
      <vt:lpstr>Protection Domains</vt:lpstr>
      <vt:lpstr>Domain Structure</vt:lpstr>
      <vt:lpstr>Remote File Storage: Server Mediated Access Control</vt:lpstr>
      <vt:lpstr>Remote File Storage: Encrypting the Files</vt:lpstr>
      <vt:lpstr>Remote File Storage: We Want It All</vt:lpstr>
      <vt:lpstr>Remove File Storage: Access Control via CP-ABE</vt:lpstr>
      <vt:lpstr>Firewalls</vt:lpstr>
      <vt:lpstr>安全的移动代码</vt:lpstr>
      <vt:lpstr>Protecting the Target (1)</vt:lpstr>
      <vt:lpstr>Protecting the Target (2)</vt:lpstr>
      <vt:lpstr>Key Establishment</vt:lpstr>
      <vt:lpstr>Key Distribution (1)</vt:lpstr>
      <vt:lpstr>Key Distribution (2)</vt:lpstr>
      <vt:lpstr>PowerPoint 演示文稿</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Steve Armstrong</dc:creator>
  <cp:lastModifiedBy>WPS_1681028394</cp:lastModifiedBy>
  <cp:revision>614</cp:revision>
  <dcterms:created xsi:type="dcterms:W3CDTF">2005-10-24T20:12:00Z</dcterms:created>
  <dcterms:modified xsi:type="dcterms:W3CDTF">2024-04-09T12:17:00Z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1083CBBC51AE47E4B92B5EEF7B3FE54C_13</vt:lpwstr>
  </property>
  <property fmtid="{D5CDD505-2E9C-101B-9397-08002B2CF9AE}" pid="3" name="KSOProductBuildVer">
    <vt:lpwstr>2052-12.1.0.16417</vt:lpwstr>
  </property>
</Properties>
</file>