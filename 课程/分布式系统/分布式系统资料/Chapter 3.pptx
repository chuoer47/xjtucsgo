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14"/>
  </p:notesMasterIdLst>
  <p:handoutMasterIdLst>
    <p:handoutMasterId r:id="rId68"/>
  </p:handoutMasterIdLst>
  <p:sldIdLst>
    <p:sldId id="256" r:id="rId4"/>
    <p:sldId id="257" r:id="rId5"/>
    <p:sldId id="323" r:id="rId6"/>
    <p:sldId id="258" r:id="rId7"/>
    <p:sldId id="259" r:id="rId8"/>
    <p:sldId id="380" r:id="rId9"/>
    <p:sldId id="324" r:id="rId10"/>
    <p:sldId id="382" r:id="rId11"/>
    <p:sldId id="381" r:id="rId12"/>
    <p:sldId id="325" r:id="rId13"/>
    <p:sldId id="305" r:id="rId15"/>
    <p:sldId id="306" r:id="rId16"/>
    <p:sldId id="263" r:id="rId17"/>
    <p:sldId id="309" r:id="rId18"/>
    <p:sldId id="308" r:id="rId19"/>
    <p:sldId id="310" r:id="rId20"/>
    <p:sldId id="267" r:id="rId21"/>
    <p:sldId id="328" r:id="rId22"/>
    <p:sldId id="383" r:id="rId23"/>
    <p:sldId id="311" r:id="rId24"/>
    <p:sldId id="268" r:id="rId25"/>
    <p:sldId id="270" r:id="rId26"/>
    <p:sldId id="312" r:id="rId27"/>
    <p:sldId id="271" r:id="rId28"/>
    <p:sldId id="313" r:id="rId29"/>
    <p:sldId id="272" r:id="rId30"/>
    <p:sldId id="273" r:id="rId31"/>
    <p:sldId id="274" r:id="rId32"/>
    <p:sldId id="329" r:id="rId33"/>
    <p:sldId id="331" r:id="rId34"/>
    <p:sldId id="333" r:id="rId35"/>
    <p:sldId id="276" r:id="rId36"/>
    <p:sldId id="316" r:id="rId37"/>
    <p:sldId id="277" r:id="rId38"/>
    <p:sldId id="278" r:id="rId39"/>
    <p:sldId id="279" r:id="rId40"/>
    <p:sldId id="280" r:id="rId41"/>
    <p:sldId id="281" r:id="rId42"/>
    <p:sldId id="282" r:id="rId43"/>
    <p:sldId id="338" r:id="rId44"/>
    <p:sldId id="322" r:id="rId45"/>
    <p:sldId id="318" r:id="rId46"/>
    <p:sldId id="339" r:id="rId47"/>
    <p:sldId id="340" r:id="rId48"/>
    <p:sldId id="347" r:id="rId49"/>
    <p:sldId id="344" r:id="rId50"/>
    <p:sldId id="285" r:id="rId51"/>
    <p:sldId id="286" r:id="rId52"/>
    <p:sldId id="288" r:id="rId53"/>
    <p:sldId id="319" r:id="rId54"/>
    <p:sldId id="290" r:id="rId55"/>
    <p:sldId id="317" r:id="rId56"/>
    <p:sldId id="291" r:id="rId57"/>
    <p:sldId id="292" r:id="rId58"/>
    <p:sldId id="293" r:id="rId59"/>
    <p:sldId id="379" r:id="rId60"/>
    <p:sldId id="362" r:id="rId61"/>
    <p:sldId id="356" r:id="rId62"/>
    <p:sldId id="365" r:id="rId63"/>
    <p:sldId id="366" r:id="rId64"/>
    <p:sldId id="368" r:id="rId65"/>
    <p:sldId id="377" r:id="rId66"/>
    <p:sldId id="315" r:id="rId67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1524" y="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09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1" Type="http://schemas.openxmlformats.org/officeDocument/2006/relationships/tableStyles" Target="tableStyles.xml"/><Relationship Id="rId70" Type="http://schemas.openxmlformats.org/officeDocument/2006/relationships/viewProps" Target="viewProps.xml"/><Relationship Id="rId7" Type="http://schemas.openxmlformats.org/officeDocument/2006/relationships/slide" Target="slides/slide4.xml"/><Relationship Id="rId69" Type="http://schemas.openxmlformats.org/officeDocument/2006/relationships/presProps" Target="presProps.xml"/><Relationship Id="rId68" Type="http://schemas.openxmlformats.org/officeDocument/2006/relationships/handoutMaster" Target="handoutMasters/handoutMaster1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3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43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43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1.</a:t>
            </a:r>
            <a:r>
              <a:rPr lang="zh-CN" altLang="en-US"/>
              <a:t>网络通信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参数传递格式问题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寻址问题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内存通信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网络通信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网络通信</a:t>
            </a:r>
            <a:r>
              <a:rPr lang="en-US" altLang="zh-CN">
                <a:sym typeface="+mn-ea"/>
              </a:rPr>
              <a:t>-</a:t>
            </a:r>
            <a:r>
              <a:rPr lang="en-US" altLang="zh-CN">
                <a:sym typeface="+mn-ea"/>
              </a:rPr>
              <a:t>stub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声明远程函数及其参数列表</a:t>
            </a:r>
            <a:r>
              <a:rPr lang="en-US" altLang="zh-CN"/>
              <a:t> 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声明远程对象，及其方法列表，以及每个方法列表的参数</a:t>
            </a:r>
            <a:r>
              <a:rPr lang="zh-CN" altLang="en-US"/>
              <a:t>列表</a:t>
            </a:r>
            <a:endParaRPr lang="zh-CN" altLang="en-US"/>
          </a:p>
          <a:p>
            <a:r>
              <a:rPr lang="zh-CN" altLang="en-US"/>
              <a:t>文件，编译器：自动生成代码</a:t>
            </a:r>
            <a:r>
              <a:rPr lang="zh-CN" altLang="en-US"/>
              <a:t>模块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共享内存区：地址空间</a:t>
            </a:r>
            <a:r>
              <a:rPr lang="zh-CN" altLang="en-US"/>
              <a:t>转换</a:t>
            </a:r>
            <a:endParaRPr lang="zh-CN" altLang="en-US"/>
          </a:p>
          <a:p>
            <a:r>
              <a:rPr lang="en-US" altLang="zh-CN"/>
              <a:t>CS</a:t>
            </a:r>
            <a:r>
              <a:rPr lang="zh-CN" altLang="en-US"/>
              <a:t>在同一个</a:t>
            </a:r>
            <a:r>
              <a:rPr lang="zh-CN" altLang="en-US"/>
              <a:t>机器上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接口文件：类似</a:t>
            </a:r>
            <a:r>
              <a:rPr lang="zh-CN" altLang="en-US"/>
              <a:t>头文件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bind</a:t>
            </a:r>
            <a:r>
              <a:rPr lang="zh-CN" altLang="en-US"/>
              <a:t>到</a:t>
            </a:r>
            <a:r>
              <a:rPr lang="en-US" altLang="zh-CN"/>
              <a:t>stub</a:t>
            </a:r>
            <a:endParaRPr lang="en-US" altLang="zh-CN"/>
          </a:p>
          <a:p>
            <a:r>
              <a:rPr lang="en-US" altLang="zh-CN"/>
              <a:t>stub</a:t>
            </a:r>
            <a:r>
              <a:rPr lang="zh-CN" altLang="en-US"/>
              <a:t>启动时</a:t>
            </a:r>
            <a:r>
              <a:rPr lang="zh-CN" altLang="en-US"/>
              <a:t>绑定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zh-CN" altLang="en-US" kern="0" noProof="0" dirty="0">
                <a:ln>
                  <a:noFill/>
                </a:ln>
                <a:effectLst/>
                <a:uLnTx/>
                <a:uFillTx/>
                <a:latin typeface="+mn-lt"/>
                <a:ea typeface="宋体" panose="02010600030101010101" pitchFamily="2" charset="-122"/>
                <a:sym typeface="+mn-ea"/>
              </a:rPr>
              <a:t>网络地址、端口、对象标示</a:t>
            </a:r>
            <a:r>
              <a:rPr lang="zh-CN" altLang="en-US"/>
              <a:t>（目录服务）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6563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>
                <a:ea typeface="宋体" panose="02010600030101010101" pitchFamily="2" charset="-122"/>
              </a:rPr>
              <a:t>第</a:t>
            </a:r>
            <a:r>
              <a:rPr lang="en-US" altLang="zh-CN" dirty="0">
                <a:ea typeface="宋体" panose="02010600030101010101" pitchFamily="2" charset="-122"/>
              </a:rPr>
              <a:t>f</a:t>
            </a:r>
            <a:r>
              <a:rPr lang="zh-CN" altLang="en-US" dirty="0">
                <a:ea typeface="宋体" panose="02010600030101010101" pitchFamily="2" charset="-122"/>
              </a:rPr>
              <a:t>图，</a:t>
            </a:r>
            <a:r>
              <a:rPr lang="en-US" altLang="zh-CN" dirty="0">
                <a:ea typeface="宋体" panose="02010600030101010101" pitchFamily="2" charset="-122"/>
              </a:rPr>
              <a:t>s </a:t>
            </a:r>
            <a:r>
              <a:rPr lang="zh-CN" altLang="en-US" dirty="0">
                <a:ea typeface="宋体" panose="02010600030101010101" pitchFamily="2" charset="-122"/>
              </a:rPr>
              <a:t>为</a:t>
            </a:r>
            <a:r>
              <a:rPr lang="en-US" altLang="zh-CN" dirty="0">
                <a:ea typeface="宋体" panose="02010600030101010101" pitchFamily="2" charset="-122"/>
              </a:rPr>
              <a:t>10MB/s</a:t>
            </a:r>
            <a:r>
              <a:rPr lang="zh-CN" altLang="en-US" dirty="0">
                <a:ea typeface="宋体" panose="02010600030101010101" pitchFamily="2" charset="-122"/>
              </a:rPr>
              <a:t>的持续时间，</a:t>
            </a:r>
            <a:r>
              <a:rPr lang="en-US" altLang="zh-CN" dirty="0">
                <a:ea typeface="宋体" panose="02010600030101010101" pitchFamily="2" charset="-122"/>
              </a:rPr>
              <a:t>10s=25s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+(s-s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)x2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0" y="5715000"/>
            <a:ext cx="4495800" cy="83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5715000"/>
            <a:ext cx="4495800" cy="83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553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553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0" y="5715000"/>
            <a:ext cx="4495800" cy="83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5715000"/>
            <a:ext cx="4495800" cy="342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6210300"/>
            <a:ext cx="4495800" cy="342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0" y="5715000"/>
            <a:ext cx="4495800" cy="83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5715000"/>
            <a:ext cx="4495800" cy="83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0" y="5715000"/>
            <a:ext cx="4495800" cy="83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5715000"/>
            <a:ext cx="4495800" cy="83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553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553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0" y="5715000"/>
            <a:ext cx="4495800" cy="83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5715000"/>
            <a:ext cx="4495800" cy="342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6210300"/>
            <a:ext cx="4495800" cy="342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0" y="5715000"/>
            <a:ext cx="4495800" cy="83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5715000"/>
            <a:ext cx="4495800" cy="83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anose="02020603050405020304" pitchFamily="18" charset="0"/>
        </a:defRPr>
      </a:lvl9pPr>
    </p:titleStyle>
    <p:bodyStyle>
      <a:lvl1pPr marL="342900" indent="-342900" algn="ctr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anose="02020603050405020304" pitchFamily="18" charset="0"/>
        </a:defRPr>
      </a:lvl9pPr>
    </p:titleStyle>
    <p:bodyStyle>
      <a:lvl1pPr marL="342900" indent="-342900" algn="ctr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5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jpe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9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en-US" altLang="zh-CN" dirty="0">
                <a:ea typeface="宋体" panose="02010600030101010101" pitchFamily="2" charset="-122"/>
              </a:rPr>
              <a:t>Communication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type="subTitle"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buSzTx/>
              <a:buFontTx/>
            </a:pPr>
            <a:r>
              <a:rPr lang="en-US" altLang="zh-CN" dirty="0">
                <a:latin typeface="+mn-lt"/>
                <a:ea typeface="宋体" panose="02010600030101010101" pitchFamily="2" charset="-122"/>
                <a:cs typeface="+mn-cs"/>
              </a:rPr>
              <a:t>Chapter 3</a:t>
            </a:r>
            <a:endParaRPr lang="en-US" altLang="zh-CN" dirty="0"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3.1.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Layered Protocols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123" name="Text Box 4"/>
          <p:cNvSpPr txBox="1"/>
          <p:nvPr/>
        </p:nvSpPr>
        <p:spPr>
          <a:xfrm>
            <a:off x="625475" y="1363663"/>
            <a:ext cx="7950200" cy="41036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lnSpc>
                <a:spcPct val="150000"/>
              </a:lnSpc>
              <a:spcBef>
                <a:spcPct val="50000"/>
              </a:spcBef>
              <a:buClrTx/>
              <a:buNone/>
            </a:pPr>
            <a:r>
              <a:rPr lang="zh-CN" altLang="en-US" sz="2800" dirty="0">
                <a:ea typeface="宋体" panose="02010600030101010101" pitchFamily="2" charset="-122"/>
              </a:rPr>
              <a:t>　分布式系统常用的进程通信模型</a:t>
            </a:r>
            <a:r>
              <a:rPr lang="en-US" altLang="zh-CN" sz="2800" dirty="0">
                <a:ea typeface="宋体" panose="02010600030101010101" pitchFamily="2" charset="-122"/>
              </a:rPr>
              <a:t>: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50000"/>
              </a:lnSpc>
              <a:spcBef>
                <a:spcPct val="50000"/>
              </a:spcBef>
              <a:buClr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        </a:t>
            </a:r>
            <a:r>
              <a:rPr lang="zh-CN" altLang="en-US" sz="2800" dirty="0">
                <a:ea typeface="宋体" panose="02010600030101010101" pitchFamily="2" charset="-122"/>
              </a:rPr>
              <a:t>　</a:t>
            </a:r>
            <a:r>
              <a:rPr lang="en-US" altLang="zh-CN" sz="2800" dirty="0">
                <a:ea typeface="宋体" panose="02010600030101010101" pitchFamily="2" charset="-122"/>
              </a:rPr>
              <a:t>1. RPC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50000"/>
              </a:lnSpc>
              <a:spcBef>
                <a:spcPct val="50000"/>
              </a:spcBef>
              <a:buClrTx/>
              <a:buNone/>
            </a:pPr>
            <a:r>
              <a:rPr lang="zh-CN" altLang="en-US" sz="2800" dirty="0">
                <a:ea typeface="宋体" panose="02010600030101010101" pitchFamily="2" charset="-122"/>
              </a:rPr>
              <a:t>　　　</a:t>
            </a:r>
            <a:r>
              <a:rPr lang="en-US" altLang="zh-CN" sz="2800" dirty="0">
                <a:ea typeface="宋体" panose="02010600030101010101" pitchFamily="2" charset="-122"/>
              </a:rPr>
              <a:t>2. RMI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50000"/>
              </a:lnSpc>
              <a:spcBef>
                <a:spcPct val="50000"/>
              </a:spcBef>
              <a:buClrTx/>
              <a:buNone/>
            </a:pPr>
            <a:r>
              <a:rPr lang="zh-CN" altLang="en-US" sz="2800" dirty="0">
                <a:ea typeface="宋体" panose="02010600030101010101" pitchFamily="2" charset="-122"/>
              </a:rPr>
              <a:t>　　　</a:t>
            </a:r>
            <a:r>
              <a:rPr lang="en-US" altLang="zh-CN" sz="2800" dirty="0">
                <a:ea typeface="宋体" panose="02010600030101010101" pitchFamily="2" charset="-122"/>
              </a:rPr>
              <a:t>3. MOM</a:t>
            </a:r>
            <a:r>
              <a:rPr lang="zh-CN" altLang="en-US" sz="2800" dirty="0">
                <a:ea typeface="宋体" panose="02010600030101010101" pitchFamily="2" charset="-122"/>
              </a:rPr>
              <a:t>（</a:t>
            </a: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Persistence/Transient</a:t>
            </a:r>
            <a:r>
              <a:rPr lang="zh-CN" altLang="en-US" sz="2800" dirty="0">
                <a:ea typeface="宋体" panose="02010600030101010101" pitchFamily="2" charset="-122"/>
              </a:rPr>
              <a:t>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50000"/>
              </a:lnSpc>
              <a:spcBef>
                <a:spcPct val="50000"/>
              </a:spcBef>
              <a:buClrTx/>
              <a:buNone/>
            </a:pPr>
            <a:r>
              <a:rPr lang="zh-CN" altLang="en-US" sz="2800" dirty="0">
                <a:ea typeface="宋体" panose="02010600030101010101" pitchFamily="2" charset="-122"/>
              </a:rPr>
              <a:t>　　　</a:t>
            </a:r>
            <a:r>
              <a:rPr lang="en-US" altLang="zh-CN" sz="2800" dirty="0">
                <a:ea typeface="宋体" panose="02010600030101010101" pitchFamily="2" charset="-122"/>
              </a:rPr>
              <a:t>4. stream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5519738" cy="631825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Layered Protocols (1)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6650038" y="3473450"/>
            <a:ext cx="2200275" cy="1181100"/>
          </a:xfrm>
          <a:ln/>
        </p:spPr>
        <p:txBody>
          <a:bodyPr vert="horz" wrap="square" lIns="91440" tIns="45720" rIns="91440" bIns="45720" anchor="t" anchorCtr="0"/>
          <a:p>
            <a:pPr algn="l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600" dirty="0">
                <a:ea typeface="宋体" panose="02010600030101010101" pitchFamily="2" charset="-122"/>
              </a:rPr>
              <a:t>Layers, interfaces, and protocols in the ISO OSI model.</a:t>
            </a:r>
            <a:endParaRPr lang="en-US" altLang="zh-CN" sz="1600" dirty="0">
              <a:ea typeface="宋体" panose="02010600030101010101" pitchFamily="2" charset="-122"/>
            </a:endParaRPr>
          </a:p>
        </p:txBody>
      </p:sp>
      <p:sp>
        <p:nvSpPr>
          <p:cNvPr id="6148" name="Text Box 4"/>
          <p:cNvSpPr txBox="1"/>
          <p:nvPr/>
        </p:nvSpPr>
        <p:spPr>
          <a:xfrm>
            <a:off x="3657600" y="25908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2-1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pic>
        <p:nvPicPr>
          <p:cNvPr id="6149" name="Picture 5"/>
          <p:cNvPicPr>
            <a:picLocks noChangeAspect="1"/>
          </p:cNvPicPr>
          <p:nvPr/>
        </p:nvPicPr>
        <p:blipFill>
          <a:blip r:embed="rId1"/>
          <a:srcRect l="28648" t="40483" r="24318" b="34743"/>
          <a:stretch>
            <a:fillRect/>
          </a:stretch>
        </p:blipFill>
        <p:spPr>
          <a:xfrm>
            <a:off x="157163" y="631825"/>
            <a:ext cx="6492875" cy="3698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57163" y="4221163"/>
            <a:ext cx="8986838" cy="25542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物理层：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负责对电平信号（位）的传输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数据链路层：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帧校验和纠错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网络层：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路由(面向连接的协议称作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X.25，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面向非连接的协议称作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IP(Internet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协议))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传输层：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消息的无损传送，并保持进入时的次序。建立在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x.25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或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IP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上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会话层：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提供对话控制、对会话者进行状态跟踪与同步功能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表示层：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消息表示（为了实现各机器内部表示方式不同的数据传递）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应用层：公共事务遵循的一个杂项协议的集合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1" name="右大括号 1"/>
          <p:cNvSpPr/>
          <p:nvPr/>
        </p:nvSpPr>
        <p:spPr>
          <a:xfrm>
            <a:off x="7377113" y="1404938"/>
            <a:ext cx="1019175" cy="89535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lnSpc>
                <a:spcPct val="120000"/>
              </a:lnSpc>
              <a:buNone/>
            </a:pPr>
            <a:endParaRPr lang="zh-CN" altLang="en-US" sz="4400" dirty="0">
              <a:ea typeface="宋体" panose="02010600030101010101" pitchFamily="2" charset="-122"/>
            </a:endParaRPr>
          </a:p>
        </p:txBody>
      </p:sp>
      <p:sp>
        <p:nvSpPr>
          <p:cNvPr id="6152" name="右大括号 2"/>
          <p:cNvSpPr/>
          <p:nvPr/>
        </p:nvSpPr>
        <p:spPr>
          <a:xfrm>
            <a:off x="6519863" y="1668463"/>
            <a:ext cx="493712" cy="606425"/>
          </a:xfrm>
          <a:prstGeom prst="rightBrace">
            <a:avLst>
              <a:gd name="adj1" fmla="val 8342"/>
              <a:gd name="adj2" fmla="val 50000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lnSpc>
                <a:spcPct val="120000"/>
              </a:lnSpc>
              <a:buNone/>
            </a:pPr>
            <a:endParaRPr lang="zh-CN" altLang="en-US" sz="4400" dirty="0">
              <a:ea typeface="宋体" panose="02010600030101010101" pitchFamily="2" charset="-122"/>
            </a:endParaRPr>
          </a:p>
        </p:txBody>
      </p:sp>
      <p:sp>
        <p:nvSpPr>
          <p:cNvPr id="6153" name="文本框 3"/>
          <p:cNvSpPr txBox="1"/>
          <p:nvPr/>
        </p:nvSpPr>
        <p:spPr>
          <a:xfrm>
            <a:off x="7048500" y="1651000"/>
            <a:ext cx="1309688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>
              <a:spcBef>
                <a:spcPct val="0"/>
              </a:spcBef>
              <a:buClr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通常可以作为独立的软件产品</a:t>
            </a:r>
            <a:endParaRPr lang="zh-CN" altLang="en-US" sz="16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Layered Protocols (2)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171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A typical message as it appears on the network.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7172" name="Text Box 4"/>
          <p:cNvSpPr txBox="1"/>
          <p:nvPr/>
        </p:nvSpPr>
        <p:spPr>
          <a:xfrm>
            <a:off x="3276600" y="2590800"/>
            <a:ext cx="83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2-2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pic>
        <p:nvPicPr>
          <p:cNvPr id="7173" name="Picture 5"/>
          <p:cNvPicPr>
            <a:picLocks noChangeAspect="1"/>
          </p:cNvPicPr>
          <p:nvPr/>
        </p:nvPicPr>
        <p:blipFill>
          <a:blip r:embed="rId1"/>
          <a:srcRect l="27338" t="44411" r="24345" b="39275"/>
          <a:stretch>
            <a:fillRect/>
          </a:stretch>
        </p:blipFill>
        <p:spPr>
          <a:xfrm>
            <a:off x="266700" y="1143000"/>
            <a:ext cx="8610600" cy="4114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Data Link Layer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8195" name="Rectangle 3"/>
          <p:cNvSpPr>
            <a:spLocks noGrp="1"/>
          </p:cNvSpPr>
          <p:nvPr>
            <p:ph idx="1"/>
          </p:nvPr>
        </p:nvSpPr>
        <p:spPr>
          <a:xfrm>
            <a:off x="704850" y="6081713"/>
            <a:ext cx="8153400" cy="528637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Discussion between a receiver and a sender in the data link layer.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8196" name="Text Box 4"/>
          <p:cNvSpPr txBox="1"/>
          <p:nvPr/>
        </p:nvSpPr>
        <p:spPr>
          <a:xfrm>
            <a:off x="3352800" y="2895600"/>
            <a:ext cx="1600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2-3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pic>
        <p:nvPicPr>
          <p:cNvPr id="8197" name="Picture 5"/>
          <p:cNvPicPr>
            <a:picLocks noChangeAspect="1"/>
          </p:cNvPicPr>
          <p:nvPr/>
        </p:nvPicPr>
        <p:blipFill>
          <a:blip r:embed="rId1"/>
          <a:srcRect l="21567" t="39577" r="20096" b="33987"/>
          <a:stretch>
            <a:fillRect/>
          </a:stretch>
        </p:blipFill>
        <p:spPr>
          <a:xfrm>
            <a:off x="685800" y="963613"/>
            <a:ext cx="7940675" cy="49323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454025" y="0"/>
            <a:ext cx="8689975" cy="79851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TCP/IP</a:t>
            </a:r>
            <a:r>
              <a:rPr lang="zh-CN" altLang="en-US" dirty="0">
                <a:ea typeface="宋体" panose="02010600030101010101" pitchFamily="2" charset="-122"/>
              </a:rPr>
              <a:t>协议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9219" name="Rectangle 3"/>
          <p:cNvSpPr>
            <a:spLocks noGrp="1"/>
          </p:cNvSpPr>
          <p:nvPr>
            <p:ph idx="1"/>
          </p:nvPr>
        </p:nvSpPr>
        <p:spPr>
          <a:xfrm>
            <a:off x="127000" y="846138"/>
            <a:ext cx="8890000" cy="5289550"/>
          </a:xfrm>
          <a:ln/>
        </p:spPr>
        <p:txBody>
          <a:bodyPr vert="horz" wrap="square" lIns="91440" tIns="45720" rIns="91440" bIns="45720" anchor="t" anchorCtr="0"/>
          <a:p>
            <a:pPr marL="0" indent="0" algn="l" eaLnBrk="1" hangingPunct="1">
              <a:lnSpc>
                <a:spcPct val="140000"/>
              </a:lnSpc>
              <a:buNone/>
            </a:pPr>
            <a:r>
              <a:rPr lang="zh-CN" altLang="en-US" sz="2200" dirty="0">
                <a:ea typeface="宋体" panose="02010600030101010101" pitchFamily="2" charset="-122"/>
              </a:rPr>
              <a:t>采用</a:t>
            </a:r>
            <a:r>
              <a:rPr lang="en-US" altLang="zh-CN" sz="2200" dirty="0">
                <a:ea typeface="宋体" panose="02010600030101010101" pitchFamily="2" charset="-122"/>
              </a:rPr>
              <a:t>4</a:t>
            </a:r>
            <a:r>
              <a:rPr lang="zh-CN" altLang="en-US" sz="2200" dirty="0">
                <a:ea typeface="宋体" panose="02010600030101010101" pitchFamily="2" charset="-122"/>
              </a:rPr>
              <a:t>层结构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0" indent="0" algn="l" eaLnBrk="1" hangingPunct="1">
              <a:lnSpc>
                <a:spcPct val="140000"/>
              </a:lnSpc>
              <a:buFont typeface="Wingdings" panose="05000000000000000000" pitchFamily="2" charset="2"/>
              <a:buChar char="u"/>
            </a:pPr>
            <a:r>
              <a:rPr lang="zh-CN" altLang="en-US" sz="2200" b="1" dirty="0">
                <a:ea typeface="宋体" panose="02010600030101010101" pitchFamily="2" charset="-122"/>
              </a:rPr>
              <a:t>网络接口层：</a:t>
            </a:r>
            <a:r>
              <a:rPr lang="zh-CN" altLang="en-US" sz="2200" dirty="0">
                <a:ea typeface="宋体" panose="02010600030101010101" pitchFamily="2" charset="-122"/>
              </a:rPr>
              <a:t>对实际的网络媒体的管理，定义如何使用实际网络（如</a:t>
            </a:r>
            <a:r>
              <a:rPr lang="en-US" altLang="zh-CN" sz="2200" dirty="0">
                <a:ea typeface="宋体" panose="02010600030101010101" pitchFamily="2" charset="-122"/>
              </a:rPr>
              <a:t>Ethernet</a:t>
            </a:r>
            <a:r>
              <a:rPr lang="zh-CN" altLang="en-US" sz="2200" dirty="0">
                <a:ea typeface="宋体" panose="02010600030101010101" pitchFamily="2" charset="-122"/>
              </a:rPr>
              <a:t>、</a:t>
            </a:r>
            <a:r>
              <a:rPr lang="en-US" altLang="zh-CN" sz="2200" dirty="0">
                <a:ea typeface="宋体" panose="02010600030101010101" pitchFamily="2" charset="-122"/>
              </a:rPr>
              <a:t>Serial Line</a:t>
            </a:r>
            <a:r>
              <a:rPr lang="zh-CN" altLang="en-US" sz="2200" dirty="0">
                <a:ea typeface="宋体" panose="02010600030101010101" pitchFamily="2" charset="-122"/>
              </a:rPr>
              <a:t>等）来传送数据。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0" indent="0" algn="l" eaLnBrk="1" hangingPunct="1">
              <a:lnSpc>
                <a:spcPct val="140000"/>
              </a:lnSpc>
              <a:buFont typeface="Wingdings" panose="05000000000000000000" pitchFamily="2" charset="2"/>
              <a:buChar char="u"/>
            </a:pPr>
            <a:r>
              <a:rPr lang="zh-CN" altLang="en-US" sz="2200" b="1" dirty="0">
                <a:ea typeface="宋体" panose="02010600030101010101" pitchFamily="2" charset="-122"/>
              </a:rPr>
              <a:t>互连网络层：</a:t>
            </a:r>
            <a:r>
              <a:rPr lang="zh-CN" altLang="en-US" sz="2200" dirty="0">
                <a:ea typeface="宋体" panose="02010600030101010101" pitchFamily="2" charset="-122"/>
              </a:rPr>
              <a:t>负责提供基本的数据封包传送功能，让每一块数据包都能够到达目的主机（但不检查是否被正确接收），如网际协议（</a:t>
            </a:r>
            <a:r>
              <a:rPr lang="en-US" altLang="zh-CN" sz="2200" dirty="0">
                <a:ea typeface="宋体" panose="02010600030101010101" pitchFamily="2" charset="-122"/>
              </a:rPr>
              <a:t>IP</a:t>
            </a:r>
            <a:r>
              <a:rPr lang="zh-CN" altLang="en-US" sz="2200" dirty="0">
                <a:ea typeface="宋体" panose="02010600030101010101" pitchFamily="2" charset="-122"/>
              </a:rPr>
              <a:t>）。 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0" indent="0" algn="l" eaLnBrk="1" hangingPunct="1">
              <a:lnSpc>
                <a:spcPct val="140000"/>
              </a:lnSpc>
              <a:buFont typeface="Wingdings" panose="05000000000000000000" pitchFamily="2" charset="2"/>
              <a:buChar char="u"/>
            </a:pPr>
            <a:r>
              <a:rPr lang="zh-CN" altLang="en-US" sz="2200" b="1" dirty="0">
                <a:ea typeface="宋体" panose="02010600030101010101" pitchFamily="2" charset="-122"/>
              </a:rPr>
              <a:t>传输层：</a:t>
            </a:r>
            <a:r>
              <a:rPr lang="zh-CN" altLang="en-US" sz="2200" dirty="0">
                <a:ea typeface="宋体" panose="02010600030101010101" pitchFamily="2" charset="-122"/>
              </a:rPr>
              <a:t>提供节点间的数据传送服务，确定数据被送达并接收。如传输控制协议（</a:t>
            </a:r>
            <a:r>
              <a:rPr lang="en-US" altLang="zh-CN" sz="2200" dirty="0">
                <a:ea typeface="宋体" panose="02010600030101010101" pitchFamily="2" charset="-122"/>
              </a:rPr>
              <a:t>TCP</a:t>
            </a:r>
            <a:r>
              <a:rPr lang="zh-CN" altLang="en-US" sz="2200" dirty="0">
                <a:ea typeface="宋体" panose="02010600030101010101" pitchFamily="2" charset="-122"/>
              </a:rPr>
              <a:t>）、用户数据报协议（</a:t>
            </a:r>
            <a:r>
              <a:rPr lang="en-US" altLang="zh-CN" sz="2200" dirty="0">
                <a:ea typeface="宋体" panose="02010600030101010101" pitchFamily="2" charset="-122"/>
              </a:rPr>
              <a:t>UDP</a:t>
            </a:r>
            <a:r>
              <a:rPr lang="zh-CN" altLang="en-US" sz="2200" dirty="0">
                <a:ea typeface="宋体" panose="02010600030101010101" pitchFamily="2" charset="-122"/>
              </a:rPr>
              <a:t>）等，</a:t>
            </a:r>
            <a:r>
              <a:rPr lang="en-US" altLang="zh-CN" sz="2200" dirty="0">
                <a:ea typeface="宋体" panose="02010600030101010101" pitchFamily="2" charset="-122"/>
              </a:rPr>
              <a:t>TCP</a:t>
            </a:r>
            <a:r>
              <a:rPr lang="zh-CN" altLang="en-US" sz="2200" dirty="0">
                <a:ea typeface="宋体" panose="02010600030101010101" pitchFamily="2" charset="-122"/>
              </a:rPr>
              <a:t>和</a:t>
            </a:r>
            <a:r>
              <a:rPr lang="en-US" altLang="zh-CN" sz="2200" dirty="0">
                <a:ea typeface="宋体" panose="02010600030101010101" pitchFamily="2" charset="-122"/>
              </a:rPr>
              <a:t>UDP</a:t>
            </a:r>
            <a:r>
              <a:rPr lang="zh-CN" altLang="en-US" sz="2200" dirty="0">
                <a:ea typeface="宋体" panose="02010600030101010101" pitchFamily="2" charset="-122"/>
              </a:rPr>
              <a:t>给数据包加入传输数据并把它传输到下一层中。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0" indent="0" algn="l" eaLnBrk="1" hangingPunct="1">
              <a:lnSpc>
                <a:spcPct val="140000"/>
              </a:lnSpc>
              <a:buFont typeface="Wingdings" panose="05000000000000000000" pitchFamily="2" charset="2"/>
              <a:buChar char="u"/>
            </a:pPr>
            <a:r>
              <a:rPr lang="zh-CN" altLang="en-US" sz="2200" b="1" dirty="0">
                <a:ea typeface="宋体" panose="02010600030101010101" pitchFamily="2" charset="-122"/>
              </a:rPr>
              <a:t>应用层：</a:t>
            </a:r>
            <a:r>
              <a:rPr lang="zh-CN" altLang="en-US" sz="2200" dirty="0">
                <a:ea typeface="宋体" panose="02010600030101010101" pitchFamily="2" charset="-122"/>
              </a:rPr>
              <a:t>应用程序间沟通层，如简单电子邮件传输（</a:t>
            </a:r>
            <a:r>
              <a:rPr lang="en-US" altLang="zh-CN" sz="2200" dirty="0">
                <a:ea typeface="宋体" panose="02010600030101010101" pitchFamily="2" charset="-122"/>
              </a:rPr>
              <a:t>SMTP</a:t>
            </a:r>
            <a:r>
              <a:rPr lang="zh-CN" altLang="en-US" sz="2200" dirty="0">
                <a:ea typeface="宋体" panose="02010600030101010101" pitchFamily="2" charset="-122"/>
              </a:rPr>
              <a:t>）、文件传输协议</a:t>
            </a:r>
            <a:r>
              <a:rPr lang="zh-CN" altLang="en-US" sz="2200" b="1" dirty="0">
                <a:ea typeface="宋体" panose="02010600030101010101" pitchFamily="2" charset="-122"/>
              </a:rPr>
              <a:t>（</a:t>
            </a:r>
            <a:r>
              <a:rPr lang="en-US" altLang="zh-CN" sz="2200" dirty="0">
                <a:ea typeface="宋体" panose="02010600030101010101" pitchFamily="2" charset="-122"/>
              </a:rPr>
              <a:t>FTP</a:t>
            </a:r>
            <a:r>
              <a:rPr lang="zh-CN" altLang="en-US" sz="2200" dirty="0">
                <a:ea typeface="宋体" panose="02010600030101010101" pitchFamily="2" charset="-122"/>
              </a:rPr>
              <a:t>）、网络远程访问协议（</a:t>
            </a:r>
            <a:r>
              <a:rPr lang="en-US" altLang="zh-CN" sz="2200" dirty="0">
                <a:ea typeface="宋体" panose="02010600030101010101" pitchFamily="2" charset="-122"/>
              </a:rPr>
              <a:t>Telnet</a:t>
            </a:r>
            <a:r>
              <a:rPr lang="zh-CN" altLang="en-US" sz="2200" dirty="0">
                <a:ea typeface="宋体" panose="02010600030101010101" pitchFamily="2" charset="-122"/>
              </a:rPr>
              <a:t>）等。 </a:t>
            </a:r>
            <a:br>
              <a:rPr lang="zh-CN" altLang="en-US" sz="2200" dirty="0">
                <a:ea typeface="宋体" panose="02010600030101010101" pitchFamily="2" charset="-122"/>
              </a:rPr>
            </a:br>
            <a:endParaRPr lang="zh-CN" altLang="en-US" sz="2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8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9851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TCP/IP</a:t>
            </a:r>
            <a:r>
              <a:rPr lang="zh-CN" altLang="en-US" dirty="0">
                <a:ea typeface="宋体" panose="02010600030101010101" pitchFamily="2" charset="-122"/>
              </a:rPr>
              <a:t>协议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0243" name="Rectangle 11"/>
          <p:cNvSpPr/>
          <p:nvPr/>
        </p:nvSpPr>
        <p:spPr>
          <a:xfrm>
            <a:off x="227013" y="641350"/>
            <a:ext cx="8247062" cy="31464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lnSpc>
                <a:spcPct val="150000"/>
              </a:lnSpc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TCP/IP</a:t>
            </a:r>
            <a:r>
              <a:rPr lang="zh-CN" altLang="en-US" sz="1800" dirty="0">
                <a:ea typeface="宋体" panose="02010600030101010101" pitchFamily="2" charset="-122"/>
              </a:rPr>
              <a:t>协议采用</a:t>
            </a:r>
            <a:r>
              <a:rPr lang="zh-CN" altLang="en-US" sz="1800" b="1" dirty="0">
                <a:solidFill>
                  <a:srgbClr val="FF0000"/>
                </a:solidFill>
                <a:ea typeface="宋体" panose="02010600030101010101" pitchFamily="2" charset="-122"/>
              </a:rPr>
              <a:t>三次握手</a:t>
            </a:r>
            <a:r>
              <a:rPr lang="zh-CN" altLang="en-US" sz="1800" dirty="0">
                <a:ea typeface="宋体" panose="02010600030101010101" pitchFamily="2" charset="-122"/>
              </a:rPr>
              <a:t>建立一个可靠的连接，然后双方才开始传送数据。：</a:t>
            </a:r>
            <a:endParaRPr lang="zh-CN" altLang="en-US" sz="1800" dirty="0"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50000"/>
              </a:lnSpc>
              <a:buNone/>
            </a:pPr>
            <a:r>
              <a:rPr lang="zh-CN" altLang="en-US" sz="1800" b="1" dirty="0">
                <a:ea typeface="宋体" panose="02010600030101010101" pitchFamily="2" charset="-122"/>
              </a:rPr>
              <a:t>第一次：</a:t>
            </a:r>
            <a:r>
              <a:rPr lang="zh-CN" altLang="en-US" sz="1800" dirty="0">
                <a:ea typeface="宋体" panose="02010600030101010101" pitchFamily="2" charset="-122"/>
              </a:rPr>
              <a:t>建立连接时，客户端发送</a:t>
            </a:r>
            <a:r>
              <a:rPr lang="en-US" altLang="zh-CN" sz="1800" dirty="0">
                <a:ea typeface="宋体" panose="02010600030101010101" pitchFamily="2" charset="-122"/>
              </a:rPr>
              <a:t>syn</a:t>
            </a:r>
            <a:r>
              <a:rPr lang="zh-CN" altLang="en-US" sz="1800" dirty="0">
                <a:ea typeface="宋体" panose="02010600030101010101" pitchFamily="2" charset="-122"/>
              </a:rPr>
              <a:t>包</a:t>
            </a:r>
            <a:r>
              <a:rPr lang="en-US" altLang="zh-CN" sz="1800" dirty="0">
                <a:ea typeface="宋体" panose="02010600030101010101" pitchFamily="2" charset="-122"/>
              </a:rPr>
              <a:t>(syn=j)</a:t>
            </a:r>
            <a:r>
              <a:rPr lang="zh-CN" altLang="en-US" sz="1800" dirty="0">
                <a:ea typeface="宋体" panose="02010600030101010101" pitchFamily="2" charset="-122"/>
              </a:rPr>
              <a:t>到服务器，并进入</a:t>
            </a:r>
            <a:r>
              <a:rPr lang="en-US" altLang="zh-CN" sz="1800" dirty="0">
                <a:ea typeface="宋体" panose="02010600030101010101" pitchFamily="2" charset="-122"/>
              </a:rPr>
              <a:t>SYN_SEND</a:t>
            </a:r>
            <a:r>
              <a:rPr lang="zh-CN" altLang="en-US" sz="1800" dirty="0">
                <a:ea typeface="宋体" panose="02010600030101010101" pitchFamily="2" charset="-122"/>
              </a:rPr>
              <a:t>状态，等待服务器确认；</a:t>
            </a:r>
            <a:endParaRPr lang="zh-CN" altLang="en-US" sz="1800" dirty="0"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50000"/>
              </a:lnSpc>
              <a:buNone/>
            </a:pPr>
            <a:r>
              <a:rPr lang="zh-CN" altLang="en-US" sz="1800" b="1" dirty="0">
                <a:ea typeface="宋体" panose="02010600030101010101" pitchFamily="2" charset="-122"/>
              </a:rPr>
              <a:t>第二次：</a:t>
            </a:r>
            <a:r>
              <a:rPr lang="zh-CN" altLang="en-US" sz="1800" dirty="0">
                <a:ea typeface="宋体" panose="02010600030101010101" pitchFamily="2" charset="-122"/>
              </a:rPr>
              <a:t>服务器收到</a:t>
            </a:r>
            <a:r>
              <a:rPr lang="en-US" altLang="zh-CN" sz="1800" dirty="0">
                <a:ea typeface="宋体" panose="02010600030101010101" pitchFamily="2" charset="-122"/>
              </a:rPr>
              <a:t>syn</a:t>
            </a:r>
            <a:r>
              <a:rPr lang="zh-CN" altLang="en-US" sz="1800" dirty="0">
                <a:ea typeface="宋体" panose="02010600030101010101" pitchFamily="2" charset="-122"/>
              </a:rPr>
              <a:t>包，必须确认客户的</a:t>
            </a:r>
            <a:r>
              <a:rPr lang="en-US" altLang="zh-CN" sz="1800" dirty="0">
                <a:ea typeface="宋体" panose="02010600030101010101" pitchFamily="2" charset="-122"/>
              </a:rPr>
              <a:t>SYN</a:t>
            </a:r>
            <a:r>
              <a:rPr lang="zh-CN" altLang="en-US" sz="1800" dirty="0">
                <a:ea typeface="宋体" panose="02010600030101010101" pitchFamily="2" charset="-122"/>
              </a:rPr>
              <a:t>（</a:t>
            </a:r>
            <a:r>
              <a:rPr lang="en-US" altLang="zh-CN" sz="1800" dirty="0">
                <a:ea typeface="宋体" panose="02010600030101010101" pitchFamily="2" charset="-122"/>
              </a:rPr>
              <a:t>syn=j+1</a:t>
            </a:r>
            <a:r>
              <a:rPr lang="zh-CN" altLang="en-US" sz="1800" dirty="0">
                <a:ea typeface="宋体" panose="02010600030101010101" pitchFamily="2" charset="-122"/>
              </a:rPr>
              <a:t>），同时自己也发送一个</a:t>
            </a:r>
            <a:r>
              <a:rPr lang="en-US" altLang="zh-CN" sz="1800" dirty="0">
                <a:ea typeface="宋体" panose="02010600030101010101" pitchFamily="2" charset="-122"/>
              </a:rPr>
              <a:t>ACK</a:t>
            </a:r>
            <a:r>
              <a:rPr lang="zh-CN" altLang="en-US" sz="1800" dirty="0">
                <a:ea typeface="宋体" panose="02010600030101010101" pitchFamily="2" charset="-122"/>
              </a:rPr>
              <a:t>包（</a:t>
            </a:r>
            <a:r>
              <a:rPr lang="en-US" altLang="zh-CN" sz="1800" dirty="0">
                <a:ea typeface="宋体" panose="02010600030101010101" pitchFamily="2" charset="-122"/>
              </a:rPr>
              <a:t>ack=k</a:t>
            </a:r>
            <a:r>
              <a:rPr lang="zh-CN" altLang="en-US" sz="1800" dirty="0">
                <a:ea typeface="宋体" panose="02010600030101010101" pitchFamily="2" charset="-122"/>
              </a:rPr>
              <a:t>），即</a:t>
            </a:r>
            <a:r>
              <a:rPr lang="en-US" altLang="zh-CN" sz="1800" dirty="0">
                <a:ea typeface="宋体" panose="02010600030101010101" pitchFamily="2" charset="-122"/>
              </a:rPr>
              <a:t>SYN+ACK</a:t>
            </a:r>
            <a:r>
              <a:rPr lang="zh-CN" altLang="en-US" sz="1800" dirty="0">
                <a:ea typeface="宋体" panose="02010600030101010101" pitchFamily="2" charset="-122"/>
              </a:rPr>
              <a:t>包，此时服务器进入</a:t>
            </a:r>
            <a:r>
              <a:rPr lang="en-US" altLang="zh-CN" sz="1800" dirty="0">
                <a:ea typeface="宋体" panose="02010600030101010101" pitchFamily="2" charset="-122"/>
              </a:rPr>
              <a:t>SYN_RECV</a:t>
            </a:r>
            <a:r>
              <a:rPr lang="zh-CN" altLang="en-US" sz="1800" dirty="0">
                <a:ea typeface="宋体" panose="02010600030101010101" pitchFamily="2" charset="-122"/>
              </a:rPr>
              <a:t>状态；</a:t>
            </a:r>
            <a:endParaRPr lang="zh-CN" altLang="en-US" sz="1800" dirty="0"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50000"/>
              </a:lnSpc>
              <a:buNone/>
            </a:pPr>
            <a:r>
              <a:rPr lang="zh-CN" altLang="en-US" sz="1800" b="1" dirty="0">
                <a:ea typeface="宋体" panose="02010600030101010101" pitchFamily="2" charset="-122"/>
              </a:rPr>
              <a:t>第三次：</a:t>
            </a:r>
            <a:r>
              <a:rPr lang="zh-CN" altLang="en-US" sz="1800" dirty="0">
                <a:ea typeface="宋体" panose="02010600030101010101" pitchFamily="2" charset="-122"/>
              </a:rPr>
              <a:t>客户端收到服务器的</a:t>
            </a:r>
            <a:r>
              <a:rPr lang="en-US" altLang="zh-CN" sz="1800" dirty="0">
                <a:ea typeface="宋体" panose="02010600030101010101" pitchFamily="2" charset="-122"/>
              </a:rPr>
              <a:t>SYN+ACK</a:t>
            </a:r>
            <a:r>
              <a:rPr lang="zh-CN" altLang="en-US" sz="1800" dirty="0">
                <a:ea typeface="宋体" panose="02010600030101010101" pitchFamily="2" charset="-122"/>
              </a:rPr>
              <a:t>包，向服务器发送确认包</a:t>
            </a:r>
            <a:r>
              <a:rPr lang="en-US" altLang="zh-CN" sz="1800" dirty="0">
                <a:ea typeface="宋体" panose="02010600030101010101" pitchFamily="2" charset="-122"/>
              </a:rPr>
              <a:t>ACK(ack=k+1)</a:t>
            </a:r>
            <a:r>
              <a:rPr lang="zh-CN" altLang="en-US" sz="1800" dirty="0">
                <a:ea typeface="宋体" panose="02010600030101010101" pitchFamily="2" charset="-122"/>
              </a:rPr>
              <a:t>，此包发送完毕，双方进入</a:t>
            </a:r>
            <a:r>
              <a:rPr lang="en-US" altLang="zh-CN" sz="1800" dirty="0">
                <a:ea typeface="宋体" panose="02010600030101010101" pitchFamily="2" charset="-122"/>
              </a:rPr>
              <a:t>ESTABLISHED</a:t>
            </a:r>
            <a:r>
              <a:rPr lang="zh-CN" altLang="en-US" sz="1800" dirty="0">
                <a:ea typeface="宋体" panose="02010600030101010101" pitchFamily="2" charset="-122"/>
              </a:rPr>
              <a:t>状态，完成三次握手。</a:t>
            </a:r>
            <a:endParaRPr lang="zh-CN" altLang="en-US" sz="1800" dirty="0">
              <a:ea typeface="宋体" panose="02010600030101010101" pitchFamily="2" charset="-122"/>
            </a:endParaRPr>
          </a:p>
        </p:txBody>
      </p:sp>
      <p:pic>
        <p:nvPicPr>
          <p:cNvPr id="10244" name="Picture 6" descr="在这里插入图片描述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8913" y="3787775"/>
            <a:ext cx="5662612" cy="29733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xfrm>
            <a:off x="454025" y="0"/>
            <a:ext cx="8689975" cy="79851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TCP</a:t>
            </a:r>
            <a:r>
              <a:rPr lang="zh-CN" altLang="en-US" dirty="0">
                <a:ea typeface="宋体" panose="02010600030101010101" pitchFamily="2" charset="-122"/>
              </a:rPr>
              <a:t>的漏洞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1267" name="Rectangle 11"/>
          <p:cNvSpPr/>
          <p:nvPr/>
        </p:nvSpPr>
        <p:spPr>
          <a:xfrm>
            <a:off x="209550" y="631825"/>
            <a:ext cx="8831263" cy="54371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lnSpc>
                <a:spcPct val="150000"/>
              </a:lnSpc>
              <a:buNone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DoS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中的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Syn Flood: </a:t>
            </a:r>
            <a:endParaRPr lang="en-US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50000"/>
              </a:lnSpc>
              <a:buNone/>
            </a:pPr>
            <a:r>
              <a:rPr lang="zh-CN" altLang="en-US" sz="1800" b="1" dirty="0">
                <a:ea typeface="宋体" panose="02010600030101010101" pitchFamily="2" charset="-122"/>
              </a:rPr>
              <a:t>第二次：</a:t>
            </a:r>
            <a:r>
              <a:rPr lang="zh-CN" altLang="en-US" sz="1800" dirty="0">
                <a:ea typeface="宋体" panose="02010600030101010101" pitchFamily="2" charset="-122"/>
              </a:rPr>
              <a:t>服务器发送一个</a:t>
            </a:r>
            <a:r>
              <a:rPr lang="en-US" altLang="zh-CN" sz="1800" dirty="0">
                <a:ea typeface="宋体" panose="02010600030101010101" pitchFamily="2" charset="-122"/>
              </a:rPr>
              <a:t>SYN+ACK</a:t>
            </a:r>
            <a:r>
              <a:rPr lang="zh-CN" altLang="en-US" sz="1800" dirty="0">
                <a:ea typeface="宋体" panose="02010600030101010101" pitchFamily="2" charset="-122"/>
              </a:rPr>
              <a:t>后，服务器进入</a:t>
            </a:r>
            <a:r>
              <a:rPr lang="en-US" altLang="zh-CN" sz="1800" dirty="0">
                <a:ea typeface="宋体" panose="02010600030101010101" pitchFamily="2" charset="-122"/>
              </a:rPr>
              <a:t>SYN_RECV</a:t>
            </a:r>
            <a:r>
              <a:rPr lang="zh-CN" altLang="en-US" sz="1800" dirty="0">
                <a:ea typeface="宋体" panose="02010600030101010101" pitchFamily="2" charset="-122"/>
              </a:rPr>
              <a:t>状态等待客户端返回</a:t>
            </a:r>
            <a:r>
              <a:rPr lang="en-US" altLang="zh-CN" sz="1800" dirty="0">
                <a:ea typeface="宋体" panose="02010600030101010101" pitchFamily="2" charset="-122"/>
              </a:rPr>
              <a:t>ACK</a:t>
            </a:r>
            <a:r>
              <a:rPr lang="zh-CN" altLang="en-US" sz="1800" dirty="0">
                <a:ea typeface="宋体" panose="02010600030101010101" pitchFamily="2" charset="-122"/>
              </a:rPr>
              <a:t>，如果没收到</a:t>
            </a:r>
            <a:r>
              <a:rPr lang="en-US" altLang="zh-CN" sz="1800" dirty="0">
                <a:ea typeface="宋体" panose="02010600030101010101" pitchFamily="2" charset="-122"/>
              </a:rPr>
              <a:t>ACK</a:t>
            </a:r>
            <a:r>
              <a:rPr lang="zh-CN" altLang="en-US" sz="1800" dirty="0">
                <a:ea typeface="宋体" panose="02010600030101010101" pitchFamily="2" charset="-122"/>
              </a:rPr>
              <a:t>一般会重试并等待一段时间后丢弃这个未完成的连接，一般是</a:t>
            </a:r>
            <a:r>
              <a:rPr lang="en-US" altLang="zh-CN" sz="1800" dirty="0">
                <a:ea typeface="宋体" panose="02010600030101010101" pitchFamily="2" charset="-122"/>
              </a:rPr>
              <a:t>30</a:t>
            </a:r>
            <a:r>
              <a:rPr lang="zh-CN" altLang="en-US" sz="1800" dirty="0">
                <a:ea typeface="宋体" panose="02010600030101010101" pitchFamily="2" charset="-122"/>
              </a:rPr>
              <a:t>秒到</a:t>
            </a:r>
            <a:r>
              <a:rPr lang="en-US" altLang="zh-CN" sz="1800" dirty="0">
                <a:ea typeface="宋体" panose="02010600030101010101" pitchFamily="2" charset="-122"/>
              </a:rPr>
              <a:t>2</a:t>
            </a:r>
            <a:r>
              <a:rPr lang="zh-CN" altLang="en-US" sz="1800" dirty="0">
                <a:ea typeface="宋体" panose="02010600030101010101" pitchFamily="2" charset="-122"/>
              </a:rPr>
              <a:t>分钟</a:t>
            </a:r>
            <a:r>
              <a:rPr lang="en-US" altLang="zh-CN" sz="1800" dirty="0">
                <a:ea typeface="宋体" panose="02010600030101010101" pitchFamily="2" charset="-122"/>
              </a:rPr>
              <a:t>(</a:t>
            </a:r>
            <a:r>
              <a:rPr lang="zh-CN" altLang="en-US" sz="1800" dirty="0">
                <a:ea typeface="宋体" panose="02010600030101010101" pitchFamily="2" charset="-122"/>
              </a:rPr>
              <a:t>称为</a:t>
            </a:r>
            <a:r>
              <a:rPr lang="en-US" altLang="zh-CN" sz="1800" dirty="0">
                <a:ea typeface="宋体" panose="02010600030101010101" pitchFamily="2" charset="-122"/>
              </a:rPr>
              <a:t>SYN Timeout);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50000"/>
              </a:lnSpc>
              <a:buNone/>
            </a:pPr>
            <a:endParaRPr lang="en-US" altLang="zh-CN" sz="1800" dirty="0"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50000"/>
              </a:lnSpc>
              <a:buNone/>
            </a:pPr>
            <a:endParaRPr lang="en-US" altLang="zh-CN" sz="1800" dirty="0"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50000"/>
              </a:lnSpc>
              <a:buNone/>
            </a:pPr>
            <a:endParaRPr lang="en-US" altLang="zh-CN" sz="1800" dirty="0"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50000"/>
              </a:lnSpc>
              <a:buNone/>
            </a:pPr>
            <a:endParaRPr lang="en-US" altLang="zh-CN" sz="1800" dirty="0"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50000"/>
              </a:lnSpc>
              <a:buNone/>
            </a:pPr>
            <a:endParaRPr lang="en-US" altLang="zh-CN" sz="1800" dirty="0"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50000"/>
              </a:lnSpc>
              <a:buNone/>
            </a:pPr>
            <a:endParaRPr lang="zh-CN" altLang="en-US" sz="1800" dirty="0"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50000"/>
              </a:lnSpc>
              <a:buNone/>
            </a:pPr>
            <a:r>
              <a:rPr lang="zh-CN" altLang="en-US" sz="1800" dirty="0">
                <a:ea typeface="宋体" panose="02010600030101010101" pitchFamily="2" charset="-122"/>
              </a:rPr>
              <a:t>        如果一个恶意攻击者大量模拟这种情况，服务器将维护一个非常大的半连接列表，即使是简单的保存与遍历也会消耗大量的</a:t>
            </a:r>
            <a:r>
              <a:rPr lang="en-US" altLang="zh-CN" sz="1800" dirty="0">
                <a:ea typeface="宋体" panose="02010600030101010101" pitchFamily="2" charset="-122"/>
              </a:rPr>
              <a:t>CPU</a:t>
            </a:r>
            <a:r>
              <a:rPr lang="zh-CN" altLang="en-US" sz="1800" dirty="0">
                <a:ea typeface="宋体" panose="02010600030101010101" pitchFamily="2" charset="-122"/>
              </a:rPr>
              <a:t>时间和内存</a:t>
            </a:r>
            <a:r>
              <a:rPr lang="en-US" altLang="zh-CN" sz="1800" dirty="0">
                <a:ea typeface="宋体" panose="02010600030101010101" pitchFamily="2" charset="-122"/>
              </a:rPr>
              <a:t>(</a:t>
            </a:r>
            <a:r>
              <a:rPr lang="zh-CN" altLang="en-US" sz="1800" dirty="0">
                <a:ea typeface="宋体" panose="02010600030101010101" pitchFamily="2" charset="-122"/>
              </a:rPr>
              <a:t>不断的</a:t>
            </a:r>
            <a:r>
              <a:rPr lang="en-US" altLang="zh-CN" sz="1800" dirty="0">
                <a:ea typeface="宋体" panose="02010600030101010101" pitchFamily="2" charset="-122"/>
              </a:rPr>
              <a:t>SYN+ACK</a:t>
            </a:r>
            <a:r>
              <a:rPr lang="zh-CN" altLang="en-US" sz="1800" dirty="0">
                <a:ea typeface="宋体" panose="02010600030101010101" pitchFamily="2" charset="-122"/>
              </a:rPr>
              <a:t>重试）</a:t>
            </a:r>
            <a:r>
              <a:rPr lang="en-US" altLang="zh-CN" sz="1800" dirty="0">
                <a:ea typeface="宋体" panose="02010600030101010101" pitchFamily="2" charset="-122"/>
              </a:rPr>
              <a:t>,</a:t>
            </a:r>
            <a:r>
              <a:rPr lang="zh-CN" altLang="en-US" sz="1800" dirty="0">
                <a:ea typeface="宋体" panose="02010600030101010101" pitchFamily="2" charset="-122"/>
              </a:rPr>
              <a:t>造成堆栈溢出崩溃，无暇理睬客户的正常请求。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50000"/>
              </a:lnSpc>
              <a:buNone/>
            </a:pPr>
            <a:r>
              <a:rPr lang="zh-CN" altLang="en-US" sz="1800" dirty="0">
                <a:ea typeface="宋体" panose="02010600030101010101" pitchFamily="2" charset="-122"/>
              </a:rPr>
              <a:t>    </a:t>
            </a:r>
            <a:endParaRPr lang="zh-CN" altLang="en-US" sz="1800" dirty="0">
              <a:ea typeface="宋体" panose="02010600030101010101" pitchFamily="2" charset="-122"/>
            </a:endParaRPr>
          </a:p>
        </p:txBody>
      </p:sp>
      <p:sp>
        <p:nvSpPr>
          <p:cNvPr id="11268" name="椭圆 1"/>
          <p:cNvSpPr/>
          <p:nvPr/>
        </p:nvSpPr>
        <p:spPr>
          <a:xfrm>
            <a:off x="5884863" y="3341688"/>
            <a:ext cx="947737" cy="639762"/>
          </a:xfrm>
          <a:prstGeom prst="ellipse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lnSpc>
                <a:spcPct val="120000"/>
              </a:lnSpc>
              <a:buNone/>
            </a:pPr>
            <a:endParaRPr lang="zh-CN" altLang="en-US" sz="4400" dirty="0">
              <a:ea typeface="宋体" panose="02010600030101010101" pitchFamily="2" charset="-122"/>
            </a:endParaRPr>
          </a:p>
        </p:txBody>
      </p:sp>
      <p:grpSp>
        <p:nvGrpSpPr>
          <p:cNvPr id="11269" name="组合 5"/>
          <p:cNvGrpSpPr/>
          <p:nvPr/>
        </p:nvGrpSpPr>
        <p:grpSpPr>
          <a:xfrm>
            <a:off x="3816350" y="2211388"/>
            <a:ext cx="5086350" cy="2593975"/>
            <a:chOff x="3816060" y="2211032"/>
            <a:chExt cx="5086350" cy="2593975"/>
          </a:xfrm>
        </p:grpSpPr>
        <p:pic>
          <p:nvPicPr>
            <p:cNvPr id="11270" name="图片 5" descr="三次握手图.gif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16060" y="2211032"/>
              <a:ext cx="5086350" cy="259397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271" name="椭圆 4"/>
            <p:cNvSpPr/>
            <p:nvPr/>
          </p:nvSpPr>
          <p:spPr>
            <a:xfrm>
              <a:off x="6308838" y="3233749"/>
              <a:ext cx="2593572" cy="398913"/>
            </a:xfrm>
            <a:prstGeom prst="ellipse">
              <a:avLst/>
            </a:prstGeom>
            <a:noFill/>
            <a:ln w="127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algn="l" eaLnBrk="1" hangingPunct="1">
                <a:lnSpc>
                  <a:spcPct val="120000"/>
                </a:lnSpc>
                <a:buNone/>
              </a:pPr>
              <a:endParaRPr lang="zh-CN" altLang="en-US" sz="4400" dirty="0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8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9851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Client-Server TCP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2291" name="Rectangle 9"/>
          <p:cNvSpPr>
            <a:spLocks noGrp="1"/>
          </p:cNvSpPr>
          <p:nvPr>
            <p:ph idx="1"/>
          </p:nvPr>
        </p:nvSpPr>
        <p:spPr>
          <a:xfrm>
            <a:off x="398463" y="5416550"/>
            <a:ext cx="8455025" cy="1031875"/>
          </a:xfrm>
          <a:ln/>
        </p:spPr>
        <p:txBody>
          <a:bodyPr vert="horz" wrap="square" lIns="91440" tIns="45720" rIns="91440" bIns="45720" anchor="t" anchorCtr="0"/>
          <a:p>
            <a:pPr marL="609600" indent="-609600" algn="l" eaLnBrk="1" hangingPunct="1"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(a)Normal operation of TCP</a:t>
            </a:r>
            <a:r>
              <a:rPr lang="zh-CN" altLang="en-US" sz="1800" dirty="0">
                <a:ea typeface="宋体" panose="02010600030101010101" pitchFamily="2" charset="-122"/>
              </a:rPr>
              <a:t>（不支持基于同步请求－应答方式的Ｃ</a:t>
            </a:r>
            <a:r>
              <a:rPr lang="en-US" altLang="zh-CN" sz="1800" dirty="0">
                <a:ea typeface="宋体" panose="02010600030101010101" pitchFamily="2" charset="-122"/>
              </a:rPr>
              <a:t>/</a:t>
            </a:r>
            <a:r>
              <a:rPr lang="zh-CN" altLang="en-US" sz="1800" dirty="0">
                <a:ea typeface="宋体" panose="02010600030101010101" pitchFamily="2" charset="-122"/>
              </a:rPr>
              <a:t>Ｓ交互过程）</a:t>
            </a:r>
            <a:r>
              <a:rPr lang="en-US" altLang="zh-CN" sz="1800" dirty="0">
                <a:ea typeface="宋体" panose="02010600030101010101" pitchFamily="2" charset="-122"/>
              </a:rPr>
              <a:t>.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marL="609600" indent="-609600" algn="l" eaLnBrk="1" hangingPunct="1"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(b)Transactional TCP.</a:t>
            </a:r>
            <a:r>
              <a:rPr lang="zh-CN" altLang="en-US" sz="1800" dirty="0">
                <a:ea typeface="宋体" panose="02010600030101010101" pitchFamily="2" charset="-122"/>
              </a:rPr>
              <a:t>（适用于Ｃ</a:t>
            </a:r>
            <a:r>
              <a:rPr lang="en-US" altLang="zh-CN" sz="1800" dirty="0">
                <a:ea typeface="宋体" panose="02010600030101010101" pitchFamily="2" charset="-122"/>
              </a:rPr>
              <a:t>/</a:t>
            </a:r>
            <a:r>
              <a:rPr lang="zh-CN" altLang="en-US" sz="1800" dirty="0">
                <a:ea typeface="宋体" panose="02010600030101010101" pitchFamily="2" charset="-122"/>
              </a:rPr>
              <a:t>Ｓ的交互，减少交互次数），性能与</a:t>
            </a:r>
            <a:r>
              <a:rPr lang="en-US" altLang="zh-CN" sz="1800" dirty="0">
                <a:ea typeface="宋体" panose="02010600030101010101" pitchFamily="2" charset="-122"/>
              </a:rPr>
              <a:t>UDP</a:t>
            </a:r>
            <a:r>
              <a:rPr lang="zh-CN" altLang="en-US" sz="1800" dirty="0">
                <a:ea typeface="宋体" panose="02010600030101010101" pitchFamily="2" charset="-122"/>
              </a:rPr>
              <a:t>相当，且具有可靠性和适应性，相对</a:t>
            </a:r>
            <a:r>
              <a:rPr lang="en-US" altLang="zh-CN" sz="1800" dirty="0">
                <a:ea typeface="宋体" panose="02010600030101010101" pitchFamily="2" charset="-122"/>
              </a:rPr>
              <a:t>UDP</a:t>
            </a:r>
            <a:r>
              <a:rPr lang="zh-CN" altLang="en-US" sz="1800" dirty="0">
                <a:ea typeface="宋体" panose="02010600030101010101" pitchFamily="2" charset="-122"/>
              </a:rPr>
              <a:t>来说都是很大的改进。</a:t>
            </a:r>
            <a:endParaRPr lang="zh-CN" altLang="en-US" sz="1800" dirty="0">
              <a:ea typeface="宋体" panose="02010600030101010101" pitchFamily="2" charset="-122"/>
            </a:endParaRPr>
          </a:p>
          <a:p>
            <a:pPr marL="609600" indent="-609600" algn="l" eaLnBrk="1" hangingPunct="1">
              <a:buNone/>
            </a:pPr>
            <a:r>
              <a:rPr lang="zh-CN" altLang="en-US" sz="1800" dirty="0">
                <a:ea typeface="宋体" panose="02010600030101010101" pitchFamily="2" charset="-122"/>
              </a:rPr>
              <a:t>　</a:t>
            </a:r>
            <a:endParaRPr lang="zh-CN" altLang="en-US" sz="1800" dirty="0">
              <a:ea typeface="宋体" panose="02010600030101010101" pitchFamily="2" charset="-122"/>
            </a:endParaRPr>
          </a:p>
        </p:txBody>
      </p:sp>
      <p:pic>
        <p:nvPicPr>
          <p:cNvPr id="12292" name="Picture 10"/>
          <p:cNvPicPr>
            <a:picLocks noChangeAspect="1"/>
          </p:cNvPicPr>
          <p:nvPr/>
        </p:nvPicPr>
        <p:blipFill>
          <a:blip r:embed="rId1"/>
          <a:srcRect l="20096" t="38066" r="17104" b="30815"/>
          <a:stretch>
            <a:fillRect/>
          </a:stretch>
        </p:blipFill>
        <p:spPr>
          <a:xfrm>
            <a:off x="531813" y="938213"/>
            <a:ext cx="8201025" cy="43386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31838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Middleware Protocols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>
          <a:xfrm>
            <a:off x="1217613" y="4271963"/>
            <a:ext cx="6973887" cy="4191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An adapted reference model for networked communication.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grpSp>
        <p:nvGrpSpPr>
          <p:cNvPr id="13316" name="组合 2"/>
          <p:cNvGrpSpPr/>
          <p:nvPr/>
        </p:nvGrpSpPr>
        <p:grpSpPr>
          <a:xfrm>
            <a:off x="268288" y="731838"/>
            <a:ext cx="8240712" cy="3567112"/>
            <a:chOff x="461963" y="1030288"/>
            <a:chExt cx="8240712" cy="4940300"/>
          </a:xfrm>
        </p:grpSpPr>
        <p:pic>
          <p:nvPicPr>
            <p:cNvPr id="13318" name="Picture 5"/>
            <p:cNvPicPr>
              <a:picLocks noChangeAspect="1"/>
            </p:cNvPicPr>
            <p:nvPr/>
          </p:nvPicPr>
          <p:blipFill>
            <a:blip r:embed="rId1"/>
            <a:srcRect l="28220" t="41692" r="24345" b="35951"/>
            <a:stretch>
              <a:fillRect/>
            </a:stretch>
          </p:blipFill>
          <p:spPr>
            <a:xfrm>
              <a:off x="461963" y="1030288"/>
              <a:ext cx="8240712" cy="494030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19" name="椭圆 1"/>
            <p:cNvSpPr/>
            <p:nvPr/>
          </p:nvSpPr>
          <p:spPr>
            <a:xfrm>
              <a:off x="3541222" y="2313536"/>
              <a:ext cx="3092335" cy="532303"/>
            </a:xfrm>
            <a:prstGeom prst="ellipse">
              <a:avLst/>
            </a:prstGeom>
            <a:noFill/>
            <a:ln w="127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algn="l" eaLnBrk="1" hangingPunct="1">
                <a:lnSpc>
                  <a:spcPct val="120000"/>
                </a:lnSpc>
                <a:buNone/>
              </a:pPr>
              <a:endParaRPr lang="zh-CN" altLang="en-US" sz="4400" dirty="0">
                <a:ea typeface="宋体" panose="02010600030101010101" pitchFamily="2" charset="-122"/>
              </a:endParaRPr>
            </a:p>
          </p:txBody>
        </p:sp>
      </p:grp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0" y="4718050"/>
            <a:ext cx="6932613" cy="1955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6286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许多应用层协议可以由中间件协议完成：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10858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高级消息传递（隐藏通信）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10858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身份认证（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authentication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）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10858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分布式提交协议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10858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分布式锁定协议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10858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......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3"/>
          <p:cNvSpPr>
            <a:spLocks noGrp="1"/>
          </p:cNvSpPr>
          <p:nvPr>
            <p:ph idx="1"/>
          </p:nvPr>
        </p:nvSpPr>
        <p:spPr>
          <a:xfrm>
            <a:off x="168275" y="4408488"/>
            <a:ext cx="3595688" cy="1979612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1984年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Birrell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等提出了远程过程调用机制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RPC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remote procedure call）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，允许程序去调用位于其它机器上的过程。</a:t>
            </a: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4339" name="组合 1"/>
          <p:cNvGrpSpPr/>
          <p:nvPr/>
        </p:nvGrpSpPr>
        <p:grpSpPr>
          <a:xfrm>
            <a:off x="4019550" y="3940175"/>
            <a:ext cx="4845050" cy="2727325"/>
            <a:chOff x="1677988" y="2635250"/>
            <a:chExt cx="5826125" cy="3989388"/>
          </a:xfrm>
        </p:grpSpPr>
        <p:sp>
          <p:nvSpPr>
            <p:cNvPr id="4" name="Rectangle 3"/>
            <p:cNvSpPr txBox="1">
              <a:spLocks noChangeArrowheads="1"/>
            </p:cNvSpPr>
            <p:nvPr/>
          </p:nvSpPr>
          <p:spPr bwMode="auto">
            <a:xfrm>
              <a:off x="1899427" y="6185760"/>
              <a:ext cx="5182808" cy="43887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marL="342900" marR="0" indent="-342900" algn="ctr" defTabSz="914400"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SzTx/>
                <a:buFontTx/>
                <a:buNone/>
                <a:defRPr/>
              </a:pPr>
              <a:r>
                <a:rPr kumimoji="0" lang="en-US" altLang="zh-CN" sz="1600" kern="0" cap="none" spc="0" normalizeH="0" baseline="0" noProof="0" dirty="0">
                  <a:latin typeface="+mn-lt"/>
                  <a:ea typeface="宋体" panose="02010600030101010101" pitchFamily="2" charset="-122"/>
                  <a:cs typeface="+mn-cs"/>
                </a:rPr>
                <a:t>Remote Procedure Call paradigm</a:t>
              </a:r>
              <a:endParaRPr kumimoji="0" lang="en-US" altLang="zh-CN" sz="1600" kern="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43" name="Rectangle 7"/>
            <p:cNvSpPr/>
            <p:nvPr/>
          </p:nvSpPr>
          <p:spPr>
            <a:xfrm>
              <a:off x="1677988" y="3175000"/>
              <a:ext cx="1536700" cy="2790825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algn="l" eaLnBrk="1" hangingPunct="1">
                <a:lnSpc>
                  <a:spcPct val="120000"/>
                </a:lnSpc>
                <a:buNone/>
              </a:pPr>
              <a:endParaRPr lang="zh-CN" altLang="en-US" sz="1600" dirty="0">
                <a:ea typeface="宋体" panose="02010600030101010101" pitchFamily="2" charset="-122"/>
              </a:endParaRPr>
            </a:p>
          </p:txBody>
        </p:sp>
        <p:sp>
          <p:nvSpPr>
            <p:cNvPr id="14344" name="Rectangle 8"/>
            <p:cNvSpPr/>
            <p:nvPr/>
          </p:nvSpPr>
          <p:spPr>
            <a:xfrm>
              <a:off x="3589338" y="3773488"/>
              <a:ext cx="2039937" cy="51435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algn="l" eaLnBrk="1" hangingPunct="1">
                <a:lnSpc>
                  <a:spcPct val="120000"/>
                </a:lnSpc>
                <a:buNone/>
              </a:pPr>
              <a:endParaRPr lang="zh-CN" altLang="en-US" sz="1600" dirty="0">
                <a:ea typeface="宋体" panose="02010600030101010101" pitchFamily="2" charset="-122"/>
              </a:endParaRPr>
            </a:p>
          </p:txBody>
        </p:sp>
        <p:sp>
          <p:nvSpPr>
            <p:cNvPr id="14345" name="Rectangle 9"/>
            <p:cNvSpPr/>
            <p:nvPr/>
          </p:nvSpPr>
          <p:spPr>
            <a:xfrm>
              <a:off x="3616325" y="4733925"/>
              <a:ext cx="2039938" cy="51435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algn="l" eaLnBrk="1" hangingPunct="1">
                <a:lnSpc>
                  <a:spcPct val="120000"/>
                </a:lnSpc>
                <a:buNone/>
              </a:pPr>
              <a:endParaRPr lang="zh-CN" altLang="en-US" sz="1600" dirty="0">
                <a:ea typeface="宋体" panose="02010600030101010101" pitchFamily="2" charset="-122"/>
              </a:endParaRPr>
            </a:p>
          </p:txBody>
        </p:sp>
        <p:sp>
          <p:nvSpPr>
            <p:cNvPr id="14346" name="Rectangle 10"/>
            <p:cNvSpPr/>
            <p:nvPr/>
          </p:nvSpPr>
          <p:spPr>
            <a:xfrm>
              <a:off x="5967413" y="3138488"/>
              <a:ext cx="1536700" cy="279082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algn="l" eaLnBrk="1" hangingPunct="1">
                <a:lnSpc>
                  <a:spcPct val="120000"/>
                </a:lnSpc>
                <a:buNone/>
              </a:pPr>
              <a:endParaRPr lang="zh-CN" altLang="en-US" sz="1600" dirty="0">
                <a:ea typeface="宋体" panose="02010600030101010101" pitchFamily="2" charset="-122"/>
              </a:endParaRPr>
            </a:p>
          </p:txBody>
        </p:sp>
        <p:sp>
          <p:nvSpPr>
            <p:cNvPr id="14347" name="Rectangle 11"/>
            <p:cNvSpPr/>
            <p:nvPr/>
          </p:nvSpPr>
          <p:spPr>
            <a:xfrm>
              <a:off x="1770063" y="2635250"/>
              <a:ext cx="1308100" cy="6330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algn="l" eaLnBrk="1" hangingPunct="1">
                <a:lnSpc>
                  <a:spcPct val="120000"/>
                </a:lnSpc>
                <a:buNone/>
              </a:pPr>
              <a:r>
                <a:rPr lang="en-US" altLang="zh-CN" sz="1600" dirty="0">
                  <a:ea typeface="宋体" panose="02010600030101010101" pitchFamily="2" charset="-122"/>
                </a:rPr>
                <a:t>Process A</a:t>
              </a:r>
              <a:endParaRPr lang="zh-CN" altLang="en-US" sz="1600" dirty="0">
                <a:ea typeface="宋体" panose="02010600030101010101" pitchFamily="2" charset="-122"/>
              </a:endParaRPr>
            </a:p>
          </p:txBody>
        </p:sp>
        <p:sp>
          <p:nvSpPr>
            <p:cNvPr id="14348" name="Rectangle 12"/>
            <p:cNvSpPr/>
            <p:nvPr/>
          </p:nvSpPr>
          <p:spPr>
            <a:xfrm>
              <a:off x="5967413" y="2681287"/>
              <a:ext cx="1308100" cy="6330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algn="l" eaLnBrk="1" hangingPunct="1">
                <a:lnSpc>
                  <a:spcPct val="120000"/>
                </a:lnSpc>
                <a:buNone/>
              </a:pPr>
              <a:r>
                <a:rPr lang="en-US" altLang="zh-CN" sz="1600" dirty="0">
                  <a:ea typeface="宋体" panose="02010600030101010101" pitchFamily="2" charset="-122"/>
                </a:rPr>
                <a:t>Process B</a:t>
              </a:r>
              <a:endParaRPr lang="zh-CN" altLang="en-US" sz="1600" dirty="0">
                <a:ea typeface="宋体" panose="02010600030101010101" pitchFamily="2" charset="-122"/>
              </a:endParaRPr>
            </a:p>
          </p:txBody>
        </p:sp>
        <p:sp>
          <p:nvSpPr>
            <p:cNvPr id="14349" name="Rectangle 13"/>
            <p:cNvSpPr/>
            <p:nvPr/>
          </p:nvSpPr>
          <p:spPr>
            <a:xfrm>
              <a:off x="6461125" y="3738563"/>
              <a:ext cx="515938" cy="154781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algn="l" eaLnBrk="1" hangingPunct="1">
                <a:lnSpc>
                  <a:spcPct val="120000"/>
                </a:lnSpc>
                <a:buNone/>
              </a:pPr>
              <a:endParaRPr lang="zh-CN" altLang="en-US" sz="1600" dirty="0">
                <a:ea typeface="宋体" panose="02010600030101010101" pitchFamily="2" charset="-122"/>
              </a:endParaRPr>
            </a:p>
          </p:txBody>
        </p:sp>
        <p:sp>
          <p:nvSpPr>
            <p:cNvPr id="14350" name="Rectangle 14"/>
            <p:cNvSpPr/>
            <p:nvPr/>
          </p:nvSpPr>
          <p:spPr>
            <a:xfrm>
              <a:off x="3757613" y="3838575"/>
              <a:ext cx="1895410" cy="6330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algn="l" eaLnBrk="1" hangingPunct="1">
                <a:lnSpc>
                  <a:spcPct val="120000"/>
                </a:lnSpc>
                <a:buNone/>
              </a:pPr>
              <a:r>
                <a:rPr lang="en-US" altLang="zh-CN" sz="1600" dirty="0">
                  <a:ea typeface="宋体" panose="02010600030101010101" pitchFamily="2" charset="-122"/>
                </a:rPr>
                <a:t>Proc1(arg1,arg2)</a:t>
              </a:r>
              <a:endParaRPr lang="zh-CN" altLang="en-US" sz="1600" dirty="0">
                <a:ea typeface="宋体" panose="02010600030101010101" pitchFamily="2" charset="-122"/>
              </a:endParaRPr>
            </a:p>
          </p:txBody>
        </p:sp>
        <p:sp>
          <p:nvSpPr>
            <p:cNvPr id="14351" name="Rectangle 15"/>
            <p:cNvSpPr/>
            <p:nvPr/>
          </p:nvSpPr>
          <p:spPr>
            <a:xfrm>
              <a:off x="4183063" y="4810124"/>
              <a:ext cx="962004" cy="6330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algn="l" eaLnBrk="1" hangingPunct="1">
                <a:lnSpc>
                  <a:spcPct val="120000"/>
                </a:lnSpc>
                <a:buNone/>
              </a:pPr>
              <a:r>
                <a:rPr lang="zh-CN" altLang="en-US" sz="1600" dirty="0">
                  <a:ea typeface="宋体" panose="02010600030101010101" pitchFamily="2" charset="-122"/>
                </a:rPr>
                <a:t>返回值</a:t>
              </a:r>
              <a:endParaRPr lang="zh-CN" altLang="en-US" sz="1600" dirty="0">
                <a:ea typeface="宋体" panose="02010600030101010101" pitchFamily="2" charset="-122"/>
              </a:endParaRPr>
            </a:p>
          </p:txBody>
        </p:sp>
        <p:sp>
          <p:nvSpPr>
            <p:cNvPr id="14352" name="Line 16"/>
            <p:cNvSpPr/>
            <p:nvPr/>
          </p:nvSpPr>
          <p:spPr>
            <a:xfrm>
              <a:off x="2389188" y="3636963"/>
              <a:ext cx="0" cy="4111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53" name="Line 17"/>
            <p:cNvSpPr/>
            <p:nvPr/>
          </p:nvSpPr>
          <p:spPr>
            <a:xfrm>
              <a:off x="2393950" y="4037013"/>
              <a:ext cx="118427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54" name="Line 18"/>
            <p:cNvSpPr/>
            <p:nvPr/>
          </p:nvSpPr>
          <p:spPr>
            <a:xfrm flipH="1">
              <a:off x="2428875" y="4968875"/>
              <a:ext cx="118427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55" name="Line 19"/>
            <p:cNvSpPr/>
            <p:nvPr/>
          </p:nvSpPr>
          <p:spPr>
            <a:xfrm>
              <a:off x="2428875" y="4968875"/>
              <a:ext cx="0" cy="55086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4356" name="Line 20"/>
            <p:cNvSpPr/>
            <p:nvPr/>
          </p:nvSpPr>
          <p:spPr>
            <a:xfrm>
              <a:off x="5629275" y="3995738"/>
              <a:ext cx="10207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57" name="Line 21"/>
            <p:cNvSpPr/>
            <p:nvPr/>
          </p:nvSpPr>
          <p:spPr>
            <a:xfrm>
              <a:off x="6661150" y="3995738"/>
              <a:ext cx="0" cy="10080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58" name="Line 22"/>
            <p:cNvSpPr/>
            <p:nvPr/>
          </p:nvSpPr>
          <p:spPr>
            <a:xfrm flipH="1">
              <a:off x="5618163" y="5003800"/>
              <a:ext cx="104298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4340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5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3.2.Remote Procedure Call---RPC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4" name="Rectangle 6"/>
          <p:cNvSpPr txBox="1">
            <a:spLocks noChangeArrowheads="1"/>
          </p:cNvSpPr>
          <p:nvPr/>
        </p:nvSpPr>
        <p:spPr bwMode="auto">
          <a:xfrm>
            <a:off x="222250" y="711200"/>
            <a:ext cx="8793163" cy="33766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Many distributed systems have been based on explicit message exchange between process. However, the procedures send and receive do not conceal communication, which is important to achieve </a:t>
            </a: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access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transparency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in distributed systems.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Middleware communication protocols support high-level communication services (concealing communication). for example, RPC, ROI, Message Queuing Service etc.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Conventional Procedure Call</a:t>
            </a:r>
            <a:r>
              <a:rPr lang="zh-CN" altLang="en-US" sz="3600" dirty="0">
                <a:ea typeface="宋体" panose="02010600030101010101" pitchFamily="2" charset="-122"/>
              </a:rPr>
              <a:t>（单机）</a:t>
            </a:r>
            <a:endParaRPr lang="zh-CN" altLang="en-US" sz="3600" dirty="0">
              <a:ea typeface="宋体" panose="02010600030101010101" pitchFamily="2" charset="-122"/>
            </a:endParaRPr>
          </a:p>
        </p:txBody>
      </p:sp>
      <p:pic>
        <p:nvPicPr>
          <p:cNvPr id="15363" name="Picture 4"/>
          <p:cNvPicPr>
            <a:picLocks noChangeAspect="1"/>
          </p:cNvPicPr>
          <p:nvPr/>
        </p:nvPicPr>
        <p:blipFill>
          <a:blip r:embed="rId1"/>
          <a:srcRect l="30573" t="42900" r="27792" b="37009"/>
          <a:stretch>
            <a:fillRect/>
          </a:stretch>
        </p:blipFill>
        <p:spPr>
          <a:xfrm>
            <a:off x="2951163" y="1509713"/>
            <a:ext cx="5976937" cy="39131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64" name="Rectangle 5"/>
          <p:cNvSpPr/>
          <p:nvPr/>
        </p:nvSpPr>
        <p:spPr>
          <a:xfrm>
            <a:off x="3881438" y="5589588"/>
            <a:ext cx="876300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None/>
            </a:pPr>
            <a:r>
              <a:rPr lang="zh-CN" altLang="en-US" sz="1800" dirty="0">
                <a:ea typeface="宋体" panose="02010600030101010101" pitchFamily="2" charset="-122"/>
              </a:rPr>
              <a:t>调用前</a:t>
            </a:r>
            <a:endParaRPr lang="zh-CN" altLang="en-US" sz="1800" dirty="0">
              <a:ea typeface="宋体" panose="02010600030101010101" pitchFamily="2" charset="-122"/>
            </a:endParaRPr>
          </a:p>
        </p:txBody>
      </p:sp>
      <p:sp>
        <p:nvSpPr>
          <p:cNvPr id="15365" name="Rectangle 6"/>
          <p:cNvSpPr/>
          <p:nvPr/>
        </p:nvSpPr>
        <p:spPr>
          <a:xfrm>
            <a:off x="6824663" y="5589588"/>
            <a:ext cx="877887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None/>
            </a:pPr>
            <a:r>
              <a:rPr lang="zh-CN" altLang="en-US" sz="1800" dirty="0">
                <a:ea typeface="宋体" panose="02010600030101010101" pitchFamily="2" charset="-122"/>
              </a:rPr>
              <a:t>执行中</a:t>
            </a:r>
            <a:endParaRPr lang="zh-CN" altLang="en-US" sz="1800" dirty="0">
              <a:ea typeface="宋体" panose="02010600030101010101" pitchFamily="2" charset="-122"/>
            </a:endParaRPr>
          </a:p>
        </p:txBody>
      </p:sp>
      <p:sp>
        <p:nvSpPr>
          <p:cNvPr id="15366" name="Rectangle 5"/>
          <p:cNvSpPr/>
          <p:nvPr/>
        </p:nvSpPr>
        <p:spPr>
          <a:xfrm>
            <a:off x="139700" y="890588"/>
            <a:ext cx="5387975" cy="2862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just" eaLnBrk="1" hangingPunct="1">
              <a:lnSpc>
                <a:spcPct val="200000"/>
              </a:lnSpc>
              <a:spcBef>
                <a:spcPct val="0"/>
              </a:spcBef>
              <a:buClrTx/>
              <a:buNone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单机上过程调用：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count=read(fd，buf，nbytes); 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algn="just">
              <a:lnSpc>
                <a:spcPct val="200000"/>
              </a:lnSpc>
              <a:spcBef>
                <a:spcPct val="0"/>
              </a:spcBef>
              <a:buClrTx/>
              <a:buNone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　 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-fd——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整数 </a:t>
            </a: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algn="just">
              <a:lnSpc>
                <a:spcPct val="200000"/>
              </a:lnSpc>
              <a:spcBef>
                <a:spcPct val="0"/>
              </a:spcBef>
              <a:buClrTx/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-buf——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字符型数组</a:t>
            </a: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algn="just">
              <a:lnSpc>
                <a:spcPct val="200000"/>
              </a:lnSpc>
              <a:spcBef>
                <a:spcPct val="0"/>
              </a:spcBef>
              <a:buClrTx/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-nbytes——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整数</a:t>
            </a: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algn="just">
              <a:lnSpc>
                <a:spcPct val="200000"/>
              </a:lnSpc>
              <a:spcBef>
                <a:spcPct val="0"/>
              </a:spcBef>
              <a:buClrTx/>
              <a:buNone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调用堆栈的情况如图所示：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3888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Client and Server Stubs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>
          <a:xfrm>
            <a:off x="352425" y="623888"/>
            <a:ext cx="8294688" cy="422275"/>
          </a:xfrm>
          <a:ln/>
        </p:spPr>
        <p:txBody>
          <a:bodyPr vert="horz" wrap="square" lIns="91440" tIns="45720" rIns="91440" bIns="45720" anchor="t" anchorCtr="0"/>
          <a:p>
            <a:pPr algn="l" eaLnBrk="1" hangingPunct="1">
              <a:buFont typeface="Wingdings" panose="05000000000000000000" pitchFamily="2" charset="2"/>
              <a:buChar char="u"/>
            </a:pPr>
            <a:r>
              <a:rPr lang="en-US" altLang="zh-CN" sz="2400" dirty="0">
                <a:ea typeface="宋体" panose="02010600030101010101" pitchFamily="2" charset="-122"/>
              </a:rPr>
              <a:t>Principle of RPC between a client and server program.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pic>
        <p:nvPicPr>
          <p:cNvPr id="16388" name="Picture 5"/>
          <p:cNvPicPr>
            <a:picLocks noChangeAspect="1"/>
          </p:cNvPicPr>
          <p:nvPr/>
        </p:nvPicPr>
        <p:blipFill>
          <a:blip r:embed="rId1"/>
          <a:srcRect l="32710" t="45317" r="30786" b="41087"/>
          <a:stretch>
            <a:fillRect/>
          </a:stretch>
        </p:blipFill>
        <p:spPr>
          <a:xfrm>
            <a:off x="1662113" y="1155700"/>
            <a:ext cx="5424487" cy="2774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89" name="矩形 4"/>
          <p:cNvSpPr/>
          <p:nvPr/>
        </p:nvSpPr>
        <p:spPr>
          <a:xfrm>
            <a:off x="939800" y="4064000"/>
            <a:ext cx="6869113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sz="2400" dirty="0">
                <a:solidFill>
                  <a:srgbClr val="FF0000"/>
                </a:solidFill>
                <a:ea typeface="楷体_GB2312" pitchFamily="49" charset="-122"/>
              </a:rPr>
              <a:t>How to make a RPC look as possible like a local one? </a:t>
            </a:r>
            <a:endParaRPr lang="en-US" altLang="zh-CN" sz="2400" dirty="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16390" name="Rectangle 4"/>
          <p:cNvSpPr/>
          <p:nvPr/>
        </p:nvSpPr>
        <p:spPr>
          <a:xfrm>
            <a:off x="457200" y="4776788"/>
            <a:ext cx="8404225" cy="16906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sz="2200" dirty="0">
                <a:ea typeface="楷体_GB2312" pitchFamily="49" charset="-122"/>
              </a:rPr>
              <a:t>Separation between </a:t>
            </a:r>
            <a:r>
              <a:rPr lang="en-US" altLang="zh-CN" sz="2200" dirty="0">
                <a:solidFill>
                  <a:srgbClr val="FF0000"/>
                </a:solidFill>
                <a:ea typeface="楷体_GB2312" pitchFamily="49" charset="-122"/>
              </a:rPr>
              <a:t>interfaces</a:t>
            </a:r>
            <a:r>
              <a:rPr lang="en-US" altLang="zh-CN" sz="2200" dirty="0">
                <a:ea typeface="楷体_GB2312" pitchFamily="49" charset="-122"/>
              </a:rPr>
              <a:t> and the procedure </a:t>
            </a:r>
            <a:r>
              <a:rPr lang="en-US" altLang="zh-CN" sz="2200" dirty="0">
                <a:solidFill>
                  <a:srgbClr val="FF0000"/>
                </a:solidFill>
                <a:ea typeface="楷体_GB2312" pitchFamily="49" charset="-122"/>
              </a:rPr>
              <a:t>implementing</a:t>
            </a:r>
            <a:r>
              <a:rPr lang="en-US" altLang="zh-CN" sz="2200" dirty="0">
                <a:ea typeface="楷体_GB2312" pitchFamily="49" charset="-122"/>
              </a:rPr>
              <a:t>. An interface at one machine, while the procedure itself resides on another machine.                </a:t>
            </a:r>
            <a:r>
              <a:rPr lang="en-US" altLang="zh-CN" sz="2200" b="1" u="sng" dirty="0">
                <a:solidFill>
                  <a:srgbClr val="FF0000"/>
                </a:solidFill>
                <a:ea typeface="楷体_GB2312" pitchFamily="49" charset="-122"/>
              </a:rPr>
              <a:t>Client stub </a:t>
            </a:r>
            <a:r>
              <a:rPr lang="zh-CN" altLang="en-US" sz="2200" b="1" u="sng" dirty="0">
                <a:solidFill>
                  <a:srgbClr val="FF0000"/>
                </a:solidFill>
                <a:ea typeface="楷体_GB2312" pitchFamily="49" charset="-122"/>
              </a:rPr>
              <a:t>与</a:t>
            </a:r>
            <a:r>
              <a:rPr lang="en-US" altLang="zh-CN" sz="2200" b="1" u="sng" dirty="0">
                <a:solidFill>
                  <a:srgbClr val="FF0000"/>
                </a:solidFill>
                <a:ea typeface="楷体_GB2312" pitchFamily="49" charset="-122"/>
              </a:rPr>
              <a:t>Server stub</a:t>
            </a:r>
            <a:endParaRPr lang="zh-CN" altLang="en-US" sz="2200" b="1" u="sng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1155700" y="0"/>
            <a:ext cx="6400800" cy="6477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Client and Server Stubs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17411" name="Object 8"/>
          <p:cNvGraphicFramePr>
            <a:graphicFrameLocks noChangeAspect="1"/>
          </p:cNvGraphicFramePr>
          <p:nvPr/>
        </p:nvGraphicFramePr>
        <p:xfrm>
          <a:off x="-30162" y="833438"/>
          <a:ext cx="4084637" cy="298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3252470" imgH="1900555" progId="Visio.Drawing.11">
                  <p:embed/>
                </p:oleObj>
              </mc:Choice>
              <mc:Fallback>
                <p:oleObj name="" r:id="rId1" imgW="3252470" imgH="1900555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-30162" y="833438"/>
                        <a:ext cx="4084637" cy="2981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Rectangle 9"/>
          <p:cNvSpPr/>
          <p:nvPr/>
        </p:nvSpPr>
        <p:spPr>
          <a:xfrm>
            <a:off x="352425" y="3751263"/>
            <a:ext cx="3275013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Stubs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RPC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调用中的作用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413" name="矩形 1"/>
          <p:cNvSpPr/>
          <p:nvPr/>
        </p:nvSpPr>
        <p:spPr>
          <a:xfrm>
            <a:off x="684213" y="531813"/>
            <a:ext cx="2611437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>
              <a:spcBef>
                <a:spcPct val="0"/>
              </a:spcBef>
              <a:buClrTx/>
              <a:buNone/>
            </a:pPr>
            <a:r>
              <a:rPr lang="en-US" altLang="zh-CN" sz="1600" dirty="0">
                <a:solidFill>
                  <a:srgbClr val="FF0000"/>
                </a:solidFill>
                <a:ea typeface="宋体" panose="02010600030101010101" pitchFamily="2" charset="-122"/>
              </a:rPr>
              <a:t>    Client Stubs/Server Stubs</a:t>
            </a:r>
            <a:endParaRPr lang="zh-CN" altLang="en-US" sz="16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054475" y="2324100"/>
            <a:ext cx="4568825" cy="60007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anose="02020603050405020304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anose="02020603050405020304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anose="02020603050405020304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Steps of a Remote Procedure Call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567113" y="3000375"/>
            <a:ext cx="5543550" cy="38068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+mj-ea"/>
              <a:buAutoNum type="circleNumDbPlain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Client procedure calls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client stub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in normal way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+mj-ea"/>
              <a:buAutoNum type="circleNumDbPlain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Client stub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builds message, calls local OS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+mj-ea"/>
              <a:buAutoNum type="circleNumDbPlain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Client's OS sends message to remote OS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+mj-ea"/>
              <a:buAutoNum type="circleNumDbPlain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Remote OS gives message to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server stub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+mj-ea"/>
              <a:buAutoNum type="circleNumDbPlain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Server stub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unpacks parameters, calls server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+mj-ea"/>
              <a:buAutoNum type="circleNumDbPlain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Server does work, returns result to the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stub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+mj-ea"/>
              <a:buAutoNum type="circleNumDbPlain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Server stub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packs it in message, calls local OS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+mj-ea"/>
              <a:buAutoNum type="circleNumDbPlain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Server's OS sends message to client's OS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+mj-ea"/>
              <a:buAutoNum type="circleNumDbPlain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Client's OS gives message to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client stub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+mj-ea"/>
              <a:buAutoNum type="circleNumDbPlain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Stub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unpacks result, returns to client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Passing Value Parameters (1)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8435" name="Rectangle 3"/>
          <p:cNvSpPr>
            <a:spLocks noGrp="1"/>
          </p:cNvSpPr>
          <p:nvPr>
            <p:ph idx="1"/>
          </p:nvPr>
        </p:nvSpPr>
        <p:spPr>
          <a:xfrm>
            <a:off x="0" y="6311900"/>
            <a:ext cx="9144000" cy="531813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Steps involved in doing remote computation through RPC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18436" name="Text Box 4"/>
          <p:cNvSpPr txBox="1"/>
          <p:nvPr/>
        </p:nvSpPr>
        <p:spPr>
          <a:xfrm>
            <a:off x="2743200" y="2209800"/>
            <a:ext cx="2362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2-8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pic>
        <p:nvPicPr>
          <p:cNvPr id="18437" name="Picture 5"/>
          <p:cNvPicPr>
            <a:picLocks noChangeAspect="1"/>
          </p:cNvPicPr>
          <p:nvPr/>
        </p:nvPicPr>
        <p:blipFill>
          <a:blip r:embed="rId1"/>
          <a:srcRect l="18814" t="41541" r="17531" b="36253"/>
          <a:stretch>
            <a:fillRect/>
          </a:stretch>
        </p:blipFill>
        <p:spPr>
          <a:xfrm>
            <a:off x="474663" y="950913"/>
            <a:ext cx="8943975" cy="52609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39775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Passing Value Parameters (2)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296863" y="4683125"/>
            <a:ext cx="8724900" cy="19415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AutoNum type="alphaLcParenR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Original message on the Pentium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AutoNum type="alphaLcParenR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The message after receipt on the SPARC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AutoNum type="alphaLcParenR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The message after being inverted. The little numbers in boxes indicate the address of each byte（5,LLIJ)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将整数和字符串区别表示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数字以位对换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字符以字节对换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，则可以正确翻译。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9460" name="Picture 4"/>
          <p:cNvPicPr>
            <a:picLocks noChangeAspect="1"/>
          </p:cNvPicPr>
          <p:nvPr/>
        </p:nvPicPr>
        <p:blipFill>
          <a:blip r:embed="rId1"/>
          <a:srcRect l="21593" t="46979" r="20309" b="42296"/>
          <a:stretch>
            <a:fillRect/>
          </a:stretch>
        </p:blipFill>
        <p:spPr>
          <a:xfrm>
            <a:off x="885825" y="2536825"/>
            <a:ext cx="7372350" cy="21986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1" name="Rectangle 5"/>
          <p:cNvSpPr/>
          <p:nvPr/>
        </p:nvSpPr>
        <p:spPr>
          <a:xfrm>
            <a:off x="1228725" y="2486025"/>
            <a:ext cx="2130425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右向左编号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19462" name="Rectangle 6"/>
          <p:cNvSpPr/>
          <p:nvPr/>
        </p:nvSpPr>
        <p:spPr>
          <a:xfrm>
            <a:off x="3838575" y="2482850"/>
            <a:ext cx="1466850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左向右编号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19463" name="Rectangle 6"/>
          <p:cNvSpPr/>
          <p:nvPr/>
        </p:nvSpPr>
        <p:spPr>
          <a:xfrm>
            <a:off x="296863" y="739775"/>
            <a:ext cx="8164512" cy="1754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266700" algn="l" eaLnBrk="1" hangingPunct="1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分布式系统通常由异构结点组成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各结点数据表示方式可能不同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266700" algn="just" eaLnBrk="1" hangingPunct="1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  例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IBM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主机使用的是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EBCDIC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码，而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IBM PC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中使用的是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ASCII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码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266700" algn="just" eaLnBrk="1" hangingPunct="1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  例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Intel 80486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中字节是从右向左编号，格式称为最低有效字节优先，而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SPARC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中则相反，格式称为最高有效字节优先。</a:t>
            </a: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Passing Reference Parameters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xfrm>
            <a:off x="376238" y="1028700"/>
            <a:ext cx="8035925" cy="3305175"/>
          </a:xfrm>
          <a:ln/>
        </p:spPr>
        <p:txBody>
          <a:bodyPr vert="horz" wrap="square" lIns="91440" tIns="45720" rIns="91440" bIns="45720" anchor="t" anchorCtr="0"/>
          <a:p>
            <a:pPr marL="0" indent="0" algn="l" eaLnBrk="1" hangingPunct="1">
              <a:lnSpc>
                <a:spcPct val="150000"/>
              </a:lnSpc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解决思路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l" eaLnBrk="1" hangingPunct="1">
              <a:lnSpc>
                <a:spcPct val="150000"/>
              </a:lnSpc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1.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不允许传递引用参数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l" eaLnBrk="1" hangingPunct="1">
              <a:lnSpc>
                <a:spcPct val="150000"/>
              </a:lnSpc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2.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将参数数组传给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Server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后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再生成指针使用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完成后再按同样方式返回给客户端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l" eaLnBrk="1" hangingPunct="1">
              <a:lnSpc>
                <a:spcPct val="150000"/>
              </a:lnSpc>
              <a:buNone/>
            </a:pP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14300" y="4076700"/>
            <a:ext cx="6991350" cy="876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800" kern="0" cap="none" spc="0" normalizeH="0" baseline="0" noProof="0" dirty="0">
                <a:solidFill>
                  <a:srgbClr val="FF0000"/>
                </a:solidFill>
                <a:latin typeface="+mj-lt"/>
                <a:ea typeface="宋体" panose="02010600030101010101" pitchFamily="2" charset="-122"/>
                <a:cs typeface="+mj-cs"/>
              </a:rPr>
              <a:t>Parameter Specification and Stub Generation</a:t>
            </a:r>
            <a:endParaRPr kumimoji="0" lang="en-US" altLang="zh-CN" sz="2800" kern="0" cap="none" spc="0" normalizeH="0" baseline="0" noProof="0" dirty="0">
              <a:solidFill>
                <a:srgbClr val="FF0000"/>
              </a:solidFill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1268413" y="5141913"/>
            <a:ext cx="3910013" cy="1158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defTabSz="914400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kern="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 建立</a:t>
            </a:r>
            <a:r>
              <a:rPr kumimoji="0" lang="en-US" altLang="zh-CN" sz="2400" kern="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RPC</a:t>
            </a:r>
            <a:r>
              <a:rPr kumimoji="0" lang="zh-CN" altLang="en-US" sz="2400" kern="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协议</a:t>
            </a:r>
            <a:r>
              <a:rPr kumimoji="0" lang="en-US" altLang="zh-CN" sz="2400" kern="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400" kern="0" cap="none" spc="0" normalizeH="0" baseline="0" noProof="0" dirty="0">
              <a:latin typeface="+mn-lt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kern="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 生成</a:t>
            </a:r>
            <a:r>
              <a:rPr kumimoji="0" lang="en-US" altLang="zh-CN" sz="2400" kern="0" cap="none" spc="0" normalizeH="0" baseline="0" noProof="0" dirty="0">
                <a:latin typeface="+mn-lt"/>
                <a:ea typeface="宋体" panose="02010600030101010101" pitchFamily="2" charset="-122"/>
                <a:cs typeface="+mn-cs"/>
              </a:rPr>
              <a:t>Client/Server Stub;</a:t>
            </a:r>
            <a:endParaRPr kumimoji="0" lang="en-US" altLang="zh-CN" sz="2400" kern="0" cap="none" spc="0" normalizeH="0" baseline="0" noProof="0" dirty="0"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Parameter Specification and Stub Generation</a:t>
            </a:r>
            <a:endParaRPr lang="en-US" altLang="zh-CN" sz="3600" dirty="0">
              <a:ea typeface="宋体" panose="02010600030101010101" pitchFamily="2" charset="-122"/>
            </a:endParaRPr>
          </a:p>
        </p:txBody>
      </p:sp>
      <p:pic>
        <p:nvPicPr>
          <p:cNvPr id="21507" name="Picture 3"/>
          <p:cNvPicPr>
            <a:picLocks noChangeAspect="1"/>
          </p:cNvPicPr>
          <p:nvPr/>
        </p:nvPicPr>
        <p:blipFill>
          <a:blip r:embed="rId1"/>
          <a:srcRect l="26910" t="44109" r="24345" b="37462"/>
          <a:stretch>
            <a:fillRect/>
          </a:stretch>
        </p:blipFill>
        <p:spPr>
          <a:xfrm>
            <a:off x="533400" y="1143000"/>
            <a:ext cx="7886700" cy="5095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08" name="Rectangle 4"/>
          <p:cNvSpPr>
            <a:spLocks noGrp="1"/>
          </p:cNvSpPr>
          <p:nvPr>
            <p:ph idx="1"/>
          </p:nvPr>
        </p:nvSpPr>
        <p:spPr>
          <a:xfrm>
            <a:off x="357188" y="885825"/>
            <a:ext cx="5373687" cy="2635250"/>
          </a:xfrm>
          <a:ln/>
        </p:spPr>
        <p:txBody>
          <a:bodyPr vert="horz" wrap="square" lIns="91440" tIns="45720" rIns="91440" bIns="45720" anchor="t" anchorCtr="0"/>
          <a:p>
            <a:pPr marL="0" indent="0" algn="l" eaLnBrk="1" hangingPunct="1">
              <a:lnSpc>
                <a:spcPct val="130000"/>
              </a:lnSpc>
              <a:buNone/>
            </a:pPr>
            <a:r>
              <a:rPr lang="zh-CN" altLang="en-US" sz="2000" b="1" dirty="0">
                <a:solidFill>
                  <a:srgbClr val="FF0000"/>
                </a:solidFill>
                <a:ea typeface="宋体" panose="02010600030101010101" pitchFamily="2" charset="-122"/>
              </a:rPr>
              <a:t>建立 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RPC</a:t>
            </a:r>
            <a:r>
              <a:rPr lang="zh-CN" altLang="en-US" sz="2000" b="1" dirty="0">
                <a:solidFill>
                  <a:srgbClr val="FF0000"/>
                </a:solidFill>
                <a:ea typeface="宋体" panose="02010600030101010101" pitchFamily="2" charset="-122"/>
              </a:rPr>
              <a:t>协议：</a:t>
            </a:r>
            <a:r>
              <a:rPr lang="zh-CN" altLang="en-US" sz="2000" dirty="0">
                <a:ea typeface="宋体" panose="02010600030101010101" pitchFamily="2" charset="-122"/>
              </a:rPr>
              <a:t>建立数据表示的标准及对复杂数据操作时遵循的步骤，实现调用者之间消息格式的一致性</a:t>
            </a:r>
            <a:r>
              <a:rPr lang="en-US" altLang="zh-CN" sz="2000" dirty="0">
                <a:ea typeface="宋体" panose="02010600030101010101" pitchFamily="2" charset="-122"/>
              </a:rPr>
              <a:t>.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0" indent="0" algn="l" eaLnBrk="1" hangingPunct="1">
              <a:lnSpc>
                <a:spcPct val="130000"/>
              </a:lnSpc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例如，规定</a:t>
            </a:r>
            <a:r>
              <a:rPr lang="en-US" altLang="zh-CN" sz="2000" dirty="0">
                <a:ea typeface="宋体" panose="02010600030101010101" pitchFamily="2" charset="-122"/>
              </a:rPr>
              <a:t>:   </a:t>
            </a:r>
            <a:r>
              <a:rPr lang="zh-CN" altLang="en-US" sz="2000" dirty="0">
                <a:ea typeface="宋体" panose="02010600030101010101" pitchFamily="2" charset="-122"/>
              </a:rPr>
              <a:t>字符</a:t>
            </a:r>
            <a:r>
              <a:rPr lang="en-US" altLang="zh-CN" sz="2000" dirty="0">
                <a:ea typeface="宋体" panose="02010600030101010101" pitchFamily="2" charset="-122"/>
              </a:rPr>
              <a:t>: </a:t>
            </a:r>
            <a:r>
              <a:rPr lang="zh-CN" altLang="en-US" sz="2000" dirty="0">
                <a:ea typeface="宋体" panose="02010600030101010101" pitchFamily="2" charset="-122"/>
              </a:rPr>
              <a:t>字的最右</a:t>
            </a:r>
            <a:endParaRPr lang="zh-CN" altLang="en-US" sz="2000" dirty="0">
              <a:ea typeface="宋体" panose="02010600030101010101" pitchFamily="2" charset="-122"/>
            </a:endParaRPr>
          </a:p>
          <a:p>
            <a:pPr marL="0" indent="0" algn="l" eaLnBrk="1" hangingPunct="1">
              <a:lnSpc>
                <a:spcPct val="130000"/>
              </a:lnSpc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                        俘点</a:t>
            </a:r>
            <a:r>
              <a:rPr lang="en-US" altLang="zh-CN" sz="2000" dirty="0">
                <a:ea typeface="宋体" panose="02010600030101010101" pitchFamily="2" charset="-122"/>
              </a:rPr>
              <a:t>: </a:t>
            </a:r>
            <a:r>
              <a:rPr lang="zh-CN" altLang="en-US" sz="2000" dirty="0">
                <a:ea typeface="宋体" panose="02010600030101010101" pitchFamily="2" charset="-122"/>
              </a:rPr>
              <a:t>一个字</a:t>
            </a:r>
            <a:endParaRPr lang="zh-CN" altLang="en-US" sz="2000" dirty="0">
              <a:ea typeface="宋体" panose="02010600030101010101" pitchFamily="2" charset="-122"/>
            </a:endParaRPr>
          </a:p>
          <a:p>
            <a:pPr marL="0" indent="0" algn="l" eaLnBrk="1" hangingPunct="1">
              <a:lnSpc>
                <a:spcPct val="130000"/>
              </a:lnSpc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                        </a:t>
            </a:r>
            <a:r>
              <a:rPr lang="zh-CN" altLang="en-US" sz="2000" dirty="0">
                <a:ea typeface="宋体" panose="02010600030101010101" pitchFamily="2" charset="-122"/>
              </a:rPr>
              <a:t>数组</a:t>
            </a:r>
            <a:r>
              <a:rPr lang="en-US" altLang="zh-CN" sz="2000" dirty="0">
                <a:ea typeface="宋体" panose="02010600030101010101" pitchFamily="2" charset="-122"/>
              </a:rPr>
              <a:t>: </a:t>
            </a:r>
            <a:r>
              <a:rPr lang="zh-CN" altLang="en-US" sz="2000" dirty="0">
                <a:ea typeface="宋体" panose="02010600030101010101" pitchFamily="2" charset="-122"/>
              </a:rPr>
              <a:t>一组字</a:t>
            </a:r>
            <a:r>
              <a:rPr lang="en-US" altLang="zh-CN" sz="2000" dirty="0">
                <a:ea typeface="宋体" panose="02010600030101010101" pitchFamily="2" charset="-122"/>
              </a:rPr>
              <a:t>, </a:t>
            </a:r>
            <a:r>
              <a:rPr lang="zh-CN" altLang="en-US" sz="2000" dirty="0">
                <a:ea typeface="宋体" panose="02010600030101010101" pitchFamily="2" charset="-122"/>
              </a:rPr>
              <a:t>长度</a:t>
            </a:r>
            <a:r>
              <a:rPr lang="en-US" altLang="zh-CN" sz="2000" dirty="0">
                <a:ea typeface="宋体" panose="02010600030101010101" pitchFamily="2" charset="-122"/>
              </a:rPr>
              <a:t>, </a:t>
            </a:r>
            <a:r>
              <a:rPr lang="zh-CN" altLang="en-US" sz="2000" dirty="0">
                <a:ea typeface="宋体" panose="02010600030101010101" pitchFamily="2" charset="-122"/>
              </a:rPr>
              <a:t>内容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21509" name="Rectangle 5"/>
          <p:cNvSpPr/>
          <p:nvPr/>
        </p:nvSpPr>
        <p:spPr>
          <a:xfrm>
            <a:off x="1377950" y="5711825"/>
            <a:ext cx="1698625" cy="3841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lnSpc>
                <a:spcPct val="80000"/>
              </a:lnSpc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A procedure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21510" name="Rectangle 6"/>
          <p:cNvSpPr/>
          <p:nvPr/>
        </p:nvSpPr>
        <p:spPr>
          <a:xfrm>
            <a:off x="5373688" y="5789613"/>
            <a:ext cx="35845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The corresponding message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3600" dirty="0">
                <a:ea typeface="宋体" panose="02010600030101010101" pitchFamily="2" charset="-122"/>
              </a:rPr>
              <a:t>Binding</a:t>
            </a:r>
            <a:endParaRPr lang="en-US" altLang="zh-CN" sz="3600" dirty="0">
              <a:ea typeface="宋体" panose="02010600030101010101" pitchFamily="2" charset="-122"/>
            </a:endParaRPr>
          </a:p>
        </p:txBody>
      </p:sp>
      <p:pic>
        <p:nvPicPr>
          <p:cNvPr id="3" name="内容占位符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82955" y="1191260"/>
            <a:ext cx="8096885" cy="42481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IDL---Interface Definition Language</a:t>
            </a:r>
            <a:endParaRPr lang="en-US" altLang="zh-CN" sz="3600" dirty="0">
              <a:ea typeface="宋体" panose="02010600030101010101" pitchFamily="2" charset="-122"/>
            </a:endParaRPr>
          </a:p>
        </p:txBody>
      </p:sp>
      <p:sp>
        <p:nvSpPr>
          <p:cNvPr id="22531" name="Rectangle 4"/>
          <p:cNvSpPr>
            <a:spLocks noGrp="1"/>
          </p:cNvSpPr>
          <p:nvPr>
            <p:ph idx="1"/>
          </p:nvPr>
        </p:nvSpPr>
        <p:spPr>
          <a:xfrm>
            <a:off x="254000" y="1055688"/>
            <a:ext cx="8666163" cy="5132387"/>
          </a:xfrm>
          <a:ln/>
        </p:spPr>
        <p:txBody>
          <a:bodyPr vert="horz" wrap="square" lIns="91440" tIns="45720" rIns="91440" bIns="45720" anchor="t" anchorCtr="0"/>
          <a:p>
            <a:pPr marL="0" indent="0" algn="l" eaLnBrk="1" hangingPunct="1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FF0000"/>
                </a:solidFill>
                <a:ea typeface="宋体" panose="02010600030101010101" pitchFamily="2" charset="-122"/>
              </a:rPr>
              <a:t>生成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Client/Server Stub</a:t>
            </a:r>
            <a:r>
              <a:rPr lang="zh-CN" altLang="en-US" sz="2800" b="1" dirty="0">
                <a:solidFill>
                  <a:srgbClr val="FF0000"/>
                </a:solidFill>
                <a:ea typeface="宋体" panose="02010600030101010101" pitchFamily="2" charset="-122"/>
              </a:rPr>
              <a:t>：</a:t>
            </a:r>
            <a:endParaRPr lang="en-US" altLang="zh-CN" sz="28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0" indent="0" algn="l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800" dirty="0">
                <a:ea typeface="宋体" panose="02010600030101010101" pitchFamily="2" charset="-122"/>
              </a:rPr>
              <a:t>Generating client and server stubs using IDL, so all RPC-based middleware systems offer an IDL to support application development.</a:t>
            </a:r>
            <a:r>
              <a:rPr lang="zh-CN" altLang="en-US" sz="2800" dirty="0">
                <a:ea typeface="宋体" panose="02010600030101010101" pitchFamily="2" charset="-122"/>
              </a:rPr>
              <a:t>（</a:t>
            </a:r>
            <a:r>
              <a:rPr lang="zh-CN" altLang="en-US" sz="2400" dirty="0">
                <a:ea typeface="宋体" panose="02010600030101010101" pitchFamily="2" charset="-122"/>
              </a:rPr>
              <a:t>通过对</a:t>
            </a:r>
            <a:r>
              <a:rPr lang="en-US" altLang="zh-CN" sz="2400" dirty="0">
                <a:ea typeface="宋体" panose="02010600030101010101" pitchFamily="2" charset="-122"/>
              </a:rPr>
              <a:t>IDL</a:t>
            </a:r>
            <a:r>
              <a:rPr lang="zh-CN" altLang="en-US" sz="2400" dirty="0">
                <a:ea typeface="宋体" panose="02010600030101010101" pitchFamily="2" charset="-122"/>
              </a:rPr>
              <a:t>进行编译产生</a:t>
            </a:r>
            <a:r>
              <a:rPr lang="en-US" altLang="zh-CN" sz="2800" dirty="0">
                <a:ea typeface="宋体" panose="02010600030101010101" pitchFamily="2" charset="-122"/>
              </a:rPr>
              <a:t>client and server stubs,</a:t>
            </a:r>
            <a:r>
              <a:rPr lang="zh-CN" altLang="en-US" sz="2400" dirty="0">
                <a:ea typeface="宋体" panose="02010600030101010101" pitchFamily="2" charset="-122"/>
              </a:rPr>
              <a:t>见前面的过程</a:t>
            </a:r>
            <a:r>
              <a:rPr lang="zh-CN" altLang="en-US" sz="2800" dirty="0">
                <a:ea typeface="宋体" panose="02010600030101010101" pitchFamily="2" charset="-122"/>
              </a:rPr>
              <a:t>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marL="0" indent="0" algn="l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800" dirty="0">
                <a:ea typeface="宋体" panose="02010600030101010101" pitchFamily="2" charset="-122"/>
              </a:rPr>
              <a:t>Once the RPC protocol has been completely defined, the client and server stubs need to be implemented. 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marL="0" indent="0" algn="l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zh-CN" altLang="en-US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1038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Extended RPC Models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477838" y="793750"/>
            <a:ext cx="7786688" cy="22796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传统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RPC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的特点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: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40005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(1)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必须消息传递；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(2)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隐含同步方式；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RPC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的变种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: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Asynchronous RPC.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Doors: equivalent RPC, for process that are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colocated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on the same machine, called doors.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793750" y="5719763"/>
            <a:ext cx="7848600" cy="7397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AutoNum type="alphaLcParenR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The interconnection between client and server in a traditional RPC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AutoNum type="alphaLcParenR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The interaction using asynchronous RPC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3557" name="Picture 5"/>
          <p:cNvPicPr>
            <a:picLocks noChangeAspect="1"/>
          </p:cNvPicPr>
          <p:nvPr/>
        </p:nvPicPr>
        <p:blipFill>
          <a:blip r:embed="rId1"/>
          <a:srcRect l="20309" t="43806" r="16676" b="39577"/>
          <a:stretch>
            <a:fillRect/>
          </a:stretch>
        </p:blipFill>
        <p:spPr>
          <a:xfrm>
            <a:off x="490538" y="3106738"/>
            <a:ext cx="8453437" cy="23955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/>
          </p:cNvSpPr>
          <p:nvPr>
            <p:ph type="title"/>
          </p:nvPr>
        </p:nvSpPr>
        <p:spPr>
          <a:xfrm>
            <a:off x="-95250" y="-1587"/>
            <a:ext cx="91440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Asynchronous RPC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4579" name="Rectangle 3"/>
          <p:cNvSpPr>
            <a:spLocks noGrp="1"/>
          </p:cNvSpPr>
          <p:nvPr>
            <p:ph idx="1"/>
          </p:nvPr>
        </p:nvSpPr>
        <p:spPr>
          <a:xfrm>
            <a:off x="458788" y="5497513"/>
            <a:ext cx="8189912" cy="498475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A client and server interacting through two asynchronous RPCs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pic>
        <p:nvPicPr>
          <p:cNvPr id="24580" name="Picture 5"/>
          <p:cNvPicPr>
            <a:picLocks noChangeAspect="1"/>
          </p:cNvPicPr>
          <p:nvPr/>
        </p:nvPicPr>
        <p:blipFill>
          <a:blip r:embed="rId1"/>
          <a:srcRect l="24345" t="44713" r="24345" b="39577"/>
          <a:stretch>
            <a:fillRect/>
          </a:stretch>
        </p:blipFill>
        <p:spPr>
          <a:xfrm>
            <a:off x="914400" y="1444625"/>
            <a:ext cx="7124700" cy="37512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5255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dirty="0">
                <a:ea typeface="宋体" panose="02010600030101010101" pitchFamily="2" charset="-122"/>
              </a:rPr>
              <a:t>                           Doors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  <a:t>A door is a generic name for a procedure in the address space of a server process that can be called by process colocated with the server</a:t>
            </a:r>
            <a:r>
              <a:rPr lang="en-US" altLang="zh-CN" sz="2400" dirty="0">
                <a:ea typeface="宋体" panose="02010600030101010101" pitchFamily="2" charset="-122"/>
              </a:rPr>
              <a:t>.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25603" name="Rectangle 3"/>
          <p:cNvSpPr>
            <a:spLocks noGrp="1"/>
          </p:cNvSpPr>
          <p:nvPr>
            <p:ph idx="1"/>
          </p:nvPr>
        </p:nvSpPr>
        <p:spPr>
          <a:xfrm>
            <a:off x="757238" y="6278563"/>
            <a:ext cx="7913687" cy="579437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The principle of using doors as IPC mechanism.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pic>
        <p:nvPicPr>
          <p:cNvPr id="25604" name="Picture 4"/>
          <p:cNvPicPr>
            <a:picLocks noChangeAspect="1"/>
          </p:cNvPicPr>
          <p:nvPr/>
        </p:nvPicPr>
        <p:blipFill>
          <a:blip r:embed="rId1"/>
          <a:srcRect l="24345" t="38972" r="20241" b="33081"/>
          <a:stretch>
            <a:fillRect/>
          </a:stretch>
        </p:blipFill>
        <p:spPr>
          <a:xfrm>
            <a:off x="966788" y="1446213"/>
            <a:ext cx="7483475" cy="48593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Example: DCE RPC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5843" name="Text Box 4"/>
          <p:cNvSpPr txBox="1">
            <a:spLocks noChangeArrowheads="1"/>
          </p:cNvSpPr>
          <p:nvPr/>
        </p:nvSpPr>
        <p:spPr bwMode="auto">
          <a:xfrm>
            <a:off x="127000" y="1106488"/>
            <a:ext cx="8964613" cy="47085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2000" kern="1200" cap="none" spc="0" normalizeH="0" baseline="0" noProof="0" dirty="0">
                <a:latin typeface="+mn-ea"/>
                <a:ea typeface="+mn-ea"/>
                <a:cs typeface="+mn-cs"/>
              </a:rPr>
              <a:t>DCE, which has been developed by the OSF(Open Software Foundation now called the Open Group),which is a true middleware system in that it is designed to execute as a layer of abstraction between existing(network) operating systems and distributed application.</a:t>
            </a:r>
            <a:endParaRPr kumimoji="0" lang="en-US" altLang="zh-CN" sz="2000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2000" kern="1200" cap="none" spc="0" normalizeH="0" baseline="0" noProof="0" dirty="0">
                <a:latin typeface="+mn-ea"/>
                <a:ea typeface="+mn-ea"/>
                <a:cs typeface="+mn-cs"/>
              </a:rPr>
              <a:t>There are a number of services that form part of DCE itself. Such as the distributed file service, directory service, security service, and distributed time service etc. </a:t>
            </a:r>
            <a:endParaRPr kumimoji="0" lang="en-US" altLang="zh-CN" sz="2000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2000" kern="1200" cap="none" spc="0" normalizeH="0" baseline="0" noProof="0" dirty="0">
                <a:latin typeface="+mn-ea"/>
                <a:ea typeface="+mn-ea"/>
                <a:cs typeface="+mn-cs"/>
              </a:rPr>
              <a:t>DCE RPC is highly representative of other RPC systems, and its specification have been adopted in Microsoft’s base system for distributed computing. Linux RPC</a:t>
            </a:r>
            <a:r>
              <a:rPr kumimoji="0" lang="zh-CN" altLang="en-US" sz="2000" kern="1200" cap="none" spc="0" normalizeH="0" baseline="0" noProof="0" dirty="0">
                <a:latin typeface="+mn-ea"/>
                <a:ea typeface="+mn-ea"/>
                <a:cs typeface="+mn-cs"/>
              </a:rPr>
              <a:t>是</a:t>
            </a:r>
            <a:r>
              <a:rPr kumimoji="0" lang="en-US" altLang="zh-CN" sz="2000" kern="1200" cap="none" spc="0" normalizeH="0" baseline="0" noProof="0" dirty="0">
                <a:latin typeface="+mn-ea"/>
                <a:ea typeface="+mn-ea"/>
                <a:cs typeface="+mn-cs"/>
              </a:rPr>
              <a:t>SUN RPC （ONC RPC）.</a:t>
            </a:r>
            <a:endParaRPr kumimoji="0" lang="en-US" altLang="zh-CN" sz="20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Writing a Client and a Server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7651" name="Rectangle 3"/>
          <p:cNvSpPr>
            <a:spLocks noGrp="1"/>
          </p:cNvSpPr>
          <p:nvPr>
            <p:ph idx="1"/>
          </p:nvPr>
        </p:nvSpPr>
        <p:spPr>
          <a:xfrm>
            <a:off x="0" y="6172200"/>
            <a:ext cx="9144000" cy="381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The steps in writing a client and a server in DCE RPC.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27652" name="Text Box 4"/>
          <p:cNvSpPr txBox="1"/>
          <p:nvPr/>
        </p:nvSpPr>
        <p:spPr>
          <a:xfrm>
            <a:off x="3276600" y="2895600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2-14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pic>
        <p:nvPicPr>
          <p:cNvPr id="27653" name="Picture 5"/>
          <p:cNvPicPr>
            <a:picLocks noChangeAspect="1"/>
          </p:cNvPicPr>
          <p:nvPr/>
        </p:nvPicPr>
        <p:blipFill>
          <a:blip r:embed="rId1"/>
          <a:srcRect l="21379" t="34668" r="20738" b="30664"/>
          <a:stretch>
            <a:fillRect/>
          </a:stretch>
        </p:blipFill>
        <p:spPr>
          <a:xfrm>
            <a:off x="169863" y="1000125"/>
            <a:ext cx="7145337" cy="463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654" name="Rectangle 6"/>
          <p:cNvSpPr/>
          <p:nvPr/>
        </p:nvSpPr>
        <p:spPr>
          <a:xfrm>
            <a:off x="4452938" y="1257300"/>
            <a:ext cx="4465637" cy="3016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342900" lvl="0" indent="-342900" algn="l" eaLnBrk="1" hangingPunct="1"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(to generate a prototype IDL file, unique identifier)</a:t>
            </a:r>
            <a:endParaRPr lang="en-US" altLang="zh-CN" sz="1600" dirty="0">
              <a:ea typeface="宋体" panose="02010600030101010101" pitchFamily="2" charset="-122"/>
            </a:endParaRPr>
          </a:p>
        </p:txBody>
      </p:sp>
      <p:sp>
        <p:nvSpPr>
          <p:cNvPr id="27655" name="Rectangle 7"/>
          <p:cNvSpPr/>
          <p:nvPr/>
        </p:nvSpPr>
        <p:spPr>
          <a:xfrm>
            <a:off x="4462463" y="2271713"/>
            <a:ext cx="2244725" cy="3016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342900" lvl="0" indent="-342900" algn="l" eaLnBrk="1" hangingPunct="1"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(for different language)</a:t>
            </a:r>
            <a:endParaRPr lang="en-US" altLang="zh-CN" sz="16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Binding a Client to a Server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8675" name="Rectangle 3"/>
          <p:cNvSpPr>
            <a:spLocks noGrp="1"/>
          </p:cNvSpPr>
          <p:nvPr>
            <p:ph idx="1"/>
          </p:nvPr>
        </p:nvSpPr>
        <p:spPr>
          <a:xfrm>
            <a:off x="0" y="5861050"/>
            <a:ext cx="9144000" cy="99695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Client-to-server binding in DCE.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执行</a:t>
            </a:r>
            <a:r>
              <a:rPr lang="en-US" altLang="zh-CN" sz="2400" dirty="0">
                <a:ea typeface="宋体" panose="02010600030101010101" pitchFamily="2" charset="-122"/>
              </a:rPr>
              <a:t>RPC</a:t>
            </a:r>
            <a:r>
              <a:rPr lang="zh-CN" altLang="en-US" sz="2400" dirty="0">
                <a:ea typeface="宋体" panose="02010600030101010101" pitchFamily="2" charset="-122"/>
              </a:rPr>
              <a:t>前先要绑定到服务器</a:t>
            </a:r>
            <a:r>
              <a:rPr lang="en-US" altLang="zh-CN" sz="2400" dirty="0">
                <a:ea typeface="宋体" panose="02010600030101010101" pitchFamily="2" charset="-122"/>
              </a:rPr>
              <a:t>, </a:t>
            </a:r>
            <a:r>
              <a:rPr lang="zh-CN" altLang="en-US" sz="2400" dirty="0">
                <a:ea typeface="宋体" panose="02010600030101010101" pitchFamily="2" charset="-122"/>
              </a:rPr>
              <a:t>执行</a:t>
            </a:r>
            <a:r>
              <a:rPr lang="en-US" altLang="zh-CN" sz="2400" dirty="0">
                <a:ea typeface="宋体" panose="02010600030101010101" pitchFamily="2" charset="-122"/>
              </a:rPr>
              <a:t>RPC</a:t>
            </a:r>
            <a:r>
              <a:rPr lang="zh-CN" altLang="en-US" sz="2400" dirty="0">
                <a:ea typeface="宋体" panose="02010600030101010101" pitchFamily="2" charset="-122"/>
              </a:rPr>
              <a:t>的过程同前面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28676" name="Text Box 4"/>
          <p:cNvSpPr txBox="1"/>
          <p:nvPr/>
        </p:nvSpPr>
        <p:spPr>
          <a:xfrm>
            <a:off x="3581400" y="2362200"/>
            <a:ext cx="144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2-15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pic>
        <p:nvPicPr>
          <p:cNvPr id="28677" name="Picture 5"/>
          <p:cNvPicPr>
            <a:picLocks noChangeAspect="1"/>
          </p:cNvPicPr>
          <p:nvPr/>
        </p:nvPicPr>
        <p:blipFill>
          <a:blip r:embed="rId1"/>
          <a:srcRect l="19241" t="42900" r="16890" b="37160"/>
          <a:stretch>
            <a:fillRect/>
          </a:stretch>
        </p:blipFill>
        <p:spPr>
          <a:xfrm>
            <a:off x="282575" y="1109663"/>
            <a:ext cx="8602663" cy="4724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678" name="Rectangle 6"/>
          <p:cNvSpPr/>
          <p:nvPr/>
        </p:nvSpPr>
        <p:spPr>
          <a:xfrm>
            <a:off x="6442075" y="2486025"/>
            <a:ext cx="2519363" cy="3016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342900" lvl="0" indent="-342900" algn="l" eaLnBrk="1" hangingPunct="1"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(network address and name)</a:t>
            </a:r>
            <a:endParaRPr lang="en-US" altLang="zh-CN" sz="1600" dirty="0">
              <a:ea typeface="宋体" panose="02010600030101010101" pitchFamily="2" charset="-122"/>
            </a:endParaRPr>
          </a:p>
        </p:txBody>
      </p:sp>
      <p:sp>
        <p:nvSpPr>
          <p:cNvPr id="28679" name="Rectangle 7"/>
          <p:cNvSpPr/>
          <p:nvPr/>
        </p:nvSpPr>
        <p:spPr>
          <a:xfrm>
            <a:off x="7526338" y="4579938"/>
            <a:ext cx="1319212" cy="3016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342900" lvl="0" indent="-342900" algn="l" eaLnBrk="1" hangingPunct="1">
              <a:buNone/>
            </a:pPr>
            <a:r>
              <a:rPr lang="en-US" altLang="zh-CN" sz="1600" b="1" dirty="0">
                <a:ea typeface="宋体" panose="02010600030101010101" pitchFamily="2" charset="-122"/>
              </a:rPr>
              <a:t>(</a:t>
            </a:r>
            <a:r>
              <a:rPr lang="zh-CN" altLang="en-US" sz="1600" b="1" dirty="0">
                <a:ea typeface="宋体" panose="02010600030101010101" pitchFamily="2" charset="-122"/>
              </a:rPr>
              <a:t>确定进程</a:t>
            </a:r>
            <a:r>
              <a:rPr lang="en-US" altLang="zh-CN" sz="1600" b="1" dirty="0">
                <a:ea typeface="宋体" panose="02010600030101010101" pitchFamily="2" charset="-122"/>
              </a:rPr>
              <a:t>)</a:t>
            </a:r>
            <a:endParaRPr lang="en-US" altLang="zh-CN" sz="16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1038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3.3 Remote Object Invocation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9699" name="Text Box 4"/>
          <p:cNvSpPr txBox="1"/>
          <p:nvPr/>
        </p:nvSpPr>
        <p:spPr>
          <a:xfrm>
            <a:off x="306388" y="757238"/>
            <a:ext cx="8531225" cy="1476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342900" lvl="0" indent="-342900" algn="l" eaLnBrk="1" hangingPunct="1"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sz="2000" dirty="0">
                <a:ea typeface="楷体_GB2312" pitchFamily="49" charset="-122"/>
              </a:rPr>
              <a:t>To expand the idea of RPCs to invocations on remote objects. (object-based distributed systems,  CORBA, DCOM, JEE).</a:t>
            </a:r>
            <a:endParaRPr lang="en-US" altLang="zh-CN" sz="2000" dirty="0">
              <a:ea typeface="楷体_GB2312" pitchFamily="49" charset="-122"/>
            </a:endParaRPr>
          </a:p>
          <a:p>
            <a:pPr marL="342900" lvl="0" indent="-342900" algn="l" eaLnBrk="1" hangingPunct="1"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FF0000"/>
                </a:solidFill>
                <a:ea typeface="楷体_GB2312" pitchFamily="49" charset="-122"/>
              </a:rPr>
              <a:t>Separation</a:t>
            </a:r>
            <a:r>
              <a:rPr lang="en-US" altLang="zh-CN" sz="2000" dirty="0">
                <a:ea typeface="楷体_GB2312" pitchFamily="49" charset="-122"/>
              </a:rPr>
              <a:t> between </a:t>
            </a:r>
            <a:r>
              <a:rPr lang="en-US" altLang="zh-CN" sz="2000" dirty="0">
                <a:solidFill>
                  <a:srgbClr val="FF0000"/>
                </a:solidFill>
                <a:ea typeface="楷体_GB2312" pitchFamily="49" charset="-122"/>
              </a:rPr>
              <a:t>interfaces</a:t>
            </a:r>
            <a:r>
              <a:rPr lang="en-US" altLang="zh-CN" sz="2000" dirty="0">
                <a:ea typeface="楷体_GB2312" pitchFamily="49" charset="-122"/>
              </a:rPr>
              <a:t> and the </a:t>
            </a:r>
            <a:r>
              <a:rPr lang="en-US" altLang="zh-CN" sz="2000" dirty="0">
                <a:solidFill>
                  <a:srgbClr val="FF0000"/>
                </a:solidFill>
                <a:ea typeface="楷体_GB2312" pitchFamily="49" charset="-122"/>
              </a:rPr>
              <a:t>objects</a:t>
            </a:r>
            <a:r>
              <a:rPr lang="en-US" altLang="zh-CN" sz="2000" dirty="0">
                <a:ea typeface="楷体_GB2312" pitchFamily="49" charset="-122"/>
              </a:rPr>
              <a:t> implementing. An interface at one machine, while the object itself resides on another machine. </a:t>
            </a:r>
            <a:endParaRPr lang="en-US" altLang="zh-CN" sz="2000" dirty="0">
              <a:ea typeface="楷体_GB2312" pitchFamily="49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11175" y="6159500"/>
            <a:ext cx="8121650" cy="457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Common organization of a remote object with client-side proxy.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9701" name="Picture 5"/>
          <p:cNvPicPr>
            <a:picLocks noChangeAspect="1"/>
          </p:cNvPicPr>
          <p:nvPr/>
        </p:nvPicPr>
        <p:blipFill>
          <a:blip r:embed="rId1"/>
          <a:srcRect l="20309" t="40030" r="17317" b="34743"/>
          <a:stretch>
            <a:fillRect/>
          </a:stretch>
        </p:blipFill>
        <p:spPr>
          <a:xfrm>
            <a:off x="511175" y="2308225"/>
            <a:ext cx="8029575" cy="3851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2"/>
          <p:cNvSpPr>
            <a:spLocks noGrp="1"/>
          </p:cNvSpPr>
          <p:nvPr>
            <p:ph type="title"/>
          </p:nvPr>
        </p:nvSpPr>
        <p:spPr>
          <a:xfrm>
            <a:off x="133350" y="74613"/>
            <a:ext cx="5976938" cy="490537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Compile-Time versus Runtime Objects</a:t>
            </a:r>
            <a:endParaRPr lang="en-US" altLang="zh-CN" sz="28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30723" name="Rectangle 3"/>
          <p:cNvSpPr>
            <a:spLocks noGrp="1"/>
          </p:cNvSpPr>
          <p:nvPr>
            <p:ph idx="1"/>
          </p:nvPr>
        </p:nvSpPr>
        <p:spPr>
          <a:xfrm>
            <a:off x="192088" y="466725"/>
            <a:ext cx="8420100" cy="3979863"/>
          </a:xfrm>
          <a:ln/>
        </p:spPr>
        <p:txBody>
          <a:bodyPr vert="horz" wrap="square" lIns="91440" tIns="45720" rIns="91440" bIns="45720" anchor="t" anchorCtr="0"/>
          <a:p>
            <a:pPr marL="265430" indent="-265430" algn="l" eaLnBrk="1" hangingPunct="1">
              <a:lnSpc>
                <a:spcPct val="150000"/>
              </a:lnSpc>
              <a:buNone/>
            </a:pPr>
            <a:r>
              <a:rPr lang="en-US" altLang="zh-CN" sz="2200" b="1" dirty="0">
                <a:ea typeface="宋体" panose="02010600030101010101" pitchFamily="2" charset="-122"/>
              </a:rPr>
              <a:t>1. Compile-Time Object: </a:t>
            </a:r>
            <a:r>
              <a:rPr lang="zh-CN" altLang="en-US" sz="2200" b="1" dirty="0">
                <a:ea typeface="宋体" panose="02010600030101010101" pitchFamily="2" charset="-122"/>
              </a:rPr>
              <a:t>编译时生成。对象形式与语言级对象相关联</a:t>
            </a:r>
            <a:r>
              <a:rPr lang="en-US" altLang="zh-CN" sz="2200" b="1" dirty="0">
                <a:ea typeface="宋体" panose="02010600030101010101" pitchFamily="2" charset="-122"/>
              </a:rPr>
              <a:t>(Java, C++).</a:t>
            </a:r>
            <a:endParaRPr lang="zh-CN" altLang="en-US" sz="2200" b="1" dirty="0">
              <a:ea typeface="宋体" panose="02010600030101010101" pitchFamily="2" charset="-122"/>
            </a:endParaRPr>
          </a:p>
          <a:p>
            <a:pPr marL="265430" indent="-265430" algn="l" eaLnBrk="1" hangingPunct="1">
              <a:lnSpc>
                <a:spcPct val="150000"/>
              </a:lnSpc>
              <a:buNone/>
            </a:pPr>
            <a:r>
              <a:rPr lang="en-US" altLang="zh-CN" sz="2200" b="1" dirty="0">
                <a:ea typeface="宋体" panose="02010600030101010101" pitchFamily="2" charset="-122"/>
              </a:rPr>
              <a:t>           </a:t>
            </a:r>
            <a:r>
              <a:rPr lang="zh-CN" altLang="en-US" sz="2200" b="1" dirty="0">
                <a:ea typeface="宋体" panose="02010600030101010101" pitchFamily="2" charset="-122"/>
              </a:rPr>
              <a:t>优点</a:t>
            </a:r>
            <a:r>
              <a:rPr lang="en-US" altLang="zh-CN" sz="2200" b="1" dirty="0">
                <a:ea typeface="宋体" panose="02010600030101010101" pitchFamily="2" charset="-122"/>
              </a:rPr>
              <a:t>: </a:t>
            </a:r>
            <a:r>
              <a:rPr lang="zh-CN" altLang="en-US" sz="2200" b="1" dirty="0">
                <a:ea typeface="宋体" panose="02010600030101010101" pitchFamily="2" charset="-122"/>
              </a:rPr>
              <a:t>直观</a:t>
            </a:r>
            <a:r>
              <a:rPr lang="en-US" altLang="zh-CN" sz="2200" b="1" dirty="0">
                <a:ea typeface="宋体" panose="02010600030101010101" pitchFamily="2" charset="-122"/>
              </a:rPr>
              <a:t>, </a:t>
            </a:r>
            <a:r>
              <a:rPr lang="zh-CN" altLang="en-US" sz="2200" b="1" dirty="0">
                <a:ea typeface="宋体" panose="02010600030101010101" pitchFamily="2" charset="-122"/>
              </a:rPr>
              <a:t>编译时获得</a:t>
            </a:r>
            <a:r>
              <a:rPr lang="en-US" altLang="zh-CN" sz="2200" b="1" dirty="0">
                <a:ea typeface="宋体" panose="02010600030101010101" pitchFamily="2" charset="-122"/>
              </a:rPr>
              <a:t>Stub;</a:t>
            </a:r>
            <a:endParaRPr lang="en-US" altLang="zh-CN" sz="2200" b="1" dirty="0">
              <a:ea typeface="宋体" panose="02010600030101010101" pitchFamily="2" charset="-122"/>
            </a:endParaRPr>
          </a:p>
          <a:p>
            <a:pPr marL="265430" indent="-265430" algn="l" eaLnBrk="1" hangingPunct="1">
              <a:lnSpc>
                <a:spcPct val="150000"/>
              </a:lnSpc>
              <a:buNone/>
            </a:pPr>
            <a:r>
              <a:rPr lang="en-US" altLang="zh-CN" sz="2200" b="1" dirty="0">
                <a:ea typeface="宋体" panose="02010600030101010101" pitchFamily="2" charset="-122"/>
              </a:rPr>
              <a:t>           </a:t>
            </a:r>
            <a:r>
              <a:rPr lang="zh-CN" altLang="en-US" sz="2200" b="1" dirty="0">
                <a:ea typeface="宋体" panose="02010600030101010101" pitchFamily="2" charset="-122"/>
              </a:rPr>
              <a:t>缺点</a:t>
            </a:r>
            <a:r>
              <a:rPr lang="en-US" altLang="zh-CN" sz="2200" b="1" dirty="0">
                <a:ea typeface="宋体" panose="02010600030101010101" pitchFamily="2" charset="-122"/>
              </a:rPr>
              <a:t>: </a:t>
            </a:r>
            <a:r>
              <a:rPr lang="zh-CN" altLang="en-US" sz="2200" b="1" dirty="0">
                <a:ea typeface="宋体" panose="02010600030101010101" pitchFamily="2" charset="-122"/>
              </a:rPr>
              <a:t>语言依赖性</a:t>
            </a:r>
            <a:r>
              <a:rPr lang="en-US" altLang="zh-CN" sz="2200" b="1" dirty="0">
                <a:ea typeface="宋体" panose="02010600030101010101" pitchFamily="2" charset="-122"/>
              </a:rPr>
              <a:t>;</a:t>
            </a:r>
            <a:endParaRPr lang="en-US" altLang="zh-CN" sz="2200" b="1" dirty="0">
              <a:ea typeface="宋体" panose="02010600030101010101" pitchFamily="2" charset="-122"/>
            </a:endParaRPr>
          </a:p>
          <a:p>
            <a:pPr marL="265430" indent="-265430" algn="l" eaLnBrk="1" hangingPunct="1">
              <a:lnSpc>
                <a:spcPct val="150000"/>
              </a:lnSpc>
              <a:buNone/>
            </a:pPr>
            <a:r>
              <a:rPr lang="en-US" altLang="zh-CN" sz="2200" b="1" dirty="0">
                <a:ea typeface="宋体" panose="02010600030101010101" pitchFamily="2" charset="-122"/>
              </a:rPr>
              <a:t>2. Runtime Object: </a:t>
            </a:r>
            <a:r>
              <a:rPr lang="zh-CN" altLang="en-US" sz="2200" b="1" dirty="0">
                <a:ea typeface="宋体" panose="02010600030101010101" pitchFamily="2" charset="-122"/>
              </a:rPr>
              <a:t>运行时生成。与语言无关</a:t>
            </a:r>
            <a:r>
              <a:rPr lang="en-US" altLang="zh-CN" sz="2200" b="1" dirty="0">
                <a:ea typeface="宋体" panose="02010600030101010101" pitchFamily="2" charset="-122"/>
              </a:rPr>
              <a:t>.</a:t>
            </a:r>
            <a:endParaRPr lang="en-US" altLang="zh-CN" sz="2200" b="1" dirty="0">
              <a:ea typeface="宋体" panose="02010600030101010101" pitchFamily="2" charset="-122"/>
            </a:endParaRPr>
          </a:p>
          <a:p>
            <a:pPr marL="265430" indent="-265430" algn="l" eaLnBrk="1" hangingPunct="1">
              <a:lnSpc>
                <a:spcPct val="150000"/>
              </a:lnSpc>
              <a:buNone/>
            </a:pPr>
            <a:r>
              <a:rPr lang="zh-CN" altLang="en-US" sz="2200" b="1" dirty="0">
                <a:ea typeface="宋体" panose="02010600030101010101" pitchFamily="2" charset="-122"/>
              </a:rPr>
              <a:t>           优点</a:t>
            </a:r>
            <a:r>
              <a:rPr lang="en-US" altLang="zh-CN" sz="2200" b="1" dirty="0">
                <a:ea typeface="宋体" panose="02010600030101010101" pitchFamily="2" charset="-122"/>
              </a:rPr>
              <a:t>: </a:t>
            </a:r>
            <a:r>
              <a:rPr lang="zh-CN" altLang="en-US" sz="2200" b="1" dirty="0">
                <a:ea typeface="宋体" panose="02010600030101010101" pitchFamily="2" charset="-122"/>
              </a:rPr>
              <a:t>语言无关性</a:t>
            </a:r>
            <a:r>
              <a:rPr lang="en-US" altLang="zh-CN" sz="2200" b="1" dirty="0">
                <a:ea typeface="宋体" panose="02010600030101010101" pitchFamily="2" charset="-122"/>
              </a:rPr>
              <a:t>.</a:t>
            </a:r>
            <a:endParaRPr lang="en-US" altLang="zh-CN" sz="2200" b="1" dirty="0">
              <a:ea typeface="宋体" panose="02010600030101010101" pitchFamily="2" charset="-122"/>
            </a:endParaRPr>
          </a:p>
          <a:p>
            <a:pPr marL="265430" indent="-265430" algn="l" eaLnBrk="1" hangingPunct="1">
              <a:lnSpc>
                <a:spcPct val="150000"/>
              </a:lnSpc>
              <a:buNone/>
            </a:pPr>
            <a:r>
              <a:rPr lang="zh-CN" altLang="en-US" sz="2200" b="1" dirty="0">
                <a:ea typeface="宋体" panose="02010600030101010101" pitchFamily="2" charset="-122"/>
              </a:rPr>
              <a:t>           缺点</a:t>
            </a:r>
            <a:r>
              <a:rPr lang="en-US" altLang="zh-CN" sz="2200" b="1" dirty="0">
                <a:ea typeface="宋体" panose="02010600030101010101" pitchFamily="2" charset="-122"/>
              </a:rPr>
              <a:t>: </a:t>
            </a:r>
            <a:r>
              <a:rPr lang="zh-CN" altLang="en-US" sz="2200" b="1" dirty="0">
                <a:ea typeface="宋体" panose="02010600030101010101" pitchFamily="2" charset="-122"/>
              </a:rPr>
              <a:t>通过</a:t>
            </a:r>
            <a:r>
              <a:rPr lang="en-US" altLang="zh-CN" sz="2200" b="1" dirty="0">
                <a:ea typeface="宋体" panose="02010600030101010101" pitchFamily="2" charset="-122"/>
              </a:rPr>
              <a:t>object adapter</a:t>
            </a:r>
            <a:r>
              <a:rPr lang="zh-CN" altLang="en-US" sz="2200" b="1" dirty="0">
                <a:ea typeface="宋体" panose="02010600030101010101" pitchFamily="2" charset="-122"/>
              </a:rPr>
              <a:t>实现对象的包装与管理</a:t>
            </a:r>
            <a:r>
              <a:rPr lang="en-US" altLang="zh-CN" sz="2200" b="1" dirty="0">
                <a:ea typeface="宋体" panose="02010600030101010101" pitchFamily="2" charset="-122"/>
              </a:rPr>
              <a:t>.</a:t>
            </a:r>
            <a:endParaRPr lang="en-US" altLang="zh-CN" sz="2200" b="1" dirty="0">
              <a:ea typeface="宋体" panose="02010600030101010101" pitchFamily="2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4422775"/>
            <a:ext cx="5370513" cy="5143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anose="02020603050405020304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anose="02020603050405020304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anose="02020603050405020304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Persistent and Transient Objects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08000" y="5167313"/>
            <a:ext cx="7788275" cy="1092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609600" marR="0" lvl="0" indent="-6096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+mj-lt"/>
              <a:buAutoNum type="arabicPeriod"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Persistent Objects: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 不依赖于对象所在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Server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的状态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+mj-lt"/>
              <a:buAutoNum type="arabicPeriod"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Transient Objects:  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依赖于对象所在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Server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的状态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Binding a Client to an Object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  <a:t>Binding results in a proxy being placed the process’s address space</a:t>
            </a:r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31747" name="Rectangle 3"/>
          <p:cNvSpPr>
            <a:spLocks noGrp="1"/>
          </p:cNvSpPr>
          <p:nvPr>
            <p:ph idx="1"/>
          </p:nvPr>
        </p:nvSpPr>
        <p:spPr>
          <a:xfrm>
            <a:off x="0" y="5291138"/>
            <a:ext cx="9144000" cy="838200"/>
          </a:xfrm>
          <a:ln/>
        </p:spPr>
        <p:txBody>
          <a:bodyPr vert="horz" wrap="square" lIns="91440" tIns="45720" rIns="91440" bIns="45720" anchor="t" anchorCtr="0"/>
          <a:p>
            <a:pPr marL="609600" indent="-609600" algn="l" eaLnBrk="1" hangingPunct="1">
              <a:lnSpc>
                <a:spcPct val="90000"/>
              </a:lnSpc>
              <a:buFontTx/>
              <a:buAutoNum type="alphaLcParenR"/>
            </a:pPr>
            <a:r>
              <a:rPr lang="en-US" altLang="zh-CN" sz="2400" dirty="0">
                <a:ea typeface="宋体" panose="02010600030101010101" pitchFamily="2" charset="-122"/>
              </a:rPr>
              <a:t>An example with implicit binding using only global references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marL="609600" indent="-609600" algn="l" eaLnBrk="1" hangingPunct="1">
              <a:lnSpc>
                <a:spcPct val="90000"/>
              </a:lnSpc>
              <a:buFontTx/>
              <a:buAutoNum type="alphaLcParenR"/>
            </a:pPr>
            <a:r>
              <a:rPr lang="en-US" altLang="zh-CN" sz="2400" dirty="0">
                <a:ea typeface="宋体" panose="02010600030101010101" pitchFamily="2" charset="-122"/>
              </a:rPr>
              <a:t>An example with explicit binding using global and local references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31748" name="Text Box 4"/>
          <p:cNvSpPr txBox="1"/>
          <p:nvPr/>
        </p:nvSpPr>
        <p:spPr>
          <a:xfrm>
            <a:off x="206375" y="1662113"/>
            <a:ext cx="8788400" cy="3270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1600" dirty="0">
                <a:latin typeface="Tahoma" panose="020B0604030504040204" pitchFamily="34" charset="0"/>
                <a:ea typeface="宋体" panose="02010600030101010101" pitchFamily="2" charset="-122"/>
              </a:rPr>
              <a:t>Distr_object* obj_ref;		//Declare a systemwide object reference</a:t>
            </a:r>
            <a:br>
              <a:rPr lang="en-US" altLang="zh-CN" sz="1600" dirty="0">
                <a:latin typeface="Tahoma" panose="020B0604030504040204" pitchFamily="34" charset="0"/>
                <a:ea typeface="宋体" panose="02010600030101010101" pitchFamily="2" charset="-122"/>
              </a:rPr>
            </a:br>
            <a:r>
              <a:rPr lang="en-US" altLang="zh-CN" sz="1600" dirty="0">
                <a:latin typeface="Tahoma" panose="020B0604030504040204" pitchFamily="34" charset="0"/>
                <a:ea typeface="宋体" panose="02010600030101010101" pitchFamily="2" charset="-122"/>
              </a:rPr>
              <a:t>obj_ref = …;			// Initialize the reference to a distributed object</a:t>
            </a:r>
            <a:br>
              <a:rPr lang="en-US" altLang="zh-CN" sz="1600" dirty="0">
                <a:latin typeface="Tahoma" panose="020B0604030504040204" pitchFamily="34" charset="0"/>
                <a:ea typeface="宋体" panose="02010600030101010101" pitchFamily="2" charset="-122"/>
              </a:rPr>
            </a:br>
            <a:r>
              <a:rPr lang="en-US" altLang="zh-CN" sz="1600" dirty="0">
                <a:latin typeface="Tahoma" panose="020B0604030504040204" pitchFamily="34" charset="0"/>
                <a:ea typeface="宋体" panose="02010600030101010101" pitchFamily="2" charset="-122"/>
              </a:rPr>
              <a:t>obj_ref-&gt; do_something();		// Implicitly bind and invoke a method(</a:t>
            </a:r>
            <a:r>
              <a:rPr lang="zh-CN" altLang="en-US" sz="1600" dirty="0">
                <a:latin typeface="Tahoma" panose="020B0604030504040204" pitchFamily="34" charset="0"/>
                <a:ea typeface="宋体" panose="02010600030101010101" pitchFamily="2" charset="-122"/>
              </a:rPr>
              <a:t>隐式绑定</a:t>
            </a:r>
            <a:r>
              <a:rPr lang="en-US" altLang="zh-CN" sz="1600" dirty="0">
                <a:latin typeface="Tahoma" panose="020B0604030504040204" pitchFamily="34" charset="0"/>
                <a:ea typeface="宋体" panose="02010600030101010101" pitchFamily="2" charset="-122"/>
              </a:rPr>
              <a:t>)</a:t>
            </a:r>
            <a:endParaRPr lang="en-US" altLang="zh-CN" sz="16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1600" dirty="0">
                <a:latin typeface="Tahoma" panose="020B0604030504040204" pitchFamily="34" charset="0"/>
                <a:ea typeface="宋体" panose="02010600030101010101" pitchFamily="2" charset="-122"/>
              </a:rPr>
              <a:t>			(a)</a:t>
            </a:r>
            <a:endParaRPr lang="en-US" altLang="zh-CN" sz="16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endParaRPr lang="en-US" altLang="zh-CN" sz="16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1600" dirty="0">
                <a:latin typeface="Tahoma" panose="020B0604030504040204" pitchFamily="34" charset="0"/>
                <a:ea typeface="宋体" panose="02010600030101010101" pitchFamily="2" charset="-122"/>
              </a:rPr>
              <a:t>Distr_object obj_ref;		//Declare a systemwide object reference</a:t>
            </a:r>
            <a:br>
              <a:rPr lang="en-US" altLang="zh-CN" sz="1600" dirty="0">
                <a:latin typeface="Tahoma" panose="020B0604030504040204" pitchFamily="34" charset="0"/>
                <a:ea typeface="宋体" panose="02010600030101010101" pitchFamily="2" charset="-122"/>
              </a:rPr>
            </a:br>
            <a:r>
              <a:rPr lang="en-US" altLang="zh-CN" sz="1600" dirty="0">
                <a:latin typeface="Tahoma" panose="020B0604030504040204" pitchFamily="34" charset="0"/>
                <a:ea typeface="宋体" panose="02010600030101010101" pitchFamily="2" charset="-122"/>
              </a:rPr>
              <a:t>Local_object* obj_ptr;		//Declare a pointer to local objects</a:t>
            </a:r>
            <a:br>
              <a:rPr lang="en-US" altLang="zh-CN" sz="1600" dirty="0">
                <a:latin typeface="Tahoma" panose="020B0604030504040204" pitchFamily="34" charset="0"/>
                <a:ea typeface="宋体" panose="02010600030101010101" pitchFamily="2" charset="-122"/>
              </a:rPr>
            </a:br>
            <a:r>
              <a:rPr lang="en-US" altLang="zh-CN" sz="1600" dirty="0">
                <a:latin typeface="Tahoma" panose="020B0604030504040204" pitchFamily="34" charset="0"/>
                <a:ea typeface="宋体" panose="02010600030101010101" pitchFamily="2" charset="-122"/>
              </a:rPr>
              <a:t>obj_ref = …;			//Initialize the reference to a distributed object</a:t>
            </a:r>
            <a:br>
              <a:rPr lang="en-US" altLang="zh-CN" sz="1600" dirty="0">
                <a:latin typeface="Tahoma" panose="020B0604030504040204" pitchFamily="34" charset="0"/>
                <a:ea typeface="宋体" panose="02010600030101010101" pitchFamily="2" charset="-122"/>
              </a:rPr>
            </a:br>
            <a:r>
              <a:rPr lang="en-US" altLang="zh-CN" sz="1600" dirty="0">
                <a:latin typeface="Tahoma" panose="020B0604030504040204" pitchFamily="34" charset="0"/>
                <a:ea typeface="宋体" panose="02010600030101010101" pitchFamily="2" charset="-122"/>
              </a:rPr>
              <a:t>obj_ptr = bind(obj_ref);		//Explicitly bind and obtain a pointer to the local proxy          obj_ptr -&gt; do_something();		//Invoke a method on the local proxy</a:t>
            </a:r>
            <a:endParaRPr lang="en-US" altLang="zh-CN" sz="16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1600" dirty="0">
                <a:latin typeface="Tahoma" panose="020B0604030504040204" pitchFamily="34" charset="0"/>
                <a:ea typeface="宋体" panose="02010600030101010101" pitchFamily="2" charset="-122"/>
              </a:rPr>
              <a:t>			(b)</a:t>
            </a:r>
            <a:endParaRPr lang="en-US" altLang="zh-CN" sz="16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Implementation of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Object References</a:t>
            </a:r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354013" y="1355725"/>
            <a:ext cx="8435975" cy="44307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609600" marR="0" lvl="0" indent="-6096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对象引用包含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网络地址、端口、对象标示。通过实现句柄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指向代理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，在绑定对象时动态加载代理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比如通过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URL)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。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  静态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方法调用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: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     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开发程时直接调用：例如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fobject.append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动态方法调用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: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     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运行时请求接口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: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例如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: invoke(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fobject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, id(append),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6515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Parameter Passing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3795" name="Rectangle 3"/>
          <p:cNvSpPr>
            <a:spLocks noGrp="1"/>
          </p:cNvSpPr>
          <p:nvPr>
            <p:ph idx="1"/>
          </p:nvPr>
        </p:nvSpPr>
        <p:spPr>
          <a:xfrm>
            <a:off x="1238250" y="5816600"/>
            <a:ext cx="6827838" cy="442913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The situation when passing an object by reference or by value.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pic>
        <p:nvPicPr>
          <p:cNvPr id="33796" name="Picture 4"/>
          <p:cNvPicPr>
            <a:picLocks noChangeAspect="1"/>
          </p:cNvPicPr>
          <p:nvPr/>
        </p:nvPicPr>
        <p:blipFill>
          <a:blip r:embed="rId1"/>
          <a:srcRect l="19455" t="42296" r="16675" b="36253"/>
          <a:stretch>
            <a:fillRect/>
          </a:stretch>
        </p:blipFill>
        <p:spPr>
          <a:xfrm>
            <a:off x="1144588" y="1781175"/>
            <a:ext cx="7015162" cy="3754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Rectangle 8"/>
          <p:cNvSpPr txBox="1">
            <a:spLocks noChangeArrowheads="1"/>
          </p:cNvSpPr>
          <p:nvPr/>
        </p:nvSpPr>
        <p:spPr bwMode="auto">
          <a:xfrm>
            <a:off x="258763" y="736600"/>
            <a:ext cx="8420100" cy="111918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当传递的参数为对象时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: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如果引用指向本地对象，则被引用对象按值传递；否则，按对象引用传递。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4818" name="Picture 6"/>
          <p:cNvPicPr>
            <a:picLocks noChangeAspect="1"/>
          </p:cNvPicPr>
          <p:nvPr/>
        </p:nvPicPr>
        <p:blipFill>
          <a:blip r:embed="rId1"/>
          <a:srcRect l="18599" t="38972" r="15820" b="35045"/>
          <a:stretch>
            <a:fillRect/>
          </a:stretch>
        </p:blipFill>
        <p:spPr>
          <a:xfrm>
            <a:off x="576263" y="765175"/>
            <a:ext cx="8029575" cy="4156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819" name="Rectangle 2"/>
          <p:cNvSpPr>
            <a:spLocks noGrp="1"/>
          </p:cNvSpPr>
          <p:nvPr>
            <p:ph type="title"/>
          </p:nvPr>
        </p:nvSpPr>
        <p:spPr>
          <a:xfrm>
            <a:off x="576263" y="0"/>
            <a:ext cx="8029575" cy="657225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dirty="0">
                <a:ea typeface="宋体" panose="02010600030101010101" pitchFamily="2" charset="-122"/>
              </a:rPr>
              <a:t>实例</a:t>
            </a:r>
            <a:r>
              <a:rPr lang="en-US" altLang="zh-CN" sz="3600" dirty="0">
                <a:ea typeface="宋体" panose="02010600030101010101" pitchFamily="2" charset="-122"/>
              </a:rPr>
              <a:t>: The DCE Distributed-Object Model</a:t>
            </a:r>
            <a:endParaRPr lang="en-US" altLang="zh-CN" sz="3600" dirty="0">
              <a:ea typeface="宋体" panose="02010600030101010101" pitchFamily="2" charset="-122"/>
            </a:endParaRPr>
          </a:p>
        </p:txBody>
      </p:sp>
      <p:sp>
        <p:nvSpPr>
          <p:cNvPr id="34820" name="Rectangle 3"/>
          <p:cNvSpPr>
            <a:spLocks noGrp="1"/>
          </p:cNvSpPr>
          <p:nvPr>
            <p:ph idx="1"/>
          </p:nvPr>
        </p:nvSpPr>
        <p:spPr>
          <a:xfrm>
            <a:off x="760413" y="5087938"/>
            <a:ext cx="5365750" cy="1012825"/>
          </a:xfrm>
          <a:ln/>
        </p:spPr>
        <p:txBody>
          <a:bodyPr vert="horz" wrap="square" lIns="91440" tIns="45720" rIns="91440" bIns="45720" anchor="t" anchorCtr="0"/>
          <a:p>
            <a:pPr marL="609600" indent="-609600" algn="l" eaLnBrk="1" hangingPunct="1">
              <a:lnSpc>
                <a:spcPct val="150000"/>
              </a:lnSpc>
              <a:buFontTx/>
              <a:buAutoNum type="alphaLcParenR"/>
            </a:pPr>
            <a:r>
              <a:rPr lang="en-US" altLang="zh-CN" sz="2000" dirty="0">
                <a:ea typeface="宋体" panose="02010600030101010101" pitchFamily="2" charset="-122"/>
              </a:rPr>
              <a:t>Distributed dynamic objects in DCE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609600" indent="-609600" algn="l" eaLnBrk="1" hangingPunct="1">
              <a:lnSpc>
                <a:spcPct val="150000"/>
              </a:lnSpc>
              <a:buFontTx/>
              <a:buAutoNum type="alphaLcParenR"/>
            </a:pPr>
            <a:r>
              <a:rPr lang="en-US" altLang="zh-CN" sz="2000" dirty="0">
                <a:ea typeface="宋体" panose="02010600030101010101" pitchFamily="2" charset="-122"/>
              </a:rPr>
              <a:t>Distributed named objects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3"/>
          <p:cNvSpPr>
            <a:spLocks noGrp="1"/>
          </p:cNvSpPr>
          <p:nvPr>
            <p:ph idx="1"/>
          </p:nvPr>
        </p:nvSpPr>
        <p:spPr>
          <a:xfrm>
            <a:off x="220663" y="5521325"/>
            <a:ext cx="8855075" cy="820738"/>
          </a:xfrm>
          <a:ln/>
        </p:spPr>
        <p:txBody>
          <a:bodyPr vert="horz" wrap="square" lIns="91440" tIns="45720" rIns="91440" bIns="45720" anchor="t" anchorCtr="0"/>
          <a:p>
            <a:pPr algn="l" eaLnBrk="1" hangingPunct="1"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    General organization of a communication system in which hosts are connected through a network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pic>
        <p:nvPicPr>
          <p:cNvPr id="35843" name="Picture 5"/>
          <p:cNvPicPr>
            <a:picLocks noChangeAspect="1"/>
          </p:cNvPicPr>
          <p:nvPr/>
        </p:nvPicPr>
        <p:blipFill>
          <a:blip r:embed="rId1"/>
          <a:srcRect l="19455" t="41541" r="16034" b="37009"/>
          <a:stretch>
            <a:fillRect/>
          </a:stretch>
        </p:blipFill>
        <p:spPr>
          <a:xfrm>
            <a:off x="301625" y="1022350"/>
            <a:ext cx="8545513" cy="4194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44" name="Rectangle 7"/>
          <p:cNvSpPr/>
          <p:nvPr/>
        </p:nvSpPr>
        <p:spPr>
          <a:xfrm>
            <a:off x="681038" y="69850"/>
            <a:ext cx="7673975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None/>
            </a:pPr>
            <a:r>
              <a:rPr lang="en-US" altLang="zh-CN" sz="3600" dirty="0">
                <a:solidFill>
                  <a:srgbClr val="FF0000"/>
                </a:solidFill>
                <a:ea typeface="宋体" panose="02010600030101010101" pitchFamily="2" charset="-122"/>
              </a:rPr>
              <a:t>3.4 Message-Oriented Communication</a:t>
            </a:r>
            <a:endParaRPr lang="zh-CN" altLang="en-US" sz="36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2"/>
          <p:cNvSpPr>
            <a:spLocks noGrp="1"/>
          </p:cNvSpPr>
          <p:nvPr>
            <p:ph type="title"/>
          </p:nvPr>
        </p:nvSpPr>
        <p:spPr>
          <a:xfrm>
            <a:off x="325438" y="1036638"/>
            <a:ext cx="8550275" cy="4489450"/>
          </a:xfrm>
          <a:ln/>
        </p:spPr>
        <p:txBody>
          <a:bodyPr vert="horz" wrap="square" lIns="91440" tIns="45720" rIns="91440" bIns="45720" anchor="ctr" anchorCtr="0"/>
          <a:p>
            <a:pPr algn="l" eaLnBrk="1" hangingPunct="1">
              <a:lnSpc>
                <a:spcPct val="120000"/>
              </a:lnSpc>
            </a:pPr>
            <a:r>
              <a:rPr lang="en-US" altLang="zh-CN" sz="2400" b="1" dirty="0">
                <a:solidFill>
                  <a:schemeClr val="tx2"/>
                </a:solidFill>
                <a:ea typeface="宋体" panose="02010600030101010101" pitchFamily="2" charset="-122"/>
              </a:rPr>
              <a:t>Persistence Communication-----</a:t>
            </a:r>
            <a:br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  <a:t>        A message is stored in a communication server as long as it takes to successfully deliver it to the next communication server.</a:t>
            </a:r>
            <a:br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</a:br>
            <a:br>
              <a:rPr lang="zh-CN" altLang="en-US" sz="2400" dirty="0">
                <a:solidFill>
                  <a:schemeClr val="tx2"/>
                </a:solidFill>
                <a:ea typeface="宋体" panose="02010600030101010101" pitchFamily="2" charset="-122"/>
              </a:rPr>
            </a:br>
            <a:r>
              <a:rPr lang="en-US" altLang="zh-CN" sz="2400" b="1" dirty="0">
                <a:solidFill>
                  <a:schemeClr val="tx2"/>
                </a:solidFill>
                <a:ea typeface="宋体" panose="02010600030101010101" pitchFamily="2" charset="-122"/>
              </a:rPr>
              <a:t>Transient communication------</a:t>
            </a:r>
            <a:br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  <a:t>        A message is stored in a communication server only as long as the </a:t>
            </a:r>
            <a:r>
              <a:rPr lang="en-US" altLang="zh-CN" sz="2400" dirty="0">
                <a:ea typeface="宋体" panose="02010600030101010101" pitchFamily="2" charset="-122"/>
              </a:rPr>
              <a:t>sending and receiving </a:t>
            </a:r>
            <a:r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  <a:t>application are executing. (If a communication server cannot deliver a message to the next server, or the receiver, </a:t>
            </a:r>
            <a:r>
              <a:rPr lang="en-US" altLang="zh-CN" sz="2400" dirty="0">
                <a:ea typeface="宋体" panose="02010600030101010101" pitchFamily="2" charset="-122"/>
              </a:rPr>
              <a:t>the message will simply be discarded</a:t>
            </a:r>
            <a:r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  <a:t>).</a:t>
            </a:r>
            <a:endParaRPr lang="en-US" altLang="zh-CN" sz="24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36867" name="Rectangle 7"/>
          <p:cNvSpPr/>
          <p:nvPr/>
        </p:nvSpPr>
        <p:spPr>
          <a:xfrm>
            <a:off x="0" y="119063"/>
            <a:ext cx="8980488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None/>
            </a:pPr>
            <a:r>
              <a:rPr lang="en-US" altLang="zh-CN" sz="4000" dirty="0">
                <a:solidFill>
                  <a:srgbClr val="FF0000"/>
                </a:solidFill>
                <a:ea typeface="宋体" panose="02010600030101010101" pitchFamily="2" charset="-122"/>
              </a:rPr>
              <a:t>3.4 Message-Oriented Communication</a:t>
            </a:r>
            <a:endParaRPr lang="zh-CN" altLang="en-US" sz="40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711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Examples in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sz="3600" dirty="0">
                <a:ea typeface="宋体" panose="02010600030101010101" pitchFamily="2" charset="-122"/>
              </a:rPr>
              <a:t>Persistence Communication</a:t>
            </a:r>
            <a:endParaRPr lang="en-US" altLang="zh-CN" sz="3600" dirty="0">
              <a:ea typeface="宋体" panose="02010600030101010101" pitchFamily="2" charset="-122"/>
            </a:endParaRPr>
          </a:p>
        </p:txBody>
      </p:sp>
      <p:pic>
        <p:nvPicPr>
          <p:cNvPr id="37891" name="Picture 5"/>
          <p:cNvPicPr>
            <a:picLocks noChangeAspect="1"/>
          </p:cNvPicPr>
          <p:nvPr/>
        </p:nvPicPr>
        <p:blipFill>
          <a:blip r:embed="rId1"/>
          <a:srcRect l="27151" t="43504" r="24345" b="38972"/>
          <a:stretch>
            <a:fillRect/>
          </a:stretch>
        </p:blipFill>
        <p:spPr>
          <a:xfrm>
            <a:off x="415925" y="1425575"/>
            <a:ext cx="8337550" cy="40052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2" name="Rectangle 7"/>
          <p:cNvSpPr/>
          <p:nvPr/>
        </p:nvSpPr>
        <p:spPr>
          <a:xfrm>
            <a:off x="317500" y="5654675"/>
            <a:ext cx="8545513" cy="749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lnSpc>
                <a:spcPct val="90000"/>
              </a:lnSpc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An e-mail system is also a typical example in which communication is persistent.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37893" name="Rectangle 8"/>
          <p:cNvSpPr/>
          <p:nvPr/>
        </p:nvSpPr>
        <p:spPr>
          <a:xfrm>
            <a:off x="220663" y="928688"/>
            <a:ext cx="5399087" cy="4206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lnSpc>
                <a:spcPct val="90000"/>
              </a:lnSpc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持久性通信例子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邮递系统和电子邮件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>
                <a:ea typeface="宋体" panose="02010600030101010101" pitchFamily="2" charset="-122"/>
              </a:rPr>
              <a:t>Persistence and Synchronicity in Communication (1)</a:t>
            </a:r>
            <a:endParaRPr lang="en-US" altLang="zh-CN" sz="3200" dirty="0">
              <a:ea typeface="宋体" panose="02010600030101010101" pitchFamily="2" charset="-122"/>
            </a:endParaRPr>
          </a:p>
        </p:txBody>
      </p:sp>
      <p:sp>
        <p:nvSpPr>
          <p:cNvPr id="38915" name="Rectangle 3"/>
          <p:cNvSpPr>
            <a:spLocks noGrp="1"/>
          </p:cNvSpPr>
          <p:nvPr>
            <p:ph idx="1"/>
          </p:nvPr>
        </p:nvSpPr>
        <p:spPr>
          <a:xfrm>
            <a:off x="787400" y="5578475"/>
            <a:ext cx="7848600" cy="838200"/>
          </a:xfrm>
          <a:ln/>
        </p:spPr>
        <p:txBody>
          <a:bodyPr vert="horz" wrap="square" lIns="91440" tIns="45720" rIns="91440" bIns="45720" anchor="t" anchorCtr="0"/>
          <a:p>
            <a:pPr marL="609600" indent="-609600" algn="l" eaLnBrk="1" hangingPunct="1">
              <a:lnSpc>
                <a:spcPct val="90000"/>
              </a:lnSpc>
              <a:buFontTx/>
              <a:buAutoNum type="alphaLcParenR"/>
            </a:pPr>
            <a:r>
              <a:rPr lang="en-US" altLang="zh-CN" sz="2400" dirty="0">
                <a:ea typeface="宋体" panose="02010600030101010101" pitchFamily="2" charset="-122"/>
              </a:rPr>
              <a:t>Persistent asynchronous communication(E-mail system)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marL="609600" indent="-609600" algn="l" eaLnBrk="1" hangingPunct="1">
              <a:lnSpc>
                <a:spcPct val="90000"/>
              </a:lnSpc>
              <a:buFontTx/>
              <a:buAutoNum type="alphaLcParenR"/>
            </a:pPr>
            <a:r>
              <a:rPr lang="en-US" altLang="zh-CN" sz="2400" dirty="0">
                <a:ea typeface="宋体" panose="02010600030101010101" pitchFamily="2" charset="-122"/>
              </a:rPr>
              <a:t>Persistent synchronous communication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38916" name="Text Box 4"/>
          <p:cNvSpPr txBox="1"/>
          <p:nvPr/>
        </p:nvSpPr>
        <p:spPr>
          <a:xfrm>
            <a:off x="3352800" y="2895600"/>
            <a:ext cx="1676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2-22.1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pic>
        <p:nvPicPr>
          <p:cNvPr id="38917" name="Picture 5"/>
          <p:cNvPicPr>
            <a:picLocks noChangeAspect="1"/>
          </p:cNvPicPr>
          <p:nvPr/>
        </p:nvPicPr>
        <p:blipFill>
          <a:blip r:embed="rId1"/>
          <a:srcRect l="18053" t="27643" r="17021" b="54230"/>
          <a:stretch>
            <a:fillRect/>
          </a:stretch>
        </p:blipFill>
        <p:spPr>
          <a:xfrm>
            <a:off x="490538" y="1565275"/>
            <a:ext cx="7991475" cy="4076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918" name="Rectangle 6"/>
          <p:cNvSpPr/>
          <p:nvPr/>
        </p:nvSpPr>
        <p:spPr>
          <a:xfrm>
            <a:off x="247650" y="950913"/>
            <a:ext cx="3740150" cy="3746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609600" lvl="0" indent="-609600" algn="l" eaLnBrk="1" hangingPunct="1">
              <a:lnSpc>
                <a:spcPct val="90000"/>
              </a:lnSpc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六种不同语义的通信方式</a:t>
            </a:r>
            <a:r>
              <a:rPr lang="en-US" altLang="zh-CN" sz="2400" dirty="0">
                <a:ea typeface="宋体" panose="02010600030101010101" pitchFamily="2" charset="-122"/>
              </a:rPr>
              <a:t>: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>
                <a:ea typeface="宋体" panose="02010600030101010101" pitchFamily="2" charset="-122"/>
              </a:rPr>
              <a:t>Persistence and Synchronicity in Communication (2)</a:t>
            </a:r>
            <a:endParaRPr lang="en-US" altLang="zh-CN" sz="3200" dirty="0">
              <a:ea typeface="宋体" panose="02010600030101010101" pitchFamily="2" charset="-122"/>
            </a:endParaRPr>
          </a:p>
        </p:txBody>
      </p:sp>
      <p:sp>
        <p:nvSpPr>
          <p:cNvPr id="39939" name="Rectangle 3"/>
          <p:cNvSpPr>
            <a:spLocks noGrp="1"/>
          </p:cNvSpPr>
          <p:nvPr>
            <p:ph idx="1"/>
          </p:nvPr>
        </p:nvSpPr>
        <p:spPr>
          <a:xfrm>
            <a:off x="533400" y="5295900"/>
            <a:ext cx="8610600" cy="838200"/>
          </a:xfrm>
          <a:ln/>
        </p:spPr>
        <p:txBody>
          <a:bodyPr vert="horz" wrap="square" lIns="91440" tIns="45720" rIns="91440" bIns="45720" anchor="t" anchorCtr="0"/>
          <a:p>
            <a:pPr marL="609600" indent="-609600" algn="l" eaLnBrk="1" hangingPunct="1">
              <a:lnSpc>
                <a:spcPct val="90000"/>
              </a:lnSpc>
              <a:buFontTx/>
              <a:buAutoNum type="alphaLcParenR" startAt="3"/>
            </a:pPr>
            <a:r>
              <a:rPr lang="en-US" altLang="zh-CN" sz="2400" dirty="0">
                <a:ea typeface="宋体" panose="02010600030101010101" pitchFamily="2" charset="-122"/>
              </a:rPr>
              <a:t>Transient asynchronous communication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marL="609600" indent="-609600" algn="l" eaLnBrk="1" hangingPunct="1">
              <a:lnSpc>
                <a:spcPct val="90000"/>
              </a:lnSpc>
              <a:buFontTx/>
              <a:buAutoNum type="alphaLcParenR" startAt="3"/>
            </a:pPr>
            <a:r>
              <a:rPr lang="en-US" altLang="zh-CN" sz="2400" dirty="0">
                <a:ea typeface="宋体" panose="02010600030101010101" pitchFamily="2" charset="-122"/>
              </a:rPr>
              <a:t>Receipt-based transient synchronous communication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39940" name="Text Box 4"/>
          <p:cNvSpPr txBox="1"/>
          <p:nvPr/>
        </p:nvSpPr>
        <p:spPr>
          <a:xfrm>
            <a:off x="2895600" y="2133600"/>
            <a:ext cx="1828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2-22.2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pic>
        <p:nvPicPr>
          <p:cNvPr id="39941" name="Picture 5"/>
          <p:cNvPicPr>
            <a:picLocks noChangeAspect="1"/>
          </p:cNvPicPr>
          <p:nvPr/>
        </p:nvPicPr>
        <p:blipFill>
          <a:blip r:embed="rId1"/>
          <a:srcRect l="20096" t="44864" r="17104" b="37462"/>
          <a:stretch>
            <a:fillRect/>
          </a:stretch>
        </p:blipFill>
        <p:spPr>
          <a:xfrm>
            <a:off x="538163" y="1389063"/>
            <a:ext cx="7991475" cy="34496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dirty="0">
                <a:ea typeface="宋体" panose="02010600030101010101" pitchFamily="2" charset="-122"/>
              </a:rPr>
              <a:t>Persistence and Synchronicity in Communication (3)</a:t>
            </a:r>
            <a:endParaRPr lang="en-US" altLang="zh-CN" sz="3200" dirty="0">
              <a:ea typeface="宋体" panose="02010600030101010101" pitchFamily="2" charset="-122"/>
            </a:endParaRPr>
          </a:p>
        </p:txBody>
      </p:sp>
      <p:sp>
        <p:nvSpPr>
          <p:cNvPr id="40963" name="Rectangle 3"/>
          <p:cNvSpPr>
            <a:spLocks noGrp="1"/>
          </p:cNvSpPr>
          <p:nvPr>
            <p:ph idx="1"/>
          </p:nvPr>
        </p:nvSpPr>
        <p:spPr>
          <a:xfrm>
            <a:off x="576263" y="5065713"/>
            <a:ext cx="8075612" cy="1138237"/>
          </a:xfrm>
          <a:ln/>
        </p:spPr>
        <p:txBody>
          <a:bodyPr vert="horz" wrap="square" lIns="91440" tIns="45720" rIns="91440" bIns="45720" anchor="t" anchorCtr="0"/>
          <a:p>
            <a:pPr marL="609600" indent="-609600" algn="l" eaLnBrk="1" hangingPunct="1">
              <a:lnSpc>
                <a:spcPct val="90000"/>
              </a:lnSpc>
              <a:buFontTx/>
              <a:buAutoNum type="alphaLcParenR" startAt="5"/>
            </a:pPr>
            <a:r>
              <a:rPr lang="en-US" altLang="zh-CN" sz="2400" dirty="0">
                <a:ea typeface="宋体" panose="02010600030101010101" pitchFamily="2" charset="-122"/>
              </a:rPr>
              <a:t>Delivery-based transient synchronous communication at message delivery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marL="609600" indent="-609600" algn="l" eaLnBrk="1" hangingPunct="1">
              <a:lnSpc>
                <a:spcPct val="90000"/>
              </a:lnSpc>
              <a:buFontTx/>
              <a:buAutoNum type="alphaLcParenR" startAt="5"/>
            </a:pPr>
            <a:r>
              <a:rPr lang="en-US" altLang="zh-CN" sz="2400" dirty="0">
                <a:ea typeface="宋体" panose="02010600030101010101" pitchFamily="2" charset="-122"/>
              </a:rPr>
              <a:t>Response-based transient synchronous communication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pic>
        <p:nvPicPr>
          <p:cNvPr id="40964" name="Picture 5"/>
          <p:cNvPicPr>
            <a:picLocks noChangeAspect="1"/>
          </p:cNvPicPr>
          <p:nvPr/>
        </p:nvPicPr>
        <p:blipFill>
          <a:blip r:embed="rId1"/>
          <a:srcRect l="18172" t="61932" r="17744" b="22055"/>
          <a:stretch>
            <a:fillRect/>
          </a:stretch>
        </p:blipFill>
        <p:spPr>
          <a:xfrm>
            <a:off x="0" y="1304925"/>
            <a:ext cx="9144000" cy="3790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2"/>
          <p:cNvSpPr>
            <a:spLocks noGrp="1"/>
          </p:cNvSpPr>
          <p:nvPr>
            <p:ph type="title"/>
          </p:nvPr>
        </p:nvSpPr>
        <p:spPr>
          <a:xfrm>
            <a:off x="0" y="-41275"/>
            <a:ext cx="9244013" cy="93186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Message-Oriented Transient Communication Berkeley Sockets 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1987" name="Rectangle 3"/>
          <p:cNvSpPr>
            <a:spLocks noGrp="1"/>
          </p:cNvSpPr>
          <p:nvPr>
            <p:ph idx="1"/>
          </p:nvPr>
        </p:nvSpPr>
        <p:spPr>
          <a:xfrm>
            <a:off x="387350" y="3036888"/>
            <a:ext cx="3367088" cy="482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Font typeface="Wingdings" panose="05000000000000000000" pitchFamily="2" charset="2"/>
              <a:buChar char="u"/>
            </a:pPr>
            <a:r>
              <a:rPr lang="en-US" altLang="zh-CN" sz="1800" dirty="0">
                <a:ea typeface="宋体" panose="02010600030101010101" pitchFamily="2" charset="-122"/>
              </a:rPr>
              <a:t>Socket primitives for TCP/IP.</a:t>
            </a:r>
            <a:endParaRPr lang="en-US" altLang="zh-CN" sz="1800" dirty="0">
              <a:ea typeface="宋体" panose="02010600030101010101" pitchFamily="2" charset="-122"/>
            </a:endParaRPr>
          </a:p>
        </p:txBody>
      </p:sp>
      <p:graphicFrame>
        <p:nvGraphicFramePr>
          <p:cNvPr id="30760" name="Group 40"/>
          <p:cNvGraphicFramePr>
            <a:graphicFrameLocks noGrp="1"/>
          </p:cNvGraphicFramePr>
          <p:nvPr/>
        </p:nvGraphicFramePr>
        <p:xfrm>
          <a:off x="1249363" y="3519488"/>
          <a:ext cx="6394450" cy="3192463"/>
        </p:xfrm>
        <a:graphic>
          <a:graphicData uri="http://schemas.openxmlformats.org/drawingml/2006/table">
            <a:tbl>
              <a:tblPr/>
              <a:tblGrid>
                <a:gridCol w="1675213"/>
                <a:gridCol w="4719237"/>
              </a:tblGrid>
              <a:tr h="3541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Primitive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8" marR="9144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Meaning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8" marR="914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4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Socket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8" marR="9144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Create a new communication endpoint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8" marR="914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41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Bind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8" marR="9144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Attach a local address to a socket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8" marR="914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4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Listen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8" marR="9144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Announce willingness to accept connections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8" marR="914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41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Accept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8" marR="9144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Block caller until a connection request arrives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8" marR="914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4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Connect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8" marR="9144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Actively attempt to establish a connection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8" marR="914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41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Send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8" marR="9144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Send some data over the connection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8" marR="914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4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Receive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8" marR="9144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Receive some data over the connection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8" marR="914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41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Close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8" marR="9144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Release the connection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48" marR="914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87350" y="649288"/>
            <a:ext cx="6496050" cy="3905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Connection-oriented communication pattern using sockets.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2021" name="Picture 6"/>
          <p:cNvPicPr>
            <a:picLocks noChangeAspect="1"/>
          </p:cNvPicPr>
          <p:nvPr/>
        </p:nvPicPr>
        <p:blipFill>
          <a:blip r:embed="rId1"/>
          <a:srcRect l="21165" t="46677" r="19241" b="40785"/>
          <a:stretch>
            <a:fillRect/>
          </a:stretch>
        </p:blipFill>
        <p:spPr>
          <a:xfrm>
            <a:off x="511175" y="1004888"/>
            <a:ext cx="7618413" cy="20669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The Message-Passing Interface (MPI)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3011" name="Rectangle 36"/>
          <p:cNvSpPr/>
          <p:nvPr/>
        </p:nvSpPr>
        <p:spPr>
          <a:xfrm>
            <a:off x="574675" y="1169988"/>
            <a:ext cx="8026400" cy="41179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defTabSz="914400" eaLnBrk="1" hangingPunct="1">
              <a:lnSpc>
                <a:spcPct val="150000"/>
              </a:lnSpc>
              <a:buFont typeface="Wingdings" panose="05000000000000000000" pitchFamily="2" charset="2"/>
              <a:buChar char="n"/>
              <a:tabLst>
                <a:tab pos="473075" algn="l"/>
              </a:tabLst>
            </a:pPr>
            <a:r>
              <a:rPr lang="en-US" altLang="zh-CN" sz="2400" dirty="0">
                <a:ea typeface="宋体" panose="02010600030101010101" pitchFamily="2" charset="-122"/>
              </a:rPr>
              <a:t>MPI</a:t>
            </a:r>
            <a:r>
              <a:rPr lang="zh-CN" altLang="en-US" sz="2400" dirty="0">
                <a:ea typeface="宋体" panose="02010600030101010101" pitchFamily="2" charset="-122"/>
              </a:rPr>
              <a:t>是一种并行程序设计平台，</a:t>
            </a:r>
            <a:r>
              <a:rPr lang="en-US" altLang="zh-CN" sz="2400" dirty="0">
                <a:ea typeface="宋体" panose="02010600030101010101" pitchFamily="2" charset="-122"/>
              </a:rPr>
              <a:t>1994</a:t>
            </a:r>
            <a:r>
              <a:rPr lang="zh-CN" altLang="en-US" sz="2400" dirty="0">
                <a:ea typeface="宋体" panose="02010600030101010101" pitchFamily="2" charset="-122"/>
              </a:rPr>
              <a:t>年推出</a:t>
            </a:r>
            <a:r>
              <a:rPr lang="en-US" altLang="zh-CN" sz="2400" dirty="0">
                <a:ea typeface="宋体" panose="02010600030101010101" pitchFamily="2" charset="-122"/>
              </a:rPr>
              <a:t>MPI 1.0</a:t>
            </a:r>
            <a:r>
              <a:rPr lang="zh-CN" altLang="en-US" sz="2400" dirty="0">
                <a:ea typeface="宋体" panose="02010600030101010101" pitchFamily="2" charset="-122"/>
              </a:rPr>
              <a:t>，</a:t>
            </a:r>
            <a:r>
              <a:rPr lang="en-US" altLang="zh-CN" sz="2400" dirty="0">
                <a:ea typeface="宋体" panose="02010600030101010101" pitchFamily="2" charset="-122"/>
              </a:rPr>
              <a:t>1998</a:t>
            </a:r>
            <a:r>
              <a:rPr lang="zh-CN" altLang="en-US" sz="2400" dirty="0">
                <a:ea typeface="宋体" panose="02010600030101010101" pitchFamily="2" charset="-122"/>
              </a:rPr>
              <a:t>年推出</a:t>
            </a:r>
            <a:r>
              <a:rPr lang="en-US" altLang="zh-CN" sz="2400" dirty="0">
                <a:ea typeface="宋体" panose="02010600030101010101" pitchFamily="2" charset="-122"/>
              </a:rPr>
              <a:t>MPI 2.0</a:t>
            </a:r>
            <a:r>
              <a:rPr lang="zh-CN" altLang="en-US" sz="2400" dirty="0">
                <a:ea typeface="宋体" panose="02010600030101010101" pitchFamily="2" charset="-122"/>
              </a:rPr>
              <a:t>，开源的有</a:t>
            </a:r>
            <a:r>
              <a:rPr lang="en-US" altLang="zh-CN" sz="2400" dirty="0">
                <a:ea typeface="宋体" panose="02010600030101010101" pitchFamily="2" charset="-122"/>
              </a:rPr>
              <a:t>Open MPI</a:t>
            </a:r>
            <a:r>
              <a:rPr lang="zh-CN" altLang="en-US" sz="2400" dirty="0">
                <a:ea typeface="宋体" panose="02010600030101010101" pitchFamily="2" charset="-122"/>
              </a:rPr>
              <a:t>等；</a:t>
            </a:r>
            <a:endParaRPr lang="zh-CN" altLang="en-US" sz="24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150000"/>
              </a:lnSpc>
              <a:buFont typeface="Wingdings" panose="05000000000000000000" pitchFamily="2" charset="2"/>
              <a:buChar char="n"/>
              <a:tabLst>
                <a:tab pos="473075" algn="l"/>
              </a:tabLst>
            </a:pPr>
            <a:endParaRPr lang="zh-CN" altLang="en-US" sz="24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150000"/>
              </a:lnSpc>
              <a:buFont typeface="Wingdings" panose="05000000000000000000" pitchFamily="2" charset="2"/>
              <a:buChar char="n"/>
              <a:tabLst>
                <a:tab pos="473075" algn="l"/>
              </a:tabLst>
            </a:pPr>
            <a:r>
              <a:rPr lang="en-US" altLang="zh-CN" sz="2400" dirty="0">
                <a:ea typeface="宋体" panose="02010600030101010101" pitchFamily="2" charset="-122"/>
              </a:rPr>
              <a:t>MPI</a:t>
            </a:r>
            <a:r>
              <a:rPr lang="zh-CN" altLang="en-US" sz="2400" dirty="0">
                <a:ea typeface="宋体" panose="02010600030101010101" pitchFamily="2" charset="-122"/>
              </a:rPr>
              <a:t>是一种广泛应用的并行程序设计平台，几乎被所有并行计算环境（共享和分布式存储并行机、</a:t>
            </a:r>
            <a:r>
              <a:rPr lang="en-US" altLang="zh-CN" sz="2400" dirty="0">
                <a:ea typeface="宋体" panose="02010600030101010101" pitchFamily="2" charset="-122"/>
              </a:rPr>
              <a:t>MPP</a:t>
            </a:r>
            <a:r>
              <a:rPr lang="zh-CN" altLang="en-US" sz="2400" dirty="0">
                <a:ea typeface="宋体" panose="02010600030101010101" pitchFamily="2" charset="-122"/>
              </a:rPr>
              <a:t>、机群系统等）和流行的操作系统（</a:t>
            </a:r>
            <a:r>
              <a:rPr lang="en-US" altLang="zh-CN" sz="2400" dirty="0">
                <a:ea typeface="宋体" panose="02010600030101010101" pitchFamily="2" charset="-122"/>
              </a:rPr>
              <a:t>UNIX</a:t>
            </a:r>
            <a:r>
              <a:rPr lang="zh-CN" altLang="en-US" sz="2400" dirty="0"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ea typeface="宋体" panose="02010600030101010101" pitchFamily="2" charset="-122"/>
              </a:rPr>
              <a:t>Windows NT</a:t>
            </a:r>
            <a:r>
              <a:rPr lang="zh-CN" altLang="en-US" sz="2400" dirty="0">
                <a:ea typeface="宋体" panose="02010600030101010101" pitchFamily="2" charset="-122"/>
              </a:rPr>
              <a:t>）所支持，基于它开发的应用程序具有最佳的可移植性</a:t>
            </a:r>
            <a:r>
              <a:rPr lang="en-US" altLang="zh-CN" sz="2400" dirty="0">
                <a:ea typeface="宋体" panose="02010600030101010101" pitchFamily="2" charset="-122"/>
              </a:rPr>
              <a:t>;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The Message-Passing Interface (MPI)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4035" name="Rectangle 3"/>
          <p:cNvSpPr>
            <a:spLocks noGrp="1"/>
          </p:cNvSpPr>
          <p:nvPr>
            <p:ph type="body" sz="half" idx="1"/>
          </p:nvPr>
        </p:nvSpPr>
        <p:spPr>
          <a:xfrm>
            <a:off x="255588" y="889000"/>
            <a:ext cx="8564562" cy="1044575"/>
          </a:xfrm>
          <a:ln/>
        </p:spPr>
        <p:txBody>
          <a:bodyPr vert="horz" wrap="square" lIns="91440" tIns="45720" rIns="91440" bIns="45720" anchor="t" anchorCtr="0"/>
          <a:p>
            <a:pPr marL="0" indent="0" algn="l" eaLnBrk="1" hangingPunct="1">
              <a:lnSpc>
                <a:spcPct val="130000"/>
              </a:lnSpc>
              <a:buClr>
                <a:schemeClr val="accent2"/>
              </a:buClr>
              <a:buSzTx/>
              <a:buFontTx/>
              <a:buNone/>
            </a:pP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支持不同形式的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Buffer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和同步，它可以实现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瞬时通信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种语义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Fig.(C)-(F). Transient asynchronous, Receipt-based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Delivery-based, Response-based transient synchronous. </a:t>
            </a:r>
            <a:endParaRPr lang="en-US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4036" name="Picture 5"/>
          <p:cNvPicPr>
            <a:picLocks noChangeAspect="1"/>
          </p:cNvPicPr>
          <p:nvPr>
            <p:ph sz="quarter" idx="2"/>
          </p:nvPr>
        </p:nvPicPr>
        <p:blipFill>
          <a:blip r:embed="rId1"/>
          <a:srcRect l="18172" t="61932" r="17744" b="22055"/>
          <a:stretch>
            <a:fillRect/>
          </a:stretch>
        </p:blipFill>
        <p:spPr>
          <a:xfrm>
            <a:off x="173038" y="4289425"/>
            <a:ext cx="8791575" cy="2492375"/>
          </a:xfrm>
          <a:ln/>
        </p:spPr>
      </p:pic>
      <p:pic>
        <p:nvPicPr>
          <p:cNvPr id="44037" name="Picture 7"/>
          <p:cNvPicPr>
            <a:picLocks noChangeAspect="1"/>
          </p:cNvPicPr>
          <p:nvPr>
            <p:ph sz="quarter" idx="3"/>
          </p:nvPr>
        </p:nvPicPr>
        <p:blipFill>
          <a:blip r:embed="rId1"/>
          <a:srcRect l="20096" t="44864" r="17104" b="37462"/>
          <a:stretch>
            <a:fillRect/>
          </a:stretch>
        </p:blipFill>
        <p:spPr>
          <a:xfrm>
            <a:off x="114300" y="2017713"/>
            <a:ext cx="8912225" cy="2390775"/>
          </a:xfrm>
          <a:ln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The Message-Passing Interface (MPI)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5059" name="Rectangle 3"/>
          <p:cNvSpPr>
            <a:spLocks noGrp="1"/>
          </p:cNvSpPr>
          <p:nvPr>
            <p:ph idx="1"/>
          </p:nvPr>
        </p:nvSpPr>
        <p:spPr>
          <a:xfrm>
            <a:off x="520700" y="6115050"/>
            <a:ext cx="8154988" cy="579438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Some of the most intuitive message-passing primitives of MPI.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graphicFrame>
        <p:nvGraphicFramePr>
          <p:cNvPr id="68645" name="Group 37"/>
          <p:cNvGraphicFramePr>
            <a:graphicFrameLocks noGrp="1"/>
          </p:cNvGraphicFramePr>
          <p:nvPr/>
        </p:nvGraphicFramePr>
        <p:xfrm>
          <a:off x="493713" y="955675"/>
          <a:ext cx="8110538" cy="5211763"/>
        </p:xfrm>
        <a:graphic>
          <a:graphicData uri="http://schemas.openxmlformats.org/drawingml/2006/table">
            <a:tbl>
              <a:tblPr/>
              <a:tblGrid>
                <a:gridCol w="1713100"/>
                <a:gridCol w="6397437"/>
              </a:tblGrid>
              <a:tr h="5790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Primitive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09" marB="4570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Meaning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09" marB="4570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MPI_bsend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09" marB="4570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Append outgoing message to a local send buffer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09" marB="4570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MPI_send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09" marB="4570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Send a message and wait until copied to local or remote buffer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09" marB="4570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MPI_ssend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09" marB="4570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Send a message and wait until receipt starts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09" marB="4570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MPI_sendrecv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09" marB="4570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Send a message and wait for reply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09" marB="4570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MPI_isend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09" marB="4570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Pass reference to outgoing message, and continue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09" marB="4570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MPI_issend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09" marB="4570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Pass reference to outgoing message, and wait until receipt starts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09" marB="4570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MPI_recv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09" marB="4570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Receive a message; block if there are none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09" marB="4570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MPI_irecv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09" marB="4570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Check if there is an incoming message, but do not block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09" marB="4570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2"/>
          <p:cNvSpPr>
            <a:spLocks noGrp="1"/>
          </p:cNvSpPr>
          <p:nvPr>
            <p:ph type="title"/>
          </p:nvPr>
        </p:nvSpPr>
        <p:spPr>
          <a:xfrm>
            <a:off x="58738" y="-22225"/>
            <a:ext cx="9144000" cy="923925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The Message-Passing Interface (MPI)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6083" name="Rectangle 3"/>
          <p:cNvSpPr/>
          <p:nvPr/>
        </p:nvSpPr>
        <p:spPr>
          <a:xfrm>
            <a:off x="361950" y="757238"/>
            <a:ext cx="8350250" cy="20002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defTabSz="914400" eaLnBrk="1" hangingPunct="1">
              <a:lnSpc>
                <a:spcPct val="150000"/>
              </a:lnSpc>
              <a:buFont typeface="Wingdings" panose="05000000000000000000" pitchFamily="2" charset="2"/>
              <a:buChar char="n"/>
              <a:tabLst>
                <a:tab pos="473075" algn="l"/>
              </a:tabLst>
            </a:pPr>
            <a:r>
              <a:rPr lang="zh-CN" altLang="en-US" sz="2000" dirty="0">
                <a:ea typeface="宋体" panose="02010600030101010101" pitchFamily="2" charset="-122"/>
              </a:rPr>
              <a:t>基于消息传递的并行程序执行模式；共享存储与分布式存储：并行机体系结构的</a:t>
            </a:r>
            <a:r>
              <a:rPr lang="zh-CN" altLang="en-US" sz="2000" b="1" dirty="0">
                <a:solidFill>
                  <a:srgbClr val="FF3300"/>
                </a:solidFill>
                <a:ea typeface="宋体" panose="02010600030101010101" pitchFamily="2" charset="-122"/>
              </a:rPr>
              <a:t>消息传递是指进程间通信，</a:t>
            </a:r>
            <a:r>
              <a:rPr lang="zh-CN" altLang="en-US" sz="2000" dirty="0">
                <a:ea typeface="宋体" panose="02010600030101010101" pitchFamily="2" charset="-122"/>
              </a:rPr>
              <a:t>与存储模式无关，任何支持进程间通信的并行机，均可支持消息传递并行程序设计；</a:t>
            </a:r>
            <a:endParaRPr lang="zh-CN" altLang="en-US" sz="20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150000"/>
              </a:lnSpc>
              <a:buNone/>
              <a:tabLst>
                <a:tab pos="473075" algn="l"/>
              </a:tabLst>
            </a:pPr>
            <a:r>
              <a:rPr lang="en-US" altLang="zh-CN" sz="2000" dirty="0">
                <a:ea typeface="宋体" panose="02010600030101010101" pitchFamily="2" charset="-122"/>
              </a:rPr>
              <a:t>1.SPMD</a:t>
            </a:r>
            <a:r>
              <a:rPr lang="zh-CN" altLang="en-US" sz="2000" dirty="0">
                <a:ea typeface="宋体" panose="02010600030101010101" pitchFamily="2" charset="-122"/>
              </a:rPr>
              <a:t>模式：单程序多数据流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grpSp>
        <p:nvGrpSpPr>
          <p:cNvPr id="46084" name="Group 21"/>
          <p:cNvGrpSpPr/>
          <p:nvPr/>
        </p:nvGrpSpPr>
        <p:grpSpPr>
          <a:xfrm>
            <a:off x="1638300" y="2706688"/>
            <a:ext cx="6126163" cy="3827462"/>
            <a:chOff x="1451" y="1164"/>
            <a:chExt cx="2577" cy="1987"/>
          </a:xfrm>
        </p:grpSpPr>
        <p:grpSp>
          <p:nvGrpSpPr>
            <p:cNvPr id="46086" name="Group 4"/>
            <p:cNvGrpSpPr/>
            <p:nvPr/>
          </p:nvGrpSpPr>
          <p:grpSpPr>
            <a:xfrm>
              <a:off x="1451" y="1164"/>
              <a:ext cx="2376" cy="1987"/>
              <a:chOff x="2999" y="2688"/>
              <a:chExt cx="5940" cy="6941"/>
            </a:xfrm>
          </p:grpSpPr>
          <p:sp>
            <p:nvSpPr>
              <p:cNvPr id="46088" name="Line 5"/>
              <p:cNvSpPr/>
              <p:nvPr/>
            </p:nvSpPr>
            <p:spPr>
              <a:xfrm>
                <a:off x="5760" y="3468"/>
                <a:ext cx="0" cy="624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grpSp>
            <p:nvGrpSpPr>
              <p:cNvPr id="46089" name="Group 6"/>
              <p:cNvGrpSpPr/>
              <p:nvPr/>
            </p:nvGrpSpPr>
            <p:grpSpPr>
              <a:xfrm>
                <a:off x="2999" y="2688"/>
                <a:ext cx="5940" cy="6941"/>
                <a:chOff x="2999" y="2688"/>
                <a:chExt cx="5940" cy="6941"/>
              </a:xfrm>
            </p:grpSpPr>
            <p:sp>
              <p:nvSpPr>
                <p:cNvPr id="46090" name="Text Box 7"/>
                <p:cNvSpPr txBox="1"/>
                <p:nvPr/>
              </p:nvSpPr>
              <p:spPr>
                <a:xfrm>
                  <a:off x="4320" y="2688"/>
                  <a:ext cx="3060" cy="78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ctr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+mn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n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+mn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+mn-lt"/>
                    </a:defRPr>
                  </a:lvl5pPr>
                </a:lstStyle>
                <a:p>
                  <a:pPr marL="0" lvl="0" indent="0" eaLnBrk="1" hangingPunct="1">
                    <a:lnSpc>
                      <a:spcPct val="120000"/>
                    </a:lnSpc>
                    <a:buNone/>
                  </a:pPr>
                  <a:r>
                    <a:rPr lang="zh-CN" altLang="en-US" sz="1600" dirty="0">
                      <a:ea typeface="宋体" panose="02010600030101010101" pitchFamily="2" charset="-122"/>
                    </a:rPr>
                    <a:t>并行应用程序代码</a:t>
                  </a:r>
                  <a:endParaRPr lang="zh-CN" altLang="en-US" sz="1600" dirty="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091" name="Line 8"/>
                <p:cNvSpPr/>
                <p:nvPr/>
              </p:nvSpPr>
              <p:spPr>
                <a:xfrm flipH="1">
                  <a:off x="7359" y="3016"/>
                  <a:ext cx="72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6092" name="Text Box 9"/>
                <p:cNvSpPr txBox="1"/>
                <p:nvPr/>
              </p:nvSpPr>
              <p:spPr>
                <a:xfrm>
                  <a:off x="3789" y="4085"/>
                  <a:ext cx="3942" cy="691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ctr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+mn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n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+mn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+mn-lt"/>
                    </a:defRPr>
                  </a:lvl5pPr>
                </a:lstStyle>
                <a:p>
                  <a:pPr marL="0" lvl="0" indent="0" eaLnBrk="1" hangingPunct="1">
                    <a:lnSpc>
                      <a:spcPct val="120000"/>
                    </a:lnSpc>
                    <a:buNone/>
                  </a:pPr>
                  <a:r>
                    <a:rPr lang="zh-CN" altLang="en-US" sz="1600" dirty="0">
                      <a:ea typeface="宋体" panose="02010600030101010101" pitchFamily="2" charset="-122"/>
                    </a:rPr>
                    <a:t>复制多份并独立执行，多个独立的进程</a:t>
                  </a:r>
                  <a:endParaRPr lang="zh-CN" altLang="en-US" sz="1600" dirty="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093" name="Line 10"/>
                <p:cNvSpPr/>
                <p:nvPr/>
              </p:nvSpPr>
              <p:spPr>
                <a:xfrm flipH="1">
                  <a:off x="3961" y="4845"/>
                  <a:ext cx="862" cy="953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6094" name="Line 12"/>
                <p:cNvSpPr/>
                <p:nvPr/>
              </p:nvSpPr>
              <p:spPr>
                <a:xfrm>
                  <a:off x="6737" y="4793"/>
                  <a:ext cx="758" cy="744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6095" name="Text Box 13"/>
                <p:cNvSpPr txBox="1"/>
                <p:nvPr/>
              </p:nvSpPr>
              <p:spPr>
                <a:xfrm>
                  <a:off x="3789" y="5798"/>
                  <a:ext cx="410" cy="2446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vert="eaVert"/>
                <a:lstStyle>
                  <a:lvl1pPr marL="342900" indent="-342900" algn="ctr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+mn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n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+mn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+mn-lt"/>
                    </a:defRPr>
                  </a:lvl5pPr>
                </a:lstStyle>
                <a:p>
                  <a:pPr marL="0" lvl="0" indent="0" algn="just" eaLnBrk="1" hangingPunct="1">
                    <a:lnSpc>
                      <a:spcPct val="120000"/>
                    </a:lnSpc>
                    <a:buNone/>
                  </a:pPr>
                  <a:r>
                    <a:rPr lang="zh-CN" altLang="en-US" sz="1600" dirty="0">
                      <a:ea typeface="宋体" panose="02010600030101010101" pitchFamily="2" charset="-122"/>
                    </a:rPr>
                    <a:t>进程一（内存）</a:t>
                  </a:r>
                  <a:endParaRPr lang="zh-CN" altLang="en-US" sz="1600" dirty="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096" name="Text Box 14"/>
                <p:cNvSpPr txBox="1"/>
                <p:nvPr/>
              </p:nvSpPr>
              <p:spPr>
                <a:xfrm>
                  <a:off x="5531" y="5708"/>
                  <a:ext cx="509" cy="252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vert="eaVert"/>
                <a:lstStyle>
                  <a:lvl1pPr marL="342900" indent="-342900" algn="ctr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+mn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n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+mn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+mn-lt"/>
                    </a:defRPr>
                  </a:lvl5pPr>
                </a:lstStyle>
                <a:p>
                  <a:pPr marL="0" lvl="0" indent="0" algn="just" eaLnBrk="1" hangingPunct="1">
                    <a:lnSpc>
                      <a:spcPct val="120000"/>
                    </a:lnSpc>
                    <a:buNone/>
                  </a:pPr>
                  <a:r>
                    <a:rPr lang="zh-CN" altLang="en-US" sz="1600" dirty="0">
                      <a:ea typeface="宋体" panose="02010600030101010101" pitchFamily="2" charset="-122"/>
                    </a:rPr>
                    <a:t>进程二（内存）</a:t>
                  </a:r>
                  <a:endParaRPr lang="zh-CN" altLang="en-US" sz="1600" dirty="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097" name="Text Box 15"/>
                <p:cNvSpPr txBox="1"/>
                <p:nvPr/>
              </p:nvSpPr>
              <p:spPr>
                <a:xfrm>
                  <a:off x="7238" y="5639"/>
                  <a:ext cx="493" cy="2556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vert="eaVert"/>
                <a:lstStyle>
                  <a:lvl1pPr marL="342900" indent="-342900" algn="ctr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+mn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n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+mn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+mn-lt"/>
                    </a:defRPr>
                  </a:lvl5pPr>
                </a:lstStyle>
                <a:p>
                  <a:pPr marL="0" lvl="0" indent="0" algn="just" eaLnBrk="1" hangingPunct="1">
                    <a:lnSpc>
                      <a:spcPct val="120000"/>
                    </a:lnSpc>
                    <a:buNone/>
                  </a:pPr>
                  <a:r>
                    <a:rPr lang="zh-CN" altLang="en-US" sz="1600" dirty="0">
                      <a:ea typeface="宋体" panose="02010600030101010101" pitchFamily="2" charset="-122"/>
                    </a:rPr>
                    <a:t>进程三（内存）</a:t>
                  </a:r>
                  <a:endParaRPr lang="zh-CN" altLang="en-US" sz="1600" dirty="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098" name="Line 16"/>
                <p:cNvSpPr/>
                <p:nvPr/>
              </p:nvSpPr>
              <p:spPr>
                <a:xfrm>
                  <a:off x="3961" y="8208"/>
                  <a:ext cx="0" cy="78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6099" name="Line 17"/>
                <p:cNvSpPr/>
                <p:nvPr/>
              </p:nvSpPr>
              <p:spPr>
                <a:xfrm>
                  <a:off x="5812" y="8257"/>
                  <a:ext cx="0" cy="78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6100" name="Line 18"/>
                <p:cNvSpPr/>
                <p:nvPr/>
              </p:nvSpPr>
              <p:spPr>
                <a:xfrm>
                  <a:off x="7511" y="8209"/>
                  <a:ext cx="0" cy="78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6101" name="Text Box 19"/>
                <p:cNvSpPr txBox="1"/>
                <p:nvPr/>
              </p:nvSpPr>
              <p:spPr>
                <a:xfrm>
                  <a:off x="2999" y="9005"/>
                  <a:ext cx="5940" cy="624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ctr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+mn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n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+mn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+mn-lt"/>
                    </a:defRPr>
                  </a:lvl5pPr>
                </a:lstStyle>
                <a:p>
                  <a:pPr marL="0" lvl="0" indent="0" eaLnBrk="1" hangingPunct="1">
                    <a:lnSpc>
                      <a:spcPct val="120000"/>
                    </a:lnSpc>
                    <a:buNone/>
                  </a:pPr>
                  <a:r>
                    <a:rPr lang="zh-CN" altLang="en-US" sz="1600" dirty="0">
                      <a:ea typeface="宋体" panose="02010600030101010101" pitchFamily="2" charset="-122"/>
                    </a:rPr>
                    <a:t>消息传递（交换数据、同步、规约）协同</a:t>
                  </a:r>
                  <a:endParaRPr lang="zh-CN" altLang="en-US" sz="1600" dirty="0"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46087" name="Text Box 20"/>
            <p:cNvSpPr txBox="1"/>
            <p:nvPr/>
          </p:nvSpPr>
          <p:spPr>
            <a:xfrm>
              <a:off x="3491" y="1186"/>
              <a:ext cx="537" cy="175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algn="just" eaLnBrk="1" hangingPunct="1">
                <a:lnSpc>
                  <a:spcPct val="120000"/>
                </a:lnSpc>
                <a:buNone/>
              </a:pPr>
              <a:r>
                <a:rPr lang="zh-CN" altLang="en-US" sz="1600" dirty="0">
                  <a:ea typeface="宋体" panose="02010600030101010101" pitchFamily="2" charset="-122"/>
                </a:rPr>
                <a:t>可执行代码</a:t>
              </a:r>
              <a:endParaRPr lang="zh-CN" altLang="en-US" sz="1600" dirty="0">
                <a:ea typeface="宋体" panose="02010600030101010101" pitchFamily="2" charset="-122"/>
              </a:endParaRPr>
            </a:p>
          </p:txBody>
        </p:sp>
      </p:grpSp>
      <p:sp>
        <p:nvSpPr>
          <p:cNvPr id="46085" name="Line 16"/>
          <p:cNvSpPr/>
          <p:nvPr/>
        </p:nvSpPr>
        <p:spPr>
          <a:xfrm>
            <a:off x="4313238" y="3870325"/>
            <a:ext cx="0" cy="50165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The Message-Passing Interface (MPI)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7107" name="Rectangle 3"/>
          <p:cNvSpPr/>
          <p:nvPr/>
        </p:nvSpPr>
        <p:spPr>
          <a:xfrm>
            <a:off x="574675" y="3559175"/>
            <a:ext cx="7585075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defTabSz="914400" eaLnBrk="1" hangingPunct="1">
              <a:lnSpc>
                <a:spcPct val="120000"/>
              </a:lnSpc>
              <a:buNone/>
              <a:tabLst>
                <a:tab pos="473075" algn="l"/>
              </a:tabLst>
            </a:pPr>
            <a:endParaRPr lang="zh-CN" altLang="en-US" sz="10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120000"/>
              </a:lnSpc>
              <a:buNone/>
              <a:tabLst>
                <a:tab pos="473075" algn="l"/>
              </a:tabLst>
            </a:pPr>
            <a:endParaRPr lang="en-US" altLang="zh-CN" sz="1000" dirty="0">
              <a:ea typeface="宋体" panose="02010600030101010101" pitchFamily="2" charset="-122"/>
            </a:endParaRPr>
          </a:p>
        </p:txBody>
      </p:sp>
      <p:sp>
        <p:nvSpPr>
          <p:cNvPr id="47108" name="Rectangle 4"/>
          <p:cNvSpPr/>
          <p:nvPr/>
        </p:nvSpPr>
        <p:spPr>
          <a:xfrm>
            <a:off x="431800" y="922338"/>
            <a:ext cx="8280400" cy="13239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defTabSz="914400" eaLnBrk="1" hangingPunct="1">
              <a:lnSpc>
                <a:spcPct val="200000"/>
              </a:lnSpc>
              <a:buNone/>
              <a:tabLst>
                <a:tab pos="765175" algn="l"/>
              </a:tabLst>
            </a:pPr>
            <a:r>
              <a:rPr lang="en-US" altLang="zh-CN" sz="2000" dirty="0">
                <a:ea typeface="宋体" panose="02010600030101010101" pitchFamily="2" charset="-122"/>
              </a:rPr>
              <a:t>2. MPMD</a:t>
            </a:r>
            <a:r>
              <a:rPr lang="zh-CN" altLang="en-US" sz="2000" dirty="0">
                <a:ea typeface="宋体" panose="02010600030101010101" pitchFamily="2" charset="-122"/>
              </a:rPr>
              <a:t>模式：多程序多数据流，除初始启动多个可执行代码，其余与</a:t>
            </a:r>
            <a:r>
              <a:rPr lang="en-US" altLang="zh-CN" sz="2000" dirty="0">
                <a:ea typeface="宋体" panose="02010600030101010101" pitchFamily="2" charset="-122"/>
              </a:rPr>
              <a:t>SPMD</a:t>
            </a:r>
            <a:r>
              <a:rPr lang="zh-CN" altLang="en-US" sz="2000" dirty="0">
                <a:ea typeface="宋体" panose="02010600030101010101" pitchFamily="2" charset="-122"/>
              </a:rPr>
              <a:t>模式一致；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47109" name="Rectangle 4"/>
          <p:cNvSpPr/>
          <p:nvPr/>
        </p:nvSpPr>
        <p:spPr>
          <a:xfrm>
            <a:off x="401638" y="2417763"/>
            <a:ext cx="8340725" cy="305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342900" lvl="0" indent="-342900" algn="l" defTabSz="914400" eaLnBrk="1" hangingPunct="1">
              <a:lnSpc>
                <a:spcPct val="200000"/>
              </a:lnSpc>
              <a:buFont typeface="Wingdings" panose="05000000000000000000" pitchFamily="2" charset="2"/>
              <a:buChar char="u"/>
              <a:tabLst>
                <a:tab pos="765175" algn="l"/>
              </a:tabLst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MPI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程序例：进程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发送一个整数给进程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；进程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将该数加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后传给进程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；进程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将该数加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后再传给进程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；依次类推，最后，进程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P-1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将该数传递给进程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，由进程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负责广播该数给所有进程，并打印输出。每个进程开始执行时，将获得一个唯一的序号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(rank)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。例如启动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个进程，序号依次为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P-1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2"/>
          <p:cNvSpPr/>
          <p:nvPr/>
        </p:nvSpPr>
        <p:spPr>
          <a:xfrm>
            <a:off x="574675" y="3559175"/>
            <a:ext cx="7585075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defTabSz="914400" eaLnBrk="1" hangingPunct="1">
              <a:lnSpc>
                <a:spcPct val="120000"/>
              </a:lnSpc>
              <a:buNone/>
              <a:tabLst>
                <a:tab pos="473075" algn="l"/>
              </a:tabLst>
            </a:pPr>
            <a:endParaRPr lang="zh-CN" altLang="en-US" sz="10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120000"/>
              </a:lnSpc>
              <a:buNone/>
              <a:tabLst>
                <a:tab pos="473075" algn="l"/>
              </a:tabLst>
            </a:pPr>
            <a:endParaRPr lang="en-US" altLang="zh-CN" sz="1000" dirty="0">
              <a:ea typeface="宋体" panose="02010600030101010101" pitchFamily="2" charset="-122"/>
            </a:endParaRPr>
          </a:p>
        </p:txBody>
      </p:sp>
      <p:sp>
        <p:nvSpPr>
          <p:cNvPr id="48131" name="Line 48"/>
          <p:cNvSpPr/>
          <p:nvPr/>
        </p:nvSpPr>
        <p:spPr>
          <a:xfrm>
            <a:off x="114300" y="-234950"/>
            <a:ext cx="525780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8132" name="Group 49"/>
          <p:cNvGrpSpPr/>
          <p:nvPr/>
        </p:nvGrpSpPr>
        <p:grpSpPr>
          <a:xfrm>
            <a:off x="652463" y="600075"/>
            <a:ext cx="6618287" cy="5427663"/>
            <a:chOff x="1980" y="1908"/>
            <a:chExt cx="8280" cy="11076"/>
          </a:xfrm>
        </p:grpSpPr>
        <p:sp>
          <p:nvSpPr>
            <p:cNvPr id="48136" name="Text Box 93"/>
            <p:cNvSpPr txBox="1"/>
            <p:nvPr/>
          </p:nvSpPr>
          <p:spPr>
            <a:xfrm>
              <a:off x="5220" y="2220"/>
              <a:ext cx="3600" cy="780"/>
            </a:xfrm>
            <a:prstGeom prst="rect">
              <a:avLst/>
            </a:prstGeom>
            <a:solidFill>
              <a:srgbClr val="FF66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None/>
              </a:pPr>
              <a:r>
                <a:rPr lang="zh-CN" altLang="en-US" sz="1400" dirty="0">
                  <a:ea typeface="宋体" panose="02010600030101010101" pitchFamily="2" charset="-122"/>
                </a:rPr>
                <a:t>进入</a:t>
              </a:r>
              <a:r>
                <a:rPr lang="en-US" altLang="zh-CN" sz="1400" dirty="0">
                  <a:ea typeface="宋体" panose="02010600030101010101" pitchFamily="2" charset="-122"/>
                </a:rPr>
                <a:t>MPI</a:t>
              </a:r>
              <a:r>
                <a:rPr lang="zh-CN" altLang="en-US" sz="1400" dirty="0">
                  <a:ea typeface="宋体" panose="02010600030101010101" pitchFamily="2" charset="-122"/>
                </a:rPr>
                <a:t>系统</a:t>
              </a:r>
              <a:endParaRPr lang="zh-CN" altLang="en-US" sz="2400" dirty="0">
                <a:ea typeface="宋体" panose="02010600030101010101" pitchFamily="2" charset="-122"/>
              </a:endParaRPr>
            </a:p>
          </p:txBody>
        </p:sp>
        <p:sp>
          <p:nvSpPr>
            <p:cNvPr id="48137" name="Line 92"/>
            <p:cNvSpPr/>
            <p:nvPr/>
          </p:nvSpPr>
          <p:spPr>
            <a:xfrm>
              <a:off x="4860" y="1908"/>
              <a:ext cx="360" cy="46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38" name="Line 91"/>
            <p:cNvSpPr/>
            <p:nvPr/>
          </p:nvSpPr>
          <p:spPr>
            <a:xfrm>
              <a:off x="6300" y="1908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39" name="Line 90"/>
            <p:cNvSpPr/>
            <p:nvPr/>
          </p:nvSpPr>
          <p:spPr>
            <a:xfrm>
              <a:off x="7740" y="1908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40" name="Line 89"/>
            <p:cNvSpPr/>
            <p:nvPr/>
          </p:nvSpPr>
          <p:spPr>
            <a:xfrm flipH="1">
              <a:off x="8820" y="1908"/>
              <a:ext cx="72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41" name="Line 88"/>
            <p:cNvSpPr/>
            <p:nvPr/>
          </p:nvSpPr>
          <p:spPr>
            <a:xfrm>
              <a:off x="4860" y="6900"/>
              <a:ext cx="720" cy="468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42" name="Line 87"/>
            <p:cNvSpPr/>
            <p:nvPr/>
          </p:nvSpPr>
          <p:spPr>
            <a:xfrm>
              <a:off x="6120" y="6900"/>
              <a:ext cx="0" cy="312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43" name="Line 86"/>
            <p:cNvSpPr/>
            <p:nvPr/>
          </p:nvSpPr>
          <p:spPr>
            <a:xfrm>
              <a:off x="7740" y="6900"/>
              <a:ext cx="0" cy="156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44" name="Line 85"/>
            <p:cNvSpPr/>
            <p:nvPr/>
          </p:nvSpPr>
          <p:spPr>
            <a:xfrm>
              <a:off x="6480" y="8148"/>
              <a:ext cx="720" cy="468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45" name="Line 84"/>
            <p:cNvSpPr/>
            <p:nvPr/>
          </p:nvSpPr>
          <p:spPr>
            <a:xfrm>
              <a:off x="7920" y="9396"/>
              <a:ext cx="720" cy="468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46" name="Line 83"/>
            <p:cNvSpPr/>
            <p:nvPr/>
          </p:nvSpPr>
          <p:spPr>
            <a:xfrm>
              <a:off x="9540" y="6900"/>
              <a:ext cx="0" cy="2808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47" name="Line 82"/>
            <p:cNvSpPr/>
            <p:nvPr/>
          </p:nvSpPr>
          <p:spPr>
            <a:xfrm flipH="1">
              <a:off x="4320" y="10644"/>
              <a:ext cx="5040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48" name="Line 81"/>
            <p:cNvSpPr/>
            <p:nvPr/>
          </p:nvSpPr>
          <p:spPr>
            <a:xfrm>
              <a:off x="4320" y="7524"/>
              <a:ext cx="0" cy="3432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49" name="Line 80"/>
            <p:cNvSpPr/>
            <p:nvPr/>
          </p:nvSpPr>
          <p:spPr>
            <a:xfrm flipH="1">
              <a:off x="4680" y="3000"/>
              <a:ext cx="540" cy="46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50" name="Line 79"/>
            <p:cNvSpPr/>
            <p:nvPr/>
          </p:nvSpPr>
          <p:spPr>
            <a:xfrm>
              <a:off x="6120" y="3000"/>
              <a:ext cx="0" cy="46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51" name="Line 78"/>
            <p:cNvSpPr/>
            <p:nvPr/>
          </p:nvSpPr>
          <p:spPr>
            <a:xfrm>
              <a:off x="7740" y="3000"/>
              <a:ext cx="0" cy="46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52" name="Line 77"/>
            <p:cNvSpPr/>
            <p:nvPr/>
          </p:nvSpPr>
          <p:spPr>
            <a:xfrm>
              <a:off x="8820" y="3000"/>
              <a:ext cx="360" cy="46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53" name="Line 76"/>
            <p:cNvSpPr/>
            <p:nvPr/>
          </p:nvSpPr>
          <p:spPr>
            <a:xfrm>
              <a:off x="4500" y="3780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54" name="Line 75"/>
            <p:cNvSpPr/>
            <p:nvPr/>
          </p:nvSpPr>
          <p:spPr>
            <a:xfrm>
              <a:off x="9360" y="3780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55" name="Line 74"/>
            <p:cNvSpPr/>
            <p:nvPr/>
          </p:nvSpPr>
          <p:spPr>
            <a:xfrm>
              <a:off x="7740" y="3780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56" name="Line 73"/>
            <p:cNvSpPr/>
            <p:nvPr/>
          </p:nvSpPr>
          <p:spPr>
            <a:xfrm>
              <a:off x="6120" y="3780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57" name="Line 72"/>
            <p:cNvSpPr/>
            <p:nvPr/>
          </p:nvSpPr>
          <p:spPr>
            <a:xfrm>
              <a:off x="4500" y="4404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58" name="Line 71"/>
            <p:cNvSpPr/>
            <p:nvPr/>
          </p:nvSpPr>
          <p:spPr>
            <a:xfrm>
              <a:off x="9360" y="4404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59" name="Line 70"/>
            <p:cNvSpPr/>
            <p:nvPr/>
          </p:nvSpPr>
          <p:spPr>
            <a:xfrm>
              <a:off x="7740" y="4404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60" name="Line 69"/>
            <p:cNvSpPr/>
            <p:nvPr/>
          </p:nvSpPr>
          <p:spPr>
            <a:xfrm>
              <a:off x="6120" y="4404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61" name="Line 68"/>
            <p:cNvSpPr/>
            <p:nvPr/>
          </p:nvSpPr>
          <p:spPr>
            <a:xfrm>
              <a:off x="4500" y="5028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62" name="Line 67"/>
            <p:cNvSpPr/>
            <p:nvPr/>
          </p:nvSpPr>
          <p:spPr>
            <a:xfrm>
              <a:off x="9360" y="5028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63" name="Line 66"/>
            <p:cNvSpPr/>
            <p:nvPr/>
          </p:nvSpPr>
          <p:spPr>
            <a:xfrm>
              <a:off x="7740" y="5028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64" name="Line 65"/>
            <p:cNvSpPr/>
            <p:nvPr/>
          </p:nvSpPr>
          <p:spPr>
            <a:xfrm>
              <a:off x="6120" y="5028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65" name="Line 64"/>
            <p:cNvSpPr/>
            <p:nvPr/>
          </p:nvSpPr>
          <p:spPr>
            <a:xfrm>
              <a:off x="4500" y="5652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66" name="Line 63"/>
            <p:cNvSpPr/>
            <p:nvPr/>
          </p:nvSpPr>
          <p:spPr>
            <a:xfrm>
              <a:off x="9360" y="5652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67" name="Line 62"/>
            <p:cNvSpPr/>
            <p:nvPr/>
          </p:nvSpPr>
          <p:spPr>
            <a:xfrm>
              <a:off x="7740" y="5652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68" name="Line 61"/>
            <p:cNvSpPr/>
            <p:nvPr/>
          </p:nvSpPr>
          <p:spPr>
            <a:xfrm>
              <a:off x="6120" y="5652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69" name="Line 60"/>
            <p:cNvSpPr/>
            <p:nvPr/>
          </p:nvSpPr>
          <p:spPr>
            <a:xfrm>
              <a:off x="4500" y="6276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70" name="Line 59"/>
            <p:cNvSpPr/>
            <p:nvPr/>
          </p:nvSpPr>
          <p:spPr>
            <a:xfrm>
              <a:off x="9360" y="6276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71" name="Line 58"/>
            <p:cNvSpPr/>
            <p:nvPr/>
          </p:nvSpPr>
          <p:spPr>
            <a:xfrm>
              <a:off x="7740" y="6276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72" name="Line 57"/>
            <p:cNvSpPr/>
            <p:nvPr/>
          </p:nvSpPr>
          <p:spPr>
            <a:xfrm>
              <a:off x="6120" y="6276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73" name="Line 56"/>
            <p:cNvSpPr/>
            <p:nvPr/>
          </p:nvSpPr>
          <p:spPr>
            <a:xfrm>
              <a:off x="4320" y="11268"/>
              <a:ext cx="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74" name="Line 55"/>
            <p:cNvSpPr/>
            <p:nvPr/>
          </p:nvSpPr>
          <p:spPr>
            <a:xfrm>
              <a:off x="1980" y="1908"/>
              <a:ext cx="828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75" name="Text Box 54"/>
            <p:cNvSpPr txBox="1"/>
            <p:nvPr/>
          </p:nvSpPr>
          <p:spPr>
            <a:xfrm>
              <a:off x="5040" y="12204"/>
              <a:ext cx="3600" cy="780"/>
            </a:xfrm>
            <a:prstGeom prst="rect">
              <a:avLst/>
            </a:prstGeom>
            <a:solidFill>
              <a:srgbClr val="FF66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None/>
              </a:pPr>
              <a:r>
                <a:rPr lang="zh-CN" altLang="en-US" sz="1400" dirty="0">
                  <a:ea typeface="宋体" panose="02010600030101010101" pitchFamily="2" charset="-122"/>
                </a:rPr>
                <a:t>退出</a:t>
              </a:r>
              <a:r>
                <a:rPr lang="en-US" altLang="zh-CN" sz="1400" dirty="0">
                  <a:ea typeface="宋体" panose="02010600030101010101" pitchFamily="2" charset="-122"/>
                </a:rPr>
                <a:t>MPI</a:t>
              </a:r>
              <a:r>
                <a:rPr lang="zh-CN" altLang="en-US" sz="1400" dirty="0">
                  <a:ea typeface="宋体" panose="02010600030101010101" pitchFamily="2" charset="-122"/>
                </a:rPr>
                <a:t>系统</a:t>
              </a:r>
              <a:endParaRPr lang="zh-CN" altLang="en-US" sz="2400" dirty="0">
                <a:ea typeface="宋体" panose="02010600030101010101" pitchFamily="2" charset="-122"/>
              </a:endParaRPr>
            </a:p>
          </p:txBody>
        </p:sp>
        <p:sp>
          <p:nvSpPr>
            <p:cNvPr id="48176" name="Line 53"/>
            <p:cNvSpPr/>
            <p:nvPr/>
          </p:nvSpPr>
          <p:spPr>
            <a:xfrm>
              <a:off x="4500" y="11892"/>
              <a:ext cx="540" cy="3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77" name="Line 52"/>
            <p:cNvSpPr/>
            <p:nvPr/>
          </p:nvSpPr>
          <p:spPr>
            <a:xfrm>
              <a:off x="6120" y="11268"/>
              <a:ext cx="0" cy="9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78" name="Line 51"/>
            <p:cNvSpPr/>
            <p:nvPr/>
          </p:nvSpPr>
          <p:spPr>
            <a:xfrm>
              <a:off x="7920" y="11268"/>
              <a:ext cx="0" cy="9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79" name="Line 50"/>
            <p:cNvSpPr/>
            <p:nvPr/>
          </p:nvSpPr>
          <p:spPr>
            <a:xfrm flipH="1">
              <a:off x="8640" y="11424"/>
              <a:ext cx="900" cy="78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48133" name="Rectangle 94"/>
          <p:cNvSpPr/>
          <p:nvPr/>
        </p:nvSpPr>
        <p:spPr>
          <a:xfrm>
            <a:off x="0" y="-2349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lnSpc>
                <a:spcPct val="120000"/>
              </a:lnSpc>
              <a:buNone/>
            </a:pPr>
            <a:endParaRPr lang="zh-CN" altLang="en-US" sz="4400" dirty="0">
              <a:ea typeface="宋体" panose="02010600030101010101" pitchFamily="2" charset="-122"/>
            </a:endParaRPr>
          </a:p>
        </p:txBody>
      </p:sp>
      <p:sp>
        <p:nvSpPr>
          <p:cNvPr id="48134" name="Rectangle 97"/>
          <p:cNvSpPr/>
          <p:nvPr/>
        </p:nvSpPr>
        <p:spPr>
          <a:xfrm>
            <a:off x="114300" y="-49212"/>
            <a:ext cx="7375525" cy="6480175"/>
          </a:xfrm>
          <a:prstGeom prst="rect">
            <a:avLst/>
          </a:prstGeom>
          <a:noFill/>
          <a:ln w="9525">
            <a:noFill/>
          </a:ln>
        </p:spPr>
        <p:txBody>
          <a:bodyPr bIns="0" anchor="ctr" anchorCtr="0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889000" algn="l" eaLnBrk="1" hangingPunct="1">
              <a:lnSpc>
                <a:spcPct val="125000"/>
              </a:lnSpc>
              <a:spcBef>
                <a:spcPct val="0"/>
              </a:spcBef>
              <a:buClrTx/>
              <a:buNone/>
            </a:pPr>
            <a:endParaRPr lang="zh-CN" altLang="en-US" sz="1600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marL="0" lvl="0" indent="889000" algn="l">
              <a:lnSpc>
                <a:spcPct val="125000"/>
              </a:lnSpc>
              <a:spcBef>
                <a:spcPct val="0"/>
              </a:spcBef>
              <a:buClrTx/>
              <a:buNone/>
            </a:pPr>
            <a:r>
              <a:rPr lang="zh-CN" altLang="en-US" sz="1600" dirty="0">
                <a:solidFill>
                  <a:srgbClr val="0000FF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1600" dirty="0">
                <a:solidFill>
                  <a:srgbClr val="0000FF"/>
                </a:solidFill>
                <a:ea typeface="宋体" panose="02010600030101010101" pitchFamily="2" charset="-122"/>
              </a:rPr>
              <a:t>MPI</a:t>
            </a:r>
            <a:r>
              <a:rPr lang="zh-CN" altLang="en-US" sz="1600" dirty="0">
                <a:solidFill>
                  <a:srgbClr val="0000FF"/>
                </a:solidFill>
                <a:ea typeface="宋体" panose="02010600030101010101" pitchFamily="2" charset="-122"/>
              </a:rPr>
              <a:t>函数</a:t>
            </a:r>
            <a:r>
              <a:rPr lang="zh-CN" altLang="en-US" sz="1600" dirty="0">
                <a:ea typeface="宋体" panose="02010600030101010101" pitchFamily="2" charset="-122"/>
              </a:rPr>
              <a:t>  </a:t>
            </a:r>
            <a:r>
              <a:rPr lang="zh-CN" altLang="en-US" sz="1600" dirty="0">
                <a:solidFill>
                  <a:srgbClr val="FF0000"/>
                </a:solidFill>
                <a:ea typeface="宋体" panose="02010600030101010101" pitchFamily="2" charset="-122"/>
              </a:rPr>
              <a:t>           进程</a:t>
            </a:r>
            <a:r>
              <a:rPr lang="en-US" altLang="zh-CN" sz="1600" dirty="0">
                <a:solidFill>
                  <a:srgbClr val="FF0000"/>
                </a:solidFill>
                <a:ea typeface="宋体" panose="02010600030101010101" pitchFamily="2" charset="-122"/>
              </a:rPr>
              <a:t>0           </a:t>
            </a:r>
            <a:r>
              <a:rPr lang="zh-CN" altLang="en-US" sz="1600" dirty="0">
                <a:solidFill>
                  <a:srgbClr val="FF0000"/>
                </a:solidFill>
                <a:ea typeface="宋体" panose="02010600030101010101" pitchFamily="2" charset="-122"/>
              </a:rPr>
              <a:t>进程</a:t>
            </a:r>
            <a:r>
              <a:rPr lang="en-US" altLang="zh-CN" sz="1600" dirty="0">
                <a:solidFill>
                  <a:srgbClr val="FF0000"/>
                </a:solidFill>
                <a:ea typeface="宋体" panose="02010600030101010101" pitchFamily="2" charset="-122"/>
              </a:rPr>
              <a:t>1              </a:t>
            </a:r>
            <a:r>
              <a:rPr lang="zh-CN" altLang="en-US" sz="1600" dirty="0">
                <a:solidFill>
                  <a:srgbClr val="FF0000"/>
                </a:solidFill>
                <a:ea typeface="宋体" panose="02010600030101010101" pitchFamily="2" charset="-122"/>
              </a:rPr>
              <a:t>进程</a:t>
            </a:r>
            <a:r>
              <a:rPr lang="en-US" altLang="zh-CN" sz="1600" dirty="0">
                <a:solidFill>
                  <a:srgbClr val="FF0000"/>
                </a:solidFill>
                <a:ea typeface="宋体" panose="02010600030101010101" pitchFamily="2" charset="-122"/>
              </a:rPr>
              <a:t>2            </a:t>
            </a:r>
            <a:r>
              <a:rPr lang="zh-CN" altLang="en-US" sz="1600" dirty="0">
                <a:solidFill>
                  <a:srgbClr val="FF0000"/>
                </a:solidFill>
                <a:ea typeface="宋体" panose="02010600030101010101" pitchFamily="2" charset="-122"/>
              </a:rPr>
              <a:t>进程</a:t>
            </a:r>
            <a:r>
              <a:rPr lang="en-US" altLang="zh-CN" sz="1600" dirty="0">
                <a:solidFill>
                  <a:srgbClr val="FF0000"/>
                </a:solidFill>
                <a:ea typeface="宋体" panose="02010600030101010101" pitchFamily="2" charset="-122"/>
              </a:rPr>
              <a:t>3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 marL="0" lvl="0" indent="889000" algn="l">
              <a:lnSpc>
                <a:spcPct val="125000"/>
              </a:lnSpc>
              <a:spcBef>
                <a:spcPct val="0"/>
              </a:spcBef>
              <a:buClrTx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</a:t>
            </a:r>
            <a:r>
              <a:rPr lang="en-US" altLang="zh-CN" sz="1600" dirty="0">
                <a:solidFill>
                  <a:srgbClr val="FF0000"/>
                </a:solidFill>
                <a:ea typeface="宋体" panose="02010600030101010101" pitchFamily="2" charset="-122"/>
              </a:rPr>
              <a:t>Init()   </a:t>
            </a:r>
            <a:endParaRPr lang="en-US" altLang="zh-CN" sz="16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0" lvl="0" indent="889000" algn="l">
              <a:lnSpc>
                <a:spcPct val="125000"/>
              </a:lnSpc>
              <a:spcBef>
                <a:spcPct val="0"/>
              </a:spcBef>
              <a:buClrTx/>
              <a:buNone/>
            </a:pPr>
            <a:endParaRPr lang="en-US" altLang="zh-CN" sz="16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0" lvl="0" indent="889000" algn="l">
              <a:lnSpc>
                <a:spcPct val="125000"/>
              </a:lnSpc>
              <a:spcBef>
                <a:spcPct val="0"/>
              </a:spcBef>
              <a:buClrTx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Comm_rank()    my_rank=0     myrank=1       myrank=2        my_rank=3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 marL="0" lvl="0" indent="889000" algn="l">
              <a:lnSpc>
                <a:spcPct val="125000"/>
              </a:lnSpc>
              <a:spcBef>
                <a:spcPct val="0"/>
              </a:spcBef>
              <a:buClrTx/>
              <a:buNone/>
            </a:pPr>
            <a:r>
              <a:rPr lang="en-US" altLang="zh-CN" sz="1600" dirty="0">
                <a:solidFill>
                  <a:srgbClr val="0000FF"/>
                </a:solidFill>
                <a:ea typeface="宋体" panose="02010600030101010101" pitchFamily="2" charset="-122"/>
              </a:rPr>
              <a:t>Comm_size()        p=4                   p=4                   p=4                    p=4</a:t>
            </a:r>
            <a:endParaRPr lang="en-US" altLang="zh-CN" sz="1600" dirty="0">
              <a:solidFill>
                <a:srgbClr val="FFFF00"/>
              </a:solidFill>
              <a:ea typeface="宋体" panose="02010600030101010101" pitchFamily="2" charset="-122"/>
            </a:endParaRPr>
          </a:p>
          <a:p>
            <a:pPr marL="0" lvl="0" indent="889000" algn="l">
              <a:lnSpc>
                <a:spcPct val="125000"/>
              </a:lnSpc>
              <a:spcBef>
                <a:spcPct val="0"/>
              </a:spcBef>
              <a:buClrTx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                    </a:t>
            </a:r>
            <a:r>
              <a:rPr lang="sv-SE" altLang="zh-CN" sz="1600" dirty="0">
                <a:solidFill>
                  <a:srgbClr val="FF00FF"/>
                </a:solidFill>
                <a:ea typeface="宋体" panose="02010600030101010101" pitchFamily="2" charset="-122"/>
              </a:rPr>
              <a:t>tag=5,data=0     tag=5,data=0    tag=5,data=0   tag=5,data=0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 marL="0" lvl="0" indent="889000" algn="l">
              <a:lnSpc>
                <a:spcPct val="125000"/>
              </a:lnSpc>
              <a:spcBef>
                <a:spcPct val="0"/>
              </a:spcBef>
              <a:buClrTx/>
              <a:buNone/>
            </a:pPr>
            <a:r>
              <a:rPr lang="sv-SE" altLang="zh-CN" sz="1600" dirty="0">
                <a:solidFill>
                  <a:srgbClr val="FF00FF"/>
                </a:solidFill>
                <a:ea typeface="宋体" panose="02010600030101010101" pitchFamily="2" charset="-122"/>
              </a:rPr>
              <a:t>                          </a:t>
            </a:r>
            <a:r>
              <a:rPr lang="en-US" altLang="zh-CN" sz="1600" dirty="0">
                <a:solidFill>
                  <a:srgbClr val="FF00FF"/>
                </a:solidFill>
                <a:ea typeface="宋体" panose="02010600030101010101" pitchFamily="2" charset="-122"/>
              </a:rPr>
              <a:t>source=3           source=0          source=1            source=2   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 marL="0" lvl="0" indent="889000" algn="l">
              <a:lnSpc>
                <a:spcPct val="125000"/>
              </a:lnSpc>
              <a:spcBef>
                <a:spcPct val="0"/>
              </a:spcBef>
              <a:buClrTx/>
              <a:buNone/>
            </a:pPr>
            <a:r>
              <a:rPr lang="en-US" altLang="zh-CN" sz="1600" dirty="0">
                <a:solidFill>
                  <a:srgbClr val="FF00FF"/>
                </a:solidFill>
                <a:ea typeface="宋体" panose="02010600030101010101" pitchFamily="2" charset="-122"/>
              </a:rPr>
              <a:t>                           dest=1               dest=2             dest=3                dest=0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 marL="0" lvl="0" indent="889000" algn="l">
              <a:lnSpc>
                <a:spcPct val="125000"/>
              </a:lnSpc>
              <a:spcBef>
                <a:spcPct val="0"/>
              </a:spcBef>
              <a:buClr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数据交换            </a:t>
            </a:r>
            <a:r>
              <a:rPr lang="en-US" altLang="zh-CN" sz="1600" dirty="0">
                <a:ea typeface="宋体" panose="02010600030101010101" pitchFamily="2" charset="-122"/>
              </a:rPr>
              <a:t>send()               recv()               recv()                 recv()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 marL="0" lvl="0" indent="889000" algn="l">
              <a:lnSpc>
                <a:spcPct val="125000"/>
              </a:lnSpc>
              <a:spcBef>
                <a:spcPct val="0"/>
              </a:spcBef>
              <a:buClrTx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                                             data=data+1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 marL="0" lvl="0" indent="889000" algn="l">
              <a:lnSpc>
                <a:spcPct val="125000"/>
              </a:lnSpc>
              <a:spcBef>
                <a:spcPct val="0"/>
              </a:spcBef>
              <a:buClrTx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               </a:t>
            </a:r>
            <a:r>
              <a:rPr lang="zh-CN" altLang="en-US" sz="1600" dirty="0">
                <a:ea typeface="宋体" panose="02010600030101010101" pitchFamily="2" charset="-122"/>
              </a:rPr>
              <a:t>空                              </a:t>
            </a:r>
            <a:r>
              <a:rPr lang="en-US" altLang="zh-CN" sz="1600" dirty="0">
                <a:ea typeface="宋体" panose="02010600030101010101" pitchFamily="2" charset="-122"/>
              </a:rPr>
              <a:t>send()    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 marL="0" lvl="0" indent="889000" algn="l">
              <a:lnSpc>
                <a:spcPct val="125000"/>
              </a:lnSpc>
              <a:spcBef>
                <a:spcPct val="0"/>
              </a:spcBef>
              <a:buClrTx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               </a:t>
            </a:r>
            <a:r>
              <a:rPr lang="zh-CN" altLang="en-US" sz="1600" dirty="0">
                <a:ea typeface="宋体" panose="02010600030101010101" pitchFamily="2" charset="-122"/>
              </a:rPr>
              <a:t>闲                                                   </a:t>
            </a:r>
            <a:r>
              <a:rPr lang="en-US" altLang="zh-CN" sz="1600" dirty="0">
                <a:ea typeface="宋体" panose="02010600030101010101" pitchFamily="2" charset="-122"/>
              </a:rPr>
              <a:t>data=data+1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 marL="0" lvl="0" indent="889000" algn="l">
              <a:lnSpc>
                <a:spcPct val="125000"/>
              </a:lnSpc>
              <a:spcBef>
                <a:spcPct val="0"/>
              </a:spcBef>
              <a:buClrTx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               </a:t>
            </a:r>
            <a:r>
              <a:rPr lang="zh-CN" altLang="en-US" sz="1600" dirty="0">
                <a:ea typeface="宋体" panose="02010600030101010101" pitchFamily="2" charset="-122"/>
              </a:rPr>
              <a:t>等                                                      </a:t>
            </a:r>
            <a:r>
              <a:rPr lang="en-US" altLang="zh-CN" sz="1600" dirty="0">
                <a:ea typeface="宋体" panose="02010600030101010101" pitchFamily="2" charset="-122"/>
              </a:rPr>
              <a:t>send()    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 marL="0" lvl="0" indent="889000" algn="l">
              <a:lnSpc>
                <a:spcPct val="125000"/>
              </a:lnSpc>
              <a:spcBef>
                <a:spcPct val="0"/>
              </a:spcBef>
              <a:buClrTx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               </a:t>
            </a:r>
            <a:r>
              <a:rPr lang="zh-CN" altLang="en-US" sz="1600" dirty="0">
                <a:ea typeface="宋体" panose="02010600030101010101" pitchFamily="2" charset="-122"/>
              </a:rPr>
              <a:t>待                                                                           </a:t>
            </a:r>
            <a:r>
              <a:rPr lang="en-US" altLang="zh-CN" sz="1600" dirty="0">
                <a:ea typeface="宋体" panose="02010600030101010101" pitchFamily="2" charset="-122"/>
              </a:rPr>
              <a:t>data=data+1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 marL="0" lvl="0" indent="889000" algn="l">
              <a:lnSpc>
                <a:spcPct val="125000"/>
              </a:lnSpc>
              <a:spcBef>
                <a:spcPct val="0"/>
              </a:spcBef>
              <a:buClrTx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                             </a:t>
            </a:r>
            <a:r>
              <a:rPr lang="zh-CN" altLang="en-US" sz="1600" dirty="0">
                <a:ea typeface="宋体" panose="02010600030101010101" pitchFamily="2" charset="-122"/>
              </a:rPr>
              <a:t>消息传递                                                             </a:t>
            </a:r>
            <a:r>
              <a:rPr lang="en-US" altLang="zh-CN" sz="1600" dirty="0">
                <a:ea typeface="宋体" panose="02010600030101010101" pitchFamily="2" charset="-122"/>
              </a:rPr>
              <a:t>send()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 marL="0" lvl="0" indent="889000" algn="l">
              <a:lnSpc>
                <a:spcPct val="125000"/>
              </a:lnSpc>
              <a:spcBef>
                <a:spcPct val="0"/>
              </a:spcBef>
              <a:buClrTx/>
              <a:buNone/>
            </a:pPr>
            <a:r>
              <a:rPr lang="en-US" altLang="zh-CN" sz="1600" dirty="0">
                <a:solidFill>
                  <a:srgbClr val="0000FF"/>
                </a:solidFill>
                <a:ea typeface="宋体" panose="02010600030101010101" pitchFamily="2" charset="-122"/>
              </a:rPr>
              <a:t>                        recv()                   recv()                recv()                  recv()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 marL="0" lvl="0" indent="889000" algn="l">
              <a:lnSpc>
                <a:spcPct val="125000"/>
              </a:lnSpc>
              <a:spcBef>
                <a:spcPct val="0"/>
              </a:spcBef>
              <a:buClrTx/>
              <a:buNone/>
            </a:pPr>
            <a:r>
              <a:rPr lang="en-US" altLang="zh-CN" sz="1600" dirty="0">
                <a:solidFill>
                  <a:srgbClr val="0000FF"/>
                </a:solidFill>
                <a:ea typeface="宋体" panose="02010600030101010101" pitchFamily="2" charset="-122"/>
              </a:rPr>
              <a:t>Broadcast()</a:t>
            </a:r>
            <a:r>
              <a:rPr lang="en-US" altLang="zh-CN" sz="1600" dirty="0">
                <a:ea typeface="宋体" panose="02010600030101010101" pitchFamily="2" charset="-122"/>
              </a:rPr>
              <a:t>     output “data”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 marL="0" lvl="0" indent="889000" algn="l">
              <a:lnSpc>
                <a:spcPct val="125000"/>
              </a:lnSpc>
              <a:spcBef>
                <a:spcPct val="0"/>
              </a:spcBef>
              <a:buClrTx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Finalize()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 marL="0" lvl="0" indent="889000" algn="l">
              <a:lnSpc>
                <a:spcPct val="125000"/>
              </a:lnSpc>
              <a:spcBef>
                <a:spcPct val="0"/>
              </a:spcBef>
              <a:buClrTx/>
              <a:buNone/>
            </a:pPr>
            <a:br>
              <a:rPr lang="en-US" altLang="zh-CN" sz="1600" dirty="0">
                <a:ea typeface="宋体" panose="02010600030101010101" pitchFamily="2" charset="-122"/>
              </a:rPr>
            </a:br>
            <a:endParaRPr lang="en-US" altLang="zh-CN" sz="1600" dirty="0">
              <a:ea typeface="宋体" panose="02010600030101010101" pitchFamily="2" charset="-122"/>
            </a:endParaRPr>
          </a:p>
        </p:txBody>
      </p:sp>
      <p:sp>
        <p:nvSpPr>
          <p:cNvPr id="48135" name="矩形 2"/>
          <p:cNvSpPr/>
          <p:nvPr/>
        </p:nvSpPr>
        <p:spPr>
          <a:xfrm>
            <a:off x="6708775" y="6170613"/>
            <a:ext cx="2435225" cy="4238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lnSpc>
                <a:spcPct val="120000"/>
              </a:lnSpc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send() </a:t>
            </a:r>
            <a:r>
              <a:rPr lang="zh-CN" altLang="en-US" sz="1800" dirty="0">
                <a:ea typeface="宋体" panose="02010600030101010101" pitchFamily="2" charset="-122"/>
              </a:rPr>
              <a:t>可以用其他方式</a:t>
            </a:r>
            <a:endParaRPr lang="zh-CN" altLang="en-US" sz="1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3"/>
          <p:cNvSpPr/>
          <p:nvPr/>
        </p:nvSpPr>
        <p:spPr>
          <a:xfrm>
            <a:off x="574675" y="3559175"/>
            <a:ext cx="7585075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defTabSz="914400" eaLnBrk="1" hangingPunct="1">
              <a:lnSpc>
                <a:spcPct val="120000"/>
              </a:lnSpc>
              <a:buNone/>
              <a:tabLst>
                <a:tab pos="473075" algn="l"/>
              </a:tabLst>
            </a:pPr>
            <a:endParaRPr lang="zh-CN" altLang="en-US" sz="10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120000"/>
              </a:lnSpc>
              <a:buNone/>
              <a:tabLst>
                <a:tab pos="473075" algn="l"/>
              </a:tabLst>
            </a:pPr>
            <a:endParaRPr lang="en-US" altLang="zh-CN" sz="1000" dirty="0">
              <a:ea typeface="宋体" panose="02010600030101010101" pitchFamily="2" charset="-122"/>
            </a:endParaRPr>
          </a:p>
        </p:txBody>
      </p:sp>
      <p:sp>
        <p:nvSpPr>
          <p:cNvPr id="49155" name="Rectangle 4"/>
          <p:cNvSpPr/>
          <p:nvPr/>
        </p:nvSpPr>
        <p:spPr>
          <a:xfrm>
            <a:off x="139700" y="104775"/>
            <a:ext cx="8453438" cy="64944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en-US" altLang="zh-CN" sz="1200" dirty="0">
                <a:ea typeface="宋体" panose="02010600030101010101" pitchFamily="2" charset="-122"/>
              </a:rPr>
              <a:t> program  example1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en-US" altLang="zh-CN" sz="1200" dirty="0">
                <a:ea typeface="宋体" panose="02010600030101010101" pitchFamily="2" charset="-122"/>
              </a:rPr>
              <a:t>      include   “mpif.h”        !! MPI</a:t>
            </a:r>
            <a:r>
              <a:rPr lang="zh-CN" altLang="en-US" sz="1200" dirty="0">
                <a:ea typeface="宋体" panose="02010600030101010101" pitchFamily="2" charset="-122"/>
              </a:rPr>
              <a:t>系统头文件</a:t>
            </a:r>
            <a:endParaRPr lang="zh-CN" altLang="en-US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zh-CN" altLang="en-US" sz="1200" dirty="0">
                <a:ea typeface="宋体" panose="02010600030101010101" pitchFamily="2" charset="-122"/>
              </a:rPr>
              <a:t>      </a:t>
            </a:r>
            <a:r>
              <a:rPr lang="en-US" altLang="zh-CN" sz="1200" dirty="0">
                <a:ea typeface="宋体" panose="02010600030101010101" pitchFamily="2" charset="-122"/>
              </a:rPr>
              <a:t>integer   status(MPI_STATUS_SIZE),my_rank,p,source,dest,tag,ierr,data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en-US" altLang="zh-CN" sz="1200" dirty="0">
                <a:ea typeface="宋体" panose="02010600030101010101" pitchFamily="2" charset="-122"/>
              </a:rPr>
              <a:t>c-------</a:t>
            </a:r>
            <a:r>
              <a:rPr lang="zh-CN" altLang="en-US" sz="1200" dirty="0">
                <a:ea typeface="宋体" panose="02010600030101010101" pitchFamily="2" charset="-122"/>
              </a:rPr>
              <a:t>进入</a:t>
            </a:r>
            <a:r>
              <a:rPr lang="en-US" altLang="zh-CN" sz="1200" dirty="0">
                <a:ea typeface="宋体" panose="02010600030101010101" pitchFamily="2" charset="-122"/>
              </a:rPr>
              <a:t>MPI</a:t>
            </a:r>
            <a:r>
              <a:rPr lang="zh-CN" altLang="en-US" sz="1200" dirty="0">
                <a:ea typeface="宋体" panose="02010600030101010101" pitchFamily="2" charset="-122"/>
              </a:rPr>
              <a:t>系统</a:t>
            </a:r>
            <a:endParaRPr lang="zh-CN" altLang="en-US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zh-CN" altLang="en-US" sz="1200" dirty="0">
                <a:ea typeface="宋体" panose="02010600030101010101" pitchFamily="2" charset="-122"/>
              </a:rPr>
              <a:t>      </a:t>
            </a:r>
            <a:r>
              <a:rPr lang="en-US" altLang="zh-CN" sz="1200" dirty="0">
                <a:ea typeface="宋体" panose="02010600030101010101" pitchFamily="2" charset="-122"/>
              </a:rPr>
              <a:t>call MPI_Init(ierr)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en-US" altLang="zh-CN" sz="1200" dirty="0">
                <a:ea typeface="宋体" panose="02010600030101010101" pitchFamily="2" charset="-122"/>
              </a:rPr>
              <a:t>      call MPI_Comm_rank(MPI_COMM_WORLD,my_rank,ierr)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en-US" altLang="zh-CN" sz="1200" dirty="0">
                <a:ea typeface="宋体" panose="02010600030101010101" pitchFamily="2" charset="-122"/>
              </a:rPr>
              <a:t>      call MPI_Comm_size(MPI_COMM_WORLD,p,ierr)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en-US" altLang="zh-CN" sz="1200" dirty="0">
                <a:ea typeface="宋体" panose="02010600030101010101" pitchFamily="2" charset="-122"/>
              </a:rPr>
              <a:t>c-------</a:t>
            </a:r>
            <a:r>
              <a:rPr lang="zh-CN" altLang="en-US" sz="1200" dirty="0">
                <a:ea typeface="宋体" panose="02010600030101010101" pitchFamily="2" charset="-122"/>
              </a:rPr>
              <a:t>数据交换</a:t>
            </a:r>
            <a:endParaRPr lang="zh-CN" altLang="en-US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zh-CN" altLang="en-US" sz="1200" dirty="0">
                <a:ea typeface="宋体" panose="02010600030101010101" pitchFamily="2" charset="-122"/>
              </a:rPr>
              <a:t>      </a:t>
            </a:r>
            <a:r>
              <a:rPr lang="en-US" altLang="zh-CN" sz="1200" dirty="0">
                <a:ea typeface="宋体" panose="02010600030101010101" pitchFamily="2" charset="-122"/>
              </a:rPr>
              <a:t>data=0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en-US" altLang="zh-CN" sz="1200" dirty="0">
                <a:ea typeface="宋体" panose="02010600030101010101" pitchFamily="2" charset="-122"/>
              </a:rPr>
              <a:t>      tag   = 5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en-US" altLang="zh-CN" sz="1200" dirty="0">
                <a:ea typeface="宋体" panose="02010600030101010101" pitchFamily="2" charset="-122"/>
              </a:rPr>
              <a:t>      source= my_rank-1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en-US" altLang="zh-CN" sz="1200" dirty="0">
                <a:ea typeface="宋体" panose="02010600030101010101" pitchFamily="2" charset="-122"/>
              </a:rPr>
              <a:t>      if(source.eq.-1) source=p-1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en-US" altLang="zh-CN" sz="1200" dirty="0">
                <a:ea typeface="宋体" panose="02010600030101010101" pitchFamily="2" charset="-122"/>
              </a:rPr>
              <a:t>      dest =my_rank +1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en-US" altLang="zh-CN" sz="1200" dirty="0">
                <a:ea typeface="宋体" panose="02010600030101010101" pitchFamily="2" charset="-122"/>
              </a:rPr>
              <a:t>      if(dest.eq.p) dest=0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en-US" altLang="zh-CN" sz="1200" dirty="0">
                <a:ea typeface="宋体" panose="02010600030101010101" pitchFamily="2" charset="-122"/>
              </a:rPr>
              <a:t>      if(my_rank.eq.0) then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en-US" altLang="zh-CN" sz="1200" dirty="0">
                <a:ea typeface="宋体" panose="02010600030101010101" pitchFamily="2" charset="-122"/>
              </a:rPr>
              <a:t>             call MPI_Send(data,1,MPI_INTEGER,dest,tag,MPI_COMM_WORLD,ierr)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en-US" altLang="zh-CN" sz="1200" dirty="0">
                <a:ea typeface="宋体" panose="02010600030101010101" pitchFamily="2" charset="-122"/>
              </a:rPr>
              <a:t>             call MPI_Recv(data,1,MPI_INTEGER,source,tag,MPI_COMM_WORLD,status,ierr)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en-US" altLang="zh-CN" sz="1200" dirty="0">
                <a:ea typeface="宋体" panose="02010600030101010101" pitchFamily="2" charset="-122"/>
              </a:rPr>
              <a:t>      else   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en-US" altLang="zh-CN" sz="1200" dirty="0">
                <a:ea typeface="宋体" panose="02010600030101010101" pitchFamily="2" charset="-122"/>
              </a:rPr>
              <a:t>             call MPI_Recv(data,1,MPI_INTEGER,source,tag,MPI_COMM_WORLD,status,ierr)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en-US" altLang="zh-CN" sz="1200" dirty="0">
                <a:ea typeface="宋体" panose="02010600030101010101" pitchFamily="2" charset="-122"/>
              </a:rPr>
              <a:t>             data=data+1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en-US" altLang="zh-CN" sz="1200" dirty="0">
                <a:ea typeface="宋体" panose="02010600030101010101" pitchFamily="2" charset="-122"/>
              </a:rPr>
              <a:t>             call MPI_Send(data,1,MPI_INTEGER,dest,tag,MPI_COMM_WORLD,ierr)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en-US" altLang="zh-CN" sz="1200" dirty="0">
                <a:ea typeface="宋体" panose="02010600030101010101" pitchFamily="2" charset="-122"/>
              </a:rPr>
              <a:t>      endif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en-US" altLang="zh-CN" sz="1200" dirty="0">
                <a:ea typeface="宋体" panose="02010600030101010101" pitchFamily="2" charset="-122"/>
              </a:rPr>
              <a:t>c-------</a:t>
            </a:r>
            <a:r>
              <a:rPr lang="zh-CN" altLang="en-US" sz="1200" dirty="0">
                <a:ea typeface="宋体" panose="02010600030101010101" pitchFamily="2" charset="-122"/>
              </a:rPr>
              <a:t>广播数据</a:t>
            </a:r>
            <a:endParaRPr lang="zh-CN" altLang="en-US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zh-CN" altLang="en-US" sz="1200" dirty="0">
                <a:ea typeface="宋体" panose="02010600030101010101" pitchFamily="2" charset="-122"/>
              </a:rPr>
              <a:t>      </a:t>
            </a:r>
            <a:r>
              <a:rPr lang="en-US" altLang="zh-CN" sz="1200" dirty="0">
                <a:ea typeface="宋体" panose="02010600030101010101" pitchFamily="2" charset="-122"/>
              </a:rPr>
              <a:t>call MPI_Bcast(data,1,MPI_INTEGER,0,MPI_COMM_WORLD,ierr)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en-US" altLang="zh-CN" sz="1200" dirty="0">
                <a:ea typeface="宋体" panose="02010600030101010101" pitchFamily="2" charset="-122"/>
              </a:rPr>
              <a:t>c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en-US" altLang="zh-CN" sz="1200" dirty="0">
                <a:ea typeface="宋体" panose="02010600030101010101" pitchFamily="2" charset="-122"/>
              </a:rPr>
              <a:t>c------</a:t>
            </a:r>
            <a:r>
              <a:rPr lang="zh-CN" altLang="en-US" sz="1200" dirty="0">
                <a:ea typeface="宋体" panose="02010600030101010101" pitchFamily="2" charset="-122"/>
              </a:rPr>
              <a:t>打印输出</a:t>
            </a:r>
            <a:endParaRPr lang="zh-CN" altLang="en-US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zh-CN" altLang="en-US" sz="1200" dirty="0">
                <a:ea typeface="宋体" panose="02010600030101010101" pitchFamily="2" charset="-122"/>
              </a:rPr>
              <a:t>      </a:t>
            </a:r>
            <a:r>
              <a:rPr lang="en-US" altLang="zh-CN" sz="1200" dirty="0">
                <a:ea typeface="宋体" panose="02010600030101010101" pitchFamily="2" charset="-122"/>
              </a:rPr>
              <a:t>if(my_rank.eq.0) then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en-US" altLang="zh-CN" sz="1200" dirty="0">
                <a:ea typeface="宋体" panose="02010600030101010101" pitchFamily="2" charset="-122"/>
              </a:rPr>
              <a:t>         if(data.eq.p-1) then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en-US" altLang="zh-CN" sz="1200" dirty="0">
                <a:ea typeface="宋体" panose="02010600030101010101" pitchFamily="2" charset="-122"/>
              </a:rPr>
              <a:t>            print *,”Successful, data=”,data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en-US" altLang="zh-CN" sz="1200" dirty="0">
                <a:ea typeface="宋体" panose="02010600030101010101" pitchFamily="2" charset="-122"/>
              </a:rPr>
              <a:t>         else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en-US" altLang="zh-CN" sz="1200" dirty="0">
                <a:ea typeface="宋体" panose="02010600030101010101" pitchFamily="2" charset="-122"/>
              </a:rPr>
              <a:t>            print *,”Failure, data=”,data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en-US" altLang="zh-CN" sz="1200" dirty="0">
                <a:ea typeface="宋体" panose="02010600030101010101" pitchFamily="2" charset="-122"/>
              </a:rPr>
              <a:t>         endif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en-US" altLang="zh-CN" sz="1200" dirty="0">
                <a:ea typeface="宋体" panose="02010600030101010101" pitchFamily="2" charset="-122"/>
              </a:rPr>
              <a:t>      endif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en-US" altLang="zh-CN" sz="1200" dirty="0">
                <a:ea typeface="宋体" panose="02010600030101010101" pitchFamily="2" charset="-122"/>
              </a:rPr>
              <a:t>c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en-US" altLang="zh-CN" sz="1200" dirty="0">
                <a:ea typeface="宋体" panose="02010600030101010101" pitchFamily="2" charset="-122"/>
              </a:rPr>
              <a:t>       call MPI_Finalize(ierr)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 marL="0" lvl="0" indent="0" algn="l" defTabSz="914400" eaLnBrk="1" hangingPunct="1">
              <a:lnSpc>
                <a:spcPct val="70000"/>
              </a:lnSpc>
              <a:buNone/>
              <a:tabLst>
                <a:tab pos="765175" algn="l"/>
              </a:tabLst>
            </a:pPr>
            <a:r>
              <a:rPr lang="en-US" altLang="zh-CN" sz="1200" dirty="0">
                <a:ea typeface="宋体" panose="02010600030101010101" pitchFamily="2" charset="-122"/>
              </a:rPr>
              <a:t>       end</a:t>
            </a:r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755900" y="5421313"/>
            <a:ext cx="3900488" cy="1471613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 algn="ctr">
              <a:spcBef>
                <a:spcPct val="20000"/>
              </a:spcBef>
              <a:buClr>
                <a:schemeClr val="accent2"/>
              </a:buClr>
              <a:buChar char="•"/>
              <a:tabLst>
                <a:tab pos="765175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tabLst>
                <a:tab pos="765175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tabLst>
                <a:tab pos="7651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tabLst>
                <a:tab pos="7651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tabLst>
                <a:tab pos="7651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tabLst>
                <a:tab pos="7651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tabLst>
                <a:tab pos="7651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tabLst>
                <a:tab pos="7651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tabLst>
                <a:tab pos="76517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tabLst>
                <a:tab pos="765175" algn="l"/>
              </a:tabLst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编译命令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  mpif77  -o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exam.e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example.f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tabLst>
                <a:tab pos="765175" algn="l"/>
              </a:tabLst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运行命令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mpirun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–np  4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exam.e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tabLst>
                <a:tab pos="765175" algn="l"/>
              </a:tabLst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运行效果：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MPI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系统选择相同或不同的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个处理机，在每个处理机上运行程序代码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exam.e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9157" name="组合 4"/>
          <p:cNvGrpSpPr/>
          <p:nvPr/>
        </p:nvGrpSpPr>
        <p:grpSpPr>
          <a:xfrm>
            <a:off x="5334000" y="441325"/>
            <a:ext cx="3857625" cy="5243513"/>
            <a:chOff x="2255850" y="-514764"/>
            <a:chExt cx="4172228" cy="5244089"/>
          </a:xfrm>
        </p:grpSpPr>
        <p:sp>
          <p:nvSpPr>
            <p:cNvPr id="49158" name="Rectangle 27"/>
            <p:cNvSpPr/>
            <p:nvPr/>
          </p:nvSpPr>
          <p:spPr>
            <a:xfrm>
              <a:off x="2687457" y="-514764"/>
              <a:ext cx="3254863" cy="4247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ctr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lvl="0" indent="0" algn="l" eaLnBrk="1" hangingPunct="1">
                <a:lnSpc>
                  <a:spcPct val="120000"/>
                </a:lnSpc>
                <a:spcBef>
                  <a:spcPct val="0"/>
                </a:spcBef>
                <a:buClrTx/>
                <a:buNone/>
              </a:pPr>
              <a:r>
                <a:rPr lang="en-US" altLang="zh-CN" sz="1800" dirty="0">
                  <a:solidFill>
                    <a:srgbClr val="FF0000"/>
                  </a:solidFill>
                  <a:ea typeface="宋体" panose="02010600030101010101" pitchFamily="2" charset="-122"/>
                </a:rPr>
                <a:t>MPI</a:t>
              </a:r>
              <a:r>
                <a:rPr lang="zh-CN" altLang="en-US" sz="1800" dirty="0">
                  <a:solidFill>
                    <a:srgbClr val="FF0000"/>
                  </a:solidFill>
                  <a:ea typeface="宋体" panose="02010600030101010101" pitchFamily="2" charset="-122"/>
                </a:rPr>
                <a:t>程序设计一般的流程图 </a:t>
              </a:r>
              <a:endParaRPr lang="zh-CN" altLang="en-US" sz="1800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49159" name="Group 29"/>
            <p:cNvGrpSpPr/>
            <p:nvPr/>
          </p:nvGrpSpPr>
          <p:grpSpPr>
            <a:xfrm>
              <a:off x="2255850" y="145588"/>
              <a:ext cx="4172228" cy="4583737"/>
              <a:chOff x="1427" y="76"/>
              <a:chExt cx="3373" cy="3992"/>
            </a:xfrm>
          </p:grpSpPr>
          <p:grpSp>
            <p:nvGrpSpPr>
              <p:cNvPr id="49160" name="Group 6"/>
              <p:cNvGrpSpPr/>
              <p:nvPr/>
            </p:nvGrpSpPr>
            <p:grpSpPr>
              <a:xfrm>
                <a:off x="1427" y="76"/>
                <a:ext cx="3373" cy="3992"/>
                <a:chOff x="2242" y="2532"/>
                <a:chExt cx="7584" cy="9972"/>
              </a:xfrm>
            </p:grpSpPr>
            <p:sp>
              <p:nvSpPr>
                <p:cNvPr id="49162" name="Text Box 7"/>
                <p:cNvSpPr txBox="1"/>
                <p:nvPr/>
              </p:nvSpPr>
              <p:spPr>
                <a:xfrm>
                  <a:off x="3141" y="2532"/>
                  <a:ext cx="2340" cy="624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ctr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+mn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n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+mn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+mn-lt"/>
                    </a:defRPr>
                  </a:lvl5pPr>
                </a:lstStyle>
                <a:p>
                  <a:pPr marL="0" lvl="0" indent="0" eaLnBrk="1" hangingPunct="1">
                    <a:lnSpc>
                      <a:spcPct val="120000"/>
                    </a:lnSpc>
                    <a:buNone/>
                  </a:pPr>
                  <a:r>
                    <a:rPr lang="zh-CN" altLang="en-US" sz="1100" dirty="0">
                      <a:ea typeface="宋体" panose="02010600030101010101" pitchFamily="2" charset="-122"/>
                    </a:rPr>
                    <a:t>程序参数说明</a:t>
                  </a:r>
                  <a:endParaRPr lang="zh-CN" altLang="en-US" sz="1100" dirty="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9163" name="Text Box 8"/>
                <p:cNvSpPr txBox="1"/>
                <p:nvPr/>
              </p:nvSpPr>
              <p:spPr>
                <a:xfrm>
                  <a:off x="3141" y="3624"/>
                  <a:ext cx="2340" cy="624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ctr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+mn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n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+mn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+mn-lt"/>
                    </a:defRPr>
                  </a:lvl5pPr>
                </a:lstStyle>
                <a:p>
                  <a:pPr marL="0" lvl="0" indent="0" eaLnBrk="1" hangingPunct="1">
                    <a:lnSpc>
                      <a:spcPct val="120000"/>
                    </a:lnSpc>
                    <a:buNone/>
                  </a:pPr>
                  <a:r>
                    <a:rPr lang="en-US" altLang="zh-CN" sz="1100" dirty="0">
                      <a:ea typeface="宋体" panose="02010600030101010101" pitchFamily="2" charset="-122"/>
                    </a:rPr>
                    <a:t>Call MPI_Init (  )</a:t>
                  </a:r>
                  <a:endParaRPr lang="en-US" altLang="zh-CN" sz="1100" dirty="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9164" name="Text Box 9"/>
                <p:cNvSpPr txBox="1"/>
                <p:nvPr/>
              </p:nvSpPr>
              <p:spPr>
                <a:xfrm>
                  <a:off x="2242" y="4716"/>
                  <a:ext cx="4035" cy="1248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ctr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+mn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n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+mn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+mn-lt"/>
                    </a:defRPr>
                  </a:lvl5pPr>
                </a:lstStyle>
                <a:p>
                  <a:pPr marL="0" lvl="0" indent="0" algn="l" eaLnBrk="1" hangingPunct="1">
                    <a:lnSpc>
                      <a:spcPct val="120000"/>
                    </a:lnSpc>
                    <a:buNone/>
                  </a:pPr>
                  <a:r>
                    <a:rPr lang="en-US" altLang="zh-CN" sz="1100" dirty="0">
                      <a:ea typeface="宋体" panose="02010600030101010101" pitchFamily="2" charset="-122"/>
                    </a:rPr>
                    <a:t>Call MPI_Comm_rank ( )</a:t>
                  </a:r>
                  <a:endParaRPr lang="en-US" altLang="zh-CN" sz="1100" dirty="0">
                    <a:ea typeface="宋体" panose="02010600030101010101" pitchFamily="2" charset="-122"/>
                  </a:endParaRPr>
                </a:p>
                <a:p>
                  <a:pPr marL="0" lvl="0" indent="0" eaLnBrk="1" hangingPunct="1">
                    <a:lnSpc>
                      <a:spcPct val="120000"/>
                    </a:lnSpc>
                    <a:buNone/>
                  </a:pPr>
                  <a:r>
                    <a:rPr lang="en-US" altLang="zh-CN" sz="1100" dirty="0">
                      <a:ea typeface="宋体" panose="02010600030101010101" pitchFamily="2" charset="-122"/>
                    </a:rPr>
                    <a:t>Call MPI_Comm_size ( )</a:t>
                  </a:r>
                  <a:r>
                    <a:rPr lang="zh-CN" altLang="en-US" sz="1100" dirty="0">
                      <a:ea typeface="宋体" panose="02010600030101010101" pitchFamily="2" charset="-122"/>
                    </a:rPr>
                    <a:t>进程数</a:t>
                  </a:r>
                  <a:endParaRPr lang="en-US" altLang="zh-CN" sz="1100" dirty="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9165" name="Text Box 10"/>
                <p:cNvSpPr txBox="1"/>
                <p:nvPr/>
              </p:nvSpPr>
              <p:spPr>
                <a:xfrm>
                  <a:off x="5760" y="6678"/>
                  <a:ext cx="3663" cy="103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ctr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+mn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n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+mn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+mn-lt"/>
                    </a:defRPr>
                  </a:lvl5pPr>
                </a:lstStyle>
                <a:p>
                  <a:pPr marL="0" lvl="0" indent="0" algn="l" eaLnBrk="1" hangingPunct="1">
                    <a:lnSpc>
                      <a:spcPct val="120000"/>
                    </a:lnSpc>
                    <a:buNone/>
                  </a:pPr>
                  <a:r>
                    <a:rPr lang="zh-CN" altLang="en-US" sz="1100" dirty="0">
                      <a:ea typeface="宋体" panose="02010600030101010101" pitchFamily="2" charset="-122"/>
                    </a:rPr>
                    <a:t>建立新的通信器、定义新的数据类型和进程拓扑结构</a:t>
                  </a:r>
                  <a:endParaRPr lang="zh-CN" altLang="en-US" sz="1100" dirty="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9166" name="Text Box 11"/>
                <p:cNvSpPr txBox="1"/>
                <p:nvPr/>
              </p:nvSpPr>
              <p:spPr>
                <a:xfrm>
                  <a:off x="3141" y="8148"/>
                  <a:ext cx="2340" cy="1606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ctr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+mn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n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+mn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+mn-lt"/>
                    </a:defRPr>
                  </a:lvl5pPr>
                </a:lstStyle>
                <a:p>
                  <a:pPr marL="0" lvl="0" indent="0" algn="just" eaLnBrk="1" hangingPunct="1">
                    <a:lnSpc>
                      <a:spcPct val="120000"/>
                    </a:lnSpc>
                    <a:buNone/>
                  </a:pPr>
                  <a:r>
                    <a:rPr lang="zh-CN" altLang="en-US" sz="1100" dirty="0">
                      <a:ea typeface="宋体" panose="02010600030101010101" pitchFamily="2" charset="-122"/>
                    </a:rPr>
                    <a:t>应用程序实体：</a:t>
                  </a:r>
                  <a:endParaRPr lang="zh-CN" altLang="en-US" sz="1100" dirty="0">
                    <a:ea typeface="宋体" panose="02010600030101010101" pitchFamily="2" charset="-122"/>
                  </a:endParaRPr>
                </a:p>
                <a:p>
                  <a:pPr marL="0" lvl="0" indent="0" algn="just" eaLnBrk="1" hangingPunct="1">
                    <a:lnSpc>
                      <a:spcPct val="120000"/>
                    </a:lnSpc>
                    <a:buNone/>
                  </a:pPr>
                  <a:r>
                    <a:rPr lang="zh-CN" altLang="en-US" sz="1100" dirty="0">
                      <a:ea typeface="宋体" panose="02010600030101010101" pitchFamily="2" charset="-122"/>
                    </a:rPr>
                    <a:t>计算控制程序体；</a:t>
                  </a:r>
                  <a:endParaRPr lang="zh-CN" altLang="en-US" sz="1100" dirty="0">
                    <a:ea typeface="宋体" panose="02010600030101010101" pitchFamily="2" charset="-122"/>
                  </a:endParaRPr>
                </a:p>
                <a:p>
                  <a:pPr marL="0" lvl="0" indent="0" algn="just" eaLnBrk="1" hangingPunct="1">
                    <a:lnSpc>
                      <a:spcPct val="120000"/>
                    </a:lnSpc>
                    <a:buNone/>
                  </a:pPr>
                  <a:r>
                    <a:rPr lang="zh-CN" altLang="en-US" sz="1100" dirty="0">
                      <a:ea typeface="宋体" panose="02010600030101010101" pitchFamily="2" charset="-122"/>
                    </a:rPr>
                    <a:t>进程间通信；</a:t>
                  </a:r>
                  <a:endParaRPr lang="zh-CN" altLang="en-US" sz="1100" dirty="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9167" name="Text Box 12"/>
                <p:cNvSpPr txBox="1"/>
                <p:nvPr/>
              </p:nvSpPr>
              <p:spPr>
                <a:xfrm>
                  <a:off x="3018" y="10478"/>
                  <a:ext cx="2630" cy="657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ctr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+mn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n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+mn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+mn-lt"/>
                    </a:defRPr>
                  </a:lvl5pPr>
                </a:lstStyle>
                <a:p>
                  <a:pPr marL="0" lvl="0" indent="0" eaLnBrk="1" hangingPunct="1">
                    <a:lnSpc>
                      <a:spcPct val="120000"/>
                    </a:lnSpc>
                    <a:buNone/>
                  </a:pPr>
                  <a:r>
                    <a:rPr lang="en-US" altLang="zh-CN" sz="1100" dirty="0">
                      <a:ea typeface="宋体" panose="02010600030101010101" pitchFamily="2" charset="-122"/>
                    </a:rPr>
                    <a:t>Call MPI_Finalize ( )</a:t>
                  </a:r>
                  <a:endParaRPr lang="en-US" altLang="zh-CN" sz="1100" dirty="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9168" name="Text Box 13"/>
                <p:cNvSpPr txBox="1"/>
                <p:nvPr/>
              </p:nvSpPr>
              <p:spPr>
                <a:xfrm>
                  <a:off x="3916" y="11898"/>
                  <a:ext cx="926" cy="606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ctr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+mn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n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+mn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+mn-lt"/>
                    </a:defRPr>
                  </a:lvl5pPr>
                </a:lstStyle>
                <a:p>
                  <a:pPr marL="0" lvl="0" indent="0" eaLnBrk="1" hangingPunct="1">
                    <a:lnSpc>
                      <a:spcPct val="120000"/>
                    </a:lnSpc>
                    <a:buNone/>
                  </a:pPr>
                  <a:r>
                    <a:rPr lang="en-US" altLang="zh-CN" sz="1100" dirty="0">
                      <a:ea typeface="宋体" panose="02010600030101010101" pitchFamily="2" charset="-122"/>
                    </a:rPr>
                    <a:t>End</a:t>
                  </a:r>
                  <a:endParaRPr lang="en-US" altLang="zh-CN" sz="1100" dirty="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9169" name="Line 14"/>
                <p:cNvSpPr/>
                <p:nvPr/>
              </p:nvSpPr>
              <p:spPr>
                <a:xfrm>
                  <a:off x="4320" y="3156"/>
                  <a:ext cx="0" cy="468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9170" name="Line 15"/>
                <p:cNvSpPr/>
                <p:nvPr/>
              </p:nvSpPr>
              <p:spPr>
                <a:xfrm>
                  <a:off x="4320" y="4248"/>
                  <a:ext cx="0" cy="468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9171" name="Line 16"/>
                <p:cNvSpPr/>
                <p:nvPr/>
              </p:nvSpPr>
              <p:spPr>
                <a:xfrm>
                  <a:off x="4320" y="5964"/>
                  <a:ext cx="0" cy="2184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9172" name="Line 17"/>
                <p:cNvSpPr/>
                <p:nvPr/>
              </p:nvSpPr>
              <p:spPr>
                <a:xfrm>
                  <a:off x="4320" y="6276"/>
                  <a:ext cx="2880" cy="0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ysDot"/>
                  <a:headEnd type="none" w="med" len="med"/>
                  <a:tailEnd type="triangle" w="med" len="med"/>
                </a:ln>
              </p:spPr>
            </p:sp>
            <p:sp>
              <p:nvSpPr>
                <p:cNvPr id="49173" name="Line 18"/>
                <p:cNvSpPr/>
                <p:nvPr/>
              </p:nvSpPr>
              <p:spPr>
                <a:xfrm>
                  <a:off x="7200" y="6276"/>
                  <a:ext cx="0" cy="312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ysDot"/>
                  <a:headEnd type="none" w="med" len="med"/>
                  <a:tailEnd type="triangle" w="med" len="med"/>
                </a:ln>
              </p:spPr>
            </p:sp>
            <p:sp>
              <p:nvSpPr>
                <p:cNvPr id="49174" name="Line 19"/>
                <p:cNvSpPr/>
                <p:nvPr/>
              </p:nvSpPr>
              <p:spPr>
                <a:xfrm flipH="1">
                  <a:off x="4320" y="7992"/>
                  <a:ext cx="2880" cy="0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ysDot"/>
                  <a:headEnd type="none" w="med" len="med"/>
                  <a:tailEnd type="triangle" w="med" len="med"/>
                </a:ln>
              </p:spPr>
            </p:sp>
            <p:sp>
              <p:nvSpPr>
                <p:cNvPr id="49175" name="Line 20"/>
                <p:cNvSpPr/>
                <p:nvPr/>
              </p:nvSpPr>
              <p:spPr>
                <a:xfrm>
                  <a:off x="4320" y="9786"/>
                  <a:ext cx="0" cy="642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9176" name="Line 21"/>
                <p:cNvSpPr/>
                <p:nvPr/>
              </p:nvSpPr>
              <p:spPr>
                <a:xfrm flipH="1">
                  <a:off x="5481" y="3951"/>
                  <a:ext cx="639" cy="1"/>
                </a:xfrm>
                <a:prstGeom prst="line">
                  <a:avLst/>
                </a:prstGeom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9177" name="Line 22"/>
                <p:cNvSpPr/>
                <p:nvPr/>
              </p:nvSpPr>
              <p:spPr>
                <a:xfrm flipH="1">
                  <a:off x="5635" y="10465"/>
                  <a:ext cx="692" cy="507"/>
                </a:xfrm>
                <a:prstGeom prst="line">
                  <a:avLst/>
                </a:prstGeom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9178" name="Line 23"/>
                <p:cNvSpPr/>
                <p:nvPr/>
              </p:nvSpPr>
              <p:spPr>
                <a:xfrm>
                  <a:off x="4320" y="11220"/>
                  <a:ext cx="0" cy="624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9179" name="Text Box 24"/>
                <p:cNvSpPr txBox="1"/>
                <p:nvPr/>
              </p:nvSpPr>
              <p:spPr>
                <a:xfrm>
                  <a:off x="6133" y="3310"/>
                  <a:ext cx="3693" cy="115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ctr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+mn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n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+mn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+mn-lt"/>
                    </a:defRPr>
                  </a:lvl5pPr>
                </a:lstStyle>
                <a:p>
                  <a:pPr marL="0" lvl="0" indent="0" algn="just" eaLnBrk="1" hangingPunct="1">
                    <a:lnSpc>
                      <a:spcPct val="120000"/>
                    </a:lnSpc>
                    <a:buNone/>
                  </a:pPr>
                  <a:r>
                    <a:rPr lang="zh-CN" altLang="en-US" sz="1100" dirty="0">
                      <a:ea typeface="宋体" panose="02010600030101010101" pitchFamily="2" charset="-122"/>
                    </a:rPr>
                    <a:t>进入</a:t>
                  </a:r>
                  <a:r>
                    <a:rPr lang="en-US" altLang="zh-CN" sz="1100" dirty="0">
                      <a:ea typeface="宋体" panose="02010600030101010101" pitchFamily="2" charset="-122"/>
                    </a:rPr>
                    <a:t>MPI</a:t>
                  </a:r>
                  <a:r>
                    <a:rPr lang="zh-CN" altLang="en-US" sz="1100" dirty="0">
                      <a:ea typeface="宋体" panose="02010600030101010101" pitchFamily="2" charset="-122"/>
                    </a:rPr>
                    <a:t>系统，通信器</a:t>
                  </a:r>
                  <a:endParaRPr lang="zh-CN" altLang="en-US" sz="1100" dirty="0">
                    <a:ea typeface="宋体" panose="02010600030101010101" pitchFamily="2" charset="-122"/>
                  </a:endParaRPr>
                </a:p>
                <a:p>
                  <a:pPr marL="0" lvl="0" indent="0" algn="just" eaLnBrk="1" hangingPunct="1">
                    <a:lnSpc>
                      <a:spcPct val="120000"/>
                    </a:lnSpc>
                    <a:buNone/>
                  </a:pPr>
                  <a:r>
                    <a:rPr lang="en-US" altLang="zh-CN" sz="1100" dirty="0">
                      <a:ea typeface="宋体" panose="02010600030101010101" pitchFamily="2" charset="-122"/>
                    </a:rPr>
                    <a:t>MPI_COMM_WORLD</a:t>
                  </a:r>
                  <a:r>
                    <a:rPr lang="zh-CN" altLang="en-US" sz="1100" dirty="0">
                      <a:ea typeface="宋体" panose="02010600030101010101" pitchFamily="2" charset="-122"/>
                    </a:rPr>
                    <a:t>形成</a:t>
                  </a:r>
                  <a:endParaRPr lang="zh-CN" altLang="en-US" sz="1100" dirty="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9180" name="Text Box 25"/>
                <p:cNvSpPr txBox="1"/>
                <p:nvPr/>
              </p:nvSpPr>
              <p:spPr>
                <a:xfrm>
                  <a:off x="6327" y="10002"/>
                  <a:ext cx="2025" cy="542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ctr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+mn-lt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•"/>
                    <a:defRPr sz="2400">
                      <a:solidFill>
                        <a:schemeClr val="tx1"/>
                      </a:solidFill>
                      <a:latin typeface="+mn-lt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+mn-lt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+mn-lt"/>
                    </a:defRPr>
                  </a:lvl5pPr>
                </a:lstStyle>
                <a:p>
                  <a:pPr marL="0" lvl="0" indent="0" algn="just" eaLnBrk="1" hangingPunct="1">
                    <a:lnSpc>
                      <a:spcPct val="120000"/>
                    </a:lnSpc>
                    <a:buNone/>
                  </a:pPr>
                  <a:r>
                    <a:rPr lang="zh-CN" altLang="en-US" sz="1100" dirty="0">
                      <a:ea typeface="宋体" panose="02010600030101010101" pitchFamily="2" charset="-122"/>
                    </a:rPr>
                    <a:t>退出</a:t>
                  </a:r>
                  <a:r>
                    <a:rPr lang="en-US" altLang="zh-CN" sz="1100" dirty="0">
                      <a:ea typeface="宋体" panose="02010600030101010101" pitchFamily="2" charset="-122"/>
                    </a:rPr>
                    <a:t>MPI</a:t>
                  </a:r>
                  <a:r>
                    <a:rPr lang="zh-CN" altLang="en-US" sz="1100" dirty="0">
                      <a:ea typeface="宋体" panose="02010600030101010101" pitchFamily="2" charset="-122"/>
                    </a:rPr>
                    <a:t>系统</a:t>
                  </a:r>
                  <a:endParaRPr lang="zh-CN" altLang="en-US" sz="1100" dirty="0"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49161" name="Line 28"/>
              <p:cNvSpPr/>
              <p:nvPr/>
            </p:nvSpPr>
            <p:spPr>
              <a:xfrm>
                <a:off x="3641" y="2174"/>
                <a:ext cx="1" cy="10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ysDot"/>
                <a:headEnd type="none" w="med" len="med"/>
                <a:tailEnd type="triangle" w="med" len="med"/>
              </a:ln>
            </p:spPr>
          </p:sp>
        </p:grp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881188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Message-Oriented Persistence Communication</a:t>
            </a:r>
            <a:r>
              <a:rPr lang="en-US" altLang="zh-CN" sz="4000" dirty="0">
                <a:ea typeface="宋体" panose="02010600030101010101" pitchFamily="2" charset="-122"/>
              </a:rPr>
              <a:t> </a:t>
            </a:r>
            <a:br>
              <a:rPr lang="en-US" altLang="zh-CN" sz="4000" dirty="0">
                <a:ea typeface="宋体" panose="02010600030101010101" pitchFamily="2" charset="-122"/>
              </a:rPr>
            </a:br>
            <a:r>
              <a:rPr lang="en-US" altLang="zh-CN" sz="2800" dirty="0">
                <a:ea typeface="宋体" panose="02010600030101010101" pitchFamily="2" charset="-122"/>
              </a:rPr>
              <a:t>Message-Queuing Model (1)</a:t>
            </a:r>
            <a:br>
              <a:rPr lang="en-US" altLang="zh-CN" sz="2800" dirty="0">
                <a:ea typeface="宋体" panose="02010600030101010101" pitchFamily="2" charset="-122"/>
              </a:rPr>
            </a:br>
            <a:br>
              <a:rPr lang="en-US" altLang="zh-CN" sz="2800" dirty="0">
                <a:ea typeface="宋体" panose="02010600030101010101" pitchFamily="2" charset="-122"/>
              </a:rPr>
            </a:br>
            <a:r>
              <a:rPr lang="zh-CN" altLang="en-US" sz="2400" dirty="0">
                <a:solidFill>
                  <a:schemeClr val="tx1"/>
                </a:solidFill>
                <a:ea typeface="宋体" panose="02010600030101010101" pitchFamily="2" charset="-122"/>
              </a:rPr>
              <a:t>提供消息的中介存储能力</a:t>
            </a: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</a:rPr>
              <a:t>,  </a:t>
            </a:r>
            <a:r>
              <a:rPr lang="zh-CN" altLang="en-US" sz="2400" dirty="0">
                <a:solidFill>
                  <a:schemeClr val="tx1"/>
                </a:solidFill>
                <a:ea typeface="宋体" panose="02010600030101010101" pitchFamily="2" charset="-122"/>
              </a:rPr>
              <a:t>不需双方都在活动状态</a:t>
            </a:r>
            <a:endParaRPr lang="zh-CN" altLang="en-US" sz="24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0179" name="Rectangle 3"/>
          <p:cNvSpPr>
            <a:spLocks noGrp="1"/>
          </p:cNvSpPr>
          <p:nvPr>
            <p:ph idx="1"/>
          </p:nvPr>
        </p:nvSpPr>
        <p:spPr>
          <a:xfrm>
            <a:off x="0" y="6030913"/>
            <a:ext cx="9144000" cy="53975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Four combinations for loosely-coupled communications using queues.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50180" name="Text Box 4"/>
          <p:cNvSpPr txBox="1"/>
          <p:nvPr/>
        </p:nvSpPr>
        <p:spPr>
          <a:xfrm>
            <a:off x="3505200" y="2514600"/>
            <a:ext cx="1752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2-26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pic>
        <p:nvPicPr>
          <p:cNvPr id="50181" name="Picture 5"/>
          <p:cNvPicPr>
            <a:picLocks noChangeAspect="1"/>
          </p:cNvPicPr>
          <p:nvPr/>
        </p:nvPicPr>
        <p:blipFill>
          <a:blip r:embed="rId1"/>
          <a:srcRect l="27579" t="39577" r="24345" b="34138"/>
          <a:stretch>
            <a:fillRect/>
          </a:stretch>
        </p:blipFill>
        <p:spPr>
          <a:xfrm>
            <a:off x="935038" y="1898650"/>
            <a:ext cx="7294562" cy="41195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15925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Message-Queuing Model (2)</a:t>
            </a:r>
            <a:endParaRPr lang="en-US" altLang="zh-CN" sz="3600" dirty="0">
              <a:ea typeface="宋体" panose="02010600030101010101" pitchFamily="2" charset="-122"/>
            </a:endParaRPr>
          </a:p>
        </p:txBody>
      </p:sp>
      <p:sp>
        <p:nvSpPr>
          <p:cNvPr id="51203" name="Rectangle 3"/>
          <p:cNvSpPr>
            <a:spLocks noGrp="1"/>
          </p:cNvSpPr>
          <p:nvPr>
            <p:ph idx="1"/>
          </p:nvPr>
        </p:nvSpPr>
        <p:spPr>
          <a:xfrm>
            <a:off x="1654175" y="3119438"/>
            <a:ext cx="5835650" cy="379412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Basic interface to a queue in a message-queuing system.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graphicFrame>
        <p:nvGraphicFramePr>
          <p:cNvPr id="34853" name="Group 37"/>
          <p:cNvGraphicFramePr>
            <a:graphicFrameLocks noGrp="1"/>
          </p:cNvGraphicFramePr>
          <p:nvPr/>
        </p:nvGraphicFramePr>
        <p:xfrm>
          <a:off x="647700" y="573088"/>
          <a:ext cx="7707313" cy="2546350"/>
        </p:xfrm>
        <a:graphic>
          <a:graphicData uri="http://schemas.openxmlformats.org/drawingml/2006/table">
            <a:tbl>
              <a:tblPr/>
              <a:tblGrid>
                <a:gridCol w="1181117"/>
                <a:gridCol w="6526196"/>
              </a:tblGrid>
              <a:tr h="4213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Primitive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7" marR="91457" marT="45740" marB="4574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Meaning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7" marR="91457"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Put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7" marR="91457" marT="45740" marB="4574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Append a message to a specified queue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7" marR="91457"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3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Get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7" marR="91457" marT="45740" marB="4574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Block until the specified queue is nonempty, and remove the first message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7" marR="91457"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3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Poll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7" marR="91457" marT="45740" marB="4574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Check a specified queue for messages, and remove the first. Never block.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7" marR="91457"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53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Notify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7" marR="91457" marT="45740" marB="4574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Install a handler to be called when a message is put into the specified queue.(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注册一个处理程序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消息进入队列时调用它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7" marR="91457"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68400" y="6138863"/>
            <a:ext cx="6807200" cy="71913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The relationship between queue-level addressing and network-level addressing.(analogous to use of DNS  for e-mail)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1225" name="Picture 5"/>
          <p:cNvPicPr>
            <a:picLocks noChangeAspect="1"/>
          </p:cNvPicPr>
          <p:nvPr/>
        </p:nvPicPr>
        <p:blipFill>
          <a:blip r:embed="rId1"/>
          <a:srcRect l="21165" t="44260" r="20096" b="37915"/>
          <a:stretch>
            <a:fillRect/>
          </a:stretch>
        </p:blipFill>
        <p:spPr>
          <a:xfrm>
            <a:off x="684213" y="3498850"/>
            <a:ext cx="7773987" cy="26400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2"/>
          <p:cNvSpPr>
            <a:spLocks noGrp="1"/>
          </p:cNvSpPr>
          <p:nvPr>
            <p:ph type="title"/>
          </p:nvPr>
        </p:nvSpPr>
        <p:spPr>
          <a:xfrm>
            <a:off x="561975" y="0"/>
            <a:ext cx="7959725" cy="6858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General Architecture of a Message-Queuing System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2227" name="Rectangle 3"/>
          <p:cNvSpPr>
            <a:spLocks noGrp="1"/>
          </p:cNvSpPr>
          <p:nvPr>
            <p:ph idx="1"/>
          </p:nvPr>
        </p:nvSpPr>
        <p:spPr>
          <a:xfrm>
            <a:off x="374650" y="6010275"/>
            <a:ext cx="8645525" cy="519113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The general organization of a message-queuing system with routers.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52228" name="Text Box 4"/>
          <p:cNvSpPr txBox="1"/>
          <p:nvPr/>
        </p:nvSpPr>
        <p:spPr>
          <a:xfrm>
            <a:off x="3429000" y="3429000"/>
            <a:ext cx="144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2-29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pic>
        <p:nvPicPr>
          <p:cNvPr id="52229" name="Picture 5"/>
          <p:cNvPicPr>
            <a:picLocks noChangeAspect="1"/>
          </p:cNvPicPr>
          <p:nvPr/>
        </p:nvPicPr>
        <p:blipFill>
          <a:blip r:embed="rId1"/>
          <a:srcRect l="27151" t="39275" r="24345" b="33534"/>
          <a:stretch>
            <a:fillRect/>
          </a:stretch>
        </p:blipFill>
        <p:spPr>
          <a:xfrm>
            <a:off x="490538" y="1274763"/>
            <a:ext cx="8170862" cy="4546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2230" name="Rectangle 6"/>
          <p:cNvSpPr/>
          <p:nvPr/>
        </p:nvSpPr>
        <p:spPr>
          <a:xfrm>
            <a:off x="561975" y="771525"/>
            <a:ext cx="8170863" cy="4095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342900" lvl="0" indent="-342900" algn="l" eaLnBrk="1" hangingPunct="1">
              <a:lnSpc>
                <a:spcPct val="90000"/>
              </a:lnSpc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队列集合分布在多台机器上</a:t>
            </a:r>
            <a:r>
              <a:rPr lang="en-US" altLang="zh-CN" sz="2400" dirty="0">
                <a:ea typeface="宋体" panose="02010600030101010101" pitchFamily="2" charset="-122"/>
              </a:rPr>
              <a:t>,  </a:t>
            </a:r>
            <a:r>
              <a:rPr lang="zh-CN" altLang="en-US" sz="2400" dirty="0">
                <a:ea typeface="宋体" panose="02010600030101010101" pitchFamily="2" charset="-122"/>
              </a:rPr>
              <a:t>需要一个</a:t>
            </a:r>
            <a:r>
              <a:rPr lang="zh-CN" altLang="en-US" sz="2400" u="sng" dirty="0">
                <a:solidFill>
                  <a:schemeClr val="accent2"/>
                </a:solidFill>
                <a:ea typeface="宋体" panose="02010600030101010101" pitchFamily="2" charset="-122"/>
              </a:rPr>
              <a:t>队列</a:t>
            </a:r>
            <a:r>
              <a:rPr lang="en-US" altLang="zh-CN" sz="2400" u="sng" dirty="0">
                <a:solidFill>
                  <a:schemeClr val="accent2"/>
                </a:solidFill>
                <a:ea typeface="宋体" panose="02010600030101010101" pitchFamily="2" charset="-122"/>
              </a:rPr>
              <a:t>-</a:t>
            </a:r>
            <a:r>
              <a:rPr lang="zh-CN" altLang="en-US" sz="2400" u="sng" dirty="0">
                <a:solidFill>
                  <a:schemeClr val="accent2"/>
                </a:solidFill>
                <a:ea typeface="宋体" panose="02010600030101010101" pitchFamily="2" charset="-122"/>
              </a:rPr>
              <a:t>网络</a:t>
            </a:r>
            <a:r>
              <a:rPr lang="zh-CN" altLang="en-US" sz="2400" dirty="0">
                <a:ea typeface="宋体" panose="02010600030101010101" pitchFamily="2" charset="-122"/>
              </a:rPr>
              <a:t>地址影射表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509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Message Brokers(conversion)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3251" name="Rectangle 3"/>
          <p:cNvSpPr>
            <a:spLocks noGrp="1"/>
          </p:cNvSpPr>
          <p:nvPr>
            <p:ph idx="1"/>
          </p:nvPr>
        </p:nvSpPr>
        <p:spPr>
          <a:xfrm>
            <a:off x="142875" y="6364288"/>
            <a:ext cx="8894763" cy="371475"/>
          </a:xfrm>
          <a:ln/>
        </p:spPr>
        <p:txBody>
          <a:bodyPr vert="horz" wrap="square" lIns="91440" tIns="45720" rIns="91440" bIns="45720" anchor="t" anchorCtr="0"/>
          <a:p>
            <a:pPr algn="l" eaLnBrk="1" hangingPunct="1">
              <a:lnSpc>
                <a:spcPct val="80000"/>
              </a:lnSpc>
              <a:buNone/>
            </a:pPr>
            <a:r>
              <a:rPr lang="en-US" altLang="zh-CN" sz="2200" dirty="0">
                <a:ea typeface="宋体" panose="02010600030101010101" pitchFamily="2" charset="-122"/>
              </a:rPr>
              <a:t> The general organization of a message broker in a message-queuing system</a:t>
            </a:r>
            <a:endParaRPr lang="en-US" altLang="zh-CN" sz="2200" dirty="0">
              <a:ea typeface="宋体" panose="02010600030101010101" pitchFamily="2" charset="-122"/>
            </a:endParaRPr>
          </a:p>
        </p:txBody>
      </p:sp>
      <p:sp>
        <p:nvSpPr>
          <p:cNvPr id="53252" name="Text Box 4"/>
          <p:cNvSpPr txBox="1"/>
          <p:nvPr/>
        </p:nvSpPr>
        <p:spPr>
          <a:xfrm>
            <a:off x="3657600" y="2514600"/>
            <a:ext cx="1371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2-30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pic>
        <p:nvPicPr>
          <p:cNvPr id="53253" name="Picture 5"/>
          <p:cNvPicPr>
            <a:picLocks noChangeAspect="1"/>
          </p:cNvPicPr>
          <p:nvPr/>
        </p:nvPicPr>
        <p:blipFill>
          <a:blip r:embed="rId1"/>
          <a:srcRect l="24345" t="42749" r="21593" b="36858"/>
          <a:stretch>
            <a:fillRect/>
          </a:stretch>
        </p:blipFill>
        <p:spPr>
          <a:xfrm>
            <a:off x="420688" y="1779588"/>
            <a:ext cx="8301037" cy="4432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3254" name="Rectangle 7"/>
          <p:cNvSpPr/>
          <p:nvPr/>
        </p:nvSpPr>
        <p:spPr>
          <a:xfrm>
            <a:off x="463550" y="855663"/>
            <a:ext cx="8372475" cy="923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lnSpc>
                <a:spcPct val="90000"/>
              </a:lnSpc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An important application area of message-queuing system is integrating existing and new application into a single, coherent distributed information system, </a:t>
            </a:r>
            <a:r>
              <a:rPr lang="zh-CN" altLang="en-US" sz="2000" dirty="0">
                <a:ea typeface="宋体" panose="02010600030101010101" pitchFamily="2" charset="-122"/>
              </a:rPr>
              <a:t>便于格式转换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Rectangle 2"/>
          <p:cNvSpPr>
            <a:spLocks noGrp="1"/>
          </p:cNvSpPr>
          <p:nvPr>
            <p:ph type="title"/>
          </p:nvPr>
        </p:nvSpPr>
        <p:spPr>
          <a:xfrm>
            <a:off x="0" y="192088"/>
            <a:ext cx="9144000" cy="6477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message-queuing system </a:t>
            </a:r>
            <a:r>
              <a:rPr lang="zh-CN" altLang="en-US" sz="3600" dirty="0">
                <a:ea typeface="宋体" panose="02010600030101010101" pitchFamily="2" charset="-122"/>
              </a:rPr>
              <a:t>实例</a:t>
            </a:r>
            <a:r>
              <a:rPr lang="en-US" altLang="zh-CN" sz="3600" dirty="0">
                <a:ea typeface="宋体" panose="02010600030101010101" pitchFamily="2" charset="-122"/>
              </a:rPr>
              <a:t>: IBM MQSeries</a:t>
            </a:r>
            <a:endParaRPr lang="en-US" altLang="zh-CN" sz="3600" dirty="0">
              <a:ea typeface="宋体" panose="02010600030101010101" pitchFamily="2" charset="-122"/>
            </a:endParaRPr>
          </a:p>
        </p:txBody>
      </p:sp>
      <p:sp>
        <p:nvSpPr>
          <p:cNvPr id="54275" name="Text Box 4"/>
          <p:cNvSpPr txBox="1"/>
          <p:nvPr/>
        </p:nvSpPr>
        <p:spPr>
          <a:xfrm>
            <a:off x="300038" y="1006475"/>
            <a:ext cx="8542337" cy="2255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342900" lvl="0" indent="-342900" algn="l" eaLnBrk="1" hangingPunct="1">
              <a:lnSpc>
                <a:spcPct val="15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1800" dirty="0">
                <a:solidFill>
                  <a:srgbClr val="000000"/>
                </a:solidFill>
                <a:ea typeface="宋体" panose="02010600030101010101" pitchFamily="2" charset="-122"/>
              </a:rPr>
              <a:t>90年代</a:t>
            </a:r>
            <a:r>
              <a:rPr lang="en-US" altLang="zh-CN" sz="1800" dirty="0">
                <a:solidFill>
                  <a:srgbClr val="000000"/>
                </a:solidFill>
                <a:ea typeface="宋体" panose="02010600030101010101" pitchFamily="2" charset="-122"/>
              </a:rPr>
              <a:t>IBM</a:t>
            </a:r>
            <a:r>
              <a:rPr lang="zh-CN" altLang="en-US" sz="1800" dirty="0">
                <a:solidFill>
                  <a:srgbClr val="000000"/>
                </a:solidFill>
                <a:ea typeface="宋体" panose="02010600030101010101" pitchFamily="2" charset="-122"/>
              </a:rPr>
              <a:t>推出的面向消息的中间件产品</a:t>
            </a:r>
            <a:r>
              <a:rPr lang="en-US" altLang="zh-CN" sz="1800" dirty="0">
                <a:solidFill>
                  <a:srgbClr val="000000"/>
                </a:solidFill>
                <a:ea typeface="宋体" panose="02010600030101010101" pitchFamily="2" charset="-122"/>
              </a:rPr>
              <a:t>MQ Series，</a:t>
            </a:r>
            <a:r>
              <a:rPr lang="zh-CN" altLang="en-US" sz="1800" dirty="0">
                <a:solidFill>
                  <a:srgbClr val="000000"/>
                </a:solidFill>
                <a:ea typeface="宋体" panose="02010600030101010101" pitchFamily="2" charset="-122"/>
              </a:rPr>
              <a:t>保证数据稳定可靠传输，而且无丢失或重发</a:t>
            </a:r>
            <a:r>
              <a:rPr lang="zh-CN" altLang="en-US" sz="1800" dirty="0">
                <a:ea typeface="宋体" panose="02010600030101010101" pitchFamily="2" charset="-122"/>
              </a:rPr>
              <a:t>。</a:t>
            </a:r>
            <a:endParaRPr lang="zh-CN" altLang="en-US" sz="18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342900" lvl="0" indent="-342900" algn="l" eaLnBrk="1" hangingPunct="1">
              <a:lnSpc>
                <a:spcPct val="15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u"/>
            </a:pPr>
            <a:r>
              <a:rPr lang="en-US" altLang="zh-CN" sz="1800" dirty="0">
                <a:solidFill>
                  <a:srgbClr val="000000"/>
                </a:solidFill>
                <a:ea typeface="宋体" panose="02010600030101010101" pitchFamily="2" charset="-122"/>
              </a:rPr>
              <a:t>MQSeries</a:t>
            </a:r>
            <a:r>
              <a:rPr lang="zh-CN" altLang="en-US" sz="1800" dirty="0">
                <a:solidFill>
                  <a:srgbClr val="000000"/>
                </a:solidFill>
                <a:ea typeface="宋体" panose="02010600030101010101" pitchFamily="2" charset="-122"/>
              </a:rPr>
              <a:t>由信息传输系统和应用程序接口组成，资源是信息和队列（</a:t>
            </a:r>
            <a:r>
              <a:rPr lang="en-US" altLang="zh-CN" sz="1800" dirty="0">
                <a:solidFill>
                  <a:srgbClr val="000000"/>
                </a:solidFill>
                <a:ea typeface="宋体" panose="02010600030101010101" pitchFamily="2" charset="-122"/>
              </a:rPr>
              <a:t>Messaging and Queuing）。</a:t>
            </a:r>
            <a:r>
              <a:rPr lang="zh-CN" altLang="en-US" sz="1800" dirty="0">
                <a:solidFill>
                  <a:srgbClr val="000000"/>
                </a:solidFill>
                <a:ea typeface="宋体" panose="02010600030101010101" pitchFamily="2" charset="-122"/>
              </a:rPr>
              <a:t>他通过一个简单的编程接口来相互通信，可以跨不同处理器、操作系统、子系统和通讯协议的网络，广泛应用于金融、交通、邮电等行业。</a:t>
            </a:r>
            <a:endParaRPr lang="zh-CN" altLang="en-US" sz="180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4276" name="Text Box 3"/>
          <p:cNvSpPr txBox="1"/>
          <p:nvPr/>
        </p:nvSpPr>
        <p:spPr>
          <a:xfrm>
            <a:off x="361950" y="3600450"/>
            <a:ext cx="8642350" cy="2446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zh-CN" altLang="en-US" sz="1800" dirty="0">
                <a:solidFill>
                  <a:srgbClr val="FF0000"/>
                </a:solidFill>
                <a:ea typeface="宋体" panose="02010600030101010101" pitchFamily="2" charset="-122"/>
              </a:rPr>
              <a:t>特点：</a:t>
            </a:r>
            <a:endParaRPr lang="zh-CN" altLang="en-US" sz="18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zh-CN" altLang="en-US" sz="1800" dirty="0">
                <a:solidFill>
                  <a:srgbClr val="000000"/>
                </a:solidFill>
                <a:ea typeface="宋体" panose="02010600030101010101" pitchFamily="2" charset="-122"/>
              </a:rPr>
              <a:t>1）位置透明——只需知道队列名字及与该队列有关的特定服务</a:t>
            </a:r>
            <a:r>
              <a:rPr lang="en-US" altLang="zh-CN" sz="1800" dirty="0">
                <a:solidFill>
                  <a:srgbClr val="000000"/>
                </a:solidFill>
                <a:ea typeface="宋体" panose="02010600030101010101" pitchFamily="2" charset="-122"/>
              </a:rPr>
              <a:t>;</a:t>
            </a:r>
            <a:endParaRPr lang="en-US" altLang="zh-CN" sz="18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zh-CN" altLang="en-US" sz="1800" dirty="0">
                <a:solidFill>
                  <a:srgbClr val="000000"/>
                </a:solidFill>
                <a:ea typeface="宋体" panose="02010600030101010101" pitchFamily="2" charset="-122"/>
              </a:rPr>
              <a:t>2）网络通信透明——程序员不必考虑操作系统和通信模式和底层网络通信</a:t>
            </a:r>
            <a:r>
              <a:rPr lang="en-US" altLang="zh-CN" sz="1800" dirty="0">
                <a:solidFill>
                  <a:srgbClr val="000000"/>
                </a:solidFill>
                <a:ea typeface="宋体" panose="02010600030101010101" pitchFamily="2" charset="-122"/>
              </a:rPr>
              <a:t>;</a:t>
            </a:r>
            <a:endParaRPr lang="en-US" altLang="zh-CN" sz="18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zh-CN" altLang="en-US" sz="1800" dirty="0">
                <a:solidFill>
                  <a:srgbClr val="000000"/>
                </a:solidFill>
                <a:ea typeface="宋体" panose="02010600030101010101" pitchFamily="2" charset="-122"/>
              </a:rPr>
              <a:t>3）时间透明——相互通信的程序可以在不同的时间运行</a:t>
            </a:r>
            <a:r>
              <a:rPr lang="en-US" altLang="zh-CN" sz="1800" dirty="0">
                <a:solidFill>
                  <a:srgbClr val="000000"/>
                </a:solidFill>
                <a:ea typeface="宋体" panose="02010600030101010101" pitchFamily="2" charset="-122"/>
              </a:rPr>
              <a:t>;</a:t>
            </a:r>
            <a:endParaRPr lang="en-US" altLang="zh-CN" sz="18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zh-CN" altLang="en-US" sz="1800" dirty="0">
                <a:solidFill>
                  <a:srgbClr val="000000"/>
                </a:solidFill>
                <a:ea typeface="宋体" panose="02010600030101010101" pitchFamily="2" charset="-122"/>
              </a:rPr>
              <a:t>4）故障透明——一旦接受信息传输任务，确保信息被传送到目标平台</a:t>
            </a:r>
            <a:r>
              <a:rPr lang="en-US" altLang="zh-CN" sz="1800" dirty="0">
                <a:solidFill>
                  <a:srgbClr val="000000"/>
                </a:solidFill>
                <a:ea typeface="宋体" panose="02010600030101010101" pitchFamily="2" charset="-122"/>
              </a:rPr>
              <a:t>;</a:t>
            </a:r>
            <a:endParaRPr lang="en-US" altLang="zh-CN" sz="18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zh-CN" altLang="en-US" sz="1800" dirty="0">
                <a:solidFill>
                  <a:srgbClr val="000000"/>
                </a:solidFill>
                <a:ea typeface="宋体" panose="02010600030101010101" pitchFamily="2" charset="-122"/>
              </a:rPr>
              <a:t>5）对应用程序结构无限制——一对一、一对多、多对多。信息可以单向，也可双向。</a:t>
            </a:r>
            <a:endParaRPr lang="zh-CN" altLang="en-US" sz="180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Example: IBM MQSeries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</a:rPr>
              <a:t>General organization of IBM's MQSeries message-queuing system.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55299" name="Rectangle 3"/>
          <p:cNvSpPr>
            <a:spLocks noGrp="1"/>
          </p:cNvSpPr>
          <p:nvPr>
            <p:ph idx="1"/>
          </p:nvPr>
        </p:nvSpPr>
        <p:spPr>
          <a:xfrm>
            <a:off x="103188" y="5013325"/>
            <a:ext cx="8937625" cy="1844675"/>
          </a:xfrm>
          <a:ln/>
        </p:spPr>
        <p:txBody>
          <a:bodyPr vert="horz" wrap="square" lIns="91440" tIns="45720" rIns="91440" bIns="45720" anchor="t" anchorCtr="0"/>
          <a:p>
            <a:pPr marL="0" indent="0" algn="l" eaLnBrk="1" hangingPunct="1">
              <a:lnSpc>
                <a:spcPct val="90000"/>
              </a:lnSpc>
              <a:buNone/>
            </a:pPr>
            <a:r>
              <a:rPr lang="en-US" altLang="zh-CN" sz="1800" b="1" dirty="0">
                <a:ea typeface="宋体" panose="02010600030101010101" pitchFamily="2" charset="-122"/>
              </a:rPr>
              <a:t>Queue manager</a:t>
            </a:r>
            <a:r>
              <a:rPr lang="en-US" altLang="zh-CN" sz="1800" dirty="0">
                <a:ea typeface="宋体" panose="02010600030101010101" pitchFamily="2" charset="-122"/>
              </a:rPr>
              <a:t>-----removing messages and handling incoming messages.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marL="0" indent="0" algn="l" eaLnBrk="1" hangingPunct="1">
              <a:lnSpc>
                <a:spcPct val="90000"/>
              </a:lnSpc>
              <a:buNone/>
            </a:pPr>
            <a:r>
              <a:rPr lang="en-US" altLang="zh-CN" sz="1800" b="1" dirty="0">
                <a:ea typeface="宋体" panose="02010600030101010101" pitchFamily="2" charset="-122"/>
              </a:rPr>
              <a:t>Message Channel Agent(MCA)</a:t>
            </a:r>
            <a:r>
              <a:rPr lang="zh-CN" altLang="en-US" sz="1800" b="1" dirty="0">
                <a:ea typeface="宋体" panose="02010600030101010101" pitchFamily="2" charset="-122"/>
              </a:rPr>
              <a:t>：</a:t>
            </a:r>
            <a:endParaRPr lang="en-US" altLang="zh-CN" sz="1800" b="1" dirty="0">
              <a:ea typeface="宋体" panose="02010600030101010101" pitchFamily="2" charset="-122"/>
            </a:endParaRPr>
          </a:p>
          <a:p>
            <a:pPr marL="0" indent="0" algn="l" eaLnBrk="1" hangingPunct="1">
              <a:lnSpc>
                <a:spcPct val="90000"/>
              </a:lnSpc>
              <a:buFont typeface="Wingdings" panose="05000000000000000000" pitchFamily="2" charset="2"/>
              <a:buChar char="u"/>
            </a:pP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Sending MCA </a:t>
            </a:r>
            <a:r>
              <a:rPr lang="en-US" altLang="zh-CN" sz="1800" dirty="0">
                <a:ea typeface="宋体" panose="02010600030101010101" pitchFamily="2" charset="-122"/>
              </a:rPr>
              <a:t>checks send queues and wrapping it into a transport-level packet, and send it along the connection to its associated receiving MCA.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marL="0" indent="0" algn="l" eaLnBrk="1" hangingPunct="1">
              <a:lnSpc>
                <a:spcPct val="90000"/>
              </a:lnSpc>
              <a:buFont typeface="Wingdings" panose="05000000000000000000" pitchFamily="2" charset="2"/>
              <a:buChar char="u"/>
            </a:pP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Receiving MCA </a:t>
            </a:r>
            <a:r>
              <a:rPr lang="en-US" altLang="zh-CN" sz="1800" dirty="0">
                <a:ea typeface="宋体" panose="02010600030101010101" pitchFamily="2" charset="-122"/>
              </a:rPr>
              <a:t>listen for an incoming packet, unwrapping it, and storing it into the appropriate queue. </a:t>
            </a:r>
            <a:endParaRPr lang="en-US" altLang="zh-CN" sz="1800" dirty="0">
              <a:ea typeface="宋体" panose="02010600030101010101" pitchFamily="2" charset="-122"/>
            </a:endParaRPr>
          </a:p>
        </p:txBody>
      </p:sp>
      <p:sp>
        <p:nvSpPr>
          <p:cNvPr id="55300" name="Text Box 4"/>
          <p:cNvSpPr txBox="1"/>
          <p:nvPr/>
        </p:nvSpPr>
        <p:spPr>
          <a:xfrm>
            <a:off x="3429000" y="2590800"/>
            <a:ext cx="129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2-31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pic>
        <p:nvPicPr>
          <p:cNvPr id="55301" name="Picture 5"/>
          <p:cNvPicPr>
            <a:picLocks noChangeAspect="1"/>
          </p:cNvPicPr>
          <p:nvPr/>
        </p:nvPicPr>
        <p:blipFill>
          <a:blip r:embed="rId1"/>
          <a:srcRect l="18385" t="41238" r="16248" b="35649"/>
          <a:stretch>
            <a:fillRect/>
          </a:stretch>
        </p:blipFill>
        <p:spPr>
          <a:xfrm>
            <a:off x="358775" y="1204913"/>
            <a:ext cx="8220075" cy="3657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Channels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6323" name="Rectangle 3"/>
          <p:cNvSpPr>
            <a:spLocks noGrp="1"/>
          </p:cNvSpPr>
          <p:nvPr>
            <p:ph idx="1"/>
          </p:nvPr>
        </p:nvSpPr>
        <p:spPr>
          <a:xfrm>
            <a:off x="784225" y="5702300"/>
            <a:ext cx="7831138" cy="5207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Some attributes associated with message channel agents.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graphicFrame>
        <p:nvGraphicFramePr>
          <p:cNvPr id="39970" name="Group 34"/>
          <p:cNvGraphicFramePr>
            <a:graphicFrameLocks noGrp="1"/>
          </p:cNvGraphicFramePr>
          <p:nvPr/>
        </p:nvGraphicFramePr>
        <p:xfrm>
          <a:off x="438150" y="1719263"/>
          <a:ext cx="8356600" cy="3652838"/>
        </p:xfrm>
        <a:graphic>
          <a:graphicData uri="http://schemas.openxmlformats.org/drawingml/2006/table">
            <a:tbl>
              <a:tblPr/>
              <a:tblGrid>
                <a:gridCol w="1695450"/>
                <a:gridCol w="6661150"/>
              </a:tblGrid>
              <a:tr h="487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Attribute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Description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Transport type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Determines the transport protocol to be used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9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FIFO delivery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Indicates that messages are to be delivered in the order they are sent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8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Message length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Maximum length of a single message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9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Setup retry count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Specifies maximum number of retries to start up the remote MCA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9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Delivery retries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Maximum times MCA will try to put received message into queue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6347" name="Rectangle 35"/>
          <p:cNvSpPr/>
          <p:nvPr/>
        </p:nvSpPr>
        <p:spPr>
          <a:xfrm>
            <a:off x="0" y="1073150"/>
            <a:ext cx="6783388" cy="4651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342900" lvl="0" indent="-342900" algn="l" eaLnBrk="1" hangingPunct="1"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MQSeries</a:t>
            </a:r>
            <a:r>
              <a:rPr lang="zh-CN" altLang="en-US" sz="2400" dirty="0">
                <a:ea typeface="宋体" panose="02010600030101010101" pitchFamily="2" charset="-122"/>
              </a:rPr>
              <a:t>由</a:t>
            </a:r>
            <a:r>
              <a:rPr lang="en-US" altLang="zh-CN" sz="2400" dirty="0">
                <a:ea typeface="宋体" panose="02010600030101010101" pitchFamily="2" charset="-122"/>
              </a:rPr>
              <a:t>MCA</a:t>
            </a:r>
            <a:r>
              <a:rPr lang="zh-CN" altLang="en-US" sz="2400" dirty="0">
                <a:ea typeface="宋体" panose="02010600030101010101" pitchFamily="2" charset="-122"/>
              </a:rPr>
              <a:t>和发送队列组成，</a:t>
            </a:r>
            <a:r>
              <a:rPr lang="en-US" altLang="zh-CN" sz="2400" dirty="0">
                <a:ea typeface="宋体" panose="02010600030101010101" pitchFamily="2" charset="-122"/>
              </a:rPr>
              <a:t>MCA</a:t>
            </a:r>
            <a:r>
              <a:rPr lang="zh-CN" altLang="en-US" sz="2400" dirty="0">
                <a:ea typeface="宋体" panose="02010600030101010101" pitchFamily="2" charset="-122"/>
              </a:rPr>
              <a:t>的属性</a:t>
            </a:r>
            <a:r>
              <a:rPr lang="en-US" altLang="zh-CN" sz="2400" dirty="0">
                <a:ea typeface="宋体" panose="02010600030101010101" pitchFamily="2" charset="-122"/>
              </a:rPr>
              <a:t>: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128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Message Transfer (1)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7347" name="Rectangle 3"/>
          <p:cNvSpPr>
            <a:spLocks noGrp="1"/>
          </p:cNvSpPr>
          <p:nvPr>
            <p:ph idx="1"/>
          </p:nvPr>
        </p:nvSpPr>
        <p:spPr>
          <a:xfrm>
            <a:off x="711200" y="5818188"/>
            <a:ext cx="7720013" cy="838200"/>
          </a:xfrm>
          <a:ln/>
        </p:spPr>
        <p:txBody>
          <a:bodyPr vert="horz" wrap="square" lIns="91440" tIns="45720" rIns="91440" bIns="45720" anchor="t" anchorCtr="0"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The general organization of an MQSeries queuing network using routing tables and aliases.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pic>
        <p:nvPicPr>
          <p:cNvPr id="82948" name="Picture 5"/>
          <p:cNvPicPr>
            <a:picLocks noChangeAspect="1" noChangeArrowheads="1"/>
          </p:cNvPicPr>
          <p:nvPr/>
        </p:nvPicPr>
        <p:blipFill>
          <a:blip r:embed="rId1" cstate="print"/>
          <a:srcRect l="18172" t="41238" r="15607" b="35800"/>
          <a:stretch>
            <a:fillRect/>
          </a:stretch>
        </p:blipFill>
        <p:spPr bwMode="auto">
          <a:xfrm>
            <a:off x="496887" y="1320102"/>
            <a:ext cx="7877176" cy="43465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7349" name="Rectangle 6"/>
          <p:cNvSpPr/>
          <p:nvPr/>
        </p:nvSpPr>
        <p:spPr>
          <a:xfrm>
            <a:off x="92075" y="812800"/>
            <a:ext cx="7081838" cy="508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lnSpc>
                <a:spcPct val="150000"/>
              </a:lnSpc>
              <a:buNone/>
            </a:pPr>
            <a:r>
              <a:rPr lang="zh-CN" altLang="en-US" sz="1800" dirty="0">
                <a:ea typeface="宋体" panose="02010600030101010101" pitchFamily="2" charset="-122"/>
              </a:rPr>
              <a:t>别名可以适应队列管理器的变化</a:t>
            </a:r>
            <a:r>
              <a:rPr lang="en-US" altLang="zh-CN" sz="1800" dirty="0">
                <a:ea typeface="宋体" panose="02010600030101010101" pitchFamily="2" charset="-122"/>
              </a:rPr>
              <a:t>,QMX</a:t>
            </a:r>
            <a:r>
              <a:rPr lang="zh-CN" altLang="en-US" sz="1800" dirty="0">
                <a:ea typeface="宋体" panose="02010600030101010101" pitchFamily="2" charset="-122"/>
              </a:rPr>
              <a:t>为节点名字</a:t>
            </a:r>
            <a:r>
              <a:rPr lang="en-US" altLang="zh-CN" sz="1800" dirty="0">
                <a:ea typeface="宋体" panose="02010600030101010101" pitchFamily="2" charset="-122"/>
              </a:rPr>
              <a:t>,</a:t>
            </a:r>
            <a:r>
              <a:rPr lang="zh-CN" altLang="en-US" sz="1800" dirty="0">
                <a:ea typeface="宋体" panose="02010600030101010101" pitchFamily="2" charset="-122"/>
              </a:rPr>
              <a:t>可以用别名替代</a:t>
            </a:r>
            <a:r>
              <a:rPr lang="en-US" altLang="zh-CN" sz="1800" dirty="0">
                <a:ea typeface="宋体" panose="02010600030101010101" pitchFamily="2" charset="-122"/>
              </a:rPr>
              <a:t>.</a:t>
            </a:r>
            <a:endParaRPr lang="zh-CN" altLang="en-US" sz="1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8578850" cy="706438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Message Transfer (2)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8371" name="Rectangle 3"/>
          <p:cNvSpPr>
            <a:spLocks noGrp="1"/>
          </p:cNvSpPr>
          <p:nvPr>
            <p:ph idx="1"/>
          </p:nvPr>
        </p:nvSpPr>
        <p:spPr>
          <a:xfrm>
            <a:off x="166688" y="850900"/>
            <a:ext cx="5335587" cy="522288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Primitives available in an IBM MQSeries MQI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graphicFrame>
        <p:nvGraphicFramePr>
          <p:cNvPr id="42015" name="Group 31"/>
          <p:cNvGraphicFramePr>
            <a:graphicFrameLocks noGrp="1"/>
          </p:cNvGraphicFramePr>
          <p:nvPr/>
        </p:nvGraphicFramePr>
        <p:xfrm>
          <a:off x="657225" y="1504950"/>
          <a:ext cx="7262813" cy="2119313"/>
        </p:xfrm>
        <a:graphic>
          <a:graphicData uri="http://schemas.openxmlformats.org/drawingml/2006/table">
            <a:tbl>
              <a:tblPr/>
              <a:tblGrid>
                <a:gridCol w="1697932"/>
                <a:gridCol w="5564881"/>
              </a:tblGrid>
              <a:tr h="4365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Primitive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0" marR="91450"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Description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0" marR="91450"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25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MQopen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0" marR="91450"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Open a (possibly remote) queue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0" marR="91450"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41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MQclose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0" marR="91450"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Close a queue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0" marR="91450"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25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MQput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0" marR="91450"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Put a message into an opened queue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0" marR="91450"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34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MQget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0" marR="91450"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Get a message from a (local) queue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0" marR="91450"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15925" y="4198938"/>
            <a:ext cx="8396288" cy="189388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管理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MQ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系统的一个重要部分是将各种队列管理器连接到一个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覆盖网络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中，并对其连续地维护，包括队列管理器之间创建通道、填写路由表等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一般手工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覆盖网络的核心是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Channel Control Function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组件。逻辑上，该组件位于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MCA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之间，用于创建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通道和路由表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，以及管理驻留有消息通道代理的队列管理器。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976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Data Stream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9395" name="Rectangle 3"/>
          <p:cNvSpPr>
            <a:spLocks noGrp="1"/>
          </p:cNvSpPr>
          <p:nvPr>
            <p:ph idx="1"/>
          </p:nvPr>
        </p:nvSpPr>
        <p:spPr>
          <a:xfrm>
            <a:off x="538163" y="763588"/>
            <a:ext cx="8383587" cy="2136775"/>
          </a:xfrm>
          <a:ln/>
        </p:spPr>
        <p:txBody>
          <a:bodyPr vert="horz" wrap="square" lIns="91440" tIns="45720" rIns="91440" bIns="45720" anchor="t" anchorCtr="0"/>
          <a:p>
            <a:pPr algn="l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zh-CN" altLang="en-US" sz="2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时间敏感的信息交换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提供支持。如连续媒体播放传送等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数据流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是数据单元的序列，可以应用于离散或连续的媒体。如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TCP/IP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连接的面向字节的离散数据流和面向播放音频文件的连续数据流；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连续数据流的关键是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同步传输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38163" y="3708400"/>
            <a:ext cx="7700963" cy="29845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异步传输模式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：流中的数据项逐个传输，但是某一项在何时传输没有进一步限制。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同步传输模式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：数据流中的每一个单元都定义了一个端到端最大延迟时间。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等时传输模式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：数据单元必须按时传输，端到端延迟时间需同时受到上限和下限的约束。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12725" y="2900363"/>
            <a:ext cx="1989138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传输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模式：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Rectangle 2"/>
          <p:cNvSpPr>
            <a:spLocks noGrp="1"/>
          </p:cNvSpPr>
          <p:nvPr>
            <p:ph type="title"/>
          </p:nvPr>
        </p:nvSpPr>
        <p:spPr>
          <a:xfrm>
            <a:off x="0" y="-58737"/>
            <a:ext cx="5527675" cy="522287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Data Stream (2)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60419" name="Rectangle 3"/>
          <p:cNvSpPr>
            <a:spLocks noGrp="1"/>
          </p:cNvSpPr>
          <p:nvPr>
            <p:ph idx="1"/>
          </p:nvPr>
        </p:nvSpPr>
        <p:spPr>
          <a:xfrm>
            <a:off x="515938" y="3176588"/>
            <a:ext cx="3740150" cy="838200"/>
          </a:xfrm>
          <a:ln/>
        </p:spPr>
        <p:txBody>
          <a:bodyPr vert="horz" wrap="square" lIns="91440" tIns="45720" rIns="91440" bIns="45720" anchor="t" anchorCtr="0"/>
          <a:p>
            <a:pPr algn="l" eaLnBrk="1" hangingPunct="1"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Setting up a stream between 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two processes</a:t>
            </a:r>
            <a:r>
              <a:rPr lang="en-US" altLang="zh-CN" sz="1800" dirty="0">
                <a:ea typeface="宋体" panose="02010600030101010101" pitchFamily="2" charset="-122"/>
              </a:rPr>
              <a:t> across a network.</a:t>
            </a:r>
            <a:endParaRPr lang="en-US" altLang="zh-CN" sz="1800" dirty="0">
              <a:ea typeface="宋体" panose="02010600030101010101" pitchFamily="2" charset="-122"/>
            </a:endParaRPr>
          </a:p>
        </p:txBody>
      </p:sp>
      <p:pic>
        <p:nvPicPr>
          <p:cNvPr id="60420" name="Picture 4"/>
          <p:cNvPicPr>
            <a:picLocks noChangeAspect="1"/>
          </p:cNvPicPr>
          <p:nvPr/>
        </p:nvPicPr>
        <p:blipFill>
          <a:blip r:embed="rId1"/>
          <a:srcRect l="27151" t="37160" r="24345" b="46526"/>
          <a:stretch>
            <a:fillRect/>
          </a:stretch>
        </p:blipFill>
        <p:spPr>
          <a:xfrm>
            <a:off x="-7937" y="463550"/>
            <a:ext cx="4721225" cy="28368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951413" y="3133725"/>
            <a:ext cx="3956050" cy="838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Setting up a stream directly between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two devices.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0422" name="Picture 5"/>
          <p:cNvPicPr>
            <a:picLocks noChangeAspect="1"/>
          </p:cNvPicPr>
          <p:nvPr/>
        </p:nvPicPr>
        <p:blipFill>
          <a:blip r:embed="rId1"/>
          <a:srcRect l="26938" t="54079" r="24345" b="32175"/>
          <a:stretch>
            <a:fillRect/>
          </a:stretch>
        </p:blipFill>
        <p:spPr>
          <a:xfrm>
            <a:off x="4903788" y="576263"/>
            <a:ext cx="4049712" cy="2663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746250" y="6392863"/>
            <a:ext cx="5849938" cy="3365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An example of multicasting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a stream to several receivers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0424" name="Picture 4"/>
          <p:cNvPicPr>
            <a:picLocks noChangeAspect="1"/>
          </p:cNvPicPr>
          <p:nvPr/>
        </p:nvPicPr>
        <p:blipFill>
          <a:blip r:embed="rId2"/>
          <a:srcRect l="30786" t="45921" r="28647" b="40332"/>
          <a:stretch>
            <a:fillRect/>
          </a:stretch>
        </p:blipFill>
        <p:spPr>
          <a:xfrm>
            <a:off x="1663700" y="3954463"/>
            <a:ext cx="5184775" cy="2438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Rectangle 3"/>
          <p:cNvSpPr>
            <a:spLocks noGrp="1"/>
          </p:cNvSpPr>
          <p:nvPr>
            <p:ph idx="1"/>
          </p:nvPr>
        </p:nvSpPr>
        <p:spPr>
          <a:xfrm>
            <a:off x="0" y="623888"/>
            <a:ext cx="7705725" cy="2259012"/>
          </a:xfrm>
          <a:ln/>
        </p:spPr>
        <p:txBody>
          <a:bodyPr vert="horz" wrap="square" lIns="91440" tIns="45720" rIns="91440" bIns="45720" anchor="t" anchorCtr="0"/>
          <a:p>
            <a:pPr marL="0" indent="0" algn="l" eaLnBrk="1" hangingPunct="1">
              <a:buNone/>
            </a:pPr>
            <a:r>
              <a:rPr lang="en-US" altLang="zh-CN" sz="1800" b="1" dirty="0">
                <a:ea typeface="宋体" panose="02010600030101010101" pitchFamily="2" charset="-122"/>
              </a:rPr>
              <a:t>QoS</a:t>
            </a:r>
            <a:r>
              <a:rPr lang="zh-CN" altLang="en-US" sz="1800" b="1" dirty="0">
                <a:ea typeface="宋体" panose="02010600030101010101" pitchFamily="2" charset="-122"/>
              </a:rPr>
              <a:t>（</a:t>
            </a:r>
            <a:r>
              <a:rPr lang="en-US" altLang="zh-CN" sz="1800" b="1" dirty="0">
                <a:ea typeface="宋体" panose="02010600030101010101" pitchFamily="2" charset="-122"/>
              </a:rPr>
              <a:t>Quality of Service</a:t>
            </a:r>
            <a:r>
              <a:rPr lang="zh-CN" altLang="en-US" sz="1800" b="1" dirty="0">
                <a:ea typeface="宋体" panose="02010600030101010101" pitchFamily="2" charset="-122"/>
              </a:rPr>
              <a:t>），时间敏感需求一般也称为</a:t>
            </a:r>
            <a:r>
              <a:rPr lang="en-US" altLang="zh-CN" sz="1800" b="1" dirty="0">
                <a:ea typeface="宋体" panose="02010600030101010101" pitchFamily="2" charset="-122"/>
              </a:rPr>
              <a:t>QoS</a:t>
            </a:r>
            <a:r>
              <a:rPr lang="zh-CN" altLang="en-US" sz="1800" b="1" dirty="0">
                <a:ea typeface="宋体" panose="02010600030101010101" pitchFamily="2" charset="-122"/>
              </a:rPr>
              <a:t>需求。特征如下：</a:t>
            </a:r>
            <a:endParaRPr lang="zh-CN" altLang="en-US" sz="1800" b="1" dirty="0">
              <a:ea typeface="宋体" panose="02010600030101010101" pitchFamily="2" charset="-122"/>
            </a:endParaRPr>
          </a:p>
          <a:p>
            <a:pPr marL="838200" lvl="1" indent="-381000" eaLnBrk="1" hangingPunct="1">
              <a:buFontTx/>
              <a:buAutoNum type="arabicPeriod"/>
            </a:pPr>
            <a:r>
              <a:rPr lang="zh-CN" altLang="en-US" sz="1800" b="1" dirty="0">
                <a:ea typeface="宋体" panose="02010600030101010101" pitchFamily="2" charset="-122"/>
              </a:rPr>
              <a:t>数据传输所需要的比特率；</a:t>
            </a:r>
            <a:endParaRPr lang="zh-CN" altLang="en-US" sz="1800" b="1" dirty="0">
              <a:ea typeface="宋体" panose="02010600030101010101" pitchFamily="2" charset="-122"/>
            </a:endParaRPr>
          </a:p>
          <a:p>
            <a:pPr marL="838200" lvl="1" indent="-381000" eaLnBrk="1" hangingPunct="1">
              <a:buFontTx/>
              <a:buAutoNum type="arabicPeriod"/>
            </a:pPr>
            <a:r>
              <a:rPr lang="zh-CN" altLang="en-US" sz="1800" b="1" dirty="0">
                <a:ea typeface="宋体" panose="02010600030101010101" pitchFamily="2" charset="-122"/>
              </a:rPr>
              <a:t>创建会话的最大延时；</a:t>
            </a:r>
            <a:endParaRPr lang="zh-CN" altLang="en-US" sz="1800" b="1" dirty="0">
              <a:ea typeface="宋体" panose="02010600030101010101" pitchFamily="2" charset="-122"/>
            </a:endParaRPr>
          </a:p>
          <a:p>
            <a:pPr marL="838200" lvl="1" indent="-381000" eaLnBrk="1" hangingPunct="1">
              <a:buFontTx/>
              <a:buAutoNum type="arabicPeriod"/>
            </a:pP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端到端的最大延时；</a:t>
            </a:r>
            <a:endParaRPr lang="zh-CN" altLang="en-US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38200" lvl="1" indent="-381000" eaLnBrk="1" hangingPunct="1">
              <a:buFontTx/>
              <a:buAutoNum type="arabicPeriod"/>
            </a:pP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最大延时抖动；</a:t>
            </a:r>
            <a:endParaRPr lang="zh-CN" altLang="en-US" sz="1800" b="1" dirty="0">
              <a:ea typeface="宋体" panose="02010600030101010101" pitchFamily="2" charset="-122"/>
            </a:endParaRPr>
          </a:p>
          <a:p>
            <a:pPr marL="838200" lvl="1" indent="-381000" eaLnBrk="1" hangingPunct="1">
              <a:buFontTx/>
              <a:buAutoNum type="arabicPeriod"/>
            </a:pP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最大往返延时；</a:t>
            </a:r>
            <a:endParaRPr lang="zh-CN" altLang="en-US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443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4256088" cy="46355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>
                <a:ea typeface="宋体" panose="02010600030101010101" pitchFamily="2" charset="-122"/>
              </a:rPr>
              <a:t>服务质量（</a:t>
            </a:r>
            <a:r>
              <a:rPr lang="en-US" altLang="zh-CN" sz="4000" dirty="0">
                <a:ea typeface="宋体" panose="02010600030101010101" pitchFamily="2" charset="-122"/>
              </a:rPr>
              <a:t>QoS)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083175" y="1754188"/>
            <a:ext cx="3316288" cy="514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不同业务对</a:t>
            </a:r>
            <a:r>
              <a:rPr kumimoji="0" lang="en-US" altLang="zh-CN" sz="2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QoS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的需求</a:t>
            </a:r>
            <a:endParaRPr kumimoji="0" lang="zh-CN" altLang="en-US" sz="2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1445" name="Picture 4" descr="5-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8638" y="2174875"/>
            <a:ext cx="4805362" cy="31448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-82550" y="2824163"/>
            <a:ext cx="1754188" cy="5461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anose="02020603050405020304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anose="02020603050405020304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anose="02020603050405020304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QoS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控制方法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8" name="Rectangle 5"/>
          <p:cNvSpPr txBox="1">
            <a:spLocks noChangeArrowheads="1"/>
          </p:cNvSpPr>
          <p:nvPr/>
        </p:nvSpPr>
        <p:spPr bwMode="auto">
          <a:xfrm>
            <a:off x="0" y="3254375"/>
            <a:ext cx="4576763" cy="265588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资源预留：带宽、缓冲区、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CPU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资源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;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缓存（消除延时抖动）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;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业务量整形（拥塞控制的方法）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漏桶算法；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令牌桶法；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接纳控制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;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队列调度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;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0965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Buffering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2467" name="Rectangle 3"/>
          <p:cNvSpPr>
            <a:spLocks noGrp="1"/>
          </p:cNvSpPr>
          <p:nvPr>
            <p:ph idx="1"/>
          </p:nvPr>
        </p:nvSpPr>
        <p:spPr>
          <a:xfrm>
            <a:off x="503238" y="5805488"/>
            <a:ext cx="8640762" cy="609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Smoothing the output stream by buffering packets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pic>
        <p:nvPicPr>
          <p:cNvPr id="62468" name="Picture 4" descr="5-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25" y="2574925"/>
            <a:ext cx="8461375" cy="2768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2469" name="Rectangle 5"/>
          <p:cNvSpPr/>
          <p:nvPr/>
        </p:nvSpPr>
        <p:spPr>
          <a:xfrm>
            <a:off x="250825" y="957263"/>
            <a:ext cx="8569325" cy="111601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342900" lvl="0" indent="-342900" algn="l" eaLnBrk="1" hangingPunct="1">
              <a:lnSpc>
                <a:spcPct val="150000"/>
              </a:lnSpc>
            </a:pPr>
            <a:r>
              <a:rPr lang="zh-CN" altLang="en-US" sz="2400" dirty="0">
                <a:ea typeface="宋体" panose="02010600030101010101" pitchFamily="2" charset="-122"/>
              </a:rPr>
              <a:t>在接收方，数据流在递交之前被缓存起来可以减少抖动；对于音频和视频点播，抖动是主要问题。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8997950" cy="57785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dirty="0">
                <a:ea typeface="宋体" panose="02010600030101010101" pitchFamily="2" charset="-122"/>
              </a:rPr>
              <a:t>拥塞控制</a:t>
            </a:r>
            <a:r>
              <a:rPr lang="en-US" altLang="zh-CN" sz="3200" dirty="0">
                <a:ea typeface="宋体" panose="02010600030101010101" pitchFamily="2" charset="-122"/>
              </a:rPr>
              <a:t>:</a:t>
            </a:r>
            <a:r>
              <a:rPr lang="zh-CN" altLang="en-US" sz="3200" dirty="0">
                <a:ea typeface="宋体" panose="02010600030101010101" pitchFamily="2" charset="-122"/>
              </a:rPr>
              <a:t>漏桶算法</a:t>
            </a:r>
            <a:r>
              <a:rPr lang="en-US" altLang="zh-CN" sz="3200" dirty="0">
                <a:ea typeface="宋体" panose="02010600030101010101" pitchFamily="2" charset="-122"/>
              </a:rPr>
              <a:t>(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The leaky bucket algorithm) 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pic>
        <p:nvPicPr>
          <p:cNvPr id="63491" name="Picture 3"/>
          <p:cNvPicPr>
            <a:picLocks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725488" y="1069975"/>
            <a:ext cx="7421562" cy="3733800"/>
          </a:xfrm>
          <a:ln/>
        </p:spPr>
      </p:pic>
      <p:sp>
        <p:nvSpPr>
          <p:cNvPr id="63492" name="Text Box 4"/>
          <p:cNvSpPr txBox="1"/>
          <p:nvPr/>
        </p:nvSpPr>
        <p:spPr>
          <a:xfrm>
            <a:off x="2844800" y="4435475"/>
            <a:ext cx="3306763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zh-CN" altLang="en-US" sz="1800" dirty="0">
                <a:latin typeface="Tahoma" panose="020B0604030504040204" pitchFamily="34" charset="0"/>
                <a:ea typeface="宋体" panose="02010600030101010101" pitchFamily="2" charset="-122"/>
              </a:rPr>
              <a:t>保证以恒定的速率</a:t>
            </a:r>
            <a:r>
              <a:rPr lang="en-US" altLang="zh-CN" sz="1800" dirty="0">
                <a:latin typeface="Tahoma" panose="020B0604030504040204" pitchFamily="34" charset="0"/>
                <a:ea typeface="宋体" panose="02010600030101010101" pitchFamily="2" charset="-122"/>
              </a:rPr>
              <a:t>ρ</a:t>
            </a:r>
            <a:r>
              <a:rPr lang="zh-CN" altLang="en-US" sz="1800" dirty="0">
                <a:latin typeface="Tahoma" panose="020B0604030504040204" pitchFamily="34" charset="0"/>
                <a:ea typeface="宋体" panose="02010600030101010101" pitchFamily="2" charset="-122"/>
              </a:rPr>
              <a:t>向网络发送</a:t>
            </a:r>
            <a:endParaRPr lang="zh-CN" altLang="en-US" sz="18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3493" name="Rectangle 5"/>
          <p:cNvSpPr/>
          <p:nvPr/>
        </p:nvSpPr>
        <p:spPr>
          <a:xfrm>
            <a:off x="115888" y="577850"/>
            <a:ext cx="7515225" cy="4000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None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流量整形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(Traffic shaping)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是在服务器端调节数据发送的平均速率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46063" y="4872038"/>
            <a:ext cx="8574088" cy="18272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举例：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计算机以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25MB/s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速率产生数据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快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，向网络发送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1MB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的数据（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1/25 = 40ms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）；网络的最佳传输速率不超过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2MB/s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慢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，为了降低传送速率，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设漏桶的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ρ=2MB/s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，因此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1MB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的数据将传输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500ms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。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6973888" cy="515938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>
                <a:ea typeface="宋体" panose="02010600030101010101" pitchFamily="2" charset="-122"/>
              </a:rPr>
              <a:t>拥塞控制</a:t>
            </a:r>
            <a:r>
              <a:rPr lang="en-US" altLang="zh-CN" sz="4000" dirty="0">
                <a:ea typeface="宋体" panose="02010600030101010101" pitchFamily="2" charset="-122"/>
              </a:rPr>
              <a:t>:</a:t>
            </a:r>
            <a:r>
              <a:rPr lang="zh-CN" altLang="en-US" sz="4000" dirty="0">
                <a:ea typeface="宋体" panose="02010600030101010101" pitchFamily="2" charset="-122"/>
              </a:rPr>
              <a:t>令牌桶法</a:t>
            </a:r>
            <a:endParaRPr lang="zh-CN" altLang="en-US" sz="4000" dirty="0">
              <a:ea typeface="宋体" panose="02010600030101010101" pitchFamily="2" charset="-122"/>
            </a:endParaRPr>
          </a:p>
        </p:txBody>
      </p:sp>
      <p:pic>
        <p:nvPicPr>
          <p:cNvPr id="64515" name="Picture 3"/>
          <p:cNvPicPr>
            <a:picLocks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0" y="1484313"/>
            <a:ext cx="5103813" cy="4346575"/>
          </a:xfrm>
          <a:ln/>
        </p:spPr>
      </p:pic>
      <p:sp>
        <p:nvSpPr>
          <p:cNvPr id="64516" name="Text Box 4"/>
          <p:cNvSpPr txBox="1"/>
          <p:nvPr/>
        </p:nvSpPr>
        <p:spPr>
          <a:xfrm>
            <a:off x="165100" y="815975"/>
            <a:ext cx="8113713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zh-CN" altLang="en-US" sz="1800" dirty="0">
                <a:latin typeface="Tahoma" panose="020B0604030504040204" pitchFamily="34" charset="0"/>
                <a:ea typeface="宋体" panose="02010600030101010101" pitchFamily="2" charset="-122"/>
              </a:rPr>
              <a:t>令牌桶以每隔</a:t>
            </a:r>
            <a:r>
              <a:rPr lang="en-US" altLang="zh-CN" sz="1800" dirty="0">
                <a:latin typeface="Tahoma" panose="020B0604030504040204" pitchFamily="34" charset="0"/>
                <a:ea typeface="宋体" panose="02010600030101010101" pitchFamily="2" charset="-122"/>
              </a:rPr>
              <a:t>ΔT</a:t>
            </a:r>
            <a:r>
              <a:rPr lang="zh-CN" altLang="en-US" sz="1800" dirty="0">
                <a:latin typeface="Tahoma" panose="020B0604030504040204" pitchFamily="34" charset="0"/>
                <a:ea typeface="宋体" panose="02010600030101010101" pitchFamily="2" charset="-122"/>
              </a:rPr>
              <a:t>秒产生令牌，分组得到令牌后就可发送，解决突发通信量问题。</a:t>
            </a:r>
            <a:endParaRPr lang="zh-CN" altLang="en-US" sz="18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103813" y="1592263"/>
            <a:ext cx="3883025" cy="368458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举例：设突发长度为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S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秒，令牌桶容量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C bytes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，令牌产生速率为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ρ bytes/s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，计算机最大数据速率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M bytes/s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；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前面例子中，向网络发送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1MB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的数据，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M=25MB/s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C=250KB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， 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ρ=2MB/s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；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最大容量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: M*S=C + ρ*S 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，则突发长度时间 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S=C/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M- ρ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）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=11ms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25MB/s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）；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剩余的以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2MB/s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发送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364ms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18" name="文本框 6"/>
          <p:cNvSpPr txBox="1"/>
          <p:nvPr/>
        </p:nvSpPr>
        <p:spPr>
          <a:xfrm>
            <a:off x="17463" y="5830888"/>
            <a:ext cx="9109075" cy="876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285750" lvl="0" indent="-285750" algn="l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1800" dirty="0">
                <a:solidFill>
                  <a:srgbClr val="4F4F4F"/>
                </a:solidFill>
                <a:latin typeface="-apple-system"/>
                <a:ea typeface="宋体" panose="02010600030101010101" pitchFamily="2" charset="-122"/>
              </a:rPr>
              <a:t>漏桶算法以恒定速度出水，速度过大会直接溢出，强行限制数据的传输速率。</a:t>
            </a:r>
            <a:endParaRPr lang="en-US" altLang="zh-CN" sz="1800" dirty="0">
              <a:solidFill>
                <a:srgbClr val="4F4F4F"/>
              </a:solidFill>
              <a:latin typeface="-apple-system"/>
              <a:ea typeface="宋体" panose="02010600030101010101" pitchFamily="2" charset="-122"/>
            </a:endParaRPr>
          </a:p>
          <a:p>
            <a:pPr marL="285750" lvl="0" indent="-285750" algn="l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sz="1800" dirty="0">
                <a:solidFill>
                  <a:srgbClr val="4F4F4F"/>
                </a:solidFill>
                <a:latin typeface="-apple-system"/>
                <a:ea typeface="宋体" panose="02010600030101010101" pitchFamily="2" charset="-122"/>
              </a:rPr>
              <a:t>令牌桶算法能够限制数据的平均传输速率外，还要求允许某种程度的突发传输。</a:t>
            </a:r>
            <a:endParaRPr lang="zh-CN" altLang="en-US" sz="1800" dirty="0">
              <a:solidFill>
                <a:srgbClr val="4F4F4F"/>
              </a:solidFill>
              <a:latin typeface="-apple-system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553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638" y="531813"/>
            <a:ext cx="8105775" cy="61769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5539" name="Text Box 3"/>
          <p:cNvSpPr txBox="1"/>
          <p:nvPr/>
        </p:nvSpPr>
        <p:spPr>
          <a:xfrm>
            <a:off x="6791325" y="2654300"/>
            <a:ext cx="1150938" cy="36671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1800" dirty="0">
                <a:solidFill>
                  <a:srgbClr val="FFFF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C=250kB</a:t>
            </a:r>
            <a:endParaRPr lang="en-US" altLang="zh-CN" sz="1800" dirty="0">
              <a:solidFill>
                <a:srgbClr val="FFFF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5540" name="Text Box 4"/>
          <p:cNvSpPr txBox="1"/>
          <p:nvPr/>
        </p:nvSpPr>
        <p:spPr>
          <a:xfrm>
            <a:off x="6862763" y="3852863"/>
            <a:ext cx="1150937" cy="366712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1800" dirty="0">
                <a:solidFill>
                  <a:srgbClr val="FFFF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C=500kB</a:t>
            </a:r>
            <a:endParaRPr lang="en-US" altLang="zh-CN" sz="1800" dirty="0">
              <a:solidFill>
                <a:srgbClr val="FFFF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5541" name="Text Box 5"/>
          <p:cNvSpPr txBox="1"/>
          <p:nvPr/>
        </p:nvSpPr>
        <p:spPr>
          <a:xfrm>
            <a:off x="6862763" y="4868863"/>
            <a:ext cx="1150937" cy="366712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1800" dirty="0">
                <a:solidFill>
                  <a:srgbClr val="FFFF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C=750kB</a:t>
            </a:r>
            <a:endParaRPr lang="en-US" altLang="zh-CN" sz="1800" dirty="0">
              <a:solidFill>
                <a:srgbClr val="FFFF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5542" name="Text Box 6"/>
          <p:cNvSpPr txBox="1"/>
          <p:nvPr/>
        </p:nvSpPr>
        <p:spPr>
          <a:xfrm>
            <a:off x="6142038" y="5727700"/>
            <a:ext cx="2303462" cy="64135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spcBef>
                <a:spcPct val="50000"/>
              </a:spcBef>
              <a:buClrTx/>
              <a:buNone/>
            </a:pPr>
            <a:r>
              <a:rPr lang="en-US" altLang="zh-CN" sz="1800" dirty="0">
                <a:solidFill>
                  <a:srgbClr val="FFFF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C=500kB</a:t>
            </a:r>
            <a:r>
              <a:rPr lang="zh-CN" altLang="en-US" sz="1800" dirty="0">
                <a:solidFill>
                  <a:srgbClr val="FFFF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令牌桶加</a:t>
            </a:r>
            <a:r>
              <a:rPr lang="en-US" altLang="zh-CN" sz="1800" dirty="0">
                <a:solidFill>
                  <a:srgbClr val="FFFF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10MB/s</a:t>
            </a:r>
            <a:r>
              <a:rPr lang="zh-CN" altLang="en-US" sz="1800" dirty="0">
                <a:solidFill>
                  <a:srgbClr val="FFFF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漏桶</a:t>
            </a:r>
            <a:endParaRPr lang="zh-CN" altLang="en-US" sz="1800" dirty="0">
              <a:solidFill>
                <a:srgbClr val="FFFF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3191" name="矩形 6"/>
          <p:cNvSpPr>
            <a:spLocks noChangeArrowheads="1"/>
          </p:cNvSpPr>
          <p:nvPr/>
        </p:nvSpPr>
        <p:spPr bwMode="auto">
          <a:xfrm>
            <a:off x="0" y="2625725"/>
            <a:ext cx="1035050" cy="1006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以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25MB/s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发送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11ms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2MB/s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发送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10600030101010101" pitchFamily="2" charset="-122"/>
                <a:cs typeface="+mn-cs"/>
              </a:rPr>
              <a:t>364ms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544" name="矩形 6"/>
          <p:cNvSpPr/>
          <p:nvPr/>
        </p:nvSpPr>
        <p:spPr>
          <a:xfrm>
            <a:off x="0" y="609600"/>
            <a:ext cx="1020763" cy="769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lnSpc>
                <a:spcPct val="120000"/>
              </a:lnSpc>
              <a:buNone/>
            </a:pPr>
            <a:r>
              <a:rPr lang="zh-CN" altLang="en-US" sz="1100" dirty="0">
                <a:ea typeface="宋体" panose="02010600030101010101" pitchFamily="2" charset="-122"/>
              </a:rPr>
              <a:t>无控制，以</a:t>
            </a:r>
            <a:endParaRPr lang="en-US" altLang="zh-CN" sz="1100" dirty="0"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20000"/>
              </a:lnSpc>
              <a:buNone/>
            </a:pPr>
            <a:r>
              <a:rPr lang="en-US" altLang="zh-CN" sz="1100" dirty="0">
                <a:ea typeface="宋体" panose="02010600030101010101" pitchFamily="2" charset="-122"/>
              </a:rPr>
              <a:t>  25MB/s</a:t>
            </a:r>
            <a:endParaRPr lang="en-US" altLang="zh-CN" sz="1100" dirty="0"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20000"/>
              </a:lnSpc>
              <a:buNone/>
            </a:pPr>
            <a:r>
              <a:rPr lang="zh-CN" altLang="en-US" sz="1100" dirty="0">
                <a:ea typeface="宋体" panose="02010600030101010101" pitchFamily="2" charset="-122"/>
              </a:rPr>
              <a:t>发送</a:t>
            </a:r>
            <a:r>
              <a:rPr lang="en-US" altLang="zh-CN" sz="1100" dirty="0">
                <a:ea typeface="宋体" panose="02010600030101010101" pitchFamily="2" charset="-122"/>
              </a:rPr>
              <a:t>40ms</a:t>
            </a:r>
            <a:endParaRPr lang="en-US" altLang="zh-CN" sz="1100" dirty="0">
              <a:ea typeface="宋体" panose="02010600030101010101" pitchFamily="2" charset="-122"/>
            </a:endParaRPr>
          </a:p>
        </p:txBody>
      </p:sp>
      <p:sp>
        <p:nvSpPr>
          <p:cNvPr id="65545" name="矩形 6"/>
          <p:cNvSpPr/>
          <p:nvPr/>
        </p:nvSpPr>
        <p:spPr>
          <a:xfrm>
            <a:off x="0" y="1630363"/>
            <a:ext cx="1020763" cy="769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lnSpc>
                <a:spcPct val="120000"/>
              </a:lnSpc>
              <a:buNone/>
            </a:pPr>
            <a:r>
              <a:rPr lang="zh-CN" altLang="en-US" sz="1100" dirty="0">
                <a:ea typeface="宋体" panose="02010600030101010101" pitchFamily="2" charset="-122"/>
              </a:rPr>
              <a:t>无桶缓存，</a:t>
            </a:r>
            <a:endParaRPr lang="en-US" altLang="zh-CN" sz="1100" dirty="0"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20000"/>
              </a:lnSpc>
              <a:buNone/>
            </a:pPr>
            <a:r>
              <a:rPr lang="zh-CN" altLang="en-US" sz="1100" dirty="0">
                <a:ea typeface="宋体" panose="02010600030101010101" pitchFamily="2" charset="-122"/>
              </a:rPr>
              <a:t>以</a:t>
            </a:r>
            <a:r>
              <a:rPr lang="en-US" altLang="zh-CN" sz="1100" dirty="0">
                <a:ea typeface="宋体" panose="02010600030101010101" pitchFamily="2" charset="-122"/>
              </a:rPr>
              <a:t>2MB/s</a:t>
            </a:r>
            <a:endParaRPr lang="en-US" altLang="zh-CN" sz="1100" dirty="0"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20000"/>
              </a:lnSpc>
              <a:buNone/>
            </a:pPr>
            <a:r>
              <a:rPr lang="zh-CN" altLang="en-US" sz="1100" dirty="0">
                <a:ea typeface="宋体" panose="02010600030101010101" pitchFamily="2" charset="-122"/>
              </a:rPr>
              <a:t>发送</a:t>
            </a:r>
            <a:r>
              <a:rPr lang="en-US" altLang="zh-CN" sz="1100" dirty="0">
                <a:ea typeface="宋体" panose="02010600030101010101" pitchFamily="2" charset="-122"/>
              </a:rPr>
              <a:t>500ms</a:t>
            </a:r>
            <a:endParaRPr lang="zh-CN" altLang="en-US" sz="1100" dirty="0">
              <a:ea typeface="宋体" panose="02010600030101010101" pitchFamily="2" charset="-122"/>
            </a:endParaRPr>
          </a:p>
        </p:txBody>
      </p:sp>
      <p:sp>
        <p:nvSpPr>
          <p:cNvPr id="65546" name="矩形 9"/>
          <p:cNvSpPr/>
          <p:nvPr/>
        </p:nvSpPr>
        <p:spPr>
          <a:xfrm>
            <a:off x="1182688" y="0"/>
            <a:ext cx="7780337" cy="5349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lnSpc>
                <a:spcPct val="120000"/>
              </a:lnSpc>
              <a:buNone/>
            </a:pPr>
            <a:r>
              <a:rPr lang="zh-CN" altLang="en-US" sz="2400" b="1" dirty="0">
                <a:ea typeface="宋体" panose="02010600030101010101" pitchFamily="2" charset="-122"/>
              </a:rPr>
              <a:t>无控制</a:t>
            </a:r>
            <a:r>
              <a:rPr lang="en-US" altLang="zh-CN" sz="2400" b="1" dirty="0">
                <a:ea typeface="宋体" panose="02010600030101010101" pitchFamily="2" charset="-122"/>
              </a:rPr>
              <a:t>/</a:t>
            </a:r>
            <a:r>
              <a:rPr lang="zh-CN" altLang="en-US" sz="2400" b="1" dirty="0">
                <a:ea typeface="宋体" panose="02010600030101010101" pitchFamily="2" charset="-122"/>
              </a:rPr>
              <a:t>无桶缓冲</a:t>
            </a:r>
            <a:r>
              <a:rPr lang="en-US" altLang="zh-CN" sz="2400" b="1" dirty="0">
                <a:ea typeface="宋体" panose="02010600030101010101" pitchFamily="2" charset="-122"/>
              </a:rPr>
              <a:t>/</a:t>
            </a:r>
            <a:r>
              <a:rPr lang="zh-CN" altLang="en-US" sz="2400" b="1" dirty="0">
                <a:ea typeface="宋体" panose="02010600030101010101" pitchFamily="2" charset="-122"/>
              </a:rPr>
              <a:t>不同的桶缓冲容量允许的突发长度时间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Rectangle 3"/>
          <p:cNvSpPr>
            <a:spLocks noGrp="1"/>
          </p:cNvSpPr>
          <p:nvPr>
            <p:ph type="title"/>
          </p:nvPr>
        </p:nvSpPr>
        <p:spPr>
          <a:xfrm>
            <a:off x="198438" y="0"/>
            <a:ext cx="8750300" cy="4102100"/>
          </a:xfrm>
          <a:ln/>
        </p:spPr>
        <p:txBody>
          <a:bodyPr vert="horz" wrap="square" lIns="91440" tIns="45720" rIns="91440" bIns="45720" anchor="ctr" anchorCtr="0"/>
          <a:p>
            <a:pPr algn="l"/>
            <a:r>
              <a:rPr lang="zh-CN" altLang="en-US" sz="2400" b="1" dirty="0">
                <a:solidFill>
                  <a:schemeClr val="tx1"/>
                </a:solidFill>
                <a:ea typeface="宋体" panose="02010600030101010101" pitchFamily="2" charset="-122"/>
              </a:rPr>
              <a:t>实验</a:t>
            </a:r>
            <a:r>
              <a:rPr lang="en-US" altLang="zh-CN" sz="2400" b="1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  <a:ea typeface="宋体" panose="02010600030101010101" pitchFamily="2" charset="-122"/>
              </a:rPr>
              <a:t>：基于</a:t>
            </a:r>
            <a:r>
              <a:rPr lang="en-US" altLang="zh-CN" sz="2400" b="1" dirty="0">
                <a:solidFill>
                  <a:schemeClr val="tx1"/>
                </a:solidFill>
                <a:ea typeface="宋体" panose="02010600030101010101" pitchFamily="2" charset="-122"/>
              </a:rPr>
              <a:t>RMI</a:t>
            </a:r>
            <a:r>
              <a:rPr lang="zh-CN" altLang="en-US" sz="2400" b="1" dirty="0">
                <a:solidFill>
                  <a:schemeClr val="tx1"/>
                </a:solidFill>
                <a:ea typeface="宋体" panose="02010600030101010101" pitchFamily="2" charset="-122"/>
              </a:rPr>
              <a:t>技术的远程词典应用（或其它），场景描述：</a:t>
            </a:r>
            <a:br>
              <a:rPr lang="en-US" altLang="zh-CN" sz="2400" b="1" dirty="0">
                <a:solidFill>
                  <a:schemeClr val="tx1"/>
                </a:solidFill>
                <a:ea typeface="宋体" panose="02010600030101010101" pitchFamily="2" charset="-122"/>
              </a:rPr>
            </a:br>
            <a:br>
              <a:rPr lang="zh-CN" altLang="en-US" sz="1800" b="1" dirty="0">
                <a:solidFill>
                  <a:schemeClr val="tx1"/>
                </a:solidFill>
                <a:ea typeface="宋体" panose="02010600030101010101" pitchFamily="2" charset="-122"/>
              </a:rPr>
            </a:br>
            <a:r>
              <a:rPr lang="zh-CN" altLang="en-US" sz="1800" b="1" dirty="0">
                <a:solidFill>
                  <a:schemeClr val="tx1"/>
                </a:solidFill>
                <a:ea typeface="宋体" panose="02010600030101010101" pitchFamily="2" charset="-122"/>
              </a:rPr>
              <a:t>        </a:t>
            </a:r>
            <a:r>
              <a:rPr lang="zh-CN" altLang="en-US" sz="1800" dirty="0">
                <a:solidFill>
                  <a:schemeClr val="tx1"/>
                </a:solidFill>
                <a:ea typeface="宋体" panose="02010600030101010101" pitchFamily="2" charset="-122"/>
              </a:rPr>
              <a:t>假设有一台应用服务器以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RMI</a:t>
            </a:r>
            <a:r>
              <a:rPr lang="zh-CN" altLang="en-US" sz="1800" dirty="0">
                <a:solidFill>
                  <a:schemeClr val="tx1"/>
                </a:solidFill>
                <a:ea typeface="宋体" panose="02010600030101010101" pitchFamily="2" charset="-122"/>
              </a:rPr>
              <a:t>（或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Socket</a:t>
            </a:r>
            <a:r>
              <a:rPr lang="zh-CN" altLang="en-US" sz="1800" dirty="0">
                <a:solidFill>
                  <a:schemeClr val="tx1"/>
                </a:solidFill>
                <a:ea typeface="宋体" panose="02010600030101010101" pitchFamily="2" charset="-122"/>
              </a:rPr>
              <a:t>编程）的方式向客户端提供英汉互译词典的服务。请尝试完成服务器端程序编码和一个客户端应用，并分别部署到两台计算机上进行测试。服务接口声明见附录。</a:t>
            </a:r>
            <a:br>
              <a:rPr lang="zh-CN" altLang="en-US" sz="1800" dirty="0">
                <a:solidFill>
                  <a:schemeClr val="tx1"/>
                </a:solidFill>
                <a:ea typeface="宋体" panose="02010600030101010101" pitchFamily="2" charset="-122"/>
              </a:rPr>
            </a:br>
            <a:r>
              <a:rPr lang="zh-CN" altLang="en-US" sz="1800" b="1" dirty="0">
                <a:solidFill>
                  <a:schemeClr val="tx1"/>
                </a:solidFill>
                <a:ea typeface="宋体" panose="02010600030101010101" pitchFamily="2" charset="-122"/>
              </a:rPr>
              <a:t>说明：</a:t>
            </a:r>
            <a:br>
              <a:rPr lang="zh-CN" altLang="en-US" sz="1800" b="1" dirty="0">
                <a:solidFill>
                  <a:schemeClr val="tx1"/>
                </a:solidFill>
                <a:ea typeface="宋体" panose="02010600030101010101" pitchFamily="2" charset="-122"/>
              </a:rPr>
            </a:br>
            <a:r>
              <a:rPr lang="zh-CN" altLang="en-US" sz="1800" b="1" dirty="0">
                <a:solidFill>
                  <a:schemeClr val="tx1"/>
                </a:solidFill>
                <a:ea typeface="宋体" panose="02010600030101010101" pitchFamily="2" charset="-122"/>
              </a:rPr>
              <a:t>         </a:t>
            </a:r>
            <a:r>
              <a:rPr lang="zh-CN" altLang="en-US" sz="1800" dirty="0">
                <a:solidFill>
                  <a:schemeClr val="tx1"/>
                </a:solidFill>
                <a:ea typeface="宋体" panose="02010600030101010101" pitchFamily="2" charset="-122"/>
              </a:rPr>
              <a:t>不考虑服务器端词典的容量，用数据库或使用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Map</a:t>
            </a:r>
            <a:r>
              <a:rPr lang="zh-CN" altLang="en-US" sz="1800" dirty="0">
                <a:solidFill>
                  <a:schemeClr val="tx1"/>
                </a:solidFill>
                <a:ea typeface="宋体" panose="02010600030101010101" pitchFamily="2" charset="-122"/>
              </a:rPr>
              <a:t>在内存中保存少量的英汉词汇对应表。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RMI</a:t>
            </a:r>
            <a:r>
              <a:rPr lang="zh-CN" altLang="en-US" sz="1800" dirty="0">
                <a:solidFill>
                  <a:schemeClr val="tx1"/>
                </a:solidFill>
                <a:ea typeface="宋体" panose="02010600030101010101" pitchFamily="2" charset="-122"/>
              </a:rPr>
              <a:t>有多种实现途径，参考网址中的内容只是其中一种，而且也不是最好的方式。请同学们不要局限于此，尽量通过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google</a:t>
            </a:r>
            <a:r>
              <a:rPr lang="zh-CN" altLang="en-US" sz="1800" dirty="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  <a:t>soso</a:t>
            </a:r>
            <a:r>
              <a:rPr lang="zh-CN" altLang="en-US" sz="1800" dirty="0">
                <a:solidFill>
                  <a:schemeClr val="tx1"/>
                </a:solidFill>
                <a:ea typeface="宋体" panose="02010600030101010101" pitchFamily="2" charset="-122"/>
              </a:rPr>
              <a:t>、百度发现更多、更好的方式，并对其优劣进行对比。</a:t>
            </a:r>
            <a:br>
              <a:rPr lang="zh-CN" altLang="en-US" sz="1800" dirty="0">
                <a:solidFill>
                  <a:schemeClr val="tx1"/>
                </a:solidFill>
                <a:ea typeface="宋体" panose="02010600030101010101" pitchFamily="2" charset="-122"/>
              </a:rPr>
            </a:br>
            <a:r>
              <a:rPr lang="zh-CN" altLang="en-US" sz="1800" b="1" dirty="0">
                <a:solidFill>
                  <a:schemeClr val="tx1"/>
                </a:solidFill>
                <a:ea typeface="宋体" panose="02010600030101010101" pitchFamily="2" charset="-122"/>
              </a:rPr>
              <a:t>参考：</a:t>
            </a:r>
            <a:r>
              <a:rPr lang="zh-CN" altLang="en-US" sz="1800" dirty="0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zh-CN" altLang="en-US" sz="1800" dirty="0"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ea typeface="宋体" panose="02010600030101010101" pitchFamily="2" charset="-122"/>
              </a:rPr>
              <a:t>http://www.examda.com/Java/jichu/20070212/112556373.htm </a:t>
            </a:r>
            <a:br>
              <a:rPr lang="zh-CN" altLang="en-US" sz="1800" dirty="0">
                <a:solidFill>
                  <a:schemeClr val="tx1"/>
                </a:solidFill>
                <a:ea typeface="宋体" panose="02010600030101010101" pitchFamily="2" charset="-122"/>
              </a:rPr>
            </a:br>
            <a:br>
              <a:rPr lang="en-US" altLang="zh-CN" sz="1800" dirty="0">
                <a:solidFill>
                  <a:schemeClr val="tx1"/>
                </a:solidFill>
                <a:ea typeface="宋体" panose="02010600030101010101" pitchFamily="2" charset="-122"/>
              </a:rPr>
            </a:br>
            <a:r>
              <a:rPr lang="zh-CN" altLang="en-US" sz="1800" b="1" dirty="0">
                <a:solidFill>
                  <a:schemeClr val="tx1"/>
                </a:solidFill>
                <a:ea typeface="宋体" panose="02010600030101010101" pitchFamily="2" charset="-122"/>
              </a:rPr>
              <a:t>附录：</a:t>
            </a:r>
            <a:endParaRPr lang="en-US" altLang="zh-CN" sz="18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7587" name="文本框 2"/>
          <p:cNvSpPr txBox="1"/>
          <p:nvPr/>
        </p:nvSpPr>
        <p:spPr>
          <a:xfrm>
            <a:off x="1154113" y="3449638"/>
            <a:ext cx="7105650" cy="2759075"/>
          </a:xfrm>
          <a:prstGeom prst="rect">
            <a:avLst/>
          </a:prstGeom>
          <a:gradFill rotWithShape="1">
            <a:gsLst>
              <a:gs pos="0">
                <a:srgbClr val="BCBCBC">
                  <a:alpha val="100000"/>
                </a:srgbClr>
              </a:gs>
              <a:gs pos="35001">
                <a:srgbClr val="D0D0D0">
                  <a:alpha val="100000"/>
                </a:srgbClr>
              </a:gs>
              <a:gs pos="100000">
                <a:srgbClr val="EDEDED">
                  <a:alpha val="100000"/>
                </a:srgbClr>
              </a:gs>
            </a:gsLst>
            <a:lin ang="16200000" scaled="1"/>
            <a:tileRect/>
          </a:gra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 algn="l" eaLnBrk="1" hangingPunct="1">
              <a:lnSpc>
                <a:spcPct val="120000"/>
              </a:lnSpc>
              <a:buNone/>
            </a:pPr>
            <a:endParaRPr lang="en-US" altLang="zh-CN" sz="14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20000"/>
              </a:lnSpc>
              <a:buNone/>
            </a:pPr>
            <a:r>
              <a:rPr lang="en-US" altLang="zh-CN" sz="1400" b="1" dirty="0">
                <a:solidFill>
                  <a:srgbClr val="7F0055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public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interface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Translator {</a:t>
            </a:r>
            <a:endParaRPr lang="en-US" altLang="zh-CN" sz="14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20000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	</a:t>
            </a:r>
            <a:r>
              <a:rPr lang="en-US" altLang="zh-CN" sz="1400" dirty="0">
                <a:solidFill>
                  <a:srgbClr val="3F5FB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/**</a:t>
            </a:r>
            <a:endParaRPr lang="en-US" altLang="zh-CN" sz="14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20000"/>
              </a:lnSpc>
              <a:buNone/>
            </a:pPr>
            <a:r>
              <a:rPr lang="en-US" altLang="zh-CN" sz="1400" dirty="0">
                <a:solidFill>
                  <a:srgbClr val="3F5FB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	 * </a:t>
            </a:r>
            <a:endParaRPr lang="en-US" altLang="zh-CN" sz="14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20000"/>
              </a:lnSpc>
              <a:buNone/>
            </a:pPr>
            <a:r>
              <a:rPr lang="en-US" altLang="zh-CN" sz="1400" dirty="0">
                <a:solidFill>
                  <a:srgbClr val="3F5FB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	 * </a:t>
            </a:r>
            <a:r>
              <a:rPr lang="en-US" altLang="zh-CN" sz="1400" b="1" dirty="0">
                <a:solidFill>
                  <a:srgbClr val="7F9FB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@param</a:t>
            </a:r>
            <a:r>
              <a:rPr lang="en-US" altLang="zh-CN" sz="1400" dirty="0">
                <a:solidFill>
                  <a:srgbClr val="3F5FB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str </a:t>
            </a:r>
            <a:r>
              <a:rPr lang="zh-CN" altLang="en-US" sz="1400" dirty="0">
                <a:solidFill>
                  <a:srgbClr val="3F5FB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需要被翻译的单词</a:t>
            </a:r>
            <a:endParaRPr lang="zh-CN" altLang="en-US" sz="14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20000"/>
              </a:lnSpc>
              <a:buNone/>
            </a:pPr>
            <a:r>
              <a:rPr lang="zh-CN" altLang="en-US" sz="1400" dirty="0">
                <a:solidFill>
                  <a:srgbClr val="3F5FB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	 * </a:t>
            </a:r>
            <a:r>
              <a:rPr lang="en-US" altLang="zh-CN" sz="1400" b="1" dirty="0">
                <a:solidFill>
                  <a:srgbClr val="7F9FB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@return</a:t>
            </a:r>
            <a:r>
              <a:rPr lang="en-US" altLang="zh-CN" sz="1400" dirty="0">
                <a:solidFill>
                  <a:srgbClr val="3F5FB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  <a:r>
              <a:rPr lang="zh-CN" altLang="en-US" sz="1400" dirty="0">
                <a:solidFill>
                  <a:srgbClr val="3F5FB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英汉互译后的内容，如果词典中不包含此单词返回</a:t>
            </a:r>
            <a:r>
              <a:rPr lang="en-US" altLang="zh-CN" sz="1400" dirty="0">
                <a:solidFill>
                  <a:srgbClr val="3F5FB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null</a:t>
            </a:r>
            <a:endParaRPr lang="en-US" altLang="zh-CN" sz="14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20000"/>
              </a:lnSpc>
              <a:buNone/>
            </a:pPr>
            <a:r>
              <a:rPr lang="en-US" altLang="zh-CN" sz="1400" dirty="0">
                <a:solidFill>
                  <a:srgbClr val="3F5FB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	 */</a:t>
            </a:r>
            <a:endParaRPr lang="en-US" altLang="zh-CN" sz="14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20000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	</a:t>
            </a:r>
            <a:r>
              <a:rPr lang="en-US" altLang="zh-CN" sz="1400" b="1" dirty="0">
                <a:solidFill>
                  <a:srgbClr val="7F0055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public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String translate(String str);</a:t>
            </a:r>
            <a:endParaRPr lang="en-US" altLang="zh-CN" sz="14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20000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}</a:t>
            </a:r>
            <a:endParaRPr lang="en-US" altLang="zh-CN" sz="1400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0" lvl="0" indent="0" algn="l" eaLnBrk="1" hangingPunct="1">
              <a:lnSpc>
                <a:spcPct val="120000"/>
              </a:lnSpc>
              <a:buNone/>
            </a:pPr>
            <a:endParaRPr lang="zh-CN" altLang="zh-CN" sz="1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nnenbaum">
  <a:themeElements>
    <a:clrScheme name="Tannenbau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annenbaum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2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Tx/>
          <a:buNone/>
          <a:defRPr kumimoji="0" lang="en-US" sz="4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2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Tx/>
          <a:buNone/>
          <a:defRPr kumimoji="0" lang="en-US" sz="4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Tannenbaum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annenbaum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annenbaum">
  <a:themeElements>
    <a:clrScheme name="Tannenbau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annenbaum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2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Tx/>
          <a:buNone/>
          <a:defRPr kumimoji="0" lang="en-US" sz="4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2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Tx/>
          <a:buNone/>
          <a:defRPr kumimoji="0" lang="en-US" sz="4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Tannenbaum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annenbaum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Office\Templates\Tannenbaum.pot</Template>
  <TotalTime>0</TotalTime>
  <Words>18084</Words>
  <Application>WPS 演示</Application>
  <PresentationFormat>全屏显示(4:3)</PresentationFormat>
  <Paragraphs>777</Paragraphs>
  <Slides>63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79" baseType="lpstr">
      <vt:lpstr>Arial</vt:lpstr>
      <vt:lpstr>宋体</vt:lpstr>
      <vt:lpstr>Wingdings</vt:lpstr>
      <vt:lpstr>Times New Roman</vt:lpstr>
      <vt:lpstr>楷体_GB2312</vt:lpstr>
      <vt:lpstr>新宋体</vt:lpstr>
      <vt:lpstr>黑体</vt:lpstr>
      <vt:lpstr>Tahoma</vt:lpstr>
      <vt:lpstr>-apple-system</vt:lpstr>
      <vt:lpstr>Segoe Print</vt:lpstr>
      <vt:lpstr>Courier New</vt:lpstr>
      <vt:lpstr>微软雅黑</vt:lpstr>
      <vt:lpstr>Arial Unicode MS</vt:lpstr>
      <vt:lpstr>Tannenbaum</vt:lpstr>
      <vt:lpstr>1_Tannenbaum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Parameter Specification and Stub Generation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East Texas Data Service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</dc:title>
  <dc:creator>Steve  Armstrong</dc:creator>
  <cp:lastModifiedBy>WPS_1681028394</cp:lastModifiedBy>
  <cp:revision>350</cp:revision>
  <dcterms:created xsi:type="dcterms:W3CDTF">2001-05-08T18:19:24Z</dcterms:created>
  <dcterms:modified xsi:type="dcterms:W3CDTF">2025-04-21T04:49:58Z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6EEC3225380D4C22A7438B50F10F1231_12</vt:lpwstr>
  </property>
  <property fmtid="{D5CDD505-2E9C-101B-9397-08002B2CF9AE}" pid="3" name="KSOProductBuildVer">
    <vt:lpwstr>2052-12.1.0.20305</vt:lpwstr>
  </property>
</Properties>
</file>